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b7574f712d_0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b7574f712d_0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1effb4e53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1effb4e53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b70d8e3591_0_6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b70d8e3591_0_6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b70d8e3591_0_6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b70d8e3591_0_6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b70d8e3591_0_6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b70d8e3591_0_6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b70d8e3591_0_6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b70d8e3591_0_6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b70d8e3591_0_6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b70d8e3591_0_6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b70d8e3591_0_6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b70d8e3591_0_6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b70d8e3591_0_6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b70d8e3591_0_6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2b70d8e3591_0_6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2b70d8e3591_0_6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2b70d8e3591_0_6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2b70d8e3591_0_6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2b70d8e3591_0_6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2b70d8e3591_0_6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b70d8e3591_0_6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b70d8e3591_0_6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2b70d8e3591_0_6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2b70d8e3591_0_6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2b70d8e3591_0_6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2b70d8e3591_0_6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2b70d8e3591_0_6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2b70d8e3591_0_6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b70d8e3591_0_6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b70d8e3591_0_6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2b70d8e3591_0_6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2b70d8e3591_0_6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2b70d8e3591_0_6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2b70d8e3591_0_6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2b70d8e3591_0_6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2b70d8e3591_0_6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b70d8e3591_0_6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b70d8e3591_0_6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b7574f712d_0_1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2b7574f712d_0_1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2b7574f712d_0_1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2b7574f712d_0_1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2b7574f712d_0_1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2b7574f712d_0_1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2b70d8e3591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2b70d8e3591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2b70d8e3591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2b70d8e3591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2b70d8e3591_0_6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2b70d8e3591_0_6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2b70d8e3591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2b70d8e3591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2b7574f712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2b7574f712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2b7574f712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2b7574f712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2b70d8e3591_0_6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2b70d8e3591_0_6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5.png"/><Relationship Id="rId4" Type="http://schemas.openxmlformats.org/officeDocument/2006/relationships/image" Target="../media/image62.png"/><Relationship Id="rId5" Type="http://schemas.openxmlformats.org/officeDocument/2006/relationships/image" Target="../media/image29.png"/><Relationship Id="rId6" Type="http://schemas.openxmlformats.org/officeDocument/2006/relationships/image" Target="../media/image23.png"/><Relationship Id="rId7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62.png"/><Relationship Id="rId4" Type="http://schemas.openxmlformats.org/officeDocument/2006/relationships/image" Target="../media/image27.png"/><Relationship Id="rId9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29.png"/><Relationship Id="rId8" Type="http://schemas.openxmlformats.org/officeDocument/2006/relationships/image" Target="../media/image2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62.png"/><Relationship Id="rId4" Type="http://schemas.openxmlformats.org/officeDocument/2006/relationships/image" Target="../media/image31.png"/><Relationship Id="rId11" Type="http://schemas.openxmlformats.org/officeDocument/2006/relationships/image" Target="../media/image18.png"/><Relationship Id="rId10" Type="http://schemas.openxmlformats.org/officeDocument/2006/relationships/image" Target="../media/image36.png"/><Relationship Id="rId9" Type="http://schemas.openxmlformats.org/officeDocument/2006/relationships/image" Target="../media/image23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2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2.png"/><Relationship Id="rId4" Type="http://schemas.openxmlformats.org/officeDocument/2006/relationships/image" Target="../media/image39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6" name="Google Shape;746;p62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3" name="Google Shape;753;p6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6" name="Google Shape;756;p63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3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Relationship Id="rId4" Type="http://schemas.openxmlformats.org/officeDocument/2006/relationships/image" Target="../media/image49.png"/><Relationship Id="rId5" Type="http://schemas.openxmlformats.org/officeDocument/2006/relationships/image" Target="../media/image5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9.png"/><Relationship Id="rId4" Type="http://schemas.openxmlformats.org/officeDocument/2006/relationships/image" Target="../media/image51.png"/><Relationship Id="rId5" Type="http://schemas.openxmlformats.org/officeDocument/2006/relationships/image" Target="../media/image5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Relationship Id="rId4" Type="http://schemas.openxmlformats.org/officeDocument/2006/relationships/image" Target="../media/image51.png"/><Relationship Id="rId5" Type="http://schemas.openxmlformats.org/officeDocument/2006/relationships/image" Target="../media/image58.png"/><Relationship Id="rId6" Type="http://schemas.openxmlformats.org/officeDocument/2006/relationships/image" Target="../media/image5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1.png"/><Relationship Id="rId4" Type="http://schemas.openxmlformats.org/officeDocument/2006/relationships/image" Target="../media/image5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1.png"/><Relationship Id="rId4" Type="http://schemas.openxmlformats.org/officeDocument/2006/relationships/image" Target="../media/image5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1.png"/><Relationship Id="rId4" Type="http://schemas.openxmlformats.org/officeDocument/2006/relationships/image" Target="../media/image5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1.png"/><Relationship Id="rId4" Type="http://schemas.openxmlformats.org/officeDocument/2006/relationships/image" Target="../media/image5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1.png"/><Relationship Id="rId4" Type="http://schemas.openxmlformats.org/officeDocument/2006/relationships/image" Target="../media/image5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listing possible outcomes</a:t>
            </a:r>
            <a:endParaRPr/>
          </a:p>
        </p:txBody>
      </p:sp>
      <p:sp>
        <p:nvSpPr>
          <p:cNvPr id="763" name="Google Shape;763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theoretical probabilities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5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systematically list all the possible outcomes for one or more events.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 txBox="1"/>
          <p:nvPr>
            <p:ph idx="1" type="subTitle"/>
          </p:nvPr>
        </p:nvSpPr>
        <p:spPr>
          <a:xfrm>
            <a:off x="324000" y="10488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A trial is a single predefined test.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779" name="Google Shape;779;p67"/>
          <p:cNvSpPr txBox="1"/>
          <p:nvPr>
            <p:ph idx="2" type="subTitle"/>
          </p:nvPr>
        </p:nvSpPr>
        <p:spPr>
          <a:xfrm>
            <a:off x="324000" y="1763544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An outcome is a result of a trial.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780" name="Google Shape;780;p67"/>
          <p:cNvSpPr txBox="1"/>
          <p:nvPr>
            <p:ph idx="2" type="subTitle"/>
          </p:nvPr>
        </p:nvSpPr>
        <p:spPr>
          <a:xfrm>
            <a:off x="324000" y="2427000"/>
            <a:ext cx="8496000" cy="79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rgbClr val="FFFFFF"/>
                </a:highlight>
              </a:rPr>
              <a:t>When listing outcomes systematically, they are listed in such a way as to ensure all outcomes are recorded. 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outcomes: one-stage and two-stage trials</a:t>
            </a:r>
            <a:endParaRPr/>
          </a:p>
        </p:txBody>
      </p:sp>
      <p:sp>
        <p:nvSpPr>
          <p:cNvPr id="786" name="Google Shape;786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 for three-stage trials</a:t>
            </a:r>
            <a:endParaRPr/>
          </a:p>
        </p:txBody>
      </p:sp>
      <p:sp>
        <p:nvSpPr>
          <p:cNvPr id="787" name="Google Shape;787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listing possible outcomes</a:t>
            </a:r>
            <a:endParaRPr/>
          </a:p>
        </p:txBody>
      </p:sp>
      <p:pic>
        <p:nvPicPr>
          <p:cNvPr id="788" name="Google Shape;78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481" y="205936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9"/>
          <p:cNvSpPr txBox="1"/>
          <p:nvPr>
            <p:ph idx="1" type="body"/>
          </p:nvPr>
        </p:nvSpPr>
        <p:spPr>
          <a:xfrm>
            <a:off x="324000" y="759300"/>
            <a:ext cx="8237700" cy="90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Lucas is going to spin the spinner </a:t>
            </a:r>
            <a:r>
              <a:rPr lang="en-GB" sz="2000">
                <a:solidFill>
                  <a:schemeClr val="accent4"/>
                </a:solidFill>
              </a:rPr>
              <a:t>once</a:t>
            </a:r>
            <a:r>
              <a:rPr lang="en-GB" sz="2000"/>
              <a:t>. </a:t>
            </a:r>
            <a:br>
              <a:rPr lang="en-GB" sz="2000"/>
            </a:br>
            <a:r>
              <a:rPr lang="en-GB" sz="2000"/>
              <a:t>What are the possible outcomes?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4" name="Google Shape;794;p69"/>
          <p:cNvSpPr txBox="1"/>
          <p:nvPr>
            <p:ph idx="1" type="body"/>
          </p:nvPr>
        </p:nvSpPr>
        <p:spPr>
          <a:xfrm>
            <a:off x="1695600" y="1616625"/>
            <a:ext cx="630000" cy="7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win </a:t>
            </a:r>
            <a:br>
              <a:rPr lang="en-GB" sz="2000"/>
            </a:br>
            <a:r>
              <a:rPr lang="en-GB" sz="2000"/>
              <a:t>lose</a:t>
            </a:r>
            <a:endParaRPr sz="2000"/>
          </a:p>
        </p:txBody>
      </p:sp>
      <p:sp>
        <p:nvSpPr>
          <p:cNvPr id="795" name="Google Shape;795;p69"/>
          <p:cNvSpPr/>
          <p:nvPr/>
        </p:nvSpPr>
        <p:spPr>
          <a:xfrm>
            <a:off x="5925450" y="15406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69"/>
          <p:cNvSpPr/>
          <p:nvPr/>
        </p:nvSpPr>
        <p:spPr>
          <a:xfrm flipH="1">
            <a:off x="5940139" y="15554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69"/>
          <p:cNvSpPr/>
          <p:nvPr/>
        </p:nvSpPr>
        <p:spPr>
          <a:xfrm>
            <a:off x="5940211" y="15554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69"/>
          <p:cNvSpPr txBox="1"/>
          <p:nvPr/>
        </p:nvSpPr>
        <p:spPr>
          <a:xfrm>
            <a:off x="6075625" y="2177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9"/>
          <p:cNvSpPr txBox="1"/>
          <p:nvPr/>
        </p:nvSpPr>
        <p:spPr>
          <a:xfrm>
            <a:off x="6882576" y="217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0" name="Google Shape;800;p69"/>
          <p:cNvGrpSpPr/>
          <p:nvPr/>
        </p:nvGrpSpPr>
        <p:grpSpPr>
          <a:xfrm>
            <a:off x="6724759" y="1633223"/>
            <a:ext cx="93900" cy="816939"/>
            <a:chOff x="996050" y="213293"/>
            <a:chExt cx="93900" cy="909732"/>
          </a:xfrm>
        </p:grpSpPr>
        <p:cxnSp>
          <p:nvCxnSpPr>
            <p:cNvPr id="801" name="Google Shape;801;p6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02" name="Google Shape;802;p6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3" name="Google Shape;80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outcomes: one-stage and two-stage trials</a:t>
            </a:r>
            <a:endParaRPr/>
          </a:p>
        </p:txBody>
      </p:sp>
      <p:sp>
        <p:nvSpPr>
          <p:cNvPr id="804" name="Google Shape;804;p69"/>
          <p:cNvSpPr txBox="1"/>
          <p:nvPr>
            <p:ph idx="1" type="body"/>
          </p:nvPr>
        </p:nvSpPr>
        <p:spPr>
          <a:xfrm>
            <a:off x="324000" y="2683425"/>
            <a:ext cx="6461400" cy="19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can be written formally as: </a:t>
            </a:r>
            <a:br>
              <a:rPr lang="en-GB" sz="2000"/>
            </a:br>
            <a:br>
              <a:rPr lang="en-GB" sz="2000"/>
            </a:br>
            <a:r>
              <a:rPr i="1" lang="en-GB" sz="2000"/>
              <a:t>ξ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= {W, L}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where W represents ‘win’ and L represents ‘lose’.</a:t>
            </a:r>
            <a:endParaRPr sz="2000"/>
          </a:p>
        </p:txBody>
      </p:sp>
      <p:pic>
        <p:nvPicPr>
          <p:cNvPr id="805" name="Google Shape;80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03298" y="2663823"/>
            <a:ext cx="546543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0"/>
          <p:cNvSpPr txBox="1"/>
          <p:nvPr>
            <p:ph idx="1" type="body"/>
          </p:nvPr>
        </p:nvSpPr>
        <p:spPr>
          <a:xfrm>
            <a:off x="324000" y="759300"/>
            <a:ext cx="8237700" cy="90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Lucas is going to spin the spinner </a:t>
            </a:r>
            <a:r>
              <a:rPr lang="en-GB" sz="2000">
                <a:solidFill>
                  <a:schemeClr val="accent4"/>
                </a:solidFill>
              </a:rPr>
              <a:t>twice</a:t>
            </a:r>
            <a:r>
              <a:rPr lang="en-GB" sz="2000"/>
              <a:t>. </a:t>
            </a:r>
            <a:br>
              <a:rPr lang="en-GB" sz="2000"/>
            </a:br>
            <a:r>
              <a:rPr lang="en-GB" sz="2000"/>
              <a:t>What are the possible outcomes?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1" name="Google Shape;811;p70"/>
          <p:cNvSpPr txBox="1"/>
          <p:nvPr>
            <p:ph idx="1" type="body"/>
          </p:nvPr>
        </p:nvSpPr>
        <p:spPr>
          <a:xfrm>
            <a:off x="1695600" y="1616625"/>
            <a:ext cx="1238700" cy="14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win win</a:t>
            </a:r>
            <a:r>
              <a:rPr lang="en-GB" sz="2000"/>
              <a:t>,</a:t>
            </a:r>
            <a:br>
              <a:rPr lang="en-GB" sz="2000"/>
            </a:br>
            <a:r>
              <a:rPr lang="en-GB" sz="2000"/>
              <a:t>win lose</a:t>
            </a:r>
            <a:r>
              <a:rPr lang="en-GB" sz="2000"/>
              <a:t>,</a:t>
            </a:r>
            <a:br>
              <a:rPr lang="en-GB" sz="2000"/>
            </a:br>
            <a:r>
              <a:rPr lang="en-GB" sz="2000"/>
              <a:t>lose win,</a:t>
            </a:r>
            <a:br>
              <a:rPr lang="en-GB" sz="2000"/>
            </a:br>
            <a:r>
              <a:rPr lang="en-GB" sz="2000"/>
              <a:t>lose lose</a:t>
            </a:r>
            <a:endParaRPr sz="2000"/>
          </a:p>
        </p:txBody>
      </p:sp>
      <p:sp>
        <p:nvSpPr>
          <p:cNvPr id="812" name="Google Shape;812;p70"/>
          <p:cNvSpPr/>
          <p:nvPr/>
        </p:nvSpPr>
        <p:spPr>
          <a:xfrm>
            <a:off x="5925450" y="15406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70"/>
          <p:cNvSpPr/>
          <p:nvPr/>
        </p:nvSpPr>
        <p:spPr>
          <a:xfrm flipH="1">
            <a:off x="5940139" y="15554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70"/>
          <p:cNvSpPr/>
          <p:nvPr/>
        </p:nvSpPr>
        <p:spPr>
          <a:xfrm>
            <a:off x="5940211" y="15554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70"/>
          <p:cNvSpPr txBox="1"/>
          <p:nvPr/>
        </p:nvSpPr>
        <p:spPr>
          <a:xfrm>
            <a:off x="6075625" y="2177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0"/>
          <p:cNvSpPr txBox="1"/>
          <p:nvPr/>
        </p:nvSpPr>
        <p:spPr>
          <a:xfrm>
            <a:off x="6882576" y="217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7" name="Google Shape;817;p70"/>
          <p:cNvGrpSpPr/>
          <p:nvPr/>
        </p:nvGrpSpPr>
        <p:grpSpPr>
          <a:xfrm>
            <a:off x="6724759" y="1633223"/>
            <a:ext cx="93900" cy="816939"/>
            <a:chOff x="996050" y="213293"/>
            <a:chExt cx="93900" cy="909732"/>
          </a:xfrm>
        </p:grpSpPr>
        <p:cxnSp>
          <p:nvCxnSpPr>
            <p:cNvPr id="818" name="Google Shape;818;p7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19" name="Google Shape;819;p7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0" name="Google Shape;82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outcomes: one-stage and two-stage trials</a:t>
            </a:r>
            <a:endParaRPr/>
          </a:p>
        </p:txBody>
      </p:sp>
      <p:sp>
        <p:nvSpPr>
          <p:cNvPr id="821" name="Google Shape;821;p70"/>
          <p:cNvSpPr txBox="1"/>
          <p:nvPr>
            <p:ph idx="1" type="body"/>
          </p:nvPr>
        </p:nvSpPr>
        <p:spPr>
          <a:xfrm>
            <a:off x="324000" y="3293025"/>
            <a:ext cx="4500000" cy="104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can be written formally as: </a:t>
            </a:r>
            <a:br>
              <a:rPr lang="en-GB" sz="2000"/>
            </a:br>
            <a:br>
              <a:rPr lang="en-GB" sz="2000"/>
            </a:br>
            <a:r>
              <a:rPr i="1" lang="en-GB" sz="2000"/>
              <a:t>ξ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= {WW, WL, LW, LL}</a:t>
            </a:r>
            <a:endParaRPr sz="2000"/>
          </a:p>
        </p:txBody>
      </p:sp>
      <p:pic>
        <p:nvPicPr>
          <p:cNvPr id="822" name="Google Shape;82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03298" y="2663823"/>
            <a:ext cx="546543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1"/>
          <p:cNvSpPr txBox="1"/>
          <p:nvPr>
            <p:ph idx="1" type="body"/>
          </p:nvPr>
        </p:nvSpPr>
        <p:spPr>
          <a:xfrm>
            <a:off x="324000" y="759300"/>
            <a:ext cx="8237700" cy="7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These outcomes are listed in a </a:t>
            </a:r>
            <a:r>
              <a:rPr lang="en-GB" sz="2000"/>
              <a:t>specific</a:t>
            </a:r>
            <a:r>
              <a:rPr lang="en-GB" sz="2000"/>
              <a:t> order.</a:t>
            </a:r>
            <a:br>
              <a:rPr lang="en-GB" sz="2000"/>
            </a:br>
            <a:r>
              <a:rPr lang="en-GB" sz="2000"/>
              <a:t>What system has been used to order the outcomes?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8" name="Google Shape;828;p71"/>
          <p:cNvSpPr txBox="1"/>
          <p:nvPr>
            <p:ph idx="1" type="body"/>
          </p:nvPr>
        </p:nvSpPr>
        <p:spPr>
          <a:xfrm>
            <a:off x="1695600" y="1616625"/>
            <a:ext cx="1238700" cy="14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</a:t>
            </a:r>
            <a:r>
              <a:rPr lang="en-GB" sz="2000"/>
              <a:t>in win,</a:t>
            </a:r>
            <a:br>
              <a:rPr lang="en-GB" sz="2000"/>
            </a:br>
            <a:r>
              <a:rPr lang="en-GB" sz="2000"/>
              <a:t>w</a:t>
            </a:r>
            <a:r>
              <a:rPr lang="en-GB" sz="2000"/>
              <a:t>in lose,</a:t>
            </a:r>
            <a:br>
              <a:rPr lang="en-GB" sz="2000"/>
            </a:br>
            <a:r>
              <a:rPr lang="en-GB" sz="2000"/>
              <a:t>l</a:t>
            </a:r>
            <a:r>
              <a:rPr lang="en-GB" sz="2000"/>
              <a:t>ose win,</a:t>
            </a:r>
            <a:br>
              <a:rPr lang="en-GB" sz="2000"/>
            </a:br>
            <a:r>
              <a:rPr lang="en-GB" sz="2000"/>
              <a:t>l</a:t>
            </a:r>
            <a:r>
              <a:rPr lang="en-GB" sz="2000"/>
              <a:t>ose lose</a:t>
            </a:r>
            <a:endParaRPr sz="2000"/>
          </a:p>
        </p:txBody>
      </p:sp>
      <p:sp>
        <p:nvSpPr>
          <p:cNvPr id="829" name="Google Shape;829;p71"/>
          <p:cNvSpPr/>
          <p:nvPr/>
        </p:nvSpPr>
        <p:spPr>
          <a:xfrm>
            <a:off x="5925450" y="15406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71"/>
          <p:cNvSpPr/>
          <p:nvPr/>
        </p:nvSpPr>
        <p:spPr>
          <a:xfrm flipH="1">
            <a:off x="5940139" y="15554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71"/>
          <p:cNvSpPr/>
          <p:nvPr/>
        </p:nvSpPr>
        <p:spPr>
          <a:xfrm>
            <a:off x="5940211" y="15554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71"/>
          <p:cNvSpPr txBox="1"/>
          <p:nvPr/>
        </p:nvSpPr>
        <p:spPr>
          <a:xfrm>
            <a:off x="6075625" y="2177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1"/>
          <p:cNvSpPr txBox="1"/>
          <p:nvPr/>
        </p:nvSpPr>
        <p:spPr>
          <a:xfrm>
            <a:off x="6882576" y="217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4" name="Google Shape;834;p71"/>
          <p:cNvGrpSpPr/>
          <p:nvPr/>
        </p:nvGrpSpPr>
        <p:grpSpPr>
          <a:xfrm>
            <a:off x="6724759" y="1633223"/>
            <a:ext cx="93900" cy="816939"/>
            <a:chOff x="996050" y="213293"/>
            <a:chExt cx="93900" cy="909732"/>
          </a:xfrm>
        </p:grpSpPr>
        <p:cxnSp>
          <p:nvCxnSpPr>
            <p:cNvPr id="835" name="Google Shape;835;p7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6" name="Google Shape;836;p7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7" name="Google Shape;83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outcomes: one-stage and two-stage trials</a:t>
            </a:r>
            <a:endParaRPr/>
          </a:p>
        </p:txBody>
      </p:sp>
      <p:pic>
        <p:nvPicPr>
          <p:cNvPr id="838" name="Google Shape;83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03298" y="2663823"/>
            <a:ext cx="54654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71"/>
          <p:cNvSpPr/>
          <p:nvPr/>
        </p:nvSpPr>
        <p:spPr>
          <a:xfrm>
            <a:off x="1549400" y="1564650"/>
            <a:ext cx="1337700" cy="750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0" name="Google Shape;840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3428999" y="3287025"/>
            <a:ext cx="4953001" cy="13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71"/>
          <p:cNvSpPr txBox="1"/>
          <p:nvPr>
            <p:ph idx="1" type="body"/>
          </p:nvPr>
        </p:nvSpPr>
        <p:spPr>
          <a:xfrm>
            <a:off x="3577350" y="3782700"/>
            <a:ext cx="4652400" cy="7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To begin with, it lists all the possible outcomes where the </a:t>
            </a:r>
            <a:r>
              <a:rPr lang="en-GB" sz="2000">
                <a:solidFill>
                  <a:schemeClr val="accent4"/>
                </a:solidFill>
              </a:rPr>
              <a:t>first spin</a:t>
            </a:r>
            <a:r>
              <a:rPr lang="en-GB" sz="2000"/>
              <a:t> is ‘</a:t>
            </a:r>
            <a:r>
              <a:rPr lang="en-GB" sz="2000">
                <a:solidFill>
                  <a:schemeClr val="accent4"/>
                </a:solidFill>
              </a:rPr>
              <a:t>win</a:t>
            </a:r>
            <a:r>
              <a:rPr lang="en-GB" sz="2000"/>
              <a:t>’.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2"/>
          <p:cNvSpPr txBox="1"/>
          <p:nvPr>
            <p:ph idx="1" type="body"/>
          </p:nvPr>
        </p:nvSpPr>
        <p:spPr>
          <a:xfrm>
            <a:off x="324000" y="759300"/>
            <a:ext cx="8237700" cy="7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These outcomes are listed in a specific order.</a:t>
            </a:r>
            <a:br>
              <a:rPr lang="en-GB" sz="2000"/>
            </a:br>
            <a:r>
              <a:rPr lang="en-GB" sz="2000"/>
              <a:t>What system has been used to order the outcomes?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7" name="Google Shape;847;p72"/>
          <p:cNvSpPr txBox="1"/>
          <p:nvPr>
            <p:ph idx="1" type="body"/>
          </p:nvPr>
        </p:nvSpPr>
        <p:spPr>
          <a:xfrm>
            <a:off x="1695600" y="1616625"/>
            <a:ext cx="1238700" cy="14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win win,</a:t>
            </a:r>
            <a:br>
              <a:rPr lang="en-GB" sz="2000"/>
            </a:br>
            <a:r>
              <a:rPr lang="en-GB" sz="2000"/>
              <a:t>win lose,</a:t>
            </a:r>
            <a:br>
              <a:rPr lang="en-GB" sz="2000"/>
            </a:br>
            <a:r>
              <a:rPr lang="en-GB" sz="2000"/>
              <a:t>lose win,</a:t>
            </a:r>
            <a:br>
              <a:rPr lang="en-GB" sz="2000"/>
            </a:br>
            <a:r>
              <a:rPr lang="en-GB" sz="2000"/>
              <a:t>lose lose</a:t>
            </a:r>
            <a:endParaRPr sz="2000"/>
          </a:p>
        </p:txBody>
      </p:sp>
      <p:sp>
        <p:nvSpPr>
          <p:cNvPr id="848" name="Google Shape;848;p72"/>
          <p:cNvSpPr/>
          <p:nvPr/>
        </p:nvSpPr>
        <p:spPr>
          <a:xfrm>
            <a:off x="5925450" y="15406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72"/>
          <p:cNvSpPr/>
          <p:nvPr/>
        </p:nvSpPr>
        <p:spPr>
          <a:xfrm flipH="1">
            <a:off x="5940139" y="15554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72"/>
          <p:cNvSpPr/>
          <p:nvPr/>
        </p:nvSpPr>
        <p:spPr>
          <a:xfrm>
            <a:off x="5940211" y="15554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72"/>
          <p:cNvSpPr txBox="1"/>
          <p:nvPr/>
        </p:nvSpPr>
        <p:spPr>
          <a:xfrm>
            <a:off x="6075625" y="2177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2"/>
          <p:cNvSpPr txBox="1"/>
          <p:nvPr/>
        </p:nvSpPr>
        <p:spPr>
          <a:xfrm>
            <a:off x="6882576" y="217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3" name="Google Shape;853;p72"/>
          <p:cNvGrpSpPr/>
          <p:nvPr/>
        </p:nvGrpSpPr>
        <p:grpSpPr>
          <a:xfrm>
            <a:off x="6724759" y="1633223"/>
            <a:ext cx="93900" cy="816939"/>
            <a:chOff x="996050" y="213293"/>
            <a:chExt cx="93900" cy="909732"/>
          </a:xfrm>
        </p:grpSpPr>
        <p:cxnSp>
          <p:nvCxnSpPr>
            <p:cNvPr id="854" name="Google Shape;854;p7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55" name="Google Shape;855;p7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6" name="Google Shape;85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outcomes: one-stage and two-stage trials</a:t>
            </a:r>
            <a:endParaRPr/>
          </a:p>
        </p:txBody>
      </p:sp>
      <p:pic>
        <p:nvPicPr>
          <p:cNvPr id="857" name="Google Shape;85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03298" y="2663823"/>
            <a:ext cx="54654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2"/>
          <p:cNvSpPr/>
          <p:nvPr/>
        </p:nvSpPr>
        <p:spPr>
          <a:xfrm>
            <a:off x="1549400" y="2313950"/>
            <a:ext cx="1337700" cy="750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9" name="Google Shape;85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3428999" y="3287025"/>
            <a:ext cx="4953001" cy="13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72"/>
          <p:cNvSpPr txBox="1"/>
          <p:nvPr>
            <p:ph idx="1" type="body"/>
          </p:nvPr>
        </p:nvSpPr>
        <p:spPr>
          <a:xfrm>
            <a:off x="3577350" y="3782700"/>
            <a:ext cx="4652400" cy="7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</a:t>
            </a:r>
            <a:r>
              <a:rPr lang="en-GB" sz="2000"/>
              <a:t>t then lists all the possible outcomes where the </a:t>
            </a:r>
            <a:r>
              <a:rPr lang="en-GB" sz="2000">
                <a:solidFill>
                  <a:schemeClr val="accent4"/>
                </a:solidFill>
              </a:rPr>
              <a:t>first spin</a:t>
            </a:r>
            <a:r>
              <a:rPr lang="en-GB" sz="2000"/>
              <a:t> is ‘</a:t>
            </a:r>
            <a:r>
              <a:rPr lang="en-GB" sz="2000">
                <a:solidFill>
                  <a:schemeClr val="accent4"/>
                </a:solidFill>
              </a:rPr>
              <a:t>lose</a:t>
            </a:r>
            <a:r>
              <a:rPr lang="en-GB" sz="2000"/>
              <a:t>’. 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3"/>
          <p:cNvSpPr txBox="1"/>
          <p:nvPr>
            <p:ph idx="1" type="body"/>
          </p:nvPr>
        </p:nvSpPr>
        <p:spPr>
          <a:xfrm>
            <a:off x="324000" y="759300"/>
            <a:ext cx="8237700" cy="7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These outcomes are listed in a specific order.</a:t>
            </a:r>
            <a:br>
              <a:rPr lang="en-GB" sz="2000"/>
            </a:br>
            <a:r>
              <a:rPr lang="en-GB" sz="2000"/>
              <a:t>What system has been used to order the outcomes?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6" name="Google Shape;866;p73"/>
          <p:cNvSpPr txBox="1"/>
          <p:nvPr>
            <p:ph idx="1" type="body"/>
          </p:nvPr>
        </p:nvSpPr>
        <p:spPr>
          <a:xfrm>
            <a:off x="1695600" y="1616625"/>
            <a:ext cx="1238700" cy="14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win win,</a:t>
            </a:r>
            <a:br>
              <a:rPr lang="en-GB" sz="2000"/>
            </a:br>
            <a:r>
              <a:rPr lang="en-GB" sz="2000"/>
              <a:t>win lose,</a:t>
            </a:r>
            <a:br>
              <a:rPr lang="en-GB" sz="2000"/>
            </a:br>
            <a:r>
              <a:rPr lang="en-GB" sz="2000"/>
              <a:t>lose win,</a:t>
            </a:r>
            <a:br>
              <a:rPr lang="en-GB" sz="2000"/>
            </a:br>
            <a:r>
              <a:rPr lang="en-GB" sz="2000"/>
              <a:t>lose lose</a:t>
            </a:r>
            <a:endParaRPr sz="2000"/>
          </a:p>
        </p:txBody>
      </p:sp>
      <p:sp>
        <p:nvSpPr>
          <p:cNvPr id="867" name="Google Shape;867;p73"/>
          <p:cNvSpPr/>
          <p:nvPr/>
        </p:nvSpPr>
        <p:spPr>
          <a:xfrm>
            <a:off x="5925450" y="15406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73"/>
          <p:cNvSpPr/>
          <p:nvPr/>
        </p:nvSpPr>
        <p:spPr>
          <a:xfrm flipH="1">
            <a:off x="5940139" y="15554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73"/>
          <p:cNvSpPr/>
          <p:nvPr/>
        </p:nvSpPr>
        <p:spPr>
          <a:xfrm>
            <a:off x="5940211" y="15554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73"/>
          <p:cNvSpPr txBox="1"/>
          <p:nvPr/>
        </p:nvSpPr>
        <p:spPr>
          <a:xfrm>
            <a:off x="6075625" y="2177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3"/>
          <p:cNvSpPr txBox="1"/>
          <p:nvPr/>
        </p:nvSpPr>
        <p:spPr>
          <a:xfrm>
            <a:off x="6882576" y="217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2" name="Google Shape;872;p73"/>
          <p:cNvGrpSpPr/>
          <p:nvPr/>
        </p:nvGrpSpPr>
        <p:grpSpPr>
          <a:xfrm>
            <a:off x="6724759" y="1633223"/>
            <a:ext cx="93900" cy="816939"/>
            <a:chOff x="996050" y="213293"/>
            <a:chExt cx="93900" cy="909732"/>
          </a:xfrm>
        </p:grpSpPr>
        <p:cxnSp>
          <p:nvCxnSpPr>
            <p:cNvPr id="873" name="Google Shape;873;p7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74" name="Google Shape;874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5" name="Google Shape;87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outcomes: one-stage and two-stage trials</a:t>
            </a:r>
            <a:endParaRPr/>
          </a:p>
        </p:txBody>
      </p:sp>
      <p:pic>
        <p:nvPicPr>
          <p:cNvPr id="876" name="Google Shape;87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03298" y="2663823"/>
            <a:ext cx="54654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3"/>
          <p:cNvSpPr/>
          <p:nvPr/>
        </p:nvSpPr>
        <p:spPr>
          <a:xfrm>
            <a:off x="2155500" y="1616750"/>
            <a:ext cx="630000" cy="1447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8" name="Google Shape;87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3428999" y="3287025"/>
            <a:ext cx="4953001" cy="13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3"/>
          <p:cNvSpPr txBox="1"/>
          <p:nvPr>
            <p:ph idx="1" type="body"/>
          </p:nvPr>
        </p:nvSpPr>
        <p:spPr>
          <a:xfrm>
            <a:off x="3577350" y="3782700"/>
            <a:ext cx="4652400" cy="7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second spins </a:t>
            </a:r>
            <a:r>
              <a:rPr lang="en-GB" sz="2000">
                <a:solidFill>
                  <a:schemeClr val="accent4"/>
                </a:solidFill>
              </a:rPr>
              <a:t>alternates</a:t>
            </a:r>
            <a:r>
              <a:rPr lang="en-GB" sz="2000"/>
              <a:t> between ‘win’ and ‘lose’ each time</a:t>
            </a:r>
            <a:r>
              <a:rPr lang="en-GB" sz="2000"/>
              <a:t>. 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533400" y="3287025"/>
            <a:ext cx="5121449" cy="13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4"/>
          <p:cNvSpPr txBox="1"/>
          <p:nvPr>
            <p:ph idx="1" type="body"/>
          </p:nvPr>
        </p:nvSpPr>
        <p:spPr>
          <a:xfrm>
            <a:off x="324000" y="759300"/>
            <a:ext cx="8237700" cy="7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Laura has a different way to explain the system of listing the outcomes of the two spins.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6" name="Google Shape;886;p74"/>
          <p:cNvSpPr/>
          <p:nvPr/>
        </p:nvSpPr>
        <p:spPr>
          <a:xfrm>
            <a:off x="5925450" y="15406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74"/>
          <p:cNvSpPr/>
          <p:nvPr/>
        </p:nvSpPr>
        <p:spPr>
          <a:xfrm flipH="1">
            <a:off x="5940139" y="15554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74"/>
          <p:cNvSpPr/>
          <p:nvPr/>
        </p:nvSpPr>
        <p:spPr>
          <a:xfrm>
            <a:off x="5940211" y="15554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74"/>
          <p:cNvSpPr txBox="1"/>
          <p:nvPr/>
        </p:nvSpPr>
        <p:spPr>
          <a:xfrm>
            <a:off x="6075625" y="2177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4"/>
          <p:cNvSpPr txBox="1"/>
          <p:nvPr/>
        </p:nvSpPr>
        <p:spPr>
          <a:xfrm>
            <a:off x="6882576" y="217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1" name="Google Shape;891;p74"/>
          <p:cNvGrpSpPr/>
          <p:nvPr/>
        </p:nvGrpSpPr>
        <p:grpSpPr>
          <a:xfrm>
            <a:off x="6724759" y="1633223"/>
            <a:ext cx="93900" cy="816939"/>
            <a:chOff x="996050" y="213293"/>
            <a:chExt cx="93900" cy="909732"/>
          </a:xfrm>
        </p:grpSpPr>
        <p:cxnSp>
          <p:nvCxnSpPr>
            <p:cNvPr id="892" name="Google Shape;892;p7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93" name="Google Shape;893;p7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4" name="Google Shape;89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outcomes: one-stage and two-stage trials</a:t>
            </a:r>
            <a:endParaRPr/>
          </a:p>
        </p:txBody>
      </p:sp>
      <p:pic>
        <p:nvPicPr>
          <p:cNvPr id="895" name="Google Shape;89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03298" y="2663823"/>
            <a:ext cx="54654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74"/>
          <p:cNvSpPr txBox="1"/>
          <p:nvPr>
            <p:ph idx="1" type="body"/>
          </p:nvPr>
        </p:nvSpPr>
        <p:spPr>
          <a:xfrm>
            <a:off x="681750" y="3782700"/>
            <a:ext cx="4652400" cy="7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 first listed all of the outcomes for the </a:t>
            </a:r>
            <a:r>
              <a:rPr lang="en-GB" sz="2000">
                <a:solidFill>
                  <a:schemeClr val="accent4"/>
                </a:solidFill>
              </a:rPr>
              <a:t>first</a:t>
            </a:r>
            <a:r>
              <a:rPr lang="en-GB" sz="2000"/>
              <a:t> spin …</a:t>
            </a:r>
            <a:endParaRPr sz="1800"/>
          </a:p>
        </p:txBody>
      </p:sp>
      <p:pic>
        <p:nvPicPr>
          <p:cNvPr id="897" name="Google Shape;897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297" y="2716774"/>
            <a:ext cx="546550" cy="7158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8" name="Google Shape;898;p74"/>
          <p:cNvGrpSpPr/>
          <p:nvPr/>
        </p:nvGrpSpPr>
        <p:grpSpPr>
          <a:xfrm>
            <a:off x="678682" y="2018530"/>
            <a:ext cx="955665" cy="670578"/>
            <a:chOff x="2162550" y="1945125"/>
            <a:chExt cx="578700" cy="261047"/>
          </a:xfrm>
        </p:grpSpPr>
        <p:cxnSp>
          <p:nvCxnSpPr>
            <p:cNvPr id="899" name="Google Shape;899;p74"/>
            <p:cNvCxnSpPr/>
            <p:nvPr/>
          </p:nvCxnSpPr>
          <p:spPr>
            <a:xfrm flipH="1" rot="10800000">
              <a:off x="2162550" y="1945125"/>
              <a:ext cx="578700" cy="12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0" name="Google Shape;900;p74"/>
            <p:cNvCxnSpPr/>
            <p:nvPr/>
          </p:nvCxnSpPr>
          <p:spPr>
            <a:xfrm>
              <a:off x="2162550" y="2077472"/>
              <a:ext cx="578700" cy="12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1" name="Google Shape;901;p74"/>
          <p:cNvSpPr txBox="1"/>
          <p:nvPr>
            <p:ph idx="1" type="body"/>
          </p:nvPr>
        </p:nvSpPr>
        <p:spPr>
          <a:xfrm>
            <a:off x="1695600" y="1825172"/>
            <a:ext cx="1238700" cy="14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win</a:t>
            </a:r>
            <a:br>
              <a:rPr lang="en-GB" sz="2000"/>
            </a:br>
            <a:br>
              <a:rPr lang="en-GB" sz="2000"/>
            </a:br>
            <a:r>
              <a:rPr lang="en-GB" sz="2000"/>
              <a:t>lose</a:t>
            </a:r>
            <a:br>
              <a:rPr lang="en-GB" sz="2000"/>
            </a:b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5"/>
          <p:cNvSpPr txBox="1"/>
          <p:nvPr>
            <p:ph idx="1" type="body"/>
          </p:nvPr>
        </p:nvSpPr>
        <p:spPr>
          <a:xfrm>
            <a:off x="324000" y="759300"/>
            <a:ext cx="8237700" cy="7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Laura has a different way to explain the system of listing the outcomes of the two spins.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7" name="Google Shape;907;p75"/>
          <p:cNvSpPr txBox="1"/>
          <p:nvPr>
            <p:ph idx="1" type="body"/>
          </p:nvPr>
        </p:nvSpPr>
        <p:spPr>
          <a:xfrm>
            <a:off x="1695600" y="1825172"/>
            <a:ext cx="1238700" cy="14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win</a:t>
            </a:r>
            <a:br>
              <a:rPr lang="en-GB" sz="2000"/>
            </a:br>
            <a:br>
              <a:rPr lang="en-GB" sz="2000"/>
            </a:br>
            <a:r>
              <a:rPr lang="en-GB" sz="2000"/>
              <a:t>lose</a:t>
            </a:r>
            <a:br>
              <a:rPr lang="en-GB" sz="2000"/>
            </a:br>
            <a:endParaRPr sz="2000"/>
          </a:p>
        </p:txBody>
      </p:sp>
      <p:sp>
        <p:nvSpPr>
          <p:cNvPr id="908" name="Google Shape;908;p75"/>
          <p:cNvSpPr/>
          <p:nvPr/>
        </p:nvSpPr>
        <p:spPr>
          <a:xfrm>
            <a:off x="5925450" y="15406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75"/>
          <p:cNvSpPr/>
          <p:nvPr/>
        </p:nvSpPr>
        <p:spPr>
          <a:xfrm flipH="1">
            <a:off x="5940139" y="15554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75"/>
          <p:cNvSpPr/>
          <p:nvPr/>
        </p:nvSpPr>
        <p:spPr>
          <a:xfrm>
            <a:off x="5940211" y="15554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75"/>
          <p:cNvSpPr txBox="1"/>
          <p:nvPr/>
        </p:nvSpPr>
        <p:spPr>
          <a:xfrm>
            <a:off x="6075625" y="2177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5"/>
          <p:cNvSpPr txBox="1"/>
          <p:nvPr/>
        </p:nvSpPr>
        <p:spPr>
          <a:xfrm>
            <a:off x="6882576" y="217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3" name="Google Shape;913;p75"/>
          <p:cNvGrpSpPr/>
          <p:nvPr/>
        </p:nvGrpSpPr>
        <p:grpSpPr>
          <a:xfrm>
            <a:off x="6724759" y="1633223"/>
            <a:ext cx="93900" cy="816939"/>
            <a:chOff x="996050" y="213293"/>
            <a:chExt cx="93900" cy="909732"/>
          </a:xfrm>
        </p:grpSpPr>
        <p:cxnSp>
          <p:nvCxnSpPr>
            <p:cNvPr id="914" name="Google Shape;914;p75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15" name="Google Shape;915;p7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6" name="Google Shape;916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outcomes: one-stage and two-stage trials</a:t>
            </a:r>
            <a:endParaRPr/>
          </a:p>
        </p:txBody>
      </p:sp>
      <p:pic>
        <p:nvPicPr>
          <p:cNvPr id="917" name="Google Shape;91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03298" y="2663823"/>
            <a:ext cx="546543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800000">
            <a:off x="533400" y="3287025"/>
            <a:ext cx="5121449" cy="13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75"/>
          <p:cNvSpPr txBox="1"/>
          <p:nvPr>
            <p:ph idx="1" type="body"/>
          </p:nvPr>
        </p:nvSpPr>
        <p:spPr>
          <a:xfrm>
            <a:off x="681750" y="3782700"/>
            <a:ext cx="4882800" cy="7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each outcome, I listed all the possible outcomes for the </a:t>
            </a:r>
            <a:r>
              <a:rPr lang="en-GB" sz="2000">
                <a:solidFill>
                  <a:schemeClr val="accent4"/>
                </a:solidFill>
              </a:rPr>
              <a:t>second</a:t>
            </a:r>
            <a:r>
              <a:rPr lang="en-GB" sz="2000"/>
              <a:t> spin.</a:t>
            </a:r>
            <a:endParaRPr sz="1800"/>
          </a:p>
        </p:txBody>
      </p:sp>
      <p:pic>
        <p:nvPicPr>
          <p:cNvPr id="920" name="Google Shape;920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297" y="2716774"/>
            <a:ext cx="546550" cy="7158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1" name="Google Shape;921;p75"/>
          <p:cNvGrpSpPr/>
          <p:nvPr/>
        </p:nvGrpSpPr>
        <p:grpSpPr>
          <a:xfrm>
            <a:off x="2202613" y="1819963"/>
            <a:ext cx="955665" cy="317877"/>
            <a:chOff x="2162550" y="1945125"/>
            <a:chExt cx="578700" cy="261047"/>
          </a:xfrm>
        </p:grpSpPr>
        <p:cxnSp>
          <p:nvCxnSpPr>
            <p:cNvPr id="922" name="Google Shape;922;p75"/>
            <p:cNvCxnSpPr/>
            <p:nvPr/>
          </p:nvCxnSpPr>
          <p:spPr>
            <a:xfrm flipH="1" rot="10800000">
              <a:off x="2162550" y="1945125"/>
              <a:ext cx="578700" cy="12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3" name="Google Shape;923;p75"/>
            <p:cNvCxnSpPr/>
            <p:nvPr/>
          </p:nvCxnSpPr>
          <p:spPr>
            <a:xfrm>
              <a:off x="2162550" y="2077472"/>
              <a:ext cx="578700" cy="12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24" name="Google Shape;924;p75"/>
          <p:cNvSpPr txBox="1"/>
          <p:nvPr>
            <p:ph idx="1" type="body"/>
          </p:nvPr>
        </p:nvSpPr>
        <p:spPr>
          <a:xfrm>
            <a:off x="3217200" y="1629276"/>
            <a:ext cx="630000" cy="7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</a:t>
            </a:r>
            <a:r>
              <a:rPr lang="en-GB" sz="2000"/>
              <a:t>in</a:t>
            </a:r>
            <a:br>
              <a:rPr lang="en-GB" sz="2000"/>
            </a:br>
            <a:r>
              <a:rPr lang="en-GB" sz="2000"/>
              <a:t>lose</a:t>
            </a:r>
            <a:br>
              <a:rPr lang="en-GB" sz="2000"/>
            </a:br>
            <a:endParaRPr sz="2000"/>
          </a:p>
        </p:txBody>
      </p:sp>
      <p:grpSp>
        <p:nvGrpSpPr>
          <p:cNvPr id="925" name="Google Shape;925;p75"/>
          <p:cNvGrpSpPr/>
          <p:nvPr/>
        </p:nvGrpSpPr>
        <p:grpSpPr>
          <a:xfrm>
            <a:off x="2202613" y="2551884"/>
            <a:ext cx="955665" cy="317877"/>
            <a:chOff x="2162550" y="1945125"/>
            <a:chExt cx="578700" cy="261047"/>
          </a:xfrm>
        </p:grpSpPr>
        <p:cxnSp>
          <p:nvCxnSpPr>
            <p:cNvPr id="926" name="Google Shape;926;p75"/>
            <p:cNvCxnSpPr/>
            <p:nvPr/>
          </p:nvCxnSpPr>
          <p:spPr>
            <a:xfrm flipH="1" rot="10800000">
              <a:off x="2162550" y="1945125"/>
              <a:ext cx="578700" cy="12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7" name="Google Shape;927;p75"/>
            <p:cNvCxnSpPr/>
            <p:nvPr/>
          </p:nvCxnSpPr>
          <p:spPr>
            <a:xfrm>
              <a:off x="2162550" y="2077472"/>
              <a:ext cx="578700" cy="12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28" name="Google Shape;928;p75"/>
          <p:cNvSpPr txBox="1"/>
          <p:nvPr>
            <p:ph idx="1" type="body"/>
          </p:nvPr>
        </p:nvSpPr>
        <p:spPr>
          <a:xfrm>
            <a:off x="3217200" y="2361197"/>
            <a:ext cx="630000" cy="7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win</a:t>
            </a:r>
            <a:br>
              <a:rPr lang="en-GB" sz="2000"/>
            </a:br>
            <a:r>
              <a:rPr lang="en-GB" sz="2000"/>
              <a:t>lose</a:t>
            </a:r>
            <a:br>
              <a:rPr lang="en-GB" sz="2000"/>
            </a:br>
            <a:endParaRPr sz="2000"/>
          </a:p>
        </p:txBody>
      </p:sp>
      <p:grpSp>
        <p:nvGrpSpPr>
          <p:cNvPr id="929" name="Google Shape;929;p75"/>
          <p:cNvGrpSpPr/>
          <p:nvPr/>
        </p:nvGrpSpPr>
        <p:grpSpPr>
          <a:xfrm>
            <a:off x="678682" y="2018530"/>
            <a:ext cx="955665" cy="670578"/>
            <a:chOff x="2162550" y="1945125"/>
            <a:chExt cx="578700" cy="261047"/>
          </a:xfrm>
        </p:grpSpPr>
        <p:cxnSp>
          <p:nvCxnSpPr>
            <p:cNvPr id="930" name="Google Shape;930;p75"/>
            <p:cNvCxnSpPr/>
            <p:nvPr/>
          </p:nvCxnSpPr>
          <p:spPr>
            <a:xfrm flipH="1" rot="10800000">
              <a:off x="2162550" y="1945125"/>
              <a:ext cx="578700" cy="12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1" name="Google Shape;931;p75"/>
            <p:cNvCxnSpPr/>
            <p:nvPr/>
          </p:nvCxnSpPr>
          <p:spPr>
            <a:xfrm>
              <a:off x="2162550" y="2077472"/>
              <a:ext cx="578700" cy="12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76"/>
          <p:cNvSpPr txBox="1"/>
          <p:nvPr>
            <p:ph idx="1" type="body"/>
          </p:nvPr>
        </p:nvSpPr>
        <p:spPr>
          <a:xfrm>
            <a:off x="324000" y="759300"/>
            <a:ext cx="8237700" cy="7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Laura has a different way to explain the system of listing the outcomes of the two spins.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7" name="Google Shape;937;p76"/>
          <p:cNvSpPr txBox="1"/>
          <p:nvPr>
            <p:ph idx="1" type="body"/>
          </p:nvPr>
        </p:nvSpPr>
        <p:spPr>
          <a:xfrm>
            <a:off x="1695600" y="1825172"/>
            <a:ext cx="1238700" cy="14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win</a:t>
            </a:r>
            <a:br>
              <a:rPr lang="en-GB" sz="2000"/>
            </a:br>
            <a:br>
              <a:rPr lang="en-GB" sz="2000"/>
            </a:br>
            <a:r>
              <a:rPr lang="en-GB" sz="2000"/>
              <a:t>lose</a:t>
            </a:r>
            <a:br>
              <a:rPr lang="en-GB" sz="2000"/>
            </a:br>
            <a:endParaRPr sz="2000"/>
          </a:p>
        </p:txBody>
      </p:sp>
      <p:sp>
        <p:nvSpPr>
          <p:cNvPr id="938" name="Google Shape;938;p76"/>
          <p:cNvSpPr/>
          <p:nvPr/>
        </p:nvSpPr>
        <p:spPr>
          <a:xfrm>
            <a:off x="5925450" y="15406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76"/>
          <p:cNvSpPr/>
          <p:nvPr/>
        </p:nvSpPr>
        <p:spPr>
          <a:xfrm flipH="1">
            <a:off x="5940139" y="15554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76"/>
          <p:cNvSpPr/>
          <p:nvPr/>
        </p:nvSpPr>
        <p:spPr>
          <a:xfrm>
            <a:off x="5940211" y="15554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76"/>
          <p:cNvSpPr txBox="1"/>
          <p:nvPr/>
        </p:nvSpPr>
        <p:spPr>
          <a:xfrm>
            <a:off x="6075625" y="2177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6"/>
          <p:cNvSpPr txBox="1"/>
          <p:nvPr/>
        </p:nvSpPr>
        <p:spPr>
          <a:xfrm>
            <a:off x="6882576" y="217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3" name="Google Shape;943;p76"/>
          <p:cNvGrpSpPr/>
          <p:nvPr/>
        </p:nvGrpSpPr>
        <p:grpSpPr>
          <a:xfrm>
            <a:off x="6724759" y="1633223"/>
            <a:ext cx="93900" cy="816939"/>
            <a:chOff x="996050" y="213293"/>
            <a:chExt cx="93900" cy="909732"/>
          </a:xfrm>
        </p:grpSpPr>
        <p:cxnSp>
          <p:nvCxnSpPr>
            <p:cNvPr id="944" name="Google Shape;944;p76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45" name="Google Shape;945;p7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6" name="Google Shape;94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outcomes: one-stage and two-stage trials</a:t>
            </a:r>
            <a:endParaRPr/>
          </a:p>
        </p:txBody>
      </p:sp>
      <p:pic>
        <p:nvPicPr>
          <p:cNvPr id="947" name="Google Shape;94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03298" y="2663823"/>
            <a:ext cx="546543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800000">
            <a:off x="533400" y="3287025"/>
            <a:ext cx="5121449" cy="13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76"/>
          <p:cNvSpPr txBox="1"/>
          <p:nvPr>
            <p:ph idx="1" type="body"/>
          </p:nvPr>
        </p:nvSpPr>
        <p:spPr>
          <a:xfrm>
            <a:off x="681750" y="3782700"/>
            <a:ext cx="4882800" cy="7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 then followed my finger along each route of branches to create my list.</a:t>
            </a:r>
            <a:endParaRPr sz="1800"/>
          </a:p>
        </p:txBody>
      </p:sp>
      <p:pic>
        <p:nvPicPr>
          <p:cNvPr id="950" name="Google Shape;95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297" y="2716774"/>
            <a:ext cx="546550" cy="7158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1" name="Google Shape;951;p76"/>
          <p:cNvGrpSpPr/>
          <p:nvPr/>
        </p:nvGrpSpPr>
        <p:grpSpPr>
          <a:xfrm>
            <a:off x="2202613" y="1819963"/>
            <a:ext cx="955665" cy="317877"/>
            <a:chOff x="2162550" y="1945125"/>
            <a:chExt cx="578700" cy="261047"/>
          </a:xfrm>
        </p:grpSpPr>
        <p:cxnSp>
          <p:nvCxnSpPr>
            <p:cNvPr id="952" name="Google Shape;952;p76"/>
            <p:cNvCxnSpPr/>
            <p:nvPr/>
          </p:nvCxnSpPr>
          <p:spPr>
            <a:xfrm flipH="1" rot="10800000">
              <a:off x="2162550" y="1945125"/>
              <a:ext cx="578700" cy="12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3" name="Google Shape;953;p76"/>
            <p:cNvCxnSpPr/>
            <p:nvPr/>
          </p:nvCxnSpPr>
          <p:spPr>
            <a:xfrm>
              <a:off x="2162550" y="2077472"/>
              <a:ext cx="578700" cy="12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54" name="Google Shape;954;p76"/>
          <p:cNvSpPr txBox="1"/>
          <p:nvPr>
            <p:ph idx="1" type="body"/>
          </p:nvPr>
        </p:nvSpPr>
        <p:spPr>
          <a:xfrm>
            <a:off x="3217200" y="1629276"/>
            <a:ext cx="630000" cy="7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win</a:t>
            </a:r>
            <a:br>
              <a:rPr lang="en-GB" sz="2000"/>
            </a:br>
            <a:r>
              <a:rPr lang="en-GB" sz="2000"/>
              <a:t>lose</a:t>
            </a:r>
            <a:br>
              <a:rPr lang="en-GB" sz="2000"/>
            </a:br>
            <a:endParaRPr sz="2000"/>
          </a:p>
        </p:txBody>
      </p:sp>
      <p:grpSp>
        <p:nvGrpSpPr>
          <p:cNvPr id="955" name="Google Shape;955;p76"/>
          <p:cNvGrpSpPr/>
          <p:nvPr/>
        </p:nvGrpSpPr>
        <p:grpSpPr>
          <a:xfrm>
            <a:off x="2202613" y="2551884"/>
            <a:ext cx="955665" cy="317877"/>
            <a:chOff x="2162550" y="1945125"/>
            <a:chExt cx="578700" cy="261047"/>
          </a:xfrm>
        </p:grpSpPr>
        <p:cxnSp>
          <p:nvCxnSpPr>
            <p:cNvPr id="956" name="Google Shape;956;p76"/>
            <p:cNvCxnSpPr/>
            <p:nvPr/>
          </p:nvCxnSpPr>
          <p:spPr>
            <a:xfrm flipH="1" rot="10800000">
              <a:off x="2162550" y="1945125"/>
              <a:ext cx="578700" cy="12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7" name="Google Shape;957;p76"/>
            <p:cNvCxnSpPr/>
            <p:nvPr/>
          </p:nvCxnSpPr>
          <p:spPr>
            <a:xfrm>
              <a:off x="2162550" y="2077472"/>
              <a:ext cx="578700" cy="12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58" name="Google Shape;958;p76"/>
          <p:cNvSpPr txBox="1"/>
          <p:nvPr>
            <p:ph idx="1" type="body"/>
          </p:nvPr>
        </p:nvSpPr>
        <p:spPr>
          <a:xfrm>
            <a:off x="3217200" y="2361197"/>
            <a:ext cx="630000" cy="7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win</a:t>
            </a:r>
            <a:br>
              <a:rPr lang="en-GB" sz="2000"/>
            </a:br>
            <a:r>
              <a:rPr lang="en-GB" sz="2000"/>
              <a:t>lose</a:t>
            </a:r>
            <a:br>
              <a:rPr lang="en-GB" sz="2000"/>
            </a:br>
            <a:endParaRPr sz="2000"/>
          </a:p>
        </p:txBody>
      </p:sp>
      <p:grpSp>
        <p:nvGrpSpPr>
          <p:cNvPr id="959" name="Google Shape;959;p76"/>
          <p:cNvGrpSpPr/>
          <p:nvPr/>
        </p:nvGrpSpPr>
        <p:grpSpPr>
          <a:xfrm>
            <a:off x="678682" y="2018530"/>
            <a:ext cx="955665" cy="670578"/>
            <a:chOff x="2162550" y="1945125"/>
            <a:chExt cx="578700" cy="261047"/>
          </a:xfrm>
        </p:grpSpPr>
        <p:cxnSp>
          <p:nvCxnSpPr>
            <p:cNvPr id="960" name="Google Shape;960;p76"/>
            <p:cNvCxnSpPr/>
            <p:nvPr/>
          </p:nvCxnSpPr>
          <p:spPr>
            <a:xfrm flipH="1" rot="10800000">
              <a:off x="2162550" y="1945125"/>
              <a:ext cx="578700" cy="12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1" name="Google Shape;961;p76"/>
            <p:cNvCxnSpPr/>
            <p:nvPr/>
          </p:nvCxnSpPr>
          <p:spPr>
            <a:xfrm>
              <a:off x="2162550" y="2077472"/>
              <a:ext cx="578700" cy="12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62" name="Google Shape;962;p76"/>
          <p:cNvSpPr txBox="1"/>
          <p:nvPr>
            <p:ph idx="1" type="body"/>
          </p:nvPr>
        </p:nvSpPr>
        <p:spPr>
          <a:xfrm>
            <a:off x="4372626" y="1646704"/>
            <a:ext cx="1238700" cy="14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win win,</a:t>
            </a:r>
            <a:br>
              <a:rPr lang="en-GB" sz="2000"/>
            </a:br>
            <a:r>
              <a:rPr lang="en-GB" sz="2000"/>
              <a:t>win lose,</a:t>
            </a:r>
            <a:br>
              <a:rPr lang="en-GB" sz="2000"/>
            </a:br>
            <a:r>
              <a:rPr lang="en-GB" sz="2000"/>
              <a:t>lose win,</a:t>
            </a:r>
            <a:br>
              <a:rPr lang="en-GB" sz="2000"/>
            </a:br>
            <a:r>
              <a:rPr lang="en-GB" sz="2000"/>
              <a:t>lose lose</a:t>
            </a:r>
            <a:endParaRPr sz="2000"/>
          </a:p>
        </p:txBody>
      </p:sp>
      <p:sp>
        <p:nvSpPr>
          <p:cNvPr id="963" name="Google Shape;963;p76"/>
          <p:cNvSpPr txBox="1"/>
          <p:nvPr>
            <p:ph idx="1" type="body"/>
          </p:nvPr>
        </p:nvSpPr>
        <p:spPr>
          <a:xfrm>
            <a:off x="6021750" y="3630300"/>
            <a:ext cx="2324100" cy="10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could get tricky when listing lots of outcomes.</a:t>
            </a:r>
            <a:endParaRPr sz="1800"/>
          </a:p>
        </p:txBody>
      </p:sp>
      <p:pic>
        <p:nvPicPr>
          <p:cNvPr id="964" name="Google Shape;964;p76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 rot="10800000">
            <a:off x="5823292" y="3386850"/>
            <a:ext cx="2694574" cy="13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77"/>
          <p:cNvSpPr txBox="1"/>
          <p:nvPr>
            <p:ph idx="1" type="body"/>
          </p:nvPr>
        </p:nvSpPr>
        <p:spPr>
          <a:xfrm>
            <a:off x="6907279" y="2405621"/>
            <a:ext cx="486900" cy="4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CA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0" name="Google Shape;970;p77"/>
          <p:cNvSpPr txBox="1"/>
          <p:nvPr>
            <p:ph idx="1" type="body"/>
          </p:nvPr>
        </p:nvSpPr>
        <p:spPr>
          <a:xfrm>
            <a:off x="324000" y="759300"/>
            <a:ext cx="8237700" cy="7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Alex</a:t>
            </a:r>
            <a:r>
              <a:rPr lang="en-GB" sz="2000"/>
              <a:t> is using a system to list all the possible outcomes when the spinner below is spun </a:t>
            </a:r>
            <a:r>
              <a:rPr lang="en-GB" sz="2000">
                <a:solidFill>
                  <a:schemeClr val="accent4"/>
                </a:solidFill>
              </a:rPr>
              <a:t>twice</a:t>
            </a:r>
            <a:r>
              <a:rPr lang="en-GB" sz="2000"/>
              <a:t>. </a:t>
            </a:r>
            <a:endParaRPr/>
          </a:p>
        </p:txBody>
      </p:sp>
      <p:sp>
        <p:nvSpPr>
          <p:cNvPr id="971" name="Google Shape;971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outcomes: one-stage and two-stage trials</a:t>
            </a:r>
            <a:endParaRPr/>
          </a:p>
        </p:txBody>
      </p:sp>
      <p:sp>
        <p:nvSpPr>
          <p:cNvPr id="972" name="Google Shape;972;p77"/>
          <p:cNvSpPr txBox="1"/>
          <p:nvPr>
            <p:ph idx="1" type="body"/>
          </p:nvPr>
        </p:nvSpPr>
        <p:spPr>
          <a:xfrm>
            <a:off x="324000" y="3883500"/>
            <a:ext cx="8237700" cy="4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would be the next outcome in Alex’s system?</a:t>
            </a:r>
            <a:endParaRPr/>
          </a:p>
        </p:txBody>
      </p:sp>
      <p:sp>
        <p:nvSpPr>
          <p:cNvPr id="973" name="Google Shape;973;p77"/>
          <p:cNvSpPr txBox="1"/>
          <p:nvPr>
            <p:ph idx="1" type="body"/>
          </p:nvPr>
        </p:nvSpPr>
        <p:spPr>
          <a:xfrm>
            <a:off x="2997871" y="2435700"/>
            <a:ext cx="4684200" cy="4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AA, AB, AC, AD, BA, BB, BC, BD,      , …</a:t>
            </a:r>
            <a:endParaRPr sz="2000"/>
          </a:p>
        </p:txBody>
      </p:sp>
      <p:cxnSp>
        <p:nvCxnSpPr>
          <p:cNvPr id="974" name="Google Shape;974;p77"/>
          <p:cNvCxnSpPr/>
          <p:nvPr/>
        </p:nvCxnSpPr>
        <p:spPr>
          <a:xfrm>
            <a:off x="6894078" y="2700003"/>
            <a:ext cx="340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5" name="Google Shape;975;p77"/>
          <p:cNvSpPr/>
          <p:nvPr/>
        </p:nvSpPr>
        <p:spPr>
          <a:xfrm>
            <a:off x="584600" y="17634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77"/>
          <p:cNvSpPr/>
          <p:nvPr/>
        </p:nvSpPr>
        <p:spPr>
          <a:xfrm flipH="1">
            <a:off x="599289" y="1778211"/>
            <a:ext cx="1666500" cy="1666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77"/>
          <p:cNvSpPr/>
          <p:nvPr/>
        </p:nvSpPr>
        <p:spPr>
          <a:xfrm>
            <a:off x="599361" y="1778211"/>
            <a:ext cx="1666500" cy="1666500"/>
          </a:xfrm>
          <a:prstGeom prst="pie">
            <a:avLst>
              <a:gd fmla="val 5387953" name="adj1"/>
              <a:gd fmla="val 10858220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77"/>
          <p:cNvSpPr txBox="1"/>
          <p:nvPr/>
        </p:nvSpPr>
        <p:spPr>
          <a:xfrm>
            <a:off x="963375" y="27055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7"/>
          <p:cNvSpPr/>
          <p:nvPr/>
        </p:nvSpPr>
        <p:spPr>
          <a:xfrm>
            <a:off x="599361" y="1778211"/>
            <a:ext cx="1666500" cy="1666500"/>
          </a:xfrm>
          <a:prstGeom prst="pie">
            <a:avLst>
              <a:gd fmla="val 10799941" name="adj1"/>
              <a:gd fmla="val 16225322" name="adj2"/>
            </a:avLst>
          </a:prstGeom>
          <a:solidFill>
            <a:srgbClr val="D02AA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77"/>
          <p:cNvSpPr txBox="1"/>
          <p:nvPr/>
        </p:nvSpPr>
        <p:spPr>
          <a:xfrm>
            <a:off x="963375" y="20197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7"/>
          <p:cNvSpPr/>
          <p:nvPr/>
        </p:nvSpPr>
        <p:spPr>
          <a:xfrm flipH="1">
            <a:off x="599289" y="1778211"/>
            <a:ext cx="1666500" cy="1666500"/>
          </a:xfrm>
          <a:prstGeom prst="pie">
            <a:avLst>
              <a:gd fmla="val 10825856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77"/>
          <p:cNvSpPr txBox="1"/>
          <p:nvPr/>
        </p:nvSpPr>
        <p:spPr>
          <a:xfrm>
            <a:off x="1541726" y="20197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7"/>
          <p:cNvSpPr txBox="1"/>
          <p:nvPr/>
        </p:nvSpPr>
        <p:spPr>
          <a:xfrm>
            <a:off x="1541726" y="27055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4" name="Google Shape;984;p77"/>
          <p:cNvGrpSpPr/>
          <p:nvPr/>
        </p:nvGrpSpPr>
        <p:grpSpPr>
          <a:xfrm>
            <a:off x="1383909" y="1828963"/>
            <a:ext cx="93900" cy="816939"/>
            <a:chOff x="996050" y="213293"/>
            <a:chExt cx="93900" cy="909732"/>
          </a:xfrm>
        </p:grpSpPr>
        <p:cxnSp>
          <p:nvCxnSpPr>
            <p:cNvPr id="985" name="Google Shape;985;p77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86" name="Google Shape;986;p77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87" name="Google Shape;98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5728" y="1546192"/>
            <a:ext cx="571500" cy="659060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77"/>
          <p:cNvSpPr txBox="1"/>
          <p:nvPr>
            <p:ph idx="1" type="body"/>
          </p:nvPr>
        </p:nvSpPr>
        <p:spPr>
          <a:xfrm>
            <a:off x="6724800" y="3883500"/>
            <a:ext cx="486900" cy="4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CA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78"/>
          <p:cNvSpPr txBox="1"/>
          <p:nvPr>
            <p:ph idx="1" type="body"/>
          </p:nvPr>
        </p:nvSpPr>
        <p:spPr>
          <a:xfrm>
            <a:off x="324000" y="759300"/>
            <a:ext cx="82377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coin is flipped and a regular six-sided die is rolled.</a:t>
            </a:r>
            <a:endParaRPr/>
          </a:p>
        </p:txBody>
      </p:sp>
      <p:sp>
        <p:nvSpPr>
          <p:cNvPr id="994" name="Google Shape;99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outcomes: one-stage and two-stage trials</a:t>
            </a:r>
            <a:endParaRPr/>
          </a:p>
        </p:txBody>
      </p:sp>
      <p:sp>
        <p:nvSpPr>
          <p:cNvPr id="995" name="Google Shape;995;p78"/>
          <p:cNvSpPr txBox="1"/>
          <p:nvPr>
            <p:ph idx="1" type="body"/>
          </p:nvPr>
        </p:nvSpPr>
        <p:spPr>
          <a:xfrm>
            <a:off x="324000" y="2359500"/>
            <a:ext cx="8237700" cy="4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List down all the possible outcomes.</a:t>
            </a:r>
            <a:endParaRPr/>
          </a:p>
        </p:txBody>
      </p:sp>
      <p:sp>
        <p:nvSpPr>
          <p:cNvPr id="996" name="Google Shape;996;p78"/>
          <p:cNvSpPr txBox="1"/>
          <p:nvPr>
            <p:ph idx="1" type="body"/>
          </p:nvPr>
        </p:nvSpPr>
        <p:spPr>
          <a:xfrm>
            <a:off x="3053175" y="3083400"/>
            <a:ext cx="3024900" cy="75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H1, H2, H3, H4, H5, H6,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T1, T2, T3, T4, T5, T6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97" name="Google Shape;99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1425" y="1190400"/>
            <a:ext cx="1040567" cy="9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2000" y="1224925"/>
            <a:ext cx="937976" cy="9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79"/>
          <p:cNvSpPr txBox="1"/>
          <p:nvPr>
            <p:ph idx="1" type="body"/>
          </p:nvPr>
        </p:nvSpPr>
        <p:spPr>
          <a:xfrm>
            <a:off x="324000" y="759300"/>
            <a:ext cx="82377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There are two decks of cards. </a:t>
            </a:r>
            <a:endParaRPr sz="1600"/>
          </a:p>
        </p:txBody>
      </p:sp>
      <p:sp>
        <p:nvSpPr>
          <p:cNvPr id="1004" name="Google Shape;1004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outcomes: one-stage or two-stage trials </a:t>
            </a:r>
            <a:endParaRPr/>
          </a:p>
        </p:txBody>
      </p:sp>
      <p:sp>
        <p:nvSpPr>
          <p:cNvPr id="1005" name="Google Shape;1005;p79"/>
          <p:cNvSpPr/>
          <p:nvPr/>
        </p:nvSpPr>
        <p:spPr>
          <a:xfrm>
            <a:off x="2227842" y="1106903"/>
            <a:ext cx="381000" cy="556200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9"/>
          <p:cNvSpPr/>
          <p:nvPr/>
        </p:nvSpPr>
        <p:spPr>
          <a:xfrm>
            <a:off x="2761242" y="1106903"/>
            <a:ext cx="381000" cy="556200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9"/>
          <p:cNvSpPr/>
          <p:nvPr/>
        </p:nvSpPr>
        <p:spPr>
          <a:xfrm>
            <a:off x="3294642" y="1106903"/>
            <a:ext cx="381000" cy="556200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9"/>
          <p:cNvSpPr txBox="1"/>
          <p:nvPr>
            <p:ph idx="1" type="body"/>
          </p:nvPr>
        </p:nvSpPr>
        <p:spPr>
          <a:xfrm>
            <a:off x="555424" y="1262950"/>
            <a:ext cx="15201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Deck A (0 to 2):</a:t>
            </a:r>
            <a:endParaRPr sz="1600"/>
          </a:p>
        </p:txBody>
      </p:sp>
      <p:sp>
        <p:nvSpPr>
          <p:cNvPr id="1009" name="Google Shape;1009;p79"/>
          <p:cNvSpPr txBox="1"/>
          <p:nvPr>
            <p:ph idx="1" type="body"/>
          </p:nvPr>
        </p:nvSpPr>
        <p:spPr>
          <a:xfrm>
            <a:off x="2348125" y="12529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0</a:t>
            </a:r>
            <a:endParaRPr sz="1800"/>
          </a:p>
        </p:txBody>
      </p:sp>
      <p:sp>
        <p:nvSpPr>
          <p:cNvPr id="1010" name="Google Shape;1010;p79"/>
          <p:cNvSpPr txBox="1"/>
          <p:nvPr>
            <p:ph idx="1" type="body"/>
          </p:nvPr>
        </p:nvSpPr>
        <p:spPr>
          <a:xfrm>
            <a:off x="2881525" y="12529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endParaRPr sz="1800"/>
          </a:p>
        </p:txBody>
      </p:sp>
      <p:sp>
        <p:nvSpPr>
          <p:cNvPr id="1011" name="Google Shape;1011;p79"/>
          <p:cNvSpPr txBox="1"/>
          <p:nvPr>
            <p:ph idx="1" type="body"/>
          </p:nvPr>
        </p:nvSpPr>
        <p:spPr>
          <a:xfrm>
            <a:off x="3414925" y="12529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endParaRPr sz="1800"/>
          </a:p>
        </p:txBody>
      </p:sp>
      <p:sp>
        <p:nvSpPr>
          <p:cNvPr id="1012" name="Google Shape;1012;p79"/>
          <p:cNvSpPr/>
          <p:nvPr/>
        </p:nvSpPr>
        <p:spPr>
          <a:xfrm>
            <a:off x="22278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9"/>
          <p:cNvSpPr/>
          <p:nvPr/>
        </p:nvSpPr>
        <p:spPr>
          <a:xfrm>
            <a:off x="27612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9"/>
          <p:cNvSpPr/>
          <p:nvPr/>
        </p:nvSpPr>
        <p:spPr>
          <a:xfrm>
            <a:off x="32946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9"/>
          <p:cNvSpPr/>
          <p:nvPr/>
        </p:nvSpPr>
        <p:spPr>
          <a:xfrm>
            <a:off x="38280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9"/>
          <p:cNvSpPr/>
          <p:nvPr/>
        </p:nvSpPr>
        <p:spPr>
          <a:xfrm>
            <a:off x="43614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9"/>
          <p:cNvSpPr/>
          <p:nvPr/>
        </p:nvSpPr>
        <p:spPr>
          <a:xfrm>
            <a:off x="48948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9"/>
          <p:cNvSpPr/>
          <p:nvPr/>
        </p:nvSpPr>
        <p:spPr>
          <a:xfrm>
            <a:off x="54282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9"/>
          <p:cNvSpPr/>
          <p:nvPr/>
        </p:nvSpPr>
        <p:spPr>
          <a:xfrm>
            <a:off x="59616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9"/>
          <p:cNvSpPr/>
          <p:nvPr/>
        </p:nvSpPr>
        <p:spPr>
          <a:xfrm>
            <a:off x="64950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9"/>
          <p:cNvSpPr/>
          <p:nvPr/>
        </p:nvSpPr>
        <p:spPr>
          <a:xfrm>
            <a:off x="70284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9"/>
          <p:cNvSpPr txBox="1"/>
          <p:nvPr>
            <p:ph idx="1" type="body"/>
          </p:nvPr>
        </p:nvSpPr>
        <p:spPr>
          <a:xfrm>
            <a:off x="23481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0</a:t>
            </a:r>
            <a:endParaRPr sz="1800"/>
          </a:p>
        </p:txBody>
      </p:sp>
      <p:sp>
        <p:nvSpPr>
          <p:cNvPr id="1023" name="Google Shape;1023;p79"/>
          <p:cNvSpPr txBox="1"/>
          <p:nvPr>
            <p:ph idx="1" type="body"/>
          </p:nvPr>
        </p:nvSpPr>
        <p:spPr>
          <a:xfrm>
            <a:off x="28815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endParaRPr sz="1800"/>
          </a:p>
        </p:txBody>
      </p:sp>
      <p:sp>
        <p:nvSpPr>
          <p:cNvPr id="1024" name="Google Shape;1024;p79"/>
          <p:cNvSpPr txBox="1"/>
          <p:nvPr>
            <p:ph idx="1" type="body"/>
          </p:nvPr>
        </p:nvSpPr>
        <p:spPr>
          <a:xfrm>
            <a:off x="34149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endParaRPr sz="1800"/>
          </a:p>
        </p:txBody>
      </p:sp>
      <p:sp>
        <p:nvSpPr>
          <p:cNvPr id="1025" name="Google Shape;1025;p79"/>
          <p:cNvSpPr txBox="1"/>
          <p:nvPr>
            <p:ph idx="1" type="body"/>
          </p:nvPr>
        </p:nvSpPr>
        <p:spPr>
          <a:xfrm>
            <a:off x="39483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endParaRPr sz="1800"/>
          </a:p>
        </p:txBody>
      </p:sp>
      <p:sp>
        <p:nvSpPr>
          <p:cNvPr id="1026" name="Google Shape;1026;p79"/>
          <p:cNvSpPr txBox="1"/>
          <p:nvPr>
            <p:ph idx="1" type="body"/>
          </p:nvPr>
        </p:nvSpPr>
        <p:spPr>
          <a:xfrm>
            <a:off x="44817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sp>
        <p:nvSpPr>
          <p:cNvPr id="1027" name="Google Shape;1027;p79"/>
          <p:cNvSpPr txBox="1"/>
          <p:nvPr>
            <p:ph idx="1" type="body"/>
          </p:nvPr>
        </p:nvSpPr>
        <p:spPr>
          <a:xfrm>
            <a:off x="50151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endParaRPr sz="1800"/>
          </a:p>
        </p:txBody>
      </p:sp>
      <p:sp>
        <p:nvSpPr>
          <p:cNvPr id="1028" name="Google Shape;1028;p79"/>
          <p:cNvSpPr txBox="1"/>
          <p:nvPr>
            <p:ph idx="1" type="body"/>
          </p:nvPr>
        </p:nvSpPr>
        <p:spPr>
          <a:xfrm>
            <a:off x="55485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sp>
        <p:nvSpPr>
          <p:cNvPr id="1029" name="Google Shape;1029;p79"/>
          <p:cNvSpPr txBox="1"/>
          <p:nvPr>
            <p:ph idx="1" type="body"/>
          </p:nvPr>
        </p:nvSpPr>
        <p:spPr>
          <a:xfrm>
            <a:off x="60819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</a:t>
            </a:r>
            <a:endParaRPr sz="1800"/>
          </a:p>
        </p:txBody>
      </p:sp>
      <p:sp>
        <p:nvSpPr>
          <p:cNvPr id="1030" name="Google Shape;1030;p79"/>
          <p:cNvSpPr txBox="1"/>
          <p:nvPr>
            <p:ph idx="1" type="body"/>
          </p:nvPr>
        </p:nvSpPr>
        <p:spPr>
          <a:xfrm>
            <a:off x="66153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</a:t>
            </a:r>
            <a:endParaRPr sz="1800"/>
          </a:p>
        </p:txBody>
      </p:sp>
      <p:sp>
        <p:nvSpPr>
          <p:cNvPr id="1031" name="Google Shape;1031;p79"/>
          <p:cNvSpPr txBox="1"/>
          <p:nvPr>
            <p:ph idx="1" type="body"/>
          </p:nvPr>
        </p:nvSpPr>
        <p:spPr>
          <a:xfrm>
            <a:off x="71487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9</a:t>
            </a:r>
            <a:endParaRPr sz="1800"/>
          </a:p>
        </p:txBody>
      </p:sp>
      <p:sp>
        <p:nvSpPr>
          <p:cNvPr id="1032" name="Google Shape;1032;p79"/>
          <p:cNvSpPr txBox="1"/>
          <p:nvPr>
            <p:ph idx="1" type="body"/>
          </p:nvPr>
        </p:nvSpPr>
        <p:spPr>
          <a:xfrm>
            <a:off x="555431" y="1948750"/>
            <a:ext cx="1554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Deck B (0 to 9):</a:t>
            </a:r>
            <a:endParaRPr sz="1600"/>
          </a:p>
        </p:txBody>
      </p:sp>
      <p:sp>
        <p:nvSpPr>
          <p:cNvPr id="1033" name="Google Shape;1033;p79"/>
          <p:cNvSpPr txBox="1"/>
          <p:nvPr>
            <p:ph idx="1" type="body"/>
          </p:nvPr>
        </p:nvSpPr>
        <p:spPr>
          <a:xfrm>
            <a:off x="555425" y="3654900"/>
            <a:ext cx="80064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</a:t>
            </a:r>
            <a:r>
              <a:rPr lang="en-GB" sz="1600"/>
              <a:t>Write down all the possible outcomes for drawing one card from each deck.</a:t>
            </a:r>
            <a:endParaRPr sz="1600"/>
          </a:p>
        </p:txBody>
      </p:sp>
      <p:sp>
        <p:nvSpPr>
          <p:cNvPr id="1034" name="Google Shape;1034;p79"/>
          <p:cNvSpPr txBox="1"/>
          <p:nvPr>
            <p:ph idx="1" type="body"/>
          </p:nvPr>
        </p:nvSpPr>
        <p:spPr>
          <a:xfrm>
            <a:off x="555425" y="2588100"/>
            <a:ext cx="80064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Write down all the possible outcomes for drawing a card from Deck A.</a:t>
            </a:r>
            <a:endParaRPr sz="1600"/>
          </a:p>
        </p:txBody>
      </p:sp>
      <p:sp>
        <p:nvSpPr>
          <p:cNvPr id="1035" name="Google Shape;1035;p79"/>
          <p:cNvSpPr txBox="1"/>
          <p:nvPr>
            <p:ph idx="1" type="body"/>
          </p:nvPr>
        </p:nvSpPr>
        <p:spPr>
          <a:xfrm>
            <a:off x="555425" y="4188300"/>
            <a:ext cx="80064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r>
              <a:rPr lang="en-GB" sz="1600"/>
              <a:t>) Describe the system that you used to list all of the outcomes in part (c).</a:t>
            </a:r>
            <a:endParaRPr sz="1600"/>
          </a:p>
        </p:txBody>
      </p:sp>
      <p:sp>
        <p:nvSpPr>
          <p:cNvPr id="1036" name="Google Shape;1036;p79"/>
          <p:cNvSpPr txBox="1"/>
          <p:nvPr>
            <p:ph idx="1" type="body"/>
          </p:nvPr>
        </p:nvSpPr>
        <p:spPr>
          <a:xfrm>
            <a:off x="555425" y="3121500"/>
            <a:ext cx="80064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) Write down all the possible outcomes for drawing a card from Deck B.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80"/>
          <p:cNvSpPr txBox="1"/>
          <p:nvPr>
            <p:ph idx="1" type="body"/>
          </p:nvPr>
        </p:nvSpPr>
        <p:spPr>
          <a:xfrm>
            <a:off x="324000" y="759300"/>
            <a:ext cx="5641800" cy="18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2</a:t>
            </a:r>
            <a:r>
              <a:rPr lang="en-GB" sz="1600"/>
              <a:t>) Here is a restaurant menu for two courses.</a:t>
            </a:r>
            <a:br>
              <a:rPr lang="en-GB" sz="1600"/>
            </a:br>
            <a:r>
              <a:rPr lang="en-GB" sz="1600"/>
              <a:t>    </a:t>
            </a:r>
            <a:r>
              <a:rPr lang="en-GB" sz="1600"/>
              <a:t>A customer chooses one starter and one main course.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a) List all the possible outcomes for a customer’s meal.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b) Describe the system that you used to list all of the </a:t>
            </a:r>
            <a:br>
              <a:rPr lang="en-GB" sz="1600"/>
            </a:br>
            <a:r>
              <a:rPr lang="en-GB" sz="1600"/>
              <a:t>    outcomes in part (a).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42" name="Google Shape;1042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outcomes: one-stage or two-stage trials </a:t>
            </a:r>
            <a:endParaRPr/>
          </a:p>
        </p:txBody>
      </p:sp>
      <p:sp>
        <p:nvSpPr>
          <p:cNvPr id="1043" name="Google Shape;1043;p80"/>
          <p:cNvSpPr/>
          <p:nvPr/>
        </p:nvSpPr>
        <p:spPr>
          <a:xfrm>
            <a:off x="6063925" y="802075"/>
            <a:ext cx="2385900" cy="31101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0"/>
          <p:cNvSpPr txBox="1"/>
          <p:nvPr>
            <p:ph idx="1" type="body"/>
          </p:nvPr>
        </p:nvSpPr>
        <p:spPr>
          <a:xfrm>
            <a:off x="6843925" y="867914"/>
            <a:ext cx="8355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 u="sng"/>
              <a:t>Starters</a:t>
            </a:r>
            <a:endParaRPr sz="1600" u="sng"/>
          </a:p>
        </p:txBody>
      </p:sp>
      <p:sp>
        <p:nvSpPr>
          <p:cNvPr id="1045" name="Google Shape;1045;p80"/>
          <p:cNvSpPr txBox="1"/>
          <p:nvPr>
            <p:ph idx="1" type="body"/>
          </p:nvPr>
        </p:nvSpPr>
        <p:spPr>
          <a:xfrm>
            <a:off x="6953495" y="2279620"/>
            <a:ext cx="6858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 u="sng"/>
              <a:t>Mains</a:t>
            </a:r>
            <a:endParaRPr sz="1600" u="sng"/>
          </a:p>
        </p:txBody>
      </p:sp>
      <p:sp>
        <p:nvSpPr>
          <p:cNvPr id="1046" name="Google Shape;1046;p80"/>
          <p:cNvSpPr txBox="1"/>
          <p:nvPr>
            <p:ph idx="1" type="body"/>
          </p:nvPr>
        </p:nvSpPr>
        <p:spPr>
          <a:xfrm>
            <a:off x="6267698" y="1172725"/>
            <a:ext cx="57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Soup</a:t>
            </a:r>
            <a:endParaRPr sz="1600"/>
          </a:p>
        </p:txBody>
      </p:sp>
      <p:sp>
        <p:nvSpPr>
          <p:cNvPr id="1047" name="Google Shape;1047;p80"/>
          <p:cNvSpPr txBox="1"/>
          <p:nvPr>
            <p:ph idx="1" type="body"/>
          </p:nvPr>
        </p:nvSpPr>
        <p:spPr>
          <a:xfrm>
            <a:off x="6267699" y="1477514"/>
            <a:ext cx="957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Calamari</a:t>
            </a:r>
            <a:endParaRPr sz="1600"/>
          </a:p>
        </p:txBody>
      </p:sp>
      <p:sp>
        <p:nvSpPr>
          <p:cNvPr id="1048" name="Google Shape;1048;p80"/>
          <p:cNvSpPr txBox="1"/>
          <p:nvPr>
            <p:ph idx="1" type="body"/>
          </p:nvPr>
        </p:nvSpPr>
        <p:spPr>
          <a:xfrm>
            <a:off x="6267700" y="1778304"/>
            <a:ext cx="14118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Meatballs</a:t>
            </a:r>
            <a:endParaRPr sz="1600"/>
          </a:p>
        </p:txBody>
      </p:sp>
      <p:sp>
        <p:nvSpPr>
          <p:cNvPr id="1049" name="Google Shape;1049;p80"/>
          <p:cNvSpPr txBox="1"/>
          <p:nvPr>
            <p:ph idx="1" type="body"/>
          </p:nvPr>
        </p:nvSpPr>
        <p:spPr>
          <a:xfrm>
            <a:off x="6267697" y="2584420"/>
            <a:ext cx="1554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Lasagne</a:t>
            </a:r>
            <a:endParaRPr sz="1600"/>
          </a:p>
        </p:txBody>
      </p:sp>
      <p:sp>
        <p:nvSpPr>
          <p:cNvPr id="1050" name="Google Shape;1050;p80"/>
          <p:cNvSpPr txBox="1"/>
          <p:nvPr>
            <p:ph idx="1" type="body"/>
          </p:nvPr>
        </p:nvSpPr>
        <p:spPr>
          <a:xfrm>
            <a:off x="6267701" y="2889220"/>
            <a:ext cx="15201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Ravioli</a:t>
            </a:r>
            <a:endParaRPr sz="1600"/>
          </a:p>
        </p:txBody>
      </p:sp>
      <p:sp>
        <p:nvSpPr>
          <p:cNvPr id="1051" name="Google Shape;1051;p80"/>
          <p:cNvSpPr txBox="1"/>
          <p:nvPr>
            <p:ph idx="1" type="body"/>
          </p:nvPr>
        </p:nvSpPr>
        <p:spPr>
          <a:xfrm>
            <a:off x="6267700" y="3190009"/>
            <a:ext cx="14118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Bolognese</a:t>
            </a:r>
            <a:endParaRPr sz="1600"/>
          </a:p>
        </p:txBody>
      </p:sp>
      <p:sp>
        <p:nvSpPr>
          <p:cNvPr id="1052" name="Google Shape;1052;p80"/>
          <p:cNvSpPr txBox="1"/>
          <p:nvPr>
            <p:ph idx="1" type="body"/>
          </p:nvPr>
        </p:nvSpPr>
        <p:spPr>
          <a:xfrm>
            <a:off x="6267700" y="3494809"/>
            <a:ext cx="14118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Pizza</a:t>
            </a:r>
            <a:endParaRPr sz="1600"/>
          </a:p>
        </p:txBody>
      </p:sp>
      <p:sp>
        <p:nvSpPr>
          <p:cNvPr id="1053" name="Google Shape;1053;p80"/>
          <p:cNvSpPr txBox="1"/>
          <p:nvPr>
            <p:ph idx="1" type="body"/>
          </p:nvPr>
        </p:nvSpPr>
        <p:spPr>
          <a:xfrm>
            <a:off x="6808650" y="1172725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(S)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54" name="Google Shape;1054;p80"/>
          <p:cNvSpPr txBox="1"/>
          <p:nvPr>
            <p:ph idx="1" type="body"/>
          </p:nvPr>
        </p:nvSpPr>
        <p:spPr>
          <a:xfrm>
            <a:off x="7243792" y="1477514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(C)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55" name="Google Shape;1055;p80"/>
          <p:cNvSpPr txBox="1"/>
          <p:nvPr>
            <p:ph idx="1" type="body"/>
          </p:nvPr>
        </p:nvSpPr>
        <p:spPr>
          <a:xfrm>
            <a:off x="7299939" y="1778304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(M)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56" name="Google Shape;1056;p80"/>
          <p:cNvSpPr txBox="1"/>
          <p:nvPr>
            <p:ph idx="1" type="body"/>
          </p:nvPr>
        </p:nvSpPr>
        <p:spPr>
          <a:xfrm>
            <a:off x="7121471" y="2584420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(L)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57" name="Google Shape;1057;p80"/>
          <p:cNvSpPr txBox="1"/>
          <p:nvPr>
            <p:ph idx="1" type="body"/>
          </p:nvPr>
        </p:nvSpPr>
        <p:spPr>
          <a:xfrm>
            <a:off x="6959045" y="2889220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(R)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58" name="Google Shape;1058;p80"/>
          <p:cNvSpPr txBox="1"/>
          <p:nvPr>
            <p:ph idx="1" type="body"/>
          </p:nvPr>
        </p:nvSpPr>
        <p:spPr>
          <a:xfrm>
            <a:off x="7375638" y="3190009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(B)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59" name="Google Shape;1059;p80"/>
          <p:cNvSpPr txBox="1"/>
          <p:nvPr>
            <p:ph idx="1" type="body"/>
          </p:nvPr>
        </p:nvSpPr>
        <p:spPr>
          <a:xfrm>
            <a:off x="6832713" y="3494809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(P)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There are two decks of cards. </a:t>
            </a:r>
            <a:endParaRPr sz="1600"/>
          </a:p>
        </p:txBody>
      </p:sp>
      <p:sp>
        <p:nvSpPr>
          <p:cNvPr id="1065" name="Google Shape;1065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outcomes: one-stage or two-stage trials </a:t>
            </a:r>
            <a:endParaRPr/>
          </a:p>
        </p:txBody>
      </p:sp>
      <p:sp>
        <p:nvSpPr>
          <p:cNvPr id="1066" name="Google Shape;1066;p81"/>
          <p:cNvSpPr/>
          <p:nvPr/>
        </p:nvSpPr>
        <p:spPr>
          <a:xfrm>
            <a:off x="2227842" y="1106903"/>
            <a:ext cx="381000" cy="556200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1"/>
          <p:cNvSpPr/>
          <p:nvPr/>
        </p:nvSpPr>
        <p:spPr>
          <a:xfrm>
            <a:off x="2761242" y="1106903"/>
            <a:ext cx="381000" cy="556200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1"/>
          <p:cNvSpPr/>
          <p:nvPr/>
        </p:nvSpPr>
        <p:spPr>
          <a:xfrm>
            <a:off x="3294642" y="1106903"/>
            <a:ext cx="381000" cy="556200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1"/>
          <p:cNvSpPr txBox="1"/>
          <p:nvPr>
            <p:ph idx="1" type="body"/>
          </p:nvPr>
        </p:nvSpPr>
        <p:spPr>
          <a:xfrm>
            <a:off x="555424" y="1262950"/>
            <a:ext cx="15201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Deck A (0 to 2):</a:t>
            </a:r>
            <a:endParaRPr sz="1600"/>
          </a:p>
        </p:txBody>
      </p:sp>
      <p:sp>
        <p:nvSpPr>
          <p:cNvPr id="1070" name="Google Shape;1070;p81"/>
          <p:cNvSpPr txBox="1"/>
          <p:nvPr>
            <p:ph idx="1" type="body"/>
          </p:nvPr>
        </p:nvSpPr>
        <p:spPr>
          <a:xfrm>
            <a:off x="2348125" y="12529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0</a:t>
            </a:r>
            <a:endParaRPr sz="1800"/>
          </a:p>
        </p:txBody>
      </p:sp>
      <p:sp>
        <p:nvSpPr>
          <p:cNvPr id="1071" name="Google Shape;1071;p81"/>
          <p:cNvSpPr txBox="1"/>
          <p:nvPr>
            <p:ph idx="1" type="body"/>
          </p:nvPr>
        </p:nvSpPr>
        <p:spPr>
          <a:xfrm>
            <a:off x="2881525" y="12529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endParaRPr sz="1800"/>
          </a:p>
        </p:txBody>
      </p:sp>
      <p:sp>
        <p:nvSpPr>
          <p:cNvPr id="1072" name="Google Shape;1072;p81"/>
          <p:cNvSpPr txBox="1"/>
          <p:nvPr>
            <p:ph idx="1" type="body"/>
          </p:nvPr>
        </p:nvSpPr>
        <p:spPr>
          <a:xfrm>
            <a:off x="3414925" y="12529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endParaRPr sz="1800"/>
          </a:p>
        </p:txBody>
      </p:sp>
      <p:sp>
        <p:nvSpPr>
          <p:cNvPr id="1073" name="Google Shape;1073;p81"/>
          <p:cNvSpPr/>
          <p:nvPr/>
        </p:nvSpPr>
        <p:spPr>
          <a:xfrm>
            <a:off x="22278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1"/>
          <p:cNvSpPr/>
          <p:nvPr/>
        </p:nvSpPr>
        <p:spPr>
          <a:xfrm>
            <a:off x="27612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1"/>
          <p:cNvSpPr/>
          <p:nvPr/>
        </p:nvSpPr>
        <p:spPr>
          <a:xfrm>
            <a:off x="32946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81"/>
          <p:cNvSpPr/>
          <p:nvPr/>
        </p:nvSpPr>
        <p:spPr>
          <a:xfrm>
            <a:off x="38280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1"/>
          <p:cNvSpPr/>
          <p:nvPr/>
        </p:nvSpPr>
        <p:spPr>
          <a:xfrm>
            <a:off x="43614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1"/>
          <p:cNvSpPr/>
          <p:nvPr/>
        </p:nvSpPr>
        <p:spPr>
          <a:xfrm>
            <a:off x="48948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1"/>
          <p:cNvSpPr/>
          <p:nvPr/>
        </p:nvSpPr>
        <p:spPr>
          <a:xfrm>
            <a:off x="54282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1"/>
          <p:cNvSpPr/>
          <p:nvPr/>
        </p:nvSpPr>
        <p:spPr>
          <a:xfrm>
            <a:off x="59616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1"/>
          <p:cNvSpPr/>
          <p:nvPr/>
        </p:nvSpPr>
        <p:spPr>
          <a:xfrm>
            <a:off x="64950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1"/>
          <p:cNvSpPr/>
          <p:nvPr/>
        </p:nvSpPr>
        <p:spPr>
          <a:xfrm>
            <a:off x="7028442" y="1792703"/>
            <a:ext cx="381000" cy="556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1"/>
          <p:cNvSpPr txBox="1"/>
          <p:nvPr>
            <p:ph idx="1" type="body"/>
          </p:nvPr>
        </p:nvSpPr>
        <p:spPr>
          <a:xfrm>
            <a:off x="23481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0</a:t>
            </a:r>
            <a:endParaRPr sz="1800"/>
          </a:p>
        </p:txBody>
      </p:sp>
      <p:sp>
        <p:nvSpPr>
          <p:cNvPr id="1084" name="Google Shape;1084;p81"/>
          <p:cNvSpPr txBox="1"/>
          <p:nvPr>
            <p:ph idx="1" type="body"/>
          </p:nvPr>
        </p:nvSpPr>
        <p:spPr>
          <a:xfrm>
            <a:off x="28815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endParaRPr sz="1800"/>
          </a:p>
        </p:txBody>
      </p:sp>
      <p:sp>
        <p:nvSpPr>
          <p:cNvPr id="1085" name="Google Shape;1085;p81"/>
          <p:cNvSpPr txBox="1"/>
          <p:nvPr>
            <p:ph idx="1" type="body"/>
          </p:nvPr>
        </p:nvSpPr>
        <p:spPr>
          <a:xfrm>
            <a:off x="34149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endParaRPr sz="1800"/>
          </a:p>
        </p:txBody>
      </p:sp>
      <p:sp>
        <p:nvSpPr>
          <p:cNvPr id="1086" name="Google Shape;1086;p81"/>
          <p:cNvSpPr txBox="1"/>
          <p:nvPr>
            <p:ph idx="1" type="body"/>
          </p:nvPr>
        </p:nvSpPr>
        <p:spPr>
          <a:xfrm>
            <a:off x="39483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endParaRPr sz="1800"/>
          </a:p>
        </p:txBody>
      </p:sp>
      <p:sp>
        <p:nvSpPr>
          <p:cNvPr id="1087" name="Google Shape;1087;p81"/>
          <p:cNvSpPr txBox="1"/>
          <p:nvPr>
            <p:ph idx="1" type="body"/>
          </p:nvPr>
        </p:nvSpPr>
        <p:spPr>
          <a:xfrm>
            <a:off x="44817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sp>
        <p:nvSpPr>
          <p:cNvPr id="1088" name="Google Shape;1088;p81"/>
          <p:cNvSpPr txBox="1"/>
          <p:nvPr>
            <p:ph idx="1" type="body"/>
          </p:nvPr>
        </p:nvSpPr>
        <p:spPr>
          <a:xfrm>
            <a:off x="50151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endParaRPr sz="1800"/>
          </a:p>
        </p:txBody>
      </p:sp>
      <p:sp>
        <p:nvSpPr>
          <p:cNvPr id="1089" name="Google Shape;1089;p81"/>
          <p:cNvSpPr txBox="1"/>
          <p:nvPr>
            <p:ph idx="1" type="body"/>
          </p:nvPr>
        </p:nvSpPr>
        <p:spPr>
          <a:xfrm>
            <a:off x="55485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sp>
        <p:nvSpPr>
          <p:cNvPr id="1090" name="Google Shape;1090;p81"/>
          <p:cNvSpPr txBox="1"/>
          <p:nvPr>
            <p:ph idx="1" type="body"/>
          </p:nvPr>
        </p:nvSpPr>
        <p:spPr>
          <a:xfrm>
            <a:off x="60819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</a:t>
            </a:r>
            <a:endParaRPr sz="1800"/>
          </a:p>
        </p:txBody>
      </p:sp>
      <p:sp>
        <p:nvSpPr>
          <p:cNvPr id="1091" name="Google Shape;1091;p81"/>
          <p:cNvSpPr txBox="1"/>
          <p:nvPr>
            <p:ph idx="1" type="body"/>
          </p:nvPr>
        </p:nvSpPr>
        <p:spPr>
          <a:xfrm>
            <a:off x="66153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</a:t>
            </a:r>
            <a:endParaRPr sz="1800"/>
          </a:p>
        </p:txBody>
      </p:sp>
      <p:sp>
        <p:nvSpPr>
          <p:cNvPr id="1092" name="Google Shape;1092;p81"/>
          <p:cNvSpPr txBox="1"/>
          <p:nvPr>
            <p:ph idx="1" type="body"/>
          </p:nvPr>
        </p:nvSpPr>
        <p:spPr>
          <a:xfrm>
            <a:off x="7148725" y="1938724"/>
            <a:ext cx="174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9</a:t>
            </a:r>
            <a:endParaRPr sz="1800"/>
          </a:p>
        </p:txBody>
      </p:sp>
      <p:sp>
        <p:nvSpPr>
          <p:cNvPr id="1093" name="Google Shape;1093;p81"/>
          <p:cNvSpPr txBox="1"/>
          <p:nvPr>
            <p:ph idx="1" type="body"/>
          </p:nvPr>
        </p:nvSpPr>
        <p:spPr>
          <a:xfrm>
            <a:off x="555431" y="1948750"/>
            <a:ext cx="1554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Deck B (0 to 9):</a:t>
            </a:r>
            <a:endParaRPr sz="1600"/>
          </a:p>
        </p:txBody>
      </p:sp>
      <p:sp>
        <p:nvSpPr>
          <p:cNvPr id="1094" name="Google Shape;1094;p81"/>
          <p:cNvSpPr txBox="1"/>
          <p:nvPr>
            <p:ph idx="1" type="body"/>
          </p:nvPr>
        </p:nvSpPr>
        <p:spPr>
          <a:xfrm>
            <a:off x="555425" y="2588100"/>
            <a:ext cx="80064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Write down all the possible outcomes for drawing a card from Deck A.</a:t>
            </a:r>
            <a:endParaRPr sz="1600"/>
          </a:p>
        </p:txBody>
      </p:sp>
      <p:sp>
        <p:nvSpPr>
          <p:cNvPr id="1095" name="Google Shape;1095;p81"/>
          <p:cNvSpPr txBox="1"/>
          <p:nvPr>
            <p:ph idx="1" type="body"/>
          </p:nvPr>
        </p:nvSpPr>
        <p:spPr>
          <a:xfrm>
            <a:off x="555425" y="3502500"/>
            <a:ext cx="80064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Write down all the possible outcomes for drawing a card from Deck B.</a:t>
            </a:r>
            <a:endParaRPr sz="1600"/>
          </a:p>
        </p:txBody>
      </p:sp>
      <p:sp>
        <p:nvSpPr>
          <p:cNvPr id="1096" name="Google Shape;1096;p81"/>
          <p:cNvSpPr txBox="1"/>
          <p:nvPr>
            <p:ph idx="1" type="body"/>
          </p:nvPr>
        </p:nvSpPr>
        <p:spPr>
          <a:xfrm>
            <a:off x="873600" y="2961900"/>
            <a:ext cx="7047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0, 1, 2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7" name="Google Shape;1097;p81"/>
          <p:cNvSpPr txBox="1"/>
          <p:nvPr>
            <p:ph idx="1" type="body"/>
          </p:nvPr>
        </p:nvSpPr>
        <p:spPr>
          <a:xfrm>
            <a:off x="873600" y="3876300"/>
            <a:ext cx="26457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0, 1, 2, 3, 4, 5, 6, 7, 8, 9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outcomes: one-stage or two-stage trials </a:t>
            </a:r>
            <a:endParaRPr/>
          </a:p>
        </p:txBody>
      </p:sp>
      <p:sp>
        <p:nvSpPr>
          <p:cNvPr id="1103" name="Google Shape;1103;p82"/>
          <p:cNvSpPr txBox="1"/>
          <p:nvPr>
            <p:ph idx="1" type="body"/>
          </p:nvPr>
        </p:nvSpPr>
        <p:spPr>
          <a:xfrm>
            <a:off x="555425" y="835500"/>
            <a:ext cx="80064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Write down all the possible outcomes for drawing one card from each deck.</a:t>
            </a:r>
            <a:endParaRPr sz="1600"/>
          </a:p>
        </p:txBody>
      </p:sp>
      <p:sp>
        <p:nvSpPr>
          <p:cNvPr id="1104" name="Google Shape;1104;p82"/>
          <p:cNvSpPr txBox="1"/>
          <p:nvPr>
            <p:ph idx="1" type="body"/>
          </p:nvPr>
        </p:nvSpPr>
        <p:spPr>
          <a:xfrm>
            <a:off x="555425" y="2588100"/>
            <a:ext cx="80064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Describe the system that you used to list all of the outcomes in part (c).</a:t>
            </a:r>
            <a:endParaRPr sz="1600"/>
          </a:p>
        </p:txBody>
      </p:sp>
      <p:sp>
        <p:nvSpPr>
          <p:cNvPr id="1105" name="Google Shape;1105;p82"/>
          <p:cNvSpPr txBox="1"/>
          <p:nvPr>
            <p:ph idx="1" type="body"/>
          </p:nvPr>
        </p:nvSpPr>
        <p:spPr>
          <a:xfrm>
            <a:off x="629650" y="1209300"/>
            <a:ext cx="4188900" cy="10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0, 01, 02, 03, 04, 05, 06, 07, 08, 09, 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0, 11, 12, 13, 14, 15, 16, 17, 18, 19, 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20, 21, 22, 23, 24, 25, 26, 27, 28, 29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6" name="Google Shape;1106;p82"/>
          <p:cNvSpPr txBox="1"/>
          <p:nvPr>
            <p:ph idx="1" type="body"/>
          </p:nvPr>
        </p:nvSpPr>
        <p:spPr>
          <a:xfrm>
            <a:off x="555425" y="3024600"/>
            <a:ext cx="8307900" cy="17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 Start with 0 from Deck A and 0 from Deck B. 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Increase the value of the card from Deck B each time until they all have been used. Increase the value of the card from Deck A by 1 and then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repeat the same process.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(like with counting)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83"/>
          <p:cNvSpPr txBox="1"/>
          <p:nvPr>
            <p:ph idx="1" type="body"/>
          </p:nvPr>
        </p:nvSpPr>
        <p:spPr>
          <a:xfrm>
            <a:off x="324000" y="759300"/>
            <a:ext cx="8237700" cy="28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2) Here is a restaurant menu for two courses.</a:t>
            </a:r>
            <a:br>
              <a:rPr lang="en-GB" sz="1600"/>
            </a:br>
            <a:r>
              <a:rPr lang="en-GB" sz="1600"/>
              <a:t>    A customer chooses one starter and one main course.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a) List all the possible outcomes for a customer’s meal.</a:t>
            </a:r>
            <a:br>
              <a:rPr lang="en-GB" sz="1600"/>
            </a:b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b) Describe the system that you used to list all of the </a:t>
            </a:r>
            <a:br>
              <a:rPr lang="en-GB" sz="1600"/>
            </a:br>
            <a:r>
              <a:rPr lang="en-GB" sz="1600"/>
              <a:t>    outcomes in part (a).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12" name="Google Shape;1112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outcomes: one-stage or two-stage trials</a:t>
            </a:r>
            <a:r>
              <a:rPr lang="en-GB"/>
              <a:t> </a:t>
            </a:r>
            <a:endParaRPr/>
          </a:p>
        </p:txBody>
      </p:sp>
      <p:sp>
        <p:nvSpPr>
          <p:cNvPr id="1113" name="Google Shape;1113;p83"/>
          <p:cNvSpPr/>
          <p:nvPr/>
        </p:nvSpPr>
        <p:spPr>
          <a:xfrm>
            <a:off x="6063925" y="802075"/>
            <a:ext cx="2385900" cy="31101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83"/>
          <p:cNvSpPr txBox="1"/>
          <p:nvPr>
            <p:ph idx="1" type="body"/>
          </p:nvPr>
        </p:nvSpPr>
        <p:spPr>
          <a:xfrm>
            <a:off x="6843925" y="867914"/>
            <a:ext cx="8355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 u="sng"/>
              <a:t>Starters</a:t>
            </a:r>
            <a:endParaRPr sz="1600" u="sng"/>
          </a:p>
        </p:txBody>
      </p:sp>
      <p:sp>
        <p:nvSpPr>
          <p:cNvPr id="1115" name="Google Shape;1115;p83"/>
          <p:cNvSpPr txBox="1"/>
          <p:nvPr>
            <p:ph idx="1" type="body"/>
          </p:nvPr>
        </p:nvSpPr>
        <p:spPr>
          <a:xfrm>
            <a:off x="6953495" y="2279620"/>
            <a:ext cx="6858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 u="sng"/>
              <a:t>Mains</a:t>
            </a:r>
            <a:endParaRPr sz="1600" u="sng"/>
          </a:p>
        </p:txBody>
      </p:sp>
      <p:sp>
        <p:nvSpPr>
          <p:cNvPr id="1116" name="Google Shape;1116;p83"/>
          <p:cNvSpPr txBox="1"/>
          <p:nvPr>
            <p:ph idx="1" type="body"/>
          </p:nvPr>
        </p:nvSpPr>
        <p:spPr>
          <a:xfrm>
            <a:off x="6267702" y="1172714"/>
            <a:ext cx="5922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</a:t>
            </a:r>
            <a:r>
              <a:rPr lang="en-GB" sz="1600"/>
              <a:t>oup</a:t>
            </a:r>
            <a:endParaRPr sz="1600"/>
          </a:p>
        </p:txBody>
      </p:sp>
      <p:sp>
        <p:nvSpPr>
          <p:cNvPr id="1117" name="Google Shape;1117;p83"/>
          <p:cNvSpPr txBox="1"/>
          <p:nvPr>
            <p:ph idx="1" type="body"/>
          </p:nvPr>
        </p:nvSpPr>
        <p:spPr>
          <a:xfrm>
            <a:off x="6267699" y="1477514"/>
            <a:ext cx="957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r>
              <a:rPr lang="en-GB" sz="1600"/>
              <a:t>alamari</a:t>
            </a:r>
            <a:endParaRPr sz="1600"/>
          </a:p>
        </p:txBody>
      </p:sp>
      <p:sp>
        <p:nvSpPr>
          <p:cNvPr id="1118" name="Google Shape;1118;p83"/>
          <p:cNvSpPr txBox="1"/>
          <p:nvPr>
            <p:ph idx="1" type="body"/>
          </p:nvPr>
        </p:nvSpPr>
        <p:spPr>
          <a:xfrm>
            <a:off x="6267700" y="1778304"/>
            <a:ext cx="14118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</a:t>
            </a:r>
            <a:r>
              <a:rPr lang="en-GB" sz="1600"/>
              <a:t>eatballs</a:t>
            </a:r>
            <a:endParaRPr sz="1600"/>
          </a:p>
        </p:txBody>
      </p:sp>
      <p:sp>
        <p:nvSpPr>
          <p:cNvPr id="1119" name="Google Shape;1119;p83"/>
          <p:cNvSpPr txBox="1"/>
          <p:nvPr>
            <p:ph idx="1" type="body"/>
          </p:nvPr>
        </p:nvSpPr>
        <p:spPr>
          <a:xfrm>
            <a:off x="6267697" y="2584420"/>
            <a:ext cx="1554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</a:t>
            </a:r>
            <a:r>
              <a:rPr lang="en-GB" sz="1600"/>
              <a:t>asagne</a:t>
            </a:r>
            <a:endParaRPr sz="1600"/>
          </a:p>
        </p:txBody>
      </p:sp>
      <p:sp>
        <p:nvSpPr>
          <p:cNvPr id="1120" name="Google Shape;1120;p83"/>
          <p:cNvSpPr txBox="1"/>
          <p:nvPr>
            <p:ph idx="1" type="body"/>
          </p:nvPr>
        </p:nvSpPr>
        <p:spPr>
          <a:xfrm>
            <a:off x="6267701" y="2889220"/>
            <a:ext cx="15201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</a:t>
            </a:r>
            <a:r>
              <a:rPr lang="en-GB" sz="1600"/>
              <a:t>avioli</a:t>
            </a:r>
            <a:endParaRPr sz="1600"/>
          </a:p>
        </p:txBody>
      </p:sp>
      <p:sp>
        <p:nvSpPr>
          <p:cNvPr id="1121" name="Google Shape;1121;p83"/>
          <p:cNvSpPr txBox="1"/>
          <p:nvPr>
            <p:ph idx="1" type="body"/>
          </p:nvPr>
        </p:nvSpPr>
        <p:spPr>
          <a:xfrm>
            <a:off x="6267700" y="3190009"/>
            <a:ext cx="14118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olognese</a:t>
            </a:r>
            <a:endParaRPr sz="1600"/>
          </a:p>
        </p:txBody>
      </p:sp>
      <p:sp>
        <p:nvSpPr>
          <p:cNvPr id="1122" name="Google Shape;1122;p83"/>
          <p:cNvSpPr txBox="1"/>
          <p:nvPr>
            <p:ph idx="1" type="body"/>
          </p:nvPr>
        </p:nvSpPr>
        <p:spPr>
          <a:xfrm>
            <a:off x="6267700" y="3494809"/>
            <a:ext cx="14118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P</a:t>
            </a:r>
            <a:r>
              <a:rPr lang="en-GB" sz="1600"/>
              <a:t>izza</a:t>
            </a:r>
            <a:endParaRPr sz="1600"/>
          </a:p>
        </p:txBody>
      </p:sp>
      <p:sp>
        <p:nvSpPr>
          <p:cNvPr id="1123" name="Google Shape;1123;p83"/>
          <p:cNvSpPr txBox="1"/>
          <p:nvPr>
            <p:ph idx="1" type="body"/>
          </p:nvPr>
        </p:nvSpPr>
        <p:spPr>
          <a:xfrm>
            <a:off x="6808650" y="1172725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(S)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4" name="Google Shape;1124;p83"/>
          <p:cNvSpPr txBox="1"/>
          <p:nvPr>
            <p:ph idx="1" type="body"/>
          </p:nvPr>
        </p:nvSpPr>
        <p:spPr>
          <a:xfrm>
            <a:off x="7243792" y="1477525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(C)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5" name="Google Shape;1125;p83"/>
          <p:cNvSpPr txBox="1"/>
          <p:nvPr>
            <p:ph idx="1" type="body"/>
          </p:nvPr>
        </p:nvSpPr>
        <p:spPr>
          <a:xfrm>
            <a:off x="7299939" y="1782325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(M)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6" name="Google Shape;1126;p83"/>
          <p:cNvSpPr txBox="1"/>
          <p:nvPr>
            <p:ph idx="1" type="body"/>
          </p:nvPr>
        </p:nvSpPr>
        <p:spPr>
          <a:xfrm>
            <a:off x="7121471" y="2600472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(L)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7" name="Google Shape;1127;p83"/>
          <p:cNvSpPr txBox="1"/>
          <p:nvPr>
            <p:ph idx="1" type="body"/>
          </p:nvPr>
        </p:nvSpPr>
        <p:spPr>
          <a:xfrm>
            <a:off x="6959045" y="2895246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(R)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8" name="Google Shape;1128;p83"/>
          <p:cNvSpPr txBox="1"/>
          <p:nvPr>
            <p:ph idx="1" type="body"/>
          </p:nvPr>
        </p:nvSpPr>
        <p:spPr>
          <a:xfrm>
            <a:off x="7366113" y="3190020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(B)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9" name="Google Shape;1129;p83"/>
          <p:cNvSpPr txBox="1"/>
          <p:nvPr>
            <p:ph idx="1" type="body"/>
          </p:nvPr>
        </p:nvSpPr>
        <p:spPr>
          <a:xfrm>
            <a:off x="6832713" y="3494820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(P)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0" name="Google Shape;1130;p83"/>
          <p:cNvSpPr txBox="1"/>
          <p:nvPr>
            <p:ph idx="1" type="body"/>
          </p:nvPr>
        </p:nvSpPr>
        <p:spPr>
          <a:xfrm>
            <a:off x="331650" y="1782325"/>
            <a:ext cx="3781200" cy="9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SL, SR, SB, SP,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CL, CR, CB, CP,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M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L, MR, MB, MP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1" name="Google Shape;1131;p83"/>
          <p:cNvSpPr txBox="1"/>
          <p:nvPr>
            <p:ph idx="1" type="body"/>
          </p:nvPr>
        </p:nvSpPr>
        <p:spPr>
          <a:xfrm>
            <a:off x="324000" y="3604121"/>
            <a:ext cx="8463000" cy="12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 Start with the top item from each course.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Work through each main course item in order until reaching the end of the list. Move to the next item in the starter list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work through each item in the main course list again. Repeat until the final starter has been paired with every main course.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outcomes: one-stage and two-stage trials</a:t>
            </a:r>
            <a:endParaRPr/>
          </a:p>
        </p:txBody>
      </p:sp>
      <p:sp>
        <p:nvSpPr>
          <p:cNvPr id="1137" name="Google Shape;1137;p8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 for three-stage trials</a:t>
            </a:r>
            <a:endParaRPr/>
          </a:p>
        </p:txBody>
      </p:sp>
      <p:sp>
        <p:nvSpPr>
          <p:cNvPr id="1138" name="Google Shape;1138;p8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listing possible outcomes</a:t>
            </a:r>
            <a:endParaRPr/>
          </a:p>
        </p:txBody>
      </p:sp>
      <p:pic>
        <p:nvPicPr>
          <p:cNvPr id="1139" name="Google Shape;113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31" y="298836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possible outcomes from spinning the</a:t>
            </a:r>
            <a:r>
              <a:rPr lang="en-GB" sz="2000"/>
              <a:t> spinner </a:t>
            </a:r>
            <a:r>
              <a:rPr lang="en-GB" sz="2000">
                <a:solidFill>
                  <a:schemeClr val="accent5"/>
                </a:solidFill>
              </a:rPr>
              <a:t>twice</a:t>
            </a:r>
            <a:r>
              <a:rPr lang="en-GB" sz="2000"/>
              <a:t> a</a:t>
            </a:r>
            <a:r>
              <a:rPr lang="en-GB" sz="2000"/>
              <a:t>re below.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5" name="Google Shape;1145;p85"/>
          <p:cNvSpPr txBox="1"/>
          <p:nvPr>
            <p:ph idx="1" type="body"/>
          </p:nvPr>
        </p:nvSpPr>
        <p:spPr>
          <a:xfrm>
            <a:off x="1086000" y="2150025"/>
            <a:ext cx="1238700" cy="14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win win,</a:t>
            </a:r>
            <a:br>
              <a:rPr lang="en-GB" sz="2000"/>
            </a:br>
            <a:r>
              <a:rPr lang="en-GB" sz="2000"/>
              <a:t>win lose,</a:t>
            </a:r>
            <a:br>
              <a:rPr lang="en-GB" sz="2000"/>
            </a:br>
            <a:r>
              <a:rPr lang="en-GB" sz="2000"/>
              <a:t>lose win,</a:t>
            </a:r>
            <a:br>
              <a:rPr lang="en-GB" sz="2000"/>
            </a:br>
            <a:r>
              <a:rPr lang="en-GB" sz="2000"/>
              <a:t>lose lose</a:t>
            </a:r>
            <a:endParaRPr sz="2000"/>
          </a:p>
        </p:txBody>
      </p:sp>
      <p:sp>
        <p:nvSpPr>
          <p:cNvPr id="1146" name="Google Shape;1146;p85"/>
          <p:cNvSpPr/>
          <p:nvPr/>
        </p:nvSpPr>
        <p:spPr>
          <a:xfrm>
            <a:off x="5925450" y="18454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85"/>
          <p:cNvSpPr/>
          <p:nvPr/>
        </p:nvSpPr>
        <p:spPr>
          <a:xfrm flipH="1">
            <a:off x="5940139" y="18602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85"/>
          <p:cNvSpPr/>
          <p:nvPr/>
        </p:nvSpPr>
        <p:spPr>
          <a:xfrm>
            <a:off x="5940211" y="18602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85"/>
          <p:cNvSpPr txBox="1"/>
          <p:nvPr/>
        </p:nvSpPr>
        <p:spPr>
          <a:xfrm>
            <a:off x="6075625" y="24827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5"/>
          <p:cNvSpPr txBox="1"/>
          <p:nvPr/>
        </p:nvSpPr>
        <p:spPr>
          <a:xfrm>
            <a:off x="6882576" y="24827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1" name="Google Shape;1151;p85"/>
          <p:cNvGrpSpPr/>
          <p:nvPr/>
        </p:nvGrpSpPr>
        <p:grpSpPr>
          <a:xfrm>
            <a:off x="6724759" y="1938023"/>
            <a:ext cx="93900" cy="816939"/>
            <a:chOff x="996050" y="213293"/>
            <a:chExt cx="93900" cy="909732"/>
          </a:xfrm>
        </p:grpSpPr>
        <p:cxnSp>
          <p:nvCxnSpPr>
            <p:cNvPr id="1152" name="Google Shape;1152;p85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53" name="Google Shape;1153;p8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4" name="Google Shape;115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 for three-stage trials</a:t>
            </a:r>
            <a:endParaRPr/>
          </a:p>
        </p:txBody>
      </p:sp>
      <p:sp>
        <p:nvSpPr>
          <p:cNvPr id="1155" name="Google Shape;1155;p85"/>
          <p:cNvSpPr txBox="1"/>
          <p:nvPr>
            <p:ph idx="1" type="body"/>
          </p:nvPr>
        </p:nvSpPr>
        <p:spPr>
          <a:xfrm>
            <a:off x="324000" y="1151116"/>
            <a:ext cx="8496000" cy="104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How could these be used to list all the possible outcomes when the spinner is spun </a:t>
            </a:r>
            <a:r>
              <a:rPr lang="en-GB" sz="2000">
                <a:solidFill>
                  <a:schemeClr val="accent5"/>
                </a:solidFill>
              </a:rPr>
              <a:t>three times</a:t>
            </a:r>
            <a:r>
              <a:rPr lang="en-GB" sz="2000"/>
              <a:t>?</a:t>
            </a:r>
            <a:endParaRPr sz="2000"/>
          </a:p>
        </p:txBody>
      </p:sp>
      <p:pic>
        <p:nvPicPr>
          <p:cNvPr id="1156" name="Google Shape;115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77378" y="2464561"/>
            <a:ext cx="489553" cy="924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2155650" y="3439425"/>
            <a:ext cx="6226350" cy="13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85"/>
          <p:cNvSpPr txBox="1"/>
          <p:nvPr>
            <p:ph idx="1" type="body"/>
          </p:nvPr>
        </p:nvSpPr>
        <p:spPr>
          <a:xfrm>
            <a:off x="2255925" y="3935100"/>
            <a:ext cx="5973900" cy="7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each of the current outcomes, there are two outcomes for what the additional spin could be. </a:t>
            </a:r>
            <a:endParaRPr sz="1800"/>
          </a:p>
        </p:txBody>
      </p:sp>
      <p:sp>
        <p:nvSpPr>
          <p:cNvPr id="1159" name="Google Shape;1159;p85"/>
          <p:cNvSpPr txBox="1"/>
          <p:nvPr>
            <p:ph idx="1" type="body"/>
          </p:nvPr>
        </p:nvSpPr>
        <p:spPr>
          <a:xfrm>
            <a:off x="7998988" y="3469275"/>
            <a:ext cx="630000" cy="3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Aisha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possible outcomes from spinning the spinner </a:t>
            </a:r>
            <a:r>
              <a:rPr lang="en-GB" sz="2000">
                <a:solidFill>
                  <a:schemeClr val="accent5"/>
                </a:solidFill>
              </a:rPr>
              <a:t>twice</a:t>
            </a:r>
            <a:r>
              <a:rPr lang="en-GB" sz="2000"/>
              <a:t> are below.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5" name="Google Shape;1165;p86"/>
          <p:cNvSpPr txBox="1"/>
          <p:nvPr>
            <p:ph idx="1" type="body"/>
          </p:nvPr>
        </p:nvSpPr>
        <p:spPr>
          <a:xfrm>
            <a:off x="1086000" y="2150025"/>
            <a:ext cx="1695900" cy="14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win win</a:t>
            </a:r>
            <a:r>
              <a:rPr lang="en-GB" sz="2000">
                <a:solidFill>
                  <a:schemeClr val="accent5"/>
                </a:solidFill>
              </a:rPr>
              <a:t> win</a:t>
            </a:r>
            <a:r>
              <a:rPr lang="en-GB" sz="2000"/>
              <a:t>,</a:t>
            </a:r>
            <a:br>
              <a:rPr lang="en-GB" sz="2000"/>
            </a:br>
            <a:r>
              <a:rPr lang="en-GB" sz="2000"/>
              <a:t>win lose </a:t>
            </a:r>
            <a:r>
              <a:rPr lang="en-GB" sz="2000">
                <a:solidFill>
                  <a:schemeClr val="accent5"/>
                </a:solidFill>
              </a:rPr>
              <a:t>win</a:t>
            </a:r>
            <a:r>
              <a:rPr lang="en-GB" sz="2000"/>
              <a:t>,</a:t>
            </a:r>
            <a:br>
              <a:rPr lang="en-GB" sz="2000"/>
            </a:br>
            <a:r>
              <a:rPr lang="en-GB" sz="2000"/>
              <a:t>lose win </a:t>
            </a:r>
            <a:r>
              <a:rPr lang="en-GB" sz="2000">
                <a:solidFill>
                  <a:schemeClr val="accent5"/>
                </a:solidFill>
              </a:rPr>
              <a:t>win</a:t>
            </a:r>
            <a:r>
              <a:rPr lang="en-GB" sz="2000"/>
              <a:t>,</a:t>
            </a:r>
            <a:br>
              <a:rPr lang="en-GB" sz="2000"/>
            </a:br>
            <a:r>
              <a:rPr lang="en-GB" sz="2000"/>
              <a:t>lose lose </a:t>
            </a:r>
            <a:r>
              <a:rPr lang="en-GB" sz="2000">
                <a:solidFill>
                  <a:schemeClr val="accent5"/>
                </a:solidFill>
              </a:rPr>
              <a:t>win</a:t>
            </a:r>
            <a:r>
              <a:rPr lang="en-GB" sz="2000"/>
              <a:t>,</a:t>
            </a:r>
            <a:endParaRPr sz="2000"/>
          </a:p>
        </p:txBody>
      </p:sp>
      <p:sp>
        <p:nvSpPr>
          <p:cNvPr id="1166" name="Google Shape;1166;p86"/>
          <p:cNvSpPr/>
          <p:nvPr/>
        </p:nvSpPr>
        <p:spPr>
          <a:xfrm>
            <a:off x="5925450" y="18454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86"/>
          <p:cNvSpPr/>
          <p:nvPr/>
        </p:nvSpPr>
        <p:spPr>
          <a:xfrm flipH="1">
            <a:off x="5940139" y="18602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86"/>
          <p:cNvSpPr/>
          <p:nvPr/>
        </p:nvSpPr>
        <p:spPr>
          <a:xfrm>
            <a:off x="5940211" y="18602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86"/>
          <p:cNvSpPr txBox="1"/>
          <p:nvPr/>
        </p:nvSpPr>
        <p:spPr>
          <a:xfrm>
            <a:off x="6075625" y="24827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86"/>
          <p:cNvSpPr txBox="1"/>
          <p:nvPr/>
        </p:nvSpPr>
        <p:spPr>
          <a:xfrm>
            <a:off x="6882576" y="24827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1" name="Google Shape;1171;p86"/>
          <p:cNvGrpSpPr/>
          <p:nvPr/>
        </p:nvGrpSpPr>
        <p:grpSpPr>
          <a:xfrm>
            <a:off x="6724759" y="1938023"/>
            <a:ext cx="93900" cy="816939"/>
            <a:chOff x="996050" y="213293"/>
            <a:chExt cx="93900" cy="909732"/>
          </a:xfrm>
        </p:grpSpPr>
        <p:cxnSp>
          <p:nvCxnSpPr>
            <p:cNvPr id="1172" name="Google Shape;1172;p86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73" name="Google Shape;1173;p8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4" name="Google Shape;1174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 for three-stage trials</a:t>
            </a:r>
            <a:endParaRPr/>
          </a:p>
        </p:txBody>
      </p:sp>
      <p:sp>
        <p:nvSpPr>
          <p:cNvPr id="1175" name="Google Shape;1175;p86"/>
          <p:cNvSpPr txBox="1"/>
          <p:nvPr>
            <p:ph idx="1" type="body"/>
          </p:nvPr>
        </p:nvSpPr>
        <p:spPr>
          <a:xfrm>
            <a:off x="324000" y="1151116"/>
            <a:ext cx="8496000" cy="104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How could these be used to list all the possible outcomes when the spinner is spun </a:t>
            </a:r>
            <a:r>
              <a:rPr lang="en-GB" sz="2000">
                <a:solidFill>
                  <a:schemeClr val="accent5"/>
                </a:solidFill>
              </a:rPr>
              <a:t>three times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176" name="Google Shape;1176;p86"/>
          <p:cNvSpPr txBox="1"/>
          <p:nvPr>
            <p:ph idx="1" type="body"/>
          </p:nvPr>
        </p:nvSpPr>
        <p:spPr>
          <a:xfrm>
            <a:off x="3372000" y="2150025"/>
            <a:ext cx="1831800" cy="14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win win </a:t>
            </a:r>
            <a:r>
              <a:rPr lang="en-GB" sz="2000">
                <a:solidFill>
                  <a:schemeClr val="accent5"/>
                </a:solidFill>
              </a:rPr>
              <a:t>lose</a:t>
            </a:r>
            <a:r>
              <a:rPr lang="en-GB" sz="2000"/>
              <a:t>,</a:t>
            </a:r>
            <a:br>
              <a:rPr lang="en-GB" sz="2000"/>
            </a:br>
            <a:r>
              <a:rPr lang="en-GB" sz="2000"/>
              <a:t>win lose </a:t>
            </a:r>
            <a:r>
              <a:rPr lang="en-GB" sz="2000">
                <a:solidFill>
                  <a:schemeClr val="accent5"/>
                </a:solidFill>
              </a:rPr>
              <a:t>lose</a:t>
            </a:r>
            <a:r>
              <a:rPr lang="en-GB" sz="2000"/>
              <a:t>,</a:t>
            </a:r>
            <a:br>
              <a:rPr lang="en-GB" sz="2000"/>
            </a:br>
            <a:r>
              <a:rPr lang="en-GB" sz="2000"/>
              <a:t>lose win </a:t>
            </a:r>
            <a:r>
              <a:rPr lang="en-GB" sz="2000">
                <a:solidFill>
                  <a:schemeClr val="accent5"/>
                </a:solidFill>
              </a:rPr>
              <a:t>lose</a:t>
            </a:r>
            <a:r>
              <a:rPr lang="en-GB" sz="2000"/>
              <a:t>,</a:t>
            </a:r>
            <a:br>
              <a:rPr lang="en-GB" sz="2000"/>
            </a:br>
            <a:r>
              <a:rPr lang="en-GB" sz="2000"/>
              <a:t>lose lose </a:t>
            </a:r>
            <a:r>
              <a:rPr lang="en-GB" sz="2000">
                <a:solidFill>
                  <a:schemeClr val="accent5"/>
                </a:solidFill>
              </a:rPr>
              <a:t>lose</a:t>
            </a:r>
            <a:endParaRPr sz="2000"/>
          </a:p>
        </p:txBody>
      </p:sp>
      <p:sp>
        <p:nvSpPr>
          <p:cNvPr id="1177" name="Google Shape;1177;p86"/>
          <p:cNvSpPr txBox="1"/>
          <p:nvPr>
            <p:ph idx="1" type="body"/>
          </p:nvPr>
        </p:nvSpPr>
        <p:spPr>
          <a:xfrm>
            <a:off x="1086000" y="2150025"/>
            <a:ext cx="1238700" cy="14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win win</a:t>
            </a:r>
            <a:br>
              <a:rPr lang="en-GB" sz="2000"/>
            </a:br>
            <a:r>
              <a:rPr lang="en-GB" sz="2000"/>
              <a:t>win lose</a:t>
            </a:r>
            <a:br>
              <a:rPr lang="en-GB" sz="2000"/>
            </a:br>
            <a:r>
              <a:rPr lang="en-GB" sz="2000"/>
              <a:t>lose win</a:t>
            </a:r>
            <a:br>
              <a:rPr lang="en-GB" sz="2000"/>
            </a:br>
            <a:r>
              <a:rPr lang="en-GB" sz="2000"/>
              <a:t>lose lose </a:t>
            </a:r>
            <a:endParaRPr sz="2000"/>
          </a:p>
        </p:txBody>
      </p:sp>
      <p:sp>
        <p:nvSpPr>
          <p:cNvPr id="1178" name="Google Shape;1178;p86"/>
          <p:cNvSpPr txBox="1"/>
          <p:nvPr>
            <p:ph idx="1" type="body"/>
          </p:nvPr>
        </p:nvSpPr>
        <p:spPr>
          <a:xfrm>
            <a:off x="3372000" y="2150025"/>
            <a:ext cx="1238700" cy="14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win win</a:t>
            </a:r>
            <a:br>
              <a:rPr lang="en-GB" sz="2000"/>
            </a:br>
            <a:r>
              <a:rPr lang="en-GB" sz="2000"/>
              <a:t>win lose</a:t>
            </a:r>
            <a:br>
              <a:rPr lang="en-GB" sz="2000"/>
            </a:br>
            <a:r>
              <a:rPr lang="en-GB" sz="2000"/>
              <a:t>lose win</a:t>
            </a:r>
            <a:br>
              <a:rPr lang="en-GB" sz="2000"/>
            </a:br>
            <a:r>
              <a:rPr lang="en-GB" sz="2000"/>
              <a:t>lose lose</a:t>
            </a:r>
            <a:endParaRPr sz="2000"/>
          </a:p>
        </p:txBody>
      </p:sp>
      <p:pic>
        <p:nvPicPr>
          <p:cNvPr id="1179" name="Google Shape;117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050623" y="3462437"/>
            <a:ext cx="7427052" cy="13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86"/>
          <p:cNvSpPr txBox="1"/>
          <p:nvPr>
            <p:ph idx="1" type="body"/>
          </p:nvPr>
        </p:nvSpPr>
        <p:spPr>
          <a:xfrm>
            <a:off x="1237626" y="3935100"/>
            <a:ext cx="69864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 could copy each of the outcomes I have so far. </a:t>
            </a:r>
            <a:endParaRPr sz="1800"/>
          </a:p>
        </p:txBody>
      </p:sp>
      <p:sp>
        <p:nvSpPr>
          <p:cNvPr id="1181" name="Google Shape;1181;p86"/>
          <p:cNvSpPr txBox="1"/>
          <p:nvPr/>
        </p:nvSpPr>
        <p:spPr>
          <a:xfrm>
            <a:off x="1080600" y="4253100"/>
            <a:ext cx="74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 write ‘win’ after one outcome and ‘lose’ after its copy.</a:t>
            </a:r>
            <a:endParaRPr/>
          </a:p>
        </p:txBody>
      </p:sp>
      <p:pic>
        <p:nvPicPr>
          <p:cNvPr id="1182" name="Google Shape;1182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77378" y="2464561"/>
            <a:ext cx="489553" cy="924387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86"/>
          <p:cNvSpPr txBox="1"/>
          <p:nvPr>
            <p:ph idx="1" type="body"/>
          </p:nvPr>
        </p:nvSpPr>
        <p:spPr>
          <a:xfrm>
            <a:off x="7998988" y="3469275"/>
            <a:ext cx="630000" cy="3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Aisha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87"/>
          <p:cNvSpPr txBox="1"/>
          <p:nvPr>
            <p:ph idx="1" type="body"/>
          </p:nvPr>
        </p:nvSpPr>
        <p:spPr>
          <a:xfrm>
            <a:off x="324000" y="759300"/>
            <a:ext cx="8237700" cy="11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possible outcomes from spinning the spinner </a:t>
            </a:r>
            <a:r>
              <a:rPr lang="en-GB" sz="2000">
                <a:solidFill>
                  <a:schemeClr val="accent5"/>
                </a:solidFill>
              </a:rPr>
              <a:t>twice</a:t>
            </a:r>
            <a:r>
              <a:rPr lang="en-GB" sz="2000"/>
              <a:t> are below.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89" name="Google Shape;1189;p87"/>
          <p:cNvSpPr/>
          <p:nvPr/>
        </p:nvSpPr>
        <p:spPr>
          <a:xfrm>
            <a:off x="5925450" y="18454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87"/>
          <p:cNvSpPr/>
          <p:nvPr/>
        </p:nvSpPr>
        <p:spPr>
          <a:xfrm flipH="1">
            <a:off x="5940139" y="18602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87"/>
          <p:cNvSpPr/>
          <p:nvPr/>
        </p:nvSpPr>
        <p:spPr>
          <a:xfrm>
            <a:off x="5940211" y="18602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87"/>
          <p:cNvSpPr txBox="1"/>
          <p:nvPr/>
        </p:nvSpPr>
        <p:spPr>
          <a:xfrm>
            <a:off x="6075625" y="24827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7"/>
          <p:cNvSpPr txBox="1"/>
          <p:nvPr/>
        </p:nvSpPr>
        <p:spPr>
          <a:xfrm>
            <a:off x="6882576" y="24827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4" name="Google Shape;1194;p87"/>
          <p:cNvGrpSpPr/>
          <p:nvPr/>
        </p:nvGrpSpPr>
        <p:grpSpPr>
          <a:xfrm>
            <a:off x="6724759" y="1938023"/>
            <a:ext cx="93900" cy="816939"/>
            <a:chOff x="996050" y="213293"/>
            <a:chExt cx="93900" cy="909732"/>
          </a:xfrm>
        </p:grpSpPr>
        <p:cxnSp>
          <p:nvCxnSpPr>
            <p:cNvPr id="1195" name="Google Shape;1195;p87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96" name="Google Shape;1196;p87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7" name="Google Shape;119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 for three-stage trials</a:t>
            </a:r>
            <a:endParaRPr/>
          </a:p>
        </p:txBody>
      </p:sp>
      <p:sp>
        <p:nvSpPr>
          <p:cNvPr id="1198" name="Google Shape;1198;p87"/>
          <p:cNvSpPr txBox="1"/>
          <p:nvPr>
            <p:ph idx="1" type="body"/>
          </p:nvPr>
        </p:nvSpPr>
        <p:spPr>
          <a:xfrm>
            <a:off x="324000" y="1151116"/>
            <a:ext cx="8496000" cy="104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How could these be used to list all the possible outcomes when the spinner is spun </a:t>
            </a:r>
            <a:r>
              <a:rPr lang="en-GB" sz="2000">
                <a:solidFill>
                  <a:schemeClr val="accent5"/>
                </a:solidFill>
              </a:rPr>
              <a:t>three times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199" name="Google Shape;1199;p87"/>
          <p:cNvSpPr txBox="1"/>
          <p:nvPr>
            <p:ph idx="1" type="body"/>
          </p:nvPr>
        </p:nvSpPr>
        <p:spPr>
          <a:xfrm>
            <a:off x="2818547" y="2150025"/>
            <a:ext cx="1831800" cy="14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lose </a:t>
            </a:r>
            <a:r>
              <a:rPr lang="en-GB" sz="2000"/>
              <a:t>win win,</a:t>
            </a:r>
            <a:br>
              <a:rPr lang="en-GB" sz="2000"/>
            </a:br>
            <a:r>
              <a:rPr lang="en-GB" sz="2000">
                <a:solidFill>
                  <a:schemeClr val="accent5"/>
                </a:solidFill>
              </a:rPr>
              <a:t>lose </a:t>
            </a:r>
            <a:r>
              <a:rPr lang="en-GB" sz="2000"/>
              <a:t>win lose,</a:t>
            </a:r>
            <a:br>
              <a:rPr lang="en-GB" sz="2000"/>
            </a:br>
            <a:r>
              <a:rPr lang="en-GB" sz="2000">
                <a:solidFill>
                  <a:schemeClr val="accent5"/>
                </a:solidFill>
              </a:rPr>
              <a:t>lose </a:t>
            </a:r>
            <a:r>
              <a:rPr lang="en-GB" sz="2000"/>
              <a:t>lose win,</a:t>
            </a:r>
            <a:br>
              <a:rPr lang="en-GB" sz="2000"/>
            </a:br>
            <a:r>
              <a:rPr lang="en-GB" sz="2000">
                <a:solidFill>
                  <a:schemeClr val="accent5"/>
                </a:solidFill>
              </a:rPr>
              <a:t>lose </a:t>
            </a:r>
            <a:r>
              <a:rPr lang="en-GB" sz="2000"/>
              <a:t>lose lose</a:t>
            </a:r>
            <a:endParaRPr sz="2000"/>
          </a:p>
        </p:txBody>
      </p:sp>
      <p:sp>
        <p:nvSpPr>
          <p:cNvPr id="1200" name="Google Shape;1200;p87"/>
          <p:cNvSpPr txBox="1"/>
          <p:nvPr>
            <p:ph idx="1" type="body"/>
          </p:nvPr>
        </p:nvSpPr>
        <p:spPr>
          <a:xfrm>
            <a:off x="592705" y="2150025"/>
            <a:ext cx="1695900" cy="14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win </a:t>
            </a:r>
            <a:r>
              <a:rPr lang="en-GB" sz="2000"/>
              <a:t>win win,</a:t>
            </a:r>
            <a:br>
              <a:rPr lang="en-GB" sz="2000"/>
            </a:br>
            <a:r>
              <a:rPr lang="en-GB" sz="2000">
                <a:solidFill>
                  <a:schemeClr val="accent5"/>
                </a:solidFill>
              </a:rPr>
              <a:t>win </a:t>
            </a:r>
            <a:r>
              <a:rPr lang="en-GB" sz="2000"/>
              <a:t>win lose,</a:t>
            </a:r>
            <a:br>
              <a:rPr lang="en-GB" sz="2000"/>
            </a:br>
            <a:r>
              <a:rPr lang="en-GB" sz="2000">
                <a:solidFill>
                  <a:schemeClr val="accent5"/>
                </a:solidFill>
              </a:rPr>
              <a:t>win </a:t>
            </a:r>
            <a:r>
              <a:rPr lang="en-GB" sz="2000"/>
              <a:t>lose win,</a:t>
            </a:r>
            <a:br>
              <a:rPr lang="en-GB" sz="2000"/>
            </a:br>
            <a:r>
              <a:rPr lang="en-GB" sz="2000">
                <a:solidFill>
                  <a:schemeClr val="accent5"/>
                </a:solidFill>
              </a:rPr>
              <a:t>win </a:t>
            </a:r>
            <a:r>
              <a:rPr lang="en-GB" sz="2000"/>
              <a:t>lose lose,</a:t>
            </a:r>
            <a:endParaRPr sz="2000"/>
          </a:p>
        </p:txBody>
      </p:sp>
      <p:pic>
        <p:nvPicPr>
          <p:cNvPr id="1201" name="Google Shape;120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043848" y="3443975"/>
            <a:ext cx="7427052" cy="13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87"/>
          <p:cNvSpPr txBox="1"/>
          <p:nvPr>
            <p:ph idx="1" type="body"/>
          </p:nvPr>
        </p:nvSpPr>
        <p:spPr>
          <a:xfrm>
            <a:off x="1245993" y="3935100"/>
            <a:ext cx="7224900" cy="8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Or I could consider the first spin to be the additional spin, so write the extra outcomes at the start of each.</a:t>
            </a:r>
            <a:endParaRPr sz="1800"/>
          </a:p>
        </p:txBody>
      </p:sp>
      <p:pic>
        <p:nvPicPr>
          <p:cNvPr id="1203" name="Google Shape;1203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77378" y="2464561"/>
            <a:ext cx="489553" cy="924387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87"/>
          <p:cNvSpPr txBox="1"/>
          <p:nvPr>
            <p:ph idx="1" type="body"/>
          </p:nvPr>
        </p:nvSpPr>
        <p:spPr>
          <a:xfrm>
            <a:off x="7998988" y="3469275"/>
            <a:ext cx="630000" cy="3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Aisha</a:t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88"/>
          <p:cNvSpPr txBox="1"/>
          <p:nvPr>
            <p:ph idx="1" type="body"/>
          </p:nvPr>
        </p:nvSpPr>
        <p:spPr>
          <a:xfrm>
            <a:off x="324000" y="759300"/>
            <a:ext cx="8496000" cy="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Jun is going to spin the</a:t>
            </a:r>
            <a:r>
              <a:rPr lang="en-GB" sz="2000"/>
              <a:t> spinner </a:t>
            </a:r>
            <a:r>
              <a:rPr lang="en-GB" sz="2000">
                <a:solidFill>
                  <a:schemeClr val="accent5"/>
                </a:solidFill>
              </a:rPr>
              <a:t>three times</a:t>
            </a:r>
            <a:r>
              <a:rPr lang="en-GB" sz="2000"/>
              <a:t>. </a:t>
            </a:r>
            <a:r>
              <a:rPr lang="en-GB" sz="2000"/>
              <a:t>He wants to list all possible outcomes. How could he do this systematically?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10" name="Google Shape;121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 for three-stage trials</a:t>
            </a:r>
            <a:endParaRPr/>
          </a:p>
        </p:txBody>
      </p:sp>
      <p:pic>
        <p:nvPicPr>
          <p:cNvPr id="1211" name="Google Shape;1211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3751677" y="3410025"/>
            <a:ext cx="4680648" cy="13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p88"/>
          <p:cNvSpPr txBox="1"/>
          <p:nvPr>
            <p:ph idx="1" type="body"/>
          </p:nvPr>
        </p:nvSpPr>
        <p:spPr>
          <a:xfrm>
            <a:off x="3937934" y="3858900"/>
            <a:ext cx="29367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could start with AAA.</a:t>
            </a:r>
            <a:endParaRPr sz="1600"/>
          </a:p>
        </p:txBody>
      </p:sp>
      <p:sp>
        <p:nvSpPr>
          <p:cNvPr id="1213" name="Google Shape;1213;p88"/>
          <p:cNvSpPr/>
          <p:nvPr/>
        </p:nvSpPr>
        <p:spPr>
          <a:xfrm>
            <a:off x="5842400" y="16872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88"/>
          <p:cNvSpPr/>
          <p:nvPr/>
        </p:nvSpPr>
        <p:spPr>
          <a:xfrm rot="7199661">
            <a:off x="5857209" y="1702128"/>
            <a:ext cx="1666484" cy="1666484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88"/>
          <p:cNvSpPr/>
          <p:nvPr/>
        </p:nvSpPr>
        <p:spPr>
          <a:xfrm rot="-7211867">
            <a:off x="5857277" y="1702188"/>
            <a:ext cx="1666446" cy="1666446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88"/>
          <p:cNvSpPr/>
          <p:nvPr/>
        </p:nvSpPr>
        <p:spPr>
          <a:xfrm>
            <a:off x="5857277" y="1702188"/>
            <a:ext cx="1666500" cy="1666500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88"/>
          <p:cNvSpPr txBox="1"/>
          <p:nvPr/>
        </p:nvSpPr>
        <p:spPr>
          <a:xfrm>
            <a:off x="6875726" y="2095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8"/>
          <p:cNvSpPr txBox="1"/>
          <p:nvPr/>
        </p:nvSpPr>
        <p:spPr>
          <a:xfrm>
            <a:off x="6570926" y="27055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8"/>
          <p:cNvSpPr txBox="1"/>
          <p:nvPr/>
        </p:nvSpPr>
        <p:spPr>
          <a:xfrm>
            <a:off x="6113726" y="2095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0" name="Google Shape;1220;p88"/>
          <p:cNvGrpSpPr/>
          <p:nvPr/>
        </p:nvGrpSpPr>
        <p:grpSpPr>
          <a:xfrm>
            <a:off x="6641709" y="1772006"/>
            <a:ext cx="93900" cy="816939"/>
            <a:chOff x="996050" y="213293"/>
            <a:chExt cx="93900" cy="909732"/>
          </a:xfrm>
        </p:grpSpPr>
        <p:cxnSp>
          <p:nvCxnSpPr>
            <p:cNvPr id="1221" name="Google Shape;1221;p88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22" name="Google Shape;1222;p8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23" name="Google Shape;1223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02325" y="2622192"/>
            <a:ext cx="629999" cy="787830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88"/>
          <p:cNvSpPr txBox="1"/>
          <p:nvPr>
            <p:ph idx="1" type="body"/>
          </p:nvPr>
        </p:nvSpPr>
        <p:spPr>
          <a:xfrm>
            <a:off x="3919675" y="4163700"/>
            <a:ext cx="4512600" cy="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Then </a:t>
            </a:r>
            <a:r>
              <a:rPr lang="en-GB" sz="1800"/>
              <a:t>cycle</a:t>
            </a:r>
            <a:r>
              <a:rPr lang="en-GB" sz="1800"/>
              <a:t> through the different possibilities of the </a:t>
            </a:r>
            <a:r>
              <a:rPr lang="en-GB" sz="1800">
                <a:solidFill>
                  <a:schemeClr val="accent5"/>
                </a:solidFill>
              </a:rPr>
              <a:t>third spin</a:t>
            </a:r>
            <a:r>
              <a:rPr lang="en-GB" sz="1800"/>
              <a:t>: A to B to C</a:t>
            </a:r>
            <a:endParaRPr sz="1600"/>
          </a:p>
        </p:txBody>
      </p:sp>
      <p:sp>
        <p:nvSpPr>
          <p:cNvPr id="1225" name="Google Shape;1225;p88"/>
          <p:cNvSpPr txBox="1"/>
          <p:nvPr>
            <p:ph idx="1" type="body"/>
          </p:nvPr>
        </p:nvSpPr>
        <p:spPr>
          <a:xfrm>
            <a:off x="857400" y="1597500"/>
            <a:ext cx="680100" cy="2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AAA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26" name="Google Shape;1226;p88"/>
          <p:cNvSpPr txBox="1"/>
          <p:nvPr>
            <p:ph idx="1" type="body"/>
          </p:nvPr>
        </p:nvSpPr>
        <p:spPr>
          <a:xfrm>
            <a:off x="857400" y="1597500"/>
            <a:ext cx="680100" cy="9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AA</a:t>
            </a:r>
            <a:r>
              <a:rPr lang="en-GB" sz="1800">
                <a:solidFill>
                  <a:schemeClr val="accent5"/>
                </a:solidFill>
              </a:rPr>
              <a:t>A</a:t>
            </a:r>
            <a:br>
              <a:rPr lang="en-GB" sz="1800"/>
            </a:br>
            <a:r>
              <a:rPr lang="en-GB" sz="1800"/>
              <a:t>AA</a:t>
            </a:r>
            <a:r>
              <a:rPr lang="en-GB" sz="1800">
                <a:solidFill>
                  <a:schemeClr val="accent5"/>
                </a:solidFill>
              </a:rPr>
              <a:t>B</a:t>
            </a:r>
            <a:br>
              <a:rPr lang="en-GB" sz="1800"/>
            </a:br>
            <a:r>
              <a:rPr lang="en-GB" sz="1800"/>
              <a:t>AA</a:t>
            </a:r>
            <a:r>
              <a:rPr lang="en-GB" sz="1800">
                <a:solidFill>
                  <a:schemeClr val="accent5"/>
                </a:solidFill>
              </a:rPr>
              <a:t>C</a:t>
            </a:r>
            <a:endParaRPr sz="18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89"/>
          <p:cNvSpPr txBox="1"/>
          <p:nvPr>
            <p:ph idx="1" type="body"/>
          </p:nvPr>
        </p:nvSpPr>
        <p:spPr>
          <a:xfrm>
            <a:off x="857400" y="1597500"/>
            <a:ext cx="680100" cy="9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AAA</a:t>
            </a:r>
            <a:br>
              <a:rPr lang="en-GB" sz="1800"/>
            </a:br>
            <a:r>
              <a:rPr lang="en-GB" sz="1800"/>
              <a:t>AAB</a:t>
            </a:r>
            <a:br>
              <a:rPr lang="en-GB" sz="1800"/>
            </a:br>
            <a:r>
              <a:rPr lang="en-GB" sz="1800"/>
              <a:t>AAC</a:t>
            </a:r>
            <a:endParaRPr sz="1600"/>
          </a:p>
        </p:txBody>
      </p:sp>
      <p:sp>
        <p:nvSpPr>
          <p:cNvPr id="1232" name="Google Shape;1232;p89"/>
          <p:cNvSpPr txBox="1"/>
          <p:nvPr>
            <p:ph idx="1" type="body"/>
          </p:nvPr>
        </p:nvSpPr>
        <p:spPr>
          <a:xfrm>
            <a:off x="324000" y="759300"/>
            <a:ext cx="8496000" cy="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Jun is going to spin the spinner </a:t>
            </a:r>
            <a:r>
              <a:rPr lang="en-GB" sz="2000">
                <a:solidFill>
                  <a:schemeClr val="accent5"/>
                </a:solidFill>
              </a:rPr>
              <a:t>three times</a:t>
            </a:r>
            <a:r>
              <a:rPr lang="en-GB" sz="2000"/>
              <a:t>. He wants to list all possible outcomes. How could he do this systematically?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33" name="Google Shape;1233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 for three-stage trials</a:t>
            </a:r>
            <a:endParaRPr/>
          </a:p>
        </p:txBody>
      </p:sp>
      <p:pic>
        <p:nvPicPr>
          <p:cNvPr id="1234" name="Google Shape;123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668398" y="3439475"/>
            <a:ext cx="5763927" cy="13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89"/>
          <p:cNvSpPr txBox="1"/>
          <p:nvPr>
            <p:ph idx="1" type="body"/>
          </p:nvPr>
        </p:nvSpPr>
        <p:spPr>
          <a:xfrm>
            <a:off x="2943900" y="3858900"/>
            <a:ext cx="5402100" cy="9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could then copy all three of these outcomes, and cycle</a:t>
            </a:r>
            <a:r>
              <a:rPr lang="en-GB" sz="1800"/>
              <a:t> through the different possibilities of the </a:t>
            </a:r>
            <a:r>
              <a:rPr lang="en-GB" sz="1800">
                <a:solidFill>
                  <a:schemeClr val="accent5"/>
                </a:solidFill>
              </a:rPr>
              <a:t>second spin</a:t>
            </a:r>
            <a:r>
              <a:rPr lang="en-GB" sz="1800"/>
              <a:t>: A to B to C</a:t>
            </a:r>
            <a:r>
              <a:rPr lang="en-GB" sz="1800"/>
              <a:t> </a:t>
            </a:r>
            <a:endParaRPr sz="1600"/>
          </a:p>
        </p:txBody>
      </p:sp>
      <p:sp>
        <p:nvSpPr>
          <p:cNvPr id="1236" name="Google Shape;1236;p89"/>
          <p:cNvSpPr/>
          <p:nvPr/>
        </p:nvSpPr>
        <p:spPr>
          <a:xfrm>
            <a:off x="5842400" y="16872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89"/>
          <p:cNvSpPr/>
          <p:nvPr/>
        </p:nvSpPr>
        <p:spPr>
          <a:xfrm rot="7199661">
            <a:off x="5857209" y="1702128"/>
            <a:ext cx="1666484" cy="1666484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89"/>
          <p:cNvSpPr/>
          <p:nvPr/>
        </p:nvSpPr>
        <p:spPr>
          <a:xfrm rot="-7211867">
            <a:off x="5857277" y="1702188"/>
            <a:ext cx="1666446" cy="1666446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89"/>
          <p:cNvSpPr/>
          <p:nvPr/>
        </p:nvSpPr>
        <p:spPr>
          <a:xfrm>
            <a:off x="5857277" y="1702188"/>
            <a:ext cx="1666500" cy="1666500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89"/>
          <p:cNvSpPr txBox="1"/>
          <p:nvPr/>
        </p:nvSpPr>
        <p:spPr>
          <a:xfrm>
            <a:off x="6875726" y="2095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9"/>
          <p:cNvSpPr txBox="1"/>
          <p:nvPr/>
        </p:nvSpPr>
        <p:spPr>
          <a:xfrm>
            <a:off x="6570926" y="27055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9"/>
          <p:cNvSpPr txBox="1"/>
          <p:nvPr/>
        </p:nvSpPr>
        <p:spPr>
          <a:xfrm>
            <a:off x="6113726" y="2095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3" name="Google Shape;1243;p89"/>
          <p:cNvGrpSpPr/>
          <p:nvPr/>
        </p:nvGrpSpPr>
        <p:grpSpPr>
          <a:xfrm>
            <a:off x="6641709" y="1772006"/>
            <a:ext cx="93900" cy="816939"/>
            <a:chOff x="996050" y="213293"/>
            <a:chExt cx="93900" cy="909732"/>
          </a:xfrm>
        </p:grpSpPr>
        <p:cxnSp>
          <p:nvCxnSpPr>
            <p:cNvPr id="1244" name="Google Shape;1244;p8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45" name="Google Shape;1245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6" name="Google Shape;1246;p89"/>
          <p:cNvSpPr txBox="1"/>
          <p:nvPr>
            <p:ph idx="1" type="body"/>
          </p:nvPr>
        </p:nvSpPr>
        <p:spPr>
          <a:xfrm>
            <a:off x="857400" y="1597500"/>
            <a:ext cx="680100" cy="9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r>
              <a:rPr lang="en-GB" sz="1800">
                <a:solidFill>
                  <a:schemeClr val="accent5"/>
                </a:solidFill>
              </a:rPr>
              <a:t>A</a:t>
            </a:r>
            <a:r>
              <a:rPr lang="en-GB" sz="1800"/>
              <a:t>A</a:t>
            </a:r>
            <a:br>
              <a:rPr lang="en-GB" sz="1800"/>
            </a:br>
            <a:r>
              <a:rPr lang="en-GB" sz="1800"/>
              <a:t>A</a:t>
            </a:r>
            <a:r>
              <a:rPr lang="en-GB" sz="1800">
                <a:solidFill>
                  <a:schemeClr val="accent5"/>
                </a:solidFill>
              </a:rPr>
              <a:t>A</a:t>
            </a:r>
            <a:r>
              <a:rPr lang="en-GB" sz="1800"/>
              <a:t>B</a:t>
            </a:r>
            <a:br>
              <a:rPr lang="en-GB" sz="1800"/>
            </a:br>
            <a:r>
              <a:rPr lang="en-GB" sz="1800"/>
              <a:t>A</a:t>
            </a:r>
            <a:r>
              <a:rPr lang="en-GB" sz="1800">
                <a:solidFill>
                  <a:schemeClr val="accent5"/>
                </a:solidFill>
              </a:rPr>
              <a:t>A</a:t>
            </a:r>
            <a:r>
              <a:rPr lang="en-GB" sz="1800"/>
              <a:t>C</a:t>
            </a:r>
            <a:endParaRPr sz="1600"/>
          </a:p>
        </p:txBody>
      </p:sp>
      <p:pic>
        <p:nvPicPr>
          <p:cNvPr id="1247" name="Google Shape;1247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02325" y="2622192"/>
            <a:ext cx="629999" cy="78783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89"/>
          <p:cNvSpPr txBox="1"/>
          <p:nvPr>
            <p:ph idx="1" type="body"/>
          </p:nvPr>
        </p:nvSpPr>
        <p:spPr>
          <a:xfrm>
            <a:off x="857400" y="3725673"/>
            <a:ext cx="6801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</a:t>
            </a:r>
            <a:r>
              <a:rPr lang="en-GB" sz="1800">
                <a:solidFill>
                  <a:schemeClr val="accent5"/>
                </a:solidFill>
              </a:rPr>
              <a:t>C</a:t>
            </a:r>
            <a:r>
              <a:rPr lang="en-GB" sz="1800"/>
              <a:t>A</a:t>
            </a:r>
            <a:br>
              <a:rPr lang="en-GB" sz="1800"/>
            </a:br>
            <a:r>
              <a:rPr lang="en-GB" sz="1800"/>
              <a:t>A</a:t>
            </a:r>
            <a:r>
              <a:rPr lang="en-GB" sz="1800">
                <a:solidFill>
                  <a:schemeClr val="accent5"/>
                </a:solidFill>
              </a:rPr>
              <a:t>C</a:t>
            </a:r>
            <a:r>
              <a:rPr lang="en-GB" sz="1800"/>
              <a:t>B</a:t>
            </a:r>
            <a:br>
              <a:rPr lang="en-GB" sz="1800"/>
            </a:br>
            <a:r>
              <a:rPr lang="en-GB" sz="1800"/>
              <a:t>A</a:t>
            </a:r>
            <a:r>
              <a:rPr lang="en-GB" sz="1800">
                <a:solidFill>
                  <a:schemeClr val="accent5"/>
                </a:solidFill>
              </a:rPr>
              <a:t>C</a:t>
            </a:r>
            <a:r>
              <a:rPr lang="en-GB" sz="1800"/>
              <a:t>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49" name="Google Shape;1249;p89"/>
          <p:cNvSpPr txBox="1"/>
          <p:nvPr>
            <p:ph idx="1" type="body"/>
          </p:nvPr>
        </p:nvSpPr>
        <p:spPr>
          <a:xfrm>
            <a:off x="857400" y="2657054"/>
            <a:ext cx="680100" cy="10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</a:t>
            </a:r>
            <a:r>
              <a:rPr lang="en-GB" sz="1800">
                <a:solidFill>
                  <a:schemeClr val="accent5"/>
                </a:solidFill>
              </a:rPr>
              <a:t>B</a:t>
            </a:r>
            <a:r>
              <a:rPr lang="en-GB" sz="1800"/>
              <a:t>A</a:t>
            </a:r>
            <a:br>
              <a:rPr lang="en-GB" sz="1800"/>
            </a:br>
            <a:r>
              <a:rPr lang="en-GB" sz="1800"/>
              <a:t>A</a:t>
            </a:r>
            <a:r>
              <a:rPr lang="en-GB" sz="1800">
                <a:solidFill>
                  <a:schemeClr val="accent5"/>
                </a:solidFill>
              </a:rPr>
              <a:t>B</a:t>
            </a:r>
            <a:r>
              <a:rPr lang="en-GB" sz="1800"/>
              <a:t>B</a:t>
            </a:r>
            <a:br>
              <a:rPr lang="en-GB" sz="1800"/>
            </a:br>
            <a:r>
              <a:rPr lang="en-GB" sz="1800"/>
              <a:t>A</a:t>
            </a:r>
            <a:r>
              <a:rPr lang="en-GB" sz="1800">
                <a:solidFill>
                  <a:schemeClr val="accent5"/>
                </a:solidFill>
              </a:rPr>
              <a:t>B</a:t>
            </a:r>
            <a:r>
              <a:rPr lang="en-GB" sz="1800"/>
              <a:t>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90"/>
          <p:cNvSpPr txBox="1"/>
          <p:nvPr>
            <p:ph idx="1" type="body"/>
          </p:nvPr>
        </p:nvSpPr>
        <p:spPr>
          <a:xfrm>
            <a:off x="857400" y="1597500"/>
            <a:ext cx="680100" cy="31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AAA</a:t>
            </a:r>
            <a:br>
              <a:rPr lang="en-GB" sz="1800"/>
            </a:br>
            <a:r>
              <a:rPr lang="en-GB" sz="1800"/>
              <a:t>AAB</a:t>
            </a:r>
            <a:br>
              <a:rPr lang="en-GB" sz="1800"/>
            </a:br>
            <a:r>
              <a:rPr lang="en-GB" sz="1800"/>
              <a:t>AAC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ABA</a:t>
            </a:r>
            <a:br>
              <a:rPr lang="en-GB" sz="1800"/>
            </a:br>
            <a:r>
              <a:rPr lang="en-GB" sz="1800"/>
              <a:t>ABB</a:t>
            </a:r>
            <a:br>
              <a:rPr lang="en-GB" sz="1800"/>
            </a:br>
            <a:r>
              <a:rPr lang="en-GB" sz="1800"/>
              <a:t>ABC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ACA</a:t>
            </a:r>
            <a:br>
              <a:rPr lang="en-GB" sz="1800"/>
            </a:br>
            <a:r>
              <a:rPr lang="en-GB" sz="1800"/>
              <a:t>ACB</a:t>
            </a:r>
            <a:br>
              <a:rPr lang="en-GB" sz="1800"/>
            </a:br>
            <a:r>
              <a:rPr lang="en-GB" sz="1800"/>
              <a:t>ACC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55" name="Google Shape;1255;p90"/>
          <p:cNvSpPr txBox="1"/>
          <p:nvPr>
            <p:ph idx="1" type="body"/>
          </p:nvPr>
        </p:nvSpPr>
        <p:spPr>
          <a:xfrm>
            <a:off x="324000" y="759300"/>
            <a:ext cx="8496000" cy="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Jun is going to spin the spinner </a:t>
            </a:r>
            <a:r>
              <a:rPr lang="en-GB" sz="2000">
                <a:solidFill>
                  <a:schemeClr val="accent5"/>
                </a:solidFill>
              </a:rPr>
              <a:t>three times</a:t>
            </a:r>
            <a:r>
              <a:rPr lang="en-GB" sz="2000"/>
              <a:t>. He wants to list all possible outcomes. How could he do this systematically?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56" name="Google Shape;125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 for three-stage trials</a:t>
            </a:r>
            <a:endParaRPr/>
          </a:p>
        </p:txBody>
      </p:sp>
      <p:pic>
        <p:nvPicPr>
          <p:cNvPr id="1257" name="Google Shape;125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3855299" y="3328747"/>
            <a:ext cx="4448876" cy="15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90"/>
          <p:cNvSpPr txBox="1"/>
          <p:nvPr>
            <p:ph idx="1" type="body"/>
          </p:nvPr>
        </p:nvSpPr>
        <p:spPr>
          <a:xfrm>
            <a:off x="3978600" y="3809273"/>
            <a:ext cx="4163700" cy="10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Then, I can copy all of the outcomes so far and cycle through the different possibilities for the </a:t>
            </a:r>
            <a:r>
              <a:rPr lang="en-GB" sz="1800">
                <a:solidFill>
                  <a:schemeClr val="accent5"/>
                </a:solidFill>
              </a:rPr>
              <a:t>first spin</a:t>
            </a:r>
            <a:r>
              <a:rPr lang="en-GB" sz="1800"/>
              <a:t>.</a:t>
            </a:r>
            <a:endParaRPr sz="1600"/>
          </a:p>
        </p:txBody>
      </p:sp>
      <p:sp>
        <p:nvSpPr>
          <p:cNvPr id="1259" name="Google Shape;1259;p90"/>
          <p:cNvSpPr/>
          <p:nvPr/>
        </p:nvSpPr>
        <p:spPr>
          <a:xfrm>
            <a:off x="5842400" y="16872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90"/>
          <p:cNvSpPr/>
          <p:nvPr/>
        </p:nvSpPr>
        <p:spPr>
          <a:xfrm rot="7199661">
            <a:off x="5857209" y="1702128"/>
            <a:ext cx="1666484" cy="1666484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90"/>
          <p:cNvSpPr/>
          <p:nvPr/>
        </p:nvSpPr>
        <p:spPr>
          <a:xfrm rot="-7211867">
            <a:off x="5857277" y="1702188"/>
            <a:ext cx="1666446" cy="1666446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90"/>
          <p:cNvSpPr/>
          <p:nvPr/>
        </p:nvSpPr>
        <p:spPr>
          <a:xfrm>
            <a:off x="5857277" y="1702188"/>
            <a:ext cx="1666500" cy="1666500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90"/>
          <p:cNvSpPr txBox="1"/>
          <p:nvPr/>
        </p:nvSpPr>
        <p:spPr>
          <a:xfrm>
            <a:off x="6875726" y="2095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90"/>
          <p:cNvSpPr txBox="1"/>
          <p:nvPr/>
        </p:nvSpPr>
        <p:spPr>
          <a:xfrm>
            <a:off x="6570926" y="27055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90"/>
          <p:cNvSpPr txBox="1"/>
          <p:nvPr/>
        </p:nvSpPr>
        <p:spPr>
          <a:xfrm>
            <a:off x="6113726" y="2095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6" name="Google Shape;1266;p90"/>
          <p:cNvGrpSpPr/>
          <p:nvPr/>
        </p:nvGrpSpPr>
        <p:grpSpPr>
          <a:xfrm>
            <a:off x="6641709" y="1772006"/>
            <a:ext cx="93900" cy="816939"/>
            <a:chOff x="996050" y="213293"/>
            <a:chExt cx="93900" cy="909732"/>
          </a:xfrm>
        </p:grpSpPr>
        <p:cxnSp>
          <p:nvCxnSpPr>
            <p:cNvPr id="1267" name="Google Shape;1267;p9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68" name="Google Shape;1268;p9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9" name="Google Shape;1269;p90"/>
          <p:cNvSpPr txBox="1"/>
          <p:nvPr>
            <p:ph idx="1" type="body"/>
          </p:nvPr>
        </p:nvSpPr>
        <p:spPr>
          <a:xfrm>
            <a:off x="857400" y="1597500"/>
            <a:ext cx="680100" cy="31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A</a:t>
            </a:r>
            <a:r>
              <a:rPr lang="en-GB" sz="1800"/>
              <a:t>AA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A</a:t>
            </a:r>
            <a:r>
              <a:rPr lang="en-GB" sz="1800"/>
              <a:t>AB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A</a:t>
            </a:r>
            <a:r>
              <a:rPr lang="en-GB" sz="1800"/>
              <a:t>AC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A</a:t>
            </a:r>
            <a:r>
              <a:rPr lang="en-GB" sz="1800"/>
              <a:t>BA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A</a:t>
            </a:r>
            <a:r>
              <a:rPr lang="en-GB" sz="1800"/>
              <a:t>BB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A</a:t>
            </a:r>
            <a:r>
              <a:rPr lang="en-GB" sz="1800"/>
              <a:t>BC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A</a:t>
            </a:r>
            <a:r>
              <a:rPr lang="en-GB" sz="1800"/>
              <a:t>CA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A</a:t>
            </a:r>
            <a:r>
              <a:rPr lang="en-GB" sz="1800"/>
              <a:t>CB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A</a:t>
            </a:r>
            <a:r>
              <a:rPr lang="en-GB" sz="1800"/>
              <a:t>CC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270" name="Google Shape;1270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02325" y="2622192"/>
            <a:ext cx="629999" cy="78783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90"/>
          <p:cNvSpPr txBox="1"/>
          <p:nvPr>
            <p:ph idx="1" type="body"/>
          </p:nvPr>
        </p:nvSpPr>
        <p:spPr>
          <a:xfrm>
            <a:off x="1924200" y="1597500"/>
            <a:ext cx="680100" cy="31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B</a:t>
            </a:r>
            <a:r>
              <a:rPr lang="en-GB" sz="1800"/>
              <a:t>AA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B</a:t>
            </a:r>
            <a:r>
              <a:rPr lang="en-GB" sz="1800"/>
              <a:t>AB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B</a:t>
            </a:r>
            <a:r>
              <a:rPr lang="en-GB" sz="1800"/>
              <a:t>AC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B</a:t>
            </a:r>
            <a:r>
              <a:rPr lang="en-GB" sz="1800"/>
              <a:t>BA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B</a:t>
            </a:r>
            <a:r>
              <a:rPr lang="en-GB" sz="1800"/>
              <a:t>BB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B</a:t>
            </a:r>
            <a:r>
              <a:rPr lang="en-GB" sz="1800"/>
              <a:t>BC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B</a:t>
            </a:r>
            <a:r>
              <a:rPr lang="en-GB" sz="1800"/>
              <a:t>CA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B</a:t>
            </a:r>
            <a:r>
              <a:rPr lang="en-GB" sz="1800"/>
              <a:t>CB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B</a:t>
            </a:r>
            <a:r>
              <a:rPr lang="en-GB" sz="1800"/>
              <a:t>CC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72" name="Google Shape;1272;p90"/>
          <p:cNvSpPr txBox="1"/>
          <p:nvPr>
            <p:ph idx="1" type="body"/>
          </p:nvPr>
        </p:nvSpPr>
        <p:spPr>
          <a:xfrm>
            <a:off x="2914800" y="1597500"/>
            <a:ext cx="680100" cy="31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C</a:t>
            </a:r>
            <a:r>
              <a:rPr lang="en-GB" sz="1800"/>
              <a:t>AA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C</a:t>
            </a:r>
            <a:r>
              <a:rPr lang="en-GB" sz="1800"/>
              <a:t>AB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C</a:t>
            </a:r>
            <a:r>
              <a:rPr lang="en-GB" sz="1800"/>
              <a:t>AC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C</a:t>
            </a:r>
            <a:r>
              <a:rPr lang="en-GB" sz="1800"/>
              <a:t>BA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C</a:t>
            </a:r>
            <a:r>
              <a:rPr lang="en-GB" sz="1800"/>
              <a:t>BB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C</a:t>
            </a:r>
            <a:r>
              <a:rPr lang="en-GB" sz="1800"/>
              <a:t>BC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C</a:t>
            </a:r>
            <a:r>
              <a:rPr lang="en-GB" sz="1800"/>
              <a:t>CA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C</a:t>
            </a:r>
            <a:r>
              <a:rPr lang="en-GB" sz="1800"/>
              <a:t>CB</a:t>
            </a:r>
            <a:br>
              <a:rPr lang="en-GB" sz="1800"/>
            </a:br>
            <a:r>
              <a:rPr lang="en-GB" sz="1800">
                <a:solidFill>
                  <a:schemeClr val="accent5"/>
                </a:solidFill>
              </a:rPr>
              <a:t>C</a:t>
            </a:r>
            <a:r>
              <a:rPr lang="en-GB" sz="1800"/>
              <a:t>CC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 for three-stage trials</a:t>
            </a:r>
            <a:endParaRPr/>
          </a:p>
        </p:txBody>
      </p:sp>
      <p:sp>
        <p:nvSpPr>
          <p:cNvPr id="1278" name="Google Shape;1278;p91"/>
          <p:cNvSpPr txBox="1"/>
          <p:nvPr>
            <p:ph idx="1" type="body"/>
          </p:nvPr>
        </p:nvSpPr>
        <p:spPr>
          <a:xfrm>
            <a:off x="324000" y="759300"/>
            <a:ext cx="8496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coin is flipped, a regular six-sided die is rolled and the spinner below is spun.</a:t>
            </a:r>
            <a:endParaRPr/>
          </a:p>
        </p:txBody>
      </p:sp>
      <p:sp>
        <p:nvSpPr>
          <p:cNvPr id="1279" name="Google Shape;1279;p91"/>
          <p:cNvSpPr txBox="1"/>
          <p:nvPr>
            <p:ph idx="1" type="body"/>
          </p:nvPr>
        </p:nvSpPr>
        <p:spPr>
          <a:xfrm>
            <a:off x="324000" y="2588100"/>
            <a:ext cx="8237700" cy="4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Write down the three remaining possible outcomes</a:t>
            </a:r>
            <a:r>
              <a:rPr lang="en-GB" sz="2000"/>
              <a:t>.</a:t>
            </a:r>
            <a:endParaRPr/>
          </a:p>
        </p:txBody>
      </p:sp>
      <p:sp>
        <p:nvSpPr>
          <p:cNvPr id="1280" name="Google Shape;1280;p91"/>
          <p:cNvSpPr/>
          <p:nvPr/>
        </p:nvSpPr>
        <p:spPr>
          <a:xfrm>
            <a:off x="5205296" y="1354963"/>
            <a:ext cx="989100" cy="9891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91"/>
          <p:cNvSpPr/>
          <p:nvPr/>
        </p:nvSpPr>
        <p:spPr>
          <a:xfrm rot="7199959">
            <a:off x="5213749" y="1363543"/>
            <a:ext cx="972020" cy="972020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91"/>
          <p:cNvSpPr/>
          <p:nvPr/>
        </p:nvSpPr>
        <p:spPr>
          <a:xfrm rot="-7211414">
            <a:off x="5214072" y="1363766"/>
            <a:ext cx="971817" cy="971817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91"/>
          <p:cNvSpPr/>
          <p:nvPr/>
        </p:nvSpPr>
        <p:spPr>
          <a:xfrm>
            <a:off x="5213972" y="1363675"/>
            <a:ext cx="972000" cy="972000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91"/>
          <p:cNvSpPr txBox="1"/>
          <p:nvPr/>
        </p:nvSpPr>
        <p:spPr>
          <a:xfrm>
            <a:off x="5807922" y="1517107"/>
            <a:ext cx="36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91"/>
          <p:cNvSpPr txBox="1"/>
          <p:nvPr/>
        </p:nvSpPr>
        <p:spPr>
          <a:xfrm>
            <a:off x="5553966" y="1948827"/>
            <a:ext cx="36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91"/>
          <p:cNvSpPr txBox="1"/>
          <p:nvPr/>
        </p:nvSpPr>
        <p:spPr>
          <a:xfrm>
            <a:off x="5287331" y="1517107"/>
            <a:ext cx="36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7" name="Google Shape;1287;p91"/>
          <p:cNvGrpSpPr/>
          <p:nvPr/>
        </p:nvGrpSpPr>
        <p:grpSpPr>
          <a:xfrm>
            <a:off x="5671455" y="1404389"/>
            <a:ext cx="54762" cy="476427"/>
            <a:chOff x="996050" y="213293"/>
            <a:chExt cx="93900" cy="909732"/>
          </a:xfrm>
        </p:grpSpPr>
        <p:cxnSp>
          <p:nvCxnSpPr>
            <p:cNvPr id="1288" name="Google Shape;1288;p9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89" name="Google Shape;1289;p9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0" name="Google Shape;1290;p91"/>
          <p:cNvGrpSpPr/>
          <p:nvPr/>
        </p:nvGrpSpPr>
        <p:grpSpPr>
          <a:xfrm>
            <a:off x="5425284" y="4579045"/>
            <a:ext cx="1608455" cy="0"/>
            <a:chOff x="4675007" y="4625100"/>
            <a:chExt cx="1608455" cy="0"/>
          </a:xfrm>
        </p:grpSpPr>
        <p:cxnSp>
          <p:nvCxnSpPr>
            <p:cNvPr id="1291" name="Google Shape;1291;p91"/>
            <p:cNvCxnSpPr/>
            <p:nvPr/>
          </p:nvCxnSpPr>
          <p:spPr>
            <a:xfrm>
              <a:off x="4675007" y="4625100"/>
              <a:ext cx="419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2" name="Google Shape;1292;p91"/>
            <p:cNvCxnSpPr/>
            <p:nvPr/>
          </p:nvCxnSpPr>
          <p:spPr>
            <a:xfrm>
              <a:off x="5284607" y="4625100"/>
              <a:ext cx="419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3" name="Google Shape;1293;p91"/>
            <p:cNvCxnSpPr/>
            <p:nvPr/>
          </p:nvCxnSpPr>
          <p:spPr>
            <a:xfrm>
              <a:off x="5864062" y="4625100"/>
              <a:ext cx="419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94" name="Google Shape;1294;p91"/>
          <p:cNvSpPr txBox="1"/>
          <p:nvPr>
            <p:ph idx="1" type="body"/>
          </p:nvPr>
        </p:nvSpPr>
        <p:spPr>
          <a:xfrm>
            <a:off x="1071975" y="3083400"/>
            <a:ext cx="7289700" cy="15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H1A, </a:t>
            </a:r>
            <a:r>
              <a:rPr lang="en-GB" sz="2000"/>
              <a:t>H1B, H1C,      </a:t>
            </a:r>
            <a:r>
              <a:rPr lang="en-GB" sz="2000"/>
              <a:t>H</a:t>
            </a:r>
            <a:r>
              <a:rPr lang="en-GB" sz="2000"/>
              <a:t>2A</a:t>
            </a:r>
            <a:r>
              <a:rPr lang="en-GB" sz="2000"/>
              <a:t>, </a:t>
            </a:r>
            <a:r>
              <a:rPr lang="en-GB" sz="2000"/>
              <a:t>H2B, H2C,    </a:t>
            </a:r>
            <a:r>
              <a:rPr lang="en-GB" sz="2000"/>
              <a:t>H3A, </a:t>
            </a:r>
            <a:r>
              <a:rPr lang="en-GB" sz="2000"/>
              <a:t>H3B, H3C,</a:t>
            </a:r>
            <a:br>
              <a:rPr lang="en-GB" sz="2000"/>
            </a:br>
            <a:r>
              <a:rPr lang="en-GB" sz="2000"/>
              <a:t>H4A, </a:t>
            </a:r>
            <a:r>
              <a:rPr lang="en-GB" sz="2000"/>
              <a:t>H4B, H4C,    H5A,</a:t>
            </a:r>
            <a:r>
              <a:rPr lang="en-GB" sz="2000"/>
              <a:t> </a:t>
            </a:r>
            <a:r>
              <a:rPr lang="en-GB" sz="2000"/>
              <a:t>H5B, H5C,    </a:t>
            </a:r>
            <a:r>
              <a:rPr lang="en-GB" sz="2000"/>
              <a:t>H6A, </a:t>
            </a:r>
            <a:r>
              <a:rPr lang="en-GB" sz="2000"/>
              <a:t>H6B, H6C,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T1A, </a:t>
            </a:r>
            <a:r>
              <a:rPr lang="en-GB" sz="2000"/>
              <a:t>T1B, T1C,       </a:t>
            </a:r>
            <a:r>
              <a:rPr lang="en-GB" sz="2000"/>
              <a:t>T2A, </a:t>
            </a:r>
            <a:r>
              <a:rPr lang="en-GB" sz="2000"/>
              <a:t>T2B, T2C,      </a:t>
            </a:r>
            <a:r>
              <a:rPr lang="en-GB" sz="2000"/>
              <a:t>T3A, </a:t>
            </a:r>
            <a:r>
              <a:rPr lang="en-GB" sz="2000"/>
              <a:t>T3B, T3C, </a:t>
            </a:r>
            <a:br>
              <a:rPr lang="en-GB" sz="2000"/>
            </a:br>
            <a:r>
              <a:rPr lang="en-GB" sz="2000"/>
              <a:t>T4A, </a:t>
            </a:r>
            <a:r>
              <a:rPr lang="en-GB" sz="2000"/>
              <a:t>T4B, T4C,      </a:t>
            </a:r>
            <a:r>
              <a:rPr lang="en-GB" sz="2000"/>
              <a:t>T5A, </a:t>
            </a:r>
            <a:r>
              <a:rPr lang="en-GB" sz="2000"/>
              <a:t>T5B, T5C,            ,       ,         </a:t>
            </a:r>
            <a:endParaRPr sz="2000"/>
          </a:p>
        </p:txBody>
      </p:sp>
      <p:sp>
        <p:nvSpPr>
          <p:cNvPr id="1295" name="Google Shape;1295;p91"/>
          <p:cNvSpPr txBox="1"/>
          <p:nvPr>
            <p:ph idx="1" type="body"/>
          </p:nvPr>
        </p:nvSpPr>
        <p:spPr>
          <a:xfrm>
            <a:off x="5387605" y="4276648"/>
            <a:ext cx="3714600" cy="4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T6A T6B T6C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96" name="Google Shape;129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8800" y="1304563"/>
            <a:ext cx="1040567" cy="9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9375" y="1339088"/>
            <a:ext cx="937976" cy="9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92"/>
          <p:cNvSpPr txBox="1"/>
          <p:nvPr>
            <p:ph idx="1" type="body"/>
          </p:nvPr>
        </p:nvSpPr>
        <p:spPr>
          <a:xfrm>
            <a:off x="4675847" y="4114200"/>
            <a:ext cx="3714600" cy="4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T1C </a:t>
            </a:r>
            <a:r>
              <a:rPr lang="en-GB" sz="14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T2C T3C T4C T5C 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T6C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3" name="Google Shape;130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 for three-stage trials</a:t>
            </a:r>
            <a:endParaRPr/>
          </a:p>
        </p:txBody>
      </p:sp>
      <p:sp>
        <p:nvSpPr>
          <p:cNvPr id="1304" name="Google Shape;1304;p92"/>
          <p:cNvSpPr txBox="1"/>
          <p:nvPr>
            <p:ph idx="1" type="body"/>
          </p:nvPr>
        </p:nvSpPr>
        <p:spPr>
          <a:xfrm>
            <a:off x="324000" y="759300"/>
            <a:ext cx="8496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coin is flipped, a regular six-sided die is rolled and the spinner below is spun.</a:t>
            </a:r>
            <a:endParaRPr/>
          </a:p>
        </p:txBody>
      </p:sp>
      <p:sp>
        <p:nvSpPr>
          <p:cNvPr id="1305" name="Google Shape;1305;p92"/>
          <p:cNvSpPr txBox="1"/>
          <p:nvPr>
            <p:ph idx="1" type="body"/>
          </p:nvPr>
        </p:nvSpPr>
        <p:spPr>
          <a:xfrm>
            <a:off x="324000" y="2588100"/>
            <a:ext cx="8237700" cy="4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Write down the six remaining possible outcomes.</a:t>
            </a:r>
            <a:endParaRPr/>
          </a:p>
        </p:txBody>
      </p:sp>
      <p:sp>
        <p:nvSpPr>
          <p:cNvPr id="1306" name="Google Shape;1306;p92"/>
          <p:cNvSpPr txBox="1"/>
          <p:nvPr>
            <p:ph idx="1" type="body"/>
          </p:nvPr>
        </p:nvSpPr>
        <p:spPr>
          <a:xfrm>
            <a:off x="769547" y="3159600"/>
            <a:ext cx="7600800" cy="15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H1A, H2A, H3A, H4A, H5A, H6A, T1A, T2A, T3A, T4A, T5A, T6A,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H1B, H2B, H3B, H4B, H5B, H6B, T1B, T2B, T3B, T4B, T5B, T6B,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H1C, H2C, H3C, H4C, H5C, H6C,       </a:t>
            </a:r>
            <a:r>
              <a:rPr lang="en-GB" sz="1600"/>
              <a:t> </a:t>
            </a:r>
            <a:r>
              <a:rPr lang="en-GB" sz="2000"/>
              <a:t>,        ,       ,       </a:t>
            </a:r>
            <a:r>
              <a:rPr lang="en-GB" sz="1100"/>
              <a:t> </a:t>
            </a:r>
            <a:r>
              <a:rPr lang="en-GB" sz="2000"/>
              <a:t>,       </a:t>
            </a:r>
            <a:r>
              <a:rPr lang="en-GB" sz="1400"/>
              <a:t> </a:t>
            </a:r>
            <a:r>
              <a:rPr lang="en-GB" sz="2000"/>
              <a:t>, </a:t>
            </a:r>
            <a:endParaRPr sz="2000"/>
          </a:p>
        </p:txBody>
      </p:sp>
      <p:sp>
        <p:nvSpPr>
          <p:cNvPr id="1307" name="Google Shape;1307;p92"/>
          <p:cNvSpPr/>
          <p:nvPr/>
        </p:nvSpPr>
        <p:spPr>
          <a:xfrm>
            <a:off x="5205296" y="1354963"/>
            <a:ext cx="989100" cy="9891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92"/>
          <p:cNvSpPr/>
          <p:nvPr/>
        </p:nvSpPr>
        <p:spPr>
          <a:xfrm rot="7199959">
            <a:off x="5213749" y="1363543"/>
            <a:ext cx="972020" cy="972020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92"/>
          <p:cNvSpPr/>
          <p:nvPr/>
        </p:nvSpPr>
        <p:spPr>
          <a:xfrm rot="-7211414">
            <a:off x="5214072" y="1363766"/>
            <a:ext cx="971817" cy="971817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92"/>
          <p:cNvSpPr/>
          <p:nvPr/>
        </p:nvSpPr>
        <p:spPr>
          <a:xfrm>
            <a:off x="5213972" y="1363675"/>
            <a:ext cx="972000" cy="972000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92"/>
          <p:cNvSpPr txBox="1"/>
          <p:nvPr/>
        </p:nvSpPr>
        <p:spPr>
          <a:xfrm>
            <a:off x="5807922" y="1517107"/>
            <a:ext cx="36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92"/>
          <p:cNvSpPr txBox="1"/>
          <p:nvPr/>
        </p:nvSpPr>
        <p:spPr>
          <a:xfrm>
            <a:off x="5553966" y="1948827"/>
            <a:ext cx="36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92"/>
          <p:cNvSpPr txBox="1"/>
          <p:nvPr/>
        </p:nvSpPr>
        <p:spPr>
          <a:xfrm>
            <a:off x="5287331" y="1517107"/>
            <a:ext cx="36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14" name="Google Shape;1314;p92"/>
          <p:cNvGrpSpPr/>
          <p:nvPr/>
        </p:nvGrpSpPr>
        <p:grpSpPr>
          <a:xfrm>
            <a:off x="5671455" y="1404389"/>
            <a:ext cx="54762" cy="476427"/>
            <a:chOff x="996050" y="213293"/>
            <a:chExt cx="93900" cy="909732"/>
          </a:xfrm>
        </p:grpSpPr>
        <p:cxnSp>
          <p:nvCxnSpPr>
            <p:cNvPr id="1315" name="Google Shape;1315;p9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16" name="Google Shape;1316;p9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92"/>
          <p:cNvGrpSpPr/>
          <p:nvPr/>
        </p:nvGrpSpPr>
        <p:grpSpPr>
          <a:xfrm>
            <a:off x="4675007" y="4396500"/>
            <a:ext cx="3437255" cy="0"/>
            <a:chOff x="4675007" y="4625100"/>
            <a:chExt cx="3437255" cy="0"/>
          </a:xfrm>
        </p:grpSpPr>
        <p:cxnSp>
          <p:nvCxnSpPr>
            <p:cNvPr id="1318" name="Google Shape;1318;p92"/>
            <p:cNvCxnSpPr/>
            <p:nvPr/>
          </p:nvCxnSpPr>
          <p:spPr>
            <a:xfrm>
              <a:off x="4675007" y="4625100"/>
              <a:ext cx="419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9" name="Google Shape;1319;p92"/>
            <p:cNvCxnSpPr/>
            <p:nvPr/>
          </p:nvCxnSpPr>
          <p:spPr>
            <a:xfrm>
              <a:off x="5284607" y="4625100"/>
              <a:ext cx="419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0" name="Google Shape;1320;p92"/>
            <p:cNvCxnSpPr/>
            <p:nvPr/>
          </p:nvCxnSpPr>
          <p:spPr>
            <a:xfrm>
              <a:off x="5864062" y="4625100"/>
              <a:ext cx="419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1" name="Google Shape;1321;p92"/>
            <p:cNvCxnSpPr/>
            <p:nvPr/>
          </p:nvCxnSpPr>
          <p:spPr>
            <a:xfrm>
              <a:off x="6473662" y="4625100"/>
              <a:ext cx="419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2" name="Google Shape;1322;p92"/>
            <p:cNvCxnSpPr/>
            <p:nvPr/>
          </p:nvCxnSpPr>
          <p:spPr>
            <a:xfrm>
              <a:off x="7083262" y="4625100"/>
              <a:ext cx="419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3" name="Google Shape;1323;p92"/>
            <p:cNvCxnSpPr/>
            <p:nvPr/>
          </p:nvCxnSpPr>
          <p:spPr>
            <a:xfrm>
              <a:off x="7692862" y="4625100"/>
              <a:ext cx="419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324" name="Google Shape;132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8800" y="1304563"/>
            <a:ext cx="1040567" cy="9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5" name="Google Shape;1325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9375" y="1339088"/>
            <a:ext cx="937976" cy="9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93"/>
          <p:cNvSpPr txBox="1"/>
          <p:nvPr>
            <p:ph idx="1" type="body"/>
          </p:nvPr>
        </p:nvSpPr>
        <p:spPr>
          <a:xfrm>
            <a:off x="324000" y="759300"/>
            <a:ext cx="80106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1) A flipped coin has two outcomes: ‘heads’ (H) and ‘tails’ (T).</a:t>
            </a:r>
            <a:r>
              <a:rPr lang="en-GB" sz="1600"/>
              <a:t>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Complete the list all possible outcomes for when a coin is flipped three times.</a:t>
            </a:r>
            <a:endParaRPr sz="1600"/>
          </a:p>
        </p:txBody>
      </p:sp>
      <p:sp>
        <p:nvSpPr>
          <p:cNvPr id="1331" name="Google Shape;1331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 for three-stage trials</a:t>
            </a:r>
            <a:endParaRPr/>
          </a:p>
        </p:txBody>
      </p:sp>
      <p:sp>
        <p:nvSpPr>
          <p:cNvPr id="1332" name="Google Shape;1332;p93"/>
          <p:cNvSpPr txBox="1"/>
          <p:nvPr>
            <p:ph idx="1" type="body"/>
          </p:nvPr>
        </p:nvSpPr>
        <p:spPr>
          <a:xfrm>
            <a:off x="324000" y="2588100"/>
            <a:ext cx="8496000" cy="9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2</a:t>
            </a:r>
            <a:r>
              <a:rPr lang="en-GB" sz="1600"/>
              <a:t>) A netball team plays three matches. Each match, the team could either win (W), </a:t>
            </a:r>
            <a:br>
              <a:rPr lang="en-GB" sz="1600"/>
            </a:br>
            <a:r>
              <a:rPr lang="en-GB" sz="1600"/>
              <a:t>    lose (L) or draw (D).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</a:t>
            </a:r>
            <a:r>
              <a:rPr lang="en-GB" sz="1600"/>
              <a:t>List all the possible outcomes</a:t>
            </a:r>
            <a:r>
              <a:rPr lang="en-GB" sz="1600"/>
              <a:t> for the results of the three matches.</a:t>
            </a:r>
            <a:endParaRPr sz="1600"/>
          </a:p>
        </p:txBody>
      </p:sp>
      <p:sp>
        <p:nvSpPr>
          <p:cNvPr id="1333" name="Google Shape;1333;p93"/>
          <p:cNvSpPr txBox="1"/>
          <p:nvPr>
            <p:ph idx="1" type="body"/>
          </p:nvPr>
        </p:nvSpPr>
        <p:spPr>
          <a:xfrm>
            <a:off x="1308175" y="1617321"/>
            <a:ext cx="70170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HHH</a:t>
            </a:r>
            <a:br>
              <a:rPr lang="en-GB" sz="1600"/>
            </a:br>
            <a:r>
              <a:rPr lang="en-GB" sz="1600"/>
              <a:t>HHT</a:t>
            </a:r>
            <a:endParaRPr sz="1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94"/>
          <p:cNvSpPr txBox="1"/>
          <p:nvPr>
            <p:ph idx="1" type="body"/>
          </p:nvPr>
        </p:nvSpPr>
        <p:spPr>
          <a:xfrm>
            <a:off x="324000" y="759300"/>
            <a:ext cx="5450400" cy="15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3</a:t>
            </a:r>
            <a:r>
              <a:rPr lang="en-GB" sz="1600"/>
              <a:t>) Here is a restaurant menu for three courses.</a:t>
            </a:r>
            <a:br>
              <a:rPr lang="en-GB" sz="1600"/>
            </a:br>
            <a:r>
              <a:rPr lang="en-GB" sz="1600"/>
              <a:t>    A customer chooses one starter, one main course </a:t>
            </a:r>
            <a:br>
              <a:rPr lang="en-GB" sz="1600"/>
            </a:br>
            <a:r>
              <a:rPr lang="en-GB" sz="1600"/>
              <a:t>    and one dessert.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List all the possible outcomes for a customer’s meal.</a:t>
            </a:r>
            <a:br>
              <a:rPr lang="en-GB" sz="1600"/>
            </a:br>
            <a:r>
              <a:rPr lang="en-GB" sz="1600"/>
              <a:t>    You may use your answers to Task A to help you.</a:t>
            </a:r>
            <a:endParaRPr sz="1600"/>
          </a:p>
        </p:txBody>
      </p:sp>
      <p:sp>
        <p:nvSpPr>
          <p:cNvPr id="1339" name="Google Shape;1339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 for </a:t>
            </a:r>
            <a:r>
              <a:rPr lang="en-GB"/>
              <a:t>three-stage trials</a:t>
            </a:r>
            <a:endParaRPr/>
          </a:p>
        </p:txBody>
      </p:sp>
      <p:sp>
        <p:nvSpPr>
          <p:cNvPr id="1340" name="Google Shape;1340;p94"/>
          <p:cNvSpPr/>
          <p:nvPr/>
        </p:nvSpPr>
        <p:spPr>
          <a:xfrm>
            <a:off x="6063925" y="802075"/>
            <a:ext cx="2385900" cy="4018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94"/>
          <p:cNvSpPr txBox="1"/>
          <p:nvPr>
            <p:ph idx="1" type="body"/>
          </p:nvPr>
        </p:nvSpPr>
        <p:spPr>
          <a:xfrm>
            <a:off x="6843925" y="867914"/>
            <a:ext cx="8355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 u="sng"/>
              <a:t>Starters</a:t>
            </a:r>
            <a:endParaRPr sz="1600" u="sng"/>
          </a:p>
        </p:txBody>
      </p:sp>
      <p:sp>
        <p:nvSpPr>
          <p:cNvPr id="1342" name="Google Shape;1342;p94"/>
          <p:cNvSpPr txBox="1"/>
          <p:nvPr>
            <p:ph idx="1" type="body"/>
          </p:nvPr>
        </p:nvSpPr>
        <p:spPr>
          <a:xfrm>
            <a:off x="6953495" y="2279620"/>
            <a:ext cx="6858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 u="sng"/>
              <a:t>Mains</a:t>
            </a:r>
            <a:endParaRPr sz="1600" u="sng"/>
          </a:p>
        </p:txBody>
      </p:sp>
      <p:sp>
        <p:nvSpPr>
          <p:cNvPr id="1343" name="Google Shape;1343;p94"/>
          <p:cNvSpPr txBox="1"/>
          <p:nvPr>
            <p:ph idx="1" type="body"/>
          </p:nvPr>
        </p:nvSpPr>
        <p:spPr>
          <a:xfrm>
            <a:off x="6267702" y="1172725"/>
            <a:ext cx="5922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</a:t>
            </a:r>
            <a:r>
              <a:rPr lang="en-GB" sz="1600"/>
              <a:t>oup</a:t>
            </a:r>
            <a:endParaRPr sz="1600"/>
          </a:p>
        </p:txBody>
      </p:sp>
      <p:sp>
        <p:nvSpPr>
          <p:cNvPr id="1344" name="Google Shape;1344;p94"/>
          <p:cNvSpPr txBox="1"/>
          <p:nvPr>
            <p:ph idx="1" type="body"/>
          </p:nvPr>
        </p:nvSpPr>
        <p:spPr>
          <a:xfrm>
            <a:off x="6267699" y="1477525"/>
            <a:ext cx="957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r>
              <a:rPr lang="en-GB" sz="1600"/>
              <a:t>alamari</a:t>
            </a:r>
            <a:endParaRPr sz="1600"/>
          </a:p>
        </p:txBody>
      </p:sp>
      <p:sp>
        <p:nvSpPr>
          <p:cNvPr id="1345" name="Google Shape;1345;p94"/>
          <p:cNvSpPr txBox="1"/>
          <p:nvPr>
            <p:ph idx="1" type="body"/>
          </p:nvPr>
        </p:nvSpPr>
        <p:spPr>
          <a:xfrm>
            <a:off x="6267700" y="1782325"/>
            <a:ext cx="14118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</a:t>
            </a:r>
            <a:r>
              <a:rPr lang="en-GB" sz="1600"/>
              <a:t>eatballs</a:t>
            </a:r>
            <a:endParaRPr sz="1600"/>
          </a:p>
        </p:txBody>
      </p:sp>
      <p:sp>
        <p:nvSpPr>
          <p:cNvPr id="1346" name="Google Shape;1346;p94"/>
          <p:cNvSpPr txBox="1"/>
          <p:nvPr>
            <p:ph idx="1" type="body"/>
          </p:nvPr>
        </p:nvSpPr>
        <p:spPr>
          <a:xfrm>
            <a:off x="6267697" y="2600472"/>
            <a:ext cx="1554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</a:t>
            </a:r>
            <a:r>
              <a:rPr lang="en-GB" sz="1600"/>
              <a:t>asagne</a:t>
            </a:r>
            <a:endParaRPr sz="1600"/>
          </a:p>
        </p:txBody>
      </p:sp>
      <p:sp>
        <p:nvSpPr>
          <p:cNvPr id="1347" name="Google Shape;1347;p94"/>
          <p:cNvSpPr txBox="1"/>
          <p:nvPr>
            <p:ph idx="1" type="body"/>
          </p:nvPr>
        </p:nvSpPr>
        <p:spPr>
          <a:xfrm>
            <a:off x="6267701" y="2895246"/>
            <a:ext cx="15201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</a:t>
            </a:r>
            <a:r>
              <a:rPr lang="en-GB" sz="1600"/>
              <a:t>avioli</a:t>
            </a:r>
            <a:endParaRPr sz="1600"/>
          </a:p>
        </p:txBody>
      </p:sp>
      <p:sp>
        <p:nvSpPr>
          <p:cNvPr id="1348" name="Google Shape;1348;p94"/>
          <p:cNvSpPr txBox="1"/>
          <p:nvPr>
            <p:ph idx="1" type="body"/>
          </p:nvPr>
        </p:nvSpPr>
        <p:spPr>
          <a:xfrm>
            <a:off x="6267700" y="3190020"/>
            <a:ext cx="14118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olognese</a:t>
            </a:r>
            <a:endParaRPr sz="1600"/>
          </a:p>
        </p:txBody>
      </p:sp>
      <p:sp>
        <p:nvSpPr>
          <p:cNvPr id="1349" name="Google Shape;1349;p94"/>
          <p:cNvSpPr txBox="1"/>
          <p:nvPr>
            <p:ph idx="1" type="body"/>
          </p:nvPr>
        </p:nvSpPr>
        <p:spPr>
          <a:xfrm>
            <a:off x="6267700" y="3494820"/>
            <a:ext cx="14118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P</a:t>
            </a:r>
            <a:r>
              <a:rPr lang="en-GB" sz="1600"/>
              <a:t>izza</a:t>
            </a:r>
            <a:endParaRPr sz="1600"/>
          </a:p>
        </p:txBody>
      </p:sp>
      <p:sp>
        <p:nvSpPr>
          <p:cNvPr id="1350" name="Google Shape;1350;p94"/>
          <p:cNvSpPr txBox="1"/>
          <p:nvPr>
            <p:ph idx="1" type="body"/>
          </p:nvPr>
        </p:nvSpPr>
        <p:spPr>
          <a:xfrm>
            <a:off x="6877300" y="3843725"/>
            <a:ext cx="957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 u="sng"/>
              <a:t>Desserts</a:t>
            </a:r>
            <a:endParaRPr sz="1600" u="sng"/>
          </a:p>
        </p:txBody>
      </p:sp>
      <p:sp>
        <p:nvSpPr>
          <p:cNvPr id="1351" name="Google Shape;1351;p94"/>
          <p:cNvSpPr txBox="1"/>
          <p:nvPr>
            <p:ph idx="1" type="body"/>
          </p:nvPr>
        </p:nvSpPr>
        <p:spPr>
          <a:xfrm>
            <a:off x="6267697" y="4148525"/>
            <a:ext cx="1554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</a:t>
            </a:r>
            <a:r>
              <a:rPr lang="en-GB" sz="1600"/>
              <a:t>ce cream</a:t>
            </a:r>
            <a:endParaRPr sz="1600"/>
          </a:p>
        </p:txBody>
      </p:sp>
      <p:sp>
        <p:nvSpPr>
          <p:cNvPr id="1352" name="Google Shape;1352;p94"/>
          <p:cNvSpPr txBox="1"/>
          <p:nvPr>
            <p:ph idx="1" type="body"/>
          </p:nvPr>
        </p:nvSpPr>
        <p:spPr>
          <a:xfrm>
            <a:off x="6267697" y="4453325"/>
            <a:ext cx="1554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</a:t>
            </a:r>
            <a:r>
              <a:rPr lang="en-GB" sz="1600"/>
              <a:t>iramisu</a:t>
            </a:r>
            <a:endParaRPr sz="1600"/>
          </a:p>
        </p:txBody>
      </p:sp>
      <p:sp>
        <p:nvSpPr>
          <p:cNvPr id="1353" name="Google Shape;1353;p94"/>
          <p:cNvSpPr txBox="1"/>
          <p:nvPr>
            <p:ph idx="1" type="body"/>
          </p:nvPr>
        </p:nvSpPr>
        <p:spPr>
          <a:xfrm>
            <a:off x="6808650" y="1172725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(S)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54" name="Google Shape;1354;p94"/>
          <p:cNvSpPr txBox="1"/>
          <p:nvPr>
            <p:ph idx="1" type="body"/>
          </p:nvPr>
        </p:nvSpPr>
        <p:spPr>
          <a:xfrm>
            <a:off x="7243792" y="1477525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(C)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55" name="Google Shape;1355;p94"/>
          <p:cNvSpPr txBox="1"/>
          <p:nvPr>
            <p:ph idx="1" type="body"/>
          </p:nvPr>
        </p:nvSpPr>
        <p:spPr>
          <a:xfrm>
            <a:off x="7299939" y="1782325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(M)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56" name="Google Shape;1356;p94"/>
          <p:cNvSpPr txBox="1"/>
          <p:nvPr>
            <p:ph idx="1" type="body"/>
          </p:nvPr>
        </p:nvSpPr>
        <p:spPr>
          <a:xfrm>
            <a:off x="7121471" y="2600472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(L)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57" name="Google Shape;1357;p94"/>
          <p:cNvSpPr txBox="1"/>
          <p:nvPr>
            <p:ph idx="1" type="body"/>
          </p:nvPr>
        </p:nvSpPr>
        <p:spPr>
          <a:xfrm>
            <a:off x="6959045" y="2895246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(R)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58" name="Google Shape;1358;p94"/>
          <p:cNvSpPr txBox="1"/>
          <p:nvPr>
            <p:ph idx="1" type="body"/>
          </p:nvPr>
        </p:nvSpPr>
        <p:spPr>
          <a:xfrm>
            <a:off x="7442313" y="3190020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(B)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59" name="Google Shape;1359;p94"/>
          <p:cNvSpPr txBox="1"/>
          <p:nvPr>
            <p:ph idx="1" type="body"/>
          </p:nvPr>
        </p:nvSpPr>
        <p:spPr>
          <a:xfrm>
            <a:off x="6832713" y="3494820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(P)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60" name="Google Shape;1360;p94"/>
          <p:cNvSpPr txBox="1"/>
          <p:nvPr>
            <p:ph idx="1" type="body"/>
          </p:nvPr>
        </p:nvSpPr>
        <p:spPr>
          <a:xfrm>
            <a:off x="7293924" y="4144525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(I)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61" name="Google Shape;1361;p94"/>
          <p:cNvSpPr txBox="1"/>
          <p:nvPr>
            <p:ph idx="1" type="body"/>
          </p:nvPr>
        </p:nvSpPr>
        <p:spPr>
          <a:xfrm>
            <a:off x="7141524" y="4449325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(T)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95"/>
          <p:cNvSpPr txBox="1"/>
          <p:nvPr>
            <p:ph idx="1" type="body"/>
          </p:nvPr>
        </p:nvSpPr>
        <p:spPr>
          <a:xfrm>
            <a:off x="324000" y="759300"/>
            <a:ext cx="8237700" cy="72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1) A flipped coin has two outcomes: ‘heads’ (H) and ‘tails’ (T).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Complete the list all possible outcomes for when a coin is flipped three times.</a:t>
            </a:r>
            <a:endParaRPr sz="1600"/>
          </a:p>
        </p:txBody>
      </p:sp>
      <p:sp>
        <p:nvSpPr>
          <p:cNvPr id="1367" name="Google Shape;1367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 for </a:t>
            </a:r>
            <a:r>
              <a:rPr lang="en-GB"/>
              <a:t>three-stage trials</a:t>
            </a:r>
            <a:endParaRPr/>
          </a:p>
        </p:txBody>
      </p:sp>
      <p:sp>
        <p:nvSpPr>
          <p:cNvPr id="1368" name="Google Shape;1368;p95"/>
          <p:cNvSpPr txBox="1"/>
          <p:nvPr>
            <p:ph idx="1" type="body"/>
          </p:nvPr>
        </p:nvSpPr>
        <p:spPr>
          <a:xfrm>
            <a:off x="1308175" y="1617321"/>
            <a:ext cx="70170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HHH</a:t>
            </a:r>
            <a:br>
              <a:rPr lang="en-GB" sz="1600"/>
            </a:br>
            <a:r>
              <a:rPr lang="en-GB" sz="1600"/>
              <a:t>HHT</a:t>
            </a:r>
            <a:endParaRPr sz="1600"/>
          </a:p>
        </p:txBody>
      </p:sp>
      <p:sp>
        <p:nvSpPr>
          <p:cNvPr id="1369" name="Google Shape;1369;p95"/>
          <p:cNvSpPr txBox="1"/>
          <p:nvPr>
            <p:ph idx="1" type="body"/>
          </p:nvPr>
        </p:nvSpPr>
        <p:spPr>
          <a:xfrm>
            <a:off x="1308175" y="2207100"/>
            <a:ext cx="6243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HTH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HTT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0" name="Google Shape;1370;p95"/>
          <p:cNvSpPr txBox="1"/>
          <p:nvPr>
            <p:ph idx="1" type="body"/>
          </p:nvPr>
        </p:nvSpPr>
        <p:spPr>
          <a:xfrm>
            <a:off x="1308175" y="2964300"/>
            <a:ext cx="6243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H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THT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TTH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TTT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 for </a:t>
            </a:r>
            <a:r>
              <a:rPr lang="en-GB"/>
              <a:t>three-stage trials</a:t>
            </a:r>
            <a:r>
              <a:rPr lang="en-GB"/>
              <a:t> </a:t>
            </a:r>
            <a:endParaRPr/>
          </a:p>
        </p:txBody>
      </p:sp>
      <p:sp>
        <p:nvSpPr>
          <p:cNvPr id="1376" name="Google Shape;1376;p96"/>
          <p:cNvSpPr txBox="1"/>
          <p:nvPr>
            <p:ph idx="1" type="body"/>
          </p:nvPr>
        </p:nvSpPr>
        <p:spPr>
          <a:xfrm>
            <a:off x="324000" y="759300"/>
            <a:ext cx="8496000" cy="9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2) A netball team plays three matches. Each match, the team could either win (W), </a:t>
            </a:r>
            <a:br>
              <a:rPr lang="en-GB" sz="1600"/>
            </a:br>
            <a:r>
              <a:rPr lang="en-GB" sz="1600"/>
              <a:t>    lose (L) or draw (D).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</a:t>
            </a:r>
            <a:r>
              <a:rPr lang="en-GB" sz="1600"/>
              <a:t>List all the possible outcomes</a:t>
            </a:r>
            <a:r>
              <a:rPr lang="en-GB" sz="1600"/>
              <a:t> for the results of the three matches.</a:t>
            </a:r>
            <a:endParaRPr sz="1600"/>
          </a:p>
        </p:txBody>
      </p:sp>
      <p:sp>
        <p:nvSpPr>
          <p:cNvPr id="1377" name="Google Shape;1377;p96"/>
          <p:cNvSpPr txBox="1"/>
          <p:nvPr>
            <p:ph idx="1" type="body"/>
          </p:nvPr>
        </p:nvSpPr>
        <p:spPr>
          <a:xfrm>
            <a:off x="1479300" y="1772950"/>
            <a:ext cx="612900" cy="3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WWW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WWL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WWD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WLW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WLL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WLD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WDW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WDL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WDD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8" name="Google Shape;1378;p96"/>
          <p:cNvSpPr txBox="1"/>
          <p:nvPr>
            <p:ph idx="1" type="body"/>
          </p:nvPr>
        </p:nvSpPr>
        <p:spPr>
          <a:xfrm>
            <a:off x="2546100" y="1772950"/>
            <a:ext cx="612900" cy="3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WW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LWL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LWD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LLW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LLL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LLD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LDW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LDL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LDD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9" name="Google Shape;1379;p96"/>
          <p:cNvSpPr txBox="1"/>
          <p:nvPr>
            <p:ph idx="1" type="body"/>
          </p:nvPr>
        </p:nvSpPr>
        <p:spPr>
          <a:xfrm>
            <a:off x="3612900" y="1772950"/>
            <a:ext cx="612900" cy="3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WW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DWL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DWD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DLW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DLL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DLD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DDW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DDL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DDD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97"/>
          <p:cNvSpPr txBox="1"/>
          <p:nvPr>
            <p:ph idx="1" type="body"/>
          </p:nvPr>
        </p:nvSpPr>
        <p:spPr>
          <a:xfrm>
            <a:off x="324000" y="759300"/>
            <a:ext cx="8237700" cy="153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3</a:t>
            </a:r>
            <a:r>
              <a:rPr lang="en-GB" sz="1600"/>
              <a:t>) Here is a restaurant menu for three courses.</a:t>
            </a:r>
            <a:br>
              <a:rPr lang="en-GB" sz="1600"/>
            </a:br>
            <a:r>
              <a:rPr lang="en-GB" sz="1600"/>
              <a:t>    A customer chooses one starter, one main course </a:t>
            </a:r>
            <a:br>
              <a:rPr lang="en-GB" sz="1600"/>
            </a:br>
            <a:r>
              <a:rPr lang="en-GB" sz="1600"/>
              <a:t>    and one dessert.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List all the possible outcomes for a customer’s meal.</a:t>
            </a:r>
            <a:br>
              <a:rPr lang="en-GB" sz="1600"/>
            </a:br>
            <a:r>
              <a:rPr lang="en-GB" sz="1600"/>
              <a:t>    You may use your answers to Task A to help you.</a:t>
            </a:r>
            <a:endParaRPr sz="1600"/>
          </a:p>
        </p:txBody>
      </p:sp>
      <p:sp>
        <p:nvSpPr>
          <p:cNvPr id="1385" name="Google Shape;1385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outcomes for </a:t>
            </a:r>
            <a:r>
              <a:rPr lang="en-GB"/>
              <a:t>three-stage trials</a:t>
            </a:r>
            <a:r>
              <a:rPr lang="en-GB"/>
              <a:t> </a:t>
            </a:r>
            <a:endParaRPr/>
          </a:p>
        </p:txBody>
      </p:sp>
      <p:sp>
        <p:nvSpPr>
          <p:cNvPr id="1386" name="Google Shape;1386;p97"/>
          <p:cNvSpPr/>
          <p:nvPr/>
        </p:nvSpPr>
        <p:spPr>
          <a:xfrm>
            <a:off x="6063925" y="802075"/>
            <a:ext cx="2385900" cy="4018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97"/>
          <p:cNvSpPr txBox="1"/>
          <p:nvPr>
            <p:ph idx="1" type="body"/>
          </p:nvPr>
        </p:nvSpPr>
        <p:spPr>
          <a:xfrm>
            <a:off x="6843925" y="867914"/>
            <a:ext cx="8355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 u="sng"/>
              <a:t>Starters</a:t>
            </a:r>
            <a:endParaRPr sz="1600" u="sng"/>
          </a:p>
        </p:txBody>
      </p:sp>
      <p:sp>
        <p:nvSpPr>
          <p:cNvPr id="1388" name="Google Shape;1388;p97"/>
          <p:cNvSpPr txBox="1"/>
          <p:nvPr>
            <p:ph idx="1" type="body"/>
          </p:nvPr>
        </p:nvSpPr>
        <p:spPr>
          <a:xfrm>
            <a:off x="6953495" y="2279620"/>
            <a:ext cx="6858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 u="sng"/>
              <a:t>Mains</a:t>
            </a:r>
            <a:endParaRPr sz="1600" u="sng"/>
          </a:p>
        </p:txBody>
      </p:sp>
      <p:sp>
        <p:nvSpPr>
          <p:cNvPr id="1389" name="Google Shape;1389;p97"/>
          <p:cNvSpPr txBox="1"/>
          <p:nvPr>
            <p:ph idx="1" type="body"/>
          </p:nvPr>
        </p:nvSpPr>
        <p:spPr>
          <a:xfrm>
            <a:off x="6267702" y="1172714"/>
            <a:ext cx="5922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</a:t>
            </a:r>
            <a:r>
              <a:rPr lang="en-GB" sz="1600"/>
              <a:t>oup</a:t>
            </a:r>
            <a:endParaRPr sz="1600"/>
          </a:p>
        </p:txBody>
      </p:sp>
      <p:sp>
        <p:nvSpPr>
          <p:cNvPr id="1390" name="Google Shape;1390;p97"/>
          <p:cNvSpPr txBox="1"/>
          <p:nvPr>
            <p:ph idx="1" type="body"/>
          </p:nvPr>
        </p:nvSpPr>
        <p:spPr>
          <a:xfrm>
            <a:off x="6267699" y="1477514"/>
            <a:ext cx="957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r>
              <a:rPr lang="en-GB" sz="1600"/>
              <a:t>alamari</a:t>
            </a:r>
            <a:endParaRPr sz="1600"/>
          </a:p>
        </p:txBody>
      </p:sp>
      <p:sp>
        <p:nvSpPr>
          <p:cNvPr id="1391" name="Google Shape;1391;p97"/>
          <p:cNvSpPr txBox="1"/>
          <p:nvPr>
            <p:ph idx="1" type="body"/>
          </p:nvPr>
        </p:nvSpPr>
        <p:spPr>
          <a:xfrm>
            <a:off x="6267700" y="1778304"/>
            <a:ext cx="14118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</a:t>
            </a:r>
            <a:r>
              <a:rPr lang="en-GB" sz="1600"/>
              <a:t>eatballs</a:t>
            </a:r>
            <a:endParaRPr sz="1600"/>
          </a:p>
        </p:txBody>
      </p:sp>
      <p:sp>
        <p:nvSpPr>
          <p:cNvPr id="1392" name="Google Shape;1392;p97"/>
          <p:cNvSpPr txBox="1"/>
          <p:nvPr>
            <p:ph idx="1" type="body"/>
          </p:nvPr>
        </p:nvSpPr>
        <p:spPr>
          <a:xfrm>
            <a:off x="6267697" y="2584420"/>
            <a:ext cx="1554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</a:t>
            </a:r>
            <a:r>
              <a:rPr lang="en-GB" sz="1600"/>
              <a:t>asagne</a:t>
            </a:r>
            <a:endParaRPr sz="1600"/>
          </a:p>
        </p:txBody>
      </p:sp>
      <p:sp>
        <p:nvSpPr>
          <p:cNvPr id="1393" name="Google Shape;1393;p97"/>
          <p:cNvSpPr txBox="1"/>
          <p:nvPr>
            <p:ph idx="1" type="body"/>
          </p:nvPr>
        </p:nvSpPr>
        <p:spPr>
          <a:xfrm>
            <a:off x="6267701" y="2889220"/>
            <a:ext cx="15201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</a:t>
            </a:r>
            <a:r>
              <a:rPr lang="en-GB" sz="1600"/>
              <a:t>avioli</a:t>
            </a:r>
            <a:endParaRPr sz="1600"/>
          </a:p>
        </p:txBody>
      </p:sp>
      <p:sp>
        <p:nvSpPr>
          <p:cNvPr id="1394" name="Google Shape;1394;p97"/>
          <p:cNvSpPr txBox="1"/>
          <p:nvPr>
            <p:ph idx="1" type="body"/>
          </p:nvPr>
        </p:nvSpPr>
        <p:spPr>
          <a:xfrm>
            <a:off x="6267700" y="3190009"/>
            <a:ext cx="14118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olognese</a:t>
            </a:r>
            <a:endParaRPr sz="1600"/>
          </a:p>
        </p:txBody>
      </p:sp>
      <p:sp>
        <p:nvSpPr>
          <p:cNvPr id="1395" name="Google Shape;1395;p97"/>
          <p:cNvSpPr txBox="1"/>
          <p:nvPr>
            <p:ph idx="1" type="body"/>
          </p:nvPr>
        </p:nvSpPr>
        <p:spPr>
          <a:xfrm>
            <a:off x="6267700" y="3494809"/>
            <a:ext cx="14118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P</a:t>
            </a:r>
            <a:r>
              <a:rPr lang="en-GB" sz="1600"/>
              <a:t>izza</a:t>
            </a:r>
            <a:endParaRPr sz="1600"/>
          </a:p>
        </p:txBody>
      </p:sp>
      <p:sp>
        <p:nvSpPr>
          <p:cNvPr id="1396" name="Google Shape;1396;p97"/>
          <p:cNvSpPr txBox="1"/>
          <p:nvPr>
            <p:ph idx="1" type="body"/>
          </p:nvPr>
        </p:nvSpPr>
        <p:spPr>
          <a:xfrm>
            <a:off x="6877300" y="3843725"/>
            <a:ext cx="957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 u="sng"/>
              <a:t>Desserts</a:t>
            </a:r>
            <a:endParaRPr sz="1600" u="sng"/>
          </a:p>
        </p:txBody>
      </p:sp>
      <p:sp>
        <p:nvSpPr>
          <p:cNvPr id="1397" name="Google Shape;1397;p97"/>
          <p:cNvSpPr txBox="1"/>
          <p:nvPr>
            <p:ph idx="1" type="body"/>
          </p:nvPr>
        </p:nvSpPr>
        <p:spPr>
          <a:xfrm>
            <a:off x="6267697" y="4148525"/>
            <a:ext cx="1554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</a:t>
            </a:r>
            <a:r>
              <a:rPr lang="en-GB" sz="1600"/>
              <a:t>ce cream</a:t>
            </a:r>
            <a:endParaRPr sz="1600"/>
          </a:p>
        </p:txBody>
      </p:sp>
      <p:sp>
        <p:nvSpPr>
          <p:cNvPr id="1398" name="Google Shape;1398;p97"/>
          <p:cNvSpPr txBox="1"/>
          <p:nvPr>
            <p:ph idx="1" type="body"/>
          </p:nvPr>
        </p:nvSpPr>
        <p:spPr>
          <a:xfrm>
            <a:off x="6267697" y="4453325"/>
            <a:ext cx="1554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</a:t>
            </a:r>
            <a:r>
              <a:rPr lang="en-GB" sz="1600"/>
              <a:t>iramisu</a:t>
            </a:r>
            <a:endParaRPr sz="1600"/>
          </a:p>
        </p:txBody>
      </p:sp>
      <p:sp>
        <p:nvSpPr>
          <p:cNvPr id="1399" name="Google Shape;1399;p97"/>
          <p:cNvSpPr txBox="1"/>
          <p:nvPr>
            <p:ph idx="1" type="body"/>
          </p:nvPr>
        </p:nvSpPr>
        <p:spPr>
          <a:xfrm>
            <a:off x="560250" y="2468125"/>
            <a:ext cx="2297100" cy="22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SLI, SRI, SBI, SPI,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SLT, SRT, SBT, SPT,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CLI, CRI, CBI, CPI,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CLT, CRT, CBT, CPT,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MLI, MRI, MBI, MPI,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MLT, MRT, MBT, MPT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0" name="Google Shape;1400;p97"/>
          <p:cNvSpPr txBox="1"/>
          <p:nvPr>
            <p:ph idx="1" type="body"/>
          </p:nvPr>
        </p:nvSpPr>
        <p:spPr>
          <a:xfrm>
            <a:off x="6808650" y="1172725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(S)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1" name="Google Shape;1401;p97"/>
          <p:cNvSpPr txBox="1"/>
          <p:nvPr>
            <p:ph idx="1" type="body"/>
          </p:nvPr>
        </p:nvSpPr>
        <p:spPr>
          <a:xfrm>
            <a:off x="7243792" y="1477525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(C)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2" name="Google Shape;1402;p97"/>
          <p:cNvSpPr txBox="1"/>
          <p:nvPr>
            <p:ph idx="1" type="body"/>
          </p:nvPr>
        </p:nvSpPr>
        <p:spPr>
          <a:xfrm>
            <a:off x="7299939" y="1782325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(M)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3" name="Google Shape;1403;p97"/>
          <p:cNvSpPr txBox="1"/>
          <p:nvPr>
            <p:ph idx="1" type="body"/>
          </p:nvPr>
        </p:nvSpPr>
        <p:spPr>
          <a:xfrm>
            <a:off x="7121471" y="2600472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(L)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4" name="Google Shape;1404;p97"/>
          <p:cNvSpPr txBox="1"/>
          <p:nvPr>
            <p:ph idx="1" type="body"/>
          </p:nvPr>
        </p:nvSpPr>
        <p:spPr>
          <a:xfrm>
            <a:off x="6959045" y="2895246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(R)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5" name="Google Shape;1405;p97"/>
          <p:cNvSpPr txBox="1"/>
          <p:nvPr>
            <p:ph idx="1" type="body"/>
          </p:nvPr>
        </p:nvSpPr>
        <p:spPr>
          <a:xfrm>
            <a:off x="7373733" y="3190020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(B)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6" name="Google Shape;1406;p97"/>
          <p:cNvSpPr txBox="1"/>
          <p:nvPr>
            <p:ph idx="1" type="body"/>
          </p:nvPr>
        </p:nvSpPr>
        <p:spPr>
          <a:xfrm>
            <a:off x="6832713" y="3494820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(P)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7" name="Google Shape;1407;p97"/>
          <p:cNvSpPr txBox="1"/>
          <p:nvPr>
            <p:ph idx="1" type="body"/>
          </p:nvPr>
        </p:nvSpPr>
        <p:spPr>
          <a:xfrm>
            <a:off x="7293924" y="4144525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(I)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8" name="Google Shape;1408;p97"/>
          <p:cNvSpPr txBox="1"/>
          <p:nvPr>
            <p:ph idx="1" type="body"/>
          </p:nvPr>
        </p:nvSpPr>
        <p:spPr>
          <a:xfrm>
            <a:off x="7141524" y="4449325"/>
            <a:ext cx="426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(T)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98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The possible outcomes for a single-stage trial can be listed. </a:t>
            </a:r>
            <a:br>
              <a:rPr lang="en-GB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The possible outcomes for a trial with multiple stages can also be listed. </a:t>
            </a:r>
            <a:br>
              <a:rPr lang="en-GB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Having a system for how to order outcomes can be helpful when listing outcomes for trials with multiple stages.</a:t>
            </a:r>
            <a:br>
              <a:rPr lang="en-GB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Different systems can be used when listing outcomes.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414" name="Google Shape;1414;p9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listing possible outcomes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9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20" name="Google Shape;1420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