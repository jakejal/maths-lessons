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4F7FABF-974C-4611-8FB5-791D10CD5830}">
  <a:tblStyle styleId="{D4F7FABF-974C-4611-8FB5-791D10CD58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6" name="Shape 276"/>
        <p:cNvGrpSpPr/>
        <p:nvPr/>
      </p:nvGrpSpPr>
      <p:grpSpPr>
        <a:xfrm>
          <a:off x="0" y="0"/>
          <a:ext cx="0" cy="0"/>
        </a:xfrm>
      </p:grpSpPr>
      <p:sp>
        <p:nvSpPr>
          <p:cNvPr id="277" name="Google Shape;27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2112913"/>
            <a:ext cx="6287400" cy="23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the number of sweets of each flavour in a novelty box of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1" y="1563650"/>
            <a:ext cx="61140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Finding probabilities from a frequency table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715650" y="2483700"/>
          <a:ext cx="2066125" cy="3072600"/>
        </p:xfrm>
        <a:graphic>
          <a:graphicData uri="http://schemas.openxmlformats.org/drawingml/2006/table">
            <a:tbl>
              <a:tblPr>
                <a:noFill/>
                <a:tableStyleId>{D4F7FABF-974C-4611-8FB5-791D10CD5830}</a:tableStyleId>
              </a:tblPr>
              <a:tblGrid>
                <a:gridCol w="1023300"/>
                <a:gridCol w="1042825"/>
              </a:tblGrid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flavour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caramel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chocolate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garlic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6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2977225" y="2412925"/>
            <a:ext cx="4123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probabilities for picking each of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following flavours when a sweet is chosen at random.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434422" y="2927135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P(strawberry)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87252" y="2920673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P(caramel)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434422" y="3321321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P(toffee)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187252" y="3314859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P(chocolate)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434422" y="3715508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P(grass)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187252" y="3709045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P(earwax)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434422" y="4109694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P(fish)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87252" y="4103232"/>
            <a:ext cx="13200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P(garlic)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977225" y="4744050"/>
            <a:ext cx="39834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nasty flavours are grass, earwax, fish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garlic. What is the probability of choosing a nasty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flavoured sweet?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r="93082"/>
          <a:stretch>
            <a:fillRect/>
          </a:stretch>
        </p:blipFill>
        <p:spPr>
          <a:xfrm>
            <a:off x="4682029" y="2867850"/>
            <a:ext cx="215023" cy="32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10443" r="80734"/>
          <a:stretch>
            <a:fillRect/>
          </a:stretch>
        </p:blipFill>
        <p:spPr>
          <a:xfrm>
            <a:off x="6177896" y="2867850"/>
            <a:ext cx="274193" cy="32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21560" r="68668"/>
          <a:stretch>
            <a:fillRect/>
          </a:stretch>
        </p:blipFill>
        <p:spPr>
          <a:xfrm>
            <a:off x="4282159" y="3255426"/>
            <a:ext cx="303690" cy="32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33547" r="56681"/>
          <a:stretch>
            <a:fillRect/>
          </a:stretch>
        </p:blipFill>
        <p:spPr>
          <a:xfrm>
            <a:off x="6273744" y="3252293"/>
            <a:ext cx="303690" cy="32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44960" r="45269" b="10"/>
          <a:stretch>
            <a:fillRect/>
          </a:stretch>
        </p:blipFill>
        <p:spPr>
          <a:xfrm>
            <a:off x="4200346" y="3663200"/>
            <a:ext cx="303690" cy="32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57242" r="33935" b="10"/>
          <a:stretch>
            <a:fillRect/>
          </a:stretch>
        </p:blipFill>
        <p:spPr>
          <a:xfrm>
            <a:off x="6102319" y="3663200"/>
            <a:ext cx="274193" cy="32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70389" t="9" r="22692"/>
          <a:stretch>
            <a:fillRect/>
          </a:stretch>
        </p:blipFill>
        <p:spPr>
          <a:xfrm>
            <a:off x="4169875" y="4051230"/>
            <a:ext cx="215023" cy="32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80589" t="9" r="9639"/>
          <a:stretch>
            <a:fillRect/>
          </a:stretch>
        </p:blipFill>
        <p:spPr>
          <a:xfrm>
            <a:off x="6007085" y="4051230"/>
            <a:ext cx="303690" cy="32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11}{80}\ \ \ \ \frac{10}{80}\ \ \ \ \frac{8}{80}\ \ \ \ \frac{9}{80}\ \ \ \ \frac{8}{80}\ \ \ \ \frac{3}{80}\ \ \ \ \frac{5}{80}\ \ \ \ \frac{6}{80}\ \ \ \ \frac{22}{80}&quot;&gt;&lt;mfrac&gt;&lt;mn&gt;11&lt;/mn&gt;&lt;mn&gt;80&lt;/mn&gt;&lt;/mfrac&gt;&lt;mtext&gt;&lt;/mtext&gt;&lt;mtext&gt;&lt;/mtext&gt;&lt;mtext&gt;&lt;/mtext&gt;&lt;mtext&gt;&lt;/mtext&gt;&lt;mfrac&gt;&lt;mn&gt;10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9&lt;/mn&gt;&lt;mn&gt;80&lt;/mn&gt;&lt;/mfrac&gt;&lt;mtext&gt;&lt;/mtext&gt;&lt;mtext&gt;&lt;/mtext&gt;&lt;mtext&gt;&lt;/mtext&gt;&lt;mtext&gt;&lt;/mtext&gt;&lt;mfrac&gt;&lt;mn&gt;8&lt;/mn&gt;&lt;mn&gt;80&lt;/mn&gt;&lt;/mfrac&gt;&lt;mtext&gt;&lt;/mtext&gt;&lt;mtext&gt;&lt;/mtext&gt;&lt;mtext&gt;&lt;/mtext&gt;&lt;mtext&gt;&lt;/mtext&gt;&lt;mfrac&gt;&lt;mn&gt;3&lt;/mn&gt;&lt;mn&gt;80&lt;/mn&gt;&lt;/mfrac&gt;&lt;mtext&gt;&lt;/mtext&gt;&lt;mtext&gt;&lt;/mtext&gt;&lt;mtext&gt;&lt;/mtext&gt;&lt;mtext&gt;&lt;/mtext&gt;&lt;mfrac&gt;&lt;mn&gt;5&lt;/mn&gt;&lt;mn&gt;80&lt;/mn&gt;&lt;/mfrac&gt;&lt;mtext&gt;&lt;/mtext&gt;&lt;mtext&gt;&lt;/mtext&gt;&lt;mtext&gt;&lt;/mtext&gt;&lt;mtext&gt;&lt;/mtext&gt;&lt;mfrac&gt;&lt;mn&gt;6&lt;/mn&gt;&lt;mn&gt;80&lt;/mn&gt;&lt;/mfrac&gt;&lt;mtext&gt;&lt;/mtext&gt;&lt;mtext&gt;&lt;/mtext&gt;&lt;mtext&gt;&lt;/mtext&gt;&lt;mtext&gt;&lt;/mtext&gt;&lt;mfrac&gt;&lt;mn&gt;22&lt;/mn&gt;&lt;mn&gt;80&lt;/mn&gt;&lt;/mfrac&gt;&lt;/math&gt;" title="11 over 80 10 over 80 8 over 80 9 over 80 8 over 80 3 over 80 5 over 80 6 over 80 22 over 80"/>
          <p:cNvPicPr preferRelativeResize="0"/>
          <p:nvPr/>
        </p:nvPicPr>
        <p:blipFill>
          <a:blip r:embed="rId3">
            <a:alphaModFix/>
          </a:blip>
          <a:srcRect l="93339" t="9" r="-2161"/>
          <a:stretch>
            <a:fillRect/>
          </a:stretch>
        </p:blipFill>
        <p:spPr>
          <a:xfrm>
            <a:off x="4774714" y="5194007"/>
            <a:ext cx="274193" cy="323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76400" y="5712300"/>
            <a:ext cx="66240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is carrying out a data investigation about how pupils in a nearby village travel to school. She conducts a survey and records her results in a tally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0"/>
          <p:cNvGraphicFramePr>
            <a:graphicFrameLocks noGrp="1"/>
          </p:cNvGraphicFramePr>
          <p:nvPr/>
        </p:nvGraphicFramePr>
        <p:xfrm>
          <a:off x="3317775" y="6187516"/>
          <a:ext cx="3746475" cy="1443225"/>
        </p:xfrm>
        <a:graphic>
          <a:graphicData uri="http://schemas.openxmlformats.org/drawingml/2006/table">
            <a:tbl>
              <a:tblPr>
                <a:noFill/>
                <a:tableStyleId>{D4F7FABF-974C-4611-8FB5-791D10CD5830}</a:tableStyleId>
              </a:tblPr>
              <a:tblGrid>
                <a:gridCol w="1151550"/>
                <a:gridCol w="1483025"/>
                <a:gridCol w="1111900"/>
              </a:tblGrid>
              <a:tr h="43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19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36000" marB="18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98" name="Google Shape;198;p20"/>
          <p:cNvGrpSpPr/>
          <p:nvPr/>
        </p:nvGrpSpPr>
        <p:grpSpPr>
          <a:xfrm>
            <a:off x="4704077" y="6709090"/>
            <a:ext cx="259779" cy="157410"/>
            <a:chOff x="6605147" y="1426486"/>
            <a:chExt cx="390000" cy="244539"/>
          </a:xfrm>
        </p:grpSpPr>
        <p:cxnSp>
          <p:nvCxnSpPr>
            <p:cNvPr id="199" name="Google Shape;199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4" name="Google Shape;204;p20"/>
          <p:cNvGrpSpPr/>
          <p:nvPr/>
        </p:nvGrpSpPr>
        <p:grpSpPr>
          <a:xfrm>
            <a:off x="5011320" y="6709090"/>
            <a:ext cx="259779" cy="157410"/>
            <a:chOff x="6605147" y="1426486"/>
            <a:chExt cx="390000" cy="244539"/>
          </a:xfrm>
        </p:grpSpPr>
        <p:cxnSp>
          <p:nvCxnSpPr>
            <p:cNvPr id="205" name="Google Shape;205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0" name="Google Shape;210;p20"/>
          <p:cNvGrpSpPr/>
          <p:nvPr/>
        </p:nvGrpSpPr>
        <p:grpSpPr>
          <a:xfrm>
            <a:off x="5332669" y="6709090"/>
            <a:ext cx="259779" cy="157410"/>
            <a:chOff x="6605147" y="1426486"/>
            <a:chExt cx="390000" cy="244539"/>
          </a:xfrm>
        </p:grpSpPr>
        <p:cxnSp>
          <p:nvCxnSpPr>
            <p:cNvPr id="211" name="Google Shape;211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6" name="Google Shape;216;p20"/>
          <p:cNvGrpSpPr/>
          <p:nvPr/>
        </p:nvGrpSpPr>
        <p:grpSpPr>
          <a:xfrm>
            <a:off x="5654018" y="6709090"/>
            <a:ext cx="259779" cy="157410"/>
            <a:chOff x="6605147" y="1426486"/>
            <a:chExt cx="390000" cy="244539"/>
          </a:xfrm>
        </p:grpSpPr>
        <p:cxnSp>
          <p:nvCxnSpPr>
            <p:cNvPr id="217" name="Google Shape;217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20"/>
          <p:cNvGrpSpPr/>
          <p:nvPr/>
        </p:nvGrpSpPr>
        <p:grpSpPr>
          <a:xfrm>
            <a:off x="4704077" y="6943386"/>
            <a:ext cx="259779" cy="157410"/>
            <a:chOff x="6605147" y="1426486"/>
            <a:chExt cx="390000" cy="244539"/>
          </a:xfrm>
        </p:grpSpPr>
        <p:cxnSp>
          <p:nvCxnSpPr>
            <p:cNvPr id="223" name="Google Shape;223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28" name="Google Shape;228;p20"/>
          <p:cNvCxnSpPr/>
          <p:nvPr/>
        </p:nvCxnSpPr>
        <p:spPr>
          <a:xfrm flipH="1">
            <a:off x="5066576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20"/>
          <p:cNvCxnSpPr/>
          <p:nvPr/>
        </p:nvCxnSpPr>
        <p:spPr>
          <a:xfrm flipH="1">
            <a:off x="5117261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0"/>
          <p:cNvCxnSpPr/>
          <p:nvPr/>
        </p:nvCxnSpPr>
        <p:spPr>
          <a:xfrm flipH="1">
            <a:off x="5683885" y="7433891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0"/>
          <p:cNvCxnSpPr/>
          <p:nvPr/>
        </p:nvCxnSpPr>
        <p:spPr>
          <a:xfrm flipH="1">
            <a:off x="5362170" y="6943434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0"/>
          <p:cNvCxnSpPr/>
          <p:nvPr/>
        </p:nvCxnSpPr>
        <p:spPr>
          <a:xfrm flipH="1">
            <a:off x="5412855" y="6943434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3" name="Google Shape;233;p20"/>
          <p:cNvGrpSpPr/>
          <p:nvPr/>
        </p:nvGrpSpPr>
        <p:grpSpPr>
          <a:xfrm>
            <a:off x="5008639" y="6943386"/>
            <a:ext cx="259779" cy="157410"/>
            <a:chOff x="6605147" y="1426486"/>
            <a:chExt cx="390000" cy="244539"/>
          </a:xfrm>
        </p:grpSpPr>
        <p:cxnSp>
          <p:nvCxnSpPr>
            <p:cNvPr id="234" name="Google Shape;234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9" name="Google Shape;239;p20"/>
          <p:cNvGrpSpPr/>
          <p:nvPr/>
        </p:nvGrpSpPr>
        <p:grpSpPr>
          <a:xfrm>
            <a:off x="4713902" y="7188618"/>
            <a:ext cx="259779" cy="157410"/>
            <a:chOff x="6605147" y="1426486"/>
            <a:chExt cx="390000" cy="244539"/>
          </a:xfrm>
        </p:grpSpPr>
        <p:cxnSp>
          <p:nvCxnSpPr>
            <p:cNvPr id="240" name="Google Shape;240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5" name="Google Shape;245;p20"/>
          <p:cNvGrpSpPr/>
          <p:nvPr/>
        </p:nvGrpSpPr>
        <p:grpSpPr>
          <a:xfrm>
            <a:off x="4707079" y="7433850"/>
            <a:ext cx="259779" cy="157410"/>
            <a:chOff x="6605147" y="1426486"/>
            <a:chExt cx="390000" cy="244539"/>
          </a:xfrm>
        </p:grpSpPr>
        <p:cxnSp>
          <p:nvCxnSpPr>
            <p:cNvPr id="246" name="Google Shape;246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1" name="Google Shape;251;p20"/>
          <p:cNvGrpSpPr/>
          <p:nvPr/>
        </p:nvGrpSpPr>
        <p:grpSpPr>
          <a:xfrm>
            <a:off x="5011641" y="7433850"/>
            <a:ext cx="259779" cy="157410"/>
            <a:chOff x="6605147" y="1426486"/>
            <a:chExt cx="390000" cy="244539"/>
          </a:xfrm>
        </p:grpSpPr>
        <p:cxnSp>
          <p:nvCxnSpPr>
            <p:cNvPr id="252" name="Google Shape;252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7" name="Google Shape;257;p20"/>
          <p:cNvGrpSpPr/>
          <p:nvPr/>
        </p:nvGrpSpPr>
        <p:grpSpPr>
          <a:xfrm>
            <a:off x="5316203" y="7433850"/>
            <a:ext cx="259779" cy="157410"/>
            <a:chOff x="6605147" y="1426486"/>
            <a:chExt cx="390000" cy="244539"/>
          </a:xfrm>
        </p:grpSpPr>
        <p:cxnSp>
          <p:nvCxnSpPr>
            <p:cNvPr id="258" name="Google Shape;258;p20"/>
            <p:cNvCxnSpPr/>
            <p:nvPr/>
          </p:nvCxnSpPr>
          <p:spPr>
            <a:xfrm flipH="1">
              <a:off x="6684800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0"/>
            <p:cNvCxnSpPr/>
            <p:nvPr/>
          </p:nvCxnSpPr>
          <p:spPr>
            <a:xfrm flipH="1">
              <a:off x="6760887" y="1426825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0"/>
            <p:cNvCxnSpPr/>
            <p:nvPr/>
          </p:nvCxnSpPr>
          <p:spPr>
            <a:xfrm flipH="1">
              <a:off x="6837087" y="1426712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" name="Google Shape;261;p20"/>
            <p:cNvCxnSpPr/>
            <p:nvPr/>
          </p:nvCxnSpPr>
          <p:spPr>
            <a:xfrm flipH="1">
              <a:off x="6913174" y="1426486"/>
              <a:ext cx="0" cy="244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63" name="Google Shape;263;p20"/>
          <p:cNvCxnSpPr/>
          <p:nvPr/>
        </p:nvCxnSpPr>
        <p:spPr>
          <a:xfrm flipH="1">
            <a:off x="5167930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0"/>
          <p:cNvCxnSpPr/>
          <p:nvPr/>
        </p:nvCxnSpPr>
        <p:spPr>
          <a:xfrm flipH="1">
            <a:off x="5218615" y="7188666"/>
            <a:ext cx="0" cy="156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20"/>
          <p:cNvSpPr txBox="1"/>
          <p:nvPr/>
        </p:nvSpPr>
        <p:spPr>
          <a:xfrm>
            <a:off x="491175" y="6263757"/>
            <a:ext cx="281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frequency column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6399189" y="6678932"/>
            <a:ext cx="309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6399189" y="6924025"/>
            <a:ext cx="309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6399189" y="7169117"/>
            <a:ext cx="309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6399189" y="7414209"/>
            <a:ext cx="3096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417575" y="8226695"/>
            <a:ext cx="6610500" cy="16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i) What is the probability that the person chosen travels by car?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ii) What is the probability that the person chosen travels by bus?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iii) What is the probability that the person chosen travels by bicycle?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iv) What is the probability that the person chosen walks to school?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91175" y="7895100"/>
            <a:ext cx="6610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To further her investigation, Sam chooses a pupil at random to interview.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0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4">
            <a:alphaModFix/>
          </a:blip>
          <a:srcRect r="76846"/>
          <a:stretch>
            <a:fillRect/>
          </a:stretch>
        </p:blipFill>
        <p:spPr>
          <a:xfrm>
            <a:off x="5671943" y="8153086"/>
            <a:ext cx="257234" cy="34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4">
            <a:alphaModFix/>
          </a:blip>
          <a:srcRect l="21844" r="50550"/>
          <a:stretch>
            <a:fillRect/>
          </a:stretch>
        </p:blipFill>
        <p:spPr>
          <a:xfrm>
            <a:off x="5710733" y="8616577"/>
            <a:ext cx="306699" cy="34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4">
            <a:alphaModFix/>
          </a:blip>
          <a:srcRect l="48738" r="21845"/>
          <a:stretch>
            <a:fillRect/>
          </a:stretch>
        </p:blipFill>
        <p:spPr>
          <a:xfrm>
            <a:off x="6031425" y="9063150"/>
            <a:ext cx="326822" cy="34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&lt;math xmlns=&quot;http://www.w3.org/1998/Math/MathML&quot; display=&quot;block&quot; data-is-equatio=&quot;1&quot; data-latex=&quot;\frac{20}{57}\ \ \frac{12}{57}\ \ \frac{9}{57}\ \ \frac{16}{57}&quot;&gt;&lt;mfrac&gt;&lt;mn&gt;20&lt;/mn&gt;&lt;mn&gt;57&lt;/mn&gt;&lt;/mfrac&gt;&lt;mtext&gt;&lt;/mtext&gt;&lt;mtext&gt;&lt;/mtext&gt;&lt;mfrac&gt;&lt;mn&gt;12&lt;/mn&gt;&lt;mn&gt;57&lt;/mn&gt;&lt;/mfrac&gt;&lt;mtext&gt;&lt;/mtext&gt;&lt;mtext&gt;&lt;/mtext&gt;&lt;mfrac&gt;&lt;mn&gt;9&lt;/mn&gt;&lt;mn&gt;57&lt;/mn&gt;&lt;/mfrac&gt;&lt;mtext&gt;&lt;/mtext&gt;&lt;mtext&gt;&lt;/mtext&gt;&lt;mfrac&gt;&lt;mn&gt;16&lt;/mn&gt;&lt;mn&gt;57&lt;/mn&gt;&lt;/mfrac&gt;&lt;/math&gt;" title="20 over 57 12 over 57 9 over 57 16 over 57"/>
          <p:cNvPicPr preferRelativeResize="0"/>
          <p:nvPr/>
        </p:nvPicPr>
        <p:blipFill>
          <a:blip r:embed="rId4">
            <a:alphaModFix/>
          </a:blip>
          <a:srcRect l="76846"/>
          <a:stretch>
            <a:fillRect/>
          </a:stretch>
        </p:blipFill>
        <p:spPr>
          <a:xfrm>
            <a:off x="5836457" y="9502430"/>
            <a:ext cx="257234" cy="344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9" name="Shape 279"/>
        <p:cNvGrpSpPr/>
        <p:nvPr/>
      </p:nvGrpSpPr>
      <p:grpSpPr>
        <a:xfrm>
          <a:off x="0" y="0"/>
          <a:ext cx="0" cy="0"/>
        </a:xfrm>
      </p:grpSpPr>
      <p:sp>
        <p:nvSpPr>
          <p:cNvPr id="280" name="Google Shape;28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81" name="Google Shape;28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a table (one event)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468000" y="725450"/>
            <a:ext cx="6231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probabilities from an outcome table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6400" y="1284514"/>
            <a:ext cx="65523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Party hats from a pack are sorted according to how they are decorated.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hat is chosen at random from the pack.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6" name="Google Shape;286;p21"/>
          <p:cNvGrpSpPr/>
          <p:nvPr/>
        </p:nvGrpSpPr>
        <p:grpSpPr>
          <a:xfrm>
            <a:off x="4558636" y="1740419"/>
            <a:ext cx="2533762" cy="2144441"/>
            <a:chOff x="5578500" y="1041300"/>
            <a:chExt cx="3261375" cy="2760254"/>
          </a:xfrm>
        </p:grpSpPr>
        <p:cxnSp>
          <p:nvCxnSpPr>
            <p:cNvPr id="287" name="Google Shape;287;p21"/>
            <p:cNvCxnSpPr/>
            <p:nvPr/>
          </p:nvCxnSpPr>
          <p:spPr>
            <a:xfrm flipH="1">
              <a:off x="6417725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1"/>
            <p:cNvCxnSpPr/>
            <p:nvPr/>
          </p:nvCxnSpPr>
          <p:spPr>
            <a:xfrm flipH="1">
              <a:off x="761886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1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21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1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21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3" name="Google Shape;293;p21"/>
          <p:cNvSpPr txBox="1"/>
          <p:nvPr/>
        </p:nvSpPr>
        <p:spPr>
          <a:xfrm>
            <a:off x="5345844" y="1833828"/>
            <a:ext cx="6621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stripes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6218409" y="1829535"/>
            <a:ext cx="7989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stripes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548247" y="2392697"/>
            <a:ext cx="6621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581515" y="3236148"/>
            <a:ext cx="563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topper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7" name="Google Shape;297;p21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6201590" y="2144716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5210362" y="2972503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>
          <a:blip r:embed="rId3">
            <a:alphaModFix/>
          </a:blip>
          <a:srcRect l="21101" t="51777" r="63905" b="-3983"/>
          <a:stretch>
            <a:fillRect/>
          </a:stretch>
        </p:blipFill>
        <p:spPr>
          <a:xfrm>
            <a:off x="6608158" y="2144719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>
          <a:blip r:embed="rId3">
            <a:alphaModFix/>
          </a:blip>
          <a:srcRect l="-713" t="52920" r="85720" b="-5126"/>
          <a:stretch>
            <a:fillRect/>
          </a:stretch>
        </p:blipFill>
        <p:spPr>
          <a:xfrm>
            <a:off x="5252294" y="2144724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>
          <a:blip r:embed="rId3">
            <a:alphaModFix/>
          </a:blip>
          <a:srcRect l="41227" t="7713" r="41887" b="52401"/>
          <a:stretch>
            <a:fillRect/>
          </a:stretch>
        </p:blipFill>
        <p:spPr>
          <a:xfrm>
            <a:off x="6277603" y="3040249"/>
            <a:ext cx="397800" cy="438000"/>
          </a:xfrm>
          <a:prstGeom prst="triangle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5647500" y="2144729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5647499" y="2972507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6299883" y="2392706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6675433" y="2392702"/>
            <a:ext cx="353280" cy="5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5414307" y="3294329"/>
            <a:ext cx="353280" cy="5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 txBox="1"/>
          <p:nvPr/>
        </p:nvSpPr>
        <p:spPr>
          <a:xfrm>
            <a:off x="661098" y="1791689"/>
            <a:ext cx="36315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each of the following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61097" y="2397883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P(stripes and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661097" y="3001686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P(stripes and no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661097" y="3605488"/>
            <a:ext cx="36315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 stripes and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2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r="88070"/>
          <a:stretch>
            <a:fillRect/>
          </a:stretch>
        </p:blipFill>
        <p:spPr>
          <a:xfrm>
            <a:off x="3213775" y="2310700"/>
            <a:ext cx="219827" cy="31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14720" r="71468"/>
          <a:stretch>
            <a:fillRect/>
          </a:stretch>
        </p:blipFill>
        <p:spPr>
          <a:xfrm>
            <a:off x="3148970" y="2958097"/>
            <a:ext cx="254479" cy="31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34635" r="51554"/>
          <a:stretch>
            <a:fillRect/>
          </a:stretch>
        </p:blipFill>
        <p:spPr>
          <a:xfrm>
            <a:off x="3148970" y="3596039"/>
            <a:ext cx="254479" cy="31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1" descr="&lt;math xmlns=&quot;http://www.w3.org/1998/Math/MathML&quot; display=&quot;block&quot; data-is-equatio=&quot;1&quot; data-latex=&quot;\frac{2}{10}\ \ \ \frac{3}{10}\ \ \ \ \frac{4}{10}\ \ \ \frac{1}{10}\ \ \ \frac{5}{10}\ \ \ \ \frac{6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6&lt;/mn&gt;&lt;mn&gt;10&lt;/mn&gt;&lt;/mfrac&gt;&lt;/math&gt;" title="two tenths three tenths four tenths one tenth five tenths six tenths"/>
          <p:cNvPicPr preferRelativeResize="0"/>
          <p:nvPr/>
        </p:nvPicPr>
        <p:blipFill>
          <a:blip r:embed="rId5">
            <a:alphaModFix/>
          </a:blip>
          <a:srcRect l="90416"/>
          <a:stretch>
            <a:fillRect/>
          </a:stretch>
        </p:blipFill>
        <p:spPr>
          <a:xfrm>
            <a:off x="2005032" y="5101967"/>
            <a:ext cx="178334" cy="31873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637950" y="4673886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P(stripes)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37950" y="5161506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P(topper)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637950" y="4155639"/>
            <a:ext cx="2795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P(no stripes and no topper)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2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52056" r="34133"/>
          <a:stretch>
            <a:fillRect/>
          </a:stretch>
        </p:blipFill>
        <p:spPr>
          <a:xfrm>
            <a:off x="3131893" y="4060775"/>
            <a:ext cx="256996" cy="31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 descr="&lt;math xmlns=&quot;http://www.w3.org/1998/Math/MathML&quot; display=&quot;block&quot; data-is-equatio=&quot;1&quot; data-latex=&quot;\frac{2}{10}\ \ \ \frac{3}{10}\ \ \ \ \frac{4}{10}\ \ \ \frac{1}{10}\ \ \ \frac{5}{10}\ \ \ \ \frac{5}{10}&quot;&gt;&lt;mfrac&gt;&lt;mn&gt;2&lt;/mn&gt;&lt;mn&gt;10&lt;/mn&gt;&lt;/mfrac&gt;&lt;mtext&gt;&lt;/mtext&gt;&lt;mtext&gt;&lt;/mtext&gt;&lt;mtext&gt;&lt;/mtext&gt;&lt;mfrac&gt;&lt;mn&gt;3&lt;/mn&gt;&lt;mn&gt;10&lt;/mn&gt;&lt;/mfrac&gt;&lt;mtext&gt;&lt;/mtext&gt;&lt;mtext&gt;&lt;/mtext&gt;&lt;mtext&gt;&lt;/mtext&gt;&lt;mtext&gt;&lt;/mtext&gt;&lt;mfrac&gt;&lt;mn&gt;4&lt;/mn&gt;&lt;mn&gt;10&lt;/mn&gt;&lt;/mfrac&gt;&lt;mtext&gt;&lt;/mtext&gt;&lt;mtext&gt;&lt;/mtext&gt;&lt;mtext&gt;&lt;/mtext&gt;&lt;mfrac&gt;&lt;mn&gt;1&lt;/mn&gt;&lt;mn&gt;10&lt;/mn&gt;&lt;/mfrac&gt;&lt;mtext&gt;&lt;/mtext&gt;&lt;mtext&gt;&lt;/mtext&gt;&lt;mtext&gt;&lt;/mtext&gt;&lt;mfrac&gt;&lt;mn&gt;5&lt;/mn&gt;&lt;mn&gt;10&lt;/mn&gt;&lt;/mfrac&gt;&lt;mtext&gt;&lt;/mtext&gt;&lt;mtext&gt;&lt;/mtext&gt;&lt;mtext&gt;&lt;/mtext&gt;&lt;mtext&gt;&lt;/mtext&gt;&lt;mfrac&gt;&lt;mn&gt;5&lt;/mn&gt;&lt;mn&gt;10&lt;/mn&gt;&lt;/mfrac&gt;&lt;/math&gt;" title="two tenths three tenths four tenths one tenth five tenths five tenths"/>
          <p:cNvPicPr preferRelativeResize="0"/>
          <p:nvPr/>
        </p:nvPicPr>
        <p:blipFill>
          <a:blip r:embed="rId4">
            <a:alphaModFix/>
          </a:blip>
          <a:srcRect l="69477" r="16711"/>
          <a:stretch>
            <a:fillRect/>
          </a:stretch>
        </p:blipFill>
        <p:spPr>
          <a:xfrm>
            <a:off x="1991925" y="4567603"/>
            <a:ext cx="256996" cy="31873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476400" y="6169500"/>
            <a:ext cx="65526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deck of cards contains the numbers 1 to 20.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Sort the numbers 1 to 20 into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1" name="Google Shape;321;p21"/>
          <p:cNvGrpSpPr/>
          <p:nvPr/>
        </p:nvGrpSpPr>
        <p:grpSpPr>
          <a:xfrm>
            <a:off x="4541889" y="6625392"/>
            <a:ext cx="2550395" cy="2144441"/>
            <a:chOff x="5578500" y="1041300"/>
            <a:chExt cx="3261375" cy="2760254"/>
          </a:xfrm>
        </p:grpSpPr>
        <p:cxnSp>
          <p:nvCxnSpPr>
            <p:cNvPr id="322" name="Google Shape;322;p21"/>
            <p:cNvCxnSpPr/>
            <p:nvPr/>
          </p:nvCxnSpPr>
          <p:spPr>
            <a:xfrm flipH="1">
              <a:off x="6287766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21"/>
            <p:cNvCxnSpPr/>
            <p:nvPr/>
          </p:nvCxnSpPr>
          <p:spPr>
            <a:xfrm flipH="1">
              <a:off x="7468803" y="1063754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1"/>
            <p:cNvCxnSpPr/>
            <p:nvPr/>
          </p:nvCxnSpPr>
          <p:spPr>
            <a:xfrm flipH="1">
              <a:off x="8820000" y="1041300"/>
              <a:ext cx="0" cy="2737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21"/>
            <p:cNvCxnSpPr/>
            <p:nvPr/>
          </p:nvCxnSpPr>
          <p:spPr>
            <a:xfrm rot="10800000">
              <a:off x="5578500" y="1569800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21"/>
            <p:cNvCxnSpPr/>
            <p:nvPr/>
          </p:nvCxnSpPr>
          <p:spPr>
            <a:xfrm rot="10800000">
              <a:off x="5578500" y="2678785"/>
              <a:ext cx="32415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1"/>
            <p:cNvCxnSpPr/>
            <p:nvPr/>
          </p:nvCxnSpPr>
          <p:spPr>
            <a:xfrm rot="10800000">
              <a:off x="5578575" y="3787725"/>
              <a:ext cx="32613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8" name="Google Shape;328;p21"/>
          <p:cNvSpPr txBox="1"/>
          <p:nvPr/>
        </p:nvSpPr>
        <p:spPr>
          <a:xfrm>
            <a:off x="5168440" y="6586208"/>
            <a:ext cx="662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069348" y="6596146"/>
            <a:ext cx="9198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548402" y="7159325"/>
            <a:ext cx="483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548401" y="7988100"/>
            <a:ext cx="563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factor of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76400" y="6820686"/>
            <a:ext cx="39276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card is chosen at random from the deck.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Find the probabilities of the following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653996" y="7590269"/>
            <a:ext cx="30555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P(multiple of 4 and factor of 20)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653996" y="8063859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P(multiple of 4 and not factor of 20)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653996" y="8537449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P(multiple of 4)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53996" y="9011038"/>
            <a:ext cx="3368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iv) P(not multiple of 4)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210547" y="7139462"/>
            <a:ext cx="4626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4, 20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5210547" y="8027442"/>
            <a:ext cx="7188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8, 12, 16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098528" y="7139462"/>
            <a:ext cx="8904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1, 2, 5, 10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060674" y="8027442"/>
            <a:ext cx="9783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3, 6, 7, 9, 11, 13, 14, 15, 17, 18, 19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41" name="Google Shape;341;p21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6">
            <a:alphaModFix/>
          </a:blip>
          <a:srcRect r="83789"/>
          <a:stretch>
            <a:fillRect/>
          </a:stretch>
        </p:blipFill>
        <p:spPr>
          <a:xfrm>
            <a:off x="3704344" y="7527625"/>
            <a:ext cx="193297" cy="333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6">
            <a:alphaModFix/>
          </a:blip>
          <a:srcRect l="26307" r="52880"/>
          <a:stretch>
            <a:fillRect/>
          </a:stretch>
        </p:blipFill>
        <p:spPr>
          <a:xfrm>
            <a:off x="3655922" y="7959371"/>
            <a:ext cx="248165" cy="333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6">
            <a:alphaModFix/>
          </a:blip>
          <a:srcRect l="53899" r="25286"/>
          <a:stretch>
            <a:fillRect/>
          </a:stretch>
        </p:blipFill>
        <p:spPr>
          <a:xfrm>
            <a:off x="2516912" y="8457416"/>
            <a:ext cx="248176" cy="333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&lt;math xmlns=&quot;http://www.w3.org/1998/Math/MathML&quot; display=&quot;block&quot; data-is-equatio=&quot;1&quot; data-latex=&quot;\frac{2}{20}\ \ \ \frac{3}{20}\ \ \ \frac{5}{20}\ \ \ \frac{15}{20}&quot;&gt;&lt;mfrac&gt;&lt;mn&gt;2&lt;/mn&gt;&lt;mn&gt;20&lt;/mn&gt;&lt;/mfrac&gt;&lt;mtext&gt;&lt;/mtext&gt;&lt;mtext&gt;&lt;/mtext&gt;&lt;mtext&gt;&lt;/mtext&gt;&lt;mfrac&gt;&lt;mn&gt;3&lt;/mn&gt;&lt;mn&gt;20&lt;/mn&gt;&lt;/mfrac&gt;&lt;mtext&gt;&lt;/mtext&gt;&lt;mtext&gt;&lt;/mtext&gt;&lt;mtext&gt;&lt;/mtext&gt;&lt;mfrac&gt;&lt;mn&gt;5&lt;/mn&gt;&lt;mn&gt;20&lt;/mn&gt;&lt;/mfrac&gt;&lt;mtext&gt;&lt;/mtext&gt;&lt;mtext&gt;&lt;/mtext&gt;&lt;mtext&gt;&lt;/mtext&gt;&lt;mfrac&gt;&lt;mn&gt;15&lt;/mn&gt;&lt;mn&gt;20&lt;/mn&gt;&lt;/mfrac&gt;&lt;/math&gt;" title="2 over 20 3 over 20 5 over 20 15 over 20"/>
          <p:cNvPicPr preferRelativeResize="0"/>
          <p:nvPr/>
        </p:nvPicPr>
        <p:blipFill>
          <a:blip r:embed="rId6">
            <a:alphaModFix/>
          </a:blip>
          <a:srcRect l="83788"/>
          <a:stretch>
            <a:fillRect/>
          </a:stretch>
        </p:blipFill>
        <p:spPr>
          <a:xfrm>
            <a:off x="2544355" y="8886987"/>
            <a:ext cx="193297" cy="33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a table (one event)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2024-03-05T12:34:06.392</cp:lastPrinted>
  <dcterms:created xsi:type="dcterms:W3CDTF">2024-03-05T12:34:06Z</dcterms:created>
  <dcterms:modified xsi:type="dcterms:W3CDTF">2024-03-05T12:31:47Z</dcterms:modified>
</cp:coreProperties>
</file>