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/>
  <p:notesSz cx="6858000" cy="9144000"/>
  <p:embeddedFontLst>
    <p:embeddedFont>
      <p:font typeface="Lexend" panose="00000000000000000000"/>
      <p:regular r:id="rId36"/>
    </p:embeddedFont>
    <p:embeddedFont>
      <p:font typeface="Lexend Medium" panose="00000000000000000000"/>
      <p:regular r:id="rId37"/>
    </p:embeddedFont>
    <p:embeddedFont>
      <p:font typeface="Kalam" panose="02000000000000000000"/>
      <p:regular r:id="rId38"/>
    </p:embeddedFont>
    <p:embeddedFont>
      <p:font typeface="Lexend Light" panose="00000000000000000000"/>
      <p:regular r:id="rId39"/>
    </p:embeddedFont>
  </p:embeddedFontLst>
  <p:custDataLst>
    <p:tags r:id="rId3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46617E5-B7E4-4EEC-9304-DCA25517C364}">
  <a:tblStyle styleId="{646617E5-B7E4-4EEC-9304-DCA25517C3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tags" Target="tags/tag1.xml" /><Relationship Id="rId36" Type="http://schemas.openxmlformats.org/officeDocument/2006/relationships/font" Target="fonts/font1.fntdata" /><Relationship Id="rId37" Type="http://schemas.openxmlformats.org/officeDocument/2006/relationships/font" Target="fonts/font2.fntdata" /><Relationship Id="rId38" Type="http://schemas.openxmlformats.org/officeDocument/2006/relationships/font" Target="fonts/font3.fntdata" /><Relationship Id="rId39" Type="http://schemas.openxmlformats.org/officeDocument/2006/relationships/font" Target="fonts/font4.fntdata" /><Relationship Id="rId4" Type="http://schemas.openxmlformats.org/officeDocument/2006/relationships/slide" Target="slides/slide2.xml" /><Relationship Id="rId40" Type="http://schemas.openxmlformats.org/officeDocument/2006/relationships/presProps" Target="presProps.xml" /><Relationship Id="rId41" Type="http://schemas.openxmlformats.org/officeDocument/2006/relationships/viewProps" Target="viewProps.xml" /><Relationship Id="rId42" Type="http://schemas.openxmlformats.org/officeDocument/2006/relationships/theme" Target="theme/theme1.xml" /><Relationship Id="rId43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2b5da803a8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b5da803a8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1f0ed9d0e83_0_101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1f0ed9d0e83_0_101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b5da803a83_0_7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5da803a83_0_7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1f0ed9d0e83_0_88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f0ed9d0e83_0_88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sp>
        <p:nvSpPr>
          <p:cNvPr id="801" name="Google Shape;801;g1f0ed9d0e83_0_8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1f0ed9d0e83_0_8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0" name="Shape 840"/>
        <p:cNvGrpSpPr/>
        <p:nvPr/>
      </p:nvGrpSpPr>
      <p:grpSpPr>
        <a:xfrm>
          <a:off x="0" y="0"/>
          <a:ext cx="0" cy="0"/>
        </a:xfrm>
      </p:grpSpPr>
      <p:sp>
        <p:nvSpPr>
          <p:cNvPr id="841" name="Google Shape;841;g1f0ed9d0e83_0_89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1f0ed9d0e83_0_89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8" name="Shape 858"/>
        <p:cNvGrpSpPr/>
        <p:nvPr/>
      </p:nvGrpSpPr>
      <p:grpSpPr>
        <a:xfrm>
          <a:off x="0" y="0"/>
          <a:ext cx="0" cy="0"/>
        </a:xfrm>
      </p:grpSpPr>
      <p:sp>
        <p:nvSpPr>
          <p:cNvPr id="859" name="Google Shape;859;g1f0ed9d0e83_0_95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1f0ed9d0e83_0_95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4" name="Shape 874"/>
        <p:cNvGrpSpPr/>
        <p:nvPr/>
      </p:nvGrpSpPr>
      <p:grpSpPr>
        <a:xfrm>
          <a:off x="0" y="0"/>
          <a:ext cx="0" cy="0"/>
        </a:xfrm>
      </p:grpSpPr>
      <p:sp>
        <p:nvSpPr>
          <p:cNvPr id="875" name="Google Shape;875;g1f0ed9d0e83_0_101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f0ed9d0e83_0_101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0" name="Shape 890"/>
        <p:cNvGrpSpPr/>
        <p:nvPr/>
      </p:nvGrpSpPr>
      <p:grpSpPr>
        <a:xfrm>
          <a:off x="0" y="0"/>
          <a:ext cx="0" cy="0"/>
        </a:xfrm>
      </p:grpSpPr>
      <p:sp>
        <p:nvSpPr>
          <p:cNvPr id="891" name="Google Shape;891;g1f0ed9d0e83_0_94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f0ed9d0e83_0_94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1" name="Shape 901"/>
        <p:cNvGrpSpPr/>
        <p:nvPr/>
      </p:nvGrpSpPr>
      <p:grpSpPr>
        <a:xfrm>
          <a:off x="0" y="0"/>
          <a:ext cx="0" cy="0"/>
        </a:xfrm>
      </p:grpSpPr>
      <p:sp>
        <p:nvSpPr>
          <p:cNvPr id="902" name="Google Shape;902;g1f0ed9d0e83_0_101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1f0ed9d0e83_0_101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2" name="Shape 912"/>
        <p:cNvGrpSpPr/>
        <p:nvPr/>
      </p:nvGrpSpPr>
      <p:grpSpPr>
        <a:xfrm>
          <a:off x="0" y="0"/>
          <a:ext cx="0" cy="0"/>
        </a:xfrm>
      </p:grpSpPr>
      <p:sp>
        <p:nvSpPr>
          <p:cNvPr id="913" name="Google Shape;913;g1f0ed9d0e83_0_91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1f0ed9d0e83_0_91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9" name="Shape 929"/>
        <p:cNvGrpSpPr/>
        <p:nvPr/>
      </p:nvGrpSpPr>
      <p:grpSpPr>
        <a:xfrm>
          <a:off x="0" y="0"/>
          <a:ext cx="0" cy="0"/>
        </a:xfrm>
      </p:grpSpPr>
      <p:sp>
        <p:nvSpPr>
          <p:cNvPr id="930" name="Google Shape;930;g1f0ed9d0e83_0_94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1f0ed9d0e83_0_94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6" name="Shape 1006"/>
        <p:cNvGrpSpPr/>
        <p:nvPr/>
      </p:nvGrpSpPr>
      <p:grpSpPr>
        <a:xfrm>
          <a:off x="0" y="0"/>
          <a:ext cx="0" cy="0"/>
        </a:xfrm>
      </p:grpSpPr>
      <p:sp>
        <p:nvSpPr>
          <p:cNvPr id="1007" name="Google Shape;1007;g1f0ed9d0e83_0_95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f0ed9d0e83_0_95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2" name="Shape 1032"/>
        <p:cNvGrpSpPr/>
        <p:nvPr/>
      </p:nvGrpSpPr>
      <p:grpSpPr>
        <a:xfrm>
          <a:off x="0" y="0"/>
          <a:ext cx="0" cy="0"/>
        </a:xfrm>
      </p:grpSpPr>
      <p:sp>
        <p:nvSpPr>
          <p:cNvPr id="1033" name="Google Shape;1033;g1f0ed9d0e83_0_92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f0ed9d0e83_0_92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1" name="Shape 1111"/>
        <p:cNvGrpSpPr/>
        <p:nvPr/>
      </p:nvGrpSpPr>
      <p:grpSpPr>
        <a:xfrm>
          <a:off x="0" y="0"/>
          <a:ext cx="0" cy="0"/>
        </a:xfrm>
      </p:grpSpPr>
      <p:sp>
        <p:nvSpPr>
          <p:cNvPr id="1112" name="Google Shape;1112;g1f0ed9d0e83_0_93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1f0ed9d0e83_0_93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sp>
        <p:nvSpPr>
          <p:cNvPr id="1195" name="Google Shape;1195;g1f0ed9d0e83_0_54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1f0ed9d0e83_0_54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2" name="Shape 1202"/>
        <p:cNvGrpSpPr/>
        <p:nvPr/>
      </p:nvGrpSpPr>
      <p:grpSpPr>
        <a:xfrm>
          <a:off x="0" y="0"/>
          <a:ext cx="0" cy="0"/>
        </a:xfrm>
      </p:grpSpPr>
      <p:sp>
        <p:nvSpPr>
          <p:cNvPr id="1203" name="Google Shape;1203;g1f0ed9d0e83_0_95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1f0ed9d0e83_0_95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5" name="Shape 1255"/>
        <p:cNvGrpSpPr/>
        <p:nvPr/>
      </p:nvGrpSpPr>
      <p:grpSpPr>
        <a:xfrm>
          <a:off x="0" y="0"/>
          <a:ext cx="0" cy="0"/>
        </a:xfrm>
      </p:grpSpPr>
      <p:sp>
        <p:nvSpPr>
          <p:cNvPr id="1256" name="Google Shape;1256;g1f0ed9d0e83_0_96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1f0ed9d0e83_0_96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7" name="Shape 1307"/>
        <p:cNvGrpSpPr/>
        <p:nvPr/>
      </p:nvGrpSpPr>
      <p:grpSpPr>
        <a:xfrm>
          <a:off x="0" y="0"/>
          <a:ext cx="0" cy="0"/>
        </a:xfrm>
      </p:grpSpPr>
      <p:sp>
        <p:nvSpPr>
          <p:cNvPr id="1308" name="Google Shape;1308;g1f0ed9d0e83_0_96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1f0ed9d0e83_0_96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0" name="Shape 1370"/>
        <p:cNvGrpSpPr/>
        <p:nvPr/>
      </p:nvGrpSpPr>
      <p:grpSpPr>
        <a:xfrm>
          <a:off x="0" y="0"/>
          <a:ext cx="0" cy="0"/>
        </a:xfrm>
      </p:grpSpPr>
      <p:sp>
        <p:nvSpPr>
          <p:cNvPr id="1371" name="Google Shape;1371;g1f0ed9d0e83_0_7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f0ed9d0e83_0_7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6" name="Shape 1406"/>
        <p:cNvGrpSpPr/>
        <p:nvPr/>
      </p:nvGrpSpPr>
      <p:grpSpPr>
        <a:xfrm>
          <a:off x="0" y="0"/>
          <a:ext cx="0" cy="0"/>
        </a:xfrm>
      </p:grpSpPr>
      <p:sp>
        <p:nvSpPr>
          <p:cNvPr id="1407" name="Google Shape;1407;g1f0ed9d0e83_0_97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1f0ed9d0e83_0_97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4" name="Shape 1444"/>
        <p:cNvGrpSpPr/>
        <p:nvPr/>
      </p:nvGrpSpPr>
      <p:grpSpPr>
        <a:xfrm>
          <a:off x="0" y="0"/>
          <a:ext cx="0" cy="0"/>
        </a:xfrm>
      </p:grpSpPr>
      <p:sp>
        <p:nvSpPr>
          <p:cNvPr id="1445" name="Google Shape;1445;g1f0ed9d0e83_0_98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1f0ed9d0e83_0_98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2" name="Shape 1482"/>
        <p:cNvGrpSpPr/>
        <p:nvPr/>
      </p:nvGrpSpPr>
      <p:grpSpPr>
        <a:xfrm>
          <a:off x="0" y="0"/>
          <a:ext cx="0" cy="0"/>
        </a:xfrm>
      </p:grpSpPr>
      <p:sp>
        <p:nvSpPr>
          <p:cNvPr id="1483" name="Google Shape;1483;g1f0ed9d0e83_0_98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1f0ed9d0e83_0_98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0" name="Shape 1520"/>
        <p:cNvGrpSpPr/>
        <p:nvPr/>
      </p:nvGrpSpPr>
      <p:grpSpPr>
        <a:xfrm>
          <a:off x="0" y="0"/>
          <a:ext cx="0" cy="0"/>
        </a:xfrm>
      </p:grpSpPr>
      <p:sp>
        <p:nvSpPr>
          <p:cNvPr id="1521" name="Google Shape;1521;g1f0ed9d0e83_0_98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1f0ed9d0e83_0_98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4" name="Shape 1554"/>
        <p:cNvGrpSpPr/>
        <p:nvPr/>
      </p:nvGrpSpPr>
      <p:grpSpPr>
        <a:xfrm>
          <a:off x="0" y="0"/>
          <a:ext cx="0" cy="0"/>
        </a:xfrm>
      </p:grpSpPr>
      <p:sp>
        <p:nvSpPr>
          <p:cNvPr id="1555" name="Google Shape;1555;g1f0ed9d0e83_0_100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1f0ed9d0e83_0_100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6" name="Shape 1576"/>
        <p:cNvGrpSpPr/>
        <p:nvPr/>
      </p:nvGrpSpPr>
      <p:grpSpPr>
        <a:xfrm>
          <a:off x="0" y="0"/>
          <a:ext cx="0" cy="0"/>
        </a:xfrm>
      </p:grpSpPr>
      <p:sp>
        <p:nvSpPr>
          <p:cNvPr id="1577" name="Google Shape;1577;g1f0ed9d0e83_0_99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1f0ed9d0e83_0_99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0" name="Shape 1610"/>
        <p:cNvGrpSpPr/>
        <p:nvPr/>
      </p:nvGrpSpPr>
      <p:grpSpPr>
        <a:xfrm>
          <a:off x="0" y="0"/>
          <a:ext cx="0" cy="0"/>
        </a:xfrm>
      </p:grpSpPr>
      <p:sp>
        <p:nvSpPr>
          <p:cNvPr id="1611" name="Google Shape;1611;g1f0ed9d0e83_0_99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1f0ed9d0e83_0_99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4" name="Shape 1644"/>
        <p:cNvGrpSpPr/>
        <p:nvPr/>
      </p:nvGrpSpPr>
      <p:grpSpPr>
        <a:xfrm>
          <a:off x="0" y="0"/>
          <a:ext cx="0" cy="0"/>
        </a:xfrm>
      </p:grpSpPr>
      <p:sp>
        <p:nvSpPr>
          <p:cNvPr id="1645" name="Google Shape;1645;g1f0ed9d0e83_0_100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1f0ed9d0e83_0_100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4" name="Shape 1674"/>
        <p:cNvGrpSpPr/>
        <p:nvPr/>
      </p:nvGrpSpPr>
      <p:grpSpPr>
        <a:xfrm>
          <a:off x="0" y="0"/>
          <a:ext cx="0" cy="0"/>
        </a:xfrm>
      </p:grpSpPr>
      <p:sp>
        <p:nvSpPr>
          <p:cNvPr id="1675" name="Google Shape;1675;g1f0ed9d0e83_0_54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1f0ed9d0e83_0_54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0" name="Shape 1680"/>
        <p:cNvGrpSpPr/>
        <p:nvPr/>
      </p:nvGrpSpPr>
      <p:grpSpPr>
        <a:xfrm>
          <a:off x="0" y="0"/>
          <a:ext cx="0" cy="0"/>
        </a:xfrm>
      </p:grpSpPr>
      <p:sp>
        <p:nvSpPr>
          <p:cNvPr id="1681" name="Google Shape;1681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Relationship Id="rId4" Type="http://schemas.openxmlformats.org/officeDocument/2006/relationships/image" Target="../media/image44.png" /><Relationship Id="rId5" Type="http://schemas.openxmlformats.org/officeDocument/2006/relationships/image" Target="../media/image47.png" /><Relationship Id="rId6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0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2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3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4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5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3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6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7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8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9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0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1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2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4.png" /><Relationship Id="rId4" Type="http://schemas.openxmlformats.org/officeDocument/2006/relationships/image" Target="../media/image62.png" /><Relationship Id="rId5" Type="http://schemas.openxmlformats.org/officeDocument/2006/relationships/image" Target="../media/image63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5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2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find theoretical probabilities from a table showing the possible outcomes for one event.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1"/>
          </p:nvPr>
        </p:nvSpPr>
        <p:spPr>
          <a:xfrm>
            <a:off x="324000" y="2039450"/>
            <a:ext cx="8496000" cy="10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 theoretical probability is a probability based on counting the number of desired outcomes from a sample space where all individual outcomes are equally likely.</a:t>
            </a:r>
            <a:endParaRPr sz="1800"/>
          </a:p>
        </p:txBody>
      </p:sp>
      <p:sp>
        <p:nvSpPr>
          <p:cNvPr id="770" name="Google Shape;770;p66"/>
          <p:cNvSpPr txBox="1"/>
          <p:nvPr/>
        </p:nvSpPr>
        <p:spPr>
          <a:xfrm>
            <a:off x="324000" y="1048850"/>
            <a:ext cx="8496000" cy="7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probability that an event will occur is the proportion of times the event is expected to happen in a suitably large experiment.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>
            <p:ph type="subTitle" idx="1"/>
          </p:nvPr>
        </p:nvSpPr>
        <p:spPr>
          <a:xfrm>
            <a:off x="324000" y="3411050"/>
            <a:ext cx="8496000" cy="10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The frequency is the number of times an event occurs; or the number of individuals (people, animals, etc) with some specific property.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8"/>
          <p:cNvSpPr txBox="1"/>
          <p:nvPr>
            <p:ph type="body" idx="1"/>
          </p:nvPr>
        </p:nvSpPr>
        <p:spPr>
          <a:xfrm>
            <a:off x="324000" y="759300"/>
            <a:ext cx="8496000" cy="68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 has a box of novelty flavoured sweets. Some flavours </a:t>
            </a:r>
            <a:r>
              <a:rPr lang="en-GB" sz="2000">
                <a:solidFill>
                  <a:schemeClr val="accent4"/>
                </a:solidFill>
              </a:rPr>
              <a:t>taste nice</a:t>
            </a:r>
            <a:r>
              <a:rPr lang="en-GB" sz="2000"/>
              <a:t>, but some flavours have been manufactured to </a:t>
            </a:r>
            <a:r>
              <a:rPr lang="en-GB" sz="2000">
                <a:solidFill>
                  <a:schemeClr val="accent4"/>
                </a:solidFill>
              </a:rPr>
              <a:t>taste nasty</a:t>
            </a:r>
            <a:r>
              <a:rPr lang="en-GB" sz="2000"/>
              <a:t> as a joke.</a:t>
            </a:r>
            <a:endParaRPr sz="2000"/>
          </a:p>
        </p:txBody>
      </p:sp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sp>
        <p:nvSpPr>
          <p:cNvPr id="786" name="Google Shape;786;p68"/>
          <p:cNvSpPr txBox="1"/>
          <p:nvPr>
            <p:ph type="body" idx="1"/>
          </p:nvPr>
        </p:nvSpPr>
        <p:spPr>
          <a:xfrm>
            <a:off x="1876950" y="1707000"/>
            <a:ext cx="3386100" cy="68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flavours of the sweets are shown in the table.</a:t>
            </a:r>
            <a:endParaRPr sz="2000"/>
          </a:p>
        </p:txBody>
      </p:sp>
      <p:graphicFrame>
        <p:nvGraphicFramePr>
          <p:cNvPr id="787" name="Google Shape;787;p68"/>
          <p:cNvGraphicFramePr>
            <a:graphicFrameLocks noGrp="1"/>
          </p:cNvGraphicFramePr>
          <p:nvPr/>
        </p:nvGraphicFramePr>
        <p:xfrm>
          <a:off x="5961750" y="170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21425"/>
                <a:gridCol w="1321425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tasty flavours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nasty flavours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2015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88" name="Google Shape;788;p68"/>
          <p:cNvSpPr txBox="1"/>
          <p:nvPr>
            <p:ph type="body" idx="1"/>
          </p:nvPr>
        </p:nvSpPr>
        <p:spPr>
          <a:xfrm>
            <a:off x="6007374" y="2429100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strawberry</a:t>
            </a:r>
            <a:endParaRPr sz="1600"/>
          </a:p>
        </p:txBody>
      </p:sp>
      <p:sp>
        <p:nvSpPr>
          <p:cNvPr id="789" name="Google Shape;789;p68"/>
          <p:cNvSpPr txBox="1"/>
          <p:nvPr>
            <p:ph type="body" idx="1"/>
          </p:nvPr>
        </p:nvSpPr>
        <p:spPr>
          <a:xfrm>
            <a:off x="6007374" y="2755465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caramel</a:t>
            </a:r>
            <a:endParaRPr sz="1600"/>
          </a:p>
        </p:txBody>
      </p:sp>
      <p:sp>
        <p:nvSpPr>
          <p:cNvPr id="790" name="Google Shape;790;p68"/>
          <p:cNvSpPr txBox="1"/>
          <p:nvPr>
            <p:ph type="body" idx="1"/>
          </p:nvPr>
        </p:nvSpPr>
        <p:spPr>
          <a:xfrm>
            <a:off x="6007374" y="3081831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toffee</a:t>
            </a:r>
            <a:endParaRPr sz="1600"/>
          </a:p>
        </p:txBody>
      </p:sp>
      <p:sp>
        <p:nvSpPr>
          <p:cNvPr id="791" name="Google Shape;791;p68"/>
          <p:cNvSpPr txBox="1"/>
          <p:nvPr>
            <p:ph type="body" idx="1"/>
          </p:nvPr>
        </p:nvSpPr>
        <p:spPr>
          <a:xfrm>
            <a:off x="6007374" y="3408196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fudge</a:t>
            </a:r>
            <a:endParaRPr sz="1600"/>
          </a:p>
        </p:txBody>
      </p:sp>
      <p:sp>
        <p:nvSpPr>
          <p:cNvPr id="792" name="Google Shape;792;p68"/>
          <p:cNvSpPr txBox="1"/>
          <p:nvPr>
            <p:ph type="body" idx="1"/>
          </p:nvPr>
        </p:nvSpPr>
        <p:spPr>
          <a:xfrm>
            <a:off x="6007374" y="3734561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orange</a:t>
            </a:r>
            <a:endParaRPr sz="1600"/>
          </a:p>
        </p:txBody>
      </p:sp>
      <p:sp>
        <p:nvSpPr>
          <p:cNvPr id="793" name="Google Shape;793;p68"/>
          <p:cNvSpPr txBox="1"/>
          <p:nvPr>
            <p:ph type="body" idx="1"/>
          </p:nvPr>
        </p:nvSpPr>
        <p:spPr>
          <a:xfrm>
            <a:off x="6007374" y="4060927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chocolate</a:t>
            </a:r>
            <a:endParaRPr sz="1600"/>
          </a:p>
        </p:txBody>
      </p:sp>
      <p:sp>
        <p:nvSpPr>
          <p:cNvPr id="794" name="Google Shape;794;p68"/>
          <p:cNvSpPr txBox="1"/>
          <p:nvPr>
            <p:ph type="body" idx="1"/>
          </p:nvPr>
        </p:nvSpPr>
        <p:spPr>
          <a:xfrm>
            <a:off x="7359702" y="2429100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grass</a:t>
            </a:r>
            <a:endParaRPr sz="1600"/>
          </a:p>
        </p:txBody>
      </p:sp>
      <p:sp>
        <p:nvSpPr>
          <p:cNvPr id="795" name="Google Shape;795;p68"/>
          <p:cNvSpPr txBox="1"/>
          <p:nvPr>
            <p:ph type="body" idx="1"/>
          </p:nvPr>
        </p:nvSpPr>
        <p:spPr>
          <a:xfrm>
            <a:off x="7359702" y="2755467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earwax</a:t>
            </a:r>
            <a:endParaRPr sz="1600"/>
          </a:p>
        </p:txBody>
      </p:sp>
      <p:sp>
        <p:nvSpPr>
          <p:cNvPr id="796" name="Google Shape;796;p68"/>
          <p:cNvSpPr txBox="1"/>
          <p:nvPr>
            <p:ph type="body" idx="1"/>
          </p:nvPr>
        </p:nvSpPr>
        <p:spPr>
          <a:xfrm>
            <a:off x="7359702" y="3081833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fish</a:t>
            </a:r>
            <a:endParaRPr sz="1600"/>
          </a:p>
        </p:txBody>
      </p:sp>
      <p:sp>
        <p:nvSpPr>
          <p:cNvPr id="797" name="Google Shape;797;p68"/>
          <p:cNvSpPr txBox="1"/>
          <p:nvPr>
            <p:ph type="body" idx="1"/>
          </p:nvPr>
        </p:nvSpPr>
        <p:spPr>
          <a:xfrm>
            <a:off x="7359702" y="3408200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garlic</a:t>
            </a:r>
            <a:endParaRPr sz="1600"/>
          </a:p>
        </p:txBody>
      </p:sp>
      <p:pic>
        <p:nvPicPr>
          <p:cNvPr id="798" name="Google Shape;79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5124" y="1708926"/>
            <a:ext cx="665080" cy="7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8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055" y="2064988"/>
            <a:ext cx="345048" cy="190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3" name="Shape 803"/>
        <p:cNvGrpSpPr/>
        <p:nvPr/>
      </p:nvGrpSpPr>
      <p:grpSpPr>
        <a:xfrm>
          <a:off x="0" y="0"/>
          <a:ext cx="0" cy="0"/>
        </a:xfrm>
      </p:grpSpPr>
      <p:sp>
        <p:nvSpPr>
          <p:cNvPr id="804" name="Google Shape;804;p69"/>
          <p:cNvSpPr txBox="1"/>
          <p:nvPr>
            <p:ph type="body" idx="1"/>
          </p:nvPr>
        </p:nvSpPr>
        <p:spPr>
          <a:xfrm>
            <a:off x="6007374" y="2429100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strawberry</a:t>
            </a:r>
            <a:endParaRPr sz="1600"/>
          </a:p>
        </p:txBody>
      </p:sp>
      <p:pic>
        <p:nvPicPr>
          <p:cNvPr id="805" name="Google Shape;805;p69" descr="&lt;math xmlns=&quot;http://www.w3.org/1998/Math/MathML&quot; display=&quot;block&quot; data-is-equatio=&quot;1&quot; data-latex=&quot;\frac{4}{10}&quot;&gt;&lt;mfrac&gt;&lt;mn&gt;4&lt;/mn&gt;&lt;mn&gt;10&lt;/mn&gt;&lt;/mfrac&gt;&lt;/math&gt;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198" y="3832200"/>
            <a:ext cx="345050" cy="6356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6" name="Google Shape;806;p69"/>
          <p:cNvGraphicFramePr>
            <a:graphicFrameLocks noGrp="1"/>
          </p:cNvGraphicFramePr>
          <p:nvPr/>
        </p:nvGraphicFramePr>
        <p:xfrm>
          <a:off x="5961750" y="170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21425"/>
                <a:gridCol w="1321425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tasty flavours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nasty flavours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2015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7" name="Google Shape;807;p69"/>
          <p:cNvSpPr/>
          <p:nvPr/>
        </p:nvSpPr>
        <p:spPr>
          <a:xfrm>
            <a:off x="5974775" y="2379500"/>
            <a:ext cx="2629800" cy="20157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 txBox="1"/>
          <p:nvPr>
            <p:ph type="body" idx="1"/>
          </p:nvPr>
        </p:nvSpPr>
        <p:spPr>
          <a:xfrm>
            <a:off x="324000" y="759300"/>
            <a:ext cx="84960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 puts one of each flavour into a bag.</a:t>
            </a:r>
            <a:endParaRPr sz="2000"/>
          </a:p>
        </p:txBody>
      </p:sp>
      <p:sp>
        <p:nvSpPr>
          <p:cNvPr id="809" name="Google Shape;80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sp>
        <p:nvSpPr>
          <p:cNvPr id="810" name="Google Shape;810;p69"/>
          <p:cNvSpPr txBox="1"/>
          <p:nvPr>
            <p:ph type="body" idx="1"/>
          </p:nvPr>
        </p:nvSpPr>
        <p:spPr>
          <a:xfrm>
            <a:off x="5429400" y="759300"/>
            <a:ext cx="31980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 offers a sweet to Izzy.</a:t>
            </a:r>
            <a:endParaRPr sz="2000"/>
          </a:p>
        </p:txBody>
      </p:sp>
      <p:pic>
        <p:nvPicPr>
          <p:cNvPr id="811" name="Google Shape;81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95124" y="1708926"/>
            <a:ext cx="665080" cy="7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9"/>
          <p:cNvSpPr txBox="1"/>
          <p:nvPr>
            <p:ph type="body" idx="1"/>
          </p:nvPr>
        </p:nvSpPr>
        <p:spPr>
          <a:xfrm>
            <a:off x="6007374" y="2755465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caramel</a:t>
            </a:r>
            <a:endParaRPr sz="1600"/>
          </a:p>
        </p:txBody>
      </p:sp>
      <p:sp>
        <p:nvSpPr>
          <p:cNvPr id="813" name="Google Shape;813;p69"/>
          <p:cNvSpPr txBox="1"/>
          <p:nvPr>
            <p:ph type="body" idx="1"/>
          </p:nvPr>
        </p:nvSpPr>
        <p:spPr>
          <a:xfrm>
            <a:off x="6007374" y="3081831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toffee</a:t>
            </a:r>
            <a:endParaRPr sz="1600"/>
          </a:p>
        </p:txBody>
      </p:sp>
      <p:sp>
        <p:nvSpPr>
          <p:cNvPr id="814" name="Google Shape;814;p69"/>
          <p:cNvSpPr txBox="1"/>
          <p:nvPr>
            <p:ph type="body" idx="1"/>
          </p:nvPr>
        </p:nvSpPr>
        <p:spPr>
          <a:xfrm>
            <a:off x="6007374" y="3408196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fudge</a:t>
            </a:r>
            <a:endParaRPr sz="1600"/>
          </a:p>
        </p:txBody>
      </p:sp>
      <p:sp>
        <p:nvSpPr>
          <p:cNvPr id="815" name="Google Shape;815;p69"/>
          <p:cNvSpPr txBox="1"/>
          <p:nvPr>
            <p:ph type="body" idx="1"/>
          </p:nvPr>
        </p:nvSpPr>
        <p:spPr>
          <a:xfrm>
            <a:off x="6007374" y="3734561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orange</a:t>
            </a:r>
            <a:endParaRPr sz="1600"/>
          </a:p>
        </p:txBody>
      </p:sp>
      <p:sp>
        <p:nvSpPr>
          <p:cNvPr id="816" name="Google Shape;816;p69"/>
          <p:cNvSpPr txBox="1"/>
          <p:nvPr>
            <p:ph type="body" idx="1"/>
          </p:nvPr>
        </p:nvSpPr>
        <p:spPr>
          <a:xfrm>
            <a:off x="6007374" y="4060927"/>
            <a:ext cx="12759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chocolate</a:t>
            </a:r>
            <a:endParaRPr sz="1600"/>
          </a:p>
        </p:txBody>
      </p:sp>
      <p:sp>
        <p:nvSpPr>
          <p:cNvPr id="817" name="Google Shape;817;p69"/>
          <p:cNvSpPr txBox="1"/>
          <p:nvPr>
            <p:ph type="body" idx="1"/>
          </p:nvPr>
        </p:nvSpPr>
        <p:spPr>
          <a:xfrm>
            <a:off x="7359702" y="2429100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grass</a:t>
            </a:r>
            <a:endParaRPr sz="1600"/>
          </a:p>
        </p:txBody>
      </p:sp>
      <p:sp>
        <p:nvSpPr>
          <p:cNvPr id="818" name="Google Shape;818;p69"/>
          <p:cNvSpPr txBox="1"/>
          <p:nvPr>
            <p:ph type="body" idx="1"/>
          </p:nvPr>
        </p:nvSpPr>
        <p:spPr>
          <a:xfrm>
            <a:off x="7359702" y="2755467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earwax</a:t>
            </a:r>
            <a:endParaRPr sz="1600"/>
          </a:p>
        </p:txBody>
      </p:sp>
      <p:sp>
        <p:nvSpPr>
          <p:cNvPr id="819" name="Google Shape;819;p69"/>
          <p:cNvSpPr txBox="1"/>
          <p:nvPr>
            <p:ph type="body" idx="1"/>
          </p:nvPr>
        </p:nvSpPr>
        <p:spPr>
          <a:xfrm>
            <a:off x="7359702" y="3081833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fish</a:t>
            </a:r>
            <a:endParaRPr sz="1600"/>
          </a:p>
        </p:txBody>
      </p:sp>
      <p:sp>
        <p:nvSpPr>
          <p:cNvPr id="820" name="Google Shape;820;p69"/>
          <p:cNvSpPr txBox="1"/>
          <p:nvPr>
            <p:ph type="body" idx="1"/>
          </p:nvPr>
        </p:nvSpPr>
        <p:spPr>
          <a:xfrm>
            <a:off x="7359702" y="3408200"/>
            <a:ext cx="11952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garlic</a:t>
            </a:r>
            <a:endParaRPr sz="1600"/>
          </a:p>
        </p:txBody>
      </p:sp>
      <p:sp>
        <p:nvSpPr>
          <p:cNvPr id="821" name="Google Shape;821;p69"/>
          <p:cNvSpPr txBox="1"/>
          <p:nvPr>
            <p:ph type="body" idx="1"/>
          </p:nvPr>
        </p:nvSpPr>
        <p:spPr>
          <a:xfrm>
            <a:off x="324000" y="1216500"/>
            <a:ext cx="84960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>
                <a:solidFill>
                  <a:schemeClr val="accent4"/>
                </a:solidFill>
              </a:rPr>
              <a:t>probability</a:t>
            </a:r>
            <a:r>
              <a:rPr lang="en-GB" sz="2000"/>
              <a:t> that she picks a </a:t>
            </a:r>
            <a:r>
              <a:rPr lang="en-GB" sz="2000">
                <a:solidFill>
                  <a:schemeClr val="accent4"/>
                </a:solidFill>
              </a:rPr>
              <a:t>nasty flavour</a:t>
            </a:r>
            <a:r>
              <a:rPr lang="en-GB" sz="2000"/>
              <a:t>?</a:t>
            </a:r>
            <a:endParaRPr sz="2000"/>
          </a:p>
        </p:txBody>
      </p:sp>
      <p:pic>
        <p:nvPicPr>
          <p:cNvPr id="822" name="Google Shape;822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8525" y="1714662"/>
            <a:ext cx="865425" cy="83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2275" y="2665611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9280" y="2754089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7734" y="2920374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2958" y="2984628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9998" y="3143363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6922" y="3215167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0544" y="2825358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74327" y="2616049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1752" y="3015390"/>
            <a:ext cx="345048" cy="19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69" descr="&lt;math xmlns=&quot;http://www.w3.org/1998/Math/MathML&quot; data-is-equatio=&quot;1&quot; data-equatio-url=&quot;https://equatio-api.texthelp.com/desmos/get/06-10-2023/8b843c0b-cef4-4e8e-922b-d323e17c6783&quot; data-equatio-type=&quot;image&quot;&gt;&lt;mglyph src=&quot;https://equatio-api.texthelp.com/desmos/get/06-10-2023/8b843c0b-cef4-4e8e-922b-d323e17c6783&quot; alt=&quot;Equatio Image&quot;/&gt;&lt;/math&gt;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9280" y="2523550"/>
            <a:ext cx="345048" cy="190033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69"/>
          <p:cNvSpPr/>
          <p:nvPr/>
        </p:nvSpPr>
        <p:spPr>
          <a:xfrm>
            <a:off x="1530683" y="2257783"/>
            <a:ext cx="1341179" cy="1247067"/>
          </a:xfrm>
          <a:custGeom>
            <a:rect l="l" t="t" r="r" b="b"/>
            <a:pathLst>
              <a:path w="61834" h="57495" extrusionOk="0">
                <a:moveTo>
                  <a:pt x="18939" y="0"/>
                </a:moveTo>
                <a:cubicBezTo>
                  <a:pt x="22284" y="5575"/>
                  <a:pt x="9098" y="8660"/>
                  <a:pt x="5273" y="13918"/>
                </a:cubicBezTo>
                <a:cubicBezTo>
                  <a:pt x="134" y="20984"/>
                  <a:pt x="-844" y="31135"/>
                  <a:pt x="718" y="39731"/>
                </a:cubicBezTo>
                <a:cubicBezTo>
                  <a:pt x="3140" y="53058"/>
                  <a:pt x="23971" y="58871"/>
                  <a:pt x="37412" y="57192"/>
                </a:cubicBezTo>
                <a:cubicBezTo>
                  <a:pt x="45316" y="56204"/>
                  <a:pt x="54490" y="53765"/>
                  <a:pt x="59176" y="47323"/>
                </a:cubicBezTo>
                <a:cubicBezTo>
                  <a:pt x="63200" y="41790"/>
                  <a:pt x="61847" y="33461"/>
                  <a:pt x="60188" y="26824"/>
                </a:cubicBezTo>
                <a:cubicBezTo>
                  <a:pt x="58645" y="20651"/>
                  <a:pt x="53263" y="15868"/>
                  <a:pt x="48294" y="11894"/>
                </a:cubicBezTo>
                <a:cubicBezTo>
                  <a:pt x="44048" y="8499"/>
                  <a:pt x="33132" y="5535"/>
                  <a:pt x="36147" y="1012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834" name="Google Shape;834;p69"/>
          <p:cNvSpPr txBox="1"/>
          <p:nvPr>
            <p:ph type="body" idx="1"/>
          </p:nvPr>
        </p:nvSpPr>
        <p:spPr>
          <a:xfrm>
            <a:off x="329225" y="4028575"/>
            <a:ext cx="27186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P(nasty flavour) = </a:t>
            </a:r>
            <a:endParaRPr sz="1800"/>
          </a:p>
        </p:txBody>
      </p:sp>
      <p:sp>
        <p:nvSpPr>
          <p:cNvPr id="835" name="Google Shape;835;p69"/>
          <p:cNvSpPr txBox="1"/>
          <p:nvPr>
            <p:ph type="body" idx="1"/>
          </p:nvPr>
        </p:nvSpPr>
        <p:spPr>
          <a:xfrm>
            <a:off x="3072494" y="3570950"/>
            <a:ext cx="27186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nasty sweets</a:t>
            </a:r>
            <a:endParaRPr sz="1800"/>
          </a:p>
        </p:txBody>
      </p:sp>
      <p:sp>
        <p:nvSpPr>
          <p:cNvPr id="836" name="Google Shape;836;p69"/>
          <p:cNvSpPr txBox="1"/>
          <p:nvPr>
            <p:ph type="body" idx="1"/>
          </p:nvPr>
        </p:nvSpPr>
        <p:spPr>
          <a:xfrm>
            <a:off x="3072494" y="4409150"/>
            <a:ext cx="27186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sweets</a:t>
            </a:r>
            <a:endParaRPr sz="1800"/>
          </a:p>
        </p:txBody>
      </p:sp>
      <p:cxnSp>
        <p:nvCxnSpPr>
          <p:cNvPr id="837" name="Google Shape;837;p69"/>
          <p:cNvCxnSpPr>
            <a:stCxn id="835" idx="1"/>
          </p:cNvCxnSpPr>
          <p:nvPr/>
        </p:nvCxnSpPr>
        <p:spPr>
          <a:xfrm flipH="1">
            <a:off x="2624294" y="3765200"/>
            <a:ext cx="448200" cy="16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8" name="Google Shape;838;p69"/>
          <p:cNvCxnSpPr>
            <a:stCxn id="836" idx="1"/>
          </p:cNvCxnSpPr>
          <p:nvPr/>
        </p:nvCxnSpPr>
        <p:spPr>
          <a:xfrm rot="10800000">
            <a:off x="2656694" y="4398200"/>
            <a:ext cx="415800" cy="205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9" name="Google Shape;839;p69"/>
          <p:cNvSpPr/>
          <p:nvPr/>
        </p:nvSpPr>
        <p:spPr>
          <a:xfrm>
            <a:off x="7296100" y="2379450"/>
            <a:ext cx="1308600" cy="20157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3" name="Shape 843"/>
        <p:cNvGrpSpPr/>
        <p:nvPr/>
      </p:nvGrpSpPr>
      <p:grpSpPr>
        <a:xfrm>
          <a:off x="0" y="0"/>
          <a:ext cx="0" cy="0"/>
        </a:xfrm>
      </p:grpSpPr>
      <p:pic>
        <p:nvPicPr>
          <p:cNvPr id="844" name="Google Shape;844;p70" descr="&lt;math xmlns=&quot;http://www.w3.org/1998/Math/MathML&quot; display=&quot;block&quot; data-is-equatio=&quot;1&quot; data-latex=&quot;\frac{12}{80}&quot;&gt;&lt;mfrac&gt;&lt;mn&gt;12&lt;/mn&gt;&lt;mn&gt;80&lt;/mn&gt;&lt;/mfrac&gt;&lt;/math&gt;" title="12 over 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250" y="2658525"/>
            <a:ext cx="305950" cy="5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0"/>
          <p:cNvSpPr txBox="1"/>
          <p:nvPr>
            <p:ph type="body" idx="1"/>
          </p:nvPr>
        </p:nvSpPr>
        <p:spPr>
          <a:xfrm>
            <a:off x="324000" y="759300"/>
            <a:ext cx="84960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table shows how many of each flavour sweet is in the entire box.</a:t>
            </a:r>
            <a:endParaRPr sz="2000"/>
          </a:p>
        </p:txBody>
      </p:sp>
      <p:sp>
        <p:nvSpPr>
          <p:cNvPr id="846" name="Google Shape;84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847" name="Google Shape;847;p70"/>
          <p:cNvGraphicFramePr>
            <a:graphicFrameLocks noGrp="1"/>
          </p:cNvGraphicFramePr>
          <p:nvPr/>
        </p:nvGraphicFramePr>
        <p:xfrm>
          <a:off x="639450" y="118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08950"/>
                <a:gridCol w="1333900"/>
              </a:tblGrid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flavour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caramel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chocolate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grass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garlic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48" name="Google Shape;848;p70"/>
          <p:cNvSpPr txBox="1"/>
          <p:nvPr>
            <p:ph type="body" idx="1"/>
          </p:nvPr>
        </p:nvSpPr>
        <p:spPr>
          <a:xfrm>
            <a:off x="3549340" y="1216500"/>
            <a:ext cx="5262600" cy="7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>
                <a:solidFill>
                  <a:schemeClr val="accent4"/>
                </a:solidFill>
              </a:rPr>
              <a:t>probability</a:t>
            </a:r>
            <a:r>
              <a:rPr lang="en-GB" sz="2000"/>
              <a:t> of randomly choosing a </a:t>
            </a:r>
            <a:r>
              <a:rPr lang="en-GB" sz="2000">
                <a:solidFill>
                  <a:schemeClr val="accent4"/>
                </a:solidFill>
              </a:rPr>
              <a:t>fudge</a:t>
            </a:r>
            <a:r>
              <a:rPr lang="en-GB" sz="2000"/>
              <a:t> flavour sweet?</a:t>
            </a:r>
            <a:endParaRPr sz="2000"/>
          </a:p>
        </p:txBody>
      </p:sp>
      <p:sp>
        <p:nvSpPr>
          <p:cNvPr id="849" name="Google Shape;849;p70"/>
          <p:cNvSpPr txBox="1"/>
          <p:nvPr>
            <p:ph type="body" idx="1"/>
          </p:nvPr>
        </p:nvSpPr>
        <p:spPr>
          <a:xfrm>
            <a:off x="3529625" y="2809375"/>
            <a:ext cx="12945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P(fudge) = </a:t>
            </a:r>
            <a:endParaRPr sz="1800"/>
          </a:p>
        </p:txBody>
      </p:sp>
      <p:sp>
        <p:nvSpPr>
          <p:cNvPr id="850" name="Google Shape;850;p70"/>
          <p:cNvSpPr txBox="1"/>
          <p:nvPr>
            <p:ph type="body" idx="1"/>
          </p:nvPr>
        </p:nvSpPr>
        <p:spPr>
          <a:xfrm>
            <a:off x="5587100" y="2351750"/>
            <a:ext cx="32520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fudge sweets</a:t>
            </a:r>
            <a:endParaRPr sz="1800"/>
          </a:p>
        </p:txBody>
      </p:sp>
      <p:sp>
        <p:nvSpPr>
          <p:cNvPr id="851" name="Google Shape;851;p70"/>
          <p:cNvSpPr txBox="1"/>
          <p:nvPr>
            <p:ph type="body" idx="1"/>
          </p:nvPr>
        </p:nvSpPr>
        <p:spPr>
          <a:xfrm>
            <a:off x="5587094" y="3189950"/>
            <a:ext cx="27186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sweets</a:t>
            </a:r>
            <a:endParaRPr sz="1800"/>
          </a:p>
        </p:txBody>
      </p:sp>
      <p:cxnSp>
        <p:nvCxnSpPr>
          <p:cNvPr id="852" name="Google Shape;852;p70"/>
          <p:cNvCxnSpPr>
            <a:stCxn id="850" idx="1"/>
          </p:cNvCxnSpPr>
          <p:nvPr/>
        </p:nvCxnSpPr>
        <p:spPr>
          <a:xfrm flipH="1">
            <a:off x="5138900" y="2546000"/>
            <a:ext cx="448200" cy="16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3" name="Google Shape;853;p70"/>
          <p:cNvCxnSpPr>
            <a:stCxn id="851" idx="1"/>
          </p:cNvCxnSpPr>
          <p:nvPr/>
        </p:nvCxnSpPr>
        <p:spPr>
          <a:xfrm rot="10800000">
            <a:off x="5171294" y="3179000"/>
            <a:ext cx="415800" cy="205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4" name="Google Shape;854;p70"/>
          <p:cNvSpPr txBox="1"/>
          <p:nvPr>
            <p:ph type="body" idx="1"/>
          </p:nvPr>
        </p:nvSpPr>
        <p:spPr>
          <a:xfrm>
            <a:off x="3529705" y="3875750"/>
            <a:ext cx="49134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probability could also be written as 0.15, 15% or      . </a:t>
            </a:r>
            <a:endParaRPr sz="1800"/>
          </a:p>
        </p:txBody>
      </p:sp>
      <p:pic>
        <p:nvPicPr>
          <p:cNvPr id="855" name="Google Shape;855;p70" descr="&lt;math xmlns=&quot;http://www.w3.org/1998/Math/MathML&quot; display=&quot;block&quot; data-is-equatio=&quot;1&quot; data-latex=&quot;\frac{3}{20}&quot;&gt;&lt;mfrac&gt;&lt;mn&gt;3&lt;/mn&gt;&lt;mn&gt;20&lt;/mn&gt;&lt;/mfrac&gt;&lt;/math&gt;" title="3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125" y="4164325"/>
            <a:ext cx="266175" cy="4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0"/>
          <p:cNvSpPr/>
          <p:nvPr/>
        </p:nvSpPr>
        <p:spPr>
          <a:xfrm>
            <a:off x="639450" y="2401100"/>
            <a:ext cx="2642700" cy="313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/>
          <p:nvPr/>
        </p:nvSpPr>
        <p:spPr>
          <a:xfrm>
            <a:off x="639450" y="4498065"/>
            <a:ext cx="2642700" cy="313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1" name="Shape 861"/>
        <p:cNvGrpSpPr/>
        <p:nvPr/>
      </p:nvGrpSpPr>
      <p:grpSpPr>
        <a:xfrm>
          <a:off x="0" y="0"/>
          <a:ext cx="0" cy="0"/>
        </a:xfrm>
      </p:grpSpPr>
      <p:pic>
        <p:nvPicPr>
          <p:cNvPr id="862" name="Google Shape;862;p71" descr="&lt;math xmlns=&quot;http://www.w3.org/1998/Math/MathML&quot; display=&quot;block&quot; data-is-equatio=&quot;1&quot; data-latex=&quot;\frac{8}{80}&quot;&gt;&lt;mfrac&gt;&lt;mn&gt;8&lt;/mn&gt;&lt;mn&gt;80&lt;/mn&gt;&lt;/mfrac&gt;&lt;/math&gt;" title="8 over 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200" y="2650300"/>
            <a:ext cx="33102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1"/>
          <p:cNvSpPr txBox="1"/>
          <p:nvPr>
            <p:ph type="body" idx="1"/>
          </p:nvPr>
        </p:nvSpPr>
        <p:spPr>
          <a:xfrm>
            <a:off x="324000" y="759300"/>
            <a:ext cx="84960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table shows how many of each flavour sweet is in the entire box.</a:t>
            </a:r>
            <a:endParaRPr sz="2000"/>
          </a:p>
        </p:txBody>
      </p:sp>
      <p:sp>
        <p:nvSpPr>
          <p:cNvPr id="864" name="Google Shape;86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865" name="Google Shape;865;p71"/>
          <p:cNvGraphicFramePr>
            <a:graphicFrameLocks noGrp="1"/>
          </p:cNvGraphicFramePr>
          <p:nvPr/>
        </p:nvGraphicFramePr>
        <p:xfrm>
          <a:off x="639450" y="118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08950"/>
                <a:gridCol w="1333900"/>
              </a:tblGrid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flavour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caramel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chocolate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grass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garlic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66" name="Google Shape;866;p71"/>
          <p:cNvSpPr txBox="1"/>
          <p:nvPr>
            <p:ph type="body" idx="1"/>
          </p:nvPr>
        </p:nvSpPr>
        <p:spPr>
          <a:xfrm>
            <a:off x="3549340" y="1216500"/>
            <a:ext cx="5262600" cy="7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>
                <a:solidFill>
                  <a:schemeClr val="accent4"/>
                </a:solidFill>
              </a:rPr>
              <a:t>probability</a:t>
            </a:r>
            <a:r>
              <a:rPr lang="en-GB" sz="2000"/>
              <a:t> of randomly choosing an </a:t>
            </a:r>
            <a:r>
              <a:rPr lang="en-GB" sz="2000">
                <a:solidFill>
                  <a:schemeClr val="accent4"/>
                </a:solidFill>
              </a:rPr>
              <a:t>orange</a:t>
            </a:r>
            <a:r>
              <a:rPr lang="en-GB" sz="2000"/>
              <a:t> flavour sweet?</a:t>
            </a:r>
            <a:endParaRPr sz="2000"/>
          </a:p>
        </p:txBody>
      </p:sp>
      <p:sp>
        <p:nvSpPr>
          <p:cNvPr id="867" name="Google Shape;867;p71"/>
          <p:cNvSpPr txBox="1"/>
          <p:nvPr>
            <p:ph type="body" idx="1"/>
          </p:nvPr>
        </p:nvSpPr>
        <p:spPr>
          <a:xfrm>
            <a:off x="3529625" y="2809375"/>
            <a:ext cx="13626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P(orange) = </a:t>
            </a:r>
            <a:endParaRPr sz="1800"/>
          </a:p>
        </p:txBody>
      </p:sp>
      <p:sp>
        <p:nvSpPr>
          <p:cNvPr id="868" name="Google Shape;868;p71"/>
          <p:cNvSpPr txBox="1"/>
          <p:nvPr>
            <p:ph type="body" idx="1"/>
          </p:nvPr>
        </p:nvSpPr>
        <p:spPr>
          <a:xfrm>
            <a:off x="5739500" y="2351750"/>
            <a:ext cx="32520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of orange sweets</a:t>
            </a:r>
            <a:endParaRPr sz="1800"/>
          </a:p>
        </p:txBody>
      </p:sp>
      <p:sp>
        <p:nvSpPr>
          <p:cNvPr id="869" name="Google Shape;869;p71"/>
          <p:cNvSpPr txBox="1"/>
          <p:nvPr>
            <p:ph type="body" idx="1"/>
          </p:nvPr>
        </p:nvSpPr>
        <p:spPr>
          <a:xfrm>
            <a:off x="5739494" y="3189950"/>
            <a:ext cx="27186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sweets</a:t>
            </a:r>
            <a:endParaRPr sz="1800"/>
          </a:p>
        </p:txBody>
      </p:sp>
      <p:cxnSp>
        <p:nvCxnSpPr>
          <p:cNvPr id="870" name="Google Shape;870;p71"/>
          <p:cNvCxnSpPr>
            <a:stCxn id="868" idx="1"/>
          </p:cNvCxnSpPr>
          <p:nvPr/>
        </p:nvCxnSpPr>
        <p:spPr>
          <a:xfrm flipH="1">
            <a:off x="5291300" y="2546000"/>
            <a:ext cx="448200" cy="16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1" name="Google Shape;871;p71"/>
          <p:cNvCxnSpPr>
            <a:stCxn id="869" idx="1"/>
          </p:cNvCxnSpPr>
          <p:nvPr/>
        </p:nvCxnSpPr>
        <p:spPr>
          <a:xfrm rot="10800000">
            <a:off x="5323694" y="3179000"/>
            <a:ext cx="415800" cy="205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71"/>
          <p:cNvSpPr/>
          <p:nvPr/>
        </p:nvSpPr>
        <p:spPr>
          <a:xfrm>
            <a:off x="639450" y="2705900"/>
            <a:ext cx="2642700" cy="313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1"/>
          <p:cNvSpPr/>
          <p:nvPr/>
        </p:nvSpPr>
        <p:spPr>
          <a:xfrm>
            <a:off x="639450" y="4498065"/>
            <a:ext cx="2642700" cy="313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p72"/>
          <p:cNvSpPr txBox="1"/>
          <p:nvPr>
            <p:ph type="body" idx="1"/>
          </p:nvPr>
        </p:nvSpPr>
        <p:spPr>
          <a:xfrm>
            <a:off x="324000" y="759300"/>
            <a:ext cx="84960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table shows how many of each flavour sweet is in the entire box.</a:t>
            </a:r>
            <a:endParaRPr sz="2000"/>
          </a:p>
        </p:txBody>
      </p:sp>
      <p:sp>
        <p:nvSpPr>
          <p:cNvPr id="879" name="Google Shape;87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880" name="Google Shape;880;p72"/>
          <p:cNvGraphicFramePr>
            <a:graphicFrameLocks noGrp="1"/>
          </p:cNvGraphicFramePr>
          <p:nvPr/>
        </p:nvGraphicFramePr>
        <p:xfrm>
          <a:off x="639450" y="118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08950"/>
                <a:gridCol w="1333900"/>
              </a:tblGrid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flavour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caramel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chocolate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grass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garlic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81" name="Google Shape;881;p72"/>
          <p:cNvSpPr txBox="1"/>
          <p:nvPr>
            <p:ph type="body" idx="1"/>
          </p:nvPr>
        </p:nvSpPr>
        <p:spPr>
          <a:xfrm>
            <a:off x="3549340" y="1216500"/>
            <a:ext cx="5262600" cy="7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Izzy’s two favourite flavours are </a:t>
            </a:r>
            <a:r>
              <a:rPr lang="en-GB" sz="2000">
                <a:solidFill>
                  <a:schemeClr val="accent4"/>
                </a:solidFill>
              </a:rPr>
              <a:t>fudge and orange</a:t>
            </a:r>
            <a:r>
              <a:rPr lang="en-GB" sz="2000"/>
              <a:t>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she randomly chooses one of these flavours?</a:t>
            </a:r>
            <a:endParaRPr sz="2000"/>
          </a:p>
        </p:txBody>
      </p:sp>
      <p:sp>
        <p:nvSpPr>
          <p:cNvPr id="882" name="Google Shape;882;p72"/>
          <p:cNvSpPr txBox="1"/>
          <p:nvPr>
            <p:ph type="body" idx="1"/>
          </p:nvPr>
        </p:nvSpPr>
        <p:spPr>
          <a:xfrm>
            <a:off x="3529625" y="3418975"/>
            <a:ext cx="23295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P(fudge or orange) = </a:t>
            </a:r>
            <a:endParaRPr sz="1800"/>
          </a:p>
        </p:txBody>
      </p:sp>
      <p:pic>
        <p:nvPicPr>
          <p:cNvPr id="883" name="Google Shape;883;p72" descr="&lt;math xmlns=&quot;http://www.w3.org/1998/Math/MathML&quot; display=&quot;block&quot; data-is-equatio=&quot;1&quot; data-latex=&quot;\frac{20}{80}&quot;&gt;&lt;mfrac&gt;&lt;mn&gt;20&lt;/mn&gt;&lt;mn&gt;80&lt;/mn&gt;&lt;/mfrac&gt;&lt;/math&gt;" title="20 over 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232" y="3316200"/>
            <a:ext cx="29134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2"/>
          <p:cNvSpPr/>
          <p:nvPr/>
        </p:nvSpPr>
        <p:spPr>
          <a:xfrm>
            <a:off x="639450" y="2405600"/>
            <a:ext cx="2642700" cy="6135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2"/>
          <p:cNvSpPr/>
          <p:nvPr/>
        </p:nvSpPr>
        <p:spPr>
          <a:xfrm>
            <a:off x="639450" y="4498065"/>
            <a:ext cx="2642700" cy="313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 txBox="1"/>
          <p:nvPr>
            <p:ph type="body" idx="1"/>
          </p:nvPr>
        </p:nvSpPr>
        <p:spPr>
          <a:xfrm>
            <a:off x="6806300" y="2961350"/>
            <a:ext cx="15561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sum of fudge and orange</a:t>
            </a:r>
            <a:endParaRPr sz="1800"/>
          </a:p>
        </p:txBody>
      </p:sp>
      <p:cxnSp>
        <p:nvCxnSpPr>
          <p:cNvPr id="887" name="Google Shape;887;p72"/>
          <p:cNvCxnSpPr>
            <a:stCxn id="886" idx="1"/>
          </p:cNvCxnSpPr>
          <p:nvPr/>
        </p:nvCxnSpPr>
        <p:spPr>
          <a:xfrm flipH="1">
            <a:off x="6358100" y="3155600"/>
            <a:ext cx="448200" cy="16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8" name="Google Shape;888;p72"/>
          <p:cNvSpPr txBox="1"/>
          <p:nvPr>
            <p:ph type="body" idx="1"/>
          </p:nvPr>
        </p:nvSpPr>
        <p:spPr>
          <a:xfrm>
            <a:off x="6730100" y="4028150"/>
            <a:ext cx="1556100" cy="64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total number of sweets</a:t>
            </a:r>
            <a:endParaRPr sz="1800"/>
          </a:p>
        </p:txBody>
      </p:sp>
      <p:cxnSp>
        <p:nvCxnSpPr>
          <p:cNvPr id="889" name="Google Shape;889;p72"/>
          <p:cNvCxnSpPr/>
          <p:nvPr/>
        </p:nvCxnSpPr>
        <p:spPr>
          <a:xfrm rot="10800000">
            <a:off x="6314375" y="3915425"/>
            <a:ext cx="378300" cy="23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3" name="Shape 893"/>
        <p:cNvGrpSpPr/>
        <p:nvPr/>
      </p:nvGrpSpPr>
      <p:grpSpPr>
        <a:xfrm>
          <a:off x="0" y="0"/>
          <a:ext cx="0" cy="0"/>
        </a:xfrm>
      </p:grpSpPr>
      <p:sp>
        <p:nvSpPr>
          <p:cNvPr id="894" name="Google Shape;894;p73"/>
          <p:cNvSpPr txBox="1"/>
          <p:nvPr>
            <p:ph type="body" idx="1"/>
          </p:nvPr>
        </p:nvSpPr>
        <p:spPr>
          <a:xfrm>
            <a:off x="324000" y="759300"/>
            <a:ext cx="82377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table shows information about pupils on a school trip.</a:t>
            </a:r>
            <a:endParaRPr sz="2000"/>
          </a:p>
        </p:txBody>
      </p:sp>
      <p:sp>
        <p:nvSpPr>
          <p:cNvPr id="895" name="Google Shape;89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896" name="Google Shape;896;p73"/>
          <p:cNvGraphicFramePr>
            <a:graphicFrameLocks noGrp="1"/>
          </p:cNvGraphicFramePr>
          <p:nvPr/>
        </p:nvGraphicFramePr>
        <p:xfrm>
          <a:off x="868050" y="149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08950"/>
                <a:gridCol w="1333900"/>
              </a:tblGrid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97" name="Google Shape;897;p73"/>
          <p:cNvSpPr txBox="1"/>
          <p:nvPr>
            <p:ph type="body" idx="1"/>
          </p:nvPr>
        </p:nvSpPr>
        <p:spPr>
          <a:xfrm>
            <a:off x="3861650" y="1445100"/>
            <a:ext cx="4776300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pupil is chosen at random for a task.</a:t>
            </a:r>
            <a:endParaRPr sz="2000"/>
          </a:p>
        </p:txBody>
      </p:sp>
      <p:sp>
        <p:nvSpPr>
          <p:cNvPr id="898" name="Google Shape;898;p73"/>
          <p:cNvSpPr txBox="1"/>
          <p:nvPr>
            <p:ph type="body" idx="1"/>
          </p:nvPr>
        </p:nvSpPr>
        <p:spPr>
          <a:xfrm>
            <a:off x="3861650" y="2130900"/>
            <a:ext cx="4776300" cy="7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the pupil chosen is from </a:t>
            </a:r>
            <a:r>
              <a:rPr lang="en-GB" sz="2000">
                <a:solidFill>
                  <a:schemeClr val="accent4"/>
                </a:solidFill>
              </a:rPr>
              <a:t>Year 10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99" name="Google Shape;899;p73"/>
          <p:cNvSpPr txBox="1"/>
          <p:nvPr>
            <p:ph type="body" idx="1"/>
          </p:nvPr>
        </p:nvSpPr>
        <p:spPr>
          <a:xfrm>
            <a:off x="4242650" y="3502500"/>
            <a:ext cx="1759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P(Year 10)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0" name="Google Shape;900;p73" descr="&lt;math xmlns=&quot;http://www.w3.org/1998/Math/MathML&quot; display=&quot;block&quot; data-is-equatio=&quot;1&quot; data-latex=&quot;\frac{7}{40}&quot;&gt;&lt;mfrac&gt;&lt;mn&gt;7&lt;/mn&gt;&lt;mn&gt;40&lt;/mn&gt;&lt;/mfrac&gt;&lt;/math&gt;" title="7 over 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750" y="3347450"/>
            <a:ext cx="377375" cy="69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4" name="Shape 904"/>
        <p:cNvGrpSpPr/>
        <p:nvPr/>
      </p:nvGrpSpPr>
      <p:grpSpPr>
        <a:xfrm>
          <a:off x="0" y="0"/>
          <a:ext cx="0" cy="0"/>
        </a:xfrm>
      </p:grpSpPr>
      <p:sp>
        <p:nvSpPr>
          <p:cNvPr id="905" name="Google Shape;905;p74"/>
          <p:cNvSpPr txBox="1"/>
          <p:nvPr>
            <p:ph type="body" idx="1"/>
          </p:nvPr>
        </p:nvSpPr>
        <p:spPr>
          <a:xfrm>
            <a:off x="324000" y="759300"/>
            <a:ext cx="82377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table shows information about pupils on a school trip.</a:t>
            </a:r>
            <a:endParaRPr sz="2000"/>
          </a:p>
        </p:txBody>
      </p:sp>
      <p:sp>
        <p:nvSpPr>
          <p:cNvPr id="906" name="Google Shape;90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907" name="Google Shape;907;p74"/>
          <p:cNvGraphicFramePr>
            <a:graphicFrameLocks noGrp="1"/>
          </p:cNvGraphicFramePr>
          <p:nvPr/>
        </p:nvGraphicFramePr>
        <p:xfrm>
          <a:off x="868050" y="149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08950"/>
                <a:gridCol w="1333900"/>
              </a:tblGrid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08" name="Google Shape;908;p74"/>
          <p:cNvSpPr txBox="1"/>
          <p:nvPr>
            <p:ph type="body" idx="1"/>
          </p:nvPr>
        </p:nvSpPr>
        <p:spPr>
          <a:xfrm>
            <a:off x="3861650" y="1445100"/>
            <a:ext cx="4776300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pupil is chosen at random for a task.</a:t>
            </a:r>
            <a:endParaRPr sz="2000"/>
          </a:p>
        </p:txBody>
      </p:sp>
      <p:sp>
        <p:nvSpPr>
          <p:cNvPr id="909" name="Google Shape;909;p74"/>
          <p:cNvSpPr txBox="1"/>
          <p:nvPr>
            <p:ph type="body" idx="1"/>
          </p:nvPr>
        </p:nvSpPr>
        <p:spPr>
          <a:xfrm>
            <a:off x="3861650" y="2130900"/>
            <a:ext cx="4776300" cy="7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the pupil chosen is from </a:t>
            </a:r>
            <a:r>
              <a:rPr lang="en-GB" sz="2000">
                <a:solidFill>
                  <a:schemeClr val="accent4"/>
                </a:solidFill>
              </a:rPr>
              <a:t>Year 7-9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10" name="Google Shape;910;p74"/>
          <p:cNvSpPr txBox="1"/>
          <p:nvPr>
            <p:ph type="body" idx="1"/>
          </p:nvPr>
        </p:nvSpPr>
        <p:spPr>
          <a:xfrm>
            <a:off x="4242650" y="3502500"/>
            <a:ext cx="1759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P(Year 7-9)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11" name="Google Shape;911;p74" descr="&lt;math xmlns=&quot;http://www.w3.org/1998/Math/MathML&quot; display=&quot;block&quot; data-is-equatio=&quot;1&quot; data-latex=&quot;\frac{24}{40}&quot;&gt;&lt;mfrac&gt;&lt;mn&gt;24&lt;/mn&gt;&lt;mn&gt;40&lt;/mn&gt;&lt;/mfrac&gt;&lt;/math&gt;" title="24 over 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485" y="3374625"/>
            <a:ext cx="333031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5" name="Shape 915"/>
        <p:cNvGrpSpPr/>
        <p:nvPr/>
      </p:nvGrpSpPr>
      <p:grpSpPr>
        <a:xfrm>
          <a:off x="0" y="0"/>
          <a:ext cx="0" cy="0"/>
        </a:xfrm>
      </p:grpSpPr>
      <p:sp>
        <p:nvSpPr>
          <p:cNvPr id="916" name="Google Shape;916;p75"/>
          <p:cNvSpPr txBox="1"/>
          <p:nvPr>
            <p:ph type="body" idx="1"/>
          </p:nvPr>
        </p:nvSpPr>
        <p:spPr>
          <a:xfrm>
            <a:off x="324000" y="759300"/>
            <a:ext cx="8496000" cy="54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table shows the number of sweets of each flavour in a novelty box of sweets.</a:t>
            </a:r>
            <a:endParaRPr sz="1600"/>
          </a:p>
        </p:txBody>
      </p:sp>
      <p:sp>
        <p:nvSpPr>
          <p:cNvPr id="917" name="Google Shape;917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918" name="Google Shape;918;p75"/>
          <p:cNvGraphicFramePr>
            <a:graphicFrameLocks noGrp="1"/>
          </p:cNvGraphicFramePr>
          <p:nvPr/>
        </p:nvGraphicFramePr>
        <p:xfrm>
          <a:off x="563250" y="118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08950"/>
                <a:gridCol w="1333900"/>
              </a:tblGrid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flavour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caramel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chocolate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grass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garlic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9" name="Google Shape;919;p75"/>
          <p:cNvSpPr txBox="1"/>
          <p:nvPr>
            <p:ph type="body" idx="1"/>
          </p:nvPr>
        </p:nvSpPr>
        <p:spPr>
          <a:xfrm>
            <a:off x="3344524" y="1152389"/>
            <a:ext cx="5658300" cy="54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Find the probabilities for picking each of the </a:t>
            </a:r>
            <a:br>
              <a:rPr lang="en-GB" sz="1600"/>
            </a:br>
            <a:r>
              <a:rPr lang="en-GB" sz="1600"/>
              <a:t>    following flavours when a sweet is chosen at random.</a:t>
            </a:r>
            <a:endParaRPr sz="1600"/>
          </a:p>
        </p:txBody>
      </p:sp>
      <p:sp>
        <p:nvSpPr>
          <p:cNvPr id="920" name="Google Shape;920;p75"/>
          <p:cNvSpPr txBox="1"/>
          <p:nvPr>
            <p:ph type="body" idx="1"/>
          </p:nvPr>
        </p:nvSpPr>
        <p:spPr>
          <a:xfrm>
            <a:off x="3600600" y="1826100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P(strawberry) = </a:t>
            </a:r>
            <a:endParaRPr sz="1600"/>
          </a:p>
        </p:txBody>
      </p:sp>
      <p:sp>
        <p:nvSpPr>
          <p:cNvPr id="921" name="Google Shape;921;p75"/>
          <p:cNvSpPr txBox="1"/>
          <p:nvPr>
            <p:ph type="body" idx="1"/>
          </p:nvPr>
        </p:nvSpPr>
        <p:spPr>
          <a:xfrm>
            <a:off x="6496200" y="1817633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P(caramel) = </a:t>
            </a:r>
            <a:endParaRPr sz="1600"/>
          </a:p>
        </p:txBody>
      </p:sp>
      <p:sp>
        <p:nvSpPr>
          <p:cNvPr id="922" name="Google Shape;922;p75"/>
          <p:cNvSpPr txBox="1"/>
          <p:nvPr>
            <p:ph type="body" idx="1"/>
          </p:nvPr>
        </p:nvSpPr>
        <p:spPr>
          <a:xfrm>
            <a:off x="3600600" y="2342567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P(toffee) = </a:t>
            </a:r>
            <a:endParaRPr sz="1600"/>
          </a:p>
        </p:txBody>
      </p:sp>
      <p:sp>
        <p:nvSpPr>
          <p:cNvPr id="923" name="Google Shape;923;p75"/>
          <p:cNvSpPr txBox="1"/>
          <p:nvPr>
            <p:ph type="body" idx="1"/>
          </p:nvPr>
        </p:nvSpPr>
        <p:spPr>
          <a:xfrm>
            <a:off x="6496200" y="2334100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P(chocolate) = </a:t>
            </a:r>
            <a:endParaRPr sz="1600"/>
          </a:p>
        </p:txBody>
      </p:sp>
      <p:sp>
        <p:nvSpPr>
          <p:cNvPr id="924" name="Google Shape;924;p75"/>
          <p:cNvSpPr txBox="1"/>
          <p:nvPr>
            <p:ph type="body" idx="1"/>
          </p:nvPr>
        </p:nvSpPr>
        <p:spPr>
          <a:xfrm>
            <a:off x="3600600" y="2859033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P(grass) = </a:t>
            </a:r>
            <a:endParaRPr sz="1600"/>
          </a:p>
        </p:txBody>
      </p:sp>
      <p:sp>
        <p:nvSpPr>
          <p:cNvPr id="925" name="Google Shape;925;p75"/>
          <p:cNvSpPr txBox="1"/>
          <p:nvPr>
            <p:ph type="body" idx="1"/>
          </p:nvPr>
        </p:nvSpPr>
        <p:spPr>
          <a:xfrm>
            <a:off x="6496200" y="2850567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P(earwax) = </a:t>
            </a:r>
            <a:endParaRPr sz="1600"/>
          </a:p>
        </p:txBody>
      </p:sp>
      <p:sp>
        <p:nvSpPr>
          <p:cNvPr id="926" name="Google Shape;926;p75"/>
          <p:cNvSpPr txBox="1"/>
          <p:nvPr>
            <p:ph type="body" idx="1"/>
          </p:nvPr>
        </p:nvSpPr>
        <p:spPr>
          <a:xfrm>
            <a:off x="3600600" y="3375500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P(fish) = </a:t>
            </a:r>
            <a:endParaRPr sz="1600"/>
          </a:p>
        </p:txBody>
      </p:sp>
      <p:sp>
        <p:nvSpPr>
          <p:cNvPr id="927" name="Google Shape;927;p75"/>
          <p:cNvSpPr txBox="1"/>
          <p:nvPr>
            <p:ph type="body" idx="1"/>
          </p:nvPr>
        </p:nvSpPr>
        <p:spPr>
          <a:xfrm>
            <a:off x="6496200" y="3367033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P(garlic) = </a:t>
            </a:r>
            <a:endParaRPr sz="1600"/>
          </a:p>
        </p:txBody>
      </p:sp>
      <p:sp>
        <p:nvSpPr>
          <p:cNvPr id="928" name="Google Shape;928;p75"/>
          <p:cNvSpPr txBox="1"/>
          <p:nvPr>
            <p:ph type="body" idx="1"/>
          </p:nvPr>
        </p:nvSpPr>
        <p:spPr>
          <a:xfrm>
            <a:off x="3372000" y="3807300"/>
            <a:ext cx="54480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The nasty flavours are grass, earwax, fish and </a:t>
            </a:r>
            <a:br>
              <a:rPr lang="en-GB" sz="1600"/>
            </a:br>
            <a:r>
              <a:rPr lang="en-GB" sz="1600"/>
              <a:t>    garlic. What is the probability of choosing a nasty </a:t>
            </a:r>
            <a:br>
              <a:rPr lang="en-GB" sz="1600"/>
            </a:br>
            <a:r>
              <a:rPr lang="en-GB" sz="1600"/>
              <a:t>    flavoured sweet?</a:t>
            </a:r>
            <a:endParaRPr sz="1600"/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2" name="Shape 932"/>
        <p:cNvGrpSpPr/>
        <p:nvPr/>
      </p:nvGrpSpPr>
      <p:grpSpPr>
        <a:xfrm>
          <a:off x="0" y="0"/>
          <a:ext cx="0" cy="0"/>
        </a:xfrm>
      </p:grpSpPr>
      <p:sp>
        <p:nvSpPr>
          <p:cNvPr id="933" name="Google Shape;933;p76"/>
          <p:cNvSpPr txBox="1"/>
          <p:nvPr>
            <p:ph type="body" idx="1"/>
          </p:nvPr>
        </p:nvSpPr>
        <p:spPr>
          <a:xfrm>
            <a:off x="324000" y="759300"/>
            <a:ext cx="8496000" cy="54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Sam is carrying out a data investigation about how pupils in a nearby village travel to school. She conducts a survey and records her results in a tally chart.</a:t>
            </a:r>
            <a:endParaRPr sz="1600"/>
          </a:p>
        </p:txBody>
      </p:sp>
      <p:sp>
        <p:nvSpPr>
          <p:cNvPr id="934" name="Google Shape;934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935" name="Google Shape;935;p76"/>
          <p:cNvGraphicFramePr>
            <a:graphicFrameLocks noGrp="1"/>
          </p:cNvGraphicFramePr>
          <p:nvPr/>
        </p:nvGraphicFramePr>
        <p:xfrm>
          <a:off x="4689375" y="1401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226100"/>
                <a:gridCol w="1579025"/>
                <a:gridCol w="1183875"/>
              </a:tblGrid>
              <a:tr h="498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tally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936" name="Google Shape;936;p76"/>
          <p:cNvGrpSpPr/>
          <p:nvPr/>
        </p:nvGrpSpPr>
        <p:grpSpPr>
          <a:xfrm>
            <a:off x="5960842" y="1998902"/>
            <a:ext cx="323076" cy="195754"/>
            <a:chOff x="6605147" y="1426486"/>
            <a:chExt cx="390000" cy="244539"/>
          </a:xfrm>
        </p:grpSpPr>
        <p:cxnSp>
          <p:nvCxnSpPr>
            <p:cNvPr id="937" name="Google Shape;937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8" name="Google Shape;938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9" name="Google Shape;939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2" name="Google Shape;942;p76"/>
          <p:cNvGrpSpPr/>
          <p:nvPr/>
        </p:nvGrpSpPr>
        <p:grpSpPr>
          <a:xfrm>
            <a:off x="6342934" y="1998902"/>
            <a:ext cx="323076" cy="195754"/>
            <a:chOff x="6605147" y="1426486"/>
            <a:chExt cx="390000" cy="244539"/>
          </a:xfrm>
        </p:grpSpPr>
        <p:cxnSp>
          <p:nvCxnSpPr>
            <p:cNvPr id="943" name="Google Shape;943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8" name="Google Shape;948;p76"/>
          <p:cNvGrpSpPr/>
          <p:nvPr/>
        </p:nvGrpSpPr>
        <p:grpSpPr>
          <a:xfrm>
            <a:off x="6742568" y="1998902"/>
            <a:ext cx="323076" cy="195754"/>
            <a:chOff x="6605147" y="1426486"/>
            <a:chExt cx="390000" cy="244539"/>
          </a:xfrm>
        </p:grpSpPr>
        <p:cxnSp>
          <p:nvCxnSpPr>
            <p:cNvPr id="949" name="Google Shape;949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0" name="Google Shape;950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1" name="Google Shape;951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2" name="Google Shape;952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3" name="Google Shape;953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54" name="Google Shape;954;p76"/>
          <p:cNvGrpSpPr/>
          <p:nvPr/>
        </p:nvGrpSpPr>
        <p:grpSpPr>
          <a:xfrm>
            <a:off x="7142202" y="1998902"/>
            <a:ext cx="323076" cy="195754"/>
            <a:chOff x="6605147" y="1426486"/>
            <a:chExt cx="390000" cy="244539"/>
          </a:xfrm>
        </p:grpSpPr>
        <p:cxnSp>
          <p:nvCxnSpPr>
            <p:cNvPr id="955" name="Google Shape;955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6" name="Google Shape;956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7" name="Google Shape;957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8" name="Google Shape;958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9" name="Google Shape;959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60" name="Google Shape;960;p76"/>
          <p:cNvGrpSpPr/>
          <p:nvPr/>
        </p:nvGrpSpPr>
        <p:grpSpPr>
          <a:xfrm>
            <a:off x="5960842" y="2290275"/>
            <a:ext cx="323076" cy="195754"/>
            <a:chOff x="6605147" y="1426486"/>
            <a:chExt cx="390000" cy="244539"/>
          </a:xfrm>
        </p:grpSpPr>
        <p:cxnSp>
          <p:nvCxnSpPr>
            <p:cNvPr id="961" name="Google Shape;961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2" name="Google Shape;962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3" name="Google Shape;963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4" name="Google Shape;964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966" name="Google Shape;966;p76"/>
          <p:cNvCxnSpPr/>
          <p:nvPr/>
        </p:nvCxnSpPr>
        <p:spPr>
          <a:xfrm flipH="1">
            <a:off x="6411461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7" name="Google Shape;967;p76"/>
          <p:cNvCxnSpPr/>
          <p:nvPr/>
        </p:nvCxnSpPr>
        <p:spPr>
          <a:xfrm flipH="1">
            <a:off x="6474494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8" name="Google Shape;968;p76"/>
          <p:cNvCxnSpPr/>
          <p:nvPr/>
        </p:nvCxnSpPr>
        <p:spPr>
          <a:xfrm flipH="1">
            <a:off x="7179156" y="2900295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9" name="Google Shape;969;p76"/>
          <p:cNvCxnSpPr/>
          <p:nvPr/>
        </p:nvCxnSpPr>
        <p:spPr>
          <a:xfrm flipH="1">
            <a:off x="6779066" y="2290356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0" name="Google Shape;970;p76"/>
          <p:cNvCxnSpPr/>
          <p:nvPr/>
        </p:nvCxnSpPr>
        <p:spPr>
          <a:xfrm flipH="1">
            <a:off x="6842098" y="2290356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71" name="Google Shape;971;p76"/>
          <p:cNvGrpSpPr/>
          <p:nvPr/>
        </p:nvGrpSpPr>
        <p:grpSpPr>
          <a:xfrm>
            <a:off x="6339599" y="2290275"/>
            <a:ext cx="323076" cy="195754"/>
            <a:chOff x="6605147" y="1426486"/>
            <a:chExt cx="390000" cy="244539"/>
          </a:xfrm>
        </p:grpSpPr>
        <p:cxnSp>
          <p:nvCxnSpPr>
            <p:cNvPr id="972" name="Google Shape;972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3" name="Google Shape;973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4" name="Google Shape;974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5" name="Google Shape;975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77" name="Google Shape;977;p76"/>
          <p:cNvGrpSpPr/>
          <p:nvPr/>
        </p:nvGrpSpPr>
        <p:grpSpPr>
          <a:xfrm>
            <a:off x="5973060" y="2595249"/>
            <a:ext cx="323076" cy="195754"/>
            <a:chOff x="6605147" y="1426486"/>
            <a:chExt cx="390000" cy="244539"/>
          </a:xfrm>
        </p:grpSpPr>
        <p:cxnSp>
          <p:nvCxnSpPr>
            <p:cNvPr id="978" name="Google Shape;978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9" name="Google Shape;979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0" name="Google Shape;980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1" name="Google Shape;981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2" name="Google Shape;982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83" name="Google Shape;983;p76"/>
          <p:cNvGrpSpPr/>
          <p:nvPr/>
        </p:nvGrpSpPr>
        <p:grpSpPr>
          <a:xfrm>
            <a:off x="5964575" y="2900223"/>
            <a:ext cx="323076" cy="195754"/>
            <a:chOff x="6605147" y="1426486"/>
            <a:chExt cx="390000" cy="244539"/>
          </a:xfrm>
        </p:grpSpPr>
        <p:cxnSp>
          <p:nvCxnSpPr>
            <p:cNvPr id="984" name="Google Shape;984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5" name="Google Shape;985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6" name="Google Shape;986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7" name="Google Shape;987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8" name="Google Shape;988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89" name="Google Shape;989;p76"/>
          <p:cNvGrpSpPr/>
          <p:nvPr/>
        </p:nvGrpSpPr>
        <p:grpSpPr>
          <a:xfrm>
            <a:off x="6343332" y="2900223"/>
            <a:ext cx="323076" cy="195754"/>
            <a:chOff x="6605147" y="1426486"/>
            <a:chExt cx="390000" cy="244539"/>
          </a:xfrm>
        </p:grpSpPr>
        <p:cxnSp>
          <p:nvCxnSpPr>
            <p:cNvPr id="990" name="Google Shape;990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1" name="Google Shape;991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3" name="Google Shape;993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4" name="Google Shape;994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5" name="Google Shape;995;p76"/>
          <p:cNvGrpSpPr/>
          <p:nvPr/>
        </p:nvGrpSpPr>
        <p:grpSpPr>
          <a:xfrm>
            <a:off x="6722090" y="2900223"/>
            <a:ext cx="323076" cy="195754"/>
            <a:chOff x="6605147" y="1426486"/>
            <a:chExt cx="390000" cy="244539"/>
          </a:xfrm>
        </p:grpSpPr>
        <p:cxnSp>
          <p:nvCxnSpPr>
            <p:cNvPr id="996" name="Google Shape;996;p76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7" name="Google Shape;997;p76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8" name="Google Shape;998;p76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9" name="Google Shape;999;p76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0" name="Google Shape;1000;p76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001" name="Google Shape;1001;p76"/>
          <p:cNvCxnSpPr/>
          <p:nvPr/>
        </p:nvCxnSpPr>
        <p:spPr>
          <a:xfrm flipH="1">
            <a:off x="6537506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2" name="Google Shape;1002;p76"/>
          <p:cNvCxnSpPr/>
          <p:nvPr/>
        </p:nvCxnSpPr>
        <p:spPr>
          <a:xfrm flipH="1">
            <a:off x="6600539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3" name="Google Shape;1003;p76"/>
          <p:cNvSpPr txBox="1"/>
          <p:nvPr>
            <p:ph type="body" idx="1"/>
          </p:nvPr>
        </p:nvSpPr>
        <p:spPr>
          <a:xfrm>
            <a:off x="342375" y="1445100"/>
            <a:ext cx="3500100" cy="5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Complete the frequency column </a:t>
            </a:r>
            <a:br>
              <a:rPr lang="en-GB" sz="1600"/>
            </a:br>
            <a:r>
              <a:rPr lang="en-GB" sz="1600"/>
              <a:t>    of the table.</a:t>
            </a:r>
            <a:endParaRPr sz="1600"/>
          </a:p>
        </p:txBody>
      </p:sp>
      <p:sp>
        <p:nvSpPr>
          <p:cNvPr id="1004" name="Google Shape;1004;p76"/>
          <p:cNvSpPr txBox="1"/>
          <p:nvPr>
            <p:ph type="body" idx="1"/>
          </p:nvPr>
        </p:nvSpPr>
        <p:spPr>
          <a:xfrm>
            <a:off x="265175" y="3295801"/>
            <a:ext cx="8302500" cy="15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    i) What is the probability that the person chosen travels by car?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    ii) What is the probability that the person chosen travels by bus?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    iii) What is the probability that the person chosen travels by bicycle?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    iv) What is the probability that the person chosen walks to school?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05" name="Google Shape;1005;p76"/>
          <p:cNvSpPr txBox="1"/>
          <p:nvPr>
            <p:ph type="body" idx="1"/>
          </p:nvPr>
        </p:nvSpPr>
        <p:spPr>
          <a:xfrm>
            <a:off x="342950" y="2613200"/>
            <a:ext cx="4309500" cy="5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To further her investigation, Sam </a:t>
            </a:r>
            <a:br>
              <a:rPr lang="en-GB" sz="1600"/>
            </a:br>
            <a:r>
              <a:rPr lang="en-GB" sz="1600"/>
              <a:t>    chooses a pupil at random to interview.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p7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table shows the number of sweets of each flavour in a novelty box of sweets.</a:t>
            </a:r>
            <a:endParaRPr sz="1600"/>
          </a:p>
        </p:txBody>
      </p:sp>
      <p:sp>
        <p:nvSpPr>
          <p:cNvPr id="1011" name="Google Shape;1011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1012" name="Google Shape;1012;p77"/>
          <p:cNvGraphicFramePr>
            <a:graphicFrameLocks noGrp="1"/>
          </p:cNvGraphicFramePr>
          <p:nvPr/>
        </p:nvGraphicFramePr>
        <p:xfrm>
          <a:off x="563250" y="118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308950"/>
                <a:gridCol w="1333900"/>
              </a:tblGrid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flavour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caramel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chocolate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grass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garlic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13" name="Google Shape;1013;p77"/>
          <p:cNvSpPr txBox="1"/>
          <p:nvPr>
            <p:ph type="body" idx="1"/>
          </p:nvPr>
        </p:nvSpPr>
        <p:spPr>
          <a:xfrm>
            <a:off x="3344524" y="1152389"/>
            <a:ext cx="5658300" cy="54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Find the probabilities for picking each of the </a:t>
            </a:r>
            <a:br>
              <a:rPr lang="en-GB" sz="1600"/>
            </a:br>
            <a:r>
              <a:rPr lang="en-GB" sz="1600"/>
              <a:t>    following flavours when a sweet is chosen at random.</a:t>
            </a:r>
            <a:endParaRPr sz="1600"/>
          </a:p>
        </p:txBody>
      </p:sp>
      <p:sp>
        <p:nvSpPr>
          <p:cNvPr id="1014" name="Google Shape;1014;p77"/>
          <p:cNvSpPr txBox="1"/>
          <p:nvPr>
            <p:ph type="body" idx="1"/>
          </p:nvPr>
        </p:nvSpPr>
        <p:spPr>
          <a:xfrm>
            <a:off x="3600600" y="1826100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P(strawberry) = </a:t>
            </a:r>
            <a:endParaRPr sz="1600"/>
          </a:p>
        </p:txBody>
      </p:sp>
      <p:sp>
        <p:nvSpPr>
          <p:cNvPr id="1015" name="Google Shape;1015;p77"/>
          <p:cNvSpPr txBox="1"/>
          <p:nvPr>
            <p:ph type="body" idx="1"/>
          </p:nvPr>
        </p:nvSpPr>
        <p:spPr>
          <a:xfrm>
            <a:off x="6496200" y="1817633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P(caramel) = </a:t>
            </a:r>
            <a:endParaRPr sz="1600"/>
          </a:p>
        </p:txBody>
      </p:sp>
      <p:sp>
        <p:nvSpPr>
          <p:cNvPr id="1016" name="Google Shape;1016;p77"/>
          <p:cNvSpPr txBox="1"/>
          <p:nvPr>
            <p:ph type="body" idx="1"/>
          </p:nvPr>
        </p:nvSpPr>
        <p:spPr>
          <a:xfrm>
            <a:off x="3600600" y="2342567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P(toffee) = </a:t>
            </a:r>
            <a:endParaRPr sz="1600"/>
          </a:p>
        </p:txBody>
      </p:sp>
      <p:sp>
        <p:nvSpPr>
          <p:cNvPr id="1017" name="Google Shape;1017;p77"/>
          <p:cNvSpPr txBox="1"/>
          <p:nvPr>
            <p:ph type="body" idx="1"/>
          </p:nvPr>
        </p:nvSpPr>
        <p:spPr>
          <a:xfrm>
            <a:off x="6496200" y="2334100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P(chocolate) = </a:t>
            </a:r>
            <a:endParaRPr sz="1600"/>
          </a:p>
        </p:txBody>
      </p:sp>
      <p:sp>
        <p:nvSpPr>
          <p:cNvPr id="1018" name="Google Shape;1018;p77"/>
          <p:cNvSpPr txBox="1"/>
          <p:nvPr>
            <p:ph type="body" idx="1"/>
          </p:nvPr>
        </p:nvSpPr>
        <p:spPr>
          <a:xfrm>
            <a:off x="3600600" y="2859033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P(grass) = </a:t>
            </a:r>
            <a:endParaRPr sz="1600"/>
          </a:p>
        </p:txBody>
      </p:sp>
      <p:sp>
        <p:nvSpPr>
          <p:cNvPr id="1019" name="Google Shape;1019;p77"/>
          <p:cNvSpPr txBox="1"/>
          <p:nvPr>
            <p:ph type="body" idx="1"/>
          </p:nvPr>
        </p:nvSpPr>
        <p:spPr>
          <a:xfrm>
            <a:off x="6496200" y="2850567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P(earwax) = </a:t>
            </a:r>
            <a:endParaRPr sz="1600"/>
          </a:p>
        </p:txBody>
      </p:sp>
      <p:sp>
        <p:nvSpPr>
          <p:cNvPr id="1020" name="Google Shape;1020;p77"/>
          <p:cNvSpPr txBox="1"/>
          <p:nvPr>
            <p:ph type="body" idx="1"/>
          </p:nvPr>
        </p:nvSpPr>
        <p:spPr>
          <a:xfrm>
            <a:off x="3600600" y="3375500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P(fish) = </a:t>
            </a:r>
            <a:endParaRPr sz="1600"/>
          </a:p>
        </p:txBody>
      </p:sp>
      <p:sp>
        <p:nvSpPr>
          <p:cNvPr id="1021" name="Google Shape;1021;p77"/>
          <p:cNvSpPr txBox="1"/>
          <p:nvPr>
            <p:ph type="body" idx="1"/>
          </p:nvPr>
        </p:nvSpPr>
        <p:spPr>
          <a:xfrm>
            <a:off x="6496200" y="3367033"/>
            <a:ext cx="1729500" cy="2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P(garlic) = </a:t>
            </a:r>
            <a:endParaRPr sz="1600"/>
          </a:p>
        </p:txBody>
      </p:sp>
      <p:sp>
        <p:nvSpPr>
          <p:cNvPr id="1022" name="Google Shape;1022;p77"/>
          <p:cNvSpPr txBox="1"/>
          <p:nvPr>
            <p:ph type="body" idx="1"/>
          </p:nvPr>
        </p:nvSpPr>
        <p:spPr>
          <a:xfrm>
            <a:off x="3372000" y="3807300"/>
            <a:ext cx="54480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The nasty flavours are grass, earwax, fish and </a:t>
            </a:r>
            <a:br>
              <a:rPr lang="en-GB" sz="1600"/>
            </a:br>
            <a:r>
              <a:rPr lang="en-GB" sz="1600"/>
              <a:t>    garlic. What is the probability of choosing a nasty </a:t>
            </a:r>
            <a:br>
              <a:rPr lang="en-GB" sz="1600"/>
            </a:br>
            <a:r>
              <a:rPr lang="en-GB" sz="1600"/>
              <a:t>    flavoured sweet?</a:t>
            </a:r>
            <a:endParaRPr sz="1600"/>
          </a:p>
        </p:txBody>
      </p:sp>
      <p:pic>
        <p:nvPicPr>
          <p:cNvPr id="1023" name="Google Shape;1023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r="93082"/>
          <a:stretch>
            <a:fillRect/>
          </a:stretch>
        </p:blipFill>
        <p:spPr>
          <a:xfrm>
            <a:off x="5235225" y="1748425"/>
            <a:ext cx="281724" cy="4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10443" r="80734"/>
          <a:stretch>
            <a:fillRect/>
          </a:stretch>
        </p:blipFill>
        <p:spPr>
          <a:xfrm>
            <a:off x="7794151" y="1748425"/>
            <a:ext cx="359251" cy="4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21560" r="68668"/>
          <a:stretch>
            <a:fillRect/>
          </a:stretch>
        </p:blipFill>
        <p:spPr>
          <a:xfrm>
            <a:off x="4711312" y="2256230"/>
            <a:ext cx="397899" cy="4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33547" r="56681"/>
          <a:stretch>
            <a:fillRect/>
          </a:stretch>
        </p:blipFill>
        <p:spPr>
          <a:xfrm>
            <a:off x="7919731" y="2252125"/>
            <a:ext cx="397899" cy="4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44960" r="45269" b="10"/>
          <a:stretch>
            <a:fillRect/>
          </a:stretch>
        </p:blipFill>
        <p:spPr>
          <a:xfrm>
            <a:off x="4604120" y="2790500"/>
            <a:ext cx="397899" cy="4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57242" r="33935" b="10"/>
          <a:stretch>
            <a:fillRect/>
          </a:stretch>
        </p:blipFill>
        <p:spPr>
          <a:xfrm>
            <a:off x="7695129" y="2790500"/>
            <a:ext cx="359251" cy="4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70389" t="9" r="22692"/>
          <a:stretch>
            <a:fillRect/>
          </a:stretch>
        </p:blipFill>
        <p:spPr>
          <a:xfrm>
            <a:off x="4564196" y="3298900"/>
            <a:ext cx="281724" cy="4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80589" t="9" r="9639"/>
          <a:stretch>
            <a:fillRect/>
          </a:stretch>
        </p:blipFill>
        <p:spPr>
          <a:xfrm>
            <a:off x="7570353" y="3298900"/>
            <a:ext cx="397899" cy="4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77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93339" t="9" r="-2161"/>
          <a:stretch>
            <a:fillRect/>
          </a:stretch>
        </p:blipFill>
        <p:spPr>
          <a:xfrm>
            <a:off x="5456500" y="4396825"/>
            <a:ext cx="359251" cy="4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5" name="Shape 1035"/>
        <p:cNvGrpSpPr/>
        <p:nvPr/>
      </p:nvGrpSpPr>
      <p:grpSpPr>
        <a:xfrm>
          <a:off x="0" y="0"/>
          <a:ext cx="0" cy="0"/>
        </a:xfrm>
      </p:grpSpPr>
      <p:sp>
        <p:nvSpPr>
          <p:cNvPr id="1036" name="Google Shape;1036;p78"/>
          <p:cNvSpPr txBox="1"/>
          <p:nvPr>
            <p:ph type="body" idx="1"/>
          </p:nvPr>
        </p:nvSpPr>
        <p:spPr>
          <a:xfrm>
            <a:off x="324000" y="759300"/>
            <a:ext cx="8237700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Sam is carrying out a data investigation about how pupils in a nearby village travel to school. She conducts a survey and records her results in a tally chart.</a:t>
            </a:r>
            <a:endParaRPr sz="1600"/>
          </a:p>
        </p:txBody>
      </p:sp>
      <p:sp>
        <p:nvSpPr>
          <p:cNvPr id="1037" name="Google Shape;103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1038" name="Google Shape;1038;p78"/>
          <p:cNvGraphicFramePr>
            <a:graphicFrameLocks noGrp="1"/>
          </p:cNvGraphicFramePr>
          <p:nvPr/>
        </p:nvGraphicFramePr>
        <p:xfrm>
          <a:off x="4689375" y="1401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226100"/>
                <a:gridCol w="1579025"/>
                <a:gridCol w="1183875"/>
              </a:tblGrid>
              <a:tr h="498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tally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039" name="Google Shape;1039;p78"/>
          <p:cNvGrpSpPr/>
          <p:nvPr/>
        </p:nvGrpSpPr>
        <p:grpSpPr>
          <a:xfrm>
            <a:off x="5960842" y="1998902"/>
            <a:ext cx="323076" cy="195754"/>
            <a:chOff x="6605147" y="1426486"/>
            <a:chExt cx="390000" cy="244539"/>
          </a:xfrm>
        </p:grpSpPr>
        <p:cxnSp>
          <p:nvCxnSpPr>
            <p:cNvPr id="1040" name="Google Shape;1040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1" name="Google Shape;1041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2" name="Google Shape;1042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3" name="Google Shape;1043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4" name="Google Shape;1044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5" name="Google Shape;1045;p78"/>
          <p:cNvGrpSpPr/>
          <p:nvPr/>
        </p:nvGrpSpPr>
        <p:grpSpPr>
          <a:xfrm>
            <a:off x="6342934" y="1998902"/>
            <a:ext cx="323076" cy="195754"/>
            <a:chOff x="6605147" y="1426486"/>
            <a:chExt cx="390000" cy="244539"/>
          </a:xfrm>
        </p:grpSpPr>
        <p:cxnSp>
          <p:nvCxnSpPr>
            <p:cNvPr id="1046" name="Google Shape;1046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7" name="Google Shape;1047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8" name="Google Shape;1048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9" name="Google Shape;1049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0" name="Google Shape;1050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51" name="Google Shape;1051;p78"/>
          <p:cNvGrpSpPr/>
          <p:nvPr/>
        </p:nvGrpSpPr>
        <p:grpSpPr>
          <a:xfrm>
            <a:off x="6742568" y="1998902"/>
            <a:ext cx="323076" cy="195754"/>
            <a:chOff x="6605147" y="1426486"/>
            <a:chExt cx="390000" cy="244539"/>
          </a:xfrm>
        </p:grpSpPr>
        <p:cxnSp>
          <p:nvCxnSpPr>
            <p:cNvPr id="1052" name="Google Shape;1052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3" name="Google Shape;1053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4" name="Google Shape;1054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5" name="Google Shape;1055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6" name="Google Shape;1056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57" name="Google Shape;1057;p78"/>
          <p:cNvGrpSpPr/>
          <p:nvPr/>
        </p:nvGrpSpPr>
        <p:grpSpPr>
          <a:xfrm>
            <a:off x="7142202" y="1998902"/>
            <a:ext cx="323076" cy="195754"/>
            <a:chOff x="6605147" y="1426486"/>
            <a:chExt cx="390000" cy="244539"/>
          </a:xfrm>
        </p:grpSpPr>
        <p:cxnSp>
          <p:nvCxnSpPr>
            <p:cNvPr id="1058" name="Google Shape;1058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9" name="Google Shape;1059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63" name="Google Shape;1063;p78"/>
          <p:cNvGrpSpPr/>
          <p:nvPr/>
        </p:nvGrpSpPr>
        <p:grpSpPr>
          <a:xfrm>
            <a:off x="5960842" y="2290275"/>
            <a:ext cx="323076" cy="195754"/>
            <a:chOff x="6605147" y="1426486"/>
            <a:chExt cx="390000" cy="244539"/>
          </a:xfrm>
        </p:grpSpPr>
        <p:cxnSp>
          <p:nvCxnSpPr>
            <p:cNvPr id="1064" name="Google Shape;1064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069" name="Google Shape;1069;p78"/>
          <p:cNvCxnSpPr/>
          <p:nvPr/>
        </p:nvCxnSpPr>
        <p:spPr>
          <a:xfrm flipH="1">
            <a:off x="6411461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0" name="Google Shape;1070;p78"/>
          <p:cNvCxnSpPr/>
          <p:nvPr/>
        </p:nvCxnSpPr>
        <p:spPr>
          <a:xfrm flipH="1">
            <a:off x="6474494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1" name="Google Shape;1071;p78"/>
          <p:cNvCxnSpPr/>
          <p:nvPr/>
        </p:nvCxnSpPr>
        <p:spPr>
          <a:xfrm flipH="1">
            <a:off x="7179156" y="2900295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2" name="Google Shape;1072;p78"/>
          <p:cNvCxnSpPr/>
          <p:nvPr/>
        </p:nvCxnSpPr>
        <p:spPr>
          <a:xfrm flipH="1">
            <a:off x="6779066" y="2290356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3" name="Google Shape;1073;p78"/>
          <p:cNvCxnSpPr/>
          <p:nvPr/>
        </p:nvCxnSpPr>
        <p:spPr>
          <a:xfrm flipH="1">
            <a:off x="6842098" y="2290356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4" name="Google Shape;1074;p78"/>
          <p:cNvGrpSpPr/>
          <p:nvPr/>
        </p:nvGrpSpPr>
        <p:grpSpPr>
          <a:xfrm>
            <a:off x="6339599" y="2290275"/>
            <a:ext cx="323076" cy="195754"/>
            <a:chOff x="6605147" y="1426486"/>
            <a:chExt cx="390000" cy="244539"/>
          </a:xfrm>
        </p:grpSpPr>
        <p:cxnSp>
          <p:nvCxnSpPr>
            <p:cNvPr id="1075" name="Google Shape;1075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6" name="Google Shape;1076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7" name="Google Shape;1077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8" name="Google Shape;1078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9" name="Google Shape;1079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80" name="Google Shape;1080;p78"/>
          <p:cNvGrpSpPr/>
          <p:nvPr/>
        </p:nvGrpSpPr>
        <p:grpSpPr>
          <a:xfrm>
            <a:off x="5973060" y="2595249"/>
            <a:ext cx="323076" cy="195754"/>
            <a:chOff x="6605147" y="1426486"/>
            <a:chExt cx="390000" cy="244539"/>
          </a:xfrm>
        </p:grpSpPr>
        <p:cxnSp>
          <p:nvCxnSpPr>
            <p:cNvPr id="1081" name="Google Shape;1081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3" name="Google Shape;1083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4" name="Google Shape;1084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5" name="Google Shape;1085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86" name="Google Shape;1086;p78"/>
          <p:cNvGrpSpPr/>
          <p:nvPr/>
        </p:nvGrpSpPr>
        <p:grpSpPr>
          <a:xfrm>
            <a:off x="5964575" y="2900223"/>
            <a:ext cx="323076" cy="195754"/>
            <a:chOff x="6605147" y="1426486"/>
            <a:chExt cx="390000" cy="244539"/>
          </a:xfrm>
        </p:grpSpPr>
        <p:cxnSp>
          <p:nvCxnSpPr>
            <p:cNvPr id="1087" name="Google Shape;1087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8" name="Google Shape;1088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2" name="Google Shape;1092;p78"/>
          <p:cNvGrpSpPr/>
          <p:nvPr/>
        </p:nvGrpSpPr>
        <p:grpSpPr>
          <a:xfrm>
            <a:off x="6343332" y="2900223"/>
            <a:ext cx="323076" cy="195754"/>
            <a:chOff x="6605147" y="1426486"/>
            <a:chExt cx="390000" cy="244539"/>
          </a:xfrm>
        </p:grpSpPr>
        <p:cxnSp>
          <p:nvCxnSpPr>
            <p:cNvPr id="1093" name="Google Shape;1093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5" name="Google Shape;1095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6" name="Google Shape;1096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7" name="Google Shape;1097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8" name="Google Shape;1098;p78"/>
          <p:cNvGrpSpPr/>
          <p:nvPr/>
        </p:nvGrpSpPr>
        <p:grpSpPr>
          <a:xfrm>
            <a:off x="6722090" y="2900223"/>
            <a:ext cx="323076" cy="195754"/>
            <a:chOff x="6605147" y="1426486"/>
            <a:chExt cx="390000" cy="244539"/>
          </a:xfrm>
        </p:grpSpPr>
        <p:cxnSp>
          <p:nvCxnSpPr>
            <p:cNvPr id="1099" name="Google Shape;1099;p78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0" name="Google Shape;1100;p78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1" name="Google Shape;1101;p78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2" name="Google Shape;1102;p78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3" name="Google Shape;1103;p78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04" name="Google Shape;1104;p78"/>
          <p:cNvCxnSpPr/>
          <p:nvPr/>
        </p:nvCxnSpPr>
        <p:spPr>
          <a:xfrm flipH="1">
            <a:off x="6537506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5" name="Google Shape;1105;p78"/>
          <p:cNvCxnSpPr/>
          <p:nvPr/>
        </p:nvCxnSpPr>
        <p:spPr>
          <a:xfrm flipH="1">
            <a:off x="6600539" y="25953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6" name="Google Shape;1106;p78"/>
          <p:cNvSpPr txBox="1"/>
          <p:nvPr>
            <p:ph type="body" idx="1"/>
          </p:nvPr>
        </p:nvSpPr>
        <p:spPr>
          <a:xfrm>
            <a:off x="342375" y="1445100"/>
            <a:ext cx="3500100" cy="5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Complete the frequency column </a:t>
            </a:r>
            <a:br>
              <a:rPr lang="en-GB" sz="1600"/>
            </a:br>
            <a:r>
              <a:rPr lang="en-GB" sz="1600"/>
              <a:t>    of the table.</a:t>
            </a:r>
            <a:endParaRPr sz="1600"/>
          </a:p>
        </p:txBody>
      </p:sp>
      <p:sp>
        <p:nvSpPr>
          <p:cNvPr id="1107" name="Google Shape;1107;p78"/>
          <p:cNvSpPr txBox="1"/>
          <p:nvPr>
            <p:ph type="body" idx="1"/>
          </p:nvPr>
        </p:nvSpPr>
        <p:spPr>
          <a:xfrm>
            <a:off x="7879191" y="19614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78"/>
          <p:cNvSpPr txBox="1"/>
          <p:nvPr>
            <p:ph type="body" idx="1"/>
          </p:nvPr>
        </p:nvSpPr>
        <p:spPr>
          <a:xfrm>
            <a:off x="7879191" y="22662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78"/>
          <p:cNvSpPr txBox="1"/>
          <p:nvPr>
            <p:ph type="body" idx="1"/>
          </p:nvPr>
        </p:nvSpPr>
        <p:spPr>
          <a:xfrm>
            <a:off x="7879191" y="25710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78"/>
          <p:cNvSpPr txBox="1"/>
          <p:nvPr>
            <p:ph type="body" idx="1"/>
          </p:nvPr>
        </p:nvSpPr>
        <p:spPr>
          <a:xfrm>
            <a:off x="7879191" y="28758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sp>
        <p:nvSpPr>
          <p:cNvPr id="1115" name="Google Shape;1115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graphicFrame>
        <p:nvGraphicFramePr>
          <p:cNvPr id="1116" name="Google Shape;1116;p79"/>
          <p:cNvGraphicFramePr>
            <a:graphicFrameLocks noGrp="1"/>
          </p:cNvGraphicFramePr>
          <p:nvPr/>
        </p:nvGraphicFramePr>
        <p:xfrm>
          <a:off x="4689375" y="7922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226100"/>
                <a:gridCol w="1579025"/>
                <a:gridCol w="1183875"/>
              </a:tblGrid>
              <a:tr h="498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tally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117" name="Google Shape;1117;p79"/>
          <p:cNvGrpSpPr/>
          <p:nvPr/>
        </p:nvGrpSpPr>
        <p:grpSpPr>
          <a:xfrm>
            <a:off x="5960842" y="1389302"/>
            <a:ext cx="323076" cy="195754"/>
            <a:chOff x="6605147" y="1426486"/>
            <a:chExt cx="390000" cy="244539"/>
          </a:xfrm>
        </p:grpSpPr>
        <p:cxnSp>
          <p:nvCxnSpPr>
            <p:cNvPr id="1118" name="Google Shape;1118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9" name="Google Shape;1119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0" name="Google Shape;1120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1" name="Google Shape;1121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2" name="Google Shape;1122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23" name="Google Shape;1123;p79"/>
          <p:cNvGrpSpPr/>
          <p:nvPr/>
        </p:nvGrpSpPr>
        <p:grpSpPr>
          <a:xfrm>
            <a:off x="6342934" y="1389302"/>
            <a:ext cx="323076" cy="195754"/>
            <a:chOff x="6605147" y="1426486"/>
            <a:chExt cx="390000" cy="244539"/>
          </a:xfrm>
        </p:grpSpPr>
        <p:cxnSp>
          <p:nvCxnSpPr>
            <p:cNvPr id="1124" name="Google Shape;1124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5" name="Google Shape;1125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6" name="Google Shape;1126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7" name="Google Shape;1127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8" name="Google Shape;1128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29" name="Google Shape;1129;p79"/>
          <p:cNvGrpSpPr/>
          <p:nvPr/>
        </p:nvGrpSpPr>
        <p:grpSpPr>
          <a:xfrm>
            <a:off x="6742568" y="1389302"/>
            <a:ext cx="323076" cy="195754"/>
            <a:chOff x="6605147" y="1426486"/>
            <a:chExt cx="390000" cy="244539"/>
          </a:xfrm>
        </p:grpSpPr>
        <p:cxnSp>
          <p:nvCxnSpPr>
            <p:cNvPr id="1130" name="Google Shape;1130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1" name="Google Shape;1131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2" name="Google Shape;1132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3" name="Google Shape;1133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4" name="Google Shape;1134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35" name="Google Shape;1135;p79"/>
          <p:cNvGrpSpPr/>
          <p:nvPr/>
        </p:nvGrpSpPr>
        <p:grpSpPr>
          <a:xfrm>
            <a:off x="7142202" y="1389302"/>
            <a:ext cx="323076" cy="195754"/>
            <a:chOff x="6605147" y="1426486"/>
            <a:chExt cx="390000" cy="244539"/>
          </a:xfrm>
        </p:grpSpPr>
        <p:cxnSp>
          <p:nvCxnSpPr>
            <p:cNvPr id="1136" name="Google Shape;1136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7" name="Google Shape;1137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8" name="Google Shape;1138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9" name="Google Shape;1139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41" name="Google Shape;1141;p79"/>
          <p:cNvGrpSpPr/>
          <p:nvPr/>
        </p:nvGrpSpPr>
        <p:grpSpPr>
          <a:xfrm>
            <a:off x="5960842" y="1680675"/>
            <a:ext cx="323076" cy="195754"/>
            <a:chOff x="6605147" y="1426486"/>
            <a:chExt cx="390000" cy="244539"/>
          </a:xfrm>
        </p:grpSpPr>
        <p:cxnSp>
          <p:nvCxnSpPr>
            <p:cNvPr id="1142" name="Google Shape;1142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3" name="Google Shape;1143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4" name="Google Shape;1144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5" name="Google Shape;1145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6" name="Google Shape;1146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47" name="Google Shape;1147;p79"/>
          <p:cNvCxnSpPr/>
          <p:nvPr/>
        </p:nvCxnSpPr>
        <p:spPr>
          <a:xfrm flipH="1">
            <a:off x="6411461" y="19857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8" name="Google Shape;1148;p79"/>
          <p:cNvCxnSpPr/>
          <p:nvPr/>
        </p:nvCxnSpPr>
        <p:spPr>
          <a:xfrm flipH="1">
            <a:off x="6474494" y="19857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9" name="Google Shape;1149;p79"/>
          <p:cNvCxnSpPr/>
          <p:nvPr/>
        </p:nvCxnSpPr>
        <p:spPr>
          <a:xfrm flipH="1">
            <a:off x="7179156" y="2290695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0" name="Google Shape;1150;p79"/>
          <p:cNvCxnSpPr/>
          <p:nvPr/>
        </p:nvCxnSpPr>
        <p:spPr>
          <a:xfrm flipH="1">
            <a:off x="6779066" y="1680756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1" name="Google Shape;1151;p79"/>
          <p:cNvCxnSpPr/>
          <p:nvPr/>
        </p:nvCxnSpPr>
        <p:spPr>
          <a:xfrm flipH="1">
            <a:off x="6842098" y="1680756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2" name="Google Shape;1152;p79"/>
          <p:cNvGrpSpPr/>
          <p:nvPr/>
        </p:nvGrpSpPr>
        <p:grpSpPr>
          <a:xfrm>
            <a:off x="6339599" y="1680675"/>
            <a:ext cx="323076" cy="195754"/>
            <a:chOff x="6605147" y="1426486"/>
            <a:chExt cx="390000" cy="244539"/>
          </a:xfrm>
        </p:grpSpPr>
        <p:cxnSp>
          <p:nvCxnSpPr>
            <p:cNvPr id="1153" name="Google Shape;1153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4" name="Google Shape;1154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5" name="Google Shape;1155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6" name="Google Shape;1156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7" name="Google Shape;1157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8" name="Google Shape;1158;p79"/>
          <p:cNvGrpSpPr/>
          <p:nvPr/>
        </p:nvGrpSpPr>
        <p:grpSpPr>
          <a:xfrm>
            <a:off x="5973060" y="1985649"/>
            <a:ext cx="323076" cy="195754"/>
            <a:chOff x="6605147" y="1426486"/>
            <a:chExt cx="390000" cy="244539"/>
          </a:xfrm>
        </p:grpSpPr>
        <p:cxnSp>
          <p:nvCxnSpPr>
            <p:cNvPr id="1159" name="Google Shape;1159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0" name="Google Shape;1160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1" name="Google Shape;1161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2" name="Google Shape;1162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3" name="Google Shape;1163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64" name="Google Shape;1164;p79"/>
          <p:cNvGrpSpPr/>
          <p:nvPr/>
        </p:nvGrpSpPr>
        <p:grpSpPr>
          <a:xfrm>
            <a:off x="5964575" y="2290623"/>
            <a:ext cx="323076" cy="195754"/>
            <a:chOff x="6605147" y="1426486"/>
            <a:chExt cx="390000" cy="244539"/>
          </a:xfrm>
        </p:grpSpPr>
        <p:cxnSp>
          <p:nvCxnSpPr>
            <p:cNvPr id="1165" name="Google Shape;1165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6" name="Google Shape;1166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7" name="Google Shape;1167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8" name="Google Shape;1168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9" name="Google Shape;1169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70" name="Google Shape;1170;p79"/>
          <p:cNvGrpSpPr/>
          <p:nvPr/>
        </p:nvGrpSpPr>
        <p:grpSpPr>
          <a:xfrm>
            <a:off x="6343332" y="2290623"/>
            <a:ext cx="323076" cy="195754"/>
            <a:chOff x="6605147" y="1426486"/>
            <a:chExt cx="390000" cy="244539"/>
          </a:xfrm>
        </p:grpSpPr>
        <p:cxnSp>
          <p:nvCxnSpPr>
            <p:cNvPr id="1171" name="Google Shape;1171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2" name="Google Shape;1172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3" name="Google Shape;1173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4" name="Google Shape;1174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5" name="Google Shape;1175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76" name="Google Shape;1176;p79"/>
          <p:cNvGrpSpPr/>
          <p:nvPr/>
        </p:nvGrpSpPr>
        <p:grpSpPr>
          <a:xfrm>
            <a:off x="6722090" y="2290623"/>
            <a:ext cx="323076" cy="195754"/>
            <a:chOff x="6605147" y="1426486"/>
            <a:chExt cx="390000" cy="244539"/>
          </a:xfrm>
        </p:grpSpPr>
        <p:cxnSp>
          <p:nvCxnSpPr>
            <p:cNvPr id="1177" name="Google Shape;1177;p79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8" name="Google Shape;1178;p79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9" name="Google Shape;1179;p79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0" name="Google Shape;1180;p79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1" name="Google Shape;1181;p79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82" name="Google Shape;1182;p79"/>
          <p:cNvCxnSpPr/>
          <p:nvPr/>
        </p:nvCxnSpPr>
        <p:spPr>
          <a:xfrm flipH="1">
            <a:off x="6537506" y="19857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79"/>
          <p:cNvCxnSpPr/>
          <p:nvPr/>
        </p:nvCxnSpPr>
        <p:spPr>
          <a:xfrm flipH="1">
            <a:off x="6600539" y="1985730"/>
            <a:ext cx="0" cy="19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4" name="Google Shape;1184;p79"/>
          <p:cNvSpPr txBox="1"/>
          <p:nvPr>
            <p:ph type="body" idx="1"/>
          </p:nvPr>
        </p:nvSpPr>
        <p:spPr>
          <a:xfrm>
            <a:off x="265175" y="2762400"/>
            <a:ext cx="8302500" cy="20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    i) What is the probability that the person chosen travels by car?</a:t>
            </a:r>
            <a:br>
              <a:rPr lang="en-GB" sz="1600"/>
            </a:br>
            <a:br>
              <a:rPr lang="en-GB" sz="1600"/>
            </a:br>
            <a:r>
              <a:rPr lang="en-GB" sz="1600"/>
              <a:t>    ii) What is the probability that the person chosen travels by bus?</a:t>
            </a:r>
            <a:br>
              <a:rPr lang="en-GB" sz="1600"/>
            </a:br>
            <a:br>
              <a:rPr lang="en-GB" sz="1600"/>
            </a:br>
            <a:r>
              <a:rPr lang="en-GB" sz="1600"/>
              <a:t>    iii) What is the probability that the person chosen travels by bicycle?</a:t>
            </a:r>
            <a:br>
              <a:rPr lang="en-GB" sz="1600"/>
            </a:br>
            <a:br>
              <a:rPr lang="en-GB" sz="1600"/>
            </a:br>
            <a:r>
              <a:rPr lang="en-GB" sz="1600"/>
              <a:t>    iv) What is the probability that the person chosen walks to school?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185" name="Google Shape;1185;p79"/>
          <p:cNvSpPr txBox="1"/>
          <p:nvPr>
            <p:ph type="body" idx="1"/>
          </p:nvPr>
        </p:nvSpPr>
        <p:spPr>
          <a:xfrm>
            <a:off x="342950" y="784400"/>
            <a:ext cx="4309500" cy="5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To further her investigation, Sam </a:t>
            </a:r>
            <a:br>
              <a:rPr lang="en-GB" sz="1600"/>
            </a:br>
            <a:r>
              <a:rPr lang="en-GB" sz="1600"/>
              <a:t>    chooses a pupil at random to interview.</a:t>
            </a:r>
            <a:endParaRPr sz="1600"/>
          </a:p>
        </p:txBody>
      </p:sp>
      <p:sp>
        <p:nvSpPr>
          <p:cNvPr id="1186" name="Google Shape;1186;p79"/>
          <p:cNvSpPr txBox="1"/>
          <p:nvPr>
            <p:ph type="body" idx="1"/>
          </p:nvPr>
        </p:nvSpPr>
        <p:spPr>
          <a:xfrm>
            <a:off x="7879191" y="13518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7" name="Google Shape;1187;p79"/>
          <p:cNvSpPr txBox="1"/>
          <p:nvPr>
            <p:ph type="body" idx="1"/>
          </p:nvPr>
        </p:nvSpPr>
        <p:spPr>
          <a:xfrm>
            <a:off x="7879191" y="16566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8" name="Google Shape;1188;p79"/>
          <p:cNvSpPr txBox="1"/>
          <p:nvPr>
            <p:ph type="body" idx="1"/>
          </p:nvPr>
        </p:nvSpPr>
        <p:spPr>
          <a:xfrm>
            <a:off x="7879191" y="19614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9" name="Google Shape;1189;p79"/>
          <p:cNvSpPr txBox="1"/>
          <p:nvPr>
            <p:ph type="body" idx="1"/>
          </p:nvPr>
        </p:nvSpPr>
        <p:spPr>
          <a:xfrm>
            <a:off x="7879191" y="2266218"/>
            <a:ext cx="3852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0" name="Google Shape;1190;p79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3">
            <a:alphaModFix/>
          </a:blip>
          <a:srcRect r="76846"/>
          <a:stretch>
            <a:fillRect/>
          </a:stretch>
        </p:blipFill>
        <p:spPr>
          <a:xfrm>
            <a:off x="6864432" y="2669950"/>
            <a:ext cx="323074" cy="4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79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3">
            <a:alphaModFix/>
          </a:blip>
          <a:srcRect l="21844" r="50550"/>
          <a:stretch>
            <a:fillRect/>
          </a:stretch>
        </p:blipFill>
        <p:spPr>
          <a:xfrm>
            <a:off x="6913150" y="3252074"/>
            <a:ext cx="385200" cy="4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79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3">
            <a:alphaModFix/>
          </a:blip>
          <a:srcRect l="48738" r="21845"/>
          <a:stretch>
            <a:fillRect/>
          </a:stretch>
        </p:blipFill>
        <p:spPr>
          <a:xfrm>
            <a:off x="7315927" y="3812950"/>
            <a:ext cx="410475" cy="4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79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3">
            <a:alphaModFix/>
          </a:blip>
          <a:srcRect l="76846"/>
          <a:stretch>
            <a:fillRect/>
          </a:stretch>
        </p:blipFill>
        <p:spPr>
          <a:xfrm>
            <a:off x="7071055" y="4364667"/>
            <a:ext cx="323074" cy="4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7" name="Shape 1197"/>
        <p:cNvGrpSpPr/>
        <p:nvPr/>
      </p:nvGrpSpPr>
      <p:grpSpPr>
        <a:xfrm>
          <a:off x="0" y="0"/>
          <a:ext cx="0" cy="0"/>
        </a:xfrm>
      </p:grpSpPr>
      <p:sp>
        <p:nvSpPr>
          <p:cNvPr id="1198" name="Google Shape;1198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 frequency table</a:t>
            </a:r>
            <a:endParaRPr/>
          </a:p>
        </p:txBody>
      </p:sp>
      <p:sp>
        <p:nvSpPr>
          <p:cNvPr id="1199" name="Google Shape;1199;p80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200" name="Google Shape;1200;p80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  <p:pic>
        <p:nvPicPr>
          <p:cNvPr id="1201" name="Google Shape;120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99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5" name="Shape 1205"/>
        <p:cNvGrpSpPr/>
        <p:nvPr/>
      </p:nvGrpSpPr>
      <p:grpSpPr>
        <a:xfrm>
          <a:off x="0" y="0"/>
          <a:ext cx="0" cy="0"/>
        </a:xfrm>
      </p:grpSpPr>
      <p:sp>
        <p:nvSpPr>
          <p:cNvPr id="1206" name="Google Shape;1206;p81"/>
          <p:cNvSpPr txBox="1"/>
          <p:nvPr>
            <p:ph type="body" idx="1"/>
          </p:nvPr>
        </p:nvSpPr>
        <p:spPr>
          <a:xfrm>
            <a:off x="324000" y="759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deck of cards contains the numbers 1 to 10.</a:t>
            </a:r>
            <a:endParaRPr sz="2000"/>
          </a:p>
        </p:txBody>
      </p:sp>
      <p:sp>
        <p:nvSpPr>
          <p:cNvPr id="1207" name="Google Shape;120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208" name="Google Shape;1208;p81"/>
          <p:cNvSpPr/>
          <p:nvPr/>
        </p:nvSpPr>
        <p:spPr>
          <a:xfrm>
            <a:off x="19797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1"/>
          <p:cNvSpPr txBox="1"/>
          <p:nvPr>
            <p:ph type="body" idx="1"/>
          </p:nvPr>
        </p:nvSpPr>
        <p:spPr>
          <a:xfrm>
            <a:off x="20978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210" name="Google Shape;1210;p81"/>
          <p:cNvSpPr/>
          <p:nvPr/>
        </p:nvSpPr>
        <p:spPr>
          <a:xfrm>
            <a:off x="25131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1"/>
          <p:cNvSpPr txBox="1"/>
          <p:nvPr>
            <p:ph type="body" idx="1"/>
          </p:nvPr>
        </p:nvSpPr>
        <p:spPr>
          <a:xfrm>
            <a:off x="26312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212" name="Google Shape;1212;p81"/>
          <p:cNvSpPr/>
          <p:nvPr/>
        </p:nvSpPr>
        <p:spPr>
          <a:xfrm>
            <a:off x="30465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1"/>
          <p:cNvSpPr txBox="1"/>
          <p:nvPr>
            <p:ph type="body" idx="1"/>
          </p:nvPr>
        </p:nvSpPr>
        <p:spPr>
          <a:xfrm>
            <a:off x="31646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214" name="Google Shape;1214;p81"/>
          <p:cNvSpPr/>
          <p:nvPr/>
        </p:nvSpPr>
        <p:spPr>
          <a:xfrm>
            <a:off x="35799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1"/>
          <p:cNvSpPr txBox="1"/>
          <p:nvPr>
            <p:ph type="body" idx="1"/>
          </p:nvPr>
        </p:nvSpPr>
        <p:spPr>
          <a:xfrm>
            <a:off x="36980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216" name="Google Shape;1216;p81"/>
          <p:cNvSpPr/>
          <p:nvPr/>
        </p:nvSpPr>
        <p:spPr>
          <a:xfrm>
            <a:off x="41133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1"/>
          <p:cNvSpPr txBox="1"/>
          <p:nvPr>
            <p:ph type="body" idx="1"/>
          </p:nvPr>
        </p:nvSpPr>
        <p:spPr>
          <a:xfrm>
            <a:off x="42314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218" name="Google Shape;1218;p81"/>
          <p:cNvSpPr/>
          <p:nvPr/>
        </p:nvSpPr>
        <p:spPr>
          <a:xfrm>
            <a:off x="46467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1"/>
          <p:cNvSpPr txBox="1"/>
          <p:nvPr>
            <p:ph type="body" idx="1"/>
          </p:nvPr>
        </p:nvSpPr>
        <p:spPr>
          <a:xfrm>
            <a:off x="47648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220" name="Google Shape;1220;p81"/>
          <p:cNvSpPr/>
          <p:nvPr/>
        </p:nvSpPr>
        <p:spPr>
          <a:xfrm>
            <a:off x="51801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1"/>
          <p:cNvSpPr txBox="1"/>
          <p:nvPr>
            <p:ph type="body" idx="1"/>
          </p:nvPr>
        </p:nvSpPr>
        <p:spPr>
          <a:xfrm>
            <a:off x="52982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222" name="Google Shape;1222;p81"/>
          <p:cNvSpPr/>
          <p:nvPr/>
        </p:nvSpPr>
        <p:spPr>
          <a:xfrm>
            <a:off x="57135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1"/>
          <p:cNvSpPr txBox="1"/>
          <p:nvPr>
            <p:ph type="body" idx="1"/>
          </p:nvPr>
        </p:nvSpPr>
        <p:spPr>
          <a:xfrm>
            <a:off x="58316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224" name="Google Shape;1224;p81"/>
          <p:cNvSpPr/>
          <p:nvPr/>
        </p:nvSpPr>
        <p:spPr>
          <a:xfrm>
            <a:off x="62469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1"/>
          <p:cNvSpPr txBox="1"/>
          <p:nvPr>
            <p:ph type="body" idx="1"/>
          </p:nvPr>
        </p:nvSpPr>
        <p:spPr>
          <a:xfrm>
            <a:off x="63650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226" name="Google Shape;1226;p81"/>
          <p:cNvSpPr/>
          <p:nvPr/>
        </p:nvSpPr>
        <p:spPr>
          <a:xfrm>
            <a:off x="6780324" y="16323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1"/>
          <p:cNvSpPr txBox="1"/>
          <p:nvPr>
            <p:ph type="body" idx="1"/>
          </p:nvPr>
        </p:nvSpPr>
        <p:spPr>
          <a:xfrm>
            <a:off x="6836224" y="1747342"/>
            <a:ext cx="347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1228" name="Google Shape;1228;p81"/>
          <p:cNvSpPr txBox="1"/>
          <p:nvPr>
            <p:ph type="body" idx="1"/>
          </p:nvPr>
        </p:nvSpPr>
        <p:spPr>
          <a:xfrm>
            <a:off x="324000" y="1140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cards could be sorted into </a:t>
            </a:r>
            <a:r>
              <a:rPr lang="en-GB" sz="2000">
                <a:solidFill>
                  <a:schemeClr val="accent5"/>
                </a:solidFill>
              </a:rPr>
              <a:t>odds</a:t>
            </a:r>
            <a:r>
              <a:rPr lang="en-GB" sz="2000"/>
              <a:t> and </a:t>
            </a:r>
            <a:r>
              <a:rPr lang="en-GB" sz="2000">
                <a:solidFill>
                  <a:schemeClr val="accent5"/>
                </a:solidFill>
              </a:rPr>
              <a:t>evens</a:t>
            </a:r>
            <a:r>
              <a:rPr lang="en-GB" sz="2000"/>
              <a:t> using a table.</a:t>
            </a:r>
            <a:endParaRPr sz="2000"/>
          </a:p>
        </p:txBody>
      </p:sp>
      <p:graphicFrame>
        <p:nvGraphicFramePr>
          <p:cNvPr id="1229" name="Google Shape;1229;p81"/>
          <p:cNvGraphicFramePr>
            <a:graphicFrameLocks noGrp="1"/>
          </p:cNvGraphicFramePr>
          <p:nvPr/>
        </p:nvGraphicFramePr>
        <p:xfrm>
          <a:off x="638541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966000"/>
                <a:gridCol w="1966000"/>
              </a:tblGrid>
              <a:tr h="42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166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30" name="Google Shape;1230;p81"/>
          <p:cNvSpPr/>
          <p:nvPr/>
        </p:nvSpPr>
        <p:spPr>
          <a:xfrm>
            <a:off x="760524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1"/>
          <p:cNvSpPr txBox="1"/>
          <p:nvPr>
            <p:ph type="body" idx="1"/>
          </p:nvPr>
        </p:nvSpPr>
        <p:spPr>
          <a:xfrm>
            <a:off x="878626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232" name="Google Shape;1232;p81"/>
          <p:cNvSpPr/>
          <p:nvPr/>
        </p:nvSpPr>
        <p:spPr>
          <a:xfrm>
            <a:off x="1370124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1"/>
          <p:cNvSpPr txBox="1"/>
          <p:nvPr>
            <p:ph type="body" idx="1"/>
          </p:nvPr>
        </p:nvSpPr>
        <p:spPr>
          <a:xfrm>
            <a:off x="1488226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234" name="Google Shape;1234;p81"/>
          <p:cNvSpPr/>
          <p:nvPr/>
        </p:nvSpPr>
        <p:spPr>
          <a:xfrm>
            <a:off x="1979724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1"/>
          <p:cNvSpPr txBox="1"/>
          <p:nvPr>
            <p:ph type="body" idx="1"/>
          </p:nvPr>
        </p:nvSpPr>
        <p:spPr>
          <a:xfrm>
            <a:off x="2097826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236" name="Google Shape;1236;p81"/>
          <p:cNvSpPr/>
          <p:nvPr/>
        </p:nvSpPr>
        <p:spPr>
          <a:xfrm>
            <a:off x="1065324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1"/>
          <p:cNvSpPr txBox="1"/>
          <p:nvPr>
            <p:ph type="body" idx="1"/>
          </p:nvPr>
        </p:nvSpPr>
        <p:spPr>
          <a:xfrm>
            <a:off x="1183426" y="3957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238" name="Google Shape;1238;p81"/>
          <p:cNvSpPr/>
          <p:nvPr/>
        </p:nvSpPr>
        <p:spPr>
          <a:xfrm>
            <a:off x="1674924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1"/>
          <p:cNvSpPr txBox="1"/>
          <p:nvPr>
            <p:ph type="body" idx="1"/>
          </p:nvPr>
        </p:nvSpPr>
        <p:spPr>
          <a:xfrm>
            <a:off x="1793026" y="3957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240" name="Google Shape;1240;p81"/>
          <p:cNvSpPr/>
          <p:nvPr/>
        </p:nvSpPr>
        <p:spPr>
          <a:xfrm>
            <a:off x="2735496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1"/>
          <p:cNvSpPr txBox="1"/>
          <p:nvPr>
            <p:ph type="body" idx="1"/>
          </p:nvPr>
        </p:nvSpPr>
        <p:spPr>
          <a:xfrm>
            <a:off x="2853598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242" name="Google Shape;1242;p81"/>
          <p:cNvSpPr/>
          <p:nvPr/>
        </p:nvSpPr>
        <p:spPr>
          <a:xfrm>
            <a:off x="3345096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1"/>
          <p:cNvSpPr txBox="1"/>
          <p:nvPr>
            <p:ph type="body" idx="1"/>
          </p:nvPr>
        </p:nvSpPr>
        <p:spPr>
          <a:xfrm>
            <a:off x="3463198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244" name="Google Shape;1244;p81"/>
          <p:cNvSpPr/>
          <p:nvPr/>
        </p:nvSpPr>
        <p:spPr>
          <a:xfrm>
            <a:off x="3954696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1"/>
          <p:cNvSpPr txBox="1"/>
          <p:nvPr>
            <p:ph type="body" idx="1"/>
          </p:nvPr>
        </p:nvSpPr>
        <p:spPr>
          <a:xfrm>
            <a:off x="4072798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246" name="Google Shape;1246;p81"/>
          <p:cNvSpPr/>
          <p:nvPr/>
        </p:nvSpPr>
        <p:spPr>
          <a:xfrm>
            <a:off x="3040296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1"/>
          <p:cNvSpPr txBox="1"/>
          <p:nvPr>
            <p:ph type="body" idx="1"/>
          </p:nvPr>
        </p:nvSpPr>
        <p:spPr>
          <a:xfrm>
            <a:off x="3158398" y="3957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248" name="Google Shape;1248;p81"/>
          <p:cNvSpPr/>
          <p:nvPr/>
        </p:nvSpPr>
        <p:spPr>
          <a:xfrm>
            <a:off x="3649896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1"/>
          <p:cNvSpPr txBox="1"/>
          <p:nvPr>
            <p:ph type="body" idx="1"/>
          </p:nvPr>
        </p:nvSpPr>
        <p:spPr>
          <a:xfrm>
            <a:off x="3692100" y="3957125"/>
            <a:ext cx="402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1250" name="Google Shape;1250;p81"/>
          <p:cNvSpPr txBox="1"/>
          <p:nvPr>
            <p:ph type="body" idx="1"/>
          </p:nvPr>
        </p:nvSpPr>
        <p:spPr>
          <a:xfrm>
            <a:off x="4819800" y="2511900"/>
            <a:ext cx="39321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card is chosen at random from the deck.</a:t>
            </a:r>
            <a:endParaRPr sz="2000"/>
          </a:p>
        </p:txBody>
      </p:sp>
      <p:sp>
        <p:nvSpPr>
          <p:cNvPr id="1251" name="Google Shape;1251;p81"/>
          <p:cNvSpPr txBox="1"/>
          <p:nvPr>
            <p:ph type="body" idx="1"/>
          </p:nvPr>
        </p:nvSpPr>
        <p:spPr>
          <a:xfrm>
            <a:off x="4819800" y="3426300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P(odd) =</a:t>
            </a:r>
            <a:endParaRPr sz="2000"/>
          </a:p>
        </p:txBody>
      </p:sp>
      <p:sp>
        <p:nvSpPr>
          <p:cNvPr id="1252" name="Google Shape;1252;p81"/>
          <p:cNvSpPr txBox="1"/>
          <p:nvPr>
            <p:ph type="body" idx="1"/>
          </p:nvPr>
        </p:nvSpPr>
        <p:spPr>
          <a:xfrm>
            <a:off x="4819800" y="4157893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P(even) =</a:t>
            </a:r>
            <a:endParaRPr sz="2000"/>
          </a:p>
        </p:txBody>
      </p:sp>
      <p:pic>
        <p:nvPicPr>
          <p:cNvPr id="1253" name="Google Shape;1253;p81" descr="&lt;math xmlns=&quot;http://www.w3.org/1998/Math/MathML&quot; display=&quot;block&quot; data-is-equatio=&quot;1&quot; data-latex=&quot;\frac{5}{10}&quot;&gt;&lt;mfrac&gt;&lt;mn&gt;5&lt;/mn&gt;&lt;mn&gt;10&lt;/mn&gt;&lt;/mfrac&gt;&lt;/math&gt;" title="fiv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316" y="3295525"/>
            <a:ext cx="302239" cy="55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81" descr="&lt;math xmlns=&quot;http://www.w3.org/1998/Math/MathML&quot; display=&quot;block&quot; data-is-equatio=&quot;1&quot; data-latex=&quot;\frac{5}{10}&quot;&gt;&lt;mfrac&gt;&lt;mn&gt;5&lt;/mn&gt;&lt;mn&gt;10&lt;/mn&gt;&lt;/mfrac&gt;&lt;/math&gt;" title="fiv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819" y="4019255"/>
            <a:ext cx="302239" cy="551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8" name="Shape 1258"/>
        <p:cNvGrpSpPr/>
        <p:nvPr/>
      </p:nvGrpSpPr>
      <p:grpSpPr>
        <a:xfrm>
          <a:off x="0" y="0"/>
          <a:ext cx="0" cy="0"/>
        </a:xfrm>
      </p:grpSpPr>
      <p:sp>
        <p:nvSpPr>
          <p:cNvPr id="1259" name="Google Shape;1259;p82"/>
          <p:cNvSpPr txBox="1"/>
          <p:nvPr>
            <p:ph type="body" idx="1"/>
          </p:nvPr>
        </p:nvSpPr>
        <p:spPr>
          <a:xfrm>
            <a:off x="324000" y="759300"/>
            <a:ext cx="84960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cards could be sorted into </a:t>
            </a:r>
            <a:r>
              <a:rPr lang="en-GB" sz="2000">
                <a:solidFill>
                  <a:schemeClr val="accent5"/>
                </a:solidFill>
              </a:rPr>
              <a:t>primes</a:t>
            </a:r>
            <a:r>
              <a:rPr lang="en-GB" sz="2000"/>
              <a:t> and </a:t>
            </a:r>
            <a:r>
              <a:rPr lang="en-GB" sz="2000">
                <a:solidFill>
                  <a:schemeClr val="accent5"/>
                </a:solidFill>
              </a:rPr>
              <a:t>not primes</a:t>
            </a:r>
            <a:r>
              <a:rPr lang="en-GB" sz="2000"/>
              <a:t> using a table.</a:t>
            </a:r>
            <a:endParaRPr sz="2000"/>
          </a:p>
        </p:txBody>
      </p:sp>
      <p:sp>
        <p:nvSpPr>
          <p:cNvPr id="1260" name="Google Shape;126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261" name="Google Shape;1261;p82"/>
          <p:cNvSpPr/>
          <p:nvPr/>
        </p:nvSpPr>
        <p:spPr>
          <a:xfrm>
            <a:off x="19797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2"/>
          <p:cNvSpPr txBox="1"/>
          <p:nvPr>
            <p:ph type="body" idx="1"/>
          </p:nvPr>
        </p:nvSpPr>
        <p:spPr>
          <a:xfrm>
            <a:off x="20978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263" name="Google Shape;1263;p82"/>
          <p:cNvSpPr/>
          <p:nvPr/>
        </p:nvSpPr>
        <p:spPr>
          <a:xfrm>
            <a:off x="25131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2"/>
          <p:cNvSpPr txBox="1"/>
          <p:nvPr>
            <p:ph type="body" idx="1"/>
          </p:nvPr>
        </p:nvSpPr>
        <p:spPr>
          <a:xfrm>
            <a:off x="26312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265" name="Google Shape;1265;p82"/>
          <p:cNvSpPr/>
          <p:nvPr/>
        </p:nvSpPr>
        <p:spPr>
          <a:xfrm>
            <a:off x="30465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2"/>
          <p:cNvSpPr txBox="1"/>
          <p:nvPr>
            <p:ph type="body" idx="1"/>
          </p:nvPr>
        </p:nvSpPr>
        <p:spPr>
          <a:xfrm>
            <a:off x="31646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267" name="Google Shape;1267;p82"/>
          <p:cNvSpPr/>
          <p:nvPr/>
        </p:nvSpPr>
        <p:spPr>
          <a:xfrm>
            <a:off x="35799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2"/>
          <p:cNvSpPr txBox="1"/>
          <p:nvPr>
            <p:ph type="body" idx="1"/>
          </p:nvPr>
        </p:nvSpPr>
        <p:spPr>
          <a:xfrm>
            <a:off x="36980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269" name="Google Shape;1269;p82"/>
          <p:cNvSpPr/>
          <p:nvPr/>
        </p:nvSpPr>
        <p:spPr>
          <a:xfrm>
            <a:off x="41133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2"/>
          <p:cNvSpPr txBox="1"/>
          <p:nvPr>
            <p:ph type="body" idx="1"/>
          </p:nvPr>
        </p:nvSpPr>
        <p:spPr>
          <a:xfrm>
            <a:off x="42314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271" name="Google Shape;1271;p82"/>
          <p:cNvSpPr/>
          <p:nvPr/>
        </p:nvSpPr>
        <p:spPr>
          <a:xfrm>
            <a:off x="46467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2"/>
          <p:cNvSpPr txBox="1"/>
          <p:nvPr>
            <p:ph type="body" idx="1"/>
          </p:nvPr>
        </p:nvSpPr>
        <p:spPr>
          <a:xfrm>
            <a:off x="47648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273" name="Google Shape;1273;p82"/>
          <p:cNvSpPr/>
          <p:nvPr/>
        </p:nvSpPr>
        <p:spPr>
          <a:xfrm>
            <a:off x="51801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2"/>
          <p:cNvSpPr txBox="1"/>
          <p:nvPr>
            <p:ph type="body" idx="1"/>
          </p:nvPr>
        </p:nvSpPr>
        <p:spPr>
          <a:xfrm>
            <a:off x="52982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275" name="Google Shape;1275;p82"/>
          <p:cNvSpPr/>
          <p:nvPr/>
        </p:nvSpPr>
        <p:spPr>
          <a:xfrm>
            <a:off x="57135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2"/>
          <p:cNvSpPr txBox="1"/>
          <p:nvPr>
            <p:ph type="body" idx="1"/>
          </p:nvPr>
        </p:nvSpPr>
        <p:spPr>
          <a:xfrm>
            <a:off x="58316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277" name="Google Shape;1277;p82"/>
          <p:cNvSpPr/>
          <p:nvPr/>
        </p:nvSpPr>
        <p:spPr>
          <a:xfrm>
            <a:off x="62469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2"/>
          <p:cNvSpPr txBox="1"/>
          <p:nvPr>
            <p:ph type="body" idx="1"/>
          </p:nvPr>
        </p:nvSpPr>
        <p:spPr>
          <a:xfrm>
            <a:off x="6365026" y="15949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279" name="Google Shape;1279;p82"/>
          <p:cNvSpPr/>
          <p:nvPr/>
        </p:nvSpPr>
        <p:spPr>
          <a:xfrm>
            <a:off x="6780324" y="14799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2"/>
          <p:cNvSpPr txBox="1"/>
          <p:nvPr>
            <p:ph type="body" idx="1"/>
          </p:nvPr>
        </p:nvSpPr>
        <p:spPr>
          <a:xfrm>
            <a:off x="6836224" y="1594942"/>
            <a:ext cx="347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graphicFrame>
        <p:nvGraphicFramePr>
          <p:cNvPr id="1281" name="Google Shape;1281;p82"/>
          <p:cNvGraphicFramePr>
            <a:graphicFrameLocks noGrp="1"/>
          </p:cNvGraphicFramePr>
          <p:nvPr/>
        </p:nvGraphicFramePr>
        <p:xfrm>
          <a:off x="638541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{646617E5-B7E4-4EEC-9304-DCA25517C364}</a:tableStyleId>
              </a:tblPr>
              <a:tblGrid>
                <a:gridCol w="1966000"/>
                <a:gridCol w="1966000"/>
              </a:tblGrid>
              <a:tr h="42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166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82" name="Google Shape;1282;p82"/>
          <p:cNvSpPr/>
          <p:nvPr/>
        </p:nvSpPr>
        <p:spPr>
          <a:xfrm>
            <a:off x="760524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2"/>
          <p:cNvSpPr txBox="1"/>
          <p:nvPr>
            <p:ph type="body" idx="1"/>
          </p:nvPr>
        </p:nvSpPr>
        <p:spPr>
          <a:xfrm>
            <a:off x="878626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284" name="Google Shape;1284;p82"/>
          <p:cNvSpPr/>
          <p:nvPr/>
        </p:nvSpPr>
        <p:spPr>
          <a:xfrm>
            <a:off x="1370124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2"/>
          <p:cNvSpPr txBox="1"/>
          <p:nvPr>
            <p:ph type="body" idx="1"/>
          </p:nvPr>
        </p:nvSpPr>
        <p:spPr>
          <a:xfrm>
            <a:off x="1488226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286" name="Google Shape;1286;p82"/>
          <p:cNvSpPr/>
          <p:nvPr/>
        </p:nvSpPr>
        <p:spPr>
          <a:xfrm>
            <a:off x="1979724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2"/>
          <p:cNvSpPr txBox="1"/>
          <p:nvPr>
            <p:ph type="body" idx="1"/>
          </p:nvPr>
        </p:nvSpPr>
        <p:spPr>
          <a:xfrm>
            <a:off x="2097826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288" name="Google Shape;1288;p82"/>
          <p:cNvSpPr/>
          <p:nvPr/>
        </p:nvSpPr>
        <p:spPr>
          <a:xfrm>
            <a:off x="1065324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2"/>
          <p:cNvSpPr txBox="1"/>
          <p:nvPr>
            <p:ph type="body" idx="1"/>
          </p:nvPr>
        </p:nvSpPr>
        <p:spPr>
          <a:xfrm>
            <a:off x="1183426" y="3957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290" name="Google Shape;1290;p82"/>
          <p:cNvSpPr/>
          <p:nvPr/>
        </p:nvSpPr>
        <p:spPr>
          <a:xfrm>
            <a:off x="2735496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2"/>
          <p:cNvSpPr txBox="1"/>
          <p:nvPr>
            <p:ph type="body" idx="1"/>
          </p:nvPr>
        </p:nvSpPr>
        <p:spPr>
          <a:xfrm>
            <a:off x="2853598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292" name="Google Shape;1292;p82"/>
          <p:cNvSpPr/>
          <p:nvPr/>
        </p:nvSpPr>
        <p:spPr>
          <a:xfrm>
            <a:off x="3345096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2"/>
          <p:cNvSpPr txBox="1"/>
          <p:nvPr>
            <p:ph type="body" idx="1"/>
          </p:nvPr>
        </p:nvSpPr>
        <p:spPr>
          <a:xfrm>
            <a:off x="3463198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294" name="Google Shape;1294;p82"/>
          <p:cNvSpPr/>
          <p:nvPr/>
        </p:nvSpPr>
        <p:spPr>
          <a:xfrm>
            <a:off x="3954696" y="3080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2"/>
          <p:cNvSpPr txBox="1"/>
          <p:nvPr>
            <p:ph type="body" idx="1"/>
          </p:nvPr>
        </p:nvSpPr>
        <p:spPr>
          <a:xfrm>
            <a:off x="4072798" y="3195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296" name="Google Shape;1296;p82"/>
          <p:cNvSpPr txBox="1"/>
          <p:nvPr>
            <p:ph type="body" idx="1"/>
          </p:nvPr>
        </p:nvSpPr>
        <p:spPr>
          <a:xfrm>
            <a:off x="4819800" y="2511900"/>
            <a:ext cx="39321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card is chosen at random from the deck.</a:t>
            </a:r>
            <a:endParaRPr sz="2000"/>
          </a:p>
        </p:txBody>
      </p:sp>
      <p:sp>
        <p:nvSpPr>
          <p:cNvPr id="1297" name="Google Shape;1297;p82"/>
          <p:cNvSpPr txBox="1"/>
          <p:nvPr>
            <p:ph type="body" idx="1"/>
          </p:nvPr>
        </p:nvSpPr>
        <p:spPr>
          <a:xfrm>
            <a:off x="4819800" y="3426300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P(prime) =</a:t>
            </a:r>
            <a:endParaRPr sz="2000"/>
          </a:p>
        </p:txBody>
      </p:sp>
      <p:sp>
        <p:nvSpPr>
          <p:cNvPr id="1298" name="Google Shape;1298;p82"/>
          <p:cNvSpPr txBox="1"/>
          <p:nvPr>
            <p:ph type="body" idx="1"/>
          </p:nvPr>
        </p:nvSpPr>
        <p:spPr>
          <a:xfrm>
            <a:off x="4819800" y="4142507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P(not prime) =</a:t>
            </a:r>
            <a:endParaRPr sz="2000"/>
          </a:p>
        </p:txBody>
      </p:sp>
      <p:sp>
        <p:nvSpPr>
          <p:cNvPr id="1299" name="Google Shape;1299;p82"/>
          <p:cNvSpPr/>
          <p:nvPr/>
        </p:nvSpPr>
        <p:spPr>
          <a:xfrm>
            <a:off x="2735496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2"/>
          <p:cNvSpPr txBox="1"/>
          <p:nvPr>
            <p:ph type="body" idx="1"/>
          </p:nvPr>
        </p:nvSpPr>
        <p:spPr>
          <a:xfrm>
            <a:off x="2853598" y="3957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301" name="Google Shape;1301;p82"/>
          <p:cNvSpPr/>
          <p:nvPr/>
        </p:nvSpPr>
        <p:spPr>
          <a:xfrm>
            <a:off x="3345096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2"/>
          <p:cNvSpPr txBox="1"/>
          <p:nvPr>
            <p:ph type="body" idx="1"/>
          </p:nvPr>
        </p:nvSpPr>
        <p:spPr>
          <a:xfrm>
            <a:off x="3463198" y="3957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303" name="Google Shape;1303;p82"/>
          <p:cNvSpPr/>
          <p:nvPr/>
        </p:nvSpPr>
        <p:spPr>
          <a:xfrm>
            <a:off x="3954696" y="38421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2"/>
          <p:cNvSpPr txBox="1"/>
          <p:nvPr>
            <p:ph type="body" idx="1"/>
          </p:nvPr>
        </p:nvSpPr>
        <p:spPr>
          <a:xfrm>
            <a:off x="3991236" y="3957125"/>
            <a:ext cx="347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pic>
        <p:nvPicPr>
          <p:cNvPr id="1305" name="Google Shape;1305;p82" descr="&lt;math xmlns=&quot;http://www.w3.org/1998/Math/MathML&quot; display=&quot;block&quot; data-is-equatio=&quot;1&quot; data-latex=&quot;\frac{4}{10}\ \ \ \frac{6}{10}&quot;&gt;&lt;mfrac&gt;&lt;mn&gt;4&lt;/mn&gt;&lt;mn&gt;10&lt;/mn&gt;&lt;/mfrac&gt;&lt;mtext&gt;&lt;/mtext&gt;&lt;mtext&gt;&lt;/mtext&gt;&lt;mtext&gt;&lt;/mtext&gt;&lt;mfrac&gt;&lt;mn&gt;6&lt;/mn&gt;&lt;mn&gt;10&lt;/mn&gt;&lt;/mfrac&gt;&lt;/math&gt;" title="four tenths six tenths"/>
          <p:cNvPicPr preferRelativeResize="0"/>
          <p:nvPr/>
        </p:nvPicPr>
        <p:blipFill>
          <a:blip r:embed="rId3">
            <a:alphaModFix/>
          </a:blip>
          <a:srcRect r="57825"/>
          <a:stretch>
            <a:fillRect/>
          </a:stretch>
        </p:blipFill>
        <p:spPr>
          <a:xfrm>
            <a:off x="6246923" y="3278700"/>
            <a:ext cx="4029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82" descr="&lt;math xmlns=&quot;http://www.w3.org/1998/Math/MathML&quot; display=&quot;block&quot; data-is-equatio=&quot;1&quot; data-latex=&quot;\frac{4}{10}\ \ \ \frac{6}{10}&quot;&gt;&lt;mfrac&gt;&lt;mn&gt;4&lt;/mn&gt;&lt;mn&gt;10&lt;/mn&gt;&lt;/mfrac&gt;&lt;mtext&gt;&lt;/mtext&gt;&lt;mtext&gt;&lt;/mtext&gt;&lt;mtext&gt;&lt;/mtext&gt;&lt;mfrac&gt;&lt;mn&gt;6&lt;/mn&gt;&lt;mn&gt;10&lt;/mn&gt;&lt;/mfrac&gt;&lt;/math&gt;" title="four tenths six tenths"/>
          <p:cNvPicPr preferRelativeResize="0"/>
          <p:nvPr/>
        </p:nvPicPr>
        <p:blipFill>
          <a:blip r:embed="rId3">
            <a:alphaModFix/>
          </a:blip>
          <a:srcRect l="55836"/>
          <a:stretch>
            <a:fillRect/>
          </a:stretch>
        </p:blipFill>
        <p:spPr>
          <a:xfrm>
            <a:off x="6649827" y="3975900"/>
            <a:ext cx="42190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0" name="Shape 1310"/>
        <p:cNvGrpSpPr/>
        <p:nvPr/>
      </p:nvGrpSpPr>
      <p:grpSpPr>
        <a:xfrm>
          <a:off x="0" y="0"/>
          <a:ext cx="0" cy="0"/>
        </a:xfrm>
      </p:grpSpPr>
      <p:sp>
        <p:nvSpPr>
          <p:cNvPr id="1311" name="Google Shape;1311;p83"/>
          <p:cNvSpPr txBox="1"/>
          <p:nvPr>
            <p:ph type="body" idx="1"/>
          </p:nvPr>
        </p:nvSpPr>
        <p:spPr>
          <a:xfrm>
            <a:off x="324000" y="759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cards could be sorted into </a:t>
            </a:r>
            <a:r>
              <a:rPr lang="en-GB" sz="2000">
                <a:solidFill>
                  <a:schemeClr val="accent5"/>
                </a:solidFill>
              </a:rPr>
              <a:t>odds</a:t>
            </a:r>
            <a:r>
              <a:rPr lang="en-GB" sz="2000"/>
              <a:t> and </a:t>
            </a:r>
            <a:r>
              <a:rPr lang="en-GB" sz="2000">
                <a:solidFill>
                  <a:schemeClr val="accent5"/>
                </a:solidFill>
              </a:rPr>
              <a:t>evens</a:t>
            </a:r>
            <a:r>
              <a:rPr lang="en-GB" sz="2000"/>
              <a:t> as well as </a:t>
            </a:r>
            <a:r>
              <a:rPr lang="en-GB" sz="2000">
                <a:solidFill>
                  <a:schemeClr val="accent5"/>
                </a:solidFill>
              </a:rPr>
              <a:t>primes</a:t>
            </a:r>
            <a:r>
              <a:rPr lang="en-GB" sz="2000"/>
              <a:t> and </a:t>
            </a:r>
            <a:r>
              <a:rPr lang="en-GB" sz="2000">
                <a:solidFill>
                  <a:schemeClr val="accent5"/>
                </a:solidFill>
              </a:rPr>
              <a:t>not primes</a:t>
            </a:r>
            <a:r>
              <a:rPr lang="en-GB" sz="2000"/>
              <a:t> using a table.</a:t>
            </a:r>
            <a:endParaRPr sz="2000"/>
          </a:p>
        </p:txBody>
      </p:sp>
      <p:sp>
        <p:nvSpPr>
          <p:cNvPr id="1312" name="Google Shape;131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313" name="Google Shape;1313;p83"/>
          <p:cNvSpPr/>
          <p:nvPr/>
        </p:nvSpPr>
        <p:spPr>
          <a:xfrm>
            <a:off x="1190964" y="4086965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3"/>
          <p:cNvSpPr txBox="1"/>
          <p:nvPr>
            <p:ph type="body" idx="1"/>
          </p:nvPr>
        </p:nvSpPr>
        <p:spPr>
          <a:xfrm>
            <a:off x="1309066" y="4201982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315" name="Google Shape;1315;p83"/>
          <p:cNvSpPr/>
          <p:nvPr/>
        </p:nvSpPr>
        <p:spPr>
          <a:xfrm>
            <a:off x="1172530" y="32391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3"/>
          <p:cNvSpPr txBox="1"/>
          <p:nvPr>
            <p:ph type="body" idx="1"/>
          </p:nvPr>
        </p:nvSpPr>
        <p:spPr>
          <a:xfrm>
            <a:off x="1290632" y="33541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317" name="Google Shape;1317;p83"/>
          <p:cNvSpPr/>
          <p:nvPr/>
        </p:nvSpPr>
        <p:spPr>
          <a:xfrm>
            <a:off x="1657206" y="32391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83"/>
          <p:cNvSpPr txBox="1"/>
          <p:nvPr>
            <p:ph type="body" idx="1"/>
          </p:nvPr>
        </p:nvSpPr>
        <p:spPr>
          <a:xfrm>
            <a:off x="1775308" y="33541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319" name="Google Shape;1319;p83"/>
          <p:cNvSpPr/>
          <p:nvPr/>
        </p:nvSpPr>
        <p:spPr>
          <a:xfrm>
            <a:off x="2141882" y="32391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3"/>
          <p:cNvSpPr txBox="1"/>
          <p:nvPr>
            <p:ph type="body" idx="1"/>
          </p:nvPr>
        </p:nvSpPr>
        <p:spPr>
          <a:xfrm>
            <a:off x="2259984" y="33541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321" name="Google Shape;1321;p83"/>
          <p:cNvSpPr/>
          <p:nvPr/>
        </p:nvSpPr>
        <p:spPr>
          <a:xfrm>
            <a:off x="4433144" y="4070717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3"/>
          <p:cNvSpPr txBox="1"/>
          <p:nvPr>
            <p:ph type="body" idx="1"/>
          </p:nvPr>
        </p:nvSpPr>
        <p:spPr>
          <a:xfrm>
            <a:off x="4469786" y="4185740"/>
            <a:ext cx="347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1323" name="Google Shape;1323;p83"/>
          <p:cNvSpPr txBox="1"/>
          <p:nvPr>
            <p:ph type="body" idx="1"/>
          </p:nvPr>
        </p:nvSpPr>
        <p:spPr>
          <a:xfrm>
            <a:off x="5197869" y="2185852"/>
            <a:ext cx="39321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card is chosen at random from the deck.</a:t>
            </a:r>
            <a:endParaRPr sz="2000"/>
          </a:p>
        </p:txBody>
      </p:sp>
      <p:sp>
        <p:nvSpPr>
          <p:cNvPr id="1324" name="Google Shape;1324;p83"/>
          <p:cNvSpPr txBox="1"/>
          <p:nvPr>
            <p:ph type="body" idx="1"/>
          </p:nvPr>
        </p:nvSpPr>
        <p:spPr>
          <a:xfrm>
            <a:off x="5197869" y="31002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P(even prime) =</a:t>
            </a:r>
            <a:endParaRPr sz="2000"/>
          </a:p>
        </p:txBody>
      </p:sp>
      <p:sp>
        <p:nvSpPr>
          <p:cNvPr id="1325" name="Google Shape;1325;p83"/>
          <p:cNvSpPr txBox="1"/>
          <p:nvPr>
            <p:ph type="body" idx="1"/>
          </p:nvPr>
        </p:nvSpPr>
        <p:spPr>
          <a:xfrm>
            <a:off x="5197869" y="37860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P(odd prime) =</a:t>
            </a:r>
            <a:endParaRPr sz="2000"/>
          </a:p>
        </p:txBody>
      </p:sp>
      <p:cxnSp>
        <p:nvCxnSpPr>
          <p:cNvPr id="1326" name="Google Shape;1326;p83"/>
          <p:cNvCxnSpPr/>
          <p:nvPr/>
        </p:nvCxnSpPr>
        <p:spPr>
          <a:xfrm flipH="1">
            <a:off x="1066050" y="2230717"/>
            <a:ext cx="0" cy="254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" name="Google Shape;1327;p83"/>
          <p:cNvCxnSpPr/>
          <p:nvPr/>
        </p:nvCxnSpPr>
        <p:spPr>
          <a:xfrm flipH="1">
            <a:off x="2873303" y="2230717"/>
            <a:ext cx="0" cy="254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83"/>
          <p:cNvCxnSpPr/>
          <p:nvPr/>
        </p:nvCxnSpPr>
        <p:spPr>
          <a:xfrm flipH="1">
            <a:off x="4955908" y="2230717"/>
            <a:ext cx="0" cy="257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83"/>
          <p:cNvCxnSpPr/>
          <p:nvPr/>
        </p:nvCxnSpPr>
        <p:spPr>
          <a:xfrm rot="10800000">
            <a:off x="338600" y="3117740"/>
            <a:ext cx="461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83"/>
          <p:cNvCxnSpPr/>
          <p:nvPr/>
        </p:nvCxnSpPr>
        <p:spPr>
          <a:xfrm rot="10800000">
            <a:off x="338600" y="3953481"/>
            <a:ext cx="461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1" name="Google Shape;1331;p83"/>
          <p:cNvCxnSpPr/>
          <p:nvPr/>
        </p:nvCxnSpPr>
        <p:spPr>
          <a:xfrm rot="10800000">
            <a:off x="338600" y="4796958"/>
            <a:ext cx="461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2" name="Google Shape;1332;p83"/>
          <p:cNvSpPr txBox="1"/>
          <p:nvPr/>
        </p:nvSpPr>
        <p:spPr>
          <a:xfrm>
            <a:off x="1479027" y="2362603"/>
            <a:ext cx="90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3"/>
          <p:cNvSpPr txBox="1"/>
          <p:nvPr/>
        </p:nvSpPr>
        <p:spPr>
          <a:xfrm>
            <a:off x="3022436" y="2330190"/>
            <a:ext cx="103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 prime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3"/>
          <p:cNvSpPr txBox="1"/>
          <p:nvPr/>
        </p:nvSpPr>
        <p:spPr>
          <a:xfrm>
            <a:off x="400792" y="3258265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3"/>
          <p:cNvSpPr txBox="1"/>
          <p:nvPr/>
        </p:nvSpPr>
        <p:spPr>
          <a:xfrm>
            <a:off x="315549" y="4029090"/>
            <a:ext cx="82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3"/>
          <p:cNvSpPr/>
          <p:nvPr/>
        </p:nvSpPr>
        <p:spPr>
          <a:xfrm>
            <a:off x="2985943" y="32391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3"/>
          <p:cNvSpPr txBox="1"/>
          <p:nvPr>
            <p:ph type="body" idx="1"/>
          </p:nvPr>
        </p:nvSpPr>
        <p:spPr>
          <a:xfrm>
            <a:off x="3104045" y="33541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338" name="Google Shape;1338;p83"/>
          <p:cNvSpPr/>
          <p:nvPr/>
        </p:nvSpPr>
        <p:spPr>
          <a:xfrm>
            <a:off x="3470619" y="32391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3"/>
          <p:cNvSpPr txBox="1"/>
          <p:nvPr>
            <p:ph type="body" idx="1"/>
          </p:nvPr>
        </p:nvSpPr>
        <p:spPr>
          <a:xfrm>
            <a:off x="3588721" y="33541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340" name="Google Shape;1340;p83"/>
          <p:cNvSpPr/>
          <p:nvPr/>
        </p:nvSpPr>
        <p:spPr>
          <a:xfrm>
            <a:off x="2985943" y="40773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83"/>
          <p:cNvSpPr txBox="1"/>
          <p:nvPr>
            <p:ph type="body" idx="1"/>
          </p:nvPr>
        </p:nvSpPr>
        <p:spPr>
          <a:xfrm>
            <a:off x="3104045" y="41923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342" name="Google Shape;1342;p83"/>
          <p:cNvSpPr/>
          <p:nvPr/>
        </p:nvSpPr>
        <p:spPr>
          <a:xfrm>
            <a:off x="3470619" y="40773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3"/>
          <p:cNvSpPr txBox="1"/>
          <p:nvPr>
            <p:ph type="body" idx="1"/>
          </p:nvPr>
        </p:nvSpPr>
        <p:spPr>
          <a:xfrm>
            <a:off x="3588721" y="41923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344" name="Google Shape;1344;p83"/>
          <p:cNvSpPr/>
          <p:nvPr/>
        </p:nvSpPr>
        <p:spPr>
          <a:xfrm>
            <a:off x="3955295" y="4077383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83"/>
          <p:cNvSpPr txBox="1"/>
          <p:nvPr>
            <p:ph type="body" idx="1"/>
          </p:nvPr>
        </p:nvSpPr>
        <p:spPr>
          <a:xfrm>
            <a:off x="4073397" y="4192399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346" name="Google Shape;1346;p83"/>
          <p:cNvSpPr txBox="1"/>
          <p:nvPr>
            <p:ph type="body" idx="1"/>
          </p:nvPr>
        </p:nvSpPr>
        <p:spPr>
          <a:xfrm>
            <a:off x="5197869" y="4416900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P(not prime and odd) =</a:t>
            </a:r>
            <a:endParaRPr sz="2000"/>
          </a:p>
        </p:txBody>
      </p:sp>
      <p:pic>
        <p:nvPicPr>
          <p:cNvPr id="1347" name="Google Shape;1347;p83" descr="&lt;math xmlns=&quot;http://www.w3.org/1998/Math/MathML&quot; display=&quot;block&quot; data-is-equatio=&quot;1&quot; data-latex=&quot;\frac{1}{10}\ \ \ \frac{3}{10}\ \ \ \frac{2}{10}&quot;&gt;&lt;mfrac&gt;&lt;mn&gt;1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frac&gt;&lt;mn&gt;2&lt;/mn&gt;&lt;mn&gt;10&lt;/mn&gt;&lt;/mfrac&gt;&lt;/math&gt;" title="one tenth three tenths two tenths"/>
          <p:cNvPicPr preferRelativeResize="0"/>
          <p:nvPr/>
        </p:nvPicPr>
        <p:blipFill>
          <a:blip r:embed="rId3">
            <a:alphaModFix/>
          </a:blip>
          <a:srcRect r="72154"/>
          <a:stretch>
            <a:fillRect/>
          </a:stretch>
        </p:blipFill>
        <p:spPr>
          <a:xfrm>
            <a:off x="7236786" y="2964402"/>
            <a:ext cx="402900" cy="5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83" descr="&lt;math xmlns=&quot;http://www.w3.org/1998/Math/MathML&quot; display=&quot;block&quot; data-is-equatio=&quot;1&quot; data-latex=&quot;\frac{1}{10}\ \ \ \frac{3}{10}\ \ \ \frac{2}{10}&quot;&gt;&lt;mfrac&gt;&lt;mn&gt;1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frac&gt;&lt;mn&gt;2&lt;/mn&gt;&lt;mn&gt;10&lt;/mn&gt;&lt;/mfrac&gt;&lt;/math&gt;" title="one tenth three tenths two tenths"/>
          <p:cNvPicPr preferRelativeResize="0"/>
          <p:nvPr/>
        </p:nvPicPr>
        <p:blipFill>
          <a:blip r:embed="rId3">
            <a:alphaModFix/>
          </a:blip>
          <a:srcRect l="36089" r="36064"/>
          <a:stretch>
            <a:fillRect/>
          </a:stretch>
        </p:blipFill>
        <p:spPr>
          <a:xfrm>
            <a:off x="7062796" y="3668602"/>
            <a:ext cx="402900" cy="5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83" descr="&lt;math xmlns=&quot;http://www.w3.org/1998/Math/MathML&quot; display=&quot;block&quot; data-is-equatio=&quot;1&quot; data-latex=&quot;\frac{1}{10}\ \ \ \frac{3}{10}\ \ \ \frac{2}{10}&quot;&gt;&lt;mfrac&gt;&lt;mn&gt;1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frac&gt;&lt;mn&gt;2&lt;/mn&gt;&lt;mn&gt;10&lt;/mn&gt;&lt;/mfrac&gt;&lt;/math&gt;" title="one tenth three tenths two tenths"/>
          <p:cNvPicPr preferRelativeResize="0"/>
          <p:nvPr/>
        </p:nvPicPr>
        <p:blipFill>
          <a:blip r:embed="rId3">
            <a:alphaModFix/>
          </a:blip>
          <a:srcRect l="72154"/>
          <a:stretch>
            <a:fillRect/>
          </a:stretch>
        </p:blipFill>
        <p:spPr>
          <a:xfrm>
            <a:off x="8032669" y="4245119"/>
            <a:ext cx="402900" cy="56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83"/>
          <p:cNvSpPr/>
          <p:nvPr/>
        </p:nvSpPr>
        <p:spPr>
          <a:xfrm>
            <a:off x="19797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3"/>
          <p:cNvSpPr txBox="1"/>
          <p:nvPr>
            <p:ph type="body" idx="1"/>
          </p:nvPr>
        </p:nvSpPr>
        <p:spPr>
          <a:xfrm>
            <a:off x="20978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352" name="Google Shape;1352;p83"/>
          <p:cNvSpPr/>
          <p:nvPr/>
        </p:nvSpPr>
        <p:spPr>
          <a:xfrm>
            <a:off x="25131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3"/>
          <p:cNvSpPr txBox="1"/>
          <p:nvPr>
            <p:ph type="body" idx="1"/>
          </p:nvPr>
        </p:nvSpPr>
        <p:spPr>
          <a:xfrm>
            <a:off x="26312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354" name="Google Shape;1354;p83"/>
          <p:cNvSpPr/>
          <p:nvPr/>
        </p:nvSpPr>
        <p:spPr>
          <a:xfrm>
            <a:off x="30465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3"/>
          <p:cNvSpPr txBox="1"/>
          <p:nvPr>
            <p:ph type="body" idx="1"/>
          </p:nvPr>
        </p:nvSpPr>
        <p:spPr>
          <a:xfrm>
            <a:off x="31646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356" name="Google Shape;1356;p83"/>
          <p:cNvSpPr/>
          <p:nvPr/>
        </p:nvSpPr>
        <p:spPr>
          <a:xfrm>
            <a:off x="35799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3"/>
          <p:cNvSpPr txBox="1"/>
          <p:nvPr>
            <p:ph type="body" idx="1"/>
          </p:nvPr>
        </p:nvSpPr>
        <p:spPr>
          <a:xfrm>
            <a:off x="36980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358" name="Google Shape;1358;p83"/>
          <p:cNvSpPr/>
          <p:nvPr/>
        </p:nvSpPr>
        <p:spPr>
          <a:xfrm>
            <a:off x="41133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3"/>
          <p:cNvSpPr txBox="1"/>
          <p:nvPr>
            <p:ph type="body" idx="1"/>
          </p:nvPr>
        </p:nvSpPr>
        <p:spPr>
          <a:xfrm>
            <a:off x="42314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360" name="Google Shape;1360;p83"/>
          <p:cNvSpPr/>
          <p:nvPr/>
        </p:nvSpPr>
        <p:spPr>
          <a:xfrm>
            <a:off x="46467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83"/>
          <p:cNvSpPr txBox="1"/>
          <p:nvPr>
            <p:ph type="body" idx="1"/>
          </p:nvPr>
        </p:nvSpPr>
        <p:spPr>
          <a:xfrm>
            <a:off x="47648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362" name="Google Shape;1362;p83"/>
          <p:cNvSpPr/>
          <p:nvPr/>
        </p:nvSpPr>
        <p:spPr>
          <a:xfrm>
            <a:off x="51801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3"/>
          <p:cNvSpPr txBox="1"/>
          <p:nvPr>
            <p:ph type="body" idx="1"/>
          </p:nvPr>
        </p:nvSpPr>
        <p:spPr>
          <a:xfrm>
            <a:off x="52982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364" name="Google Shape;1364;p83"/>
          <p:cNvSpPr/>
          <p:nvPr/>
        </p:nvSpPr>
        <p:spPr>
          <a:xfrm>
            <a:off x="57135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3"/>
          <p:cNvSpPr txBox="1"/>
          <p:nvPr>
            <p:ph type="body" idx="1"/>
          </p:nvPr>
        </p:nvSpPr>
        <p:spPr>
          <a:xfrm>
            <a:off x="58316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366" name="Google Shape;1366;p83"/>
          <p:cNvSpPr/>
          <p:nvPr/>
        </p:nvSpPr>
        <p:spPr>
          <a:xfrm>
            <a:off x="62469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3"/>
          <p:cNvSpPr txBox="1"/>
          <p:nvPr>
            <p:ph type="body" idx="1"/>
          </p:nvPr>
        </p:nvSpPr>
        <p:spPr>
          <a:xfrm>
            <a:off x="6365026" y="1631568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368" name="Google Shape;1368;p83"/>
          <p:cNvSpPr/>
          <p:nvPr/>
        </p:nvSpPr>
        <p:spPr>
          <a:xfrm>
            <a:off x="6780324" y="1516552"/>
            <a:ext cx="402900" cy="5679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3"/>
          <p:cNvSpPr txBox="1"/>
          <p:nvPr>
            <p:ph type="body" idx="1"/>
          </p:nvPr>
        </p:nvSpPr>
        <p:spPr>
          <a:xfrm>
            <a:off x="6836224" y="1631577"/>
            <a:ext cx="347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3" name="Shape 1373"/>
        <p:cNvGrpSpPr/>
        <p:nvPr/>
      </p:nvGrpSpPr>
      <p:grpSpPr>
        <a:xfrm>
          <a:off x="0" y="0"/>
          <a:ext cx="0" cy="0"/>
        </a:xfrm>
      </p:grpSpPr>
      <p:sp>
        <p:nvSpPr>
          <p:cNvPr id="1374" name="Google Shape;1374;p84"/>
          <p:cNvSpPr txBox="1"/>
          <p:nvPr>
            <p:ph type="body" idx="1"/>
          </p:nvPr>
        </p:nvSpPr>
        <p:spPr>
          <a:xfrm>
            <a:off x="324000" y="759300"/>
            <a:ext cx="6802200" cy="10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spinner contains the numbers 1 to 5.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Sort the five outcomes into table below.</a:t>
            </a:r>
            <a:endParaRPr/>
          </a:p>
        </p:txBody>
      </p:sp>
      <p:sp>
        <p:nvSpPr>
          <p:cNvPr id="1375" name="Google Shape;137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probabilities from an outcome table</a:t>
            </a:r>
            <a:endParaRPr/>
          </a:p>
        </p:txBody>
      </p:sp>
      <p:cxnSp>
        <p:nvCxnSpPr>
          <p:cNvPr id="1376" name="Google Shape;1376;p84"/>
          <p:cNvCxnSpPr/>
          <p:nvPr/>
        </p:nvCxnSpPr>
        <p:spPr>
          <a:xfrm flipH="1">
            <a:off x="3943332" y="1882893"/>
            <a:ext cx="0" cy="237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7" name="Google Shape;1377;p84"/>
          <p:cNvCxnSpPr/>
          <p:nvPr/>
        </p:nvCxnSpPr>
        <p:spPr>
          <a:xfrm flipH="1">
            <a:off x="5140985" y="1882893"/>
            <a:ext cx="0" cy="237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8" name="Google Shape;1378;p84"/>
          <p:cNvCxnSpPr/>
          <p:nvPr/>
        </p:nvCxnSpPr>
        <p:spPr>
          <a:xfrm rot="10800000">
            <a:off x="2806000" y="271195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9" name="Google Shape;1379;p84"/>
          <p:cNvCxnSpPr/>
          <p:nvPr/>
        </p:nvCxnSpPr>
        <p:spPr>
          <a:xfrm rot="10800000">
            <a:off x="2806000" y="349308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0" name="Google Shape;1380;p84"/>
          <p:cNvCxnSpPr/>
          <p:nvPr/>
        </p:nvCxnSpPr>
        <p:spPr>
          <a:xfrm rot="10800000">
            <a:off x="2806000" y="4291801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1" name="Google Shape;1381;p84"/>
          <p:cNvSpPr txBox="1"/>
          <p:nvPr/>
        </p:nvSpPr>
        <p:spPr>
          <a:xfrm>
            <a:off x="4042350" y="1855159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4"/>
          <p:cNvSpPr txBox="1"/>
          <p:nvPr/>
        </p:nvSpPr>
        <p:spPr>
          <a:xfrm>
            <a:off x="5262648" y="18334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4"/>
          <p:cNvSpPr txBox="1"/>
          <p:nvPr/>
        </p:nvSpPr>
        <p:spPr>
          <a:xfrm>
            <a:off x="3049474" y="2772077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4"/>
          <p:cNvSpPr txBox="1"/>
          <p:nvPr/>
        </p:nvSpPr>
        <p:spPr>
          <a:xfrm>
            <a:off x="3040432" y="3563754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4"/>
          <p:cNvSpPr txBox="1"/>
          <p:nvPr/>
        </p:nvSpPr>
        <p:spPr>
          <a:xfrm flipH="1">
            <a:off x="4792010" y="3624711"/>
            <a:ext cx="5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6" name="Google Shape;1386;p84"/>
          <p:cNvSpPr txBox="1"/>
          <p:nvPr/>
        </p:nvSpPr>
        <p:spPr>
          <a:xfrm>
            <a:off x="4159000" y="3882548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7" name="Google Shape;1387;p84"/>
          <p:cNvSpPr txBox="1"/>
          <p:nvPr/>
        </p:nvSpPr>
        <p:spPr>
          <a:xfrm>
            <a:off x="4159000" y="2814236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84"/>
          <p:cNvSpPr txBox="1"/>
          <p:nvPr/>
        </p:nvSpPr>
        <p:spPr>
          <a:xfrm>
            <a:off x="5378200" y="3668885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9" name="Google Shape;1389;p84"/>
          <p:cNvSpPr txBox="1"/>
          <p:nvPr/>
        </p:nvSpPr>
        <p:spPr>
          <a:xfrm>
            <a:off x="5378200" y="2814236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90" name="Google Shape;1390;p84"/>
          <p:cNvCxnSpPr/>
          <p:nvPr/>
        </p:nvCxnSpPr>
        <p:spPr>
          <a:xfrm flipH="1">
            <a:off x="6329778" y="1884026"/>
            <a:ext cx="0" cy="2430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91" name="Google Shape;1391;p84"/>
          <p:cNvGrpSpPr/>
          <p:nvPr/>
        </p:nvGrpSpPr>
        <p:grpSpPr>
          <a:xfrm>
            <a:off x="230360" y="1842458"/>
            <a:ext cx="2278069" cy="2278069"/>
            <a:chOff x="6440626" y="456693"/>
            <a:chExt cx="2328600" cy="2328600"/>
          </a:xfrm>
        </p:grpSpPr>
        <p:sp>
          <p:nvSpPr>
            <p:cNvPr id="1392" name="Google Shape;1392;p84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3" name="Google Shape;1393;p84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4" name="Google Shape;1394;p84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5" name="Google Shape;1395;p84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6" name="Google Shape;1396;p84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7" name="Google Shape;1397;p84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8" name="Google Shape;1398;p84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9" name="Google Shape;1399;p84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84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1" name="Google Shape;1401;p84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2" name="Google Shape;1402;p84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03" name="Google Shape;1403;p84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404" name="Google Shape;1404;p84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405" name="Google Shape;1405;p84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9" name="Shape 1409"/>
        <p:cNvGrpSpPr/>
        <p:nvPr/>
      </p:nvGrpSpPr>
      <p:grpSpPr>
        <a:xfrm>
          <a:off x="0" y="0"/>
          <a:ext cx="0" cy="0"/>
        </a:xfrm>
      </p:grpSpPr>
      <p:pic>
        <p:nvPicPr>
          <p:cNvPr id="1410" name="Google Shape;1410;p85" descr="&lt;math xmlns=&quot;http://www.w3.org/1998/Math/MathML&quot; display=&quot;block&quot; data-is-equatio=&quot;1&quot; data-latex=&quot;\frac{2}{5}\ &quot;&gt;&lt;mfrac&gt;&lt;mn&gt;2&lt;/mn&gt;&lt;mn&gt;5&lt;/mn&gt;&lt;/mfrac&gt;&lt;mtext&gt;&lt;/mtext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49" y="4240329"/>
            <a:ext cx="170825" cy="56246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85"/>
          <p:cNvSpPr txBox="1"/>
          <p:nvPr>
            <p:ph type="body" idx="1"/>
          </p:nvPr>
        </p:nvSpPr>
        <p:spPr>
          <a:xfrm>
            <a:off x="324000" y="759300"/>
            <a:ext cx="8496000" cy="10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spinner is spun once.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probability that it lands on an odd factor of 6?</a:t>
            </a:r>
            <a:endParaRPr/>
          </a:p>
        </p:txBody>
      </p:sp>
      <p:sp>
        <p:nvSpPr>
          <p:cNvPr id="1412" name="Google Shape;141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cxnSp>
        <p:nvCxnSpPr>
          <p:cNvPr id="1413" name="Google Shape;1413;p85"/>
          <p:cNvCxnSpPr/>
          <p:nvPr/>
        </p:nvCxnSpPr>
        <p:spPr>
          <a:xfrm flipH="1">
            <a:off x="3943332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4" name="Google Shape;1414;p85"/>
          <p:cNvCxnSpPr/>
          <p:nvPr/>
        </p:nvCxnSpPr>
        <p:spPr>
          <a:xfrm flipH="1">
            <a:off x="5140985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5" name="Google Shape;1415;p85"/>
          <p:cNvCxnSpPr/>
          <p:nvPr/>
        </p:nvCxnSpPr>
        <p:spPr>
          <a:xfrm rot="10800000">
            <a:off x="2806000" y="27186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6" name="Google Shape;1416;p85"/>
          <p:cNvCxnSpPr/>
          <p:nvPr/>
        </p:nvCxnSpPr>
        <p:spPr>
          <a:xfrm rot="10800000">
            <a:off x="2806000" y="35056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7" name="Google Shape;1417;p85"/>
          <p:cNvCxnSpPr/>
          <p:nvPr/>
        </p:nvCxnSpPr>
        <p:spPr>
          <a:xfrm rot="10800000">
            <a:off x="2806000" y="4282750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8" name="Google Shape;1418;p85"/>
          <p:cNvSpPr txBox="1"/>
          <p:nvPr/>
        </p:nvSpPr>
        <p:spPr>
          <a:xfrm>
            <a:off x="4042350" y="18553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5"/>
          <p:cNvSpPr txBox="1"/>
          <p:nvPr/>
        </p:nvSpPr>
        <p:spPr>
          <a:xfrm>
            <a:off x="5262648" y="18334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5"/>
          <p:cNvSpPr txBox="1"/>
          <p:nvPr/>
        </p:nvSpPr>
        <p:spPr>
          <a:xfrm>
            <a:off x="3049474" y="27791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5"/>
          <p:cNvSpPr txBox="1"/>
          <p:nvPr/>
        </p:nvSpPr>
        <p:spPr>
          <a:xfrm>
            <a:off x="3040432" y="3576869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5"/>
          <p:cNvSpPr txBox="1"/>
          <p:nvPr/>
        </p:nvSpPr>
        <p:spPr>
          <a:xfrm flipH="1">
            <a:off x="4792010" y="3638288"/>
            <a:ext cx="5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5"/>
          <p:cNvSpPr txBox="1"/>
          <p:nvPr/>
        </p:nvSpPr>
        <p:spPr>
          <a:xfrm>
            <a:off x="4159000" y="3898079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5"/>
          <p:cNvSpPr txBox="1"/>
          <p:nvPr/>
        </p:nvSpPr>
        <p:spPr>
          <a:xfrm>
            <a:off x="41590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5"/>
          <p:cNvSpPr txBox="1"/>
          <p:nvPr/>
        </p:nvSpPr>
        <p:spPr>
          <a:xfrm>
            <a:off x="5378200" y="3682797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5"/>
          <p:cNvSpPr txBox="1"/>
          <p:nvPr/>
        </p:nvSpPr>
        <p:spPr>
          <a:xfrm>
            <a:off x="53782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7" name="Google Shape;1427;p85"/>
          <p:cNvGrpSpPr/>
          <p:nvPr/>
        </p:nvGrpSpPr>
        <p:grpSpPr>
          <a:xfrm>
            <a:off x="230360" y="1842458"/>
            <a:ext cx="2278069" cy="2278069"/>
            <a:chOff x="6440626" y="456693"/>
            <a:chExt cx="2328600" cy="2328600"/>
          </a:xfrm>
        </p:grpSpPr>
        <p:sp>
          <p:nvSpPr>
            <p:cNvPr id="1428" name="Google Shape;1428;p85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29" name="Google Shape;1429;p85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0" name="Google Shape;1430;p85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1" name="Google Shape;1431;p85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2" name="Google Shape;1432;p85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3" name="Google Shape;1433;p85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4" name="Google Shape;1434;p85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5" name="Google Shape;1435;p85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6" name="Google Shape;1436;p85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7" name="Google Shape;1437;p85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8" name="Google Shape;1438;p85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9" name="Google Shape;1439;p85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440" name="Google Shape;1440;p85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441" name="Google Shape;1441;p85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442" name="Google Shape;1442;p85"/>
          <p:cNvCxnSpPr/>
          <p:nvPr/>
        </p:nvCxnSpPr>
        <p:spPr>
          <a:xfrm flipH="1">
            <a:off x="6329778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3" name="Google Shape;1443;p85"/>
          <p:cNvSpPr txBox="1"/>
          <p:nvPr>
            <p:ph type="body" idx="1"/>
          </p:nvPr>
        </p:nvSpPr>
        <p:spPr>
          <a:xfrm>
            <a:off x="4526817" y="4412660"/>
            <a:ext cx="30795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P(odd factor of 6)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7" name="Shape 1447"/>
        <p:cNvGrpSpPr/>
        <p:nvPr/>
      </p:nvGrpSpPr>
      <p:grpSpPr>
        <a:xfrm>
          <a:off x="0" y="0"/>
          <a:ext cx="0" cy="0"/>
        </a:xfrm>
      </p:grpSpPr>
      <p:sp>
        <p:nvSpPr>
          <p:cNvPr id="1448" name="Google Shape;1448;p86"/>
          <p:cNvSpPr txBox="1"/>
          <p:nvPr>
            <p:ph type="body" idx="1"/>
          </p:nvPr>
        </p:nvSpPr>
        <p:spPr>
          <a:xfrm>
            <a:off x="324000" y="759300"/>
            <a:ext cx="8496000" cy="10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spinner is spun once.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probability that it lands on an even factor of 6?</a:t>
            </a:r>
            <a:endParaRPr/>
          </a:p>
        </p:txBody>
      </p:sp>
      <p:sp>
        <p:nvSpPr>
          <p:cNvPr id="1449" name="Google Shape;144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cxnSp>
        <p:nvCxnSpPr>
          <p:cNvPr id="1450" name="Google Shape;1450;p86"/>
          <p:cNvCxnSpPr/>
          <p:nvPr/>
        </p:nvCxnSpPr>
        <p:spPr>
          <a:xfrm flipH="1">
            <a:off x="3943332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1" name="Google Shape;1451;p86"/>
          <p:cNvCxnSpPr/>
          <p:nvPr/>
        </p:nvCxnSpPr>
        <p:spPr>
          <a:xfrm flipH="1">
            <a:off x="5140985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2" name="Google Shape;1452;p86"/>
          <p:cNvCxnSpPr/>
          <p:nvPr/>
        </p:nvCxnSpPr>
        <p:spPr>
          <a:xfrm rot="10800000">
            <a:off x="2806000" y="27186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3" name="Google Shape;1453;p86"/>
          <p:cNvCxnSpPr/>
          <p:nvPr/>
        </p:nvCxnSpPr>
        <p:spPr>
          <a:xfrm rot="10800000">
            <a:off x="2806000" y="35056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4" name="Google Shape;1454;p86"/>
          <p:cNvCxnSpPr/>
          <p:nvPr/>
        </p:nvCxnSpPr>
        <p:spPr>
          <a:xfrm rot="10800000">
            <a:off x="2806000" y="4282750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5" name="Google Shape;1455;p86"/>
          <p:cNvSpPr txBox="1"/>
          <p:nvPr/>
        </p:nvSpPr>
        <p:spPr>
          <a:xfrm>
            <a:off x="4042350" y="18553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6"/>
          <p:cNvSpPr txBox="1"/>
          <p:nvPr/>
        </p:nvSpPr>
        <p:spPr>
          <a:xfrm>
            <a:off x="5262648" y="18334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6"/>
          <p:cNvSpPr txBox="1"/>
          <p:nvPr/>
        </p:nvSpPr>
        <p:spPr>
          <a:xfrm>
            <a:off x="3049474" y="27791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6"/>
          <p:cNvSpPr txBox="1"/>
          <p:nvPr/>
        </p:nvSpPr>
        <p:spPr>
          <a:xfrm>
            <a:off x="3040432" y="3576869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6"/>
          <p:cNvSpPr txBox="1"/>
          <p:nvPr/>
        </p:nvSpPr>
        <p:spPr>
          <a:xfrm flipH="1">
            <a:off x="4792010" y="3638288"/>
            <a:ext cx="5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6"/>
          <p:cNvSpPr txBox="1"/>
          <p:nvPr/>
        </p:nvSpPr>
        <p:spPr>
          <a:xfrm>
            <a:off x="4159000" y="3898079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6"/>
          <p:cNvSpPr txBox="1"/>
          <p:nvPr/>
        </p:nvSpPr>
        <p:spPr>
          <a:xfrm>
            <a:off x="41590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6"/>
          <p:cNvSpPr txBox="1"/>
          <p:nvPr/>
        </p:nvSpPr>
        <p:spPr>
          <a:xfrm>
            <a:off x="5378200" y="3682797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6"/>
          <p:cNvSpPr txBox="1"/>
          <p:nvPr/>
        </p:nvSpPr>
        <p:spPr>
          <a:xfrm>
            <a:off x="53782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4" name="Google Shape;1464;p86"/>
          <p:cNvGrpSpPr/>
          <p:nvPr/>
        </p:nvGrpSpPr>
        <p:grpSpPr>
          <a:xfrm>
            <a:off x="230360" y="1842458"/>
            <a:ext cx="2278069" cy="2278069"/>
            <a:chOff x="6440626" y="456693"/>
            <a:chExt cx="2328600" cy="2328600"/>
          </a:xfrm>
        </p:grpSpPr>
        <p:sp>
          <p:nvSpPr>
            <p:cNvPr id="1465" name="Google Shape;1465;p86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66" name="Google Shape;1466;p86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67" name="Google Shape;1467;p86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68" name="Google Shape;1468;p86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69" name="Google Shape;1469;p86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70" name="Google Shape;1470;p86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1" name="Google Shape;1471;p86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72" name="Google Shape;1472;p86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3" name="Google Shape;1473;p86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4" name="Google Shape;1474;p86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5" name="Google Shape;1475;p86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76" name="Google Shape;1476;p86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477" name="Google Shape;1477;p86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478" name="Google Shape;1478;p86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479" name="Google Shape;1479;p86"/>
          <p:cNvCxnSpPr/>
          <p:nvPr/>
        </p:nvCxnSpPr>
        <p:spPr>
          <a:xfrm flipH="1">
            <a:off x="6329778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80" name="Google Shape;1480;p86" descr="&lt;math xmlns=&quot;http://www.w3.org/1998/Math/MathML&quot; display=&quot;block&quot; data-is-equatio=&quot;1&quot; data-latex=&quot;\frac{1}{5}\ &quot;&gt;&lt;mfrac&gt;&lt;mn&gt;1&lt;/mn&gt;&lt;mn&gt;5&lt;/mn&gt;&lt;/mfrac&gt;&lt;mtext&gt;&lt;/mtext&gt;&lt;/math&gt;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50" y="4249841"/>
            <a:ext cx="170825" cy="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86"/>
          <p:cNvSpPr txBox="1"/>
          <p:nvPr>
            <p:ph type="body" idx="1"/>
          </p:nvPr>
        </p:nvSpPr>
        <p:spPr>
          <a:xfrm>
            <a:off x="4503775" y="4412650"/>
            <a:ext cx="30267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P(even factor of 6)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5" name="Shape 1485"/>
        <p:cNvGrpSpPr/>
        <p:nvPr/>
      </p:nvGrpSpPr>
      <p:grpSpPr>
        <a:xfrm>
          <a:off x="0" y="0"/>
          <a:ext cx="0" cy="0"/>
        </a:xfrm>
      </p:grpSpPr>
      <p:sp>
        <p:nvSpPr>
          <p:cNvPr id="1486" name="Google Shape;1486;p87"/>
          <p:cNvSpPr txBox="1"/>
          <p:nvPr>
            <p:ph type="body" idx="1"/>
          </p:nvPr>
        </p:nvSpPr>
        <p:spPr>
          <a:xfrm>
            <a:off x="324000" y="759300"/>
            <a:ext cx="84960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spinner is spun once.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probability that it lands on a factor of 6?</a:t>
            </a:r>
            <a:endParaRPr/>
          </a:p>
        </p:txBody>
      </p:sp>
      <p:sp>
        <p:nvSpPr>
          <p:cNvPr id="1487" name="Google Shape;148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cxnSp>
        <p:nvCxnSpPr>
          <p:cNvPr id="1488" name="Google Shape;1488;p87"/>
          <p:cNvCxnSpPr/>
          <p:nvPr/>
        </p:nvCxnSpPr>
        <p:spPr>
          <a:xfrm flipH="1">
            <a:off x="3943332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9" name="Google Shape;1489;p87"/>
          <p:cNvCxnSpPr/>
          <p:nvPr/>
        </p:nvCxnSpPr>
        <p:spPr>
          <a:xfrm flipH="1">
            <a:off x="5140985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0" name="Google Shape;1490;p87"/>
          <p:cNvCxnSpPr/>
          <p:nvPr/>
        </p:nvCxnSpPr>
        <p:spPr>
          <a:xfrm rot="10800000">
            <a:off x="2806000" y="27186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1" name="Google Shape;1491;p87"/>
          <p:cNvCxnSpPr/>
          <p:nvPr/>
        </p:nvCxnSpPr>
        <p:spPr>
          <a:xfrm rot="10800000">
            <a:off x="2806000" y="35056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2" name="Google Shape;1492;p87"/>
          <p:cNvCxnSpPr/>
          <p:nvPr/>
        </p:nvCxnSpPr>
        <p:spPr>
          <a:xfrm rot="10800000">
            <a:off x="2806000" y="4282750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3" name="Google Shape;1493;p87"/>
          <p:cNvSpPr txBox="1"/>
          <p:nvPr/>
        </p:nvSpPr>
        <p:spPr>
          <a:xfrm>
            <a:off x="4042350" y="18553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7"/>
          <p:cNvSpPr txBox="1"/>
          <p:nvPr/>
        </p:nvSpPr>
        <p:spPr>
          <a:xfrm>
            <a:off x="5262648" y="18334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7"/>
          <p:cNvSpPr txBox="1"/>
          <p:nvPr/>
        </p:nvSpPr>
        <p:spPr>
          <a:xfrm>
            <a:off x="3049474" y="27791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87"/>
          <p:cNvSpPr txBox="1"/>
          <p:nvPr/>
        </p:nvSpPr>
        <p:spPr>
          <a:xfrm>
            <a:off x="3040432" y="3576869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87"/>
          <p:cNvSpPr txBox="1"/>
          <p:nvPr/>
        </p:nvSpPr>
        <p:spPr>
          <a:xfrm flipH="1">
            <a:off x="4792010" y="3638288"/>
            <a:ext cx="5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87"/>
          <p:cNvSpPr txBox="1"/>
          <p:nvPr/>
        </p:nvSpPr>
        <p:spPr>
          <a:xfrm>
            <a:off x="4159000" y="3898079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87"/>
          <p:cNvSpPr txBox="1"/>
          <p:nvPr/>
        </p:nvSpPr>
        <p:spPr>
          <a:xfrm>
            <a:off x="41590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7"/>
          <p:cNvSpPr txBox="1"/>
          <p:nvPr/>
        </p:nvSpPr>
        <p:spPr>
          <a:xfrm>
            <a:off x="5378200" y="3682797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87"/>
          <p:cNvSpPr txBox="1"/>
          <p:nvPr/>
        </p:nvSpPr>
        <p:spPr>
          <a:xfrm>
            <a:off x="53782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2" name="Google Shape;1502;p87"/>
          <p:cNvGrpSpPr/>
          <p:nvPr/>
        </p:nvGrpSpPr>
        <p:grpSpPr>
          <a:xfrm>
            <a:off x="230360" y="1842458"/>
            <a:ext cx="2278069" cy="2278069"/>
            <a:chOff x="6440626" y="456693"/>
            <a:chExt cx="2328600" cy="2328600"/>
          </a:xfrm>
        </p:grpSpPr>
        <p:sp>
          <p:nvSpPr>
            <p:cNvPr id="1503" name="Google Shape;1503;p87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04" name="Google Shape;1504;p87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05" name="Google Shape;1505;p87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06" name="Google Shape;1506;p87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07" name="Google Shape;1507;p87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08" name="Google Shape;1508;p87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87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10" name="Google Shape;1510;p87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1" name="Google Shape;1511;p87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2" name="Google Shape;1512;p87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3" name="Google Shape;1513;p87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14" name="Google Shape;1514;p87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515" name="Google Shape;1515;p87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516" name="Google Shape;1516;p87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517" name="Google Shape;1517;p87"/>
          <p:cNvCxnSpPr/>
          <p:nvPr/>
        </p:nvCxnSpPr>
        <p:spPr>
          <a:xfrm flipH="1">
            <a:off x="6329778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8" name="Google Shape;1518;p87"/>
          <p:cNvSpPr txBox="1"/>
          <p:nvPr>
            <p:ph type="body" idx="1"/>
          </p:nvPr>
        </p:nvSpPr>
        <p:spPr>
          <a:xfrm>
            <a:off x="5080775" y="4412650"/>
            <a:ext cx="23640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P(factor of 6)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19" name="Google Shape;1519;p87" descr="&lt;math xmlns=&quot;http://www.w3.org/1998/Math/MathML&quot; display=&quot;block&quot; data-is-equatio=&quot;1&quot; data-latex=&quot;\frac{3}{5}\ &quot;&gt;&lt;mfrac&gt;&lt;mn&gt;3&lt;/mn&gt;&lt;mn&gt;5&lt;/mn&gt;&lt;/mfrac&gt;&lt;mtext&gt;&lt;/mtext&gt;&lt;/math&gt;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9617" y="4277575"/>
            <a:ext cx="161660" cy="5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3" name="Shape 1523"/>
        <p:cNvGrpSpPr/>
        <p:nvPr/>
      </p:nvGrpSpPr>
      <p:grpSpPr>
        <a:xfrm>
          <a:off x="0" y="0"/>
          <a:ext cx="0" cy="0"/>
        </a:xfrm>
      </p:grpSpPr>
      <p:sp>
        <p:nvSpPr>
          <p:cNvPr id="1524" name="Google Shape;1524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525" name="Google Shape;1525;p88"/>
          <p:cNvSpPr txBox="1"/>
          <p:nvPr>
            <p:ph type="body" idx="4294967295"/>
          </p:nvPr>
        </p:nvSpPr>
        <p:spPr>
          <a:xfrm>
            <a:off x="324000" y="759300"/>
            <a:ext cx="84345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Party hats from a pack are sorted according to how they are decorated.</a:t>
            </a:r>
            <a:br>
              <a:rPr lang="en-GB" sz="1800"/>
            </a:br>
            <a:r>
              <a:rPr lang="en-GB" sz="1800"/>
              <a:t>    A hat is chosen at random from the pack.</a:t>
            </a:r>
            <a:endParaRPr sz="1800"/>
          </a:p>
        </p:txBody>
      </p:sp>
      <p:grpSp>
        <p:nvGrpSpPr>
          <p:cNvPr id="1526" name="Google Shape;1526;p88"/>
          <p:cNvGrpSpPr/>
          <p:nvPr/>
        </p:nvGrpSpPr>
        <p:grpSpPr>
          <a:xfrm>
            <a:off x="5578500" y="1346100"/>
            <a:ext cx="3261375" cy="2760254"/>
            <a:chOff x="5578500" y="1041300"/>
            <a:chExt cx="3261375" cy="2760254"/>
          </a:xfrm>
        </p:grpSpPr>
        <p:cxnSp>
          <p:nvCxnSpPr>
            <p:cNvPr id="1527" name="Google Shape;1527;p88"/>
            <p:cNvCxnSpPr/>
            <p:nvPr/>
          </p:nvCxnSpPr>
          <p:spPr>
            <a:xfrm flipH="1">
              <a:off x="6417725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8" name="Google Shape;1528;p88"/>
            <p:cNvCxnSpPr/>
            <p:nvPr/>
          </p:nvCxnSpPr>
          <p:spPr>
            <a:xfrm flipH="1">
              <a:off x="761886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9" name="Google Shape;1529;p88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0" name="Google Shape;1530;p88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1" name="Google Shape;1531;p88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2" name="Google Shape;1532;p88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33" name="Google Shape;1533;p88"/>
          <p:cNvSpPr txBox="1"/>
          <p:nvPr>
            <p:ph type="body" idx="4294967295"/>
          </p:nvPr>
        </p:nvSpPr>
        <p:spPr>
          <a:xfrm>
            <a:off x="6592150" y="1466400"/>
            <a:ext cx="8523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stripes</a:t>
            </a:r>
            <a:endParaRPr sz="1600"/>
          </a:p>
        </p:txBody>
      </p:sp>
      <p:sp>
        <p:nvSpPr>
          <p:cNvPr id="1534" name="Google Shape;1534;p88"/>
          <p:cNvSpPr txBox="1"/>
          <p:nvPr>
            <p:ph type="body" idx="4294967295"/>
          </p:nvPr>
        </p:nvSpPr>
        <p:spPr>
          <a:xfrm>
            <a:off x="7715352" y="1460874"/>
            <a:ext cx="10284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 stripes</a:t>
            </a:r>
            <a:endParaRPr sz="1600"/>
          </a:p>
        </p:txBody>
      </p:sp>
      <p:sp>
        <p:nvSpPr>
          <p:cNvPr id="1535" name="Google Shape;1535;p88"/>
          <p:cNvSpPr txBox="1"/>
          <p:nvPr>
            <p:ph type="body" idx="4294967295"/>
          </p:nvPr>
        </p:nvSpPr>
        <p:spPr>
          <a:xfrm>
            <a:off x="5565450" y="2185800"/>
            <a:ext cx="8523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topper</a:t>
            </a:r>
            <a:endParaRPr sz="1600"/>
          </a:p>
        </p:txBody>
      </p:sp>
      <p:sp>
        <p:nvSpPr>
          <p:cNvPr id="1536" name="Google Shape;1536;p88"/>
          <p:cNvSpPr txBox="1"/>
          <p:nvPr>
            <p:ph type="body" idx="4294967295"/>
          </p:nvPr>
        </p:nvSpPr>
        <p:spPr>
          <a:xfrm>
            <a:off x="5608275" y="3271525"/>
            <a:ext cx="724800" cy="6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 topper</a:t>
            </a:r>
            <a:endParaRPr sz="1600"/>
          </a:p>
        </p:txBody>
      </p:sp>
      <p:pic>
        <p:nvPicPr>
          <p:cNvPr id="1537" name="Google Shape;1537;p88"/>
          <p:cNvPicPr preferRelativeResize="0"/>
          <p:nvPr/>
        </p:nvPicPr>
        <p:blipFill>
          <a:blip r:embed="rId3">
            <a:alphaModFix/>
          </a:blip>
          <a:srcRect r="85007" b="47794"/>
          <a:stretch>
            <a:fillRect/>
          </a:stretch>
        </p:blipFill>
        <p:spPr>
          <a:xfrm>
            <a:off x="7693702" y="1866588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88"/>
          <p:cNvPicPr preferRelativeResize="0"/>
          <p:nvPr/>
        </p:nvPicPr>
        <p:blipFill>
          <a:blip r:embed="rId3">
            <a:alphaModFix/>
          </a:blip>
          <a:srcRect l="20916" r="64090" b="47794"/>
          <a:stretch>
            <a:fillRect/>
          </a:stretch>
        </p:blipFill>
        <p:spPr>
          <a:xfrm>
            <a:off x="6417752" y="293215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88"/>
          <p:cNvPicPr preferRelativeResize="0"/>
          <p:nvPr/>
        </p:nvPicPr>
        <p:blipFill>
          <a:blip r:embed="rId3">
            <a:alphaModFix/>
          </a:blip>
          <a:srcRect l="21101" t="51777" r="63905" b="-3983"/>
          <a:stretch>
            <a:fillRect/>
          </a:stretch>
        </p:blipFill>
        <p:spPr>
          <a:xfrm>
            <a:off x="8217054" y="1866592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88"/>
          <p:cNvPicPr preferRelativeResize="0"/>
          <p:nvPr/>
        </p:nvPicPr>
        <p:blipFill>
          <a:blip r:embed="rId3">
            <a:alphaModFix/>
          </a:blip>
          <a:srcRect l="-713" t="52920" r="85720" b="-5126"/>
          <a:stretch>
            <a:fillRect/>
          </a:stretch>
        </p:blipFill>
        <p:spPr>
          <a:xfrm>
            <a:off x="6471728" y="1866599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88"/>
          <p:cNvPicPr preferRelativeResize="0"/>
          <p:nvPr/>
        </p:nvPicPr>
        <p:blipFill>
          <a:blip r:embed="rId3">
            <a:alphaModFix/>
          </a:blip>
          <a:srcRect l="41227" t="7713" r="41887" b="52401"/>
          <a:stretch>
            <a:fillRect/>
          </a:stretch>
        </p:blipFill>
        <p:spPr>
          <a:xfrm>
            <a:off x="7791550" y="3019355"/>
            <a:ext cx="512100" cy="564000"/>
          </a:xfrm>
          <a:prstGeom prst="triangle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1542" name="Google Shape;1542;p88"/>
          <p:cNvPicPr preferRelativeResize="0"/>
          <p:nvPr/>
        </p:nvPicPr>
        <p:blipFill>
          <a:blip r:embed="rId3">
            <a:alphaModFix/>
          </a:blip>
          <a:srcRect l="64903" t="53302" r="20104" b="-5507"/>
          <a:stretch>
            <a:fillRect/>
          </a:stretch>
        </p:blipFill>
        <p:spPr>
          <a:xfrm>
            <a:off x="6980455" y="186660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88"/>
          <p:cNvPicPr preferRelativeResize="0"/>
          <p:nvPr/>
        </p:nvPicPr>
        <p:blipFill>
          <a:blip r:embed="rId3">
            <a:alphaModFix/>
          </a:blip>
          <a:srcRect l="85462" r="-455" b="47794"/>
          <a:stretch>
            <a:fillRect/>
          </a:stretch>
        </p:blipFill>
        <p:spPr>
          <a:xfrm>
            <a:off x="6980453" y="293215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88"/>
          <p:cNvPicPr preferRelativeResize="0"/>
          <p:nvPr/>
        </p:nvPicPr>
        <p:blipFill>
          <a:blip r:embed="rId3">
            <a:alphaModFix/>
          </a:blip>
          <a:srcRect l="85825" t="51777" r="-818" b="-3983"/>
          <a:stretch>
            <a:fillRect/>
          </a:stretch>
        </p:blipFill>
        <p:spPr>
          <a:xfrm>
            <a:off x="7820229" y="218581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88"/>
          <p:cNvPicPr preferRelativeResize="0"/>
          <p:nvPr/>
        </p:nvPicPr>
        <p:blipFill>
          <a:blip r:embed="rId3">
            <a:alphaModFix/>
          </a:blip>
          <a:srcRect l="63469" t="-1905" r="21537" b="49699"/>
          <a:stretch>
            <a:fillRect/>
          </a:stretch>
        </p:blipFill>
        <p:spPr>
          <a:xfrm>
            <a:off x="8303653" y="218580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88"/>
          <p:cNvPicPr preferRelativeResize="0"/>
          <p:nvPr/>
        </p:nvPicPr>
        <p:blipFill>
          <a:blip r:embed="rId3">
            <a:alphaModFix/>
          </a:blip>
          <a:srcRect l="42737" t="53302" r="42269" b="-5507"/>
          <a:stretch>
            <a:fillRect/>
          </a:stretch>
        </p:blipFill>
        <p:spPr>
          <a:xfrm>
            <a:off x="6680279" y="3346418"/>
            <a:ext cx="454756" cy="738393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88"/>
          <p:cNvSpPr txBox="1"/>
          <p:nvPr>
            <p:ph type="body" idx="4294967295"/>
          </p:nvPr>
        </p:nvSpPr>
        <p:spPr>
          <a:xfrm>
            <a:off x="561750" y="1412158"/>
            <a:ext cx="4674600" cy="6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 each of the following probabilities.</a:t>
            </a:r>
            <a:endParaRPr sz="1800"/>
          </a:p>
        </p:txBody>
      </p:sp>
      <p:sp>
        <p:nvSpPr>
          <p:cNvPr id="1548" name="Google Shape;1548;p88"/>
          <p:cNvSpPr txBox="1"/>
          <p:nvPr>
            <p:ph type="body" idx="4294967295"/>
          </p:nvPr>
        </p:nvSpPr>
        <p:spPr>
          <a:xfrm>
            <a:off x="561750" y="219247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P(stripes and topper) =</a:t>
            </a:r>
            <a:endParaRPr sz="1800"/>
          </a:p>
        </p:txBody>
      </p:sp>
      <p:sp>
        <p:nvSpPr>
          <p:cNvPr id="1549" name="Google Shape;1549;p88"/>
          <p:cNvSpPr txBox="1"/>
          <p:nvPr>
            <p:ph type="body" idx="4294967295"/>
          </p:nvPr>
        </p:nvSpPr>
        <p:spPr>
          <a:xfrm>
            <a:off x="561750" y="266491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P(stripes and no topper) =</a:t>
            </a:r>
            <a:endParaRPr sz="1800"/>
          </a:p>
        </p:txBody>
      </p:sp>
      <p:sp>
        <p:nvSpPr>
          <p:cNvPr id="1550" name="Google Shape;1550;p88"/>
          <p:cNvSpPr txBox="1"/>
          <p:nvPr>
            <p:ph type="body" idx="4294967295"/>
          </p:nvPr>
        </p:nvSpPr>
        <p:spPr>
          <a:xfrm>
            <a:off x="561750" y="313735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P(no stripes and topper) =</a:t>
            </a:r>
            <a:endParaRPr sz="1800"/>
          </a:p>
        </p:txBody>
      </p:sp>
      <p:sp>
        <p:nvSpPr>
          <p:cNvPr id="1551" name="Google Shape;1551;p88"/>
          <p:cNvSpPr txBox="1"/>
          <p:nvPr>
            <p:ph type="body" idx="4294967295"/>
          </p:nvPr>
        </p:nvSpPr>
        <p:spPr>
          <a:xfrm>
            <a:off x="561750" y="408223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P(stripes) =</a:t>
            </a:r>
            <a:endParaRPr sz="1800"/>
          </a:p>
        </p:txBody>
      </p:sp>
      <p:sp>
        <p:nvSpPr>
          <p:cNvPr id="1552" name="Google Shape;1552;p88"/>
          <p:cNvSpPr txBox="1"/>
          <p:nvPr>
            <p:ph type="body" idx="4294967295"/>
          </p:nvPr>
        </p:nvSpPr>
        <p:spPr>
          <a:xfrm>
            <a:off x="561750" y="455467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 P(topper) =</a:t>
            </a:r>
            <a:endParaRPr sz="1800"/>
          </a:p>
        </p:txBody>
      </p:sp>
      <p:sp>
        <p:nvSpPr>
          <p:cNvPr id="1553" name="Google Shape;1553;p88"/>
          <p:cNvSpPr txBox="1"/>
          <p:nvPr>
            <p:ph type="body" idx="4294967295"/>
          </p:nvPr>
        </p:nvSpPr>
        <p:spPr>
          <a:xfrm>
            <a:off x="561750" y="360979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P(no stripes and no topper) =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7" name="Shape 1557"/>
        <p:cNvGrpSpPr/>
        <p:nvPr/>
      </p:nvGrpSpPr>
      <p:grpSpPr>
        <a:xfrm>
          <a:off x="0" y="0"/>
          <a:ext cx="0" cy="0"/>
        </a:xfrm>
      </p:grpSpPr>
      <p:sp>
        <p:nvSpPr>
          <p:cNvPr id="1558" name="Google Shape;1558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559" name="Google Shape;1559;p89"/>
          <p:cNvSpPr txBox="1"/>
          <p:nvPr>
            <p:ph type="body" idx="4294967295"/>
          </p:nvPr>
        </p:nvSpPr>
        <p:spPr>
          <a:xfrm>
            <a:off x="324000" y="759300"/>
            <a:ext cx="8434500" cy="68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A deck of cards contains the numbers 1 to 20.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a) Sort the numbers 1 to 20 into the table.</a:t>
            </a:r>
            <a:endParaRPr sz="1600"/>
          </a:p>
        </p:txBody>
      </p:sp>
      <p:grpSp>
        <p:nvGrpSpPr>
          <p:cNvPr id="1560" name="Google Shape;1560;p89"/>
          <p:cNvGrpSpPr/>
          <p:nvPr/>
        </p:nvGrpSpPr>
        <p:grpSpPr>
          <a:xfrm>
            <a:off x="5557153" y="1346101"/>
            <a:ext cx="3282900" cy="2760254"/>
            <a:chOff x="5578500" y="1041300"/>
            <a:chExt cx="3261375" cy="2760254"/>
          </a:xfrm>
        </p:grpSpPr>
        <p:cxnSp>
          <p:nvCxnSpPr>
            <p:cNvPr id="1561" name="Google Shape;1561;p89"/>
            <p:cNvCxnSpPr/>
            <p:nvPr/>
          </p:nvCxnSpPr>
          <p:spPr>
            <a:xfrm flipH="1">
              <a:off x="6287766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2" name="Google Shape;1562;p89"/>
            <p:cNvCxnSpPr/>
            <p:nvPr/>
          </p:nvCxnSpPr>
          <p:spPr>
            <a:xfrm flipH="1">
              <a:off x="746880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3" name="Google Shape;1563;p89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89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5" name="Google Shape;1565;p89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6" name="Google Shape;1566;p89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67" name="Google Shape;1567;p89"/>
          <p:cNvSpPr txBox="1"/>
          <p:nvPr>
            <p:ph type="body" idx="4294967295"/>
          </p:nvPr>
        </p:nvSpPr>
        <p:spPr>
          <a:xfrm>
            <a:off x="6363550" y="1295683"/>
            <a:ext cx="8523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multiple of 4</a:t>
            </a:r>
            <a:endParaRPr sz="1600"/>
          </a:p>
        </p:txBody>
      </p:sp>
      <p:sp>
        <p:nvSpPr>
          <p:cNvPr id="1568" name="Google Shape;1568;p89"/>
          <p:cNvSpPr txBox="1"/>
          <p:nvPr>
            <p:ph type="body" idx="4294967295"/>
          </p:nvPr>
        </p:nvSpPr>
        <p:spPr>
          <a:xfrm>
            <a:off x="7523190" y="1308475"/>
            <a:ext cx="11838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not multiple of 4</a:t>
            </a:r>
            <a:endParaRPr sz="1600"/>
          </a:p>
        </p:txBody>
      </p:sp>
      <p:sp>
        <p:nvSpPr>
          <p:cNvPr id="1569" name="Google Shape;1569;p89"/>
          <p:cNvSpPr txBox="1"/>
          <p:nvPr>
            <p:ph type="body" idx="4294967295"/>
          </p:nvPr>
        </p:nvSpPr>
        <p:spPr>
          <a:xfrm>
            <a:off x="5565450" y="2033400"/>
            <a:ext cx="8523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factor of 20</a:t>
            </a:r>
            <a:endParaRPr sz="1600"/>
          </a:p>
        </p:txBody>
      </p:sp>
      <p:sp>
        <p:nvSpPr>
          <p:cNvPr id="1570" name="Google Shape;1570;p89"/>
          <p:cNvSpPr txBox="1"/>
          <p:nvPr>
            <p:ph type="body" idx="4294967295"/>
          </p:nvPr>
        </p:nvSpPr>
        <p:spPr>
          <a:xfrm>
            <a:off x="5565450" y="3100200"/>
            <a:ext cx="8523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not factor of 20</a:t>
            </a:r>
            <a:endParaRPr sz="1600"/>
          </a:p>
        </p:txBody>
      </p:sp>
      <p:sp>
        <p:nvSpPr>
          <p:cNvPr id="1571" name="Google Shape;1571;p89"/>
          <p:cNvSpPr txBox="1"/>
          <p:nvPr>
            <p:ph type="body" idx="4294967295"/>
          </p:nvPr>
        </p:nvSpPr>
        <p:spPr>
          <a:xfrm>
            <a:off x="324000" y="1597500"/>
            <a:ext cx="5055600" cy="89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A card is chosen at random from the deck.</a:t>
            </a:r>
            <a:br>
              <a:rPr lang="en-GB" sz="1600"/>
            </a:br>
            <a:r>
              <a:rPr lang="en-GB" sz="1600"/>
              <a:t>    Find the probabilities of the following </a:t>
            </a:r>
            <a:br>
              <a:rPr lang="en-GB" sz="1600"/>
            </a:br>
            <a:r>
              <a:rPr lang="en-GB" sz="1600"/>
              <a:t>    outcomes.</a:t>
            </a:r>
            <a:endParaRPr sz="1600"/>
          </a:p>
        </p:txBody>
      </p:sp>
      <p:sp>
        <p:nvSpPr>
          <p:cNvPr id="1572" name="Google Shape;1572;p89"/>
          <p:cNvSpPr txBox="1"/>
          <p:nvPr>
            <p:ph type="body" idx="4294967295"/>
          </p:nvPr>
        </p:nvSpPr>
        <p:spPr>
          <a:xfrm>
            <a:off x="552600" y="2588100"/>
            <a:ext cx="39330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i) P(multiple of 4 and factor of 20)</a:t>
            </a:r>
            <a:endParaRPr sz="1600"/>
          </a:p>
        </p:txBody>
      </p:sp>
      <p:sp>
        <p:nvSpPr>
          <p:cNvPr id="1573" name="Google Shape;1573;p89"/>
          <p:cNvSpPr txBox="1"/>
          <p:nvPr>
            <p:ph type="body" idx="4294967295"/>
          </p:nvPr>
        </p:nvSpPr>
        <p:spPr>
          <a:xfrm>
            <a:off x="552600" y="3197700"/>
            <a:ext cx="43359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ii) P(multiple of 4 and not factor of 20)</a:t>
            </a:r>
            <a:endParaRPr sz="1600"/>
          </a:p>
        </p:txBody>
      </p:sp>
      <p:sp>
        <p:nvSpPr>
          <p:cNvPr id="1574" name="Google Shape;1574;p89"/>
          <p:cNvSpPr txBox="1"/>
          <p:nvPr>
            <p:ph type="body" idx="4294967295"/>
          </p:nvPr>
        </p:nvSpPr>
        <p:spPr>
          <a:xfrm>
            <a:off x="552600" y="3807300"/>
            <a:ext cx="43359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iii) P(multiple of 4)</a:t>
            </a:r>
            <a:endParaRPr sz="1600"/>
          </a:p>
        </p:txBody>
      </p:sp>
      <p:sp>
        <p:nvSpPr>
          <p:cNvPr id="1575" name="Google Shape;1575;p89"/>
          <p:cNvSpPr txBox="1"/>
          <p:nvPr>
            <p:ph type="body" idx="4294967295"/>
          </p:nvPr>
        </p:nvSpPr>
        <p:spPr>
          <a:xfrm>
            <a:off x="552600" y="4416900"/>
            <a:ext cx="43359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iv) P(not multiple of 4)</a:t>
            </a:r>
            <a:endParaRPr sz="1600"/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9" name="Shape 1579"/>
        <p:cNvGrpSpPr/>
        <p:nvPr/>
      </p:nvGrpSpPr>
      <p:grpSpPr>
        <a:xfrm>
          <a:off x="0" y="0"/>
          <a:ext cx="0" cy="0"/>
        </a:xfrm>
      </p:grpSpPr>
      <p:sp>
        <p:nvSpPr>
          <p:cNvPr id="1580" name="Google Shape;1580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581" name="Google Shape;1581;p90"/>
          <p:cNvSpPr txBox="1"/>
          <p:nvPr>
            <p:ph type="body" idx="4294967295"/>
          </p:nvPr>
        </p:nvSpPr>
        <p:spPr>
          <a:xfrm>
            <a:off x="324000" y="759300"/>
            <a:ext cx="84345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Party hats from a pack are sorted according to how they are decorated.</a:t>
            </a:r>
            <a:br>
              <a:rPr lang="en-GB" sz="1800"/>
            </a:br>
            <a:r>
              <a:rPr lang="en-GB" sz="1800"/>
              <a:t>    A hat is chosen at random from the pack.</a:t>
            </a:r>
            <a:endParaRPr sz="1800"/>
          </a:p>
        </p:txBody>
      </p:sp>
      <p:grpSp>
        <p:nvGrpSpPr>
          <p:cNvPr id="1582" name="Google Shape;1582;p90"/>
          <p:cNvGrpSpPr/>
          <p:nvPr/>
        </p:nvGrpSpPr>
        <p:grpSpPr>
          <a:xfrm>
            <a:off x="5578500" y="1346100"/>
            <a:ext cx="3261375" cy="2760254"/>
            <a:chOff x="5578500" y="1041300"/>
            <a:chExt cx="3261375" cy="2760254"/>
          </a:xfrm>
        </p:grpSpPr>
        <p:cxnSp>
          <p:nvCxnSpPr>
            <p:cNvPr id="1583" name="Google Shape;1583;p90"/>
            <p:cNvCxnSpPr/>
            <p:nvPr/>
          </p:nvCxnSpPr>
          <p:spPr>
            <a:xfrm flipH="1">
              <a:off x="6417725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4" name="Google Shape;1584;p90"/>
            <p:cNvCxnSpPr/>
            <p:nvPr/>
          </p:nvCxnSpPr>
          <p:spPr>
            <a:xfrm flipH="1">
              <a:off x="761886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90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90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7" name="Google Shape;1587;p90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8" name="Google Shape;1588;p90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89" name="Google Shape;1589;p90"/>
          <p:cNvSpPr txBox="1"/>
          <p:nvPr>
            <p:ph type="body" idx="4294967295"/>
          </p:nvPr>
        </p:nvSpPr>
        <p:spPr>
          <a:xfrm>
            <a:off x="6592150" y="1466400"/>
            <a:ext cx="8523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stripes</a:t>
            </a:r>
            <a:endParaRPr sz="1600"/>
          </a:p>
        </p:txBody>
      </p:sp>
      <p:sp>
        <p:nvSpPr>
          <p:cNvPr id="1590" name="Google Shape;1590;p90"/>
          <p:cNvSpPr txBox="1"/>
          <p:nvPr>
            <p:ph type="body" idx="4294967295"/>
          </p:nvPr>
        </p:nvSpPr>
        <p:spPr>
          <a:xfrm>
            <a:off x="7715352" y="1460874"/>
            <a:ext cx="10284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 stripes</a:t>
            </a:r>
            <a:endParaRPr sz="1600"/>
          </a:p>
        </p:txBody>
      </p:sp>
      <p:sp>
        <p:nvSpPr>
          <p:cNvPr id="1591" name="Google Shape;1591;p90"/>
          <p:cNvSpPr txBox="1"/>
          <p:nvPr>
            <p:ph type="body" idx="4294967295"/>
          </p:nvPr>
        </p:nvSpPr>
        <p:spPr>
          <a:xfrm>
            <a:off x="5565450" y="2185800"/>
            <a:ext cx="8523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topper</a:t>
            </a:r>
            <a:endParaRPr sz="1600"/>
          </a:p>
        </p:txBody>
      </p:sp>
      <p:sp>
        <p:nvSpPr>
          <p:cNvPr id="1592" name="Google Shape;1592;p90"/>
          <p:cNvSpPr txBox="1"/>
          <p:nvPr>
            <p:ph type="body" idx="4294967295"/>
          </p:nvPr>
        </p:nvSpPr>
        <p:spPr>
          <a:xfrm>
            <a:off x="5608275" y="3271525"/>
            <a:ext cx="724800" cy="6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 topper</a:t>
            </a:r>
            <a:endParaRPr sz="1600"/>
          </a:p>
        </p:txBody>
      </p:sp>
      <p:pic>
        <p:nvPicPr>
          <p:cNvPr id="1593" name="Google Shape;1593;p90"/>
          <p:cNvPicPr preferRelativeResize="0"/>
          <p:nvPr/>
        </p:nvPicPr>
        <p:blipFill>
          <a:blip r:embed="rId3">
            <a:alphaModFix/>
          </a:blip>
          <a:srcRect r="85007" b="47794"/>
          <a:stretch>
            <a:fillRect/>
          </a:stretch>
        </p:blipFill>
        <p:spPr>
          <a:xfrm>
            <a:off x="7693702" y="1866588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90"/>
          <p:cNvPicPr preferRelativeResize="0"/>
          <p:nvPr/>
        </p:nvPicPr>
        <p:blipFill>
          <a:blip r:embed="rId3">
            <a:alphaModFix/>
          </a:blip>
          <a:srcRect l="20916" r="64090" b="47794"/>
          <a:stretch>
            <a:fillRect/>
          </a:stretch>
        </p:blipFill>
        <p:spPr>
          <a:xfrm>
            <a:off x="6417752" y="293215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90"/>
          <p:cNvPicPr preferRelativeResize="0"/>
          <p:nvPr/>
        </p:nvPicPr>
        <p:blipFill>
          <a:blip r:embed="rId3">
            <a:alphaModFix/>
          </a:blip>
          <a:srcRect l="21101" t="51777" r="63905" b="-3983"/>
          <a:stretch>
            <a:fillRect/>
          </a:stretch>
        </p:blipFill>
        <p:spPr>
          <a:xfrm>
            <a:off x="8217054" y="1866592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6" name="Google Shape;1596;p90"/>
          <p:cNvPicPr preferRelativeResize="0"/>
          <p:nvPr/>
        </p:nvPicPr>
        <p:blipFill>
          <a:blip r:embed="rId3">
            <a:alphaModFix/>
          </a:blip>
          <a:srcRect l="-713" t="52920" r="85720" b="-5126"/>
          <a:stretch>
            <a:fillRect/>
          </a:stretch>
        </p:blipFill>
        <p:spPr>
          <a:xfrm>
            <a:off x="6471728" y="1866599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90"/>
          <p:cNvPicPr preferRelativeResize="0"/>
          <p:nvPr/>
        </p:nvPicPr>
        <p:blipFill>
          <a:blip r:embed="rId3">
            <a:alphaModFix/>
          </a:blip>
          <a:srcRect l="41227" t="7713" r="41887" b="52401"/>
          <a:stretch>
            <a:fillRect/>
          </a:stretch>
        </p:blipFill>
        <p:spPr>
          <a:xfrm>
            <a:off x="7791550" y="3019355"/>
            <a:ext cx="512100" cy="564000"/>
          </a:xfrm>
          <a:prstGeom prst="triangle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1598" name="Google Shape;1598;p90"/>
          <p:cNvPicPr preferRelativeResize="0"/>
          <p:nvPr/>
        </p:nvPicPr>
        <p:blipFill>
          <a:blip r:embed="rId3">
            <a:alphaModFix/>
          </a:blip>
          <a:srcRect l="64903" t="53302" r="20104" b="-5507"/>
          <a:stretch>
            <a:fillRect/>
          </a:stretch>
        </p:blipFill>
        <p:spPr>
          <a:xfrm>
            <a:off x="6980455" y="186660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90"/>
          <p:cNvPicPr preferRelativeResize="0"/>
          <p:nvPr/>
        </p:nvPicPr>
        <p:blipFill>
          <a:blip r:embed="rId3">
            <a:alphaModFix/>
          </a:blip>
          <a:srcRect l="85462" r="-455" b="47794"/>
          <a:stretch>
            <a:fillRect/>
          </a:stretch>
        </p:blipFill>
        <p:spPr>
          <a:xfrm>
            <a:off x="6980453" y="293215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90"/>
          <p:cNvPicPr preferRelativeResize="0"/>
          <p:nvPr/>
        </p:nvPicPr>
        <p:blipFill>
          <a:blip r:embed="rId3">
            <a:alphaModFix/>
          </a:blip>
          <a:srcRect l="85825" t="51777" r="-818" b="-3983"/>
          <a:stretch>
            <a:fillRect/>
          </a:stretch>
        </p:blipFill>
        <p:spPr>
          <a:xfrm>
            <a:off x="7820229" y="218581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90"/>
          <p:cNvPicPr preferRelativeResize="0"/>
          <p:nvPr/>
        </p:nvPicPr>
        <p:blipFill>
          <a:blip r:embed="rId3">
            <a:alphaModFix/>
          </a:blip>
          <a:srcRect l="63469" t="-1905" r="21537" b="49699"/>
          <a:stretch>
            <a:fillRect/>
          </a:stretch>
        </p:blipFill>
        <p:spPr>
          <a:xfrm>
            <a:off x="8303653" y="218580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90"/>
          <p:cNvPicPr preferRelativeResize="0"/>
          <p:nvPr/>
        </p:nvPicPr>
        <p:blipFill>
          <a:blip r:embed="rId3">
            <a:alphaModFix/>
          </a:blip>
          <a:srcRect l="42737" t="53302" r="42269" b="-5507"/>
          <a:stretch>
            <a:fillRect/>
          </a:stretch>
        </p:blipFill>
        <p:spPr>
          <a:xfrm>
            <a:off x="6680279" y="3346418"/>
            <a:ext cx="454756" cy="738393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90"/>
          <p:cNvSpPr txBox="1"/>
          <p:nvPr>
            <p:ph type="body" idx="4294967295"/>
          </p:nvPr>
        </p:nvSpPr>
        <p:spPr>
          <a:xfrm>
            <a:off x="561750" y="1412158"/>
            <a:ext cx="4674600" cy="6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 each of the following probabilities.</a:t>
            </a:r>
            <a:endParaRPr sz="1800"/>
          </a:p>
        </p:txBody>
      </p:sp>
      <p:sp>
        <p:nvSpPr>
          <p:cNvPr id="1604" name="Google Shape;1604;p90"/>
          <p:cNvSpPr txBox="1"/>
          <p:nvPr>
            <p:ph type="body" idx="4294967295"/>
          </p:nvPr>
        </p:nvSpPr>
        <p:spPr>
          <a:xfrm>
            <a:off x="561750" y="219247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P(stripes and topper) =</a:t>
            </a:r>
            <a:endParaRPr sz="1800"/>
          </a:p>
        </p:txBody>
      </p:sp>
      <p:sp>
        <p:nvSpPr>
          <p:cNvPr id="1605" name="Google Shape;1605;p90"/>
          <p:cNvSpPr txBox="1"/>
          <p:nvPr>
            <p:ph type="body" idx="4294967295"/>
          </p:nvPr>
        </p:nvSpPr>
        <p:spPr>
          <a:xfrm>
            <a:off x="561750" y="296971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P(stripes and no topper) =</a:t>
            </a:r>
            <a:endParaRPr sz="1800"/>
          </a:p>
        </p:txBody>
      </p:sp>
      <p:sp>
        <p:nvSpPr>
          <p:cNvPr id="1606" name="Google Shape;1606;p90"/>
          <p:cNvSpPr txBox="1"/>
          <p:nvPr>
            <p:ph type="body" idx="4294967295"/>
          </p:nvPr>
        </p:nvSpPr>
        <p:spPr>
          <a:xfrm>
            <a:off x="561750" y="374695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P(no stripes and topper) =</a:t>
            </a:r>
            <a:endParaRPr sz="1800"/>
          </a:p>
        </p:txBody>
      </p:sp>
      <p:pic>
        <p:nvPicPr>
          <p:cNvPr id="1607" name="Google Shape;1607;p90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r="88070"/>
          <a:stretch>
            <a:fillRect/>
          </a:stretch>
        </p:blipFill>
        <p:spPr>
          <a:xfrm>
            <a:off x="3579744" y="2070425"/>
            <a:ext cx="392826" cy="5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8" name="Google Shape;1608;p90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l="14720" r="71468"/>
          <a:stretch>
            <a:fillRect/>
          </a:stretch>
        </p:blipFill>
        <p:spPr>
          <a:xfrm>
            <a:off x="3835855" y="2832425"/>
            <a:ext cx="454750" cy="5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90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l="34635" r="51554"/>
          <a:stretch>
            <a:fillRect/>
          </a:stretch>
        </p:blipFill>
        <p:spPr>
          <a:xfrm>
            <a:off x="3784523" y="3603575"/>
            <a:ext cx="454750" cy="5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3" name="Shape 1613"/>
        <p:cNvGrpSpPr/>
        <p:nvPr/>
      </p:nvGrpSpPr>
      <p:grpSpPr>
        <a:xfrm>
          <a:off x="0" y="0"/>
          <a:ext cx="0" cy="0"/>
        </a:xfrm>
      </p:grpSpPr>
      <p:pic>
        <p:nvPicPr>
          <p:cNvPr id="1614" name="Google Shape;1614;p91" descr="&lt;math xmlns=&quot;http://www.w3.org/1998/Math/MathML&quot; display=&quot;block&quot; data-is-equatio=&quot;1&quot; data-latex=&quot;\frac{2}{10}\ \ \ \frac{3}{10}\ \ \ \ \frac{4}{10}\ \ \ \frac{1}{10}\ \ \ \frac{5}{10}\ \ \ \ \frac{6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6&lt;/mn&gt;&lt;mn&gt;10&lt;/mn&gt;&lt;/mfrac&gt;&lt;/math&gt;" title="two tenths three tenths four tenths one tenth five tenths six tenths"/>
          <p:cNvPicPr preferRelativeResize="0"/>
          <p:nvPr/>
        </p:nvPicPr>
        <p:blipFill>
          <a:blip r:embed="rId3">
            <a:alphaModFix/>
          </a:blip>
          <a:srcRect l="90416"/>
          <a:stretch>
            <a:fillRect/>
          </a:stretch>
        </p:blipFill>
        <p:spPr>
          <a:xfrm>
            <a:off x="2211816" y="3652300"/>
            <a:ext cx="315559" cy="5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616" name="Google Shape;1616;p91"/>
          <p:cNvSpPr txBox="1"/>
          <p:nvPr>
            <p:ph type="body" idx="4294967295"/>
          </p:nvPr>
        </p:nvSpPr>
        <p:spPr>
          <a:xfrm>
            <a:off x="324000" y="759300"/>
            <a:ext cx="84345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Party hats from a pack are sorted according to how they are decorated.</a:t>
            </a:r>
            <a:br>
              <a:rPr lang="en-GB" sz="1800"/>
            </a:br>
            <a:r>
              <a:rPr lang="en-GB" sz="1800"/>
              <a:t>    A hat is chosen at random from the pack.</a:t>
            </a:r>
            <a:endParaRPr sz="1800"/>
          </a:p>
        </p:txBody>
      </p:sp>
      <p:grpSp>
        <p:nvGrpSpPr>
          <p:cNvPr id="1617" name="Google Shape;1617;p91"/>
          <p:cNvGrpSpPr/>
          <p:nvPr/>
        </p:nvGrpSpPr>
        <p:grpSpPr>
          <a:xfrm>
            <a:off x="5578500" y="1346100"/>
            <a:ext cx="3261375" cy="2760254"/>
            <a:chOff x="5578500" y="1041300"/>
            <a:chExt cx="3261375" cy="2760254"/>
          </a:xfrm>
        </p:grpSpPr>
        <p:cxnSp>
          <p:nvCxnSpPr>
            <p:cNvPr id="1618" name="Google Shape;1618;p91"/>
            <p:cNvCxnSpPr/>
            <p:nvPr/>
          </p:nvCxnSpPr>
          <p:spPr>
            <a:xfrm flipH="1">
              <a:off x="6417725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9" name="Google Shape;1619;p91"/>
            <p:cNvCxnSpPr/>
            <p:nvPr/>
          </p:nvCxnSpPr>
          <p:spPr>
            <a:xfrm flipH="1">
              <a:off x="761886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0" name="Google Shape;1620;p91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1" name="Google Shape;1621;p91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2" name="Google Shape;1622;p91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3" name="Google Shape;1623;p91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24" name="Google Shape;1624;p91"/>
          <p:cNvSpPr txBox="1"/>
          <p:nvPr>
            <p:ph type="body" idx="4294967295"/>
          </p:nvPr>
        </p:nvSpPr>
        <p:spPr>
          <a:xfrm>
            <a:off x="6592150" y="1466400"/>
            <a:ext cx="8523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stripes</a:t>
            </a:r>
            <a:endParaRPr sz="1600"/>
          </a:p>
        </p:txBody>
      </p:sp>
      <p:sp>
        <p:nvSpPr>
          <p:cNvPr id="1625" name="Google Shape;1625;p91"/>
          <p:cNvSpPr txBox="1"/>
          <p:nvPr>
            <p:ph type="body" idx="4294967295"/>
          </p:nvPr>
        </p:nvSpPr>
        <p:spPr>
          <a:xfrm>
            <a:off x="7715352" y="1460874"/>
            <a:ext cx="10284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 stripes</a:t>
            </a:r>
            <a:endParaRPr sz="1600"/>
          </a:p>
        </p:txBody>
      </p:sp>
      <p:sp>
        <p:nvSpPr>
          <p:cNvPr id="1626" name="Google Shape;1626;p91"/>
          <p:cNvSpPr txBox="1"/>
          <p:nvPr>
            <p:ph type="body" idx="4294967295"/>
          </p:nvPr>
        </p:nvSpPr>
        <p:spPr>
          <a:xfrm>
            <a:off x="5565450" y="2185800"/>
            <a:ext cx="8523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topper</a:t>
            </a:r>
            <a:endParaRPr sz="1600"/>
          </a:p>
        </p:txBody>
      </p:sp>
      <p:sp>
        <p:nvSpPr>
          <p:cNvPr id="1627" name="Google Shape;1627;p91"/>
          <p:cNvSpPr txBox="1"/>
          <p:nvPr>
            <p:ph type="body" idx="4294967295"/>
          </p:nvPr>
        </p:nvSpPr>
        <p:spPr>
          <a:xfrm>
            <a:off x="5608275" y="3271525"/>
            <a:ext cx="724800" cy="6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 topper</a:t>
            </a:r>
            <a:endParaRPr sz="1600"/>
          </a:p>
        </p:txBody>
      </p:sp>
      <p:pic>
        <p:nvPicPr>
          <p:cNvPr id="1628" name="Google Shape;1628;p91"/>
          <p:cNvPicPr preferRelativeResize="0"/>
          <p:nvPr/>
        </p:nvPicPr>
        <p:blipFill>
          <a:blip r:embed="rId4">
            <a:alphaModFix/>
          </a:blip>
          <a:srcRect r="85007" b="47794"/>
          <a:stretch>
            <a:fillRect/>
          </a:stretch>
        </p:blipFill>
        <p:spPr>
          <a:xfrm>
            <a:off x="7693702" y="1866588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9" name="Google Shape;1629;p91"/>
          <p:cNvPicPr preferRelativeResize="0"/>
          <p:nvPr/>
        </p:nvPicPr>
        <p:blipFill>
          <a:blip r:embed="rId4">
            <a:alphaModFix/>
          </a:blip>
          <a:srcRect l="20916" r="64090" b="47794"/>
          <a:stretch>
            <a:fillRect/>
          </a:stretch>
        </p:blipFill>
        <p:spPr>
          <a:xfrm>
            <a:off x="6417752" y="293215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91"/>
          <p:cNvPicPr preferRelativeResize="0"/>
          <p:nvPr/>
        </p:nvPicPr>
        <p:blipFill>
          <a:blip r:embed="rId4">
            <a:alphaModFix/>
          </a:blip>
          <a:srcRect l="21101" t="51777" r="63905" b="-3983"/>
          <a:stretch>
            <a:fillRect/>
          </a:stretch>
        </p:blipFill>
        <p:spPr>
          <a:xfrm>
            <a:off x="8217054" y="1866592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91"/>
          <p:cNvPicPr preferRelativeResize="0"/>
          <p:nvPr/>
        </p:nvPicPr>
        <p:blipFill>
          <a:blip r:embed="rId4">
            <a:alphaModFix/>
          </a:blip>
          <a:srcRect l="-713" t="52920" r="85720" b="-5126"/>
          <a:stretch>
            <a:fillRect/>
          </a:stretch>
        </p:blipFill>
        <p:spPr>
          <a:xfrm>
            <a:off x="6471728" y="1866599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91"/>
          <p:cNvPicPr preferRelativeResize="0"/>
          <p:nvPr/>
        </p:nvPicPr>
        <p:blipFill>
          <a:blip r:embed="rId4">
            <a:alphaModFix/>
          </a:blip>
          <a:srcRect l="41227" t="7713" r="41887" b="52401"/>
          <a:stretch>
            <a:fillRect/>
          </a:stretch>
        </p:blipFill>
        <p:spPr>
          <a:xfrm>
            <a:off x="7791550" y="3019355"/>
            <a:ext cx="512100" cy="564000"/>
          </a:xfrm>
          <a:prstGeom prst="triangle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1633" name="Google Shape;1633;p91"/>
          <p:cNvPicPr preferRelativeResize="0"/>
          <p:nvPr/>
        </p:nvPicPr>
        <p:blipFill>
          <a:blip r:embed="rId4">
            <a:alphaModFix/>
          </a:blip>
          <a:srcRect l="64903" t="53302" r="20104" b="-5507"/>
          <a:stretch>
            <a:fillRect/>
          </a:stretch>
        </p:blipFill>
        <p:spPr>
          <a:xfrm>
            <a:off x="6980455" y="186660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91"/>
          <p:cNvPicPr preferRelativeResize="0"/>
          <p:nvPr/>
        </p:nvPicPr>
        <p:blipFill>
          <a:blip r:embed="rId4">
            <a:alphaModFix/>
          </a:blip>
          <a:srcRect l="85462" r="-455" b="47794"/>
          <a:stretch>
            <a:fillRect/>
          </a:stretch>
        </p:blipFill>
        <p:spPr>
          <a:xfrm>
            <a:off x="6980453" y="293215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91"/>
          <p:cNvPicPr preferRelativeResize="0"/>
          <p:nvPr/>
        </p:nvPicPr>
        <p:blipFill>
          <a:blip r:embed="rId4">
            <a:alphaModFix/>
          </a:blip>
          <a:srcRect l="85825" t="51777" r="-818" b="-3983"/>
          <a:stretch>
            <a:fillRect/>
          </a:stretch>
        </p:blipFill>
        <p:spPr>
          <a:xfrm>
            <a:off x="7820229" y="218581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91"/>
          <p:cNvPicPr preferRelativeResize="0"/>
          <p:nvPr/>
        </p:nvPicPr>
        <p:blipFill>
          <a:blip r:embed="rId4">
            <a:alphaModFix/>
          </a:blip>
          <a:srcRect l="63469" t="-1905" r="21537" b="49699"/>
          <a:stretch>
            <a:fillRect/>
          </a:stretch>
        </p:blipFill>
        <p:spPr>
          <a:xfrm>
            <a:off x="8303653" y="218580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91"/>
          <p:cNvPicPr preferRelativeResize="0"/>
          <p:nvPr/>
        </p:nvPicPr>
        <p:blipFill>
          <a:blip r:embed="rId4">
            <a:alphaModFix/>
          </a:blip>
          <a:srcRect l="42737" t="53302" r="42269" b="-5507"/>
          <a:stretch>
            <a:fillRect/>
          </a:stretch>
        </p:blipFill>
        <p:spPr>
          <a:xfrm>
            <a:off x="6680279" y="3346418"/>
            <a:ext cx="454756" cy="7383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91"/>
          <p:cNvSpPr txBox="1"/>
          <p:nvPr>
            <p:ph type="body" idx="4294967295"/>
          </p:nvPr>
        </p:nvSpPr>
        <p:spPr>
          <a:xfrm>
            <a:off x="561750" y="1412158"/>
            <a:ext cx="4674600" cy="6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 each of the following probabilities.</a:t>
            </a:r>
            <a:endParaRPr sz="1800"/>
          </a:p>
        </p:txBody>
      </p:sp>
      <p:sp>
        <p:nvSpPr>
          <p:cNvPr id="1639" name="Google Shape;1639;p91"/>
          <p:cNvSpPr txBox="1"/>
          <p:nvPr>
            <p:ph type="body" idx="4294967295"/>
          </p:nvPr>
        </p:nvSpPr>
        <p:spPr>
          <a:xfrm>
            <a:off x="561750" y="297733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P(stripes) =</a:t>
            </a:r>
            <a:endParaRPr sz="1800"/>
          </a:p>
        </p:txBody>
      </p:sp>
      <p:sp>
        <p:nvSpPr>
          <p:cNvPr id="1640" name="Google Shape;1640;p91"/>
          <p:cNvSpPr txBox="1"/>
          <p:nvPr>
            <p:ph type="body" idx="4294967295"/>
          </p:nvPr>
        </p:nvSpPr>
        <p:spPr>
          <a:xfrm>
            <a:off x="561750" y="379267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 P(topper) =</a:t>
            </a:r>
            <a:endParaRPr sz="1800"/>
          </a:p>
        </p:txBody>
      </p:sp>
      <p:sp>
        <p:nvSpPr>
          <p:cNvPr id="1641" name="Google Shape;1641;p91"/>
          <p:cNvSpPr txBox="1"/>
          <p:nvPr>
            <p:ph type="body" idx="4294967295"/>
          </p:nvPr>
        </p:nvSpPr>
        <p:spPr>
          <a:xfrm>
            <a:off x="561750" y="2238195"/>
            <a:ext cx="467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P(no stripes and no topper) =</a:t>
            </a:r>
            <a:endParaRPr sz="1800"/>
          </a:p>
        </p:txBody>
      </p:sp>
      <p:pic>
        <p:nvPicPr>
          <p:cNvPr id="1642" name="Google Shape;1642;p91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5">
            <a:alphaModFix/>
          </a:blip>
          <a:srcRect l="52056" r="34133"/>
          <a:stretch>
            <a:fillRect/>
          </a:stretch>
        </p:blipFill>
        <p:spPr>
          <a:xfrm>
            <a:off x="4205777" y="2079575"/>
            <a:ext cx="454750" cy="5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91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5">
            <a:alphaModFix/>
          </a:blip>
          <a:srcRect l="69477" r="16711"/>
          <a:stretch>
            <a:fillRect/>
          </a:stretch>
        </p:blipFill>
        <p:spPr>
          <a:xfrm>
            <a:off x="2188624" y="2841575"/>
            <a:ext cx="454750" cy="5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7" name="Shape 1647"/>
        <p:cNvGrpSpPr/>
        <p:nvPr/>
      </p:nvGrpSpPr>
      <p:grpSpPr>
        <a:xfrm>
          <a:off x="0" y="0"/>
          <a:ext cx="0" cy="0"/>
        </a:xfrm>
      </p:grpSpPr>
      <p:sp>
        <p:nvSpPr>
          <p:cNvPr id="1648" name="Google Shape;1648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probabilities from an outcome table</a:t>
            </a:r>
            <a:endParaRPr/>
          </a:p>
        </p:txBody>
      </p:sp>
      <p:sp>
        <p:nvSpPr>
          <p:cNvPr id="1649" name="Google Shape;1649;p92"/>
          <p:cNvSpPr txBox="1"/>
          <p:nvPr>
            <p:ph type="body" idx="4294967295"/>
          </p:nvPr>
        </p:nvSpPr>
        <p:spPr>
          <a:xfrm>
            <a:off x="324000" y="759300"/>
            <a:ext cx="8434500" cy="68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A deck of cards contains the numbers 1 to 20.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a) Sort the numbers 1 to 20 into the table.</a:t>
            </a:r>
            <a:endParaRPr sz="1600"/>
          </a:p>
        </p:txBody>
      </p:sp>
      <p:grpSp>
        <p:nvGrpSpPr>
          <p:cNvPr id="1650" name="Google Shape;1650;p92"/>
          <p:cNvGrpSpPr/>
          <p:nvPr/>
        </p:nvGrpSpPr>
        <p:grpSpPr>
          <a:xfrm>
            <a:off x="5557153" y="1346101"/>
            <a:ext cx="3282900" cy="2760254"/>
            <a:chOff x="5578500" y="1041300"/>
            <a:chExt cx="3261375" cy="2760254"/>
          </a:xfrm>
        </p:grpSpPr>
        <p:cxnSp>
          <p:nvCxnSpPr>
            <p:cNvPr id="1651" name="Google Shape;1651;p92"/>
            <p:cNvCxnSpPr/>
            <p:nvPr/>
          </p:nvCxnSpPr>
          <p:spPr>
            <a:xfrm flipH="1">
              <a:off x="6287766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2" name="Google Shape;1652;p92"/>
            <p:cNvCxnSpPr/>
            <p:nvPr/>
          </p:nvCxnSpPr>
          <p:spPr>
            <a:xfrm flipH="1">
              <a:off x="746880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3" name="Google Shape;1653;p92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4" name="Google Shape;1654;p92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5" name="Google Shape;1655;p92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6" name="Google Shape;1656;p92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57" name="Google Shape;1657;p92"/>
          <p:cNvSpPr txBox="1"/>
          <p:nvPr>
            <p:ph type="body" idx="4294967295"/>
          </p:nvPr>
        </p:nvSpPr>
        <p:spPr>
          <a:xfrm>
            <a:off x="6363550" y="1295683"/>
            <a:ext cx="8523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multiple of 4</a:t>
            </a:r>
            <a:endParaRPr sz="1600"/>
          </a:p>
        </p:txBody>
      </p:sp>
      <p:sp>
        <p:nvSpPr>
          <p:cNvPr id="1658" name="Google Shape;1658;p92"/>
          <p:cNvSpPr txBox="1"/>
          <p:nvPr>
            <p:ph type="body" idx="4294967295"/>
          </p:nvPr>
        </p:nvSpPr>
        <p:spPr>
          <a:xfrm>
            <a:off x="7523190" y="1308475"/>
            <a:ext cx="11838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not multiple of 4</a:t>
            </a:r>
            <a:endParaRPr sz="1600"/>
          </a:p>
        </p:txBody>
      </p:sp>
      <p:sp>
        <p:nvSpPr>
          <p:cNvPr id="1659" name="Google Shape;1659;p92"/>
          <p:cNvSpPr txBox="1"/>
          <p:nvPr>
            <p:ph type="body" idx="4294967295"/>
          </p:nvPr>
        </p:nvSpPr>
        <p:spPr>
          <a:xfrm>
            <a:off x="5565450" y="2033400"/>
            <a:ext cx="8523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factor of 20</a:t>
            </a:r>
            <a:endParaRPr sz="1600"/>
          </a:p>
        </p:txBody>
      </p:sp>
      <p:sp>
        <p:nvSpPr>
          <p:cNvPr id="1660" name="Google Shape;1660;p92"/>
          <p:cNvSpPr txBox="1"/>
          <p:nvPr>
            <p:ph type="body" idx="4294967295"/>
          </p:nvPr>
        </p:nvSpPr>
        <p:spPr>
          <a:xfrm>
            <a:off x="5565450" y="3100200"/>
            <a:ext cx="8523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not factor of 20</a:t>
            </a:r>
            <a:endParaRPr sz="1600"/>
          </a:p>
        </p:txBody>
      </p:sp>
      <p:sp>
        <p:nvSpPr>
          <p:cNvPr id="1661" name="Google Shape;1661;p92"/>
          <p:cNvSpPr txBox="1"/>
          <p:nvPr>
            <p:ph type="body" idx="4294967295"/>
          </p:nvPr>
        </p:nvSpPr>
        <p:spPr>
          <a:xfrm>
            <a:off x="324000" y="1597500"/>
            <a:ext cx="5055600" cy="89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A card is chosen at random from the deck.</a:t>
            </a:r>
            <a:br>
              <a:rPr lang="en-GB" sz="1600"/>
            </a:br>
            <a:r>
              <a:rPr lang="en-GB" sz="1600"/>
              <a:t>    Find the probabilities of the following </a:t>
            </a:r>
            <a:br>
              <a:rPr lang="en-GB" sz="1600"/>
            </a:br>
            <a:r>
              <a:rPr lang="en-GB" sz="1600"/>
              <a:t>    outcomes.</a:t>
            </a:r>
            <a:endParaRPr sz="1600"/>
          </a:p>
        </p:txBody>
      </p:sp>
      <p:sp>
        <p:nvSpPr>
          <p:cNvPr id="1662" name="Google Shape;1662;p92"/>
          <p:cNvSpPr txBox="1"/>
          <p:nvPr>
            <p:ph type="body" idx="4294967295"/>
          </p:nvPr>
        </p:nvSpPr>
        <p:spPr>
          <a:xfrm>
            <a:off x="552600" y="2588100"/>
            <a:ext cx="39330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i) P(multiple of 4 and factor of 20) =</a:t>
            </a:r>
            <a:endParaRPr sz="1600"/>
          </a:p>
        </p:txBody>
      </p:sp>
      <p:sp>
        <p:nvSpPr>
          <p:cNvPr id="1663" name="Google Shape;1663;p92"/>
          <p:cNvSpPr txBox="1"/>
          <p:nvPr>
            <p:ph type="body" idx="4294967295"/>
          </p:nvPr>
        </p:nvSpPr>
        <p:spPr>
          <a:xfrm>
            <a:off x="552600" y="3197700"/>
            <a:ext cx="43359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ii) P(multiple of 4 and not factor of 20) =</a:t>
            </a:r>
            <a:endParaRPr sz="1600"/>
          </a:p>
        </p:txBody>
      </p:sp>
      <p:sp>
        <p:nvSpPr>
          <p:cNvPr id="1664" name="Google Shape;1664;p92"/>
          <p:cNvSpPr txBox="1"/>
          <p:nvPr>
            <p:ph type="body" idx="4294967295"/>
          </p:nvPr>
        </p:nvSpPr>
        <p:spPr>
          <a:xfrm>
            <a:off x="552600" y="3807300"/>
            <a:ext cx="43359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iii) P(multiple of 4) =</a:t>
            </a:r>
            <a:endParaRPr sz="1600"/>
          </a:p>
        </p:txBody>
      </p:sp>
      <p:sp>
        <p:nvSpPr>
          <p:cNvPr id="1665" name="Google Shape;1665;p92"/>
          <p:cNvSpPr txBox="1"/>
          <p:nvPr>
            <p:ph type="body" idx="4294967295"/>
          </p:nvPr>
        </p:nvSpPr>
        <p:spPr>
          <a:xfrm>
            <a:off x="552600" y="4416900"/>
            <a:ext cx="43359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iv) P(not multiple of 4) =</a:t>
            </a:r>
            <a:endParaRPr sz="1600"/>
          </a:p>
        </p:txBody>
      </p:sp>
      <p:sp>
        <p:nvSpPr>
          <p:cNvPr id="1666" name="Google Shape;1666;p92"/>
          <p:cNvSpPr txBox="1"/>
          <p:nvPr>
            <p:ph type="body" idx="4294967295"/>
          </p:nvPr>
        </p:nvSpPr>
        <p:spPr>
          <a:xfrm>
            <a:off x="6417750" y="2007825"/>
            <a:ext cx="5955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4, 20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7" name="Google Shape;1667;p92"/>
          <p:cNvSpPr txBox="1"/>
          <p:nvPr>
            <p:ph type="body" idx="4294967295"/>
          </p:nvPr>
        </p:nvSpPr>
        <p:spPr>
          <a:xfrm>
            <a:off x="6417750" y="3150825"/>
            <a:ext cx="925200" cy="82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8, 12, 16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8" name="Google Shape;1668;p92"/>
          <p:cNvSpPr txBox="1"/>
          <p:nvPr>
            <p:ph type="body" idx="4294967295"/>
          </p:nvPr>
        </p:nvSpPr>
        <p:spPr>
          <a:xfrm>
            <a:off x="7560750" y="2007825"/>
            <a:ext cx="11463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1, 2, 5, 10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9" name="Google Shape;1669;p92"/>
          <p:cNvSpPr txBox="1"/>
          <p:nvPr>
            <p:ph type="body" idx="4294967295"/>
          </p:nvPr>
        </p:nvSpPr>
        <p:spPr>
          <a:xfrm>
            <a:off x="7512026" y="3150825"/>
            <a:ext cx="1259100" cy="82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3, 6, 7, 9, 11, 13, 14, 15, 17, 18, 19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70" name="Google Shape;1670;p92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3">
            <a:alphaModFix/>
          </a:blip>
          <a:srcRect r="83789"/>
          <a:stretch>
            <a:fillRect/>
          </a:stretch>
        </p:blipFill>
        <p:spPr>
          <a:xfrm>
            <a:off x="4215009" y="2486000"/>
            <a:ext cx="270600" cy="4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92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3">
            <a:alphaModFix/>
          </a:blip>
          <a:srcRect l="26307" r="52880"/>
          <a:stretch>
            <a:fillRect/>
          </a:stretch>
        </p:blipFill>
        <p:spPr>
          <a:xfrm>
            <a:off x="4574984" y="3086450"/>
            <a:ext cx="347412" cy="4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2" name="Google Shape;1672;p92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3">
            <a:alphaModFix/>
          </a:blip>
          <a:srcRect l="53899" r="25286"/>
          <a:stretch>
            <a:fillRect/>
          </a:stretch>
        </p:blipFill>
        <p:spPr>
          <a:xfrm>
            <a:off x="2597168" y="3696050"/>
            <a:ext cx="347426" cy="4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p92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3">
            <a:alphaModFix/>
          </a:blip>
          <a:srcRect l="83788"/>
          <a:stretch>
            <a:fillRect/>
          </a:stretch>
        </p:blipFill>
        <p:spPr>
          <a:xfrm>
            <a:off x="3019880" y="4305650"/>
            <a:ext cx="270600" cy="4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7" name="Shape 1677"/>
        <p:cNvGrpSpPr/>
        <p:nvPr/>
      </p:nvGrpSpPr>
      <p:grpSpPr>
        <a:xfrm>
          <a:off x="0" y="0"/>
          <a:ext cx="0" cy="0"/>
        </a:xfrm>
      </p:grpSpPr>
      <p:sp>
        <p:nvSpPr>
          <p:cNvPr id="1678" name="Google Shape;1678;p93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probability of an outcome can be found by considering a frequency table showing all the possible outcomes.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probability of a set of outcomes can be found from a frequency table by first summing the frequency of those outcomes before calculating the probability.</a:t>
            </a:r>
            <a:br>
              <a:rPr lang="en-GB"/>
            </a:b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A table can be used to classify outcomes into sets of outcomes or events.</a:t>
            </a:r>
            <a:endParaRPr/>
          </a:p>
        </p:txBody>
      </p:sp>
      <p:sp>
        <p:nvSpPr>
          <p:cNvPr id="1679" name="Google Shape;1679;p93"/>
          <p:cNvSpPr txBox="1"/>
          <p:nvPr>
            <p:ph type="title"/>
          </p:nvPr>
        </p:nvSpPr>
        <p:spPr>
          <a:xfrm>
            <a:off x="1684800" y="43825"/>
            <a:ext cx="5741400" cy="711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3" name="Shape 1683"/>
        <p:cNvGrpSpPr/>
        <p:nvPr/>
      </p:nvGrpSpPr>
      <p:grpSpPr>
        <a:xfrm>
          <a:off x="0" y="0"/>
          <a:ext cx="0" cy="0"/>
        </a:xfrm>
      </p:grpSpPr>
      <p:sp>
        <p:nvSpPr>
          <p:cNvPr id="1684" name="Google Shape;1684;p9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85" name="Google Shape;168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339</Paragraphs>
  <Slides>32</Slides>
  <Notes>32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baseType="lpstr" size="40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Calculating theoretical probabilities from a table (one event)</vt:lpstr>
      <vt:lpstr>PowerPoint Presentation</vt:lpstr>
      <vt:lpstr>PowerPoint Presentation</vt:lpstr>
      <vt:lpstr>PowerPoint Presentation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 frequency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Finding probabilities from an outcome table</vt:lpstr>
      <vt:lpstr>Calculating theoretical probabilities from a table (one event)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2024-03-05T12:31:42.473</cp:lastPrinted>
  <dcterms:created xsi:type="dcterms:W3CDTF">2024-03-05T12:31:42Z</dcterms:created>
  <dcterms:modified xsi:type="dcterms:W3CDTF">2024-03-05T12:34:28Z</dcterms:modified>
</cp:coreProperties>
</file>