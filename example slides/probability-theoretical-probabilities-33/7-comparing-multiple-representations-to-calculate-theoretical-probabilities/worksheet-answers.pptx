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C6C1918-D14D-4B8D-91A5-9DD828749E6F}">
  <a:tblStyle styleId="{8C6C1918-D14D-4B8D-91A5-9DD828749E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g2bdc105976a_0_6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dc105976a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8" name="Shape 278"/>
        <p:cNvGrpSpPr/>
        <p:nvPr/>
      </p:nvGrpSpPr>
      <p:grpSpPr>
        <a:xfrm>
          <a:off x="0" y="0"/>
          <a:ext cx="0" cy="0"/>
        </a:xfrm>
      </p:grpSpPr>
      <p:sp>
        <p:nvSpPr>
          <p:cNvPr id="279" name="Google Shape;27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Relationship Id="rId7" Type="http://schemas.openxmlformats.org/officeDocument/2006/relationships/image" Target="../media/image18.png" /><Relationship Id="rId8" Type="http://schemas.openxmlformats.org/officeDocument/2006/relationships/image" Target="../media/image9.png" /><Relationship Id="rId9" Type="http://schemas.openxmlformats.org/officeDocument/2006/relationships/image" Target="../media/image1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853825" y="2217863"/>
          <a:ext cx="1402375" cy="2770000"/>
        </p:xfrm>
        <a:graphic>
          <a:graphicData uri="http://schemas.openxmlformats.org/drawingml/2006/table">
            <a:tbl>
              <a:tblPr>
                <a:noFill/>
                <a:tableStyleId>{8C6C1918-D14D-4B8D-91A5-9DD828749E6F}</a:tableStyleId>
              </a:tblPr>
              <a:tblGrid>
                <a:gridCol w="1402375"/>
              </a:tblGrid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list of outcomes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 (B)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0"/>
          <p:cNvSpPr txBox="1"/>
          <p:nvPr/>
        </p:nvSpPr>
        <p:spPr>
          <a:xfrm>
            <a:off x="2633301" y="2134850"/>
            <a:ext cx="3987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Andeep creates a list of equally likely outcomes from a spinner.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this list of outcomes to complete the frequency table and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4750" y="1563650"/>
            <a:ext cx="62460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Outcomes and probabilities across different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2800795" y="3073595"/>
          <a:ext cx="2407600" cy="1786075"/>
        </p:xfrm>
        <a:graphic>
          <a:graphicData uri="http://schemas.openxmlformats.org/drawingml/2006/table">
            <a:tbl>
              <a:tblPr>
                <a:noFill/>
                <a:tableStyleId>{8C6C1918-D14D-4B8D-91A5-9DD828749E6F}</a:tableStyleId>
              </a:tblPr>
              <a:tblGrid>
                <a:gridCol w="730950"/>
                <a:gridCol w="683425"/>
                <a:gridCol w="993225"/>
              </a:tblGrid>
              <a:tr h="211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77" name="Google Shape;177;p20"/>
          <p:cNvGrpSpPr/>
          <p:nvPr/>
        </p:nvGrpSpPr>
        <p:grpSpPr>
          <a:xfrm>
            <a:off x="5516981" y="3000518"/>
            <a:ext cx="1230700" cy="2045790"/>
            <a:chOff x="7210400" y="835432"/>
            <a:chExt cx="1609600" cy="1960320"/>
          </a:xfrm>
        </p:grpSpPr>
        <p:grpSp>
          <p:nvGrpSpPr>
            <p:cNvPr id="178" name="Google Shape;178;p20"/>
            <p:cNvGrpSpPr/>
            <p:nvPr/>
          </p:nvGrpSpPr>
          <p:grpSpPr>
            <a:xfrm>
              <a:off x="7210400" y="962406"/>
              <a:ext cx="1249000" cy="1810723"/>
              <a:chOff x="7278800" y="733806"/>
              <a:chExt cx="1249000" cy="1810723"/>
            </a:xfrm>
          </p:grpSpPr>
          <p:cxnSp>
            <p:nvCxnSpPr>
              <p:cNvPr id="179" name="Google Shape;179;p20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20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20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2" name="Google Shape;182;p20"/>
            <p:cNvSpPr txBox="1"/>
            <p:nvPr/>
          </p:nvSpPr>
          <p:spPr>
            <a:xfrm>
              <a:off x="8396100" y="835432"/>
              <a:ext cx="423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F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8396100" y="1729163"/>
              <a:ext cx="423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8396100" y="2618753"/>
              <a:ext cx="423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5336078" y="3966212"/>
            <a:ext cx="211800" cy="211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448858" y="4180939"/>
            <a:ext cx="2034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448858" y="3788368"/>
            <a:ext cx="2034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448858" y="3395797"/>
            <a:ext cx="2034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0" descr="&lt;math xmlns=&quot;http://www.w3.org/1998/Math/MathML&quot; display=&quot;block&quot; data-is-equatio=&quot;1&quot; data-latex=&quot;\frac{3}{9}&quot;&gt;&lt;mfrac&gt;&lt;mn&gt;3&lt;/mn&gt;&lt;mn&gt;9&lt;/mn&gt;&lt;/mfrac&gt;&lt;/math&gt;" title="thre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526" y="3332725"/>
            <a:ext cx="102375" cy="33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frac{2}{9}&quot;&gt;&lt;mfrac&gt;&lt;mn&gt;2&lt;/mn&gt;&lt;mn&gt;9&lt;/mn&gt;&lt;/mfrac&gt;&lt;/math&gt;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526" y="3725190"/>
            <a:ext cx="102375" cy="33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4526" y="4117654"/>
            <a:ext cx="102375" cy="33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3}{9}&quot;&gt;&lt;mfrac&gt;&lt;mn&gt;3&lt;/mn&gt;&lt;mn&gt;9&lt;/mn&gt;&lt;/mfrac&gt;&lt;/math&gt;" title="thre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338" y="3091711"/>
            <a:ext cx="102395" cy="330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2}{9}&quot;&gt;&lt;mfrac&gt;&lt;mn&gt;2&lt;/mn&gt;&lt;mn&gt;9&lt;/mn&gt;&lt;/mfrac&gt;&lt;/math&gt;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4719" y="4504641"/>
            <a:ext cx="102395" cy="330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2285" y="3718586"/>
            <a:ext cx="102395" cy="3303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20"/>
          <p:cNvGraphicFramePr>
            <a:graphicFrameLocks noGrp="1"/>
          </p:cNvGraphicFramePr>
          <p:nvPr/>
        </p:nvGraphicFramePr>
        <p:xfrm>
          <a:off x="2805433" y="6060722"/>
          <a:ext cx="2551800" cy="2344125"/>
        </p:xfrm>
        <a:graphic>
          <a:graphicData uri="http://schemas.openxmlformats.org/drawingml/2006/table">
            <a:tbl>
              <a:tblPr>
                <a:noFill/>
                <a:tableStyleId>{8C6C1918-D14D-4B8D-91A5-9DD828749E6F}</a:tableStyleId>
              </a:tblPr>
              <a:tblGrid>
                <a:gridCol w="774750"/>
                <a:gridCol w="724350"/>
                <a:gridCol w="1052700"/>
              </a:tblGrid>
              <a:tr h="236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(M)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P(M)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whale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(W)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0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turtle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(T)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P(T)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0"/>
          <p:cNvSpPr txBox="1"/>
          <p:nvPr/>
        </p:nvSpPr>
        <p:spPr>
          <a:xfrm>
            <a:off x="476400" y="6053175"/>
            <a:ext cx="21300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Both the complete frequency table 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probability tree show the same trial of randomly choosing a certain animal from a game.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5631706" y="6116888"/>
            <a:ext cx="1239574" cy="2288005"/>
            <a:chOff x="5752850" y="1910998"/>
            <a:chExt cx="1593078" cy="2940502"/>
          </a:xfrm>
        </p:grpSpPr>
        <p:cxnSp>
          <p:nvCxnSpPr>
            <p:cNvPr id="198" name="Google Shape;198;p20"/>
            <p:cNvCxnSpPr/>
            <p:nvPr/>
          </p:nvCxnSpPr>
          <p:spPr>
            <a:xfrm>
              <a:off x="5752850" y="3321050"/>
              <a:ext cx="1344000" cy="1376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20"/>
            <p:cNvCxnSpPr/>
            <p:nvPr/>
          </p:nvCxnSpPr>
          <p:spPr>
            <a:xfrm rot="10800000" flipH="1">
              <a:off x="5794375" y="1958525"/>
              <a:ext cx="1302600" cy="133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0" name="Google Shape;200;p20"/>
            <p:cNvSpPr txBox="1"/>
            <p:nvPr/>
          </p:nvSpPr>
          <p:spPr>
            <a:xfrm>
              <a:off x="7099628" y="4544300"/>
              <a:ext cx="246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T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201" name="Google Shape;201;p20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20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3" name="Google Shape;203;p20"/>
            <p:cNvSpPr txBox="1"/>
            <p:nvPr/>
          </p:nvSpPr>
          <p:spPr>
            <a:xfrm>
              <a:off x="7099627" y="2848645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L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5" name="Google Shape;205;p20" descr="&lt;math xmlns=&quot;http://www.w3.org/1998/Math/MathML&quot; display=&quot;block&quot; data-is-equatio=&quot;1&quot; data-latex=&quot;\frac{5}{35}&quot;&gt;&lt;mfrac&gt;&lt;mn&gt;5&lt;/mn&gt;&lt;mn&gt;35&lt;/mn&gt;&lt;/mfrac&gt;&lt;/math&gt;" title="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7954" y="6392700"/>
            <a:ext cx="184871" cy="33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&lt;math xmlns=&quot;http://www.w3.org/1998/Math/MathML&quot; display=&quot;block&quot; data-is-equatio=&quot;1&quot; data-latex=&quot;\frac{12}{35}&quot;&gt;&lt;mfrac&gt;&lt;mn&gt;12&lt;/mn&gt;&lt;mn&gt;35&lt;/mn&gt;&lt;/mfrac&gt;&lt;/math&gt;" title="12 over 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7950" y="6823690"/>
            <a:ext cx="184871" cy="33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&lt;math xmlns=&quot;http://www.w3.org/1998/Math/MathML&quot; display=&quot;block&quot; data-is-equatio=&quot;1&quot; data-latex=&quot;\frac{3}{35}&quot;&gt;&lt;mfrac&gt;&lt;mn&gt;3&lt;/mn&gt;&lt;mn&gt;35&lt;/mn&gt;&lt;/mfrac&gt;&lt;/math&gt;" title="3 over 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17954" y="7249660"/>
            <a:ext cx="184871" cy="33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17954" y="7680651"/>
            <a:ext cx="184871" cy="33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6679435" y="7511122"/>
            <a:ext cx="191700" cy="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0" descr="&lt;math xmlns=&quot;http://www.w3.org/1998/Math/MathML&quot; display=&quot;block&quot; data-is-equatio=&quot;1&quot; data-latex=&quot;\frac{5}{35}&quot;&gt;&lt;mfrac&gt;&lt;mn&gt;5&lt;/mn&gt;&lt;mn&gt;35&lt;/mn&gt;&lt;/mfrac&gt;&lt;/math&gt;" title="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9721" y="6570540"/>
            <a:ext cx="184870" cy="336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\frac{3}{35}&quot;&gt;&lt;mfrac&gt;&lt;mn&gt;3&lt;/mn&gt;&lt;mn&gt;35&lt;/mn&gt;&lt;/mfrac&gt;&lt;/math&gt;" title="3 over 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15686" y="6127569"/>
            <a:ext cx="184870" cy="336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\frac{12}{35}&quot;&gt;&lt;mfrac&gt;&lt;mn&gt;12&lt;/mn&gt;&lt;mn&gt;35&lt;/mn&gt;&lt;/mfrac&gt;&lt;/math&gt;" title="12 over 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0555" y="7121880"/>
            <a:ext cx="184870" cy="33612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>
            <a:off x="5588130" y="7093104"/>
            <a:ext cx="215700" cy="215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0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95832" y="7756865"/>
            <a:ext cx="184870" cy="336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Comparing multiple representations to calculate theoretical probabilitie</a:t>
            </a:r>
            <a:endParaRPr/>
          </a:p>
        </p:txBody>
      </p:sp>
      <p:cxnSp>
        <p:nvCxnSpPr>
          <p:cNvPr id="220" name="Google Shape;220;p21"/>
          <p:cNvCxnSpPr/>
          <p:nvPr/>
        </p:nvCxnSpPr>
        <p:spPr>
          <a:xfrm>
            <a:off x="468007" y="51173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1" name="Google Shape;221;p21"/>
          <p:cNvGrpSpPr/>
          <p:nvPr/>
        </p:nvGrpSpPr>
        <p:grpSpPr>
          <a:xfrm>
            <a:off x="3913082" y="2258070"/>
            <a:ext cx="1182047" cy="2292709"/>
            <a:chOff x="5829900" y="1910998"/>
            <a:chExt cx="1516028" cy="2940502"/>
          </a:xfrm>
        </p:grpSpPr>
        <p:cxnSp>
          <p:nvCxnSpPr>
            <p:cNvPr id="222" name="Google Shape;222;p21"/>
            <p:cNvCxnSpPr/>
            <p:nvPr/>
          </p:nvCxnSpPr>
          <p:spPr>
            <a:xfrm>
              <a:off x="5829900" y="3400175"/>
              <a:ext cx="1267200" cy="12975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1"/>
            <p:cNvCxnSpPr/>
            <p:nvPr/>
          </p:nvCxnSpPr>
          <p:spPr>
            <a:xfrm rot="10800000" flipH="1">
              <a:off x="5840750" y="1958400"/>
              <a:ext cx="1256100" cy="1283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4" name="Google Shape;224;p21"/>
            <p:cNvSpPr txBox="1"/>
            <p:nvPr/>
          </p:nvSpPr>
          <p:spPr>
            <a:xfrm>
              <a:off x="7099628" y="4544300"/>
              <a:ext cx="246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5" name="Google Shape;225;p21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7" name="Google Shape;227;p21"/>
            <p:cNvSpPr txBox="1"/>
            <p:nvPr/>
          </p:nvSpPr>
          <p:spPr>
            <a:xfrm>
              <a:off x="7099627" y="2848645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9" name="Google Shape;229;p21" descr="&lt;math xmlns=&quot;http://www.w3.org/1998/Math/MathML&quot; display=&quot;block&quot; data-is-equatio=&quot;1&quot; data-latex=&quot;\frac{3}{14}&quot;&gt;&lt;mfrac&gt;&lt;mn&gt;3&lt;/mn&gt;&lt;mn&gt;14&lt;/mn&gt;&lt;/mfrac&gt;&lt;/math&gt;" title="3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975" y="3833581"/>
            <a:ext cx="160025" cy="28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395" y="3274422"/>
            <a:ext cx="157167" cy="28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0874" y="2283025"/>
            <a:ext cx="157167" cy="2857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2" name="Google Shape;232;p21"/>
          <p:cNvGraphicFramePr>
            <a:graphicFrameLocks noGrp="1"/>
          </p:cNvGraphicFramePr>
          <p:nvPr/>
        </p:nvGraphicFramePr>
        <p:xfrm>
          <a:off x="616208" y="2283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{8C6C1918-D14D-4B8D-91A5-9DD828749E6F}</a:tableStyleId>
              </a:tblPr>
              <a:tblGrid>
                <a:gridCol w="774125"/>
                <a:gridCol w="723775"/>
                <a:gridCol w="1051850"/>
              </a:tblGrid>
              <a:tr h="202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3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(R)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P(R)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6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green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(G)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P(G) =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P(B) = 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6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violet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(V)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P(V) = </a:t>
                      </a:r>
                      <a:endParaRPr sz="1200"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3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3" name="Google Shape;233;p21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899" y="2595750"/>
            <a:ext cx="144625" cy="262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\frac{3}{14}&quot;&gt;&lt;mfrac&gt;&lt;mn&gt;3&lt;/mn&gt;&lt;mn&gt;14&lt;/mn&gt;&lt;/mfrac&gt;&lt;/math&gt;" title="3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20" y="3000642"/>
            <a:ext cx="147255" cy="262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8635" y="3514214"/>
            <a:ext cx="144625" cy="262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\frac{2}{14}&quot;&gt;&lt;mfrac&gt;&lt;mn&gt;2&lt;/mn&gt;&lt;mn&gt;14&lt;/mn&gt;&lt;/mfrac&gt;&lt;/math&gt;" title="2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6973" y="2717787"/>
            <a:ext cx="160025" cy="28576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4902811" y="3650056"/>
            <a:ext cx="192000" cy="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8" name="Google Shape;238;p21" descr="&lt;math xmlns=&quot;http://www.w3.org/1998/Math/MathML&quot; display=&quot;block&quot; data-is-equatio=&quot;1&quot; data-latex=&quot;\frac{2}{14}&quot;&gt;&lt;mfrac&gt;&lt;mn&gt;2&lt;/mn&gt;&lt;mn&gt;14&lt;/mn&gt;&lt;/mfrac&gt;&lt;/math&gt;" title="2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4775" y="3951578"/>
            <a:ext cx="147255" cy="26294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476400" y="871574"/>
            <a:ext cx="6624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Both the incomplete frequency table 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probability tree show the same trial of selecting a party hat of a certain colour at random.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both diagrams.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Create a list showing the colour of every party hat.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0" name="Google Shape;240;p21"/>
          <p:cNvGrpSpPr/>
          <p:nvPr/>
        </p:nvGrpSpPr>
        <p:grpSpPr>
          <a:xfrm>
            <a:off x="5855413" y="2825863"/>
            <a:ext cx="750383" cy="1154112"/>
            <a:chOff x="7749775" y="1867675"/>
            <a:chExt cx="962400" cy="1480200"/>
          </a:xfrm>
        </p:grpSpPr>
        <p:sp>
          <p:nvSpPr>
            <p:cNvPr id="241" name="Google Shape;241;p21"/>
            <p:cNvSpPr txBox="1"/>
            <p:nvPr/>
          </p:nvSpPr>
          <p:spPr>
            <a:xfrm>
              <a:off x="7749775" y="1867675"/>
              <a:ext cx="522300" cy="148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G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G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G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8189875" y="1867675"/>
              <a:ext cx="522300" cy="148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V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V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43" name="Google Shape;243;p21"/>
          <p:cNvSpPr txBox="1"/>
          <p:nvPr/>
        </p:nvSpPr>
        <p:spPr>
          <a:xfrm>
            <a:off x="5741787" y="2281125"/>
            <a:ext cx="9771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list of outcomes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798499" y="3251530"/>
            <a:ext cx="216000" cy="216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76525" y="5221250"/>
            <a:ext cx="6624000" cy="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Showing events across different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76400" y="5872542"/>
            <a:ext cx="2935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Venn diagram and outcome table show the same events.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Venn diagram to complete the outcome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76400" y="7393447"/>
            <a:ext cx="2972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P(vowel)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vowel)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P(made from straight lines)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9" name="Google Shape;249;p21"/>
          <p:cNvGraphicFramePr>
            <a:graphicFrameLocks noGrp="1"/>
          </p:cNvGraphicFramePr>
          <p:nvPr/>
        </p:nvGraphicFramePr>
        <p:xfrm>
          <a:off x="3913065" y="8607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{8C6C1918-D14D-4B8D-91A5-9DD828749E6F}</a:tableStyleId>
              </a:tblPr>
              <a:tblGrid>
                <a:gridCol w="1582725"/>
                <a:gridCol w="1582725"/>
              </a:tblGrid>
              <a:tr h="21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vowels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vowels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631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1"/>
          <p:cNvSpPr txBox="1"/>
          <p:nvPr/>
        </p:nvSpPr>
        <p:spPr>
          <a:xfrm>
            <a:off x="4744653" y="8891892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548036" y="913015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921631" y="913015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051666" y="892069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989090" y="918654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212023" y="5960938"/>
            <a:ext cx="2602200" cy="1790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392753" y="6471018"/>
            <a:ext cx="1557000" cy="1200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077055" y="6471018"/>
            <a:ext cx="1557000" cy="1200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258523" y="5960702"/>
            <a:ext cx="124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vowels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5549951" y="5960702"/>
            <a:ext cx="121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made from straight lines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989090" y="5998892"/>
            <a:ext cx="22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6076961" y="665834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326359" y="6684552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129742" y="704883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503338" y="704883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633372" y="671335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570796" y="716823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076961" y="7048834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400760" y="7478556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876933" y="7339067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020845" y="8920699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786966" y="9173442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491740" y="9065490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549954" y="9002470"/>
            <a:ext cx="37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4" name="Google Shape;274;p21" descr="&lt;math xmlns=&quot;http://www.w3.org/1998/Math/MathML&quot; display=&quot;block&quot; data-is-equatio=&quot;1&quot; data-latex=&quot;\frac{5}{9}&quot;&gt;&lt;mfrac&gt;&lt;mn&gt;5&lt;/mn&gt;&lt;mn&gt;9&lt;/mn&gt;&lt;/mfrac&gt;&lt;/math&gt;" title="five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65577" y="7662582"/>
            <a:ext cx="110739" cy="357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71712" y="8375087"/>
            <a:ext cx="110739" cy="357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&lt;math xmlns=&quot;http://www.w3.org/1998/Math/MathML&quot; display=&quot;block&quot; data-is-equatio=&quot;1&quot; data-latex=&quot;\frac{6}{9}&quot;&gt;&lt;mfrac&gt;&lt;mn&gt;6&lt;/mn&gt;&lt;mn&gt;9&lt;/mn&gt;&lt;/mfrac&gt;&lt;/math&gt;" title="six ni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87352" y="9097195"/>
            <a:ext cx="110739" cy="35722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4212023" y="7764497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1" name="Shape 281"/>
        <p:cNvGrpSpPr/>
        <p:nvPr/>
      </p:nvGrpSpPr>
      <p:grpSpPr>
        <a:xfrm>
          <a:off x="0" y="0"/>
          <a:ext cx="0" cy="0"/>
        </a:xfrm>
      </p:grpSpPr>
      <p:sp>
        <p:nvSpPr>
          <p:cNvPr id="282" name="Google Shape;282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83" name="Google Shape;283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2804067" y="2975874"/>
            <a:ext cx="1913700" cy="1261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76400" y="892773"/>
            <a:ext cx="6615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spinner has outcomes: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 1,  1,  2,  2,  3,  4,  4,  5,  5,  5,  6,  7,  7,  7,  8,  9}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 spinning the spinner once                  Event: lands on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outcome table, Venn diagram (showing the number of outcomes), and the probability tree for this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Circle or highlight the outcomes or branches in each diagram that are required to calculate the probability of P(not square).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8" name="Google Shape;288;p22"/>
          <p:cNvGraphicFramePr>
            <a:graphicFrameLocks noGrp="1"/>
          </p:cNvGraphicFramePr>
          <p:nvPr/>
        </p:nvGraphicFramePr>
        <p:xfrm>
          <a:off x="476400" y="308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{8C6C1918-D14D-4B8D-91A5-9DD828749E6F}</a:tableStyleId>
              </a:tblPr>
              <a:tblGrid>
                <a:gridCol w="1071625"/>
                <a:gridCol w="1005225"/>
              </a:tblGrid>
              <a:tr h="271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3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22"/>
          <p:cNvSpPr/>
          <p:nvPr/>
        </p:nvSpPr>
        <p:spPr>
          <a:xfrm>
            <a:off x="2936972" y="3173037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3440182" y="3173037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2838264" y="2975874"/>
            <a:ext cx="91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3787932" y="2975874"/>
            <a:ext cx="89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2640132" y="2960844"/>
            <a:ext cx="16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3581149" y="3496863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2"/>
          <p:cNvGrpSpPr/>
          <p:nvPr/>
        </p:nvGrpSpPr>
        <p:grpSpPr>
          <a:xfrm>
            <a:off x="5053197" y="2872083"/>
            <a:ext cx="1809660" cy="1307379"/>
            <a:chOff x="6134400" y="2800336"/>
            <a:chExt cx="2323950" cy="1678925"/>
          </a:xfrm>
        </p:grpSpPr>
        <p:grpSp>
          <p:nvGrpSpPr>
            <p:cNvPr id="296" name="Google Shape;296;p22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297" name="Google Shape;297;p22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22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99" name="Google Shape;299;p22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not square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2" name="Google Shape;302;p22"/>
          <p:cNvSpPr txBox="1"/>
          <p:nvPr/>
        </p:nvSpPr>
        <p:spPr>
          <a:xfrm>
            <a:off x="520376" y="3357041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791587" y="3357041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062799" y="3357041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520376" y="3662241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791587" y="3662241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520376" y="3967440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08" name="Google Shape;308;p22"/>
          <p:cNvGrpSpPr/>
          <p:nvPr/>
        </p:nvGrpSpPr>
        <p:grpSpPr>
          <a:xfrm>
            <a:off x="1569879" y="3350259"/>
            <a:ext cx="813664" cy="400479"/>
            <a:chOff x="1728225" y="3459100"/>
            <a:chExt cx="1044900" cy="727350"/>
          </a:xfrm>
        </p:grpSpPr>
        <p:sp>
          <p:nvSpPr>
            <p:cNvPr id="309" name="Google Shape;309;p22"/>
            <p:cNvSpPr txBox="1"/>
            <p:nvPr/>
          </p:nvSpPr>
          <p:spPr>
            <a:xfrm>
              <a:off x="1728225" y="345910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2076525" y="345910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2424825" y="345910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1728225" y="385105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2076525" y="385105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2424825" y="385105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315" name="Google Shape;315;p22"/>
          <p:cNvGrpSpPr/>
          <p:nvPr/>
        </p:nvGrpSpPr>
        <p:grpSpPr>
          <a:xfrm>
            <a:off x="1569879" y="3793439"/>
            <a:ext cx="813664" cy="400479"/>
            <a:chOff x="1728225" y="3459100"/>
            <a:chExt cx="1044900" cy="727350"/>
          </a:xfrm>
        </p:grpSpPr>
        <p:sp>
          <p:nvSpPr>
            <p:cNvPr id="316" name="Google Shape;316;p22"/>
            <p:cNvSpPr txBox="1"/>
            <p:nvPr/>
          </p:nvSpPr>
          <p:spPr>
            <a:xfrm>
              <a:off x="1728225" y="345910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7" name="Google Shape;317;p22"/>
            <p:cNvSpPr txBox="1"/>
            <p:nvPr/>
          </p:nvSpPr>
          <p:spPr>
            <a:xfrm>
              <a:off x="2076525" y="345910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2424825" y="345910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1728225" y="385105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2076525" y="3851050"/>
              <a:ext cx="3483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21" name="Google Shape;321;p22"/>
          <p:cNvSpPr txBox="1"/>
          <p:nvPr/>
        </p:nvSpPr>
        <p:spPr>
          <a:xfrm>
            <a:off x="3115398" y="3494702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4164854" y="3494702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4379028" y="3951198"/>
            <a:ext cx="27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4" name="Google Shape;324;p22" descr="&lt;math xmlns=&quot;http://www.w3.org/1998/Math/MathML&quot; display=&quot;block&quot; data-is-equatio=&quot;1&quot; data-latex=&quot;\frac{6}{17}&quot;&gt;&lt;mfrac&gt;&lt;mn&gt;6&lt;/mn&gt;&lt;mn&gt;17&lt;/mn&gt;&lt;/mfrac&gt;&lt;/math&gt;" title="6 over 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862" y="2807222"/>
            <a:ext cx="181649" cy="335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descr="&lt;math xmlns=&quot;http://www.w3.org/1998/Math/MathML&quot; display=&quot;block&quot; data-is-equatio=&quot;1&quot; data-latex=&quot;\frac{11}{17}&quot;&gt;&lt;mfrac&gt;&lt;mn&gt;11&lt;/mn&gt;&lt;mn&gt;17&lt;/mn&gt;&lt;/mfrac&gt;&lt;/math&gt;" title="11 over 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507" y="3573818"/>
            <a:ext cx="181649" cy="33561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/>
          <p:nvPr/>
        </p:nvSpPr>
        <p:spPr>
          <a:xfrm>
            <a:off x="1432442" y="3278590"/>
            <a:ext cx="1120800" cy="10392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7" name="Google Shape;327;p22"/>
          <p:cNvCxnSpPr/>
          <p:nvPr/>
        </p:nvCxnSpPr>
        <p:spPr>
          <a:xfrm>
            <a:off x="5237261" y="3597419"/>
            <a:ext cx="915000" cy="515100"/>
          </a:xfrm>
          <a:prstGeom prst="straightConnector1">
            <a:avLst/>
          </a:prstGeom>
          <a:noFill/>
          <a:ln w="76200" cap="flat" cmpd="sng">
            <a:solidFill>
              <a:srgbClr val="57575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p22"/>
          <p:cNvSpPr/>
          <p:nvPr/>
        </p:nvSpPr>
        <p:spPr>
          <a:xfrm>
            <a:off x="4127503" y="3452216"/>
            <a:ext cx="366300" cy="2982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4331496" y="3909432"/>
            <a:ext cx="366300" cy="2982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476403" y="5097523"/>
            <a:ext cx="6615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Venn diagram (showing the number of outcomes), outcome table, and probability tree all show the same event from a trial.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outcome table is missing some of its outcomes!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correct Venn diagram to suggest possible outcomes for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Complete the probability tree.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678595" y="7398517"/>
            <a:ext cx="1913700" cy="1261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2" name="Google Shape;332;p22"/>
          <p:cNvGraphicFramePr>
            <a:graphicFrameLocks noGrp="1"/>
          </p:cNvGraphicFramePr>
          <p:nvPr/>
        </p:nvGraphicFramePr>
        <p:xfrm>
          <a:off x="2765004" y="738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{8C6C1918-D14D-4B8D-91A5-9DD828749E6F}</a:tableStyleId>
              </a:tblPr>
              <a:tblGrid>
                <a:gridCol w="1071625"/>
                <a:gridCol w="1005225"/>
              </a:tblGrid>
              <a:tr h="253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cube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53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22"/>
          <p:cNvSpPr/>
          <p:nvPr/>
        </p:nvSpPr>
        <p:spPr>
          <a:xfrm>
            <a:off x="811500" y="7595680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1314711" y="7595680"/>
            <a:ext cx="1144800" cy="882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712792" y="7398517"/>
            <a:ext cx="91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1662460" y="7398517"/>
            <a:ext cx="89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76399" y="7383488"/>
            <a:ext cx="16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1455677" y="7921201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9" name="Google Shape;339;p22"/>
          <p:cNvGrpSpPr/>
          <p:nvPr/>
        </p:nvGrpSpPr>
        <p:grpSpPr>
          <a:xfrm>
            <a:off x="5053200" y="7294725"/>
            <a:ext cx="1809660" cy="1307379"/>
            <a:chOff x="6134400" y="2800336"/>
            <a:chExt cx="2323950" cy="1678925"/>
          </a:xfrm>
        </p:grpSpPr>
        <p:grpSp>
          <p:nvGrpSpPr>
            <p:cNvPr id="340" name="Google Shape;340;p22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341" name="Google Shape;341;p22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22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3" name="Google Shape;343;p22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not cube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cube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6" name="Google Shape;346;p22"/>
          <p:cNvSpPr txBox="1"/>
          <p:nvPr/>
        </p:nvSpPr>
        <p:spPr>
          <a:xfrm>
            <a:off x="1016487" y="7676640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1930511" y="7705353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2194277" y="8386126"/>
            <a:ext cx="3594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2811681" y="765246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3091059" y="778876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3410684" y="7676640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3518919" y="7945281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2865789" y="7953360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3210565" y="805038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2865789" y="825425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3464510" y="8206584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3856960" y="765246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4157644" y="7652462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4494264" y="778876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4006592" y="7892487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4315296" y="8038410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3856970" y="8186747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4503365" y="8254258"/>
            <a:ext cx="2469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640157" y="6189569"/>
            <a:ext cx="64518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One even cube number (e.g. 8), one odd cube number (e.g. 27), and one odd non-cube number should be added to the outcome table (e.g. 5).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65" name="Google Shape;365;p22" descr="&lt;math xmlns=&quot;http://www.w3.org/1998/Math/MathML&quot; display=&quot;block&quot; data-is-equatio=&quot;1&quot; data-latex=&quot;\frac{10}{18}&quot;&gt;&lt;mfrac&gt;&lt;mn&gt;10&lt;/mn&gt;&lt;mn&gt;18&lt;/mn&gt;&lt;/mfrac&gt;&lt;/math&gt;" title="10 over 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275" y="7165225"/>
            <a:ext cx="155332" cy="287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2" descr="&lt;math xmlns=&quot;http://www.w3.org/1998/Math/MathML&quot; display=&quot;block&quot; data-is-equatio=&quot;1&quot; data-latex=&quot;\frac{8}{18}&quot;&gt;&lt;mfrac&gt;&lt;mn&gt;8&lt;/mn&gt;&lt;mn&gt;18&lt;/mn&gt;&lt;/mfrac&gt;&lt;/math&gt;" title="8 over 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9593" y="8010277"/>
            <a:ext cx="155332" cy="287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134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Comparing multiple representations to calculate theoretical probabilities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2024-03-05T12:58:21.540</cp:lastPrinted>
  <dcterms:created xsi:type="dcterms:W3CDTF">2024-03-05T12:58:21Z</dcterms:created>
  <dcterms:modified xsi:type="dcterms:W3CDTF">2024-03-05T13:01:02Z</dcterms:modified>
</cp:coreProperties>
</file>