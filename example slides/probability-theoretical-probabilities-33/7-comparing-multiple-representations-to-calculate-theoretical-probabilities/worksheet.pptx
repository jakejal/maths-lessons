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39B58114-64C0-4012-A1D9-EC61228E88D6}">
  <a:tblStyle styleId="{39B58114-64C0-4012-A1D9-EC61228E88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8" name="Shape 188"/>
        <p:cNvGrpSpPr/>
        <p:nvPr/>
      </p:nvGrpSpPr>
      <p:grpSpPr>
        <a:xfrm>
          <a:off x="0" y="0"/>
          <a:ext cx="0" cy="0"/>
        </a:xfrm>
      </p:grpSpPr>
      <p:sp>
        <p:nvSpPr>
          <p:cNvPr id="189" name="Google Shape;189;g2bdbef09012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bdbef09012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0" name="Shape 230"/>
        <p:cNvGrpSpPr/>
        <p:nvPr/>
      </p:nvGrpSpPr>
      <p:grpSpPr>
        <a:xfrm>
          <a:off x="0" y="0"/>
          <a:ext cx="0" cy="0"/>
        </a:xfrm>
      </p:grpSpPr>
      <p:sp>
        <p:nvSpPr>
          <p:cNvPr id="231" name="Google Shape;231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11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multiple representations to calculate theoretical probabilities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graphicFrame>
        <p:nvGraphicFramePr>
          <p:cNvPr id="161" name="Google Shape;161;p20"/>
          <p:cNvGraphicFramePr>
            <a:graphicFrameLocks noGrp="1"/>
          </p:cNvGraphicFramePr>
          <p:nvPr/>
        </p:nvGraphicFramePr>
        <p:xfrm>
          <a:off x="853825" y="2217863"/>
          <a:ext cx="1402375" cy="2770000"/>
        </p:xfrm>
        <a:graphic>
          <a:graphicData uri="http://schemas.openxmlformats.org/drawingml/2006/table">
            <a:tbl>
              <a:tblPr>
                <a:noFill/>
                <a:tableStyleId>{39B58114-64C0-4012-A1D9-EC61228E88D6}</a:tableStyleId>
              </a:tblPr>
              <a:tblGrid>
                <a:gridCol w="1402375"/>
              </a:tblGrid>
              <a:tr h="277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list of outcomes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277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forward (F)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7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forward (F)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7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forward (F)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7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backward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7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backward (B)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7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 move (N)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7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 move (N)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7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 move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(N)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7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 move (N)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2" name="Google Shape;162;p20"/>
          <p:cNvSpPr txBox="1"/>
          <p:nvPr/>
        </p:nvSpPr>
        <p:spPr>
          <a:xfrm>
            <a:off x="2633301" y="2134850"/>
            <a:ext cx="3987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Andeep creates a list of equally likely outcomes from a spinner.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Use this list of outcomes to complete the frequency table and probability tree.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4750" y="1563650"/>
            <a:ext cx="62460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Outcomes and probabilities across different diagrams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4" name="Google Shape;164;p20"/>
          <p:cNvGraphicFramePr>
            <a:graphicFrameLocks noGrp="1"/>
          </p:cNvGraphicFramePr>
          <p:nvPr/>
        </p:nvGraphicFramePr>
        <p:xfrm>
          <a:off x="2800795" y="3073595"/>
          <a:ext cx="2407600" cy="1786075"/>
        </p:xfrm>
        <a:graphic>
          <a:graphicData uri="http://schemas.openxmlformats.org/drawingml/2006/table">
            <a:tbl>
              <a:tblPr>
                <a:noFill/>
                <a:tableStyleId>{39B58114-64C0-4012-A1D9-EC61228E88D6}</a:tableStyleId>
              </a:tblPr>
              <a:tblGrid>
                <a:gridCol w="730950"/>
                <a:gridCol w="683425"/>
                <a:gridCol w="993225"/>
              </a:tblGrid>
              <a:tr h="211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freq.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393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    ) =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3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    ) =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3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    ) =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3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65" name="Google Shape;165;p20"/>
          <p:cNvGrpSpPr/>
          <p:nvPr/>
        </p:nvGrpSpPr>
        <p:grpSpPr>
          <a:xfrm>
            <a:off x="5516981" y="3133027"/>
            <a:ext cx="1230700" cy="1913281"/>
            <a:chOff x="7210400" y="962406"/>
            <a:chExt cx="1609600" cy="1833347"/>
          </a:xfrm>
        </p:grpSpPr>
        <p:grpSp>
          <p:nvGrpSpPr>
            <p:cNvPr id="166" name="Google Shape;166;p20"/>
            <p:cNvGrpSpPr/>
            <p:nvPr/>
          </p:nvGrpSpPr>
          <p:grpSpPr>
            <a:xfrm>
              <a:off x="7210400" y="962406"/>
              <a:ext cx="1249000" cy="1810723"/>
              <a:chOff x="7278800" y="733806"/>
              <a:chExt cx="1249000" cy="1810723"/>
            </a:xfrm>
          </p:grpSpPr>
          <p:cxnSp>
            <p:nvCxnSpPr>
              <p:cNvPr id="167" name="Google Shape;167;p20"/>
              <p:cNvCxnSpPr/>
              <p:nvPr/>
            </p:nvCxnSpPr>
            <p:spPr>
              <a:xfrm>
                <a:off x="7278800" y="1750129"/>
                <a:ext cx="1175100" cy="794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" name="Google Shape;168;p20"/>
              <p:cNvCxnSpPr/>
              <p:nvPr/>
            </p:nvCxnSpPr>
            <p:spPr>
              <a:xfrm>
                <a:off x="7319400" y="1636153"/>
                <a:ext cx="1208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9" name="Google Shape;169;p20"/>
              <p:cNvCxnSpPr/>
              <p:nvPr/>
            </p:nvCxnSpPr>
            <p:spPr>
              <a:xfrm rot="10800000" flipH="1">
                <a:off x="7278800" y="733806"/>
                <a:ext cx="1175100" cy="794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70" name="Google Shape;170;p20"/>
            <p:cNvSpPr txBox="1"/>
            <p:nvPr/>
          </p:nvSpPr>
          <p:spPr>
            <a:xfrm>
              <a:off x="8396100" y="1729163"/>
              <a:ext cx="423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N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" name="Google Shape;171;p20"/>
            <p:cNvSpPr txBox="1"/>
            <p:nvPr/>
          </p:nvSpPr>
          <p:spPr>
            <a:xfrm>
              <a:off x="8396100" y="2618753"/>
              <a:ext cx="423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2" name="Google Shape;172;p20"/>
          <p:cNvSpPr/>
          <p:nvPr/>
        </p:nvSpPr>
        <p:spPr>
          <a:xfrm>
            <a:off x="5336078" y="3966212"/>
            <a:ext cx="211800" cy="211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3" name="Google Shape;173;p20"/>
          <p:cNvGraphicFramePr>
            <a:graphicFrameLocks noGrp="1"/>
          </p:cNvGraphicFramePr>
          <p:nvPr/>
        </p:nvGraphicFramePr>
        <p:xfrm>
          <a:off x="2805433" y="6060722"/>
          <a:ext cx="2551800" cy="2344125"/>
        </p:xfrm>
        <a:graphic>
          <a:graphicData uri="http://schemas.openxmlformats.org/drawingml/2006/table">
            <a:tbl>
              <a:tblPr>
                <a:noFill/>
                <a:tableStyleId>{39B58114-64C0-4012-A1D9-EC61228E88D6}</a:tableStyleId>
              </a:tblPr>
              <a:tblGrid>
                <a:gridCol w="774750"/>
                <a:gridCol w="724350"/>
                <a:gridCol w="1052700"/>
              </a:tblGrid>
              <a:tr h="236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freq.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440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(L)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P(L) =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0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mouse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(M)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P(M) =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0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whale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(W)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P(W) =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0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turtle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(T)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P(T) =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5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20"/>
          <p:cNvSpPr txBox="1"/>
          <p:nvPr/>
        </p:nvSpPr>
        <p:spPr>
          <a:xfrm>
            <a:off x="476400" y="6053175"/>
            <a:ext cx="21300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Both the complete frequency table and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incomplete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probability tree show the same trial of randomly choosing a certain animal from a game.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Complete the probability tree.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5631706" y="6116888"/>
            <a:ext cx="1239574" cy="2168372"/>
            <a:chOff x="5752850" y="1910998"/>
            <a:chExt cx="1593077" cy="2786752"/>
          </a:xfrm>
        </p:grpSpPr>
        <p:cxnSp>
          <p:nvCxnSpPr>
            <p:cNvPr id="176" name="Google Shape;176;p20"/>
            <p:cNvCxnSpPr/>
            <p:nvPr/>
          </p:nvCxnSpPr>
          <p:spPr>
            <a:xfrm>
              <a:off x="5752850" y="3321050"/>
              <a:ext cx="1344000" cy="13767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" name="Google Shape;177;p20"/>
            <p:cNvCxnSpPr/>
            <p:nvPr/>
          </p:nvCxnSpPr>
          <p:spPr>
            <a:xfrm rot="10800000" flipH="1">
              <a:off x="5794375" y="1958525"/>
              <a:ext cx="1302600" cy="1332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" name="Google Shape;178;p20"/>
            <p:cNvCxnSpPr/>
            <p:nvPr/>
          </p:nvCxnSpPr>
          <p:spPr>
            <a:xfrm>
              <a:off x="5921875" y="3378973"/>
              <a:ext cx="1175100" cy="375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" name="Google Shape;179;p20"/>
            <p:cNvCxnSpPr/>
            <p:nvPr/>
          </p:nvCxnSpPr>
          <p:spPr>
            <a:xfrm rot="10800000" flipH="1">
              <a:off x="5921875" y="2898057"/>
              <a:ext cx="1175100" cy="375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0" name="Google Shape;180;p20"/>
            <p:cNvSpPr txBox="1"/>
            <p:nvPr/>
          </p:nvSpPr>
          <p:spPr>
            <a:xfrm>
              <a:off x="7099627" y="1910998"/>
              <a:ext cx="246300" cy="9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1" name="Google Shape;181;p20" descr="&lt;math xmlns=&quot;http://www.w3.org/1998/Math/MathML&quot; display=&quot;block&quot; data-is-equatio=&quot;1&quot; data-latex=&quot;\frac{5}{35}&quot;&gt;&lt;mfrac&gt;&lt;mn&gt;5&lt;/mn&gt;&lt;mn&gt;35&lt;/mn&gt;&lt;/mfrac&gt;&lt;/math&gt;" title="5 over 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7954" y="6392700"/>
            <a:ext cx="184871" cy="33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&lt;math xmlns=&quot;http://www.w3.org/1998/Math/MathML&quot; display=&quot;block&quot; data-is-equatio=&quot;1&quot; data-latex=&quot;\frac{12}{35}&quot;&gt;&lt;mfrac&gt;&lt;mn&gt;12&lt;/mn&gt;&lt;mn&gt;35&lt;/mn&gt;&lt;/mfrac&gt;&lt;/math&gt;" title="12 over 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7950" y="6823690"/>
            <a:ext cx="184871" cy="33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&lt;math xmlns=&quot;http://www.w3.org/1998/Math/MathML&quot; display=&quot;block&quot; data-is-equatio=&quot;1&quot; data-latex=&quot;\frac{3}{35}&quot;&gt;&lt;mfrac&gt;&lt;mn&gt;3&lt;/mn&gt;&lt;mn&gt;35&lt;/mn&gt;&lt;/mfrac&gt;&lt;/math&gt;" title="3 over 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7954" y="7249660"/>
            <a:ext cx="184871" cy="33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&lt;math xmlns=&quot;http://www.w3.org/1998/Math/MathML&quot; display=&quot;block&quot; data-is-equatio=&quot;1&quot; data-latex=&quot;\frac{15}{35}&quot;&gt;&lt;mfrac&gt;&lt;mn&gt;15&lt;/mn&gt;&lt;mn&gt;35&lt;/mn&gt;&lt;/mfrac&gt;&lt;/math&gt;" title="15 over 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17954" y="7680651"/>
            <a:ext cx="184871" cy="33612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6679435" y="7511122"/>
            <a:ext cx="191700" cy="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588130" y="7093104"/>
            <a:ext cx="215700" cy="2157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7" name="Google Shape;187;p20" descr="&lt;math xmlns=&quot;http://www.w3.org/1998/Math/MathML&quot; display=&quot;block&quot; data-is-equatio=&quot;1&quot; data-latex=&quot;\frac{15}{35}&quot;&gt;&lt;mfrac&gt;&lt;mn&gt;15&lt;/mn&gt;&lt;mn&gt;35&lt;/mn&gt;&lt;/mfrac&gt;&lt;/math&gt;" title="15 over 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95826" y="7756874"/>
            <a:ext cx="184875" cy="33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1" name="Shape 191"/>
        <p:cNvGrpSpPr/>
        <p:nvPr/>
      </p:nvGrpSpPr>
      <p:grpSpPr>
        <a:xfrm>
          <a:off x="0" y="0"/>
          <a:ext cx="0" cy="0"/>
        </a:xfrm>
      </p:grpSpPr>
      <p:sp>
        <p:nvSpPr>
          <p:cNvPr id="192" name="Google Shape;192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Comparing multiple representations to calculate theoretical probabilities</a:t>
            </a:r>
            <a:endParaRPr/>
          </a:p>
        </p:txBody>
      </p:sp>
      <p:sp>
        <p:nvSpPr>
          <p:cNvPr id="193" name="Google Shape;19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cxnSp>
        <p:nvCxnSpPr>
          <p:cNvPr id="194" name="Google Shape;194;p21"/>
          <p:cNvCxnSpPr/>
          <p:nvPr/>
        </p:nvCxnSpPr>
        <p:spPr>
          <a:xfrm>
            <a:off x="468007" y="51173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5" name="Google Shape;195;p21"/>
          <p:cNvGrpSpPr/>
          <p:nvPr/>
        </p:nvGrpSpPr>
        <p:grpSpPr>
          <a:xfrm>
            <a:off x="3913082" y="2258070"/>
            <a:ext cx="1182047" cy="2292709"/>
            <a:chOff x="5829900" y="1910998"/>
            <a:chExt cx="1516028" cy="2940502"/>
          </a:xfrm>
        </p:grpSpPr>
        <p:cxnSp>
          <p:nvCxnSpPr>
            <p:cNvPr id="196" name="Google Shape;196;p21"/>
            <p:cNvCxnSpPr/>
            <p:nvPr/>
          </p:nvCxnSpPr>
          <p:spPr>
            <a:xfrm>
              <a:off x="5829900" y="3400175"/>
              <a:ext cx="1267200" cy="12975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" name="Google Shape;197;p21"/>
            <p:cNvCxnSpPr/>
            <p:nvPr/>
          </p:nvCxnSpPr>
          <p:spPr>
            <a:xfrm rot="10800000" flipH="1">
              <a:off x="5840750" y="1958400"/>
              <a:ext cx="1256100" cy="1283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8" name="Google Shape;198;p21"/>
            <p:cNvSpPr txBox="1"/>
            <p:nvPr/>
          </p:nvSpPr>
          <p:spPr>
            <a:xfrm>
              <a:off x="7099628" y="4544300"/>
              <a:ext cx="246300" cy="30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9" name="Google Shape;199;p21"/>
            <p:cNvCxnSpPr/>
            <p:nvPr/>
          </p:nvCxnSpPr>
          <p:spPr>
            <a:xfrm>
              <a:off x="5921875" y="3378973"/>
              <a:ext cx="1175100" cy="375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Google Shape;200;p21"/>
            <p:cNvCxnSpPr/>
            <p:nvPr/>
          </p:nvCxnSpPr>
          <p:spPr>
            <a:xfrm rot="10800000" flipH="1">
              <a:off x="5921875" y="2898057"/>
              <a:ext cx="1175100" cy="375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1" name="Google Shape;201;p21"/>
            <p:cNvSpPr txBox="1"/>
            <p:nvPr/>
          </p:nvSpPr>
          <p:spPr>
            <a:xfrm>
              <a:off x="7099627" y="2848645"/>
              <a:ext cx="246300" cy="9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V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" name="Google Shape;202;p21"/>
            <p:cNvSpPr txBox="1"/>
            <p:nvPr/>
          </p:nvSpPr>
          <p:spPr>
            <a:xfrm>
              <a:off x="7099627" y="1910998"/>
              <a:ext cx="246300" cy="9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3" name="Google Shape;203;p21" descr="&lt;math xmlns=&quot;http://www.w3.org/1998/Math/MathML&quot; display=&quot;block&quot; data-is-equatio=&quot;1&quot; data-latex=&quot;\frac{3}{14}&quot;&gt;&lt;mfrac&gt;&lt;mn&gt;3&lt;/mn&gt;&lt;mn&gt;14&lt;/mn&gt;&lt;/mfrac&gt;&lt;/math&gt;" title="3 over 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975" y="3833581"/>
            <a:ext cx="160025" cy="285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descr="&lt;math xmlns=&quot;http://www.w3.org/1998/Math/MathML&quot; display=&quot;block&quot; data-is-equatio=&quot;1&quot; data-latex=&quot;\frac{5}{14}&quot;&gt;&lt;mfrac&gt;&lt;mn&gt;5&lt;/mn&gt;&lt;mn&gt;14&lt;/mn&gt;&lt;/mfrac&gt;&lt;/math&gt;" title="5 over 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8395" y="3274422"/>
            <a:ext cx="157167" cy="285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&lt;math xmlns=&quot;http://www.w3.org/1998/Math/MathML&quot; display=&quot;block&quot; data-is-equatio=&quot;1&quot; data-latex=&quot;\frac{4}{14}&quot;&gt;&lt;mfrac&gt;&lt;mn&gt;4&lt;/mn&gt;&lt;mn&gt;14&lt;/mn&gt;&lt;/mfrac&gt;&lt;/math&gt;" title="4 over 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0874" y="2283025"/>
            <a:ext cx="157167" cy="28576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" name="Google Shape;206;p21"/>
          <p:cNvGraphicFramePr>
            <a:graphicFrameLocks noGrp="1"/>
          </p:cNvGraphicFramePr>
          <p:nvPr/>
        </p:nvGraphicFramePr>
        <p:xfrm>
          <a:off x="616208" y="22830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{39B58114-64C0-4012-A1D9-EC61228E88D6}</a:tableStyleId>
              </a:tblPr>
              <a:tblGrid>
                <a:gridCol w="774125"/>
                <a:gridCol w="723775"/>
                <a:gridCol w="1051850"/>
              </a:tblGrid>
              <a:tr h="202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freq.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437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(R)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P(R) =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86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37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blue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86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P(V) = </a:t>
                      </a:r>
                      <a:endParaRPr sz="120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3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07" name="Google Shape;207;p21" descr="&lt;math xmlns=&quot;http://www.w3.org/1998/Math/MathML&quot; display=&quot;block&quot; data-is-equatio=&quot;1&quot; data-latex=&quot;\frac{5}{14}&quot;&gt;&lt;mfrac&gt;&lt;mn&gt;5&lt;/mn&gt;&lt;mn&gt;14&lt;/mn&gt;&lt;/mfrac&gt;&lt;/math&gt;" title="5 over 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9899" y="2595750"/>
            <a:ext cx="144625" cy="26294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476400" y="871574"/>
            <a:ext cx="6624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Both the incomplete frequency table and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incomplete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probability tree show the same trial of selecting a party hat of a certain colour at random.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Complete both diagrams.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Create a list showing the colour of every party hat.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3798499" y="3251530"/>
            <a:ext cx="216000" cy="216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76525" y="5221250"/>
            <a:ext cx="6624000" cy="3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Showing events across different diagrams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76400" y="5872542"/>
            <a:ext cx="2935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Venn diagram and outcome table show the same events.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Use the Venn diagram to complete the outcome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76400" y="7393447"/>
            <a:ext cx="29724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these probabilities: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P(vowel)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P(not vowel)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P(made from straight lines)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3" name="Google Shape;213;p21"/>
          <p:cNvGraphicFramePr>
            <a:graphicFrameLocks noGrp="1"/>
          </p:cNvGraphicFramePr>
          <p:nvPr/>
        </p:nvGraphicFramePr>
        <p:xfrm>
          <a:off x="3913065" y="86077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{39B58114-64C0-4012-A1D9-EC61228E88D6}</a:tableStyleId>
              </a:tblPr>
              <a:tblGrid>
                <a:gridCol w="1582725"/>
                <a:gridCol w="1582725"/>
              </a:tblGrid>
              <a:tr h="215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vowels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vowels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631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4" name="Google Shape;214;p21"/>
          <p:cNvSpPr/>
          <p:nvPr/>
        </p:nvSpPr>
        <p:spPr>
          <a:xfrm>
            <a:off x="4212023" y="5960938"/>
            <a:ext cx="2602200" cy="17907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4392753" y="6471018"/>
            <a:ext cx="1557000" cy="1200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077055" y="6471018"/>
            <a:ext cx="1557000" cy="1200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258523" y="5960702"/>
            <a:ext cx="124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vowels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5549951" y="5960702"/>
            <a:ext cx="121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made from straight lines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3989090" y="5998892"/>
            <a:ext cx="22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ξ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6076961" y="6658349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5326359" y="6684552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5129742" y="7048834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5503338" y="7048834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633372" y="6713359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570796" y="7168239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6076961" y="7048834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6400760" y="7478556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5876933" y="7339067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212023" y="7764497"/>
            <a:ext cx="26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Venn diagram showing individual outcomes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3" name="Shape 233"/>
        <p:cNvGrpSpPr/>
        <p:nvPr/>
      </p:nvGrpSpPr>
      <p:grpSpPr>
        <a:xfrm>
          <a:off x="0" y="0"/>
          <a:ext cx="0" cy="0"/>
        </a:xfrm>
      </p:grpSpPr>
      <p:sp>
        <p:nvSpPr>
          <p:cNvPr id="234" name="Google Shape;234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35" name="Google Shape;235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multiple representations to calculate theoretical probabilities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2804067" y="2975874"/>
            <a:ext cx="1913700" cy="12612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476400" y="892773"/>
            <a:ext cx="6615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spinner has outcomes: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{1,  1,  1,  2,  2,  3,  4,  4,  5,  5,  5,  6,  7,  7,  7,  8,  9}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Trial: spinning the spinner once                  Event: lands on a square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the outcome table, Venn diagram (showing the number of outcomes), and the probability tree for this event.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Circle or highlight the outcomes or branches in each diagram that are required to calculate the probability of P(not square).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0" name="Google Shape;240;p22"/>
          <p:cNvGraphicFramePr>
            <a:graphicFrameLocks noGrp="1"/>
          </p:cNvGraphicFramePr>
          <p:nvPr/>
        </p:nvGraphicFramePr>
        <p:xfrm>
          <a:off x="476400" y="308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{39B58114-64C0-4012-A1D9-EC61228E88D6}</a:tableStyleId>
              </a:tblPr>
              <a:tblGrid>
                <a:gridCol w="1071625"/>
                <a:gridCol w="1005225"/>
              </a:tblGrid>
              <a:tr h="271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square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1035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1" name="Google Shape;241;p22"/>
          <p:cNvSpPr/>
          <p:nvPr/>
        </p:nvSpPr>
        <p:spPr>
          <a:xfrm>
            <a:off x="2936972" y="3173037"/>
            <a:ext cx="1144800" cy="882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3440182" y="3173037"/>
            <a:ext cx="1144800" cy="882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2838264" y="2975874"/>
            <a:ext cx="91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3787932" y="2975874"/>
            <a:ext cx="895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even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2640132" y="2960844"/>
            <a:ext cx="163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ξ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3581149" y="3496863"/>
            <a:ext cx="3594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7" name="Google Shape;247;p22"/>
          <p:cNvGrpSpPr/>
          <p:nvPr/>
        </p:nvGrpSpPr>
        <p:grpSpPr>
          <a:xfrm>
            <a:off x="5053197" y="2872083"/>
            <a:ext cx="1809660" cy="1307379"/>
            <a:chOff x="6134400" y="2800336"/>
            <a:chExt cx="2323950" cy="1678925"/>
          </a:xfrm>
        </p:grpSpPr>
        <p:grpSp>
          <p:nvGrpSpPr>
            <p:cNvPr id="248" name="Google Shape;248;p22"/>
            <p:cNvGrpSpPr/>
            <p:nvPr/>
          </p:nvGrpSpPr>
          <p:grpSpPr>
            <a:xfrm>
              <a:off x="6371000" y="2885687"/>
              <a:ext cx="1175100" cy="1507761"/>
              <a:chOff x="6599600" y="2885687"/>
              <a:chExt cx="1175100" cy="1507761"/>
            </a:xfrm>
          </p:grpSpPr>
          <p:cxnSp>
            <p:nvCxnSpPr>
              <p:cNvPr id="249" name="Google Shape;249;p22"/>
              <p:cNvCxnSpPr/>
              <p:nvPr/>
            </p:nvCxnSpPr>
            <p:spPr>
              <a:xfrm>
                <a:off x="6599600" y="3731948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0" name="Google Shape;250;p22"/>
              <p:cNvCxnSpPr/>
              <p:nvPr/>
            </p:nvCxnSpPr>
            <p:spPr>
              <a:xfrm rot="10800000" flipH="1">
                <a:off x="6599600" y="2885687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51" name="Google Shape;251;p22"/>
            <p:cNvSpPr txBox="1"/>
            <p:nvPr/>
          </p:nvSpPr>
          <p:spPr>
            <a:xfrm>
              <a:off x="7597350" y="4295061"/>
              <a:ext cx="8610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not square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" name="Google Shape;252;p22"/>
            <p:cNvSpPr/>
            <p:nvPr/>
          </p:nvSpPr>
          <p:spPr>
            <a:xfrm>
              <a:off x="6134400" y="3512362"/>
              <a:ext cx="277200" cy="2544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22"/>
            <p:cNvSpPr txBox="1"/>
            <p:nvPr/>
          </p:nvSpPr>
          <p:spPr>
            <a:xfrm>
              <a:off x="7597350" y="2800336"/>
              <a:ext cx="8610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square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4" name="Google Shape;254;p22"/>
          <p:cNvSpPr txBox="1"/>
          <p:nvPr/>
        </p:nvSpPr>
        <p:spPr>
          <a:xfrm>
            <a:off x="476403" y="5097523"/>
            <a:ext cx="6615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 Venn diagram (showing the number of outcomes), outcome table, and probability tree all show the same event from a trial.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outcome table is missing some of its outcomes!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correct Venn diagram to suggest possible outcomes for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Complete the probability tree.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78595" y="7398517"/>
            <a:ext cx="1913700" cy="12612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6" name="Google Shape;256;p22"/>
          <p:cNvGraphicFramePr>
            <a:graphicFrameLocks noGrp="1"/>
          </p:cNvGraphicFramePr>
          <p:nvPr/>
        </p:nvGraphicFramePr>
        <p:xfrm>
          <a:off x="2765004" y="738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{39B58114-64C0-4012-A1D9-EC61228E88D6}</a:tableStyleId>
              </a:tblPr>
              <a:tblGrid>
                <a:gridCol w="1071625"/>
                <a:gridCol w="1005225"/>
              </a:tblGrid>
              <a:tr h="253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cube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cube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10539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7" name="Google Shape;257;p22"/>
          <p:cNvSpPr/>
          <p:nvPr/>
        </p:nvSpPr>
        <p:spPr>
          <a:xfrm>
            <a:off x="811500" y="7595680"/>
            <a:ext cx="1144800" cy="882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1314711" y="7595680"/>
            <a:ext cx="1144800" cy="882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712792" y="7398517"/>
            <a:ext cx="91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cube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1662460" y="7398517"/>
            <a:ext cx="895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even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476399" y="7383488"/>
            <a:ext cx="163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ξ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1455677" y="7921201"/>
            <a:ext cx="3594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3" name="Google Shape;263;p22"/>
          <p:cNvGrpSpPr/>
          <p:nvPr/>
        </p:nvGrpSpPr>
        <p:grpSpPr>
          <a:xfrm>
            <a:off x="5053200" y="7294725"/>
            <a:ext cx="1809660" cy="1307379"/>
            <a:chOff x="6134400" y="2800336"/>
            <a:chExt cx="2323950" cy="1678925"/>
          </a:xfrm>
        </p:grpSpPr>
        <p:grpSp>
          <p:nvGrpSpPr>
            <p:cNvPr id="264" name="Google Shape;264;p22"/>
            <p:cNvGrpSpPr/>
            <p:nvPr/>
          </p:nvGrpSpPr>
          <p:grpSpPr>
            <a:xfrm>
              <a:off x="6371000" y="2885687"/>
              <a:ext cx="1175100" cy="1507761"/>
              <a:chOff x="6599600" y="2885687"/>
              <a:chExt cx="1175100" cy="1507761"/>
            </a:xfrm>
          </p:grpSpPr>
          <p:cxnSp>
            <p:nvCxnSpPr>
              <p:cNvPr id="265" name="Google Shape;265;p22"/>
              <p:cNvCxnSpPr/>
              <p:nvPr/>
            </p:nvCxnSpPr>
            <p:spPr>
              <a:xfrm>
                <a:off x="6599600" y="3731948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6" name="Google Shape;266;p22"/>
              <p:cNvCxnSpPr/>
              <p:nvPr/>
            </p:nvCxnSpPr>
            <p:spPr>
              <a:xfrm rot="10800000" flipH="1">
                <a:off x="6599600" y="2885687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67" name="Google Shape;267;p22"/>
            <p:cNvSpPr txBox="1"/>
            <p:nvPr/>
          </p:nvSpPr>
          <p:spPr>
            <a:xfrm>
              <a:off x="7597350" y="4295061"/>
              <a:ext cx="8610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not cube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" name="Google Shape;268;p22"/>
            <p:cNvSpPr/>
            <p:nvPr/>
          </p:nvSpPr>
          <p:spPr>
            <a:xfrm>
              <a:off x="6134400" y="3512362"/>
              <a:ext cx="277200" cy="2544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" name="Google Shape;269;p22"/>
            <p:cNvSpPr txBox="1"/>
            <p:nvPr/>
          </p:nvSpPr>
          <p:spPr>
            <a:xfrm>
              <a:off x="7597350" y="2800336"/>
              <a:ext cx="8610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cube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0" name="Google Shape;270;p22"/>
          <p:cNvSpPr txBox="1"/>
          <p:nvPr/>
        </p:nvSpPr>
        <p:spPr>
          <a:xfrm>
            <a:off x="1016487" y="7676640"/>
            <a:ext cx="3594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1930511" y="7705353"/>
            <a:ext cx="3594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2194277" y="8386126"/>
            <a:ext cx="3594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2811681" y="7652462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3091059" y="7788768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3410684" y="7676640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3518919" y="7945281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2865789" y="7953360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3210565" y="8050382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2865789" y="8254258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2"/>
          <p:cNvSpPr txBox="1"/>
          <p:nvPr/>
        </p:nvSpPr>
        <p:spPr>
          <a:xfrm>
            <a:off x="3464510" y="8206584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3856960" y="7652462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4157644" y="7652462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4494264" y="7788768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>
            <a:off x="4006592" y="7892487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4315296" y="8038410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3856970" y="8186747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4503365" y="8254258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82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Comparing multiple representations to calculate theoretical probabilities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2024-03-05T13:00:46.820</cp:lastPrinted>
  <dcterms:created xsi:type="dcterms:W3CDTF">2024-03-05T13:00:46Z</dcterms:created>
  <dcterms:modified xsi:type="dcterms:W3CDTF">2024-03-05T12:58:26Z</dcterms:modified>
</cp:coreProperties>
</file>