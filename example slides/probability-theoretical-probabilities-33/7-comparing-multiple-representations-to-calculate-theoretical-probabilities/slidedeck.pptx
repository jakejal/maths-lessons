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</p:sldIdLst>
  <p:sldSz cx="9144000" cy="5143500"/>
  <p:notesSz cx="6858000" cy="9144000"/>
  <p:embeddedFontLst>
    <p:embeddedFont>
      <p:font typeface="Lexend" panose="00000000000000000000"/>
      <p:regular r:id="rId47"/>
    </p:embeddedFont>
    <p:embeddedFont>
      <p:font typeface="Lexend Medium" panose="00000000000000000000"/>
      <p:regular r:id="rId48"/>
    </p:embeddedFont>
    <p:embeddedFont>
      <p:font typeface="Kalam" panose="02000000000000000000"/>
      <p:regular r:id="rId49"/>
    </p:embeddedFont>
    <p:embeddedFont>
      <p:font typeface="Lexend Light" panose="00000000000000000000"/>
      <p:regular r:id="rId50"/>
    </p:embeddedFont>
  </p:embeddedFontLst>
  <p:custDataLst>
    <p:tags r:id="rId4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CB40717C-E718-4CDD-A6EF-0455306FA54E}">
  <a:tblStyle styleId="{CB40717C-E718-4CDD-A6EF-0455306FA5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slide" Target="slides/slide42.xml" /><Relationship Id="rId45" Type="http://schemas.openxmlformats.org/officeDocument/2006/relationships/slide" Target="slides/slide43.xml" /><Relationship Id="rId46" Type="http://schemas.openxmlformats.org/officeDocument/2006/relationships/tags" Target="tags/tag1.xml" /><Relationship Id="rId47" Type="http://schemas.openxmlformats.org/officeDocument/2006/relationships/font" Target="fonts/font1.fntdata" /><Relationship Id="rId48" Type="http://schemas.openxmlformats.org/officeDocument/2006/relationships/font" Target="fonts/font2.fntdata" /><Relationship Id="rId49" Type="http://schemas.openxmlformats.org/officeDocument/2006/relationships/font" Target="fonts/font3.fntdata" /><Relationship Id="rId5" Type="http://schemas.openxmlformats.org/officeDocument/2006/relationships/slide" Target="slides/slide3.xml" /><Relationship Id="rId50" Type="http://schemas.openxmlformats.org/officeDocument/2006/relationships/font" Target="fonts/font4.fntdata" /><Relationship Id="rId51" Type="http://schemas.openxmlformats.org/officeDocument/2006/relationships/presProps" Target="presProps.xml" /><Relationship Id="rId52" Type="http://schemas.openxmlformats.org/officeDocument/2006/relationships/viewProps" Target="viewProps.xml" /><Relationship Id="rId53" Type="http://schemas.openxmlformats.org/officeDocument/2006/relationships/theme" Target="theme/theme1.xml" /><Relationship Id="rId54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_rels/notesSlide4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2" name="Shape 742"/>
        <p:cNvGrpSpPr/>
        <p:nvPr/>
      </p:nvGrpSpPr>
      <p:grpSpPr>
        <a:xfrm>
          <a:off x="0" y="0"/>
          <a:ext cx="0" cy="0"/>
        </a:xfrm>
      </p:grpSpPr>
      <p:sp>
        <p:nvSpPr>
          <p:cNvPr id="743" name="Google Shape;743;g2b9c71b6bb6_0_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b9c71b6bb6_0_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8" name="Shape 748"/>
        <p:cNvGrpSpPr/>
        <p:nvPr/>
      </p:nvGrpSpPr>
      <p:grpSpPr>
        <a:xfrm>
          <a:off x="0" y="0"/>
          <a:ext cx="0" cy="0"/>
        </a:xfrm>
      </p:grpSpPr>
      <p:sp>
        <p:nvSpPr>
          <p:cNvPr id="749" name="Google Shape;749;g2b9c71b6bb6_0_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b9c71b6bb6_0_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3" name="Shape 753"/>
        <p:cNvGrpSpPr/>
        <p:nvPr/>
      </p:nvGrpSpPr>
      <p:grpSpPr>
        <a:xfrm>
          <a:off x="0" y="0"/>
          <a:ext cx="0" cy="0"/>
        </a:xfrm>
      </p:grpSpPr>
      <p:sp>
        <p:nvSpPr>
          <p:cNvPr id="754" name="Google Shape;754;g2b9c71b6bb6_0_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b9c71b6bb6_0_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8" name="Shape 758"/>
        <p:cNvGrpSpPr/>
        <p:nvPr/>
      </p:nvGrpSpPr>
      <p:grpSpPr>
        <a:xfrm>
          <a:off x="0" y="0"/>
          <a:ext cx="0" cy="0"/>
        </a:xfrm>
      </p:grpSpPr>
      <p:sp>
        <p:nvSpPr>
          <p:cNvPr id="759" name="Google Shape;759;g2b9c71b6bb6_0_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b9c71b6bb6_0_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3" name="Shape 763"/>
        <p:cNvGrpSpPr/>
        <p:nvPr/>
      </p:nvGrpSpPr>
      <p:grpSpPr>
        <a:xfrm>
          <a:off x="0" y="0"/>
          <a:ext cx="0" cy="0"/>
        </a:xfrm>
      </p:grpSpPr>
      <p:sp>
        <p:nvSpPr>
          <p:cNvPr id="764" name="Google Shape;764;g2b9c71b6bb6_0_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b9c71b6bb6_0_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1" name="Shape 771"/>
        <p:cNvGrpSpPr/>
        <p:nvPr/>
      </p:nvGrpSpPr>
      <p:grpSpPr>
        <a:xfrm>
          <a:off x="0" y="0"/>
          <a:ext cx="0" cy="0"/>
        </a:xfrm>
      </p:grpSpPr>
      <p:sp>
        <p:nvSpPr>
          <p:cNvPr id="772" name="Google Shape;772;g2b9c71b6bb6_0_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b9c71b6bb6_0_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0" name="Shape 800"/>
        <p:cNvGrpSpPr/>
        <p:nvPr/>
      </p:nvGrpSpPr>
      <p:grpSpPr>
        <a:xfrm>
          <a:off x="0" y="0"/>
          <a:ext cx="0" cy="0"/>
        </a:xfrm>
      </p:grpSpPr>
      <p:sp>
        <p:nvSpPr>
          <p:cNvPr id="801" name="Google Shape;801;g2b9c71b6bb6_0_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2b9c71b6bb6_0_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4" name="Shape 854"/>
        <p:cNvGrpSpPr/>
        <p:nvPr/>
      </p:nvGrpSpPr>
      <p:grpSpPr>
        <a:xfrm>
          <a:off x="0" y="0"/>
          <a:ext cx="0" cy="0"/>
        </a:xfrm>
      </p:grpSpPr>
      <p:sp>
        <p:nvSpPr>
          <p:cNvPr id="855" name="Google Shape;855;g2b9c71b6bb6_0_1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2b9c71b6bb6_0_1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6" name="Shape 896"/>
        <p:cNvGrpSpPr/>
        <p:nvPr/>
      </p:nvGrpSpPr>
      <p:grpSpPr>
        <a:xfrm>
          <a:off x="0" y="0"/>
          <a:ext cx="0" cy="0"/>
        </a:xfrm>
      </p:grpSpPr>
      <p:sp>
        <p:nvSpPr>
          <p:cNvPr id="897" name="Google Shape;897;g2b9c71b6bb6_0_1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2b9c71b6bb6_0_1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9" name="Shape 939"/>
        <p:cNvGrpSpPr/>
        <p:nvPr/>
      </p:nvGrpSpPr>
      <p:grpSpPr>
        <a:xfrm>
          <a:off x="0" y="0"/>
          <a:ext cx="0" cy="0"/>
        </a:xfrm>
      </p:grpSpPr>
      <p:sp>
        <p:nvSpPr>
          <p:cNvPr id="940" name="Google Shape;940;g2b9c71b6bb6_0_2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2b9c71b6bb6_0_2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5" name="Shape 995"/>
        <p:cNvGrpSpPr/>
        <p:nvPr/>
      </p:nvGrpSpPr>
      <p:grpSpPr>
        <a:xfrm>
          <a:off x="0" y="0"/>
          <a:ext cx="0" cy="0"/>
        </a:xfrm>
      </p:grpSpPr>
      <p:sp>
        <p:nvSpPr>
          <p:cNvPr id="996" name="Google Shape;996;g2b9c71b6bb6_0_2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b9c71b6bb6_0_2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9" name="Shape 1039"/>
        <p:cNvGrpSpPr/>
        <p:nvPr/>
      </p:nvGrpSpPr>
      <p:grpSpPr>
        <a:xfrm>
          <a:off x="0" y="0"/>
          <a:ext cx="0" cy="0"/>
        </a:xfrm>
      </p:grpSpPr>
      <p:sp>
        <p:nvSpPr>
          <p:cNvPr id="1040" name="Google Shape;1040;g2b9c71b6bb6_0_3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b9c71b6bb6_0_3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3" name="Shape 1073"/>
        <p:cNvGrpSpPr/>
        <p:nvPr/>
      </p:nvGrpSpPr>
      <p:grpSpPr>
        <a:xfrm>
          <a:off x="0" y="0"/>
          <a:ext cx="0" cy="0"/>
        </a:xfrm>
      </p:grpSpPr>
      <p:sp>
        <p:nvSpPr>
          <p:cNvPr id="1074" name="Google Shape;1074;g2b9c71b6bb6_0_3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2b9c71b6bb6_0_3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05" name="Shape 1105"/>
        <p:cNvGrpSpPr/>
        <p:nvPr/>
      </p:nvGrpSpPr>
      <p:grpSpPr>
        <a:xfrm>
          <a:off x="0" y="0"/>
          <a:ext cx="0" cy="0"/>
        </a:xfrm>
      </p:grpSpPr>
      <p:sp>
        <p:nvSpPr>
          <p:cNvPr id="1106" name="Google Shape;1106;g2b9c71b6bb6_0_38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2b9c71b6bb6_0_38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21" name="Shape 1121"/>
        <p:cNvGrpSpPr/>
        <p:nvPr/>
      </p:nvGrpSpPr>
      <p:grpSpPr>
        <a:xfrm>
          <a:off x="0" y="0"/>
          <a:ext cx="0" cy="0"/>
        </a:xfrm>
      </p:grpSpPr>
      <p:sp>
        <p:nvSpPr>
          <p:cNvPr id="1122" name="Google Shape;1122;g2b9c71b6bb6_0_4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b9c71b6bb6_0_4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1" name="Shape 1141"/>
        <p:cNvGrpSpPr/>
        <p:nvPr/>
      </p:nvGrpSpPr>
      <p:grpSpPr>
        <a:xfrm>
          <a:off x="0" y="0"/>
          <a:ext cx="0" cy="0"/>
        </a:xfrm>
      </p:grpSpPr>
      <p:sp>
        <p:nvSpPr>
          <p:cNvPr id="1142" name="Google Shape;1142;g2b9c71b6bb6_0_4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2b9c71b6bb6_0_4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61" name="Shape 1161"/>
        <p:cNvGrpSpPr/>
        <p:nvPr/>
      </p:nvGrpSpPr>
      <p:grpSpPr>
        <a:xfrm>
          <a:off x="0" y="0"/>
          <a:ext cx="0" cy="0"/>
        </a:xfrm>
      </p:grpSpPr>
      <p:sp>
        <p:nvSpPr>
          <p:cNvPr id="1162" name="Google Shape;1162;g2b9c71b6bb6_0_44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2b9c71b6bb6_0_4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7" name="Shape 1187"/>
        <p:cNvGrpSpPr/>
        <p:nvPr/>
      </p:nvGrpSpPr>
      <p:grpSpPr>
        <a:xfrm>
          <a:off x="0" y="0"/>
          <a:ext cx="0" cy="0"/>
        </a:xfrm>
      </p:grpSpPr>
      <p:sp>
        <p:nvSpPr>
          <p:cNvPr id="1188" name="Google Shape;1188;g2b9c71b6bb6_0_4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2b9c71b6bb6_0_4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12" name="Shape 1212"/>
        <p:cNvGrpSpPr/>
        <p:nvPr/>
      </p:nvGrpSpPr>
      <p:grpSpPr>
        <a:xfrm>
          <a:off x="0" y="0"/>
          <a:ext cx="0" cy="0"/>
        </a:xfrm>
      </p:grpSpPr>
      <p:sp>
        <p:nvSpPr>
          <p:cNvPr id="1213" name="Google Shape;1213;g2b9c71b6bb6_0_4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2b9c71b6bb6_0_4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1" name="Shape 1241"/>
        <p:cNvGrpSpPr/>
        <p:nvPr/>
      </p:nvGrpSpPr>
      <p:grpSpPr>
        <a:xfrm>
          <a:off x="0" y="0"/>
          <a:ext cx="0" cy="0"/>
        </a:xfrm>
      </p:grpSpPr>
      <p:sp>
        <p:nvSpPr>
          <p:cNvPr id="1242" name="Google Shape;1242;g2b9c71b6bb6_0_5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2b9c71b6bb6_0_5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9" name="Shape 1249"/>
        <p:cNvGrpSpPr/>
        <p:nvPr/>
      </p:nvGrpSpPr>
      <p:grpSpPr>
        <a:xfrm>
          <a:off x="0" y="0"/>
          <a:ext cx="0" cy="0"/>
        </a:xfrm>
      </p:grpSpPr>
      <p:sp>
        <p:nvSpPr>
          <p:cNvPr id="1250" name="Google Shape;1250;g2b9c71b6bb6_0_24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2b9c71b6bb6_0_24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68" name="Shape 1268"/>
        <p:cNvGrpSpPr/>
        <p:nvPr/>
      </p:nvGrpSpPr>
      <p:grpSpPr>
        <a:xfrm>
          <a:off x="0" y="0"/>
          <a:ext cx="0" cy="0"/>
        </a:xfrm>
      </p:grpSpPr>
      <p:sp>
        <p:nvSpPr>
          <p:cNvPr id="1269" name="Google Shape;1269;g2b9c71b6bb6_0_24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b9c71b6bb6_0_24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16" name="Shape 1316"/>
        <p:cNvGrpSpPr/>
        <p:nvPr/>
      </p:nvGrpSpPr>
      <p:grpSpPr>
        <a:xfrm>
          <a:off x="0" y="0"/>
          <a:ext cx="0" cy="0"/>
        </a:xfrm>
      </p:grpSpPr>
      <p:sp>
        <p:nvSpPr>
          <p:cNvPr id="1317" name="Google Shape;1317;g2b9c71b6bb6_0_25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2b9c71b6bb6_0_25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49" name="Shape 1349"/>
        <p:cNvGrpSpPr/>
        <p:nvPr/>
      </p:nvGrpSpPr>
      <p:grpSpPr>
        <a:xfrm>
          <a:off x="0" y="0"/>
          <a:ext cx="0" cy="0"/>
        </a:xfrm>
      </p:grpSpPr>
      <p:sp>
        <p:nvSpPr>
          <p:cNvPr id="1350" name="Google Shape;1350;g2b9c71b6bb6_0_26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2b9c71b6bb6_0_26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00" name="Shape 1400"/>
        <p:cNvGrpSpPr/>
        <p:nvPr/>
      </p:nvGrpSpPr>
      <p:grpSpPr>
        <a:xfrm>
          <a:off x="0" y="0"/>
          <a:ext cx="0" cy="0"/>
        </a:xfrm>
      </p:grpSpPr>
      <p:sp>
        <p:nvSpPr>
          <p:cNvPr id="1401" name="Google Shape;1401;g2b9c71b6bb6_0_27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2b9c71b6bb6_0_27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30" name="Shape 1430"/>
        <p:cNvGrpSpPr/>
        <p:nvPr/>
      </p:nvGrpSpPr>
      <p:grpSpPr>
        <a:xfrm>
          <a:off x="0" y="0"/>
          <a:ext cx="0" cy="0"/>
        </a:xfrm>
      </p:grpSpPr>
      <p:sp>
        <p:nvSpPr>
          <p:cNvPr id="1431" name="Google Shape;1431;g2b9c71b6bb6_0_27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2b9c71b6bb6_0_27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Three of these prime numbers are also odd, but when only looking at the event of landing on a prime number, this does not matter.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58" name="Shape 1458"/>
        <p:cNvGrpSpPr/>
        <p:nvPr/>
      </p:nvGrpSpPr>
      <p:grpSpPr>
        <a:xfrm>
          <a:off x="0" y="0"/>
          <a:ext cx="0" cy="0"/>
        </a:xfrm>
      </p:grpSpPr>
      <p:sp>
        <p:nvSpPr>
          <p:cNvPr id="1459" name="Google Shape;1459;g2b9c71b6bb6_0_28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0" name="Google Shape;1460;g2b9c71b6bb6_0_28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Three of these prime numbers are also odd, but when only looking at the event of landing on a prime number, this does not matter.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88" name="Shape 1488"/>
        <p:cNvGrpSpPr/>
        <p:nvPr/>
      </p:nvGrpSpPr>
      <p:grpSpPr>
        <a:xfrm>
          <a:off x="0" y="0"/>
          <a:ext cx="0" cy="0"/>
        </a:xfrm>
      </p:grpSpPr>
      <p:sp>
        <p:nvSpPr>
          <p:cNvPr id="1489" name="Google Shape;1489;g2b9c71b6bb6_0_28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2b9c71b6bb6_0_28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Three of these prime numbers are also odd, but when only looking at the event of landing on a prime number, this does not matter.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26" name="Shape 1526"/>
        <p:cNvGrpSpPr/>
        <p:nvPr/>
      </p:nvGrpSpPr>
      <p:grpSpPr>
        <a:xfrm>
          <a:off x="0" y="0"/>
          <a:ext cx="0" cy="0"/>
        </a:xfrm>
      </p:grpSpPr>
      <p:sp>
        <p:nvSpPr>
          <p:cNvPr id="1527" name="Google Shape;1527;g2b9c71b6bb6_0_29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b9c71b6bb6_0_29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Three of these prime numbers are also odd, but when only looking at the event of landing on a prime number, this does not matter.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65" name="Shape 1565"/>
        <p:cNvGrpSpPr/>
        <p:nvPr/>
      </p:nvGrpSpPr>
      <p:grpSpPr>
        <a:xfrm>
          <a:off x="0" y="0"/>
          <a:ext cx="0" cy="0"/>
        </a:xfrm>
      </p:grpSpPr>
      <p:sp>
        <p:nvSpPr>
          <p:cNvPr id="1566" name="Google Shape;1566;g2b9c71b6bb6_0_30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7" name="Google Shape;1567;g2b9c71b6bb6_0_30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Three of these prime numbers are also odd, but when only looking at the event of landing on a prime number, this does not matter.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99" name="Shape 1599"/>
        <p:cNvGrpSpPr/>
        <p:nvPr/>
      </p:nvGrpSpPr>
      <p:grpSpPr>
        <a:xfrm>
          <a:off x="0" y="0"/>
          <a:ext cx="0" cy="0"/>
        </a:xfrm>
      </p:grpSpPr>
      <p:sp>
        <p:nvSpPr>
          <p:cNvPr id="1600" name="Google Shape;1600;g2b9c71b6bb6_0_30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1" name="Google Shape;1601;g2b9c71b6bb6_0_30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5" name="Shape 1625"/>
        <p:cNvGrpSpPr/>
        <p:nvPr/>
      </p:nvGrpSpPr>
      <p:grpSpPr>
        <a:xfrm>
          <a:off x="0" y="0"/>
          <a:ext cx="0" cy="0"/>
        </a:xfrm>
      </p:grpSpPr>
      <p:sp>
        <p:nvSpPr>
          <p:cNvPr id="1626" name="Google Shape;1626;g2b9c71b6bb6_0_31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7" name="Google Shape;1627;g2b9c71b6bb6_0_31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7" name="Shape 1677"/>
        <p:cNvGrpSpPr/>
        <p:nvPr/>
      </p:nvGrpSpPr>
      <p:grpSpPr>
        <a:xfrm>
          <a:off x="0" y="0"/>
          <a:ext cx="0" cy="0"/>
        </a:xfrm>
      </p:grpSpPr>
      <p:sp>
        <p:nvSpPr>
          <p:cNvPr id="1678" name="Google Shape;1678;g2b9c71b6bb6_0_32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g2b9c71b6bb6_0_32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12" name="Shape 1712"/>
        <p:cNvGrpSpPr/>
        <p:nvPr/>
      </p:nvGrpSpPr>
      <p:grpSpPr>
        <a:xfrm>
          <a:off x="0" y="0"/>
          <a:ext cx="0" cy="0"/>
        </a:xfrm>
      </p:grpSpPr>
      <p:sp>
        <p:nvSpPr>
          <p:cNvPr id="1713" name="Google Shape;1713;g2b9c71bf06f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4" name="Google Shape;1714;g2b9c71bf06f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36" name="Shape 1736"/>
        <p:cNvGrpSpPr/>
        <p:nvPr/>
      </p:nvGrpSpPr>
      <p:grpSpPr>
        <a:xfrm>
          <a:off x="0" y="0"/>
          <a:ext cx="0" cy="0"/>
        </a:xfrm>
      </p:grpSpPr>
      <p:sp>
        <p:nvSpPr>
          <p:cNvPr id="1737" name="Google Shape;1737;g2b9c71bf06f_0_2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8" name="Google Shape;1738;g2b9c71bf06f_0_2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57" name="Shape 1757"/>
        <p:cNvGrpSpPr/>
        <p:nvPr/>
      </p:nvGrpSpPr>
      <p:grpSpPr>
        <a:xfrm>
          <a:off x="0" y="0"/>
          <a:ext cx="0" cy="0"/>
        </a:xfrm>
      </p:grpSpPr>
      <p:sp>
        <p:nvSpPr>
          <p:cNvPr id="1758" name="Google Shape;1758;g2b9c71bf06f_0_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9" name="Google Shape;1759;g2b9c71bf06f_0_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81" name="Shape 1781"/>
        <p:cNvGrpSpPr/>
        <p:nvPr/>
      </p:nvGrpSpPr>
      <p:grpSpPr>
        <a:xfrm>
          <a:off x="0" y="0"/>
          <a:ext cx="0" cy="0"/>
        </a:xfrm>
      </p:grpSpPr>
      <p:sp>
        <p:nvSpPr>
          <p:cNvPr id="1782" name="Google Shape;1782;g2b9c71bf06f_0_1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3" name="Google Shape;1783;g2b9c71bf06f_0_1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2" name="Shape 1802"/>
        <p:cNvGrpSpPr/>
        <p:nvPr/>
      </p:nvGrpSpPr>
      <p:grpSpPr>
        <a:xfrm>
          <a:off x="0" y="0"/>
          <a:ext cx="0" cy="0"/>
        </a:xfrm>
      </p:grpSpPr>
      <p:sp>
        <p:nvSpPr>
          <p:cNvPr id="1803" name="Google Shape;1803;g2b9c71bf06f_0_3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4" name="Google Shape;1804;g2b9c71bf06f_0_3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41" name="Shape 1841"/>
        <p:cNvGrpSpPr/>
        <p:nvPr/>
      </p:nvGrpSpPr>
      <p:grpSpPr>
        <a:xfrm>
          <a:off x="0" y="0"/>
          <a:ext cx="0" cy="0"/>
        </a:xfrm>
      </p:grpSpPr>
      <p:sp>
        <p:nvSpPr>
          <p:cNvPr id="1842" name="Google Shape;1842;g2b9c71bf06f_0_1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3" name="Google Shape;1843;g2b9c71bf06f_0_1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7" name="Shape 1877"/>
        <p:cNvGrpSpPr/>
        <p:nvPr/>
      </p:nvGrpSpPr>
      <p:grpSpPr>
        <a:xfrm>
          <a:off x="0" y="0"/>
          <a:ext cx="0" cy="0"/>
        </a:xfrm>
      </p:grpSpPr>
      <p:sp>
        <p:nvSpPr>
          <p:cNvPr id="1878" name="Google Shape;1878;g2b9c71bf06f_0_2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9" name="Google Shape;1879;g2b9c71bf06f_0_2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26" name="Shape 1926"/>
        <p:cNvGrpSpPr/>
        <p:nvPr/>
      </p:nvGrpSpPr>
      <p:grpSpPr>
        <a:xfrm>
          <a:off x="0" y="0"/>
          <a:ext cx="0" cy="0"/>
        </a:xfrm>
      </p:grpSpPr>
      <p:sp>
        <p:nvSpPr>
          <p:cNvPr id="1927" name="Google Shape;1927;g2b9c71bf06f_0_3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8" name="Google Shape;1928;g2b9c71bf06f_0_3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68" name="Shape 1968"/>
        <p:cNvGrpSpPr/>
        <p:nvPr/>
      </p:nvGrpSpPr>
      <p:grpSpPr>
        <a:xfrm>
          <a:off x="0" y="0"/>
          <a:ext cx="0" cy="0"/>
        </a:xfrm>
      </p:grpSpPr>
      <p:sp>
        <p:nvSpPr>
          <p:cNvPr id="1969" name="Google Shape;1969;g2b9c71b6bb6_0_17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0" name="Google Shape;1970;g2b9c71b6bb6_0_17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74" name="Shape 1974"/>
        <p:cNvGrpSpPr/>
        <p:nvPr/>
      </p:nvGrpSpPr>
      <p:grpSpPr>
        <a:xfrm>
          <a:off x="0" y="0"/>
          <a:ext cx="0" cy="0"/>
        </a:xfrm>
      </p:grpSpPr>
      <p:sp>
        <p:nvSpPr>
          <p:cNvPr id="1975" name="Google Shape;1975;g2b9c71b6bb6_0_17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6" name="Google Shape;1976;g2b9c71b6bb6_0_17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7" name="Google Shape;207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pic>
        <p:nvPicPr>
          <p:cNvPr id="212" name="Google Shape;212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pic>
        <p:nvPicPr>
          <p:cNvPr id="219" name="Google Shape;219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pic>
        <p:nvPicPr>
          <p:cNvPr id="226" name="Google Shape;22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9" name="Google Shape;249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5" name="Google Shape;275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</a:xfrm>
      </p:grpSpPr>
      <p:pic>
        <p:nvPicPr>
          <p:cNvPr id="308" name="Google Shape;308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</a:xfrm>
      </p:grpSpPr>
      <p:pic>
        <p:nvPicPr>
          <p:cNvPr id="331" name="Google Shape;331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</a:xfrm>
      </p:grpSpPr>
      <p:pic>
        <p:nvPicPr>
          <p:cNvPr id="354" name="Google Shape;354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</a:xfrm>
      </p:grpSpPr>
      <p:pic>
        <p:nvPicPr>
          <p:cNvPr id="396" name="Google Shape;396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</a:xfrm>
      </p:grpSpPr>
      <p:pic>
        <p:nvPicPr>
          <p:cNvPr id="415" name="Google Shape;415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</a:xfrm>
      </p:grpSpPr>
      <p:pic>
        <p:nvPicPr>
          <p:cNvPr id="434" name="Google Shape;434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</a:xfrm>
      </p:grpSpPr>
      <p:pic>
        <p:nvPicPr>
          <p:cNvPr id="476" name="Google Shape;476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</a:xfrm>
      </p:grpSpPr>
      <p:pic>
        <p:nvPicPr>
          <p:cNvPr id="499" name="Google Shape;499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</a:xfrm>
      </p:grpSpPr>
      <p:pic>
        <p:nvPicPr>
          <p:cNvPr id="522" name="Google Shape;522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2" name="Google Shape;552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</a:xfrm>
      </p:grpSpPr>
      <p:pic>
        <p:nvPicPr>
          <p:cNvPr id="564" name="Google Shape;564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1" name="Google Shape;571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</a:xfrm>
      </p:grpSpPr>
      <p:pic>
        <p:nvPicPr>
          <p:cNvPr id="583" name="Google Shape;583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0" name="Google Shape;590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</a:xfrm>
      </p:grpSpPr>
      <p:pic>
        <p:nvPicPr>
          <p:cNvPr id="602" name="Google Shape;602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09" name="Google Shape;609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3" name="Google Shape;623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</a:xfrm>
      </p:grpSpPr>
      <p:pic>
        <p:nvPicPr>
          <p:cNvPr id="628" name="Google Shape;628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0" name="Google Shape;630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</a:xfrm>
      </p:grpSpPr>
      <p:pic>
        <p:nvPicPr>
          <p:cNvPr id="635" name="Google Shape;635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7" name="Google Shape;63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</a:xfrm>
      </p:grpSpPr>
      <p:pic>
        <p:nvPicPr>
          <p:cNvPr id="642" name="Google Shape;64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4" name="Google Shape;64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1" name="Google Shape;65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</a:xfrm>
      </p:grpSpPr>
      <p:pic>
        <p:nvPicPr>
          <p:cNvPr id="657" name="Google Shape;657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9" name="Google Shape;659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7" name="Google Shape;667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</a:xfrm>
      </p:grpSpPr>
      <p:pic>
        <p:nvPicPr>
          <p:cNvPr id="673" name="Google Shape;673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5" name="Google Shape;675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3" name="Google Shape;683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</a:xfrm>
      </p:grpSpPr>
      <p:pic>
        <p:nvPicPr>
          <p:cNvPr id="689" name="Google Shape;689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1" name="Google Shape;691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9" name="Google Shape;699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</a:xfrm>
      </p:grpSpPr>
      <p:pic>
        <p:nvPicPr>
          <p:cNvPr id="705" name="Google Shape;705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7" name="Google Shape;707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image" Target="../media/image42.png" /><Relationship Id="rId62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Relationship Id="rId6" Type="http://schemas.openxmlformats.org/officeDocument/2006/relationships/image" Target="../media/image47.png" /><Relationship Id="rId7" Type="http://schemas.openxmlformats.org/officeDocument/2006/relationships/image" Target="../media/image4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Relationship Id="rId6" Type="http://schemas.openxmlformats.org/officeDocument/2006/relationships/image" Target="../media/image49.png" /><Relationship Id="rId7" Type="http://schemas.openxmlformats.org/officeDocument/2006/relationships/image" Target="../media/image45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8.png" /><Relationship Id="rId4" Type="http://schemas.openxmlformats.org/officeDocument/2006/relationships/image" Target="../media/image47.png" /><Relationship Id="rId5" Type="http://schemas.openxmlformats.org/officeDocument/2006/relationships/image" Target="../media/image46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6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0.png" /><Relationship Id="rId4" Type="http://schemas.openxmlformats.org/officeDocument/2006/relationships/image" Target="../media/image51.png" /><Relationship Id="rId5" Type="http://schemas.openxmlformats.org/officeDocument/2006/relationships/image" Target="../media/image52.png" /><Relationship Id="rId6" Type="http://schemas.openxmlformats.org/officeDocument/2006/relationships/image" Target="../media/image39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3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2.png" /><Relationship Id="rId4" Type="http://schemas.openxmlformats.org/officeDocument/2006/relationships/image" Target="../media/image50.png" /><Relationship Id="rId5" Type="http://schemas.openxmlformats.org/officeDocument/2006/relationships/image" Target="../media/image51.png" /><Relationship Id="rId6" Type="http://schemas.openxmlformats.org/officeDocument/2006/relationships/image" Target="../media/image39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3.png" /><Relationship Id="rId4" Type="http://schemas.openxmlformats.org/officeDocument/2006/relationships/image" Target="../media/image54.png" /><Relationship Id="rId5" Type="http://schemas.openxmlformats.org/officeDocument/2006/relationships/image" Target="../media/image55.png" /><Relationship Id="rId6" Type="http://schemas.openxmlformats.org/officeDocument/2006/relationships/image" Target="../media/image56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57.png" /><Relationship Id="rId4" Type="http://schemas.openxmlformats.org/officeDocument/2006/relationships/image" Target="../media/image58.png" /><Relationship Id="rId5" Type="http://schemas.openxmlformats.org/officeDocument/2006/relationships/image" Target="../media/image59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60.png" /><Relationship Id="rId4" Type="http://schemas.openxmlformats.org/officeDocument/2006/relationships/image" Target="../media/image61.png" /><Relationship Id="rId5" Type="http://schemas.openxmlformats.org/officeDocument/2006/relationships/image" Target="../media/image62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53.png" /><Relationship Id="rId4" Type="http://schemas.openxmlformats.org/officeDocument/2006/relationships/image" Target="../media/image54.png" /><Relationship Id="rId5" Type="http://schemas.openxmlformats.org/officeDocument/2006/relationships/image" Target="../media/image55.png" /><Relationship Id="rId6" Type="http://schemas.openxmlformats.org/officeDocument/2006/relationships/image" Target="../media/image56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8.png" /><Relationship Id="rId4" Type="http://schemas.openxmlformats.org/officeDocument/2006/relationships/image" Target="../media/image57.png" /><Relationship Id="rId5" Type="http://schemas.openxmlformats.org/officeDocument/2006/relationships/image" Target="../media/image59.png" /><Relationship Id="rId6" Type="http://schemas.openxmlformats.org/officeDocument/2006/relationships/image" Target="../media/image63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43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9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64.png" /><Relationship Id="rId4" Type="http://schemas.openxmlformats.org/officeDocument/2006/relationships/image" Target="../media/image65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39.png" /><Relationship Id="rId4" Type="http://schemas.openxmlformats.org/officeDocument/2006/relationships/image" Target="../media/image66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67.png" /><Relationship Id="rId4" Type="http://schemas.openxmlformats.org/officeDocument/2006/relationships/image" Target="../media/image39.png" /><Relationship Id="rId5" Type="http://schemas.openxmlformats.org/officeDocument/2006/relationships/image" Target="../media/image68.png" /><Relationship Id="rId6" Type="http://schemas.openxmlformats.org/officeDocument/2006/relationships/image" Target="../media/image59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45.png" /><Relationship Id="rId4" Type="http://schemas.openxmlformats.org/officeDocument/2006/relationships/image" Target="../media/image44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69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69.png" /><Relationship Id="rId4" Type="http://schemas.openxmlformats.org/officeDocument/2006/relationships/image" Target="../media/image70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69.png" /><Relationship Id="rId4" Type="http://schemas.openxmlformats.org/officeDocument/2006/relationships/image" Target="../media/image70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39.png" /><Relationship Id="rId4" Type="http://schemas.openxmlformats.org/officeDocument/2006/relationships/image" Target="../media/image71.png" /><Relationship Id="rId5" Type="http://schemas.openxmlformats.org/officeDocument/2006/relationships/image" Target="../media/image62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72.png" /><Relationship Id="rId4" Type="http://schemas.openxmlformats.org/officeDocument/2006/relationships/image" Target="../media/image73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45.png" /><Relationship Id="rId4" Type="http://schemas.openxmlformats.org/officeDocument/2006/relationships/image" Target="../media/image44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2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3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4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74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7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9.xml" /><Relationship Id="rId3" Type="http://schemas.openxmlformats.org/officeDocument/2006/relationships/image" Target="../media/image71.png" /><Relationship Id="rId4" Type="http://schemas.openxmlformats.org/officeDocument/2006/relationships/image" Target="../media/image62.png" /><Relationship Id="rId5" Type="http://schemas.openxmlformats.org/officeDocument/2006/relationships/image" Target="../media/image75.png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40.xml" /><Relationship Id="rId3" Type="http://schemas.openxmlformats.org/officeDocument/2006/relationships/image" Target="../media/image76.png" /><Relationship Id="rId4" Type="http://schemas.openxmlformats.org/officeDocument/2006/relationships/image" Target="../media/image77.png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41.xml" /><Relationship Id="rId3" Type="http://schemas.openxmlformats.org/officeDocument/2006/relationships/image" Target="../media/image78.png" /><Relationship Id="rId4" Type="http://schemas.openxmlformats.org/officeDocument/2006/relationships/image" Target="../media/image79.png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6.xml" /><Relationship Id="rId2" Type="http://schemas.openxmlformats.org/officeDocument/2006/relationships/notesSlide" Target="../notesSlides/notesSlide42.xml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43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8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5" name="Shape 745"/>
        <p:cNvGrpSpPr/>
        <p:nvPr/>
      </p:nvGrpSpPr>
      <p:grpSpPr>
        <a:xfrm>
          <a:off x="0" y="0"/>
          <a:ext cx="0" cy="0"/>
        </a:xfrm>
      </p:grpSpPr>
      <p:sp>
        <p:nvSpPr>
          <p:cNvPr id="746" name="Google Shape;746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multiple representations to calculate theoretical probabilities</a:t>
            </a:r>
            <a:endParaRPr/>
          </a:p>
        </p:txBody>
      </p:sp>
      <p:sp>
        <p:nvSpPr>
          <p:cNvPr id="747" name="Google Shape;747;p62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Probability: theoretical probabilities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1" name="Shape 751"/>
        <p:cNvGrpSpPr/>
        <p:nvPr/>
      </p:nvGrpSpPr>
      <p:grpSpPr>
        <a:xfrm>
          <a:off x="0" y="0"/>
          <a:ext cx="0" cy="0"/>
        </a:xfrm>
      </p:grpSpPr>
      <p:sp>
        <p:nvSpPr>
          <p:cNvPr id="752" name="Google Shape;752;p63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6" name="Shape 756"/>
        <p:cNvGrpSpPr/>
        <p:nvPr/>
      </p:nvGrpSpPr>
      <p:grpSpPr>
        <a:xfrm>
          <a:off x="0" y="0"/>
          <a:ext cx="0" cy="0"/>
        </a:xfrm>
      </p:grpSpPr>
      <p:sp>
        <p:nvSpPr>
          <p:cNvPr id="757" name="Google Shape;757;p64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compare and contrast the usefulness of the different representations when calculating theoretical probabilities.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1" name="Shape 761"/>
        <p:cNvGrpSpPr/>
        <p:nvPr/>
      </p:nvGrpSpPr>
      <p:grpSpPr>
        <a:xfrm>
          <a:off x="0" y="0"/>
          <a:ext cx="0" cy="0"/>
        </a:xfrm>
      </p:grpSpPr>
      <p:sp>
        <p:nvSpPr>
          <p:cNvPr id="762" name="Google Shape;762;p65"/>
          <p:cNvSpPr txBox="1"/>
          <p:nvPr/>
        </p:nvSpPr>
        <p:spPr>
          <a:xfrm>
            <a:off x="324000" y="733800"/>
            <a:ext cx="84960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The frequency is the number of times an event occurs; or the number of individuals (people, animals, etc) with some specific property.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A sample space is all the possible outcomes of a trial. A sample space diagram is a systematic way of producing a sample space. 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Venn diagrams are a representation used to model statistical/probability questions. Commonly circles are used to represent events.  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Theoretical probability is a probability based on counting the number of desired outcomes from a sample space where all individual outcomes are equally likely. 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ct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Each branch of a probability tree shows a possible outcome from an event or from a stage of a trial, along with the probability of that outcome happening.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6" name="Shape 766"/>
        <p:cNvGrpSpPr/>
        <p:nvPr/>
      </p:nvGrpSpPr>
      <p:grpSpPr>
        <a:xfrm>
          <a:off x="0" y="0"/>
          <a:ext cx="0" cy="0"/>
        </a:xfrm>
      </p:grpSpPr>
      <p:sp>
        <p:nvSpPr>
          <p:cNvPr id="767" name="Google Shape;767;p6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Outcomes and probabilities across different diagrams</a:t>
            </a:r>
            <a:endParaRPr/>
          </a:p>
        </p:txBody>
      </p:sp>
      <p:sp>
        <p:nvSpPr>
          <p:cNvPr id="768" name="Google Shape;768;p66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multiple representations to calculate theoretical probabilities</a:t>
            </a:r>
            <a:endParaRPr/>
          </a:p>
        </p:txBody>
      </p:sp>
      <p:pic>
        <p:nvPicPr>
          <p:cNvPr id="769" name="Google Shape;76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73" y="2059448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6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4" name="Shape 774"/>
        <p:cNvGrpSpPr/>
        <p:nvPr/>
      </p:nvGrpSpPr>
      <p:grpSpPr>
        <a:xfrm>
          <a:off x="0" y="0"/>
          <a:ext cx="0" cy="0"/>
        </a:xfrm>
      </p:grpSpPr>
      <p:sp>
        <p:nvSpPr>
          <p:cNvPr id="775" name="Google Shape;775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Outcomes and probabilities across different diagrams</a:t>
            </a:r>
            <a:endParaRPr/>
          </a:p>
        </p:txBody>
      </p:sp>
      <p:pic>
        <p:nvPicPr>
          <p:cNvPr id="776" name="Google Shape;77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9384" y="1839872"/>
            <a:ext cx="664425" cy="737087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7"/>
          <p:cNvSpPr txBox="1"/>
          <p:nvPr/>
        </p:nvSpPr>
        <p:spPr>
          <a:xfrm>
            <a:off x="8038535" y="2576966"/>
            <a:ext cx="676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78" name="Google Shape;778;p67"/>
          <p:cNvGrpSpPr/>
          <p:nvPr/>
        </p:nvGrpSpPr>
        <p:grpSpPr>
          <a:xfrm flipH="1">
            <a:off x="5092015" y="657963"/>
            <a:ext cx="3520898" cy="1362206"/>
            <a:chOff x="797575" y="5295652"/>
            <a:chExt cx="3320975" cy="1476325"/>
          </a:xfrm>
        </p:grpSpPr>
        <p:pic>
          <p:nvPicPr>
            <p:cNvPr id="779" name="Google Shape;779;p67"/>
            <p:cNvPicPr preferRelativeResize="0"/>
            <p:nvPr/>
          </p:nvPicPr>
          <p:blipFill>
            <a:blip r:embed="rId4">
              <a:alphaModFix/>
            </a:blip>
            <a:srcRect r="57905" b="43690"/>
            <a:stretch>
              <a:fillRect/>
            </a:stretch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67"/>
            <p:cNvSpPr txBox="1"/>
            <p:nvPr/>
          </p:nvSpPr>
          <p:spPr>
            <a:xfrm flipH="1">
              <a:off x="1048703" y="5313075"/>
              <a:ext cx="30000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it’s possible to take the outcomes of this spinner and show its probabilities in different ways, such as…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81" name="Google Shape;781;p67"/>
          <p:cNvSpPr txBox="1"/>
          <p:nvPr/>
        </p:nvSpPr>
        <p:spPr>
          <a:xfrm>
            <a:off x="315450" y="628650"/>
            <a:ext cx="1658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will spin this spinner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2" name="Google Shape;782;p67"/>
          <p:cNvGrpSpPr/>
          <p:nvPr/>
        </p:nvGrpSpPr>
        <p:grpSpPr>
          <a:xfrm>
            <a:off x="237297" y="1337726"/>
            <a:ext cx="1814842" cy="1848646"/>
            <a:chOff x="135379" y="804326"/>
            <a:chExt cx="1814842" cy="1848646"/>
          </a:xfrm>
        </p:grpSpPr>
        <p:sp>
          <p:nvSpPr>
            <p:cNvPr id="783" name="Google Shape;783;p67"/>
            <p:cNvSpPr/>
            <p:nvPr/>
          </p:nvSpPr>
          <p:spPr>
            <a:xfrm rot="10800000">
              <a:off x="379030" y="1047567"/>
              <a:ext cx="1328100" cy="1328100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chemeClr val="accent4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84" name="Google Shape;784;p67"/>
            <p:cNvSpPr/>
            <p:nvPr/>
          </p:nvSpPr>
          <p:spPr>
            <a:xfrm rot="-7200295">
              <a:off x="378920" y="1047425"/>
              <a:ext cx="1328202" cy="1328202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chemeClr val="accent4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85" name="Google Shape;785;p67"/>
            <p:cNvSpPr/>
            <p:nvPr/>
          </p:nvSpPr>
          <p:spPr>
            <a:xfrm rot="-3599705">
              <a:off x="378478" y="1047490"/>
              <a:ext cx="1328202" cy="1328202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chemeClr val="accent4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86" name="Google Shape;786;p67"/>
            <p:cNvSpPr/>
            <p:nvPr/>
          </p:nvSpPr>
          <p:spPr>
            <a:xfrm>
              <a:off x="378438" y="1047482"/>
              <a:ext cx="1328100" cy="1328100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chemeClr val="accent5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87" name="Google Shape;787;p67"/>
            <p:cNvSpPr/>
            <p:nvPr/>
          </p:nvSpPr>
          <p:spPr>
            <a:xfrm flipH="1">
              <a:off x="378864" y="1047644"/>
              <a:ext cx="1328100" cy="1328100"/>
            </a:xfrm>
            <a:prstGeom prst="pie">
              <a:avLst>
                <a:gd name="adj1" fmla="val 1259597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88" name="Google Shape;788;p67"/>
            <p:cNvSpPr txBox="1"/>
            <p:nvPr/>
          </p:nvSpPr>
          <p:spPr>
            <a:xfrm>
              <a:off x="474840" y="2375771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9" name="Google Shape;789;p67"/>
            <p:cNvSpPr/>
            <p:nvPr/>
          </p:nvSpPr>
          <p:spPr>
            <a:xfrm rot="3599705" flipH="1">
              <a:off x="378497" y="1047652"/>
              <a:ext cx="1328202" cy="1328202"/>
            </a:xfrm>
            <a:prstGeom prst="pie">
              <a:avLst>
                <a:gd name="adj1" fmla="val 1259597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0" name="Google Shape;790;p67"/>
            <p:cNvSpPr txBox="1"/>
            <p:nvPr/>
          </p:nvSpPr>
          <p:spPr>
            <a:xfrm flipH="1">
              <a:off x="1107051" y="1249796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1" name="Google Shape;791;p67"/>
            <p:cNvSpPr txBox="1"/>
            <p:nvPr/>
          </p:nvSpPr>
          <p:spPr>
            <a:xfrm flipH="1">
              <a:off x="1279751" y="158862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2" name="Google Shape;792;p67"/>
            <p:cNvSpPr txBox="1"/>
            <p:nvPr/>
          </p:nvSpPr>
          <p:spPr>
            <a:xfrm flipH="1">
              <a:off x="646845" y="1249773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3" name="Google Shape;793;p67"/>
            <p:cNvSpPr txBox="1"/>
            <p:nvPr/>
          </p:nvSpPr>
          <p:spPr>
            <a:xfrm flipH="1">
              <a:off x="1107051" y="1982209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4" name="Google Shape;794;p67"/>
            <p:cNvSpPr txBox="1"/>
            <p:nvPr/>
          </p:nvSpPr>
          <p:spPr>
            <a:xfrm flipH="1">
              <a:off x="646845" y="1982185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5" name="Google Shape;795;p67"/>
            <p:cNvSpPr txBox="1"/>
            <p:nvPr/>
          </p:nvSpPr>
          <p:spPr>
            <a:xfrm flipH="1">
              <a:off x="474151" y="158862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796" name="Google Shape;796;p67"/>
            <p:cNvGrpSpPr/>
            <p:nvPr/>
          </p:nvGrpSpPr>
          <p:grpSpPr>
            <a:xfrm>
              <a:off x="1015540" y="1262495"/>
              <a:ext cx="54300" cy="473780"/>
              <a:chOff x="779080" y="747789"/>
              <a:chExt cx="54300" cy="473780"/>
            </a:xfrm>
          </p:grpSpPr>
          <p:cxnSp>
            <p:nvCxnSpPr>
              <p:cNvPr id="797" name="Google Shape;797;p67"/>
              <p:cNvCxnSpPr/>
              <p:nvPr/>
            </p:nvCxnSpPr>
            <p:spPr>
              <a:xfrm rot="10800000" flipH="1">
                <a:off x="808433" y="747789"/>
                <a:ext cx="0" cy="443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798" name="Google Shape;798;p67"/>
              <p:cNvSpPr/>
              <p:nvPr/>
            </p:nvSpPr>
            <p:spPr>
              <a:xfrm>
                <a:off x="779080" y="1172670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99" name="Google Shape;799;p67"/>
          <p:cNvSpPr txBox="1"/>
          <p:nvPr/>
        </p:nvSpPr>
        <p:spPr>
          <a:xfrm>
            <a:off x="315594" y="3367450"/>
            <a:ext cx="1658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 = {win (W),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lose (L),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draw (D)}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3" name="Shape 803"/>
        <p:cNvGrpSpPr/>
        <p:nvPr/>
      </p:nvGrpSpPr>
      <p:grpSpPr>
        <a:xfrm>
          <a:off x="0" y="0"/>
          <a:ext cx="0" cy="0"/>
        </a:xfrm>
      </p:grpSpPr>
      <p:sp>
        <p:nvSpPr>
          <p:cNvPr id="804" name="Google Shape;80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Outcomes and probabilities across different diagrams</a:t>
            </a:r>
            <a:endParaRPr/>
          </a:p>
        </p:txBody>
      </p:sp>
      <p:sp>
        <p:nvSpPr>
          <p:cNvPr id="805" name="Google Shape;805;p68"/>
          <p:cNvSpPr txBox="1"/>
          <p:nvPr/>
        </p:nvSpPr>
        <p:spPr>
          <a:xfrm>
            <a:off x="315450" y="628650"/>
            <a:ext cx="1658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will spin this spinner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6" name="Google Shape;806;p68"/>
          <p:cNvGrpSpPr/>
          <p:nvPr/>
        </p:nvGrpSpPr>
        <p:grpSpPr>
          <a:xfrm>
            <a:off x="237297" y="1337726"/>
            <a:ext cx="1814842" cy="1848646"/>
            <a:chOff x="135379" y="804326"/>
            <a:chExt cx="1814842" cy="1848646"/>
          </a:xfrm>
        </p:grpSpPr>
        <p:sp>
          <p:nvSpPr>
            <p:cNvPr id="807" name="Google Shape;807;p68"/>
            <p:cNvSpPr/>
            <p:nvPr/>
          </p:nvSpPr>
          <p:spPr>
            <a:xfrm rot="10800000">
              <a:off x="379030" y="1047567"/>
              <a:ext cx="1328100" cy="1328100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chemeClr val="accent4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8" name="Google Shape;808;p68"/>
            <p:cNvSpPr/>
            <p:nvPr/>
          </p:nvSpPr>
          <p:spPr>
            <a:xfrm rot="-7200295">
              <a:off x="378920" y="1047425"/>
              <a:ext cx="1328202" cy="1328202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chemeClr val="accent4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9" name="Google Shape;809;p68"/>
            <p:cNvSpPr/>
            <p:nvPr/>
          </p:nvSpPr>
          <p:spPr>
            <a:xfrm rot="-3599705">
              <a:off x="378478" y="1047490"/>
              <a:ext cx="1328202" cy="1328202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chemeClr val="accent4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0" name="Google Shape;810;p68"/>
            <p:cNvSpPr/>
            <p:nvPr/>
          </p:nvSpPr>
          <p:spPr>
            <a:xfrm>
              <a:off x="378438" y="1047482"/>
              <a:ext cx="1328100" cy="1328100"/>
            </a:xfrm>
            <a:prstGeom prst="pie">
              <a:avLst>
                <a:gd name="adj1" fmla="val 12607844"/>
                <a:gd name="adj2" fmla="val 16200000"/>
              </a:avLst>
            </a:prstGeom>
            <a:solidFill>
              <a:schemeClr val="accent5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1" name="Google Shape;811;p68"/>
            <p:cNvSpPr/>
            <p:nvPr/>
          </p:nvSpPr>
          <p:spPr>
            <a:xfrm flipH="1">
              <a:off x="378864" y="1047644"/>
              <a:ext cx="1328100" cy="1328100"/>
            </a:xfrm>
            <a:prstGeom prst="pie">
              <a:avLst>
                <a:gd name="adj1" fmla="val 1259597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2" name="Google Shape;812;p68"/>
            <p:cNvSpPr txBox="1"/>
            <p:nvPr/>
          </p:nvSpPr>
          <p:spPr>
            <a:xfrm>
              <a:off x="474840" y="2375771"/>
              <a:ext cx="1136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spinner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3" name="Google Shape;813;p68"/>
            <p:cNvSpPr/>
            <p:nvPr/>
          </p:nvSpPr>
          <p:spPr>
            <a:xfrm rot="3599705" flipH="1">
              <a:off x="378497" y="1047652"/>
              <a:ext cx="1328202" cy="1328202"/>
            </a:xfrm>
            <a:prstGeom prst="pie">
              <a:avLst>
                <a:gd name="adj1" fmla="val 12595974"/>
                <a:gd name="adj2" fmla="val 16200000"/>
              </a:avLst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4" name="Google Shape;814;p68"/>
            <p:cNvSpPr txBox="1"/>
            <p:nvPr/>
          </p:nvSpPr>
          <p:spPr>
            <a:xfrm flipH="1">
              <a:off x="1107051" y="1249796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5" name="Google Shape;815;p68"/>
            <p:cNvSpPr txBox="1"/>
            <p:nvPr/>
          </p:nvSpPr>
          <p:spPr>
            <a:xfrm flipH="1">
              <a:off x="1279751" y="158862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6" name="Google Shape;816;p68"/>
            <p:cNvSpPr txBox="1"/>
            <p:nvPr/>
          </p:nvSpPr>
          <p:spPr>
            <a:xfrm flipH="1">
              <a:off x="646845" y="1249773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7" name="Google Shape;817;p68"/>
            <p:cNvSpPr txBox="1"/>
            <p:nvPr/>
          </p:nvSpPr>
          <p:spPr>
            <a:xfrm flipH="1">
              <a:off x="1107051" y="1982209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8" name="Google Shape;818;p68"/>
            <p:cNvSpPr txBox="1"/>
            <p:nvPr/>
          </p:nvSpPr>
          <p:spPr>
            <a:xfrm flipH="1">
              <a:off x="646845" y="1982185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9" name="Google Shape;819;p68"/>
            <p:cNvSpPr txBox="1"/>
            <p:nvPr/>
          </p:nvSpPr>
          <p:spPr>
            <a:xfrm flipH="1">
              <a:off x="474151" y="1588621"/>
              <a:ext cx="3315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20" name="Google Shape;820;p68"/>
            <p:cNvGrpSpPr/>
            <p:nvPr/>
          </p:nvGrpSpPr>
          <p:grpSpPr>
            <a:xfrm>
              <a:off x="1015540" y="1262495"/>
              <a:ext cx="54300" cy="473780"/>
              <a:chOff x="779080" y="747789"/>
              <a:chExt cx="54300" cy="473780"/>
            </a:xfrm>
          </p:grpSpPr>
          <p:cxnSp>
            <p:nvCxnSpPr>
              <p:cNvPr id="821" name="Google Shape;821;p68"/>
              <p:cNvCxnSpPr/>
              <p:nvPr/>
            </p:nvCxnSpPr>
            <p:spPr>
              <a:xfrm rot="10800000" flipH="1">
                <a:off x="808433" y="747789"/>
                <a:ext cx="0" cy="4434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822" name="Google Shape;822;p68"/>
              <p:cNvSpPr/>
              <p:nvPr/>
            </p:nvSpPr>
            <p:spPr>
              <a:xfrm>
                <a:off x="779080" y="1172670"/>
                <a:ext cx="54300" cy="489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3" name="Google Shape;823;p68"/>
          <p:cNvSpPr txBox="1"/>
          <p:nvPr/>
        </p:nvSpPr>
        <p:spPr>
          <a:xfrm>
            <a:off x="315594" y="3367450"/>
            <a:ext cx="16584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 = {win (W),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lose (L),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draw (D)}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68"/>
          <p:cNvSpPr txBox="1"/>
          <p:nvPr/>
        </p:nvSpPr>
        <p:spPr>
          <a:xfrm>
            <a:off x="2280075" y="2404553"/>
            <a:ext cx="1893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list of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5" name="Google Shape;825;p68"/>
          <p:cNvGrpSpPr/>
          <p:nvPr/>
        </p:nvGrpSpPr>
        <p:grpSpPr>
          <a:xfrm>
            <a:off x="2889325" y="657948"/>
            <a:ext cx="675000" cy="1671219"/>
            <a:chOff x="2889326" y="657975"/>
            <a:chExt cx="675000" cy="1955100"/>
          </a:xfrm>
        </p:grpSpPr>
        <p:sp>
          <p:nvSpPr>
            <p:cNvPr id="826" name="Google Shape;826;p68"/>
            <p:cNvSpPr/>
            <p:nvPr/>
          </p:nvSpPr>
          <p:spPr>
            <a:xfrm>
              <a:off x="2889326" y="657975"/>
              <a:ext cx="675000" cy="1955100"/>
            </a:xfrm>
            <a:prstGeom prst="roundRect">
              <a:avLst>
                <a:gd name="adj" fmla="val 13314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7" name="Google Shape;827;p68"/>
            <p:cNvSpPr txBox="1"/>
            <p:nvPr/>
          </p:nvSpPr>
          <p:spPr>
            <a:xfrm>
              <a:off x="2889326" y="657975"/>
              <a:ext cx="6750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8" name="Google Shape;828;p68"/>
            <p:cNvSpPr txBox="1"/>
            <p:nvPr/>
          </p:nvSpPr>
          <p:spPr>
            <a:xfrm>
              <a:off x="2889326" y="991035"/>
              <a:ext cx="6750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9" name="Google Shape;829;p68"/>
            <p:cNvSpPr txBox="1"/>
            <p:nvPr/>
          </p:nvSpPr>
          <p:spPr>
            <a:xfrm>
              <a:off x="2889326" y="1324095"/>
              <a:ext cx="6750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0" name="Google Shape;830;p68"/>
            <p:cNvSpPr txBox="1"/>
            <p:nvPr/>
          </p:nvSpPr>
          <p:spPr>
            <a:xfrm>
              <a:off x="2889326" y="1657155"/>
              <a:ext cx="6750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1" name="Google Shape;831;p68"/>
            <p:cNvSpPr txBox="1"/>
            <p:nvPr/>
          </p:nvSpPr>
          <p:spPr>
            <a:xfrm>
              <a:off x="2889326" y="1990215"/>
              <a:ext cx="6750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2" name="Google Shape;832;p68"/>
            <p:cNvSpPr txBox="1"/>
            <p:nvPr/>
          </p:nvSpPr>
          <p:spPr>
            <a:xfrm>
              <a:off x="2889326" y="2323275"/>
              <a:ext cx="675000" cy="28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833" name="Google Shape;833;p68"/>
          <p:cNvGraphicFramePr>
            <a:graphicFrameLocks noGrp="1"/>
          </p:cNvGraphicFramePr>
          <p:nvPr/>
        </p:nvGraphicFramePr>
        <p:xfrm>
          <a:off x="3171888" y="276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062225"/>
                <a:gridCol w="1238575"/>
                <a:gridCol w="1238575"/>
              </a:tblGrid>
              <a:tr h="27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win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P(W)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P(L)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draw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P(D)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834" name="Google Shape;834;p68"/>
          <p:cNvSpPr txBox="1"/>
          <p:nvPr/>
        </p:nvSpPr>
        <p:spPr>
          <a:xfrm>
            <a:off x="3171975" y="4554750"/>
            <a:ext cx="353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frequency table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5" name="Google Shape;835;p68" descr="&lt;math xmlns=&quot;http://www.w3.org/1998/Math/MathML&quot; display=&quot;block&quot; data-is-equatio=&quot;1&quot; data-latex=&quot;\frac{3}{6}&quot;&gt;&lt;mfrac&gt;&lt;mn&gt;3&lt;/mn&gt;&lt;mn&gt;6&lt;/mn&gt;&lt;/mfrac&gt;&lt;/math&gt;" title="three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8275" y="3556058"/>
            <a:ext cx="147323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68" descr="&lt;math xmlns=&quot;http://www.w3.org/1998/Math/MathML&quot; display=&quot;block&quot; data-is-equatio=&quot;1&quot; data-latex=&quot;\frac{2}{6}&quot;&gt;&lt;mfrac&gt;&lt;mn&gt;2&lt;/mn&gt;&lt;mn&gt;6&lt;/mn&gt;&lt;/mfrac&gt;&lt;/math&gt;" title="two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8275" y="3047808"/>
            <a:ext cx="147323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68" descr="&lt;math xmlns=&quot;http://www.w3.org/1998/Math/MathML&quot; display=&quot;block&quot; data-is-equatio=&quot;1&quot; data-latex=&quot;\frac{1}{6}&quot;&gt;&lt;mfrac&gt;&lt;mn&gt;1&lt;/mn&gt;&lt;mn&gt;6&lt;/mn&gt;&lt;/mfrac&gt;&lt;/math&gt;" title="one six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8275" y="4061583"/>
            <a:ext cx="147323" cy="47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8" name="Google Shape;838;p68"/>
          <p:cNvGrpSpPr/>
          <p:nvPr/>
        </p:nvGrpSpPr>
        <p:grpSpPr>
          <a:xfrm>
            <a:off x="6973800" y="835432"/>
            <a:ext cx="1846200" cy="2614618"/>
            <a:chOff x="6973800" y="835432"/>
            <a:chExt cx="1846200" cy="2614618"/>
          </a:xfrm>
        </p:grpSpPr>
        <p:grpSp>
          <p:nvGrpSpPr>
            <p:cNvPr id="839" name="Google Shape;839;p68"/>
            <p:cNvGrpSpPr/>
            <p:nvPr/>
          </p:nvGrpSpPr>
          <p:grpSpPr>
            <a:xfrm>
              <a:off x="6973800" y="962406"/>
              <a:ext cx="1485600" cy="1810723"/>
              <a:chOff x="7042200" y="733806"/>
              <a:chExt cx="1485600" cy="1810723"/>
            </a:xfrm>
          </p:grpSpPr>
          <p:sp>
            <p:nvSpPr>
              <p:cNvPr id="840" name="Google Shape;840;p68"/>
              <p:cNvSpPr/>
              <p:nvPr/>
            </p:nvSpPr>
            <p:spPr>
              <a:xfrm>
                <a:off x="7042200" y="1496935"/>
                <a:ext cx="277200" cy="2772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841" name="Google Shape;841;p68"/>
              <p:cNvCxnSpPr/>
              <p:nvPr/>
            </p:nvCxnSpPr>
            <p:spPr>
              <a:xfrm>
                <a:off x="7278800" y="1750129"/>
                <a:ext cx="1175100" cy="794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2" name="Google Shape;842;p68"/>
              <p:cNvCxnSpPr/>
              <p:nvPr/>
            </p:nvCxnSpPr>
            <p:spPr>
              <a:xfrm>
                <a:off x="7319400" y="1636153"/>
                <a:ext cx="1208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43" name="Google Shape;843;p68"/>
              <p:cNvCxnSpPr/>
              <p:nvPr/>
            </p:nvCxnSpPr>
            <p:spPr>
              <a:xfrm rot="10800000" flipH="1">
                <a:off x="7278800" y="733806"/>
                <a:ext cx="1175100" cy="794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844" name="Google Shape;844;p68"/>
            <p:cNvSpPr txBox="1"/>
            <p:nvPr/>
          </p:nvSpPr>
          <p:spPr>
            <a:xfrm>
              <a:off x="8396100" y="835432"/>
              <a:ext cx="423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5" name="Google Shape;845;p68"/>
            <p:cNvSpPr txBox="1"/>
            <p:nvPr/>
          </p:nvSpPr>
          <p:spPr>
            <a:xfrm>
              <a:off x="8396100" y="1729163"/>
              <a:ext cx="423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6" name="Google Shape;846;p68"/>
            <p:cNvSpPr txBox="1"/>
            <p:nvPr/>
          </p:nvSpPr>
          <p:spPr>
            <a:xfrm>
              <a:off x="8396100" y="2618753"/>
              <a:ext cx="423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7" name="Google Shape;847;p68"/>
            <p:cNvSpPr txBox="1"/>
            <p:nvPr/>
          </p:nvSpPr>
          <p:spPr>
            <a:xfrm>
              <a:off x="7161600" y="2895950"/>
              <a:ext cx="1658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probability tree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48" name="Google Shape;848;p68" descr="&lt;math xmlns=&quot;http://www.w3.org/1998/Math/MathML&quot; display=&quot;block&quot; data-is-equatio=&quot;1&quot; data-latex=&quot;\frac{1}{6}&quot;&gt;&lt;mfrac&gt;&lt;mn&gt;1&lt;/mn&gt;&lt;mn&gt;6&lt;/mn&gt;&lt;/mfrac&gt;&lt;/math&gt;" title="one six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046819" y="2188700"/>
              <a:ext cx="112031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9" name="Google Shape;849;p68" descr="&lt;math xmlns=&quot;http://www.w3.org/1998/Math/MathML&quot; display=&quot;block&quot; data-is-equatio=&quot;1&quot; data-latex=&quot;\frac{2}{6}&quot;&gt;&lt;mfrac&gt;&lt;mn&gt;2&lt;/mn&gt;&lt;mn&gt;6&lt;/mn&gt;&lt;/mfrac&gt;&lt;/math&gt;" title="two six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88229" y="867490"/>
              <a:ext cx="112031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0" name="Google Shape;850;p68" descr="&lt;math xmlns=&quot;http://www.w3.org/1998/Math/MathML&quot; display=&quot;block&quot; data-is-equatio=&quot;1&quot; data-latex=&quot;\frac{3}{6}&quot;&gt;&lt;mfrac&gt;&lt;mn&gt;3&lt;/mn&gt;&lt;mn&gt;6&lt;/mn&gt;&lt;/mfrac&gt;&lt;/math&gt;" title="three sixth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976400" y="1481480"/>
              <a:ext cx="112031" cy="360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1" name="Google Shape;851;p68"/>
          <p:cNvGrpSpPr/>
          <p:nvPr/>
        </p:nvGrpSpPr>
        <p:grpSpPr>
          <a:xfrm>
            <a:off x="3643707" y="657950"/>
            <a:ext cx="2167800" cy="1322400"/>
            <a:chOff x="3640539" y="663675"/>
            <a:chExt cx="2167800" cy="1322400"/>
          </a:xfrm>
        </p:grpSpPr>
        <p:sp>
          <p:nvSpPr>
            <p:cNvPr id="852" name="Google Shape;852;p68"/>
            <p:cNvSpPr txBox="1"/>
            <p:nvPr/>
          </p:nvSpPr>
          <p:spPr>
            <a:xfrm>
              <a:off x="3640539" y="663675"/>
              <a:ext cx="21678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Each individual outcome has a    probability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of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happening of  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53" name="Google Shape;853;p68" descr="&lt;math xmlns=&quot;http://www.w3.org/1998/Math/MathML&quot; display=&quot;block&quot; data-is-equatio=&quot;1&quot; data-latex=&quot;\frac{1}{6}&quot;&gt;&lt;mfrac&gt;&lt;mn&gt;1&lt;/mn&gt;&lt;mn&gt;6&lt;/mn&gt;&lt;/mfrac&gt;&lt;/math&gt;" title="one six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98120" y="1552375"/>
              <a:ext cx="135525" cy="433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7" name="Shape 857"/>
        <p:cNvGrpSpPr/>
        <p:nvPr/>
      </p:nvGrpSpPr>
      <p:grpSpPr>
        <a:xfrm>
          <a:off x="0" y="0"/>
          <a:ext cx="0" cy="0"/>
        </a:xfrm>
      </p:grpSpPr>
      <p:sp>
        <p:nvSpPr>
          <p:cNvPr id="858" name="Google Shape;858;p69"/>
          <p:cNvSpPr/>
          <p:nvPr/>
        </p:nvSpPr>
        <p:spPr>
          <a:xfrm>
            <a:off x="933300" y="624600"/>
            <a:ext cx="675000" cy="1737900"/>
          </a:xfrm>
          <a:prstGeom prst="roundRect">
            <a:avLst>
              <a:gd name="adj" fmla="val 13314"/>
            </a:avLst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Outcomes and probabilities across different diagrams</a:t>
            </a:r>
            <a:endParaRPr/>
          </a:p>
        </p:txBody>
      </p:sp>
      <p:pic>
        <p:nvPicPr>
          <p:cNvPr id="860" name="Google Shape;86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9384" y="1839872"/>
            <a:ext cx="664425" cy="737087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69"/>
          <p:cNvSpPr txBox="1"/>
          <p:nvPr/>
        </p:nvSpPr>
        <p:spPr>
          <a:xfrm>
            <a:off x="8038535" y="2576966"/>
            <a:ext cx="676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2" name="Google Shape;862;p69"/>
          <p:cNvGrpSpPr/>
          <p:nvPr/>
        </p:nvGrpSpPr>
        <p:grpSpPr>
          <a:xfrm flipH="1">
            <a:off x="4665958" y="657995"/>
            <a:ext cx="3946979" cy="1362206"/>
            <a:chOff x="797575" y="5295652"/>
            <a:chExt cx="3320975" cy="1476325"/>
          </a:xfrm>
        </p:grpSpPr>
        <p:pic>
          <p:nvPicPr>
            <p:cNvPr id="863" name="Google Shape;863;p69"/>
            <p:cNvPicPr preferRelativeResize="0"/>
            <p:nvPr/>
          </p:nvPicPr>
          <p:blipFill>
            <a:blip r:embed="rId4">
              <a:alphaModFix/>
            </a:blip>
            <a:srcRect r="57905" b="43690"/>
            <a:stretch>
              <a:fillRect/>
            </a:stretch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4" name="Google Shape;864;p69"/>
            <p:cNvSpPr txBox="1"/>
            <p:nvPr/>
          </p:nvSpPr>
          <p:spPr>
            <a:xfrm flipH="1">
              <a:off x="1048703" y="5313075"/>
              <a:ext cx="30000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wonder if it’s possible to use the outcomes and probabilities from one diagram to complete a different one?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865" name="Google Shape;865;p69"/>
          <p:cNvGraphicFramePr>
            <a:graphicFrameLocks noGrp="1"/>
          </p:cNvGraphicFramePr>
          <p:nvPr/>
        </p:nvGraphicFramePr>
        <p:xfrm>
          <a:off x="1085988" y="276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062225"/>
                <a:gridCol w="1238575"/>
                <a:gridCol w="1238575"/>
              </a:tblGrid>
              <a:tr h="27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win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P(W)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P(L)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draw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P(D)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866" name="Google Shape;866;p69"/>
          <p:cNvSpPr txBox="1"/>
          <p:nvPr/>
        </p:nvSpPr>
        <p:spPr>
          <a:xfrm>
            <a:off x="1086075" y="4554750"/>
            <a:ext cx="353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frequency table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7" name="Google Shape;867;p69" descr="&lt;math xmlns=&quot;http://www.w3.org/1998/Math/MathML&quot; display=&quot;block&quot; data-is-equatio=&quot;1&quot; data-latex=&quot;\frac{3}{6}&quot;&gt;&lt;mfrac&gt;&lt;mn&gt;3&lt;/mn&gt;&lt;mn&gt;6&lt;/mn&gt;&lt;/mfrac&gt;&lt;/math&gt;" title="three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2375" y="3556058"/>
            <a:ext cx="147323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69" descr="&lt;math xmlns=&quot;http://www.w3.org/1998/Math/MathML&quot; display=&quot;block&quot; data-is-equatio=&quot;1&quot; data-latex=&quot;\frac{2}{6}&quot;&gt;&lt;mfrac&gt;&lt;mn&gt;2&lt;/mn&gt;&lt;mn&gt;6&lt;/mn&gt;&lt;/mfrac&gt;&lt;/math&gt;" title="two six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2375" y="3047808"/>
            <a:ext cx="147323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69" descr="&lt;math xmlns=&quot;http://www.w3.org/1998/Math/MathML&quot; display=&quot;block&quot; data-is-equatio=&quot;1&quot; data-latex=&quot;\frac{1}{6}&quot;&gt;&lt;mfrac&gt;&lt;mn&gt;1&lt;/mn&gt;&lt;mn&gt;6&lt;/mn&gt;&lt;/mfrac&gt;&lt;/math&gt;" title="one six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12375" y="4061583"/>
            <a:ext cx="147323" cy="4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69"/>
          <p:cNvSpPr txBox="1"/>
          <p:nvPr/>
        </p:nvSpPr>
        <p:spPr>
          <a:xfrm>
            <a:off x="933300" y="1796747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69"/>
          <p:cNvSpPr txBox="1"/>
          <p:nvPr/>
        </p:nvSpPr>
        <p:spPr>
          <a:xfrm>
            <a:off x="933300" y="657948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69"/>
          <p:cNvSpPr txBox="1"/>
          <p:nvPr/>
        </p:nvSpPr>
        <p:spPr>
          <a:xfrm>
            <a:off x="933300" y="942648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69"/>
          <p:cNvSpPr txBox="1"/>
          <p:nvPr/>
        </p:nvSpPr>
        <p:spPr>
          <a:xfrm>
            <a:off x="933300" y="1227347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69"/>
          <p:cNvSpPr txBox="1"/>
          <p:nvPr/>
        </p:nvSpPr>
        <p:spPr>
          <a:xfrm>
            <a:off x="933300" y="1512047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69"/>
          <p:cNvSpPr txBox="1"/>
          <p:nvPr/>
        </p:nvSpPr>
        <p:spPr>
          <a:xfrm>
            <a:off x="933300" y="2081446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69"/>
          <p:cNvSpPr txBox="1"/>
          <p:nvPr/>
        </p:nvSpPr>
        <p:spPr>
          <a:xfrm>
            <a:off x="324000" y="2329175"/>
            <a:ext cx="1893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list of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7" name="Google Shape;877;p69"/>
          <p:cNvGrpSpPr/>
          <p:nvPr/>
        </p:nvGrpSpPr>
        <p:grpSpPr>
          <a:xfrm>
            <a:off x="5178199" y="2483767"/>
            <a:ext cx="2743500" cy="2337708"/>
            <a:chOff x="6619123" y="835432"/>
            <a:chExt cx="2743500" cy="2337708"/>
          </a:xfrm>
        </p:grpSpPr>
        <p:grpSp>
          <p:nvGrpSpPr>
            <p:cNvPr id="878" name="Google Shape;878;p69"/>
            <p:cNvGrpSpPr/>
            <p:nvPr/>
          </p:nvGrpSpPr>
          <p:grpSpPr>
            <a:xfrm>
              <a:off x="6973800" y="962406"/>
              <a:ext cx="1485600" cy="1810723"/>
              <a:chOff x="7042200" y="733806"/>
              <a:chExt cx="1485600" cy="1810723"/>
            </a:xfrm>
          </p:grpSpPr>
          <p:sp>
            <p:nvSpPr>
              <p:cNvPr id="879" name="Google Shape;879;p69"/>
              <p:cNvSpPr/>
              <p:nvPr/>
            </p:nvSpPr>
            <p:spPr>
              <a:xfrm>
                <a:off x="7042200" y="1496935"/>
                <a:ext cx="277200" cy="2772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880" name="Google Shape;880;p69"/>
              <p:cNvCxnSpPr/>
              <p:nvPr/>
            </p:nvCxnSpPr>
            <p:spPr>
              <a:xfrm>
                <a:off x="7278800" y="1750129"/>
                <a:ext cx="1175100" cy="794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1" name="Google Shape;881;p69"/>
              <p:cNvCxnSpPr/>
              <p:nvPr/>
            </p:nvCxnSpPr>
            <p:spPr>
              <a:xfrm>
                <a:off x="7319400" y="1636153"/>
                <a:ext cx="1208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82" name="Google Shape;882;p69"/>
              <p:cNvCxnSpPr/>
              <p:nvPr/>
            </p:nvCxnSpPr>
            <p:spPr>
              <a:xfrm rot="10800000" flipH="1">
                <a:off x="7278800" y="733806"/>
                <a:ext cx="1175100" cy="794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883" name="Google Shape;883;p69"/>
            <p:cNvSpPr txBox="1"/>
            <p:nvPr/>
          </p:nvSpPr>
          <p:spPr>
            <a:xfrm>
              <a:off x="8396100" y="835432"/>
              <a:ext cx="423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4" name="Google Shape;884;p69"/>
            <p:cNvSpPr txBox="1"/>
            <p:nvPr/>
          </p:nvSpPr>
          <p:spPr>
            <a:xfrm>
              <a:off x="8396100" y="1729163"/>
              <a:ext cx="423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5" name="Google Shape;885;p69"/>
            <p:cNvSpPr txBox="1"/>
            <p:nvPr/>
          </p:nvSpPr>
          <p:spPr>
            <a:xfrm>
              <a:off x="8396100" y="2618753"/>
              <a:ext cx="423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6" name="Google Shape;886;p69"/>
            <p:cNvSpPr txBox="1"/>
            <p:nvPr/>
          </p:nvSpPr>
          <p:spPr>
            <a:xfrm>
              <a:off x="6619123" y="2895941"/>
              <a:ext cx="2743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probability tree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87" name="Google Shape;887;p69" descr="&lt;math xmlns=&quot;http://www.w3.org/1998/Math/MathML&quot; display=&quot;block&quot; data-is-equatio=&quot;1&quot; data-latex=&quot;\frac{1}{6}&quot;&gt;&lt;mfrac&gt;&lt;mn&gt;1&lt;/mn&gt;&lt;mn&gt;6&lt;/mn&gt;&lt;/mfrac&gt;&lt;/math&gt;" title="one sixth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046819" y="2188700"/>
              <a:ext cx="112031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8" name="Google Shape;888;p69" descr="&lt;math xmlns=&quot;http://www.w3.org/1998/Math/MathML&quot; display=&quot;block&quot; data-is-equatio=&quot;1&quot; data-latex=&quot;\frac{2}{6}&quot;&gt;&lt;mfrac&gt;&lt;mn&gt;2&lt;/mn&gt;&lt;mn&gt;6&lt;/mn&gt;&lt;/mfrac&gt;&lt;/math&gt;" title="two six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888229" y="867490"/>
              <a:ext cx="112031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9" name="Google Shape;889;p69" descr="&lt;math xmlns=&quot;http://www.w3.org/1998/Math/MathML&quot; display=&quot;block&quot; data-is-equatio=&quot;1&quot; data-latex=&quot;\frac{3}{6}&quot;&gt;&lt;mfrac&gt;&lt;mn&gt;3&lt;/mn&gt;&lt;mn&gt;6&lt;/mn&gt;&lt;/mfrac&gt;&lt;/math&gt;" title="three six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976400" y="1481480"/>
              <a:ext cx="112031" cy="360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0" name="Google Shape;890;p69"/>
          <p:cNvGrpSpPr/>
          <p:nvPr/>
        </p:nvGrpSpPr>
        <p:grpSpPr>
          <a:xfrm>
            <a:off x="1662507" y="657950"/>
            <a:ext cx="2167800" cy="1233000"/>
            <a:chOff x="3640539" y="663675"/>
            <a:chExt cx="2167800" cy="1233000"/>
          </a:xfrm>
        </p:grpSpPr>
        <p:sp>
          <p:nvSpPr>
            <p:cNvPr id="891" name="Google Shape;891;p69"/>
            <p:cNvSpPr txBox="1"/>
            <p:nvPr/>
          </p:nvSpPr>
          <p:spPr>
            <a:xfrm>
              <a:off x="3640539" y="663675"/>
              <a:ext cx="21678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Each individual outcome has a    probability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of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happening.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892" name="Google Shape;892;p69" descr="&lt;math xmlns=&quot;http://www.w3.org/1998/Math/MathML&quot; display=&quot;block&quot; data-is-equatio=&quot;1&quot; data-latex=&quot;\frac{1}{6}&quot;&gt;&lt;mfrac&gt;&lt;mn&gt;1&lt;/mn&gt;&lt;mn&gt;6&lt;/mn&gt;&lt;/mfrac&gt;&lt;/math&gt;" title="one sixth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347620" y="899725"/>
              <a:ext cx="135525" cy="433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93" name="Google Shape;893;p69"/>
          <p:cNvSpPr/>
          <p:nvPr/>
        </p:nvSpPr>
        <p:spPr>
          <a:xfrm>
            <a:off x="1288400" y="4165975"/>
            <a:ext cx="658200" cy="27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69"/>
          <p:cNvSpPr/>
          <p:nvPr/>
        </p:nvSpPr>
        <p:spPr>
          <a:xfrm>
            <a:off x="1288400" y="3655787"/>
            <a:ext cx="658200" cy="27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69"/>
          <p:cNvSpPr/>
          <p:nvPr/>
        </p:nvSpPr>
        <p:spPr>
          <a:xfrm>
            <a:off x="1288400" y="3152351"/>
            <a:ext cx="658200" cy="27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9" name="Shape 899"/>
        <p:cNvGrpSpPr/>
        <p:nvPr/>
      </p:nvGrpSpPr>
      <p:grpSpPr>
        <a:xfrm>
          <a:off x="0" y="0"/>
          <a:ext cx="0" cy="0"/>
        </a:xfrm>
      </p:grpSpPr>
      <p:sp>
        <p:nvSpPr>
          <p:cNvPr id="900" name="Google Shape;900;p70"/>
          <p:cNvSpPr/>
          <p:nvPr/>
        </p:nvSpPr>
        <p:spPr>
          <a:xfrm>
            <a:off x="933300" y="624600"/>
            <a:ext cx="675000" cy="1737900"/>
          </a:xfrm>
          <a:prstGeom prst="roundRect">
            <a:avLst>
              <a:gd name="adj" fmla="val 13314"/>
            </a:avLst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0"/>
          <p:cNvSpPr txBox="1"/>
          <p:nvPr/>
        </p:nvSpPr>
        <p:spPr>
          <a:xfrm>
            <a:off x="933300" y="1796747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Outcomes and probabilities across different diagrams</a:t>
            </a:r>
            <a:endParaRPr/>
          </a:p>
        </p:txBody>
      </p:sp>
      <p:graphicFrame>
        <p:nvGraphicFramePr>
          <p:cNvPr id="903" name="Google Shape;903;p70"/>
          <p:cNvGraphicFramePr>
            <a:graphicFrameLocks noGrp="1"/>
          </p:cNvGraphicFramePr>
          <p:nvPr/>
        </p:nvGraphicFramePr>
        <p:xfrm>
          <a:off x="1085988" y="276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062225"/>
                <a:gridCol w="1238575"/>
                <a:gridCol w="1238575"/>
              </a:tblGrid>
              <a:tr h="27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win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P(W)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P(L)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draw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P(D)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904" name="Google Shape;904;p70"/>
          <p:cNvSpPr txBox="1"/>
          <p:nvPr/>
        </p:nvSpPr>
        <p:spPr>
          <a:xfrm>
            <a:off x="1086075" y="4554750"/>
            <a:ext cx="353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frequency table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5" name="Google Shape;905;p70" descr="&lt;math xmlns=&quot;http://www.w3.org/1998/Math/MathML&quot; display=&quot;block&quot; data-is-equatio=&quot;1&quot; data-latex=&quot;\frac{3}{6}&quot;&gt;&lt;mfrac&gt;&lt;mn&gt;3&lt;/mn&gt;&lt;mn&gt;6&lt;/mn&gt;&lt;/mfrac&gt;&lt;/math&gt;" title="three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2375" y="3556058"/>
            <a:ext cx="147323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70" descr="&lt;math xmlns=&quot;http://www.w3.org/1998/Math/MathML&quot; display=&quot;block&quot; data-is-equatio=&quot;1&quot; data-latex=&quot;\frac{2}{6}&quot;&gt;&lt;mfrac&gt;&lt;mn&gt;2&lt;/mn&gt;&lt;mn&gt;6&lt;/mn&gt;&lt;/mfrac&gt;&lt;/math&gt;" title="two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2375" y="3047808"/>
            <a:ext cx="147323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0" descr="&lt;math xmlns=&quot;http://www.w3.org/1998/Math/MathML&quot; display=&quot;block&quot; data-is-equatio=&quot;1&quot; data-latex=&quot;\frac{1}{6}&quot;&gt;&lt;mfrac&gt;&lt;mn&gt;1&lt;/mn&gt;&lt;mn&gt;6&lt;/mn&gt;&lt;/mfrac&gt;&lt;/math&gt;" title="one six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2375" y="4061583"/>
            <a:ext cx="147323" cy="47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8" name="Google Shape;908;p70"/>
          <p:cNvGrpSpPr/>
          <p:nvPr/>
        </p:nvGrpSpPr>
        <p:grpSpPr>
          <a:xfrm>
            <a:off x="8137196" y="2030980"/>
            <a:ext cx="676200" cy="1040525"/>
            <a:chOff x="8137196" y="1935832"/>
            <a:chExt cx="676200" cy="1040525"/>
          </a:xfrm>
        </p:grpSpPr>
        <p:pic>
          <p:nvPicPr>
            <p:cNvPr id="909" name="Google Shape;909;p7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8209791" y="1935832"/>
              <a:ext cx="598139" cy="74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0" name="Google Shape;910;p70"/>
            <p:cNvSpPr txBox="1"/>
            <p:nvPr/>
          </p:nvSpPr>
          <p:spPr>
            <a:xfrm>
              <a:off x="8137196" y="2699157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Jun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1" name="Google Shape;911;p70"/>
          <p:cNvGrpSpPr/>
          <p:nvPr/>
        </p:nvGrpSpPr>
        <p:grpSpPr>
          <a:xfrm flipH="1">
            <a:off x="4064212" y="658209"/>
            <a:ext cx="4548740" cy="1737930"/>
            <a:chOff x="797575" y="5295652"/>
            <a:chExt cx="3320975" cy="1476325"/>
          </a:xfrm>
        </p:grpSpPr>
        <p:pic>
          <p:nvPicPr>
            <p:cNvPr id="912" name="Google Shape;912;p70"/>
            <p:cNvPicPr preferRelativeResize="0"/>
            <p:nvPr/>
          </p:nvPicPr>
          <p:blipFill>
            <a:blip r:embed="rId7">
              <a:alphaModFix/>
            </a:blip>
            <a:srcRect r="57905" b="43690"/>
            <a:stretch>
              <a:fillRect/>
            </a:stretch>
          </p:blipFill>
          <p:spPr>
            <a:xfrm flipH="1">
              <a:off x="797575" y="5295652"/>
              <a:ext cx="3320975" cy="1476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3" name="Google Shape;913;p70"/>
            <p:cNvSpPr txBox="1"/>
            <p:nvPr/>
          </p:nvSpPr>
          <p:spPr>
            <a:xfrm flipH="1">
              <a:off x="1048703" y="5318916"/>
              <a:ext cx="30000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Definitely!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Since each diagram is showing the same trial, the same information will be shown across all of them!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For example…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4" name="Google Shape;914;p70"/>
          <p:cNvSpPr txBox="1"/>
          <p:nvPr/>
        </p:nvSpPr>
        <p:spPr>
          <a:xfrm>
            <a:off x="933300" y="657948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0"/>
          <p:cNvSpPr txBox="1"/>
          <p:nvPr/>
        </p:nvSpPr>
        <p:spPr>
          <a:xfrm>
            <a:off x="933300" y="942648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0"/>
          <p:cNvSpPr txBox="1"/>
          <p:nvPr/>
        </p:nvSpPr>
        <p:spPr>
          <a:xfrm>
            <a:off x="933300" y="1227347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0"/>
          <p:cNvSpPr txBox="1"/>
          <p:nvPr/>
        </p:nvSpPr>
        <p:spPr>
          <a:xfrm>
            <a:off x="933300" y="1512047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0"/>
          <p:cNvSpPr txBox="1"/>
          <p:nvPr/>
        </p:nvSpPr>
        <p:spPr>
          <a:xfrm>
            <a:off x="933300" y="2081446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0"/>
          <p:cNvSpPr txBox="1"/>
          <p:nvPr/>
        </p:nvSpPr>
        <p:spPr>
          <a:xfrm>
            <a:off x="324000" y="2329175"/>
            <a:ext cx="1893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list of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0" name="Google Shape;920;p70"/>
          <p:cNvGrpSpPr/>
          <p:nvPr/>
        </p:nvGrpSpPr>
        <p:grpSpPr>
          <a:xfrm>
            <a:off x="5178199" y="2483767"/>
            <a:ext cx="2743500" cy="2337708"/>
            <a:chOff x="6619123" y="835432"/>
            <a:chExt cx="2743500" cy="2337708"/>
          </a:xfrm>
        </p:grpSpPr>
        <p:grpSp>
          <p:nvGrpSpPr>
            <p:cNvPr id="921" name="Google Shape;921;p70"/>
            <p:cNvGrpSpPr/>
            <p:nvPr/>
          </p:nvGrpSpPr>
          <p:grpSpPr>
            <a:xfrm>
              <a:off x="6973800" y="962406"/>
              <a:ext cx="1485600" cy="1810723"/>
              <a:chOff x="7042200" y="733806"/>
              <a:chExt cx="1485600" cy="1810723"/>
            </a:xfrm>
          </p:grpSpPr>
          <p:sp>
            <p:nvSpPr>
              <p:cNvPr id="922" name="Google Shape;922;p70"/>
              <p:cNvSpPr/>
              <p:nvPr/>
            </p:nvSpPr>
            <p:spPr>
              <a:xfrm>
                <a:off x="7042200" y="1496935"/>
                <a:ext cx="277200" cy="2772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923" name="Google Shape;923;p70"/>
              <p:cNvCxnSpPr/>
              <p:nvPr/>
            </p:nvCxnSpPr>
            <p:spPr>
              <a:xfrm>
                <a:off x="7278800" y="1750129"/>
                <a:ext cx="1175100" cy="794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4" name="Google Shape;924;p70"/>
              <p:cNvCxnSpPr/>
              <p:nvPr/>
            </p:nvCxnSpPr>
            <p:spPr>
              <a:xfrm>
                <a:off x="7319400" y="1636153"/>
                <a:ext cx="1208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25" name="Google Shape;925;p70"/>
              <p:cNvCxnSpPr/>
              <p:nvPr/>
            </p:nvCxnSpPr>
            <p:spPr>
              <a:xfrm rot="10800000" flipH="1">
                <a:off x="7278800" y="733806"/>
                <a:ext cx="1175100" cy="794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926" name="Google Shape;926;p70"/>
            <p:cNvSpPr txBox="1"/>
            <p:nvPr/>
          </p:nvSpPr>
          <p:spPr>
            <a:xfrm>
              <a:off x="8396100" y="835432"/>
              <a:ext cx="423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7" name="Google Shape;927;p70"/>
            <p:cNvSpPr txBox="1"/>
            <p:nvPr/>
          </p:nvSpPr>
          <p:spPr>
            <a:xfrm>
              <a:off x="8396100" y="1729163"/>
              <a:ext cx="423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8" name="Google Shape;928;p70"/>
            <p:cNvSpPr txBox="1"/>
            <p:nvPr/>
          </p:nvSpPr>
          <p:spPr>
            <a:xfrm>
              <a:off x="8396100" y="2618753"/>
              <a:ext cx="423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9" name="Google Shape;929;p70"/>
            <p:cNvSpPr txBox="1"/>
            <p:nvPr/>
          </p:nvSpPr>
          <p:spPr>
            <a:xfrm>
              <a:off x="6619123" y="2895941"/>
              <a:ext cx="2743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probability tree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30" name="Google Shape;930;p70" descr="&lt;math xmlns=&quot;http://www.w3.org/1998/Math/MathML&quot; display=&quot;block&quot; data-is-equatio=&quot;1&quot; data-latex=&quot;\frac{1}{6}&quot;&gt;&lt;mfrac&gt;&lt;mn&gt;1&lt;/mn&gt;&lt;mn&gt;6&lt;/mn&gt;&lt;/mfrac&gt;&lt;/math&gt;" title="one six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046819" y="2188700"/>
              <a:ext cx="112031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1" name="Google Shape;931;p70" descr="&lt;math xmlns=&quot;http://www.w3.org/1998/Math/MathML&quot; display=&quot;block&quot; data-is-equatio=&quot;1&quot; data-latex=&quot;\frac{2}{6}&quot;&gt;&lt;mfrac&gt;&lt;mn&gt;2&lt;/mn&gt;&lt;mn&gt;6&lt;/mn&gt;&lt;/mfrac&gt;&lt;/math&gt;" title="two six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88229" y="867490"/>
              <a:ext cx="112031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2" name="Google Shape;932;p70" descr="&lt;math xmlns=&quot;http://www.w3.org/1998/Math/MathML&quot; display=&quot;block&quot; data-is-equatio=&quot;1&quot; data-latex=&quot;\frac{3}{6}&quot;&gt;&lt;mfrac&gt;&lt;mn&gt;3&lt;/mn&gt;&lt;mn&gt;6&lt;/mn&gt;&lt;/mfrac&gt;&lt;/math&gt;" title="three sixth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976400" y="1481480"/>
              <a:ext cx="112031" cy="360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3" name="Google Shape;933;p70"/>
          <p:cNvSpPr/>
          <p:nvPr/>
        </p:nvSpPr>
        <p:spPr>
          <a:xfrm>
            <a:off x="1288400" y="4165975"/>
            <a:ext cx="658200" cy="27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0"/>
          <p:cNvSpPr/>
          <p:nvPr/>
        </p:nvSpPr>
        <p:spPr>
          <a:xfrm>
            <a:off x="1288400" y="3655787"/>
            <a:ext cx="658200" cy="27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0"/>
          <p:cNvSpPr/>
          <p:nvPr/>
        </p:nvSpPr>
        <p:spPr>
          <a:xfrm>
            <a:off x="1288400" y="3152351"/>
            <a:ext cx="658200" cy="27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6" name="Google Shape;936;p70"/>
          <p:cNvGrpSpPr/>
          <p:nvPr/>
        </p:nvGrpSpPr>
        <p:grpSpPr>
          <a:xfrm>
            <a:off x="1662507" y="657950"/>
            <a:ext cx="2167800" cy="1233000"/>
            <a:chOff x="3640539" y="663675"/>
            <a:chExt cx="2167800" cy="1233000"/>
          </a:xfrm>
        </p:grpSpPr>
        <p:sp>
          <p:nvSpPr>
            <p:cNvPr id="937" name="Google Shape;937;p70"/>
            <p:cNvSpPr txBox="1"/>
            <p:nvPr/>
          </p:nvSpPr>
          <p:spPr>
            <a:xfrm>
              <a:off x="3640539" y="663675"/>
              <a:ext cx="21678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Each individual outcome has a    probability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of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happening.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38" name="Google Shape;938;p70" descr="&lt;math xmlns=&quot;http://www.w3.org/1998/Math/MathML&quot; display=&quot;block&quot; data-is-equatio=&quot;1&quot; data-latex=&quot;\frac{1}{6}&quot;&gt;&lt;mfrac&gt;&lt;mn&gt;1&lt;/mn&gt;&lt;mn&gt;6&lt;/mn&gt;&lt;/mfrac&gt;&lt;/math&gt;" title="one six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47620" y="899725"/>
              <a:ext cx="135525" cy="433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2" name="Shape 942"/>
        <p:cNvGrpSpPr/>
        <p:nvPr/>
      </p:nvGrpSpPr>
      <p:grpSpPr>
        <a:xfrm>
          <a:off x="0" y="0"/>
          <a:ext cx="0" cy="0"/>
        </a:xfrm>
      </p:grpSpPr>
      <p:grpSp>
        <p:nvGrpSpPr>
          <p:cNvPr id="943" name="Google Shape;943;p71"/>
          <p:cNvGrpSpPr/>
          <p:nvPr/>
        </p:nvGrpSpPr>
        <p:grpSpPr>
          <a:xfrm>
            <a:off x="1662507" y="657950"/>
            <a:ext cx="2167800" cy="1233000"/>
            <a:chOff x="3640539" y="663675"/>
            <a:chExt cx="2167800" cy="1233000"/>
          </a:xfrm>
        </p:grpSpPr>
        <p:sp>
          <p:nvSpPr>
            <p:cNvPr id="944" name="Google Shape;944;p71"/>
            <p:cNvSpPr txBox="1"/>
            <p:nvPr/>
          </p:nvSpPr>
          <p:spPr>
            <a:xfrm>
              <a:off x="3640539" y="663675"/>
              <a:ext cx="21678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Each individual outcome has a    probability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of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happening.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945" name="Google Shape;945;p71" descr="&lt;math xmlns=&quot;http://www.w3.org/1998/Math/MathML&quot; display=&quot;block&quot; data-is-equatio=&quot;1&quot; data-latex=&quot;\frac{1}{6}&quot;&gt;&lt;mfrac&gt;&lt;mn&gt;1&lt;/mn&gt;&lt;mn&gt;6&lt;/mn&gt;&lt;/mfrac&gt;&lt;/math&gt;" title="one six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47620" y="899725"/>
              <a:ext cx="135525" cy="43370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946" name="Google Shape;946;p71"/>
          <p:cNvGraphicFramePr>
            <a:graphicFrameLocks noGrp="1"/>
          </p:cNvGraphicFramePr>
          <p:nvPr/>
        </p:nvGraphicFramePr>
        <p:xfrm>
          <a:off x="1085988" y="276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062225"/>
                <a:gridCol w="1238575"/>
                <a:gridCol w="1238575"/>
              </a:tblGrid>
              <a:tr h="27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win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P(W)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P(L)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draw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P(D)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947" name="Google Shape;947;p71"/>
          <p:cNvSpPr txBox="1"/>
          <p:nvPr/>
        </p:nvSpPr>
        <p:spPr>
          <a:xfrm>
            <a:off x="1086075" y="4554750"/>
            <a:ext cx="353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frequency table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1"/>
          <p:cNvSpPr/>
          <p:nvPr/>
        </p:nvSpPr>
        <p:spPr>
          <a:xfrm>
            <a:off x="1288400" y="4165975"/>
            <a:ext cx="658200" cy="27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1"/>
          <p:cNvSpPr/>
          <p:nvPr/>
        </p:nvSpPr>
        <p:spPr>
          <a:xfrm>
            <a:off x="1288400" y="3655787"/>
            <a:ext cx="658200" cy="27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1"/>
          <p:cNvSpPr/>
          <p:nvPr/>
        </p:nvSpPr>
        <p:spPr>
          <a:xfrm>
            <a:off x="1288400" y="3152351"/>
            <a:ext cx="658200" cy="27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1"/>
          <p:cNvSpPr/>
          <p:nvPr/>
        </p:nvSpPr>
        <p:spPr>
          <a:xfrm>
            <a:off x="933300" y="624600"/>
            <a:ext cx="675000" cy="1737900"/>
          </a:xfrm>
          <a:prstGeom prst="roundRect">
            <a:avLst>
              <a:gd name="adj" fmla="val 13314"/>
            </a:avLst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1"/>
          <p:cNvSpPr txBox="1"/>
          <p:nvPr/>
        </p:nvSpPr>
        <p:spPr>
          <a:xfrm>
            <a:off x="324000" y="2329175"/>
            <a:ext cx="1893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list of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1"/>
          <p:cNvSpPr txBox="1"/>
          <p:nvPr/>
        </p:nvSpPr>
        <p:spPr>
          <a:xfrm>
            <a:off x="933300" y="657948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1"/>
          <p:cNvSpPr txBox="1"/>
          <p:nvPr/>
        </p:nvSpPr>
        <p:spPr>
          <a:xfrm>
            <a:off x="933300" y="1227347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1"/>
          <p:cNvSpPr txBox="1"/>
          <p:nvPr/>
        </p:nvSpPr>
        <p:spPr>
          <a:xfrm>
            <a:off x="933300" y="1796747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1"/>
          <p:cNvSpPr/>
          <p:nvPr/>
        </p:nvSpPr>
        <p:spPr>
          <a:xfrm>
            <a:off x="5532876" y="3373869"/>
            <a:ext cx="277200" cy="2772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7" name="Google Shape;957;p71"/>
          <p:cNvCxnSpPr/>
          <p:nvPr/>
        </p:nvCxnSpPr>
        <p:spPr>
          <a:xfrm>
            <a:off x="5769476" y="3627064"/>
            <a:ext cx="1175100" cy="794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8" name="Google Shape;958;p71"/>
          <p:cNvCxnSpPr/>
          <p:nvPr/>
        </p:nvCxnSpPr>
        <p:spPr>
          <a:xfrm>
            <a:off x="5810076" y="3513088"/>
            <a:ext cx="12084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9" name="Google Shape;959;p71"/>
          <p:cNvCxnSpPr/>
          <p:nvPr/>
        </p:nvCxnSpPr>
        <p:spPr>
          <a:xfrm rot="10800000" flipH="1">
            <a:off x="5769476" y="2610740"/>
            <a:ext cx="1175100" cy="794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0" name="Google Shape;960;p71"/>
          <p:cNvSpPr txBox="1"/>
          <p:nvPr/>
        </p:nvSpPr>
        <p:spPr>
          <a:xfrm>
            <a:off x="6955176" y="2483767"/>
            <a:ext cx="4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1"/>
          <p:cNvSpPr txBox="1"/>
          <p:nvPr/>
        </p:nvSpPr>
        <p:spPr>
          <a:xfrm>
            <a:off x="6955176" y="3377497"/>
            <a:ext cx="4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1"/>
          <p:cNvSpPr txBox="1"/>
          <p:nvPr/>
        </p:nvSpPr>
        <p:spPr>
          <a:xfrm>
            <a:off x="6955176" y="4267087"/>
            <a:ext cx="4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1"/>
          <p:cNvSpPr txBox="1"/>
          <p:nvPr/>
        </p:nvSpPr>
        <p:spPr>
          <a:xfrm>
            <a:off x="5178199" y="4544275"/>
            <a:ext cx="2743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probability tree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4" name="Google Shape;964;p71" descr="&lt;math xmlns=&quot;http://www.w3.org/1998/Math/MathML&quot; display=&quot;block&quot; data-is-equatio=&quot;1&quot; data-latex=&quot;\frac{1}{6}&quot;&gt;&lt;mfrac&gt;&lt;mn&gt;1&lt;/mn&gt;&lt;mn&gt;6&lt;/mn&gt;&lt;/mfrac&gt;&lt;/math&gt;" title="one six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5895" y="3837034"/>
            <a:ext cx="112031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71" descr="&lt;math xmlns=&quot;http://www.w3.org/1998/Math/MathML&quot; display=&quot;block&quot; data-is-equatio=&quot;1&quot; data-latex=&quot;\frac{2}{6}&quot;&gt;&lt;mfrac&gt;&lt;mn&gt;2&lt;/mn&gt;&lt;mn&gt;6&lt;/mn&gt;&lt;/mfrac&gt;&lt;/math&gt;" title="two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7306" y="2515824"/>
            <a:ext cx="112031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71" descr="&lt;math xmlns=&quot;http://www.w3.org/1998/Math/MathML&quot; display=&quot;block&quot; data-is-equatio=&quot;1&quot; data-latex=&quot;\frac{3}{6}&quot;&gt;&lt;mfrac&gt;&lt;mn&gt;3&lt;/mn&gt;&lt;mn&gt;6&lt;/mn&gt;&lt;/mfrac&gt;&lt;/math&gt;" title="three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5476" y="3129814"/>
            <a:ext cx="112031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Outcomes and probabilities across different diagrams</a:t>
            </a:r>
            <a:endParaRPr/>
          </a:p>
        </p:txBody>
      </p:sp>
      <p:pic>
        <p:nvPicPr>
          <p:cNvPr id="968" name="Google Shape;968;p71" descr="&lt;math xmlns=&quot;http://www.w3.org/1998/Math/MathML&quot; display=&quot;block&quot; data-is-equatio=&quot;1&quot; data-latex=&quot;\frac{3}{6}&quot;&gt;&lt;mfrac&gt;&lt;mn&gt;3&lt;/mn&gt;&lt;mn&gt;6&lt;/mn&gt;&lt;/mfrac&gt;&lt;/math&gt;" title="three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2375" y="3556058"/>
            <a:ext cx="147323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71" descr="&lt;math xmlns=&quot;http://www.w3.org/1998/Math/MathML&quot; display=&quot;block&quot; data-is-equatio=&quot;1&quot; data-latex=&quot;\frac{2}{6}&quot;&gt;&lt;mfrac&gt;&lt;mn&gt;2&lt;/mn&gt;&lt;mn&gt;6&lt;/mn&gt;&lt;/mfrac&gt;&lt;/math&gt;" title="two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2375" y="3047808"/>
            <a:ext cx="147323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71" descr="&lt;math xmlns=&quot;http://www.w3.org/1998/Math/MathML&quot; display=&quot;block&quot; data-is-equatio=&quot;1&quot; data-latex=&quot;\frac{1}{6}&quot;&gt;&lt;mfrac&gt;&lt;mn&gt;1&lt;/mn&gt;&lt;mn&gt;6&lt;/mn&gt;&lt;/mfrac&gt;&lt;/math&gt;" title="one six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2375" y="4061583"/>
            <a:ext cx="147323" cy="47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1" name="Google Shape;971;p71"/>
          <p:cNvGrpSpPr/>
          <p:nvPr/>
        </p:nvGrpSpPr>
        <p:grpSpPr>
          <a:xfrm>
            <a:off x="302550" y="608765"/>
            <a:ext cx="7543500" cy="4280310"/>
            <a:chOff x="302550" y="608765"/>
            <a:chExt cx="7543500" cy="4280310"/>
          </a:xfrm>
        </p:grpSpPr>
        <p:sp>
          <p:nvSpPr>
            <p:cNvPr id="972" name="Google Shape;972;p71"/>
            <p:cNvSpPr/>
            <p:nvPr/>
          </p:nvSpPr>
          <p:spPr>
            <a:xfrm>
              <a:off x="302550" y="664175"/>
              <a:ext cx="7543500" cy="4224900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3" name="Google Shape;973;p71"/>
            <p:cNvSpPr/>
            <p:nvPr/>
          </p:nvSpPr>
          <p:spPr>
            <a:xfrm>
              <a:off x="302550" y="608765"/>
              <a:ext cx="3918600" cy="54900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4" name="Google Shape;974;p71"/>
          <p:cNvSpPr/>
          <p:nvPr/>
        </p:nvSpPr>
        <p:spPr>
          <a:xfrm>
            <a:off x="1011825" y="2066713"/>
            <a:ext cx="518100" cy="277200"/>
          </a:xfrm>
          <a:prstGeom prst="rect">
            <a:avLst/>
          </a:prstGeom>
          <a:solidFill>
            <a:srgbClr val="FAEAF6"/>
          </a:solidFill>
          <a:ln w="28575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1"/>
          <p:cNvSpPr/>
          <p:nvPr/>
        </p:nvSpPr>
        <p:spPr>
          <a:xfrm>
            <a:off x="1011825" y="930475"/>
            <a:ext cx="518100" cy="2772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1"/>
          <p:cNvSpPr/>
          <p:nvPr/>
        </p:nvSpPr>
        <p:spPr>
          <a:xfrm>
            <a:off x="1011750" y="1497313"/>
            <a:ext cx="518100" cy="277200"/>
          </a:xfrm>
          <a:prstGeom prst="rect">
            <a:avLst/>
          </a:prstGeom>
          <a:solidFill>
            <a:srgbClr val="EBEDFE"/>
          </a:solidFill>
          <a:ln w="28575" cap="flat" cmpd="sng">
            <a:solidFill>
              <a:srgbClr val="374CF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1"/>
          <p:cNvSpPr txBox="1"/>
          <p:nvPr/>
        </p:nvSpPr>
        <p:spPr>
          <a:xfrm>
            <a:off x="933300" y="942648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1"/>
          <p:cNvSpPr txBox="1"/>
          <p:nvPr/>
        </p:nvSpPr>
        <p:spPr>
          <a:xfrm>
            <a:off x="933300" y="1512047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1"/>
          <p:cNvSpPr txBox="1"/>
          <p:nvPr/>
        </p:nvSpPr>
        <p:spPr>
          <a:xfrm>
            <a:off x="933300" y="2081446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1"/>
          <p:cNvSpPr txBox="1"/>
          <p:nvPr/>
        </p:nvSpPr>
        <p:spPr>
          <a:xfrm>
            <a:off x="5289400" y="1564575"/>
            <a:ext cx="353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branch on the probability tree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1"/>
          <p:cNvSpPr txBox="1"/>
          <p:nvPr/>
        </p:nvSpPr>
        <p:spPr>
          <a:xfrm>
            <a:off x="4858325" y="653415"/>
            <a:ext cx="3809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Each unique outcome in the list of outcomes is represented by: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1"/>
          <p:cNvSpPr txBox="1"/>
          <p:nvPr/>
        </p:nvSpPr>
        <p:spPr>
          <a:xfrm>
            <a:off x="5289400" y="1247450"/>
            <a:ext cx="3378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row in the frequency table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1"/>
          <p:cNvSpPr/>
          <p:nvPr/>
        </p:nvSpPr>
        <p:spPr>
          <a:xfrm>
            <a:off x="1288400" y="4165975"/>
            <a:ext cx="658200" cy="277200"/>
          </a:xfrm>
          <a:prstGeom prst="rect">
            <a:avLst/>
          </a:prstGeom>
          <a:solidFill>
            <a:srgbClr val="FAEAF6"/>
          </a:solidFill>
          <a:ln w="28575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1"/>
          <p:cNvSpPr/>
          <p:nvPr/>
        </p:nvSpPr>
        <p:spPr>
          <a:xfrm>
            <a:off x="1288400" y="3655787"/>
            <a:ext cx="658200" cy="277200"/>
          </a:xfrm>
          <a:prstGeom prst="rect">
            <a:avLst/>
          </a:prstGeom>
          <a:solidFill>
            <a:srgbClr val="EBEDFE"/>
          </a:solidFill>
          <a:ln w="28575" cap="flat" cmpd="sng">
            <a:solidFill>
              <a:srgbClr val="374CF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1"/>
          <p:cNvSpPr/>
          <p:nvPr/>
        </p:nvSpPr>
        <p:spPr>
          <a:xfrm>
            <a:off x="1288400" y="3152351"/>
            <a:ext cx="658200" cy="2772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6" name="Google Shape;986;p71"/>
          <p:cNvGrpSpPr/>
          <p:nvPr/>
        </p:nvGrpSpPr>
        <p:grpSpPr>
          <a:xfrm>
            <a:off x="5772348" y="2483767"/>
            <a:ext cx="1606729" cy="926689"/>
            <a:chOff x="5772348" y="2483767"/>
            <a:chExt cx="1606729" cy="926689"/>
          </a:xfrm>
        </p:grpSpPr>
        <p:cxnSp>
          <p:nvCxnSpPr>
            <p:cNvPr id="987" name="Google Shape;987;p71"/>
            <p:cNvCxnSpPr/>
            <p:nvPr/>
          </p:nvCxnSpPr>
          <p:spPr>
            <a:xfrm rot="10800000" flipH="1">
              <a:off x="5772348" y="2616056"/>
              <a:ext cx="1175100" cy="794400"/>
            </a:xfrm>
            <a:prstGeom prst="straightConnector1">
              <a:avLst/>
            </a:prstGeom>
            <a:noFill/>
            <a:ln w="7620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88" name="Google Shape;988;p71"/>
            <p:cNvSpPr txBox="1"/>
            <p:nvPr/>
          </p:nvSpPr>
          <p:spPr>
            <a:xfrm>
              <a:off x="6955176" y="2483767"/>
              <a:ext cx="423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9" name="Google Shape;989;p71"/>
          <p:cNvGrpSpPr/>
          <p:nvPr/>
        </p:nvGrpSpPr>
        <p:grpSpPr>
          <a:xfrm>
            <a:off x="5812948" y="3377497"/>
            <a:ext cx="1566129" cy="277200"/>
            <a:chOff x="5812948" y="3377497"/>
            <a:chExt cx="1566129" cy="277200"/>
          </a:xfrm>
        </p:grpSpPr>
        <p:cxnSp>
          <p:nvCxnSpPr>
            <p:cNvPr id="990" name="Google Shape;990;p71"/>
            <p:cNvCxnSpPr/>
            <p:nvPr/>
          </p:nvCxnSpPr>
          <p:spPr>
            <a:xfrm>
              <a:off x="5812948" y="3518403"/>
              <a:ext cx="12084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991" name="Google Shape;991;p71"/>
            <p:cNvSpPr txBox="1"/>
            <p:nvPr/>
          </p:nvSpPr>
          <p:spPr>
            <a:xfrm>
              <a:off x="6955176" y="3377497"/>
              <a:ext cx="423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2" name="Google Shape;992;p71"/>
          <p:cNvGrpSpPr/>
          <p:nvPr/>
        </p:nvGrpSpPr>
        <p:grpSpPr>
          <a:xfrm>
            <a:off x="5772348" y="3632379"/>
            <a:ext cx="1606729" cy="911908"/>
            <a:chOff x="5772348" y="3632379"/>
            <a:chExt cx="1606729" cy="911908"/>
          </a:xfrm>
        </p:grpSpPr>
        <p:cxnSp>
          <p:nvCxnSpPr>
            <p:cNvPr id="993" name="Google Shape;993;p71"/>
            <p:cNvCxnSpPr/>
            <p:nvPr/>
          </p:nvCxnSpPr>
          <p:spPr>
            <a:xfrm>
              <a:off x="5772348" y="3632379"/>
              <a:ext cx="1175100" cy="79440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994" name="Google Shape;994;p71"/>
            <p:cNvSpPr txBox="1"/>
            <p:nvPr/>
          </p:nvSpPr>
          <p:spPr>
            <a:xfrm>
              <a:off x="6955176" y="4267087"/>
              <a:ext cx="423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8" name="Shape 998"/>
        <p:cNvGrpSpPr/>
        <p:nvPr/>
      </p:nvGrpSpPr>
      <p:grpSpPr>
        <a:xfrm>
          <a:off x="0" y="0"/>
          <a:ext cx="0" cy="0"/>
        </a:xfrm>
      </p:grpSpPr>
      <p:graphicFrame>
        <p:nvGraphicFramePr>
          <p:cNvPr id="999" name="Google Shape;999;p72"/>
          <p:cNvGraphicFramePr>
            <a:graphicFrameLocks noGrp="1"/>
          </p:cNvGraphicFramePr>
          <p:nvPr/>
        </p:nvGraphicFramePr>
        <p:xfrm>
          <a:off x="1085988" y="276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062225"/>
                <a:gridCol w="1238575"/>
                <a:gridCol w="1238575"/>
              </a:tblGrid>
              <a:tr h="27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win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P(W)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P(L)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draw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P(D)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000" name="Google Shape;1000;p72"/>
          <p:cNvSpPr/>
          <p:nvPr/>
        </p:nvSpPr>
        <p:spPr>
          <a:xfrm>
            <a:off x="1011825" y="2066713"/>
            <a:ext cx="518100" cy="277200"/>
          </a:xfrm>
          <a:prstGeom prst="rect">
            <a:avLst/>
          </a:prstGeom>
          <a:solidFill>
            <a:srgbClr val="FAEAF6"/>
          </a:solidFill>
          <a:ln w="28575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72"/>
          <p:cNvSpPr/>
          <p:nvPr/>
        </p:nvSpPr>
        <p:spPr>
          <a:xfrm>
            <a:off x="1011825" y="930475"/>
            <a:ext cx="518100" cy="2772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72"/>
          <p:cNvSpPr/>
          <p:nvPr/>
        </p:nvSpPr>
        <p:spPr>
          <a:xfrm>
            <a:off x="1011750" y="1497313"/>
            <a:ext cx="518100" cy="277200"/>
          </a:xfrm>
          <a:prstGeom prst="rect">
            <a:avLst/>
          </a:prstGeom>
          <a:solidFill>
            <a:srgbClr val="EBEDFE"/>
          </a:solidFill>
          <a:ln w="28575" cap="flat" cmpd="sng">
            <a:solidFill>
              <a:srgbClr val="374CF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72"/>
          <p:cNvSpPr/>
          <p:nvPr/>
        </p:nvSpPr>
        <p:spPr>
          <a:xfrm>
            <a:off x="933300" y="624600"/>
            <a:ext cx="675000" cy="1737900"/>
          </a:xfrm>
          <a:prstGeom prst="roundRect">
            <a:avLst>
              <a:gd name="adj" fmla="val 13314"/>
            </a:avLst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72"/>
          <p:cNvSpPr txBox="1"/>
          <p:nvPr/>
        </p:nvSpPr>
        <p:spPr>
          <a:xfrm>
            <a:off x="933300" y="942648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2"/>
          <p:cNvSpPr txBox="1"/>
          <p:nvPr/>
        </p:nvSpPr>
        <p:spPr>
          <a:xfrm>
            <a:off x="933300" y="1512047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2"/>
          <p:cNvSpPr txBox="1"/>
          <p:nvPr/>
        </p:nvSpPr>
        <p:spPr>
          <a:xfrm>
            <a:off x="933300" y="2081446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72"/>
          <p:cNvSpPr txBox="1"/>
          <p:nvPr/>
        </p:nvSpPr>
        <p:spPr>
          <a:xfrm>
            <a:off x="933300" y="657948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72"/>
          <p:cNvSpPr txBox="1"/>
          <p:nvPr/>
        </p:nvSpPr>
        <p:spPr>
          <a:xfrm>
            <a:off x="933300" y="1227347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2"/>
          <p:cNvSpPr txBox="1"/>
          <p:nvPr/>
        </p:nvSpPr>
        <p:spPr>
          <a:xfrm>
            <a:off x="933300" y="1796747"/>
            <a:ext cx="675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2"/>
          <p:cNvSpPr txBox="1"/>
          <p:nvPr/>
        </p:nvSpPr>
        <p:spPr>
          <a:xfrm>
            <a:off x="324000" y="2329175"/>
            <a:ext cx="1893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list of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2"/>
          <p:cNvSpPr txBox="1"/>
          <p:nvPr/>
        </p:nvSpPr>
        <p:spPr>
          <a:xfrm>
            <a:off x="4572000" y="729625"/>
            <a:ext cx="4095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frequencies and probabilities across all three are also the same, as they each show the outcomes and probabilities for the same trial.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Outcomes and probabilities across different diagrams</a:t>
            </a:r>
            <a:endParaRPr/>
          </a:p>
        </p:txBody>
      </p:sp>
      <p:sp>
        <p:nvSpPr>
          <p:cNvPr id="1013" name="Google Shape;1013;p72"/>
          <p:cNvSpPr txBox="1"/>
          <p:nvPr/>
        </p:nvSpPr>
        <p:spPr>
          <a:xfrm>
            <a:off x="1086075" y="4554750"/>
            <a:ext cx="353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frequency table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4" name="Google Shape;1014;p72" descr="&lt;math xmlns=&quot;http://www.w3.org/1998/Math/MathML&quot; display=&quot;block&quot; data-is-equatio=&quot;1&quot; data-latex=&quot;\frac{3}{6}&quot;&gt;&lt;mfrac&gt;&lt;mn&gt;3&lt;/mn&gt;&lt;mn&gt;6&lt;/mn&gt;&lt;/mfrac&gt;&lt;/math&gt;" title="three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2375" y="3556058"/>
            <a:ext cx="147323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72" descr="&lt;math xmlns=&quot;http://www.w3.org/1998/Math/MathML&quot; display=&quot;block&quot; data-is-equatio=&quot;1&quot; data-latex=&quot;\frac{2}{6}&quot;&gt;&lt;mfrac&gt;&lt;mn&gt;2&lt;/mn&gt;&lt;mn&gt;6&lt;/mn&gt;&lt;/mfrac&gt;&lt;/math&gt;" title="two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2375" y="3047808"/>
            <a:ext cx="147323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72" descr="&lt;math xmlns=&quot;http://www.w3.org/1998/Math/MathML&quot; display=&quot;block&quot; data-is-equatio=&quot;1&quot; data-latex=&quot;\frac{1}{6}&quot;&gt;&lt;mfrac&gt;&lt;mn&gt;1&lt;/mn&gt;&lt;mn&gt;6&lt;/mn&gt;&lt;/mfrac&gt;&lt;/math&gt;" title="one six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2375" y="4061583"/>
            <a:ext cx="147323" cy="47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7" name="Google Shape;1017;p72"/>
          <p:cNvGrpSpPr/>
          <p:nvPr/>
        </p:nvGrpSpPr>
        <p:grpSpPr>
          <a:xfrm>
            <a:off x="5178199" y="2483767"/>
            <a:ext cx="2743500" cy="2337708"/>
            <a:chOff x="6619123" y="835432"/>
            <a:chExt cx="2743500" cy="2337708"/>
          </a:xfrm>
        </p:grpSpPr>
        <p:grpSp>
          <p:nvGrpSpPr>
            <p:cNvPr id="1018" name="Google Shape;1018;p72"/>
            <p:cNvGrpSpPr/>
            <p:nvPr/>
          </p:nvGrpSpPr>
          <p:grpSpPr>
            <a:xfrm>
              <a:off x="6973800" y="962406"/>
              <a:ext cx="1485600" cy="1810723"/>
              <a:chOff x="7042200" y="733806"/>
              <a:chExt cx="1485600" cy="1810723"/>
            </a:xfrm>
          </p:grpSpPr>
          <p:sp>
            <p:nvSpPr>
              <p:cNvPr id="1019" name="Google Shape;1019;p72"/>
              <p:cNvSpPr/>
              <p:nvPr/>
            </p:nvSpPr>
            <p:spPr>
              <a:xfrm>
                <a:off x="7042200" y="1496935"/>
                <a:ext cx="277200" cy="2772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020" name="Google Shape;1020;p72"/>
              <p:cNvCxnSpPr/>
              <p:nvPr/>
            </p:nvCxnSpPr>
            <p:spPr>
              <a:xfrm>
                <a:off x="7278800" y="1750129"/>
                <a:ext cx="1175100" cy="794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1" name="Google Shape;1021;p72"/>
              <p:cNvCxnSpPr/>
              <p:nvPr/>
            </p:nvCxnSpPr>
            <p:spPr>
              <a:xfrm>
                <a:off x="7319400" y="1636153"/>
                <a:ext cx="1208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2" name="Google Shape;1022;p72"/>
              <p:cNvCxnSpPr/>
              <p:nvPr/>
            </p:nvCxnSpPr>
            <p:spPr>
              <a:xfrm rot="10800000" flipH="1">
                <a:off x="7278800" y="733806"/>
                <a:ext cx="1175100" cy="794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023" name="Google Shape;1023;p72"/>
            <p:cNvSpPr txBox="1"/>
            <p:nvPr/>
          </p:nvSpPr>
          <p:spPr>
            <a:xfrm>
              <a:off x="8396100" y="835432"/>
              <a:ext cx="423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4" name="Google Shape;1024;p72"/>
            <p:cNvSpPr txBox="1"/>
            <p:nvPr/>
          </p:nvSpPr>
          <p:spPr>
            <a:xfrm>
              <a:off x="8396100" y="1729163"/>
              <a:ext cx="423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5" name="Google Shape;1025;p72"/>
            <p:cNvSpPr txBox="1"/>
            <p:nvPr/>
          </p:nvSpPr>
          <p:spPr>
            <a:xfrm>
              <a:off x="8396100" y="2618753"/>
              <a:ext cx="423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6" name="Google Shape;1026;p72"/>
            <p:cNvSpPr txBox="1"/>
            <p:nvPr/>
          </p:nvSpPr>
          <p:spPr>
            <a:xfrm>
              <a:off x="6619123" y="2895941"/>
              <a:ext cx="2743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probability tree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27" name="Google Shape;1027;p72" descr="&lt;math xmlns=&quot;http://www.w3.org/1998/Math/MathML&quot; display=&quot;block&quot; data-is-equatio=&quot;1&quot; data-latex=&quot;\frac{1}{6}&quot;&gt;&lt;mfrac&gt;&lt;mn&gt;1&lt;/mn&gt;&lt;mn&gt;6&lt;/mn&gt;&lt;/mfrac&gt;&lt;/math&gt;" title="one six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046819" y="2188700"/>
              <a:ext cx="112031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8" name="Google Shape;1028;p72" descr="&lt;math xmlns=&quot;http://www.w3.org/1998/Math/MathML&quot; display=&quot;block&quot; data-is-equatio=&quot;1&quot; data-latex=&quot;\frac{2}{6}&quot;&gt;&lt;mfrac&gt;&lt;mn&gt;2&lt;/mn&gt;&lt;mn&gt;6&lt;/mn&gt;&lt;/mfrac&gt;&lt;/math&gt;" title="two six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88229" y="867490"/>
              <a:ext cx="112031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9" name="Google Shape;1029;p72" descr="&lt;math xmlns=&quot;http://www.w3.org/1998/Math/MathML&quot; display=&quot;block&quot; data-is-equatio=&quot;1&quot; data-latex=&quot;\frac{3}{6}&quot;&gt;&lt;mfrac&gt;&lt;mn&gt;3&lt;/mn&gt;&lt;mn&gt;6&lt;/mn&gt;&lt;/mfrac&gt;&lt;/math&gt;" title="three sixth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976400" y="1481480"/>
              <a:ext cx="112031" cy="3600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030" name="Google Shape;1030;p72"/>
          <p:cNvCxnSpPr/>
          <p:nvPr/>
        </p:nvCxnSpPr>
        <p:spPr>
          <a:xfrm>
            <a:off x="5772348" y="3632379"/>
            <a:ext cx="1175100" cy="794400"/>
          </a:xfrm>
          <a:prstGeom prst="straightConnector1">
            <a:avLst/>
          </a:prstGeom>
          <a:noFill/>
          <a:ln w="76200" cap="flat" cmpd="sng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31" name="Google Shape;1031;p72"/>
          <p:cNvCxnSpPr/>
          <p:nvPr/>
        </p:nvCxnSpPr>
        <p:spPr>
          <a:xfrm>
            <a:off x="5812948" y="3518403"/>
            <a:ext cx="1208400" cy="0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032" name="Google Shape;1032;p72"/>
          <p:cNvCxnSpPr/>
          <p:nvPr/>
        </p:nvCxnSpPr>
        <p:spPr>
          <a:xfrm rot="10800000" flipH="1">
            <a:off x="5772348" y="2616056"/>
            <a:ext cx="1175100" cy="79440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3" name="Google Shape;1033;p72"/>
          <p:cNvSpPr/>
          <p:nvPr/>
        </p:nvSpPr>
        <p:spPr>
          <a:xfrm>
            <a:off x="1288400" y="4165975"/>
            <a:ext cx="658200" cy="277200"/>
          </a:xfrm>
          <a:prstGeom prst="rect">
            <a:avLst/>
          </a:prstGeom>
          <a:solidFill>
            <a:srgbClr val="FAEAF6"/>
          </a:solidFill>
          <a:ln w="28575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draw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2"/>
          <p:cNvSpPr/>
          <p:nvPr/>
        </p:nvSpPr>
        <p:spPr>
          <a:xfrm>
            <a:off x="1288400" y="3655787"/>
            <a:ext cx="658200" cy="277200"/>
          </a:xfrm>
          <a:prstGeom prst="rect">
            <a:avLst/>
          </a:prstGeom>
          <a:solidFill>
            <a:srgbClr val="EBEDFE"/>
          </a:solidFill>
          <a:ln w="28575" cap="flat" cmpd="sng">
            <a:solidFill>
              <a:srgbClr val="374CF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2"/>
          <p:cNvSpPr/>
          <p:nvPr/>
        </p:nvSpPr>
        <p:spPr>
          <a:xfrm>
            <a:off x="1288400" y="3152351"/>
            <a:ext cx="658200" cy="2772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6" name="Google Shape;1036;p72"/>
          <p:cNvGrpSpPr/>
          <p:nvPr/>
        </p:nvGrpSpPr>
        <p:grpSpPr>
          <a:xfrm>
            <a:off x="1662507" y="657950"/>
            <a:ext cx="2167800" cy="1233000"/>
            <a:chOff x="3640539" y="663675"/>
            <a:chExt cx="2167800" cy="1233000"/>
          </a:xfrm>
        </p:grpSpPr>
        <p:sp>
          <p:nvSpPr>
            <p:cNvPr id="1037" name="Google Shape;1037;p72"/>
            <p:cNvSpPr txBox="1"/>
            <p:nvPr/>
          </p:nvSpPr>
          <p:spPr>
            <a:xfrm>
              <a:off x="3640539" y="663675"/>
              <a:ext cx="21678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Each individual outcome has a    probability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of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happening.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038" name="Google Shape;1038;p72" descr="&lt;math xmlns=&quot;http://www.w3.org/1998/Math/MathML&quot; display=&quot;block&quot; data-is-equatio=&quot;1&quot; data-latex=&quot;\frac{1}{6}&quot;&gt;&lt;mfrac&gt;&lt;mn&gt;1&lt;/mn&gt;&lt;mn&gt;6&lt;/mn&gt;&lt;/mfrac&gt;&lt;/math&gt;" title="one six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47620" y="899725"/>
              <a:ext cx="135525" cy="433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2" name="Shape 1042"/>
        <p:cNvGrpSpPr/>
        <p:nvPr/>
      </p:nvGrpSpPr>
      <p:grpSpPr>
        <a:xfrm>
          <a:off x="0" y="0"/>
          <a:ext cx="0" cy="0"/>
        </a:xfrm>
      </p:grpSpPr>
      <p:pic>
        <p:nvPicPr>
          <p:cNvPr id="1043" name="Google Shape;1043;p73" descr="&lt;math xmlns=&quot;http://www.w3.org/1998/Math/MathML&quot; display=&quot;block&quot; data-is-equatio=&quot;1&quot; data-latex=&quot;\frac{3}{11}&quot;&gt;&lt;mfrac&gt;&lt;mn&gt;3&lt;/mn&gt;&lt;mn&gt;11&lt;/mn&gt;&lt;/mfrac&gt;&lt;/math&gt;" title="3 over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2063" y="2321732"/>
            <a:ext cx="24192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73"/>
          <p:cNvSpPr txBox="1"/>
          <p:nvPr/>
        </p:nvSpPr>
        <p:spPr>
          <a:xfrm>
            <a:off x="315450" y="587392"/>
            <a:ext cx="85047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will spin a spinner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She begins to show the probability that the spinner will land on each unique outcome using both a tree diagram and a frequency table, but both are incomplete.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values would go where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a, b, c, and d are?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Outcomes and probabilities across different diagrams</a:t>
            </a:r>
            <a:endParaRPr/>
          </a:p>
        </p:txBody>
      </p:sp>
      <p:graphicFrame>
        <p:nvGraphicFramePr>
          <p:cNvPr id="1046" name="Google Shape;1046;p73"/>
          <p:cNvGraphicFramePr>
            <a:graphicFrameLocks noGrp="1"/>
          </p:cNvGraphicFramePr>
          <p:nvPr/>
        </p:nvGraphicFramePr>
        <p:xfrm>
          <a:off x="487738" y="29501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660475"/>
                <a:gridCol w="1238575"/>
                <a:gridCol w="1238575"/>
              </a:tblGrid>
              <a:tr h="27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lemon (L)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P(L)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strawberry (S)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P(S)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kiwi (K)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P(K)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grpSp>
        <p:nvGrpSpPr>
          <p:cNvPr id="1047" name="Google Shape;1047;p73"/>
          <p:cNvGrpSpPr/>
          <p:nvPr/>
        </p:nvGrpSpPr>
        <p:grpSpPr>
          <a:xfrm>
            <a:off x="6302876" y="2071296"/>
            <a:ext cx="1609600" cy="2711265"/>
            <a:chOff x="7210400" y="835432"/>
            <a:chExt cx="1609600" cy="1986420"/>
          </a:xfrm>
        </p:grpSpPr>
        <p:grpSp>
          <p:nvGrpSpPr>
            <p:cNvPr id="1048" name="Google Shape;1048;p73"/>
            <p:cNvGrpSpPr/>
            <p:nvPr/>
          </p:nvGrpSpPr>
          <p:grpSpPr>
            <a:xfrm>
              <a:off x="7210400" y="962406"/>
              <a:ext cx="1249000" cy="1810723"/>
              <a:chOff x="7278800" y="733806"/>
              <a:chExt cx="1249000" cy="1810723"/>
            </a:xfrm>
          </p:grpSpPr>
          <p:cxnSp>
            <p:nvCxnSpPr>
              <p:cNvPr id="1049" name="Google Shape;1049;p73"/>
              <p:cNvCxnSpPr/>
              <p:nvPr/>
            </p:nvCxnSpPr>
            <p:spPr>
              <a:xfrm>
                <a:off x="7278800" y="1750129"/>
                <a:ext cx="1175100" cy="794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0" name="Google Shape;1050;p73"/>
              <p:cNvCxnSpPr/>
              <p:nvPr/>
            </p:nvCxnSpPr>
            <p:spPr>
              <a:xfrm>
                <a:off x="7319400" y="1636153"/>
                <a:ext cx="1208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1" name="Google Shape;1051;p73"/>
              <p:cNvCxnSpPr/>
              <p:nvPr/>
            </p:nvCxnSpPr>
            <p:spPr>
              <a:xfrm rot="10800000" flipH="1">
                <a:off x="7278800" y="733806"/>
                <a:ext cx="1175100" cy="794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052" name="Google Shape;1052;p73"/>
            <p:cNvSpPr txBox="1"/>
            <p:nvPr/>
          </p:nvSpPr>
          <p:spPr>
            <a:xfrm>
              <a:off x="8396100" y="835432"/>
              <a:ext cx="4239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3" name="Google Shape;1053;p73"/>
            <p:cNvSpPr txBox="1"/>
            <p:nvPr/>
          </p:nvSpPr>
          <p:spPr>
            <a:xfrm>
              <a:off x="8396100" y="1729163"/>
              <a:ext cx="4239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4" name="Google Shape;1054;p73"/>
            <p:cNvSpPr txBox="1"/>
            <p:nvPr/>
          </p:nvSpPr>
          <p:spPr>
            <a:xfrm>
              <a:off x="8396100" y="2618753"/>
              <a:ext cx="4239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K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55" name="Google Shape;1055;p73"/>
          <p:cNvSpPr/>
          <p:nvPr/>
        </p:nvSpPr>
        <p:spPr>
          <a:xfrm>
            <a:off x="6066276" y="3334304"/>
            <a:ext cx="277200" cy="2772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6" name="Google Shape;1056;p73" descr="&lt;math xmlns=&quot;http://www.w3.org/1998/Math/MathML&quot; display=&quot;block&quot; data-is-equatio=&quot;1&quot; data-latex=&quot;\frac{3}{11}&quot;&gt;&lt;mfrac&gt;&lt;mn&gt;3&lt;/mn&gt;&lt;mn&gt;11&lt;/mn&gt;&lt;/mfrac&gt;&lt;/math&gt;" title="3 over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0938" y="3263657"/>
            <a:ext cx="241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73" descr="&lt;math xmlns=&quot;http://www.w3.org/1998/Math/MathML&quot; display=&quot;block&quot; data-is-equatio=&quot;1&quot; data-latex=&quot;\frac{2}{11}&quot;&gt;&lt;mfrac&gt;&lt;mn&gt;2&lt;/mn&gt;&lt;mn&gt;11&lt;/mn&gt;&lt;/mfrac&gt;&lt;/math&gt;" title="2 over 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8143" y="4289520"/>
            <a:ext cx="227510" cy="406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p73" descr="&lt;math xmlns=&quot;http://www.w3.org/1998/Math/MathML&quot; display=&quot;block&quot; data-is-equatio=&quot;1&quot; data-latex=&quot;\frac{6}{11}&quot;&gt;&lt;mfrac&gt;&lt;mn&gt;6&lt;/mn&gt;&lt;mn&gt;11&lt;/mn&gt;&lt;/mfrac&gt;&lt;/math&gt;" title="6 over 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8988" y="3010652"/>
            <a:ext cx="241920" cy="43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9" name="Google Shape;1059;p73"/>
          <p:cNvGrpSpPr/>
          <p:nvPr/>
        </p:nvGrpSpPr>
        <p:grpSpPr>
          <a:xfrm>
            <a:off x="7028405" y="4018923"/>
            <a:ext cx="243093" cy="243093"/>
            <a:chOff x="1020916" y="1442088"/>
            <a:chExt cx="457200" cy="457200"/>
          </a:xfrm>
        </p:grpSpPr>
        <p:pic>
          <p:nvPicPr>
            <p:cNvPr id="1060" name="Google Shape;1060;p7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1" name="Google Shape;1061;p73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2" name="Google Shape;1062;p73"/>
          <p:cNvGrpSpPr/>
          <p:nvPr/>
        </p:nvGrpSpPr>
        <p:grpSpPr>
          <a:xfrm>
            <a:off x="6691484" y="2492373"/>
            <a:ext cx="243093" cy="243093"/>
            <a:chOff x="1020916" y="1442088"/>
            <a:chExt cx="457200" cy="457200"/>
          </a:xfrm>
        </p:grpSpPr>
        <p:pic>
          <p:nvPicPr>
            <p:cNvPr id="1063" name="Google Shape;1063;p7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4" name="Google Shape;1064;p73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5" name="Google Shape;1065;p73"/>
          <p:cNvGrpSpPr/>
          <p:nvPr/>
        </p:nvGrpSpPr>
        <p:grpSpPr>
          <a:xfrm>
            <a:off x="4250355" y="3871036"/>
            <a:ext cx="243093" cy="243093"/>
            <a:chOff x="1020916" y="1442088"/>
            <a:chExt cx="457200" cy="457200"/>
          </a:xfrm>
        </p:grpSpPr>
        <p:pic>
          <p:nvPicPr>
            <p:cNvPr id="1066" name="Google Shape;1066;p7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73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8" name="Google Shape;1068;p73"/>
          <p:cNvGrpSpPr/>
          <p:nvPr/>
        </p:nvGrpSpPr>
        <p:grpSpPr>
          <a:xfrm>
            <a:off x="2675655" y="4371111"/>
            <a:ext cx="243093" cy="243093"/>
            <a:chOff x="1020916" y="1442088"/>
            <a:chExt cx="457200" cy="457200"/>
          </a:xfrm>
        </p:grpSpPr>
        <p:pic>
          <p:nvPicPr>
            <p:cNvPr id="1069" name="Google Shape;1069;p7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0" name="Google Shape;1070;p73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1" name="Google Shape;1071;p73" descr="&lt;math xmlns=&quot;http://www.w3.org/1998/Math/MathML&quot; display=&quot;block&quot; data-is-equatio=&quot;1&quot; data-latex=&quot;\frac{2}{11}&quot;&gt;&lt;mfrac&gt;&lt;mn&gt;2&lt;/mn&gt;&lt;mn&gt;11&lt;/mn&gt;&lt;/mfrac&gt;&lt;/math&gt;" title="2 over 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36193" y="3861145"/>
            <a:ext cx="227510" cy="406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73" descr="&lt;math xmlns=&quot;http://www.w3.org/1998/Math/MathML&quot; display=&quot;block&quot; data-is-equatio=&quot;1&quot; data-latex=&quot;\frac{6}{11}&quot;&gt;&lt;mfrac&gt;&lt;mn&gt;6&lt;/mn&gt;&lt;mn&gt;11&lt;/mn&gt;&lt;/mfrac&gt;&lt;/math&gt;" title="6 over 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0938" y="3768877"/>
            <a:ext cx="24192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6" name="Shape 1076"/>
        <p:cNvGrpSpPr/>
        <p:nvPr/>
      </p:nvGrpSpPr>
      <p:grpSpPr>
        <a:xfrm>
          <a:off x="0" y="0"/>
          <a:ext cx="0" cy="0"/>
        </a:xfrm>
      </p:grpSpPr>
      <p:graphicFrame>
        <p:nvGraphicFramePr>
          <p:cNvPr id="1077" name="Google Shape;1077;p74"/>
          <p:cNvGraphicFramePr>
            <a:graphicFrameLocks noGrp="1"/>
          </p:cNvGraphicFramePr>
          <p:nvPr/>
        </p:nvGraphicFramePr>
        <p:xfrm>
          <a:off x="7451025" y="1148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171125"/>
              </a:tblGrid>
              <a:tr h="294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toffee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294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fudge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294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fudge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294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earwax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294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toffee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294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toffee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294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earwax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294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toffee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294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toffee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294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toffee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294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078" name="Google Shape;1078;p74"/>
          <p:cNvSpPr txBox="1"/>
          <p:nvPr/>
        </p:nvSpPr>
        <p:spPr>
          <a:xfrm>
            <a:off x="7450975" y="4106425"/>
            <a:ext cx="1171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earwax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9" name="Google Shape;1079;p74"/>
          <p:cNvSpPr txBox="1"/>
          <p:nvPr/>
        </p:nvSpPr>
        <p:spPr>
          <a:xfrm>
            <a:off x="315450" y="1263674"/>
            <a:ext cx="5933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will randomly choose one sweet from the box.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 begins to create a list of possible outcomes and a frequency table to show the probability he chooses a certain sweet. However, both are incomplete.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74"/>
          <p:cNvSpPr txBox="1"/>
          <p:nvPr/>
        </p:nvSpPr>
        <p:spPr>
          <a:xfrm>
            <a:off x="315450" y="628507"/>
            <a:ext cx="8504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has a novelty box containing 11 sweets. The box only contains: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toffee (T), fudge (F), and earwax (E) sweets.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Outcomes and probabilities across different diagrams</a:t>
            </a:r>
            <a:endParaRPr/>
          </a:p>
        </p:txBody>
      </p:sp>
      <p:sp>
        <p:nvSpPr>
          <p:cNvPr id="1082" name="Google Shape;1082;p74"/>
          <p:cNvSpPr txBox="1"/>
          <p:nvPr/>
        </p:nvSpPr>
        <p:spPr>
          <a:xfrm>
            <a:off x="6973450" y="4474675"/>
            <a:ext cx="1576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list of sweets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83" name="Google Shape;1083;p74"/>
          <p:cNvGraphicFramePr>
            <a:graphicFrameLocks noGrp="1"/>
          </p:cNvGraphicFramePr>
          <p:nvPr/>
        </p:nvGraphicFramePr>
        <p:xfrm>
          <a:off x="3134433" y="24518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126000"/>
                <a:gridCol w="1238575"/>
                <a:gridCol w="1423600"/>
              </a:tblGrid>
              <a:tr h="27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P(T)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P(F)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P(E)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84" name="Google Shape;1084;p74"/>
          <p:cNvSpPr txBox="1"/>
          <p:nvPr/>
        </p:nvSpPr>
        <p:spPr>
          <a:xfrm>
            <a:off x="315450" y="2891350"/>
            <a:ext cx="2571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values would go where a, b, c, d and e are?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5" name="Google Shape;108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9074" y="2761908"/>
            <a:ext cx="241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74" descr="&lt;math xmlns=&quot;http://www.w3.org/1998/Math/MathML&quot; display=&quot;block&quot; data-is-equatio=&quot;1&quot; data-latex=&quot;\frac{3}{11}&quot;&gt;&lt;mfrac&gt;&lt;mn&gt;3&lt;/mn&gt;&lt;mn&gt;11&lt;/mn&gt;&lt;/mfrac&gt;&lt;/math&gt;" title="3 over 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9086" y="3773158"/>
            <a:ext cx="241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74" descr="&lt;math xmlns=&quot;http://www.w3.org/1998/Math/MathML&quot; display=&quot;block&quot; data-is-equatio=&quot;1&quot; data-latex=&quot;\frac{2}{11}&quot;&gt;&lt;mfrac&gt;&lt;mn&gt;2&lt;/mn&gt;&lt;mn&gt;11&lt;/mn&gt;&lt;/mfrac&gt;&lt;/math&gt;" title="2 over 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9074" y="3264108"/>
            <a:ext cx="241920" cy="43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8" name="Google Shape;1088;p74"/>
          <p:cNvGrpSpPr/>
          <p:nvPr/>
        </p:nvGrpSpPr>
        <p:grpSpPr>
          <a:xfrm>
            <a:off x="4772784" y="2856348"/>
            <a:ext cx="3385343" cy="1777543"/>
            <a:chOff x="4772784" y="2856348"/>
            <a:chExt cx="3385343" cy="1777543"/>
          </a:xfrm>
        </p:grpSpPr>
        <p:grpSp>
          <p:nvGrpSpPr>
            <p:cNvPr id="1089" name="Google Shape;1089;p74"/>
            <p:cNvGrpSpPr/>
            <p:nvPr/>
          </p:nvGrpSpPr>
          <p:grpSpPr>
            <a:xfrm>
              <a:off x="4772784" y="2856348"/>
              <a:ext cx="1948806" cy="1777543"/>
              <a:chOff x="4772784" y="2856348"/>
              <a:chExt cx="1948806" cy="1777543"/>
            </a:xfrm>
          </p:grpSpPr>
          <p:grpSp>
            <p:nvGrpSpPr>
              <p:cNvPr id="1090" name="Google Shape;1090;p74"/>
              <p:cNvGrpSpPr/>
              <p:nvPr/>
            </p:nvGrpSpPr>
            <p:grpSpPr>
              <a:xfrm>
                <a:off x="4772784" y="4390798"/>
                <a:ext cx="243093" cy="243093"/>
                <a:chOff x="1020916" y="1442088"/>
                <a:chExt cx="457200" cy="457200"/>
              </a:xfrm>
            </p:grpSpPr>
            <p:pic>
              <p:nvPicPr>
                <p:cNvPr id="1091" name="Google Shape;1091;p74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1020916" y="1442088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92" name="Google Shape;1092;p74"/>
                <p:cNvSpPr txBox="1"/>
                <p:nvPr/>
              </p:nvSpPr>
              <p:spPr>
                <a:xfrm>
                  <a:off x="1045521" y="1451202"/>
                  <a:ext cx="408000" cy="418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1800" b="1">
                      <a:solidFill>
                        <a:srgbClr val="FFFFFF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a</a:t>
                  </a:r>
                  <a:endParaRPr sz="1800" b="1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093" name="Google Shape;1093;p74"/>
              <p:cNvGrpSpPr/>
              <p:nvPr/>
            </p:nvGrpSpPr>
            <p:grpSpPr>
              <a:xfrm>
                <a:off x="4772784" y="2856348"/>
                <a:ext cx="243093" cy="243093"/>
                <a:chOff x="1020916" y="1442088"/>
                <a:chExt cx="457200" cy="457200"/>
              </a:xfrm>
            </p:grpSpPr>
            <p:pic>
              <p:nvPicPr>
                <p:cNvPr id="1094" name="Google Shape;1094;p74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1020916" y="1442088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95" name="Google Shape;1095;p74"/>
                <p:cNvSpPr txBox="1"/>
                <p:nvPr/>
              </p:nvSpPr>
              <p:spPr>
                <a:xfrm>
                  <a:off x="1045521" y="1451202"/>
                  <a:ext cx="408000" cy="418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1800" b="1">
                      <a:solidFill>
                        <a:srgbClr val="FFFFFF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b</a:t>
                  </a:r>
                  <a:endParaRPr sz="1800" b="1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096" name="Google Shape;1096;p74"/>
              <p:cNvGrpSpPr/>
              <p:nvPr/>
            </p:nvGrpSpPr>
            <p:grpSpPr>
              <a:xfrm>
                <a:off x="4772784" y="3867598"/>
                <a:ext cx="243093" cy="243093"/>
                <a:chOff x="1020916" y="1442088"/>
                <a:chExt cx="457200" cy="457200"/>
              </a:xfrm>
            </p:grpSpPr>
            <p:pic>
              <p:nvPicPr>
                <p:cNvPr id="1097" name="Google Shape;1097;p74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1020916" y="1442088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98" name="Google Shape;1098;p74"/>
                <p:cNvSpPr txBox="1"/>
                <p:nvPr/>
              </p:nvSpPr>
              <p:spPr>
                <a:xfrm>
                  <a:off x="1045521" y="1451202"/>
                  <a:ext cx="408000" cy="418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1800" b="1">
                      <a:solidFill>
                        <a:srgbClr val="FFFFFF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c</a:t>
                  </a:r>
                  <a:endParaRPr sz="1800" b="1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1099" name="Google Shape;1099;p74"/>
              <p:cNvGrpSpPr/>
              <p:nvPr/>
            </p:nvGrpSpPr>
            <p:grpSpPr>
              <a:xfrm>
                <a:off x="6478496" y="3867598"/>
                <a:ext cx="243093" cy="243093"/>
                <a:chOff x="1020916" y="1442088"/>
                <a:chExt cx="457200" cy="457200"/>
              </a:xfrm>
            </p:grpSpPr>
            <p:pic>
              <p:nvPicPr>
                <p:cNvPr id="1100" name="Google Shape;1100;p74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>
                  <a:off x="1020916" y="1442088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01" name="Google Shape;1101;p74"/>
                <p:cNvSpPr txBox="1"/>
                <p:nvPr/>
              </p:nvSpPr>
              <p:spPr>
                <a:xfrm>
                  <a:off x="1045521" y="1451202"/>
                  <a:ext cx="408000" cy="418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r>
                    <a:rPr lang="en-GB" sz="1800" b="1">
                      <a:solidFill>
                        <a:srgbClr val="FFFFFF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d</a:t>
                  </a:r>
                  <a:endParaRPr sz="1800" b="1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</p:grpSp>
        <p:grpSp>
          <p:nvGrpSpPr>
            <p:cNvPr id="1102" name="Google Shape;1102;p74"/>
            <p:cNvGrpSpPr/>
            <p:nvPr/>
          </p:nvGrpSpPr>
          <p:grpSpPr>
            <a:xfrm>
              <a:off x="7915034" y="4123483"/>
              <a:ext cx="243093" cy="243093"/>
              <a:chOff x="1020916" y="1442088"/>
              <a:chExt cx="457200" cy="457200"/>
            </a:xfrm>
          </p:grpSpPr>
          <p:pic>
            <p:nvPicPr>
              <p:cNvPr id="1103" name="Google Shape;1103;p74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04" name="Google Shape;1104;p74"/>
              <p:cNvSpPr txBox="1"/>
              <p:nvPr/>
            </p:nvSpPr>
            <p:spPr>
              <a:xfrm>
                <a:off x="1045521" y="1451202"/>
                <a:ext cx="408000" cy="41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800" b="1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08" name="Shape 1108"/>
        <p:cNvGrpSpPr/>
        <p:nvPr/>
      </p:nvGrpSpPr>
      <p:grpSpPr>
        <a:xfrm>
          <a:off x="0" y="0"/>
          <a:ext cx="0" cy="0"/>
        </a:xfrm>
      </p:grpSpPr>
      <p:graphicFrame>
        <p:nvGraphicFramePr>
          <p:cNvPr id="1109" name="Google Shape;1109;p75"/>
          <p:cNvGraphicFramePr>
            <a:graphicFrameLocks noGrp="1"/>
          </p:cNvGraphicFramePr>
          <p:nvPr/>
        </p:nvGraphicFramePr>
        <p:xfrm>
          <a:off x="472825" y="922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652375"/>
              </a:tblGrid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list of outcomes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</a:tr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forward (F)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forward (F)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forward (F)</a:t>
                      </a:r>
                      <a:endParaRPr sz="18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backward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backward (B)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 move (N)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 move (N)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 move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(N)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 move (N)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110" name="Google Shape;1110;p75"/>
          <p:cNvSpPr txBox="1"/>
          <p:nvPr/>
        </p:nvSpPr>
        <p:spPr>
          <a:xfrm>
            <a:off x="2988600" y="587400"/>
            <a:ext cx="5831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Andeep creates a list of equally likely outcomes from a spinner.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Use this list of outcomes to complete the frequency table and probability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7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Outcomes and probabilities across different diagrams</a:t>
            </a:r>
            <a:endParaRPr/>
          </a:p>
        </p:txBody>
      </p:sp>
      <p:graphicFrame>
        <p:nvGraphicFramePr>
          <p:cNvPr id="1112" name="Google Shape;1112;p75"/>
          <p:cNvGraphicFramePr>
            <a:graphicFrameLocks noGrp="1"/>
          </p:cNvGraphicFramePr>
          <p:nvPr/>
        </p:nvGraphicFramePr>
        <p:xfrm>
          <a:off x="2988608" y="21470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890825"/>
                <a:gridCol w="832875"/>
                <a:gridCol w="1210425"/>
              </a:tblGrid>
              <a:tr h="27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freq.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    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    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    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113" name="Google Shape;1113;p75"/>
          <p:cNvGrpSpPr/>
          <p:nvPr/>
        </p:nvGrpSpPr>
        <p:grpSpPr>
          <a:xfrm>
            <a:off x="6760076" y="2092202"/>
            <a:ext cx="1609600" cy="2537959"/>
            <a:chOff x="7210400" y="962406"/>
            <a:chExt cx="1609600" cy="1859447"/>
          </a:xfrm>
        </p:grpSpPr>
        <p:grpSp>
          <p:nvGrpSpPr>
            <p:cNvPr id="1114" name="Google Shape;1114;p75"/>
            <p:cNvGrpSpPr/>
            <p:nvPr/>
          </p:nvGrpSpPr>
          <p:grpSpPr>
            <a:xfrm>
              <a:off x="7210400" y="962406"/>
              <a:ext cx="1249000" cy="1810723"/>
              <a:chOff x="7278800" y="733806"/>
              <a:chExt cx="1249000" cy="1810723"/>
            </a:xfrm>
          </p:grpSpPr>
          <p:cxnSp>
            <p:nvCxnSpPr>
              <p:cNvPr id="1115" name="Google Shape;1115;p75"/>
              <p:cNvCxnSpPr/>
              <p:nvPr/>
            </p:nvCxnSpPr>
            <p:spPr>
              <a:xfrm>
                <a:off x="7278800" y="1750129"/>
                <a:ext cx="1175100" cy="794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6" name="Google Shape;1116;p75"/>
              <p:cNvCxnSpPr/>
              <p:nvPr/>
            </p:nvCxnSpPr>
            <p:spPr>
              <a:xfrm>
                <a:off x="7319400" y="1636153"/>
                <a:ext cx="1208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7" name="Google Shape;1117;p75"/>
              <p:cNvCxnSpPr/>
              <p:nvPr/>
            </p:nvCxnSpPr>
            <p:spPr>
              <a:xfrm rot="10800000" flipH="1">
                <a:off x="7278800" y="733806"/>
                <a:ext cx="1175100" cy="794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118" name="Google Shape;1118;p75"/>
            <p:cNvSpPr txBox="1"/>
            <p:nvPr/>
          </p:nvSpPr>
          <p:spPr>
            <a:xfrm>
              <a:off x="8396100" y="1729163"/>
              <a:ext cx="4239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9" name="Google Shape;1119;p75"/>
            <p:cNvSpPr txBox="1"/>
            <p:nvPr/>
          </p:nvSpPr>
          <p:spPr>
            <a:xfrm>
              <a:off x="8396100" y="2618753"/>
              <a:ext cx="4239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20" name="Google Shape;1120;p75"/>
          <p:cNvSpPr/>
          <p:nvPr/>
        </p:nvSpPr>
        <p:spPr>
          <a:xfrm>
            <a:off x="6523476" y="3181904"/>
            <a:ext cx="277200" cy="2772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4" name="Shape 1124"/>
        <p:cNvGrpSpPr/>
        <p:nvPr/>
      </p:nvGrpSpPr>
      <p:grpSpPr>
        <a:xfrm>
          <a:off x="0" y="0"/>
          <a:ext cx="0" cy="0"/>
        </a:xfrm>
      </p:grpSpPr>
      <p:graphicFrame>
        <p:nvGraphicFramePr>
          <p:cNvPr id="1125" name="Google Shape;1125;p76"/>
          <p:cNvGraphicFramePr>
            <a:graphicFrameLocks noGrp="1"/>
          </p:cNvGraphicFramePr>
          <p:nvPr/>
        </p:nvGraphicFramePr>
        <p:xfrm>
          <a:off x="595633" y="17173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890825"/>
                <a:gridCol w="832875"/>
                <a:gridCol w="1210425"/>
              </a:tblGrid>
              <a:tr h="27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freq.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(L)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P(L)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mouse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P(M)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whale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(W)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P(W)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turtle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(T)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P(T)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97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26" name="Google Shape;1126;p76"/>
          <p:cNvSpPr txBox="1"/>
          <p:nvPr/>
        </p:nvSpPr>
        <p:spPr>
          <a:xfrm>
            <a:off x="324000" y="642971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Both the complete frequency table and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incomplete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probability tree show the same trial of randomly choosing a certain animal from a game.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Complete the probability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7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Outcomes and probabilities across different diagrams</a:t>
            </a:r>
            <a:endParaRPr/>
          </a:p>
        </p:txBody>
      </p:sp>
      <p:grpSp>
        <p:nvGrpSpPr>
          <p:cNvPr id="1128" name="Google Shape;1128;p76"/>
          <p:cNvGrpSpPr/>
          <p:nvPr/>
        </p:nvGrpSpPr>
        <p:grpSpPr>
          <a:xfrm>
            <a:off x="5159875" y="1606198"/>
            <a:ext cx="1424052" cy="2786751"/>
            <a:chOff x="5921875" y="1910998"/>
            <a:chExt cx="1424052" cy="2786751"/>
          </a:xfrm>
        </p:grpSpPr>
        <p:cxnSp>
          <p:nvCxnSpPr>
            <p:cNvPr id="1129" name="Google Shape;1129;p76"/>
            <p:cNvCxnSpPr/>
            <p:nvPr/>
          </p:nvCxnSpPr>
          <p:spPr>
            <a:xfrm>
              <a:off x="5921876" y="3495949"/>
              <a:ext cx="1175100" cy="1201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0" name="Google Shape;1130;p76"/>
            <p:cNvCxnSpPr/>
            <p:nvPr/>
          </p:nvCxnSpPr>
          <p:spPr>
            <a:xfrm rot="10800000" flipH="1">
              <a:off x="5921876" y="1958442"/>
              <a:ext cx="1175100" cy="1201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1" name="Google Shape;1131;p76"/>
            <p:cNvCxnSpPr/>
            <p:nvPr/>
          </p:nvCxnSpPr>
          <p:spPr>
            <a:xfrm>
              <a:off x="5921875" y="3378973"/>
              <a:ext cx="1175100" cy="375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2" name="Google Shape;1132;p76"/>
            <p:cNvCxnSpPr/>
            <p:nvPr/>
          </p:nvCxnSpPr>
          <p:spPr>
            <a:xfrm rot="10800000" flipH="1">
              <a:off x="5921875" y="2898057"/>
              <a:ext cx="1175100" cy="375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33" name="Google Shape;1133;p76"/>
            <p:cNvSpPr txBox="1"/>
            <p:nvPr/>
          </p:nvSpPr>
          <p:spPr>
            <a:xfrm>
              <a:off x="7099627" y="1910998"/>
              <a:ext cx="246300" cy="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34" name="Google Shape;1134;p76" descr="&lt;math xmlns=&quot;http://www.w3.org/1998/Math/MathML&quot; display=&quot;block&quot; data-is-equatio=&quot;1&quot; data-latex=&quot;\frac{5}{35}&quot;&gt;&lt;mfrac&gt;&lt;mn&gt;5&lt;/mn&gt;&lt;mn&gt;35&lt;/mn&gt;&lt;/mfrac&gt;&lt;/math&gt;" title="5 over 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2308" y="2058671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p76" descr="&lt;math xmlns=&quot;http://www.w3.org/1998/Math/MathML&quot; display=&quot;block&quot; data-is-equatio=&quot;1&quot; data-latex=&quot;\frac{12}{35}&quot;&gt;&lt;mfrac&gt;&lt;mn&gt;12&lt;/mn&gt;&lt;mn&gt;35&lt;/mn&gt;&lt;/mfrac&gt;&lt;/math&gt;" title="12 over 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2303" y="2612596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p76" descr="&lt;math xmlns=&quot;http://www.w3.org/1998/Math/MathML&quot; display=&quot;block&quot; data-is-equatio=&quot;1&quot; data-latex=&quot;\frac{3}{35}&quot;&gt;&lt;mfrac&gt;&lt;mn&gt;3&lt;/mn&gt;&lt;mn&gt;35&lt;/mn&gt;&lt;/mfrac&gt;&lt;/math&gt;" title="3 over 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308" y="3160071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76" descr="&lt;math xmlns=&quot;http://www.w3.org/1998/Math/MathML&quot; display=&quot;block&quot; data-is-equatio=&quot;1&quot; data-latex=&quot;\frac{15}{35}&quot;&gt;&lt;mfrac&gt;&lt;mn&gt;15&lt;/mn&gt;&lt;mn&gt;35&lt;/mn&gt;&lt;/mfrac&gt;&lt;/math&gt;" title="15 over 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2308" y="3713996"/>
            <a:ext cx="23760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76"/>
          <p:cNvSpPr txBox="1"/>
          <p:nvPr/>
        </p:nvSpPr>
        <p:spPr>
          <a:xfrm>
            <a:off x="6337627" y="3398179"/>
            <a:ext cx="246300" cy="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9" name="Google Shape;1139;p76" descr="&lt;math xmlns=&quot;http://www.w3.org/1998/Math/MathML&quot; display=&quot;block&quot; data-is-equatio=&quot;1&quot; data-latex=&quot;\frac{15}{35}&quot;&gt;&lt;mfrac&gt;&lt;mn&gt;15&lt;/mn&gt;&lt;mn&gt;35&lt;/mn&gt;&lt;/mfrac&gt;&lt;/math&gt;" title="15 over 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01655" y="3714015"/>
            <a:ext cx="23760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76"/>
          <p:cNvSpPr/>
          <p:nvPr/>
        </p:nvSpPr>
        <p:spPr>
          <a:xfrm>
            <a:off x="4935051" y="2860929"/>
            <a:ext cx="277200" cy="2772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44" name="Shape 1144"/>
        <p:cNvGrpSpPr/>
        <p:nvPr/>
      </p:nvGrpSpPr>
      <p:grpSpPr>
        <a:xfrm>
          <a:off x="0" y="0"/>
          <a:ext cx="0" cy="0"/>
        </a:xfrm>
      </p:grpSpPr>
      <p:sp>
        <p:nvSpPr>
          <p:cNvPr id="1145" name="Google Shape;1145;p77"/>
          <p:cNvSpPr txBox="1"/>
          <p:nvPr/>
        </p:nvSpPr>
        <p:spPr>
          <a:xfrm>
            <a:off x="324000" y="642971"/>
            <a:ext cx="8496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Both the incomplete frequency table and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incomplete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probability tree show the same trial of selecting a party hat of a certain colour at random.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Complete both diagrams.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Create a list showing the colour of every party hat.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Outcomes and probabilities across different diagrams</a:t>
            </a:r>
            <a:endParaRPr/>
          </a:p>
        </p:txBody>
      </p:sp>
      <p:grpSp>
        <p:nvGrpSpPr>
          <p:cNvPr id="1147" name="Google Shape;1147;p77"/>
          <p:cNvGrpSpPr/>
          <p:nvPr/>
        </p:nvGrpSpPr>
        <p:grpSpPr>
          <a:xfrm>
            <a:off x="5921875" y="1834798"/>
            <a:ext cx="1424052" cy="2940502"/>
            <a:chOff x="5921875" y="1910998"/>
            <a:chExt cx="1424052" cy="2940502"/>
          </a:xfrm>
        </p:grpSpPr>
        <p:cxnSp>
          <p:nvCxnSpPr>
            <p:cNvPr id="1148" name="Google Shape;1148;p77"/>
            <p:cNvCxnSpPr/>
            <p:nvPr/>
          </p:nvCxnSpPr>
          <p:spPr>
            <a:xfrm>
              <a:off x="5921876" y="3495949"/>
              <a:ext cx="1175100" cy="1201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9" name="Google Shape;1149;p77"/>
            <p:cNvCxnSpPr/>
            <p:nvPr/>
          </p:nvCxnSpPr>
          <p:spPr>
            <a:xfrm rot="10800000" flipH="1">
              <a:off x="5921876" y="1958442"/>
              <a:ext cx="1175100" cy="1201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50" name="Google Shape;1150;p77"/>
            <p:cNvSpPr txBox="1"/>
            <p:nvPr/>
          </p:nvSpPr>
          <p:spPr>
            <a:xfrm>
              <a:off x="7099628" y="4544300"/>
              <a:ext cx="246300" cy="30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51" name="Google Shape;1151;p77"/>
            <p:cNvCxnSpPr/>
            <p:nvPr/>
          </p:nvCxnSpPr>
          <p:spPr>
            <a:xfrm>
              <a:off x="5921875" y="3378973"/>
              <a:ext cx="1175100" cy="375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2" name="Google Shape;1152;p77"/>
            <p:cNvCxnSpPr/>
            <p:nvPr/>
          </p:nvCxnSpPr>
          <p:spPr>
            <a:xfrm rot="10800000" flipH="1">
              <a:off x="5921875" y="2898057"/>
              <a:ext cx="1175100" cy="375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53" name="Google Shape;1153;p77"/>
            <p:cNvSpPr txBox="1"/>
            <p:nvPr/>
          </p:nvSpPr>
          <p:spPr>
            <a:xfrm>
              <a:off x="7099627" y="2848645"/>
              <a:ext cx="246300" cy="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V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4" name="Google Shape;1154;p77"/>
            <p:cNvSpPr txBox="1"/>
            <p:nvPr/>
          </p:nvSpPr>
          <p:spPr>
            <a:xfrm>
              <a:off x="7099627" y="1910998"/>
              <a:ext cx="246300" cy="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155" name="Google Shape;1155;p77"/>
          <p:cNvGraphicFramePr>
            <a:graphicFrameLocks noGrp="1"/>
          </p:cNvGraphicFramePr>
          <p:nvPr/>
        </p:nvGraphicFramePr>
        <p:xfrm>
          <a:off x="595633" y="19459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890825"/>
                <a:gridCol w="832875"/>
                <a:gridCol w="1210425"/>
              </a:tblGrid>
              <a:tr h="27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freq.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(R)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P(R)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/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P(V) = </a:t>
                      </a:r>
                      <a:endParaRPr/>
                    </a:p>
                  </a:txBody>
                  <a:tcPr marL="0" marR="0" marT="0" marB="0" anchor="ctr"/>
                </a:tc>
              </a:tr>
              <a:tr h="397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156" name="Google Shape;1156;p77" descr="&lt;math xmlns=&quot;http://www.w3.org/1998/Math/MathML&quot; display=&quot;block&quot; data-is-equatio=&quot;1&quot; data-latex=&quot;\frac{5}{14}&quot;&gt;&lt;mfrac&gt;&lt;mn&gt;5&lt;/mn&gt;&lt;mn&gt;14&lt;/mn&gt;&lt;/mfrac&gt;&lt;/math&gt;" title="5 over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7883" y="2296947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p77" descr="&lt;math xmlns=&quot;http://www.w3.org/1998/Math/MathML&quot; display=&quot;block&quot; data-is-equatio=&quot;1&quot; data-latex=&quot;\frac{3}{14}&quot;&gt;&lt;mfrac&gt;&lt;mn&gt;3&lt;/mn&gt;&lt;mn&gt;14&lt;/mn&gt;&lt;/mfrac&gt;&lt;/math&gt;" title="3 over 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5110" y="3865384"/>
            <a:ext cx="241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p77" descr="&lt;math xmlns=&quot;http://www.w3.org/1998/Math/MathML&quot; display=&quot;block&quot; data-is-equatio=&quot;1&quot; data-latex=&quot;\frac{5}{14}&quot;&gt;&lt;mfrac&gt;&lt;mn&gt;5&lt;/mn&gt;&lt;mn&gt;14&lt;/mn&gt;&lt;/mfrac&gt;&lt;/math&gt;" title="5 over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7258" y="3135268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p77" descr="&lt;math xmlns=&quot;http://www.w3.org/1998/Math/MathML&quot; display=&quot;block&quot; data-is-equatio=&quot;1&quot; data-latex=&quot;\frac{4}{14}&quot;&gt;&lt;mfrac&gt;&lt;mn&gt;4&lt;/mn&gt;&lt;mn&gt;14&lt;/mn&gt;&lt;/mfrac&gt;&lt;/math&gt;" title="4 over 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8652" y="1866913"/>
            <a:ext cx="23760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77"/>
          <p:cNvSpPr/>
          <p:nvPr/>
        </p:nvSpPr>
        <p:spPr>
          <a:xfrm>
            <a:off x="5671351" y="3109117"/>
            <a:ext cx="277200" cy="2772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64" name="Shape 1164"/>
        <p:cNvGrpSpPr/>
        <p:nvPr/>
      </p:nvGrpSpPr>
      <p:grpSpPr>
        <a:xfrm>
          <a:off x="0" y="0"/>
          <a:ext cx="0" cy="0"/>
        </a:xfrm>
      </p:grpSpPr>
      <p:graphicFrame>
        <p:nvGraphicFramePr>
          <p:cNvPr id="1165" name="Google Shape;1165;p78"/>
          <p:cNvGraphicFramePr>
            <a:graphicFrameLocks noGrp="1"/>
          </p:cNvGraphicFramePr>
          <p:nvPr/>
        </p:nvGraphicFramePr>
        <p:xfrm>
          <a:off x="472825" y="922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652375"/>
              </a:tblGrid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list of outcomes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</a:tr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forward (F)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forward (F)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forward (F)</a:t>
                      </a:r>
                      <a:endParaRPr sz="18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backward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backward (B)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 move (N)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 move (N)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 move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(N)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71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 move (N)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166" name="Google Shape;1166;p78"/>
          <p:cNvSpPr txBox="1"/>
          <p:nvPr/>
        </p:nvSpPr>
        <p:spPr>
          <a:xfrm>
            <a:off x="2988600" y="587400"/>
            <a:ext cx="5831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Andeep creates a list of equally likely outcomes from a spinner.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Use this list of outcomes to complete the frequency table and probability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Outcomes and probabilities across different diagrams</a:t>
            </a:r>
            <a:endParaRPr/>
          </a:p>
        </p:txBody>
      </p:sp>
      <p:graphicFrame>
        <p:nvGraphicFramePr>
          <p:cNvPr id="1168" name="Google Shape;1168;p78"/>
          <p:cNvGraphicFramePr>
            <a:graphicFrameLocks noGrp="1"/>
          </p:cNvGraphicFramePr>
          <p:nvPr/>
        </p:nvGraphicFramePr>
        <p:xfrm>
          <a:off x="2988608" y="21470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890825"/>
                <a:gridCol w="832875"/>
                <a:gridCol w="1210425"/>
              </a:tblGrid>
              <a:tr h="27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freq.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    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    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/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    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169" name="Google Shape;1169;p78"/>
          <p:cNvGrpSpPr/>
          <p:nvPr/>
        </p:nvGrpSpPr>
        <p:grpSpPr>
          <a:xfrm>
            <a:off x="6760076" y="1918896"/>
            <a:ext cx="1609600" cy="2711265"/>
            <a:chOff x="7210400" y="835432"/>
            <a:chExt cx="1609600" cy="1986420"/>
          </a:xfrm>
        </p:grpSpPr>
        <p:grpSp>
          <p:nvGrpSpPr>
            <p:cNvPr id="1170" name="Google Shape;1170;p78"/>
            <p:cNvGrpSpPr/>
            <p:nvPr/>
          </p:nvGrpSpPr>
          <p:grpSpPr>
            <a:xfrm>
              <a:off x="7210400" y="962406"/>
              <a:ext cx="1249000" cy="1810723"/>
              <a:chOff x="7278800" y="733806"/>
              <a:chExt cx="1249000" cy="1810723"/>
            </a:xfrm>
          </p:grpSpPr>
          <p:cxnSp>
            <p:nvCxnSpPr>
              <p:cNvPr id="1171" name="Google Shape;1171;p78"/>
              <p:cNvCxnSpPr/>
              <p:nvPr/>
            </p:nvCxnSpPr>
            <p:spPr>
              <a:xfrm>
                <a:off x="7278800" y="1750129"/>
                <a:ext cx="1175100" cy="794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2" name="Google Shape;1172;p78"/>
              <p:cNvCxnSpPr/>
              <p:nvPr/>
            </p:nvCxnSpPr>
            <p:spPr>
              <a:xfrm>
                <a:off x="7319400" y="1636153"/>
                <a:ext cx="1208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73" name="Google Shape;1173;p78"/>
              <p:cNvCxnSpPr/>
              <p:nvPr/>
            </p:nvCxnSpPr>
            <p:spPr>
              <a:xfrm rot="10800000" flipH="1">
                <a:off x="7278800" y="733806"/>
                <a:ext cx="1175100" cy="794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174" name="Google Shape;1174;p78"/>
            <p:cNvSpPr txBox="1"/>
            <p:nvPr/>
          </p:nvSpPr>
          <p:spPr>
            <a:xfrm>
              <a:off x="8396100" y="835432"/>
              <a:ext cx="423900" cy="22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F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175" name="Google Shape;1175;p78"/>
            <p:cNvSpPr txBox="1"/>
            <p:nvPr/>
          </p:nvSpPr>
          <p:spPr>
            <a:xfrm>
              <a:off x="8396100" y="1729163"/>
              <a:ext cx="4239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6" name="Google Shape;1176;p78"/>
            <p:cNvSpPr txBox="1"/>
            <p:nvPr/>
          </p:nvSpPr>
          <p:spPr>
            <a:xfrm>
              <a:off x="8396100" y="2618753"/>
              <a:ext cx="4239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77" name="Google Shape;1177;p78"/>
          <p:cNvSpPr/>
          <p:nvPr/>
        </p:nvSpPr>
        <p:spPr>
          <a:xfrm>
            <a:off x="6523476" y="3181904"/>
            <a:ext cx="277200" cy="2772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78"/>
          <p:cNvSpPr txBox="1"/>
          <p:nvPr/>
        </p:nvSpPr>
        <p:spPr>
          <a:xfrm>
            <a:off x="5064125" y="3562400"/>
            <a:ext cx="26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78"/>
          <p:cNvSpPr txBox="1"/>
          <p:nvPr/>
        </p:nvSpPr>
        <p:spPr>
          <a:xfrm>
            <a:off x="5064125" y="3048966"/>
            <a:ext cx="26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78"/>
          <p:cNvSpPr txBox="1"/>
          <p:nvPr/>
        </p:nvSpPr>
        <p:spPr>
          <a:xfrm>
            <a:off x="5064125" y="2535532"/>
            <a:ext cx="26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1" name="Google Shape;1181;p78" descr="&lt;math xmlns=&quot;http://www.w3.org/1998/Math/MathML&quot; display=&quot;block&quot; data-is-equatio=&quot;1&quot; data-latex=&quot;\frac{3}{9}&quot;&gt;&lt;mfrac&gt;&lt;mn&gt;3&lt;/mn&gt;&lt;mn&gt;9&lt;/mn&gt;&lt;/mfrac&gt;&lt;/math&gt;" title="three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7438" y="2453039"/>
            <a:ext cx="133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p78" descr="&lt;math xmlns=&quot;http://www.w3.org/1998/Math/MathML&quot; display=&quot;block&quot; data-is-equatio=&quot;1&quot; data-latex=&quot;\frac{2}{9}&quot;&gt;&lt;mfrac&gt;&lt;mn&gt;2&lt;/mn&gt;&lt;mn&gt;9&lt;/mn&gt;&lt;/mfrac&gt;&lt;/math&gt;" title="two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7438" y="2966464"/>
            <a:ext cx="133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3" name="Google Shape;1183;p78" descr="&lt;math xmlns=&quot;http://www.w3.org/1998/Math/MathML&quot; display=&quot;block&quot; data-is-equatio=&quot;1&quot; data-latex=&quot;\frac{4}{9}&quot;&gt;&lt;mfrac&gt;&lt;mn&gt;4&lt;/mn&gt;&lt;mn&gt;9&lt;/mn&gt;&lt;/mfrac&gt;&lt;/math&gt;" title="four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7438" y="3479889"/>
            <a:ext cx="133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Google Shape;1184;p78" descr="&lt;math xmlns=&quot;http://www.w3.org/1998/Math/MathML&quot; display=&quot;block&quot; data-is-equatio=&quot;1&quot; data-latex=&quot;\frac{3}{9}&quot;&gt;&lt;mfrac&gt;&lt;mn&gt;3&lt;/mn&gt;&lt;mn&gt;9&lt;/mn&gt;&lt;/mfrac&gt;&lt;/math&gt;" title="three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2244" y="2038164"/>
            <a:ext cx="133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78" descr="&lt;math xmlns=&quot;http://www.w3.org/1998/Math/MathML&quot; display=&quot;block&quot; data-is-equatio=&quot;1&quot; data-latex=&quot;\frac{2}{9}&quot;&gt;&lt;mfrac&gt;&lt;mn&gt;2&lt;/mn&gt;&lt;mn&gt;9&lt;/mn&gt;&lt;/mfrac&gt;&lt;/math&gt;" title="two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5707" y="3886102"/>
            <a:ext cx="133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6" name="Google Shape;1186;p78" descr="&lt;math xmlns=&quot;http://www.w3.org/1998/Math/MathML&quot; display=&quot;block&quot; data-is-equatio=&quot;1&quot; data-latex=&quot;\frac{4}{9}&quot;&gt;&lt;mfrac&gt;&lt;mn&gt;4&lt;/mn&gt;&lt;mn&gt;9&lt;/mn&gt;&lt;/mfrac&gt;&lt;/math&gt;" title="four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43288" y="2858039"/>
            <a:ext cx="13392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0" name="Shape 1190"/>
        <p:cNvGrpSpPr/>
        <p:nvPr/>
      </p:nvGrpSpPr>
      <p:grpSpPr>
        <a:xfrm>
          <a:off x="0" y="0"/>
          <a:ext cx="0" cy="0"/>
        </a:xfrm>
      </p:grpSpPr>
      <p:graphicFrame>
        <p:nvGraphicFramePr>
          <p:cNvPr id="1191" name="Google Shape;1191;p79"/>
          <p:cNvGraphicFramePr>
            <a:graphicFrameLocks noGrp="1"/>
          </p:cNvGraphicFramePr>
          <p:nvPr/>
        </p:nvGraphicFramePr>
        <p:xfrm>
          <a:off x="595633" y="17173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890825"/>
                <a:gridCol w="832875"/>
                <a:gridCol w="1210425"/>
              </a:tblGrid>
              <a:tr h="272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freq.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(L)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P(L)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mouse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(M)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P(M)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whale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(W)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P(W)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064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turtle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(T)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P(T)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97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92" name="Google Shape;1192;p79"/>
          <p:cNvSpPr txBox="1"/>
          <p:nvPr/>
        </p:nvSpPr>
        <p:spPr>
          <a:xfrm>
            <a:off x="324000" y="642971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Both the complete frequency table and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incomplete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probability tree show the same trial of randomly choosing a certain animal from a game.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Complete the probability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Outcomes and probabilities across different diagrams</a:t>
            </a:r>
            <a:endParaRPr/>
          </a:p>
        </p:txBody>
      </p:sp>
      <p:grpSp>
        <p:nvGrpSpPr>
          <p:cNvPr id="1194" name="Google Shape;1194;p79"/>
          <p:cNvGrpSpPr/>
          <p:nvPr/>
        </p:nvGrpSpPr>
        <p:grpSpPr>
          <a:xfrm>
            <a:off x="4990850" y="1606198"/>
            <a:ext cx="1593078" cy="2940502"/>
            <a:chOff x="5752850" y="1910998"/>
            <a:chExt cx="1593078" cy="2940502"/>
          </a:xfrm>
        </p:grpSpPr>
        <p:cxnSp>
          <p:nvCxnSpPr>
            <p:cNvPr id="1195" name="Google Shape;1195;p79"/>
            <p:cNvCxnSpPr/>
            <p:nvPr/>
          </p:nvCxnSpPr>
          <p:spPr>
            <a:xfrm>
              <a:off x="5752850" y="3321050"/>
              <a:ext cx="1344000" cy="13767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6" name="Google Shape;1196;p79"/>
            <p:cNvCxnSpPr/>
            <p:nvPr/>
          </p:nvCxnSpPr>
          <p:spPr>
            <a:xfrm rot="10800000" flipH="1">
              <a:off x="5794375" y="1958525"/>
              <a:ext cx="1302600" cy="1332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97" name="Google Shape;1197;p79"/>
            <p:cNvSpPr txBox="1"/>
            <p:nvPr/>
          </p:nvSpPr>
          <p:spPr>
            <a:xfrm>
              <a:off x="7099628" y="4544300"/>
              <a:ext cx="246300" cy="30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T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1198" name="Google Shape;1198;p79"/>
            <p:cNvCxnSpPr/>
            <p:nvPr/>
          </p:nvCxnSpPr>
          <p:spPr>
            <a:xfrm>
              <a:off x="5921875" y="3378973"/>
              <a:ext cx="1175100" cy="375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9" name="Google Shape;1199;p79"/>
            <p:cNvCxnSpPr/>
            <p:nvPr/>
          </p:nvCxnSpPr>
          <p:spPr>
            <a:xfrm rot="10800000" flipH="1">
              <a:off x="5921875" y="2898057"/>
              <a:ext cx="1175100" cy="375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00" name="Google Shape;1200;p79"/>
            <p:cNvSpPr txBox="1"/>
            <p:nvPr/>
          </p:nvSpPr>
          <p:spPr>
            <a:xfrm>
              <a:off x="7099627" y="2848645"/>
              <a:ext cx="246300" cy="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L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201" name="Google Shape;1201;p79"/>
            <p:cNvSpPr txBox="1"/>
            <p:nvPr/>
          </p:nvSpPr>
          <p:spPr>
            <a:xfrm>
              <a:off x="7099627" y="1910998"/>
              <a:ext cx="246300" cy="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02" name="Google Shape;1202;p79" descr="&lt;math xmlns=&quot;http://www.w3.org/1998/Math/MathML&quot; display=&quot;block&quot; data-is-equatio=&quot;1&quot; data-latex=&quot;\frac{5}{35}&quot;&gt;&lt;mfrac&gt;&lt;mn&gt;5&lt;/mn&gt;&lt;mn&gt;35&lt;/mn&gt;&lt;/mfrac&gt;&lt;/math&gt;" title="5 over 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2308" y="2058671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79" descr="&lt;math xmlns=&quot;http://www.w3.org/1998/Math/MathML&quot; display=&quot;block&quot; data-is-equatio=&quot;1&quot; data-latex=&quot;\frac{12}{35}&quot;&gt;&lt;mfrac&gt;&lt;mn&gt;12&lt;/mn&gt;&lt;mn&gt;35&lt;/mn&gt;&lt;/mfrac&gt;&lt;/math&gt;" title="12 over 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2303" y="2612596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p79" descr="&lt;math xmlns=&quot;http://www.w3.org/1998/Math/MathML&quot; display=&quot;block&quot; data-is-equatio=&quot;1&quot; data-latex=&quot;\frac{3}{35}&quot;&gt;&lt;mfrac&gt;&lt;mn&gt;3&lt;/mn&gt;&lt;mn&gt;35&lt;/mn&gt;&lt;/mfrac&gt;&lt;/math&gt;" title="3 over 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2308" y="3160071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79" descr="&lt;math xmlns=&quot;http://www.w3.org/1998/Math/MathML&quot; display=&quot;block&quot; data-is-equatio=&quot;1&quot; data-latex=&quot;\frac{15}{35}&quot;&gt;&lt;mfrac&gt;&lt;mn&gt;15&lt;/mn&gt;&lt;mn&gt;35&lt;/mn&gt;&lt;/mfrac&gt;&lt;/math&gt;" title="15 over 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2308" y="3713996"/>
            <a:ext cx="23760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79"/>
          <p:cNvSpPr txBox="1"/>
          <p:nvPr/>
        </p:nvSpPr>
        <p:spPr>
          <a:xfrm>
            <a:off x="6337627" y="3398179"/>
            <a:ext cx="246300" cy="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7" name="Google Shape;1207;p79" descr="&lt;math xmlns=&quot;http://www.w3.org/1998/Math/MathML&quot; display=&quot;block&quot; data-is-equatio=&quot;1&quot; data-latex=&quot;\frac{5}{35}&quot;&gt;&lt;mfrac&gt;&lt;mn&gt;5&lt;/mn&gt;&lt;mn&gt;35&lt;/mn&gt;&lt;/mfrac&gt;&lt;/math&gt;" title="5 over 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0983" y="2189316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79" descr="&lt;math xmlns=&quot;http://www.w3.org/1998/Math/MathML&quot; display=&quot;block&quot; data-is-equatio=&quot;1&quot; data-latex=&quot;\frac{3}{35}&quot;&gt;&lt;mfrac&gt;&lt;mn&gt;3&lt;/mn&gt;&lt;mn&gt;35&lt;/mn&gt;&lt;/mfrac&gt;&lt;/math&gt;" title="3 over 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1603" y="1619996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9" name="Google Shape;1209;p79" descr="&lt;math xmlns=&quot;http://www.w3.org/1998/Math/MathML&quot; display=&quot;block&quot; data-is-equatio=&quot;1&quot; data-latex=&quot;\frac{12}{35}&quot;&gt;&lt;mfrac&gt;&lt;mn&gt;12&lt;/mn&gt;&lt;mn&gt;35&lt;/mn&gt;&lt;/mfrac&gt;&lt;/math&gt;" title="12 over 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9203" y="2897914"/>
            <a:ext cx="23760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79"/>
          <p:cNvSpPr/>
          <p:nvPr/>
        </p:nvSpPr>
        <p:spPr>
          <a:xfrm>
            <a:off x="4935051" y="2860929"/>
            <a:ext cx="277200" cy="2772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1" name="Google Shape;1211;p79" descr="&lt;math xmlns=&quot;http://www.w3.org/1998/Math/MathML&quot; display=&quot;block&quot; data-is-equatio=&quot;1&quot; data-latex=&quot;\frac{15}{35}&quot;&gt;&lt;mfrac&gt;&lt;mn&gt;15&lt;/mn&gt;&lt;mn&gt;35&lt;/mn&gt;&lt;/mfrac&gt;&lt;/math&gt;" title="15 over 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01655" y="3714015"/>
            <a:ext cx="23760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5" name="Shape 1215"/>
        <p:cNvGrpSpPr/>
        <p:nvPr/>
      </p:nvGrpSpPr>
      <p:grpSpPr>
        <a:xfrm>
          <a:off x="0" y="0"/>
          <a:ext cx="0" cy="0"/>
        </a:xfrm>
      </p:grpSpPr>
      <p:grpSp>
        <p:nvGrpSpPr>
          <p:cNvPr id="1216" name="Google Shape;1216;p80"/>
          <p:cNvGrpSpPr/>
          <p:nvPr/>
        </p:nvGrpSpPr>
        <p:grpSpPr>
          <a:xfrm>
            <a:off x="5220300" y="1834798"/>
            <a:ext cx="1516028" cy="2940502"/>
            <a:chOff x="5829900" y="1910998"/>
            <a:chExt cx="1516028" cy="2940502"/>
          </a:xfrm>
        </p:grpSpPr>
        <p:cxnSp>
          <p:nvCxnSpPr>
            <p:cNvPr id="1217" name="Google Shape;1217;p80"/>
            <p:cNvCxnSpPr/>
            <p:nvPr/>
          </p:nvCxnSpPr>
          <p:spPr>
            <a:xfrm>
              <a:off x="5829900" y="3400175"/>
              <a:ext cx="1267200" cy="12975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8" name="Google Shape;1218;p80"/>
            <p:cNvCxnSpPr/>
            <p:nvPr/>
          </p:nvCxnSpPr>
          <p:spPr>
            <a:xfrm rot="10800000" flipH="1">
              <a:off x="5840750" y="1958400"/>
              <a:ext cx="1256100" cy="1283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9" name="Google Shape;1219;p80"/>
            <p:cNvSpPr txBox="1"/>
            <p:nvPr/>
          </p:nvSpPr>
          <p:spPr>
            <a:xfrm>
              <a:off x="7099628" y="4544300"/>
              <a:ext cx="246300" cy="30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20" name="Google Shape;1220;p80"/>
            <p:cNvCxnSpPr/>
            <p:nvPr/>
          </p:nvCxnSpPr>
          <p:spPr>
            <a:xfrm>
              <a:off x="5921875" y="3378973"/>
              <a:ext cx="1175100" cy="375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1" name="Google Shape;1221;p80"/>
            <p:cNvCxnSpPr/>
            <p:nvPr/>
          </p:nvCxnSpPr>
          <p:spPr>
            <a:xfrm rot="10800000" flipH="1">
              <a:off x="5921875" y="2898057"/>
              <a:ext cx="1175100" cy="375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22" name="Google Shape;1222;p80"/>
            <p:cNvSpPr txBox="1"/>
            <p:nvPr/>
          </p:nvSpPr>
          <p:spPr>
            <a:xfrm>
              <a:off x="7099627" y="2848645"/>
              <a:ext cx="246300" cy="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V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3" name="Google Shape;1223;p80"/>
            <p:cNvSpPr txBox="1"/>
            <p:nvPr/>
          </p:nvSpPr>
          <p:spPr>
            <a:xfrm>
              <a:off x="7099627" y="1910998"/>
              <a:ext cx="246300" cy="9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24" name="Google Shape;1224;p80" descr="&lt;math xmlns=&quot;http://www.w3.org/1998/Math/MathML&quot; display=&quot;block&quot; data-is-equatio=&quot;1&quot; data-latex=&quot;\frac{3}{14}&quot;&gt;&lt;mfrac&gt;&lt;mn&gt;3&lt;/mn&gt;&lt;mn&gt;14&lt;/mn&gt;&lt;/mfrac&gt;&lt;/math&gt;" title="3 over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5510" y="3865384"/>
            <a:ext cx="241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80" descr="&lt;math xmlns=&quot;http://www.w3.org/1998/Math/MathML&quot; display=&quot;block&quot; data-is-equatio=&quot;1&quot; data-latex=&quot;\frac{5}{14}&quot;&gt;&lt;mfrac&gt;&lt;mn&gt;5&lt;/mn&gt;&lt;mn&gt;14&lt;/mn&gt;&lt;/mfrac&gt;&lt;/math&gt;" title="5 over 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7658" y="3135268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80" descr="&lt;math xmlns=&quot;http://www.w3.org/1998/Math/MathML&quot; display=&quot;block&quot; data-is-equatio=&quot;1&quot; data-latex=&quot;\frac{4}{14}&quot;&gt;&lt;mfrac&gt;&lt;mn&gt;4&lt;/mn&gt;&lt;mn&gt;14&lt;/mn&gt;&lt;/mfrac&gt;&lt;/math&gt;" title="4 over 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052" y="1866913"/>
            <a:ext cx="237600" cy="43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7" name="Google Shape;1227;p80"/>
          <p:cNvGraphicFramePr>
            <a:graphicFrameLocks noGrp="1"/>
          </p:cNvGraphicFramePr>
          <p:nvPr/>
        </p:nvGraphicFramePr>
        <p:xfrm>
          <a:off x="595633" y="19459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890825"/>
                <a:gridCol w="832875"/>
                <a:gridCol w="1210425"/>
              </a:tblGrid>
              <a:tr h="204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freq.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4"/>
                    </a:solidFill>
                  </a:tcPr>
                </a:tc>
              </a:tr>
              <a:tr h="461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(R)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P(R)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512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green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(G)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P(G) =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4610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6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P(B) = </a:t>
                      </a:r>
                      <a:endParaRPr/>
                    </a:p>
                  </a:txBody>
                  <a:tcPr marL="0" marR="0" marT="0" marB="0" anchor="ctr"/>
                </a:tc>
              </a:tr>
              <a:tr h="512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violet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(V)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/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P(V) = </a:t>
                      </a:r>
                      <a:endParaRPr/>
                    </a:p>
                  </a:txBody>
                  <a:tcPr marL="0" marR="0" marT="0" marB="0" anchor="ctr"/>
                </a:tc>
              </a:tr>
              <a:tr h="256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28" name="Google Shape;1228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Outcomes and probabilities across different diagrams</a:t>
            </a:r>
            <a:endParaRPr/>
          </a:p>
        </p:txBody>
      </p:sp>
      <p:pic>
        <p:nvPicPr>
          <p:cNvPr id="1229" name="Google Shape;1229;p80" descr="&lt;math xmlns=&quot;http://www.w3.org/1998/Math/MathML&quot; display=&quot;block&quot; data-is-equatio=&quot;1&quot; data-latex=&quot;\frac{5}{14}&quot;&gt;&lt;mfrac&gt;&lt;mn&gt;5&lt;/mn&gt;&lt;mn&gt;14&lt;/mn&gt;&lt;/mfrac&gt;&lt;/math&gt;" title="5 over 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7883" y="2267997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80" descr="&lt;math xmlns=&quot;http://www.w3.org/1998/Math/MathML&quot; display=&quot;block&quot; data-is-equatio=&quot;1&quot; data-latex=&quot;\frac{3}{14}&quot;&gt;&lt;mfrac&gt;&lt;mn&gt;3&lt;/mn&gt;&lt;mn&gt;14&lt;/mn&gt;&lt;/mfrac&gt;&lt;/math&gt;" title="3 over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8648" y="2808009"/>
            <a:ext cx="241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1" name="Google Shape;1231;p80" descr="&lt;math xmlns=&quot;http://www.w3.org/1998/Math/MathML&quot; display=&quot;block&quot; data-is-equatio=&quot;1&quot; data-latex=&quot;\frac{4}{14}&quot;&gt;&lt;mfrac&gt;&lt;mn&gt;4&lt;/mn&gt;&lt;mn&gt;14&lt;/mn&gt;&lt;/mfrac&gt;&lt;/math&gt;" title="4 over 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50808" y="3401384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2" name="Google Shape;1232;p80" descr="&lt;math xmlns=&quot;http://www.w3.org/1998/Math/MathML&quot; display=&quot;block&quot; data-is-equatio=&quot;1&quot; data-latex=&quot;\frac{2}{14}&quot;&gt;&lt;mfrac&gt;&lt;mn&gt;2&lt;/mn&gt;&lt;mn&gt;14&lt;/mn&gt;&lt;/mfrac&gt;&lt;/math&gt;" title="2 over 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55508" y="2408969"/>
            <a:ext cx="24192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80"/>
          <p:cNvSpPr txBox="1"/>
          <p:nvPr/>
        </p:nvSpPr>
        <p:spPr>
          <a:xfrm>
            <a:off x="6490027" y="3620270"/>
            <a:ext cx="246300" cy="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34" name="Google Shape;1234;p80" descr="&lt;math xmlns=&quot;http://www.w3.org/1998/Math/MathML&quot; display=&quot;block&quot; data-is-equatio=&quot;1&quot; data-latex=&quot;\frac{2}{14}&quot;&gt;&lt;mfrac&gt;&lt;mn&gt;2&lt;/mn&gt;&lt;mn&gt;14&lt;/mn&gt;&lt;/mfrac&gt;&lt;/math&gt;" title="2 over 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35708" y="3994744"/>
            <a:ext cx="24192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80"/>
          <p:cNvSpPr txBox="1"/>
          <p:nvPr/>
        </p:nvSpPr>
        <p:spPr>
          <a:xfrm>
            <a:off x="324000" y="642971"/>
            <a:ext cx="8496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3) Both the incomplete frequency table and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incomplete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probability tree show the same trial of selecting a party hat of a certain colour at random.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Complete both diagrams.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Create a list showing the colour of every party hat.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6" name="Google Shape;1236;p80"/>
          <p:cNvGrpSpPr/>
          <p:nvPr/>
        </p:nvGrpSpPr>
        <p:grpSpPr>
          <a:xfrm>
            <a:off x="7604550" y="2318591"/>
            <a:ext cx="962400" cy="1480200"/>
            <a:chOff x="7749775" y="1867675"/>
            <a:chExt cx="962400" cy="1480200"/>
          </a:xfrm>
        </p:grpSpPr>
        <p:sp>
          <p:nvSpPr>
            <p:cNvPr id="1237" name="Google Shape;1237;p80"/>
            <p:cNvSpPr txBox="1"/>
            <p:nvPr/>
          </p:nvSpPr>
          <p:spPr>
            <a:xfrm>
              <a:off x="7749775" y="1867675"/>
              <a:ext cx="522300" cy="148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R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R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R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R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R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G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G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G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238" name="Google Shape;1238;p80"/>
            <p:cNvSpPr txBox="1"/>
            <p:nvPr/>
          </p:nvSpPr>
          <p:spPr>
            <a:xfrm>
              <a:off x="8189875" y="1867675"/>
              <a:ext cx="522300" cy="148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B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B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B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B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V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V</a:t>
              </a:r>
              <a:endParaRPr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239" name="Google Shape;1239;p80"/>
          <p:cNvSpPr txBox="1"/>
          <p:nvPr/>
        </p:nvSpPr>
        <p:spPr>
          <a:xfrm>
            <a:off x="7459200" y="1620000"/>
            <a:ext cx="1253100" cy="5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list of outcomes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0" name="Google Shape;1240;p80"/>
          <p:cNvSpPr/>
          <p:nvPr/>
        </p:nvSpPr>
        <p:spPr>
          <a:xfrm>
            <a:off x="5073626" y="3109117"/>
            <a:ext cx="277200" cy="2772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44" name="Shape 1244"/>
        <p:cNvGrpSpPr/>
        <p:nvPr/>
      </p:nvGrpSpPr>
      <p:grpSpPr>
        <a:xfrm>
          <a:off x="0" y="0"/>
          <a:ext cx="0" cy="0"/>
        </a:xfrm>
      </p:grpSpPr>
      <p:sp>
        <p:nvSpPr>
          <p:cNvPr id="1245" name="Google Shape;1245;p8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Outcomes and probabilities across different diagrams</a:t>
            </a:r>
            <a:endParaRPr/>
          </a:p>
        </p:txBody>
      </p:sp>
      <p:sp>
        <p:nvSpPr>
          <p:cNvPr id="1246" name="Google Shape;1246;p81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multiple representations to calculate theoretical probabilities</a:t>
            </a:r>
            <a:endParaRPr/>
          </a:p>
        </p:txBody>
      </p:sp>
      <p:sp>
        <p:nvSpPr>
          <p:cNvPr id="1247" name="Google Shape;1247;p81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pic>
        <p:nvPicPr>
          <p:cNvPr id="1248" name="Google Shape;124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473" y="298837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2" name="Shape 1252"/>
        <p:cNvGrpSpPr/>
        <p:nvPr/>
      </p:nvGrpSpPr>
      <p:grpSpPr>
        <a:xfrm>
          <a:off x="0" y="0"/>
          <a:ext cx="0" cy="0"/>
        </a:xfrm>
      </p:grpSpPr>
      <p:sp>
        <p:nvSpPr>
          <p:cNvPr id="1253" name="Google Shape;1253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grpSp>
        <p:nvGrpSpPr>
          <p:cNvPr id="1254" name="Google Shape;1254;p82"/>
          <p:cNvGrpSpPr/>
          <p:nvPr/>
        </p:nvGrpSpPr>
        <p:grpSpPr>
          <a:xfrm>
            <a:off x="4506039" y="2181291"/>
            <a:ext cx="4009170" cy="2523719"/>
            <a:chOff x="4506039" y="2181291"/>
            <a:chExt cx="4009170" cy="2523719"/>
          </a:xfrm>
        </p:grpSpPr>
        <p:pic>
          <p:nvPicPr>
            <p:cNvPr id="1255" name="Google Shape;1255;p8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50784" y="3690716"/>
              <a:ext cx="664425" cy="7370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82"/>
            <p:cNvSpPr txBox="1"/>
            <p:nvPr/>
          </p:nvSpPr>
          <p:spPr>
            <a:xfrm>
              <a:off x="7809935" y="4427809"/>
              <a:ext cx="676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Sofia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57" name="Google Shape;1257;p82"/>
            <p:cNvGrpSpPr/>
            <p:nvPr/>
          </p:nvGrpSpPr>
          <p:grpSpPr>
            <a:xfrm flipH="1">
              <a:off x="4506039" y="2181291"/>
              <a:ext cx="3605583" cy="2028767"/>
              <a:chOff x="797575" y="5295652"/>
              <a:chExt cx="3320975" cy="1476325"/>
            </a:xfrm>
          </p:grpSpPr>
          <p:pic>
            <p:nvPicPr>
              <p:cNvPr id="1258" name="Google Shape;1258;p82"/>
              <p:cNvPicPr preferRelativeResize="0"/>
              <p:nvPr/>
            </p:nvPicPr>
            <p:blipFill>
              <a:blip r:embed="rId4">
                <a:alphaModFix/>
              </a:blip>
              <a:srcRect r="57905" b="43690"/>
              <a:stretch>
                <a:fillRect/>
              </a:stretch>
            </p:blipFill>
            <p:spPr>
              <a:xfrm flipH="1">
                <a:off x="797575" y="5295652"/>
                <a:ext cx="3320975" cy="14763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59" name="Google Shape;1259;p82"/>
              <p:cNvSpPr txBox="1"/>
              <p:nvPr/>
            </p:nvSpPr>
            <p:spPr>
              <a:xfrm flipH="1">
                <a:off x="1048703" y="5300184"/>
                <a:ext cx="3000000" cy="55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Gosh, do I really have to draw a probability tree with seven branches and a table with seven rows just to find the probability of landing on a prime number?!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260" name="Google Shape;1260;p82"/>
          <p:cNvGrpSpPr/>
          <p:nvPr/>
        </p:nvGrpSpPr>
        <p:grpSpPr>
          <a:xfrm>
            <a:off x="332319" y="2083423"/>
            <a:ext cx="3484301" cy="2757401"/>
            <a:chOff x="256119" y="2181667"/>
            <a:chExt cx="3484301" cy="2757401"/>
          </a:xfrm>
        </p:grpSpPr>
        <p:grpSp>
          <p:nvGrpSpPr>
            <p:cNvPr id="1261" name="Google Shape;1261;p82"/>
            <p:cNvGrpSpPr/>
            <p:nvPr/>
          </p:nvGrpSpPr>
          <p:grpSpPr>
            <a:xfrm flipH="1">
              <a:off x="256119" y="3898542"/>
              <a:ext cx="676200" cy="1040525"/>
              <a:chOff x="8137196" y="1935832"/>
              <a:chExt cx="676200" cy="1040525"/>
            </a:xfrm>
          </p:grpSpPr>
          <p:pic>
            <p:nvPicPr>
              <p:cNvPr id="1262" name="Google Shape;1262;p8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 flipH="1">
                <a:off x="8209791" y="1935832"/>
                <a:ext cx="598139" cy="7479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3" name="Google Shape;1263;p82"/>
              <p:cNvSpPr txBox="1"/>
              <p:nvPr/>
            </p:nvSpPr>
            <p:spPr>
              <a:xfrm>
                <a:off x="8137196" y="2699157"/>
                <a:ext cx="676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Jun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64" name="Google Shape;1264;p82"/>
            <p:cNvGrpSpPr/>
            <p:nvPr/>
          </p:nvGrpSpPr>
          <p:grpSpPr>
            <a:xfrm>
              <a:off x="698074" y="2181667"/>
              <a:ext cx="3042346" cy="2344848"/>
              <a:chOff x="797575" y="5295652"/>
              <a:chExt cx="3320975" cy="1476325"/>
            </a:xfrm>
          </p:grpSpPr>
          <p:pic>
            <p:nvPicPr>
              <p:cNvPr id="1265" name="Google Shape;1265;p82"/>
              <p:cNvPicPr preferRelativeResize="0"/>
              <p:nvPr/>
            </p:nvPicPr>
            <p:blipFill>
              <a:blip r:embed="rId4">
                <a:alphaModFix/>
              </a:blip>
              <a:srcRect r="57905" b="43690"/>
              <a:stretch>
                <a:fillRect/>
              </a:stretch>
            </p:blipFill>
            <p:spPr>
              <a:xfrm flipH="1">
                <a:off x="797575" y="5295652"/>
                <a:ext cx="3320975" cy="14763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6" name="Google Shape;1266;p82"/>
              <p:cNvSpPr txBox="1"/>
              <p:nvPr/>
            </p:nvSpPr>
            <p:spPr>
              <a:xfrm flipH="1">
                <a:off x="1048703" y="5318916"/>
                <a:ext cx="3000000" cy="55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If you only care about prime numbers, you can just use two branches, right?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One for prime outcomes, one for non-prime outcomes?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267" name="Google Shape;1267;p82"/>
          <p:cNvSpPr txBox="1"/>
          <p:nvPr/>
        </p:nvSpPr>
        <p:spPr>
          <a:xfrm>
            <a:off x="324000" y="642971"/>
            <a:ext cx="84960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spinner has the outcomes: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 1,  2,  3,  3,  4,  4,  4,  4,  5,  5,  5,  6,  7,  7}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spinning this spinner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Event: the spinner lands on a prime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1" name="Shape 1271"/>
        <p:cNvGrpSpPr/>
        <p:nvPr/>
      </p:nvGrpSpPr>
      <p:grpSpPr>
        <a:xfrm>
          <a:off x="0" y="0"/>
          <a:ext cx="0" cy="0"/>
        </a:xfrm>
      </p:grpSpPr>
      <p:sp>
        <p:nvSpPr>
          <p:cNvPr id="1272" name="Google Shape;1272;p83"/>
          <p:cNvSpPr txBox="1"/>
          <p:nvPr/>
        </p:nvSpPr>
        <p:spPr>
          <a:xfrm>
            <a:off x="324000" y="642971"/>
            <a:ext cx="84960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spinner has the outcomes: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 = {1,  1,  2,  3,  3,  4,  4,  4,  4,  5,  5,  5,  6,  7,  7}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spinning this spinner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Event: the spinner lands on a prime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show this event on an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 table to help us construct 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probability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graphicFrame>
        <p:nvGraphicFramePr>
          <p:cNvPr id="1274" name="Google Shape;1274;p83"/>
          <p:cNvGraphicFramePr>
            <a:graphicFrameLocks noGrp="1"/>
          </p:cNvGraphicFramePr>
          <p:nvPr/>
        </p:nvGraphicFramePr>
        <p:xfrm>
          <a:off x="400175" y="278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749625"/>
                <a:gridCol w="1749625"/>
              </a:tblGrid>
              <a:tr h="227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prime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</a:tr>
              <a:tr h="1762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grpSp>
        <p:nvGrpSpPr>
          <p:cNvPr id="1275" name="Google Shape;1275;p83"/>
          <p:cNvGrpSpPr/>
          <p:nvPr/>
        </p:nvGrpSpPr>
        <p:grpSpPr>
          <a:xfrm>
            <a:off x="2248450" y="3124339"/>
            <a:ext cx="539575" cy="313500"/>
            <a:chOff x="2248450" y="3240000"/>
            <a:chExt cx="539575" cy="313500"/>
          </a:xfrm>
        </p:grpSpPr>
        <p:sp>
          <p:nvSpPr>
            <p:cNvPr id="1276" name="Google Shape;1276;p83"/>
            <p:cNvSpPr/>
            <p:nvPr/>
          </p:nvSpPr>
          <p:spPr>
            <a:xfrm>
              <a:off x="2248450" y="3240000"/>
              <a:ext cx="217200" cy="313500"/>
            </a:xfrm>
            <a:prstGeom prst="rect">
              <a:avLst/>
            </a:prstGeom>
            <a:solidFill>
              <a:srgbClr val="E6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7" name="Google Shape;1277;p83"/>
            <p:cNvSpPr/>
            <p:nvPr/>
          </p:nvSpPr>
          <p:spPr>
            <a:xfrm>
              <a:off x="2570825" y="3240000"/>
              <a:ext cx="217200" cy="313500"/>
            </a:xfrm>
            <a:prstGeom prst="rect">
              <a:avLst/>
            </a:prstGeom>
            <a:solidFill>
              <a:srgbClr val="E6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78" name="Google Shape;1278;p83"/>
          <p:cNvSpPr/>
          <p:nvPr/>
        </p:nvSpPr>
        <p:spPr>
          <a:xfrm>
            <a:off x="541825" y="312433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79" name="Google Shape;1279;p83"/>
          <p:cNvGrpSpPr/>
          <p:nvPr/>
        </p:nvGrpSpPr>
        <p:grpSpPr>
          <a:xfrm>
            <a:off x="541825" y="3565189"/>
            <a:ext cx="555200" cy="313500"/>
            <a:chOff x="541825" y="3565189"/>
            <a:chExt cx="555200" cy="313500"/>
          </a:xfrm>
        </p:grpSpPr>
        <p:sp>
          <p:nvSpPr>
            <p:cNvPr id="1280" name="Google Shape;1280;p83"/>
            <p:cNvSpPr/>
            <p:nvPr/>
          </p:nvSpPr>
          <p:spPr>
            <a:xfrm>
              <a:off x="541825" y="3565189"/>
              <a:ext cx="217200" cy="313500"/>
            </a:xfrm>
            <a:prstGeom prst="rect">
              <a:avLst/>
            </a:prstGeom>
            <a:solidFill>
              <a:srgbClr val="E6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1" name="Google Shape;1281;p83"/>
            <p:cNvSpPr/>
            <p:nvPr/>
          </p:nvSpPr>
          <p:spPr>
            <a:xfrm>
              <a:off x="879825" y="3565189"/>
              <a:ext cx="217200" cy="313500"/>
            </a:xfrm>
            <a:prstGeom prst="rect">
              <a:avLst/>
            </a:prstGeom>
            <a:solidFill>
              <a:srgbClr val="E6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2" name="Google Shape;1282;p83"/>
          <p:cNvGrpSpPr/>
          <p:nvPr/>
        </p:nvGrpSpPr>
        <p:grpSpPr>
          <a:xfrm>
            <a:off x="2248450" y="3565189"/>
            <a:ext cx="1184325" cy="313500"/>
            <a:chOff x="2248450" y="3565189"/>
            <a:chExt cx="1184325" cy="313500"/>
          </a:xfrm>
        </p:grpSpPr>
        <p:sp>
          <p:nvSpPr>
            <p:cNvPr id="1283" name="Google Shape;1283;p83"/>
            <p:cNvSpPr/>
            <p:nvPr/>
          </p:nvSpPr>
          <p:spPr>
            <a:xfrm>
              <a:off x="2248450" y="3565189"/>
              <a:ext cx="217200" cy="313500"/>
            </a:xfrm>
            <a:prstGeom prst="rect">
              <a:avLst/>
            </a:prstGeom>
            <a:solidFill>
              <a:srgbClr val="E6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4" name="Google Shape;1284;p83"/>
            <p:cNvSpPr/>
            <p:nvPr/>
          </p:nvSpPr>
          <p:spPr>
            <a:xfrm>
              <a:off x="2570825" y="3565189"/>
              <a:ext cx="217200" cy="313500"/>
            </a:xfrm>
            <a:prstGeom prst="rect">
              <a:avLst/>
            </a:prstGeom>
            <a:solidFill>
              <a:srgbClr val="E6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5" name="Google Shape;1285;p83"/>
            <p:cNvSpPr/>
            <p:nvPr/>
          </p:nvSpPr>
          <p:spPr>
            <a:xfrm>
              <a:off x="2893200" y="3565189"/>
              <a:ext cx="217200" cy="313500"/>
            </a:xfrm>
            <a:prstGeom prst="rect">
              <a:avLst/>
            </a:prstGeom>
            <a:solidFill>
              <a:srgbClr val="E6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6" name="Google Shape;1286;p83"/>
            <p:cNvSpPr/>
            <p:nvPr/>
          </p:nvSpPr>
          <p:spPr>
            <a:xfrm>
              <a:off x="3215575" y="3565189"/>
              <a:ext cx="217200" cy="313500"/>
            </a:xfrm>
            <a:prstGeom prst="rect">
              <a:avLst/>
            </a:prstGeom>
            <a:solidFill>
              <a:srgbClr val="E6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7" name="Google Shape;1287;p83"/>
          <p:cNvGrpSpPr/>
          <p:nvPr/>
        </p:nvGrpSpPr>
        <p:grpSpPr>
          <a:xfrm>
            <a:off x="541825" y="4006039"/>
            <a:ext cx="893200" cy="313500"/>
            <a:chOff x="541825" y="4006039"/>
            <a:chExt cx="893200" cy="313500"/>
          </a:xfrm>
        </p:grpSpPr>
        <p:sp>
          <p:nvSpPr>
            <p:cNvPr id="1288" name="Google Shape;1288;p83"/>
            <p:cNvSpPr/>
            <p:nvPr/>
          </p:nvSpPr>
          <p:spPr>
            <a:xfrm>
              <a:off x="541825" y="4006039"/>
              <a:ext cx="217200" cy="313500"/>
            </a:xfrm>
            <a:prstGeom prst="rect">
              <a:avLst/>
            </a:prstGeom>
            <a:solidFill>
              <a:srgbClr val="E6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9" name="Google Shape;1289;p83"/>
            <p:cNvSpPr/>
            <p:nvPr/>
          </p:nvSpPr>
          <p:spPr>
            <a:xfrm>
              <a:off x="879825" y="4006039"/>
              <a:ext cx="217200" cy="313500"/>
            </a:xfrm>
            <a:prstGeom prst="rect">
              <a:avLst/>
            </a:prstGeom>
            <a:solidFill>
              <a:srgbClr val="E6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0" name="Google Shape;1290;p83"/>
            <p:cNvSpPr/>
            <p:nvPr/>
          </p:nvSpPr>
          <p:spPr>
            <a:xfrm>
              <a:off x="1217825" y="4006039"/>
              <a:ext cx="217200" cy="313500"/>
            </a:xfrm>
            <a:prstGeom prst="rect">
              <a:avLst/>
            </a:prstGeom>
            <a:solidFill>
              <a:srgbClr val="E6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91" name="Google Shape;1291;p83"/>
          <p:cNvSpPr/>
          <p:nvPr/>
        </p:nvSpPr>
        <p:spPr>
          <a:xfrm>
            <a:off x="2248450" y="400603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2" name="Google Shape;1292;p83"/>
          <p:cNvGrpSpPr/>
          <p:nvPr/>
        </p:nvGrpSpPr>
        <p:grpSpPr>
          <a:xfrm>
            <a:off x="541825" y="4446889"/>
            <a:ext cx="555200" cy="313500"/>
            <a:chOff x="541825" y="4446889"/>
            <a:chExt cx="555200" cy="313500"/>
          </a:xfrm>
        </p:grpSpPr>
        <p:sp>
          <p:nvSpPr>
            <p:cNvPr id="1293" name="Google Shape;1293;p83"/>
            <p:cNvSpPr/>
            <p:nvPr/>
          </p:nvSpPr>
          <p:spPr>
            <a:xfrm>
              <a:off x="541825" y="4446889"/>
              <a:ext cx="217200" cy="313500"/>
            </a:xfrm>
            <a:prstGeom prst="rect">
              <a:avLst/>
            </a:prstGeom>
            <a:solidFill>
              <a:srgbClr val="E6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4" name="Google Shape;1294;p83"/>
            <p:cNvSpPr/>
            <p:nvPr/>
          </p:nvSpPr>
          <p:spPr>
            <a:xfrm>
              <a:off x="879825" y="4446889"/>
              <a:ext cx="217200" cy="313500"/>
            </a:xfrm>
            <a:prstGeom prst="rect">
              <a:avLst/>
            </a:prstGeom>
            <a:solidFill>
              <a:srgbClr val="E6F2F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95" name="Google Shape;1295;p83"/>
          <p:cNvSpPr/>
          <p:nvPr/>
        </p:nvSpPr>
        <p:spPr>
          <a:xfrm>
            <a:off x="2454175" y="901878"/>
            <a:ext cx="468300" cy="315900"/>
          </a:xfrm>
          <a:prstGeom prst="rect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83"/>
          <p:cNvSpPr/>
          <p:nvPr/>
        </p:nvSpPr>
        <p:spPr>
          <a:xfrm>
            <a:off x="3032400" y="901878"/>
            <a:ext cx="217200" cy="315900"/>
          </a:xfrm>
          <a:prstGeom prst="rect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83"/>
          <p:cNvSpPr/>
          <p:nvPr/>
        </p:nvSpPr>
        <p:spPr>
          <a:xfrm>
            <a:off x="3369600" y="901873"/>
            <a:ext cx="487200" cy="315900"/>
          </a:xfrm>
          <a:prstGeom prst="rect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83"/>
          <p:cNvSpPr/>
          <p:nvPr/>
        </p:nvSpPr>
        <p:spPr>
          <a:xfrm>
            <a:off x="3965800" y="901873"/>
            <a:ext cx="1213800" cy="315900"/>
          </a:xfrm>
          <a:prstGeom prst="rect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83"/>
          <p:cNvSpPr/>
          <p:nvPr/>
        </p:nvSpPr>
        <p:spPr>
          <a:xfrm>
            <a:off x="5252300" y="901873"/>
            <a:ext cx="893100" cy="315900"/>
          </a:xfrm>
          <a:prstGeom prst="rect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83"/>
          <p:cNvSpPr/>
          <p:nvPr/>
        </p:nvSpPr>
        <p:spPr>
          <a:xfrm>
            <a:off x="6242840" y="901878"/>
            <a:ext cx="217200" cy="315900"/>
          </a:xfrm>
          <a:prstGeom prst="rect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83"/>
          <p:cNvSpPr/>
          <p:nvPr/>
        </p:nvSpPr>
        <p:spPr>
          <a:xfrm>
            <a:off x="6580040" y="901873"/>
            <a:ext cx="487200" cy="315900"/>
          </a:xfrm>
          <a:prstGeom prst="rect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83"/>
          <p:cNvSpPr txBox="1"/>
          <p:nvPr/>
        </p:nvSpPr>
        <p:spPr>
          <a:xfrm>
            <a:off x="3965800" y="3816200"/>
            <a:ext cx="1609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P(prime) =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83"/>
          <p:cNvSpPr txBox="1"/>
          <p:nvPr/>
        </p:nvSpPr>
        <p:spPr>
          <a:xfrm>
            <a:off x="3965800" y="2783625"/>
            <a:ext cx="160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a total of 15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83"/>
          <p:cNvSpPr txBox="1"/>
          <p:nvPr/>
        </p:nvSpPr>
        <p:spPr>
          <a:xfrm>
            <a:off x="3965800" y="4294675"/>
            <a:ext cx="177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P(not prime) =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5" name="Google Shape;1305;p83"/>
          <p:cNvGrpSpPr/>
          <p:nvPr/>
        </p:nvGrpSpPr>
        <p:grpSpPr>
          <a:xfrm>
            <a:off x="6286800" y="2800325"/>
            <a:ext cx="2199450" cy="1678940"/>
            <a:chOff x="6134400" y="2800325"/>
            <a:chExt cx="2199450" cy="1678940"/>
          </a:xfrm>
        </p:grpSpPr>
        <p:grpSp>
          <p:nvGrpSpPr>
            <p:cNvPr id="1306" name="Google Shape;1306;p83"/>
            <p:cNvGrpSpPr/>
            <p:nvPr/>
          </p:nvGrpSpPr>
          <p:grpSpPr>
            <a:xfrm>
              <a:off x="6371000" y="2885687"/>
              <a:ext cx="1175100" cy="1507761"/>
              <a:chOff x="6599600" y="2885687"/>
              <a:chExt cx="1175100" cy="1507761"/>
            </a:xfrm>
          </p:grpSpPr>
          <p:cxnSp>
            <p:nvCxnSpPr>
              <p:cNvPr id="1307" name="Google Shape;1307;p83"/>
              <p:cNvCxnSpPr/>
              <p:nvPr/>
            </p:nvCxnSpPr>
            <p:spPr>
              <a:xfrm>
                <a:off x="6599600" y="3731948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8" name="Google Shape;1308;p83"/>
              <p:cNvCxnSpPr/>
              <p:nvPr/>
            </p:nvCxnSpPr>
            <p:spPr>
              <a:xfrm rot="10800000" flipH="1">
                <a:off x="6599600" y="2885687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309" name="Google Shape;1309;p83"/>
            <p:cNvSpPr txBox="1"/>
            <p:nvPr/>
          </p:nvSpPr>
          <p:spPr>
            <a:xfrm>
              <a:off x="7597350" y="4295065"/>
              <a:ext cx="7365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non prime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0" name="Google Shape;1310;p83"/>
            <p:cNvSpPr/>
            <p:nvPr/>
          </p:nvSpPr>
          <p:spPr>
            <a:xfrm>
              <a:off x="6134400" y="3512362"/>
              <a:ext cx="277200" cy="2544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1" name="Google Shape;1311;p83"/>
            <p:cNvSpPr txBox="1"/>
            <p:nvPr/>
          </p:nvSpPr>
          <p:spPr>
            <a:xfrm>
              <a:off x="7597350" y="2800325"/>
              <a:ext cx="7365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12" name="Google Shape;1312;p83" descr="&lt;math xmlns=&quot;http://www.w3.org/1998/Math/MathML&quot; display=&quot;block&quot; data-is-equatio=&quot;1&quot; data-latex=&quot;\frac{7}{15}&quot;&gt;&lt;mfrac&gt;&lt;mn&gt;7&lt;/mn&gt;&lt;mn&gt;15&lt;/mn&gt;&lt;/mfrac&gt;&lt;/math&gt;" title="7 ove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9597" y="3738788"/>
            <a:ext cx="234432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3" name="Google Shape;1313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9575" y="4217263"/>
            <a:ext cx="2376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4" name="Google Shape;1314;p83" descr="&lt;math xmlns=&quot;http://www.w3.org/1998/Math/MathML&quot; display=&quot;block&quot; data-is-equatio=&quot;1&quot; data-latex=&quot;\frac{7}{15}&quot;&gt;&lt;mfrac&gt;&lt;mn&gt;7&lt;/mn&gt;&lt;mn&gt;15&lt;/mn&gt;&lt;/mfrac&gt;&lt;/math&gt;" title="7 over 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1822" y="2707973"/>
            <a:ext cx="234432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6250" y="3709522"/>
            <a:ext cx="23760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19" name="Shape 1319"/>
        <p:cNvGrpSpPr/>
        <p:nvPr/>
      </p:nvGrpSpPr>
      <p:grpSpPr>
        <a:xfrm>
          <a:off x="0" y="0"/>
          <a:ext cx="0" cy="0"/>
        </a:xfrm>
      </p:grpSpPr>
      <p:sp>
        <p:nvSpPr>
          <p:cNvPr id="1320" name="Google Shape;1320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graphicFrame>
        <p:nvGraphicFramePr>
          <p:cNvPr id="1321" name="Google Shape;1321;p84"/>
          <p:cNvGraphicFramePr>
            <a:graphicFrameLocks noGrp="1"/>
          </p:cNvGraphicFramePr>
          <p:nvPr/>
        </p:nvGraphicFramePr>
        <p:xfrm>
          <a:off x="5353950" y="73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749625"/>
                <a:gridCol w="1749625"/>
              </a:tblGrid>
              <a:tr h="227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prime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</a:tr>
              <a:tr h="1762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322" name="Google Shape;1322;p84"/>
          <p:cNvSpPr/>
          <p:nvPr/>
        </p:nvSpPr>
        <p:spPr>
          <a:xfrm>
            <a:off x="7202225" y="1078314"/>
            <a:ext cx="217200" cy="31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84"/>
          <p:cNvSpPr/>
          <p:nvPr/>
        </p:nvSpPr>
        <p:spPr>
          <a:xfrm>
            <a:off x="5495600" y="1078314"/>
            <a:ext cx="217200" cy="31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4" name="Google Shape;1324;p84"/>
          <p:cNvGrpSpPr/>
          <p:nvPr/>
        </p:nvGrpSpPr>
        <p:grpSpPr>
          <a:xfrm>
            <a:off x="5495600" y="1519164"/>
            <a:ext cx="555200" cy="313500"/>
            <a:chOff x="541825" y="3565189"/>
            <a:chExt cx="555200" cy="313500"/>
          </a:xfrm>
        </p:grpSpPr>
        <p:sp>
          <p:nvSpPr>
            <p:cNvPr id="1325" name="Google Shape;1325;p84"/>
            <p:cNvSpPr/>
            <p:nvPr/>
          </p:nvSpPr>
          <p:spPr>
            <a:xfrm>
              <a:off x="541825" y="3565189"/>
              <a:ext cx="217200" cy="313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6" name="Google Shape;1326;p84"/>
            <p:cNvSpPr/>
            <p:nvPr/>
          </p:nvSpPr>
          <p:spPr>
            <a:xfrm>
              <a:off x="879825" y="3565189"/>
              <a:ext cx="217200" cy="313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27" name="Google Shape;1327;p84"/>
          <p:cNvSpPr/>
          <p:nvPr/>
        </p:nvSpPr>
        <p:spPr>
          <a:xfrm>
            <a:off x="7202225" y="1519164"/>
            <a:ext cx="217200" cy="31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84"/>
          <p:cNvSpPr/>
          <p:nvPr/>
        </p:nvSpPr>
        <p:spPr>
          <a:xfrm>
            <a:off x="5495600" y="1960014"/>
            <a:ext cx="217200" cy="31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84"/>
          <p:cNvSpPr/>
          <p:nvPr/>
        </p:nvSpPr>
        <p:spPr>
          <a:xfrm>
            <a:off x="7202225" y="1960014"/>
            <a:ext cx="217200" cy="31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30" name="Google Shape;1330;p84"/>
          <p:cNvGrpSpPr/>
          <p:nvPr/>
        </p:nvGrpSpPr>
        <p:grpSpPr>
          <a:xfrm>
            <a:off x="5495600" y="2400864"/>
            <a:ext cx="555200" cy="313500"/>
            <a:chOff x="541825" y="4446889"/>
            <a:chExt cx="555200" cy="313500"/>
          </a:xfrm>
        </p:grpSpPr>
        <p:sp>
          <p:nvSpPr>
            <p:cNvPr id="1331" name="Google Shape;1331;p84"/>
            <p:cNvSpPr/>
            <p:nvPr/>
          </p:nvSpPr>
          <p:spPr>
            <a:xfrm>
              <a:off x="541825" y="4446889"/>
              <a:ext cx="217200" cy="313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2" name="Google Shape;1332;p84"/>
            <p:cNvSpPr/>
            <p:nvPr/>
          </p:nvSpPr>
          <p:spPr>
            <a:xfrm>
              <a:off x="879825" y="4446889"/>
              <a:ext cx="217200" cy="313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3" name="Google Shape;1333;p84"/>
          <p:cNvGrpSpPr/>
          <p:nvPr/>
        </p:nvGrpSpPr>
        <p:grpSpPr>
          <a:xfrm>
            <a:off x="6049075" y="2934039"/>
            <a:ext cx="2199450" cy="1678940"/>
            <a:chOff x="6134400" y="2800325"/>
            <a:chExt cx="2199450" cy="1678940"/>
          </a:xfrm>
        </p:grpSpPr>
        <p:grpSp>
          <p:nvGrpSpPr>
            <p:cNvPr id="1334" name="Google Shape;1334;p84"/>
            <p:cNvGrpSpPr/>
            <p:nvPr/>
          </p:nvGrpSpPr>
          <p:grpSpPr>
            <a:xfrm>
              <a:off x="6371000" y="2885687"/>
              <a:ext cx="1175100" cy="1507761"/>
              <a:chOff x="6599600" y="2885687"/>
              <a:chExt cx="1175100" cy="1507761"/>
            </a:xfrm>
          </p:grpSpPr>
          <p:cxnSp>
            <p:nvCxnSpPr>
              <p:cNvPr id="1335" name="Google Shape;1335;p84"/>
              <p:cNvCxnSpPr/>
              <p:nvPr/>
            </p:nvCxnSpPr>
            <p:spPr>
              <a:xfrm>
                <a:off x="6599600" y="3731948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6" name="Google Shape;1336;p84"/>
              <p:cNvCxnSpPr/>
              <p:nvPr/>
            </p:nvCxnSpPr>
            <p:spPr>
              <a:xfrm rot="10800000" flipH="1">
                <a:off x="6599600" y="2885687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337" name="Google Shape;1337;p84"/>
            <p:cNvSpPr txBox="1"/>
            <p:nvPr/>
          </p:nvSpPr>
          <p:spPr>
            <a:xfrm>
              <a:off x="7597350" y="4295065"/>
              <a:ext cx="7365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non prime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8" name="Google Shape;1338;p84"/>
            <p:cNvSpPr/>
            <p:nvPr/>
          </p:nvSpPr>
          <p:spPr>
            <a:xfrm>
              <a:off x="6134400" y="3512362"/>
              <a:ext cx="277200" cy="2544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9" name="Google Shape;1339;p84"/>
            <p:cNvSpPr txBox="1"/>
            <p:nvPr/>
          </p:nvSpPr>
          <p:spPr>
            <a:xfrm>
              <a:off x="7597350" y="2800325"/>
              <a:ext cx="7365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0" name="Google Shape;1340;p84"/>
          <p:cNvGrpSpPr/>
          <p:nvPr/>
        </p:nvGrpSpPr>
        <p:grpSpPr>
          <a:xfrm>
            <a:off x="6661280" y="2990160"/>
            <a:ext cx="243093" cy="243093"/>
            <a:chOff x="1020916" y="1442088"/>
            <a:chExt cx="457200" cy="457200"/>
          </a:xfrm>
        </p:grpSpPr>
        <p:pic>
          <p:nvPicPr>
            <p:cNvPr id="1341" name="Google Shape;1341;p8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84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43" name="Google Shape;1343;p84"/>
          <p:cNvSpPr/>
          <p:nvPr/>
        </p:nvSpPr>
        <p:spPr>
          <a:xfrm>
            <a:off x="5833600" y="1078314"/>
            <a:ext cx="217200" cy="31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84"/>
          <p:cNvSpPr/>
          <p:nvPr/>
        </p:nvSpPr>
        <p:spPr>
          <a:xfrm>
            <a:off x="6171600" y="1078314"/>
            <a:ext cx="217200" cy="31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84"/>
          <p:cNvSpPr/>
          <p:nvPr/>
        </p:nvSpPr>
        <p:spPr>
          <a:xfrm>
            <a:off x="6509600" y="1078314"/>
            <a:ext cx="217200" cy="31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84"/>
          <p:cNvSpPr/>
          <p:nvPr/>
        </p:nvSpPr>
        <p:spPr>
          <a:xfrm>
            <a:off x="7202225" y="2400864"/>
            <a:ext cx="217200" cy="31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7" name="Google Shape;1347;p84" descr="&lt;math xmlns=&quot;http://www.w3.org/1998/Math/MathML&quot; display=&quot;block&quot; data-is-equatio=&quot;1&quot; data-latex=&quot;\frac{9}{13}&quot;&gt;&lt;mfrac&gt;&lt;mn&gt;9&lt;/mn&gt;&lt;mn&gt;13&lt;/mn&gt;&lt;/mfrac&gt;&lt;/math&gt;" title="9 over 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6178" y="2895696"/>
            <a:ext cx="23328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84"/>
          <p:cNvSpPr txBox="1"/>
          <p:nvPr/>
        </p:nvSpPr>
        <p:spPr>
          <a:xfrm>
            <a:off x="324000" y="642975"/>
            <a:ext cx="45000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Both diagrams show the trial of a random card being taken from a deck of maths cards.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probability goes on the branch labelled x?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52" name="Shape 1352"/>
        <p:cNvGrpSpPr/>
        <p:nvPr/>
      </p:nvGrpSpPr>
      <p:grpSpPr>
        <a:xfrm>
          <a:off x="0" y="0"/>
          <a:ext cx="0" cy="0"/>
        </a:xfrm>
      </p:grpSpPr>
      <p:sp>
        <p:nvSpPr>
          <p:cNvPr id="1353" name="Google Shape;1353;p85"/>
          <p:cNvSpPr txBox="1"/>
          <p:nvPr/>
        </p:nvSpPr>
        <p:spPr>
          <a:xfrm>
            <a:off x="324000" y="642975"/>
            <a:ext cx="46338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 extra card is added to the deck.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statements are correct?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graphicFrame>
        <p:nvGraphicFramePr>
          <p:cNvPr id="1355" name="Google Shape;1355;p85"/>
          <p:cNvGraphicFramePr>
            <a:graphicFrameLocks noGrp="1"/>
          </p:cNvGraphicFramePr>
          <p:nvPr/>
        </p:nvGraphicFramePr>
        <p:xfrm>
          <a:off x="5353950" y="73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749625"/>
                <a:gridCol w="1749625"/>
              </a:tblGrid>
              <a:tr h="227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prime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prime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</a:tr>
              <a:tr h="1762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356" name="Google Shape;1356;p85"/>
          <p:cNvSpPr/>
          <p:nvPr/>
        </p:nvSpPr>
        <p:spPr>
          <a:xfrm>
            <a:off x="7202225" y="1078314"/>
            <a:ext cx="217200" cy="31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85"/>
          <p:cNvSpPr/>
          <p:nvPr/>
        </p:nvSpPr>
        <p:spPr>
          <a:xfrm>
            <a:off x="5495600" y="1078314"/>
            <a:ext cx="217200" cy="31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58" name="Google Shape;1358;p85"/>
          <p:cNvGrpSpPr/>
          <p:nvPr/>
        </p:nvGrpSpPr>
        <p:grpSpPr>
          <a:xfrm>
            <a:off x="5495600" y="1519164"/>
            <a:ext cx="555200" cy="313500"/>
            <a:chOff x="541825" y="3565189"/>
            <a:chExt cx="555200" cy="313500"/>
          </a:xfrm>
        </p:grpSpPr>
        <p:sp>
          <p:nvSpPr>
            <p:cNvPr id="1359" name="Google Shape;1359;p85"/>
            <p:cNvSpPr/>
            <p:nvPr/>
          </p:nvSpPr>
          <p:spPr>
            <a:xfrm>
              <a:off x="541825" y="3565189"/>
              <a:ext cx="217200" cy="313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0" name="Google Shape;1360;p85"/>
            <p:cNvSpPr/>
            <p:nvPr/>
          </p:nvSpPr>
          <p:spPr>
            <a:xfrm>
              <a:off x="879825" y="3565189"/>
              <a:ext cx="217200" cy="313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61" name="Google Shape;1361;p85"/>
          <p:cNvSpPr/>
          <p:nvPr/>
        </p:nvSpPr>
        <p:spPr>
          <a:xfrm>
            <a:off x="7202225" y="1519164"/>
            <a:ext cx="217200" cy="31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2" name="Google Shape;1362;p85"/>
          <p:cNvSpPr/>
          <p:nvPr/>
        </p:nvSpPr>
        <p:spPr>
          <a:xfrm>
            <a:off x="5495600" y="1960014"/>
            <a:ext cx="217200" cy="31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85"/>
          <p:cNvSpPr/>
          <p:nvPr/>
        </p:nvSpPr>
        <p:spPr>
          <a:xfrm>
            <a:off x="7202225" y="1960014"/>
            <a:ext cx="217200" cy="31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64" name="Google Shape;1364;p85"/>
          <p:cNvGrpSpPr/>
          <p:nvPr/>
        </p:nvGrpSpPr>
        <p:grpSpPr>
          <a:xfrm>
            <a:off x="5495600" y="2400864"/>
            <a:ext cx="555200" cy="313500"/>
            <a:chOff x="541825" y="4446889"/>
            <a:chExt cx="555200" cy="313500"/>
          </a:xfrm>
        </p:grpSpPr>
        <p:sp>
          <p:nvSpPr>
            <p:cNvPr id="1365" name="Google Shape;1365;p85"/>
            <p:cNvSpPr/>
            <p:nvPr/>
          </p:nvSpPr>
          <p:spPr>
            <a:xfrm>
              <a:off x="541825" y="4446889"/>
              <a:ext cx="217200" cy="313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6" name="Google Shape;1366;p85"/>
            <p:cNvSpPr/>
            <p:nvPr/>
          </p:nvSpPr>
          <p:spPr>
            <a:xfrm>
              <a:off x="879825" y="4446889"/>
              <a:ext cx="217200" cy="313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7" name="Google Shape;1367;p85"/>
          <p:cNvGrpSpPr/>
          <p:nvPr/>
        </p:nvGrpSpPr>
        <p:grpSpPr>
          <a:xfrm>
            <a:off x="6049075" y="2934039"/>
            <a:ext cx="2199450" cy="1678940"/>
            <a:chOff x="6134400" y="2800325"/>
            <a:chExt cx="2199450" cy="1678940"/>
          </a:xfrm>
        </p:grpSpPr>
        <p:grpSp>
          <p:nvGrpSpPr>
            <p:cNvPr id="1368" name="Google Shape;1368;p85"/>
            <p:cNvGrpSpPr/>
            <p:nvPr/>
          </p:nvGrpSpPr>
          <p:grpSpPr>
            <a:xfrm>
              <a:off x="6371000" y="2885687"/>
              <a:ext cx="1175100" cy="1507761"/>
              <a:chOff x="6599600" y="2885687"/>
              <a:chExt cx="1175100" cy="1507761"/>
            </a:xfrm>
          </p:grpSpPr>
          <p:cxnSp>
            <p:nvCxnSpPr>
              <p:cNvPr id="1369" name="Google Shape;1369;p85"/>
              <p:cNvCxnSpPr/>
              <p:nvPr/>
            </p:nvCxnSpPr>
            <p:spPr>
              <a:xfrm>
                <a:off x="6599600" y="3731948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0" name="Google Shape;1370;p85"/>
              <p:cNvCxnSpPr/>
              <p:nvPr/>
            </p:nvCxnSpPr>
            <p:spPr>
              <a:xfrm rot="10800000" flipH="1">
                <a:off x="6599600" y="2885687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371" name="Google Shape;1371;p85"/>
            <p:cNvSpPr txBox="1"/>
            <p:nvPr/>
          </p:nvSpPr>
          <p:spPr>
            <a:xfrm>
              <a:off x="7597350" y="4295065"/>
              <a:ext cx="7365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non prime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2" name="Google Shape;1372;p85"/>
            <p:cNvSpPr/>
            <p:nvPr/>
          </p:nvSpPr>
          <p:spPr>
            <a:xfrm>
              <a:off x="6134400" y="3512362"/>
              <a:ext cx="277200" cy="2544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3" name="Google Shape;1373;p85"/>
            <p:cNvSpPr txBox="1"/>
            <p:nvPr/>
          </p:nvSpPr>
          <p:spPr>
            <a:xfrm>
              <a:off x="7597350" y="2800325"/>
              <a:ext cx="7365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74" name="Google Shape;1374;p85"/>
          <p:cNvSpPr/>
          <p:nvPr/>
        </p:nvSpPr>
        <p:spPr>
          <a:xfrm>
            <a:off x="5833600" y="1078314"/>
            <a:ext cx="217200" cy="31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85"/>
          <p:cNvSpPr/>
          <p:nvPr/>
        </p:nvSpPr>
        <p:spPr>
          <a:xfrm>
            <a:off x="6171600" y="1078314"/>
            <a:ext cx="217200" cy="31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85"/>
          <p:cNvSpPr/>
          <p:nvPr/>
        </p:nvSpPr>
        <p:spPr>
          <a:xfrm>
            <a:off x="6509600" y="1078314"/>
            <a:ext cx="217200" cy="31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85"/>
          <p:cNvSpPr/>
          <p:nvPr/>
        </p:nvSpPr>
        <p:spPr>
          <a:xfrm>
            <a:off x="7202225" y="2400864"/>
            <a:ext cx="217200" cy="313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78" name="Google Shape;1378;p85" descr="&lt;math xmlns=&quot;http://www.w3.org/1998/Math/MathML&quot; display=&quot;block&quot; data-is-equatio=&quot;1&quot; data-latex=&quot;\frac{10}{14}&quot;&gt;&lt;mfrac&gt;&lt;mn&gt;10&lt;/mn&gt;&lt;mn&gt;14&lt;/mn&gt;&lt;/mfrac&gt;&lt;/math&gt;" title="10 over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1850" y="2895700"/>
            <a:ext cx="24192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85"/>
          <p:cNvSpPr/>
          <p:nvPr/>
        </p:nvSpPr>
        <p:spPr>
          <a:xfrm>
            <a:off x="6171600" y="1519164"/>
            <a:ext cx="217200" cy="313500"/>
          </a:xfrm>
          <a:prstGeom prst="rect">
            <a:avLst/>
          </a:prstGeom>
          <a:solidFill>
            <a:srgbClr val="FAEAF6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80" name="Google Shape;1380;p85"/>
          <p:cNvGrpSpPr/>
          <p:nvPr/>
        </p:nvGrpSpPr>
        <p:grpSpPr>
          <a:xfrm>
            <a:off x="871405" y="1474210"/>
            <a:ext cx="243093" cy="243093"/>
            <a:chOff x="1020916" y="1442088"/>
            <a:chExt cx="457200" cy="457200"/>
          </a:xfrm>
        </p:grpSpPr>
        <p:pic>
          <p:nvPicPr>
            <p:cNvPr id="1381" name="Google Shape;1381;p8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2" name="Google Shape;1382;p85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83" name="Google Shape;1383;p85"/>
          <p:cNvSpPr txBox="1"/>
          <p:nvPr/>
        </p:nvSpPr>
        <p:spPr>
          <a:xfrm>
            <a:off x="1140600" y="1453575"/>
            <a:ext cx="308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number of prime outcomes has changed.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84" name="Google Shape;1384;p85"/>
          <p:cNvGrpSpPr/>
          <p:nvPr/>
        </p:nvGrpSpPr>
        <p:grpSpPr>
          <a:xfrm>
            <a:off x="871405" y="2170210"/>
            <a:ext cx="243093" cy="243093"/>
            <a:chOff x="1020916" y="1442088"/>
            <a:chExt cx="457200" cy="457200"/>
          </a:xfrm>
        </p:grpSpPr>
        <p:pic>
          <p:nvPicPr>
            <p:cNvPr id="1385" name="Google Shape;1385;p8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6" name="Google Shape;1386;p85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87" name="Google Shape;1387;p85"/>
          <p:cNvSpPr txBox="1"/>
          <p:nvPr/>
        </p:nvSpPr>
        <p:spPr>
          <a:xfrm>
            <a:off x="1140600" y="2149575"/>
            <a:ext cx="308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number of non-prime outcomes has changed.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85"/>
          <p:cNvSpPr txBox="1"/>
          <p:nvPr/>
        </p:nvSpPr>
        <p:spPr>
          <a:xfrm>
            <a:off x="1140600" y="2845575"/>
            <a:ext cx="308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probability of taking a prime has changed.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89" name="Google Shape;1389;p85"/>
          <p:cNvGrpSpPr/>
          <p:nvPr/>
        </p:nvGrpSpPr>
        <p:grpSpPr>
          <a:xfrm>
            <a:off x="871405" y="2866210"/>
            <a:ext cx="243093" cy="243093"/>
            <a:chOff x="1020916" y="1442088"/>
            <a:chExt cx="457200" cy="457200"/>
          </a:xfrm>
        </p:grpSpPr>
        <p:pic>
          <p:nvPicPr>
            <p:cNvPr id="1390" name="Google Shape;1390;p8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85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92" name="Google Shape;1392;p85"/>
          <p:cNvSpPr txBox="1"/>
          <p:nvPr/>
        </p:nvSpPr>
        <p:spPr>
          <a:xfrm>
            <a:off x="1140600" y="3541575"/>
            <a:ext cx="308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probability of taking a non-prime has changed.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93" name="Google Shape;1393;p85"/>
          <p:cNvGrpSpPr/>
          <p:nvPr/>
        </p:nvGrpSpPr>
        <p:grpSpPr>
          <a:xfrm>
            <a:off x="871405" y="3562210"/>
            <a:ext cx="243093" cy="243093"/>
            <a:chOff x="1020916" y="1442088"/>
            <a:chExt cx="457200" cy="457200"/>
          </a:xfrm>
        </p:grpSpPr>
        <p:pic>
          <p:nvPicPr>
            <p:cNvPr id="1394" name="Google Shape;1394;p8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5" name="Google Shape;1395;p85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96" name="Google Shape;1396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308" y="13862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7" name="Google Shape;1397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308" y="27782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8" name="Google Shape;1398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308" y="34742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85" descr="&lt;math xmlns=&quot;http://www.w3.org/1998/Math/MathML&quot; display=&quot;block&quot; data-is-equatio=&quot;1&quot; data-latex=&quot;\frac{4}{14}&quot;&gt;&lt;mfrac&gt;&lt;mn&gt;4&lt;/mn&gt;&lt;mn&gt;14&lt;/mn&gt;&lt;/mfrac&gt;&lt;/math&gt;" title="4 over 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68125" y="3766250"/>
            <a:ext cx="23760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03" name="Shape 1403"/>
        <p:cNvGrpSpPr/>
        <p:nvPr/>
      </p:nvGrpSpPr>
      <p:grpSpPr>
        <a:xfrm>
          <a:off x="0" y="0"/>
          <a:ext cx="0" cy="0"/>
        </a:xfrm>
      </p:grpSpPr>
      <p:grpSp>
        <p:nvGrpSpPr>
          <p:cNvPr id="1404" name="Google Shape;1404;p86"/>
          <p:cNvGrpSpPr/>
          <p:nvPr/>
        </p:nvGrpSpPr>
        <p:grpSpPr>
          <a:xfrm>
            <a:off x="4387444" y="1842769"/>
            <a:ext cx="4128058" cy="2862266"/>
            <a:chOff x="4387444" y="1842769"/>
            <a:chExt cx="4128058" cy="2862266"/>
          </a:xfrm>
        </p:grpSpPr>
        <p:grpSp>
          <p:nvGrpSpPr>
            <p:cNvPr id="1405" name="Google Shape;1405;p86"/>
            <p:cNvGrpSpPr/>
            <p:nvPr/>
          </p:nvGrpSpPr>
          <p:grpSpPr>
            <a:xfrm flipH="1">
              <a:off x="4387444" y="1842769"/>
              <a:ext cx="3712518" cy="2248591"/>
              <a:chOff x="797575" y="5295652"/>
              <a:chExt cx="3320975" cy="1476325"/>
            </a:xfrm>
          </p:grpSpPr>
          <p:pic>
            <p:nvPicPr>
              <p:cNvPr id="1406" name="Google Shape;1406;p86"/>
              <p:cNvPicPr preferRelativeResize="0"/>
              <p:nvPr/>
            </p:nvPicPr>
            <p:blipFill>
              <a:blip r:embed="rId3">
                <a:alphaModFix/>
              </a:blip>
              <a:srcRect r="57905" b="43690"/>
              <a:stretch>
                <a:fillRect/>
              </a:stretch>
            </p:blipFill>
            <p:spPr>
              <a:xfrm flipH="1">
                <a:off x="797575" y="5295652"/>
                <a:ext cx="3320975" cy="14763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07" name="Google Shape;1407;p86"/>
              <p:cNvSpPr txBox="1"/>
              <p:nvPr/>
            </p:nvSpPr>
            <p:spPr>
              <a:xfrm flipH="1">
                <a:off x="1048703" y="5313728"/>
                <a:ext cx="3000000" cy="55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I’m confused.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This Venn diagram shows two events: primes and odd numbers.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id="1408" name="Google Shape;1408;p8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31344" y="3690741"/>
              <a:ext cx="684158" cy="7370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9" name="Google Shape;1409;p86"/>
            <p:cNvSpPr txBox="1"/>
            <p:nvPr/>
          </p:nvSpPr>
          <p:spPr>
            <a:xfrm>
              <a:off x="7789282" y="4427835"/>
              <a:ext cx="696283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Sofia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10" name="Google Shape;1410;p86"/>
          <p:cNvSpPr txBox="1"/>
          <p:nvPr/>
        </p:nvSpPr>
        <p:spPr>
          <a:xfrm>
            <a:off x="4465525" y="3083981"/>
            <a:ext cx="335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can I focus on just the outcomes that are prime?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86"/>
          <p:cNvSpPr txBox="1"/>
          <p:nvPr/>
        </p:nvSpPr>
        <p:spPr>
          <a:xfrm>
            <a:off x="324000" y="642971"/>
            <a:ext cx="8496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10-sided dice has the integers from 1 to 10 written on its faces.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Rolling the dice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Event: the spinner lands on a prime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sp>
        <p:nvSpPr>
          <p:cNvPr id="1413" name="Google Shape;1413;p86"/>
          <p:cNvSpPr/>
          <p:nvPr/>
        </p:nvSpPr>
        <p:spPr>
          <a:xfrm>
            <a:off x="593621" y="2155815"/>
            <a:ext cx="3147000" cy="20742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86"/>
          <p:cNvSpPr/>
          <p:nvPr/>
        </p:nvSpPr>
        <p:spPr>
          <a:xfrm>
            <a:off x="812187" y="2383502"/>
            <a:ext cx="1882800" cy="1452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86"/>
          <p:cNvSpPr/>
          <p:nvPr/>
        </p:nvSpPr>
        <p:spPr>
          <a:xfrm>
            <a:off x="1639734" y="2383502"/>
            <a:ext cx="1882800" cy="1452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86"/>
          <p:cNvSpPr txBox="1"/>
          <p:nvPr/>
        </p:nvSpPr>
        <p:spPr>
          <a:xfrm>
            <a:off x="649859" y="2155815"/>
            <a:ext cx="1505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prime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86"/>
          <p:cNvSpPr txBox="1"/>
          <p:nvPr/>
        </p:nvSpPr>
        <p:spPr>
          <a:xfrm>
            <a:off x="2211621" y="2155815"/>
            <a:ext cx="147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86"/>
          <p:cNvSpPr txBox="1"/>
          <p:nvPr/>
        </p:nvSpPr>
        <p:spPr>
          <a:xfrm>
            <a:off x="324025" y="2131099"/>
            <a:ext cx="26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86"/>
          <p:cNvSpPr txBox="1"/>
          <p:nvPr/>
        </p:nvSpPr>
        <p:spPr>
          <a:xfrm>
            <a:off x="2689981" y="3856872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86"/>
          <p:cNvSpPr txBox="1"/>
          <p:nvPr/>
        </p:nvSpPr>
        <p:spPr>
          <a:xfrm>
            <a:off x="1909040" y="263841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86"/>
          <p:cNvSpPr txBox="1"/>
          <p:nvPr/>
        </p:nvSpPr>
        <p:spPr>
          <a:xfrm>
            <a:off x="2846653" y="28790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86"/>
          <p:cNvSpPr txBox="1"/>
          <p:nvPr/>
        </p:nvSpPr>
        <p:spPr>
          <a:xfrm>
            <a:off x="987446" y="28790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86"/>
          <p:cNvSpPr txBox="1"/>
          <p:nvPr/>
        </p:nvSpPr>
        <p:spPr>
          <a:xfrm>
            <a:off x="593625" y="4286872"/>
            <a:ext cx="3147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diagram showing individual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86"/>
          <p:cNvSpPr txBox="1"/>
          <p:nvPr/>
        </p:nvSpPr>
        <p:spPr>
          <a:xfrm>
            <a:off x="649840" y="38568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86"/>
          <p:cNvSpPr txBox="1"/>
          <p:nvPr/>
        </p:nvSpPr>
        <p:spPr>
          <a:xfrm>
            <a:off x="1736315" y="29915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86"/>
          <p:cNvSpPr txBox="1"/>
          <p:nvPr/>
        </p:nvSpPr>
        <p:spPr>
          <a:xfrm>
            <a:off x="2305601" y="2991575"/>
            <a:ext cx="3279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86"/>
          <p:cNvSpPr txBox="1"/>
          <p:nvPr/>
        </p:nvSpPr>
        <p:spPr>
          <a:xfrm>
            <a:off x="1296215" y="386961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8" name="Google Shape;1428;p86"/>
          <p:cNvSpPr txBox="1"/>
          <p:nvPr/>
        </p:nvSpPr>
        <p:spPr>
          <a:xfrm>
            <a:off x="2059490" y="386961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86"/>
          <p:cNvSpPr txBox="1"/>
          <p:nvPr/>
        </p:nvSpPr>
        <p:spPr>
          <a:xfrm>
            <a:off x="2633503" y="33110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33" name="Shape 1433"/>
        <p:cNvGrpSpPr/>
        <p:nvPr/>
      </p:nvGrpSpPr>
      <p:grpSpPr>
        <a:xfrm>
          <a:off x="0" y="0"/>
          <a:ext cx="0" cy="0"/>
        </a:xfrm>
      </p:grpSpPr>
      <p:sp>
        <p:nvSpPr>
          <p:cNvPr id="1434" name="Google Shape;1434;p87"/>
          <p:cNvSpPr/>
          <p:nvPr/>
        </p:nvSpPr>
        <p:spPr>
          <a:xfrm>
            <a:off x="812187" y="2383502"/>
            <a:ext cx="1882800" cy="1452000"/>
          </a:xfrm>
          <a:prstGeom prst="ellipse">
            <a:avLst/>
          </a:prstGeom>
          <a:solidFill>
            <a:srgbClr val="FAEA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87"/>
          <p:cNvSpPr txBox="1"/>
          <p:nvPr/>
        </p:nvSpPr>
        <p:spPr>
          <a:xfrm>
            <a:off x="324000" y="642971"/>
            <a:ext cx="8496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10-sided dice has the integers from 1 to 10 written on its faces.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Rolling the dice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Event: the spinner lands on a prime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sp>
        <p:nvSpPr>
          <p:cNvPr id="1437" name="Google Shape;1437;p87"/>
          <p:cNvSpPr/>
          <p:nvPr/>
        </p:nvSpPr>
        <p:spPr>
          <a:xfrm>
            <a:off x="593621" y="2155815"/>
            <a:ext cx="3147000" cy="20742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87"/>
          <p:cNvSpPr/>
          <p:nvPr/>
        </p:nvSpPr>
        <p:spPr>
          <a:xfrm>
            <a:off x="812187" y="2383502"/>
            <a:ext cx="1882800" cy="1452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87"/>
          <p:cNvSpPr/>
          <p:nvPr/>
        </p:nvSpPr>
        <p:spPr>
          <a:xfrm>
            <a:off x="1639734" y="2383502"/>
            <a:ext cx="1882800" cy="1452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0" name="Google Shape;1440;p87"/>
          <p:cNvSpPr txBox="1"/>
          <p:nvPr/>
        </p:nvSpPr>
        <p:spPr>
          <a:xfrm>
            <a:off x="649859" y="2155815"/>
            <a:ext cx="1505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prime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87"/>
          <p:cNvSpPr txBox="1"/>
          <p:nvPr/>
        </p:nvSpPr>
        <p:spPr>
          <a:xfrm>
            <a:off x="2211621" y="2155815"/>
            <a:ext cx="147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87"/>
          <p:cNvSpPr txBox="1"/>
          <p:nvPr/>
        </p:nvSpPr>
        <p:spPr>
          <a:xfrm>
            <a:off x="324025" y="2131099"/>
            <a:ext cx="26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87"/>
          <p:cNvSpPr txBox="1"/>
          <p:nvPr/>
        </p:nvSpPr>
        <p:spPr>
          <a:xfrm>
            <a:off x="2689981" y="3856872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4" name="Google Shape;1444;p87"/>
          <p:cNvSpPr txBox="1"/>
          <p:nvPr/>
        </p:nvSpPr>
        <p:spPr>
          <a:xfrm>
            <a:off x="1909040" y="263841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87"/>
          <p:cNvSpPr txBox="1"/>
          <p:nvPr/>
        </p:nvSpPr>
        <p:spPr>
          <a:xfrm>
            <a:off x="2846653" y="28790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87"/>
          <p:cNvSpPr txBox="1"/>
          <p:nvPr/>
        </p:nvSpPr>
        <p:spPr>
          <a:xfrm>
            <a:off x="987446" y="28790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87"/>
          <p:cNvSpPr txBox="1"/>
          <p:nvPr/>
        </p:nvSpPr>
        <p:spPr>
          <a:xfrm>
            <a:off x="593625" y="4286872"/>
            <a:ext cx="3147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diagram showing individual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8" name="Google Shape;1448;p87"/>
          <p:cNvSpPr txBox="1"/>
          <p:nvPr/>
        </p:nvSpPr>
        <p:spPr>
          <a:xfrm>
            <a:off x="649840" y="38568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87"/>
          <p:cNvSpPr txBox="1"/>
          <p:nvPr/>
        </p:nvSpPr>
        <p:spPr>
          <a:xfrm>
            <a:off x="1736315" y="29915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87"/>
          <p:cNvSpPr txBox="1"/>
          <p:nvPr/>
        </p:nvSpPr>
        <p:spPr>
          <a:xfrm>
            <a:off x="2305601" y="2991575"/>
            <a:ext cx="3279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87"/>
          <p:cNvSpPr txBox="1"/>
          <p:nvPr/>
        </p:nvSpPr>
        <p:spPr>
          <a:xfrm>
            <a:off x="1296215" y="386961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87"/>
          <p:cNvSpPr txBox="1"/>
          <p:nvPr/>
        </p:nvSpPr>
        <p:spPr>
          <a:xfrm>
            <a:off x="2059490" y="386961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87"/>
          <p:cNvSpPr txBox="1"/>
          <p:nvPr/>
        </p:nvSpPr>
        <p:spPr>
          <a:xfrm>
            <a:off x="2633503" y="33110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87"/>
          <p:cNvSpPr txBox="1"/>
          <p:nvPr/>
        </p:nvSpPr>
        <p:spPr>
          <a:xfrm>
            <a:off x="3817175" y="2155825"/>
            <a:ext cx="50028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All the outcomes in the left-hand circle are prime numbers.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includes the middle (the intersection).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four prime numbers on the dice.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87"/>
          <p:cNvSpPr/>
          <p:nvPr/>
        </p:nvSpPr>
        <p:spPr>
          <a:xfrm>
            <a:off x="812187" y="2383502"/>
            <a:ext cx="1882800" cy="1452000"/>
          </a:xfrm>
          <a:prstGeom prst="ellipse">
            <a:avLst/>
          </a:prstGeom>
          <a:noFill/>
          <a:ln w="762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87"/>
          <p:cNvSpPr txBox="1"/>
          <p:nvPr/>
        </p:nvSpPr>
        <p:spPr>
          <a:xfrm>
            <a:off x="3817175" y="3691125"/>
            <a:ext cx="1231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P(prime) =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7" name="Google Shape;1457;p87" descr="&lt;math xmlns=&quot;http://www.w3.org/1998/Math/MathML&quot; display=&quot;block&quot; data-is-equatio=&quot;1&quot; data-latex=&quot;\frac{4}{10}&quot;&gt;&lt;mfrac&gt;&lt;mn&gt;4&lt;/mn&gt;&lt;mn&gt;10&lt;/mn&gt;&lt;/mfrac&gt;&lt;/math&gt;" title="four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246" y="3613725"/>
            <a:ext cx="23328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61" name="Shape 1461"/>
        <p:cNvGrpSpPr/>
        <p:nvPr/>
      </p:nvGrpSpPr>
      <p:grpSpPr>
        <a:xfrm>
          <a:off x="0" y="0"/>
          <a:ext cx="0" cy="0"/>
        </a:xfrm>
      </p:grpSpPr>
      <p:sp>
        <p:nvSpPr>
          <p:cNvPr id="1462" name="Google Shape;1462;p88"/>
          <p:cNvSpPr/>
          <p:nvPr/>
        </p:nvSpPr>
        <p:spPr>
          <a:xfrm>
            <a:off x="593621" y="2155815"/>
            <a:ext cx="3147000" cy="2074200"/>
          </a:xfrm>
          <a:prstGeom prst="rect">
            <a:avLst/>
          </a:prstGeom>
          <a:solidFill>
            <a:srgbClr val="FAEA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88"/>
          <p:cNvSpPr/>
          <p:nvPr/>
        </p:nvSpPr>
        <p:spPr>
          <a:xfrm>
            <a:off x="812187" y="2383502"/>
            <a:ext cx="1882800" cy="1452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88"/>
          <p:cNvSpPr/>
          <p:nvPr/>
        </p:nvSpPr>
        <p:spPr>
          <a:xfrm>
            <a:off x="593621" y="2155815"/>
            <a:ext cx="3147000" cy="20742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88"/>
          <p:cNvSpPr/>
          <p:nvPr/>
        </p:nvSpPr>
        <p:spPr>
          <a:xfrm>
            <a:off x="812187" y="2383502"/>
            <a:ext cx="1882800" cy="1452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88"/>
          <p:cNvSpPr txBox="1"/>
          <p:nvPr/>
        </p:nvSpPr>
        <p:spPr>
          <a:xfrm>
            <a:off x="324000" y="642971"/>
            <a:ext cx="8496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10-sided dice has the integers from 1 to 10 written on its faces.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Rolling the dice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Event: the spinner lands on a prime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sp>
        <p:nvSpPr>
          <p:cNvPr id="1468" name="Google Shape;1468;p88"/>
          <p:cNvSpPr/>
          <p:nvPr/>
        </p:nvSpPr>
        <p:spPr>
          <a:xfrm>
            <a:off x="1639734" y="2383502"/>
            <a:ext cx="1882800" cy="1452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88"/>
          <p:cNvSpPr txBox="1"/>
          <p:nvPr/>
        </p:nvSpPr>
        <p:spPr>
          <a:xfrm>
            <a:off x="649859" y="2155815"/>
            <a:ext cx="1505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prime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88"/>
          <p:cNvSpPr txBox="1"/>
          <p:nvPr/>
        </p:nvSpPr>
        <p:spPr>
          <a:xfrm>
            <a:off x="2211621" y="2155815"/>
            <a:ext cx="147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88"/>
          <p:cNvSpPr txBox="1"/>
          <p:nvPr/>
        </p:nvSpPr>
        <p:spPr>
          <a:xfrm>
            <a:off x="324025" y="2131099"/>
            <a:ext cx="26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88"/>
          <p:cNvSpPr txBox="1"/>
          <p:nvPr/>
        </p:nvSpPr>
        <p:spPr>
          <a:xfrm>
            <a:off x="2689981" y="3856872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88"/>
          <p:cNvSpPr txBox="1"/>
          <p:nvPr/>
        </p:nvSpPr>
        <p:spPr>
          <a:xfrm>
            <a:off x="1909040" y="263841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88"/>
          <p:cNvSpPr txBox="1"/>
          <p:nvPr/>
        </p:nvSpPr>
        <p:spPr>
          <a:xfrm>
            <a:off x="2846653" y="28790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88"/>
          <p:cNvSpPr txBox="1"/>
          <p:nvPr/>
        </p:nvSpPr>
        <p:spPr>
          <a:xfrm>
            <a:off x="987446" y="28790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88"/>
          <p:cNvSpPr txBox="1"/>
          <p:nvPr/>
        </p:nvSpPr>
        <p:spPr>
          <a:xfrm>
            <a:off x="593625" y="4286872"/>
            <a:ext cx="3147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diagram showing individual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88"/>
          <p:cNvSpPr txBox="1"/>
          <p:nvPr/>
        </p:nvSpPr>
        <p:spPr>
          <a:xfrm>
            <a:off x="649840" y="38568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88"/>
          <p:cNvSpPr txBox="1"/>
          <p:nvPr/>
        </p:nvSpPr>
        <p:spPr>
          <a:xfrm>
            <a:off x="1736315" y="29915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88"/>
          <p:cNvSpPr txBox="1"/>
          <p:nvPr/>
        </p:nvSpPr>
        <p:spPr>
          <a:xfrm>
            <a:off x="2305601" y="2991575"/>
            <a:ext cx="3279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88"/>
          <p:cNvSpPr txBox="1"/>
          <p:nvPr/>
        </p:nvSpPr>
        <p:spPr>
          <a:xfrm>
            <a:off x="3817175" y="2155825"/>
            <a:ext cx="5002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All other numbers outside this circle are outcomes that are not prime.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are six non-prime numbers on the dice.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88"/>
          <p:cNvSpPr txBox="1"/>
          <p:nvPr/>
        </p:nvSpPr>
        <p:spPr>
          <a:xfrm>
            <a:off x="1296215" y="386961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88"/>
          <p:cNvSpPr txBox="1"/>
          <p:nvPr/>
        </p:nvSpPr>
        <p:spPr>
          <a:xfrm>
            <a:off x="2059490" y="386961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88"/>
          <p:cNvSpPr txBox="1"/>
          <p:nvPr/>
        </p:nvSpPr>
        <p:spPr>
          <a:xfrm>
            <a:off x="2633503" y="33110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88"/>
          <p:cNvSpPr txBox="1"/>
          <p:nvPr/>
        </p:nvSpPr>
        <p:spPr>
          <a:xfrm>
            <a:off x="3817175" y="3691125"/>
            <a:ext cx="1231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P(prime) =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5" name="Google Shape;1485;p88" descr="&lt;math xmlns=&quot;http://www.w3.org/1998/Math/MathML&quot; display=&quot;block&quot; data-is-equatio=&quot;1&quot; data-latex=&quot;\frac{4}{10}&quot;&gt;&lt;mfrac&gt;&lt;mn&gt;4&lt;/mn&gt;&lt;mn&gt;10&lt;/mn&gt;&lt;/mfrac&gt;&lt;/math&gt;" title="four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246" y="3613725"/>
            <a:ext cx="23328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6" name="Google Shape;1486;p88"/>
          <p:cNvSpPr txBox="1"/>
          <p:nvPr/>
        </p:nvSpPr>
        <p:spPr>
          <a:xfrm>
            <a:off x="3817175" y="4344375"/>
            <a:ext cx="174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P(not prime) =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7" name="Google Shape;1487;p88" descr="&lt;math xmlns=&quot;http://www.w3.org/1998/Math/MathML&quot; display=&quot;block&quot; data-is-equatio=&quot;1&quot; data-latex=&quot;\frac{6}{10}&quot;&gt;&lt;mfrac&gt;&lt;mn&gt;6&lt;/mn&gt;&lt;mn&gt;10&lt;/mn&gt;&lt;/mfrac&gt;&lt;/math&gt;" title="six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1475" y="4266975"/>
            <a:ext cx="23328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91" name="Shape 1491"/>
        <p:cNvGrpSpPr/>
        <p:nvPr/>
      </p:nvGrpSpPr>
      <p:grpSpPr>
        <a:xfrm>
          <a:off x="0" y="0"/>
          <a:ext cx="0" cy="0"/>
        </a:xfrm>
      </p:grpSpPr>
      <p:sp>
        <p:nvSpPr>
          <p:cNvPr id="1492" name="Google Shape;1492;p89"/>
          <p:cNvSpPr/>
          <p:nvPr/>
        </p:nvSpPr>
        <p:spPr>
          <a:xfrm>
            <a:off x="593621" y="2155815"/>
            <a:ext cx="3147000" cy="20742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89"/>
          <p:cNvSpPr/>
          <p:nvPr/>
        </p:nvSpPr>
        <p:spPr>
          <a:xfrm>
            <a:off x="812187" y="2383502"/>
            <a:ext cx="1882800" cy="1452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89"/>
          <p:cNvSpPr/>
          <p:nvPr/>
        </p:nvSpPr>
        <p:spPr>
          <a:xfrm>
            <a:off x="812187" y="2383502"/>
            <a:ext cx="1882800" cy="1452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89"/>
          <p:cNvSpPr txBox="1"/>
          <p:nvPr/>
        </p:nvSpPr>
        <p:spPr>
          <a:xfrm>
            <a:off x="324000" y="642971"/>
            <a:ext cx="8496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10-sided dice has the integers from 1 to 10 written on its faces.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Rolling the dice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Event: the spinner lands on a prime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sp>
        <p:nvSpPr>
          <p:cNvPr id="1497" name="Google Shape;1497;p89"/>
          <p:cNvSpPr/>
          <p:nvPr/>
        </p:nvSpPr>
        <p:spPr>
          <a:xfrm>
            <a:off x="1639734" y="2383502"/>
            <a:ext cx="1882800" cy="1452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89"/>
          <p:cNvSpPr txBox="1"/>
          <p:nvPr/>
        </p:nvSpPr>
        <p:spPr>
          <a:xfrm>
            <a:off x="649859" y="2155815"/>
            <a:ext cx="1505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prime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89"/>
          <p:cNvSpPr txBox="1"/>
          <p:nvPr/>
        </p:nvSpPr>
        <p:spPr>
          <a:xfrm>
            <a:off x="2211621" y="2155815"/>
            <a:ext cx="147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0" name="Google Shape;1500;p89"/>
          <p:cNvSpPr txBox="1"/>
          <p:nvPr/>
        </p:nvSpPr>
        <p:spPr>
          <a:xfrm>
            <a:off x="324025" y="2131099"/>
            <a:ext cx="26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89"/>
          <p:cNvSpPr txBox="1"/>
          <p:nvPr/>
        </p:nvSpPr>
        <p:spPr>
          <a:xfrm>
            <a:off x="2689981" y="3856872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89"/>
          <p:cNvSpPr txBox="1"/>
          <p:nvPr/>
        </p:nvSpPr>
        <p:spPr>
          <a:xfrm>
            <a:off x="1909040" y="263841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3" name="Google Shape;1503;p89"/>
          <p:cNvSpPr txBox="1"/>
          <p:nvPr/>
        </p:nvSpPr>
        <p:spPr>
          <a:xfrm>
            <a:off x="2846653" y="28790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89"/>
          <p:cNvSpPr txBox="1"/>
          <p:nvPr/>
        </p:nvSpPr>
        <p:spPr>
          <a:xfrm>
            <a:off x="987446" y="28790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89"/>
          <p:cNvSpPr txBox="1"/>
          <p:nvPr/>
        </p:nvSpPr>
        <p:spPr>
          <a:xfrm>
            <a:off x="593625" y="4286872"/>
            <a:ext cx="3147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diagram showing individual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6" name="Google Shape;1506;p89"/>
          <p:cNvSpPr txBox="1"/>
          <p:nvPr/>
        </p:nvSpPr>
        <p:spPr>
          <a:xfrm>
            <a:off x="649840" y="38568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7" name="Google Shape;1507;p89"/>
          <p:cNvSpPr txBox="1"/>
          <p:nvPr/>
        </p:nvSpPr>
        <p:spPr>
          <a:xfrm>
            <a:off x="1736315" y="29915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89"/>
          <p:cNvSpPr txBox="1"/>
          <p:nvPr/>
        </p:nvSpPr>
        <p:spPr>
          <a:xfrm>
            <a:off x="2305601" y="2991575"/>
            <a:ext cx="3279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89"/>
          <p:cNvSpPr txBox="1"/>
          <p:nvPr/>
        </p:nvSpPr>
        <p:spPr>
          <a:xfrm>
            <a:off x="3817175" y="2155825"/>
            <a:ext cx="2605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outcomes of this event can then be shown on a probability tree.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89"/>
          <p:cNvSpPr txBox="1"/>
          <p:nvPr/>
        </p:nvSpPr>
        <p:spPr>
          <a:xfrm>
            <a:off x="1296215" y="386961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89"/>
          <p:cNvSpPr txBox="1"/>
          <p:nvPr/>
        </p:nvSpPr>
        <p:spPr>
          <a:xfrm>
            <a:off x="2059490" y="386961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89"/>
          <p:cNvSpPr txBox="1"/>
          <p:nvPr/>
        </p:nvSpPr>
        <p:spPr>
          <a:xfrm>
            <a:off x="2633503" y="33110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89"/>
          <p:cNvSpPr txBox="1"/>
          <p:nvPr/>
        </p:nvSpPr>
        <p:spPr>
          <a:xfrm>
            <a:off x="3817175" y="3691125"/>
            <a:ext cx="1231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P(prime) =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14" name="Google Shape;1514;p89" descr="&lt;math xmlns=&quot;http://www.w3.org/1998/Math/MathML&quot; display=&quot;block&quot; data-is-equatio=&quot;1&quot; data-latex=&quot;\frac{4}{10}&quot;&gt;&lt;mfrac&gt;&lt;mn&gt;4&lt;/mn&gt;&lt;mn&gt;10&lt;/mn&gt;&lt;/mfrac&gt;&lt;/math&gt;" title="four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246" y="3613725"/>
            <a:ext cx="23328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p89"/>
          <p:cNvSpPr txBox="1"/>
          <p:nvPr/>
        </p:nvSpPr>
        <p:spPr>
          <a:xfrm>
            <a:off x="3817175" y="4344375"/>
            <a:ext cx="174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P(not prime) =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16" name="Google Shape;1516;p89" descr="&lt;math xmlns=&quot;http://www.w3.org/1998/Math/MathML&quot; display=&quot;block&quot; data-is-equatio=&quot;1&quot; data-latex=&quot;\frac{6}{10}&quot;&gt;&lt;mfrac&gt;&lt;mn&gt;6&lt;/mn&gt;&lt;mn&gt;10&lt;/mn&gt;&lt;/mfrac&gt;&lt;/math&gt;" title="six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1475" y="4266975"/>
            <a:ext cx="233280" cy="43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7" name="Google Shape;1517;p89"/>
          <p:cNvGrpSpPr/>
          <p:nvPr/>
        </p:nvGrpSpPr>
        <p:grpSpPr>
          <a:xfrm>
            <a:off x="6201475" y="2934039"/>
            <a:ext cx="2199450" cy="1678940"/>
            <a:chOff x="6134400" y="2800325"/>
            <a:chExt cx="2199450" cy="1678940"/>
          </a:xfrm>
        </p:grpSpPr>
        <p:grpSp>
          <p:nvGrpSpPr>
            <p:cNvPr id="1518" name="Google Shape;1518;p89"/>
            <p:cNvGrpSpPr/>
            <p:nvPr/>
          </p:nvGrpSpPr>
          <p:grpSpPr>
            <a:xfrm>
              <a:off x="6371000" y="2885687"/>
              <a:ext cx="1175100" cy="1507761"/>
              <a:chOff x="6599600" y="2885687"/>
              <a:chExt cx="1175100" cy="1507761"/>
            </a:xfrm>
          </p:grpSpPr>
          <p:cxnSp>
            <p:nvCxnSpPr>
              <p:cNvPr id="1519" name="Google Shape;1519;p89"/>
              <p:cNvCxnSpPr/>
              <p:nvPr/>
            </p:nvCxnSpPr>
            <p:spPr>
              <a:xfrm>
                <a:off x="6599600" y="3731948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0" name="Google Shape;1520;p89"/>
              <p:cNvCxnSpPr/>
              <p:nvPr/>
            </p:nvCxnSpPr>
            <p:spPr>
              <a:xfrm rot="10800000" flipH="1">
                <a:off x="6599600" y="2885687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521" name="Google Shape;1521;p89"/>
            <p:cNvSpPr txBox="1"/>
            <p:nvPr/>
          </p:nvSpPr>
          <p:spPr>
            <a:xfrm>
              <a:off x="7597350" y="4295065"/>
              <a:ext cx="7365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non prime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2" name="Google Shape;1522;p89"/>
            <p:cNvSpPr/>
            <p:nvPr/>
          </p:nvSpPr>
          <p:spPr>
            <a:xfrm>
              <a:off x="6134400" y="3512362"/>
              <a:ext cx="277200" cy="2544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3" name="Google Shape;1523;p89"/>
            <p:cNvSpPr txBox="1"/>
            <p:nvPr/>
          </p:nvSpPr>
          <p:spPr>
            <a:xfrm>
              <a:off x="7597350" y="2800325"/>
              <a:ext cx="7365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24" name="Google Shape;1524;p89" descr="&lt;math xmlns=&quot;http://www.w3.org/1998/Math/MathML&quot; display=&quot;block&quot; data-is-equatio=&quot;1&quot; data-latex=&quot;\frac{4}{10}&quot;&gt;&lt;mfrac&gt;&lt;mn&gt;4&lt;/mn&gt;&lt;mn&gt;10&lt;/mn&gt;&lt;/mfrac&gt;&lt;/math&gt;" title="four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6121" y="2838489"/>
            <a:ext cx="23328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5" name="Google Shape;1525;p89" descr="&lt;math xmlns=&quot;http://www.w3.org/1998/Math/MathML&quot; display=&quot;block&quot; data-is-equatio=&quot;1&quot; data-latex=&quot;\frac{6}{10}&quot;&gt;&lt;mfrac&gt;&lt;mn&gt;6&lt;/mn&gt;&lt;mn&gt;10&lt;/mn&gt;&lt;/mfrac&gt;&lt;/math&gt;" title="six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3325" y="3785870"/>
            <a:ext cx="23328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29" name="Shape 1529"/>
        <p:cNvGrpSpPr/>
        <p:nvPr/>
      </p:nvGrpSpPr>
      <p:grpSpPr>
        <a:xfrm>
          <a:off x="0" y="0"/>
          <a:ext cx="0" cy="0"/>
        </a:xfrm>
      </p:grpSpPr>
      <p:sp>
        <p:nvSpPr>
          <p:cNvPr id="1530" name="Google Shape;1530;p90"/>
          <p:cNvSpPr/>
          <p:nvPr/>
        </p:nvSpPr>
        <p:spPr>
          <a:xfrm>
            <a:off x="812187" y="1926302"/>
            <a:ext cx="1882800" cy="1452000"/>
          </a:xfrm>
          <a:prstGeom prst="ellipse">
            <a:avLst/>
          </a:prstGeom>
          <a:solidFill>
            <a:srgbClr val="FAEAF6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90"/>
          <p:cNvSpPr/>
          <p:nvPr/>
        </p:nvSpPr>
        <p:spPr>
          <a:xfrm>
            <a:off x="593621" y="1622415"/>
            <a:ext cx="3147000" cy="20742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90"/>
          <p:cNvSpPr/>
          <p:nvPr/>
        </p:nvSpPr>
        <p:spPr>
          <a:xfrm>
            <a:off x="812187" y="1926302"/>
            <a:ext cx="1882800" cy="1452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sp>
        <p:nvSpPr>
          <p:cNvPr id="1534" name="Google Shape;1534;p90"/>
          <p:cNvSpPr/>
          <p:nvPr/>
        </p:nvSpPr>
        <p:spPr>
          <a:xfrm>
            <a:off x="1639734" y="1926302"/>
            <a:ext cx="1882800" cy="1452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90"/>
          <p:cNvSpPr txBox="1"/>
          <p:nvPr/>
        </p:nvSpPr>
        <p:spPr>
          <a:xfrm>
            <a:off x="2211621" y="1622415"/>
            <a:ext cx="147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90"/>
          <p:cNvSpPr txBox="1"/>
          <p:nvPr/>
        </p:nvSpPr>
        <p:spPr>
          <a:xfrm>
            <a:off x="649859" y="1622415"/>
            <a:ext cx="1505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multiples of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90"/>
          <p:cNvSpPr txBox="1"/>
          <p:nvPr/>
        </p:nvSpPr>
        <p:spPr>
          <a:xfrm>
            <a:off x="324025" y="1597699"/>
            <a:ext cx="26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8" name="Google Shape;1538;p90"/>
          <p:cNvSpPr txBox="1"/>
          <p:nvPr/>
        </p:nvSpPr>
        <p:spPr>
          <a:xfrm>
            <a:off x="1954850" y="2181225"/>
            <a:ext cx="424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9" name="Google Shape;1539;p90"/>
          <p:cNvSpPr txBox="1"/>
          <p:nvPr/>
        </p:nvSpPr>
        <p:spPr>
          <a:xfrm>
            <a:off x="987446" y="24218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90"/>
          <p:cNvSpPr txBox="1"/>
          <p:nvPr/>
        </p:nvSpPr>
        <p:spPr>
          <a:xfrm>
            <a:off x="593625" y="3753472"/>
            <a:ext cx="3147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diagram showing individual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41" name="Google Shape;1541;p90"/>
          <p:cNvGrpSpPr/>
          <p:nvPr/>
        </p:nvGrpSpPr>
        <p:grpSpPr>
          <a:xfrm>
            <a:off x="5439475" y="2248250"/>
            <a:ext cx="3380549" cy="1678927"/>
            <a:chOff x="6134400" y="2800336"/>
            <a:chExt cx="3380549" cy="1678927"/>
          </a:xfrm>
        </p:grpSpPr>
        <p:grpSp>
          <p:nvGrpSpPr>
            <p:cNvPr id="1542" name="Google Shape;1542;p90"/>
            <p:cNvGrpSpPr/>
            <p:nvPr/>
          </p:nvGrpSpPr>
          <p:grpSpPr>
            <a:xfrm>
              <a:off x="6371000" y="2885687"/>
              <a:ext cx="1175100" cy="1507761"/>
              <a:chOff x="6599600" y="2885687"/>
              <a:chExt cx="1175100" cy="1507761"/>
            </a:xfrm>
          </p:grpSpPr>
          <p:cxnSp>
            <p:nvCxnSpPr>
              <p:cNvPr id="1543" name="Google Shape;1543;p90"/>
              <p:cNvCxnSpPr/>
              <p:nvPr/>
            </p:nvCxnSpPr>
            <p:spPr>
              <a:xfrm>
                <a:off x="6599600" y="3731948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44" name="Google Shape;1544;p90"/>
              <p:cNvCxnSpPr/>
              <p:nvPr/>
            </p:nvCxnSpPr>
            <p:spPr>
              <a:xfrm rot="10800000" flipH="1">
                <a:off x="6599600" y="2885687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545" name="Google Shape;1545;p90"/>
            <p:cNvSpPr txBox="1"/>
            <p:nvPr/>
          </p:nvSpPr>
          <p:spPr>
            <a:xfrm>
              <a:off x="7597349" y="4295062"/>
              <a:ext cx="19176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not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multiples of 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6" name="Google Shape;1546;p90"/>
            <p:cNvSpPr/>
            <p:nvPr/>
          </p:nvSpPr>
          <p:spPr>
            <a:xfrm>
              <a:off x="6134400" y="3512362"/>
              <a:ext cx="277200" cy="2544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7" name="Google Shape;1547;p90"/>
            <p:cNvSpPr txBox="1"/>
            <p:nvPr/>
          </p:nvSpPr>
          <p:spPr>
            <a:xfrm>
              <a:off x="7597349" y="2800336"/>
              <a:ext cx="19176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multiples of 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48" name="Google Shape;1548;p90"/>
          <p:cNvSpPr txBox="1"/>
          <p:nvPr/>
        </p:nvSpPr>
        <p:spPr>
          <a:xfrm>
            <a:off x="324000" y="642975"/>
            <a:ext cx="8496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probabilities go on the branches labelled x and y?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49" name="Google Shape;1549;p90"/>
          <p:cNvGrpSpPr/>
          <p:nvPr/>
        </p:nvGrpSpPr>
        <p:grpSpPr>
          <a:xfrm>
            <a:off x="6051680" y="2342923"/>
            <a:ext cx="243093" cy="243093"/>
            <a:chOff x="1020916" y="1442088"/>
            <a:chExt cx="457200" cy="457200"/>
          </a:xfrm>
        </p:grpSpPr>
        <p:pic>
          <p:nvPicPr>
            <p:cNvPr id="1550" name="Google Shape;1550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1" name="Google Shape;1551;p90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52" name="Google Shape;1552;p90"/>
          <p:cNvSpPr txBox="1"/>
          <p:nvPr/>
        </p:nvSpPr>
        <p:spPr>
          <a:xfrm>
            <a:off x="1684800" y="2492550"/>
            <a:ext cx="424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90"/>
          <p:cNvSpPr txBox="1"/>
          <p:nvPr/>
        </p:nvSpPr>
        <p:spPr>
          <a:xfrm>
            <a:off x="2109300" y="2706125"/>
            <a:ext cx="4245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90"/>
          <p:cNvSpPr txBox="1"/>
          <p:nvPr/>
        </p:nvSpPr>
        <p:spPr>
          <a:xfrm>
            <a:off x="1221246" y="290321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90"/>
          <p:cNvSpPr txBox="1"/>
          <p:nvPr/>
        </p:nvSpPr>
        <p:spPr>
          <a:xfrm>
            <a:off x="2629196" y="2083040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90"/>
          <p:cNvSpPr txBox="1"/>
          <p:nvPr/>
        </p:nvSpPr>
        <p:spPr>
          <a:xfrm>
            <a:off x="2959271" y="250976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7" name="Google Shape;1557;p90"/>
          <p:cNvSpPr txBox="1"/>
          <p:nvPr/>
        </p:nvSpPr>
        <p:spPr>
          <a:xfrm>
            <a:off x="2629196" y="2936490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8" name="Google Shape;1558;p90"/>
          <p:cNvSpPr txBox="1"/>
          <p:nvPr/>
        </p:nvSpPr>
        <p:spPr>
          <a:xfrm>
            <a:off x="3111596" y="3308715"/>
            <a:ext cx="5160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9" name="Google Shape;1559;p90" descr="&lt;math xmlns=&quot;http://www.w3.org/1998/Math/MathML&quot; display=&quot;block&quot; data-is-equatio=&quot;1&quot; data-latex=&quot;\frac{5}{9}&quot;&gt;&lt;mfrac&gt;&lt;mn&gt;5&lt;/mn&gt;&lt;mn&gt;9&lt;/mn&gt;&lt;/mfrac&gt;&lt;/math&gt;" title="five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6258" y="2248463"/>
            <a:ext cx="133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0" name="Google Shape;1560;p90" descr="&lt;math xmlns=&quot;http://www.w3.org/1998/Math/MathML&quot; display=&quot;block&quot; data-is-equatio=&quot;1&quot; data-latex=&quot;\frac{4}{9}&quot;&gt;&lt;mfrac&gt;&lt;mn&gt;4&lt;/mn&gt;&lt;mn&gt;9&lt;/mn&gt;&lt;/mfrac&gt;&lt;/math&gt;" title="four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2970" y="3113662"/>
            <a:ext cx="133920" cy="43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1" name="Google Shape;1561;p90"/>
          <p:cNvGrpSpPr/>
          <p:nvPr/>
        </p:nvGrpSpPr>
        <p:grpSpPr>
          <a:xfrm>
            <a:off x="6308392" y="3208123"/>
            <a:ext cx="243093" cy="243093"/>
            <a:chOff x="1020916" y="1442088"/>
            <a:chExt cx="457200" cy="457200"/>
          </a:xfrm>
        </p:grpSpPr>
        <p:pic>
          <p:nvPicPr>
            <p:cNvPr id="1562" name="Google Shape;1562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3" name="Google Shape;1563;p90"/>
            <p:cNvSpPr txBox="1"/>
            <p:nvPr/>
          </p:nvSpPr>
          <p:spPr>
            <a:xfrm>
              <a:off x="1045521" y="1451202"/>
              <a:ext cx="408000" cy="41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64" name="Google Shape;1564;p90"/>
          <p:cNvSpPr/>
          <p:nvPr/>
        </p:nvSpPr>
        <p:spPr>
          <a:xfrm>
            <a:off x="812187" y="1926302"/>
            <a:ext cx="1882800" cy="1452000"/>
          </a:xfrm>
          <a:prstGeom prst="ellipse">
            <a:avLst/>
          </a:prstGeom>
          <a:noFill/>
          <a:ln w="762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68" name="Shape 1568"/>
        <p:cNvGrpSpPr/>
        <p:nvPr/>
      </p:nvGrpSpPr>
      <p:grpSpPr>
        <a:xfrm>
          <a:off x="0" y="0"/>
          <a:ext cx="0" cy="0"/>
        </a:xfrm>
      </p:grpSpPr>
      <p:sp>
        <p:nvSpPr>
          <p:cNvPr id="1569" name="Google Shape;1569;p91"/>
          <p:cNvSpPr/>
          <p:nvPr/>
        </p:nvSpPr>
        <p:spPr>
          <a:xfrm>
            <a:off x="593621" y="2003415"/>
            <a:ext cx="3147000" cy="20742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91"/>
          <p:cNvSpPr/>
          <p:nvPr/>
        </p:nvSpPr>
        <p:spPr>
          <a:xfrm>
            <a:off x="812187" y="2307302"/>
            <a:ext cx="1882800" cy="1452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sp>
        <p:nvSpPr>
          <p:cNvPr id="1572" name="Google Shape;1572;p91"/>
          <p:cNvSpPr/>
          <p:nvPr/>
        </p:nvSpPr>
        <p:spPr>
          <a:xfrm>
            <a:off x="1639734" y="2307302"/>
            <a:ext cx="1882800" cy="1452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91"/>
          <p:cNvSpPr txBox="1"/>
          <p:nvPr/>
        </p:nvSpPr>
        <p:spPr>
          <a:xfrm>
            <a:off x="2211621" y="2003415"/>
            <a:ext cx="147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91"/>
          <p:cNvSpPr txBox="1"/>
          <p:nvPr/>
        </p:nvSpPr>
        <p:spPr>
          <a:xfrm>
            <a:off x="649859" y="2003415"/>
            <a:ext cx="1505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multiples of 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91"/>
          <p:cNvSpPr txBox="1"/>
          <p:nvPr/>
        </p:nvSpPr>
        <p:spPr>
          <a:xfrm>
            <a:off x="324025" y="1978699"/>
            <a:ext cx="26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91"/>
          <p:cNvSpPr txBox="1"/>
          <p:nvPr/>
        </p:nvSpPr>
        <p:spPr>
          <a:xfrm>
            <a:off x="593625" y="4134472"/>
            <a:ext cx="3147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diagram showing individual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7" name="Google Shape;1577;p91"/>
          <p:cNvGrpSpPr/>
          <p:nvPr/>
        </p:nvGrpSpPr>
        <p:grpSpPr>
          <a:xfrm>
            <a:off x="5439475" y="2400650"/>
            <a:ext cx="3380549" cy="1678927"/>
            <a:chOff x="6134400" y="2800336"/>
            <a:chExt cx="3380549" cy="1678927"/>
          </a:xfrm>
        </p:grpSpPr>
        <p:grpSp>
          <p:nvGrpSpPr>
            <p:cNvPr id="1578" name="Google Shape;1578;p91"/>
            <p:cNvGrpSpPr/>
            <p:nvPr/>
          </p:nvGrpSpPr>
          <p:grpSpPr>
            <a:xfrm>
              <a:off x="6371000" y="2885687"/>
              <a:ext cx="1175100" cy="1507761"/>
              <a:chOff x="6599600" y="2885687"/>
              <a:chExt cx="1175100" cy="1507761"/>
            </a:xfrm>
          </p:grpSpPr>
          <p:cxnSp>
            <p:nvCxnSpPr>
              <p:cNvPr id="1579" name="Google Shape;1579;p91"/>
              <p:cNvCxnSpPr/>
              <p:nvPr/>
            </p:nvCxnSpPr>
            <p:spPr>
              <a:xfrm>
                <a:off x="6599600" y="3731948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0" name="Google Shape;1580;p91"/>
              <p:cNvCxnSpPr/>
              <p:nvPr/>
            </p:nvCxnSpPr>
            <p:spPr>
              <a:xfrm rot="10800000" flipH="1">
                <a:off x="6599600" y="2885687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581" name="Google Shape;1581;p91"/>
            <p:cNvSpPr txBox="1"/>
            <p:nvPr/>
          </p:nvSpPr>
          <p:spPr>
            <a:xfrm>
              <a:off x="7597349" y="4295062"/>
              <a:ext cx="19176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not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multiples of 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2" name="Google Shape;1582;p91"/>
            <p:cNvSpPr/>
            <p:nvPr/>
          </p:nvSpPr>
          <p:spPr>
            <a:xfrm>
              <a:off x="6134400" y="3512362"/>
              <a:ext cx="277200" cy="2544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3" name="Google Shape;1583;p91"/>
            <p:cNvSpPr txBox="1"/>
            <p:nvPr/>
          </p:nvSpPr>
          <p:spPr>
            <a:xfrm>
              <a:off x="7597349" y="2800336"/>
              <a:ext cx="19176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multiples of 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84" name="Google Shape;1584;p91"/>
          <p:cNvSpPr txBox="1"/>
          <p:nvPr/>
        </p:nvSpPr>
        <p:spPr>
          <a:xfrm>
            <a:off x="324000" y="642975"/>
            <a:ext cx="8496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probability tree has been correctly labelled.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Venn diagram has one outcome missing.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Suggest one possible outcome that could be added to the Venn diagram to make it accurate.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91"/>
          <p:cNvSpPr txBox="1"/>
          <p:nvPr/>
        </p:nvSpPr>
        <p:spPr>
          <a:xfrm>
            <a:off x="2005423" y="2480850"/>
            <a:ext cx="3234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91"/>
          <p:cNvSpPr txBox="1"/>
          <p:nvPr/>
        </p:nvSpPr>
        <p:spPr>
          <a:xfrm>
            <a:off x="1765523" y="2830425"/>
            <a:ext cx="3234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91"/>
          <p:cNvSpPr txBox="1"/>
          <p:nvPr/>
        </p:nvSpPr>
        <p:spPr>
          <a:xfrm>
            <a:off x="2287823" y="2855450"/>
            <a:ext cx="3234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91"/>
          <p:cNvSpPr txBox="1"/>
          <p:nvPr/>
        </p:nvSpPr>
        <p:spPr>
          <a:xfrm>
            <a:off x="1240848" y="2480850"/>
            <a:ext cx="3234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91"/>
          <p:cNvSpPr txBox="1"/>
          <p:nvPr/>
        </p:nvSpPr>
        <p:spPr>
          <a:xfrm>
            <a:off x="952973" y="2830425"/>
            <a:ext cx="3234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91"/>
          <p:cNvSpPr txBox="1"/>
          <p:nvPr/>
        </p:nvSpPr>
        <p:spPr>
          <a:xfrm>
            <a:off x="1384726" y="3403550"/>
            <a:ext cx="4743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220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91"/>
          <p:cNvSpPr txBox="1"/>
          <p:nvPr/>
        </p:nvSpPr>
        <p:spPr>
          <a:xfrm>
            <a:off x="1172298" y="3084050"/>
            <a:ext cx="3234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2" name="Google Shape;1592;p91"/>
          <p:cNvSpPr txBox="1"/>
          <p:nvPr/>
        </p:nvSpPr>
        <p:spPr>
          <a:xfrm>
            <a:off x="2887198" y="2640600"/>
            <a:ext cx="3234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91"/>
          <p:cNvSpPr txBox="1"/>
          <p:nvPr/>
        </p:nvSpPr>
        <p:spPr>
          <a:xfrm>
            <a:off x="2725498" y="3084050"/>
            <a:ext cx="3234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91"/>
          <p:cNvSpPr txBox="1"/>
          <p:nvPr/>
        </p:nvSpPr>
        <p:spPr>
          <a:xfrm>
            <a:off x="3328698" y="3689100"/>
            <a:ext cx="3234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91"/>
          <p:cNvSpPr txBox="1"/>
          <p:nvPr/>
        </p:nvSpPr>
        <p:spPr>
          <a:xfrm>
            <a:off x="1964425" y="3248550"/>
            <a:ext cx="393600" cy="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96" name="Google Shape;1596;p91" descr="&lt;math xmlns=&quot;http://www.w3.org/1998/Math/MathML&quot; display=&quot;block&quot; data-is-equatio=&quot;1&quot; data-latex=&quot;\frac{9}{12}&quot;&gt;&lt;mfrac&gt;&lt;mn&gt;9&lt;/mn&gt;&lt;mn&gt;12&lt;/mn&gt;&lt;/mfrac&gt;&lt;/math&gt;" title="9 over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0" y="2256073"/>
            <a:ext cx="241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7" name="Google Shape;1597;p91" descr="&lt;math xmlns=&quot;http://www.w3.org/1998/Math/MathML&quot; display=&quot;block&quot; data-is-equatio=&quot;1&quot; data-latex=&quot;\frac{3}{12}&quot;&gt;&lt;mfrac&gt;&lt;mn&gt;3&lt;/mn&gt;&lt;mn&gt;12&lt;/mn&gt;&lt;/mfrac&gt;&lt;/math&gt;" title="3 over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4375" y="3284613"/>
            <a:ext cx="24192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8" name="Google Shape;1598;p91"/>
          <p:cNvSpPr txBox="1"/>
          <p:nvPr/>
        </p:nvSpPr>
        <p:spPr>
          <a:xfrm>
            <a:off x="4051050" y="1629675"/>
            <a:ext cx="1505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Any multiple of 5.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2" name="Shape 1602"/>
        <p:cNvGrpSpPr/>
        <p:nvPr/>
      </p:nvGrpSpPr>
      <p:grpSpPr>
        <a:xfrm>
          <a:off x="0" y="0"/>
          <a:ext cx="0" cy="0"/>
        </a:xfrm>
      </p:grpSpPr>
      <p:grpSp>
        <p:nvGrpSpPr>
          <p:cNvPr id="1603" name="Google Shape;1603;p92"/>
          <p:cNvGrpSpPr/>
          <p:nvPr/>
        </p:nvGrpSpPr>
        <p:grpSpPr>
          <a:xfrm>
            <a:off x="4215767" y="2054699"/>
            <a:ext cx="3884408" cy="2036774"/>
            <a:chOff x="4387444" y="1842769"/>
            <a:chExt cx="3712518" cy="2248591"/>
          </a:xfrm>
        </p:grpSpPr>
        <p:pic>
          <p:nvPicPr>
            <p:cNvPr id="1604" name="Google Shape;1604;p92"/>
            <p:cNvPicPr preferRelativeResize="0"/>
            <p:nvPr/>
          </p:nvPicPr>
          <p:blipFill>
            <a:blip r:embed="rId3">
              <a:alphaModFix/>
            </a:blip>
            <a:srcRect r="57905" b="43690"/>
            <a:stretch>
              <a:fillRect/>
            </a:stretch>
          </p:blipFill>
          <p:spPr>
            <a:xfrm>
              <a:off x="4387444" y="1842769"/>
              <a:ext cx="3712518" cy="22485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5" name="Google Shape;1605;p92"/>
            <p:cNvSpPr txBox="1"/>
            <p:nvPr/>
          </p:nvSpPr>
          <p:spPr>
            <a:xfrm>
              <a:off x="4505453" y="1870296"/>
              <a:ext cx="3313800" cy="83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want to also show these outcomes on a Venn diagram…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But I really don’t want to write down all the numbers again!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always draw my Venn diagram too small!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06" name="Google Shape;1606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1344" y="3690741"/>
            <a:ext cx="684159" cy="737087"/>
          </a:xfrm>
          <a:prstGeom prst="rect">
            <a:avLst/>
          </a:prstGeom>
          <a:noFill/>
          <a:ln>
            <a:noFill/>
          </a:ln>
        </p:spPr>
      </p:pic>
      <p:sp>
        <p:nvSpPr>
          <p:cNvPr id="1607" name="Google Shape;1607;p92"/>
          <p:cNvSpPr txBox="1"/>
          <p:nvPr/>
        </p:nvSpPr>
        <p:spPr>
          <a:xfrm>
            <a:off x="7789282" y="4427835"/>
            <a:ext cx="696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92"/>
          <p:cNvSpPr txBox="1"/>
          <p:nvPr/>
        </p:nvSpPr>
        <p:spPr>
          <a:xfrm>
            <a:off x="324000" y="642971"/>
            <a:ext cx="8496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11-sided spinner has the integers from 0 to 10 written on its faces.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Trial: Spinning the spinner once.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Event: the spinner lands on a square number.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grpSp>
        <p:nvGrpSpPr>
          <p:cNvPr id="1610" name="Google Shape;1610;p92"/>
          <p:cNvGrpSpPr/>
          <p:nvPr/>
        </p:nvGrpSpPr>
        <p:grpSpPr>
          <a:xfrm>
            <a:off x="8001923" y="4198741"/>
            <a:ext cx="217200" cy="95525"/>
            <a:chOff x="5741000" y="4327327"/>
            <a:chExt cx="217200" cy="95525"/>
          </a:xfrm>
        </p:grpSpPr>
        <p:sp>
          <p:nvSpPr>
            <p:cNvPr id="1611" name="Google Shape;1611;p92"/>
            <p:cNvSpPr/>
            <p:nvPr/>
          </p:nvSpPr>
          <p:spPr>
            <a:xfrm>
              <a:off x="5741000" y="4336925"/>
              <a:ext cx="217200" cy="78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612" name="Google Shape;1612;p92"/>
            <p:cNvPicPr preferRelativeResize="0"/>
            <p:nvPr/>
          </p:nvPicPr>
          <p:blipFill>
            <a:blip r:embed="rId4">
              <a:alphaModFix/>
            </a:blip>
            <a:srcRect l="26868" t="67473" r="45628" b="19566"/>
            <a:stretch>
              <a:fillRect/>
            </a:stretch>
          </p:blipFill>
          <p:spPr>
            <a:xfrm rot="10800000">
              <a:off x="5754627" y="4327327"/>
              <a:ext cx="188175" cy="95525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613" name="Google Shape;1613;p92"/>
          <p:cNvGraphicFramePr>
            <a:graphicFrameLocks noGrp="1"/>
          </p:cNvGraphicFramePr>
          <p:nvPr/>
        </p:nvGraphicFramePr>
        <p:xfrm>
          <a:off x="400175" y="270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284625"/>
                <a:gridCol w="1392075"/>
              </a:tblGrid>
              <a:tr h="227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square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</a:tr>
              <a:tr h="1762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614" name="Google Shape;1614;p92"/>
          <p:cNvSpPr/>
          <p:nvPr/>
        </p:nvSpPr>
        <p:spPr>
          <a:xfrm>
            <a:off x="1735614" y="304813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92"/>
          <p:cNvSpPr/>
          <p:nvPr/>
        </p:nvSpPr>
        <p:spPr>
          <a:xfrm>
            <a:off x="541825" y="304813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92"/>
          <p:cNvSpPr/>
          <p:nvPr/>
        </p:nvSpPr>
        <p:spPr>
          <a:xfrm>
            <a:off x="1035350" y="326063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92"/>
          <p:cNvSpPr/>
          <p:nvPr/>
        </p:nvSpPr>
        <p:spPr>
          <a:xfrm>
            <a:off x="1382525" y="36444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92"/>
          <p:cNvSpPr/>
          <p:nvPr/>
        </p:nvSpPr>
        <p:spPr>
          <a:xfrm>
            <a:off x="685775" y="39186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92"/>
          <p:cNvSpPr/>
          <p:nvPr/>
        </p:nvSpPr>
        <p:spPr>
          <a:xfrm>
            <a:off x="2157164" y="31920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92"/>
          <p:cNvSpPr/>
          <p:nvPr/>
        </p:nvSpPr>
        <p:spPr>
          <a:xfrm>
            <a:off x="2657026" y="31550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92"/>
          <p:cNvSpPr/>
          <p:nvPr/>
        </p:nvSpPr>
        <p:spPr>
          <a:xfrm>
            <a:off x="1877651" y="37582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92"/>
          <p:cNvSpPr/>
          <p:nvPr/>
        </p:nvSpPr>
        <p:spPr>
          <a:xfrm>
            <a:off x="2657026" y="37582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92"/>
          <p:cNvSpPr/>
          <p:nvPr/>
        </p:nvSpPr>
        <p:spPr>
          <a:xfrm>
            <a:off x="1876601" y="42321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4" name="Google Shape;1624;p92"/>
          <p:cNvSpPr/>
          <p:nvPr/>
        </p:nvSpPr>
        <p:spPr>
          <a:xfrm>
            <a:off x="2256289" y="4184225"/>
            <a:ext cx="3009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28" name="Shape 1628"/>
        <p:cNvGrpSpPr/>
        <p:nvPr/>
      </p:nvGrpSpPr>
      <p:grpSpPr>
        <a:xfrm>
          <a:off x="0" y="0"/>
          <a:ext cx="0" cy="0"/>
        </a:xfrm>
      </p:grpSpPr>
      <p:sp>
        <p:nvSpPr>
          <p:cNvPr id="1629" name="Google Shape;162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graphicFrame>
        <p:nvGraphicFramePr>
          <p:cNvPr id="1630" name="Google Shape;1630;p93"/>
          <p:cNvGraphicFramePr>
            <a:graphicFrameLocks noGrp="1"/>
          </p:cNvGraphicFramePr>
          <p:nvPr/>
        </p:nvGraphicFramePr>
        <p:xfrm>
          <a:off x="400175" y="270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284625"/>
                <a:gridCol w="1392075"/>
              </a:tblGrid>
              <a:tr h="227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square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</a:tr>
              <a:tr h="1762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631" name="Google Shape;1631;p93"/>
          <p:cNvSpPr/>
          <p:nvPr/>
        </p:nvSpPr>
        <p:spPr>
          <a:xfrm>
            <a:off x="1735614" y="304813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93"/>
          <p:cNvSpPr/>
          <p:nvPr/>
        </p:nvSpPr>
        <p:spPr>
          <a:xfrm>
            <a:off x="541825" y="304813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93"/>
          <p:cNvSpPr/>
          <p:nvPr/>
        </p:nvSpPr>
        <p:spPr>
          <a:xfrm>
            <a:off x="1035350" y="326063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93"/>
          <p:cNvSpPr/>
          <p:nvPr/>
        </p:nvSpPr>
        <p:spPr>
          <a:xfrm>
            <a:off x="1382525" y="36444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93"/>
          <p:cNvSpPr/>
          <p:nvPr/>
        </p:nvSpPr>
        <p:spPr>
          <a:xfrm>
            <a:off x="685775" y="39186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93"/>
          <p:cNvSpPr/>
          <p:nvPr/>
        </p:nvSpPr>
        <p:spPr>
          <a:xfrm>
            <a:off x="2157164" y="31920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7" name="Google Shape;1637;p93"/>
          <p:cNvSpPr/>
          <p:nvPr/>
        </p:nvSpPr>
        <p:spPr>
          <a:xfrm>
            <a:off x="2657026" y="31550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93"/>
          <p:cNvSpPr/>
          <p:nvPr/>
        </p:nvSpPr>
        <p:spPr>
          <a:xfrm>
            <a:off x="1877651" y="37582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93"/>
          <p:cNvSpPr/>
          <p:nvPr/>
        </p:nvSpPr>
        <p:spPr>
          <a:xfrm>
            <a:off x="2657026" y="37582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93"/>
          <p:cNvSpPr/>
          <p:nvPr/>
        </p:nvSpPr>
        <p:spPr>
          <a:xfrm>
            <a:off x="1876601" y="42321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93"/>
          <p:cNvSpPr/>
          <p:nvPr/>
        </p:nvSpPr>
        <p:spPr>
          <a:xfrm>
            <a:off x="2256289" y="4184225"/>
            <a:ext cx="3009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93"/>
          <p:cNvSpPr/>
          <p:nvPr/>
        </p:nvSpPr>
        <p:spPr>
          <a:xfrm>
            <a:off x="5710367" y="2610249"/>
            <a:ext cx="2457600" cy="16197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93"/>
          <p:cNvSpPr/>
          <p:nvPr/>
        </p:nvSpPr>
        <p:spPr>
          <a:xfrm>
            <a:off x="5881048" y="2863454"/>
            <a:ext cx="1470300" cy="1134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93"/>
          <p:cNvSpPr/>
          <p:nvPr/>
        </p:nvSpPr>
        <p:spPr>
          <a:xfrm>
            <a:off x="6527290" y="2863454"/>
            <a:ext cx="1470300" cy="1134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5" name="Google Shape;1645;p93"/>
          <p:cNvSpPr txBox="1"/>
          <p:nvPr/>
        </p:nvSpPr>
        <p:spPr>
          <a:xfrm>
            <a:off x="5754284" y="2610249"/>
            <a:ext cx="117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93"/>
          <p:cNvSpPr txBox="1"/>
          <p:nvPr/>
        </p:nvSpPr>
        <p:spPr>
          <a:xfrm>
            <a:off x="6973884" y="2610249"/>
            <a:ext cx="115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93"/>
          <p:cNvSpPr txBox="1"/>
          <p:nvPr/>
        </p:nvSpPr>
        <p:spPr>
          <a:xfrm>
            <a:off x="5499836" y="2590948"/>
            <a:ext cx="21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93"/>
          <p:cNvSpPr txBox="1"/>
          <p:nvPr/>
        </p:nvSpPr>
        <p:spPr>
          <a:xfrm>
            <a:off x="5394225" y="4266297"/>
            <a:ext cx="3147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diagram showing the number of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9" name="Google Shape;1649;p93"/>
          <p:cNvGrpSpPr/>
          <p:nvPr/>
        </p:nvGrpSpPr>
        <p:grpSpPr>
          <a:xfrm>
            <a:off x="541825" y="3048139"/>
            <a:ext cx="1057900" cy="909850"/>
            <a:chOff x="541825" y="3048139"/>
            <a:chExt cx="1057900" cy="909850"/>
          </a:xfrm>
        </p:grpSpPr>
        <p:sp>
          <p:nvSpPr>
            <p:cNvPr id="1650" name="Google Shape;1650;p93"/>
            <p:cNvSpPr/>
            <p:nvPr/>
          </p:nvSpPr>
          <p:spPr>
            <a:xfrm>
              <a:off x="541825" y="3048139"/>
              <a:ext cx="217200" cy="313500"/>
            </a:xfrm>
            <a:prstGeom prst="rect">
              <a:avLst/>
            </a:prstGeom>
            <a:solidFill>
              <a:srgbClr val="E6F2F2"/>
            </a:solidFill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1" name="Google Shape;1651;p93"/>
            <p:cNvSpPr/>
            <p:nvPr/>
          </p:nvSpPr>
          <p:spPr>
            <a:xfrm>
              <a:off x="1382525" y="3644489"/>
              <a:ext cx="217200" cy="313500"/>
            </a:xfrm>
            <a:prstGeom prst="rect">
              <a:avLst/>
            </a:prstGeom>
            <a:solidFill>
              <a:srgbClr val="E6F2F2"/>
            </a:solidFill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52" name="Google Shape;1652;p93"/>
          <p:cNvSpPr txBox="1"/>
          <p:nvPr/>
        </p:nvSpPr>
        <p:spPr>
          <a:xfrm>
            <a:off x="3147913" y="2707425"/>
            <a:ext cx="1807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two even square numbers…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3" name="Google Shape;1653;p93"/>
          <p:cNvGrpSpPr/>
          <p:nvPr/>
        </p:nvGrpSpPr>
        <p:grpSpPr>
          <a:xfrm>
            <a:off x="5881048" y="2873497"/>
            <a:ext cx="2116542" cy="1134000"/>
            <a:chOff x="5576248" y="4920854"/>
            <a:chExt cx="2116542" cy="1134000"/>
          </a:xfrm>
        </p:grpSpPr>
        <p:sp>
          <p:nvSpPr>
            <p:cNvPr id="1654" name="Google Shape;1654;p93"/>
            <p:cNvSpPr/>
            <p:nvPr/>
          </p:nvSpPr>
          <p:spPr>
            <a:xfrm>
              <a:off x="5576248" y="4920854"/>
              <a:ext cx="1470300" cy="1134000"/>
            </a:xfrm>
            <a:prstGeom prst="arc">
              <a:avLst>
                <a:gd name="adj1" fmla="val 18068796"/>
                <a:gd name="adj2" fmla="val 3527772"/>
              </a:avLst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5" name="Google Shape;1655;p93"/>
            <p:cNvSpPr/>
            <p:nvPr/>
          </p:nvSpPr>
          <p:spPr>
            <a:xfrm>
              <a:off x="6222490" y="4920854"/>
              <a:ext cx="1470300" cy="1134000"/>
            </a:xfrm>
            <a:prstGeom prst="arc">
              <a:avLst>
                <a:gd name="adj1" fmla="val 7277669"/>
                <a:gd name="adj2" fmla="val 14340950"/>
              </a:avLst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56" name="Google Shape;1656;p93"/>
          <p:cNvGrpSpPr/>
          <p:nvPr/>
        </p:nvGrpSpPr>
        <p:grpSpPr>
          <a:xfrm>
            <a:off x="685775" y="3260639"/>
            <a:ext cx="566775" cy="971550"/>
            <a:chOff x="685775" y="3260639"/>
            <a:chExt cx="566775" cy="971550"/>
          </a:xfrm>
        </p:grpSpPr>
        <p:sp>
          <p:nvSpPr>
            <p:cNvPr id="1657" name="Google Shape;1657;p93"/>
            <p:cNvSpPr/>
            <p:nvPr/>
          </p:nvSpPr>
          <p:spPr>
            <a:xfrm>
              <a:off x="1035350" y="3260639"/>
              <a:ext cx="217200" cy="313500"/>
            </a:xfrm>
            <a:prstGeom prst="rect">
              <a:avLst/>
            </a:prstGeom>
            <a:solidFill>
              <a:srgbClr val="E6F2F2"/>
            </a:solidFill>
            <a:ln w="38100" cap="flat" cmpd="sng">
              <a:solidFill>
                <a:srgbClr val="374CF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8" name="Google Shape;1658;p93"/>
            <p:cNvSpPr/>
            <p:nvPr/>
          </p:nvSpPr>
          <p:spPr>
            <a:xfrm>
              <a:off x="685775" y="3918689"/>
              <a:ext cx="217200" cy="313500"/>
            </a:xfrm>
            <a:prstGeom prst="rect">
              <a:avLst/>
            </a:prstGeom>
            <a:solidFill>
              <a:srgbClr val="E6F2F2"/>
            </a:solidFill>
            <a:ln w="38100" cap="flat" cmpd="sng">
              <a:solidFill>
                <a:srgbClr val="374CF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59" name="Google Shape;1659;p93"/>
          <p:cNvSpPr txBox="1"/>
          <p:nvPr/>
        </p:nvSpPr>
        <p:spPr>
          <a:xfrm>
            <a:off x="6708325" y="3279325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0" name="Google Shape;1660;p93"/>
          <p:cNvGrpSpPr/>
          <p:nvPr/>
        </p:nvGrpSpPr>
        <p:grpSpPr>
          <a:xfrm>
            <a:off x="5881048" y="2873497"/>
            <a:ext cx="2116542" cy="1134000"/>
            <a:chOff x="5576248" y="4920854"/>
            <a:chExt cx="2116542" cy="1134000"/>
          </a:xfrm>
        </p:grpSpPr>
        <p:sp>
          <p:nvSpPr>
            <p:cNvPr id="1661" name="Google Shape;1661;p93"/>
            <p:cNvSpPr/>
            <p:nvPr/>
          </p:nvSpPr>
          <p:spPr>
            <a:xfrm>
              <a:off x="5576248" y="4920854"/>
              <a:ext cx="1470300" cy="1134000"/>
            </a:xfrm>
            <a:prstGeom prst="arc">
              <a:avLst>
                <a:gd name="adj1" fmla="val 3511746"/>
                <a:gd name="adj2" fmla="val 18223644"/>
              </a:avLst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2" name="Google Shape;1662;p93"/>
            <p:cNvSpPr/>
            <p:nvPr/>
          </p:nvSpPr>
          <p:spPr>
            <a:xfrm>
              <a:off x="6222490" y="4920854"/>
              <a:ext cx="1470300" cy="1134000"/>
            </a:xfrm>
            <a:prstGeom prst="arc">
              <a:avLst>
                <a:gd name="adj1" fmla="val 7277669"/>
                <a:gd name="adj2" fmla="val 14340950"/>
              </a:avLst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63" name="Google Shape;1663;p93"/>
          <p:cNvSpPr txBox="1"/>
          <p:nvPr/>
        </p:nvSpPr>
        <p:spPr>
          <a:xfrm>
            <a:off x="3147913" y="3714400"/>
            <a:ext cx="1807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two odd square numbers.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93"/>
          <p:cNvSpPr txBox="1"/>
          <p:nvPr/>
        </p:nvSpPr>
        <p:spPr>
          <a:xfrm>
            <a:off x="5966736" y="3279325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93"/>
          <p:cNvSpPr txBox="1"/>
          <p:nvPr/>
        </p:nvSpPr>
        <p:spPr>
          <a:xfrm>
            <a:off x="7411811" y="3281500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6" name="Google Shape;1666;p93"/>
          <p:cNvGrpSpPr/>
          <p:nvPr/>
        </p:nvGrpSpPr>
        <p:grpSpPr>
          <a:xfrm>
            <a:off x="1735614" y="3048139"/>
            <a:ext cx="821575" cy="1497550"/>
            <a:chOff x="1735614" y="3048139"/>
            <a:chExt cx="821575" cy="1497550"/>
          </a:xfrm>
        </p:grpSpPr>
        <p:sp>
          <p:nvSpPr>
            <p:cNvPr id="1667" name="Google Shape;1667;p93"/>
            <p:cNvSpPr/>
            <p:nvPr/>
          </p:nvSpPr>
          <p:spPr>
            <a:xfrm>
              <a:off x="1735614" y="3048139"/>
              <a:ext cx="217200" cy="313500"/>
            </a:xfrm>
            <a:prstGeom prst="rect">
              <a:avLst/>
            </a:prstGeom>
            <a:solidFill>
              <a:srgbClr val="E6F2F2"/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8" name="Google Shape;1668;p93"/>
            <p:cNvSpPr/>
            <p:nvPr/>
          </p:nvSpPr>
          <p:spPr>
            <a:xfrm>
              <a:off x="1877651" y="3758289"/>
              <a:ext cx="217200" cy="313500"/>
            </a:xfrm>
            <a:prstGeom prst="rect">
              <a:avLst/>
            </a:prstGeom>
            <a:solidFill>
              <a:srgbClr val="E6F2F2"/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9" name="Google Shape;1669;p93"/>
            <p:cNvSpPr/>
            <p:nvPr/>
          </p:nvSpPr>
          <p:spPr>
            <a:xfrm>
              <a:off x="1876601" y="4232189"/>
              <a:ext cx="217200" cy="313500"/>
            </a:xfrm>
            <a:prstGeom prst="rect">
              <a:avLst/>
            </a:prstGeom>
            <a:solidFill>
              <a:srgbClr val="E6F2F2"/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0" name="Google Shape;1670;p93"/>
            <p:cNvSpPr/>
            <p:nvPr/>
          </p:nvSpPr>
          <p:spPr>
            <a:xfrm>
              <a:off x="2256289" y="4184225"/>
              <a:ext cx="300900" cy="313500"/>
            </a:xfrm>
            <a:prstGeom prst="rect">
              <a:avLst/>
            </a:prstGeom>
            <a:solidFill>
              <a:srgbClr val="E6F2F2"/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1" name="Google Shape;1671;p93"/>
          <p:cNvGrpSpPr/>
          <p:nvPr/>
        </p:nvGrpSpPr>
        <p:grpSpPr>
          <a:xfrm>
            <a:off x="2157164" y="3155089"/>
            <a:ext cx="717063" cy="916700"/>
            <a:chOff x="2157164" y="3155089"/>
            <a:chExt cx="717063" cy="916700"/>
          </a:xfrm>
        </p:grpSpPr>
        <p:sp>
          <p:nvSpPr>
            <p:cNvPr id="1672" name="Google Shape;1672;p93"/>
            <p:cNvSpPr/>
            <p:nvPr/>
          </p:nvSpPr>
          <p:spPr>
            <a:xfrm>
              <a:off x="2157164" y="3192089"/>
              <a:ext cx="217200" cy="313500"/>
            </a:xfrm>
            <a:prstGeom prst="rect">
              <a:avLst/>
            </a:prstGeom>
            <a:solidFill>
              <a:srgbClr val="E6F2F2"/>
            </a:solidFill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3" name="Google Shape;1673;p93"/>
            <p:cNvSpPr/>
            <p:nvPr/>
          </p:nvSpPr>
          <p:spPr>
            <a:xfrm>
              <a:off x="2657026" y="3155089"/>
              <a:ext cx="217200" cy="313500"/>
            </a:xfrm>
            <a:prstGeom prst="rect">
              <a:avLst/>
            </a:prstGeom>
            <a:solidFill>
              <a:srgbClr val="E6F2F2"/>
            </a:solidFill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4" name="Google Shape;1674;p93"/>
            <p:cNvSpPr/>
            <p:nvPr/>
          </p:nvSpPr>
          <p:spPr>
            <a:xfrm>
              <a:off x="2657026" y="3758289"/>
              <a:ext cx="217200" cy="313500"/>
            </a:xfrm>
            <a:prstGeom prst="rect">
              <a:avLst/>
            </a:prstGeom>
            <a:solidFill>
              <a:srgbClr val="E6F2F2"/>
            </a:solidFill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75" name="Google Shape;1675;p93"/>
          <p:cNvSpPr txBox="1"/>
          <p:nvPr/>
        </p:nvSpPr>
        <p:spPr>
          <a:xfrm>
            <a:off x="7662386" y="3907025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93"/>
          <p:cNvSpPr txBox="1"/>
          <p:nvPr/>
        </p:nvSpPr>
        <p:spPr>
          <a:xfrm>
            <a:off x="324000" y="642971"/>
            <a:ext cx="84960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11-sided spinner has the integers from 0 to 10 written on its faces.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Trial: Spinning the spinner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Event: the spinner lands on a square number.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is a second type of Venn diagram; one which shows the number of outcomes in each event, rather than the individual outcomes, themselves.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80" name="Shape 1680"/>
        <p:cNvGrpSpPr/>
        <p:nvPr/>
      </p:nvGrpSpPr>
      <p:grpSpPr>
        <a:xfrm>
          <a:off x="0" y="0"/>
          <a:ext cx="0" cy="0"/>
        </a:xfrm>
      </p:grpSpPr>
      <p:sp>
        <p:nvSpPr>
          <p:cNvPr id="1681" name="Google Shape;1681;p94"/>
          <p:cNvSpPr txBox="1"/>
          <p:nvPr/>
        </p:nvSpPr>
        <p:spPr>
          <a:xfrm>
            <a:off x="3147925" y="2756063"/>
            <a:ext cx="21939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 are four square numbers in the outcome table.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+ 2 = 4 total outcomes in this circle.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2" name="Google Shape;168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graphicFrame>
        <p:nvGraphicFramePr>
          <p:cNvPr id="1683" name="Google Shape;1683;p94"/>
          <p:cNvGraphicFramePr>
            <a:graphicFrameLocks noGrp="1"/>
          </p:cNvGraphicFramePr>
          <p:nvPr/>
        </p:nvGraphicFramePr>
        <p:xfrm>
          <a:off x="400175" y="270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284625"/>
                <a:gridCol w="1392075"/>
              </a:tblGrid>
              <a:tr h="227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square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</a:tr>
              <a:tr h="1762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684" name="Google Shape;1684;p94"/>
          <p:cNvSpPr/>
          <p:nvPr/>
        </p:nvSpPr>
        <p:spPr>
          <a:xfrm>
            <a:off x="1735614" y="304813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94"/>
          <p:cNvSpPr/>
          <p:nvPr/>
        </p:nvSpPr>
        <p:spPr>
          <a:xfrm>
            <a:off x="541825" y="304813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6" name="Google Shape;1686;p94"/>
          <p:cNvSpPr/>
          <p:nvPr/>
        </p:nvSpPr>
        <p:spPr>
          <a:xfrm>
            <a:off x="1035350" y="326063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94"/>
          <p:cNvSpPr/>
          <p:nvPr/>
        </p:nvSpPr>
        <p:spPr>
          <a:xfrm>
            <a:off x="1382525" y="36444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94"/>
          <p:cNvSpPr/>
          <p:nvPr/>
        </p:nvSpPr>
        <p:spPr>
          <a:xfrm>
            <a:off x="685775" y="39186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94"/>
          <p:cNvSpPr/>
          <p:nvPr/>
        </p:nvSpPr>
        <p:spPr>
          <a:xfrm>
            <a:off x="2157164" y="31920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94"/>
          <p:cNvSpPr/>
          <p:nvPr/>
        </p:nvSpPr>
        <p:spPr>
          <a:xfrm>
            <a:off x="2657026" y="31550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p94"/>
          <p:cNvSpPr/>
          <p:nvPr/>
        </p:nvSpPr>
        <p:spPr>
          <a:xfrm>
            <a:off x="1877651" y="37582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94"/>
          <p:cNvSpPr/>
          <p:nvPr/>
        </p:nvSpPr>
        <p:spPr>
          <a:xfrm>
            <a:off x="2657026" y="37582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94"/>
          <p:cNvSpPr/>
          <p:nvPr/>
        </p:nvSpPr>
        <p:spPr>
          <a:xfrm>
            <a:off x="1876601" y="4232189"/>
            <a:ext cx="2172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94"/>
          <p:cNvSpPr/>
          <p:nvPr/>
        </p:nvSpPr>
        <p:spPr>
          <a:xfrm>
            <a:off x="2256289" y="4184225"/>
            <a:ext cx="300900" cy="313500"/>
          </a:xfrm>
          <a:prstGeom prst="rect">
            <a:avLst/>
          </a:prstGeom>
          <a:solidFill>
            <a:srgbClr val="E6F2F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94"/>
          <p:cNvSpPr/>
          <p:nvPr/>
        </p:nvSpPr>
        <p:spPr>
          <a:xfrm>
            <a:off x="5710367" y="2610249"/>
            <a:ext cx="2457600" cy="16197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94"/>
          <p:cNvSpPr/>
          <p:nvPr/>
        </p:nvSpPr>
        <p:spPr>
          <a:xfrm>
            <a:off x="5881048" y="2863454"/>
            <a:ext cx="1470300" cy="1134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94"/>
          <p:cNvSpPr/>
          <p:nvPr/>
        </p:nvSpPr>
        <p:spPr>
          <a:xfrm>
            <a:off x="6527290" y="2863454"/>
            <a:ext cx="1470300" cy="1134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94"/>
          <p:cNvSpPr txBox="1"/>
          <p:nvPr/>
        </p:nvSpPr>
        <p:spPr>
          <a:xfrm>
            <a:off x="5754284" y="2610249"/>
            <a:ext cx="117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94"/>
          <p:cNvSpPr txBox="1"/>
          <p:nvPr/>
        </p:nvSpPr>
        <p:spPr>
          <a:xfrm>
            <a:off x="6973884" y="2610249"/>
            <a:ext cx="115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0" name="Google Shape;1700;p94"/>
          <p:cNvSpPr txBox="1"/>
          <p:nvPr/>
        </p:nvSpPr>
        <p:spPr>
          <a:xfrm>
            <a:off x="5499836" y="2590948"/>
            <a:ext cx="21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94"/>
          <p:cNvSpPr txBox="1"/>
          <p:nvPr/>
        </p:nvSpPr>
        <p:spPr>
          <a:xfrm>
            <a:off x="5394225" y="4266297"/>
            <a:ext cx="3147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diagram showing the number of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2" name="Google Shape;1702;p94"/>
          <p:cNvSpPr txBox="1"/>
          <p:nvPr/>
        </p:nvSpPr>
        <p:spPr>
          <a:xfrm>
            <a:off x="6708325" y="3279325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3" name="Google Shape;1703;p94"/>
          <p:cNvSpPr txBox="1"/>
          <p:nvPr/>
        </p:nvSpPr>
        <p:spPr>
          <a:xfrm>
            <a:off x="5966736" y="3279325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94"/>
          <p:cNvSpPr txBox="1"/>
          <p:nvPr/>
        </p:nvSpPr>
        <p:spPr>
          <a:xfrm>
            <a:off x="7411811" y="3281500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5" name="Google Shape;1705;p94"/>
          <p:cNvSpPr txBox="1"/>
          <p:nvPr/>
        </p:nvSpPr>
        <p:spPr>
          <a:xfrm>
            <a:off x="7662386" y="3907025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94"/>
          <p:cNvSpPr/>
          <p:nvPr/>
        </p:nvSpPr>
        <p:spPr>
          <a:xfrm>
            <a:off x="5881048" y="2863454"/>
            <a:ext cx="1470300" cy="1134000"/>
          </a:xfrm>
          <a:prstGeom prst="ellipse">
            <a:avLst/>
          </a:prstGeom>
          <a:noFill/>
          <a:ln w="762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94"/>
          <p:cNvSpPr/>
          <p:nvPr/>
        </p:nvSpPr>
        <p:spPr>
          <a:xfrm>
            <a:off x="541825" y="3048139"/>
            <a:ext cx="217200" cy="313500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94"/>
          <p:cNvSpPr/>
          <p:nvPr/>
        </p:nvSpPr>
        <p:spPr>
          <a:xfrm>
            <a:off x="1035350" y="3260639"/>
            <a:ext cx="217200" cy="313500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94"/>
          <p:cNvSpPr/>
          <p:nvPr/>
        </p:nvSpPr>
        <p:spPr>
          <a:xfrm>
            <a:off x="1382525" y="3644489"/>
            <a:ext cx="217200" cy="313500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94"/>
          <p:cNvSpPr/>
          <p:nvPr/>
        </p:nvSpPr>
        <p:spPr>
          <a:xfrm>
            <a:off x="685775" y="3918689"/>
            <a:ext cx="217200" cy="313500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94"/>
          <p:cNvSpPr txBox="1"/>
          <p:nvPr/>
        </p:nvSpPr>
        <p:spPr>
          <a:xfrm>
            <a:off x="324000" y="642971"/>
            <a:ext cx="84960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11-sided spinner has the integers from 0 to 10 written on its faces.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Trial: Spinning the spinner once.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Event: the spinner lands on a square number.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 is a second type of Venn diagram; one which shows the number of outcomes in each event, rather than the individual outcomes, themselves.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15" name="Shape 1715"/>
        <p:cNvGrpSpPr/>
        <p:nvPr/>
      </p:nvGrpSpPr>
      <p:grpSpPr>
        <a:xfrm>
          <a:off x="0" y="0"/>
          <a:ext cx="0" cy="0"/>
        </a:xfrm>
      </p:grpSpPr>
      <p:grpSp>
        <p:nvGrpSpPr>
          <p:cNvPr id="1716" name="Google Shape;1716;p95"/>
          <p:cNvGrpSpPr/>
          <p:nvPr/>
        </p:nvGrpSpPr>
        <p:grpSpPr>
          <a:xfrm>
            <a:off x="1436342" y="2074674"/>
            <a:ext cx="2457600" cy="1619700"/>
            <a:chOff x="1436342" y="4369074"/>
            <a:chExt cx="2457600" cy="1619700"/>
          </a:xfrm>
        </p:grpSpPr>
        <p:sp>
          <p:nvSpPr>
            <p:cNvPr id="1717" name="Google Shape;1717;p95"/>
            <p:cNvSpPr/>
            <p:nvPr/>
          </p:nvSpPr>
          <p:spPr>
            <a:xfrm>
              <a:off x="1436342" y="4369074"/>
              <a:ext cx="2457600" cy="1619700"/>
            </a:xfrm>
            <a:prstGeom prst="rect">
              <a:avLst/>
            </a:prstGeom>
            <a:solidFill>
              <a:srgbClr val="FAEAF6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8" name="Google Shape;1718;p95"/>
            <p:cNvSpPr/>
            <p:nvPr/>
          </p:nvSpPr>
          <p:spPr>
            <a:xfrm>
              <a:off x="2253265" y="4618352"/>
              <a:ext cx="1470300" cy="1134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19" name="Google Shape;1719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graphicFrame>
        <p:nvGraphicFramePr>
          <p:cNvPr id="1720" name="Google Shape;1720;p95"/>
          <p:cNvGraphicFramePr>
            <a:graphicFrameLocks noGrp="1"/>
          </p:cNvGraphicFramePr>
          <p:nvPr/>
        </p:nvGraphicFramePr>
        <p:xfrm>
          <a:off x="5001350" y="202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484050"/>
                <a:gridCol w="1392075"/>
              </a:tblGrid>
              <a:tr h="177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</a:tr>
              <a:tr h="1140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721" name="Google Shape;1721;p95"/>
          <p:cNvSpPr/>
          <p:nvPr/>
        </p:nvSpPr>
        <p:spPr>
          <a:xfrm>
            <a:off x="1436342" y="2076849"/>
            <a:ext cx="2457600" cy="16197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95"/>
          <p:cNvSpPr/>
          <p:nvPr/>
        </p:nvSpPr>
        <p:spPr>
          <a:xfrm>
            <a:off x="1607023" y="2330054"/>
            <a:ext cx="1470300" cy="1134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95"/>
          <p:cNvSpPr/>
          <p:nvPr/>
        </p:nvSpPr>
        <p:spPr>
          <a:xfrm>
            <a:off x="2253265" y="2330054"/>
            <a:ext cx="1470300" cy="1134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95"/>
          <p:cNvSpPr txBox="1"/>
          <p:nvPr/>
        </p:nvSpPr>
        <p:spPr>
          <a:xfrm>
            <a:off x="1480259" y="2076849"/>
            <a:ext cx="117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cube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95"/>
          <p:cNvSpPr txBox="1"/>
          <p:nvPr/>
        </p:nvSpPr>
        <p:spPr>
          <a:xfrm>
            <a:off x="2699859" y="2076849"/>
            <a:ext cx="115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95"/>
          <p:cNvSpPr txBox="1"/>
          <p:nvPr/>
        </p:nvSpPr>
        <p:spPr>
          <a:xfrm>
            <a:off x="1225811" y="2057548"/>
            <a:ext cx="21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95"/>
          <p:cNvSpPr txBox="1"/>
          <p:nvPr/>
        </p:nvSpPr>
        <p:spPr>
          <a:xfrm>
            <a:off x="1120200" y="3732897"/>
            <a:ext cx="3147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diagram showing the number of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8" name="Google Shape;1728;p95"/>
          <p:cNvSpPr txBox="1"/>
          <p:nvPr/>
        </p:nvSpPr>
        <p:spPr>
          <a:xfrm>
            <a:off x="2434300" y="2745925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9" name="Google Shape;1729;p95"/>
          <p:cNvSpPr txBox="1"/>
          <p:nvPr/>
        </p:nvSpPr>
        <p:spPr>
          <a:xfrm>
            <a:off x="1692711" y="2745925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95"/>
          <p:cNvSpPr txBox="1"/>
          <p:nvPr/>
        </p:nvSpPr>
        <p:spPr>
          <a:xfrm>
            <a:off x="3137786" y="2748100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95"/>
          <p:cNvSpPr txBox="1"/>
          <p:nvPr/>
        </p:nvSpPr>
        <p:spPr>
          <a:xfrm>
            <a:off x="3388361" y="3373625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95"/>
          <p:cNvSpPr/>
          <p:nvPr/>
        </p:nvSpPr>
        <p:spPr>
          <a:xfrm>
            <a:off x="2253265" y="2330054"/>
            <a:ext cx="1470300" cy="1134000"/>
          </a:xfrm>
          <a:prstGeom prst="ellipse">
            <a:avLst/>
          </a:prstGeom>
          <a:noFill/>
          <a:ln w="762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95"/>
          <p:cNvSpPr txBox="1"/>
          <p:nvPr/>
        </p:nvSpPr>
        <p:spPr>
          <a:xfrm>
            <a:off x="324000" y="682432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Both this Venn diagram and outcome table show the same events.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outcomes should there be in each part of the outcome table?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95"/>
          <p:cNvSpPr txBox="1"/>
          <p:nvPr/>
        </p:nvSpPr>
        <p:spPr>
          <a:xfrm>
            <a:off x="5001350" y="2544275"/>
            <a:ext cx="1482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+ 9 =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13 outcomes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5" name="Google Shape;1735;p95"/>
          <p:cNvSpPr txBox="1"/>
          <p:nvPr/>
        </p:nvSpPr>
        <p:spPr>
          <a:xfrm>
            <a:off x="6485400" y="2544275"/>
            <a:ext cx="13920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 + 15 =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21 outcomes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39" name="Shape 1739"/>
        <p:cNvGrpSpPr/>
        <p:nvPr/>
      </p:nvGrpSpPr>
      <p:grpSpPr>
        <a:xfrm>
          <a:off x="0" y="0"/>
          <a:ext cx="0" cy="0"/>
        </a:xfrm>
      </p:grpSpPr>
      <p:sp>
        <p:nvSpPr>
          <p:cNvPr id="1740" name="Google Shape;1740;p96"/>
          <p:cNvSpPr/>
          <p:nvPr/>
        </p:nvSpPr>
        <p:spPr>
          <a:xfrm>
            <a:off x="1436342" y="2076849"/>
            <a:ext cx="2457600" cy="16197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graphicFrame>
        <p:nvGraphicFramePr>
          <p:cNvPr id="1742" name="Google Shape;1742;p96"/>
          <p:cNvGraphicFramePr>
            <a:graphicFrameLocks noGrp="1"/>
          </p:cNvGraphicFramePr>
          <p:nvPr/>
        </p:nvGraphicFramePr>
        <p:xfrm>
          <a:off x="5001350" y="202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484050"/>
                <a:gridCol w="1392075"/>
              </a:tblGrid>
              <a:tr h="177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odd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</a:tr>
              <a:tr h="1140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743" name="Google Shape;1743;p96"/>
          <p:cNvSpPr/>
          <p:nvPr/>
        </p:nvSpPr>
        <p:spPr>
          <a:xfrm>
            <a:off x="1607023" y="2330054"/>
            <a:ext cx="1470300" cy="1134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96"/>
          <p:cNvSpPr/>
          <p:nvPr/>
        </p:nvSpPr>
        <p:spPr>
          <a:xfrm>
            <a:off x="2253265" y="2330054"/>
            <a:ext cx="1470300" cy="1134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96"/>
          <p:cNvSpPr txBox="1"/>
          <p:nvPr/>
        </p:nvSpPr>
        <p:spPr>
          <a:xfrm>
            <a:off x="1480259" y="2076849"/>
            <a:ext cx="117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cube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96"/>
          <p:cNvSpPr txBox="1"/>
          <p:nvPr/>
        </p:nvSpPr>
        <p:spPr>
          <a:xfrm>
            <a:off x="2699859" y="2076849"/>
            <a:ext cx="115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96"/>
          <p:cNvSpPr txBox="1"/>
          <p:nvPr/>
        </p:nvSpPr>
        <p:spPr>
          <a:xfrm>
            <a:off x="1225811" y="2057548"/>
            <a:ext cx="21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96"/>
          <p:cNvSpPr txBox="1"/>
          <p:nvPr/>
        </p:nvSpPr>
        <p:spPr>
          <a:xfrm>
            <a:off x="1120200" y="3732897"/>
            <a:ext cx="3147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diagram showing the number of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96"/>
          <p:cNvSpPr txBox="1"/>
          <p:nvPr/>
        </p:nvSpPr>
        <p:spPr>
          <a:xfrm>
            <a:off x="2434300" y="2745925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96"/>
          <p:cNvSpPr txBox="1"/>
          <p:nvPr/>
        </p:nvSpPr>
        <p:spPr>
          <a:xfrm>
            <a:off x="1692711" y="2745925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96"/>
          <p:cNvSpPr txBox="1"/>
          <p:nvPr/>
        </p:nvSpPr>
        <p:spPr>
          <a:xfrm>
            <a:off x="3137786" y="2748100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2" name="Google Shape;1752;p96"/>
          <p:cNvSpPr txBox="1"/>
          <p:nvPr/>
        </p:nvSpPr>
        <p:spPr>
          <a:xfrm>
            <a:off x="3388361" y="3373625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3" name="Google Shape;1753;p96"/>
          <p:cNvSpPr txBox="1"/>
          <p:nvPr/>
        </p:nvSpPr>
        <p:spPr>
          <a:xfrm>
            <a:off x="324000" y="682432"/>
            <a:ext cx="8496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Both this Venn diagram and outcome table show the same events.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P(odd).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96"/>
          <p:cNvSpPr txBox="1"/>
          <p:nvPr/>
        </p:nvSpPr>
        <p:spPr>
          <a:xfrm>
            <a:off x="5001350" y="2544275"/>
            <a:ext cx="14829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96"/>
          <p:cNvSpPr txBox="1"/>
          <p:nvPr/>
        </p:nvSpPr>
        <p:spPr>
          <a:xfrm>
            <a:off x="6485400" y="2544275"/>
            <a:ext cx="1392000" cy="4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6" name="Google Shape;1756;p96" descr="&lt;math xmlns=&quot;http://www.w3.org/1998/Math/MathML&quot; display=&quot;block&quot; data-is-equatio=&quot;1&quot; data-latex=&quot;\frac{21}{34}&quot;&gt;&lt;mfrac&gt;&lt;mn&gt;21&lt;/mn&gt;&lt;mn&gt;34&lt;/mn&gt;&lt;/mfrac&gt;&lt;/math&gt;" title="21 over 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475" y="1188000"/>
            <a:ext cx="23328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60" name="Shape 1760"/>
        <p:cNvGrpSpPr/>
        <p:nvPr/>
      </p:nvGrpSpPr>
      <p:grpSpPr>
        <a:xfrm>
          <a:off x="0" y="0"/>
          <a:ext cx="0" cy="0"/>
        </a:xfrm>
      </p:grpSpPr>
      <p:sp>
        <p:nvSpPr>
          <p:cNvPr id="1761" name="Google Shape;1761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sp>
        <p:nvSpPr>
          <p:cNvPr id="1762" name="Google Shape;1762;p97"/>
          <p:cNvSpPr txBox="1"/>
          <p:nvPr/>
        </p:nvSpPr>
        <p:spPr>
          <a:xfrm>
            <a:off x="324000" y="642975"/>
            <a:ext cx="35496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This Venn diagram and outcome table show the same events.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Use the Venn diagram to complete the outcome table.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97"/>
          <p:cNvSpPr/>
          <p:nvPr/>
        </p:nvSpPr>
        <p:spPr>
          <a:xfrm>
            <a:off x="4841600" y="749875"/>
            <a:ext cx="3147000" cy="21657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97"/>
          <p:cNvSpPr/>
          <p:nvPr/>
        </p:nvSpPr>
        <p:spPr>
          <a:xfrm>
            <a:off x="5060162" y="1366730"/>
            <a:ext cx="1882800" cy="1452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97"/>
          <p:cNvSpPr/>
          <p:nvPr/>
        </p:nvSpPr>
        <p:spPr>
          <a:xfrm>
            <a:off x="5887709" y="1366730"/>
            <a:ext cx="1882800" cy="1452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97"/>
          <p:cNvSpPr txBox="1"/>
          <p:nvPr/>
        </p:nvSpPr>
        <p:spPr>
          <a:xfrm>
            <a:off x="4897834" y="749590"/>
            <a:ext cx="1505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vowels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97"/>
          <p:cNvSpPr txBox="1"/>
          <p:nvPr/>
        </p:nvSpPr>
        <p:spPr>
          <a:xfrm>
            <a:off x="6459596" y="749590"/>
            <a:ext cx="1472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made from straight lines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97"/>
          <p:cNvSpPr txBox="1"/>
          <p:nvPr/>
        </p:nvSpPr>
        <p:spPr>
          <a:xfrm>
            <a:off x="4572000" y="795774"/>
            <a:ext cx="26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97"/>
          <p:cNvSpPr txBox="1"/>
          <p:nvPr/>
        </p:nvSpPr>
        <p:spPr>
          <a:xfrm>
            <a:off x="4841600" y="2930972"/>
            <a:ext cx="3147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diagram showing individual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97"/>
          <p:cNvSpPr txBox="1"/>
          <p:nvPr/>
        </p:nvSpPr>
        <p:spPr>
          <a:xfrm>
            <a:off x="7096925" y="1593275"/>
            <a:ext cx="45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97"/>
          <p:cNvSpPr txBox="1"/>
          <p:nvPr/>
        </p:nvSpPr>
        <p:spPr>
          <a:xfrm>
            <a:off x="6189200" y="1624963"/>
            <a:ext cx="45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97"/>
          <p:cNvSpPr txBox="1"/>
          <p:nvPr/>
        </p:nvSpPr>
        <p:spPr>
          <a:xfrm>
            <a:off x="5951425" y="2065500"/>
            <a:ext cx="45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3" name="Google Shape;1773;p97"/>
          <p:cNvSpPr txBox="1"/>
          <p:nvPr/>
        </p:nvSpPr>
        <p:spPr>
          <a:xfrm>
            <a:off x="6403225" y="2065500"/>
            <a:ext cx="45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4" name="Google Shape;1774;p97"/>
          <p:cNvSpPr txBox="1"/>
          <p:nvPr/>
        </p:nvSpPr>
        <p:spPr>
          <a:xfrm>
            <a:off x="5351150" y="1659800"/>
            <a:ext cx="45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5" name="Google Shape;1775;p97"/>
          <p:cNvSpPr txBox="1"/>
          <p:nvPr/>
        </p:nvSpPr>
        <p:spPr>
          <a:xfrm>
            <a:off x="5275475" y="2209900"/>
            <a:ext cx="45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6" name="Google Shape;1776;p97"/>
          <p:cNvSpPr txBox="1"/>
          <p:nvPr/>
        </p:nvSpPr>
        <p:spPr>
          <a:xfrm>
            <a:off x="324000" y="2482250"/>
            <a:ext cx="35496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these probabilities: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P(vowel)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P(not vowel)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P(made from straight lines)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7" name="Google Shape;1777;p97"/>
          <p:cNvSpPr txBox="1"/>
          <p:nvPr/>
        </p:nvSpPr>
        <p:spPr>
          <a:xfrm>
            <a:off x="7096925" y="2065500"/>
            <a:ext cx="45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8" name="Google Shape;1778;p97"/>
          <p:cNvSpPr txBox="1"/>
          <p:nvPr/>
        </p:nvSpPr>
        <p:spPr>
          <a:xfrm>
            <a:off x="7488504" y="2585175"/>
            <a:ext cx="45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9" name="Google Shape;1779;p97"/>
          <p:cNvGraphicFramePr>
            <a:graphicFrameLocks noGrp="1"/>
          </p:cNvGraphicFramePr>
          <p:nvPr/>
        </p:nvGraphicFramePr>
        <p:xfrm>
          <a:off x="4319990" y="38064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2013325"/>
                <a:gridCol w="2013325"/>
              </a:tblGrid>
              <a:tr h="2454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vowels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vowels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</a:tr>
              <a:tr h="719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780" name="Google Shape;1780;p97"/>
          <p:cNvSpPr txBox="1"/>
          <p:nvPr/>
        </p:nvSpPr>
        <p:spPr>
          <a:xfrm>
            <a:off x="6855025" y="2416488"/>
            <a:ext cx="45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84" name="Shape 1784"/>
        <p:cNvGrpSpPr/>
        <p:nvPr/>
      </p:nvGrpSpPr>
      <p:grpSpPr>
        <a:xfrm>
          <a:off x="0" y="0"/>
          <a:ext cx="0" cy="0"/>
        </a:xfrm>
      </p:grpSpPr>
      <p:sp>
        <p:nvSpPr>
          <p:cNvPr id="1785" name="Google Shape;1785;p98"/>
          <p:cNvSpPr/>
          <p:nvPr/>
        </p:nvSpPr>
        <p:spPr>
          <a:xfrm>
            <a:off x="3313276" y="3067449"/>
            <a:ext cx="2457600" cy="16197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sp>
        <p:nvSpPr>
          <p:cNvPr id="1787" name="Google Shape;1787;p98"/>
          <p:cNvSpPr txBox="1"/>
          <p:nvPr/>
        </p:nvSpPr>
        <p:spPr>
          <a:xfrm>
            <a:off x="324000" y="587964"/>
            <a:ext cx="84960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A spinner has outcomes: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 1,  1,  2,  2,  3,  4,  4,  5,  5,  5,  6,  7,  7,  7,  8,  9}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Trial: spinning the spinner once                  Event: lands on a square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Complete the outcome table, Venn diagram (showing the number of outcomes), and the probability tree for this event.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Circle or highlight the outcomes or branches in each diagram that are required to calculate the probability of P(not square).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88" name="Google Shape;1788;p98"/>
          <p:cNvGraphicFramePr>
            <a:graphicFrameLocks noGrp="1"/>
          </p:cNvGraphicFramePr>
          <p:nvPr/>
        </p:nvGraphicFramePr>
        <p:xfrm>
          <a:off x="324000" y="316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322575"/>
                <a:gridCol w="1240625"/>
              </a:tblGrid>
              <a:tr h="177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square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</a:tr>
              <a:tr h="1140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789" name="Google Shape;1789;p98"/>
          <p:cNvSpPr/>
          <p:nvPr/>
        </p:nvSpPr>
        <p:spPr>
          <a:xfrm>
            <a:off x="3483958" y="3320654"/>
            <a:ext cx="1470300" cy="1134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0" name="Google Shape;1790;p98"/>
          <p:cNvSpPr/>
          <p:nvPr/>
        </p:nvSpPr>
        <p:spPr>
          <a:xfrm>
            <a:off x="4130199" y="3320654"/>
            <a:ext cx="1470300" cy="1134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1" name="Google Shape;1791;p98"/>
          <p:cNvSpPr txBox="1"/>
          <p:nvPr/>
        </p:nvSpPr>
        <p:spPr>
          <a:xfrm>
            <a:off x="3357193" y="3067449"/>
            <a:ext cx="117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2" name="Google Shape;1792;p98"/>
          <p:cNvSpPr txBox="1"/>
          <p:nvPr/>
        </p:nvSpPr>
        <p:spPr>
          <a:xfrm>
            <a:off x="4576793" y="3067449"/>
            <a:ext cx="115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98"/>
          <p:cNvSpPr txBox="1"/>
          <p:nvPr/>
        </p:nvSpPr>
        <p:spPr>
          <a:xfrm>
            <a:off x="3102745" y="3048148"/>
            <a:ext cx="21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98"/>
          <p:cNvSpPr txBox="1"/>
          <p:nvPr/>
        </p:nvSpPr>
        <p:spPr>
          <a:xfrm>
            <a:off x="4311234" y="3736525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95" name="Google Shape;1795;p98"/>
          <p:cNvGrpSpPr/>
          <p:nvPr/>
        </p:nvGrpSpPr>
        <p:grpSpPr>
          <a:xfrm>
            <a:off x="6201475" y="2934050"/>
            <a:ext cx="2323950" cy="1678925"/>
            <a:chOff x="6134400" y="2800336"/>
            <a:chExt cx="2323950" cy="1678925"/>
          </a:xfrm>
        </p:grpSpPr>
        <p:grpSp>
          <p:nvGrpSpPr>
            <p:cNvPr id="1796" name="Google Shape;1796;p98"/>
            <p:cNvGrpSpPr/>
            <p:nvPr/>
          </p:nvGrpSpPr>
          <p:grpSpPr>
            <a:xfrm>
              <a:off x="6371000" y="2885687"/>
              <a:ext cx="1175100" cy="1507761"/>
              <a:chOff x="6599600" y="2885687"/>
              <a:chExt cx="1175100" cy="1507761"/>
            </a:xfrm>
          </p:grpSpPr>
          <p:cxnSp>
            <p:nvCxnSpPr>
              <p:cNvPr id="1797" name="Google Shape;1797;p98"/>
              <p:cNvCxnSpPr/>
              <p:nvPr/>
            </p:nvCxnSpPr>
            <p:spPr>
              <a:xfrm>
                <a:off x="6599600" y="3731948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98" name="Google Shape;1798;p98"/>
              <p:cNvCxnSpPr/>
              <p:nvPr/>
            </p:nvCxnSpPr>
            <p:spPr>
              <a:xfrm rot="10800000" flipH="1">
                <a:off x="6599600" y="2885687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799" name="Google Shape;1799;p98"/>
            <p:cNvSpPr txBox="1"/>
            <p:nvPr/>
          </p:nvSpPr>
          <p:spPr>
            <a:xfrm>
              <a:off x="7597350" y="4295061"/>
              <a:ext cx="8610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not square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0" name="Google Shape;1800;p98"/>
            <p:cNvSpPr/>
            <p:nvPr/>
          </p:nvSpPr>
          <p:spPr>
            <a:xfrm>
              <a:off x="6134400" y="3512362"/>
              <a:ext cx="277200" cy="2544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1" name="Google Shape;1801;p98"/>
            <p:cNvSpPr txBox="1"/>
            <p:nvPr/>
          </p:nvSpPr>
          <p:spPr>
            <a:xfrm>
              <a:off x="7597350" y="2800336"/>
              <a:ext cx="8610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square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05" name="Shape 1805"/>
        <p:cNvGrpSpPr/>
        <p:nvPr/>
      </p:nvGrpSpPr>
      <p:grpSpPr>
        <a:xfrm>
          <a:off x="0" y="0"/>
          <a:ext cx="0" cy="0"/>
        </a:xfrm>
      </p:grpSpPr>
      <p:sp>
        <p:nvSpPr>
          <p:cNvPr id="1806" name="Google Shape;1806;p99"/>
          <p:cNvSpPr txBox="1"/>
          <p:nvPr/>
        </p:nvSpPr>
        <p:spPr>
          <a:xfrm>
            <a:off x="324000" y="601717"/>
            <a:ext cx="84960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A Venn diagram (showing the number of outcomes), outcome table, and probability tree all show the same event from a trial.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The outcome table is missing some of its outcomes!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the correct Venn diagram to suggest possible outcomes for the table.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Complete the probability tree.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7" name="Google Shape;1807;p99"/>
          <p:cNvSpPr/>
          <p:nvPr/>
        </p:nvSpPr>
        <p:spPr>
          <a:xfrm>
            <a:off x="583664" y="3067449"/>
            <a:ext cx="2457600" cy="16197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8" name="Google Shape;1808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graphicFrame>
        <p:nvGraphicFramePr>
          <p:cNvPr id="1809" name="Google Shape;1809;p99"/>
          <p:cNvGraphicFramePr>
            <a:graphicFrameLocks noGrp="1"/>
          </p:cNvGraphicFramePr>
          <p:nvPr/>
        </p:nvGraphicFramePr>
        <p:xfrm>
          <a:off x="3297367" y="304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322575"/>
                <a:gridCol w="1240625"/>
              </a:tblGrid>
              <a:tr h="317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cube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cube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</a:tr>
              <a:tr h="1321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810" name="Google Shape;1810;p99"/>
          <p:cNvSpPr/>
          <p:nvPr/>
        </p:nvSpPr>
        <p:spPr>
          <a:xfrm>
            <a:off x="754345" y="3320654"/>
            <a:ext cx="1470300" cy="1134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1" name="Google Shape;1811;p99"/>
          <p:cNvSpPr/>
          <p:nvPr/>
        </p:nvSpPr>
        <p:spPr>
          <a:xfrm>
            <a:off x="1400587" y="3320654"/>
            <a:ext cx="1470300" cy="1134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2" name="Google Shape;1812;p99"/>
          <p:cNvSpPr txBox="1"/>
          <p:nvPr/>
        </p:nvSpPr>
        <p:spPr>
          <a:xfrm>
            <a:off x="627581" y="3067449"/>
            <a:ext cx="117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cube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3" name="Google Shape;1813;p99"/>
          <p:cNvSpPr txBox="1"/>
          <p:nvPr/>
        </p:nvSpPr>
        <p:spPr>
          <a:xfrm>
            <a:off x="1847181" y="3067449"/>
            <a:ext cx="115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4" name="Google Shape;1814;p99"/>
          <p:cNvSpPr txBox="1"/>
          <p:nvPr/>
        </p:nvSpPr>
        <p:spPr>
          <a:xfrm>
            <a:off x="323995" y="3048148"/>
            <a:ext cx="21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99"/>
          <p:cNvSpPr txBox="1"/>
          <p:nvPr/>
        </p:nvSpPr>
        <p:spPr>
          <a:xfrm>
            <a:off x="1581622" y="3738700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16" name="Google Shape;1816;p99"/>
          <p:cNvGrpSpPr/>
          <p:nvPr/>
        </p:nvGrpSpPr>
        <p:grpSpPr>
          <a:xfrm>
            <a:off x="6201475" y="2934050"/>
            <a:ext cx="2323950" cy="1678925"/>
            <a:chOff x="6134400" y="2800336"/>
            <a:chExt cx="2323950" cy="1678925"/>
          </a:xfrm>
        </p:grpSpPr>
        <p:grpSp>
          <p:nvGrpSpPr>
            <p:cNvPr id="1817" name="Google Shape;1817;p99"/>
            <p:cNvGrpSpPr/>
            <p:nvPr/>
          </p:nvGrpSpPr>
          <p:grpSpPr>
            <a:xfrm>
              <a:off x="6371000" y="2885687"/>
              <a:ext cx="1175100" cy="1507761"/>
              <a:chOff x="6599600" y="2885687"/>
              <a:chExt cx="1175100" cy="1507761"/>
            </a:xfrm>
          </p:grpSpPr>
          <p:cxnSp>
            <p:nvCxnSpPr>
              <p:cNvPr id="1818" name="Google Shape;1818;p99"/>
              <p:cNvCxnSpPr/>
              <p:nvPr/>
            </p:nvCxnSpPr>
            <p:spPr>
              <a:xfrm>
                <a:off x="6599600" y="3731948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9" name="Google Shape;1819;p99"/>
              <p:cNvCxnSpPr/>
              <p:nvPr/>
            </p:nvCxnSpPr>
            <p:spPr>
              <a:xfrm rot="10800000" flipH="1">
                <a:off x="6599600" y="2885687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820" name="Google Shape;1820;p99"/>
            <p:cNvSpPr txBox="1"/>
            <p:nvPr/>
          </p:nvSpPr>
          <p:spPr>
            <a:xfrm>
              <a:off x="7597350" y="4295061"/>
              <a:ext cx="8610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not cube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1" name="Google Shape;1821;p99"/>
            <p:cNvSpPr/>
            <p:nvPr/>
          </p:nvSpPr>
          <p:spPr>
            <a:xfrm>
              <a:off x="6134400" y="3512362"/>
              <a:ext cx="277200" cy="2544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2" name="Google Shape;1822;p99"/>
            <p:cNvSpPr txBox="1"/>
            <p:nvPr/>
          </p:nvSpPr>
          <p:spPr>
            <a:xfrm>
              <a:off x="7597350" y="2800336"/>
              <a:ext cx="8610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cube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23" name="Google Shape;1823;p99"/>
          <p:cNvSpPr txBox="1"/>
          <p:nvPr/>
        </p:nvSpPr>
        <p:spPr>
          <a:xfrm>
            <a:off x="1017597" y="3424625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4" name="Google Shape;1824;p99"/>
          <p:cNvSpPr txBox="1"/>
          <p:nvPr/>
        </p:nvSpPr>
        <p:spPr>
          <a:xfrm>
            <a:off x="2191422" y="3461500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5" name="Google Shape;1825;p99"/>
          <p:cNvSpPr txBox="1"/>
          <p:nvPr/>
        </p:nvSpPr>
        <p:spPr>
          <a:xfrm>
            <a:off x="2530159" y="4335775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6" name="Google Shape;1826;p99"/>
          <p:cNvSpPr txBox="1"/>
          <p:nvPr/>
        </p:nvSpPr>
        <p:spPr>
          <a:xfrm>
            <a:off x="3323053" y="339357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7" name="Google Shape;1827;p99"/>
          <p:cNvSpPr txBox="1"/>
          <p:nvPr/>
        </p:nvSpPr>
        <p:spPr>
          <a:xfrm>
            <a:off x="3681840" y="356862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8" name="Google Shape;1828;p99"/>
          <p:cNvSpPr txBox="1"/>
          <p:nvPr/>
        </p:nvSpPr>
        <p:spPr>
          <a:xfrm>
            <a:off x="4092315" y="342462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99"/>
          <p:cNvSpPr txBox="1"/>
          <p:nvPr/>
        </p:nvSpPr>
        <p:spPr>
          <a:xfrm>
            <a:off x="4231315" y="376962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99"/>
          <p:cNvSpPr txBox="1"/>
          <p:nvPr/>
        </p:nvSpPr>
        <p:spPr>
          <a:xfrm>
            <a:off x="3392540" y="3780000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1" name="Google Shape;1831;p99"/>
          <p:cNvSpPr txBox="1"/>
          <p:nvPr/>
        </p:nvSpPr>
        <p:spPr>
          <a:xfrm>
            <a:off x="3835315" y="3904600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2" name="Google Shape;1832;p99"/>
          <p:cNvSpPr txBox="1"/>
          <p:nvPr/>
        </p:nvSpPr>
        <p:spPr>
          <a:xfrm>
            <a:off x="3392540" y="416642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3" name="Google Shape;1833;p99"/>
          <p:cNvSpPr txBox="1"/>
          <p:nvPr/>
        </p:nvSpPr>
        <p:spPr>
          <a:xfrm>
            <a:off x="4161440" y="4105200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4" name="Google Shape;1834;p99"/>
          <p:cNvSpPr txBox="1"/>
          <p:nvPr/>
        </p:nvSpPr>
        <p:spPr>
          <a:xfrm>
            <a:off x="4665440" y="339357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5" name="Google Shape;1835;p99"/>
          <p:cNvSpPr txBox="1"/>
          <p:nvPr/>
        </p:nvSpPr>
        <p:spPr>
          <a:xfrm>
            <a:off x="5051590" y="339357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6" name="Google Shape;1836;p99"/>
          <p:cNvSpPr txBox="1"/>
          <p:nvPr/>
        </p:nvSpPr>
        <p:spPr>
          <a:xfrm>
            <a:off x="5483890" y="356862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99"/>
          <p:cNvSpPr txBox="1"/>
          <p:nvPr/>
        </p:nvSpPr>
        <p:spPr>
          <a:xfrm>
            <a:off x="4857603" y="370182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99"/>
          <p:cNvSpPr txBox="1"/>
          <p:nvPr/>
        </p:nvSpPr>
        <p:spPr>
          <a:xfrm>
            <a:off x="5254053" y="388922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99"/>
          <p:cNvSpPr txBox="1"/>
          <p:nvPr/>
        </p:nvSpPr>
        <p:spPr>
          <a:xfrm>
            <a:off x="4665453" y="407972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0" name="Google Shape;1840;p99"/>
          <p:cNvSpPr txBox="1"/>
          <p:nvPr/>
        </p:nvSpPr>
        <p:spPr>
          <a:xfrm>
            <a:off x="5495578" y="416642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44" name="Shape 1844"/>
        <p:cNvGrpSpPr/>
        <p:nvPr/>
      </p:nvGrpSpPr>
      <p:grpSpPr>
        <a:xfrm>
          <a:off x="0" y="0"/>
          <a:ext cx="0" cy="0"/>
        </a:xfrm>
      </p:grpSpPr>
      <p:sp>
        <p:nvSpPr>
          <p:cNvPr id="1845" name="Google Shape;1845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sp>
        <p:nvSpPr>
          <p:cNvPr id="1846" name="Google Shape;1846;p100"/>
          <p:cNvSpPr txBox="1"/>
          <p:nvPr/>
        </p:nvSpPr>
        <p:spPr>
          <a:xfrm>
            <a:off x="324000" y="642975"/>
            <a:ext cx="35496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This Venn diagram and outcome table show the same events.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Use the Venn diagram to complete the outcome table.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7" name="Google Shape;1847;p100"/>
          <p:cNvSpPr txBox="1"/>
          <p:nvPr/>
        </p:nvSpPr>
        <p:spPr>
          <a:xfrm>
            <a:off x="324000" y="2482250"/>
            <a:ext cx="35946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these probabilities: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P(vowel)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P(not vowel)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P(made from straight lines) =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48" name="Google Shape;1848;p100"/>
          <p:cNvGraphicFramePr>
            <a:graphicFrameLocks noGrp="1"/>
          </p:cNvGraphicFramePr>
          <p:nvPr/>
        </p:nvGraphicFramePr>
        <p:xfrm>
          <a:off x="4319990" y="38064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2013325"/>
                <a:gridCol w="2013325"/>
              </a:tblGrid>
              <a:tr h="2454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vowels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vowels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</a:tr>
              <a:tr h="719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849" name="Google Shape;1849;p100"/>
          <p:cNvSpPr txBox="1"/>
          <p:nvPr/>
        </p:nvSpPr>
        <p:spPr>
          <a:xfrm>
            <a:off x="5485725" y="4110063"/>
            <a:ext cx="45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0" name="Google Shape;1850;p100"/>
          <p:cNvSpPr txBox="1"/>
          <p:nvPr/>
        </p:nvSpPr>
        <p:spPr>
          <a:xfrm>
            <a:off x="5247950" y="4398200"/>
            <a:ext cx="45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1" name="Google Shape;1851;p100"/>
          <p:cNvSpPr txBox="1"/>
          <p:nvPr/>
        </p:nvSpPr>
        <p:spPr>
          <a:xfrm>
            <a:off x="5699750" y="4398200"/>
            <a:ext cx="45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2" name="Google Shape;1852;p100"/>
          <p:cNvSpPr txBox="1"/>
          <p:nvPr/>
        </p:nvSpPr>
        <p:spPr>
          <a:xfrm>
            <a:off x="4647675" y="4144900"/>
            <a:ext cx="45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3" name="Google Shape;1853;p100"/>
          <p:cNvSpPr txBox="1"/>
          <p:nvPr/>
        </p:nvSpPr>
        <p:spPr>
          <a:xfrm>
            <a:off x="4572000" y="4466400"/>
            <a:ext cx="45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4" name="Google Shape;1854;p100"/>
          <p:cNvSpPr/>
          <p:nvPr/>
        </p:nvSpPr>
        <p:spPr>
          <a:xfrm>
            <a:off x="4841600" y="749875"/>
            <a:ext cx="3147000" cy="21657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5" name="Google Shape;1855;p100"/>
          <p:cNvSpPr/>
          <p:nvPr/>
        </p:nvSpPr>
        <p:spPr>
          <a:xfrm>
            <a:off x="5060162" y="1366730"/>
            <a:ext cx="1882800" cy="1452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6" name="Google Shape;1856;p100"/>
          <p:cNvSpPr/>
          <p:nvPr/>
        </p:nvSpPr>
        <p:spPr>
          <a:xfrm>
            <a:off x="5887709" y="1366730"/>
            <a:ext cx="1882800" cy="1452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7" name="Google Shape;1857;p100"/>
          <p:cNvSpPr txBox="1"/>
          <p:nvPr/>
        </p:nvSpPr>
        <p:spPr>
          <a:xfrm>
            <a:off x="4897834" y="749590"/>
            <a:ext cx="1505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vowels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8" name="Google Shape;1858;p100"/>
          <p:cNvSpPr txBox="1"/>
          <p:nvPr/>
        </p:nvSpPr>
        <p:spPr>
          <a:xfrm>
            <a:off x="6459596" y="749590"/>
            <a:ext cx="1472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made from straight lines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9" name="Google Shape;1859;p100"/>
          <p:cNvSpPr txBox="1"/>
          <p:nvPr/>
        </p:nvSpPr>
        <p:spPr>
          <a:xfrm>
            <a:off x="4572000" y="795774"/>
            <a:ext cx="26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0" name="Google Shape;1860;p100"/>
          <p:cNvSpPr txBox="1"/>
          <p:nvPr/>
        </p:nvSpPr>
        <p:spPr>
          <a:xfrm>
            <a:off x="7096925" y="1593275"/>
            <a:ext cx="45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1" name="Google Shape;1861;p100"/>
          <p:cNvSpPr txBox="1"/>
          <p:nvPr/>
        </p:nvSpPr>
        <p:spPr>
          <a:xfrm>
            <a:off x="6189200" y="1624963"/>
            <a:ext cx="45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2" name="Google Shape;1862;p100"/>
          <p:cNvSpPr txBox="1"/>
          <p:nvPr/>
        </p:nvSpPr>
        <p:spPr>
          <a:xfrm>
            <a:off x="5951425" y="2065500"/>
            <a:ext cx="45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100"/>
          <p:cNvSpPr txBox="1"/>
          <p:nvPr/>
        </p:nvSpPr>
        <p:spPr>
          <a:xfrm>
            <a:off x="6403225" y="2065500"/>
            <a:ext cx="45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100"/>
          <p:cNvSpPr txBox="1"/>
          <p:nvPr/>
        </p:nvSpPr>
        <p:spPr>
          <a:xfrm>
            <a:off x="5351150" y="1659800"/>
            <a:ext cx="45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5" name="Google Shape;1865;p100"/>
          <p:cNvSpPr txBox="1"/>
          <p:nvPr/>
        </p:nvSpPr>
        <p:spPr>
          <a:xfrm>
            <a:off x="5275475" y="2209900"/>
            <a:ext cx="45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6" name="Google Shape;1866;p100"/>
          <p:cNvSpPr txBox="1"/>
          <p:nvPr/>
        </p:nvSpPr>
        <p:spPr>
          <a:xfrm>
            <a:off x="7096925" y="2065500"/>
            <a:ext cx="45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7" name="Google Shape;1867;p100"/>
          <p:cNvSpPr txBox="1"/>
          <p:nvPr/>
        </p:nvSpPr>
        <p:spPr>
          <a:xfrm>
            <a:off x="7488504" y="2585175"/>
            <a:ext cx="45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8" name="Google Shape;1868;p100"/>
          <p:cNvSpPr txBox="1"/>
          <p:nvPr/>
        </p:nvSpPr>
        <p:spPr>
          <a:xfrm>
            <a:off x="6855025" y="2416488"/>
            <a:ext cx="45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9" name="Google Shape;1869;p100"/>
          <p:cNvSpPr txBox="1"/>
          <p:nvPr/>
        </p:nvSpPr>
        <p:spPr>
          <a:xfrm>
            <a:off x="7029063" y="4144900"/>
            <a:ext cx="45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0" name="Google Shape;1870;p100"/>
          <p:cNvSpPr txBox="1"/>
          <p:nvPr/>
        </p:nvSpPr>
        <p:spPr>
          <a:xfrm>
            <a:off x="6746225" y="4450550"/>
            <a:ext cx="45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1" name="Google Shape;1871;p100"/>
          <p:cNvSpPr txBox="1"/>
          <p:nvPr/>
        </p:nvSpPr>
        <p:spPr>
          <a:xfrm>
            <a:off x="7598529" y="4320000"/>
            <a:ext cx="45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2" name="Google Shape;1872;p100"/>
          <p:cNvSpPr txBox="1"/>
          <p:nvPr/>
        </p:nvSpPr>
        <p:spPr>
          <a:xfrm>
            <a:off x="6459600" y="4243788"/>
            <a:ext cx="45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73" name="Google Shape;1873;p100" descr="&lt;math xmlns=&quot;http://www.w3.org/1998/Math/MathML&quot; display=&quot;block&quot; data-is-equatio=&quot;1&quot; data-latex=&quot;\frac{5}{9}&quot;&gt;&lt;mfrac&gt;&lt;mn&gt;5&lt;/mn&gt;&lt;mn&gt;9&lt;/mn&gt;&lt;/mfrac&gt;&lt;/math&gt;" title="five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040" y="2992025"/>
            <a:ext cx="133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4" name="Google Shape;1874;p100" descr="&lt;math xmlns=&quot;http://www.w3.org/1998/Math/MathML&quot; display=&quot;block&quot; data-is-equatio=&quot;1&quot; data-latex=&quot;\frac{4}{9}&quot;&gt;&lt;mfrac&gt;&lt;mn&gt;4&lt;/mn&gt;&lt;mn&gt;9&lt;/mn&gt;&lt;/mfrac&gt;&lt;/math&gt;" title="four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5694" y="3485075"/>
            <a:ext cx="133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5" name="Google Shape;1875;p100" descr="&lt;math xmlns=&quot;http://www.w3.org/1998/Math/MathML&quot; display=&quot;block&quot; data-is-equatio=&quot;1&quot; data-latex=&quot;\frac{6}{9}&quot;&gt;&lt;mfrac&gt;&lt;mn&gt;6&lt;/mn&gt;&lt;mn&gt;9&lt;/mn&gt;&lt;/mfrac&gt;&lt;/math&gt;" title="six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3475" y="3989738"/>
            <a:ext cx="133920" cy="4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6" name="Google Shape;1876;p100"/>
          <p:cNvSpPr txBox="1"/>
          <p:nvPr/>
        </p:nvSpPr>
        <p:spPr>
          <a:xfrm>
            <a:off x="4841600" y="2930972"/>
            <a:ext cx="3147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Venn diagram showing individual outcomes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80" name="Shape 1880"/>
        <p:cNvGrpSpPr/>
        <p:nvPr/>
      </p:nvGrpSpPr>
      <p:grpSpPr>
        <a:xfrm>
          <a:off x="0" y="0"/>
          <a:ext cx="0" cy="0"/>
        </a:xfrm>
      </p:grpSpPr>
      <p:sp>
        <p:nvSpPr>
          <p:cNvPr id="1881" name="Google Shape;1881;p101"/>
          <p:cNvSpPr/>
          <p:nvPr/>
        </p:nvSpPr>
        <p:spPr>
          <a:xfrm>
            <a:off x="3313276" y="3067449"/>
            <a:ext cx="2457600" cy="16197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2" name="Google Shape;1882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sp>
        <p:nvSpPr>
          <p:cNvPr id="1883" name="Google Shape;1883;p101"/>
          <p:cNvSpPr txBox="1"/>
          <p:nvPr/>
        </p:nvSpPr>
        <p:spPr>
          <a:xfrm>
            <a:off x="324000" y="587964"/>
            <a:ext cx="84960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A spinner has outcomes: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 1,  1,  2,  2,  3,  4,  4,  5,  5,  5,  6,  7,  7,  7,  8,  9}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Trial: spinning the spinner once                  Event: lands on a square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Complete the outcome table, Venn diagram (showing the number of outcomes), and the probability tree for this event.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Circle or highlight the outcomes or branches in each diagram that are required to calculate the probability of P(not square).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84" name="Google Shape;1884;p101"/>
          <p:cNvGraphicFramePr>
            <a:graphicFrameLocks noGrp="1"/>
          </p:cNvGraphicFramePr>
          <p:nvPr/>
        </p:nvGraphicFramePr>
        <p:xfrm>
          <a:off x="324000" y="316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322575"/>
                <a:gridCol w="1240625"/>
              </a:tblGrid>
              <a:tr h="177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square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</a:tr>
              <a:tr h="11406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885" name="Google Shape;1885;p101"/>
          <p:cNvSpPr/>
          <p:nvPr/>
        </p:nvSpPr>
        <p:spPr>
          <a:xfrm>
            <a:off x="3483958" y="3320654"/>
            <a:ext cx="1470300" cy="1134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6" name="Google Shape;1886;p101"/>
          <p:cNvSpPr/>
          <p:nvPr/>
        </p:nvSpPr>
        <p:spPr>
          <a:xfrm>
            <a:off x="4130199" y="3320654"/>
            <a:ext cx="1470300" cy="1134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101"/>
          <p:cNvSpPr txBox="1"/>
          <p:nvPr/>
        </p:nvSpPr>
        <p:spPr>
          <a:xfrm>
            <a:off x="3357193" y="3067449"/>
            <a:ext cx="117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8" name="Google Shape;1888;p101"/>
          <p:cNvSpPr txBox="1"/>
          <p:nvPr/>
        </p:nvSpPr>
        <p:spPr>
          <a:xfrm>
            <a:off x="4576793" y="3067449"/>
            <a:ext cx="115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9" name="Google Shape;1889;p101"/>
          <p:cNvSpPr txBox="1"/>
          <p:nvPr/>
        </p:nvSpPr>
        <p:spPr>
          <a:xfrm>
            <a:off x="3102745" y="3048148"/>
            <a:ext cx="21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0" name="Google Shape;1890;p101"/>
          <p:cNvSpPr txBox="1"/>
          <p:nvPr/>
        </p:nvSpPr>
        <p:spPr>
          <a:xfrm>
            <a:off x="4311234" y="3736525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1" name="Google Shape;1891;p101"/>
          <p:cNvGrpSpPr/>
          <p:nvPr/>
        </p:nvGrpSpPr>
        <p:grpSpPr>
          <a:xfrm>
            <a:off x="6201475" y="2934050"/>
            <a:ext cx="2323950" cy="1678925"/>
            <a:chOff x="6134400" y="2800336"/>
            <a:chExt cx="2323950" cy="1678925"/>
          </a:xfrm>
        </p:grpSpPr>
        <p:grpSp>
          <p:nvGrpSpPr>
            <p:cNvPr id="1892" name="Google Shape;1892;p101"/>
            <p:cNvGrpSpPr/>
            <p:nvPr/>
          </p:nvGrpSpPr>
          <p:grpSpPr>
            <a:xfrm>
              <a:off x="6371000" y="2885687"/>
              <a:ext cx="1175100" cy="1507761"/>
              <a:chOff x="6599600" y="2885687"/>
              <a:chExt cx="1175100" cy="1507761"/>
            </a:xfrm>
          </p:grpSpPr>
          <p:cxnSp>
            <p:nvCxnSpPr>
              <p:cNvPr id="1893" name="Google Shape;1893;p101"/>
              <p:cNvCxnSpPr/>
              <p:nvPr/>
            </p:nvCxnSpPr>
            <p:spPr>
              <a:xfrm>
                <a:off x="6599600" y="3731948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4" name="Google Shape;1894;p101"/>
              <p:cNvCxnSpPr/>
              <p:nvPr/>
            </p:nvCxnSpPr>
            <p:spPr>
              <a:xfrm rot="10800000" flipH="1">
                <a:off x="6599600" y="2885687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895" name="Google Shape;1895;p101"/>
            <p:cNvSpPr txBox="1"/>
            <p:nvPr/>
          </p:nvSpPr>
          <p:spPr>
            <a:xfrm>
              <a:off x="7597350" y="4295061"/>
              <a:ext cx="8610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not square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6" name="Google Shape;1896;p101"/>
            <p:cNvSpPr/>
            <p:nvPr/>
          </p:nvSpPr>
          <p:spPr>
            <a:xfrm>
              <a:off x="6134400" y="3512362"/>
              <a:ext cx="277200" cy="2544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7" name="Google Shape;1897;p101"/>
            <p:cNvSpPr txBox="1"/>
            <p:nvPr/>
          </p:nvSpPr>
          <p:spPr>
            <a:xfrm>
              <a:off x="7597350" y="2800336"/>
              <a:ext cx="8610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square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8" name="Google Shape;1898;p101"/>
          <p:cNvSpPr txBox="1"/>
          <p:nvPr/>
        </p:nvSpPr>
        <p:spPr>
          <a:xfrm>
            <a:off x="380475" y="3459100"/>
            <a:ext cx="34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9" name="Google Shape;1899;p101"/>
          <p:cNvSpPr txBox="1"/>
          <p:nvPr/>
        </p:nvSpPr>
        <p:spPr>
          <a:xfrm>
            <a:off x="728775" y="3459100"/>
            <a:ext cx="34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0" name="Google Shape;1900;p101"/>
          <p:cNvSpPr txBox="1"/>
          <p:nvPr/>
        </p:nvSpPr>
        <p:spPr>
          <a:xfrm>
            <a:off x="1077075" y="3459100"/>
            <a:ext cx="34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1" name="Google Shape;1901;p101"/>
          <p:cNvSpPr txBox="1"/>
          <p:nvPr/>
        </p:nvSpPr>
        <p:spPr>
          <a:xfrm>
            <a:off x="380475" y="3851050"/>
            <a:ext cx="34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2" name="Google Shape;1902;p101"/>
          <p:cNvSpPr txBox="1"/>
          <p:nvPr/>
        </p:nvSpPr>
        <p:spPr>
          <a:xfrm>
            <a:off x="728775" y="3851050"/>
            <a:ext cx="34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3" name="Google Shape;1903;p101"/>
          <p:cNvSpPr txBox="1"/>
          <p:nvPr/>
        </p:nvSpPr>
        <p:spPr>
          <a:xfrm>
            <a:off x="380475" y="4243000"/>
            <a:ext cx="34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904" name="Google Shape;1904;p101"/>
          <p:cNvGrpSpPr/>
          <p:nvPr/>
        </p:nvGrpSpPr>
        <p:grpSpPr>
          <a:xfrm>
            <a:off x="1728225" y="3450381"/>
            <a:ext cx="1044900" cy="584948"/>
            <a:chOff x="1728225" y="3459100"/>
            <a:chExt cx="1044900" cy="827250"/>
          </a:xfrm>
        </p:grpSpPr>
        <p:sp>
          <p:nvSpPr>
            <p:cNvPr id="1905" name="Google Shape;1905;p101"/>
            <p:cNvSpPr txBox="1"/>
            <p:nvPr/>
          </p:nvSpPr>
          <p:spPr>
            <a:xfrm>
              <a:off x="1728225" y="3459100"/>
              <a:ext cx="348300" cy="43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06" name="Google Shape;1906;p101"/>
            <p:cNvSpPr txBox="1"/>
            <p:nvPr/>
          </p:nvSpPr>
          <p:spPr>
            <a:xfrm>
              <a:off x="2076525" y="3459100"/>
              <a:ext cx="348300" cy="43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07" name="Google Shape;1907;p101"/>
            <p:cNvSpPr txBox="1"/>
            <p:nvPr/>
          </p:nvSpPr>
          <p:spPr>
            <a:xfrm>
              <a:off x="2424825" y="3459100"/>
              <a:ext cx="348300" cy="43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3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08" name="Google Shape;1908;p101"/>
            <p:cNvSpPr txBox="1"/>
            <p:nvPr/>
          </p:nvSpPr>
          <p:spPr>
            <a:xfrm>
              <a:off x="1728225" y="3851050"/>
              <a:ext cx="348300" cy="43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09" name="Google Shape;1909;p101"/>
            <p:cNvSpPr txBox="1"/>
            <p:nvPr/>
          </p:nvSpPr>
          <p:spPr>
            <a:xfrm>
              <a:off x="2076525" y="3851050"/>
              <a:ext cx="348300" cy="43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10" name="Google Shape;1910;p101"/>
            <p:cNvSpPr txBox="1"/>
            <p:nvPr/>
          </p:nvSpPr>
          <p:spPr>
            <a:xfrm>
              <a:off x="2424825" y="3851050"/>
              <a:ext cx="348300" cy="43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911" name="Google Shape;1911;p101"/>
          <p:cNvGrpSpPr/>
          <p:nvPr/>
        </p:nvGrpSpPr>
        <p:grpSpPr>
          <a:xfrm>
            <a:off x="1728225" y="4019531"/>
            <a:ext cx="1044900" cy="584948"/>
            <a:chOff x="1728225" y="3459100"/>
            <a:chExt cx="1044900" cy="827250"/>
          </a:xfrm>
        </p:grpSpPr>
        <p:sp>
          <p:nvSpPr>
            <p:cNvPr id="1912" name="Google Shape;1912;p101"/>
            <p:cNvSpPr txBox="1"/>
            <p:nvPr/>
          </p:nvSpPr>
          <p:spPr>
            <a:xfrm>
              <a:off x="1728225" y="3459100"/>
              <a:ext cx="348300" cy="43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6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13" name="Google Shape;1913;p101"/>
            <p:cNvSpPr txBox="1"/>
            <p:nvPr/>
          </p:nvSpPr>
          <p:spPr>
            <a:xfrm>
              <a:off x="2076525" y="3459100"/>
              <a:ext cx="348300" cy="43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7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14" name="Google Shape;1914;p101"/>
            <p:cNvSpPr txBox="1"/>
            <p:nvPr/>
          </p:nvSpPr>
          <p:spPr>
            <a:xfrm>
              <a:off x="2424825" y="3459100"/>
              <a:ext cx="348300" cy="43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7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15" name="Google Shape;1915;p101"/>
            <p:cNvSpPr txBox="1"/>
            <p:nvPr/>
          </p:nvSpPr>
          <p:spPr>
            <a:xfrm>
              <a:off x="1728225" y="3851050"/>
              <a:ext cx="348300" cy="43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7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16" name="Google Shape;1916;p101"/>
            <p:cNvSpPr txBox="1"/>
            <p:nvPr/>
          </p:nvSpPr>
          <p:spPr>
            <a:xfrm>
              <a:off x="2076525" y="3851050"/>
              <a:ext cx="348300" cy="43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8</a:t>
              </a:r>
              <a:endParaRPr sz="20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917" name="Google Shape;1917;p101"/>
          <p:cNvSpPr txBox="1"/>
          <p:nvPr/>
        </p:nvSpPr>
        <p:spPr>
          <a:xfrm>
            <a:off x="3713100" y="3733750"/>
            <a:ext cx="34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8" name="Google Shape;1918;p101"/>
          <p:cNvSpPr txBox="1"/>
          <p:nvPr/>
        </p:nvSpPr>
        <p:spPr>
          <a:xfrm>
            <a:off x="5060850" y="3733750"/>
            <a:ext cx="34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9" name="Google Shape;1919;p101"/>
          <p:cNvSpPr txBox="1"/>
          <p:nvPr/>
        </p:nvSpPr>
        <p:spPr>
          <a:xfrm>
            <a:off x="5335900" y="4320000"/>
            <a:ext cx="34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20" name="Google Shape;1920;p101" descr="&lt;math xmlns=&quot;http://www.w3.org/1998/Math/MathML&quot; display=&quot;block&quot; data-is-equatio=&quot;1&quot; data-latex=&quot;\frac{6}{17}&quot;&gt;&lt;mfrac&gt;&lt;mn&gt;6&lt;/mn&gt;&lt;mn&gt;17&lt;/mn&gt;&lt;/mfrac&gt;&lt;/math&gt;" title="6 over 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4563" y="2850859"/>
            <a:ext cx="233280" cy="431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1" name="Google Shape;1921;p101" descr="&lt;math xmlns=&quot;http://www.w3.org/1998/Math/MathML&quot; display=&quot;block&quot; data-is-equatio=&quot;1&quot; data-latex=&quot;\frac{11}{17}&quot;&gt;&lt;mfrac&gt;&lt;mn&gt;11&lt;/mn&gt;&lt;mn&gt;17&lt;/mn&gt;&lt;/mfrac&gt;&lt;/math&gt;" title="11 over 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7838" y="3835354"/>
            <a:ext cx="233280" cy="431012"/>
          </a:xfrm>
          <a:prstGeom prst="rect">
            <a:avLst/>
          </a:prstGeom>
          <a:noFill/>
          <a:ln>
            <a:noFill/>
          </a:ln>
        </p:spPr>
      </p:pic>
      <p:sp>
        <p:nvSpPr>
          <p:cNvPr id="1922" name="Google Shape;1922;p101"/>
          <p:cNvSpPr/>
          <p:nvPr/>
        </p:nvSpPr>
        <p:spPr>
          <a:xfrm>
            <a:off x="1551785" y="3358350"/>
            <a:ext cx="1439400" cy="13347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3" name="Google Shape;1923;p101"/>
          <p:cNvCxnSpPr/>
          <p:nvPr/>
        </p:nvCxnSpPr>
        <p:spPr>
          <a:xfrm>
            <a:off x="6438075" y="3865662"/>
            <a:ext cx="1175100" cy="661500"/>
          </a:xfrm>
          <a:prstGeom prst="straightConnector1">
            <a:avLst/>
          </a:prstGeom>
          <a:noFill/>
          <a:ln w="762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24" name="Google Shape;1924;p101"/>
          <p:cNvSpPr/>
          <p:nvPr/>
        </p:nvSpPr>
        <p:spPr>
          <a:xfrm>
            <a:off x="5012882" y="3679188"/>
            <a:ext cx="470400" cy="3828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101"/>
          <p:cNvSpPr/>
          <p:nvPr/>
        </p:nvSpPr>
        <p:spPr>
          <a:xfrm>
            <a:off x="5274857" y="4266363"/>
            <a:ext cx="470400" cy="382800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29" name="Shape 1929"/>
        <p:cNvGrpSpPr/>
        <p:nvPr/>
      </p:nvGrpSpPr>
      <p:grpSpPr>
        <a:xfrm>
          <a:off x="0" y="0"/>
          <a:ext cx="0" cy="0"/>
        </a:xfrm>
      </p:grpSpPr>
      <p:sp>
        <p:nvSpPr>
          <p:cNvPr id="1930" name="Google Shape;1930;p102"/>
          <p:cNvSpPr txBox="1"/>
          <p:nvPr/>
        </p:nvSpPr>
        <p:spPr>
          <a:xfrm>
            <a:off x="324000" y="601717"/>
            <a:ext cx="8496000" cy="22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A Venn diagram (showing the number of outcomes), outcome table, and probability tree all show the same event from a trial.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The outcome table is missing some of its outcomes!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the correct Venn diagram to suggest possible outcomes for the table.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5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Complete the probability tree.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1" name="Google Shape;1931;p102"/>
          <p:cNvSpPr/>
          <p:nvPr/>
        </p:nvSpPr>
        <p:spPr>
          <a:xfrm>
            <a:off x="583664" y="3067449"/>
            <a:ext cx="2457600" cy="16197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2" name="Google Shape;1932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Showing events across different diagrams</a:t>
            </a:r>
            <a:endParaRPr/>
          </a:p>
        </p:txBody>
      </p:sp>
      <p:graphicFrame>
        <p:nvGraphicFramePr>
          <p:cNvPr id="1933" name="Google Shape;1933;p102"/>
          <p:cNvGraphicFramePr>
            <a:graphicFrameLocks noGrp="1"/>
          </p:cNvGraphicFramePr>
          <p:nvPr/>
        </p:nvGraphicFramePr>
        <p:xfrm>
          <a:off x="3297367" y="304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{CB40717C-E718-4CDD-A6EF-0455306FA54E}</a:tableStyleId>
              </a:tblPr>
              <a:tblGrid>
                <a:gridCol w="1322575"/>
                <a:gridCol w="1240625"/>
              </a:tblGrid>
              <a:tr h="317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cube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not cube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solidFill>
                      <a:schemeClr val="accent5"/>
                    </a:solidFill>
                  </a:tcPr>
                </a:tc>
              </a:tr>
              <a:tr h="1321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934" name="Google Shape;1934;p102"/>
          <p:cNvSpPr/>
          <p:nvPr/>
        </p:nvSpPr>
        <p:spPr>
          <a:xfrm>
            <a:off x="754345" y="3320654"/>
            <a:ext cx="1470300" cy="1134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5" name="Google Shape;1935;p102"/>
          <p:cNvSpPr/>
          <p:nvPr/>
        </p:nvSpPr>
        <p:spPr>
          <a:xfrm>
            <a:off x="1400587" y="3320654"/>
            <a:ext cx="1470300" cy="11340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6" name="Google Shape;1936;p102"/>
          <p:cNvSpPr txBox="1"/>
          <p:nvPr/>
        </p:nvSpPr>
        <p:spPr>
          <a:xfrm>
            <a:off x="627581" y="3067449"/>
            <a:ext cx="117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cube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7" name="Google Shape;1937;p102"/>
          <p:cNvSpPr txBox="1"/>
          <p:nvPr/>
        </p:nvSpPr>
        <p:spPr>
          <a:xfrm>
            <a:off x="1847181" y="3067449"/>
            <a:ext cx="115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even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8" name="Google Shape;1938;p102"/>
          <p:cNvSpPr txBox="1"/>
          <p:nvPr/>
        </p:nvSpPr>
        <p:spPr>
          <a:xfrm>
            <a:off x="323995" y="3048148"/>
            <a:ext cx="21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9" name="Google Shape;1939;p102"/>
          <p:cNvSpPr txBox="1"/>
          <p:nvPr/>
        </p:nvSpPr>
        <p:spPr>
          <a:xfrm>
            <a:off x="1581622" y="3738700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40" name="Google Shape;1940;p102"/>
          <p:cNvGrpSpPr/>
          <p:nvPr/>
        </p:nvGrpSpPr>
        <p:grpSpPr>
          <a:xfrm>
            <a:off x="6201475" y="2934050"/>
            <a:ext cx="2323950" cy="1678925"/>
            <a:chOff x="6134400" y="2800336"/>
            <a:chExt cx="2323950" cy="1678925"/>
          </a:xfrm>
        </p:grpSpPr>
        <p:grpSp>
          <p:nvGrpSpPr>
            <p:cNvPr id="1941" name="Google Shape;1941;p102"/>
            <p:cNvGrpSpPr/>
            <p:nvPr/>
          </p:nvGrpSpPr>
          <p:grpSpPr>
            <a:xfrm>
              <a:off x="6371000" y="2885687"/>
              <a:ext cx="1175100" cy="1507761"/>
              <a:chOff x="6599600" y="2885687"/>
              <a:chExt cx="1175100" cy="1507761"/>
            </a:xfrm>
          </p:grpSpPr>
          <p:cxnSp>
            <p:nvCxnSpPr>
              <p:cNvPr id="1942" name="Google Shape;1942;p102"/>
              <p:cNvCxnSpPr/>
              <p:nvPr/>
            </p:nvCxnSpPr>
            <p:spPr>
              <a:xfrm>
                <a:off x="6599600" y="3731948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43" name="Google Shape;1943;p102"/>
              <p:cNvCxnSpPr/>
              <p:nvPr/>
            </p:nvCxnSpPr>
            <p:spPr>
              <a:xfrm rot="10800000" flipH="1">
                <a:off x="6599600" y="2885687"/>
                <a:ext cx="1175100" cy="6615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4" name="Google Shape;1944;p102"/>
            <p:cNvSpPr txBox="1"/>
            <p:nvPr/>
          </p:nvSpPr>
          <p:spPr>
            <a:xfrm>
              <a:off x="7597350" y="4295061"/>
              <a:ext cx="8610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not cube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5" name="Google Shape;1945;p102"/>
            <p:cNvSpPr/>
            <p:nvPr/>
          </p:nvSpPr>
          <p:spPr>
            <a:xfrm>
              <a:off x="6134400" y="3512362"/>
              <a:ext cx="277200" cy="2544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6" name="Google Shape;1946;p102"/>
            <p:cNvSpPr txBox="1"/>
            <p:nvPr/>
          </p:nvSpPr>
          <p:spPr>
            <a:xfrm>
              <a:off x="7597350" y="2800336"/>
              <a:ext cx="861000" cy="1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cube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47" name="Google Shape;1947;p102"/>
          <p:cNvSpPr txBox="1"/>
          <p:nvPr/>
        </p:nvSpPr>
        <p:spPr>
          <a:xfrm>
            <a:off x="1017597" y="3424625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8" name="Google Shape;1948;p102"/>
          <p:cNvSpPr txBox="1"/>
          <p:nvPr/>
        </p:nvSpPr>
        <p:spPr>
          <a:xfrm>
            <a:off x="2191422" y="3461500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9" name="Google Shape;1949;p102"/>
          <p:cNvSpPr txBox="1"/>
          <p:nvPr/>
        </p:nvSpPr>
        <p:spPr>
          <a:xfrm>
            <a:off x="2530159" y="4335775"/>
            <a:ext cx="46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0" name="Google Shape;1950;p102"/>
          <p:cNvSpPr txBox="1"/>
          <p:nvPr/>
        </p:nvSpPr>
        <p:spPr>
          <a:xfrm>
            <a:off x="3323053" y="339357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1" name="Google Shape;1951;p102"/>
          <p:cNvSpPr txBox="1"/>
          <p:nvPr/>
        </p:nvSpPr>
        <p:spPr>
          <a:xfrm>
            <a:off x="3681840" y="356862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2" name="Google Shape;1952;p102"/>
          <p:cNvSpPr txBox="1"/>
          <p:nvPr/>
        </p:nvSpPr>
        <p:spPr>
          <a:xfrm>
            <a:off x="4092315" y="342462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3" name="Google Shape;1953;p102"/>
          <p:cNvSpPr txBox="1"/>
          <p:nvPr/>
        </p:nvSpPr>
        <p:spPr>
          <a:xfrm>
            <a:off x="4231315" y="376962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4" name="Google Shape;1954;p102"/>
          <p:cNvSpPr txBox="1"/>
          <p:nvPr/>
        </p:nvSpPr>
        <p:spPr>
          <a:xfrm>
            <a:off x="3392540" y="3780000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5" name="Google Shape;1955;p102"/>
          <p:cNvSpPr txBox="1"/>
          <p:nvPr/>
        </p:nvSpPr>
        <p:spPr>
          <a:xfrm>
            <a:off x="3835315" y="3904600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6" name="Google Shape;1956;p102"/>
          <p:cNvSpPr txBox="1"/>
          <p:nvPr/>
        </p:nvSpPr>
        <p:spPr>
          <a:xfrm>
            <a:off x="3392540" y="416642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7" name="Google Shape;1957;p102"/>
          <p:cNvSpPr txBox="1"/>
          <p:nvPr/>
        </p:nvSpPr>
        <p:spPr>
          <a:xfrm>
            <a:off x="4161440" y="4105200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8" name="Google Shape;1958;p102"/>
          <p:cNvSpPr txBox="1"/>
          <p:nvPr/>
        </p:nvSpPr>
        <p:spPr>
          <a:xfrm>
            <a:off x="4665440" y="339357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9" name="Google Shape;1959;p102"/>
          <p:cNvSpPr txBox="1"/>
          <p:nvPr/>
        </p:nvSpPr>
        <p:spPr>
          <a:xfrm>
            <a:off x="5051590" y="339357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0" name="Google Shape;1960;p102"/>
          <p:cNvSpPr txBox="1"/>
          <p:nvPr/>
        </p:nvSpPr>
        <p:spPr>
          <a:xfrm>
            <a:off x="5483890" y="356862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1" name="Google Shape;1961;p102"/>
          <p:cNvSpPr txBox="1"/>
          <p:nvPr/>
        </p:nvSpPr>
        <p:spPr>
          <a:xfrm>
            <a:off x="4857603" y="370182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2" name="Google Shape;1962;p102"/>
          <p:cNvSpPr txBox="1"/>
          <p:nvPr/>
        </p:nvSpPr>
        <p:spPr>
          <a:xfrm>
            <a:off x="5254053" y="388922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3" name="Google Shape;1963;p102"/>
          <p:cNvSpPr txBox="1"/>
          <p:nvPr/>
        </p:nvSpPr>
        <p:spPr>
          <a:xfrm>
            <a:off x="4665453" y="407972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4" name="Google Shape;1964;p102"/>
          <p:cNvSpPr txBox="1"/>
          <p:nvPr/>
        </p:nvSpPr>
        <p:spPr>
          <a:xfrm>
            <a:off x="5495578" y="4166425"/>
            <a:ext cx="317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5" name="Google Shape;1965;p102"/>
          <p:cNvSpPr txBox="1"/>
          <p:nvPr/>
        </p:nvSpPr>
        <p:spPr>
          <a:xfrm>
            <a:off x="534300" y="2004165"/>
            <a:ext cx="828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One even cube number (e.g. 8), one odd cube number (e.g. 27), and one odd non-cube number should be added to the outcome table (e.g. 5).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66" name="Google Shape;1966;p102" descr="&lt;math xmlns=&quot;http://www.w3.org/1998/Math/MathML&quot; display=&quot;block&quot; data-is-equatio=&quot;1&quot; data-latex=&quot;\frac{10}{18}&quot;&gt;&lt;mfrac&gt;&lt;mn&gt;10&lt;/mn&gt;&lt;mn&gt;18&lt;/mn&gt;&lt;/mfrac&gt;&lt;/math&gt;" title="10 over 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5088" y="2767847"/>
            <a:ext cx="23328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7" name="Google Shape;1967;p102" descr="&lt;math xmlns=&quot;http://www.w3.org/1998/Math/MathML&quot; display=&quot;block&quot; data-is-equatio=&quot;1&quot; data-latex=&quot;\frac{8}{18}&quot;&gt;&lt;mfrac&gt;&lt;mn&gt;8&lt;/mn&gt;&lt;mn&gt;18&lt;/mn&gt;&lt;/mfrac&gt;&lt;/math&gt;" title="8 over 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4613" y="3808074"/>
            <a:ext cx="23328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71" name="Shape 1971"/>
        <p:cNvGrpSpPr/>
        <p:nvPr/>
      </p:nvGrpSpPr>
      <p:grpSpPr>
        <a:xfrm>
          <a:off x="0" y="0"/>
          <a:ext cx="0" cy="0"/>
        </a:xfrm>
      </p:grpSpPr>
      <p:sp>
        <p:nvSpPr>
          <p:cNvPr id="1972" name="Google Shape;1972;p103"/>
          <p:cNvSpPr txBox="1"/>
          <p:nvPr>
            <p:ph type="title"/>
          </p:nvPr>
        </p:nvSpPr>
        <p:spPr>
          <a:xfrm>
            <a:off x="1684800" y="43825"/>
            <a:ext cx="71352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Comparing multiple representations to calculate theoretical probabilities</a:t>
            </a:r>
            <a:endParaRPr/>
          </a:p>
        </p:txBody>
      </p:sp>
      <p:sp>
        <p:nvSpPr>
          <p:cNvPr id="1973" name="Google Shape;1973;p103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The outcomes and probabilities of a one-stage trial can be shown in different ways, including frequency tables and probability trees.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800"/>
            </a:br>
            <a:br>
              <a:rPr lang="en-GB" sz="1800"/>
            </a:br>
            <a:r>
              <a:rPr lang="en-GB" sz="1800"/>
              <a:t>The probabilities of a single event can be shown in different ways, including outcome tables, probability trees, and different types of Venn diagram.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77" name="Shape 1977"/>
        <p:cNvGrpSpPr/>
        <p:nvPr/>
      </p:nvGrpSpPr>
      <p:grpSpPr>
        <a:xfrm>
          <a:off x="0" y="0"/>
          <a:ext cx="0" cy="0"/>
        </a:xfrm>
      </p:grpSpPr>
      <p:sp>
        <p:nvSpPr>
          <p:cNvPr id="1978" name="Google Shape;1978;p104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79" name="Google Shape;1979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707</Paragraphs>
  <Slides>43</Slides>
  <Notes>43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baseType="lpstr" size="51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Comparing multiple representations to calculate theoretical probabilities</vt:lpstr>
      <vt:lpstr>PowerPoint Presentation</vt:lpstr>
      <vt:lpstr>PowerPoint Presentation</vt:lpstr>
      <vt:lpstr>PowerPoint Presentation</vt:lpstr>
      <vt:lpstr>Outcomes and probabilities across different diagrams</vt:lpstr>
      <vt:lpstr>Outcomes and probabilities across different diagrams</vt:lpstr>
      <vt:lpstr>Outcomes and probabilities across different diagrams</vt:lpstr>
      <vt:lpstr>Outcomes and probabilities across different diagrams</vt:lpstr>
      <vt:lpstr>Outcomes and probabilities across different diagrams</vt:lpstr>
      <vt:lpstr>Outcomes and probabilities across different diagrams</vt:lpstr>
      <vt:lpstr>Outcomes and probabilities across different diagrams</vt:lpstr>
      <vt:lpstr>Outcomes and probabilities across different diagrams</vt:lpstr>
      <vt:lpstr>Outcomes and probabilities across different diagrams</vt:lpstr>
      <vt:lpstr>Outcomes and probabilities across different diagrams</vt:lpstr>
      <vt:lpstr>Outcomes and probabilities across different diagrams</vt:lpstr>
      <vt:lpstr>Outcomes and probabilities across different diagrams</vt:lpstr>
      <vt:lpstr>Outcomes and probabilities across different diagrams</vt:lpstr>
      <vt:lpstr>Outcomes and probabilities across different diagrams</vt:lpstr>
      <vt:lpstr>Outcomes and probabilities across different diagrams</vt:lpstr>
      <vt:lpstr>Outcomes and probabilities across different diagrams</vt:lpstr>
      <vt:lpstr>Showing events across different diagrams</vt:lpstr>
      <vt:lpstr>Showing events across different diagrams</vt:lpstr>
      <vt:lpstr>Showing events across different diagrams</vt:lpstr>
      <vt:lpstr>Showing events across different diagrams</vt:lpstr>
      <vt:lpstr>Showing events across different diagrams</vt:lpstr>
      <vt:lpstr>Showing events across different diagrams</vt:lpstr>
      <vt:lpstr>Showing events across different diagrams</vt:lpstr>
      <vt:lpstr>Showing events across different diagrams</vt:lpstr>
      <vt:lpstr>Showing events across different diagrams</vt:lpstr>
      <vt:lpstr>Showing events across different diagrams</vt:lpstr>
      <vt:lpstr>Showing events across different diagrams</vt:lpstr>
      <vt:lpstr>Showing events across different diagrams</vt:lpstr>
      <vt:lpstr>Showing events across different diagrams</vt:lpstr>
      <vt:lpstr>Showing events across different diagrams</vt:lpstr>
      <vt:lpstr>Showing events across different diagrams</vt:lpstr>
      <vt:lpstr>Showing events across different diagrams</vt:lpstr>
      <vt:lpstr>Showing events across different diagrams</vt:lpstr>
      <vt:lpstr>Showing events across different diagrams</vt:lpstr>
      <vt:lpstr>Showing events across different diagrams</vt:lpstr>
      <vt:lpstr>Showing events across different diagrams</vt:lpstr>
      <vt:lpstr>Showing events across different diagrams</vt:lpstr>
      <vt:lpstr>Comparing multiple representations to calculate theoretical probabilities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2024-03-05T13:00:56.760</cp:lastPrinted>
  <dcterms:created xsi:type="dcterms:W3CDTF">2024-03-05T13:00:56Z</dcterms:created>
  <dcterms:modified xsi:type="dcterms:W3CDTF">2024-03-05T13:01:16Z</dcterms:modified>
</cp:coreProperties>
</file>