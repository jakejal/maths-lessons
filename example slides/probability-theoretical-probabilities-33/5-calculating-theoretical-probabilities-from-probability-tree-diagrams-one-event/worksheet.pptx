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bdbcff7cc8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bdbcff7c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bdbcff7cc8_0_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bdbcff7c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5389404" y="2651924"/>
            <a:ext cx="1677600" cy="1847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4750" y="1716050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Probability trees to show outcomes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2188138"/>
            <a:ext cx="2915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Both these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show the outcomes and probabilities for the same trial (spinning a spinner).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these two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complete the following sentence: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“The probability of the spinner landing on a T is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516685" y="2256478"/>
            <a:ext cx="1677600" cy="2783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515613" y="5046825"/>
            <a:ext cx="167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3606546" y="2251731"/>
            <a:ext cx="1620241" cy="2792601"/>
            <a:chOff x="4221978" y="2021406"/>
            <a:chExt cx="2078565" cy="2735699"/>
          </a:xfrm>
        </p:grpSpPr>
        <p:grpSp>
          <p:nvGrpSpPr>
            <p:cNvPr id="167" name="Google Shape;167;p20"/>
            <p:cNvGrpSpPr/>
            <p:nvPr/>
          </p:nvGrpSpPr>
          <p:grpSpPr>
            <a:xfrm>
              <a:off x="4221978" y="2160003"/>
              <a:ext cx="1670880" cy="2457628"/>
              <a:chOff x="4999150" y="1678400"/>
              <a:chExt cx="682800" cy="1426200"/>
            </a:xfrm>
          </p:grpSpPr>
          <p:cxnSp>
            <p:nvCxnSpPr>
              <p:cNvPr id="168" name="Google Shape;168;p20"/>
              <p:cNvCxnSpPr/>
              <p:nvPr/>
            </p:nvCxnSpPr>
            <p:spPr>
              <a:xfrm flipH="1" rot="10800000">
                <a:off x="4999150" y="16784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20"/>
              <p:cNvCxnSpPr/>
              <p:nvPr/>
            </p:nvCxnSpPr>
            <p:spPr>
              <a:xfrm flipH="1" rot="10800000">
                <a:off x="4999150" y="21569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20"/>
              <p:cNvCxnSpPr/>
              <p:nvPr/>
            </p:nvCxnSpPr>
            <p:spPr>
              <a:xfrm>
                <a:off x="4999150" y="23915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20"/>
              <p:cNvCxnSpPr/>
              <p:nvPr/>
            </p:nvCxnSpPr>
            <p:spPr>
              <a:xfrm>
                <a:off x="4999150" y="23915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2" name="Google Shape;172;p20"/>
            <p:cNvSpPr txBox="1"/>
            <p:nvPr/>
          </p:nvSpPr>
          <p:spPr>
            <a:xfrm>
              <a:off x="5892842" y="202140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5892842" y="284582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5892842" y="3653317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5892842" y="447990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" name="Google Shape;176;p20"/>
          <p:cNvSpPr txBox="1"/>
          <p:nvPr/>
        </p:nvSpPr>
        <p:spPr>
          <a:xfrm>
            <a:off x="5389404" y="4503755"/>
            <a:ext cx="167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flipH="1" rot="10800000">
            <a:off x="5480212" y="3012824"/>
            <a:ext cx="1302600" cy="63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5480212" y="3647924"/>
            <a:ext cx="1302600" cy="63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0"/>
          <p:cNvSpPr txBox="1"/>
          <p:nvPr/>
        </p:nvSpPr>
        <p:spPr>
          <a:xfrm>
            <a:off x="6782610" y="2794721"/>
            <a:ext cx="317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782610" y="4063532"/>
            <a:ext cx="317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089746" y="2607103"/>
            <a:ext cx="432432" cy="1883485"/>
            <a:chOff x="4883258" y="1716138"/>
            <a:chExt cx="554755" cy="2416273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82" name="Google Shape;182;p2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83" name="Google Shape;183;p2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32688" y="231169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84" name="Google Shape;184;p2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56488" y="298972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85" name="Google Shape;185;p2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3258" y="379684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86" name="Google Shape;186;p20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0950" y="2983052"/>
            <a:ext cx="82098" cy="261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87" name="Google Shape;187;p20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547" y="3702951"/>
            <a:ext cx="82098" cy="2615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4821577" y="6806438"/>
            <a:ext cx="1928400" cy="1903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216591" y="5821099"/>
            <a:ext cx="1928400" cy="3251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521167" y="5825616"/>
            <a:ext cx="25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Hence, complete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which shows each of the unique outcomes for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5825616"/>
            <a:ext cx="162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Sofia will spin spinner A once.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with five branches for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 flipH="1">
            <a:off x="718584" y="7577811"/>
            <a:ext cx="1223700" cy="12237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 flipH="1" rot="4320291">
            <a:off x="718461" y="7577705"/>
            <a:ext cx="1223553" cy="1223553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 flipH="1" rot="8639907">
            <a:off x="719184" y="7577857"/>
            <a:ext cx="1223360" cy="122336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 flipH="1" rot="-8639721">
            <a:off x="719408" y="7577408"/>
            <a:ext cx="1223780" cy="122378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718033" y="7577811"/>
            <a:ext cx="1223700" cy="12237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 flipH="1">
            <a:off x="1542433" y="8171313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 flipH="1">
            <a:off x="1178634" y="8466335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flipH="1">
            <a:off x="812763" y="8171313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flipH="1">
            <a:off x="944333" y="7775727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 flipH="1">
            <a:off x="1410880" y="7775727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807935" y="8802183"/>
            <a:ext cx="10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2262664" y="5846108"/>
            <a:ext cx="1546279" cy="3201127"/>
            <a:chOff x="2772051" y="1010848"/>
            <a:chExt cx="1987250" cy="3476463"/>
          </a:xfrm>
        </p:grpSpPr>
        <p:cxnSp>
          <p:nvCxnSpPr>
            <p:cNvPr id="204" name="Google Shape;204;p20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" name="Google Shape;205;p20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6" name="Google Shape;206;p20"/>
            <p:cNvGrpSpPr/>
            <p:nvPr/>
          </p:nvGrpSpPr>
          <p:grpSpPr>
            <a:xfrm>
              <a:off x="2772051" y="1010848"/>
              <a:ext cx="1987201" cy="3476463"/>
              <a:chOff x="2772050" y="707367"/>
              <a:chExt cx="1987201" cy="4083231"/>
            </a:xfrm>
          </p:grpSpPr>
          <p:cxnSp>
            <p:nvCxnSpPr>
              <p:cNvPr id="207" name="Google Shape;207;p20"/>
              <p:cNvCxnSpPr/>
              <p:nvPr/>
            </p:nvCxnSpPr>
            <p:spPr>
              <a:xfrm flipH="1" rot="10800000">
                <a:off x="2772050" y="1712596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20"/>
              <p:cNvCxnSpPr/>
              <p:nvPr/>
            </p:nvCxnSpPr>
            <p:spPr>
              <a:xfrm>
                <a:off x="2772050" y="2747940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20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20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1" name="Google Shape;211;p20"/>
              <p:cNvSpPr txBox="1"/>
              <p:nvPr/>
            </p:nvSpPr>
            <p:spPr>
              <a:xfrm flipH="1" rot="5201">
                <a:off x="4560839" y="3714796"/>
                <a:ext cx="198300" cy="1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" name="Google Shape;212;p20"/>
              <p:cNvSpPr txBox="1"/>
              <p:nvPr/>
            </p:nvSpPr>
            <p:spPr>
              <a:xfrm>
                <a:off x="4560951" y="707367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" name="Google Shape;213;p20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14" name="Google Shape;214;p20"/>
          <p:cNvGrpSpPr/>
          <p:nvPr/>
        </p:nvGrpSpPr>
        <p:grpSpPr>
          <a:xfrm>
            <a:off x="4934621" y="6986318"/>
            <a:ext cx="1546260" cy="1617459"/>
            <a:chOff x="2772076" y="1115498"/>
            <a:chExt cx="1987225" cy="3371814"/>
          </a:xfrm>
        </p:grpSpPr>
        <p:cxnSp>
          <p:nvCxnSpPr>
            <p:cNvPr id="215" name="Google Shape;215;p20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" name="Google Shape;216;p20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7" name="Google Shape;217;p20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218" name="Google Shape;218;p20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20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" name="Google Shape;220;p20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21" name="Google Shape;221;p20"/>
          <p:cNvSpPr/>
          <p:nvPr/>
        </p:nvSpPr>
        <p:spPr>
          <a:xfrm>
            <a:off x="3657695" y="6524631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332804" y="6890891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23" name="Google Shape;223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9452" y="6204214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24" name="Google Shape;224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6605" y="6524836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25" name="Google Shape;225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9452" y="7147945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26" name="Google Shape;226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8740" y="7622250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27" name="Google Shape;227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0876" y="8215132"/>
            <a:ext cx="81930" cy="26334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2923848" y="6120461"/>
            <a:ext cx="237300" cy="191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941143" y="7069852"/>
            <a:ext cx="237300" cy="191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999267" y="7540535"/>
            <a:ext cx="237300" cy="191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31" name="Google Shape;231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9867" y="6986284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32" name="Google Shape;232;p20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318" y="7460120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33" name="Google Shape;233;p20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318" y="7997293"/>
            <a:ext cx="81930" cy="26334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/>
          <p:nvPr/>
        </p:nvSpPr>
        <p:spPr>
          <a:xfrm>
            <a:off x="6063734" y="2850249"/>
            <a:ext cx="293700" cy="24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081340" y="3573275"/>
            <a:ext cx="293700" cy="24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801797" y="7980047"/>
            <a:ext cx="288900" cy="29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801797" y="7442874"/>
            <a:ext cx="288900" cy="29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theoretical probabilities from probability tree diagrams (one event)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2918581" y="895483"/>
            <a:ext cx="4168200" cy="3299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76400" y="1779278"/>
            <a:ext cx="2025000" cy="199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1"/>
          <p:cNvGrpSpPr/>
          <p:nvPr/>
        </p:nvGrpSpPr>
        <p:grpSpPr>
          <a:xfrm>
            <a:off x="595037" y="1968160"/>
            <a:ext cx="1623563" cy="1698382"/>
            <a:chOff x="2772076" y="1115498"/>
            <a:chExt cx="1987225" cy="3371814"/>
          </a:xfrm>
        </p:grpSpPr>
        <p:cxnSp>
          <p:nvCxnSpPr>
            <p:cNvPr id="246" name="Google Shape;246;p21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7" name="Google Shape;247;p21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8" name="Google Shape;248;p21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249" name="Google Shape;249;p21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1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21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52" name="Google Shape;252;p21"/>
          <p:cNvSpPr txBox="1"/>
          <p:nvPr/>
        </p:nvSpPr>
        <p:spPr>
          <a:xfrm>
            <a:off x="476400" y="873900"/>
            <a:ext cx="230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11524" y="3779294"/>
            <a:ext cx="175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4110640" y="1241889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4110640" y="1706388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1"/>
          <p:cNvCxnSpPr/>
          <p:nvPr/>
        </p:nvCxnSpPr>
        <p:spPr>
          <a:xfrm>
            <a:off x="4110640" y="2170887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/>
          <p:nvPr/>
        </p:nvCxnSpPr>
        <p:spPr>
          <a:xfrm>
            <a:off x="4110640" y="2635386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/>
          <p:nvPr/>
        </p:nvCxnSpPr>
        <p:spPr>
          <a:xfrm>
            <a:off x="4110640" y="3099884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1"/>
          <p:cNvCxnSpPr/>
          <p:nvPr/>
        </p:nvCxnSpPr>
        <p:spPr>
          <a:xfrm>
            <a:off x="4110640" y="4028882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1"/>
          <p:cNvCxnSpPr/>
          <p:nvPr/>
        </p:nvCxnSpPr>
        <p:spPr>
          <a:xfrm>
            <a:off x="4110640" y="3564383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/>
          <p:nvPr/>
        </p:nvCxnSpPr>
        <p:spPr>
          <a:xfrm flipH="1" rot="10800000">
            <a:off x="3015707" y="1235606"/>
            <a:ext cx="1110300" cy="138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/>
          <p:nvPr/>
        </p:nvCxnSpPr>
        <p:spPr>
          <a:xfrm flipH="1" rot="10800000">
            <a:off x="3020100" y="1703006"/>
            <a:ext cx="1105800" cy="92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3020341" y="2635385"/>
            <a:ext cx="1100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 flipH="1" rot="10800000">
            <a:off x="3021559" y="2169092"/>
            <a:ext cx="1104300" cy="45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1"/>
          <p:cNvCxnSpPr/>
          <p:nvPr/>
        </p:nvCxnSpPr>
        <p:spPr>
          <a:xfrm>
            <a:off x="3015707" y="2645667"/>
            <a:ext cx="1110300" cy="138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1"/>
          <p:cNvCxnSpPr/>
          <p:nvPr/>
        </p:nvCxnSpPr>
        <p:spPr>
          <a:xfrm>
            <a:off x="3020100" y="2645667"/>
            <a:ext cx="1105800" cy="92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1"/>
          <p:cNvCxnSpPr/>
          <p:nvPr/>
        </p:nvCxnSpPr>
        <p:spPr>
          <a:xfrm>
            <a:off x="3021559" y="2642481"/>
            <a:ext cx="1104300" cy="45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1"/>
          <p:cNvSpPr txBox="1"/>
          <p:nvPr/>
        </p:nvSpPr>
        <p:spPr>
          <a:xfrm>
            <a:off x="6648835" y="1183681"/>
            <a:ext cx="1620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129250" y="1356083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129250" y="1813258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129250" y="2285098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129250" y="2742274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129250" y="3214114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129250" y="3678844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6648835" y="1605766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648835" y="2070271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648835" y="2534777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6648835" y="2999262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648835" y="3463768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 flipH="1" rot="6366">
            <a:off x="2056399" y="1915272"/>
            <a:ext cx="1620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612919" y="3936733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918581" y="900779"/>
            <a:ext cx="1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283" name="Google Shape;283;p21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871" y="1970055"/>
            <a:ext cx="86028" cy="282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84" name="Google Shape;284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668" y="2468677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85" name="Google Shape;285;p21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5871" y="2967295"/>
            <a:ext cx="86028" cy="284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86" name="Google Shape;286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303" y="928982"/>
            <a:ext cx="86028" cy="28266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476400" y="4571350"/>
            <a:ext cx="330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Jun will spin this spinner once.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By constructing an appropriate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list the probabilities of each unique outcome.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8" name="Google Shape;288;p21"/>
          <p:cNvGrpSpPr/>
          <p:nvPr/>
        </p:nvGrpSpPr>
        <p:grpSpPr>
          <a:xfrm>
            <a:off x="4093753" y="4422320"/>
            <a:ext cx="1322288" cy="1332060"/>
            <a:chOff x="145325" y="463995"/>
            <a:chExt cx="1644841" cy="1656997"/>
          </a:xfrm>
        </p:grpSpPr>
        <p:grpSp>
          <p:nvGrpSpPr>
            <p:cNvPr id="289" name="Google Shape;289;p21"/>
            <p:cNvGrpSpPr/>
            <p:nvPr/>
          </p:nvGrpSpPr>
          <p:grpSpPr>
            <a:xfrm>
              <a:off x="145325" y="463995"/>
              <a:ext cx="1644841" cy="1656997"/>
              <a:chOff x="145325" y="463995"/>
              <a:chExt cx="1644841" cy="1656997"/>
            </a:xfrm>
          </p:grpSpPr>
          <p:sp>
            <p:nvSpPr>
              <p:cNvPr id="290" name="Google Shape;290;p21"/>
              <p:cNvSpPr txBox="1"/>
              <p:nvPr/>
            </p:nvSpPr>
            <p:spPr>
              <a:xfrm>
                <a:off x="469113" y="1891192"/>
                <a:ext cx="997200" cy="22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" name="Google Shape;291;p21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1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D9D9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1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1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1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1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1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9" name="Google Shape;299;p21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300" name="Google Shape;300;p21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01" name="Google Shape;301;p21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2" name="Google Shape;302;p21"/>
              <p:cNvSpPr txBox="1"/>
              <p:nvPr/>
            </p:nvSpPr>
            <p:spPr>
              <a:xfrm flipH="1">
                <a:off x="1167734" y="950475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" name="Google Shape;303;p21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" name="Google Shape;304;p21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5" name="Google Shape;305;p21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6" name="Google Shape;306;p21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" name="Google Shape;307;p21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8" name="Google Shape;308;p21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0" name="Google Shape;310;p21"/>
          <p:cNvSpPr/>
          <p:nvPr/>
        </p:nvSpPr>
        <p:spPr>
          <a:xfrm flipH="1">
            <a:off x="4691647" y="8427905"/>
            <a:ext cx="905100" cy="905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 flipH="1">
            <a:off x="2269256" y="8427905"/>
            <a:ext cx="905100" cy="905100"/>
          </a:xfrm>
          <a:prstGeom prst="pie">
            <a:avLst>
              <a:gd fmla="val 16228089" name="adj1"/>
              <a:gd fmla="val 16178275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 flipH="1">
            <a:off x="3480452" y="8427905"/>
            <a:ext cx="905100" cy="905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476400" y="7860150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Mark the lighter segment on each of these outcome spinners with either A, B, or C to represent the probability that the spinner lands on that outcome.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 flipH="1">
            <a:off x="4691647" y="8427905"/>
            <a:ext cx="905100" cy="905100"/>
          </a:xfrm>
          <a:prstGeom prst="pie">
            <a:avLst>
              <a:gd fmla="val 2731450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 flipH="1">
            <a:off x="2269256" y="8427905"/>
            <a:ext cx="905100" cy="905100"/>
          </a:xfrm>
          <a:prstGeom prst="pie">
            <a:avLst>
              <a:gd fmla="val 13499686" name="adj1"/>
              <a:gd fmla="val 16215295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 flipH="1">
            <a:off x="3480452" y="8427905"/>
            <a:ext cx="905100" cy="905100"/>
          </a:xfrm>
          <a:prstGeom prst="pie">
            <a:avLst>
              <a:gd fmla="val 10797961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21"/>
          <p:cNvGrpSpPr/>
          <p:nvPr/>
        </p:nvGrpSpPr>
        <p:grpSpPr>
          <a:xfrm>
            <a:off x="2700774" y="8523446"/>
            <a:ext cx="46219" cy="372617"/>
            <a:chOff x="779080" y="747789"/>
            <a:chExt cx="59400" cy="478880"/>
          </a:xfrm>
        </p:grpSpPr>
        <p:cxnSp>
          <p:nvCxnSpPr>
            <p:cNvPr id="318" name="Google Shape;318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9" name="Google Shape;319;p2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21"/>
          <p:cNvGrpSpPr/>
          <p:nvPr/>
        </p:nvGrpSpPr>
        <p:grpSpPr>
          <a:xfrm>
            <a:off x="3909985" y="8523446"/>
            <a:ext cx="46219" cy="372617"/>
            <a:chOff x="779080" y="747789"/>
            <a:chExt cx="59400" cy="478880"/>
          </a:xfrm>
        </p:grpSpPr>
        <p:cxnSp>
          <p:nvCxnSpPr>
            <p:cNvPr id="321" name="Google Shape;321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2" name="Google Shape;322;p2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21"/>
          <p:cNvGrpSpPr/>
          <p:nvPr/>
        </p:nvGrpSpPr>
        <p:grpSpPr>
          <a:xfrm>
            <a:off x="5121191" y="8523446"/>
            <a:ext cx="46219" cy="372617"/>
            <a:chOff x="779080" y="747789"/>
            <a:chExt cx="59400" cy="478880"/>
          </a:xfrm>
        </p:grpSpPr>
        <p:cxnSp>
          <p:nvCxnSpPr>
            <p:cNvPr id="324" name="Google Shape;324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5" name="Google Shape;325;p2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26" name="Google Shape;326;p21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theoretical probabilities from probability tree diagrams (one event)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5041211" y="3825170"/>
            <a:ext cx="2050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showing two events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5041211" y="2230040"/>
            <a:ext cx="2050800" cy="1553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5" name="Google Shape;335;p22"/>
          <p:cNvGrpSpPr/>
          <p:nvPr/>
        </p:nvGrpSpPr>
        <p:grpSpPr>
          <a:xfrm>
            <a:off x="2909226" y="1880019"/>
            <a:ext cx="1860236" cy="2258308"/>
            <a:chOff x="3550425" y="1863875"/>
            <a:chExt cx="2388900" cy="2900100"/>
          </a:xfrm>
        </p:grpSpPr>
        <p:sp>
          <p:nvSpPr>
            <p:cNvPr id="336" name="Google Shape;336;p22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37" name="Google Shape;337;p22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338" name="Google Shape;338;p22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339" name="Google Shape;339;p22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0" name="Google Shape;340;p22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200">
                      <a:latin typeface="Lexend"/>
                      <a:ea typeface="Lexend"/>
                      <a:cs typeface="Lexend"/>
                      <a:sym typeface="Lexend"/>
                    </a:rPr>
                    <a:t>5</a:t>
                  </a:r>
                  <a:endParaRPr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341" name="Google Shape;341;p22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342" name="Google Shape;342;p22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43" name="Google Shape;343;p22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44" name="Google Shape;344;p22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45" name="Google Shape;345;p22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346" name="Google Shape;346;p22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2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347" name="Google Shape;347;p22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200">
                        <a:latin typeface="Lexend"/>
                        <a:ea typeface="Lexend"/>
                        <a:cs typeface="Lexend"/>
                        <a:sym typeface="Lexend"/>
                      </a:rPr>
                      <a:t>2</a:t>
                    </a:r>
                    <a:endParaRPr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348" name="Google Shape;348;p22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200">
                        <a:latin typeface="Lexend"/>
                        <a:ea typeface="Lexend"/>
                        <a:cs typeface="Lexend"/>
                        <a:sym typeface="Lexend"/>
                      </a:rPr>
                      <a:t>16</a:t>
                    </a:r>
                    <a:endParaRPr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349" name="Google Shape;349;p22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350" name="Google Shape;350;p22"/>
          <p:cNvSpPr txBox="1"/>
          <p:nvPr/>
        </p:nvSpPr>
        <p:spPr>
          <a:xfrm>
            <a:off x="476400" y="725450"/>
            <a:ext cx="6237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Comparing trees that show events and outcomes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/>
          <p:nvPr/>
        </p:nvSpPr>
        <p:spPr>
          <a:xfrm flipH="1">
            <a:off x="995557" y="3048680"/>
            <a:ext cx="1224600" cy="1224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 flipH="1" rot="4320271">
            <a:off x="995385" y="3048590"/>
            <a:ext cx="1224502" cy="1224502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 flipH="1" rot="8640030">
            <a:off x="996080" y="3048588"/>
            <a:ext cx="1224441" cy="1224441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 flipH="1" rot="-8639348">
            <a:off x="996310" y="3048445"/>
            <a:ext cx="1224618" cy="1224618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994943" y="3048680"/>
            <a:ext cx="1224600" cy="1224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 flipH="1">
            <a:off x="1819932" y="3642649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 flipH="1">
            <a:off x="1455847" y="3937903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 flipH="1">
            <a:off x="1089688" y="3642649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 flipH="1">
            <a:off x="1221362" y="3246751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 flipH="1">
            <a:off x="1688276" y="3246751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084917" y="4274015"/>
            <a:ext cx="104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2"/>
          <p:cNvCxnSpPr/>
          <p:nvPr/>
        </p:nvCxnSpPr>
        <p:spPr>
          <a:xfrm flipH="1" rot="10800000">
            <a:off x="5076979" y="2452046"/>
            <a:ext cx="1459800" cy="55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2"/>
          <p:cNvCxnSpPr/>
          <p:nvPr/>
        </p:nvCxnSpPr>
        <p:spPr>
          <a:xfrm>
            <a:off x="5076979" y="3006245"/>
            <a:ext cx="1459800" cy="55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22"/>
          <p:cNvSpPr txBox="1"/>
          <p:nvPr/>
        </p:nvSpPr>
        <p:spPr>
          <a:xfrm flipH="1" rot="2022">
            <a:off x="6533442" y="3523695"/>
            <a:ext cx="5100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 flipH="1" rot="2022">
            <a:off x="6533442" y="2419395"/>
            <a:ext cx="5100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2909128" y="4164755"/>
            <a:ext cx="1860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649605" y="2280638"/>
            <a:ext cx="428100" cy="33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5981573" y="3003716"/>
            <a:ext cx="428100" cy="33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476400" y="1886384"/>
            <a:ext cx="226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showing two events: landing on a prime, or landing on a non-prime.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0" name="Google Shape;370;p22"/>
          <p:cNvGrpSpPr/>
          <p:nvPr/>
        </p:nvGrpSpPr>
        <p:grpSpPr>
          <a:xfrm>
            <a:off x="1579778" y="3234414"/>
            <a:ext cx="55949" cy="451057"/>
            <a:chOff x="779080" y="747789"/>
            <a:chExt cx="59400" cy="478880"/>
          </a:xfrm>
        </p:grpSpPr>
        <p:cxnSp>
          <p:nvCxnSpPr>
            <p:cNvPr id="371" name="Google Shape;371;p22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2" name="Google Shape;372;p22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3" name="Google Shape;373;p22"/>
          <p:cNvSpPr txBox="1"/>
          <p:nvPr/>
        </p:nvSpPr>
        <p:spPr>
          <a:xfrm>
            <a:off x="476400" y="1250083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Izzy will spin spinner A once and look for the event that the spinner lands on a prime number.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constructs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374" name="Google Shape;374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474" y="1948823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375" name="Google Shape;375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478" y="2269697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376" name="Google Shape;376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374" y="2715291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377" name="Google Shape;377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78" y="3147620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378" name="Google Shape;378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274" y="3740968"/>
            <a:ext cx="81994" cy="26355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"/>
          <p:cNvSpPr txBox="1"/>
          <p:nvPr/>
        </p:nvSpPr>
        <p:spPr>
          <a:xfrm>
            <a:off x="476400" y="5199775"/>
            <a:ext cx="2521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Aisha creates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outcomes for a trial of spinning a spinner with 12 sectors.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of these outcomes are square numbers?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two events: landing on a square number, and landing on a non-square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of these outcomes are even numbers?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Complete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two events, where one event is the spinner landing on an even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6321757" y="6473240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5041210" y="5508228"/>
            <a:ext cx="2050800" cy="137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2" name="Google Shape;382;p22"/>
          <p:cNvCxnSpPr/>
          <p:nvPr/>
        </p:nvCxnSpPr>
        <p:spPr>
          <a:xfrm flipH="1" rot="10800000">
            <a:off x="5222194" y="5697095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2"/>
          <p:cNvCxnSpPr/>
          <p:nvPr/>
        </p:nvCxnSpPr>
        <p:spPr>
          <a:xfrm>
            <a:off x="5222194" y="6168358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22"/>
          <p:cNvSpPr txBox="1"/>
          <p:nvPr/>
        </p:nvSpPr>
        <p:spPr>
          <a:xfrm flipH="1" rot="1511">
            <a:off x="6313121" y="5669283"/>
            <a:ext cx="682500" cy="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553226" y="5551259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5885193" y="6166208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6321757" y="8174320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8" name="Google Shape;388;p22"/>
          <p:cNvCxnSpPr/>
          <p:nvPr/>
        </p:nvCxnSpPr>
        <p:spPr>
          <a:xfrm flipH="1" rot="10800000">
            <a:off x="5222194" y="7398176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2"/>
          <p:cNvCxnSpPr/>
          <p:nvPr/>
        </p:nvCxnSpPr>
        <p:spPr>
          <a:xfrm>
            <a:off x="5222194" y="7869439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22"/>
          <p:cNvSpPr/>
          <p:nvPr/>
        </p:nvSpPr>
        <p:spPr>
          <a:xfrm>
            <a:off x="5553226" y="7252340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5885193" y="7867289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6321757" y="7225515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5041210" y="7171828"/>
            <a:ext cx="2050800" cy="137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5064098" y="5508228"/>
            <a:ext cx="29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5064098" y="7170864"/>
            <a:ext cx="29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118981" y="5459898"/>
            <a:ext cx="1747200" cy="317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7" name="Google Shape;397;p22"/>
          <p:cNvGrpSpPr/>
          <p:nvPr/>
        </p:nvGrpSpPr>
        <p:grpSpPr>
          <a:xfrm>
            <a:off x="3154059" y="5556169"/>
            <a:ext cx="1396112" cy="2988070"/>
            <a:chOff x="2772050" y="830282"/>
            <a:chExt cx="1792875" cy="3837254"/>
          </a:xfrm>
        </p:grpSpPr>
        <p:cxnSp>
          <p:nvCxnSpPr>
            <p:cNvPr id="398" name="Google Shape;398;p22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22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22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2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22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22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4" name="Google Shape;404;p22"/>
          <p:cNvGrpSpPr/>
          <p:nvPr/>
        </p:nvGrpSpPr>
        <p:grpSpPr>
          <a:xfrm>
            <a:off x="4547000" y="5460455"/>
            <a:ext cx="313573" cy="3179850"/>
            <a:chOff x="4560854" y="707367"/>
            <a:chExt cx="402688" cy="4083536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7" name="Google Shape;407;p22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8" name="Google Shape;408;p22"/>
            <p:cNvSpPr txBox="1"/>
            <p:nvPr/>
          </p:nvSpPr>
          <p:spPr>
            <a:xfrm flipH="1" rot="3745">
              <a:off x="4560854" y="3714909"/>
              <a:ext cx="2754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0" name="Google Shape;410;p22"/>
            <p:cNvSpPr txBox="1"/>
            <p:nvPr/>
          </p:nvSpPr>
          <p:spPr>
            <a:xfrm flipH="1" rot="5376">
              <a:off x="4579842" y="4537103"/>
              <a:ext cx="3837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411" name="Google Shape;411;p22" title="4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3669" y="6032045"/>
            <a:ext cx="144283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412" name="Google Shape;412;p22" title="1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7468" y="7327954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413" name="Google Shape;413;p22" title="3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7468" y="6581332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2}&quot;&gt;&lt;mfrac&gt;&lt;mn&gt;2&lt;/mn&gt;&lt;mn&gt;12&lt;/mn&gt;&lt;/mfrac&gt;&lt;/math&gt;" id="414" name="Google Shape;414;p22" title="2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1404" y="7948849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415" name="Google Shape;415;p22" title="1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8130" y="6972480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416" name="Google Shape;416;p22" title="1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6335" y="5731798"/>
            <a:ext cx="146207" cy="26356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3" name="Google Shape;423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  <p:sp>
        <p:nvSpPr>
          <p:cNvPr id="424" name="Google Shape;424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4671645" y="1555227"/>
            <a:ext cx="2420400" cy="206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755289" y="2902170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5692744" y="2306403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9" name="Google Shape;429;p23"/>
          <p:cNvCxnSpPr/>
          <p:nvPr/>
        </p:nvCxnSpPr>
        <p:spPr>
          <a:xfrm>
            <a:off x="4733461" y="2623417"/>
            <a:ext cx="1523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3"/>
          <p:cNvCxnSpPr/>
          <p:nvPr/>
        </p:nvCxnSpPr>
        <p:spPr>
          <a:xfrm flipH="1" rot="10800000">
            <a:off x="4733419" y="1774576"/>
            <a:ext cx="1510800" cy="84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23"/>
          <p:cNvCxnSpPr/>
          <p:nvPr/>
        </p:nvCxnSpPr>
        <p:spPr>
          <a:xfrm>
            <a:off x="4733419" y="2622696"/>
            <a:ext cx="1510800" cy="84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23"/>
          <p:cNvSpPr txBox="1"/>
          <p:nvPr/>
        </p:nvSpPr>
        <p:spPr>
          <a:xfrm flipH="1" rot="1814">
            <a:off x="6240905" y="1720198"/>
            <a:ext cx="5685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3" name="Google Shape;433;p23"/>
          <p:cNvGrpSpPr/>
          <p:nvPr/>
        </p:nvGrpSpPr>
        <p:grpSpPr>
          <a:xfrm>
            <a:off x="1335130" y="2336112"/>
            <a:ext cx="1705748" cy="1705622"/>
            <a:chOff x="336674" y="1632490"/>
            <a:chExt cx="2917803" cy="2917588"/>
          </a:xfrm>
        </p:grpSpPr>
        <p:grpSp>
          <p:nvGrpSpPr>
            <p:cNvPr id="434" name="Google Shape;434;p23"/>
            <p:cNvGrpSpPr/>
            <p:nvPr/>
          </p:nvGrpSpPr>
          <p:grpSpPr>
            <a:xfrm>
              <a:off x="336674" y="1632490"/>
              <a:ext cx="2917803" cy="2917588"/>
              <a:chOff x="336674" y="1632490"/>
              <a:chExt cx="2917803" cy="2917588"/>
            </a:xfrm>
          </p:grpSpPr>
          <p:sp>
            <p:nvSpPr>
              <p:cNvPr id="435" name="Google Shape;435;p23"/>
              <p:cNvSpPr txBox="1"/>
              <p:nvPr/>
            </p:nvSpPr>
            <p:spPr>
              <a:xfrm>
                <a:off x="1895222" y="221897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 flipH="1">
                <a:off x="75110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 flipH="1" rot="2160045">
                <a:off x="751259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3"/>
              <p:cNvSpPr txBox="1"/>
              <p:nvPr/>
            </p:nvSpPr>
            <p:spPr>
              <a:xfrm rot="4320624">
                <a:off x="2406380" y="2939267"/>
                <a:ext cx="280724" cy="320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 flipH="1" rot="4319668">
                <a:off x="750980" y="2047061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3"/>
              <p:cNvSpPr/>
              <p:nvPr/>
            </p:nvSpPr>
            <p:spPr>
              <a:xfrm flipH="1" rot="6480332">
                <a:off x="751237" y="2046864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3"/>
              <p:cNvSpPr txBox="1"/>
              <p:nvPr/>
            </p:nvSpPr>
            <p:spPr>
              <a:xfrm rot="8639978">
                <a:off x="1879429" y="3648233"/>
                <a:ext cx="280712" cy="320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2" name="Google Shape;442;p23"/>
              <p:cNvSpPr/>
              <p:nvPr/>
            </p:nvSpPr>
            <p:spPr>
              <a:xfrm flipH="1" rot="8640245">
                <a:off x="751218" y="2046878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 flipH="1" rot="10800000">
                <a:off x="751193" y="2047072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3"/>
              <p:cNvSpPr txBox="1"/>
              <p:nvPr/>
            </p:nvSpPr>
            <p:spPr>
              <a:xfrm rot="-8639978">
                <a:off x="1042375" y="3365758"/>
                <a:ext cx="280712" cy="320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5" name="Google Shape;445;p23"/>
              <p:cNvSpPr/>
              <p:nvPr/>
            </p:nvSpPr>
            <p:spPr>
              <a:xfrm flipH="1" rot="-8640245">
                <a:off x="751366" y="2046966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3"/>
              <p:cNvSpPr/>
              <p:nvPr/>
            </p:nvSpPr>
            <p:spPr>
              <a:xfrm flipH="1" rot="-6479393">
                <a:off x="751163" y="2047463"/>
                <a:ext cx="2088400" cy="20884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3"/>
              <p:cNvSpPr/>
              <p:nvPr/>
            </p:nvSpPr>
            <p:spPr>
              <a:xfrm>
                <a:off x="75106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3"/>
              <p:cNvSpPr/>
              <p:nvPr/>
            </p:nvSpPr>
            <p:spPr>
              <a:xfrm rot="-2160045">
                <a:off x="751034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9" name="Google Shape;449;p23"/>
            <p:cNvSpPr txBox="1"/>
            <p:nvPr/>
          </p:nvSpPr>
          <p:spPr>
            <a:xfrm>
              <a:off x="1860094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0" name="Google Shape;450;p23"/>
            <p:cNvSpPr txBox="1"/>
            <p:nvPr/>
          </p:nvSpPr>
          <p:spPr>
            <a:xfrm>
              <a:off x="2245094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1" name="Google Shape;451;p23"/>
            <p:cNvSpPr txBox="1"/>
            <p:nvPr/>
          </p:nvSpPr>
          <p:spPr>
            <a:xfrm>
              <a:off x="2377844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2" name="Google Shape;452;p23"/>
            <p:cNvSpPr txBox="1"/>
            <p:nvPr/>
          </p:nvSpPr>
          <p:spPr>
            <a:xfrm flipH="1">
              <a:off x="1863669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3" name="Google Shape;453;p23"/>
            <p:cNvSpPr txBox="1"/>
            <p:nvPr/>
          </p:nvSpPr>
          <p:spPr>
            <a:xfrm flipH="1">
              <a:off x="2248669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4" name="Google Shape;454;p23"/>
            <p:cNvSpPr txBox="1"/>
            <p:nvPr/>
          </p:nvSpPr>
          <p:spPr>
            <a:xfrm flipH="1">
              <a:off x="1408781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5" name="Google Shape;455;p23"/>
            <p:cNvSpPr txBox="1"/>
            <p:nvPr/>
          </p:nvSpPr>
          <p:spPr>
            <a:xfrm flipH="1">
              <a:off x="1023781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6" name="Google Shape;456;p23"/>
            <p:cNvSpPr txBox="1"/>
            <p:nvPr/>
          </p:nvSpPr>
          <p:spPr>
            <a:xfrm flipH="1">
              <a:off x="891031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7" name="Google Shape;457;p23"/>
            <p:cNvSpPr txBox="1"/>
            <p:nvPr/>
          </p:nvSpPr>
          <p:spPr>
            <a:xfrm>
              <a:off x="1405206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8" name="Google Shape;458;p23"/>
            <p:cNvSpPr txBox="1"/>
            <p:nvPr/>
          </p:nvSpPr>
          <p:spPr>
            <a:xfrm>
              <a:off x="1020206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1759657" y="2536118"/>
              <a:ext cx="71850" cy="579254"/>
              <a:chOff x="779080" y="747789"/>
              <a:chExt cx="59400" cy="478880"/>
            </a:xfrm>
          </p:grpSpPr>
          <p:cxnSp>
            <p:nvCxnSpPr>
              <p:cNvPr id="460" name="Google Shape;460;p23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61" name="Google Shape;461;p23"/>
              <p:cNvSpPr/>
              <p:nvPr/>
            </p:nvSpPr>
            <p:spPr>
              <a:xfrm>
                <a:off x="779080" y="1172670"/>
                <a:ext cx="59400" cy="540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2" name="Google Shape;462;p23"/>
          <p:cNvSpPr txBox="1"/>
          <p:nvPr/>
        </p:nvSpPr>
        <p:spPr>
          <a:xfrm>
            <a:off x="476400" y="1072750"/>
            <a:ext cx="66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Lucas and Andeep play a game. Whoever gets the highest number wins, and if they get the same number, they draw.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 spins the spinner, which lands on a 5.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 is about to spin the spinner.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3"/>
          <p:cNvSpPr txBox="1"/>
          <p:nvPr/>
        </p:nvSpPr>
        <p:spPr>
          <a:xfrm>
            <a:off x="476400" y="2029953"/>
            <a:ext cx="41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events of who could win.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6258821" y="2460522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5386303" y="1719927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6245966" y="3253581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