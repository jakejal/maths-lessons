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bdbc06ddf2_0_8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bdbc06ddf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dbc06ddf2_0_8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bdbc06dd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11" Type="http://schemas.openxmlformats.org/officeDocument/2006/relationships/image" Target="../media/image22.png"/><Relationship Id="rId10" Type="http://schemas.openxmlformats.org/officeDocument/2006/relationships/image" Target="../media/image25.png"/><Relationship Id="rId12" Type="http://schemas.openxmlformats.org/officeDocument/2006/relationships/image" Target="../media/image24.png"/><Relationship Id="rId9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73" name="Google Shape;173;p20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481" y="4437813"/>
            <a:ext cx="82098" cy="2615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5389404" y="2651924"/>
            <a:ext cx="1677600" cy="1847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4750" y="1716050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trees to show outcomes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2188138"/>
            <a:ext cx="2915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Both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show the outcomes and probabilities for the same trial (spinning a spinner).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these two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complete the following sentence: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“The probability of the spinner landing on a T is   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or 0.75 or 75%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516685" y="2256478"/>
            <a:ext cx="1677600" cy="2783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515613" y="5046825"/>
            <a:ext cx="167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3606546" y="2251731"/>
            <a:ext cx="1620241" cy="2792601"/>
            <a:chOff x="4221978" y="2021406"/>
            <a:chExt cx="2078565" cy="2735699"/>
          </a:xfrm>
        </p:grpSpPr>
        <p:grpSp>
          <p:nvGrpSpPr>
            <p:cNvPr id="180" name="Google Shape;180;p20"/>
            <p:cNvGrpSpPr/>
            <p:nvPr/>
          </p:nvGrpSpPr>
          <p:grpSpPr>
            <a:xfrm>
              <a:off x="4221978" y="2160003"/>
              <a:ext cx="1670880" cy="2457628"/>
              <a:chOff x="4999150" y="1678400"/>
              <a:chExt cx="682800" cy="1426200"/>
            </a:xfrm>
          </p:grpSpPr>
          <p:cxnSp>
            <p:nvCxnSpPr>
              <p:cNvPr id="181" name="Google Shape;181;p20"/>
              <p:cNvCxnSpPr/>
              <p:nvPr/>
            </p:nvCxnSpPr>
            <p:spPr>
              <a:xfrm flipH="1" rot="10800000">
                <a:off x="4999150" y="16784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20"/>
              <p:cNvCxnSpPr/>
              <p:nvPr/>
            </p:nvCxnSpPr>
            <p:spPr>
              <a:xfrm flipH="1" rot="10800000">
                <a:off x="4999150" y="21569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0"/>
              <p:cNvCxnSpPr/>
              <p:nvPr/>
            </p:nvCxnSpPr>
            <p:spPr>
              <a:xfrm>
                <a:off x="4999150" y="23915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20"/>
              <p:cNvCxnSpPr/>
              <p:nvPr/>
            </p:nvCxnSpPr>
            <p:spPr>
              <a:xfrm>
                <a:off x="4999150" y="23915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5" name="Google Shape;185;p20"/>
            <p:cNvSpPr txBox="1"/>
            <p:nvPr/>
          </p:nvSpPr>
          <p:spPr>
            <a:xfrm>
              <a:off x="5892842" y="202140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5892842" y="284582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5892842" y="3653317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892842" y="447990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" name="Google Shape;189;p20"/>
          <p:cNvSpPr txBox="1"/>
          <p:nvPr/>
        </p:nvSpPr>
        <p:spPr>
          <a:xfrm>
            <a:off x="5389404" y="4503755"/>
            <a:ext cx="167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 rot="10800000">
            <a:off x="5480212" y="3012824"/>
            <a:ext cx="1302600" cy="63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5480212" y="3647924"/>
            <a:ext cx="1302600" cy="63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6782610" y="2794721"/>
            <a:ext cx="31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782610" y="4063532"/>
            <a:ext cx="31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4089746" y="2607103"/>
            <a:ext cx="432432" cy="1883485"/>
            <a:chOff x="4883258" y="1716138"/>
            <a:chExt cx="554755" cy="2416273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95" name="Google Shape;195;p20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96" name="Google Shape;196;p20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32688" y="231169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97" name="Google Shape;197;p20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6488" y="298972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98" name="Google Shape;198;p20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83258" y="37968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0"/>
          <p:cNvSpPr/>
          <p:nvPr/>
        </p:nvSpPr>
        <p:spPr>
          <a:xfrm>
            <a:off x="6081340" y="3573275"/>
            <a:ext cx="293700" cy="24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063734" y="2850249"/>
            <a:ext cx="293700" cy="24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1" name="Google Shape;201;p20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950" y="2983052"/>
            <a:ext cx="82098" cy="261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2" name="Google Shape;202;p20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547" y="3702951"/>
            <a:ext cx="82098" cy="261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4821577" y="6806438"/>
            <a:ext cx="1928400" cy="190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216591" y="5821099"/>
            <a:ext cx="1928400" cy="3251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801797" y="7980047"/>
            <a:ext cx="288900" cy="297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521167" y="5825616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Hence, complete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which shows each of the unique outcomes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5825616"/>
            <a:ext cx="162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Sofia will spin spinner A once.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with five branches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flipH="1">
            <a:off x="718584" y="7577811"/>
            <a:ext cx="1223700" cy="12237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 flipH="1" rot="4320291">
            <a:off x="718461" y="7577705"/>
            <a:ext cx="1223553" cy="122355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 flipH="1" rot="8639907">
            <a:off x="719184" y="7577857"/>
            <a:ext cx="1223360" cy="1223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 flipH="1" rot="-8639721">
            <a:off x="719408" y="7577408"/>
            <a:ext cx="1223780" cy="122378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718033" y="7577811"/>
            <a:ext cx="1223700" cy="12237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1542433" y="8171313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1178634" y="8466335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812763" y="8171313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flipH="1">
            <a:off x="944333" y="7775727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1410880" y="7775727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807935" y="8802183"/>
            <a:ext cx="10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>
            <a:off x="2262664" y="5846108"/>
            <a:ext cx="1546279" cy="3201127"/>
            <a:chOff x="2772051" y="1010848"/>
            <a:chExt cx="1987250" cy="3476463"/>
          </a:xfrm>
        </p:grpSpPr>
        <p:cxnSp>
          <p:nvCxnSpPr>
            <p:cNvPr id="220" name="Google Shape;220;p20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" name="Google Shape;221;p20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2" name="Google Shape;222;p20"/>
            <p:cNvGrpSpPr/>
            <p:nvPr/>
          </p:nvGrpSpPr>
          <p:grpSpPr>
            <a:xfrm>
              <a:off x="2772051" y="1010848"/>
              <a:ext cx="1987201" cy="3476463"/>
              <a:chOff x="2772050" y="707367"/>
              <a:chExt cx="1987201" cy="4083231"/>
            </a:xfrm>
          </p:grpSpPr>
          <p:cxnSp>
            <p:nvCxnSpPr>
              <p:cNvPr id="223" name="Google Shape;223;p20"/>
              <p:cNvCxnSpPr/>
              <p:nvPr/>
            </p:nvCxnSpPr>
            <p:spPr>
              <a:xfrm flipH="1" rot="10800000">
                <a:off x="2772050" y="1712596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20"/>
              <p:cNvCxnSpPr/>
              <p:nvPr/>
            </p:nvCxnSpPr>
            <p:spPr>
              <a:xfrm>
                <a:off x="2772050" y="2747940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0"/>
              <p:cNvSpPr txBox="1"/>
              <p:nvPr/>
            </p:nvSpPr>
            <p:spPr>
              <a:xfrm flipH="1" rot="5201">
                <a:off x="4560839" y="3714796"/>
                <a:ext cx="198300" cy="1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8" name="Google Shape;228;p20"/>
              <p:cNvSpPr txBox="1"/>
              <p:nvPr/>
            </p:nvSpPr>
            <p:spPr>
              <a:xfrm>
                <a:off x="4560951" y="707367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9" name="Google Shape;229;p20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30" name="Google Shape;230;p20"/>
          <p:cNvGrpSpPr/>
          <p:nvPr/>
        </p:nvGrpSpPr>
        <p:grpSpPr>
          <a:xfrm>
            <a:off x="4934621" y="6986318"/>
            <a:ext cx="1546260" cy="1617459"/>
            <a:chOff x="2772076" y="1115498"/>
            <a:chExt cx="1987225" cy="3371814"/>
          </a:xfrm>
        </p:grpSpPr>
        <p:cxnSp>
          <p:nvCxnSpPr>
            <p:cNvPr id="231" name="Google Shape;231;p20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0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3" name="Google Shape;233;p20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234" name="Google Shape;234;p20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20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6" name="Google Shape;236;p20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37" name="Google Shape;237;p20"/>
          <p:cNvSpPr/>
          <p:nvPr/>
        </p:nvSpPr>
        <p:spPr>
          <a:xfrm>
            <a:off x="5801797" y="7442874"/>
            <a:ext cx="288900" cy="297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657695" y="6524631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332804" y="6890891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662911" y="6500697"/>
            <a:ext cx="23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332806" y="6873697"/>
            <a:ext cx="23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42" name="Google Shape;242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452" y="6204214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43" name="Google Shape;243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6605" y="6524836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44" name="Google Shape;244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452" y="7147945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45" name="Google Shape;245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8740" y="7622250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46" name="Google Shape;246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876" y="8215132"/>
            <a:ext cx="81930" cy="263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/>
          <p:nvPr/>
        </p:nvSpPr>
        <p:spPr>
          <a:xfrm>
            <a:off x="2923848" y="6120461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941143" y="7069852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999267" y="7540535"/>
            <a:ext cx="237300" cy="19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50" name="Google Shape;250;p20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9867" y="6986284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51" name="Google Shape;251;p20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318" y="7460120"/>
            <a:ext cx="81930" cy="26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52" name="Google Shape;252;p20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318" y="7997293"/>
            <a:ext cx="81930" cy="263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 diagrams (one event)</a:t>
            </a:r>
            <a:endParaRPr/>
          </a:p>
        </p:txBody>
      </p:sp>
      <p:cxnSp>
        <p:nvCxnSpPr>
          <p:cNvPr id="258" name="Google Shape;258;p21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2918581" y="895483"/>
            <a:ext cx="4168200" cy="3299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76400" y="1779278"/>
            <a:ext cx="2025000" cy="199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2" name="Google Shape;262;p21"/>
          <p:cNvGrpSpPr/>
          <p:nvPr/>
        </p:nvGrpSpPr>
        <p:grpSpPr>
          <a:xfrm>
            <a:off x="595037" y="1968160"/>
            <a:ext cx="1623563" cy="1698382"/>
            <a:chOff x="2772076" y="1115498"/>
            <a:chExt cx="1987225" cy="3371814"/>
          </a:xfrm>
        </p:grpSpPr>
        <p:cxnSp>
          <p:nvCxnSpPr>
            <p:cNvPr id="263" name="Google Shape;263;p21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4" name="Google Shape;264;p21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5" name="Google Shape;265;p21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266" name="Google Shape;266;p21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21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8" name="Google Shape;268;p21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69" name="Google Shape;269;p21"/>
          <p:cNvSpPr txBox="1"/>
          <p:nvPr/>
        </p:nvSpPr>
        <p:spPr>
          <a:xfrm>
            <a:off x="476400" y="873900"/>
            <a:ext cx="230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11524" y="3779294"/>
            <a:ext cx="175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4110640" y="1241889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1"/>
          <p:cNvCxnSpPr/>
          <p:nvPr/>
        </p:nvCxnSpPr>
        <p:spPr>
          <a:xfrm>
            <a:off x="4110640" y="1706388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1"/>
          <p:cNvCxnSpPr/>
          <p:nvPr/>
        </p:nvCxnSpPr>
        <p:spPr>
          <a:xfrm>
            <a:off x="4110640" y="2170887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1"/>
          <p:cNvCxnSpPr/>
          <p:nvPr/>
        </p:nvCxnSpPr>
        <p:spPr>
          <a:xfrm>
            <a:off x="4110640" y="2635386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1"/>
          <p:cNvCxnSpPr/>
          <p:nvPr/>
        </p:nvCxnSpPr>
        <p:spPr>
          <a:xfrm>
            <a:off x="4110640" y="3099884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4110640" y="4028882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4110640" y="3564383"/>
            <a:ext cx="25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1"/>
          <p:cNvCxnSpPr/>
          <p:nvPr/>
        </p:nvCxnSpPr>
        <p:spPr>
          <a:xfrm flipH="1" rot="10800000">
            <a:off x="3015707" y="1235606"/>
            <a:ext cx="1110300" cy="138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1"/>
          <p:cNvCxnSpPr/>
          <p:nvPr/>
        </p:nvCxnSpPr>
        <p:spPr>
          <a:xfrm flipH="1" rot="10800000">
            <a:off x="3020100" y="1703006"/>
            <a:ext cx="1105800" cy="92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3020341" y="2635385"/>
            <a:ext cx="110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1"/>
          <p:cNvCxnSpPr/>
          <p:nvPr/>
        </p:nvCxnSpPr>
        <p:spPr>
          <a:xfrm flipH="1" rot="10800000">
            <a:off x="3021559" y="2169092"/>
            <a:ext cx="1104300" cy="45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1"/>
          <p:cNvCxnSpPr/>
          <p:nvPr/>
        </p:nvCxnSpPr>
        <p:spPr>
          <a:xfrm>
            <a:off x="3015707" y="2645667"/>
            <a:ext cx="1110300" cy="138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1"/>
          <p:cNvCxnSpPr/>
          <p:nvPr/>
        </p:nvCxnSpPr>
        <p:spPr>
          <a:xfrm>
            <a:off x="3020100" y="2645667"/>
            <a:ext cx="1105800" cy="92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3021559" y="2642481"/>
            <a:ext cx="1104300" cy="45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1"/>
          <p:cNvSpPr txBox="1"/>
          <p:nvPr/>
        </p:nvSpPr>
        <p:spPr>
          <a:xfrm>
            <a:off x="6648835" y="1183681"/>
            <a:ext cx="162000" cy="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129250" y="1356083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5129250" y="1813258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5129250" y="2285098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129250" y="274227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5129250" y="321411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129250" y="3678844"/>
            <a:ext cx="3726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648835" y="1605766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648835" y="2070271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6648835" y="2534777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6648835" y="2999262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648835" y="3463768"/>
            <a:ext cx="249300" cy="20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 flipH="1" rot="6366">
            <a:off x="2056399" y="1915272"/>
            <a:ext cx="1620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612919" y="3936733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644781" y="1611863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644781" y="2078493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644781" y="2542967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6644781" y="3003368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644781" y="3473789"/>
            <a:ext cx="2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2918581" y="900779"/>
            <a:ext cx="1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305" name="Google Shape;305;p21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871" y="1970055"/>
            <a:ext cx="86028" cy="282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06" name="Google Shape;306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668" y="2468677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307" name="Google Shape;307;p21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5871" y="2967295"/>
            <a:ext cx="86028" cy="284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08" name="Google Shape;308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303" y="928982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09" name="Google Shape;309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371" y="1367204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10" name="Google Shape;310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371" y="1822933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11" name="Google Shape;311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371" y="2292812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12" name="Google Shape;312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508" y="2751944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13" name="Google Shape;313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371" y="3225601"/>
            <a:ext cx="86028" cy="282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314" name="Google Shape;314;p21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371" y="3693885"/>
            <a:ext cx="86028" cy="28266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1016965" y="5660874"/>
            <a:ext cx="1992300" cy="1966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76400" y="4571350"/>
            <a:ext cx="330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Jun will spin this spinner once.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By constructing an appropriate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list the probabilities of each unique outcome.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4093753" y="4422320"/>
            <a:ext cx="1322288" cy="1332060"/>
            <a:chOff x="145325" y="463995"/>
            <a:chExt cx="1644841" cy="1656997"/>
          </a:xfrm>
        </p:grpSpPr>
        <p:grpSp>
          <p:nvGrpSpPr>
            <p:cNvPr id="318" name="Google Shape;318;p21"/>
            <p:cNvGrpSpPr/>
            <p:nvPr/>
          </p:nvGrpSpPr>
          <p:grpSpPr>
            <a:xfrm>
              <a:off x="145325" y="463995"/>
              <a:ext cx="1644841" cy="1656997"/>
              <a:chOff x="145325" y="463995"/>
              <a:chExt cx="1644841" cy="1656997"/>
            </a:xfrm>
          </p:grpSpPr>
          <p:sp>
            <p:nvSpPr>
              <p:cNvPr id="319" name="Google Shape;319;p21"/>
              <p:cNvSpPr txBox="1"/>
              <p:nvPr/>
            </p:nvSpPr>
            <p:spPr>
              <a:xfrm>
                <a:off x="469113" y="1891192"/>
                <a:ext cx="997200" cy="22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D9D9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" name="Google Shape;328;p21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329" name="Google Shape;329;p21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330" name="Google Shape;330;p21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31" name="Google Shape;331;p21"/>
              <p:cNvSpPr txBox="1"/>
              <p:nvPr/>
            </p:nvSpPr>
            <p:spPr>
              <a:xfrm flipH="1">
                <a:off x="1167734" y="950475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2" name="Google Shape;332;p21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3" name="Google Shape;333;p21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" name="Google Shape;334;p21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5" name="Google Shape;335;p21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6" name="Google Shape;336;p21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7" name="Google Shape;337;p21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39" name="Google Shape;339;p21"/>
          <p:cNvCxnSpPr/>
          <p:nvPr/>
        </p:nvCxnSpPr>
        <p:spPr>
          <a:xfrm>
            <a:off x="1133684" y="6656203"/>
            <a:ext cx="145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1"/>
          <p:cNvCxnSpPr/>
          <p:nvPr/>
        </p:nvCxnSpPr>
        <p:spPr>
          <a:xfrm flipH="1" rot="10800000">
            <a:off x="1133644" y="5846627"/>
            <a:ext cx="1441200" cy="8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1133644" y="6655516"/>
            <a:ext cx="1441200" cy="8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1"/>
          <p:cNvSpPr txBox="1"/>
          <p:nvPr/>
        </p:nvSpPr>
        <p:spPr>
          <a:xfrm>
            <a:off x="2578295" y="5730363"/>
            <a:ext cx="24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2578295" y="7329903"/>
            <a:ext cx="24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2578295" y="6530138"/>
            <a:ext cx="24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3522367" y="6121370"/>
            <a:ext cx="3564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Whilst it is possible to draw an eight-branch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probability tree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to represent all eight sectors of the spinner, this isn’t necessary (or practical) when listing the probabilities of the three unique outcomes: {A, B, C}.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346" name="Google Shape;346;p21" title="one eigh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4988" y="5808578"/>
            <a:ext cx="84646" cy="28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8}&quot;&gt;&lt;mfrac&gt;&lt;mn&gt;2&lt;/mn&gt;&lt;mn&gt;8&lt;/mn&gt;&lt;/mfrac&gt;&lt;/math&gt;" id="347" name="Google Shape;347;p21" title="two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4995" y="6851619"/>
            <a:ext cx="84646" cy="28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348" name="Google Shape;348;p21" title="five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4995" y="6358923"/>
            <a:ext cx="84646" cy="2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/>
          <p:nvPr/>
        </p:nvSpPr>
        <p:spPr>
          <a:xfrm flipH="1">
            <a:off x="4691647" y="8427905"/>
            <a:ext cx="905100" cy="905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 flipH="1">
            <a:off x="2269256" y="8427905"/>
            <a:ext cx="905100" cy="905100"/>
          </a:xfrm>
          <a:prstGeom prst="pie">
            <a:avLst>
              <a:gd fmla="val 16228089" name="adj1"/>
              <a:gd fmla="val 16178275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 flipH="1">
            <a:off x="3480452" y="8427905"/>
            <a:ext cx="905100" cy="905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476400" y="7860150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Mark the lighter segment on each of these outcome spinners with either A, B, or C to represent the probability that the spinner lands on that outcome.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/>
          <p:nvPr/>
        </p:nvSpPr>
        <p:spPr>
          <a:xfrm flipH="1">
            <a:off x="4691647" y="8427905"/>
            <a:ext cx="905100" cy="905100"/>
          </a:xfrm>
          <a:prstGeom prst="pie">
            <a:avLst>
              <a:gd fmla="val 2731450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 flipH="1">
            <a:off x="2269256" y="8427905"/>
            <a:ext cx="905100" cy="905100"/>
          </a:xfrm>
          <a:prstGeom prst="pie">
            <a:avLst>
              <a:gd fmla="val 13499686" name="adj1"/>
              <a:gd fmla="val 16215295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 flipH="1">
            <a:off x="3480452" y="8427905"/>
            <a:ext cx="905100" cy="905100"/>
          </a:xfrm>
          <a:prstGeom prst="pie">
            <a:avLst>
              <a:gd fmla="val 10797961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2723541" y="8482749"/>
            <a:ext cx="245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3977715" y="8595123"/>
            <a:ext cx="245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235041" y="8907092"/>
            <a:ext cx="245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59" name="Google Shape;359;p21"/>
          <p:cNvGrpSpPr/>
          <p:nvPr/>
        </p:nvGrpSpPr>
        <p:grpSpPr>
          <a:xfrm>
            <a:off x="2700774" y="8523446"/>
            <a:ext cx="46219" cy="372617"/>
            <a:chOff x="779080" y="747789"/>
            <a:chExt cx="59400" cy="478880"/>
          </a:xfrm>
        </p:grpSpPr>
        <p:cxnSp>
          <p:nvCxnSpPr>
            <p:cNvPr id="360" name="Google Shape;360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1" name="Google Shape;361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21"/>
          <p:cNvGrpSpPr/>
          <p:nvPr/>
        </p:nvGrpSpPr>
        <p:grpSpPr>
          <a:xfrm>
            <a:off x="3909985" y="8523446"/>
            <a:ext cx="46219" cy="372617"/>
            <a:chOff x="779080" y="747789"/>
            <a:chExt cx="59400" cy="478880"/>
          </a:xfrm>
        </p:grpSpPr>
        <p:cxnSp>
          <p:nvCxnSpPr>
            <p:cNvPr id="363" name="Google Shape;363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4" name="Google Shape;364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" name="Google Shape;365;p21"/>
          <p:cNvGrpSpPr/>
          <p:nvPr/>
        </p:nvGrpSpPr>
        <p:grpSpPr>
          <a:xfrm>
            <a:off x="5121191" y="8523446"/>
            <a:ext cx="46219" cy="372617"/>
            <a:chOff x="779080" y="747789"/>
            <a:chExt cx="59400" cy="478880"/>
          </a:xfrm>
        </p:grpSpPr>
        <p:cxnSp>
          <p:nvCxnSpPr>
            <p:cNvPr id="366" name="Google Shape;366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7" name="Google Shape;367;p2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 txBox="1"/>
          <p:nvPr/>
        </p:nvSpPr>
        <p:spPr>
          <a:xfrm>
            <a:off x="476400" y="5199775"/>
            <a:ext cx="2521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creates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outcomes for a trial of spinning a spinner with 12 sectors.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of these outcomes are square numbers?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two events: landing on a square number, and landing on a non-square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of these outcomes are even numbers?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two events, where one event is the spinner landing on an even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 diagrams (one event)</a:t>
            </a:r>
            <a:endParaRPr/>
          </a:p>
        </p:txBody>
      </p:sp>
      <p:sp>
        <p:nvSpPr>
          <p:cNvPr id="374" name="Google Shape;37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5041211" y="3825170"/>
            <a:ext cx="2050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showing two events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041211" y="2230040"/>
            <a:ext cx="2050800" cy="1553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7" name="Google Shape;377;p22"/>
          <p:cNvGrpSpPr/>
          <p:nvPr/>
        </p:nvGrpSpPr>
        <p:grpSpPr>
          <a:xfrm>
            <a:off x="2909226" y="1880019"/>
            <a:ext cx="1860236" cy="2258308"/>
            <a:chOff x="3550425" y="1863875"/>
            <a:chExt cx="2388900" cy="2900100"/>
          </a:xfrm>
        </p:grpSpPr>
        <p:sp>
          <p:nvSpPr>
            <p:cNvPr id="378" name="Google Shape;378;p22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79" name="Google Shape;379;p22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380" name="Google Shape;380;p22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381" name="Google Shape;381;p22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2" name="Google Shape;382;p22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200">
                      <a:latin typeface="Lexend"/>
                      <a:ea typeface="Lexend"/>
                      <a:cs typeface="Lexend"/>
                      <a:sym typeface="Lexend"/>
                    </a:rPr>
                    <a:t>5</a:t>
                  </a:r>
                  <a:endParaRPr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383" name="Google Shape;383;p22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384" name="Google Shape;384;p22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85" name="Google Shape;385;p22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86" name="Google Shape;386;p22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87" name="Google Shape;387;p22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388" name="Google Shape;388;p22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389" name="Google Shape;389;p22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2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390" name="Google Shape;390;p22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200">
                        <a:latin typeface="Lexend"/>
                        <a:ea typeface="Lexend"/>
                        <a:cs typeface="Lexend"/>
                        <a:sym typeface="Lexend"/>
                      </a:rPr>
                      <a:t>16</a:t>
                    </a:r>
                    <a:endParaRPr sz="12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391" name="Google Shape;391;p22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92" name="Google Shape;392;p22"/>
          <p:cNvSpPr txBox="1"/>
          <p:nvPr/>
        </p:nvSpPr>
        <p:spPr>
          <a:xfrm>
            <a:off x="476400" y="7254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trees that show events and outcomes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/>
          <p:nvPr/>
        </p:nvSpPr>
        <p:spPr>
          <a:xfrm flipH="1">
            <a:off x="995557" y="3048680"/>
            <a:ext cx="1224600" cy="1224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 flipH="1" rot="4320271">
            <a:off x="995385" y="3048590"/>
            <a:ext cx="1224502" cy="122450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 flipH="1" rot="8640030">
            <a:off x="996080" y="3048588"/>
            <a:ext cx="1224441" cy="122444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 flipH="1" rot="-8639348">
            <a:off x="996310" y="3048445"/>
            <a:ext cx="1224618" cy="1224618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994943" y="3048680"/>
            <a:ext cx="1224600" cy="1224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 flipH="1">
            <a:off x="1819932" y="3642649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 flipH="1">
            <a:off x="1455847" y="3937903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 flipH="1">
            <a:off x="1089688" y="3642649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 flipH="1">
            <a:off x="1221362" y="3246751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 flipH="1">
            <a:off x="1688276" y="3246751"/>
            <a:ext cx="30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1084917" y="4274015"/>
            <a:ext cx="104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4" name="Google Shape;404;p22"/>
          <p:cNvCxnSpPr/>
          <p:nvPr/>
        </p:nvCxnSpPr>
        <p:spPr>
          <a:xfrm flipH="1" rot="10800000">
            <a:off x="5076979" y="2452046"/>
            <a:ext cx="1459800" cy="5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2"/>
          <p:cNvCxnSpPr/>
          <p:nvPr/>
        </p:nvCxnSpPr>
        <p:spPr>
          <a:xfrm>
            <a:off x="5076979" y="3006245"/>
            <a:ext cx="1459800" cy="55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2"/>
          <p:cNvSpPr txBox="1"/>
          <p:nvPr/>
        </p:nvSpPr>
        <p:spPr>
          <a:xfrm flipH="1" rot="2022">
            <a:off x="6533442" y="3523695"/>
            <a:ext cx="5100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 flipH="1" rot="2022">
            <a:off x="6533442" y="2419395"/>
            <a:ext cx="5100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2909128" y="4164755"/>
            <a:ext cx="1860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649605" y="2280638"/>
            <a:ext cx="428100" cy="33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981573" y="3003716"/>
            <a:ext cx="428100" cy="33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476400" y="1886384"/>
            <a:ext cx="226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showing two events: landing on a prime, or landing on a non-prime.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2" name="Google Shape;412;p22"/>
          <p:cNvGrpSpPr/>
          <p:nvPr/>
        </p:nvGrpSpPr>
        <p:grpSpPr>
          <a:xfrm>
            <a:off x="1579778" y="3234414"/>
            <a:ext cx="55949" cy="451057"/>
            <a:chOff x="779080" y="747789"/>
            <a:chExt cx="59400" cy="478880"/>
          </a:xfrm>
        </p:grpSpPr>
        <p:cxnSp>
          <p:nvCxnSpPr>
            <p:cNvPr id="413" name="Google Shape;413;p22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4" name="Google Shape;414;p22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2"/>
          <p:cNvSpPr txBox="1"/>
          <p:nvPr/>
        </p:nvSpPr>
        <p:spPr>
          <a:xfrm>
            <a:off x="476400" y="1250083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Izzy will spin spinner A once and look for the event that the spinner lands on a prime number.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constructs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416" name="Google Shape;416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474" y="1948823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417" name="Google Shape;417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478" y="2269697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418" name="Google Shape;418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374" y="2715291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419" name="Google Shape;419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78" y="3147620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420" name="Google Shape;420;p22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274" y="3740968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421" name="Google Shape;421;p22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589" y="2318455"/>
            <a:ext cx="81994" cy="26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422" name="Google Shape;422;p22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1364" y="3041534"/>
            <a:ext cx="81994" cy="26355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2"/>
          <p:cNvSpPr/>
          <p:nvPr/>
        </p:nvSpPr>
        <p:spPr>
          <a:xfrm>
            <a:off x="6321757" y="6473240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5041210" y="5508228"/>
            <a:ext cx="2050800" cy="137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5" name="Google Shape;425;p22"/>
          <p:cNvCxnSpPr/>
          <p:nvPr/>
        </p:nvCxnSpPr>
        <p:spPr>
          <a:xfrm flipH="1" rot="10800000">
            <a:off x="5222194" y="5697095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2"/>
          <p:cNvCxnSpPr/>
          <p:nvPr/>
        </p:nvCxnSpPr>
        <p:spPr>
          <a:xfrm>
            <a:off x="5222194" y="6168358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22"/>
          <p:cNvSpPr txBox="1"/>
          <p:nvPr/>
        </p:nvSpPr>
        <p:spPr>
          <a:xfrm flipH="1" rot="1511">
            <a:off x="6313121" y="5669283"/>
            <a:ext cx="682500" cy="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5553226" y="5551259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885193" y="6166208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321757" y="7945720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2"/>
          <p:cNvCxnSpPr/>
          <p:nvPr/>
        </p:nvCxnSpPr>
        <p:spPr>
          <a:xfrm flipH="1" rot="10800000">
            <a:off x="5222194" y="7169576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22"/>
          <p:cNvCxnSpPr/>
          <p:nvPr/>
        </p:nvCxnSpPr>
        <p:spPr>
          <a:xfrm>
            <a:off x="5222194" y="7640839"/>
            <a:ext cx="1099500" cy="4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22"/>
          <p:cNvSpPr/>
          <p:nvPr/>
        </p:nvSpPr>
        <p:spPr>
          <a:xfrm>
            <a:off x="5553226" y="7023740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885193" y="7638689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6321757" y="6996915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041210" y="6943228"/>
            <a:ext cx="2050800" cy="137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5064098" y="5508228"/>
            <a:ext cx="29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5064098" y="6942264"/>
            <a:ext cx="29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3118981" y="5459898"/>
            <a:ext cx="1747200" cy="317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0" name="Google Shape;440;p22"/>
          <p:cNvGrpSpPr/>
          <p:nvPr/>
        </p:nvGrpSpPr>
        <p:grpSpPr>
          <a:xfrm>
            <a:off x="3154059" y="5556169"/>
            <a:ext cx="1396112" cy="2988070"/>
            <a:chOff x="2772050" y="830282"/>
            <a:chExt cx="1792875" cy="3837254"/>
          </a:xfrm>
        </p:grpSpPr>
        <p:cxnSp>
          <p:nvCxnSpPr>
            <p:cNvPr id="441" name="Google Shape;441;p22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22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22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22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22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22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7" name="Google Shape;447;p22"/>
          <p:cNvGrpSpPr/>
          <p:nvPr/>
        </p:nvGrpSpPr>
        <p:grpSpPr>
          <a:xfrm>
            <a:off x="4547000" y="5460455"/>
            <a:ext cx="313573" cy="3179850"/>
            <a:chOff x="4560854" y="707367"/>
            <a:chExt cx="402688" cy="4083536"/>
          </a:xfrm>
        </p:grpSpPr>
        <p:sp>
          <p:nvSpPr>
            <p:cNvPr id="448" name="Google Shape;448;p22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9" name="Google Shape;449;p22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0" name="Google Shape;450;p22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1" name="Google Shape;451;p22"/>
            <p:cNvSpPr txBox="1"/>
            <p:nvPr/>
          </p:nvSpPr>
          <p:spPr>
            <a:xfrm flipH="1" rot="3745">
              <a:off x="4560854" y="3714909"/>
              <a:ext cx="2754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22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3" name="Google Shape;453;p22"/>
            <p:cNvSpPr txBox="1"/>
            <p:nvPr/>
          </p:nvSpPr>
          <p:spPr>
            <a:xfrm flipH="1" rot="5376">
              <a:off x="4579842" y="4537103"/>
              <a:ext cx="3837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54" name="Google Shape;454;p22"/>
          <p:cNvSpPr txBox="1"/>
          <p:nvPr/>
        </p:nvSpPr>
        <p:spPr>
          <a:xfrm flipH="1" rot="1511">
            <a:off x="6313121" y="6603598"/>
            <a:ext cx="682500" cy="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square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 flipH="1" rot="1511">
            <a:off x="6313121" y="7133706"/>
            <a:ext cx="682500" cy="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even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 flipH="1" rot="1511">
            <a:off x="6313121" y="8095110"/>
            <a:ext cx="682500" cy="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odd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 flipH="1" rot="1215">
            <a:off x="5065568" y="8355298"/>
            <a:ext cx="1698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Odd could also be not even.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 flipH="1" rot="1215">
            <a:off x="783532" y="6746205"/>
            <a:ext cx="1698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1, 9, 36, 121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 flipH="1" rot="1215">
            <a:off x="783532" y="8667172"/>
            <a:ext cx="16983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8, 36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460" name="Google Shape;460;p22" title="4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3669" y="6032045"/>
            <a:ext cx="144283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61" name="Google Shape;461;p22" title="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7468" y="7327954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462" name="Google Shape;462;p22" title="3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7468" y="6581332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2}&quot;&gt;&lt;mfrac&gt;&lt;mn&gt;2&lt;/mn&gt;&lt;mn&gt;12&lt;/mn&gt;&lt;/mfrac&gt;&lt;/math&gt;" id="463" name="Google Shape;463;p22" title="2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31404" y="7948849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64" name="Google Shape;464;p22" title="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48130" y="6972480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465" name="Google Shape;465;p22" title="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6335" y="5731798"/>
            <a:ext cx="146207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466" name="Google Shape;466;p22" title="5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98871" y="5556471"/>
            <a:ext cx="146196" cy="266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&quot;&gt;&lt;mfrac&gt;&lt;mn&gt;7&lt;/mn&gt;&lt;mn&gt;12&lt;/mn&gt;&lt;/mfrac&gt;&lt;/math&gt;" id="467" name="Google Shape;467;p22" title="7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26069" y="6177791"/>
            <a:ext cx="146196" cy="265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468" name="Google Shape;468;p22" title="4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5063" y="7036097"/>
            <a:ext cx="144283" cy="263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&quot;&gt;&lt;mfrac&gt;&lt;mn&gt;8&lt;/mn&gt;&lt;mn&gt;12&lt;/mn&gt;&lt;/mfrac&gt;&lt;/math&gt;" id="469" name="Google Shape;469;p22" title="8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26076" y="7651046"/>
            <a:ext cx="146196" cy="26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5" name="Google Shape;475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sp>
        <p:nvSpPr>
          <p:cNvPr id="476" name="Google Shape;476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4671645" y="1555227"/>
            <a:ext cx="2420400" cy="2061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5755289" y="2902170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5692744" y="2306403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1" name="Google Shape;481;p23"/>
          <p:cNvCxnSpPr/>
          <p:nvPr/>
        </p:nvCxnSpPr>
        <p:spPr>
          <a:xfrm>
            <a:off x="4733461" y="2623417"/>
            <a:ext cx="1523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23"/>
          <p:cNvCxnSpPr/>
          <p:nvPr/>
        </p:nvCxnSpPr>
        <p:spPr>
          <a:xfrm flipH="1" rot="10800000">
            <a:off x="4733419" y="1774576"/>
            <a:ext cx="1510800" cy="84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3"/>
          <p:cNvCxnSpPr/>
          <p:nvPr/>
        </p:nvCxnSpPr>
        <p:spPr>
          <a:xfrm>
            <a:off x="4733419" y="2622696"/>
            <a:ext cx="1510800" cy="84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23"/>
          <p:cNvSpPr txBox="1"/>
          <p:nvPr/>
        </p:nvSpPr>
        <p:spPr>
          <a:xfrm flipH="1" rot="1814">
            <a:off x="6240905" y="1720198"/>
            <a:ext cx="5685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85" name="Google Shape;485;p23"/>
          <p:cNvGrpSpPr/>
          <p:nvPr/>
        </p:nvGrpSpPr>
        <p:grpSpPr>
          <a:xfrm>
            <a:off x="1335130" y="2336112"/>
            <a:ext cx="1705748" cy="1705622"/>
            <a:chOff x="336674" y="1632490"/>
            <a:chExt cx="2917803" cy="2917588"/>
          </a:xfrm>
        </p:grpSpPr>
        <p:grpSp>
          <p:nvGrpSpPr>
            <p:cNvPr id="486" name="Google Shape;486;p23"/>
            <p:cNvGrpSpPr/>
            <p:nvPr/>
          </p:nvGrpSpPr>
          <p:grpSpPr>
            <a:xfrm>
              <a:off x="336674" y="1632490"/>
              <a:ext cx="2917803" cy="2917588"/>
              <a:chOff x="336674" y="1632490"/>
              <a:chExt cx="2917803" cy="2917588"/>
            </a:xfrm>
          </p:grpSpPr>
          <p:sp>
            <p:nvSpPr>
              <p:cNvPr id="487" name="Google Shape;487;p23"/>
              <p:cNvSpPr txBox="1"/>
              <p:nvPr/>
            </p:nvSpPr>
            <p:spPr>
              <a:xfrm>
                <a:off x="1895222" y="221897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 flipH="1">
                <a:off x="75110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 flipH="1" rot="2160045">
                <a:off x="751259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3"/>
              <p:cNvSpPr txBox="1"/>
              <p:nvPr/>
            </p:nvSpPr>
            <p:spPr>
              <a:xfrm rot="4320624">
                <a:off x="2406380" y="2939267"/>
                <a:ext cx="280724" cy="320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 flipH="1" rot="4319668">
                <a:off x="750980" y="2047061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 flipH="1" rot="6480332">
                <a:off x="751237" y="2046864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3"/>
              <p:cNvSpPr txBox="1"/>
              <p:nvPr/>
            </p:nvSpPr>
            <p:spPr>
              <a:xfrm rot="8639978">
                <a:off x="1879429" y="3648233"/>
                <a:ext cx="280712" cy="320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 flipH="1" rot="8640245">
                <a:off x="751218" y="2046878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 flipH="1" rot="10800000">
                <a:off x="751193" y="2047072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3"/>
              <p:cNvSpPr txBox="1"/>
              <p:nvPr/>
            </p:nvSpPr>
            <p:spPr>
              <a:xfrm rot="-8639978">
                <a:off x="1042375" y="3365758"/>
                <a:ext cx="280712" cy="320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 flipH="1" rot="-8640245">
                <a:off x="751366" y="2046966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 flipH="1" rot="-6479393">
                <a:off x="751163" y="2047463"/>
                <a:ext cx="2088400" cy="20884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75106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 rot="-2160045">
                <a:off x="751034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1" name="Google Shape;501;p23"/>
            <p:cNvSpPr txBox="1"/>
            <p:nvPr/>
          </p:nvSpPr>
          <p:spPr>
            <a:xfrm>
              <a:off x="1860094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2" name="Google Shape;502;p23"/>
            <p:cNvSpPr txBox="1"/>
            <p:nvPr/>
          </p:nvSpPr>
          <p:spPr>
            <a:xfrm>
              <a:off x="2245094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3" name="Google Shape;503;p23"/>
            <p:cNvSpPr txBox="1"/>
            <p:nvPr/>
          </p:nvSpPr>
          <p:spPr>
            <a:xfrm>
              <a:off x="2377844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4" name="Google Shape;504;p23"/>
            <p:cNvSpPr txBox="1"/>
            <p:nvPr/>
          </p:nvSpPr>
          <p:spPr>
            <a:xfrm flipH="1">
              <a:off x="1863669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5" name="Google Shape;505;p23"/>
            <p:cNvSpPr txBox="1"/>
            <p:nvPr/>
          </p:nvSpPr>
          <p:spPr>
            <a:xfrm flipH="1">
              <a:off x="2248669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6" name="Google Shape;506;p23"/>
            <p:cNvSpPr txBox="1"/>
            <p:nvPr/>
          </p:nvSpPr>
          <p:spPr>
            <a:xfrm flipH="1">
              <a:off x="1408781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7" name="Google Shape;507;p23"/>
            <p:cNvSpPr txBox="1"/>
            <p:nvPr/>
          </p:nvSpPr>
          <p:spPr>
            <a:xfrm flipH="1">
              <a:off x="1023781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8" name="Google Shape;508;p23"/>
            <p:cNvSpPr txBox="1"/>
            <p:nvPr/>
          </p:nvSpPr>
          <p:spPr>
            <a:xfrm flipH="1">
              <a:off x="891031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9" name="Google Shape;509;p23"/>
            <p:cNvSpPr txBox="1"/>
            <p:nvPr/>
          </p:nvSpPr>
          <p:spPr>
            <a:xfrm>
              <a:off x="1405206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0" name="Google Shape;510;p23"/>
            <p:cNvSpPr txBox="1"/>
            <p:nvPr/>
          </p:nvSpPr>
          <p:spPr>
            <a:xfrm>
              <a:off x="1020206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511" name="Google Shape;511;p23"/>
            <p:cNvGrpSpPr/>
            <p:nvPr/>
          </p:nvGrpSpPr>
          <p:grpSpPr>
            <a:xfrm>
              <a:off x="1759657" y="2536118"/>
              <a:ext cx="71850" cy="579254"/>
              <a:chOff x="779080" y="747789"/>
              <a:chExt cx="59400" cy="47888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779080" y="1172670"/>
                <a:ext cx="59400" cy="540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 txBox="1"/>
          <p:nvPr/>
        </p:nvSpPr>
        <p:spPr>
          <a:xfrm>
            <a:off x="476400" y="107275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Lucas and Andeep play a game. Whoever gets the highest number wins, and if they get the same number, they draw.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 spins the spinner, which lands on a 5.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 is about to spin the spinner.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476400" y="2029953"/>
            <a:ext cx="41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events of who could win.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6258821" y="2460522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386303" y="1719927"/>
            <a:ext cx="4281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6245966" y="3253581"/>
            <a:ext cx="673800" cy="32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 flipH="1" rot="1741">
            <a:off x="6299498" y="2436036"/>
            <a:ext cx="592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draw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 flipH="1" rot="1531">
            <a:off x="6246113" y="3250472"/>
            <a:ext cx="67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Andeep wins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521" name="Google Shape;521;p23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548" y="1724077"/>
            <a:ext cx="153465" cy="279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522" name="Google Shape;522;p23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8947" y="2306386"/>
            <a:ext cx="155538" cy="288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523" name="Google Shape;523;p23" title="two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1494" y="2903356"/>
            <a:ext cx="155538" cy="2882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" name="Google Shape;524;p23"/>
          <p:cNvCxnSpPr/>
          <p:nvPr/>
        </p:nvCxnSpPr>
        <p:spPr>
          <a:xfrm>
            <a:off x="3920615" y="6238416"/>
            <a:ext cx="147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23"/>
          <p:cNvCxnSpPr/>
          <p:nvPr/>
        </p:nvCxnSpPr>
        <p:spPr>
          <a:xfrm flipH="1" rot="10800000">
            <a:off x="3920546" y="5551879"/>
            <a:ext cx="1459800" cy="68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23"/>
          <p:cNvCxnSpPr/>
          <p:nvPr/>
        </p:nvCxnSpPr>
        <p:spPr>
          <a:xfrm>
            <a:off x="3920546" y="6237816"/>
            <a:ext cx="1459800" cy="687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23"/>
          <p:cNvCxnSpPr/>
          <p:nvPr/>
        </p:nvCxnSpPr>
        <p:spPr>
          <a:xfrm flipH="1" rot="10800000">
            <a:off x="3920566" y="4659127"/>
            <a:ext cx="1459800" cy="158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3"/>
          <p:cNvCxnSpPr/>
          <p:nvPr/>
        </p:nvCxnSpPr>
        <p:spPr>
          <a:xfrm>
            <a:off x="3920566" y="6237072"/>
            <a:ext cx="1459800" cy="158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23"/>
          <p:cNvSpPr/>
          <p:nvPr/>
        </p:nvSpPr>
        <p:spPr>
          <a:xfrm>
            <a:off x="5392400" y="6070021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30" name="Google Shape;530;p23"/>
          <p:cNvGrpSpPr/>
          <p:nvPr/>
        </p:nvGrpSpPr>
        <p:grpSpPr>
          <a:xfrm>
            <a:off x="1065788" y="6210657"/>
            <a:ext cx="2050862" cy="1553507"/>
            <a:chOff x="318900" y="2712241"/>
            <a:chExt cx="2633700" cy="1995000"/>
          </a:xfrm>
        </p:grpSpPr>
        <p:sp>
          <p:nvSpPr>
            <p:cNvPr id="531" name="Google Shape;531;p23"/>
            <p:cNvSpPr/>
            <p:nvPr/>
          </p:nvSpPr>
          <p:spPr>
            <a:xfrm>
              <a:off x="318900" y="2712241"/>
              <a:ext cx="2633700" cy="1995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32" name="Google Shape;532;p23"/>
            <p:cNvCxnSpPr/>
            <p:nvPr/>
          </p:nvCxnSpPr>
          <p:spPr>
            <a:xfrm flipH="1" rot="10800000">
              <a:off x="364836" y="2997386"/>
              <a:ext cx="1874700" cy="71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3"/>
            <p:cNvCxnSpPr/>
            <p:nvPr/>
          </p:nvCxnSpPr>
          <p:spPr>
            <a:xfrm>
              <a:off x="364836" y="3709072"/>
              <a:ext cx="1874700" cy="713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4" name="Google Shape;534;p23"/>
            <p:cNvSpPr txBox="1"/>
            <p:nvPr/>
          </p:nvSpPr>
          <p:spPr>
            <a:xfrm flipH="1" rot="1575">
              <a:off x="2235340" y="4373643"/>
              <a:ext cx="654900" cy="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not cube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5" name="Google Shape;535;p23"/>
            <p:cNvSpPr txBox="1"/>
            <p:nvPr/>
          </p:nvSpPr>
          <p:spPr>
            <a:xfrm flipH="1" rot="1575">
              <a:off x="2235340" y="2955460"/>
              <a:ext cx="654900" cy="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36" name="Google Shape;536;p23"/>
          <p:cNvSpPr/>
          <p:nvPr/>
        </p:nvSpPr>
        <p:spPr>
          <a:xfrm>
            <a:off x="5375235" y="5347507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5375235" y="6792526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5375235" y="4625021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5375235" y="7515021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476400" y="4577950"/>
            <a:ext cx="302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Both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represent the same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showing the probability of the event “landing on a cube” to create a possible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4483163" y="4827692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4842873" y="5258716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842873" y="5873754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4842873" y="6327383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842873" y="6900204"/>
            <a:ext cx="428100" cy="33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3721525" y="4509338"/>
            <a:ext cx="2227500" cy="3462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 flipH="1" rot="2409">
            <a:off x="5375092" y="4662709"/>
            <a:ext cx="428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 flipH="1" rot="2409">
            <a:off x="5375092" y="5385204"/>
            <a:ext cx="428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 flipH="1" rot="2409">
            <a:off x="5375092" y="6107709"/>
            <a:ext cx="428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 flipH="1" rot="2409">
            <a:off x="5375092" y="6830214"/>
            <a:ext cx="428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 flipH="1" rot="2409">
            <a:off x="5375092" y="7552729"/>
            <a:ext cx="428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16}&quot;&gt;&lt;mfrac&gt;&lt;mn&gt;11&lt;/mn&gt;&lt;mn&gt;16&lt;/mn&gt;&lt;/mfrac&gt;&lt;/math&gt;" id="552" name="Google Shape;552;p23" title="11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5874" y="6933770"/>
            <a:ext cx="144289" cy="263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553" name="Google Shape;553;p23" title="5 over 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1774" y="6364547"/>
            <a:ext cx="144289" cy="262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&quot;&gt;&lt;mfrac&gt;&lt;mn&gt;11&lt;/mn&gt;&lt;mn&gt;16&lt;/mn&gt;&lt;/mfrac&gt;&lt;/math&gt;" id="554" name="Google Shape;554;p23" title="11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1774" y="6973821"/>
            <a:ext cx="144289" cy="26322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3"/>
          <p:cNvSpPr txBox="1"/>
          <p:nvPr/>
        </p:nvSpPr>
        <p:spPr>
          <a:xfrm>
            <a:off x="6160391" y="5323027"/>
            <a:ext cx="93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one example of what your probability tree may look like.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6}&quot;&gt;&lt;mfrac&gt;&lt;mn&gt;1&lt;/mn&gt;&lt;mn&gt;16&lt;/mn&gt;&lt;/mfrac&gt;&lt;/math&gt;" id="556" name="Google Shape;556;p23" title="1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4996" y="4864496"/>
            <a:ext cx="144289" cy="2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6}&quot;&gt;&lt;mfrac&gt;&lt;mn&gt;2&lt;/mn&gt;&lt;mn&gt;16&lt;/mn&gt;&lt;/mfrac&gt;&lt;/math&gt;" id="557" name="Google Shape;557;p23" title="2 over 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5874" y="5910551"/>
            <a:ext cx="144289" cy="2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6}&quot;&gt;&lt;mfrac&gt;&lt;mn&gt;1&lt;/mn&gt;&lt;mn&gt;16&lt;/mn&gt;&lt;/mfrac&gt;&lt;/math&gt;" id="558" name="Google Shape;558;p23" title="1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5874" y="5295253"/>
            <a:ext cx="144289" cy="2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6}&quot;&gt;&lt;mfrac&gt;&lt;mn&gt;1&lt;/mn&gt;&lt;mn&gt;16&lt;/mn&gt;&lt;/mfrac&gt;&lt;/math&gt;" id="559" name="Google Shape;559;p23" title="1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5874" y="6364189"/>
            <a:ext cx="144289" cy="26323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 txBox="1"/>
          <p:nvPr/>
        </p:nvSpPr>
        <p:spPr>
          <a:xfrm flipH="1" rot="2624">
            <a:off x="3928475" y="8339875"/>
            <a:ext cx="3143701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must be at least one branch representing a cube number, and at least one branch representing a non-cube number.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 flipH="1" rot="2624">
            <a:off x="3873876" y="8891450"/>
            <a:ext cx="3143701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Some examples of cube numbers include: 0, 1, 8, 27, 64, 125, 1000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