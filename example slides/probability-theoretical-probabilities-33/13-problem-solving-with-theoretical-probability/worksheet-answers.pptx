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7A1CB787-4C9C-4610-9543-F7B80CF0814F}">
  <a:tblStyle styleId="{7A1CB787-4C9C-4610-9543-F7B80CF081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sp>
        <p:nvSpPr>
          <p:cNvPr id="205" name="Google Shape;205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theoretical probability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306" y="3767067"/>
            <a:ext cx="838686" cy="405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1986" y="2689853"/>
            <a:ext cx="765495" cy="34925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476399" y="1258850"/>
            <a:ext cx="62328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Using probability to inform decisions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76400" y="1666390"/>
            <a:ext cx="66105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Andeep is playing a game that involves choosing two dice, rolling them and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summing their numbers.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658508" y="2228372"/>
            <a:ext cx="2530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Two of the dice are cubes containing numbers 1 to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658508" y="3316758"/>
            <a:ext cx="29271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Two of the dice are tetrahedrons containing numbers 1 to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0" name="Google Shape;180;p20"/>
          <p:cNvGraphicFramePr>
            <a:graphicFrameLocks noGrp="1"/>
          </p:cNvGraphicFramePr>
          <p:nvPr/>
        </p:nvGraphicFramePr>
        <p:xfrm>
          <a:off x="4139988" y="2107550"/>
          <a:ext cx="2679950" cy="2560110"/>
        </p:xfrm>
        <a:graphic>
          <a:graphicData uri="http://schemas.openxmlformats.org/drawingml/2006/table">
            <a:tbl>
              <a:tblPr>
                <a:noFill/>
                <a:tableStyleId>{7A1CB787-4C9C-4610-9543-F7B80CF0814F}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45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345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5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5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5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5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5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1" name="Google Shape;181;p20"/>
          <p:cNvSpPr txBox="1"/>
          <p:nvPr/>
        </p:nvSpPr>
        <p:spPr>
          <a:xfrm>
            <a:off x="658508" y="4324673"/>
            <a:ext cx="34482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sample space could be represented with a two-way outcome table.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76400" y="4874100"/>
            <a:ext cx="3109200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combination of dice give the greatest probability of rolling a total of 8?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92834" y="5484047"/>
            <a:ext cx="3326100" cy="12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tetrahedrons: P(8) = 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1 of each dice: P(8) = 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2 cubes: P(8) =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4" name="Google Shape;184;p20" descr="&lt;math xmlns=&quot;http://www.w3.org/1998/Math/MathML&quot; display=&quot;block&quot; data-is-equatio=&quot;1&quot; data-latex=&quot;\begin{array}{l}\frac{1}{16}=0.0625\\&amp;#13;&amp;#10;\frac{3}{24}=0.125\\&amp;#13;&amp;#10;\frac{5}{36}=0.13\dot{8}\end{array}&quot;&gt;&lt;mtable columnalign=&quot;left&quot; columnspacing=&quot;1em&quot; rowspacing=&quot;4pt&quot;&gt;&lt;mtr&gt;&lt;mtd&gt;&lt;mfrac&gt;&lt;mn&gt;1&lt;/mn&gt;&lt;mn&gt;16&lt;/mn&gt;&lt;/mfrac&gt;&lt;mo&gt;=&lt;/mo&gt;&lt;mn&gt;0.0625&lt;/mn&gt;&lt;/mtd&gt;&lt;/mtr&gt;&lt;mtr&gt;&lt;mtd&gt;&lt;mfrac&gt;&lt;mn&gt;3&lt;/mn&gt;&lt;mn&gt;24&lt;/mn&gt;&lt;/mfrac&gt;&lt;mo&gt;=&lt;/mo&gt;&lt;mn&gt;0.125&lt;/mn&gt;&lt;/mtd&gt;&lt;/mtr&gt;&lt;mtr&gt;&lt;mtd&gt;&lt;mfrac&gt;&lt;mn&gt;5&lt;/mn&gt;&lt;mn&gt;36&lt;/mn&gt;&lt;/mfrac&gt;&lt;mo&gt;=&lt;/mo&gt;&lt;mn&gt;0.13&lt;/mn&gt;&lt;mrow data-mjx-texclass=&quot;ORD&quot;&gt;&lt;mover&gt;&lt;mn&gt;8&lt;/mn&gt;&lt;mo&gt;˙&lt;/mo&gt;&lt;/mover&gt;&lt;/mrow&gt;&lt;/mtd&gt;&lt;/mtr&gt;&lt;/mtable&gt;&lt;/math&gt;" title="3 lines Line 1: 1 over 16 equals 0.0625 Line 2: 3 over 24 equals 0.125 Line 3: 5 over 36 equals the repeating decimal 0.13 followed by repeating digit 8"/>
          <p:cNvPicPr preferRelativeResize="0"/>
          <p:nvPr/>
        </p:nvPicPr>
        <p:blipFill>
          <a:blip r:embed="rId5">
            <a:alphaModFix/>
          </a:blip>
          <a:srcRect b="64714"/>
          <a:stretch>
            <a:fillRect/>
          </a:stretch>
        </p:blipFill>
        <p:spPr>
          <a:xfrm>
            <a:off x="2376395" y="5441809"/>
            <a:ext cx="956274" cy="339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&lt;math xmlns=&quot;http://www.w3.org/1998/Math/MathML&quot; display=&quot;block&quot; data-is-equatio=&quot;1&quot; data-latex=&quot;\begin{array}{l}\frac{1}{16}=0.0625\\&amp;#13;&amp;#10;\frac{3}{24}=0.125\\&amp;#13;&amp;#10;\frac{5}{36}=0.13\dot{8}\end{array}&quot;&gt;&lt;mtable columnalign=&quot;left&quot; columnspacing=&quot;1em&quot; rowspacing=&quot;4pt&quot;&gt;&lt;mtr&gt;&lt;mtd&gt;&lt;mfrac&gt;&lt;mn&gt;1&lt;/mn&gt;&lt;mn&gt;16&lt;/mn&gt;&lt;/mfrac&gt;&lt;mo&gt;=&lt;/mo&gt;&lt;mn&gt;0.0625&lt;/mn&gt;&lt;/mtd&gt;&lt;/mtr&gt;&lt;mtr&gt;&lt;mtd&gt;&lt;mfrac&gt;&lt;mn&gt;3&lt;/mn&gt;&lt;mn&gt;24&lt;/mn&gt;&lt;/mfrac&gt;&lt;mo&gt;=&lt;/mo&gt;&lt;mn&gt;0.125&lt;/mn&gt;&lt;/mtd&gt;&lt;/mtr&gt;&lt;mtr&gt;&lt;mtd&gt;&lt;mfrac&gt;&lt;mn&gt;5&lt;/mn&gt;&lt;mn&gt;36&lt;/mn&gt;&lt;/mfrac&gt;&lt;mo&gt;=&lt;/mo&gt;&lt;mn&gt;0.13&lt;/mn&gt;&lt;mrow data-mjx-texclass=&quot;ORD&quot;&gt;&lt;mover&gt;&lt;mn&gt;8&lt;/mn&gt;&lt;mo&gt;˙&lt;/mo&gt;&lt;/mover&gt;&lt;/mrow&gt;&lt;/mtd&gt;&lt;/mtr&gt;&lt;/mtable&gt;&lt;/math&gt;" title="3 lines Line 1: 1 over 16 equals 0.0625 Line 2: 3 over 24 equals 0.125 Line 3: 5 over 36 equals the repeating decimal 0.13 followed by repeating digit 8"/>
          <p:cNvPicPr preferRelativeResize="0"/>
          <p:nvPr/>
        </p:nvPicPr>
        <p:blipFill>
          <a:blip r:embed="rId5">
            <a:alphaModFix/>
          </a:blip>
          <a:srcRect t="31860" b="32852"/>
          <a:stretch>
            <a:fillRect/>
          </a:stretch>
        </p:blipFill>
        <p:spPr>
          <a:xfrm>
            <a:off x="2376395" y="5892849"/>
            <a:ext cx="956274" cy="339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&lt;math xmlns=&quot;http://www.w3.org/1998/Math/MathML&quot; display=&quot;block&quot; data-is-equatio=&quot;1&quot; data-latex=&quot;\begin{array}{l}\frac{1}{16}=0.0625\\&amp;#13;&amp;#10;\frac{3}{24}=0.125\\&amp;#13;&amp;#10;\frac{5}{36}=0.13\dot{8}\end{array}&quot;&gt;&lt;mtable columnalign=&quot;left&quot; columnspacing=&quot;1em&quot; rowspacing=&quot;4pt&quot;&gt;&lt;mtr&gt;&lt;mtd&gt;&lt;mfrac&gt;&lt;mn&gt;1&lt;/mn&gt;&lt;mn&gt;16&lt;/mn&gt;&lt;/mfrac&gt;&lt;mo&gt;=&lt;/mo&gt;&lt;mn&gt;0.0625&lt;/mn&gt;&lt;/mtd&gt;&lt;/mtr&gt;&lt;mtr&gt;&lt;mtd&gt;&lt;mfrac&gt;&lt;mn&gt;3&lt;/mn&gt;&lt;mn&gt;24&lt;/mn&gt;&lt;/mfrac&gt;&lt;mo&gt;=&lt;/mo&gt;&lt;mn&gt;0.125&lt;/mn&gt;&lt;/mtd&gt;&lt;/mtr&gt;&lt;mtr&gt;&lt;mtd&gt;&lt;mfrac&gt;&lt;mn&gt;5&lt;/mn&gt;&lt;mn&gt;36&lt;/mn&gt;&lt;/mfrac&gt;&lt;mo&gt;=&lt;/mo&gt;&lt;mn&gt;0.13&lt;/mn&gt;&lt;mrow data-mjx-texclass=&quot;ORD&quot;&gt;&lt;mover&gt;&lt;mn&gt;8&lt;/mn&gt;&lt;mo&gt;˙&lt;/mo&gt;&lt;/mover&gt;&lt;/mrow&gt;&lt;/mtd&gt;&lt;/mtr&gt;&lt;/mtable&gt;&lt;/math&gt;" title="3 lines Line 1: 1 over 16 equals 0.0625 Line 2: 3 over 24 equals 0.125 Line 3: 5 over 36 equals the repeating decimal 0.13 followed by repeating digit 8"/>
          <p:cNvPicPr preferRelativeResize="0"/>
          <p:nvPr/>
        </p:nvPicPr>
        <p:blipFill>
          <a:blip r:embed="rId5">
            <a:alphaModFix/>
          </a:blip>
          <a:srcRect t="68983"/>
          <a:stretch>
            <a:fillRect/>
          </a:stretch>
        </p:blipFill>
        <p:spPr>
          <a:xfrm>
            <a:off x="2376395" y="6402958"/>
            <a:ext cx="956274" cy="29845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1165918" y="6840678"/>
            <a:ext cx="897600" cy="2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cube dice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3976350" y="4873325"/>
            <a:ext cx="31092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combination of dice give the greatest probability of rolling a total of 6?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3976349" y="5541413"/>
            <a:ext cx="3364200" cy="12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tetrahedrons: P(6) = 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1 of each dice: P(6) = 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2 cubes: P(6) =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0" name="Google Shape;190;p20" descr="&lt;math xmlns=&quot;http://www.w3.org/1998/Math/MathML&quot; display=&quot;block&quot; data-is-equatio=&quot;1&quot; data-latex=&quot;\begin{array}{l}\frac{1}{16}=0.0625\\&amp;#13;&amp;#10;\frac{3}{24}=0.125\\&amp;#13;&amp;#10;\frac{5}{36}=0.13\dot{8}\end{array}&quot;&gt;&lt;mtable columnalign=&quot;left&quot; columnspacing=&quot;1em&quot; rowspacing=&quot;4pt&quot;&gt;&lt;mtr&gt;&lt;mtd&gt;&lt;mfrac&gt;&lt;mn&gt;1&lt;/mn&gt;&lt;mn&gt;16&lt;/mn&gt;&lt;/mfrac&gt;&lt;mo&gt;=&lt;/mo&gt;&lt;mn&gt;0.0625&lt;/mn&gt;&lt;/mtd&gt;&lt;/mtr&gt;&lt;mtr&gt;&lt;mtd&gt;&lt;mfrac&gt;&lt;mn&gt;3&lt;/mn&gt;&lt;mn&gt;24&lt;/mn&gt;&lt;/mfrac&gt;&lt;mo&gt;=&lt;/mo&gt;&lt;mn&gt;0.125&lt;/mn&gt;&lt;/mtd&gt;&lt;/mtr&gt;&lt;mtr&gt;&lt;mtd&gt;&lt;mfrac&gt;&lt;mn&gt;5&lt;/mn&gt;&lt;mn&gt;36&lt;/mn&gt;&lt;/mfrac&gt;&lt;mo&gt;=&lt;/mo&gt;&lt;mn&gt;0.13&lt;/mn&gt;&lt;mrow data-mjx-texclass=&quot;ORD&quot;&gt;&lt;mover&gt;&lt;mn&gt;8&lt;/mn&gt;&lt;mo&gt;˙&lt;/mo&gt;&lt;/mover&gt;&lt;/mrow&gt;&lt;/mtd&gt;&lt;/mtr&gt;&lt;/mtable&gt;&lt;/math&gt;" title="3 lines Line 1: 1 over 16 equals 0.0625 Line 2: 3 over 24 equals 0.125 Line 3: 5 over 36 equals the repeating decimal 0.13 followed by repeating digit 8"/>
          <p:cNvPicPr preferRelativeResize="0"/>
          <p:nvPr/>
        </p:nvPicPr>
        <p:blipFill>
          <a:blip r:embed="rId5">
            <a:alphaModFix/>
          </a:blip>
          <a:srcRect t="68983"/>
          <a:stretch>
            <a:fillRect/>
          </a:stretch>
        </p:blipFill>
        <p:spPr>
          <a:xfrm>
            <a:off x="5679277" y="6470895"/>
            <a:ext cx="967274" cy="30188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4450358" y="6839181"/>
            <a:ext cx="1395300" cy="2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tetrahedron dice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2" name="Google Shape;192;p20" descr="&lt;math xmlns=&quot;http://www.w3.org/1998/Math/MathML&quot; display=&quot;block&quot; data-is-equatio=&quot;1&quot; data-latex=&quot;\begin{array}{l}\frac{3}{16}=0.1875\\&amp;#13;&amp;#10;\frac{4}{24}=0.1\dot{6}\\&amp;#13;&amp;#10;\frac{5}{36}=0.13\dot{8}\end{array}&quot;&gt;&lt;mtable columnalign=&quot;left&quot; columnspacing=&quot;1em&quot; rowspacing=&quot;4pt&quot;&gt;&lt;mtr&gt;&lt;mtd&gt;&lt;mfrac&gt;&lt;mn&gt;3&lt;/mn&gt;&lt;mn&gt;16&lt;/mn&gt;&lt;/mfrac&gt;&lt;mo&gt;=&lt;/mo&gt;&lt;mn&gt;0.1875&lt;/mn&gt;&lt;/mtd&gt;&lt;/mtr&gt;&lt;mtr&gt;&lt;mtd&gt;&lt;mfrac&gt;&lt;mn&gt;4&lt;/mn&gt;&lt;mn&gt;24&lt;/mn&gt;&lt;/mfrac&gt;&lt;mo&gt;=&lt;/mo&gt;&lt;mn&gt;0.1&lt;/mn&gt;&lt;mrow data-mjx-texclass=&quot;ORD&quot;&gt;&lt;mover&gt;&lt;mn&gt;6&lt;/mn&gt;&lt;mo&gt;˙&lt;/mo&gt;&lt;/mover&gt;&lt;/mrow&gt;&lt;/mtd&gt;&lt;/mtr&gt;&lt;mtr&gt;&lt;mtd&gt;&lt;mfrac&gt;&lt;mn&gt;5&lt;/mn&gt;&lt;mn&gt;36&lt;/mn&gt;&lt;/mfrac&gt;&lt;mo&gt;=&lt;/mo&gt;&lt;mn&gt;0.13&lt;/mn&gt;&lt;mrow data-mjx-texclass=&quot;ORD&quot;&gt;&lt;mover&gt;&lt;mn&gt;8&lt;/mn&gt;&lt;mo&gt;˙&lt;/mo&gt;&lt;/mover&gt;&lt;/mrow&gt;&lt;/mtd&gt;&lt;/mtr&gt;&lt;/mtable&gt;&lt;/math&gt;" title="3 lines Line 1: 3 over 16 equals 0.1875 Line 2: 4 over 24 equals the repeating decimal 0.1 followed by repeating digit 6 Line 3: 5 over 36 equals the repeating decimal 0.13 followed by repeating digit 8"/>
          <p:cNvPicPr preferRelativeResize="0"/>
          <p:nvPr/>
        </p:nvPicPr>
        <p:blipFill>
          <a:blip r:embed="rId6">
            <a:alphaModFix/>
          </a:blip>
          <a:srcRect b="69693"/>
          <a:stretch>
            <a:fillRect/>
          </a:stretch>
        </p:blipFill>
        <p:spPr>
          <a:xfrm>
            <a:off x="5678935" y="5491869"/>
            <a:ext cx="990066" cy="301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&lt;math xmlns=&quot;http://www.w3.org/1998/Math/MathML&quot; display=&quot;block&quot; data-is-equatio=&quot;1&quot; data-latex=&quot;\begin{array}{l}\frac{3}{16}=0.1875\\&amp;#13;&amp;#10;\frac{4}{24}=0.1\dot{6}\\&amp;#13;&amp;#10;\frac{5}{36}=0.13\dot{8}\end{array}&quot;&gt;&lt;mtable columnalign=&quot;left&quot; columnspacing=&quot;1em&quot; rowspacing=&quot;4pt&quot;&gt;&lt;mtr&gt;&lt;mtd&gt;&lt;mfrac&gt;&lt;mn&gt;3&lt;/mn&gt;&lt;mn&gt;16&lt;/mn&gt;&lt;/mfrac&gt;&lt;mo&gt;=&lt;/mo&gt;&lt;mn&gt;0.1875&lt;/mn&gt;&lt;/mtd&gt;&lt;/mtr&gt;&lt;mtr&gt;&lt;mtd&gt;&lt;mfrac&gt;&lt;mn&gt;4&lt;/mn&gt;&lt;mn&gt;24&lt;/mn&gt;&lt;/mfrac&gt;&lt;mo&gt;=&lt;/mo&gt;&lt;mn&gt;0.1&lt;/mn&gt;&lt;mrow data-mjx-texclass=&quot;ORD&quot;&gt;&lt;mover&gt;&lt;mn&gt;6&lt;/mn&gt;&lt;mo&gt;˙&lt;/mo&gt;&lt;/mover&gt;&lt;/mrow&gt;&lt;/mtd&gt;&lt;/mtr&gt;&lt;mtr&gt;&lt;mtd&gt;&lt;mfrac&gt;&lt;mn&gt;5&lt;/mn&gt;&lt;mn&gt;36&lt;/mn&gt;&lt;/mfrac&gt;&lt;mo&gt;=&lt;/mo&gt;&lt;mn&gt;0.13&lt;/mn&gt;&lt;mrow data-mjx-texclass=&quot;ORD&quot;&gt;&lt;mover&gt;&lt;mn&gt;8&lt;/mn&gt;&lt;mo&gt;˙&lt;/mo&gt;&lt;/mover&gt;&lt;/mrow&gt;&lt;/mtd&gt;&lt;/mtr&gt;&lt;/mtable&gt;&lt;/math&gt;" title="3 lines Line 1: 3 over 16 equals 0.1875 Line 2: 4 over 24 equals the repeating decimal 0.1 followed by repeating digit 6 Line 3: 5 over 36 equals the repeating decimal 0.13 followed by repeating digit 8"/>
          <p:cNvPicPr preferRelativeResize="0"/>
          <p:nvPr/>
        </p:nvPicPr>
        <p:blipFill>
          <a:blip r:embed="rId6">
            <a:alphaModFix/>
          </a:blip>
          <a:srcRect t="29017" b="33419"/>
          <a:stretch>
            <a:fillRect/>
          </a:stretch>
        </p:blipFill>
        <p:spPr>
          <a:xfrm>
            <a:off x="5678942" y="5901080"/>
            <a:ext cx="990066" cy="37415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447300" y="7210150"/>
            <a:ext cx="31674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 combination of dice give the greatest probability of rolling a total of 7?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697493" y="7845003"/>
            <a:ext cx="3319200" cy="12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tetrahedrons: P(7) = 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1 of each dice: P(7) = 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2 cubes: P(7) =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911681" y="9212876"/>
            <a:ext cx="25848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either 2 cube dice or 1 of each dice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7" name="Google Shape;197;p20" descr="&lt;math xmlns=&quot;http://www.w3.org/1998/Math/MathML&quot; display=&quot;block&quot; data-is-equatio=&quot;1&quot; data-latex=&quot;\begin{array}{l}\frac{3}{16}=0.1875\\&amp;#13;&amp;#10;\frac{4}{24}=0.1\dot{6}\\&amp;#13;&amp;#10;\frac{5}{36}=0.13\dot{8}\end{array}&quot;&gt;&lt;mtable columnalign=&quot;left&quot; columnspacing=&quot;1em&quot; rowspacing=&quot;4pt&quot;&gt;&lt;mtr&gt;&lt;mtd&gt;&lt;mfrac&gt;&lt;mn&gt;3&lt;/mn&gt;&lt;mn&gt;16&lt;/mn&gt;&lt;/mfrac&gt;&lt;mo&gt;=&lt;/mo&gt;&lt;mn&gt;0.1875&lt;/mn&gt;&lt;/mtd&gt;&lt;/mtr&gt;&lt;mtr&gt;&lt;mtd&gt;&lt;mfrac&gt;&lt;mn&gt;4&lt;/mn&gt;&lt;mn&gt;24&lt;/mn&gt;&lt;/mfrac&gt;&lt;mo&gt;=&lt;/mo&gt;&lt;mn&gt;0.1&lt;/mn&gt;&lt;mrow data-mjx-texclass=&quot;ORD&quot;&gt;&lt;mover&gt;&lt;mn&gt;6&lt;/mn&gt;&lt;mo&gt;˙&lt;/mo&gt;&lt;/mover&gt;&lt;/mrow&gt;&lt;/mtd&gt;&lt;/mtr&gt;&lt;mtr&gt;&lt;mtd&gt;&lt;mfrac&gt;&lt;mn&gt;5&lt;/mn&gt;&lt;mn&gt;36&lt;/mn&gt;&lt;/mfrac&gt;&lt;mo&gt;=&lt;/mo&gt;&lt;mn&gt;0.13&lt;/mn&gt;&lt;mrow data-mjx-texclass=&quot;ORD&quot;&gt;&lt;mover&gt;&lt;mn&gt;8&lt;/mn&gt;&lt;mo&gt;˙&lt;/mo&gt;&lt;/mover&gt;&lt;/mrow&gt;&lt;/mtd&gt;&lt;/mtr&gt;&lt;/mtable&gt;&lt;/math&gt;" title="3 lines Line 1: 3 over 16 equals 0.1875 Line 2: 4 over 24 equals the repeating decimal 0.1 followed by repeating digit 6 Line 3: 5 over 36 equals the repeating decimal 0.13 followed by repeating digit 8"/>
          <p:cNvPicPr preferRelativeResize="0"/>
          <p:nvPr/>
        </p:nvPicPr>
        <p:blipFill>
          <a:blip r:embed="rId6">
            <a:alphaModFix/>
          </a:blip>
          <a:srcRect t="29017" b="33419"/>
          <a:stretch>
            <a:fillRect/>
          </a:stretch>
        </p:blipFill>
        <p:spPr>
          <a:xfrm>
            <a:off x="2377292" y="8259142"/>
            <a:ext cx="976811" cy="36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&lt;math xmlns=&quot;http://www.w3.org/1998/Math/MathML&quot; display=&quot;block&quot; data-is-equatio=&quot;1&quot; data-latex=&quot;\begin{array}{l}\frac{2}{16}=0.125\\&amp;#13;&amp;#10;\frac{4}{24}=0.1\dot{6}\\&amp;#13;&amp;#10;\frac{6}{36}=0.1\dot{6}\end{array}&quot;&gt;&lt;mtable columnalign=&quot;left&quot; columnspacing=&quot;1em&quot; rowspacing=&quot;4pt&quot;&gt;&lt;mtr&gt;&lt;mtd&gt;&lt;mfrac&gt;&lt;mn&gt;2&lt;/mn&gt;&lt;mn&gt;16&lt;/mn&gt;&lt;/mfrac&gt;&lt;mo&gt;=&lt;/mo&gt;&lt;mn&gt;0.125&lt;/mn&gt;&lt;/mtd&gt;&lt;/mtr&gt;&lt;mtr&gt;&lt;mtd&gt;&lt;mfrac&gt;&lt;mn&gt;4&lt;/mn&gt;&lt;mn&gt;24&lt;/mn&gt;&lt;/mfrac&gt;&lt;mo&gt;=&lt;/mo&gt;&lt;mn&gt;0.1&lt;/mn&gt;&lt;mrow data-mjx-texclass=&quot;ORD&quot;&gt;&lt;mover&gt;&lt;mn&gt;6&lt;/mn&gt;&lt;mo&gt;˙&lt;/mo&gt;&lt;/mover&gt;&lt;/mrow&gt;&lt;/mtd&gt;&lt;/mtr&gt;&lt;mtr&gt;&lt;mtd&gt;&lt;mfrac&gt;&lt;mn&gt;6&lt;/mn&gt;&lt;mn&gt;36&lt;/mn&gt;&lt;/mfrac&gt;&lt;mo&gt;=&lt;/mo&gt;&lt;mn&gt;0.1&lt;/mn&gt;&lt;mrow data-mjx-texclass=&quot;ORD&quot;&gt;&lt;mover&gt;&lt;mn&gt;6&lt;/mn&gt;&lt;mo&gt;˙&lt;/mo&gt;&lt;/mover&gt;&lt;/mrow&gt;&lt;/mtd&gt;&lt;/mtr&gt;&lt;/mtable&gt;&lt;/math&gt;" title="3 lines Line 1: 2 over 16 equals 0.125 Line 2: 4 over 24 equals the repeating decimal 0.1 followed by repeating digit 6 Line 3: 6 over 36 equals the repeating decimal 0.1 followed by repeating digit 6"/>
          <p:cNvPicPr preferRelativeResize="0"/>
          <p:nvPr/>
        </p:nvPicPr>
        <p:blipFill>
          <a:blip r:embed="rId7">
            <a:alphaModFix/>
          </a:blip>
          <a:srcRect b="69221"/>
          <a:stretch>
            <a:fillRect/>
          </a:stretch>
        </p:blipFill>
        <p:spPr>
          <a:xfrm>
            <a:off x="2385053" y="7795832"/>
            <a:ext cx="867998" cy="297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&lt;math xmlns=&quot;http://www.w3.org/1998/Math/MathML&quot; display=&quot;block&quot; data-is-equatio=&quot;1&quot; data-latex=&quot;\begin{array}{l}\frac{2}{16}=0.125\\&amp;#13;&amp;#10;\frac{4}{24}=0.1\dot{6}\\&amp;#13;&amp;#10;\frac{6}{36}=0.1\dot{6}\end{array}&quot;&gt;&lt;mtable columnalign=&quot;left&quot; columnspacing=&quot;1em&quot; rowspacing=&quot;4pt&quot;&gt;&lt;mtr&gt;&lt;mtd&gt;&lt;mfrac&gt;&lt;mn&gt;2&lt;/mn&gt;&lt;mn&gt;16&lt;/mn&gt;&lt;/mfrac&gt;&lt;mo&gt;=&lt;/mo&gt;&lt;mn&gt;0.125&lt;/mn&gt;&lt;/mtd&gt;&lt;/mtr&gt;&lt;mtr&gt;&lt;mtd&gt;&lt;mfrac&gt;&lt;mn&gt;4&lt;/mn&gt;&lt;mn&gt;24&lt;/mn&gt;&lt;/mfrac&gt;&lt;mo&gt;=&lt;/mo&gt;&lt;mn&gt;0.1&lt;/mn&gt;&lt;mrow data-mjx-texclass=&quot;ORD&quot;&gt;&lt;mover&gt;&lt;mn&gt;6&lt;/mn&gt;&lt;mo&gt;˙&lt;/mo&gt;&lt;/mover&gt;&lt;/mrow&gt;&lt;/mtd&gt;&lt;/mtr&gt;&lt;mtr&gt;&lt;mtd&gt;&lt;mfrac&gt;&lt;mn&gt;6&lt;/mn&gt;&lt;mn&gt;36&lt;/mn&gt;&lt;/mfrac&gt;&lt;mo&gt;=&lt;/mo&gt;&lt;mn&gt;0.1&lt;/mn&gt;&lt;mrow data-mjx-texclass=&quot;ORD&quot;&gt;&lt;mover&gt;&lt;mn&gt;6&lt;/mn&gt;&lt;mo&gt;˙&lt;/mo&gt;&lt;/mover&gt;&lt;/mrow&gt;&lt;/mtd&gt;&lt;/mtr&gt;&lt;/mtable&gt;&lt;/math&gt;" title="3 lines Line 1: 2 over 16 equals 0.125 Line 2: 4 over 24 equals the repeating decimal 0.1 followed by repeating digit 6 Line 3: 6 over 36 equals the repeating decimal 0.1 followed by repeating digit 6"/>
          <p:cNvPicPr preferRelativeResize="0"/>
          <p:nvPr/>
        </p:nvPicPr>
        <p:blipFill>
          <a:blip r:embed="rId7">
            <a:alphaModFix/>
          </a:blip>
          <a:srcRect t="65406"/>
          <a:stretch>
            <a:fillRect/>
          </a:stretch>
        </p:blipFill>
        <p:spPr>
          <a:xfrm>
            <a:off x="2385053" y="8725213"/>
            <a:ext cx="867998" cy="33476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4018925" y="7211675"/>
            <a:ext cx="30783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Write a summary that advises a player how to decide which pair of dice gives them the greatest probability of rolling the total they want.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017175" y="8154900"/>
            <a:ext cx="29271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Use two tetrahedral dice when you want to roll a total of 6 or less.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017175" y="8807095"/>
            <a:ext cx="29271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Use two cube dice when you want to roll a total of 7 or more.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017175" y="9400000"/>
            <a:ext cx="29271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Alternatively, you could use one of each dice if you want to roll a total of 7.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7" name="Shape 207"/>
        <p:cNvGrpSpPr/>
        <p:nvPr/>
      </p:nvGrpSpPr>
      <p:grpSpPr>
        <a:xfrm>
          <a:off x="0" y="0"/>
          <a:ext cx="0" cy="0"/>
        </a:xfrm>
      </p:grpSpPr>
      <p:sp>
        <p:nvSpPr>
          <p:cNvPr id="208" name="Google Shape;20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9" name="Google Shape;209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theoretical probability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graphicFrame>
        <p:nvGraphicFramePr>
          <p:cNvPr id="212" name="Google Shape;212;p21"/>
          <p:cNvGraphicFramePr>
            <a:graphicFrameLocks noGrp="1"/>
          </p:cNvGraphicFramePr>
          <p:nvPr/>
        </p:nvGraphicFramePr>
        <p:xfrm>
          <a:off x="2530200" y="22132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{7A1CB787-4C9C-4610-9543-F7B80CF0814F}</a:tableStyleId>
              </a:tblPr>
              <a:tblGrid>
                <a:gridCol w="1469275"/>
                <a:gridCol w="985450"/>
                <a:gridCol w="1005325"/>
                <a:gridCol w="1050425"/>
              </a:tblGrid>
              <a:tr h="405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Version A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Version B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difference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462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 of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finding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gem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2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expected gems per 100 turns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6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expected gems per 1000 turns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3" name="Google Shape;213;p21"/>
          <p:cNvSpPr txBox="1"/>
          <p:nvPr/>
        </p:nvSpPr>
        <p:spPr>
          <a:xfrm>
            <a:off x="476400" y="1292700"/>
            <a:ext cx="6615600" cy="7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Lucas creates two versions of the same video game: Version A and Version B.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In Version A, the probability that a player finds a gem is 0.02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Players are 10% more likely to find a gem in Version B than in Version 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76400" y="725450"/>
            <a:ext cx="66156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Number of trials required to observe a difference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76400" y="2347837"/>
            <a:ext cx="2058600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the table.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904767" y="2691720"/>
            <a:ext cx="15801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0.02 × 1.1 = 0.022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5189492" y="2706228"/>
            <a:ext cx="589200" cy="2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0.022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590048" y="2997696"/>
            <a:ext cx="18204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0.022 − 0.02 = 0.002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115417" y="3342485"/>
            <a:ext cx="176100" cy="2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5189478" y="3342485"/>
            <a:ext cx="426000" cy="2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6225134" y="3342485"/>
            <a:ext cx="426000" cy="2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708071" y="3369245"/>
            <a:ext cx="18468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0.02 × 1000 = 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115417" y="3985306"/>
            <a:ext cx="283200" cy="2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5189478" y="3985306"/>
            <a:ext cx="426000" cy="2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6225134" y="3985306"/>
            <a:ext cx="426000" cy="2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585680" y="3736417"/>
            <a:ext cx="18468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0.022 × 1000 = 22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856688" y="4042394"/>
            <a:ext cx="12609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22 − 20 = 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6225134" y="2706225"/>
            <a:ext cx="563700" cy="2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0.002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76400" y="4435350"/>
            <a:ext cx="6615600" cy="4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turns would it take to expect a difference of 1 gem between the two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versions of the game?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708075" y="4912700"/>
            <a:ext cx="20655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0.022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− 0.02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1294872" y="5151475"/>
            <a:ext cx="12600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0.002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1629599" y="5380075"/>
            <a:ext cx="9768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500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3158474" y="4739563"/>
            <a:ext cx="9768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500 turns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37150" y="5927200"/>
            <a:ext cx="18204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Alternatively, proportional reasoning could be used.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76400" y="6702900"/>
            <a:ext cx="6414600" cy="23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Sofia creates a video game where players have a 0.5% probability of getting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caught in a trap each turn.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She creates a new version of the game where players are now 20% more likely to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get caught in a trap each turn, compared to the original version of the game.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76400" y="7666624"/>
            <a:ext cx="6615600" cy="2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probability of getting caught in a trap in the new version of the game?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76400" y="8259972"/>
            <a:ext cx="6615600" cy="5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turns would it take to expect a difference of 1 extra trap between the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two versions of the game?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2671789" y="7940716"/>
            <a:ext cx="15321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0.5% × 1.2 = 0.6%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2603986" y="8771404"/>
            <a:ext cx="16083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0.006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− 0.005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3392292" y="9068078"/>
            <a:ext cx="9810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0.001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3752542" y="9364752"/>
            <a:ext cx="9810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1000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3629634" y="9661427"/>
            <a:ext cx="9090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1000 turns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43" name="Google Shape;243;p21"/>
          <p:cNvGraphicFramePr>
            <a:graphicFrameLocks noGrp="1"/>
          </p:cNvGraphicFramePr>
          <p:nvPr/>
        </p:nvGraphicFramePr>
        <p:xfrm>
          <a:off x="2580138" y="52183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{7A1CB787-4C9C-4610-9543-F7B80CF0814F}</a:tableStyleId>
              </a:tblPr>
              <a:tblGrid>
                <a:gridCol w="1453000"/>
                <a:gridCol w="974525"/>
                <a:gridCol w="994175"/>
                <a:gridCol w="1038800"/>
              </a:tblGrid>
              <a:tr h="520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expected gems per 1000 turns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61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expected gems per 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turns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4" name="Google Shape;244;p21"/>
          <p:cNvSpPr txBox="1"/>
          <p:nvPr/>
        </p:nvSpPr>
        <p:spPr>
          <a:xfrm>
            <a:off x="4239112" y="5306826"/>
            <a:ext cx="2556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5207130" y="5306826"/>
            <a:ext cx="3849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6142880" y="5306826"/>
            <a:ext cx="3849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4230438" y="5906875"/>
            <a:ext cx="7116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5193846" y="5906875"/>
            <a:ext cx="7116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49" name="Google Shape;249;p21"/>
          <p:cNvCxnSpPr/>
          <p:nvPr/>
        </p:nvCxnSpPr>
        <p:spPr>
          <a:xfrm flipH="1">
            <a:off x="6195833" y="5580927"/>
            <a:ext cx="0" cy="339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0" name="Google Shape;250;p21"/>
          <p:cNvSpPr txBox="1"/>
          <p:nvPr/>
        </p:nvSpPr>
        <p:spPr>
          <a:xfrm>
            <a:off x="6271949" y="5567504"/>
            <a:ext cx="3849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÷ 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51" name="Google Shape;251;p21"/>
          <p:cNvCxnSpPr/>
          <p:nvPr/>
        </p:nvCxnSpPr>
        <p:spPr>
          <a:xfrm flipH="1">
            <a:off x="5283131" y="5580927"/>
            <a:ext cx="0" cy="339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2" name="Google Shape;252;p21"/>
          <p:cNvSpPr txBox="1"/>
          <p:nvPr/>
        </p:nvSpPr>
        <p:spPr>
          <a:xfrm>
            <a:off x="5359247" y="5567504"/>
            <a:ext cx="3849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÷ 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53" name="Google Shape;253;p21"/>
          <p:cNvCxnSpPr/>
          <p:nvPr/>
        </p:nvCxnSpPr>
        <p:spPr>
          <a:xfrm flipH="1">
            <a:off x="4315113" y="5580927"/>
            <a:ext cx="0" cy="339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4" name="Google Shape;254;p21"/>
          <p:cNvSpPr txBox="1"/>
          <p:nvPr/>
        </p:nvSpPr>
        <p:spPr>
          <a:xfrm>
            <a:off x="4391229" y="5567504"/>
            <a:ext cx="3849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÷ 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2041400" y="5707896"/>
            <a:ext cx="3849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÷ 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2378813" y="5625183"/>
            <a:ext cx="384900" cy="410700"/>
          </a:xfrm>
          <a:prstGeom prst="arc">
            <a:avLst>
              <a:gd name="adj1" fmla="val 5379818"/>
              <a:gd name="adj2" fmla="val 1613646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63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Problem solving with theoretical probability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2024-03-05T14:02:15.484</cp:lastPrinted>
  <dcterms:created xsi:type="dcterms:W3CDTF">2024-03-05T14:02:15Z</dcterms:created>
  <dcterms:modified xsi:type="dcterms:W3CDTF">2024-03-05T14:06:05Z</dcterms:modified>
</cp:coreProperties>
</file>