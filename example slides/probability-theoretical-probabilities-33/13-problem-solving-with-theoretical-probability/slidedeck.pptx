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9144000" cy="5143500"/>
  <p:notesSz cx="6858000" cy="9144000"/>
  <p:embeddedFontLst>
    <p:embeddedFont>
      <p:font typeface="Lexend" panose="00000000000000000000"/>
      <p:regular r:id="rId48"/>
    </p:embeddedFont>
    <p:embeddedFont>
      <p:font typeface="Lexend Medium" panose="00000000000000000000"/>
      <p:regular r:id="rId49"/>
    </p:embeddedFont>
    <p:embeddedFont>
      <p:font typeface="Kalam" panose="02000000000000000000"/>
      <p:regular r:id="rId50"/>
    </p:embeddedFont>
    <p:embeddedFont>
      <p:font typeface="Lexend Light" panose="00000000000000000000"/>
      <p:regular r:id="rId51"/>
    </p:embeddedFont>
  </p:embeddedFontLst>
  <p:custDataLst>
    <p:tags r:id="rId4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48A03FE-2D96-4E67-944D-6359C8AC33A9}">
  <a:tblStyle styleId="{E48A03FE-2D96-4E67-944D-6359C8AC33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slide" Target="slides/slide44.xml" /><Relationship Id="rId47" Type="http://schemas.openxmlformats.org/officeDocument/2006/relationships/tags" Target="tags/tag1.xml" /><Relationship Id="rId48" Type="http://schemas.openxmlformats.org/officeDocument/2006/relationships/font" Target="fonts/font1.fntdata" /><Relationship Id="rId49" Type="http://schemas.openxmlformats.org/officeDocument/2006/relationships/font" Target="fonts/font2.fntdata" /><Relationship Id="rId5" Type="http://schemas.openxmlformats.org/officeDocument/2006/relationships/slide" Target="slides/slide3.xml" /><Relationship Id="rId50" Type="http://schemas.openxmlformats.org/officeDocument/2006/relationships/font" Target="fonts/font3.fntdata" /><Relationship Id="rId51" Type="http://schemas.openxmlformats.org/officeDocument/2006/relationships/font" Target="fonts/font4.fntdata" /><Relationship Id="rId52" Type="http://schemas.openxmlformats.org/officeDocument/2006/relationships/presProps" Target="presProps.xml" /><Relationship Id="rId53" Type="http://schemas.openxmlformats.org/officeDocument/2006/relationships/viewProps" Target="viewProps.xml" /><Relationship Id="rId54" Type="http://schemas.openxmlformats.org/officeDocument/2006/relationships/theme" Target="theme/theme1.xml" /><Relationship Id="rId55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_rels/notesSlide4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4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g2b5d6212677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b5d6212677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g2b96b6c8847_0_8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96b6c8847_0_8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sp>
        <p:nvSpPr>
          <p:cNvPr id="772" name="Google Shape;772;g2b5d6212677_0_7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b5d6212677_0_7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9" name="Shape 779"/>
        <p:cNvGrpSpPr/>
        <p:nvPr/>
      </p:nvGrpSpPr>
      <p:grpSpPr>
        <a:xfrm>
          <a:off x="0" y="0"/>
          <a:ext cx="0" cy="0"/>
        </a:xfrm>
      </p:grpSpPr>
      <p:sp>
        <p:nvSpPr>
          <p:cNvPr id="780" name="Google Shape;780;g2b92587b1af_0_3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b92587b1af_0_3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7" name="Shape 797"/>
        <p:cNvGrpSpPr/>
        <p:nvPr/>
      </p:nvGrpSpPr>
      <p:grpSpPr>
        <a:xfrm>
          <a:off x="0" y="0"/>
          <a:ext cx="0" cy="0"/>
        </a:xfrm>
      </p:grpSpPr>
      <p:sp>
        <p:nvSpPr>
          <p:cNvPr id="798" name="Google Shape;798;g2b92587b1af_0_3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b92587b1af_0_3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6" name="Shape 816"/>
        <p:cNvGrpSpPr/>
        <p:nvPr/>
      </p:nvGrpSpPr>
      <p:grpSpPr>
        <a:xfrm>
          <a:off x="0" y="0"/>
          <a:ext cx="0" cy="0"/>
        </a:xfrm>
      </p:grpSpPr>
      <p:sp>
        <p:nvSpPr>
          <p:cNvPr id="817" name="Google Shape;817;g2b92587b1af_0_3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b92587b1af_0_3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6" name="Shape 826"/>
        <p:cNvGrpSpPr/>
        <p:nvPr/>
      </p:nvGrpSpPr>
      <p:grpSpPr>
        <a:xfrm>
          <a:off x="0" y="0"/>
          <a:ext cx="0" cy="0"/>
        </a:xfrm>
      </p:grpSpPr>
      <p:sp>
        <p:nvSpPr>
          <p:cNvPr id="827" name="Google Shape;827;g2b92587b1af_0_3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b92587b1af_0_3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5" name="Shape 845"/>
        <p:cNvGrpSpPr/>
        <p:nvPr/>
      </p:nvGrpSpPr>
      <p:grpSpPr>
        <a:xfrm>
          <a:off x="0" y="0"/>
          <a:ext cx="0" cy="0"/>
        </a:xfrm>
      </p:grpSpPr>
      <p:sp>
        <p:nvSpPr>
          <p:cNvPr id="846" name="Google Shape;846;g2b92587b1af_0_3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b92587b1af_0_3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3" name="Shape 863"/>
        <p:cNvGrpSpPr/>
        <p:nvPr/>
      </p:nvGrpSpPr>
      <p:grpSpPr>
        <a:xfrm>
          <a:off x="0" y="0"/>
          <a:ext cx="0" cy="0"/>
        </a:xfrm>
      </p:grpSpPr>
      <p:sp>
        <p:nvSpPr>
          <p:cNvPr id="864" name="Google Shape;864;g2b92587b1af_0_3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b92587b1af_0_3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0" name="Shape 880"/>
        <p:cNvGrpSpPr/>
        <p:nvPr/>
      </p:nvGrpSpPr>
      <p:grpSpPr>
        <a:xfrm>
          <a:off x="0" y="0"/>
          <a:ext cx="0" cy="0"/>
        </a:xfrm>
      </p:grpSpPr>
      <p:sp>
        <p:nvSpPr>
          <p:cNvPr id="881" name="Google Shape;881;g2b92587b1af_0_4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b92587b1af_0_4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6" name="Shape 906"/>
        <p:cNvGrpSpPr/>
        <p:nvPr/>
      </p:nvGrpSpPr>
      <p:grpSpPr>
        <a:xfrm>
          <a:off x="0" y="0"/>
          <a:ext cx="0" cy="0"/>
        </a:xfrm>
      </p:grpSpPr>
      <p:sp>
        <p:nvSpPr>
          <p:cNvPr id="907" name="Google Shape;907;g2b92587b1af_0_4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b92587b1af_0_4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1" name="Shape 931"/>
        <p:cNvGrpSpPr/>
        <p:nvPr/>
      </p:nvGrpSpPr>
      <p:grpSpPr>
        <a:xfrm>
          <a:off x="0" y="0"/>
          <a:ext cx="0" cy="0"/>
        </a:xfrm>
      </p:grpSpPr>
      <p:sp>
        <p:nvSpPr>
          <p:cNvPr id="932" name="Google Shape;932;g2b92587b1af_0_4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2b92587b1af_0_4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6" name="Shape 966"/>
        <p:cNvGrpSpPr/>
        <p:nvPr/>
      </p:nvGrpSpPr>
      <p:grpSpPr>
        <a:xfrm>
          <a:off x="0" y="0"/>
          <a:ext cx="0" cy="0"/>
        </a:xfrm>
      </p:grpSpPr>
      <p:sp>
        <p:nvSpPr>
          <p:cNvPr id="967" name="Google Shape;967;g2b92587b1af_0_5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b92587b1af_0_5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6" name="Shape 996"/>
        <p:cNvGrpSpPr/>
        <p:nvPr/>
      </p:nvGrpSpPr>
      <p:grpSpPr>
        <a:xfrm>
          <a:off x="0" y="0"/>
          <a:ext cx="0" cy="0"/>
        </a:xfrm>
      </p:grpSpPr>
      <p:sp>
        <p:nvSpPr>
          <p:cNvPr id="997" name="Google Shape;997;g2b96b6c8847_0_5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b96b6c8847_0_5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86" name="Shape 1086"/>
        <p:cNvGrpSpPr/>
        <p:nvPr/>
      </p:nvGrpSpPr>
      <p:grpSpPr>
        <a:xfrm>
          <a:off x="0" y="0"/>
          <a:ext cx="0" cy="0"/>
        </a:xfrm>
      </p:grpSpPr>
      <p:sp>
        <p:nvSpPr>
          <p:cNvPr id="1087" name="Google Shape;1087;g2b96b6c8847_0_7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b96b6c8847_0_7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8" name="Shape 1178"/>
        <p:cNvGrpSpPr/>
        <p:nvPr/>
      </p:nvGrpSpPr>
      <p:grpSpPr>
        <a:xfrm>
          <a:off x="0" y="0"/>
          <a:ext cx="0" cy="0"/>
        </a:xfrm>
      </p:grpSpPr>
      <p:sp>
        <p:nvSpPr>
          <p:cNvPr id="1179" name="Google Shape;1179;g2b92587b1af_0_5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2b92587b1af_0_5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4" name="Shape 1194"/>
        <p:cNvGrpSpPr/>
        <p:nvPr/>
      </p:nvGrpSpPr>
      <p:grpSpPr>
        <a:xfrm>
          <a:off x="0" y="0"/>
          <a:ext cx="0" cy="0"/>
        </a:xfrm>
      </p:grpSpPr>
      <p:sp>
        <p:nvSpPr>
          <p:cNvPr id="1195" name="Google Shape;1195;g2b96b6c8847_0_16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2b96b6c8847_0_16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6" name="Shape 1206"/>
        <p:cNvGrpSpPr/>
        <p:nvPr/>
      </p:nvGrpSpPr>
      <p:grpSpPr>
        <a:xfrm>
          <a:off x="0" y="0"/>
          <a:ext cx="0" cy="0"/>
        </a:xfrm>
      </p:grpSpPr>
      <p:sp>
        <p:nvSpPr>
          <p:cNvPr id="1207" name="Google Shape;1207;g2b96b6c8847_0_16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2b96b6c8847_0_16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8" name="Shape 1218"/>
        <p:cNvGrpSpPr/>
        <p:nvPr/>
      </p:nvGrpSpPr>
      <p:grpSpPr>
        <a:xfrm>
          <a:off x="0" y="0"/>
          <a:ext cx="0" cy="0"/>
        </a:xfrm>
      </p:grpSpPr>
      <p:sp>
        <p:nvSpPr>
          <p:cNvPr id="1219" name="Google Shape;1219;g2b96b6c8847_0_16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2b96b6c8847_0_16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0" name="Shape 1230"/>
        <p:cNvGrpSpPr/>
        <p:nvPr/>
      </p:nvGrpSpPr>
      <p:grpSpPr>
        <a:xfrm>
          <a:off x="0" y="0"/>
          <a:ext cx="0" cy="0"/>
        </a:xfrm>
      </p:grpSpPr>
      <p:sp>
        <p:nvSpPr>
          <p:cNvPr id="1231" name="Google Shape;1231;g2b96b6c8847_0_16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b96b6c8847_0_16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2" name="Shape 1242"/>
        <p:cNvGrpSpPr/>
        <p:nvPr/>
      </p:nvGrpSpPr>
      <p:grpSpPr>
        <a:xfrm>
          <a:off x="0" y="0"/>
          <a:ext cx="0" cy="0"/>
        </a:xfrm>
      </p:grpSpPr>
      <p:sp>
        <p:nvSpPr>
          <p:cNvPr id="1243" name="Google Shape;1243;g2b96b6c8847_0_17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4" name="Google Shape;1244;g2b96b6c8847_0_17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2" name="Shape 1252"/>
        <p:cNvGrpSpPr/>
        <p:nvPr/>
      </p:nvGrpSpPr>
      <p:grpSpPr>
        <a:xfrm>
          <a:off x="0" y="0"/>
          <a:ext cx="0" cy="0"/>
        </a:xfrm>
      </p:grpSpPr>
      <p:sp>
        <p:nvSpPr>
          <p:cNvPr id="1253" name="Google Shape;1253;g2b96b6c8847_0_4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2b96b6c8847_0_4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0" name="Shape 1260"/>
        <p:cNvGrpSpPr/>
        <p:nvPr/>
      </p:nvGrpSpPr>
      <p:grpSpPr>
        <a:xfrm>
          <a:off x="0" y="0"/>
          <a:ext cx="0" cy="0"/>
        </a:xfrm>
      </p:grpSpPr>
      <p:sp>
        <p:nvSpPr>
          <p:cNvPr id="1261" name="Google Shape;1261;g2b92587b1af_0_6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b92587b1af_0_6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5" name="Shape 1275"/>
        <p:cNvGrpSpPr/>
        <p:nvPr/>
      </p:nvGrpSpPr>
      <p:grpSpPr>
        <a:xfrm>
          <a:off x="0" y="0"/>
          <a:ext cx="0" cy="0"/>
        </a:xfrm>
      </p:grpSpPr>
      <p:sp>
        <p:nvSpPr>
          <p:cNvPr id="1276" name="Google Shape;1276;g2b96b6c8847_0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b96b6c8847_0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99" name="Shape 1299"/>
        <p:cNvGrpSpPr/>
        <p:nvPr/>
      </p:nvGrpSpPr>
      <p:grpSpPr>
        <a:xfrm>
          <a:off x="0" y="0"/>
          <a:ext cx="0" cy="0"/>
        </a:xfrm>
      </p:grpSpPr>
      <p:sp>
        <p:nvSpPr>
          <p:cNvPr id="1300" name="Google Shape;1300;g2b96b6c8847_0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2b96b6c8847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18" name="Shape 1318"/>
        <p:cNvGrpSpPr/>
        <p:nvPr/>
      </p:nvGrpSpPr>
      <p:grpSpPr>
        <a:xfrm>
          <a:off x="0" y="0"/>
          <a:ext cx="0" cy="0"/>
        </a:xfrm>
      </p:grpSpPr>
      <p:sp>
        <p:nvSpPr>
          <p:cNvPr id="1319" name="Google Shape;1319;g2b96b6c8847_0_1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2b96b6c8847_0_1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4" name="Shape 1334"/>
        <p:cNvGrpSpPr/>
        <p:nvPr/>
      </p:nvGrpSpPr>
      <p:grpSpPr>
        <a:xfrm>
          <a:off x="0" y="0"/>
          <a:ext cx="0" cy="0"/>
        </a:xfrm>
      </p:grpSpPr>
      <p:sp>
        <p:nvSpPr>
          <p:cNvPr id="1335" name="Google Shape;1335;g2b96b6c8847_0_1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2b96b6c8847_0_1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9" name="Shape 1359"/>
        <p:cNvGrpSpPr/>
        <p:nvPr/>
      </p:nvGrpSpPr>
      <p:grpSpPr>
        <a:xfrm>
          <a:off x="0" y="0"/>
          <a:ext cx="0" cy="0"/>
        </a:xfrm>
      </p:grpSpPr>
      <p:sp>
        <p:nvSpPr>
          <p:cNvPr id="1360" name="Google Shape;1360;g2b96b6c8847_0_1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2b96b6c8847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73" name="Shape 1373"/>
        <p:cNvGrpSpPr/>
        <p:nvPr/>
      </p:nvGrpSpPr>
      <p:grpSpPr>
        <a:xfrm>
          <a:off x="0" y="0"/>
          <a:ext cx="0" cy="0"/>
        </a:xfrm>
      </p:grpSpPr>
      <p:sp>
        <p:nvSpPr>
          <p:cNvPr id="1374" name="Google Shape;1374;g2b96b6c8847_0_1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2b96b6c8847_0_1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87" name="Shape 1387"/>
        <p:cNvGrpSpPr/>
        <p:nvPr/>
      </p:nvGrpSpPr>
      <p:grpSpPr>
        <a:xfrm>
          <a:off x="0" y="0"/>
          <a:ext cx="0" cy="0"/>
        </a:xfrm>
      </p:grpSpPr>
      <p:sp>
        <p:nvSpPr>
          <p:cNvPr id="1388" name="Google Shape;1388;g2b96b6c8847_0_1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2b96b6c8847_0_1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12" name="Shape 1412"/>
        <p:cNvGrpSpPr/>
        <p:nvPr/>
      </p:nvGrpSpPr>
      <p:grpSpPr>
        <a:xfrm>
          <a:off x="0" y="0"/>
          <a:ext cx="0" cy="0"/>
        </a:xfrm>
      </p:grpSpPr>
      <p:sp>
        <p:nvSpPr>
          <p:cNvPr id="1413" name="Google Shape;1413;g2b96b6c8847_0_2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2b96b6c8847_0_2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32" name="Shape 1432"/>
        <p:cNvGrpSpPr/>
        <p:nvPr/>
      </p:nvGrpSpPr>
      <p:grpSpPr>
        <a:xfrm>
          <a:off x="0" y="0"/>
          <a:ext cx="0" cy="0"/>
        </a:xfrm>
      </p:grpSpPr>
      <p:sp>
        <p:nvSpPr>
          <p:cNvPr id="1433" name="Google Shape;1433;g2b96b6c8847_0_2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2b96b6c8847_0_2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7" name="Shape 1457"/>
        <p:cNvGrpSpPr/>
        <p:nvPr/>
      </p:nvGrpSpPr>
      <p:grpSpPr>
        <a:xfrm>
          <a:off x="0" y="0"/>
          <a:ext cx="0" cy="0"/>
        </a:xfrm>
      </p:grpSpPr>
      <p:sp>
        <p:nvSpPr>
          <p:cNvPr id="1458" name="Google Shape;1458;g2b96b6c8847_0_29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9" name="Google Shape;1459;g2b96b6c8847_0_2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71" name="Shape 1471"/>
        <p:cNvGrpSpPr/>
        <p:nvPr/>
      </p:nvGrpSpPr>
      <p:grpSpPr>
        <a:xfrm>
          <a:off x="0" y="0"/>
          <a:ext cx="0" cy="0"/>
        </a:xfrm>
      </p:grpSpPr>
      <p:sp>
        <p:nvSpPr>
          <p:cNvPr id="1472" name="Google Shape;1472;g2b96b6c8847_0_3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2b96b6c8847_0_3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4" name="Shape 1484"/>
        <p:cNvGrpSpPr/>
        <p:nvPr/>
      </p:nvGrpSpPr>
      <p:grpSpPr>
        <a:xfrm>
          <a:off x="0" y="0"/>
          <a:ext cx="0" cy="0"/>
        </a:xfrm>
      </p:grpSpPr>
      <p:sp>
        <p:nvSpPr>
          <p:cNvPr id="1485" name="Google Shape;1485;g2b96b6c8847_0_3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b96b6c8847_0_3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3" name="Shape 1493"/>
        <p:cNvGrpSpPr/>
        <p:nvPr/>
      </p:nvGrpSpPr>
      <p:grpSpPr>
        <a:xfrm>
          <a:off x="0" y="0"/>
          <a:ext cx="0" cy="0"/>
        </a:xfrm>
      </p:grpSpPr>
      <p:sp>
        <p:nvSpPr>
          <p:cNvPr id="1494" name="Google Shape;1494;g2b96b6c8847_0_4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b96b6c8847_0_4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1" name="Shape 1501"/>
        <p:cNvGrpSpPr/>
        <p:nvPr/>
      </p:nvGrpSpPr>
      <p:grpSpPr>
        <a:xfrm>
          <a:off x="0" y="0"/>
          <a:ext cx="0" cy="0"/>
        </a:xfrm>
      </p:grpSpPr>
      <p:sp>
        <p:nvSpPr>
          <p:cNvPr id="1502" name="Google Shape;1502;g2b96b6c8847_0_3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2b96b6c8847_0_3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22" name="Shape 1522"/>
        <p:cNvGrpSpPr/>
        <p:nvPr/>
      </p:nvGrpSpPr>
      <p:grpSpPr>
        <a:xfrm>
          <a:off x="0" y="0"/>
          <a:ext cx="0" cy="0"/>
        </a:xfrm>
      </p:grpSpPr>
      <p:sp>
        <p:nvSpPr>
          <p:cNvPr id="1523" name="Google Shape;1523;g2b96b6c8847_0_3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2b96b6c8847_0_3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45" name="Shape 1545"/>
        <p:cNvGrpSpPr/>
        <p:nvPr/>
      </p:nvGrpSpPr>
      <p:grpSpPr>
        <a:xfrm>
          <a:off x="0" y="0"/>
          <a:ext cx="0" cy="0"/>
        </a:xfrm>
      </p:grpSpPr>
      <p:sp>
        <p:nvSpPr>
          <p:cNvPr id="1546" name="Google Shape;1546;g2b96b6c8847_0_4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2b96b6c8847_0_4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3" name="Shape 1573"/>
        <p:cNvGrpSpPr/>
        <p:nvPr/>
      </p:nvGrpSpPr>
      <p:grpSpPr>
        <a:xfrm>
          <a:off x="0" y="0"/>
          <a:ext cx="0" cy="0"/>
        </a:xfrm>
      </p:grpSpPr>
      <p:sp>
        <p:nvSpPr>
          <p:cNvPr id="1574" name="Google Shape;1574;g2b96b6c8847_0_4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2b96b6c8847_0_4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6" name="Shape 1586"/>
        <p:cNvGrpSpPr/>
        <p:nvPr/>
      </p:nvGrpSpPr>
      <p:grpSpPr>
        <a:xfrm>
          <a:off x="0" y="0"/>
          <a:ext cx="0" cy="0"/>
        </a:xfrm>
      </p:grpSpPr>
      <p:sp>
        <p:nvSpPr>
          <p:cNvPr id="1587" name="Google Shape;1587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92" name="Shape 1592"/>
        <p:cNvGrpSpPr/>
        <p:nvPr/>
      </p:nvGrpSpPr>
      <p:grpSpPr>
        <a:xfrm>
          <a:off x="0" y="0"/>
          <a:ext cx="0" cy="0"/>
        </a:xfrm>
      </p:grpSpPr>
      <p:sp>
        <p:nvSpPr>
          <p:cNvPr id="1593" name="Google Shape;1593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Relationship Id="rId7" Type="http://schemas.openxmlformats.org/officeDocument/2006/relationships/image" Target="../media/image48.png" /><Relationship Id="rId8" Type="http://schemas.openxmlformats.org/officeDocument/2006/relationships/image" Target="../media/image49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5.png" /><Relationship Id="rId4" Type="http://schemas.openxmlformats.org/officeDocument/2006/relationships/image" Target="../media/image50.png" /><Relationship Id="rId5" Type="http://schemas.openxmlformats.org/officeDocument/2006/relationships/image" Target="../media/image49.png" /><Relationship Id="rId6" Type="http://schemas.openxmlformats.org/officeDocument/2006/relationships/image" Target="../media/image48.png" /><Relationship Id="rId7" Type="http://schemas.openxmlformats.org/officeDocument/2006/relationships/image" Target="../media/image46.png" /><Relationship Id="rId8" Type="http://schemas.openxmlformats.org/officeDocument/2006/relationships/image" Target="../media/image4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6.png" /><Relationship Id="rId4" Type="http://schemas.openxmlformats.org/officeDocument/2006/relationships/image" Target="../media/image4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6.png" /><Relationship Id="rId4" Type="http://schemas.openxmlformats.org/officeDocument/2006/relationships/image" Target="../media/image51.png" /><Relationship Id="rId5" Type="http://schemas.openxmlformats.org/officeDocument/2006/relationships/image" Target="../media/image48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52.png" /><Relationship Id="rId6" Type="http://schemas.openxmlformats.org/officeDocument/2006/relationships/image" Target="../media/image48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3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10" Type="http://schemas.openxmlformats.org/officeDocument/2006/relationships/image" Target="../media/image48.png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3.png" /><Relationship Id="rId4" Type="http://schemas.openxmlformats.org/officeDocument/2006/relationships/image" Target="../media/image52.png" /><Relationship Id="rId5" Type="http://schemas.openxmlformats.org/officeDocument/2006/relationships/image" Target="../media/image51.png" /><Relationship Id="rId6" Type="http://schemas.openxmlformats.org/officeDocument/2006/relationships/image" Target="../media/image46.png" /><Relationship Id="rId7" Type="http://schemas.openxmlformats.org/officeDocument/2006/relationships/image" Target="../media/image47.png" /><Relationship Id="rId8" Type="http://schemas.openxmlformats.org/officeDocument/2006/relationships/image" Target="../media/image54.png" /><Relationship Id="rId9" Type="http://schemas.openxmlformats.org/officeDocument/2006/relationships/image" Target="../media/image55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10" Type="http://schemas.openxmlformats.org/officeDocument/2006/relationships/image" Target="../media/image49.png" /><Relationship Id="rId11" Type="http://schemas.openxmlformats.org/officeDocument/2006/relationships/image" Target="../media/image48.png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3.png" /><Relationship Id="rId4" Type="http://schemas.openxmlformats.org/officeDocument/2006/relationships/image" Target="../media/image52.png" /><Relationship Id="rId5" Type="http://schemas.openxmlformats.org/officeDocument/2006/relationships/image" Target="../media/image51.png" /><Relationship Id="rId6" Type="http://schemas.openxmlformats.org/officeDocument/2006/relationships/image" Target="../media/image46.png" /><Relationship Id="rId7" Type="http://schemas.openxmlformats.org/officeDocument/2006/relationships/image" Target="../media/image47.png" /><Relationship Id="rId8" Type="http://schemas.openxmlformats.org/officeDocument/2006/relationships/image" Target="../media/image55.png" /><Relationship Id="rId9" Type="http://schemas.openxmlformats.org/officeDocument/2006/relationships/image" Target="../media/image44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10" Type="http://schemas.openxmlformats.org/officeDocument/2006/relationships/image" Target="../media/image49.png" /><Relationship Id="rId11" Type="http://schemas.openxmlformats.org/officeDocument/2006/relationships/image" Target="../media/image48.png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4.png" /><Relationship Id="rId4" Type="http://schemas.openxmlformats.org/officeDocument/2006/relationships/image" Target="../media/image46.png" /><Relationship Id="rId5" Type="http://schemas.openxmlformats.org/officeDocument/2006/relationships/image" Target="../media/image53.png" /><Relationship Id="rId6" Type="http://schemas.openxmlformats.org/officeDocument/2006/relationships/image" Target="../media/image52.png" /><Relationship Id="rId7" Type="http://schemas.openxmlformats.org/officeDocument/2006/relationships/image" Target="../media/image51.png" /><Relationship Id="rId8" Type="http://schemas.openxmlformats.org/officeDocument/2006/relationships/image" Target="../media/image47.png" /><Relationship Id="rId9" Type="http://schemas.openxmlformats.org/officeDocument/2006/relationships/image" Target="../media/image56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7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39.png" /><Relationship Id="rId4" Type="http://schemas.openxmlformats.org/officeDocument/2006/relationships/image" Target="../media/image58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39.png" /><Relationship Id="rId4" Type="http://schemas.openxmlformats.org/officeDocument/2006/relationships/image" Target="../media/image58.png" /><Relationship Id="rId5" Type="http://schemas.openxmlformats.org/officeDocument/2006/relationships/image" Target="../media/image5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7.png" /><Relationship Id="rId4" Type="http://schemas.openxmlformats.org/officeDocument/2006/relationships/image" Target="../media/image59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60.png" /><Relationship Id="rId4" Type="http://schemas.openxmlformats.org/officeDocument/2006/relationships/image" Target="../media/image61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62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62.png" /><Relationship Id="rId4" Type="http://schemas.openxmlformats.org/officeDocument/2006/relationships/image" Target="../media/image63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63.png" /><Relationship Id="rId4" Type="http://schemas.openxmlformats.org/officeDocument/2006/relationships/image" Target="../media/image64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3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44.png" /><Relationship Id="rId4" Type="http://schemas.openxmlformats.org/officeDocument/2006/relationships/image" Target="../media/image54.png" /><Relationship Id="rId5" Type="http://schemas.openxmlformats.org/officeDocument/2006/relationships/image" Target="../media/image65.png" /><Relationship Id="rId6" Type="http://schemas.openxmlformats.org/officeDocument/2006/relationships/image" Target="../media/image66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65.png" /><Relationship Id="rId4" Type="http://schemas.openxmlformats.org/officeDocument/2006/relationships/image" Target="../media/image66.png" /><Relationship Id="rId5" Type="http://schemas.openxmlformats.org/officeDocument/2006/relationships/image" Target="../media/image67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68.png" /><Relationship Id="rId4" Type="http://schemas.openxmlformats.org/officeDocument/2006/relationships/image" Target="../media/image65.png" /><Relationship Id="rId5" Type="http://schemas.openxmlformats.org/officeDocument/2006/relationships/image" Target="../media/image66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8.png" /><Relationship Id="rId4" Type="http://schemas.openxmlformats.org/officeDocument/2006/relationships/image" Target="../media/image65.png" /><Relationship Id="rId5" Type="http://schemas.openxmlformats.org/officeDocument/2006/relationships/image" Target="../media/image66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5.png" /><Relationship Id="rId4" Type="http://schemas.openxmlformats.org/officeDocument/2006/relationships/image" Target="../media/image66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44.png" /><Relationship Id="rId4" Type="http://schemas.openxmlformats.org/officeDocument/2006/relationships/image" Target="../media/image65.png" /><Relationship Id="rId5" Type="http://schemas.openxmlformats.org/officeDocument/2006/relationships/image" Target="../media/image66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44.png" /><Relationship Id="rId4" Type="http://schemas.openxmlformats.org/officeDocument/2006/relationships/image" Target="../media/image65.png" /><Relationship Id="rId5" Type="http://schemas.openxmlformats.org/officeDocument/2006/relationships/image" Target="../media/image66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65.png" /><Relationship Id="rId4" Type="http://schemas.openxmlformats.org/officeDocument/2006/relationships/image" Target="../media/image66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44.png" /><Relationship Id="rId4" Type="http://schemas.openxmlformats.org/officeDocument/2006/relationships/image" Target="../media/image65.png" /><Relationship Id="rId5" Type="http://schemas.openxmlformats.org/officeDocument/2006/relationships/image" Target="../media/image66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39.png" /><Relationship Id="rId4" Type="http://schemas.openxmlformats.org/officeDocument/2006/relationships/image" Target="../media/image58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1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2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43.xml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4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theoretical probability</a:t>
            </a:r>
            <a:endParaRPr/>
          </a:p>
        </p:txBody>
      </p:sp>
      <p:sp>
        <p:nvSpPr>
          <p:cNvPr id="754" name="Google Shape;754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Probability: theoretical probabilities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8" name="Shape 758"/>
        <p:cNvGrpSpPr/>
        <p:nvPr/>
      </p:nvGrpSpPr>
      <p:grpSpPr>
        <a:xfrm>
          <a:off x="0" y="0"/>
          <a: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3" name="Shape 763"/>
        <p:cNvGrpSpPr/>
        <p:nvPr/>
      </p:nvGrpSpPr>
      <p:grpSpPr>
        <a:xfrm>
          <a:off x="0" y="0"/>
          <a:ext cx="0" cy="0"/>
        </a:xfrm>
      </p:grpSpPr>
      <p:sp>
        <p:nvSpPr>
          <p:cNvPr id="764" name="Google Shape;764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use my knowledge of probability to solve problems.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8" name="Shape 768"/>
        <p:cNvGrpSpPr/>
        <p:nvPr/>
      </p:nvGrpSpPr>
      <p:grpSpPr>
        <a:xfrm>
          <a:off x="0" y="0"/>
          <a:ext cx="0" cy="0"/>
        </a:xfrm>
      </p:grpSpPr>
      <p:sp>
        <p:nvSpPr>
          <p:cNvPr id="769" name="Google Shape;769;p66"/>
          <p:cNvSpPr txBox="1"/>
          <p:nvPr>
            <p:ph type="subTitle" idx="1"/>
          </p:nvPr>
        </p:nvSpPr>
        <p:spPr>
          <a:xfrm>
            <a:off x="324000" y="1048850"/>
            <a:ext cx="8496000" cy="104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A sample space is all the possible outcomes of a trial. A sample space diagram is a systematic way of producing a sample space.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70" name="Google Shape;770;p66"/>
          <p:cNvSpPr txBox="1"/>
          <p:nvPr/>
        </p:nvSpPr>
        <p:spPr>
          <a:xfrm>
            <a:off x="324000" y="1953000"/>
            <a:ext cx="8496000" cy="17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Tree diagrams are a representation used to model statistical/probability questions. Branches represent different possible events or outcomes.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outcome table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 table that shows all the possible outcomes.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4" name="Shape 774"/>
        <p:cNvGrpSpPr/>
        <p:nvPr/>
      </p:nvGrpSpPr>
      <p:grpSpPr>
        <a:xfrm>
          <a:off x="0" y="0"/>
          <a: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probability to inform decisions</a:t>
            </a:r>
            <a:endParaRPr/>
          </a:p>
        </p:txBody>
      </p:sp>
      <p:sp>
        <p:nvSpPr>
          <p:cNvPr id="776" name="Google Shape;776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sp>
        <p:nvSpPr>
          <p:cNvPr id="777" name="Google Shape;777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theoretical probability</a:t>
            </a:r>
            <a:endParaRPr/>
          </a:p>
        </p:txBody>
      </p:sp>
      <p:pic>
        <p:nvPicPr>
          <p:cNvPr id="778" name="Google Shape;77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2" name="Shape 782"/>
        <p:cNvGrpSpPr/>
        <p:nvPr/>
      </p:nvGrpSpPr>
      <p:grpSpPr>
        <a:xfrm>
          <a:off x="0" y="0"/>
          <a:ext cx="0" cy="0"/>
        </a:xfrm>
      </p:grpSpPr>
      <p:pic>
        <p:nvPicPr>
          <p:cNvPr id="783" name="Google Shape;78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118644" y="2604225"/>
            <a:ext cx="3822300" cy="1599251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8"/>
          <p:cNvSpPr txBox="1"/>
          <p:nvPr>
            <p:ph type="body" idx="1"/>
          </p:nvPr>
        </p:nvSpPr>
        <p:spPr>
          <a:xfrm>
            <a:off x="4197575" y="2673950"/>
            <a:ext cx="3750300" cy="14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There will be more ways to roll a total of 8 if you use the octahedron dice. 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But there will also be more ways to roll other numbers too.</a:t>
            </a:r>
            <a:endParaRPr sz="1600"/>
          </a:p>
        </p:txBody>
      </p:sp>
      <p:pic>
        <p:nvPicPr>
          <p:cNvPr id="785" name="Google Shape;785;p68"/>
          <p:cNvPicPr preferRelativeResize="0"/>
          <p:nvPr/>
        </p:nvPicPr>
        <p:blipFill>
          <a:blip r:embed="rId4">
            <a:alphaModFix/>
          </a:blip>
          <a:srcRect t="56280" r="69082"/>
          <a:stretch>
            <a:fillRect/>
          </a:stretch>
        </p:blipFill>
        <p:spPr>
          <a:xfrm flipH="1">
            <a:off x="756602" y="2575250"/>
            <a:ext cx="1982648" cy="1052349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8"/>
          <p:cNvSpPr txBox="1"/>
          <p:nvPr>
            <p:ph type="body" idx="1"/>
          </p:nvPr>
        </p:nvSpPr>
        <p:spPr>
          <a:xfrm>
            <a:off x="324000" y="759300"/>
            <a:ext cx="8237700" cy="7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Andeep and Laura are playing a game that involves choosing two dice, rolling them and summing their numbers.</a:t>
            </a:r>
            <a:endParaRPr sz="2000"/>
          </a:p>
        </p:txBody>
      </p:sp>
      <p:sp>
        <p:nvSpPr>
          <p:cNvPr id="787" name="Google Shape;787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probability to inform decisions</a:t>
            </a:r>
            <a:endParaRPr/>
          </a:p>
        </p:txBody>
      </p:sp>
      <p:pic>
        <p:nvPicPr>
          <p:cNvPr id="788" name="Google Shape;788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0775" y="1962588"/>
            <a:ext cx="463272" cy="48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03593" y="1467600"/>
            <a:ext cx="457626" cy="44887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8"/>
          <p:cNvSpPr txBox="1"/>
          <p:nvPr>
            <p:ph type="body" idx="1"/>
          </p:nvPr>
        </p:nvSpPr>
        <p:spPr>
          <a:xfrm>
            <a:off x="329450" y="1557786"/>
            <a:ext cx="65448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Two of the dice are </a:t>
            </a:r>
            <a:r>
              <a:rPr lang="en-GB" sz="2000">
                <a:solidFill>
                  <a:schemeClr val="accent4"/>
                </a:solidFill>
              </a:rPr>
              <a:t>cubes</a:t>
            </a:r>
            <a:r>
              <a:rPr lang="en-GB" sz="2000"/>
              <a:t> containing numbers </a:t>
            </a:r>
            <a:r>
              <a:rPr lang="en-GB" sz="2000">
                <a:solidFill>
                  <a:schemeClr val="accent4"/>
                </a:solidFill>
              </a:rPr>
              <a:t>1 to 6</a:t>
            </a:r>
            <a:endParaRPr sz="2000"/>
          </a:p>
        </p:txBody>
      </p:sp>
      <p:pic>
        <p:nvPicPr>
          <p:cNvPr id="791" name="Google Shape;791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18595" y="1467600"/>
            <a:ext cx="457626" cy="44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67277" y="1962588"/>
            <a:ext cx="463272" cy="482837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8"/>
          <p:cNvSpPr txBox="1"/>
          <p:nvPr>
            <p:ph type="body" idx="1"/>
          </p:nvPr>
        </p:nvSpPr>
        <p:spPr>
          <a:xfrm>
            <a:off x="329450" y="2042200"/>
            <a:ext cx="74673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Two of the dice are </a:t>
            </a:r>
            <a:r>
              <a:rPr lang="en-GB" sz="2000">
                <a:solidFill>
                  <a:schemeClr val="accent4"/>
                </a:solidFill>
              </a:rPr>
              <a:t>octahedrons</a:t>
            </a:r>
            <a:r>
              <a:rPr lang="en-GB" sz="2000"/>
              <a:t> containing numbers </a:t>
            </a:r>
            <a:r>
              <a:rPr lang="en-GB" sz="2000">
                <a:solidFill>
                  <a:schemeClr val="accent4"/>
                </a:solidFill>
              </a:rPr>
              <a:t>1 to 8</a:t>
            </a:r>
            <a:endParaRPr sz="2000"/>
          </a:p>
        </p:txBody>
      </p:sp>
      <p:sp>
        <p:nvSpPr>
          <p:cNvPr id="794" name="Google Shape;794;p68"/>
          <p:cNvSpPr txBox="1"/>
          <p:nvPr>
            <p:ph type="body" idx="1"/>
          </p:nvPr>
        </p:nvSpPr>
        <p:spPr>
          <a:xfrm>
            <a:off x="966200" y="2804575"/>
            <a:ext cx="17226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 want my two dice to sum to 8.</a:t>
            </a:r>
            <a:endParaRPr sz="1600"/>
          </a:p>
        </p:txBody>
      </p:sp>
      <p:pic>
        <p:nvPicPr>
          <p:cNvPr id="795" name="Google Shape;79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436245" y="3658357"/>
            <a:ext cx="546549" cy="704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6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7909519" y="3814384"/>
            <a:ext cx="546550" cy="715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0" name="Shape 800"/>
        <p:cNvGrpSpPr/>
        <p:nvPr/>
      </p:nvGrpSpPr>
      <p:grpSpPr>
        <a:xfrm>
          <a:off x="0" y="0"/>
          <a:ext cx="0" cy="0"/>
        </a:xfrm>
      </p:grpSpPr>
      <p:pic>
        <p:nvPicPr>
          <p:cNvPr id="801" name="Google Shape;801;p69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756602" y="2575250"/>
            <a:ext cx="1982648" cy="1052349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9"/>
          <p:cNvSpPr txBox="1"/>
          <p:nvPr>
            <p:ph type="body" idx="1"/>
          </p:nvPr>
        </p:nvSpPr>
        <p:spPr>
          <a:xfrm>
            <a:off x="324000" y="759300"/>
            <a:ext cx="8237700" cy="7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Andeep and Laura are playing a game that involves choosing two dice, rolling them and summing their numbers.</a:t>
            </a:r>
            <a:endParaRPr sz="2000"/>
          </a:p>
        </p:txBody>
      </p:sp>
      <p:sp>
        <p:nvSpPr>
          <p:cNvPr id="803" name="Google Shape;80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probability to inform decisions</a:t>
            </a:r>
            <a:endParaRPr/>
          </a:p>
        </p:txBody>
      </p:sp>
      <p:sp>
        <p:nvSpPr>
          <p:cNvPr id="804" name="Google Shape;804;p69"/>
          <p:cNvSpPr txBox="1"/>
          <p:nvPr>
            <p:ph type="body" idx="1"/>
          </p:nvPr>
        </p:nvSpPr>
        <p:spPr>
          <a:xfrm>
            <a:off x="966200" y="2804575"/>
            <a:ext cx="17226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 want my two dice to sum to 8.</a:t>
            </a:r>
            <a:endParaRPr sz="1600"/>
          </a:p>
        </p:txBody>
      </p:sp>
      <p:pic>
        <p:nvPicPr>
          <p:cNvPr id="805" name="Google Shape;80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419650" y="2857650"/>
            <a:ext cx="3607675" cy="11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69"/>
          <p:cNvSpPr txBox="1"/>
          <p:nvPr>
            <p:ph type="body" idx="1"/>
          </p:nvPr>
        </p:nvSpPr>
        <p:spPr>
          <a:xfrm>
            <a:off x="4618350" y="2902550"/>
            <a:ext cx="3263100" cy="87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 wonder which representation of the outcomes would be best suited to model this problem?</a:t>
            </a:r>
            <a:endParaRPr sz="1600"/>
          </a:p>
        </p:txBody>
      </p:sp>
      <p:sp>
        <p:nvSpPr>
          <p:cNvPr id="807" name="Google Shape;807;p69"/>
          <p:cNvSpPr txBox="1"/>
          <p:nvPr>
            <p:ph type="body" idx="1"/>
          </p:nvPr>
        </p:nvSpPr>
        <p:spPr>
          <a:xfrm>
            <a:off x="1314600" y="4454925"/>
            <a:ext cx="61992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Which combination of two dice should Andeep choose?</a:t>
            </a:r>
            <a:endParaRPr sz="1800"/>
          </a:p>
        </p:txBody>
      </p:sp>
      <p:pic>
        <p:nvPicPr>
          <p:cNvPr id="808" name="Google Shape;808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909519" y="3814384"/>
            <a:ext cx="546550" cy="715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36245" y="3658357"/>
            <a:ext cx="546549" cy="704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00775" y="1962588"/>
            <a:ext cx="463272" cy="48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03593" y="1467600"/>
            <a:ext cx="457626" cy="44887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69"/>
          <p:cNvSpPr txBox="1"/>
          <p:nvPr>
            <p:ph type="body" idx="1"/>
          </p:nvPr>
        </p:nvSpPr>
        <p:spPr>
          <a:xfrm>
            <a:off x="329450" y="1557786"/>
            <a:ext cx="65448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Two of the dice are </a:t>
            </a:r>
            <a:r>
              <a:rPr lang="en-GB" sz="2000">
                <a:solidFill>
                  <a:schemeClr val="accent4"/>
                </a:solidFill>
              </a:rPr>
              <a:t>cubes</a:t>
            </a:r>
            <a:r>
              <a:rPr lang="en-GB" sz="2000"/>
              <a:t> containing numbers </a:t>
            </a:r>
            <a:r>
              <a:rPr lang="en-GB" sz="2000">
                <a:solidFill>
                  <a:schemeClr val="accent4"/>
                </a:solidFill>
              </a:rPr>
              <a:t>1 to 6</a:t>
            </a:r>
            <a:r>
              <a:rPr lang="en-GB" sz="2000"/>
              <a:t>.</a:t>
            </a:r>
            <a:endParaRPr sz="2000"/>
          </a:p>
        </p:txBody>
      </p:sp>
      <p:pic>
        <p:nvPicPr>
          <p:cNvPr id="813" name="Google Shape;813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18595" y="1467600"/>
            <a:ext cx="457626" cy="44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67277" y="1962588"/>
            <a:ext cx="463272" cy="482837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69"/>
          <p:cNvSpPr txBox="1"/>
          <p:nvPr>
            <p:ph type="body" idx="1"/>
          </p:nvPr>
        </p:nvSpPr>
        <p:spPr>
          <a:xfrm>
            <a:off x="329450" y="2042200"/>
            <a:ext cx="74673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Two of the dice are </a:t>
            </a:r>
            <a:r>
              <a:rPr lang="en-GB" sz="2000">
                <a:solidFill>
                  <a:schemeClr val="accent4"/>
                </a:solidFill>
              </a:rPr>
              <a:t>octahedrons </a:t>
            </a:r>
            <a:r>
              <a:rPr lang="en-GB" sz="2000"/>
              <a:t>containing numbers </a:t>
            </a:r>
            <a:r>
              <a:rPr lang="en-GB" sz="2000">
                <a:solidFill>
                  <a:schemeClr val="accent4"/>
                </a:solidFill>
              </a:rPr>
              <a:t>1 to 8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9" name="Shape 819"/>
        <p:cNvGrpSpPr/>
        <p:nvPr/>
      </p:nvGrpSpPr>
      <p:grpSpPr>
        <a:xfrm>
          <a:off x="0" y="0"/>
          <a:ext cx="0" cy="0"/>
        </a:xfrm>
      </p:grpSpPr>
      <p:sp>
        <p:nvSpPr>
          <p:cNvPr id="820" name="Google Shape;82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probability to inform decisions</a:t>
            </a:r>
            <a:endParaRPr/>
          </a:p>
        </p:txBody>
      </p:sp>
      <p:pic>
        <p:nvPicPr>
          <p:cNvPr id="821" name="Google Shape;82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375" y="4319988"/>
            <a:ext cx="463272" cy="48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0521" y="3615207"/>
            <a:ext cx="546549" cy="7047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3" name="Google Shape;823;p70"/>
          <p:cNvGraphicFramePr>
            <a:graphicFrameLocks noGrp="1"/>
          </p:cNvGraphicFramePr>
          <p:nvPr/>
        </p:nvGraphicFramePr>
        <p:xfrm>
          <a:off x="800138" y="93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382850"/>
                <a:gridCol w="412125"/>
                <a:gridCol w="412125"/>
                <a:gridCol w="412125"/>
                <a:gridCol w="412125"/>
                <a:gridCol w="412125"/>
                <a:gridCol w="412125"/>
                <a:gridCol w="412125"/>
                <a:gridCol w="412125"/>
              </a:tblGrid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824" name="Google Shape;82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377" y="906663"/>
            <a:ext cx="463272" cy="482837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0"/>
          <p:cNvSpPr txBox="1"/>
          <p:nvPr>
            <p:ph type="body" idx="1"/>
          </p:nvPr>
        </p:nvSpPr>
        <p:spPr>
          <a:xfrm>
            <a:off x="5205000" y="759300"/>
            <a:ext cx="3541800" cy="110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outcomes for each pair of dice can be represented in a two-way outcome table.</a:t>
            </a:r>
            <a:endParaRPr sz="2000"/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9" name="Shape 829"/>
        <p:cNvGrpSpPr/>
        <p:nvPr/>
      </p:nvGrpSpPr>
      <p:grpSpPr>
        <a:xfrm>
          <a:off x="0" y="0"/>
          <a:ext cx="0" cy="0"/>
        </a:xfrm>
      </p:grpSpPr>
      <p:sp>
        <p:nvSpPr>
          <p:cNvPr id="830" name="Google Shape;83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probability to inform decisions</a:t>
            </a:r>
            <a:endParaRPr/>
          </a:p>
        </p:txBody>
      </p:sp>
      <p:graphicFrame>
        <p:nvGraphicFramePr>
          <p:cNvPr id="831" name="Google Shape;831;p71"/>
          <p:cNvGraphicFramePr>
            <a:graphicFrameLocks noGrp="1"/>
          </p:cNvGraphicFramePr>
          <p:nvPr/>
        </p:nvGraphicFramePr>
        <p:xfrm>
          <a:off x="800138" y="93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382850"/>
                <a:gridCol w="412125"/>
                <a:gridCol w="412125"/>
                <a:gridCol w="412125"/>
                <a:gridCol w="412125"/>
                <a:gridCol w="412125"/>
                <a:gridCol w="412125"/>
                <a:gridCol w="412125"/>
                <a:gridCol w="412125"/>
              </a:tblGrid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832" name="Google Shape;83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375" y="4319988"/>
            <a:ext cx="463272" cy="48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377" y="906663"/>
            <a:ext cx="463272" cy="482837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1"/>
          <p:cNvSpPr txBox="1"/>
          <p:nvPr>
            <p:ph type="body" idx="1"/>
          </p:nvPr>
        </p:nvSpPr>
        <p:spPr>
          <a:xfrm>
            <a:off x="5205000" y="759300"/>
            <a:ext cx="3541800" cy="110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outcomes for each pair of dice can be represented in a two-way outcome table.</a:t>
            </a:r>
            <a:endParaRPr sz="2000"/>
          </a:p>
        </p:txBody>
      </p:sp>
      <p:sp>
        <p:nvSpPr>
          <p:cNvPr id="835" name="Google Shape;835;p71"/>
          <p:cNvSpPr txBox="1"/>
          <p:nvPr>
            <p:ph type="body" idx="1"/>
          </p:nvPr>
        </p:nvSpPr>
        <p:spPr>
          <a:xfrm>
            <a:off x="5205000" y="2207100"/>
            <a:ext cx="3541800" cy="4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P(8) = </a:t>
            </a:r>
            <a:endParaRPr sz="2000"/>
          </a:p>
        </p:txBody>
      </p:sp>
      <p:sp>
        <p:nvSpPr>
          <p:cNvPr id="836" name="Google Shape;836;p71"/>
          <p:cNvSpPr/>
          <p:nvPr/>
        </p:nvSpPr>
        <p:spPr>
          <a:xfrm>
            <a:off x="2858450" y="2231442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1"/>
          <p:cNvSpPr/>
          <p:nvPr/>
        </p:nvSpPr>
        <p:spPr>
          <a:xfrm>
            <a:off x="2445330" y="2657978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1"/>
          <p:cNvSpPr/>
          <p:nvPr/>
        </p:nvSpPr>
        <p:spPr>
          <a:xfrm>
            <a:off x="2034218" y="3085067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1"/>
          <p:cNvSpPr/>
          <p:nvPr/>
        </p:nvSpPr>
        <p:spPr>
          <a:xfrm>
            <a:off x="1618652" y="3511541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1"/>
          <p:cNvSpPr/>
          <p:nvPr/>
        </p:nvSpPr>
        <p:spPr>
          <a:xfrm>
            <a:off x="1206926" y="3938015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1"/>
          <p:cNvSpPr/>
          <p:nvPr/>
        </p:nvSpPr>
        <p:spPr>
          <a:xfrm>
            <a:off x="3270176" y="1812035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1"/>
          <p:cNvSpPr/>
          <p:nvPr/>
        </p:nvSpPr>
        <p:spPr>
          <a:xfrm>
            <a:off x="3674220" y="1384946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3" name="Google Shape;843;p71" descr="&lt;math xmlns=&quot;http://www.w3.org/1998/Math/MathML&quot; display=&quot;block&quot; data-is-equatio=&quot;1&quot; data-latex=&quot;\frac{7}{64}&quot;&gt;&lt;mfrac&gt;&lt;mn&gt;7&lt;/mn&gt;&lt;mn&gt;64&lt;/mn&gt;&lt;/mfrac&gt;&lt;/math&gt;" title="7 over 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0571" y="2094377"/>
            <a:ext cx="302620" cy="54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0521" y="3615207"/>
            <a:ext cx="546549" cy="7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8" name="Shape 848"/>
        <p:cNvGrpSpPr/>
        <p:nvPr/>
      </p:nvGrpSpPr>
      <p:grpSpPr>
        <a:xfrm>
          <a:off x="0" y="0"/>
          <a:ext cx="0" cy="0"/>
        </a:xfrm>
      </p:grpSpPr>
      <p:sp>
        <p:nvSpPr>
          <p:cNvPr id="849" name="Google Shape;84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probability to inform decisions</a:t>
            </a:r>
            <a:endParaRPr/>
          </a:p>
        </p:txBody>
      </p:sp>
      <p:graphicFrame>
        <p:nvGraphicFramePr>
          <p:cNvPr id="850" name="Google Shape;850;p72"/>
          <p:cNvGraphicFramePr>
            <a:graphicFrameLocks noGrp="1"/>
          </p:cNvGraphicFramePr>
          <p:nvPr/>
        </p:nvGraphicFramePr>
        <p:xfrm>
          <a:off x="800138" y="93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382850"/>
                <a:gridCol w="412125"/>
                <a:gridCol w="412125"/>
                <a:gridCol w="412125"/>
                <a:gridCol w="412125"/>
                <a:gridCol w="412125"/>
                <a:gridCol w="412125"/>
                <a:gridCol w="412125"/>
                <a:gridCol w="412125"/>
              </a:tblGrid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851" name="Google Shape;85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377" y="906663"/>
            <a:ext cx="463272" cy="482837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2"/>
          <p:cNvSpPr txBox="1"/>
          <p:nvPr>
            <p:ph type="body" idx="1"/>
          </p:nvPr>
        </p:nvSpPr>
        <p:spPr>
          <a:xfrm>
            <a:off x="5205000" y="759300"/>
            <a:ext cx="3541800" cy="110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outcomes for each pair of dice can be represented in a two-way outcome table.</a:t>
            </a:r>
            <a:endParaRPr sz="2000"/>
          </a:p>
        </p:txBody>
      </p:sp>
      <p:sp>
        <p:nvSpPr>
          <p:cNvPr id="853" name="Google Shape;853;p72"/>
          <p:cNvSpPr txBox="1"/>
          <p:nvPr>
            <p:ph type="body" idx="1"/>
          </p:nvPr>
        </p:nvSpPr>
        <p:spPr>
          <a:xfrm>
            <a:off x="5205000" y="2207100"/>
            <a:ext cx="3541800" cy="4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P(8) = </a:t>
            </a:r>
            <a:endParaRPr sz="2000"/>
          </a:p>
        </p:txBody>
      </p:sp>
      <p:sp>
        <p:nvSpPr>
          <p:cNvPr id="854" name="Google Shape;854;p72"/>
          <p:cNvSpPr/>
          <p:nvPr/>
        </p:nvSpPr>
        <p:spPr>
          <a:xfrm>
            <a:off x="2858450" y="2231442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2"/>
          <p:cNvSpPr/>
          <p:nvPr/>
        </p:nvSpPr>
        <p:spPr>
          <a:xfrm>
            <a:off x="2445330" y="2657978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2"/>
          <p:cNvSpPr/>
          <p:nvPr/>
        </p:nvSpPr>
        <p:spPr>
          <a:xfrm>
            <a:off x="2034218" y="3085067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2"/>
          <p:cNvSpPr/>
          <p:nvPr/>
        </p:nvSpPr>
        <p:spPr>
          <a:xfrm>
            <a:off x="1618652" y="3511541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2"/>
          <p:cNvSpPr/>
          <p:nvPr/>
        </p:nvSpPr>
        <p:spPr>
          <a:xfrm>
            <a:off x="3270176" y="1812035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2"/>
          <p:cNvSpPr/>
          <p:nvPr/>
        </p:nvSpPr>
        <p:spPr>
          <a:xfrm>
            <a:off x="3674220" y="1384946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0" name="Google Shape;86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93" y="3511550"/>
            <a:ext cx="457626" cy="44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72" descr="&lt;math xmlns=&quot;http://www.w3.org/1998/Math/MathML&quot; display=&quot;block&quot; data-is-equatio=&quot;1&quot; data-latex=&quot;\frac{6}{48}&quot;&gt;&lt;mfrac&gt;&lt;mn&gt;6&lt;/mn&gt;&lt;mn&gt;48&lt;/mn&gt;&lt;/mfrac&gt;&lt;/math&gt;" title="6 over 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0269" y="2076331"/>
            <a:ext cx="301400" cy="55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90521" y="3615207"/>
            <a:ext cx="546549" cy="7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6" name="Shape 866"/>
        <p:cNvGrpSpPr/>
        <p:nvPr/>
      </p:nvGrpSpPr>
      <p:grpSpPr>
        <a:xfrm>
          <a:off x="0" y="0"/>
          <a:ext cx="0" cy="0"/>
        </a:xfrm>
      </p:grpSpPr>
      <p:pic>
        <p:nvPicPr>
          <p:cNvPr id="867" name="Google Shape;867;p73" descr="&lt;math xmlns=&quot;http://www.w3.org/1998/Math/MathML&quot; display=&quot;block&quot; data-is-equatio=&quot;1&quot; data-latex=&quot;\frac{5}{36}&quot;&gt;&lt;mfrac&gt;&lt;mn&gt;5&lt;/mn&gt;&lt;mn&gt;36&lt;/mn&gt;&lt;/mfrac&gt;&lt;/math&gt;" title="5 over 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0275" y="2072789"/>
            <a:ext cx="337189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probability to inform decisions</a:t>
            </a:r>
            <a:endParaRPr/>
          </a:p>
        </p:txBody>
      </p:sp>
      <p:graphicFrame>
        <p:nvGraphicFramePr>
          <p:cNvPr id="869" name="Google Shape;869;p73"/>
          <p:cNvGraphicFramePr>
            <a:graphicFrameLocks noGrp="1"/>
          </p:cNvGraphicFramePr>
          <p:nvPr/>
        </p:nvGraphicFramePr>
        <p:xfrm>
          <a:off x="800138" y="93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382850"/>
                <a:gridCol w="412125"/>
                <a:gridCol w="412125"/>
                <a:gridCol w="412125"/>
                <a:gridCol w="412125"/>
                <a:gridCol w="412125"/>
                <a:gridCol w="412125"/>
              </a:tblGrid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70" name="Google Shape;870;p73"/>
          <p:cNvSpPr txBox="1"/>
          <p:nvPr>
            <p:ph type="body" idx="1"/>
          </p:nvPr>
        </p:nvSpPr>
        <p:spPr>
          <a:xfrm>
            <a:off x="5205000" y="759300"/>
            <a:ext cx="3541800" cy="110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outcomes for each pair of dice can be represented in a two-way outcome table.</a:t>
            </a:r>
            <a:endParaRPr sz="2000"/>
          </a:p>
        </p:txBody>
      </p:sp>
      <p:sp>
        <p:nvSpPr>
          <p:cNvPr id="871" name="Google Shape;871;p73"/>
          <p:cNvSpPr txBox="1"/>
          <p:nvPr>
            <p:ph type="body" idx="1"/>
          </p:nvPr>
        </p:nvSpPr>
        <p:spPr>
          <a:xfrm>
            <a:off x="5205000" y="2207100"/>
            <a:ext cx="3541800" cy="4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P(8) = </a:t>
            </a:r>
            <a:endParaRPr sz="2000"/>
          </a:p>
        </p:txBody>
      </p:sp>
      <p:sp>
        <p:nvSpPr>
          <p:cNvPr id="872" name="Google Shape;872;p73"/>
          <p:cNvSpPr/>
          <p:nvPr/>
        </p:nvSpPr>
        <p:spPr>
          <a:xfrm>
            <a:off x="2858450" y="2231442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3"/>
          <p:cNvSpPr/>
          <p:nvPr/>
        </p:nvSpPr>
        <p:spPr>
          <a:xfrm>
            <a:off x="2445330" y="2657978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3"/>
          <p:cNvSpPr/>
          <p:nvPr/>
        </p:nvSpPr>
        <p:spPr>
          <a:xfrm>
            <a:off x="2034218" y="3085067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3"/>
          <p:cNvSpPr/>
          <p:nvPr/>
        </p:nvSpPr>
        <p:spPr>
          <a:xfrm>
            <a:off x="1618652" y="3511541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3"/>
          <p:cNvSpPr/>
          <p:nvPr/>
        </p:nvSpPr>
        <p:spPr>
          <a:xfrm>
            <a:off x="3270176" y="1812035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7" name="Google Shape;87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93" y="3511550"/>
            <a:ext cx="457626" cy="44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5445" y="932400"/>
            <a:ext cx="457626" cy="44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0521" y="3615207"/>
            <a:ext cx="546549" cy="7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3" name="Shape 883"/>
        <p:cNvGrpSpPr/>
        <p:nvPr/>
      </p:nvGrpSpPr>
      <p:grpSpPr>
        <a:xfrm>
          <a:off x="0" y="0"/>
          <a:ext cx="0" cy="0"/>
        </a:xfrm>
      </p:grpSpPr>
      <p:pic>
        <p:nvPicPr>
          <p:cNvPr id="884" name="Google Shape;884;p74" descr="&lt;math xmlns=&quot;http://www.w3.org/1998/Math/MathML&quot; display=&quot;block&quot; data-is-equatio=&quot;1&quot; data-latex=&quot;\frac{5}{36}&quot;&gt;&lt;mfrac&gt;&lt;mn&gt;5&lt;/mn&gt;&lt;mn&gt;36&lt;/mn&gt;&lt;/mfrac&gt;&lt;/math&gt;" title="5 over 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8119" y="3749189"/>
            <a:ext cx="337189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probability to inform decisions</a:t>
            </a:r>
            <a:endParaRPr/>
          </a:p>
        </p:txBody>
      </p:sp>
      <p:sp>
        <p:nvSpPr>
          <p:cNvPr id="886" name="Google Shape;886;p74"/>
          <p:cNvSpPr txBox="1"/>
          <p:nvPr>
            <p:ph type="body" idx="1"/>
          </p:nvPr>
        </p:nvSpPr>
        <p:spPr>
          <a:xfrm>
            <a:off x="324000" y="759300"/>
            <a:ext cx="8422800" cy="110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three probabilities could be compared to find the pair of dice which give the best chance of rolling a total of 8</a:t>
            </a:r>
            <a:endParaRPr sz="2000"/>
          </a:p>
        </p:txBody>
      </p:sp>
      <p:sp>
        <p:nvSpPr>
          <p:cNvPr id="887" name="Google Shape;887;p74"/>
          <p:cNvSpPr txBox="1"/>
          <p:nvPr>
            <p:ph type="body" idx="1"/>
          </p:nvPr>
        </p:nvSpPr>
        <p:spPr>
          <a:xfrm>
            <a:off x="1699800" y="3883500"/>
            <a:ext cx="1411200" cy="4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P(8) = </a:t>
            </a:r>
            <a:endParaRPr sz="2000"/>
          </a:p>
        </p:txBody>
      </p:sp>
      <p:sp>
        <p:nvSpPr>
          <p:cNvPr id="888" name="Google Shape;888;p74"/>
          <p:cNvSpPr txBox="1"/>
          <p:nvPr>
            <p:ph type="body" idx="1"/>
          </p:nvPr>
        </p:nvSpPr>
        <p:spPr>
          <a:xfrm>
            <a:off x="1699800" y="2915330"/>
            <a:ext cx="1488600" cy="4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P(8) = </a:t>
            </a:r>
            <a:endParaRPr sz="2000"/>
          </a:p>
        </p:txBody>
      </p:sp>
      <p:pic>
        <p:nvPicPr>
          <p:cNvPr id="889" name="Google Shape;889;p74" descr="&lt;math xmlns=&quot;http://www.w3.org/1998/Math/MathML&quot; display=&quot;block&quot; data-is-equatio=&quot;1&quot; data-latex=&quot;\frac{6}{48}&quot;&gt;&lt;mfrac&gt;&lt;mn&gt;6&lt;/mn&gt;&lt;mn&gt;48&lt;/mn&gt;&lt;/mfrac&gt;&lt;/math&gt;" title="6 over 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8113" y="2784560"/>
            <a:ext cx="301400" cy="5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74"/>
          <p:cNvSpPr txBox="1"/>
          <p:nvPr>
            <p:ph type="body" idx="1"/>
          </p:nvPr>
        </p:nvSpPr>
        <p:spPr>
          <a:xfrm>
            <a:off x="1699800" y="1963752"/>
            <a:ext cx="3541800" cy="4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P(8) = </a:t>
            </a:r>
            <a:endParaRPr sz="2000"/>
          </a:p>
        </p:txBody>
      </p:sp>
      <p:pic>
        <p:nvPicPr>
          <p:cNvPr id="891" name="Google Shape;891;p74" descr="&lt;math xmlns=&quot;http://www.w3.org/1998/Math/MathML&quot; display=&quot;block&quot; data-is-equatio=&quot;1&quot; data-latex=&quot;\frac{7}{64}&quot;&gt;&lt;mfrac&gt;&lt;mn&gt;7&lt;/mn&gt;&lt;mn&gt;64&lt;/mn&gt;&lt;/mfrac&gt;&lt;/math&gt;" title="7 over 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8416" y="1851028"/>
            <a:ext cx="302620" cy="54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975" y="1886388"/>
            <a:ext cx="463272" cy="48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793" y="3829800"/>
            <a:ext cx="457626" cy="44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5795" y="3829800"/>
            <a:ext cx="457626" cy="44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4477" y="1886388"/>
            <a:ext cx="463272" cy="48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975" y="2876988"/>
            <a:ext cx="463272" cy="48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1995" y="2915400"/>
            <a:ext cx="457626" cy="44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5230515" y="2057001"/>
            <a:ext cx="3224674" cy="1414199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74"/>
          <p:cNvSpPr txBox="1"/>
          <p:nvPr>
            <p:ph type="body" idx="1"/>
          </p:nvPr>
        </p:nvSpPr>
        <p:spPr>
          <a:xfrm>
            <a:off x="5335900" y="2222025"/>
            <a:ext cx="3073200" cy="110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It would be easier to compare the probabilities if I converted them all into decimals.</a:t>
            </a:r>
            <a:endParaRPr sz="1600"/>
          </a:p>
        </p:txBody>
      </p:sp>
      <p:pic>
        <p:nvPicPr>
          <p:cNvPr id="900" name="Google Shape;900;p74" descr="&lt;math xmlns=&quot;http://www.w3.org/1998/Math/MathML&quot; display=&quot;block&quot; data-is-equatio=&quot;1&quot; data-latex=&quot;\begin{array}{l}=0.109375\\&amp;#13;&amp;#10;=0.125\\&amp;#13;&amp;#10;=0.13\dot{8}\end{array}&quot;&gt;&lt;mtable columnalign=&quot;left&quot; columnspacing=&quot;1em&quot; rowspacing=&quot;4pt&quot;&gt;&lt;mtr&gt;&lt;mtd&gt;&lt;mo&gt;=&lt;/mo&gt;&lt;mn&gt;0.109375&lt;/mn&gt;&lt;/mtd&gt;&lt;/mtr&gt;&lt;mtr&gt;&lt;mtd&gt;&lt;mo&gt;=&lt;/mo&gt;&lt;mn&gt;0.125&lt;/mn&gt;&lt;/mtd&gt;&lt;/mtr&gt;&lt;mtr&gt;&lt;mtd&gt;&lt;mo&gt;=&lt;/mo&gt;&lt;mn&gt;0.13&lt;/mn&gt;&lt;mrow data-mjx-texclass=&quot;ORD&quot;&gt;&lt;mover&gt;&lt;mn&gt;8&lt;/mn&gt;&lt;mo&gt;˙&lt;/mo&gt;&lt;/mover&gt;&lt;/mrow&gt;&lt;/mtd&gt;&lt;/mtr&gt;&lt;/mtable&gt;&lt;/math&gt;" title="3 lines Line 1: equals 0.109375 Line 2: equals 0.125 Line 3: equals the repeating decimal 0.13 followed by repeating digit 8"/>
          <p:cNvPicPr preferRelativeResize="0"/>
          <p:nvPr/>
        </p:nvPicPr>
        <p:blipFill>
          <a:blip r:embed="rId9">
            <a:alphaModFix/>
          </a:blip>
          <a:srcRect b="67776"/>
          <a:stretch>
            <a:fillRect/>
          </a:stretch>
        </p:blipFill>
        <p:spPr>
          <a:xfrm>
            <a:off x="2976100" y="2016998"/>
            <a:ext cx="1297000" cy="32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4" descr="&lt;math xmlns=&quot;http://www.w3.org/1998/Math/MathML&quot; display=&quot;block&quot; data-is-equatio=&quot;1&quot; data-latex=&quot;\begin{array}{l}=0.109375\\&amp;#13;&amp;#10;=0.125\\&amp;#13;&amp;#10;=0.13\dot{8}\end{array}&quot;&gt;&lt;mtable columnalign=&quot;left&quot; columnspacing=&quot;1em&quot; rowspacing=&quot;4pt&quot;&gt;&lt;mtr&gt;&lt;mtd&gt;&lt;mo&gt;=&lt;/mo&gt;&lt;mn&gt;0.109375&lt;/mn&gt;&lt;/mtd&gt;&lt;/mtr&gt;&lt;mtr&gt;&lt;mtd&gt;&lt;mo&gt;=&lt;/mo&gt;&lt;mn&gt;0.125&lt;/mn&gt;&lt;/mtd&gt;&lt;/mtr&gt;&lt;mtr&gt;&lt;mtd&gt;&lt;mo&gt;=&lt;/mo&gt;&lt;mn&gt;0.13&lt;/mn&gt;&lt;mrow data-mjx-texclass=&quot;ORD&quot;&gt;&lt;mover&gt;&lt;mn&gt;8&lt;/mn&gt;&lt;mo&gt;˙&lt;/mo&gt;&lt;/mover&gt;&lt;/mrow&gt;&lt;/mtd&gt;&lt;/mtr&gt;&lt;/mtable&gt;&lt;/math&gt;" title="3 lines Line 1: equals 0.109375 Line 2: equals 0.125 Line 3: equals the repeating decimal 0.13 followed by repeating digit 8"/>
          <p:cNvPicPr preferRelativeResize="0"/>
          <p:nvPr/>
        </p:nvPicPr>
        <p:blipFill>
          <a:blip r:embed="rId9">
            <a:alphaModFix/>
          </a:blip>
          <a:srcRect t="22404" b="29876"/>
          <a:stretch>
            <a:fillRect/>
          </a:stretch>
        </p:blipFill>
        <p:spPr>
          <a:xfrm>
            <a:off x="2976100" y="2799500"/>
            <a:ext cx="129700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74" descr="&lt;math xmlns=&quot;http://www.w3.org/1998/Math/MathML&quot; display=&quot;block&quot; data-is-equatio=&quot;1&quot; data-latex=&quot;\begin{array}{l}=0.109375\\&amp;#13;&amp;#10;=0.125\\&amp;#13;&amp;#10;=0.13\dot{8}\end{array}&quot;&gt;&lt;mtable columnalign=&quot;left&quot; columnspacing=&quot;1em&quot; rowspacing=&quot;4pt&quot;&gt;&lt;mtr&gt;&lt;mtd&gt;&lt;mo&gt;=&lt;/mo&gt;&lt;mn&gt;0.109375&lt;/mn&gt;&lt;/mtd&gt;&lt;/mtr&gt;&lt;mtr&gt;&lt;mtd&gt;&lt;mo&gt;=&lt;/mo&gt;&lt;mn&gt;0.125&lt;/mn&gt;&lt;/mtd&gt;&lt;/mtr&gt;&lt;mtr&gt;&lt;mtd&gt;&lt;mo&gt;=&lt;/mo&gt;&lt;mn&gt;0.13&lt;/mn&gt;&lt;mrow data-mjx-texclass=&quot;ORD&quot;&gt;&lt;mover&gt;&lt;mn&gt;8&lt;/mn&gt;&lt;mo&gt;˙&lt;/mo&gt;&lt;/mover&gt;&lt;/mrow&gt;&lt;/mtd&gt;&lt;/mtr&gt;&lt;/mtable&gt;&lt;/math&gt;" title="3 lines Line 1: equals 0.109375 Line 2: equals 0.125 Line 3: equals the repeating decimal 0.13 followed by repeating digit 8"/>
          <p:cNvPicPr preferRelativeResize="0"/>
          <p:nvPr/>
        </p:nvPicPr>
        <p:blipFill>
          <a:blip r:embed="rId9">
            <a:alphaModFix/>
          </a:blip>
          <a:srcRect t="67776"/>
          <a:stretch>
            <a:fillRect/>
          </a:stretch>
        </p:blipFill>
        <p:spPr>
          <a:xfrm>
            <a:off x="2976100" y="3829796"/>
            <a:ext cx="1297000" cy="32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4"/>
          <p:cNvSpPr txBox="1"/>
          <p:nvPr>
            <p:ph type="body" idx="1"/>
          </p:nvPr>
        </p:nvSpPr>
        <p:spPr>
          <a:xfrm>
            <a:off x="4323063" y="3665200"/>
            <a:ext cx="3541800" cy="110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Using two cube dice would give the best probability of rolling a total of 8</a:t>
            </a:r>
            <a:endParaRPr sz="2000"/>
          </a:p>
        </p:txBody>
      </p:sp>
      <p:pic>
        <p:nvPicPr>
          <p:cNvPr id="904" name="Google Shape;904;p7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90521" y="3615207"/>
            <a:ext cx="546549" cy="7047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5" name="Google Shape;905;p74"/>
          <p:cNvCxnSpPr/>
          <p:nvPr/>
        </p:nvCxnSpPr>
        <p:spPr>
          <a:xfrm>
            <a:off x="3244025" y="4236125"/>
            <a:ext cx="6369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9" name="Shape 909"/>
        <p:cNvGrpSpPr/>
        <p:nvPr/>
      </p:nvGrpSpPr>
      <p:grpSpPr>
        <a:xfrm>
          <a:off x="0" y="0"/>
          <a:ext cx="0" cy="0"/>
        </a:xfrm>
      </p:grpSpPr>
      <p:pic>
        <p:nvPicPr>
          <p:cNvPr id="910" name="Google Shape;910;p75" descr="&lt;math xmlns=&quot;http://www.w3.org/1998/Math/MathML&quot; display=&quot;block&quot; data-is-equatio=&quot;1&quot; data-latex=&quot;\frac{5}{36}&quot;&gt;&lt;mfrac&gt;&lt;mn&gt;5&lt;/mn&gt;&lt;mn&gt;36&lt;/mn&gt;&lt;/mfrac&gt;&lt;/math&gt;" title="5 over 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8119" y="3749189"/>
            <a:ext cx="337189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probability to inform decisions</a:t>
            </a:r>
            <a:endParaRPr/>
          </a:p>
        </p:txBody>
      </p:sp>
      <p:sp>
        <p:nvSpPr>
          <p:cNvPr id="912" name="Google Shape;912;p75"/>
          <p:cNvSpPr txBox="1"/>
          <p:nvPr>
            <p:ph type="body" idx="1"/>
          </p:nvPr>
        </p:nvSpPr>
        <p:spPr>
          <a:xfrm>
            <a:off x="324000" y="759300"/>
            <a:ext cx="8422800" cy="110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three probabilities could be compared to find the pair of dice which give the best chance of rolling a total of 8.</a:t>
            </a:r>
            <a:endParaRPr sz="2000"/>
          </a:p>
        </p:txBody>
      </p:sp>
      <p:sp>
        <p:nvSpPr>
          <p:cNvPr id="913" name="Google Shape;913;p75"/>
          <p:cNvSpPr txBox="1"/>
          <p:nvPr>
            <p:ph type="body" idx="1"/>
          </p:nvPr>
        </p:nvSpPr>
        <p:spPr>
          <a:xfrm>
            <a:off x="1699800" y="3883500"/>
            <a:ext cx="1411200" cy="4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P(8) = </a:t>
            </a:r>
            <a:endParaRPr sz="2000"/>
          </a:p>
        </p:txBody>
      </p:sp>
      <p:sp>
        <p:nvSpPr>
          <p:cNvPr id="914" name="Google Shape;914;p75"/>
          <p:cNvSpPr txBox="1"/>
          <p:nvPr>
            <p:ph type="body" idx="1"/>
          </p:nvPr>
        </p:nvSpPr>
        <p:spPr>
          <a:xfrm>
            <a:off x="1699800" y="2915330"/>
            <a:ext cx="1488600" cy="4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P(8) = </a:t>
            </a:r>
            <a:endParaRPr sz="2000"/>
          </a:p>
        </p:txBody>
      </p:sp>
      <p:pic>
        <p:nvPicPr>
          <p:cNvPr id="915" name="Google Shape;915;p75" descr="&lt;math xmlns=&quot;http://www.w3.org/1998/Math/MathML&quot; display=&quot;block&quot; data-is-equatio=&quot;1&quot; data-latex=&quot;\frac{6}{48}&quot;&gt;&lt;mfrac&gt;&lt;mn&gt;6&lt;/mn&gt;&lt;mn&gt;48&lt;/mn&gt;&lt;/mfrac&gt;&lt;/math&gt;" title="6 over 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8113" y="2784560"/>
            <a:ext cx="301400" cy="5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5"/>
          <p:cNvSpPr txBox="1"/>
          <p:nvPr>
            <p:ph type="body" idx="1"/>
          </p:nvPr>
        </p:nvSpPr>
        <p:spPr>
          <a:xfrm>
            <a:off x="1699800" y="1963752"/>
            <a:ext cx="3541800" cy="4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P(8) = </a:t>
            </a:r>
            <a:endParaRPr sz="2000"/>
          </a:p>
        </p:txBody>
      </p:sp>
      <p:pic>
        <p:nvPicPr>
          <p:cNvPr id="917" name="Google Shape;917;p75" descr="&lt;math xmlns=&quot;http://www.w3.org/1998/Math/MathML&quot; display=&quot;block&quot; data-is-equatio=&quot;1&quot; data-latex=&quot;\frac{7}{64}&quot;&gt;&lt;mfrac&gt;&lt;mn&gt;7&lt;/mn&gt;&lt;mn&gt;64&lt;/mn&gt;&lt;/mfrac&gt;&lt;/math&gt;" title="7 over 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8416" y="1851028"/>
            <a:ext cx="302620" cy="54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975" y="1886388"/>
            <a:ext cx="463272" cy="48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0793" y="3829800"/>
            <a:ext cx="457626" cy="44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5795" y="3829800"/>
            <a:ext cx="457626" cy="44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4477" y="1886388"/>
            <a:ext cx="463272" cy="48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975" y="2876988"/>
            <a:ext cx="463272" cy="48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1995" y="2915400"/>
            <a:ext cx="457626" cy="44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75" descr="&lt;math xmlns=&quot;http://www.w3.org/1998/Math/MathML&quot; display=&quot;block&quot; data-is-equatio=&quot;1&quot; data-latex=&quot;\begin{array}{l}=0.109375\\&amp;#13;&amp;#10;=0.125\\&amp;#13;&amp;#10;=0.13\dot{8}\end{array}&quot;&gt;&lt;mtable columnalign=&quot;left&quot; columnspacing=&quot;1em&quot; rowspacing=&quot;4pt&quot;&gt;&lt;mtr&gt;&lt;mtd&gt;&lt;mo&gt;=&lt;/mo&gt;&lt;mn&gt;0.109375&lt;/mn&gt;&lt;/mtd&gt;&lt;/mtr&gt;&lt;mtr&gt;&lt;mtd&gt;&lt;mo&gt;=&lt;/mo&gt;&lt;mn&gt;0.125&lt;/mn&gt;&lt;/mtd&gt;&lt;/mtr&gt;&lt;mtr&gt;&lt;mtd&gt;&lt;mo&gt;=&lt;/mo&gt;&lt;mn&gt;0.13&lt;/mn&gt;&lt;mrow data-mjx-texclass=&quot;ORD&quot;&gt;&lt;mover&gt;&lt;mn&gt;8&lt;/mn&gt;&lt;mo&gt;˙&lt;/mo&gt;&lt;/mover&gt;&lt;/mrow&gt;&lt;/mtd&gt;&lt;/mtr&gt;&lt;/mtable&gt;&lt;/math&gt;" title="3 lines Line 1: equals 0.109375 Line 2: equals 0.125 Line 3: equals the repeating decimal 0.13 followed by repeating digit 8"/>
          <p:cNvPicPr preferRelativeResize="0"/>
          <p:nvPr/>
        </p:nvPicPr>
        <p:blipFill>
          <a:blip r:embed="rId8">
            <a:alphaModFix/>
          </a:blip>
          <a:srcRect b="67776"/>
          <a:stretch>
            <a:fillRect/>
          </a:stretch>
        </p:blipFill>
        <p:spPr>
          <a:xfrm>
            <a:off x="2976100" y="2016998"/>
            <a:ext cx="1297000" cy="32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75" descr="&lt;math xmlns=&quot;http://www.w3.org/1998/Math/MathML&quot; display=&quot;block&quot; data-is-equatio=&quot;1&quot; data-latex=&quot;\begin{array}{l}=0.109375\\&amp;#13;&amp;#10;=0.125\\&amp;#13;&amp;#10;=0.13\dot{8}\end{array}&quot;&gt;&lt;mtable columnalign=&quot;left&quot; columnspacing=&quot;1em&quot; rowspacing=&quot;4pt&quot;&gt;&lt;mtr&gt;&lt;mtd&gt;&lt;mo&gt;=&lt;/mo&gt;&lt;mn&gt;0.109375&lt;/mn&gt;&lt;/mtd&gt;&lt;/mtr&gt;&lt;mtr&gt;&lt;mtd&gt;&lt;mo&gt;=&lt;/mo&gt;&lt;mn&gt;0.125&lt;/mn&gt;&lt;/mtd&gt;&lt;/mtr&gt;&lt;mtr&gt;&lt;mtd&gt;&lt;mo&gt;=&lt;/mo&gt;&lt;mn&gt;0.13&lt;/mn&gt;&lt;mrow data-mjx-texclass=&quot;ORD&quot;&gt;&lt;mover&gt;&lt;mn&gt;8&lt;/mn&gt;&lt;mo&gt;˙&lt;/mo&gt;&lt;/mover&gt;&lt;/mrow&gt;&lt;/mtd&gt;&lt;/mtr&gt;&lt;/mtable&gt;&lt;/math&gt;" title="3 lines Line 1: equals 0.109375 Line 2: equals 0.125 Line 3: equals the repeating decimal 0.13 followed by repeating digit 8"/>
          <p:cNvPicPr preferRelativeResize="0"/>
          <p:nvPr/>
        </p:nvPicPr>
        <p:blipFill>
          <a:blip r:embed="rId8">
            <a:alphaModFix/>
          </a:blip>
          <a:srcRect t="22404" b="29876"/>
          <a:stretch>
            <a:fillRect/>
          </a:stretch>
        </p:blipFill>
        <p:spPr>
          <a:xfrm>
            <a:off x="2976100" y="2799500"/>
            <a:ext cx="129700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75" descr="&lt;math xmlns=&quot;http://www.w3.org/1998/Math/MathML&quot; display=&quot;block&quot; data-is-equatio=&quot;1&quot; data-latex=&quot;\begin{array}{l}=0.109375\\&amp;#13;&amp;#10;=0.125\\&amp;#13;&amp;#10;=0.13\dot{8}\end{array}&quot;&gt;&lt;mtable columnalign=&quot;left&quot; columnspacing=&quot;1em&quot; rowspacing=&quot;4pt&quot;&gt;&lt;mtr&gt;&lt;mtd&gt;&lt;mo&gt;=&lt;/mo&gt;&lt;mn&gt;0.109375&lt;/mn&gt;&lt;/mtd&gt;&lt;/mtr&gt;&lt;mtr&gt;&lt;mtd&gt;&lt;mo&gt;=&lt;/mo&gt;&lt;mn&gt;0.125&lt;/mn&gt;&lt;/mtd&gt;&lt;/mtr&gt;&lt;mtr&gt;&lt;mtd&gt;&lt;mo&gt;=&lt;/mo&gt;&lt;mn&gt;0.13&lt;/mn&gt;&lt;mrow data-mjx-texclass=&quot;ORD&quot;&gt;&lt;mover&gt;&lt;mn&gt;8&lt;/mn&gt;&lt;mo&gt;˙&lt;/mo&gt;&lt;/mover&gt;&lt;/mrow&gt;&lt;/mtd&gt;&lt;/mtr&gt;&lt;/mtable&gt;&lt;/math&gt;" title="3 lines Line 1: equals 0.109375 Line 2: equals 0.125 Line 3: equals the repeating decimal 0.13 followed by repeating digit 8"/>
          <p:cNvPicPr preferRelativeResize="0"/>
          <p:nvPr/>
        </p:nvPicPr>
        <p:blipFill>
          <a:blip r:embed="rId8">
            <a:alphaModFix/>
          </a:blip>
          <a:srcRect t="67776"/>
          <a:stretch>
            <a:fillRect/>
          </a:stretch>
        </p:blipFill>
        <p:spPr>
          <a:xfrm>
            <a:off x="2976100" y="3829796"/>
            <a:ext cx="1297000" cy="32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7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0800000">
            <a:off x="4888324" y="2695798"/>
            <a:ext cx="3154826" cy="1583277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75"/>
          <p:cNvSpPr txBox="1"/>
          <p:nvPr>
            <p:ph type="body" idx="1"/>
          </p:nvPr>
        </p:nvSpPr>
        <p:spPr>
          <a:xfrm>
            <a:off x="4976400" y="2969100"/>
            <a:ext cx="2960400" cy="121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You didn’t have to draw three separate tables to solve this.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It could have been solved by just drawing a </a:t>
            </a:r>
            <a:r>
              <a:rPr lang="en-GB" sz="1600">
                <a:solidFill>
                  <a:schemeClr val="accent4"/>
                </a:solidFill>
              </a:rPr>
              <a:t>single table</a:t>
            </a:r>
            <a:r>
              <a:rPr lang="en-GB" sz="1600"/>
              <a:t>.</a:t>
            </a:r>
            <a:endParaRPr sz="1600"/>
          </a:p>
        </p:txBody>
      </p:sp>
      <p:pic>
        <p:nvPicPr>
          <p:cNvPr id="929" name="Google Shape;929;p7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8224557" y="2084097"/>
            <a:ext cx="546550" cy="715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7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190521" y="3615207"/>
            <a:ext cx="546549" cy="7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4" name="Shape 934"/>
        <p:cNvGrpSpPr/>
        <p:nvPr/>
      </p:nvGrpSpPr>
      <p:grpSpPr>
        <a:xfrm>
          <a:off x="0" y="0"/>
          <a:ext cx="0" cy="0"/>
        </a:xfrm>
      </p:grpSpPr>
      <p:pic>
        <p:nvPicPr>
          <p:cNvPr id="935" name="Google Shape;93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071449" y="790800"/>
            <a:ext cx="3212001" cy="1440649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probability to inform decisions</a:t>
            </a:r>
            <a:endParaRPr/>
          </a:p>
        </p:txBody>
      </p:sp>
      <p:graphicFrame>
        <p:nvGraphicFramePr>
          <p:cNvPr id="937" name="Google Shape;937;p76"/>
          <p:cNvGraphicFramePr>
            <a:graphicFrameLocks noGrp="1"/>
          </p:cNvGraphicFramePr>
          <p:nvPr/>
        </p:nvGraphicFramePr>
        <p:xfrm>
          <a:off x="800138" y="93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382850"/>
                <a:gridCol w="412125"/>
                <a:gridCol w="412125"/>
                <a:gridCol w="412125"/>
                <a:gridCol w="412125"/>
                <a:gridCol w="412125"/>
                <a:gridCol w="412125"/>
                <a:gridCol w="412125"/>
                <a:gridCol w="412125"/>
              </a:tblGrid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938" name="Google Shape;938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375" y="4319988"/>
            <a:ext cx="463272" cy="48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377" y="906663"/>
            <a:ext cx="463272" cy="482837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76"/>
          <p:cNvSpPr txBox="1"/>
          <p:nvPr>
            <p:ph type="body" idx="1"/>
          </p:nvPr>
        </p:nvSpPr>
        <p:spPr>
          <a:xfrm>
            <a:off x="5205000" y="835500"/>
            <a:ext cx="2960400" cy="128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You could start by drawing the </a:t>
            </a:r>
            <a:r>
              <a:rPr lang="en-GB" sz="1600">
                <a:solidFill>
                  <a:schemeClr val="accent4"/>
                </a:solidFill>
              </a:rPr>
              <a:t>biggest table</a:t>
            </a:r>
            <a:r>
              <a:rPr lang="en-GB" sz="1600"/>
              <a:t> that is required and then </a:t>
            </a:r>
            <a:r>
              <a:rPr lang="en-GB" sz="1600">
                <a:solidFill>
                  <a:schemeClr val="accent4"/>
                </a:solidFill>
              </a:rPr>
              <a:t>ignore</a:t>
            </a:r>
            <a:r>
              <a:rPr lang="en-GB" sz="1600"/>
              <a:t> the parts you don’t need later on.</a:t>
            </a:r>
            <a:endParaRPr sz="1600"/>
          </a:p>
        </p:txBody>
      </p:sp>
      <p:sp>
        <p:nvSpPr>
          <p:cNvPr id="941" name="Google Shape;941;p76"/>
          <p:cNvSpPr/>
          <p:nvPr/>
        </p:nvSpPr>
        <p:spPr>
          <a:xfrm>
            <a:off x="2858450" y="2231442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6"/>
          <p:cNvSpPr/>
          <p:nvPr/>
        </p:nvSpPr>
        <p:spPr>
          <a:xfrm>
            <a:off x="2445330" y="2657978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6"/>
          <p:cNvSpPr/>
          <p:nvPr/>
        </p:nvSpPr>
        <p:spPr>
          <a:xfrm>
            <a:off x="2034218" y="3085067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6"/>
          <p:cNvSpPr/>
          <p:nvPr/>
        </p:nvSpPr>
        <p:spPr>
          <a:xfrm>
            <a:off x="1618652" y="3511541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6"/>
          <p:cNvSpPr/>
          <p:nvPr/>
        </p:nvSpPr>
        <p:spPr>
          <a:xfrm>
            <a:off x="1206926" y="3938015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6"/>
          <p:cNvSpPr/>
          <p:nvPr/>
        </p:nvSpPr>
        <p:spPr>
          <a:xfrm>
            <a:off x="3270176" y="1812035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6"/>
          <p:cNvSpPr/>
          <p:nvPr/>
        </p:nvSpPr>
        <p:spPr>
          <a:xfrm>
            <a:off x="3674220" y="1384946"/>
            <a:ext cx="360300" cy="3744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8" name="Google Shape;948;p76" descr="&lt;math xmlns=&quot;http://www.w3.org/1998/Math/MathML&quot; display=&quot;block&quot; data-is-equatio=&quot;1&quot; data-latex=&quot;\frac{5}{36}&quot;&gt;&lt;mfrac&gt;&lt;mn&gt;5&lt;/mn&gt;&lt;mn&gt;36&lt;/mn&gt;&lt;/mfrac&gt;&lt;/math&gt;" title="5 over 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7379" y="4108194"/>
            <a:ext cx="292673" cy="532506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76"/>
          <p:cNvSpPr txBox="1"/>
          <p:nvPr>
            <p:ph type="body" idx="1"/>
          </p:nvPr>
        </p:nvSpPr>
        <p:spPr>
          <a:xfrm>
            <a:off x="6042215" y="4224774"/>
            <a:ext cx="1224900" cy="37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P(8) = </a:t>
            </a:r>
            <a:endParaRPr sz="2000"/>
          </a:p>
        </p:txBody>
      </p:sp>
      <p:sp>
        <p:nvSpPr>
          <p:cNvPr id="950" name="Google Shape;950;p76"/>
          <p:cNvSpPr txBox="1"/>
          <p:nvPr>
            <p:ph type="body" idx="1"/>
          </p:nvPr>
        </p:nvSpPr>
        <p:spPr>
          <a:xfrm>
            <a:off x="6042215" y="3384420"/>
            <a:ext cx="1292100" cy="37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P(8) = </a:t>
            </a:r>
            <a:endParaRPr sz="2000"/>
          </a:p>
        </p:txBody>
      </p:sp>
      <p:pic>
        <p:nvPicPr>
          <p:cNvPr id="951" name="Google Shape;951;p76" descr="&lt;math xmlns=&quot;http://www.w3.org/1998/Math/MathML&quot; display=&quot;block&quot; data-is-equatio=&quot;1&quot; data-latex=&quot;\frac{6}{48}&quot;&gt;&lt;mfrac&gt;&lt;mn&gt;6&lt;/mn&gt;&lt;mn&gt;48&lt;/mn&gt;&lt;/mfrac&gt;&lt;/math&gt;" title="6 over 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7374" y="3270914"/>
            <a:ext cx="261609" cy="484855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76"/>
          <p:cNvSpPr txBox="1"/>
          <p:nvPr>
            <p:ph type="body" idx="1"/>
          </p:nvPr>
        </p:nvSpPr>
        <p:spPr>
          <a:xfrm>
            <a:off x="6042220" y="2558475"/>
            <a:ext cx="1455000" cy="37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P(8) = </a:t>
            </a:r>
            <a:endParaRPr sz="2000"/>
          </a:p>
        </p:txBody>
      </p:sp>
      <p:pic>
        <p:nvPicPr>
          <p:cNvPr id="953" name="Google Shape;953;p76" descr="&lt;math xmlns=&quot;http://www.w3.org/1998/Math/MathML&quot; display=&quot;block&quot; data-is-equatio=&quot;1&quot; data-latex=&quot;\frac{7}{64}&quot;&gt;&lt;mfrac&gt;&lt;mn&gt;7&lt;/mn&gt;&lt;mn&gt;64&lt;/mn&gt;&lt;/mfrac&gt;&lt;/math&gt;" title="7 over 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11597" y="2460625"/>
            <a:ext cx="262668" cy="47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3775" y="2491317"/>
            <a:ext cx="402111" cy="419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36221" y="4178163"/>
            <a:ext cx="397210" cy="38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83232" y="4178163"/>
            <a:ext cx="397210" cy="38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5488" y="2491317"/>
            <a:ext cx="402111" cy="419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3775" y="3351140"/>
            <a:ext cx="402111" cy="419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49372" y="3384481"/>
            <a:ext cx="397210" cy="38961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76"/>
          <p:cNvSpPr/>
          <p:nvPr/>
        </p:nvSpPr>
        <p:spPr>
          <a:xfrm>
            <a:off x="836074" y="3945383"/>
            <a:ext cx="3613200" cy="799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6"/>
          <p:cNvSpPr/>
          <p:nvPr/>
        </p:nvSpPr>
        <p:spPr>
          <a:xfrm>
            <a:off x="3681906" y="939725"/>
            <a:ext cx="774900" cy="3840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2" name="Google Shape;962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993" y="3511550"/>
            <a:ext cx="457626" cy="44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12176" y="932400"/>
            <a:ext cx="457625" cy="451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7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8224557" y="2084097"/>
            <a:ext cx="546550" cy="715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7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190521" y="3615207"/>
            <a:ext cx="546549" cy="70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69" name="Shape 969"/>
        <p:cNvGrpSpPr/>
        <p:nvPr/>
      </p:nvGrpSpPr>
      <p:grpSpPr>
        <a:xfrm>
          <a:off x="0" y="0"/>
          <a:ext cx="0" cy="0"/>
        </a:xfrm>
      </p:grpSpPr>
      <p:sp>
        <p:nvSpPr>
          <p:cNvPr id="970" name="Google Shape;970;p77"/>
          <p:cNvSpPr txBox="1"/>
          <p:nvPr>
            <p:ph type="body" idx="1"/>
          </p:nvPr>
        </p:nvSpPr>
        <p:spPr>
          <a:xfrm>
            <a:off x="324000" y="759300"/>
            <a:ext cx="8496000" cy="47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Each spinner is spun and their outcomes are added together.</a:t>
            </a:r>
            <a:endParaRPr sz="1800"/>
          </a:p>
        </p:txBody>
      </p:sp>
      <p:sp>
        <p:nvSpPr>
          <p:cNvPr id="971" name="Google Shape;971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probability to inform decisions</a:t>
            </a:r>
            <a:endParaRPr/>
          </a:p>
        </p:txBody>
      </p:sp>
      <p:sp>
        <p:nvSpPr>
          <p:cNvPr id="972" name="Google Shape;972;p77"/>
          <p:cNvSpPr/>
          <p:nvPr/>
        </p:nvSpPr>
        <p:spPr>
          <a:xfrm>
            <a:off x="4992477" y="2002989"/>
            <a:ext cx="1315500" cy="13155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3" name="Google Shape;973;p77"/>
          <p:cNvSpPr/>
          <p:nvPr/>
        </p:nvSpPr>
        <p:spPr>
          <a:xfrm rot="7199138">
            <a:off x="5003958" y="2014654"/>
            <a:ext cx="1292962" cy="1292962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4" name="Google Shape;974;p77"/>
          <p:cNvSpPr/>
          <p:nvPr/>
        </p:nvSpPr>
        <p:spPr>
          <a:xfrm rot="-7211999">
            <a:off x="5003954" y="2014454"/>
            <a:ext cx="1292991" cy="1292991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5" name="Google Shape;975;p77"/>
          <p:cNvSpPr/>
          <p:nvPr/>
        </p:nvSpPr>
        <p:spPr>
          <a:xfrm>
            <a:off x="5004019" y="2014578"/>
            <a:ext cx="1293000" cy="12930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6" name="Google Shape;976;p77"/>
          <p:cNvSpPr txBox="1"/>
          <p:nvPr/>
        </p:nvSpPr>
        <p:spPr>
          <a:xfrm>
            <a:off x="5794172" y="2320061"/>
            <a:ext cx="48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7"/>
          <p:cNvSpPr txBox="1"/>
          <p:nvPr/>
        </p:nvSpPr>
        <p:spPr>
          <a:xfrm>
            <a:off x="5557697" y="2793012"/>
            <a:ext cx="48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7"/>
          <p:cNvSpPr txBox="1"/>
          <p:nvPr/>
        </p:nvSpPr>
        <p:spPr>
          <a:xfrm>
            <a:off x="5202983" y="2320061"/>
            <a:ext cx="48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9" name="Google Shape;979;p77"/>
          <p:cNvGrpSpPr/>
          <p:nvPr/>
        </p:nvGrpSpPr>
        <p:grpSpPr>
          <a:xfrm>
            <a:off x="5612574" y="2068745"/>
            <a:ext cx="72848" cy="633810"/>
            <a:chOff x="996050" y="213293"/>
            <a:chExt cx="93900" cy="909732"/>
          </a:xfrm>
        </p:grpSpPr>
        <p:cxnSp>
          <p:nvCxnSpPr>
            <p:cNvPr id="980" name="Google Shape;980;p77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81" name="Google Shape;981;p77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aphicFrame>
        <p:nvGraphicFramePr>
          <p:cNvPr id="982" name="Google Shape;982;p77"/>
          <p:cNvGraphicFramePr>
            <a:graphicFrameLocks noGrp="1"/>
          </p:cNvGraphicFramePr>
          <p:nvPr/>
        </p:nvGraphicFramePr>
        <p:xfrm>
          <a:off x="1638338" y="184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382850"/>
                <a:gridCol w="412125"/>
                <a:gridCol w="412125"/>
                <a:gridCol w="412125"/>
              </a:tblGrid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83" name="Google Shape;983;p77"/>
          <p:cNvSpPr/>
          <p:nvPr/>
        </p:nvSpPr>
        <p:spPr>
          <a:xfrm>
            <a:off x="7049877" y="2002989"/>
            <a:ext cx="1315500" cy="13155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4" name="Google Shape;984;p77"/>
          <p:cNvSpPr/>
          <p:nvPr/>
        </p:nvSpPr>
        <p:spPr>
          <a:xfrm rot="7199138">
            <a:off x="7061358" y="2014654"/>
            <a:ext cx="1292962" cy="1292962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5" name="Google Shape;985;p77"/>
          <p:cNvSpPr/>
          <p:nvPr/>
        </p:nvSpPr>
        <p:spPr>
          <a:xfrm rot="-7211999">
            <a:off x="7061354" y="2014454"/>
            <a:ext cx="1292991" cy="1292991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6" name="Google Shape;986;p77"/>
          <p:cNvSpPr/>
          <p:nvPr/>
        </p:nvSpPr>
        <p:spPr>
          <a:xfrm>
            <a:off x="7061419" y="2014578"/>
            <a:ext cx="1293000" cy="12930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7" name="Google Shape;987;p77"/>
          <p:cNvSpPr txBox="1"/>
          <p:nvPr/>
        </p:nvSpPr>
        <p:spPr>
          <a:xfrm>
            <a:off x="7851572" y="2320061"/>
            <a:ext cx="48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7"/>
          <p:cNvSpPr txBox="1"/>
          <p:nvPr/>
        </p:nvSpPr>
        <p:spPr>
          <a:xfrm>
            <a:off x="7615097" y="2793012"/>
            <a:ext cx="48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7"/>
          <p:cNvSpPr txBox="1"/>
          <p:nvPr/>
        </p:nvSpPr>
        <p:spPr>
          <a:xfrm>
            <a:off x="7260383" y="2320061"/>
            <a:ext cx="48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0" name="Google Shape;990;p77"/>
          <p:cNvGrpSpPr/>
          <p:nvPr/>
        </p:nvGrpSpPr>
        <p:grpSpPr>
          <a:xfrm>
            <a:off x="7669974" y="2068745"/>
            <a:ext cx="72848" cy="633810"/>
            <a:chOff x="996050" y="213293"/>
            <a:chExt cx="93900" cy="909732"/>
          </a:xfrm>
        </p:grpSpPr>
        <p:cxnSp>
          <p:nvCxnSpPr>
            <p:cNvPr id="991" name="Google Shape;991;p77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92" name="Google Shape;992;p77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993" name="Google Shape;993;p77"/>
          <p:cNvSpPr txBox="1"/>
          <p:nvPr>
            <p:ph type="body" idx="1"/>
          </p:nvPr>
        </p:nvSpPr>
        <p:spPr>
          <a:xfrm>
            <a:off x="324000" y="1140300"/>
            <a:ext cx="8496000" cy="47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two-way outcome table shows the sample space.</a:t>
            </a:r>
            <a:endParaRPr sz="1800"/>
          </a:p>
        </p:txBody>
      </p:sp>
      <p:sp>
        <p:nvSpPr>
          <p:cNvPr id="994" name="Google Shape;994;p77"/>
          <p:cNvSpPr txBox="1"/>
          <p:nvPr>
            <p:ph type="body" idx="1"/>
          </p:nvPr>
        </p:nvSpPr>
        <p:spPr>
          <a:xfrm>
            <a:off x="324000" y="3959700"/>
            <a:ext cx="8496000" cy="47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probability of getting a total of 4?</a:t>
            </a:r>
            <a:endParaRPr sz="1800"/>
          </a:p>
        </p:txBody>
      </p:sp>
      <p:pic>
        <p:nvPicPr>
          <p:cNvPr id="995" name="Google Shape;995;p77" descr="&lt;math xmlns=&quot;http://www.w3.org/1998/Math/MathML&quot; display=&quot;block&quot; data-is-equatio=&quot;1&quot; data-latex=&quot;\frac{3}{9}\ \ \frac{3}{15}\ \ \frac{3}{25}&quot;&gt;&lt;mfrac&gt;&lt;mn&gt;3&lt;/mn&gt;&lt;mn&gt;9&lt;/mn&gt;&lt;/mfrac&gt;&lt;mtext&gt;&lt;/mtext&gt;&lt;mtext&gt;&lt;/mtext&gt;&lt;mfrac&gt;&lt;mn&gt;3&lt;/mn&gt;&lt;mn&gt;15&lt;/mn&gt;&lt;/mfrac&gt;&lt;mtext&gt;&lt;/mtext&gt;&lt;mtext&gt;&lt;/mtext&gt;&lt;mfrac&gt;&lt;mn&gt;3&lt;/mn&gt;&lt;mn&gt;25&lt;/mn&gt;&lt;/mfrac&gt;&lt;/math&gt;" title="three ninths 3 over 15 3 over 25"/>
          <p:cNvPicPr preferRelativeResize="0"/>
          <p:nvPr/>
        </p:nvPicPr>
        <p:blipFill>
          <a:blip r:embed="rId3">
            <a:alphaModFix/>
          </a:blip>
          <a:srcRect r="77103"/>
          <a:stretch>
            <a:fillRect/>
          </a:stretch>
        </p:blipFill>
        <p:spPr>
          <a:xfrm>
            <a:off x="6376970" y="3839400"/>
            <a:ext cx="296050" cy="6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9" name="Shape 999"/>
        <p:cNvGrpSpPr/>
        <p:nvPr/>
      </p:nvGrpSpPr>
      <p:grpSpPr>
        <a:xfrm>
          <a:off x="0" y="0"/>
          <a:ext cx="0" cy="0"/>
        </a:xfrm>
      </p:grpSpPr>
      <p:sp>
        <p:nvSpPr>
          <p:cNvPr id="1000" name="Google Shape;1000;p78"/>
          <p:cNvSpPr/>
          <p:nvPr/>
        </p:nvSpPr>
        <p:spPr>
          <a:xfrm>
            <a:off x="6400875" y="2159993"/>
            <a:ext cx="1153200" cy="2059800"/>
          </a:xfrm>
          <a:prstGeom prst="rect">
            <a:avLst/>
          </a:prstGeom>
          <a:solidFill>
            <a:srgbClr val="FAEAF6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probability to inform decisions</a:t>
            </a:r>
            <a:endParaRPr/>
          </a:p>
        </p:txBody>
      </p:sp>
      <p:sp>
        <p:nvSpPr>
          <p:cNvPr id="1002" name="Google Shape;1002;p78"/>
          <p:cNvSpPr txBox="1"/>
          <p:nvPr>
            <p:ph type="title" idx="4294967295"/>
          </p:nvPr>
        </p:nvSpPr>
        <p:spPr>
          <a:xfrm>
            <a:off x="324000" y="748775"/>
            <a:ext cx="8526300" cy="80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0"/>
              <a:t>Which combination of spinners is represented by the highlighted part part of the sample space?</a:t>
            </a:r>
            <a:endParaRPr sz="2000" b="0"/>
          </a:p>
        </p:txBody>
      </p:sp>
      <p:graphicFrame>
        <p:nvGraphicFramePr>
          <p:cNvPr id="1003" name="Google Shape;1003;p78"/>
          <p:cNvGraphicFramePr>
            <a:graphicFrameLocks noGrp="1"/>
          </p:cNvGraphicFramePr>
          <p:nvPr/>
        </p:nvGraphicFramePr>
        <p:xfrm>
          <a:off x="5981738" y="169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382850"/>
                <a:gridCol w="412125"/>
                <a:gridCol w="412125"/>
                <a:gridCol w="412125"/>
                <a:gridCol w="412125"/>
                <a:gridCol w="412125"/>
              </a:tblGrid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solidFill>
                          <a:schemeClr val="dk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04" name="Google Shape;1004;p78"/>
          <p:cNvSpPr/>
          <p:nvPr/>
        </p:nvSpPr>
        <p:spPr>
          <a:xfrm>
            <a:off x="1027740" y="1604305"/>
            <a:ext cx="858300" cy="858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5" name="Google Shape;1005;p78"/>
          <p:cNvSpPr/>
          <p:nvPr/>
        </p:nvSpPr>
        <p:spPr>
          <a:xfrm rot="7200161">
            <a:off x="1035057" y="1611710"/>
            <a:ext cx="843532" cy="843532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6" name="Google Shape;1006;p78"/>
          <p:cNvSpPr/>
          <p:nvPr/>
        </p:nvSpPr>
        <p:spPr>
          <a:xfrm rot="-7211690">
            <a:off x="1035280" y="1611806"/>
            <a:ext cx="843437" cy="84343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7" name="Google Shape;1007;p78"/>
          <p:cNvSpPr/>
          <p:nvPr/>
        </p:nvSpPr>
        <p:spPr>
          <a:xfrm>
            <a:off x="1035268" y="1611865"/>
            <a:ext cx="843300" cy="8433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8" name="Google Shape;1008;p78"/>
          <p:cNvSpPr txBox="1"/>
          <p:nvPr/>
        </p:nvSpPr>
        <p:spPr>
          <a:xfrm>
            <a:off x="1550701" y="1744867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8"/>
          <p:cNvSpPr txBox="1"/>
          <p:nvPr/>
        </p:nvSpPr>
        <p:spPr>
          <a:xfrm>
            <a:off x="1330173" y="2100719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8"/>
          <p:cNvSpPr txBox="1"/>
          <p:nvPr/>
        </p:nvSpPr>
        <p:spPr>
          <a:xfrm>
            <a:off x="1098786" y="1744867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1" name="Google Shape;1011;p78"/>
          <p:cNvGrpSpPr/>
          <p:nvPr/>
        </p:nvGrpSpPr>
        <p:grpSpPr>
          <a:xfrm>
            <a:off x="1432271" y="1647184"/>
            <a:ext cx="47523" cy="413382"/>
            <a:chOff x="996050" y="213293"/>
            <a:chExt cx="93900" cy="909732"/>
          </a:xfrm>
        </p:grpSpPr>
        <p:cxnSp>
          <p:nvCxnSpPr>
            <p:cNvPr id="1012" name="Google Shape;1012;p7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13" name="Google Shape;1013;p7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14" name="Google Shape;1014;p78"/>
          <p:cNvSpPr/>
          <p:nvPr/>
        </p:nvSpPr>
        <p:spPr>
          <a:xfrm>
            <a:off x="2219081" y="2733036"/>
            <a:ext cx="867000" cy="867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5" name="Google Shape;1015;p78"/>
          <p:cNvSpPr/>
          <p:nvPr/>
        </p:nvSpPr>
        <p:spPr>
          <a:xfrm rot="8647614">
            <a:off x="2226816" y="2741141"/>
            <a:ext cx="851889" cy="851889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6" name="Google Shape;1016;p78"/>
          <p:cNvSpPr/>
          <p:nvPr/>
        </p:nvSpPr>
        <p:spPr>
          <a:xfrm rot="-8627764">
            <a:off x="2227111" y="2740972"/>
            <a:ext cx="851758" cy="851758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7" name="Google Shape;1017;p78"/>
          <p:cNvSpPr/>
          <p:nvPr/>
        </p:nvSpPr>
        <p:spPr>
          <a:xfrm rot="-4310366">
            <a:off x="2226707" y="2740811"/>
            <a:ext cx="851833" cy="85183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8" name="Google Shape;1018;p78"/>
          <p:cNvSpPr/>
          <p:nvPr/>
        </p:nvSpPr>
        <p:spPr>
          <a:xfrm>
            <a:off x="2226772" y="2740796"/>
            <a:ext cx="852000" cy="8520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9" name="Google Shape;1019;p78"/>
          <p:cNvSpPr txBox="1"/>
          <p:nvPr/>
        </p:nvSpPr>
        <p:spPr>
          <a:xfrm>
            <a:off x="2479686" y="3244547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8"/>
          <p:cNvSpPr/>
          <p:nvPr/>
        </p:nvSpPr>
        <p:spPr>
          <a:xfrm rot="4313044">
            <a:off x="2226704" y="2740519"/>
            <a:ext cx="851931" cy="85193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21" name="Google Shape;1021;p78"/>
          <p:cNvSpPr txBox="1"/>
          <p:nvPr/>
        </p:nvSpPr>
        <p:spPr>
          <a:xfrm>
            <a:off x="2341999" y="2748913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8"/>
          <p:cNvSpPr txBox="1"/>
          <p:nvPr/>
        </p:nvSpPr>
        <p:spPr>
          <a:xfrm>
            <a:off x="2676685" y="2748916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8"/>
          <p:cNvSpPr txBox="1"/>
          <p:nvPr/>
        </p:nvSpPr>
        <p:spPr>
          <a:xfrm>
            <a:off x="2786405" y="3060621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8"/>
          <p:cNvSpPr txBox="1"/>
          <p:nvPr/>
        </p:nvSpPr>
        <p:spPr>
          <a:xfrm>
            <a:off x="2230554" y="3060621"/>
            <a:ext cx="29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5" name="Google Shape;1025;p78"/>
          <p:cNvGrpSpPr/>
          <p:nvPr/>
        </p:nvGrpSpPr>
        <p:grpSpPr>
          <a:xfrm>
            <a:off x="2627764" y="2761642"/>
            <a:ext cx="48011" cy="417840"/>
            <a:chOff x="996050" y="213293"/>
            <a:chExt cx="93900" cy="909732"/>
          </a:xfrm>
        </p:grpSpPr>
        <p:cxnSp>
          <p:nvCxnSpPr>
            <p:cNvPr id="1026" name="Google Shape;1026;p7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27" name="Google Shape;1027;p7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28" name="Google Shape;1028;p78"/>
          <p:cNvSpPr/>
          <p:nvPr/>
        </p:nvSpPr>
        <p:spPr>
          <a:xfrm>
            <a:off x="2246940" y="1604305"/>
            <a:ext cx="858300" cy="858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29" name="Google Shape;1029;p78"/>
          <p:cNvSpPr/>
          <p:nvPr/>
        </p:nvSpPr>
        <p:spPr>
          <a:xfrm rot="7200161">
            <a:off x="2254257" y="1611710"/>
            <a:ext cx="843532" cy="843532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0" name="Google Shape;1030;p78"/>
          <p:cNvSpPr/>
          <p:nvPr/>
        </p:nvSpPr>
        <p:spPr>
          <a:xfrm rot="-7211690">
            <a:off x="2254480" y="1611806"/>
            <a:ext cx="843437" cy="84343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1" name="Google Shape;1031;p78"/>
          <p:cNvSpPr/>
          <p:nvPr/>
        </p:nvSpPr>
        <p:spPr>
          <a:xfrm>
            <a:off x="2254468" y="1611865"/>
            <a:ext cx="843300" cy="8433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2" name="Google Shape;1032;p78"/>
          <p:cNvSpPr txBox="1"/>
          <p:nvPr/>
        </p:nvSpPr>
        <p:spPr>
          <a:xfrm>
            <a:off x="2769901" y="1744867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8"/>
          <p:cNvSpPr txBox="1"/>
          <p:nvPr/>
        </p:nvSpPr>
        <p:spPr>
          <a:xfrm>
            <a:off x="2549373" y="2100719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8"/>
          <p:cNvSpPr txBox="1"/>
          <p:nvPr/>
        </p:nvSpPr>
        <p:spPr>
          <a:xfrm>
            <a:off x="2317986" y="1744867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5" name="Google Shape;1035;p78"/>
          <p:cNvGrpSpPr/>
          <p:nvPr/>
        </p:nvGrpSpPr>
        <p:grpSpPr>
          <a:xfrm>
            <a:off x="2651471" y="1647184"/>
            <a:ext cx="47523" cy="413382"/>
            <a:chOff x="996050" y="213293"/>
            <a:chExt cx="93900" cy="909732"/>
          </a:xfrm>
        </p:grpSpPr>
        <p:cxnSp>
          <p:nvCxnSpPr>
            <p:cNvPr id="1036" name="Google Shape;1036;p7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37" name="Google Shape;1037;p7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38" name="Google Shape;1038;p78"/>
          <p:cNvSpPr/>
          <p:nvPr/>
        </p:nvSpPr>
        <p:spPr>
          <a:xfrm>
            <a:off x="1027740" y="2747305"/>
            <a:ext cx="858300" cy="858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9" name="Google Shape;1039;p78"/>
          <p:cNvSpPr/>
          <p:nvPr/>
        </p:nvSpPr>
        <p:spPr>
          <a:xfrm rot="7200161">
            <a:off x="1035057" y="2754710"/>
            <a:ext cx="843532" cy="843532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0" name="Google Shape;1040;p78"/>
          <p:cNvSpPr/>
          <p:nvPr/>
        </p:nvSpPr>
        <p:spPr>
          <a:xfrm rot="-7211690">
            <a:off x="1035280" y="2754806"/>
            <a:ext cx="843437" cy="84343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1" name="Google Shape;1041;p78"/>
          <p:cNvSpPr/>
          <p:nvPr/>
        </p:nvSpPr>
        <p:spPr>
          <a:xfrm>
            <a:off x="1035268" y="2754865"/>
            <a:ext cx="843300" cy="8433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2" name="Google Shape;1042;p78"/>
          <p:cNvSpPr txBox="1"/>
          <p:nvPr/>
        </p:nvSpPr>
        <p:spPr>
          <a:xfrm>
            <a:off x="1550701" y="2887867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8"/>
          <p:cNvSpPr txBox="1"/>
          <p:nvPr/>
        </p:nvSpPr>
        <p:spPr>
          <a:xfrm>
            <a:off x="1330173" y="3243719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8"/>
          <p:cNvSpPr txBox="1"/>
          <p:nvPr/>
        </p:nvSpPr>
        <p:spPr>
          <a:xfrm>
            <a:off x="1098786" y="2887867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5" name="Google Shape;1045;p78"/>
          <p:cNvGrpSpPr/>
          <p:nvPr/>
        </p:nvGrpSpPr>
        <p:grpSpPr>
          <a:xfrm>
            <a:off x="1432271" y="2790184"/>
            <a:ext cx="47523" cy="413382"/>
            <a:chOff x="996050" y="213293"/>
            <a:chExt cx="93900" cy="909732"/>
          </a:xfrm>
        </p:grpSpPr>
        <p:cxnSp>
          <p:nvCxnSpPr>
            <p:cNvPr id="1046" name="Google Shape;1046;p7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47" name="Google Shape;1047;p7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48" name="Google Shape;1048;p78"/>
          <p:cNvSpPr/>
          <p:nvPr/>
        </p:nvSpPr>
        <p:spPr>
          <a:xfrm>
            <a:off x="1076081" y="3892364"/>
            <a:ext cx="867000" cy="867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49" name="Google Shape;1049;p78"/>
          <p:cNvSpPr/>
          <p:nvPr/>
        </p:nvSpPr>
        <p:spPr>
          <a:xfrm rot="8647614">
            <a:off x="1083816" y="3900469"/>
            <a:ext cx="851889" cy="851889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0" name="Google Shape;1050;p78"/>
          <p:cNvSpPr/>
          <p:nvPr/>
        </p:nvSpPr>
        <p:spPr>
          <a:xfrm rot="-8627764">
            <a:off x="1084111" y="3900301"/>
            <a:ext cx="851758" cy="851758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1" name="Google Shape;1051;p78"/>
          <p:cNvSpPr/>
          <p:nvPr/>
        </p:nvSpPr>
        <p:spPr>
          <a:xfrm rot="-4310366">
            <a:off x="1083707" y="3900140"/>
            <a:ext cx="851833" cy="85183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2" name="Google Shape;1052;p78"/>
          <p:cNvSpPr/>
          <p:nvPr/>
        </p:nvSpPr>
        <p:spPr>
          <a:xfrm>
            <a:off x="1083772" y="3900124"/>
            <a:ext cx="852000" cy="8520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3" name="Google Shape;1053;p78"/>
          <p:cNvSpPr txBox="1"/>
          <p:nvPr/>
        </p:nvSpPr>
        <p:spPr>
          <a:xfrm>
            <a:off x="1336686" y="4403876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78"/>
          <p:cNvSpPr/>
          <p:nvPr/>
        </p:nvSpPr>
        <p:spPr>
          <a:xfrm rot="4313044">
            <a:off x="1083704" y="3899848"/>
            <a:ext cx="851931" cy="85193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5" name="Google Shape;1055;p78"/>
          <p:cNvSpPr txBox="1"/>
          <p:nvPr/>
        </p:nvSpPr>
        <p:spPr>
          <a:xfrm>
            <a:off x="1198999" y="3908241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78"/>
          <p:cNvSpPr txBox="1"/>
          <p:nvPr/>
        </p:nvSpPr>
        <p:spPr>
          <a:xfrm>
            <a:off x="1533685" y="3908245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78"/>
          <p:cNvSpPr txBox="1"/>
          <p:nvPr/>
        </p:nvSpPr>
        <p:spPr>
          <a:xfrm>
            <a:off x="1643405" y="4219950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8"/>
          <p:cNvSpPr txBox="1"/>
          <p:nvPr/>
        </p:nvSpPr>
        <p:spPr>
          <a:xfrm>
            <a:off x="1087554" y="4219950"/>
            <a:ext cx="29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9" name="Google Shape;1059;p78"/>
          <p:cNvGrpSpPr/>
          <p:nvPr/>
        </p:nvGrpSpPr>
        <p:grpSpPr>
          <a:xfrm>
            <a:off x="1484764" y="3920971"/>
            <a:ext cx="48011" cy="417840"/>
            <a:chOff x="996050" y="213293"/>
            <a:chExt cx="93900" cy="909732"/>
          </a:xfrm>
        </p:grpSpPr>
        <p:cxnSp>
          <p:nvCxnSpPr>
            <p:cNvPr id="1060" name="Google Shape;1060;p7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61" name="Google Shape;1061;p7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2" name="Google Shape;1062;p78"/>
          <p:cNvSpPr/>
          <p:nvPr/>
        </p:nvSpPr>
        <p:spPr>
          <a:xfrm>
            <a:off x="2219081" y="3892364"/>
            <a:ext cx="867000" cy="867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3" name="Google Shape;1063;p78"/>
          <p:cNvSpPr/>
          <p:nvPr/>
        </p:nvSpPr>
        <p:spPr>
          <a:xfrm rot="8647614">
            <a:off x="2226816" y="3900469"/>
            <a:ext cx="851889" cy="851889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4" name="Google Shape;1064;p78"/>
          <p:cNvSpPr/>
          <p:nvPr/>
        </p:nvSpPr>
        <p:spPr>
          <a:xfrm rot="-8627764">
            <a:off x="2227111" y="3900301"/>
            <a:ext cx="851758" cy="851758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5" name="Google Shape;1065;p78"/>
          <p:cNvSpPr/>
          <p:nvPr/>
        </p:nvSpPr>
        <p:spPr>
          <a:xfrm rot="-4310366">
            <a:off x="2226707" y="3900140"/>
            <a:ext cx="851833" cy="85183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6" name="Google Shape;1066;p78"/>
          <p:cNvSpPr/>
          <p:nvPr/>
        </p:nvSpPr>
        <p:spPr>
          <a:xfrm>
            <a:off x="2226772" y="3900124"/>
            <a:ext cx="852000" cy="8520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7" name="Google Shape;1067;p78"/>
          <p:cNvSpPr txBox="1"/>
          <p:nvPr/>
        </p:nvSpPr>
        <p:spPr>
          <a:xfrm>
            <a:off x="2479686" y="4403876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8"/>
          <p:cNvSpPr/>
          <p:nvPr/>
        </p:nvSpPr>
        <p:spPr>
          <a:xfrm rot="4313044">
            <a:off x="2226704" y="3899848"/>
            <a:ext cx="851931" cy="85193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9" name="Google Shape;1069;p78"/>
          <p:cNvSpPr txBox="1"/>
          <p:nvPr/>
        </p:nvSpPr>
        <p:spPr>
          <a:xfrm>
            <a:off x="2341999" y="3908241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8"/>
          <p:cNvSpPr txBox="1"/>
          <p:nvPr/>
        </p:nvSpPr>
        <p:spPr>
          <a:xfrm>
            <a:off x="2676685" y="3908245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78"/>
          <p:cNvSpPr txBox="1"/>
          <p:nvPr/>
        </p:nvSpPr>
        <p:spPr>
          <a:xfrm>
            <a:off x="2786405" y="4219950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78"/>
          <p:cNvSpPr txBox="1"/>
          <p:nvPr/>
        </p:nvSpPr>
        <p:spPr>
          <a:xfrm>
            <a:off x="2230554" y="4219950"/>
            <a:ext cx="29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3" name="Google Shape;1073;p78"/>
          <p:cNvGrpSpPr/>
          <p:nvPr/>
        </p:nvGrpSpPr>
        <p:grpSpPr>
          <a:xfrm>
            <a:off x="2627764" y="3920971"/>
            <a:ext cx="48011" cy="417840"/>
            <a:chOff x="996050" y="213293"/>
            <a:chExt cx="93900" cy="909732"/>
          </a:xfrm>
        </p:grpSpPr>
        <p:cxnSp>
          <p:nvCxnSpPr>
            <p:cNvPr id="1074" name="Google Shape;1074;p78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75" name="Google Shape;1075;p7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076" name="Google Shape;1076;p78"/>
          <p:cNvGrpSpPr/>
          <p:nvPr/>
        </p:nvGrpSpPr>
        <p:grpSpPr>
          <a:xfrm>
            <a:off x="339041" y="1815925"/>
            <a:ext cx="457200" cy="457200"/>
            <a:chOff x="1020916" y="1442088"/>
            <a:chExt cx="457200" cy="457200"/>
          </a:xfrm>
        </p:grpSpPr>
        <p:pic>
          <p:nvPicPr>
            <p:cNvPr id="1077" name="Google Shape;1077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8" name="Google Shape;1078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9" name="Google Shape;1079;p78"/>
          <p:cNvGrpSpPr/>
          <p:nvPr/>
        </p:nvGrpSpPr>
        <p:grpSpPr>
          <a:xfrm>
            <a:off x="326127" y="3038754"/>
            <a:ext cx="457200" cy="457200"/>
            <a:chOff x="1020916" y="1442088"/>
            <a:chExt cx="457200" cy="457200"/>
          </a:xfrm>
        </p:grpSpPr>
        <p:pic>
          <p:nvPicPr>
            <p:cNvPr id="1080" name="Google Shape;1080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1" name="Google Shape;1081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2" name="Google Shape;1082;p78"/>
          <p:cNvGrpSpPr/>
          <p:nvPr/>
        </p:nvGrpSpPr>
        <p:grpSpPr>
          <a:xfrm>
            <a:off x="324098" y="4109182"/>
            <a:ext cx="457200" cy="457200"/>
            <a:chOff x="1020916" y="1442088"/>
            <a:chExt cx="457200" cy="457200"/>
          </a:xfrm>
        </p:grpSpPr>
        <p:pic>
          <p:nvPicPr>
            <p:cNvPr id="1083" name="Google Shape;1083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4" name="Google Shape;1084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85" name="Google Shape;108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2408" y="29669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9" name="Shape 1089"/>
        <p:cNvGrpSpPr/>
        <p:nvPr/>
      </p:nvGrpSpPr>
      <p:grpSpPr>
        <a:xfrm>
          <a:off x="0" y="0"/>
          <a:ext cx="0" cy="0"/>
        </a:xfrm>
      </p:grpSpPr>
      <p:graphicFrame>
        <p:nvGraphicFramePr>
          <p:cNvPr id="1090" name="Google Shape;1090;p79"/>
          <p:cNvGraphicFramePr>
            <a:graphicFrameLocks noGrp="1"/>
          </p:cNvGraphicFramePr>
          <p:nvPr/>
        </p:nvGraphicFramePr>
        <p:xfrm>
          <a:off x="5981738" y="169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382850"/>
                <a:gridCol w="412125"/>
                <a:gridCol w="412125"/>
                <a:gridCol w="412125"/>
                <a:gridCol w="412125"/>
                <a:gridCol w="412125"/>
              </a:tblGrid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91" name="Google Shape;1091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probability to inform decisions</a:t>
            </a:r>
            <a:endParaRPr/>
          </a:p>
        </p:txBody>
      </p:sp>
      <p:sp>
        <p:nvSpPr>
          <p:cNvPr id="1092" name="Google Shape;1092;p79"/>
          <p:cNvSpPr txBox="1"/>
          <p:nvPr>
            <p:ph type="title" idx="4294967295"/>
          </p:nvPr>
        </p:nvSpPr>
        <p:spPr>
          <a:xfrm>
            <a:off x="324000" y="748775"/>
            <a:ext cx="8526300" cy="80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0"/>
              <a:t>Which combination of spinners gives the best probability of getting a total of 4?</a:t>
            </a:r>
            <a:endParaRPr sz="2000" b="0"/>
          </a:p>
        </p:txBody>
      </p:sp>
      <p:sp>
        <p:nvSpPr>
          <p:cNvPr id="1093" name="Google Shape;1093;p79"/>
          <p:cNvSpPr/>
          <p:nvPr/>
        </p:nvSpPr>
        <p:spPr>
          <a:xfrm>
            <a:off x="1027740" y="1604305"/>
            <a:ext cx="858300" cy="858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4" name="Google Shape;1094;p79"/>
          <p:cNvSpPr/>
          <p:nvPr/>
        </p:nvSpPr>
        <p:spPr>
          <a:xfrm rot="7200161">
            <a:off x="1035057" y="1611710"/>
            <a:ext cx="843532" cy="843532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5" name="Google Shape;1095;p79"/>
          <p:cNvSpPr/>
          <p:nvPr/>
        </p:nvSpPr>
        <p:spPr>
          <a:xfrm rot="-7211690">
            <a:off x="1035280" y="1611806"/>
            <a:ext cx="843437" cy="84343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6" name="Google Shape;1096;p79"/>
          <p:cNvSpPr/>
          <p:nvPr/>
        </p:nvSpPr>
        <p:spPr>
          <a:xfrm>
            <a:off x="1035268" y="1611865"/>
            <a:ext cx="843300" cy="8433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7" name="Google Shape;1097;p79"/>
          <p:cNvSpPr txBox="1"/>
          <p:nvPr/>
        </p:nvSpPr>
        <p:spPr>
          <a:xfrm>
            <a:off x="1550701" y="1744867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79"/>
          <p:cNvSpPr txBox="1"/>
          <p:nvPr/>
        </p:nvSpPr>
        <p:spPr>
          <a:xfrm>
            <a:off x="1330173" y="2100719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79"/>
          <p:cNvSpPr txBox="1"/>
          <p:nvPr/>
        </p:nvSpPr>
        <p:spPr>
          <a:xfrm>
            <a:off x="1098786" y="1744867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00" name="Google Shape;1100;p79"/>
          <p:cNvGrpSpPr/>
          <p:nvPr/>
        </p:nvGrpSpPr>
        <p:grpSpPr>
          <a:xfrm>
            <a:off x="1432271" y="1647184"/>
            <a:ext cx="47523" cy="413382"/>
            <a:chOff x="996050" y="213293"/>
            <a:chExt cx="93900" cy="909732"/>
          </a:xfrm>
        </p:grpSpPr>
        <p:cxnSp>
          <p:nvCxnSpPr>
            <p:cNvPr id="1101" name="Google Shape;1101;p7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02" name="Google Shape;1102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79"/>
          <p:cNvSpPr/>
          <p:nvPr/>
        </p:nvSpPr>
        <p:spPr>
          <a:xfrm>
            <a:off x="2219081" y="2733036"/>
            <a:ext cx="867000" cy="867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4" name="Google Shape;1104;p79"/>
          <p:cNvSpPr/>
          <p:nvPr/>
        </p:nvSpPr>
        <p:spPr>
          <a:xfrm rot="8647614">
            <a:off x="2226816" y="2741141"/>
            <a:ext cx="851889" cy="851889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5" name="Google Shape;1105;p79"/>
          <p:cNvSpPr/>
          <p:nvPr/>
        </p:nvSpPr>
        <p:spPr>
          <a:xfrm rot="-8627764">
            <a:off x="2227111" y="2740972"/>
            <a:ext cx="851758" cy="851758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6" name="Google Shape;1106;p79"/>
          <p:cNvSpPr/>
          <p:nvPr/>
        </p:nvSpPr>
        <p:spPr>
          <a:xfrm rot="-4310366">
            <a:off x="2226707" y="2740811"/>
            <a:ext cx="851833" cy="85183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7" name="Google Shape;1107;p79"/>
          <p:cNvSpPr/>
          <p:nvPr/>
        </p:nvSpPr>
        <p:spPr>
          <a:xfrm>
            <a:off x="2226772" y="2740796"/>
            <a:ext cx="852000" cy="8520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8" name="Google Shape;1108;p79"/>
          <p:cNvSpPr txBox="1"/>
          <p:nvPr/>
        </p:nvSpPr>
        <p:spPr>
          <a:xfrm>
            <a:off x="2479686" y="3244547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79"/>
          <p:cNvSpPr/>
          <p:nvPr/>
        </p:nvSpPr>
        <p:spPr>
          <a:xfrm rot="4313044">
            <a:off x="2226704" y="2740519"/>
            <a:ext cx="851931" cy="85193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0" name="Google Shape;1110;p79"/>
          <p:cNvSpPr txBox="1"/>
          <p:nvPr/>
        </p:nvSpPr>
        <p:spPr>
          <a:xfrm>
            <a:off x="2341999" y="2748913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79"/>
          <p:cNvSpPr txBox="1"/>
          <p:nvPr/>
        </p:nvSpPr>
        <p:spPr>
          <a:xfrm>
            <a:off x="2676685" y="2748916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79"/>
          <p:cNvSpPr txBox="1"/>
          <p:nvPr/>
        </p:nvSpPr>
        <p:spPr>
          <a:xfrm>
            <a:off x="2786405" y="3060621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79"/>
          <p:cNvSpPr txBox="1"/>
          <p:nvPr/>
        </p:nvSpPr>
        <p:spPr>
          <a:xfrm>
            <a:off x="2230554" y="3060621"/>
            <a:ext cx="29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4" name="Google Shape;1114;p79"/>
          <p:cNvGrpSpPr/>
          <p:nvPr/>
        </p:nvGrpSpPr>
        <p:grpSpPr>
          <a:xfrm>
            <a:off x="2627764" y="2761642"/>
            <a:ext cx="48011" cy="417840"/>
            <a:chOff x="996050" y="213293"/>
            <a:chExt cx="93900" cy="909732"/>
          </a:xfrm>
        </p:grpSpPr>
        <p:cxnSp>
          <p:nvCxnSpPr>
            <p:cNvPr id="1115" name="Google Shape;1115;p7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16" name="Google Shape;1116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17" name="Google Shape;1117;p79"/>
          <p:cNvSpPr/>
          <p:nvPr/>
        </p:nvSpPr>
        <p:spPr>
          <a:xfrm>
            <a:off x="2246940" y="1604305"/>
            <a:ext cx="858300" cy="858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8" name="Google Shape;1118;p79"/>
          <p:cNvSpPr/>
          <p:nvPr/>
        </p:nvSpPr>
        <p:spPr>
          <a:xfrm rot="7200161">
            <a:off x="2254257" y="1611710"/>
            <a:ext cx="843532" cy="843532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19" name="Google Shape;1119;p79"/>
          <p:cNvSpPr/>
          <p:nvPr/>
        </p:nvSpPr>
        <p:spPr>
          <a:xfrm rot="-7211690">
            <a:off x="2254480" y="1611806"/>
            <a:ext cx="843437" cy="84343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0" name="Google Shape;1120;p79"/>
          <p:cNvSpPr/>
          <p:nvPr/>
        </p:nvSpPr>
        <p:spPr>
          <a:xfrm>
            <a:off x="2254468" y="1611865"/>
            <a:ext cx="843300" cy="8433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1" name="Google Shape;1121;p79"/>
          <p:cNvSpPr txBox="1"/>
          <p:nvPr/>
        </p:nvSpPr>
        <p:spPr>
          <a:xfrm>
            <a:off x="2769901" y="1744867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79"/>
          <p:cNvSpPr txBox="1"/>
          <p:nvPr/>
        </p:nvSpPr>
        <p:spPr>
          <a:xfrm>
            <a:off x="2549373" y="2100719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79"/>
          <p:cNvSpPr txBox="1"/>
          <p:nvPr/>
        </p:nvSpPr>
        <p:spPr>
          <a:xfrm>
            <a:off x="2317986" y="1744867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4" name="Google Shape;1124;p79"/>
          <p:cNvGrpSpPr/>
          <p:nvPr/>
        </p:nvGrpSpPr>
        <p:grpSpPr>
          <a:xfrm>
            <a:off x="2651471" y="1647184"/>
            <a:ext cx="47523" cy="413382"/>
            <a:chOff x="996050" y="213293"/>
            <a:chExt cx="93900" cy="909732"/>
          </a:xfrm>
        </p:grpSpPr>
        <p:cxnSp>
          <p:nvCxnSpPr>
            <p:cNvPr id="1125" name="Google Shape;1125;p7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26" name="Google Shape;1126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27" name="Google Shape;1127;p79"/>
          <p:cNvSpPr/>
          <p:nvPr/>
        </p:nvSpPr>
        <p:spPr>
          <a:xfrm>
            <a:off x="1027740" y="2747305"/>
            <a:ext cx="858300" cy="8583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8" name="Google Shape;1128;p79"/>
          <p:cNvSpPr/>
          <p:nvPr/>
        </p:nvSpPr>
        <p:spPr>
          <a:xfrm rot="7200161">
            <a:off x="1035057" y="2754710"/>
            <a:ext cx="843532" cy="843532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9" name="Google Shape;1129;p79"/>
          <p:cNvSpPr/>
          <p:nvPr/>
        </p:nvSpPr>
        <p:spPr>
          <a:xfrm rot="-7211690">
            <a:off x="1035280" y="2754806"/>
            <a:ext cx="843437" cy="843437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0" name="Google Shape;1130;p79"/>
          <p:cNvSpPr/>
          <p:nvPr/>
        </p:nvSpPr>
        <p:spPr>
          <a:xfrm>
            <a:off x="1035268" y="2754865"/>
            <a:ext cx="843300" cy="843300"/>
          </a:xfrm>
          <a:prstGeom prst="pie">
            <a:avLst>
              <a:gd name="adj1" fmla="val 9034165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1" name="Google Shape;1131;p79"/>
          <p:cNvSpPr txBox="1"/>
          <p:nvPr/>
        </p:nvSpPr>
        <p:spPr>
          <a:xfrm>
            <a:off x="1550701" y="2887867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79"/>
          <p:cNvSpPr txBox="1"/>
          <p:nvPr/>
        </p:nvSpPr>
        <p:spPr>
          <a:xfrm>
            <a:off x="1330173" y="3243719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79"/>
          <p:cNvSpPr txBox="1"/>
          <p:nvPr/>
        </p:nvSpPr>
        <p:spPr>
          <a:xfrm>
            <a:off x="1098786" y="2887867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4" name="Google Shape;1134;p79"/>
          <p:cNvGrpSpPr/>
          <p:nvPr/>
        </p:nvGrpSpPr>
        <p:grpSpPr>
          <a:xfrm>
            <a:off x="1432271" y="2790184"/>
            <a:ext cx="47523" cy="413382"/>
            <a:chOff x="996050" y="213293"/>
            <a:chExt cx="93900" cy="909732"/>
          </a:xfrm>
        </p:grpSpPr>
        <p:cxnSp>
          <p:nvCxnSpPr>
            <p:cNvPr id="1135" name="Google Shape;1135;p7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36" name="Google Shape;1136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37" name="Google Shape;1137;p79"/>
          <p:cNvSpPr/>
          <p:nvPr/>
        </p:nvSpPr>
        <p:spPr>
          <a:xfrm>
            <a:off x="1076081" y="3892364"/>
            <a:ext cx="867000" cy="867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8" name="Google Shape;1138;p79"/>
          <p:cNvSpPr/>
          <p:nvPr/>
        </p:nvSpPr>
        <p:spPr>
          <a:xfrm rot="8647614">
            <a:off x="1083816" y="3900469"/>
            <a:ext cx="851889" cy="851889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9" name="Google Shape;1139;p79"/>
          <p:cNvSpPr/>
          <p:nvPr/>
        </p:nvSpPr>
        <p:spPr>
          <a:xfrm rot="-8627764">
            <a:off x="1084111" y="3900301"/>
            <a:ext cx="851758" cy="851758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40" name="Google Shape;1140;p79"/>
          <p:cNvSpPr/>
          <p:nvPr/>
        </p:nvSpPr>
        <p:spPr>
          <a:xfrm rot="-4310366">
            <a:off x="1083707" y="3900140"/>
            <a:ext cx="851833" cy="85183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41" name="Google Shape;1141;p79"/>
          <p:cNvSpPr/>
          <p:nvPr/>
        </p:nvSpPr>
        <p:spPr>
          <a:xfrm>
            <a:off x="1083772" y="3900124"/>
            <a:ext cx="852000" cy="8520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42" name="Google Shape;1142;p79"/>
          <p:cNvSpPr txBox="1"/>
          <p:nvPr/>
        </p:nvSpPr>
        <p:spPr>
          <a:xfrm>
            <a:off x="1336686" y="4403876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79"/>
          <p:cNvSpPr/>
          <p:nvPr/>
        </p:nvSpPr>
        <p:spPr>
          <a:xfrm rot="4313044">
            <a:off x="1083704" y="3899848"/>
            <a:ext cx="851931" cy="85193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44" name="Google Shape;1144;p79"/>
          <p:cNvSpPr txBox="1"/>
          <p:nvPr/>
        </p:nvSpPr>
        <p:spPr>
          <a:xfrm>
            <a:off x="1198999" y="3908241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79"/>
          <p:cNvSpPr txBox="1"/>
          <p:nvPr/>
        </p:nvSpPr>
        <p:spPr>
          <a:xfrm>
            <a:off x="1533685" y="3908245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79"/>
          <p:cNvSpPr txBox="1"/>
          <p:nvPr/>
        </p:nvSpPr>
        <p:spPr>
          <a:xfrm>
            <a:off x="1643405" y="4219950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79"/>
          <p:cNvSpPr txBox="1"/>
          <p:nvPr/>
        </p:nvSpPr>
        <p:spPr>
          <a:xfrm>
            <a:off x="1087554" y="4219950"/>
            <a:ext cx="29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8" name="Google Shape;1148;p79"/>
          <p:cNvGrpSpPr/>
          <p:nvPr/>
        </p:nvGrpSpPr>
        <p:grpSpPr>
          <a:xfrm>
            <a:off x="1484764" y="3920971"/>
            <a:ext cx="48011" cy="417840"/>
            <a:chOff x="996050" y="213293"/>
            <a:chExt cx="93900" cy="909732"/>
          </a:xfrm>
        </p:grpSpPr>
        <p:cxnSp>
          <p:nvCxnSpPr>
            <p:cNvPr id="1149" name="Google Shape;1149;p7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50" name="Google Shape;1150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151" name="Google Shape;1151;p79"/>
          <p:cNvSpPr/>
          <p:nvPr/>
        </p:nvSpPr>
        <p:spPr>
          <a:xfrm>
            <a:off x="2219081" y="3892364"/>
            <a:ext cx="867000" cy="8670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2" name="Google Shape;1152;p79"/>
          <p:cNvSpPr/>
          <p:nvPr/>
        </p:nvSpPr>
        <p:spPr>
          <a:xfrm rot="8647614">
            <a:off x="2226816" y="3900469"/>
            <a:ext cx="851889" cy="851889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037B7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3" name="Google Shape;1153;p79"/>
          <p:cNvSpPr/>
          <p:nvPr/>
        </p:nvSpPr>
        <p:spPr>
          <a:xfrm rot="-8627764">
            <a:off x="2227111" y="3900301"/>
            <a:ext cx="851758" cy="851758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D02AA7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4" name="Google Shape;1154;p79"/>
          <p:cNvSpPr/>
          <p:nvPr/>
        </p:nvSpPr>
        <p:spPr>
          <a:xfrm rot="-4310366">
            <a:off x="2226707" y="3900140"/>
            <a:ext cx="851833" cy="851833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374CF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5" name="Google Shape;1155;p79"/>
          <p:cNvSpPr/>
          <p:nvPr/>
        </p:nvSpPr>
        <p:spPr>
          <a:xfrm>
            <a:off x="2226772" y="3900124"/>
            <a:ext cx="852000" cy="852000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BEF2BD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6" name="Google Shape;1156;p79"/>
          <p:cNvSpPr txBox="1"/>
          <p:nvPr/>
        </p:nvSpPr>
        <p:spPr>
          <a:xfrm>
            <a:off x="2479686" y="4403876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79"/>
          <p:cNvSpPr/>
          <p:nvPr/>
        </p:nvSpPr>
        <p:spPr>
          <a:xfrm rot="4313044">
            <a:off x="2226704" y="3899848"/>
            <a:ext cx="851931" cy="851931"/>
          </a:xfrm>
          <a:prstGeom prst="pie">
            <a:avLst>
              <a:gd name="adj1" fmla="val 11928607"/>
              <a:gd name="adj2" fmla="val 16225322"/>
            </a:avLst>
          </a:prstGeom>
          <a:solidFill>
            <a:srgbClr val="845A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8" name="Google Shape;1158;p79"/>
          <p:cNvSpPr txBox="1"/>
          <p:nvPr/>
        </p:nvSpPr>
        <p:spPr>
          <a:xfrm>
            <a:off x="2341999" y="3908241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79"/>
          <p:cNvSpPr txBox="1"/>
          <p:nvPr/>
        </p:nvSpPr>
        <p:spPr>
          <a:xfrm>
            <a:off x="2676685" y="3908245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79"/>
          <p:cNvSpPr txBox="1"/>
          <p:nvPr/>
        </p:nvSpPr>
        <p:spPr>
          <a:xfrm>
            <a:off x="2786405" y="4219950"/>
            <a:ext cx="321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79"/>
          <p:cNvSpPr txBox="1"/>
          <p:nvPr/>
        </p:nvSpPr>
        <p:spPr>
          <a:xfrm>
            <a:off x="2230554" y="4219950"/>
            <a:ext cx="29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2" name="Google Shape;1162;p79"/>
          <p:cNvGrpSpPr/>
          <p:nvPr/>
        </p:nvGrpSpPr>
        <p:grpSpPr>
          <a:xfrm>
            <a:off x="2627764" y="3920971"/>
            <a:ext cx="48011" cy="417840"/>
            <a:chOff x="996050" y="213293"/>
            <a:chExt cx="93900" cy="909732"/>
          </a:xfrm>
        </p:grpSpPr>
        <p:cxnSp>
          <p:nvCxnSpPr>
            <p:cNvPr id="1163" name="Google Shape;1163;p79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64" name="Google Shape;1164;p79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79"/>
          <p:cNvGrpSpPr/>
          <p:nvPr/>
        </p:nvGrpSpPr>
        <p:grpSpPr>
          <a:xfrm>
            <a:off x="339041" y="1815925"/>
            <a:ext cx="457200" cy="457200"/>
            <a:chOff x="1020916" y="1442088"/>
            <a:chExt cx="457200" cy="457200"/>
          </a:xfrm>
        </p:grpSpPr>
        <p:pic>
          <p:nvPicPr>
            <p:cNvPr id="1166" name="Google Shape;1166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7" name="Google Shape;1167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79"/>
          <p:cNvGrpSpPr/>
          <p:nvPr/>
        </p:nvGrpSpPr>
        <p:grpSpPr>
          <a:xfrm>
            <a:off x="326127" y="3038754"/>
            <a:ext cx="457200" cy="457200"/>
            <a:chOff x="1020916" y="1442088"/>
            <a:chExt cx="457200" cy="457200"/>
          </a:xfrm>
        </p:grpSpPr>
        <p:pic>
          <p:nvPicPr>
            <p:cNvPr id="1169" name="Google Shape;1169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1" name="Google Shape;1171;p79"/>
          <p:cNvGrpSpPr/>
          <p:nvPr/>
        </p:nvGrpSpPr>
        <p:grpSpPr>
          <a:xfrm>
            <a:off x="324098" y="4109182"/>
            <a:ext cx="457200" cy="457200"/>
            <a:chOff x="1020916" y="1442088"/>
            <a:chExt cx="457200" cy="457200"/>
          </a:xfrm>
        </p:grpSpPr>
        <p:pic>
          <p:nvPicPr>
            <p:cNvPr id="1172" name="Google Shape;1172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3" name="Google Shape;1173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74" name="Google Shape;1174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2008" y="1823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79" descr="&lt;math xmlns=&quot;http://www.w3.org/1998/Math/MathML&quot; display=&quot;block&quot; data-is-equatio=&quot;1&quot; data-latex=&quot;\frac{3}{9}\ \ \frac{3}{15}\ \ \frac{3}{25}&quot;&gt;&lt;mfrac&gt;&lt;mn&gt;3&lt;/mn&gt;&lt;mn&gt;9&lt;/mn&gt;&lt;/mfrac&gt;&lt;mtext&gt;&lt;/mtext&gt;&lt;mtext&gt;&lt;/mtext&gt;&lt;mfrac&gt;&lt;mn&gt;3&lt;/mn&gt;&lt;mn&gt;15&lt;/mn&gt;&lt;/mfrac&gt;&lt;mtext&gt;&lt;/mtext&gt;&lt;mtext&gt;&lt;/mtext&gt;&lt;mfrac&gt;&lt;mn&gt;3&lt;/mn&gt;&lt;mn&gt;25&lt;/mn&gt;&lt;/mfrac&gt;&lt;/math&gt;" title="three ninths 3 over 15 3 over 25"/>
          <p:cNvPicPr preferRelativeResize="0"/>
          <p:nvPr/>
        </p:nvPicPr>
        <p:blipFill>
          <a:blip r:embed="rId5">
            <a:alphaModFix/>
          </a:blip>
          <a:srcRect r="77103"/>
          <a:stretch>
            <a:fillRect/>
          </a:stretch>
        </p:blipFill>
        <p:spPr>
          <a:xfrm>
            <a:off x="3341857" y="1725050"/>
            <a:ext cx="296050" cy="6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79" descr="&lt;math xmlns=&quot;http://www.w3.org/1998/Math/MathML&quot; display=&quot;block&quot; data-is-equatio=&quot;1&quot; data-latex=&quot;\frac{3}{9}\ \ \frac{3}{15}\ \ \frac{3}{25}&quot;&gt;&lt;mfrac&gt;&lt;mn&gt;3&lt;/mn&gt;&lt;mn&gt;9&lt;/mn&gt;&lt;/mfrac&gt;&lt;mtext&gt;&lt;/mtext&gt;&lt;mtext&gt;&lt;/mtext&gt;&lt;mfrac&gt;&lt;mn&gt;3&lt;/mn&gt;&lt;mn&gt;15&lt;/mn&gt;&lt;/mfrac&gt;&lt;mtext&gt;&lt;/mtext&gt;&lt;mtext&gt;&lt;/mtext&gt;&lt;mfrac&gt;&lt;mn&gt;3&lt;/mn&gt;&lt;mn&gt;25&lt;/mn&gt;&lt;/mfrac&gt;&lt;/math&gt;" title="three ninths 3 over 15 3 over 25"/>
          <p:cNvPicPr preferRelativeResize="0"/>
          <p:nvPr/>
        </p:nvPicPr>
        <p:blipFill>
          <a:blip r:embed="rId5">
            <a:alphaModFix/>
          </a:blip>
          <a:srcRect l="25512" r="39126"/>
          <a:stretch>
            <a:fillRect/>
          </a:stretch>
        </p:blipFill>
        <p:spPr>
          <a:xfrm>
            <a:off x="3208570" y="2819050"/>
            <a:ext cx="457200" cy="6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79" descr="&lt;math xmlns=&quot;http://www.w3.org/1998/Math/MathML&quot; display=&quot;block&quot; data-is-equatio=&quot;1&quot; data-latex=&quot;\frac{3}{9}\ \ \frac{3}{15}\ \ \frac{3}{25}&quot;&gt;&lt;mfrac&gt;&lt;mn&gt;3&lt;/mn&gt;&lt;mn&gt;9&lt;/mn&gt;&lt;/mfrac&gt;&lt;mtext&gt;&lt;/mtext&gt;&lt;mtext&gt;&lt;/mtext&gt;&lt;mfrac&gt;&lt;mn&gt;3&lt;/mn&gt;&lt;mn&gt;15&lt;/mn&gt;&lt;/mfrac&gt;&lt;mtext&gt;&lt;/mtext&gt;&lt;mtext&gt;&lt;/mtext&gt;&lt;mfrac&gt;&lt;mn&gt;3&lt;/mn&gt;&lt;mn&gt;25&lt;/mn&gt;&lt;/mfrac&gt;&lt;/math&gt;" title="three ninths 3 over 15 3 over 25"/>
          <p:cNvPicPr preferRelativeResize="0"/>
          <p:nvPr/>
        </p:nvPicPr>
        <p:blipFill>
          <a:blip r:embed="rId5">
            <a:alphaModFix/>
          </a:blip>
          <a:srcRect l="69372"/>
          <a:stretch>
            <a:fillRect/>
          </a:stretch>
        </p:blipFill>
        <p:spPr>
          <a:xfrm>
            <a:off x="3242254" y="3962050"/>
            <a:ext cx="396000" cy="61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1" name="Shape 1181"/>
        <p:cNvGrpSpPr/>
        <p:nvPr/>
      </p:nvGrpSpPr>
      <p:grpSpPr>
        <a:xfrm>
          <a:off x="0" y="0"/>
          <a:ext cx="0" cy="0"/>
        </a:xfrm>
      </p:grpSpPr>
      <p:sp>
        <p:nvSpPr>
          <p:cNvPr id="1182" name="Google Shape;1182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probability to inform decisions</a:t>
            </a:r>
            <a:endParaRPr/>
          </a:p>
        </p:txBody>
      </p:sp>
      <p:pic>
        <p:nvPicPr>
          <p:cNvPr id="1183" name="Google Shape;118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2911" y="1238385"/>
            <a:ext cx="457626" cy="448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7913" y="1238385"/>
            <a:ext cx="457626" cy="448870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80"/>
          <p:cNvSpPr txBox="1"/>
          <p:nvPr>
            <p:ph type="body" idx="4294967295"/>
          </p:nvPr>
        </p:nvSpPr>
        <p:spPr>
          <a:xfrm>
            <a:off x="324000" y="759300"/>
            <a:ext cx="8496000" cy="7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Andeep is playing a game that involves choosing two dice, rolling them and </a:t>
            </a:r>
            <a:br>
              <a:rPr lang="en-GB" sz="1600"/>
            </a:br>
            <a:r>
              <a:rPr lang="en-GB" sz="1600"/>
              <a:t>    summing their numbers.</a:t>
            </a:r>
            <a:endParaRPr sz="1600"/>
          </a:p>
        </p:txBody>
      </p:sp>
      <p:sp>
        <p:nvSpPr>
          <p:cNvPr id="1186" name="Google Shape;1186;p80"/>
          <p:cNvSpPr txBox="1"/>
          <p:nvPr>
            <p:ph type="body" idx="4294967295"/>
          </p:nvPr>
        </p:nvSpPr>
        <p:spPr>
          <a:xfrm>
            <a:off x="558050" y="1405375"/>
            <a:ext cx="57639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Two of the dice are cubes containing numbers 1 to 6</a:t>
            </a:r>
            <a:endParaRPr sz="1600"/>
          </a:p>
        </p:txBody>
      </p:sp>
      <p:sp>
        <p:nvSpPr>
          <p:cNvPr id="1187" name="Google Shape;1187;p80"/>
          <p:cNvSpPr txBox="1"/>
          <p:nvPr>
            <p:ph type="body" idx="4294967295"/>
          </p:nvPr>
        </p:nvSpPr>
        <p:spPr>
          <a:xfrm>
            <a:off x="558050" y="1813600"/>
            <a:ext cx="74673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Two of the dice are tetrahedrons containing numbers 1 to 4</a:t>
            </a:r>
            <a:endParaRPr sz="1600"/>
          </a:p>
        </p:txBody>
      </p:sp>
      <p:pic>
        <p:nvPicPr>
          <p:cNvPr id="1188" name="Google Shape;118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5237" y="1702623"/>
            <a:ext cx="542250" cy="520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8637" y="1702623"/>
            <a:ext cx="542250" cy="5205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80"/>
          <p:cNvSpPr txBox="1"/>
          <p:nvPr>
            <p:ph type="body" idx="4294967295"/>
          </p:nvPr>
        </p:nvSpPr>
        <p:spPr>
          <a:xfrm>
            <a:off x="558050" y="2423200"/>
            <a:ext cx="8262000" cy="32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Which combination of dice give the greatest probability of rolling a total of 8?</a:t>
            </a:r>
            <a:endParaRPr sz="1600"/>
          </a:p>
        </p:txBody>
      </p:sp>
      <p:sp>
        <p:nvSpPr>
          <p:cNvPr id="1191" name="Google Shape;1191;p80"/>
          <p:cNvSpPr txBox="1"/>
          <p:nvPr>
            <p:ph type="body" idx="4294967295"/>
          </p:nvPr>
        </p:nvSpPr>
        <p:spPr>
          <a:xfrm>
            <a:off x="558050" y="3032800"/>
            <a:ext cx="8262000" cy="32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Which combination of dice give the greatest probability of rolling a total of 6?</a:t>
            </a:r>
            <a:endParaRPr sz="1600"/>
          </a:p>
        </p:txBody>
      </p:sp>
      <p:sp>
        <p:nvSpPr>
          <p:cNvPr id="1192" name="Google Shape;1192;p80"/>
          <p:cNvSpPr txBox="1"/>
          <p:nvPr>
            <p:ph type="body" idx="4294967295"/>
          </p:nvPr>
        </p:nvSpPr>
        <p:spPr>
          <a:xfrm>
            <a:off x="558050" y="3642400"/>
            <a:ext cx="8262000" cy="32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 Which combination of dice give the greatest probability of rolling a total of 7?</a:t>
            </a:r>
            <a:endParaRPr sz="1600"/>
          </a:p>
        </p:txBody>
      </p:sp>
      <p:sp>
        <p:nvSpPr>
          <p:cNvPr id="1193" name="Google Shape;1193;p80"/>
          <p:cNvSpPr txBox="1"/>
          <p:nvPr>
            <p:ph type="body" idx="4294967295"/>
          </p:nvPr>
        </p:nvSpPr>
        <p:spPr>
          <a:xfrm>
            <a:off x="558050" y="4252000"/>
            <a:ext cx="7914600" cy="5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d) Write a summary that advises a player how to decide which pair of dice </a:t>
            </a:r>
            <a:br>
              <a:rPr lang="en-GB" sz="1600"/>
            </a:br>
            <a:r>
              <a:rPr lang="en-GB" sz="1600"/>
              <a:t>     gives them the greatest probability of rolling the total they want.</a:t>
            </a:r>
            <a:endParaRPr sz="1600"/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7" name="Shape 1197"/>
        <p:cNvGrpSpPr/>
        <p:nvPr/>
      </p:nvGrpSpPr>
      <p:grpSpPr>
        <a:xfrm>
          <a:off x="0" y="0"/>
          <a:ext cx="0" cy="0"/>
        </a:xfrm>
      </p:grpSpPr>
      <p:pic>
        <p:nvPicPr>
          <p:cNvPr id="1198" name="Google Shape;119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628" y="3459150"/>
            <a:ext cx="1077903" cy="52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5101" y="2074684"/>
            <a:ext cx="983836" cy="4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probability to inform decisions</a:t>
            </a:r>
            <a:endParaRPr/>
          </a:p>
        </p:txBody>
      </p:sp>
      <p:sp>
        <p:nvSpPr>
          <p:cNvPr id="1201" name="Google Shape;1201;p81"/>
          <p:cNvSpPr txBox="1"/>
          <p:nvPr>
            <p:ph type="body" idx="4294967295"/>
          </p:nvPr>
        </p:nvSpPr>
        <p:spPr>
          <a:xfrm>
            <a:off x="324000" y="759300"/>
            <a:ext cx="8496000" cy="7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Andeep is playing a game that involves choosing two dice, rolling them and </a:t>
            </a:r>
            <a:br>
              <a:rPr lang="en-GB" sz="1600"/>
            </a:br>
            <a:r>
              <a:rPr lang="en-GB" sz="1600"/>
              <a:t>    summing their numbers.</a:t>
            </a:r>
            <a:endParaRPr sz="1600"/>
          </a:p>
        </p:txBody>
      </p:sp>
      <p:sp>
        <p:nvSpPr>
          <p:cNvPr id="1202" name="Google Shape;1202;p81"/>
          <p:cNvSpPr txBox="1"/>
          <p:nvPr>
            <p:ph type="body" idx="4294967295"/>
          </p:nvPr>
        </p:nvSpPr>
        <p:spPr>
          <a:xfrm>
            <a:off x="558050" y="1481575"/>
            <a:ext cx="32520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Two of the dice are cubes containing numbers 1 to 6</a:t>
            </a:r>
            <a:endParaRPr sz="1600"/>
          </a:p>
        </p:txBody>
      </p:sp>
      <p:sp>
        <p:nvSpPr>
          <p:cNvPr id="1203" name="Google Shape;1203;p81"/>
          <p:cNvSpPr txBox="1"/>
          <p:nvPr>
            <p:ph type="body" idx="4294967295"/>
          </p:nvPr>
        </p:nvSpPr>
        <p:spPr>
          <a:xfrm>
            <a:off x="558050" y="2880400"/>
            <a:ext cx="3762000" cy="3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Two of the dice are tetrahedrons containing numbers 1 to 4</a:t>
            </a:r>
            <a:endParaRPr sz="1600"/>
          </a:p>
        </p:txBody>
      </p:sp>
      <p:graphicFrame>
        <p:nvGraphicFramePr>
          <p:cNvPr id="1204" name="Google Shape;1204;p81"/>
          <p:cNvGraphicFramePr>
            <a:graphicFrameLocks noGrp="1"/>
          </p:cNvGraphicFramePr>
          <p:nvPr/>
        </p:nvGraphicFramePr>
        <p:xfrm>
          <a:off x="5295938" y="146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382850"/>
                <a:gridCol w="412125"/>
                <a:gridCol w="412125"/>
                <a:gridCol w="412125"/>
                <a:gridCol w="412125"/>
                <a:gridCol w="412125"/>
                <a:gridCol w="412125"/>
              </a:tblGrid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05" name="Google Shape;1205;p81"/>
          <p:cNvSpPr txBox="1"/>
          <p:nvPr>
            <p:ph type="body" idx="4294967295"/>
          </p:nvPr>
        </p:nvSpPr>
        <p:spPr>
          <a:xfrm>
            <a:off x="558050" y="4175800"/>
            <a:ext cx="4431900" cy="69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sample space could be represented with a two-way outcome table.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9" name="Shape 1209"/>
        <p:cNvGrpSpPr/>
        <p:nvPr/>
      </p:nvGrpSpPr>
      <p:grpSpPr>
        <a:xfrm>
          <a:off x="0" y="0"/>
          <a:ext cx="0" cy="0"/>
        </a:xfrm>
      </p:grpSpPr>
      <p:sp>
        <p:nvSpPr>
          <p:cNvPr id="1210" name="Google Shape;1210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probability to inform decisions</a:t>
            </a:r>
            <a:endParaRPr/>
          </a:p>
        </p:txBody>
      </p:sp>
      <p:sp>
        <p:nvSpPr>
          <p:cNvPr id="1211" name="Google Shape;1211;p82"/>
          <p:cNvSpPr txBox="1"/>
          <p:nvPr>
            <p:ph type="body" idx="4294967295"/>
          </p:nvPr>
        </p:nvSpPr>
        <p:spPr>
          <a:xfrm>
            <a:off x="324000" y="759300"/>
            <a:ext cx="8496000" cy="7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a) Which combination of dice give the greatest probability of rolling a total of 8?</a:t>
            </a:r>
            <a:endParaRPr sz="1600"/>
          </a:p>
        </p:txBody>
      </p:sp>
      <p:graphicFrame>
        <p:nvGraphicFramePr>
          <p:cNvPr id="1212" name="Google Shape;1212;p82"/>
          <p:cNvGraphicFramePr>
            <a:graphicFrameLocks noGrp="1"/>
          </p:cNvGraphicFramePr>
          <p:nvPr/>
        </p:nvGraphicFramePr>
        <p:xfrm>
          <a:off x="5295938" y="146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382850"/>
                <a:gridCol w="412125"/>
                <a:gridCol w="412125"/>
                <a:gridCol w="412125"/>
                <a:gridCol w="412125"/>
                <a:gridCol w="412125"/>
                <a:gridCol w="412125"/>
              </a:tblGrid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13" name="Google Shape;1213;p82"/>
          <p:cNvSpPr txBox="1"/>
          <p:nvPr>
            <p:ph type="body" idx="4294967295"/>
          </p:nvPr>
        </p:nvSpPr>
        <p:spPr>
          <a:xfrm>
            <a:off x="601600" y="1541623"/>
            <a:ext cx="4266000" cy="16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2 tetrahedrons: P(8) = </a:t>
            </a:r>
            <a:br>
              <a:rPr lang="en-GB" sz="1600">
                <a:latin typeface="Kalam"/>
                <a:ea typeface="Kalam"/>
                <a:cs typeface="Kalam"/>
                <a:sym typeface="Kalam"/>
              </a:rPr>
            </a:br>
            <a:br>
              <a:rPr lang="en-GB" sz="1600">
                <a:latin typeface="Kalam"/>
                <a:ea typeface="Kalam"/>
                <a:cs typeface="Kalam"/>
                <a:sym typeface="Kalam"/>
              </a:rPr>
            </a:br>
            <a:r>
              <a:rPr lang="en-GB" sz="1600">
                <a:latin typeface="Kalam"/>
                <a:ea typeface="Kalam"/>
                <a:cs typeface="Kalam"/>
                <a:sym typeface="Kalam"/>
              </a:rPr>
              <a:t> 1 of each dice: P(8) = </a:t>
            </a:r>
            <a:br>
              <a:rPr lang="en-GB" sz="1600">
                <a:latin typeface="Kalam"/>
                <a:ea typeface="Kalam"/>
                <a:cs typeface="Kalam"/>
                <a:sym typeface="Kalam"/>
              </a:rPr>
            </a:br>
            <a:br>
              <a:rPr lang="en-GB" sz="1600">
                <a:latin typeface="Kalam"/>
                <a:ea typeface="Kalam"/>
                <a:cs typeface="Kalam"/>
                <a:sym typeface="Kalam"/>
              </a:rPr>
            </a:br>
            <a:r>
              <a:rPr lang="en-GB" sz="1600">
                <a:latin typeface="Kalam"/>
                <a:ea typeface="Kalam"/>
                <a:cs typeface="Kalam"/>
                <a:sym typeface="Kalam"/>
              </a:rPr>
              <a:t>        2 cubes: P(8) = 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14" name="Google Shape;1214;p82" descr="&lt;math xmlns=&quot;http://www.w3.org/1998/Math/MathML&quot; display=&quot;block&quot; data-is-equatio=&quot;1&quot; data-latex=&quot;\begin{array}{l}\frac{1}{16}=0.0625\\&amp;#13;&amp;#10;\frac{3}{24}=0.125\\&amp;#13;&amp;#10;\frac{5}{36}=0.13\dot{8}\end{array}&quot;&gt;&lt;mtable columnalign=&quot;left&quot; columnspacing=&quot;1em&quot; rowspacing=&quot;4pt&quot;&gt;&lt;mtr&gt;&lt;mtd&gt;&lt;mfrac&gt;&lt;mn&gt;1&lt;/mn&gt;&lt;mn&gt;16&lt;/mn&gt;&lt;/mfrac&gt;&lt;mo&gt;=&lt;/mo&gt;&lt;mn&gt;0.0625&lt;/mn&gt;&lt;/mtd&gt;&lt;/mtr&gt;&lt;mtr&gt;&lt;mtd&gt;&lt;mfrac&gt;&lt;mn&gt;3&lt;/mn&gt;&lt;mn&gt;24&lt;/mn&gt;&lt;/mfrac&gt;&lt;mo&gt;=&lt;/mo&gt;&lt;mn&gt;0.125&lt;/mn&gt;&lt;/mtd&gt;&lt;/mtr&gt;&lt;mtr&gt;&lt;mtd&gt;&lt;mfrac&gt;&lt;mn&gt;5&lt;/mn&gt;&lt;mn&gt;36&lt;/mn&gt;&lt;/mfrac&gt;&lt;mo&gt;=&lt;/mo&gt;&lt;mn&gt;0.13&lt;/mn&gt;&lt;mrow data-mjx-texclass=&quot;ORD&quot;&gt;&lt;mover&gt;&lt;mn&gt;8&lt;/mn&gt;&lt;mo&gt;˙&lt;/mo&gt;&lt;/mover&gt;&lt;/mrow&gt;&lt;/mtd&gt;&lt;/mtr&gt;&lt;/mtable&gt;&lt;/math&gt;" title="3 lines Line 1: 1 over 16 equals 0.0625 Line 2: 3 over 24 equals 0.125 Line 3: 5 over 36 equals the repeating decimal 0.13 followed by repeating digit 8"/>
          <p:cNvPicPr preferRelativeResize="0"/>
          <p:nvPr/>
        </p:nvPicPr>
        <p:blipFill>
          <a:blip r:embed="rId3">
            <a:alphaModFix/>
          </a:blip>
          <a:srcRect b="64714"/>
          <a:stretch>
            <a:fillRect/>
          </a:stretch>
        </p:blipFill>
        <p:spPr>
          <a:xfrm>
            <a:off x="2760950" y="1487448"/>
            <a:ext cx="1226525" cy="43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82" descr="&lt;math xmlns=&quot;http://www.w3.org/1998/Math/MathML&quot; display=&quot;block&quot; data-is-equatio=&quot;1&quot; data-latex=&quot;\begin{array}{l}\frac{1}{16}=0.0625\\&amp;#13;&amp;#10;\frac{3}{24}=0.125\\&amp;#13;&amp;#10;\frac{5}{36}=0.13\dot{8}\end{array}&quot;&gt;&lt;mtable columnalign=&quot;left&quot; columnspacing=&quot;1em&quot; rowspacing=&quot;4pt&quot;&gt;&lt;mtr&gt;&lt;mtd&gt;&lt;mfrac&gt;&lt;mn&gt;1&lt;/mn&gt;&lt;mn&gt;16&lt;/mn&gt;&lt;/mfrac&gt;&lt;mo&gt;=&lt;/mo&gt;&lt;mn&gt;0.0625&lt;/mn&gt;&lt;/mtd&gt;&lt;/mtr&gt;&lt;mtr&gt;&lt;mtd&gt;&lt;mfrac&gt;&lt;mn&gt;3&lt;/mn&gt;&lt;mn&gt;24&lt;/mn&gt;&lt;/mfrac&gt;&lt;mo&gt;=&lt;/mo&gt;&lt;mn&gt;0.125&lt;/mn&gt;&lt;/mtd&gt;&lt;/mtr&gt;&lt;mtr&gt;&lt;mtd&gt;&lt;mfrac&gt;&lt;mn&gt;5&lt;/mn&gt;&lt;mn&gt;36&lt;/mn&gt;&lt;/mfrac&gt;&lt;mo&gt;=&lt;/mo&gt;&lt;mn&gt;0.13&lt;/mn&gt;&lt;mrow data-mjx-texclass=&quot;ORD&quot;&gt;&lt;mover&gt;&lt;mn&gt;8&lt;/mn&gt;&lt;mo&gt;˙&lt;/mo&gt;&lt;/mover&gt;&lt;/mrow&gt;&lt;/mtd&gt;&lt;/mtr&gt;&lt;/mtable&gt;&lt;/math&gt;" title="3 lines Line 1: 1 over 16 equals 0.0625 Line 2: 3 over 24 equals 0.125 Line 3: 5 over 36 equals the repeating decimal 0.13 followed by repeating digit 8"/>
          <p:cNvPicPr preferRelativeResize="0"/>
          <p:nvPr/>
        </p:nvPicPr>
        <p:blipFill>
          <a:blip r:embed="rId3">
            <a:alphaModFix/>
          </a:blip>
          <a:srcRect t="31860" b="32852"/>
          <a:stretch>
            <a:fillRect/>
          </a:stretch>
        </p:blipFill>
        <p:spPr>
          <a:xfrm>
            <a:off x="2760950" y="2065955"/>
            <a:ext cx="1226525" cy="43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82" descr="&lt;math xmlns=&quot;http://www.w3.org/1998/Math/MathML&quot; display=&quot;block&quot; data-is-equatio=&quot;1&quot; data-latex=&quot;\begin{array}{l}\frac{1}{16}=0.0625\\&amp;#13;&amp;#10;\frac{3}{24}=0.125\\&amp;#13;&amp;#10;\frac{5}{36}=0.13\dot{8}\end{array}&quot;&gt;&lt;mtable columnalign=&quot;left&quot; columnspacing=&quot;1em&quot; rowspacing=&quot;4pt&quot;&gt;&lt;mtr&gt;&lt;mtd&gt;&lt;mfrac&gt;&lt;mn&gt;1&lt;/mn&gt;&lt;mn&gt;16&lt;/mn&gt;&lt;/mfrac&gt;&lt;mo&gt;=&lt;/mo&gt;&lt;mn&gt;0.0625&lt;/mn&gt;&lt;/mtd&gt;&lt;/mtr&gt;&lt;mtr&gt;&lt;mtd&gt;&lt;mfrac&gt;&lt;mn&gt;3&lt;/mn&gt;&lt;mn&gt;24&lt;/mn&gt;&lt;/mfrac&gt;&lt;mo&gt;=&lt;/mo&gt;&lt;mn&gt;0.125&lt;/mn&gt;&lt;/mtd&gt;&lt;/mtr&gt;&lt;mtr&gt;&lt;mtd&gt;&lt;mfrac&gt;&lt;mn&gt;5&lt;/mn&gt;&lt;mn&gt;36&lt;/mn&gt;&lt;/mfrac&gt;&lt;mo&gt;=&lt;/mo&gt;&lt;mn&gt;0.13&lt;/mn&gt;&lt;mrow data-mjx-texclass=&quot;ORD&quot;&gt;&lt;mover&gt;&lt;mn&gt;8&lt;/mn&gt;&lt;mo&gt;˙&lt;/mo&gt;&lt;/mover&gt;&lt;/mrow&gt;&lt;/mtd&gt;&lt;/mtr&gt;&lt;/mtable&gt;&lt;/math&gt;" title="3 lines Line 1: 1 over 16 equals 0.0625 Line 2: 3 over 24 equals 0.125 Line 3: 5 over 36 equals the repeating decimal 0.13 followed by repeating digit 8"/>
          <p:cNvPicPr preferRelativeResize="0"/>
          <p:nvPr/>
        </p:nvPicPr>
        <p:blipFill>
          <a:blip r:embed="rId3">
            <a:alphaModFix/>
          </a:blip>
          <a:srcRect t="68983"/>
          <a:stretch>
            <a:fillRect/>
          </a:stretch>
        </p:blipFill>
        <p:spPr>
          <a:xfrm>
            <a:off x="2760950" y="2720225"/>
            <a:ext cx="1226525" cy="3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82"/>
          <p:cNvSpPr txBox="1"/>
          <p:nvPr>
            <p:ph type="body" idx="4294967295"/>
          </p:nvPr>
        </p:nvSpPr>
        <p:spPr>
          <a:xfrm>
            <a:off x="2311650" y="3495524"/>
            <a:ext cx="1151100" cy="33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2 cube dice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1" name="Shape 1221"/>
        <p:cNvGrpSpPr/>
        <p:nvPr/>
      </p:nvGrpSpPr>
      <p:grpSpPr>
        <a:xfrm>
          <a:off x="0" y="0"/>
          <a:ext cx="0" cy="0"/>
        </a:xfrm>
      </p:grpSpPr>
      <p:sp>
        <p:nvSpPr>
          <p:cNvPr id="1222" name="Google Shape;1222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probability to inform decisions</a:t>
            </a:r>
            <a:endParaRPr/>
          </a:p>
        </p:txBody>
      </p:sp>
      <p:sp>
        <p:nvSpPr>
          <p:cNvPr id="1223" name="Google Shape;1223;p83"/>
          <p:cNvSpPr txBox="1"/>
          <p:nvPr>
            <p:ph type="body" idx="4294967295"/>
          </p:nvPr>
        </p:nvSpPr>
        <p:spPr>
          <a:xfrm>
            <a:off x="324000" y="759300"/>
            <a:ext cx="8496000" cy="7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Which combination of dice give the greatest probability of rolling a total of 6?</a:t>
            </a:r>
            <a:endParaRPr sz="1600"/>
          </a:p>
        </p:txBody>
      </p:sp>
      <p:graphicFrame>
        <p:nvGraphicFramePr>
          <p:cNvPr id="1224" name="Google Shape;1224;p83"/>
          <p:cNvGraphicFramePr>
            <a:graphicFrameLocks noGrp="1"/>
          </p:cNvGraphicFramePr>
          <p:nvPr/>
        </p:nvGraphicFramePr>
        <p:xfrm>
          <a:off x="5295938" y="146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382850"/>
                <a:gridCol w="412125"/>
                <a:gridCol w="412125"/>
                <a:gridCol w="412125"/>
                <a:gridCol w="412125"/>
                <a:gridCol w="412125"/>
                <a:gridCol w="412125"/>
              </a:tblGrid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25" name="Google Shape;1225;p83"/>
          <p:cNvSpPr txBox="1"/>
          <p:nvPr>
            <p:ph type="body" idx="4294967295"/>
          </p:nvPr>
        </p:nvSpPr>
        <p:spPr>
          <a:xfrm>
            <a:off x="601600" y="1541623"/>
            <a:ext cx="4266000" cy="16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2 tetrahedrons: P(6) = </a:t>
            </a:r>
            <a:br>
              <a:rPr lang="en-GB" sz="1600">
                <a:latin typeface="Kalam"/>
                <a:ea typeface="Kalam"/>
                <a:cs typeface="Kalam"/>
                <a:sym typeface="Kalam"/>
              </a:rPr>
            </a:br>
            <a:br>
              <a:rPr lang="en-GB" sz="1600">
                <a:latin typeface="Kalam"/>
                <a:ea typeface="Kalam"/>
                <a:cs typeface="Kalam"/>
                <a:sym typeface="Kalam"/>
              </a:rPr>
            </a:br>
            <a:r>
              <a:rPr lang="en-GB" sz="1600">
                <a:latin typeface="Kalam"/>
                <a:ea typeface="Kalam"/>
                <a:cs typeface="Kalam"/>
                <a:sym typeface="Kalam"/>
              </a:rPr>
              <a:t> 1 of each dice: P(6) = </a:t>
            </a:r>
            <a:br>
              <a:rPr lang="en-GB" sz="1600">
                <a:latin typeface="Kalam"/>
                <a:ea typeface="Kalam"/>
                <a:cs typeface="Kalam"/>
                <a:sym typeface="Kalam"/>
              </a:rPr>
            </a:br>
            <a:br>
              <a:rPr lang="en-GB" sz="1600">
                <a:latin typeface="Kalam"/>
                <a:ea typeface="Kalam"/>
                <a:cs typeface="Kalam"/>
                <a:sym typeface="Kalam"/>
              </a:rPr>
            </a:br>
            <a:r>
              <a:rPr lang="en-GB" sz="1600">
                <a:latin typeface="Kalam"/>
                <a:ea typeface="Kalam"/>
                <a:cs typeface="Kalam"/>
                <a:sym typeface="Kalam"/>
              </a:rPr>
              <a:t>        2 cubes: P(6) = 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26" name="Google Shape;1226;p83" descr="&lt;math xmlns=&quot;http://www.w3.org/1998/Math/MathML&quot; display=&quot;block&quot; data-is-equatio=&quot;1&quot; data-latex=&quot;\begin{array}{l}\frac{1}{16}=0.0625\\&amp;#13;&amp;#10;\frac{3}{24}=0.125\\&amp;#13;&amp;#10;\frac{5}{36}=0.13\dot{8}\end{array}&quot;&gt;&lt;mtable columnalign=&quot;left&quot; columnspacing=&quot;1em&quot; rowspacing=&quot;4pt&quot;&gt;&lt;mtr&gt;&lt;mtd&gt;&lt;mfrac&gt;&lt;mn&gt;1&lt;/mn&gt;&lt;mn&gt;16&lt;/mn&gt;&lt;/mfrac&gt;&lt;mo&gt;=&lt;/mo&gt;&lt;mn&gt;0.0625&lt;/mn&gt;&lt;/mtd&gt;&lt;/mtr&gt;&lt;mtr&gt;&lt;mtd&gt;&lt;mfrac&gt;&lt;mn&gt;3&lt;/mn&gt;&lt;mn&gt;24&lt;/mn&gt;&lt;/mfrac&gt;&lt;mo&gt;=&lt;/mo&gt;&lt;mn&gt;0.125&lt;/mn&gt;&lt;/mtd&gt;&lt;/mtr&gt;&lt;mtr&gt;&lt;mtd&gt;&lt;mfrac&gt;&lt;mn&gt;5&lt;/mn&gt;&lt;mn&gt;36&lt;/mn&gt;&lt;/mfrac&gt;&lt;mo&gt;=&lt;/mo&gt;&lt;mn&gt;0.13&lt;/mn&gt;&lt;mrow data-mjx-texclass=&quot;ORD&quot;&gt;&lt;mover&gt;&lt;mn&gt;8&lt;/mn&gt;&lt;mo&gt;˙&lt;/mo&gt;&lt;/mover&gt;&lt;/mrow&gt;&lt;/mtd&gt;&lt;/mtr&gt;&lt;/mtable&gt;&lt;/math&gt;" title="3 lines Line 1: 1 over 16 equals 0.0625 Line 2: 3 over 24 equals 0.125 Line 3: 5 over 36 equals the repeating decimal 0.13 followed by repeating digit 8"/>
          <p:cNvPicPr preferRelativeResize="0"/>
          <p:nvPr/>
        </p:nvPicPr>
        <p:blipFill>
          <a:blip r:embed="rId3">
            <a:alphaModFix/>
          </a:blip>
          <a:srcRect t="68983"/>
          <a:stretch>
            <a:fillRect/>
          </a:stretch>
        </p:blipFill>
        <p:spPr>
          <a:xfrm>
            <a:off x="2760950" y="2720225"/>
            <a:ext cx="1226525" cy="3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83"/>
          <p:cNvSpPr txBox="1"/>
          <p:nvPr>
            <p:ph type="body" idx="4294967295"/>
          </p:nvPr>
        </p:nvSpPr>
        <p:spPr>
          <a:xfrm>
            <a:off x="2159250" y="3495525"/>
            <a:ext cx="1769100" cy="33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2 tetrahedron dice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28" name="Google Shape;1228;p83" descr="&lt;math xmlns=&quot;http://www.w3.org/1998/Math/MathML&quot; display=&quot;block&quot; data-is-equatio=&quot;1&quot; data-latex=&quot;\begin{array}{l}\frac{3}{16}=0.1875\\&amp;#13;&amp;#10;\frac{4}{24}=0.1\dot{6}\\&amp;#13;&amp;#10;\frac{5}{36}=0.13\dot{8}\end{array}&quot;&gt;&lt;mtable columnalign=&quot;left&quot; columnspacing=&quot;1em&quot; rowspacing=&quot;4pt&quot;&gt;&lt;mtr&gt;&lt;mtd&gt;&lt;mfrac&gt;&lt;mn&gt;3&lt;/mn&gt;&lt;mn&gt;16&lt;/mn&gt;&lt;/mfrac&gt;&lt;mo&gt;=&lt;/mo&gt;&lt;mn&gt;0.1875&lt;/mn&gt;&lt;/mtd&gt;&lt;/mtr&gt;&lt;mtr&gt;&lt;mtd&gt;&lt;mfrac&gt;&lt;mn&gt;4&lt;/mn&gt;&lt;mn&gt;24&lt;/mn&gt;&lt;/mfrac&gt;&lt;mo&gt;=&lt;/mo&gt;&lt;mn&gt;0.1&lt;/mn&gt;&lt;mrow data-mjx-texclass=&quot;ORD&quot;&gt;&lt;mover&gt;&lt;mn&gt;6&lt;/mn&gt;&lt;mo&gt;˙&lt;/mo&gt;&lt;/mover&gt;&lt;/mrow&gt;&lt;/mtd&gt;&lt;/mtr&gt;&lt;mtr&gt;&lt;mtd&gt;&lt;mfrac&gt;&lt;mn&gt;5&lt;/mn&gt;&lt;mn&gt;36&lt;/mn&gt;&lt;/mfrac&gt;&lt;mo&gt;=&lt;/mo&gt;&lt;mn&gt;0.13&lt;/mn&gt;&lt;mrow data-mjx-texclass=&quot;ORD&quot;&gt;&lt;mover&gt;&lt;mn&gt;8&lt;/mn&gt;&lt;mo&gt;˙&lt;/mo&gt;&lt;/mover&gt;&lt;/mrow&gt;&lt;/mtd&gt;&lt;/mtr&gt;&lt;/mtable&gt;&lt;/math&gt;" title="3 lines Line 1: 3 over 16 equals 0.1875 Line 2: 4 over 24 equals the repeating decimal 0.1 followed by repeating digit 6 Line 3: 5 over 36 equals the repeating decimal 0.13 followed by repeating digit 8"/>
          <p:cNvPicPr preferRelativeResize="0"/>
          <p:nvPr/>
        </p:nvPicPr>
        <p:blipFill>
          <a:blip r:embed="rId4">
            <a:alphaModFix/>
          </a:blip>
          <a:srcRect b="69693"/>
          <a:stretch>
            <a:fillRect/>
          </a:stretch>
        </p:blipFill>
        <p:spPr>
          <a:xfrm>
            <a:off x="2760517" y="1478800"/>
            <a:ext cx="1255425" cy="3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83" descr="&lt;math xmlns=&quot;http://www.w3.org/1998/Math/MathML&quot; display=&quot;block&quot; data-is-equatio=&quot;1&quot; data-latex=&quot;\begin{array}{l}\frac{3}{16}=0.1875\\&amp;#13;&amp;#10;\frac{4}{24}=0.1\dot{6}\\&amp;#13;&amp;#10;\frac{5}{36}=0.13\dot{8}\end{array}&quot;&gt;&lt;mtable columnalign=&quot;left&quot; columnspacing=&quot;1em&quot; rowspacing=&quot;4pt&quot;&gt;&lt;mtr&gt;&lt;mtd&gt;&lt;mfrac&gt;&lt;mn&gt;3&lt;/mn&gt;&lt;mn&gt;16&lt;/mn&gt;&lt;/mfrac&gt;&lt;mo&gt;=&lt;/mo&gt;&lt;mn&gt;0.1875&lt;/mn&gt;&lt;/mtd&gt;&lt;/mtr&gt;&lt;mtr&gt;&lt;mtd&gt;&lt;mfrac&gt;&lt;mn&gt;4&lt;/mn&gt;&lt;mn&gt;24&lt;/mn&gt;&lt;/mfrac&gt;&lt;mo&gt;=&lt;/mo&gt;&lt;mn&gt;0.1&lt;/mn&gt;&lt;mrow data-mjx-texclass=&quot;ORD&quot;&gt;&lt;mover&gt;&lt;mn&gt;6&lt;/mn&gt;&lt;mo&gt;˙&lt;/mo&gt;&lt;/mover&gt;&lt;/mrow&gt;&lt;/mtd&gt;&lt;/mtr&gt;&lt;mtr&gt;&lt;mtd&gt;&lt;mfrac&gt;&lt;mn&gt;5&lt;/mn&gt;&lt;mn&gt;36&lt;/mn&gt;&lt;/mfrac&gt;&lt;mo&gt;=&lt;/mo&gt;&lt;mn&gt;0.13&lt;/mn&gt;&lt;mrow data-mjx-texclass=&quot;ORD&quot;&gt;&lt;mover&gt;&lt;mn&gt;8&lt;/mn&gt;&lt;mo&gt;˙&lt;/mo&gt;&lt;/mover&gt;&lt;/mrow&gt;&lt;/mtd&gt;&lt;/mtr&gt;&lt;/mtable&gt;&lt;/math&gt;" title="3 lines Line 1: 3 over 16 equals 0.1875 Line 2: 4 over 24 equals the repeating decimal 0.1 followed by repeating digit 6 Line 3: 5 over 36 equals the repeating decimal 0.13 followed by repeating digit 8"/>
          <p:cNvPicPr preferRelativeResize="0"/>
          <p:nvPr/>
        </p:nvPicPr>
        <p:blipFill>
          <a:blip r:embed="rId4">
            <a:alphaModFix/>
          </a:blip>
          <a:srcRect t="29017" b="33419"/>
          <a:stretch>
            <a:fillRect/>
          </a:stretch>
        </p:blipFill>
        <p:spPr>
          <a:xfrm>
            <a:off x="2760525" y="1997688"/>
            <a:ext cx="1255425" cy="474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3" name="Shape 1233"/>
        <p:cNvGrpSpPr/>
        <p:nvPr/>
      </p:nvGrpSpPr>
      <p:grpSpPr>
        <a:xfrm>
          <a:off x="0" y="0"/>
          <a:ext cx="0" cy="0"/>
        </a:xfrm>
      </p:grpSpPr>
      <p:sp>
        <p:nvSpPr>
          <p:cNvPr id="1234" name="Google Shape;1234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probability to inform decisions</a:t>
            </a:r>
            <a:endParaRPr/>
          </a:p>
        </p:txBody>
      </p:sp>
      <p:sp>
        <p:nvSpPr>
          <p:cNvPr id="1235" name="Google Shape;1235;p84"/>
          <p:cNvSpPr txBox="1"/>
          <p:nvPr>
            <p:ph type="body" idx="4294967295"/>
          </p:nvPr>
        </p:nvSpPr>
        <p:spPr>
          <a:xfrm>
            <a:off x="324000" y="759300"/>
            <a:ext cx="8496000" cy="7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 Which combination of dice give the greatest probability of rolling a total of 7?</a:t>
            </a:r>
            <a:endParaRPr sz="1600"/>
          </a:p>
        </p:txBody>
      </p:sp>
      <p:graphicFrame>
        <p:nvGraphicFramePr>
          <p:cNvPr id="1236" name="Google Shape;1236;p84"/>
          <p:cNvGraphicFramePr>
            <a:graphicFrameLocks noGrp="1"/>
          </p:cNvGraphicFramePr>
          <p:nvPr/>
        </p:nvGraphicFramePr>
        <p:xfrm>
          <a:off x="5295938" y="146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382850"/>
                <a:gridCol w="412125"/>
                <a:gridCol w="412125"/>
                <a:gridCol w="412125"/>
                <a:gridCol w="412125"/>
                <a:gridCol w="412125"/>
                <a:gridCol w="412125"/>
              </a:tblGrid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37" name="Google Shape;1237;p84"/>
          <p:cNvSpPr txBox="1"/>
          <p:nvPr>
            <p:ph type="body" idx="4294967295"/>
          </p:nvPr>
        </p:nvSpPr>
        <p:spPr>
          <a:xfrm>
            <a:off x="601600" y="1541623"/>
            <a:ext cx="4266000" cy="16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2 tetrahedrons: P(7) = </a:t>
            </a:r>
            <a:br>
              <a:rPr lang="en-GB" sz="1600">
                <a:latin typeface="Kalam"/>
                <a:ea typeface="Kalam"/>
                <a:cs typeface="Kalam"/>
                <a:sym typeface="Kalam"/>
              </a:rPr>
            </a:br>
            <a:br>
              <a:rPr lang="en-GB" sz="1600">
                <a:latin typeface="Kalam"/>
                <a:ea typeface="Kalam"/>
                <a:cs typeface="Kalam"/>
                <a:sym typeface="Kalam"/>
              </a:rPr>
            </a:br>
            <a:r>
              <a:rPr lang="en-GB" sz="1600">
                <a:latin typeface="Kalam"/>
                <a:ea typeface="Kalam"/>
                <a:cs typeface="Kalam"/>
                <a:sym typeface="Kalam"/>
              </a:rPr>
              <a:t> 1 of each dice: P(7) = </a:t>
            </a:r>
            <a:br>
              <a:rPr lang="en-GB" sz="1600">
                <a:latin typeface="Kalam"/>
                <a:ea typeface="Kalam"/>
                <a:cs typeface="Kalam"/>
                <a:sym typeface="Kalam"/>
              </a:rPr>
            </a:br>
            <a:br>
              <a:rPr lang="en-GB" sz="1600">
                <a:latin typeface="Kalam"/>
                <a:ea typeface="Kalam"/>
                <a:cs typeface="Kalam"/>
                <a:sym typeface="Kalam"/>
              </a:rPr>
            </a:br>
            <a:r>
              <a:rPr lang="en-GB" sz="1600">
                <a:latin typeface="Kalam"/>
                <a:ea typeface="Kalam"/>
                <a:cs typeface="Kalam"/>
                <a:sym typeface="Kalam"/>
              </a:rPr>
              <a:t>        2 cubes: P(7) = 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8" name="Google Shape;1238;p84"/>
          <p:cNvSpPr txBox="1"/>
          <p:nvPr>
            <p:ph type="body" idx="4294967295"/>
          </p:nvPr>
        </p:nvSpPr>
        <p:spPr>
          <a:xfrm>
            <a:off x="1072750" y="3495525"/>
            <a:ext cx="3321900" cy="33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either 2 cube dice or 1 of each dice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39" name="Google Shape;1239;p84" descr="&lt;math xmlns=&quot;http://www.w3.org/1998/Math/MathML&quot; display=&quot;block&quot; data-is-equatio=&quot;1&quot; data-latex=&quot;\begin{array}{l}\frac{3}{16}=0.1875\\&amp;#13;&amp;#10;\frac{4}{24}=0.1\dot{6}\\&amp;#13;&amp;#10;\frac{5}{36}=0.13\dot{8}\end{array}&quot;&gt;&lt;mtable columnalign=&quot;left&quot; columnspacing=&quot;1em&quot; rowspacing=&quot;4pt&quot;&gt;&lt;mtr&gt;&lt;mtd&gt;&lt;mfrac&gt;&lt;mn&gt;3&lt;/mn&gt;&lt;mn&gt;16&lt;/mn&gt;&lt;/mfrac&gt;&lt;mo&gt;=&lt;/mo&gt;&lt;mn&gt;0.1875&lt;/mn&gt;&lt;/mtd&gt;&lt;/mtr&gt;&lt;mtr&gt;&lt;mtd&gt;&lt;mfrac&gt;&lt;mn&gt;4&lt;/mn&gt;&lt;mn&gt;24&lt;/mn&gt;&lt;/mfrac&gt;&lt;mo&gt;=&lt;/mo&gt;&lt;mn&gt;0.1&lt;/mn&gt;&lt;mrow data-mjx-texclass=&quot;ORD&quot;&gt;&lt;mover&gt;&lt;mn&gt;6&lt;/mn&gt;&lt;mo&gt;˙&lt;/mo&gt;&lt;/mover&gt;&lt;/mrow&gt;&lt;/mtd&gt;&lt;/mtr&gt;&lt;mtr&gt;&lt;mtd&gt;&lt;mfrac&gt;&lt;mn&gt;5&lt;/mn&gt;&lt;mn&gt;36&lt;/mn&gt;&lt;/mfrac&gt;&lt;mo&gt;=&lt;/mo&gt;&lt;mn&gt;0.13&lt;/mn&gt;&lt;mrow data-mjx-texclass=&quot;ORD&quot;&gt;&lt;mover&gt;&lt;mn&gt;8&lt;/mn&gt;&lt;mo&gt;˙&lt;/mo&gt;&lt;/mover&gt;&lt;/mrow&gt;&lt;/mtd&gt;&lt;/mtr&gt;&lt;/mtable&gt;&lt;/math&gt;" title="3 lines Line 1: 3 over 16 equals 0.1875 Line 2: 4 over 24 equals the repeating decimal 0.1 followed by repeating digit 6 Line 3: 5 over 36 equals the repeating decimal 0.13 followed by repeating digit 8"/>
          <p:cNvPicPr preferRelativeResize="0"/>
          <p:nvPr/>
        </p:nvPicPr>
        <p:blipFill>
          <a:blip r:embed="rId3">
            <a:alphaModFix/>
          </a:blip>
          <a:srcRect t="29017" b="33419"/>
          <a:stretch>
            <a:fillRect/>
          </a:stretch>
        </p:blipFill>
        <p:spPr>
          <a:xfrm>
            <a:off x="2760525" y="2073888"/>
            <a:ext cx="1255425" cy="474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84" descr="&lt;math xmlns=&quot;http://www.w3.org/1998/Math/MathML&quot; display=&quot;block&quot; data-is-equatio=&quot;1&quot; data-latex=&quot;\begin{array}{l}\frac{2}{16}=0.125\\&amp;#13;&amp;#10;\frac{4}{24}=0.1\dot{6}\\&amp;#13;&amp;#10;\frac{6}{36}=0.1\dot{6}\end{array}&quot;&gt;&lt;mtable columnalign=&quot;left&quot; columnspacing=&quot;1em&quot; rowspacing=&quot;4pt&quot;&gt;&lt;mtr&gt;&lt;mtd&gt;&lt;mfrac&gt;&lt;mn&gt;2&lt;/mn&gt;&lt;mn&gt;16&lt;/mn&gt;&lt;/mfrac&gt;&lt;mo&gt;=&lt;/mo&gt;&lt;mn&gt;0.125&lt;/mn&gt;&lt;/mtd&gt;&lt;/mtr&gt;&lt;mtr&gt;&lt;mtd&gt;&lt;mfrac&gt;&lt;mn&gt;4&lt;/mn&gt;&lt;mn&gt;24&lt;/mn&gt;&lt;/mfrac&gt;&lt;mo&gt;=&lt;/mo&gt;&lt;mn&gt;0.1&lt;/mn&gt;&lt;mrow data-mjx-texclass=&quot;ORD&quot;&gt;&lt;mover&gt;&lt;mn&gt;6&lt;/mn&gt;&lt;mo&gt;˙&lt;/mo&gt;&lt;/mover&gt;&lt;/mrow&gt;&lt;/mtd&gt;&lt;/mtr&gt;&lt;mtr&gt;&lt;mtd&gt;&lt;mfrac&gt;&lt;mn&gt;6&lt;/mn&gt;&lt;mn&gt;36&lt;/mn&gt;&lt;/mfrac&gt;&lt;mo&gt;=&lt;/mo&gt;&lt;mn&gt;0.1&lt;/mn&gt;&lt;mrow data-mjx-texclass=&quot;ORD&quot;&gt;&lt;mover&gt;&lt;mn&gt;6&lt;/mn&gt;&lt;mo&gt;˙&lt;/mo&gt;&lt;/mover&gt;&lt;/mrow&gt;&lt;/mtd&gt;&lt;/mtr&gt;&lt;/mtable&gt;&lt;/math&gt;" title="3 lines Line 1: 2 over 16 equals 0.125 Line 2: 4 over 24 equals the repeating decimal 0.1 followed by repeating digit 6 Line 3: 6 over 36 equals the repeating decimal 0.1 followed by repeating digit 6"/>
          <p:cNvPicPr preferRelativeResize="0"/>
          <p:nvPr/>
        </p:nvPicPr>
        <p:blipFill>
          <a:blip r:embed="rId4">
            <a:alphaModFix/>
          </a:blip>
          <a:srcRect b="69221"/>
          <a:stretch>
            <a:fillRect/>
          </a:stretch>
        </p:blipFill>
        <p:spPr>
          <a:xfrm>
            <a:off x="2770500" y="1478427"/>
            <a:ext cx="1115575" cy="3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84" descr="&lt;math xmlns=&quot;http://www.w3.org/1998/Math/MathML&quot; display=&quot;block&quot; data-is-equatio=&quot;1&quot; data-latex=&quot;\begin{array}{l}\frac{2}{16}=0.125\\&amp;#13;&amp;#10;\frac{4}{24}=0.1\dot{6}\\&amp;#13;&amp;#10;\frac{6}{36}=0.1\dot{6}\end{array}&quot;&gt;&lt;mtable columnalign=&quot;left&quot; columnspacing=&quot;1em&quot; rowspacing=&quot;4pt&quot;&gt;&lt;mtr&gt;&lt;mtd&gt;&lt;mfrac&gt;&lt;mn&gt;2&lt;/mn&gt;&lt;mn&gt;16&lt;/mn&gt;&lt;/mfrac&gt;&lt;mo&gt;=&lt;/mo&gt;&lt;mn&gt;0.125&lt;/mn&gt;&lt;/mtd&gt;&lt;/mtr&gt;&lt;mtr&gt;&lt;mtd&gt;&lt;mfrac&gt;&lt;mn&gt;4&lt;/mn&gt;&lt;mn&gt;24&lt;/mn&gt;&lt;/mfrac&gt;&lt;mo&gt;=&lt;/mo&gt;&lt;mn&gt;0.1&lt;/mn&gt;&lt;mrow data-mjx-texclass=&quot;ORD&quot;&gt;&lt;mover&gt;&lt;mn&gt;6&lt;/mn&gt;&lt;mo&gt;˙&lt;/mo&gt;&lt;/mover&gt;&lt;/mrow&gt;&lt;/mtd&gt;&lt;/mtr&gt;&lt;mtr&gt;&lt;mtd&gt;&lt;mfrac&gt;&lt;mn&gt;6&lt;/mn&gt;&lt;mn&gt;36&lt;/mn&gt;&lt;/mfrac&gt;&lt;mo&gt;=&lt;/mo&gt;&lt;mn&gt;0.1&lt;/mn&gt;&lt;mrow data-mjx-texclass=&quot;ORD&quot;&gt;&lt;mover&gt;&lt;mn&gt;6&lt;/mn&gt;&lt;mo&gt;˙&lt;/mo&gt;&lt;/mover&gt;&lt;/mrow&gt;&lt;/mtd&gt;&lt;/mtr&gt;&lt;/mtable&gt;&lt;/math&gt;" title="3 lines Line 1: 2 over 16 equals 0.125 Line 2: 4 over 24 equals the repeating decimal 0.1 followed by repeating digit 6 Line 3: 6 over 36 equals the repeating decimal 0.1 followed by repeating digit 6"/>
          <p:cNvPicPr preferRelativeResize="0"/>
          <p:nvPr/>
        </p:nvPicPr>
        <p:blipFill>
          <a:blip r:embed="rId4">
            <a:alphaModFix/>
          </a:blip>
          <a:srcRect t="65406"/>
          <a:stretch>
            <a:fillRect/>
          </a:stretch>
        </p:blipFill>
        <p:spPr>
          <a:xfrm>
            <a:off x="2770500" y="2672896"/>
            <a:ext cx="1115575" cy="4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5" name="Shape 1245"/>
        <p:cNvGrpSpPr/>
        <p:nvPr/>
      </p:nvGrpSpPr>
      <p:grpSpPr>
        <a:xfrm>
          <a:off x="0" y="0"/>
          <a:ext cx="0" cy="0"/>
        </a:xfrm>
      </p:grpSpPr>
      <p:sp>
        <p:nvSpPr>
          <p:cNvPr id="1246" name="Google Shape;1246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probability to inform decisions</a:t>
            </a:r>
            <a:endParaRPr/>
          </a:p>
        </p:txBody>
      </p:sp>
      <p:sp>
        <p:nvSpPr>
          <p:cNvPr id="1247" name="Google Shape;1247;p85"/>
          <p:cNvSpPr txBox="1"/>
          <p:nvPr>
            <p:ph type="body" idx="4294967295"/>
          </p:nvPr>
        </p:nvSpPr>
        <p:spPr>
          <a:xfrm>
            <a:off x="324000" y="759300"/>
            <a:ext cx="8496000" cy="77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d) Write a summary that advises a player how to decide which pair of dice </a:t>
            </a:r>
            <a:br>
              <a:rPr lang="en-GB" sz="1600"/>
            </a:br>
            <a:r>
              <a:rPr lang="en-GB" sz="1600"/>
              <a:t>    gives them the greatest probability of rolling the total they want.</a:t>
            </a:r>
            <a:endParaRPr sz="1600"/>
          </a:p>
        </p:txBody>
      </p:sp>
      <p:graphicFrame>
        <p:nvGraphicFramePr>
          <p:cNvPr id="1248" name="Google Shape;1248;p85"/>
          <p:cNvGraphicFramePr>
            <a:graphicFrameLocks noGrp="1"/>
          </p:cNvGraphicFramePr>
          <p:nvPr/>
        </p:nvGraphicFramePr>
        <p:xfrm>
          <a:off x="5295938" y="146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382850"/>
                <a:gridCol w="412125"/>
                <a:gridCol w="412125"/>
                <a:gridCol w="412125"/>
                <a:gridCol w="412125"/>
                <a:gridCol w="412125"/>
                <a:gridCol w="412125"/>
              </a:tblGrid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1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8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49" name="Google Shape;1249;p85"/>
          <p:cNvSpPr txBox="1"/>
          <p:nvPr>
            <p:ph type="body" idx="4294967295"/>
          </p:nvPr>
        </p:nvSpPr>
        <p:spPr>
          <a:xfrm>
            <a:off x="615550" y="1971525"/>
            <a:ext cx="3956400" cy="6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Use two tetrahedral dice when you want to roll a total of 6 or less. 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0" name="Google Shape;1250;p85"/>
          <p:cNvSpPr txBox="1"/>
          <p:nvPr>
            <p:ph type="body" idx="4294967295"/>
          </p:nvPr>
        </p:nvSpPr>
        <p:spPr>
          <a:xfrm>
            <a:off x="615550" y="2809725"/>
            <a:ext cx="3956400" cy="6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Use two cube dice when you want to roll a total of 7 or more. 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1" name="Google Shape;1251;p85"/>
          <p:cNvSpPr txBox="1"/>
          <p:nvPr>
            <p:ph type="body" idx="4294967295"/>
          </p:nvPr>
        </p:nvSpPr>
        <p:spPr>
          <a:xfrm>
            <a:off x="615550" y="3571725"/>
            <a:ext cx="3956400" cy="60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Alternatively, you could use one of each dice if you want to roll a total of 7. 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5" name="Shape 1255"/>
        <p:cNvGrpSpPr/>
        <p:nvPr/>
      </p:nvGrpSpPr>
      <p:grpSpPr>
        <a:xfrm>
          <a:off x="0" y="0"/>
          <a:ext cx="0" cy="0"/>
        </a:xfrm>
      </p:grpSpPr>
      <p:sp>
        <p:nvSpPr>
          <p:cNvPr id="1256" name="Google Shape;1256;p8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probability to inform decisions</a:t>
            </a:r>
            <a:endParaRPr/>
          </a:p>
        </p:txBody>
      </p:sp>
      <p:sp>
        <p:nvSpPr>
          <p:cNvPr id="1257" name="Google Shape;1257;p86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sp>
        <p:nvSpPr>
          <p:cNvPr id="1258" name="Google Shape;1258;p86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theoretical probability</a:t>
            </a:r>
            <a:endParaRPr/>
          </a:p>
        </p:txBody>
      </p:sp>
      <p:pic>
        <p:nvPicPr>
          <p:cNvPr id="1259" name="Google Shape;125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7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3" name="Shape 1263"/>
        <p:cNvGrpSpPr/>
        <p:nvPr/>
      </p:nvGrpSpPr>
      <p:grpSpPr>
        <a:xfrm>
          <a:off x="0" y="0"/>
          <a:ext cx="0" cy="0"/>
        </a:xfrm>
      </p:grpSpPr>
      <p:pic>
        <p:nvPicPr>
          <p:cNvPr id="1264" name="Google Shape;126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833098" y="2680425"/>
            <a:ext cx="4031652" cy="155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5" name="Google Shape;1265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769" y="2505650"/>
            <a:ext cx="2542902" cy="14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87"/>
          <p:cNvSpPr txBox="1"/>
          <p:nvPr>
            <p:ph type="body" idx="1"/>
          </p:nvPr>
        </p:nvSpPr>
        <p:spPr>
          <a:xfrm>
            <a:off x="324000" y="759300"/>
            <a:ext cx="8496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 and Sofia have designed an app containing a chance-based game.</a:t>
            </a:r>
            <a:endParaRPr sz="1800"/>
          </a:p>
        </p:txBody>
      </p:sp>
      <p:sp>
        <p:nvSpPr>
          <p:cNvPr id="1267" name="Google Shape;126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sp>
        <p:nvSpPr>
          <p:cNvPr id="1268" name="Google Shape;1268;p87"/>
          <p:cNvSpPr txBox="1"/>
          <p:nvPr>
            <p:ph type="body" idx="1"/>
          </p:nvPr>
        </p:nvSpPr>
        <p:spPr>
          <a:xfrm>
            <a:off x="324000" y="1140300"/>
            <a:ext cx="8496000" cy="58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Players have a </a:t>
            </a:r>
            <a:r>
              <a:rPr lang="en-GB" sz="1800">
                <a:solidFill>
                  <a:schemeClr val="accent5"/>
                </a:solidFill>
              </a:rPr>
              <a:t>1% probability</a:t>
            </a:r>
            <a:r>
              <a:rPr lang="en-GB" sz="1800"/>
              <a:t> of finding a rare gem each turn. This means a player could expect to find approximately </a:t>
            </a:r>
            <a:r>
              <a:rPr lang="en-GB" sz="1800">
                <a:solidFill>
                  <a:schemeClr val="accent5"/>
                </a:solidFill>
              </a:rPr>
              <a:t>1 gem in every 100 turns</a:t>
            </a:r>
            <a:r>
              <a:rPr lang="en-GB" sz="1800"/>
              <a:t>. </a:t>
            </a:r>
            <a:endParaRPr sz="1800"/>
          </a:p>
        </p:txBody>
      </p:sp>
      <p:pic>
        <p:nvPicPr>
          <p:cNvPr id="1269" name="Google Shape;1269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599" y="4083298"/>
            <a:ext cx="618169" cy="69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0873" y="4091430"/>
            <a:ext cx="618174" cy="68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87"/>
          <p:cNvSpPr txBox="1"/>
          <p:nvPr>
            <p:ph type="body" idx="1"/>
          </p:nvPr>
        </p:nvSpPr>
        <p:spPr>
          <a:xfrm>
            <a:off x="772925" y="2644025"/>
            <a:ext cx="2416500" cy="95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 have </a:t>
            </a:r>
            <a:r>
              <a:rPr lang="en-GB" sz="1800">
                <a:solidFill>
                  <a:schemeClr val="accent5"/>
                </a:solidFill>
              </a:rPr>
              <a:t>increased the probability</a:t>
            </a:r>
            <a:r>
              <a:rPr lang="en-GB" sz="1800"/>
              <a:t> of finding a gem by 50%.</a:t>
            </a:r>
            <a:endParaRPr sz="1800"/>
          </a:p>
        </p:txBody>
      </p:sp>
      <p:sp>
        <p:nvSpPr>
          <p:cNvPr id="1272" name="Google Shape;1272;p87"/>
          <p:cNvSpPr txBox="1"/>
          <p:nvPr>
            <p:ph type="body" idx="1"/>
          </p:nvPr>
        </p:nvSpPr>
        <p:spPr>
          <a:xfrm>
            <a:off x="324000" y="1978500"/>
            <a:ext cx="8496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 </a:t>
            </a:r>
            <a:r>
              <a:rPr lang="en-GB" sz="1800">
                <a:solidFill>
                  <a:schemeClr val="accent5"/>
                </a:solidFill>
              </a:rPr>
              <a:t>changes the game</a:t>
            </a:r>
            <a:r>
              <a:rPr lang="en-GB" sz="1800"/>
              <a:t> to make it easier for players to find a gem.</a:t>
            </a:r>
            <a:endParaRPr sz="1800"/>
          </a:p>
        </p:txBody>
      </p:sp>
      <p:sp>
        <p:nvSpPr>
          <p:cNvPr id="1273" name="Google Shape;1273;p87"/>
          <p:cNvSpPr txBox="1"/>
          <p:nvPr>
            <p:ph type="body" idx="1"/>
          </p:nvPr>
        </p:nvSpPr>
        <p:spPr>
          <a:xfrm>
            <a:off x="3917675" y="2788750"/>
            <a:ext cx="4031700" cy="132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Oh no! That makes it far too easy!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Players will now get approximately</a:t>
            </a:r>
            <a:br>
              <a:rPr lang="en-GB" sz="1800"/>
            </a:br>
            <a:r>
              <a:rPr lang="en-GB" sz="1800"/>
              <a:t>51 gems for every 100 turns.</a:t>
            </a:r>
            <a:endParaRPr sz="1800"/>
          </a:p>
        </p:txBody>
      </p:sp>
      <p:sp>
        <p:nvSpPr>
          <p:cNvPr id="1274" name="Google Shape;1274;p87"/>
          <p:cNvSpPr txBox="1"/>
          <p:nvPr>
            <p:ph type="body" idx="1"/>
          </p:nvPr>
        </p:nvSpPr>
        <p:spPr>
          <a:xfrm>
            <a:off x="3600600" y="4546575"/>
            <a:ext cx="19725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Is Sofia correct? 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8" name="Shape 1278"/>
        <p:cNvGrpSpPr/>
        <p:nvPr/>
      </p:nvGrpSpPr>
      <p:grpSpPr>
        <a:xfrm>
          <a:off x="0" y="0"/>
          <a:ext cx="0" cy="0"/>
        </a:xfrm>
      </p:grpSpPr>
      <p:sp>
        <p:nvSpPr>
          <p:cNvPr id="1279" name="Google Shape;1279;p88"/>
          <p:cNvSpPr txBox="1"/>
          <p:nvPr>
            <p:ph type="body" idx="1"/>
          </p:nvPr>
        </p:nvSpPr>
        <p:spPr>
          <a:xfrm>
            <a:off x="324000" y="759300"/>
            <a:ext cx="8496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probability of finding a gem in the </a:t>
            </a:r>
            <a:r>
              <a:rPr lang="en-GB" sz="1800">
                <a:solidFill>
                  <a:schemeClr val="accent5"/>
                </a:solidFill>
              </a:rPr>
              <a:t>original</a:t>
            </a:r>
            <a:r>
              <a:rPr lang="en-GB" sz="1800"/>
              <a:t> version was 1%.</a:t>
            </a:r>
            <a:endParaRPr sz="1800"/>
          </a:p>
        </p:txBody>
      </p:sp>
      <p:sp>
        <p:nvSpPr>
          <p:cNvPr id="1280" name="Google Shape;128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sp>
        <p:nvSpPr>
          <p:cNvPr id="1281" name="Google Shape;1281;p88"/>
          <p:cNvSpPr txBox="1"/>
          <p:nvPr>
            <p:ph type="body" idx="1"/>
          </p:nvPr>
        </p:nvSpPr>
        <p:spPr>
          <a:xfrm>
            <a:off x="324000" y="1156629"/>
            <a:ext cx="8496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 has </a:t>
            </a:r>
            <a:r>
              <a:rPr lang="en-GB" sz="1800">
                <a:solidFill>
                  <a:schemeClr val="accent5"/>
                </a:solidFill>
              </a:rPr>
              <a:t>increased the probability</a:t>
            </a:r>
            <a:r>
              <a:rPr lang="en-GB" sz="1800"/>
              <a:t> by 50%.</a:t>
            </a:r>
            <a:endParaRPr sz="1800"/>
          </a:p>
        </p:txBody>
      </p:sp>
      <p:pic>
        <p:nvPicPr>
          <p:cNvPr id="1282" name="Google Shape;1282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599" y="4083298"/>
            <a:ext cx="618169" cy="69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0873" y="4091430"/>
            <a:ext cx="618174" cy="68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88"/>
          <p:cNvSpPr txBox="1"/>
          <p:nvPr>
            <p:ph type="body" idx="1"/>
          </p:nvPr>
        </p:nvSpPr>
        <p:spPr>
          <a:xfrm>
            <a:off x="324000" y="3121500"/>
            <a:ext cx="8496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probability of finding a gem in the </a:t>
            </a:r>
            <a:r>
              <a:rPr lang="en-GB" sz="1800">
                <a:solidFill>
                  <a:schemeClr val="accent5"/>
                </a:solidFill>
              </a:rPr>
              <a:t>new</a:t>
            </a:r>
            <a:r>
              <a:rPr lang="en-GB" sz="1800"/>
              <a:t> version of the game is 1.5%.</a:t>
            </a:r>
            <a:endParaRPr sz="1800"/>
          </a:p>
        </p:txBody>
      </p:sp>
      <p:sp>
        <p:nvSpPr>
          <p:cNvPr id="1285" name="Google Shape;1285;p88"/>
          <p:cNvSpPr txBox="1"/>
          <p:nvPr>
            <p:ph type="body" idx="1"/>
          </p:nvPr>
        </p:nvSpPr>
        <p:spPr>
          <a:xfrm>
            <a:off x="857400" y="2511900"/>
            <a:ext cx="22668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original probability</a:t>
            </a:r>
            <a:endParaRPr sz="1800"/>
          </a:p>
        </p:txBody>
      </p:sp>
      <p:sp>
        <p:nvSpPr>
          <p:cNvPr id="1286" name="Google Shape;1286;p88"/>
          <p:cNvSpPr txBox="1"/>
          <p:nvPr>
            <p:ph type="body" idx="1"/>
          </p:nvPr>
        </p:nvSpPr>
        <p:spPr>
          <a:xfrm>
            <a:off x="3524400" y="2511900"/>
            <a:ext cx="16029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50% increase</a:t>
            </a:r>
            <a:endParaRPr sz="1800"/>
          </a:p>
        </p:txBody>
      </p:sp>
      <p:sp>
        <p:nvSpPr>
          <p:cNvPr id="1287" name="Google Shape;1287;p88"/>
          <p:cNvSpPr txBox="1"/>
          <p:nvPr>
            <p:ph type="body" idx="1"/>
          </p:nvPr>
        </p:nvSpPr>
        <p:spPr>
          <a:xfrm>
            <a:off x="5658000" y="2511900"/>
            <a:ext cx="22179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new probability</a:t>
            </a:r>
            <a:endParaRPr sz="1800"/>
          </a:p>
        </p:txBody>
      </p:sp>
      <p:sp>
        <p:nvSpPr>
          <p:cNvPr id="1288" name="Google Shape;1288;p88"/>
          <p:cNvSpPr txBox="1"/>
          <p:nvPr>
            <p:ph type="body" idx="1"/>
          </p:nvPr>
        </p:nvSpPr>
        <p:spPr>
          <a:xfrm>
            <a:off x="2991000" y="1749900"/>
            <a:ext cx="26805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1% × 1.5 = 1.5%</a:t>
            </a:r>
            <a:endParaRPr/>
          </a:p>
        </p:txBody>
      </p:sp>
      <p:cxnSp>
        <p:nvCxnSpPr>
          <p:cNvPr id="1289" name="Google Shape;1289;p88"/>
          <p:cNvCxnSpPr/>
          <p:nvPr/>
        </p:nvCxnSpPr>
        <p:spPr>
          <a:xfrm rot="10800000" flipH="1">
            <a:off x="2955525" y="2070000"/>
            <a:ext cx="228600" cy="435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0" name="Google Shape;1290;p88"/>
          <p:cNvCxnSpPr/>
          <p:nvPr/>
        </p:nvCxnSpPr>
        <p:spPr>
          <a:xfrm rot="10800000">
            <a:off x="3875475" y="2086300"/>
            <a:ext cx="54300" cy="429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88"/>
          <p:cNvCxnSpPr/>
          <p:nvPr/>
        </p:nvCxnSpPr>
        <p:spPr>
          <a:xfrm rot="10800000">
            <a:off x="4985775" y="2067775"/>
            <a:ext cx="658500" cy="497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2" name="Google Shape;1292;p88"/>
          <p:cNvGrpSpPr/>
          <p:nvPr/>
        </p:nvGrpSpPr>
        <p:grpSpPr>
          <a:xfrm>
            <a:off x="1181650" y="3545987"/>
            <a:ext cx="5540127" cy="913265"/>
            <a:chOff x="402775" y="77554"/>
            <a:chExt cx="3996052" cy="848680"/>
          </a:xfrm>
        </p:grpSpPr>
        <p:grpSp>
          <p:nvGrpSpPr>
            <p:cNvPr id="1293" name="Google Shape;1293;p88"/>
            <p:cNvGrpSpPr/>
            <p:nvPr/>
          </p:nvGrpSpPr>
          <p:grpSpPr>
            <a:xfrm>
              <a:off x="402775" y="77554"/>
              <a:ext cx="3996052" cy="848680"/>
              <a:chOff x="402775" y="77554"/>
              <a:chExt cx="3996052" cy="848680"/>
            </a:xfrm>
          </p:grpSpPr>
          <p:pic>
            <p:nvPicPr>
              <p:cNvPr id="1294" name="Google Shape;1294;p88"/>
              <p:cNvPicPr preferRelativeResize="0"/>
              <p:nvPr/>
            </p:nvPicPr>
            <p:blipFill>
              <a:blip r:embed="rId5">
                <a:alphaModFix/>
              </a:blip>
              <a:srcRect b="30536"/>
              <a:stretch>
                <a:fillRect/>
              </a:stretch>
            </p:blipFill>
            <p:spPr>
              <a:xfrm>
                <a:off x="402775" y="77554"/>
                <a:ext cx="3996052" cy="642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95" name="Google Shape;1295;p88"/>
              <p:cNvPicPr preferRelativeResize="0"/>
              <p:nvPr/>
            </p:nvPicPr>
            <p:blipFill>
              <a:blip r:embed="rId5">
                <a:alphaModFix/>
              </a:blip>
              <a:srcRect t="76845"/>
              <a:stretch>
                <a:fillRect/>
              </a:stretch>
            </p:blipFill>
            <p:spPr>
              <a:xfrm>
                <a:off x="402775" y="712084"/>
                <a:ext cx="3996052" cy="214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6" name="Google Shape;1296;p88"/>
              <p:cNvSpPr/>
              <p:nvPr/>
            </p:nvSpPr>
            <p:spPr>
              <a:xfrm>
                <a:off x="476672" y="709050"/>
                <a:ext cx="468552" cy="7675"/>
              </a:xfrm>
              <a:custGeom>
                <a:rect l="l" t="t" r="r" b="b"/>
                <a:pathLst>
                  <a:path w="2656" h="307" extrusionOk="0">
                    <a:moveTo>
                      <a:pt x="0" y="307"/>
                    </a:moveTo>
                    <a:cubicBezTo>
                      <a:pt x="443" y="256"/>
                      <a:pt x="2213" y="51"/>
                      <a:pt x="2656" y="0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/>
            </p:txBody>
          </p:sp>
        </p:grpSp>
        <p:sp>
          <p:nvSpPr>
            <p:cNvPr id="1297" name="Google Shape;1297;p88"/>
            <p:cNvSpPr/>
            <p:nvPr/>
          </p:nvSpPr>
          <p:spPr>
            <a:xfrm>
              <a:off x="1107425" y="709050"/>
              <a:ext cx="66400" cy="7675"/>
            </a:xfrm>
            <a:custGeom>
              <a:rect l="l" t="t" r="r" b="b"/>
              <a:pathLst>
                <a:path w="2656" h="307" extrusionOk="0">
                  <a:moveTo>
                    <a:pt x="0" y="307"/>
                  </a:moveTo>
                  <a:cubicBezTo>
                    <a:pt x="443" y="256"/>
                    <a:pt x="2213" y="51"/>
                    <a:pt x="2656" y="0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sp>
        <p:nvSpPr>
          <p:cNvPr id="1298" name="Google Shape;1298;p88"/>
          <p:cNvSpPr txBox="1"/>
          <p:nvPr>
            <p:ph type="body" idx="1"/>
          </p:nvPr>
        </p:nvSpPr>
        <p:spPr>
          <a:xfrm>
            <a:off x="1316250" y="3638100"/>
            <a:ext cx="5509200" cy="68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This calculation could also be performed with the probabilities expressed as their </a:t>
            </a:r>
            <a:r>
              <a:rPr lang="en-GB" sz="1600">
                <a:solidFill>
                  <a:schemeClr val="accent5"/>
                </a:solidFill>
              </a:rPr>
              <a:t>equivalent decimals</a:t>
            </a:r>
            <a:r>
              <a:rPr lang="en-GB" sz="1600"/>
              <a:t>. 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2" name="Shape 1302"/>
        <p:cNvGrpSpPr/>
        <p:nvPr/>
      </p:nvGrpSpPr>
      <p:grpSpPr>
        <a:xfrm>
          <a:off x="0" y="0"/>
          <a:ext cx="0" cy="0"/>
        </a:xfrm>
      </p:grpSpPr>
      <p:pic>
        <p:nvPicPr>
          <p:cNvPr id="1303" name="Google Shape;130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312275" y="3524400"/>
            <a:ext cx="2313200" cy="9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89"/>
          <p:cNvSpPr txBox="1"/>
          <p:nvPr>
            <p:ph type="body" idx="1"/>
          </p:nvPr>
        </p:nvSpPr>
        <p:spPr>
          <a:xfrm>
            <a:off x="324000" y="759300"/>
            <a:ext cx="8496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probability of finding a gem in the </a:t>
            </a:r>
            <a:r>
              <a:rPr lang="en-GB" sz="1800">
                <a:solidFill>
                  <a:schemeClr val="accent5"/>
                </a:solidFill>
              </a:rPr>
              <a:t>original</a:t>
            </a:r>
            <a:r>
              <a:rPr lang="en-GB" sz="1800"/>
              <a:t> version was 0.01.</a:t>
            </a:r>
            <a:endParaRPr sz="1800"/>
          </a:p>
        </p:txBody>
      </p:sp>
      <p:sp>
        <p:nvSpPr>
          <p:cNvPr id="1305" name="Google Shape;130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pic>
        <p:nvPicPr>
          <p:cNvPr id="1306" name="Google Shape;1306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599" y="4083298"/>
            <a:ext cx="618169" cy="69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0873" y="4091430"/>
            <a:ext cx="618174" cy="68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89"/>
          <p:cNvSpPr txBox="1"/>
          <p:nvPr>
            <p:ph type="body" idx="1"/>
          </p:nvPr>
        </p:nvSpPr>
        <p:spPr>
          <a:xfrm>
            <a:off x="324000" y="3121500"/>
            <a:ext cx="8496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probability of finding a gem in the </a:t>
            </a:r>
            <a:r>
              <a:rPr lang="en-GB" sz="1800">
                <a:solidFill>
                  <a:schemeClr val="accent5"/>
                </a:solidFill>
              </a:rPr>
              <a:t>new</a:t>
            </a:r>
            <a:r>
              <a:rPr lang="en-GB" sz="1800"/>
              <a:t> version of the game is 0.015.</a:t>
            </a:r>
            <a:endParaRPr sz="1800"/>
          </a:p>
        </p:txBody>
      </p:sp>
      <p:sp>
        <p:nvSpPr>
          <p:cNvPr id="1309" name="Google Shape;1309;p89"/>
          <p:cNvSpPr txBox="1"/>
          <p:nvPr>
            <p:ph type="body" idx="1"/>
          </p:nvPr>
        </p:nvSpPr>
        <p:spPr>
          <a:xfrm>
            <a:off x="857400" y="2511900"/>
            <a:ext cx="22668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original probability</a:t>
            </a:r>
            <a:endParaRPr sz="1800"/>
          </a:p>
        </p:txBody>
      </p:sp>
      <p:sp>
        <p:nvSpPr>
          <p:cNvPr id="1310" name="Google Shape;1310;p89"/>
          <p:cNvSpPr txBox="1"/>
          <p:nvPr>
            <p:ph type="body" idx="1"/>
          </p:nvPr>
        </p:nvSpPr>
        <p:spPr>
          <a:xfrm>
            <a:off x="3524400" y="2511900"/>
            <a:ext cx="16029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50% increase</a:t>
            </a:r>
            <a:endParaRPr sz="1800"/>
          </a:p>
        </p:txBody>
      </p:sp>
      <p:sp>
        <p:nvSpPr>
          <p:cNvPr id="1311" name="Google Shape;1311;p89"/>
          <p:cNvSpPr txBox="1"/>
          <p:nvPr>
            <p:ph type="body" idx="1"/>
          </p:nvPr>
        </p:nvSpPr>
        <p:spPr>
          <a:xfrm>
            <a:off x="5658000" y="2511900"/>
            <a:ext cx="22179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new probability</a:t>
            </a:r>
            <a:endParaRPr sz="1800"/>
          </a:p>
        </p:txBody>
      </p:sp>
      <p:sp>
        <p:nvSpPr>
          <p:cNvPr id="1312" name="Google Shape;1312;p89"/>
          <p:cNvSpPr txBox="1"/>
          <p:nvPr>
            <p:ph type="body" idx="1"/>
          </p:nvPr>
        </p:nvSpPr>
        <p:spPr>
          <a:xfrm>
            <a:off x="2991000" y="1749900"/>
            <a:ext cx="26805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0.01 × 1.5 = 0.015</a:t>
            </a:r>
            <a:endParaRPr/>
          </a:p>
        </p:txBody>
      </p:sp>
      <p:cxnSp>
        <p:nvCxnSpPr>
          <p:cNvPr id="1313" name="Google Shape;1313;p89"/>
          <p:cNvCxnSpPr/>
          <p:nvPr/>
        </p:nvCxnSpPr>
        <p:spPr>
          <a:xfrm rot="10800000" flipH="1">
            <a:off x="2955525" y="2070000"/>
            <a:ext cx="228600" cy="435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4" name="Google Shape;1314;p89"/>
          <p:cNvCxnSpPr/>
          <p:nvPr/>
        </p:nvCxnSpPr>
        <p:spPr>
          <a:xfrm rot="10800000">
            <a:off x="3875475" y="2086300"/>
            <a:ext cx="54300" cy="429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5" name="Google Shape;1315;p89"/>
          <p:cNvCxnSpPr/>
          <p:nvPr/>
        </p:nvCxnSpPr>
        <p:spPr>
          <a:xfrm rot="10800000">
            <a:off x="4985775" y="2067775"/>
            <a:ext cx="658500" cy="497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6" name="Google Shape;1316;p89"/>
          <p:cNvSpPr txBox="1"/>
          <p:nvPr>
            <p:ph type="body" idx="1"/>
          </p:nvPr>
        </p:nvSpPr>
        <p:spPr>
          <a:xfrm>
            <a:off x="5472975" y="3638100"/>
            <a:ext cx="2266800" cy="68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increase isn’t as much as I thought. </a:t>
            </a:r>
            <a:endParaRPr sz="1600"/>
          </a:p>
        </p:txBody>
      </p:sp>
      <p:sp>
        <p:nvSpPr>
          <p:cNvPr id="1317" name="Google Shape;1317;p89"/>
          <p:cNvSpPr txBox="1"/>
          <p:nvPr>
            <p:ph type="body" idx="1"/>
          </p:nvPr>
        </p:nvSpPr>
        <p:spPr>
          <a:xfrm>
            <a:off x="324000" y="1156629"/>
            <a:ext cx="8496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Lucas has </a:t>
            </a:r>
            <a:r>
              <a:rPr lang="en-GB" sz="1800">
                <a:solidFill>
                  <a:schemeClr val="accent5"/>
                </a:solidFill>
              </a:rPr>
              <a:t>increased the probability</a:t>
            </a:r>
            <a:r>
              <a:rPr lang="en-GB" sz="1800"/>
              <a:t> by 50%.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21" name="Shape 1321"/>
        <p:cNvGrpSpPr/>
        <p:nvPr/>
      </p:nvGrpSpPr>
      <p:grpSpPr>
        <a:xfrm>
          <a:off x="0" y="0"/>
          <a:ext cx="0" cy="0"/>
        </a:xfrm>
      </p:grpSpPr>
      <p:pic>
        <p:nvPicPr>
          <p:cNvPr id="1322" name="Google Shape;132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715051" y="2152800"/>
            <a:ext cx="2596224" cy="9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90"/>
          <p:cNvSpPr txBox="1"/>
          <p:nvPr>
            <p:ph type="body" idx="1"/>
          </p:nvPr>
        </p:nvSpPr>
        <p:spPr>
          <a:xfrm>
            <a:off x="324000" y="759300"/>
            <a:ext cx="8496000" cy="69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They consider what </a:t>
            </a:r>
            <a:r>
              <a:rPr lang="en-GB" sz="1800">
                <a:solidFill>
                  <a:schemeClr val="accent5"/>
                </a:solidFill>
              </a:rPr>
              <a:t>difference</a:t>
            </a:r>
            <a:r>
              <a:rPr lang="en-GB" sz="1800"/>
              <a:t> the increased probability will make to </a:t>
            </a:r>
            <a:r>
              <a:rPr lang="en-GB" sz="1800">
                <a:solidFill>
                  <a:schemeClr val="accent5"/>
                </a:solidFill>
              </a:rPr>
              <a:t>number of gems</a:t>
            </a:r>
            <a:r>
              <a:rPr lang="en-GB" sz="1800"/>
              <a:t> that players can </a:t>
            </a:r>
            <a:r>
              <a:rPr lang="en-GB" sz="1800">
                <a:solidFill>
                  <a:schemeClr val="accent5"/>
                </a:solidFill>
              </a:rPr>
              <a:t>expect</a:t>
            </a:r>
            <a:r>
              <a:rPr lang="en-GB" sz="1800"/>
              <a:t> with each version of the game.</a:t>
            </a:r>
            <a:endParaRPr sz="1800"/>
          </a:p>
        </p:txBody>
      </p:sp>
      <p:sp>
        <p:nvSpPr>
          <p:cNvPr id="1324" name="Google Shape;132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pic>
        <p:nvPicPr>
          <p:cNvPr id="1325" name="Google Shape;1325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99824" y="3030911"/>
            <a:ext cx="618169" cy="69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6" name="Google Shape;1326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0873" y="4091430"/>
            <a:ext cx="618174" cy="68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90"/>
          <p:cNvSpPr txBox="1"/>
          <p:nvPr>
            <p:ph type="body" idx="1"/>
          </p:nvPr>
        </p:nvSpPr>
        <p:spPr>
          <a:xfrm>
            <a:off x="5780350" y="2266500"/>
            <a:ext cx="2569200" cy="68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That doesn’t make sense. You can’t find 1.5 gems. </a:t>
            </a:r>
            <a:endParaRPr sz="1600"/>
          </a:p>
        </p:txBody>
      </p:sp>
      <p:graphicFrame>
        <p:nvGraphicFramePr>
          <p:cNvPr id="1328" name="Google Shape;1328;p90"/>
          <p:cNvGraphicFramePr>
            <a:graphicFrameLocks noGrp="1"/>
          </p:cNvGraphicFramePr>
          <p:nvPr/>
        </p:nvGraphicFramePr>
        <p:xfrm>
          <a:off x="364650" y="200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1607350"/>
                <a:gridCol w="936975"/>
                <a:gridCol w="910050"/>
                <a:gridCol w="1214150"/>
              </a:tblGrid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original version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version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finding gem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expectation per 100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29" name="Google Shape;1329;p90"/>
          <p:cNvSpPr txBox="1"/>
          <p:nvPr>
            <p:ph type="body" idx="1"/>
          </p:nvPr>
        </p:nvSpPr>
        <p:spPr>
          <a:xfrm>
            <a:off x="324000" y="1515857"/>
            <a:ext cx="8496000" cy="28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They compare the number of gems that can be expected from </a:t>
            </a:r>
            <a:r>
              <a:rPr lang="en-GB" sz="1800">
                <a:solidFill>
                  <a:schemeClr val="accent5"/>
                </a:solidFill>
              </a:rPr>
              <a:t>100 turns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330" name="Google Shape;1330;p90"/>
          <p:cNvSpPr txBox="1"/>
          <p:nvPr>
            <p:ph type="body" idx="1"/>
          </p:nvPr>
        </p:nvSpPr>
        <p:spPr>
          <a:xfrm>
            <a:off x="2060257" y="3437179"/>
            <a:ext cx="204000" cy="28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endParaRPr sz="1800"/>
          </a:p>
        </p:txBody>
      </p:sp>
      <p:sp>
        <p:nvSpPr>
          <p:cNvPr id="1331" name="Google Shape;1331;p90"/>
          <p:cNvSpPr txBox="1"/>
          <p:nvPr>
            <p:ph type="body" idx="1"/>
          </p:nvPr>
        </p:nvSpPr>
        <p:spPr>
          <a:xfrm>
            <a:off x="2996421" y="3437175"/>
            <a:ext cx="421800" cy="28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1.5</a:t>
            </a:r>
            <a:endParaRPr sz="1800"/>
          </a:p>
        </p:txBody>
      </p:sp>
      <p:sp>
        <p:nvSpPr>
          <p:cNvPr id="1332" name="Google Shape;1332;p90"/>
          <p:cNvSpPr txBox="1"/>
          <p:nvPr>
            <p:ph type="body" idx="1"/>
          </p:nvPr>
        </p:nvSpPr>
        <p:spPr>
          <a:xfrm>
            <a:off x="3910821" y="3437175"/>
            <a:ext cx="421800" cy="28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0.5</a:t>
            </a:r>
            <a:endParaRPr sz="1800"/>
          </a:p>
        </p:txBody>
      </p:sp>
      <p:sp>
        <p:nvSpPr>
          <p:cNvPr id="1333" name="Google Shape;1333;p90"/>
          <p:cNvSpPr/>
          <p:nvPr/>
        </p:nvSpPr>
        <p:spPr>
          <a:xfrm>
            <a:off x="359202" y="3347500"/>
            <a:ext cx="4811400" cy="779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7" name="Shape 1337"/>
        <p:cNvGrpSpPr/>
        <p:nvPr/>
      </p:nvGrpSpPr>
      <p:grpSpPr>
        <a:xfrm>
          <a:off x="0" y="0"/>
          <a:ext cx="0" cy="0"/>
        </a:xfrm>
      </p:grpSpPr>
      <p:sp>
        <p:nvSpPr>
          <p:cNvPr id="1338" name="Google Shape;1338;p91"/>
          <p:cNvSpPr txBox="1"/>
          <p:nvPr>
            <p:ph type="body" idx="1"/>
          </p:nvPr>
        </p:nvSpPr>
        <p:spPr>
          <a:xfrm>
            <a:off x="324000" y="759300"/>
            <a:ext cx="8496000" cy="39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They compare the number of gems that can be expected from </a:t>
            </a:r>
            <a:r>
              <a:rPr lang="en-GB" sz="1800">
                <a:solidFill>
                  <a:schemeClr val="accent5"/>
                </a:solidFill>
              </a:rPr>
              <a:t>1000 turns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339" name="Google Shape;133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pic>
        <p:nvPicPr>
          <p:cNvPr id="1340" name="Google Shape;134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99824" y="3030911"/>
            <a:ext cx="618169" cy="69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1" name="Google Shape;1341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0873" y="4091430"/>
            <a:ext cx="618174" cy="6857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42" name="Google Shape;1342;p91"/>
          <p:cNvGraphicFramePr>
            <a:graphicFrameLocks noGrp="1"/>
          </p:cNvGraphicFramePr>
          <p:nvPr/>
        </p:nvGraphicFramePr>
        <p:xfrm>
          <a:off x="364650" y="200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1607350"/>
                <a:gridCol w="936975"/>
                <a:gridCol w="910050"/>
                <a:gridCol w="1214150"/>
              </a:tblGrid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original version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version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finding 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expectation per 100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expectation per 1000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43" name="Google Shape;1343;p91"/>
          <p:cNvSpPr txBox="1"/>
          <p:nvPr>
            <p:ph type="body" idx="1"/>
          </p:nvPr>
        </p:nvSpPr>
        <p:spPr>
          <a:xfrm>
            <a:off x="5745075" y="1513250"/>
            <a:ext cx="13635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1% of 1000</a:t>
            </a:r>
            <a:endParaRPr sz="1600"/>
          </a:p>
        </p:txBody>
      </p:sp>
      <p:sp>
        <p:nvSpPr>
          <p:cNvPr id="1344" name="Google Shape;1344;p91"/>
          <p:cNvSpPr txBox="1"/>
          <p:nvPr>
            <p:ph type="body" idx="1"/>
          </p:nvPr>
        </p:nvSpPr>
        <p:spPr>
          <a:xfrm>
            <a:off x="5527361" y="1894250"/>
            <a:ext cx="1542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= 0.01 × 1000</a:t>
            </a:r>
            <a:endParaRPr sz="1600"/>
          </a:p>
        </p:txBody>
      </p:sp>
      <p:sp>
        <p:nvSpPr>
          <p:cNvPr id="1345" name="Google Shape;1345;p91"/>
          <p:cNvSpPr txBox="1"/>
          <p:nvPr>
            <p:ph type="body" idx="1"/>
          </p:nvPr>
        </p:nvSpPr>
        <p:spPr>
          <a:xfrm>
            <a:off x="5527361" y="2275250"/>
            <a:ext cx="1542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= 10</a:t>
            </a:r>
            <a:endParaRPr sz="1600"/>
          </a:p>
        </p:txBody>
      </p:sp>
      <p:sp>
        <p:nvSpPr>
          <p:cNvPr id="1346" name="Google Shape;1346;p91"/>
          <p:cNvSpPr txBox="1"/>
          <p:nvPr>
            <p:ph type="body" idx="1"/>
          </p:nvPr>
        </p:nvSpPr>
        <p:spPr>
          <a:xfrm>
            <a:off x="5745075" y="3037250"/>
            <a:ext cx="1542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1.5% of 1000</a:t>
            </a:r>
            <a:endParaRPr sz="1600"/>
          </a:p>
        </p:txBody>
      </p:sp>
      <p:sp>
        <p:nvSpPr>
          <p:cNvPr id="1347" name="Google Shape;1347;p91"/>
          <p:cNvSpPr txBox="1"/>
          <p:nvPr>
            <p:ph type="body" idx="1"/>
          </p:nvPr>
        </p:nvSpPr>
        <p:spPr>
          <a:xfrm>
            <a:off x="5527361" y="3418250"/>
            <a:ext cx="1542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= 0.015 × 1000</a:t>
            </a:r>
            <a:endParaRPr sz="1600"/>
          </a:p>
        </p:txBody>
      </p:sp>
      <p:sp>
        <p:nvSpPr>
          <p:cNvPr id="1348" name="Google Shape;1348;p91"/>
          <p:cNvSpPr txBox="1"/>
          <p:nvPr>
            <p:ph type="body" idx="1"/>
          </p:nvPr>
        </p:nvSpPr>
        <p:spPr>
          <a:xfrm>
            <a:off x="5527361" y="3799250"/>
            <a:ext cx="1542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= 15</a:t>
            </a:r>
            <a:endParaRPr sz="1600"/>
          </a:p>
        </p:txBody>
      </p:sp>
      <p:sp>
        <p:nvSpPr>
          <p:cNvPr id="1349" name="Google Shape;1349;p91"/>
          <p:cNvSpPr txBox="1"/>
          <p:nvPr>
            <p:ph type="body" idx="1"/>
          </p:nvPr>
        </p:nvSpPr>
        <p:spPr>
          <a:xfrm>
            <a:off x="5527361" y="4561250"/>
            <a:ext cx="1542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15 − 10 = 5</a:t>
            </a:r>
            <a:endParaRPr sz="1600"/>
          </a:p>
        </p:txBody>
      </p:sp>
      <p:sp>
        <p:nvSpPr>
          <p:cNvPr id="1350" name="Google Shape;1350;p91"/>
          <p:cNvSpPr txBox="1"/>
          <p:nvPr>
            <p:ph type="body" idx="1"/>
          </p:nvPr>
        </p:nvSpPr>
        <p:spPr>
          <a:xfrm>
            <a:off x="2050444" y="4087739"/>
            <a:ext cx="360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endParaRPr sz="1800"/>
          </a:p>
        </p:txBody>
      </p:sp>
      <p:sp>
        <p:nvSpPr>
          <p:cNvPr id="1351" name="Google Shape;1351;p91"/>
          <p:cNvSpPr txBox="1"/>
          <p:nvPr>
            <p:ph type="body" idx="1"/>
          </p:nvPr>
        </p:nvSpPr>
        <p:spPr>
          <a:xfrm>
            <a:off x="3002944" y="4087739"/>
            <a:ext cx="360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15</a:t>
            </a:r>
            <a:endParaRPr sz="1800"/>
          </a:p>
        </p:txBody>
      </p:sp>
      <p:sp>
        <p:nvSpPr>
          <p:cNvPr id="1352" name="Google Shape;1352;p91"/>
          <p:cNvSpPr txBox="1"/>
          <p:nvPr>
            <p:ph type="body" idx="1"/>
          </p:nvPr>
        </p:nvSpPr>
        <p:spPr>
          <a:xfrm>
            <a:off x="3917344" y="4087739"/>
            <a:ext cx="360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1353" name="Google Shape;1353;p91"/>
          <p:cNvSpPr txBox="1"/>
          <p:nvPr>
            <p:ph type="body" idx="1"/>
          </p:nvPr>
        </p:nvSpPr>
        <p:spPr>
          <a:xfrm>
            <a:off x="5516475" y="1208450"/>
            <a:ext cx="21906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original expectation:</a:t>
            </a:r>
            <a:endParaRPr sz="1600"/>
          </a:p>
        </p:txBody>
      </p:sp>
      <p:sp>
        <p:nvSpPr>
          <p:cNvPr id="1354" name="Google Shape;1354;p91"/>
          <p:cNvSpPr txBox="1"/>
          <p:nvPr>
            <p:ph type="body" idx="1"/>
          </p:nvPr>
        </p:nvSpPr>
        <p:spPr>
          <a:xfrm>
            <a:off x="5516475" y="2732450"/>
            <a:ext cx="21906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new expectation:</a:t>
            </a:r>
            <a:endParaRPr sz="1600"/>
          </a:p>
        </p:txBody>
      </p:sp>
      <p:sp>
        <p:nvSpPr>
          <p:cNvPr id="1355" name="Google Shape;1355;p91"/>
          <p:cNvSpPr txBox="1"/>
          <p:nvPr>
            <p:ph type="body" idx="1"/>
          </p:nvPr>
        </p:nvSpPr>
        <p:spPr>
          <a:xfrm>
            <a:off x="5516475" y="4256450"/>
            <a:ext cx="21906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difference:</a:t>
            </a:r>
            <a:endParaRPr sz="1600"/>
          </a:p>
        </p:txBody>
      </p:sp>
      <p:sp>
        <p:nvSpPr>
          <p:cNvPr id="1356" name="Google Shape;1356;p91"/>
          <p:cNvSpPr/>
          <p:nvPr/>
        </p:nvSpPr>
        <p:spPr>
          <a:xfrm>
            <a:off x="1986718" y="4018414"/>
            <a:ext cx="906000" cy="6537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91"/>
          <p:cNvSpPr/>
          <p:nvPr/>
        </p:nvSpPr>
        <p:spPr>
          <a:xfrm>
            <a:off x="2901118" y="4018414"/>
            <a:ext cx="906000" cy="6537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91"/>
          <p:cNvSpPr/>
          <p:nvPr/>
        </p:nvSpPr>
        <p:spPr>
          <a:xfrm>
            <a:off x="3815527" y="4018425"/>
            <a:ext cx="1217700" cy="6537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62" name="Shape 1362"/>
        <p:cNvGrpSpPr/>
        <p:nvPr/>
      </p:nvGrpSpPr>
      <p:grpSpPr>
        <a:xfrm>
          <a:off x="0" y="0"/>
          <a:ext cx="0" cy="0"/>
        </a:xfrm>
      </p:grpSpPr>
      <p:pic>
        <p:nvPicPr>
          <p:cNvPr id="1363" name="Google Shape;1363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143550" y="2333364"/>
            <a:ext cx="2862925" cy="1887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pic>
        <p:nvPicPr>
          <p:cNvPr id="1365" name="Google Shape;1365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99824" y="3030911"/>
            <a:ext cx="618169" cy="69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0873" y="4091430"/>
            <a:ext cx="618174" cy="6857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67" name="Google Shape;1367;p92"/>
          <p:cNvGraphicFramePr>
            <a:graphicFrameLocks noGrp="1"/>
          </p:cNvGraphicFramePr>
          <p:nvPr/>
        </p:nvGraphicFramePr>
        <p:xfrm>
          <a:off x="364650" y="200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1607350"/>
                <a:gridCol w="936975"/>
                <a:gridCol w="910050"/>
                <a:gridCol w="1214150"/>
              </a:tblGrid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original version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version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finding 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expectation per 100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expectation per 1000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68" name="Google Shape;1368;p92"/>
          <p:cNvSpPr txBox="1"/>
          <p:nvPr>
            <p:ph type="body" idx="1"/>
          </p:nvPr>
        </p:nvSpPr>
        <p:spPr>
          <a:xfrm>
            <a:off x="2050444" y="4087739"/>
            <a:ext cx="360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endParaRPr sz="1800"/>
          </a:p>
        </p:txBody>
      </p:sp>
      <p:sp>
        <p:nvSpPr>
          <p:cNvPr id="1369" name="Google Shape;1369;p92"/>
          <p:cNvSpPr txBox="1"/>
          <p:nvPr>
            <p:ph type="body" idx="1"/>
          </p:nvPr>
        </p:nvSpPr>
        <p:spPr>
          <a:xfrm>
            <a:off x="3002944" y="4087739"/>
            <a:ext cx="360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15</a:t>
            </a:r>
            <a:endParaRPr sz="1800"/>
          </a:p>
        </p:txBody>
      </p:sp>
      <p:sp>
        <p:nvSpPr>
          <p:cNvPr id="1370" name="Google Shape;1370;p92"/>
          <p:cNvSpPr txBox="1"/>
          <p:nvPr>
            <p:ph type="body" idx="1"/>
          </p:nvPr>
        </p:nvSpPr>
        <p:spPr>
          <a:xfrm>
            <a:off x="3917344" y="4087739"/>
            <a:ext cx="360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1371" name="Google Shape;1371;p92"/>
          <p:cNvSpPr txBox="1"/>
          <p:nvPr>
            <p:ph type="body" idx="1"/>
          </p:nvPr>
        </p:nvSpPr>
        <p:spPr>
          <a:xfrm>
            <a:off x="5252404" y="2445500"/>
            <a:ext cx="26895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When you said the probability had increased by 50%, it first sounded like players were going to find </a:t>
            </a:r>
            <a:r>
              <a:rPr lang="en-GB" sz="1600">
                <a:solidFill>
                  <a:schemeClr val="accent5"/>
                </a:solidFill>
              </a:rPr>
              <a:t>loads</a:t>
            </a:r>
            <a:r>
              <a:rPr lang="en-GB" sz="1600"/>
              <a:t> more gems.</a:t>
            </a:r>
            <a:endParaRPr sz="1600"/>
          </a:p>
        </p:txBody>
      </p:sp>
      <p:sp>
        <p:nvSpPr>
          <p:cNvPr id="1372" name="Google Shape;1372;p92"/>
          <p:cNvSpPr txBox="1"/>
          <p:nvPr>
            <p:ph type="body" idx="1"/>
          </p:nvPr>
        </p:nvSpPr>
        <p:spPr>
          <a:xfrm>
            <a:off x="324000" y="759300"/>
            <a:ext cx="8496000" cy="39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They compare the number of gems that can be expected from </a:t>
            </a:r>
            <a:r>
              <a:rPr lang="en-GB" sz="1800">
                <a:solidFill>
                  <a:schemeClr val="accent5"/>
                </a:solidFill>
              </a:rPr>
              <a:t>1000 turns</a:t>
            </a:r>
            <a:r>
              <a:rPr lang="en-GB" sz="1800"/>
              <a:t>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6" name="Shape 1376"/>
        <p:cNvGrpSpPr/>
        <p:nvPr/>
      </p:nvGrpSpPr>
      <p:grpSpPr>
        <a:xfrm>
          <a:off x="0" y="0"/>
          <a:ext cx="0" cy="0"/>
        </a:xfrm>
      </p:grpSpPr>
      <p:pic>
        <p:nvPicPr>
          <p:cNvPr id="1377" name="Google Shape;137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143550" y="2333364"/>
            <a:ext cx="2862925" cy="1887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pic>
        <p:nvPicPr>
          <p:cNvPr id="1379" name="Google Shape;1379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99824" y="3030911"/>
            <a:ext cx="618169" cy="69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0873" y="4091430"/>
            <a:ext cx="618174" cy="6857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1" name="Google Shape;1381;p93"/>
          <p:cNvGraphicFramePr>
            <a:graphicFrameLocks noGrp="1"/>
          </p:cNvGraphicFramePr>
          <p:nvPr/>
        </p:nvGraphicFramePr>
        <p:xfrm>
          <a:off x="364650" y="200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1607350"/>
                <a:gridCol w="936975"/>
                <a:gridCol w="910050"/>
                <a:gridCol w="1214150"/>
              </a:tblGrid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original version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version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finding 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expectation per 100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expectation per 1000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82" name="Google Shape;1382;p93"/>
          <p:cNvSpPr txBox="1"/>
          <p:nvPr>
            <p:ph type="body" idx="1"/>
          </p:nvPr>
        </p:nvSpPr>
        <p:spPr>
          <a:xfrm>
            <a:off x="2050444" y="4087739"/>
            <a:ext cx="360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endParaRPr sz="1800"/>
          </a:p>
        </p:txBody>
      </p:sp>
      <p:sp>
        <p:nvSpPr>
          <p:cNvPr id="1383" name="Google Shape;1383;p93"/>
          <p:cNvSpPr txBox="1"/>
          <p:nvPr>
            <p:ph type="body" idx="1"/>
          </p:nvPr>
        </p:nvSpPr>
        <p:spPr>
          <a:xfrm>
            <a:off x="3002944" y="4087739"/>
            <a:ext cx="360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15</a:t>
            </a:r>
            <a:endParaRPr sz="1800"/>
          </a:p>
        </p:txBody>
      </p:sp>
      <p:sp>
        <p:nvSpPr>
          <p:cNvPr id="1384" name="Google Shape;1384;p93"/>
          <p:cNvSpPr txBox="1"/>
          <p:nvPr>
            <p:ph type="body" idx="1"/>
          </p:nvPr>
        </p:nvSpPr>
        <p:spPr>
          <a:xfrm>
            <a:off x="3917344" y="4087739"/>
            <a:ext cx="360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1385" name="Google Shape;1385;p93"/>
          <p:cNvSpPr txBox="1"/>
          <p:nvPr>
            <p:ph type="body" idx="1"/>
          </p:nvPr>
        </p:nvSpPr>
        <p:spPr>
          <a:xfrm>
            <a:off x="5181650" y="2396525"/>
            <a:ext cx="27897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But even after </a:t>
            </a:r>
            <a:r>
              <a:rPr lang="en-GB" sz="1600">
                <a:solidFill>
                  <a:schemeClr val="accent5"/>
                </a:solidFill>
              </a:rPr>
              <a:t>1000 turns</a:t>
            </a:r>
            <a:r>
              <a:rPr lang="en-GB" sz="1600"/>
              <a:t>, players can only expect to find </a:t>
            </a:r>
            <a:r>
              <a:rPr lang="en-GB" sz="1600">
                <a:solidFill>
                  <a:schemeClr val="accent5"/>
                </a:solidFill>
              </a:rPr>
              <a:t>5 extra gems</a:t>
            </a:r>
            <a:r>
              <a:rPr lang="en-GB" sz="1600"/>
              <a:t> with the new version of the game.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That’s not very many gems.</a:t>
            </a:r>
            <a:endParaRPr sz="1600"/>
          </a:p>
        </p:txBody>
      </p:sp>
      <p:sp>
        <p:nvSpPr>
          <p:cNvPr id="1386" name="Google Shape;1386;p93"/>
          <p:cNvSpPr txBox="1"/>
          <p:nvPr>
            <p:ph type="body" idx="1"/>
          </p:nvPr>
        </p:nvSpPr>
        <p:spPr>
          <a:xfrm>
            <a:off x="324000" y="759300"/>
            <a:ext cx="8496000" cy="39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They compare the number of gems that can be expected from </a:t>
            </a:r>
            <a:r>
              <a:rPr lang="en-GB" sz="1800">
                <a:solidFill>
                  <a:schemeClr val="accent5"/>
                </a:solidFill>
              </a:rPr>
              <a:t>1000 turns</a:t>
            </a:r>
            <a:r>
              <a:rPr lang="en-GB" sz="1800"/>
              <a:t>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90" name="Shape 1390"/>
        <p:cNvGrpSpPr/>
        <p:nvPr/>
      </p:nvGrpSpPr>
      <p:grpSpPr>
        <a:xfrm>
          <a:off x="0" y="0"/>
          <a:ext cx="0" cy="0"/>
        </a:xfrm>
      </p:grpSpPr>
      <p:sp>
        <p:nvSpPr>
          <p:cNvPr id="1391" name="Google Shape;139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pic>
        <p:nvPicPr>
          <p:cNvPr id="1392" name="Google Shape;139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99824" y="3030911"/>
            <a:ext cx="618169" cy="69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0873" y="4091430"/>
            <a:ext cx="618174" cy="6857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94" name="Google Shape;1394;p94"/>
          <p:cNvGraphicFramePr>
            <a:graphicFrameLocks noGrp="1"/>
          </p:cNvGraphicFramePr>
          <p:nvPr/>
        </p:nvGraphicFramePr>
        <p:xfrm>
          <a:off x="364650" y="200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1607350"/>
                <a:gridCol w="936975"/>
                <a:gridCol w="910050"/>
                <a:gridCol w="1214150"/>
              </a:tblGrid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original version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version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finding 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expectation per 100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95" name="Google Shape;1395;p94"/>
          <p:cNvSpPr txBox="1"/>
          <p:nvPr>
            <p:ph type="body" idx="1"/>
          </p:nvPr>
        </p:nvSpPr>
        <p:spPr>
          <a:xfrm>
            <a:off x="3917344" y="4087739"/>
            <a:ext cx="360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endParaRPr sz="1800"/>
          </a:p>
        </p:txBody>
      </p:sp>
      <p:sp>
        <p:nvSpPr>
          <p:cNvPr id="1396" name="Google Shape;1396;p94"/>
          <p:cNvSpPr txBox="1"/>
          <p:nvPr>
            <p:ph type="body" idx="1"/>
          </p:nvPr>
        </p:nvSpPr>
        <p:spPr>
          <a:xfrm>
            <a:off x="324000" y="759300"/>
            <a:ext cx="8496000" cy="64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They consider the number of turns required to expect a </a:t>
            </a:r>
            <a:r>
              <a:rPr lang="en-GB" sz="1800">
                <a:solidFill>
                  <a:schemeClr val="accent5"/>
                </a:solidFill>
              </a:rPr>
              <a:t>difference of 1</a:t>
            </a:r>
            <a:r>
              <a:rPr lang="en-GB" sz="1800"/>
              <a:t> extra gem between the two versions of the game.</a:t>
            </a:r>
            <a:endParaRPr sz="2000"/>
          </a:p>
        </p:txBody>
      </p:sp>
      <p:sp>
        <p:nvSpPr>
          <p:cNvPr id="1397" name="Google Shape;1397;p94"/>
          <p:cNvSpPr txBox="1"/>
          <p:nvPr>
            <p:ph type="body" idx="1"/>
          </p:nvPr>
        </p:nvSpPr>
        <p:spPr>
          <a:xfrm>
            <a:off x="5364075" y="2275250"/>
            <a:ext cx="19293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1% of 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600"/>
              <a:t>= 0.01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8" name="Google Shape;1398;p94"/>
          <p:cNvSpPr txBox="1"/>
          <p:nvPr>
            <p:ph type="body" idx="1"/>
          </p:nvPr>
        </p:nvSpPr>
        <p:spPr>
          <a:xfrm>
            <a:off x="5374948" y="3951650"/>
            <a:ext cx="18750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0.015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/>
              <a:t> − 0.01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/>
              <a:t> = 1</a:t>
            </a:r>
            <a:endParaRPr sz="1600"/>
          </a:p>
        </p:txBody>
      </p:sp>
      <p:sp>
        <p:nvSpPr>
          <p:cNvPr id="1399" name="Google Shape;1399;p94"/>
          <p:cNvSpPr txBox="1"/>
          <p:nvPr>
            <p:ph type="body" idx="1"/>
          </p:nvPr>
        </p:nvSpPr>
        <p:spPr>
          <a:xfrm>
            <a:off x="5364075" y="1970450"/>
            <a:ext cx="21906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original expectation:</a:t>
            </a:r>
            <a:endParaRPr sz="1600"/>
          </a:p>
        </p:txBody>
      </p:sp>
      <p:sp>
        <p:nvSpPr>
          <p:cNvPr id="1400" name="Google Shape;1400;p94"/>
          <p:cNvSpPr txBox="1"/>
          <p:nvPr>
            <p:ph type="body" idx="1"/>
          </p:nvPr>
        </p:nvSpPr>
        <p:spPr>
          <a:xfrm>
            <a:off x="5364075" y="2808650"/>
            <a:ext cx="21906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new expectation:</a:t>
            </a:r>
            <a:endParaRPr sz="1600"/>
          </a:p>
        </p:txBody>
      </p:sp>
      <p:sp>
        <p:nvSpPr>
          <p:cNvPr id="1401" name="Google Shape;1401;p94"/>
          <p:cNvSpPr txBox="1"/>
          <p:nvPr>
            <p:ph type="body" idx="1"/>
          </p:nvPr>
        </p:nvSpPr>
        <p:spPr>
          <a:xfrm>
            <a:off x="5364075" y="3646850"/>
            <a:ext cx="21906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difference:</a:t>
            </a:r>
            <a:endParaRPr sz="1600"/>
          </a:p>
        </p:txBody>
      </p:sp>
      <p:sp>
        <p:nvSpPr>
          <p:cNvPr id="1402" name="Google Shape;1402;p94"/>
          <p:cNvSpPr txBox="1"/>
          <p:nvPr>
            <p:ph type="body" idx="1"/>
          </p:nvPr>
        </p:nvSpPr>
        <p:spPr>
          <a:xfrm>
            <a:off x="5364075" y="3113450"/>
            <a:ext cx="19293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1.5% of 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600"/>
              <a:t>= 0.015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3" name="Google Shape;1403;p94"/>
          <p:cNvSpPr txBox="1"/>
          <p:nvPr>
            <p:ph type="body" idx="1"/>
          </p:nvPr>
        </p:nvSpPr>
        <p:spPr>
          <a:xfrm>
            <a:off x="6087963" y="4256450"/>
            <a:ext cx="10095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0.005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/>
              <a:t> = 1</a:t>
            </a:r>
            <a:endParaRPr sz="1600"/>
          </a:p>
        </p:txBody>
      </p:sp>
      <p:sp>
        <p:nvSpPr>
          <p:cNvPr id="1404" name="Google Shape;1404;p94"/>
          <p:cNvSpPr txBox="1"/>
          <p:nvPr>
            <p:ph type="body" idx="1"/>
          </p:nvPr>
        </p:nvSpPr>
        <p:spPr>
          <a:xfrm>
            <a:off x="6621363" y="4561250"/>
            <a:ext cx="10095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/>
              <a:t> = 200</a:t>
            </a:r>
            <a:endParaRPr sz="1600"/>
          </a:p>
        </p:txBody>
      </p:sp>
      <p:sp>
        <p:nvSpPr>
          <p:cNvPr id="1405" name="Google Shape;1405;p94"/>
          <p:cNvSpPr txBox="1"/>
          <p:nvPr>
            <p:ph type="body" idx="1"/>
          </p:nvPr>
        </p:nvSpPr>
        <p:spPr>
          <a:xfrm>
            <a:off x="2044150" y="4080171"/>
            <a:ext cx="5901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0.01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6" name="Google Shape;1406;p94"/>
          <p:cNvSpPr txBox="1"/>
          <p:nvPr>
            <p:ph type="body" idx="1"/>
          </p:nvPr>
        </p:nvSpPr>
        <p:spPr>
          <a:xfrm>
            <a:off x="3018426" y="4080175"/>
            <a:ext cx="7101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0.015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7" name="Google Shape;1407;p94"/>
          <p:cNvSpPr txBox="1"/>
          <p:nvPr>
            <p:ph type="body" idx="1"/>
          </p:nvPr>
        </p:nvSpPr>
        <p:spPr>
          <a:xfrm>
            <a:off x="324000" y="1480375"/>
            <a:ext cx="8496000" cy="3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is the value of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in the table?</a:t>
            </a:r>
            <a:endParaRPr sz="2000"/>
          </a:p>
        </p:txBody>
      </p:sp>
      <p:sp>
        <p:nvSpPr>
          <p:cNvPr id="1408" name="Google Shape;1408;p94"/>
          <p:cNvSpPr/>
          <p:nvPr/>
        </p:nvSpPr>
        <p:spPr>
          <a:xfrm>
            <a:off x="1986725" y="4018425"/>
            <a:ext cx="906000" cy="64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94"/>
          <p:cNvSpPr/>
          <p:nvPr/>
        </p:nvSpPr>
        <p:spPr>
          <a:xfrm>
            <a:off x="2901121" y="4018425"/>
            <a:ext cx="906000" cy="64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94"/>
          <p:cNvSpPr/>
          <p:nvPr/>
        </p:nvSpPr>
        <p:spPr>
          <a:xfrm>
            <a:off x="3815527" y="4018436"/>
            <a:ext cx="1217700" cy="6450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94"/>
          <p:cNvSpPr txBox="1"/>
          <p:nvPr>
            <p:ph type="body" idx="1"/>
          </p:nvPr>
        </p:nvSpPr>
        <p:spPr>
          <a:xfrm>
            <a:off x="454625" y="4076836"/>
            <a:ext cx="1336200" cy="52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expectation per 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/>
              <a:t> turns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15" name="Shape 1415"/>
        <p:cNvGrpSpPr/>
        <p:nvPr/>
      </p:nvGrpSpPr>
      <p:grpSpPr>
        <a:xfrm>
          <a:off x="0" y="0"/>
          <a:ext cx="0" cy="0"/>
        </a:xfrm>
      </p:grpSpPr>
      <p:pic>
        <p:nvPicPr>
          <p:cNvPr id="1416" name="Google Shape;141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171275" y="1471596"/>
            <a:ext cx="3247775" cy="181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pic>
        <p:nvPicPr>
          <p:cNvPr id="1418" name="Google Shape;1418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99824" y="3030911"/>
            <a:ext cx="618169" cy="69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9" name="Google Shape;1419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0873" y="4091430"/>
            <a:ext cx="618174" cy="6857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0" name="Google Shape;1420;p95"/>
          <p:cNvGraphicFramePr>
            <a:graphicFrameLocks noGrp="1"/>
          </p:cNvGraphicFramePr>
          <p:nvPr/>
        </p:nvGraphicFramePr>
        <p:xfrm>
          <a:off x="364650" y="200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1607350"/>
                <a:gridCol w="936975"/>
                <a:gridCol w="910050"/>
                <a:gridCol w="1214150"/>
              </a:tblGrid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original version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version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finding 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expectation per 100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21" name="Google Shape;1421;p95"/>
          <p:cNvSpPr txBox="1"/>
          <p:nvPr>
            <p:ph type="body" idx="1"/>
          </p:nvPr>
        </p:nvSpPr>
        <p:spPr>
          <a:xfrm>
            <a:off x="3917344" y="4087739"/>
            <a:ext cx="3609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endParaRPr sz="1800"/>
          </a:p>
        </p:txBody>
      </p:sp>
      <p:sp>
        <p:nvSpPr>
          <p:cNvPr id="1422" name="Google Shape;1422;p95"/>
          <p:cNvSpPr txBox="1"/>
          <p:nvPr>
            <p:ph type="body" idx="1"/>
          </p:nvPr>
        </p:nvSpPr>
        <p:spPr>
          <a:xfrm>
            <a:off x="324000" y="759300"/>
            <a:ext cx="8496000" cy="64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They consider the number of turns required to expect a difference of 1 extra gem between the two versions of the game.</a:t>
            </a:r>
            <a:endParaRPr sz="2000"/>
          </a:p>
        </p:txBody>
      </p:sp>
      <p:sp>
        <p:nvSpPr>
          <p:cNvPr id="1423" name="Google Shape;1423;p95"/>
          <p:cNvSpPr txBox="1"/>
          <p:nvPr>
            <p:ph type="body" idx="1"/>
          </p:nvPr>
        </p:nvSpPr>
        <p:spPr>
          <a:xfrm>
            <a:off x="5374948" y="3951650"/>
            <a:ext cx="18750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0.015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/>
              <a:t> − 0.01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/>
              <a:t> = 1</a:t>
            </a:r>
            <a:endParaRPr sz="1600"/>
          </a:p>
        </p:txBody>
      </p:sp>
      <p:sp>
        <p:nvSpPr>
          <p:cNvPr id="1424" name="Google Shape;1424;p95"/>
          <p:cNvSpPr txBox="1"/>
          <p:nvPr>
            <p:ph type="body" idx="1"/>
          </p:nvPr>
        </p:nvSpPr>
        <p:spPr>
          <a:xfrm>
            <a:off x="5364075" y="3646850"/>
            <a:ext cx="21906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difference:</a:t>
            </a:r>
            <a:endParaRPr sz="1600"/>
          </a:p>
        </p:txBody>
      </p:sp>
      <p:sp>
        <p:nvSpPr>
          <p:cNvPr id="1425" name="Google Shape;1425;p95"/>
          <p:cNvSpPr txBox="1"/>
          <p:nvPr>
            <p:ph type="body" idx="1"/>
          </p:nvPr>
        </p:nvSpPr>
        <p:spPr>
          <a:xfrm>
            <a:off x="6087963" y="4256450"/>
            <a:ext cx="10095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0.005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/>
              <a:t> = 1</a:t>
            </a:r>
            <a:endParaRPr sz="1600"/>
          </a:p>
        </p:txBody>
      </p:sp>
      <p:sp>
        <p:nvSpPr>
          <p:cNvPr id="1426" name="Google Shape;1426;p95"/>
          <p:cNvSpPr txBox="1"/>
          <p:nvPr>
            <p:ph type="body" idx="1"/>
          </p:nvPr>
        </p:nvSpPr>
        <p:spPr>
          <a:xfrm>
            <a:off x="6621363" y="4561250"/>
            <a:ext cx="10095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/>
              <a:t> = 200</a:t>
            </a:r>
            <a:endParaRPr sz="1600"/>
          </a:p>
        </p:txBody>
      </p:sp>
      <p:sp>
        <p:nvSpPr>
          <p:cNvPr id="1427" name="Google Shape;1427;p95"/>
          <p:cNvSpPr txBox="1"/>
          <p:nvPr>
            <p:ph type="body" idx="1"/>
          </p:nvPr>
        </p:nvSpPr>
        <p:spPr>
          <a:xfrm>
            <a:off x="2044150" y="4080171"/>
            <a:ext cx="5901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0.01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8" name="Google Shape;1428;p95"/>
          <p:cNvSpPr txBox="1"/>
          <p:nvPr>
            <p:ph type="body" idx="1"/>
          </p:nvPr>
        </p:nvSpPr>
        <p:spPr>
          <a:xfrm>
            <a:off x="3018426" y="4080175"/>
            <a:ext cx="710100" cy="26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0.015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9" name="Google Shape;1429;p95"/>
          <p:cNvSpPr txBox="1"/>
          <p:nvPr>
            <p:ph type="body" idx="1"/>
          </p:nvPr>
        </p:nvSpPr>
        <p:spPr>
          <a:xfrm>
            <a:off x="324000" y="1480375"/>
            <a:ext cx="8496000" cy="3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is the value of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in the table?</a:t>
            </a:r>
            <a:endParaRPr sz="2000"/>
          </a:p>
        </p:txBody>
      </p:sp>
      <p:sp>
        <p:nvSpPr>
          <p:cNvPr id="1430" name="Google Shape;1430;p95"/>
          <p:cNvSpPr txBox="1"/>
          <p:nvPr>
            <p:ph type="body" idx="1"/>
          </p:nvPr>
        </p:nvSpPr>
        <p:spPr>
          <a:xfrm>
            <a:off x="5285089" y="1560646"/>
            <a:ext cx="3058800" cy="138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That means we would only expect to observe a difference between the two versions of the game after a player has taken </a:t>
            </a:r>
            <a:r>
              <a:rPr lang="en-GB" sz="1600">
                <a:solidFill>
                  <a:schemeClr val="accent5"/>
                </a:solidFill>
              </a:rPr>
              <a:t>200 turns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1431" name="Google Shape;1431;p95"/>
          <p:cNvSpPr txBox="1"/>
          <p:nvPr>
            <p:ph type="body" idx="1"/>
          </p:nvPr>
        </p:nvSpPr>
        <p:spPr>
          <a:xfrm>
            <a:off x="454625" y="4076836"/>
            <a:ext cx="1336200" cy="52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expectation per 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/>
              <a:t> turns</a:t>
            </a:r>
            <a:endParaRPr sz="1600"/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35" name="Shape 1435"/>
        <p:cNvGrpSpPr/>
        <p:nvPr/>
      </p:nvGrpSpPr>
      <p:grpSpPr>
        <a:xfrm>
          <a:off x="0" y="0"/>
          <a:ext cx="0" cy="0"/>
        </a:xfrm>
      </p:grpSpPr>
      <p:sp>
        <p:nvSpPr>
          <p:cNvPr id="1436" name="Google Shape;1436;p96"/>
          <p:cNvSpPr txBox="1"/>
          <p:nvPr>
            <p:ph type="body" idx="1"/>
          </p:nvPr>
        </p:nvSpPr>
        <p:spPr>
          <a:xfrm>
            <a:off x="324000" y="759300"/>
            <a:ext cx="8237700" cy="122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probability of finding a gem has increased by 40%, from the original game to the new game.</a:t>
            </a:r>
            <a:br>
              <a:rPr lang="en-GB" sz="2000"/>
            </a:br>
            <a:endParaRPr sz="6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What is the probability of finding a gem in the new game?</a:t>
            </a:r>
            <a:endParaRPr sz="2400"/>
          </a:p>
        </p:txBody>
      </p:sp>
      <p:sp>
        <p:nvSpPr>
          <p:cNvPr id="1437" name="Google Shape;1437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grpSp>
        <p:nvGrpSpPr>
          <p:cNvPr id="1438" name="Google Shape;1438;p96"/>
          <p:cNvGrpSpPr/>
          <p:nvPr/>
        </p:nvGrpSpPr>
        <p:grpSpPr>
          <a:xfrm>
            <a:off x="339041" y="2120725"/>
            <a:ext cx="457200" cy="457200"/>
            <a:chOff x="1020916" y="1442088"/>
            <a:chExt cx="457200" cy="457200"/>
          </a:xfrm>
        </p:grpSpPr>
        <p:pic>
          <p:nvPicPr>
            <p:cNvPr id="1439" name="Google Shape;1439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0" name="Google Shape;1440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1" name="Google Shape;1441;p96"/>
          <p:cNvGrpSpPr/>
          <p:nvPr/>
        </p:nvGrpSpPr>
        <p:grpSpPr>
          <a:xfrm>
            <a:off x="326127" y="2810154"/>
            <a:ext cx="457200" cy="457200"/>
            <a:chOff x="1020916" y="1442088"/>
            <a:chExt cx="457200" cy="457200"/>
          </a:xfrm>
        </p:grpSpPr>
        <p:pic>
          <p:nvPicPr>
            <p:cNvPr id="1442" name="Google Shape;1442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3" name="Google Shape;144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4" name="Google Shape;1444;p96"/>
          <p:cNvGrpSpPr/>
          <p:nvPr/>
        </p:nvGrpSpPr>
        <p:grpSpPr>
          <a:xfrm>
            <a:off x="324098" y="3499582"/>
            <a:ext cx="457200" cy="457200"/>
            <a:chOff x="1020916" y="1442088"/>
            <a:chExt cx="457200" cy="457200"/>
          </a:xfrm>
        </p:grpSpPr>
        <p:pic>
          <p:nvPicPr>
            <p:cNvPr id="1445" name="Google Shape;1445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6" name="Google Shape;144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7" name="Google Shape;1447;p96"/>
          <p:cNvGrpSpPr/>
          <p:nvPr/>
        </p:nvGrpSpPr>
        <p:grpSpPr>
          <a:xfrm>
            <a:off x="328848" y="4189011"/>
            <a:ext cx="457200" cy="457200"/>
            <a:chOff x="1020916" y="1442088"/>
            <a:chExt cx="457200" cy="457200"/>
          </a:xfrm>
        </p:grpSpPr>
        <p:pic>
          <p:nvPicPr>
            <p:cNvPr id="1448" name="Google Shape;1448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9" name="Google Shape;144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50" name="Google Shape;1450;p96"/>
          <p:cNvSpPr txBox="1"/>
          <p:nvPr>
            <p:ph type="body" idx="1"/>
          </p:nvPr>
        </p:nvSpPr>
        <p:spPr>
          <a:xfrm>
            <a:off x="1004350" y="2196225"/>
            <a:ext cx="715800" cy="3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5.4%</a:t>
            </a:r>
            <a:endParaRPr sz="2400"/>
          </a:p>
        </p:txBody>
      </p:sp>
      <p:sp>
        <p:nvSpPr>
          <p:cNvPr id="1451" name="Google Shape;1451;p96"/>
          <p:cNvSpPr txBox="1"/>
          <p:nvPr>
            <p:ph type="body" idx="1"/>
          </p:nvPr>
        </p:nvSpPr>
        <p:spPr>
          <a:xfrm>
            <a:off x="1004350" y="2882025"/>
            <a:ext cx="715800" cy="3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7%</a:t>
            </a:r>
            <a:endParaRPr sz="2400"/>
          </a:p>
        </p:txBody>
      </p:sp>
      <p:sp>
        <p:nvSpPr>
          <p:cNvPr id="1452" name="Google Shape;1452;p96"/>
          <p:cNvSpPr txBox="1"/>
          <p:nvPr>
            <p:ph type="body" idx="1"/>
          </p:nvPr>
        </p:nvSpPr>
        <p:spPr>
          <a:xfrm>
            <a:off x="1004350" y="3556939"/>
            <a:ext cx="715800" cy="3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40%</a:t>
            </a:r>
            <a:endParaRPr sz="2400"/>
          </a:p>
        </p:txBody>
      </p:sp>
      <p:sp>
        <p:nvSpPr>
          <p:cNvPr id="1453" name="Google Shape;1453;p96"/>
          <p:cNvSpPr txBox="1"/>
          <p:nvPr>
            <p:ph type="body" idx="1"/>
          </p:nvPr>
        </p:nvSpPr>
        <p:spPr>
          <a:xfrm>
            <a:off x="1004350" y="4242739"/>
            <a:ext cx="715800" cy="32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45%</a:t>
            </a:r>
            <a:endParaRPr sz="2400"/>
          </a:p>
        </p:txBody>
      </p:sp>
      <p:graphicFrame>
        <p:nvGraphicFramePr>
          <p:cNvPr id="1454" name="Google Shape;1454;p96"/>
          <p:cNvGraphicFramePr>
            <a:graphicFrameLocks noGrp="1"/>
          </p:cNvGraphicFramePr>
          <p:nvPr/>
        </p:nvGraphicFramePr>
        <p:xfrm>
          <a:off x="3793650" y="22023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1607350"/>
                <a:gridCol w="936975"/>
                <a:gridCol w="910050"/>
              </a:tblGrid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original game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game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finding 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455" name="Google Shape;1455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0983" y="285112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96"/>
          <p:cNvSpPr txBox="1"/>
          <p:nvPr>
            <p:ph type="body" idx="1"/>
          </p:nvPr>
        </p:nvSpPr>
        <p:spPr>
          <a:xfrm>
            <a:off x="4438800" y="3883500"/>
            <a:ext cx="26805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0.05 × 1.4 = 0.07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60" name="Shape 1460"/>
        <p:cNvGrpSpPr/>
        <p:nvPr/>
      </p:nvGrpSpPr>
      <p:grpSpPr>
        <a:xfrm>
          <a:off x="0" y="0"/>
          <a:ext cx="0" cy="0"/>
        </a:xfrm>
      </p:grpSpPr>
      <p:sp>
        <p:nvSpPr>
          <p:cNvPr id="1461" name="Google Shape;1461;p97"/>
          <p:cNvSpPr txBox="1"/>
          <p:nvPr>
            <p:ph type="body" idx="1"/>
          </p:nvPr>
        </p:nvSpPr>
        <p:spPr>
          <a:xfrm>
            <a:off x="324000" y="759300"/>
            <a:ext cx="8237700" cy="122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2000"/>
              <a:t>is the difference between the number of gems that can be expected after 100 turns with each game.</a:t>
            </a:r>
            <a:endParaRPr sz="20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6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What is the value of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/>
              <a:t>? </a:t>
            </a:r>
            <a:endParaRPr sz="2400"/>
          </a:p>
        </p:txBody>
      </p:sp>
      <p:sp>
        <p:nvSpPr>
          <p:cNvPr id="1462" name="Google Shape;146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graphicFrame>
        <p:nvGraphicFramePr>
          <p:cNvPr id="1463" name="Google Shape;1463;p97"/>
          <p:cNvGraphicFramePr>
            <a:graphicFrameLocks noGrp="1"/>
          </p:cNvGraphicFramePr>
          <p:nvPr/>
        </p:nvGraphicFramePr>
        <p:xfrm>
          <a:off x="669450" y="207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1607350"/>
                <a:gridCol w="936975"/>
                <a:gridCol w="910050"/>
                <a:gridCol w="1214150"/>
              </a:tblGrid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original game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game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finding 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expectation per 100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20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64" name="Google Shape;1464;p97"/>
          <p:cNvSpPr txBox="1"/>
          <p:nvPr>
            <p:ph type="body" idx="1"/>
          </p:nvPr>
        </p:nvSpPr>
        <p:spPr>
          <a:xfrm>
            <a:off x="4204754" y="2822146"/>
            <a:ext cx="4380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2%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5" name="Google Shape;1465;p97"/>
          <p:cNvSpPr txBox="1"/>
          <p:nvPr>
            <p:ph type="body" idx="1"/>
          </p:nvPr>
        </p:nvSpPr>
        <p:spPr>
          <a:xfrm>
            <a:off x="2375954" y="3507946"/>
            <a:ext cx="4380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6" name="Google Shape;1466;p97"/>
          <p:cNvSpPr txBox="1"/>
          <p:nvPr>
            <p:ph type="body" idx="1"/>
          </p:nvPr>
        </p:nvSpPr>
        <p:spPr>
          <a:xfrm>
            <a:off x="3290354" y="3507946"/>
            <a:ext cx="4380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7" name="Google Shape;1467;p97"/>
          <p:cNvSpPr txBox="1"/>
          <p:nvPr>
            <p:ph type="body" idx="1"/>
          </p:nvPr>
        </p:nvSpPr>
        <p:spPr>
          <a:xfrm>
            <a:off x="4433354" y="3507946"/>
            <a:ext cx="4380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2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8" name="Google Shape;1468;p97"/>
          <p:cNvSpPr txBox="1"/>
          <p:nvPr>
            <p:ph type="body" idx="1"/>
          </p:nvPr>
        </p:nvSpPr>
        <p:spPr>
          <a:xfrm>
            <a:off x="6273101" y="2656450"/>
            <a:ext cx="12762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7 − 5 = 2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9" name="Google Shape;1469;p97"/>
          <p:cNvSpPr txBox="1"/>
          <p:nvPr>
            <p:ph type="body" idx="1"/>
          </p:nvPr>
        </p:nvSpPr>
        <p:spPr>
          <a:xfrm>
            <a:off x="6670476" y="3128718"/>
            <a:ext cx="2880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0" name="Google Shape;1470;p97"/>
          <p:cNvSpPr txBox="1"/>
          <p:nvPr>
            <p:ph type="body" idx="1"/>
          </p:nvPr>
        </p:nvSpPr>
        <p:spPr>
          <a:xfrm>
            <a:off x="5990075" y="3780000"/>
            <a:ext cx="17823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2% of 100 = 2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74" name="Shape 1474"/>
        <p:cNvGrpSpPr/>
        <p:nvPr/>
      </p:nvGrpSpPr>
      <p:grpSpPr>
        <a:xfrm>
          <a:off x="0" y="0"/>
          <a:ext cx="0" cy="0"/>
        </a:xfrm>
      </p:grpSpPr>
      <p:sp>
        <p:nvSpPr>
          <p:cNvPr id="1475" name="Google Shape;1475;p98"/>
          <p:cNvSpPr txBox="1"/>
          <p:nvPr>
            <p:ph type="body" idx="1"/>
          </p:nvPr>
        </p:nvSpPr>
        <p:spPr>
          <a:xfrm>
            <a:off x="324000" y="759300"/>
            <a:ext cx="8237700" cy="122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/>
              <a:t>is the number of turns required to expect a difference of 1 gem between the two games.</a:t>
            </a:r>
            <a:endParaRPr sz="20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6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What is the value of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? </a:t>
            </a:r>
            <a:endParaRPr sz="2400"/>
          </a:p>
        </p:txBody>
      </p:sp>
      <p:sp>
        <p:nvSpPr>
          <p:cNvPr id="1476" name="Google Shape;1476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graphicFrame>
        <p:nvGraphicFramePr>
          <p:cNvPr id="1477" name="Google Shape;1477;p98"/>
          <p:cNvGraphicFramePr>
            <a:graphicFrameLocks noGrp="1"/>
          </p:cNvGraphicFramePr>
          <p:nvPr/>
        </p:nvGraphicFramePr>
        <p:xfrm>
          <a:off x="669450" y="207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1607350"/>
                <a:gridCol w="936975"/>
                <a:gridCol w="910050"/>
                <a:gridCol w="1214150"/>
              </a:tblGrid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original game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new game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588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finding 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expectation per 100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47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expectation per 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78" name="Google Shape;1478;p98"/>
          <p:cNvSpPr txBox="1"/>
          <p:nvPr>
            <p:ph type="body" idx="1"/>
          </p:nvPr>
        </p:nvSpPr>
        <p:spPr>
          <a:xfrm>
            <a:off x="4204754" y="2822146"/>
            <a:ext cx="4380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2%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9" name="Google Shape;1479;p98"/>
          <p:cNvSpPr txBox="1"/>
          <p:nvPr>
            <p:ph type="body" idx="1"/>
          </p:nvPr>
        </p:nvSpPr>
        <p:spPr>
          <a:xfrm>
            <a:off x="5990075" y="2713200"/>
            <a:ext cx="21306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0.07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− 0.05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0" name="Google Shape;1480;p98"/>
          <p:cNvSpPr txBox="1"/>
          <p:nvPr>
            <p:ph type="body" idx="1"/>
          </p:nvPr>
        </p:nvSpPr>
        <p:spPr>
          <a:xfrm>
            <a:off x="6904475" y="3170400"/>
            <a:ext cx="21306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0.02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1" name="Google Shape;1481;p98"/>
          <p:cNvSpPr txBox="1"/>
          <p:nvPr>
            <p:ph type="body" idx="1"/>
          </p:nvPr>
        </p:nvSpPr>
        <p:spPr>
          <a:xfrm>
            <a:off x="7361675" y="3627600"/>
            <a:ext cx="21306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50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2" name="Google Shape;1482;p98"/>
          <p:cNvSpPr txBox="1"/>
          <p:nvPr>
            <p:ph type="body" idx="1"/>
          </p:nvPr>
        </p:nvSpPr>
        <p:spPr>
          <a:xfrm>
            <a:off x="2348802" y="4150125"/>
            <a:ext cx="6504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3" name="Google Shape;1483;p98"/>
          <p:cNvSpPr txBox="1"/>
          <p:nvPr>
            <p:ph type="body" idx="1"/>
          </p:nvPr>
        </p:nvSpPr>
        <p:spPr>
          <a:xfrm>
            <a:off x="3274092" y="4150111"/>
            <a:ext cx="650400" cy="3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0.07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87" name="Shape 1487"/>
        <p:cNvGrpSpPr/>
        <p:nvPr/>
      </p:nvGrpSpPr>
      <p:grpSpPr>
        <a:xfrm>
          <a:off x="0" y="0"/>
          <a:ext cx="0" cy="0"/>
        </a:xfrm>
      </p:grpSpPr>
      <p:sp>
        <p:nvSpPr>
          <p:cNvPr id="1488" name="Google Shape;1488;p99"/>
          <p:cNvSpPr txBox="1"/>
          <p:nvPr>
            <p:ph type="body" idx="1"/>
          </p:nvPr>
        </p:nvSpPr>
        <p:spPr>
          <a:xfrm>
            <a:off x="324000" y="759300"/>
            <a:ext cx="8237700" cy="96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Lucas creates two versions of the same video game: Version A and Version B.</a:t>
            </a:r>
            <a:br>
              <a:rPr lang="en-GB" sz="1600"/>
            </a:br>
            <a:r>
              <a:rPr lang="en-GB" sz="1600"/>
              <a:t>    In Version A, the probability that a player finds a gem is 0.02</a:t>
            </a:r>
            <a:br>
              <a:rPr lang="en-GB" sz="1600"/>
            </a:br>
            <a:r>
              <a:rPr lang="en-GB" sz="1600"/>
              <a:t>    Players are 10% more likely to find a gem in Version B than in Version A.</a:t>
            </a:r>
            <a:endParaRPr sz="1600"/>
          </a:p>
        </p:txBody>
      </p:sp>
      <p:sp>
        <p:nvSpPr>
          <p:cNvPr id="1489" name="Google Shape;1489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graphicFrame>
        <p:nvGraphicFramePr>
          <p:cNvPr id="1490" name="Google Shape;1490;p99"/>
          <p:cNvGraphicFramePr>
            <a:graphicFrameLocks noGrp="1"/>
          </p:cNvGraphicFramePr>
          <p:nvPr/>
        </p:nvGraphicFramePr>
        <p:xfrm>
          <a:off x="3293400" y="16798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1706650"/>
                <a:gridCol w="1135025"/>
                <a:gridCol w="1112675"/>
                <a:gridCol w="1214425"/>
              </a:tblGrid>
              <a:tr h="405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Version A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Version B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462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finding 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2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100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6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1000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91" name="Google Shape;1491;p99"/>
          <p:cNvSpPr txBox="1"/>
          <p:nvPr>
            <p:ph type="body" idx="1"/>
          </p:nvPr>
        </p:nvSpPr>
        <p:spPr>
          <a:xfrm>
            <a:off x="324000" y="2073150"/>
            <a:ext cx="2563200" cy="2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Complete the table. </a:t>
            </a:r>
            <a:endParaRPr sz="1600"/>
          </a:p>
        </p:txBody>
      </p:sp>
      <p:sp>
        <p:nvSpPr>
          <p:cNvPr id="1492" name="Google Shape;1492;p99"/>
          <p:cNvSpPr txBox="1"/>
          <p:nvPr>
            <p:ph type="body" idx="1"/>
          </p:nvPr>
        </p:nvSpPr>
        <p:spPr>
          <a:xfrm>
            <a:off x="324000" y="2682750"/>
            <a:ext cx="2974500" cy="107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How many turns would it </a:t>
            </a:r>
            <a:br>
              <a:rPr lang="en-GB" sz="1600"/>
            </a:br>
            <a:r>
              <a:rPr lang="en-GB" sz="1600"/>
              <a:t>    take to expect a difference </a:t>
            </a:r>
            <a:br>
              <a:rPr lang="en-GB" sz="1600"/>
            </a:br>
            <a:r>
              <a:rPr lang="en-GB" sz="1600"/>
              <a:t>    of 1 gem between the two </a:t>
            </a:r>
            <a:br>
              <a:rPr lang="en-GB" sz="1600"/>
            </a:br>
            <a:r>
              <a:rPr lang="en-GB" sz="1600"/>
              <a:t>    versions of the game? </a:t>
            </a:r>
            <a:endParaRPr sz="1600"/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6" name="Shape 1496"/>
        <p:cNvGrpSpPr/>
        <p:nvPr/>
      </p:nvGrpSpPr>
      <p:grpSpPr>
        <a:xfrm>
          <a:off x="0" y="0"/>
          <a:ext cx="0" cy="0"/>
        </a:xfrm>
      </p:grpSpPr>
      <p:sp>
        <p:nvSpPr>
          <p:cNvPr id="1497" name="Google Shape;1497;p100"/>
          <p:cNvSpPr txBox="1"/>
          <p:nvPr>
            <p:ph type="body" idx="1"/>
          </p:nvPr>
        </p:nvSpPr>
        <p:spPr>
          <a:xfrm>
            <a:off x="324000" y="759300"/>
            <a:ext cx="8496000" cy="135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Sofia creates a video game where players have a 0.5% probability of getting </a:t>
            </a:r>
            <a:br>
              <a:rPr lang="en-GB" sz="1600"/>
            </a:br>
            <a:r>
              <a:rPr lang="en-GB" sz="1600"/>
              <a:t>    caught in a trap each turn.</a:t>
            </a:r>
            <a:br>
              <a:rPr lang="en-GB" sz="1600"/>
            </a:br>
            <a:r>
              <a:rPr lang="en-GB" sz="1600"/>
              <a:t>    She creates a new version of the game where players are now 20% more likely to </a:t>
            </a:r>
            <a:br>
              <a:rPr lang="en-GB" sz="1600"/>
            </a:br>
            <a:r>
              <a:rPr lang="en-GB" sz="1600"/>
              <a:t>    get caught in a trap each turn, compared to the original version of the game.</a:t>
            </a:r>
            <a:endParaRPr sz="1600"/>
          </a:p>
        </p:txBody>
      </p:sp>
      <p:sp>
        <p:nvSpPr>
          <p:cNvPr id="1498" name="Google Shape;1498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sp>
        <p:nvSpPr>
          <p:cNvPr id="1499" name="Google Shape;1499;p100"/>
          <p:cNvSpPr txBox="1"/>
          <p:nvPr>
            <p:ph type="body" idx="1"/>
          </p:nvPr>
        </p:nvSpPr>
        <p:spPr>
          <a:xfrm>
            <a:off x="324000" y="1996950"/>
            <a:ext cx="8496000" cy="26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What is the probability of getting caught in a trap in the new version of the game?</a:t>
            </a:r>
            <a:endParaRPr sz="1600"/>
          </a:p>
        </p:txBody>
      </p:sp>
      <p:sp>
        <p:nvSpPr>
          <p:cNvPr id="1500" name="Google Shape;1500;p100"/>
          <p:cNvSpPr txBox="1"/>
          <p:nvPr>
            <p:ph type="body" idx="1"/>
          </p:nvPr>
        </p:nvSpPr>
        <p:spPr>
          <a:xfrm>
            <a:off x="324000" y="2758950"/>
            <a:ext cx="8496000" cy="64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How many turns would it take to expect a difference of 1 extra trap between the </a:t>
            </a:r>
            <a:br>
              <a:rPr lang="en-GB" sz="1600"/>
            </a:br>
            <a:r>
              <a:rPr lang="en-GB" sz="1600"/>
              <a:t>    two versions of the game? </a:t>
            </a:r>
            <a:endParaRPr sz="1600"/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4" name="Shape 1504"/>
        <p:cNvGrpSpPr/>
        <p:nvPr/>
      </p:nvGrpSpPr>
      <p:grpSpPr>
        <a:xfrm>
          <a:off x="0" y="0"/>
          <a:ext cx="0" cy="0"/>
        </a:xfrm>
      </p:grpSpPr>
      <p:graphicFrame>
        <p:nvGraphicFramePr>
          <p:cNvPr id="1505" name="Google Shape;1505;p101"/>
          <p:cNvGraphicFramePr>
            <a:graphicFrameLocks noGrp="1"/>
          </p:cNvGraphicFramePr>
          <p:nvPr/>
        </p:nvGraphicFramePr>
        <p:xfrm>
          <a:off x="3293400" y="16798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1692275"/>
                <a:gridCol w="1135025"/>
                <a:gridCol w="1157900"/>
                <a:gridCol w="1209875"/>
              </a:tblGrid>
              <a:tr h="405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Version A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Version B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462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finding 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2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100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6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1000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06" name="Google Shape;1506;p101"/>
          <p:cNvSpPr txBox="1"/>
          <p:nvPr>
            <p:ph type="body" idx="1"/>
          </p:nvPr>
        </p:nvSpPr>
        <p:spPr>
          <a:xfrm>
            <a:off x="324000" y="759300"/>
            <a:ext cx="8237700" cy="96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Lucas creates two versions of the same video game: Version A and Version B.</a:t>
            </a:r>
            <a:br>
              <a:rPr lang="en-GB" sz="1600"/>
            </a:br>
            <a:r>
              <a:rPr lang="en-GB" sz="1600"/>
              <a:t>    In Version A, the probability that a player finds a gem is 0.02</a:t>
            </a:r>
            <a:br>
              <a:rPr lang="en-GB" sz="1600"/>
            </a:br>
            <a:r>
              <a:rPr lang="en-GB" sz="1600"/>
              <a:t>    Players are 10% more likely to find a gem in Version B than in Version A.</a:t>
            </a:r>
            <a:endParaRPr sz="1600"/>
          </a:p>
        </p:txBody>
      </p:sp>
      <p:sp>
        <p:nvSpPr>
          <p:cNvPr id="1507" name="Google Shape;1507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sp>
        <p:nvSpPr>
          <p:cNvPr id="1508" name="Google Shape;1508;p101"/>
          <p:cNvSpPr txBox="1"/>
          <p:nvPr>
            <p:ph type="body" idx="1"/>
          </p:nvPr>
        </p:nvSpPr>
        <p:spPr>
          <a:xfrm>
            <a:off x="324000" y="2073150"/>
            <a:ext cx="2563200" cy="22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Complete the table. </a:t>
            </a:r>
            <a:endParaRPr sz="1600"/>
          </a:p>
        </p:txBody>
      </p:sp>
      <p:sp>
        <p:nvSpPr>
          <p:cNvPr id="1509" name="Google Shape;1509;p101"/>
          <p:cNvSpPr txBox="1"/>
          <p:nvPr>
            <p:ph type="body" idx="1"/>
          </p:nvPr>
        </p:nvSpPr>
        <p:spPr>
          <a:xfrm>
            <a:off x="857400" y="2501350"/>
            <a:ext cx="19674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0.02 × 1.1 = 0.022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0" name="Google Shape;1510;p101"/>
          <p:cNvSpPr txBox="1"/>
          <p:nvPr>
            <p:ph type="body" idx="1"/>
          </p:nvPr>
        </p:nvSpPr>
        <p:spPr>
          <a:xfrm>
            <a:off x="6225538" y="2172829"/>
            <a:ext cx="628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0.022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1" name="Google Shape;1511;p101"/>
          <p:cNvSpPr txBox="1"/>
          <p:nvPr>
            <p:ph type="body" idx="1"/>
          </p:nvPr>
        </p:nvSpPr>
        <p:spPr>
          <a:xfrm>
            <a:off x="465514" y="2882350"/>
            <a:ext cx="22668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0.022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0.02 = 0.002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2" name="Google Shape;1512;p101"/>
          <p:cNvSpPr txBox="1"/>
          <p:nvPr>
            <p:ph type="body" idx="1"/>
          </p:nvPr>
        </p:nvSpPr>
        <p:spPr>
          <a:xfrm>
            <a:off x="5079650" y="2851625"/>
            <a:ext cx="1878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3" name="Google Shape;1513;p101"/>
          <p:cNvSpPr txBox="1"/>
          <p:nvPr>
            <p:ph type="body" idx="1"/>
          </p:nvPr>
        </p:nvSpPr>
        <p:spPr>
          <a:xfrm>
            <a:off x="6225524" y="2851625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2.2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4" name="Google Shape;1514;p101"/>
          <p:cNvSpPr txBox="1"/>
          <p:nvPr>
            <p:ph type="body" idx="1"/>
          </p:nvPr>
        </p:nvSpPr>
        <p:spPr>
          <a:xfrm>
            <a:off x="7330424" y="2851625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5" name="Google Shape;1515;p101"/>
          <p:cNvSpPr txBox="1"/>
          <p:nvPr>
            <p:ph type="body" idx="1"/>
          </p:nvPr>
        </p:nvSpPr>
        <p:spPr>
          <a:xfrm>
            <a:off x="612475" y="3345000"/>
            <a:ext cx="2299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0.02 × 1000 = 20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6" name="Google Shape;1516;p101"/>
          <p:cNvSpPr txBox="1"/>
          <p:nvPr>
            <p:ph type="body" idx="1"/>
          </p:nvPr>
        </p:nvSpPr>
        <p:spPr>
          <a:xfrm>
            <a:off x="5079650" y="3537425"/>
            <a:ext cx="3021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7" name="Google Shape;1517;p101"/>
          <p:cNvSpPr txBox="1"/>
          <p:nvPr>
            <p:ph type="body" idx="1"/>
          </p:nvPr>
        </p:nvSpPr>
        <p:spPr>
          <a:xfrm>
            <a:off x="6225524" y="3537425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8" name="Google Shape;1518;p101"/>
          <p:cNvSpPr txBox="1"/>
          <p:nvPr>
            <p:ph type="body" idx="1"/>
          </p:nvPr>
        </p:nvSpPr>
        <p:spPr>
          <a:xfrm>
            <a:off x="7330424" y="3537425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9" name="Google Shape;1519;p101"/>
          <p:cNvSpPr txBox="1"/>
          <p:nvPr>
            <p:ph type="body" idx="1"/>
          </p:nvPr>
        </p:nvSpPr>
        <p:spPr>
          <a:xfrm>
            <a:off x="460075" y="3802200"/>
            <a:ext cx="2299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0.022 × 1000 = 22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0" name="Google Shape;1520;p101"/>
          <p:cNvSpPr txBox="1"/>
          <p:nvPr>
            <p:ph type="body" idx="1"/>
          </p:nvPr>
        </p:nvSpPr>
        <p:spPr>
          <a:xfrm>
            <a:off x="797532" y="4183200"/>
            <a:ext cx="15702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22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− 20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1" name="Google Shape;1521;p101"/>
          <p:cNvSpPr txBox="1"/>
          <p:nvPr>
            <p:ph type="body" idx="1"/>
          </p:nvPr>
        </p:nvSpPr>
        <p:spPr>
          <a:xfrm>
            <a:off x="7330424" y="2172825"/>
            <a:ext cx="601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0.002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25" name="Shape 1525"/>
        <p:cNvGrpSpPr/>
        <p:nvPr/>
      </p:nvGrpSpPr>
      <p:grpSpPr>
        <a:xfrm>
          <a:off x="0" y="0"/>
          <a:ext cx="0" cy="0"/>
        </a:xfrm>
      </p:grpSpPr>
      <p:graphicFrame>
        <p:nvGraphicFramePr>
          <p:cNvPr id="1526" name="Google Shape;1526;p102"/>
          <p:cNvGraphicFramePr>
            <a:graphicFrameLocks noGrp="1"/>
          </p:cNvGraphicFramePr>
          <p:nvPr/>
        </p:nvGraphicFramePr>
        <p:xfrm>
          <a:off x="3293400" y="16798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1692275"/>
                <a:gridCol w="1135025"/>
                <a:gridCol w="1157900"/>
                <a:gridCol w="1209875"/>
              </a:tblGrid>
              <a:tr h="405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Version A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Version B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462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finding 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2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100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6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1000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859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turns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27" name="Google Shape;1527;p102"/>
          <p:cNvSpPr txBox="1"/>
          <p:nvPr>
            <p:ph type="body" idx="1"/>
          </p:nvPr>
        </p:nvSpPr>
        <p:spPr>
          <a:xfrm>
            <a:off x="324000" y="759300"/>
            <a:ext cx="8237700" cy="96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Lucas creates two versions of the same video game: Version A and Version B.</a:t>
            </a:r>
            <a:br>
              <a:rPr lang="en-GB" sz="1600"/>
            </a:br>
            <a:r>
              <a:rPr lang="en-GB" sz="1600"/>
              <a:t>    In Version A, the probability that a player finds a gem is 0.02</a:t>
            </a:r>
            <a:br>
              <a:rPr lang="en-GB" sz="1600"/>
            </a:br>
            <a:r>
              <a:rPr lang="en-GB" sz="1600"/>
              <a:t>    Players are 10% more likely to find a gem in Version B than in Version A.</a:t>
            </a:r>
            <a:endParaRPr sz="1600"/>
          </a:p>
        </p:txBody>
      </p:sp>
      <p:sp>
        <p:nvSpPr>
          <p:cNvPr id="1528" name="Google Shape;1528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sp>
        <p:nvSpPr>
          <p:cNvPr id="1529" name="Google Shape;1529;p102"/>
          <p:cNvSpPr txBox="1"/>
          <p:nvPr>
            <p:ph type="body" idx="1"/>
          </p:nvPr>
        </p:nvSpPr>
        <p:spPr>
          <a:xfrm>
            <a:off x="324000" y="2073150"/>
            <a:ext cx="2974500" cy="107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How many turns would it </a:t>
            </a:r>
            <a:br>
              <a:rPr lang="en-GB" sz="1600"/>
            </a:br>
            <a:r>
              <a:rPr lang="en-GB" sz="1600"/>
              <a:t>    take to expect a difference </a:t>
            </a:r>
            <a:br>
              <a:rPr lang="en-GB" sz="1600"/>
            </a:br>
            <a:r>
              <a:rPr lang="en-GB" sz="1600"/>
              <a:t>    of 1 gem between the two </a:t>
            </a:r>
            <a:br>
              <a:rPr lang="en-GB" sz="1600"/>
            </a:br>
            <a:r>
              <a:rPr lang="en-GB" sz="1600"/>
              <a:t>    versions of the game? </a:t>
            </a:r>
            <a:endParaRPr sz="1600"/>
          </a:p>
        </p:txBody>
      </p:sp>
      <p:sp>
        <p:nvSpPr>
          <p:cNvPr id="1530" name="Google Shape;1530;p102"/>
          <p:cNvSpPr txBox="1"/>
          <p:nvPr>
            <p:ph type="body" idx="1"/>
          </p:nvPr>
        </p:nvSpPr>
        <p:spPr>
          <a:xfrm>
            <a:off x="541725" y="3339550"/>
            <a:ext cx="2065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0.022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0.02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1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1" name="Google Shape;1531;p102"/>
          <p:cNvSpPr txBox="1"/>
          <p:nvPr>
            <p:ph type="body" idx="1"/>
          </p:nvPr>
        </p:nvSpPr>
        <p:spPr>
          <a:xfrm>
            <a:off x="1401697" y="3720550"/>
            <a:ext cx="12600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0.002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1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2" name="Google Shape;1532;p102"/>
          <p:cNvSpPr txBox="1"/>
          <p:nvPr>
            <p:ph type="body" idx="1"/>
          </p:nvPr>
        </p:nvSpPr>
        <p:spPr>
          <a:xfrm>
            <a:off x="1935099" y="4101550"/>
            <a:ext cx="9768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500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3" name="Google Shape;1533;p102"/>
          <p:cNvSpPr txBox="1"/>
          <p:nvPr>
            <p:ph type="body" idx="1"/>
          </p:nvPr>
        </p:nvSpPr>
        <p:spPr>
          <a:xfrm>
            <a:off x="1782699" y="4558750"/>
            <a:ext cx="9768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500 turns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4" name="Google Shape;1534;p102"/>
          <p:cNvSpPr txBox="1"/>
          <p:nvPr>
            <p:ph type="body" idx="1"/>
          </p:nvPr>
        </p:nvSpPr>
        <p:spPr>
          <a:xfrm>
            <a:off x="5145779" y="4223225"/>
            <a:ext cx="8403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5" name="Google Shape;1535;p102"/>
          <p:cNvSpPr txBox="1"/>
          <p:nvPr>
            <p:ph type="body" idx="1"/>
          </p:nvPr>
        </p:nvSpPr>
        <p:spPr>
          <a:xfrm>
            <a:off x="6331939" y="4223225"/>
            <a:ext cx="8403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0.022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6" name="Google Shape;1536;p102"/>
          <p:cNvSpPr/>
          <p:nvPr/>
        </p:nvSpPr>
        <p:spPr>
          <a:xfrm>
            <a:off x="3278375" y="4118132"/>
            <a:ext cx="5225100" cy="7293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102"/>
          <p:cNvSpPr txBox="1"/>
          <p:nvPr>
            <p:ph type="body" idx="1"/>
          </p:nvPr>
        </p:nvSpPr>
        <p:spPr>
          <a:xfrm>
            <a:off x="6224904" y="2172829"/>
            <a:ext cx="628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0.022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8" name="Google Shape;1538;p102"/>
          <p:cNvSpPr txBox="1"/>
          <p:nvPr>
            <p:ph type="body" idx="1"/>
          </p:nvPr>
        </p:nvSpPr>
        <p:spPr>
          <a:xfrm>
            <a:off x="7329789" y="2172825"/>
            <a:ext cx="601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0.002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9" name="Google Shape;1539;p102"/>
          <p:cNvSpPr txBox="1"/>
          <p:nvPr>
            <p:ph type="body" idx="1"/>
          </p:nvPr>
        </p:nvSpPr>
        <p:spPr>
          <a:xfrm>
            <a:off x="5079650" y="2851625"/>
            <a:ext cx="1878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0" name="Google Shape;1540;p102"/>
          <p:cNvSpPr txBox="1"/>
          <p:nvPr>
            <p:ph type="body" idx="1"/>
          </p:nvPr>
        </p:nvSpPr>
        <p:spPr>
          <a:xfrm>
            <a:off x="6224889" y="2851625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2.2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1" name="Google Shape;1541;p102"/>
          <p:cNvSpPr txBox="1"/>
          <p:nvPr>
            <p:ph type="body" idx="1"/>
          </p:nvPr>
        </p:nvSpPr>
        <p:spPr>
          <a:xfrm>
            <a:off x="7329789" y="2851625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2" name="Google Shape;1542;p102"/>
          <p:cNvSpPr txBox="1"/>
          <p:nvPr>
            <p:ph type="body" idx="1"/>
          </p:nvPr>
        </p:nvSpPr>
        <p:spPr>
          <a:xfrm>
            <a:off x="5079650" y="3537425"/>
            <a:ext cx="3021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3" name="Google Shape;1543;p102"/>
          <p:cNvSpPr txBox="1"/>
          <p:nvPr>
            <p:ph type="body" idx="1"/>
          </p:nvPr>
        </p:nvSpPr>
        <p:spPr>
          <a:xfrm>
            <a:off x="6224889" y="3537425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4" name="Google Shape;1544;p102"/>
          <p:cNvSpPr txBox="1"/>
          <p:nvPr>
            <p:ph type="body" idx="1"/>
          </p:nvPr>
        </p:nvSpPr>
        <p:spPr>
          <a:xfrm>
            <a:off x="7329789" y="3537425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48" name="Shape 1548"/>
        <p:cNvGrpSpPr/>
        <p:nvPr/>
      </p:nvGrpSpPr>
      <p:grpSpPr>
        <a:xfrm>
          <a:off x="0" y="0"/>
          <a:ext cx="0" cy="0"/>
        </a:xfrm>
      </p:grpSpPr>
      <p:graphicFrame>
        <p:nvGraphicFramePr>
          <p:cNvPr id="1549" name="Google Shape;1549;p103"/>
          <p:cNvGraphicFramePr>
            <a:graphicFrameLocks noGrp="1"/>
          </p:cNvGraphicFramePr>
          <p:nvPr/>
        </p:nvGraphicFramePr>
        <p:xfrm>
          <a:off x="3293400" y="16798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{E48A03FE-2D96-4E67-944D-6359C8AC33A9}</a:tableStyleId>
              </a:tblPr>
              <a:tblGrid>
                <a:gridCol w="1692275"/>
                <a:gridCol w="1135025"/>
                <a:gridCol w="1157900"/>
                <a:gridCol w="1209875"/>
              </a:tblGrid>
              <a:tr h="405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Version A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Version B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</a:tr>
              <a:tr h="462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of 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finding 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2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100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6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1000 turns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859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gems per 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turns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50" name="Google Shape;1550;p103"/>
          <p:cNvSpPr txBox="1"/>
          <p:nvPr>
            <p:ph type="body" idx="1"/>
          </p:nvPr>
        </p:nvSpPr>
        <p:spPr>
          <a:xfrm>
            <a:off x="324000" y="759300"/>
            <a:ext cx="8237700" cy="96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Lucas creates two versions of the same video game: Version A and Version B.</a:t>
            </a:r>
            <a:br>
              <a:rPr lang="en-GB" sz="1600"/>
            </a:br>
            <a:r>
              <a:rPr lang="en-GB" sz="1600"/>
              <a:t>    In Version A, the probability that a player finds a gem is 0.02</a:t>
            </a:r>
            <a:br>
              <a:rPr lang="en-GB" sz="1600"/>
            </a:br>
            <a:r>
              <a:rPr lang="en-GB" sz="1600"/>
              <a:t>    Players are 10% more likely to find a gem in Version B than in Version A.</a:t>
            </a:r>
            <a:endParaRPr sz="1600"/>
          </a:p>
        </p:txBody>
      </p:sp>
      <p:sp>
        <p:nvSpPr>
          <p:cNvPr id="1551" name="Google Shape;1551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sp>
        <p:nvSpPr>
          <p:cNvPr id="1552" name="Google Shape;1552;p103"/>
          <p:cNvSpPr txBox="1"/>
          <p:nvPr>
            <p:ph type="body" idx="1"/>
          </p:nvPr>
        </p:nvSpPr>
        <p:spPr>
          <a:xfrm>
            <a:off x="324000" y="2073150"/>
            <a:ext cx="2974500" cy="107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How many turns would it </a:t>
            </a:r>
            <a:br>
              <a:rPr lang="en-GB" sz="1600"/>
            </a:br>
            <a:r>
              <a:rPr lang="en-GB" sz="1600"/>
              <a:t>    take to expect a difference </a:t>
            </a:r>
            <a:br>
              <a:rPr lang="en-GB" sz="1600"/>
            </a:br>
            <a:r>
              <a:rPr lang="en-GB" sz="1600"/>
              <a:t>    of 1 gem between the two </a:t>
            </a:r>
            <a:br>
              <a:rPr lang="en-GB" sz="1600"/>
            </a:br>
            <a:r>
              <a:rPr lang="en-GB" sz="1600"/>
              <a:t>    Versions of the game? </a:t>
            </a:r>
            <a:endParaRPr sz="1600"/>
          </a:p>
        </p:txBody>
      </p:sp>
      <p:sp>
        <p:nvSpPr>
          <p:cNvPr id="1553" name="Google Shape;1553;p103"/>
          <p:cNvSpPr txBox="1"/>
          <p:nvPr>
            <p:ph type="body" idx="1"/>
          </p:nvPr>
        </p:nvSpPr>
        <p:spPr>
          <a:xfrm>
            <a:off x="6224064" y="2176329"/>
            <a:ext cx="628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0.022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4" name="Google Shape;1554;p103"/>
          <p:cNvSpPr txBox="1"/>
          <p:nvPr>
            <p:ph type="body" idx="1"/>
          </p:nvPr>
        </p:nvSpPr>
        <p:spPr>
          <a:xfrm>
            <a:off x="7328950" y="2176325"/>
            <a:ext cx="601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0.002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5" name="Google Shape;1555;p103"/>
          <p:cNvSpPr txBox="1"/>
          <p:nvPr>
            <p:ph type="body" idx="1"/>
          </p:nvPr>
        </p:nvSpPr>
        <p:spPr>
          <a:xfrm>
            <a:off x="5081050" y="2855125"/>
            <a:ext cx="1878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6" name="Google Shape;1556;p103"/>
          <p:cNvSpPr txBox="1"/>
          <p:nvPr>
            <p:ph type="body" idx="1"/>
          </p:nvPr>
        </p:nvSpPr>
        <p:spPr>
          <a:xfrm>
            <a:off x="6224050" y="2855125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2.2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7" name="Google Shape;1557;p103"/>
          <p:cNvSpPr txBox="1"/>
          <p:nvPr>
            <p:ph type="body" idx="1"/>
          </p:nvPr>
        </p:nvSpPr>
        <p:spPr>
          <a:xfrm>
            <a:off x="7328950" y="2855125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8" name="Google Shape;1558;p103"/>
          <p:cNvSpPr txBox="1"/>
          <p:nvPr>
            <p:ph type="body" idx="1"/>
          </p:nvPr>
        </p:nvSpPr>
        <p:spPr>
          <a:xfrm>
            <a:off x="5081050" y="3540925"/>
            <a:ext cx="3021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9" name="Google Shape;1559;p103"/>
          <p:cNvSpPr txBox="1"/>
          <p:nvPr>
            <p:ph type="body" idx="1"/>
          </p:nvPr>
        </p:nvSpPr>
        <p:spPr>
          <a:xfrm>
            <a:off x="6224050" y="3540925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0" name="Google Shape;1560;p103"/>
          <p:cNvSpPr txBox="1"/>
          <p:nvPr>
            <p:ph type="body" idx="1"/>
          </p:nvPr>
        </p:nvSpPr>
        <p:spPr>
          <a:xfrm>
            <a:off x="7328950" y="3540925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1" name="Google Shape;1561;p103"/>
          <p:cNvSpPr txBox="1"/>
          <p:nvPr>
            <p:ph type="body" idx="1"/>
          </p:nvPr>
        </p:nvSpPr>
        <p:spPr>
          <a:xfrm>
            <a:off x="541725" y="3263350"/>
            <a:ext cx="25662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Alternatively, proportional reasoning could be used.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2" name="Google Shape;1562;p103"/>
          <p:cNvSpPr txBox="1"/>
          <p:nvPr>
            <p:ph type="body" idx="1"/>
          </p:nvPr>
        </p:nvSpPr>
        <p:spPr>
          <a:xfrm>
            <a:off x="5070807" y="4204950"/>
            <a:ext cx="8403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3" name="Google Shape;1563;p103"/>
          <p:cNvSpPr txBox="1"/>
          <p:nvPr>
            <p:ph type="body" idx="1"/>
          </p:nvPr>
        </p:nvSpPr>
        <p:spPr>
          <a:xfrm>
            <a:off x="6208364" y="4204950"/>
            <a:ext cx="8403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64" name="Google Shape;1564;p103"/>
          <p:cNvCxnSpPr/>
          <p:nvPr/>
        </p:nvCxnSpPr>
        <p:spPr>
          <a:xfrm flipH="1">
            <a:off x="7391475" y="3844250"/>
            <a:ext cx="0" cy="3756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5" name="Google Shape;1565;p103"/>
          <p:cNvSpPr txBox="1"/>
          <p:nvPr>
            <p:ph type="body" idx="1"/>
          </p:nvPr>
        </p:nvSpPr>
        <p:spPr>
          <a:xfrm>
            <a:off x="7481350" y="3829396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÷ 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66" name="Google Shape;1566;p103"/>
          <p:cNvCxnSpPr/>
          <p:nvPr/>
        </p:nvCxnSpPr>
        <p:spPr>
          <a:xfrm flipH="1">
            <a:off x="6313789" y="3844250"/>
            <a:ext cx="0" cy="3756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7" name="Google Shape;1567;p103"/>
          <p:cNvSpPr txBox="1"/>
          <p:nvPr>
            <p:ph type="body" idx="1"/>
          </p:nvPr>
        </p:nvSpPr>
        <p:spPr>
          <a:xfrm>
            <a:off x="6403664" y="3829396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÷ 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68" name="Google Shape;1568;p103"/>
          <p:cNvCxnSpPr/>
          <p:nvPr/>
        </p:nvCxnSpPr>
        <p:spPr>
          <a:xfrm flipH="1">
            <a:off x="5170789" y="3844250"/>
            <a:ext cx="0" cy="3756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9" name="Google Shape;1569;p103"/>
          <p:cNvSpPr txBox="1"/>
          <p:nvPr>
            <p:ph type="body" idx="1"/>
          </p:nvPr>
        </p:nvSpPr>
        <p:spPr>
          <a:xfrm>
            <a:off x="5260664" y="3829396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÷ 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0" name="Google Shape;1570;p103"/>
          <p:cNvSpPr txBox="1"/>
          <p:nvPr>
            <p:ph type="body" idx="1"/>
          </p:nvPr>
        </p:nvSpPr>
        <p:spPr>
          <a:xfrm>
            <a:off x="2609993" y="3992682"/>
            <a:ext cx="454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÷ 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1" name="Google Shape;1571;p103"/>
          <p:cNvSpPr/>
          <p:nvPr/>
        </p:nvSpPr>
        <p:spPr>
          <a:xfrm>
            <a:off x="3064425" y="3893225"/>
            <a:ext cx="454500" cy="454500"/>
          </a:xfrm>
          <a:prstGeom prst="arc">
            <a:avLst>
              <a:gd name="adj1" fmla="val 5379818"/>
              <a:gd name="adj2" fmla="val 16136460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triangl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103"/>
          <p:cNvSpPr txBox="1"/>
          <p:nvPr>
            <p:ph type="body" idx="1"/>
          </p:nvPr>
        </p:nvSpPr>
        <p:spPr>
          <a:xfrm>
            <a:off x="1782699" y="4558750"/>
            <a:ext cx="9768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500 turns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76" name="Shape 1576"/>
        <p:cNvGrpSpPr/>
        <p:nvPr/>
      </p:nvGrpSpPr>
      <p:grpSpPr>
        <a:xfrm>
          <a:off x="0" y="0"/>
          <a:ext cx="0" cy="0"/>
        </a:xfrm>
      </p:grpSpPr>
      <p:sp>
        <p:nvSpPr>
          <p:cNvPr id="1577" name="Google Shape;1577;p10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Sofia creates a video game where players have a 0.5% probability of getting </a:t>
            </a:r>
            <a:br>
              <a:rPr lang="en-GB" sz="1600"/>
            </a:br>
            <a:r>
              <a:rPr lang="en-GB" sz="1600"/>
              <a:t>    caught in a trap each turn.</a:t>
            </a:r>
            <a:br>
              <a:rPr lang="en-GB" sz="1600"/>
            </a:br>
            <a:r>
              <a:rPr lang="en-GB" sz="1600"/>
              <a:t>    She creates a new version of the game where players are now 20% more likely to </a:t>
            </a:r>
            <a:br>
              <a:rPr lang="en-GB" sz="1600"/>
            </a:br>
            <a:r>
              <a:rPr lang="en-GB" sz="1600"/>
              <a:t>    get caught in a trap each turn, compared to the original version of the game.</a:t>
            </a:r>
            <a:endParaRPr sz="1600"/>
          </a:p>
        </p:txBody>
      </p:sp>
      <p:sp>
        <p:nvSpPr>
          <p:cNvPr id="1578" name="Google Shape;1578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Number of trials required to observe a difference</a:t>
            </a:r>
            <a:endParaRPr/>
          </a:p>
        </p:txBody>
      </p:sp>
      <p:sp>
        <p:nvSpPr>
          <p:cNvPr id="1579" name="Google Shape;1579;p104"/>
          <p:cNvSpPr txBox="1"/>
          <p:nvPr>
            <p:ph type="body" idx="1"/>
          </p:nvPr>
        </p:nvSpPr>
        <p:spPr>
          <a:xfrm>
            <a:off x="324000" y="1996950"/>
            <a:ext cx="8496000" cy="26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a) What is the probability of getting caught in a trap in the new version of the game?</a:t>
            </a:r>
            <a:endParaRPr sz="1600"/>
          </a:p>
        </p:txBody>
      </p:sp>
      <p:sp>
        <p:nvSpPr>
          <p:cNvPr id="1580" name="Google Shape;1580;p104"/>
          <p:cNvSpPr txBox="1"/>
          <p:nvPr>
            <p:ph type="body" idx="1"/>
          </p:nvPr>
        </p:nvSpPr>
        <p:spPr>
          <a:xfrm>
            <a:off x="324000" y="2758950"/>
            <a:ext cx="8496000" cy="64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How many turns would it take to expect a difference of 1 extra trap between the </a:t>
            </a:r>
            <a:br>
              <a:rPr lang="en-GB" sz="1600"/>
            </a:br>
            <a:r>
              <a:rPr lang="en-GB" sz="1600"/>
              <a:t>    two versions of the game? </a:t>
            </a:r>
            <a:endParaRPr sz="1600"/>
          </a:p>
        </p:txBody>
      </p:sp>
      <p:sp>
        <p:nvSpPr>
          <p:cNvPr id="1581" name="Google Shape;1581;p104"/>
          <p:cNvSpPr txBox="1"/>
          <p:nvPr>
            <p:ph type="body" idx="1"/>
          </p:nvPr>
        </p:nvSpPr>
        <p:spPr>
          <a:xfrm>
            <a:off x="3143400" y="2348950"/>
            <a:ext cx="19674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0.5% × 1.2 = 0.6%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2" name="Google Shape;1582;p104"/>
          <p:cNvSpPr txBox="1"/>
          <p:nvPr>
            <p:ph type="body" idx="1"/>
          </p:nvPr>
        </p:nvSpPr>
        <p:spPr>
          <a:xfrm>
            <a:off x="3056325" y="3415750"/>
            <a:ext cx="20655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0.006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0.005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1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3" name="Google Shape;1583;p104"/>
          <p:cNvSpPr txBox="1"/>
          <p:nvPr>
            <p:ph type="body" idx="1"/>
          </p:nvPr>
        </p:nvSpPr>
        <p:spPr>
          <a:xfrm>
            <a:off x="4068697" y="3796750"/>
            <a:ext cx="12600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0.001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1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4" name="Google Shape;1584;p104"/>
          <p:cNvSpPr txBox="1"/>
          <p:nvPr>
            <p:ph type="body" idx="1"/>
          </p:nvPr>
        </p:nvSpPr>
        <p:spPr>
          <a:xfrm>
            <a:off x="4531343" y="4177750"/>
            <a:ext cx="12600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1000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5" name="Google Shape;1585;p104"/>
          <p:cNvSpPr txBox="1"/>
          <p:nvPr>
            <p:ph type="body" idx="1"/>
          </p:nvPr>
        </p:nvSpPr>
        <p:spPr>
          <a:xfrm>
            <a:off x="4373500" y="4558750"/>
            <a:ext cx="11673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1000 turns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9" name="Shape 1589"/>
        <p:cNvGrpSpPr/>
        <p:nvPr/>
      </p:nvGrpSpPr>
      <p:grpSpPr>
        <a:xfrm>
          <a:off x="0" y="0"/>
          <a:ext cx="0" cy="0"/>
        </a:xfrm>
      </p:grpSpPr>
      <p:sp>
        <p:nvSpPr>
          <p:cNvPr id="1590" name="Google Shape;1590;p105"/>
          <p:cNvSpPr txBox="1"/>
          <p:nvPr>
            <p:ph type="body" idx="1"/>
          </p:nvPr>
        </p:nvSpPr>
        <p:spPr>
          <a:xfrm>
            <a:off x="324000" y="810000"/>
            <a:ext cx="84960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Knowledge of probability can be applied to real world situations, such as games of chance.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Probabilities can be used to aid decision making.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Creating a sample space using a table or diagram may help you solve a problem involving probability.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/>
              <a:t>Theoretical probabilities come from long-term behaviour and therefore may not be seen in the short-term.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 very large number of trials may be required in order to observe a difference between events with different probabilities.</a:t>
            </a:r>
            <a:endParaRPr sz="2000"/>
          </a:p>
        </p:txBody>
      </p:sp>
      <p:sp>
        <p:nvSpPr>
          <p:cNvPr id="1591" name="Google Shape;1591;p10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theoretical probability</a:t>
            </a:r>
            <a:endParaRPr/>
          </a:p>
        </p:txBody>
      </p:sp>
    </p:spTree>
  </p:cSld>
  <p:clrMapOvr>
    <a:masterClrMapping/>
  </p:clrMapOvr>
  <p:transition/>
  <p:timing/>
</p:sld>
</file>

<file path=ppt/slides/slide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95" name="Shape 1595"/>
        <p:cNvGrpSpPr/>
        <p:nvPr/>
      </p:nvGrpSpPr>
      <p:grpSpPr>
        <a:xfrm>
          <a:off x="0" y="0"/>
          <a:ext cx="0" cy="0"/>
        </a:xfrm>
      </p:grpSpPr>
      <p:sp>
        <p:nvSpPr>
          <p:cNvPr id="1596" name="Google Shape;1596;p106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97" name="Google Shape;1597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352</Paragraphs>
  <Slides>44</Slides>
  <Notes>44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baseType="lpstr" size="53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Problem solving with theoretical probability</vt:lpstr>
      <vt:lpstr>PowerPoint Presentation</vt:lpstr>
      <vt:lpstr>PowerPoint Presentation</vt:lpstr>
      <vt:lpstr>PowerPoint Presentation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Using probability to inform decisions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Number of trials required to observe a difference</vt:lpstr>
      <vt:lpstr>Problem solving with theoretical probability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2024-03-05T14:02:21.572</cp:lastPrinted>
  <dcterms:created xsi:type="dcterms:W3CDTF">2024-03-05T14:02:21Z</dcterms:created>
  <dcterms:modified xsi:type="dcterms:W3CDTF">2024-03-05T14:05:41Z</dcterms:modified>
</cp:coreProperties>
</file>