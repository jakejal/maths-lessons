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66" name="Shape 266"/>
        <p:cNvGrpSpPr/>
        <p:nvPr/>
      </p:nvGrpSpPr>
      <p:grpSpPr>
        <a:xfrm>
          <a:off x="0" y="0"/>
          <a:ext cx="0" cy="0"/>
        </a:xfrm>
      </p:grpSpPr>
      <p:sp>
        <p:nvSpPr>
          <p:cNvPr id="267" name="Google Shape;267;g2bcce9a137f_0_157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bcce9a137f_0_1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36" name="Shape 336"/>
        <p:cNvGrpSpPr/>
        <p:nvPr/>
      </p:nvGrpSpPr>
      <p:grpSpPr>
        <a:xfrm>
          <a:off x="0" y="0"/>
          <a:ext cx="0" cy="0"/>
        </a:xfrm>
      </p:grpSpPr>
      <p:sp>
        <p:nvSpPr>
          <p:cNvPr id="337" name="Google Shape;337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13" Type="http://schemas.openxmlformats.org/officeDocument/2006/relationships/image" Target="../media/image17.png" /><Relationship Id="rId14" Type="http://schemas.openxmlformats.org/officeDocument/2006/relationships/image" Target="../media/image18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10" Type="http://schemas.openxmlformats.org/officeDocument/2006/relationships/image" Target="../media/image26.png" /><Relationship Id="rId11" Type="http://schemas.openxmlformats.org/officeDocument/2006/relationships/image" Target="../media/image27.png" /><Relationship Id="rId12" Type="http://schemas.openxmlformats.org/officeDocument/2006/relationships/image" Target="../media/image28.png" /><Relationship Id="rId13" Type="http://schemas.openxmlformats.org/officeDocument/2006/relationships/image" Target="../media/image29.png" /><Relationship Id="rId14" Type="http://schemas.openxmlformats.org/officeDocument/2006/relationships/image" Target="../media/image30.png" /><Relationship Id="rId15" Type="http://schemas.openxmlformats.org/officeDocument/2006/relationships/image" Target="../media/image31.png" /><Relationship Id="rId16" Type="http://schemas.openxmlformats.org/officeDocument/2006/relationships/image" Target="../media/image32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9.png" /><Relationship Id="rId4" Type="http://schemas.openxmlformats.org/officeDocument/2006/relationships/image" Target="../media/image20.png" /><Relationship Id="rId5" Type="http://schemas.openxmlformats.org/officeDocument/2006/relationships/image" Target="../media/image21.png" /><Relationship Id="rId6" Type="http://schemas.openxmlformats.org/officeDocument/2006/relationships/image" Target="../media/image22.png" /><Relationship Id="rId7" Type="http://schemas.openxmlformats.org/officeDocument/2006/relationships/image" Target="../media/image23.png" /><Relationship Id="rId8" Type="http://schemas.openxmlformats.org/officeDocument/2006/relationships/image" Target="../media/image24.png" /><Relationship Id="rId9" Type="http://schemas.openxmlformats.org/officeDocument/2006/relationships/image" Target="../media/image25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40.png" /><Relationship Id="rId11" Type="http://schemas.openxmlformats.org/officeDocument/2006/relationships/image" Target="../media/image41.png" /><Relationship Id="rId12" Type="http://schemas.openxmlformats.org/officeDocument/2006/relationships/image" Target="../media/image42.png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33.png" /><Relationship Id="rId4" Type="http://schemas.openxmlformats.org/officeDocument/2006/relationships/image" Target="../media/image34.png" /><Relationship Id="rId5" Type="http://schemas.openxmlformats.org/officeDocument/2006/relationships/image" Target="../media/image35.png" /><Relationship Id="rId6" Type="http://schemas.openxmlformats.org/officeDocument/2006/relationships/image" Target="../media/image36.png" /><Relationship Id="rId7" Type="http://schemas.openxmlformats.org/officeDocument/2006/relationships/image" Target="../media/image37.png" /><Relationship Id="rId8" Type="http://schemas.openxmlformats.org/officeDocument/2006/relationships/image" Target="../media/image38.png" /><Relationship Id="rId9" Type="http://schemas.openxmlformats.org/officeDocument/2006/relationships/image" Target="../media/image39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theoretical probabilities from Venn diagrams (one event)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76400" y="1989926"/>
            <a:ext cx="6624000" cy="2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the Venn diagram to write the probabilities.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7998" y="1563650"/>
            <a:ext cx="6450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Theoretical probabilities from Venn diagrams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4284114" y="2527056"/>
            <a:ext cx="2372100" cy="14316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145625" y="2288109"/>
            <a:ext cx="2716500" cy="2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= {1, 2, 3, 4, 5, 6, 7, 8}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4546225" y="2683832"/>
            <a:ext cx="1109400" cy="1119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583783" y="2650058"/>
            <a:ext cx="173100" cy="2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5230451" y="2683832"/>
            <a:ext cx="1109400" cy="1119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6174612" y="2650063"/>
            <a:ext cx="173100" cy="2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836175" y="2831833"/>
            <a:ext cx="173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5373520" y="2879297"/>
            <a:ext cx="173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6347849" y="3651929"/>
            <a:ext cx="173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5406430" y="3109267"/>
            <a:ext cx="173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6453719" y="3179133"/>
            <a:ext cx="173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6043449" y="3089778"/>
            <a:ext cx="173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470474" y="3692583"/>
            <a:ext cx="173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5406430" y="3310991"/>
            <a:ext cx="173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76400" y="2410877"/>
            <a:ext cx="8502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P(A)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76400" y="2854039"/>
            <a:ext cx="8502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P(B)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76400" y="3297202"/>
            <a:ext cx="1302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P(not B)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76400" y="3740364"/>
            <a:ext cx="1302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P(only A)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" name="Google Shape;193;p20" descr="&lt;math xmlns=&quot;http://www.w3.org/1998/Math/MathML&quot; display=&quot;block&quot; data-is-equatio=&quot;1&quot; data-latex=&quot;\frac{4}{8}&quot;&gt;&lt;mfrac&gt;&lt;mn&gt;4&lt;/mn&gt;&lt;mn&gt;8&lt;/mn&gt;&lt;/mfrac&gt;&lt;/math&gt;" title="four eigh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6749" y="2285401"/>
            <a:ext cx="113994" cy="376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2355" y="2288444"/>
            <a:ext cx="112847" cy="370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&lt;math xmlns=&quot;http://www.w3.org/1998/Math/MathML&quot; display=&quot;block&quot; data-is-equatio=&quot;1&quot; data-latex=&quot;\frac{1}{8}&quot;&gt;&lt;mfrac&gt;&lt;mn&gt;1&lt;/mn&gt;&lt;mn&gt;8&lt;/mn&gt;&lt;/mfrac&gt;&lt;/math&gt;" title="one eigh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70645" y="3663428"/>
            <a:ext cx="112851" cy="37402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1570630" y="2410877"/>
            <a:ext cx="18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   = 50% = 0.5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1950491" y="3740364"/>
            <a:ext cx="18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12.5% = 0.125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8" name="Google Shape;198;p20" descr="&lt;math xmlns=&quot;http://www.w3.org/1998/Math/MathML&quot; display=&quot;block&quot; data-is-equatio=&quot;1&quot; data-latex=&quot;\frac{4}{8}&quot;&gt;&lt;mfrac&gt;&lt;mn&gt;4&lt;/mn&gt;&lt;mn&gt;8&lt;/mn&gt;&lt;/mfrac&gt;&lt;/math&gt;" title="four eigh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6749" y="2783411"/>
            <a:ext cx="113994" cy="376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2355" y="2786454"/>
            <a:ext cx="112847" cy="37001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1570630" y="2871207"/>
            <a:ext cx="18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   = 50% = 0.5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01" name="Google Shape;201;p20" descr="&lt;math xmlns=&quot;http://www.w3.org/1998/Math/MathML&quot; display=&quot;block&quot; data-is-equatio=&quot;1&quot; data-latex=&quot;\frac{4}{8}&quot;&gt;&lt;mfrac&gt;&lt;mn&gt;4&lt;/mn&gt;&lt;mn&gt;8&lt;/mn&gt;&lt;/mfrac&gt;&lt;/math&gt;" title="four eigh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5349" y="3175824"/>
            <a:ext cx="113994" cy="376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7156" y="3178866"/>
            <a:ext cx="112847" cy="37001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1925716" y="3295369"/>
            <a:ext cx="18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   = 50% = 0.5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476400" y="4340700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the Venn diagram to write the probabilities.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476400" y="4761651"/>
            <a:ext cx="8502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P(A)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76400" y="5204814"/>
            <a:ext cx="8502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P(B)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76400" y="5647976"/>
            <a:ext cx="1302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P(C)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476400" y="6091139"/>
            <a:ext cx="1302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P(only B)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4611987" y="4850499"/>
            <a:ext cx="1291500" cy="12915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4454041" y="4670063"/>
            <a:ext cx="2441100" cy="2227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4655711" y="4811520"/>
            <a:ext cx="201600" cy="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2" name="Google Shape;212;p20"/>
          <p:cNvGrpSpPr/>
          <p:nvPr/>
        </p:nvGrpSpPr>
        <p:grpSpPr>
          <a:xfrm>
            <a:off x="5019077" y="4850484"/>
            <a:ext cx="1680991" cy="1926463"/>
            <a:chOff x="1248950" y="1774293"/>
            <a:chExt cx="2090525" cy="2395800"/>
          </a:xfrm>
        </p:grpSpPr>
        <p:sp>
          <p:nvSpPr>
            <p:cNvPr id="213" name="Google Shape;213;p20"/>
            <p:cNvSpPr/>
            <p:nvPr/>
          </p:nvSpPr>
          <p:spPr>
            <a:xfrm>
              <a:off x="1248950" y="2563893"/>
              <a:ext cx="1606200" cy="16062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4" name="Google Shape;214;p20"/>
            <p:cNvSpPr/>
            <p:nvPr/>
          </p:nvSpPr>
          <p:spPr>
            <a:xfrm>
              <a:off x="1733275" y="1774293"/>
              <a:ext cx="1606200" cy="16062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5" name="Google Shape;215;p20"/>
          <p:cNvSpPr txBox="1"/>
          <p:nvPr/>
        </p:nvSpPr>
        <p:spPr>
          <a:xfrm>
            <a:off x="6509139" y="4811526"/>
            <a:ext cx="201600" cy="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6084684" y="5842510"/>
            <a:ext cx="2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5582430" y="5049207"/>
            <a:ext cx="2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4582119" y="6628604"/>
            <a:ext cx="2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5606566" y="5588839"/>
            <a:ext cx="2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6016001" y="4996993"/>
            <a:ext cx="2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4896003" y="5059023"/>
            <a:ext cx="2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4515318" y="6019753"/>
            <a:ext cx="2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4896003" y="5588831"/>
            <a:ext cx="2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605630" y="6512677"/>
            <a:ext cx="11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5532720" y="5272091"/>
            <a:ext cx="283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4338530" y="4625596"/>
            <a:ext cx="11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 sz="1200"/>
          </a:p>
        </p:txBody>
      </p:sp>
      <p:sp>
        <p:nvSpPr>
          <p:cNvPr id="227" name="Google Shape;227;p20"/>
          <p:cNvSpPr txBox="1"/>
          <p:nvPr/>
        </p:nvSpPr>
        <p:spPr>
          <a:xfrm>
            <a:off x="5019087" y="6512677"/>
            <a:ext cx="201600" cy="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476400" y="6566397"/>
            <a:ext cx="1302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P(not C)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9" name="Google Shape;229;p20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2633" y="4639925"/>
            <a:ext cx="110556" cy="36249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1570630" y="4761651"/>
            <a:ext cx="18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   = 50% = 0.5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31" name="Google Shape;231;p20" descr="&lt;math xmlns=&quot;http://www.w3.org/1998/Math/MathML&quot; display=&quot;block&quot; data-is-equatio=&quot;1&quot; data-latex=&quot;\frac{5}{10}&quot;&gt;&lt;mfrac&gt;&lt;mn&gt;5&lt;/mn&gt;&lt;mn&gt;10&lt;/mn&gt;&lt;/mfrac&gt;&lt;/math&gt;" title="five t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8275" y="4643027"/>
            <a:ext cx="196752" cy="362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0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7590" y="5112823"/>
            <a:ext cx="110556" cy="36249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 txBox="1"/>
          <p:nvPr/>
        </p:nvSpPr>
        <p:spPr>
          <a:xfrm>
            <a:off x="1581695" y="5203153"/>
            <a:ext cx="18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   = 50% = 0.5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34" name="Google Shape;234;p20" descr="&lt;math xmlns=&quot;http://www.w3.org/1998/Math/MathML&quot; display=&quot;block&quot; data-is-equatio=&quot;1&quot; data-latex=&quot;\frac{5}{10}&quot;&gt;&lt;mfrac&gt;&lt;mn&gt;5&lt;/mn&gt;&lt;mn&gt;10&lt;/mn&gt;&lt;/mfrac&gt;&lt;/math&gt;" title="five t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87085" y="5115925"/>
            <a:ext cx="196752" cy="362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0" descr="&lt;math xmlns=&quot;http://www.w3.org/1998/Math/MathML&quot; display=&quot;block&quot; data-is-equatio=&quot;1&quot; data-latex=&quot;\frac{2}{10}&quot;&gt;&lt;mfrac&gt;&lt;mn&gt;2&lt;/mn&gt;&lt;mn&gt;10&lt;/mn&gt;&lt;/mfrac&gt;&lt;/math&gt;" title="two te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83603" y="5590114"/>
            <a:ext cx="196873" cy="362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0" descr="&lt;math xmlns=&quot;http://www.w3.org/1998/Math/MathML&quot; display=&quot;block&quot; data-is-equatio=&quot;1&quot; data-latex=&quot;\frac{1}{5}&quot;&gt;&lt;mfrac&gt;&lt;mn&gt;1&lt;/mn&gt;&lt;mn&gt;5&lt;/mn&gt;&lt;/mfrac&gt;&lt;/math&gt;" title="one fif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97942" y="5590107"/>
            <a:ext cx="109392" cy="36248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0"/>
          <p:cNvSpPr txBox="1"/>
          <p:nvPr/>
        </p:nvSpPr>
        <p:spPr>
          <a:xfrm>
            <a:off x="1581695" y="5650932"/>
            <a:ext cx="18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   = 20% = 0.2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38" name="Google Shape;238;p20" descr="&lt;math xmlns=&quot;http://www.w3.org/1998/Math/MathML&quot; display=&quot;block&quot; data-is-equatio=&quot;1&quot; data-latex=&quot;\frac{1}{10}&quot;&gt;&lt;mfrac&gt;&lt;mn&gt;1&lt;/mn&gt;&lt;mn&gt;10&lt;/mn&gt;&lt;/mfrac&gt;&lt;/math&gt;" title="one tenth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35683" y="5981184"/>
            <a:ext cx="196742" cy="36226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0"/>
          <p:cNvSpPr txBox="1"/>
          <p:nvPr/>
        </p:nvSpPr>
        <p:spPr>
          <a:xfrm>
            <a:off x="2071879" y="6098710"/>
            <a:ext cx="18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10% = 0.1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40" name="Google Shape;240;p20" descr="&lt;math xmlns=&quot;http://www.w3.org/1998/Math/MathML&quot; display=&quot;block&quot; data-is-equatio=&quot;1&quot; data-latex=&quot;\frac{8}{10}&quot;&gt;&lt;mfrac&gt;&lt;mn&gt;8&lt;/mn&gt;&lt;mn&gt;10&lt;/mn&gt;&lt;/mfrac&gt;&lt;/math&gt;" title="eight ten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594178" y="6444660"/>
            <a:ext cx="195158" cy="359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0" descr="&lt;math xmlns=&quot;http://www.w3.org/1998/Math/MathML&quot; display=&quot;block&quot; data-is-equatio=&quot;1&quot; data-latex=&quot;\frac{4}{5}&quot;&gt;&lt;mfrac&gt;&lt;mn&gt;4&lt;/mn&gt;&lt;mn&gt;5&lt;/mn&gt;&lt;/mfrac&gt;&lt;/math&gt;" title="four fif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140448" y="6443670"/>
            <a:ext cx="109552" cy="36130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0"/>
          <p:cNvSpPr txBox="1"/>
          <p:nvPr/>
        </p:nvSpPr>
        <p:spPr>
          <a:xfrm>
            <a:off x="1976150" y="6568407"/>
            <a:ext cx="187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   = 80% = 0.8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476400" y="7081958"/>
            <a:ext cx="3437100" cy="13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Complete the Venn diagram given these probabilities.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2017771" y="8060423"/>
            <a:ext cx="855600" cy="3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P(A)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2017771" y="8598040"/>
            <a:ext cx="855600" cy="3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P(B)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4492806" y="7618961"/>
            <a:ext cx="2386800" cy="14406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4353454" y="7378525"/>
            <a:ext cx="27333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= {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integers 1 to 8 inclusive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4756550" y="7776712"/>
            <a:ext cx="1116300" cy="1125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4794342" y="7742728"/>
            <a:ext cx="1743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5445040" y="7776712"/>
            <a:ext cx="1116300" cy="1125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6395085" y="7742733"/>
            <a:ext cx="1743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5540899" y="8039681"/>
            <a:ext cx="174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6188942" y="8068123"/>
            <a:ext cx="174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5161110" y="8536586"/>
            <a:ext cx="174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6619921" y="8760883"/>
            <a:ext cx="174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5599075" y="8320672"/>
            <a:ext cx="174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6681580" y="8379011"/>
            <a:ext cx="174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4984253" y="8039673"/>
            <a:ext cx="174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4582277" y="8760877"/>
            <a:ext cx="174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0" name="Google Shape;260;p20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0029" y="8010425"/>
            <a:ext cx="106371" cy="348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0" descr="&lt;math xmlns=&quot;http://www.w3.org/1998/Math/MathML&quot; display=&quot;block&quot; data-is-equatio=&quot;1&quot; data-latex=&quot;\frac{3}{8}&quot;&gt;&lt;mfrac&gt;&lt;mn&gt;3&lt;/mn&gt;&lt;mn&gt;8&lt;/mn&gt;&lt;/mfrac&gt;&lt;/math&gt;" title="three eighth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500052" y="8528005"/>
            <a:ext cx="106319" cy="352368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0"/>
          <p:cNvSpPr txBox="1"/>
          <p:nvPr/>
        </p:nvSpPr>
        <p:spPr>
          <a:xfrm>
            <a:off x="476400" y="9178217"/>
            <a:ext cx="3437100" cy="3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Work out P(only 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3" name="Google Shape;263;p20" descr="&lt;math xmlns=&quot;http://www.w3.org/1998/Math/MathML&quot; display=&quot;block&quot; data-is-equatio=&quot;1&quot; data-latex=&quot;\frac{2}{8}&quot;&gt;&lt;mfrac&gt;&lt;mn&gt;2&lt;/mn&gt;&lt;mn&gt;8&lt;/mn&gt;&lt;/mfrac&gt;&lt;/math&gt;" title="two eighths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027025" y="9485815"/>
            <a:ext cx="106319" cy="35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0" descr="&lt;math xmlns=&quot;http://www.w3.org/1998/Math/MathML&quot; display=&quot;block&quot; data-is-equatio=&quot;1&quot; data-latex=&quot;\frac{1}{4}&quot;&gt;&lt;mfrac&gt;&lt;mn&gt;1&lt;/mn&gt;&lt;mn&gt;4&lt;/mn&gt;&lt;/mfrac&gt;&lt;/math&gt;" title="one fourth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364061" y="9487712"/>
            <a:ext cx="106315" cy="348594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0"/>
          <p:cNvSpPr txBox="1"/>
          <p:nvPr/>
        </p:nvSpPr>
        <p:spPr>
          <a:xfrm>
            <a:off x="2170460" y="9613643"/>
            <a:ext cx="1882800" cy="3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   = 25% = 0.25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69" name="Shape 269"/>
        <p:cNvGrpSpPr/>
        <p:nvPr/>
      </p:nvGrpSpPr>
      <p:grpSpPr>
        <a:xfrm>
          <a:off x="0" y="0"/>
          <a:ext cx="0" cy="0"/>
        </a:xfrm>
      </p:grpSpPr>
      <p:sp>
        <p:nvSpPr>
          <p:cNvPr id="270" name="Google Shape;270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theoretical probabilities from Venn diagrams (one event)</a:t>
            </a:r>
            <a:endParaRPr/>
          </a:p>
        </p:txBody>
      </p:sp>
      <p:sp>
        <p:nvSpPr>
          <p:cNvPr id="271" name="Google Shape;271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cxnSp>
        <p:nvCxnSpPr>
          <p:cNvPr id="272" name="Google Shape;272;p21"/>
          <p:cNvCxnSpPr/>
          <p:nvPr/>
        </p:nvCxnSpPr>
        <p:spPr>
          <a:xfrm>
            <a:off x="476407" y="30453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3" name="Google Shape;273;p21"/>
          <p:cNvSpPr txBox="1"/>
          <p:nvPr/>
        </p:nvSpPr>
        <p:spPr>
          <a:xfrm>
            <a:off x="476400" y="910024"/>
            <a:ext cx="3548400" cy="15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This Venn diagram shows the number of outcomes in each event.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are 21 outcomes in the sample space.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Venn diagram given these probabilities.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794653" y="2328975"/>
            <a:ext cx="10476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P(not A)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2606403" y="2328322"/>
            <a:ext cx="10083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P(only A)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4622819" y="958792"/>
            <a:ext cx="2464200" cy="1487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4478956" y="901525"/>
            <a:ext cx="139200" cy="2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4895100" y="1121651"/>
            <a:ext cx="1152600" cy="11625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4934115" y="1086566"/>
            <a:ext cx="180000" cy="2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5605877" y="1121651"/>
            <a:ext cx="1152600" cy="11625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6586675" y="1086571"/>
            <a:ext cx="180000" cy="2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5252205" y="1556122"/>
            <a:ext cx="18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6310209" y="1549796"/>
            <a:ext cx="18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6818789" y="2137682"/>
            <a:ext cx="18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5764898" y="1555919"/>
            <a:ext cx="18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86" name="Google Shape;286;p21" descr="&lt;math xmlns=&quot;http://www.w3.org/1998/Math/MathML&quot; display=&quot;block&quot; data-is-equatio=&quot;1&quot; data-latex=&quot;\frac{13}{21}&quot;&gt;&lt;mfrac&gt;&lt;mn&gt;13&lt;/mn&gt;&lt;mn&gt;21&lt;/mn&gt;&lt;/mfrac&gt;&lt;/math&gt;" title="13 over 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3024" y="2235974"/>
            <a:ext cx="180000" cy="32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1" descr="&lt;math xmlns=&quot;http://www.w3.org/1998/Math/MathML&quot; display=&quot;block&quot; data-is-equatio=&quot;1&quot; data-latex=&quot;\frac{1}{7}&quot;&gt;&lt;mfrac&gt;&lt;mn&gt;1&lt;/mn&gt;&lt;mn&gt;7&lt;/mn&gt;&lt;/mfrac&gt;&lt;/math&gt;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5714" y="2272110"/>
            <a:ext cx="98118" cy="327046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1"/>
          <p:cNvSpPr txBox="1"/>
          <p:nvPr/>
        </p:nvSpPr>
        <p:spPr>
          <a:xfrm>
            <a:off x="476400" y="3741348"/>
            <a:ext cx="6610500" cy="24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Compare the probabilities from each Venn diagram. The Venn diagrams show the number of outcomes.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468001" y="3087650"/>
            <a:ext cx="64365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Comparing probabilities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1385308" y="4512590"/>
            <a:ext cx="2074800" cy="1185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1264184" y="4466962"/>
            <a:ext cx="1170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1614553" y="4642350"/>
            <a:ext cx="970500" cy="9261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1647402" y="4553248"/>
            <a:ext cx="1515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2212985" y="4642350"/>
            <a:ext cx="970500" cy="9261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3038760" y="4553252"/>
            <a:ext cx="1515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1915214" y="4988520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2805991" y="4983481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3147518" y="5451895"/>
            <a:ext cx="238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2346872" y="4988358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2014308" y="4247506"/>
            <a:ext cx="7284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Venn 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4320419" y="4512590"/>
            <a:ext cx="2074800" cy="1185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4199295" y="4466962"/>
            <a:ext cx="1170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4549664" y="4642350"/>
            <a:ext cx="970500" cy="9261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4582513" y="4553248"/>
            <a:ext cx="1515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5148097" y="4642350"/>
            <a:ext cx="970500" cy="9261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5973871" y="4553252"/>
            <a:ext cx="1515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4850326" y="4988520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5741103" y="4983481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6169297" y="5451886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5281983" y="4988358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4949420" y="4247506"/>
            <a:ext cx="7284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Venn 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476400" y="6003834"/>
            <a:ext cx="6972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P(A)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1805667" y="6003834"/>
            <a:ext cx="13803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Venn 1: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P(A) =     =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3822615" y="6003834"/>
            <a:ext cx="12606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Venn 2: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P(A) =     =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5589175" y="6003825"/>
            <a:ext cx="12606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So event A is more likely in Venn 2.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16" name="Google Shape;316;p21" descr="&lt;math xmlns=&quot;http://www.w3.org/1998/Math/MathML&quot; display=&quot;block&quot; data-is-equatio=&quot;1&quot; data-latex=&quot;\ \frac{11}{30}&quot;&gt;&lt;mtext&gt;&lt;/mtext&gt;&lt;mfrac&gt;&lt;mn&gt;11&lt;/mn&gt;&lt;mn&gt;30&lt;/mn&gt;&lt;/mfrac&gt;&lt;/math&gt;" title="11 over 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71551" y="6261177"/>
            <a:ext cx="189781" cy="34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1" descr="&lt;math xmlns=&quot;http://www.w3.org/1998/Math/MathML&quot; display=&quot;block&quot; data-is-equatio=&quot;1&quot; data-latex=&quot;\frac{8}{20}&quot;&gt;&lt;mfrac&gt;&lt;mn&gt;8&lt;/mn&gt;&lt;mn&gt;20&lt;/mn&gt;&lt;/mfrac&gt;&lt;/math&gt;" title="8 over 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78460" y="6261177"/>
            <a:ext cx="189781" cy="34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1" descr="&lt;math xmlns=&quot;http://www.w3.org/1998/Math/MathML&quot; display=&quot;block&quot; data-is-equatio=&quot;1&quot; data-latex=&quot;\frac{24}{60}&quot;&gt;&lt;mfrac&gt;&lt;mn&gt;24&lt;/mn&gt;&lt;mn&gt;60&lt;/mn&gt;&lt;/mfrac&gt;&lt;/math&gt;" title="24 over 6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91964" y="6263480"/>
            <a:ext cx="189781" cy="348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1" descr="&lt;math xmlns=&quot;http://www.w3.org/1998/Math/MathML&quot; display=&quot;block&quot; data-is-equatio=&quot;1&quot; data-latex=&quot;\frac{22}{60}&quot;&gt;&lt;mfrac&gt;&lt;mn&gt;22&lt;/mn&gt;&lt;mn&gt;60&lt;/mn&gt;&lt;/mfrac&gt;&lt;/math&gt;" title="22 over 6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60198" y="6264437"/>
            <a:ext cx="187907" cy="346195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1"/>
          <p:cNvSpPr txBox="1"/>
          <p:nvPr/>
        </p:nvSpPr>
        <p:spPr>
          <a:xfrm>
            <a:off x="476400" y="6915269"/>
            <a:ext cx="13617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P(only 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1"/>
          <p:cNvSpPr txBox="1"/>
          <p:nvPr/>
        </p:nvSpPr>
        <p:spPr>
          <a:xfrm>
            <a:off x="1795726" y="6915269"/>
            <a:ext cx="1679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Venn 1: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P(only A) =    =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3834684" y="6915269"/>
            <a:ext cx="21879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Venn 2: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P(only A) =    =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>
            <a:off x="5519275" y="6855300"/>
            <a:ext cx="15678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So only event A is more likely in Venn 1.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24" name="Google Shape;324;p21" descr="&lt;math xmlns=&quot;http://www.w3.org/1998/Math/MathML&quot; display=&quot;block&quot; data-is-equatio=&quot;1&quot; data-latex=&quot;\frac{8}{30}&quot;&gt;&lt;mfrac&gt;&lt;mn&gt;8&lt;/mn&gt;&lt;mn&gt;30&lt;/mn&gt;&lt;/mfrac&gt;&lt;/math&gt;" title="8 over 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651051" y="7194796"/>
            <a:ext cx="187455" cy="345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1" descr="&lt;math xmlns=&quot;http://www.w3.org/1998/Math/MathML&quot; display=&quot;block&quot; data-is-equatio=&quot;1&quot; data-latex=&quot;\frac{5}{20}&quot;&gt;&lt;mfrac&gt;&lt;mn&gt;5&lt;/mn&gt;&lt;mn&gt;20&lt;/mn&gt;&lt;/mfrac&gt;&lt;/math&gt;" title="5 over 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672544" y="7194796"/>
            <a:ext cx="187341" cy="345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1" descr="&lt;math xmlns=&quot;http://www.w3.org/1998/Math/MathML&quot; display=&quot;block&quot; data-is-equatio=&quot;1&quot; data-latex=&quot;\frac{15}{60}&quot;&gt;&lt;mfrac&gt;&lt;mn&gt;15&lt;/mn&gt;&lt;mn&gt;60&lt;/mn&gt;&lt;/mfrac&gt;&lt;/math&gt;" title="15 over 6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018322" y="7198959"/>
            <a:ext cx="186654" cy="345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1" descr="&lt;math xmlns=&quot;http://www.w3.org/1998/Math/MathML&quot; display=&quot;block&quot; data-is-equatio=&quot;1&quot; data-latex=&quot;\frac{16}{60}&quot;&gt;&lt;mfrac&gt;&lt;mn&gt;16&lt;/mn&gt;&lt;mn&gt;60&lt;/mn&gt;&lt;/mfrac&gt;&lt;/math&gt;" title="16 over 6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028426" y="7193726"/>
            <a:ext cx="186790" cy="345166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1"/>
          <p:cNvSpPr txBox="1"/>
          <p:nvPr/>
        </p:nvSpPr>
        <p:spPr>
          <a:xfrm>
            <a:off x="476400" y="7905870"/>
            <a:ext cx="9516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P(not 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1795753" y="7905870"/>
            <a:ext cx="16794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Venn 1: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P(not B) =    =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3834753" y="7905870"/>
            <a:ext cx="21882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Venn 2: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P(not B) =    =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1" name="Google Shape;331;p21"/>
          <p:cNvSpPr txBox="1"/>
          <p:nvPr/>
        </p:nvSpPr>
        <p:spPr>
          <a:xfrm>
            <a:off x="5519026" y="7845900"/>
            <a:ext cx="15678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So not event B is more likely in Venn 1.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32" name="Google Shape;332;p21" descr="&lt;math xmlns=&quot;http://www.w3.org/1998/Math/MathML&quot; display=&quot;block&quot; data-is-equatio=&quot;1&quot; data-latex=&quot;\frac{20}{30}&quot;&gt;&lt;mfrac&gt;&lt;mn&gt;20&lt;/mn&gt;&lt;mn&gt;30&lt;/mn&gt;&lt;/mfrac&gt;&lt;/math&gt;" title="20 over 3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623100" y="8185301"/>
            <a:ext cx="176641" cy="325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1" descr="&lt;math xmlns=&quot;http://www.w3.org/1998/Math/MathML&quot; display=&quot;block&quot; data-is-equatio=&quot;1&quot; data-latex=&quot;\frac{40}{60}&quot;&gt;&lt;mfrac&gt;&lt;mn&gt;40&lt;/mn&gt;&lt;mn&gt;60&lt;/mn&gt;&lt;/mfrac&gt;&lt;/math&gt;" title="40 over 6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962134" y="8184400"/>
            <a:ext cx="178293" cy="327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1" descr="&lt;math xmlns=&quot;http://www.w3.org/1998/Math/MathML&quot; display=&quot;block&quot; data-is-equatio=&quot;1&quot; data-latex=&quot;\frac{11}{20}&quot;&gt;&lt;mfrac&gt;&lt;mn&gt;11&lt;/mn&gt;&lt;mn&gt;20&lt;/mn&gt;&lt;/mfrac&gt;&lt;/math&gt;" title="11 over 2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616234" y="8185294"/>
            <a:ext cx="176641" cy="325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1" descr="&lt;math xmlns=&quot;http://www.w3.org/1998/Math/MathML&quot; display=&quot;block&quot; data-is-equatio=&quot;1&quot; data-latex=&quot;\frac{33}{60}&quot;&gt;&lt;mfrac&gt;&lt;mn&gt;33&lt;/mn&gt;&lt;mn&gt;60&lt;/mn&gt;&lt;/mfrac&gt;&lt;/math&gt;" title="33 over 6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978659" y="8185376"/>
            <a:ext cx="176441" cy="325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39" name="Shape 339"/>
        <p:cNvGrpSpPr/>
        <p:nvPr/>
      </p:nvGrpSpPr>
      <p:grpSpPr>
        <a:xfrm>
          <a:off x="0" y="0"/>
          <a:ext cx="0" cy="0"/>
        </a:xfrm>
      </p:grpSpPr>
      <p:sp>
        <p:nvSpPr>
          <p:cNvPr id="340" name="Google Shape;340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341" name="Google Shape;341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theoretical probabilities from Venn diagrams (one event)</a:t>
            </a:r>
            <a:endParaRPr/>
          </a:p>
        </p:txBody>
      </p:sp>
      <p:sp>
        <p:nvSpPr>
          <p:cNvPr id="342" name="Google Shape;342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44" name="Google Shape;344;p22"/>
          <p:cNvSpPr/>
          <p:nvPr/>
        </p:nvSpPr>
        <p:spPr>
          <a:xfrm>
            <a:off x="1386018" y="1531128"/>
            <a:ext cx="2076300" cy="13191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2"/>
          <p:cNvSpPr/>
          <p:nvPr/>
        </p:nvSpPr>
        <p:spPr>
          <a:xfrm>
            <a:off x="4262198" y="1531128"/>
            <a:ext cx="2076300" cy="13191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2"/>
          <p:cNvSpPr/>
          <p:nvPr/>
        </p:nvSpPr>
        <p:spPr>
          <a:xfrm>
            <a:off x="4784531" y="2028160"/>
            <a:ext cx="971100" cy="7011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22"/>
          <p:cNvSpPr/>
          <p:nvPr/>
        </p:nvSpPr>
        <p:spPr>
          <a:xfrm>
            <a:off x="1908351" y="2011438"/>
            <a:ext cx="971100" cy="7011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22"/>
          <p:cNvSpPr txBox="1"/>
          <p:nvPr/>
        </p:nvSpPr>
        <p:spPr>
          <a:xfrm>
            <a:off x="476400" y="759300"/>
            <a:ext cx="6615600" cy="24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Compare the probabilities from each Venn diagram. The Venn diagrams show the number of outcomes.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" name="Google Shape;349;p22"/>
          <p:cNvSpPr txBox="1"/>
          <p:nvPr/>
        </p:nvSpPr>
        <p:spPr>
          <a:xfrm>
            <a:off x="1264792" y="1485473"/>
            <a:ext cx="1170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22"/>
          <p:cNvSpPr/>
          <p:nvPr/>
        </p:nvSpPr>
        <p:spPr>
          <a:xfrm>
            <a:off x="1615440" y="1660988"/>
            <a:ext cx="971100" cy="7011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2"/>
          <p:cNvSpPr txBox="1"/>
          <p:nvPr/>
        </p:nvSpPr>
        <p:spPr>
          <a:xfrm>
            <a:off x="1648305" y="1571825"/>
            <a:ext cx="1515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22"/>
          <p:cNvSpPr/>
          <p:nvPr/>
        </p:nvSpPr>
        <p:spPr>
          <a:xfrm>
            <a:off x="2214327" y="1660988"/>
            <a:ext cx="971100" cy="7011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2"/>
          <p:cNvSpPr txBox="1"/>
          <p:nvPr/>
        </p:nvSpPr>
        <p:spPr>
          <a:xfrm>
            <a:off x="3040737" y="1571829"/>
            <a:ext cx="1515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2"/>
          <p:cNvSpPr txBox="1"/>
          <p:nvPr/>
        </p:nvSpPr>
        <p:spPr>
          <a:xfrm>
            <a:off x="1855129" y="1823847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2"/>
          <p:cNvSpPr txBox="1"/>
          <p:nvPr/>
        </p:nvSpPr>
        <p:spPr>
          <a:xfrm>
            <a:off x="2807789" y="1818803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2"/>
          <p:cNvSpPr txBox="1"/>
          <p:nvPr/>
        </p:nvSpPr>
        <p:spPr>
          <a:xfrm>
            <a:off x="3149579" y="2471164"/>
            <a:ext cx="238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2"/>
          <p:cNvSpPr txBox="1"/>
          <p:nvPr/>
        </p:nvSpPr>
        <p:spPr>
          <a:xfrm>
            <a:off x="2348315" y="2007271"/>
            <a:ext cx="15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2"/>
          <p:cNvSpPr txBox="1"/>
          <p:nvPr/>
        </p:nvSpPr>
        <p:spPr>
          <a:xfrm>
            <a:off x="2015495" y="1265848"/>
            <a:ext cx="7290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Venn 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>
            <a:off x="4952870" y="1265848"/>
            <a:ext cx="7290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Venn 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2"/>
          <p:cNvSpPr txBox="1"/>
          <p:nvPr/>
        </p:nvSpPr>
        <p:spPr>
          <a:xfrm>
            <a:off x="476400" y="3175928"/>
            <a:ext cx="6978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P(A)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>
            <a:off x="1917919" y="2587837"/>
            <a:ext cx="1515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2"/>
          <p:cNvSpPr txBox="1"/>
          <p:nvPr/>
        </p:nvSpPr>
        <p:spPr>
          <a:xfrm>
            <a:off x="4140972" y="1485473"/>
            <a:ext cx="1170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22"/>
          <p:cNvSpPr/>
          <p:nvPr/>
        </p:nvSpPr>
        <p:spPr>
          <a:xfrm>
            <a:off x="4491620" y="1660988"/>
            <a:ext cx="971100" cy="7011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2"/>
          <p:cNvSpPr txBox="1"/>
          <p:nvPr/>
        </p:nvSpPr>
        <p:spPr>
          <a:xfrm>
            <a:off x="4524485" y="1571825"/>
            <a:ext cx="1515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2"/>
          <p:cNvSpPr/>
          <p:nvPr/>
        </p:nvSpPr>
        <p:spPr>
          <a:xfrm>
            <a:off x="5090508" y="1660988"/>
            <a:ext cx="971100" cy="7011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2"/>
          <p:cNvSpPr txBox="1"/>
          <p:nvPr/>
        </p:nvSpPr>
        <p:spPr>
          <a:xfrm>
            <a:off x="5916917" y="1571829"/>
            <a:ext cx="1515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2"/>
          <p:cNvSpPr txBox="1"/>
          <p:nvPr/>
        </p:nvSpPr>
        <p:spPr>
          <a:xfrm>
            <a:off x="4731309" y="1823847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22"/>
          <p:cNvSpPr txBox="1"/>
          <p:nvPr/>
        </p:nvSpPr>
        <p:spPr>
          <a:xfrm>
            <a:off x="5683969" y="1818803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2"/>
          <p:cNvSpPr txBox="1"/>
          <p:nvPr/>
        </p:nvSpPr>
        <p:spPr>
          <a:xfrm>
            <a:off x="6025759" y="2471164"/>
            <a:ext cx="238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2"/>
          <p:cNvSpPr txBox="1"/>
          <p:nvPr/>
        </p:nvSpPr>
        <p:spPr>
          <a:xfrm>
            <a:off x="5224495" y="2043179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22"/>
          <p:cNvSpPr txBox="1"/>
          <p:nvPr/>
        </p:nvSpPr>
        <p:spPr>
          <a:xfrm>
            <a:off x="4791992" y="2587837"/>
            <a:ext cx="1515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2"/>
          <p:cNvSpPr txBox="1"/>
          <p:nvPr/>
        </p:nvSpPr>
        <p:spPr>
          <a:xfrm>
            <a:off x="2354040" y="2409969"/>
            <a:ext cx="238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2"/>
          <p:cNvSpPr txBox="1"/>
          <p:nvPr/>
        </p:nvSpPr>
        <p:spPr>
          <a:xfrm>
            <a:off x="2660017" y="2103992"/>
            <a:ext cx="238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22"/>
          <p:cNvSpPr txBox="1"/>
          <p:nvPr/>
        </p:nvSpPr>
        <p:spPr>
          <a:xfrm>
            <a:off x="2048063" y="2103992"/>
            <a:ext cx="238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22"/>
          <p:cNvSpPr txBox="1"/>
          <p:nvPr/>
        </p:nvSpPr>
        <p:spPr>
          <a:xfrm>
            <a:off x="5181212" y="2409969"/>
            <a:ext cx="238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2"/>
          <p:cNvSpPr txBox="1"/>
          <p:nvPr/>
        </p:nvSpPr>
        <p:spPr>
          <a:xfrm>
            <a:off x="5224132" y="1797280"/>
            <a:ext cx="238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2"/>
          <p:cNvSpPr txBox="1"/>
          <p:nvPr/>
        </p:nvSpPr>
        <p:spPr>
          <a:xfrm>
            <a:off x="5456952" y="2122162"/>
            <a:ext cx="238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22"/>
          <p:cNvSpPr txBox="1"/>
          <p:nvPr/>
        </p:nvSpPr>
        <p:spPr>
          <a:xfrm>
            <a:off x="1394330" y="3175928"/>
            <a:ext cx="17136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Venn 1: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P(A) =     =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9" name="Google Shape;379;p22"/>
          <p:cNvSpPr txBox="1"/>
          <p:nvPr/>
        </p:nvSpPr>
        <p:spPr>
          <a:xfrm>
            <a:off x="3474971" y="3175928"/>
            <a:ext cx="22326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Venn 2: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P(A) =     =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0" name="Google Shape;380;p22"/>
          <p:cNvSpPr txBox="1"/>
          <p:nvPr/>
        </p:nvSpPr>
        <p:spPr>
          <a:xfrm>
            <a:off x="5624650" y="3146350"/>
            <a:ext cx="14550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So event A is more likely in Venn 1.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81" name="Google Shape;381;p22" descr="&lt;math xmlns=&quot;http://www.w3.org/1998/Math/MathML&quot; display=&quot;block&quot; data-is-equatio=&quot;1&quot; data-latex=&quot;\frac{11}{32}&quot;&gt;&lt;mfrac&gt;&lt;mn&gt;11&lt;/mn&gt;&lt;mn&gt;32&lt;/mn&gt;&lt;/mfrac&gt;&lt;/math&gt;" title="11 over 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4291" y="3433475"/>
            <a:ext cx="189990" cy="349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2" descr="&lt;math xmlns=&quot;http://www.w3.org/1998/Math/MathML&quot; display=&quot;block&quot; data-is-equatio=&quot;1&quot; data-latex=&quot;\frac{10}{24}&quot;&gt;&lt;mfrac&gt;&lt;mn&gt;10&lt;/mn&gt;&lt;mn&gt;24&lt;/mn&gt;&lt;/mfrac&gt;&lt;/math&gt;" title="10 over 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7675" y="3443673"/>
            <a:ext cx="188196" cy="34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22" descr="&lt;math xmlns=&quot;http://www.w3.org/1998/Math/MathML&quot; display=&quot;block&quot; data-is-equatio=&quot;1&quot; data-latex=&quot;\frac{40}{96}&quot;&gt;&lt;mfrac&gt;&lt;mn&gt;40&lt;/mn&gt;&lt;mn&gt;96&lt;/mn&gt;&lt;/mfrac&gt;&lt;/math&gt;" title="40 over 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28829" y="3439429"/>
            <a:ext cx="190176" cy="349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2" descr="&lt;math xmlns=&quot;http://www.w3.org/1998/Math/MathML&quot; display=&quot;block&quot; data-is-equatio=&quot;1&quot; data-latex=&quot;\frac{33}{96}&quot;&gt;&lt;mfrac&gt;&lt;mn&gt;33&lt;/mn&gt;&lt;mn&gt;96&lt;/mn&gt;&lt;/mfrac&gt;&lt;/math&gt;" title="33 over 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10126" y="3434527"/>
            <a:ext cx="188193" cy="347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2" descr="&lt;math xmlns=&quot;http://www.w3.org/1998/Math/MathML&quot; display=&quot;block&quot; data-is-equatio=&quot;1&quot; data-latex=&quot;\frac{24}{96}&quot;&gt;&lt;mfrac&gt;&lt;mn&gt;24&lt;/mn&gt;&lt;mn&gt;96&lt;/mn&gt;&lt;/mfrac&gt;&lt;/math&gt;" title="24 over 9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43262" y="4474722"/>
            <a:ext cx="199163" cy="363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2" descr="&lt;math xmlns=&quot;http://www.w3.org/1998/Math/MathML&quot; display=&quot;block&quot; data-is-equatio=&quot;1&quot; data-latex=&quot;\frac{8}{32}&quot;&gt;&lt;mfrac&gt;&lt;mn&gt;8&lt;/mn&gt;&lt;mn&gt;32&lt;/mn&gt;&lt;/mfrac&gt;&lt;/math&gt;" title="8 over 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03600" y="4469512"/>
            <a:ext cx="199163" cy="369117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2"/>
          <p:cNvSpPr txBox="1"/>
          <p:nvPr/>
        </p:nvSpPr>
        <p:spPr>
          <a:xfrm>
            <a:off x="476400" y="4252386"/>
            <a:ext cx="730800" cy="2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P(C)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8" name="Google Shape;388;p22"/>
          <p:cNvSpPr txBox="1"/>
          <p:nvPr/>
        </p:nvSpPr>
        <p:spPr>
          <a:xfrm>
            <a:off x="1437678" y="4252386"/>
            <a:ext cx="1794300" cy="2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Venn 1: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P(C) =     =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9" name="Google Shape;389;p22"/>
          <p:cNvSpPr txBox="1"/>
          <p:nvPr/>
        </p:nvSpPr>
        <p:spPr>
          <a:xfrm>
            <a:off x="3616576" y="4252386"/>
            <a:ext cx="2338200" cy="2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Venn 2: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P(C) =      =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0" name="Google Shape;390;p22"/>
          <p:cNvSpPr txBox="1"/>
          <p:nvPr/>
        </p:nvSpPr>
        <p:spPr>
          <a:xfrm>
            <a:off x="5636963" y="4188300"/>
            <a:ext cx="1455000" cy="2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So event C is more likely in Venn 1.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91" name="Google Shape;391;p22" descr="&lt;math xmlns=&quot;http://www.w3.org/1998/Math/MathML&quot; display=&quot;block&quot; data-is-equatio=&quot;1&quot; data-latex=&quot;\frac{10}{24}&quot;&gt;&lt;mfrac&gt;&lt;mn&gt;10&lt;/mn&gt;&lt;mn&gt;24&lt;/mn&gt;&lt;/mfrac&gt;&lt;/math&gt;" title="10 over 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8437" y="4464565"/>
            <a:ext cx="197084" cy="357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22" descr="&lt;math xmlns=&quot;http://www.w3.org/1998/Math/MathML&quot; display=&quot;block&quot; data-is-equatio=&quot;1&quot; data-latex=&quot;\frac{40}{96}&quot;&gt;&lt;mfrac&gt;&lt;mn&gt;40&lt;/mn&gt;&lt;mn&gt;96&lt;/mn&gt;&lt;/mfrac&gt;&lt;/math&gt;" title="40 over 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08063" y="4460120"/>
            <a:ext cx="199157" cy="366357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2"/>
          <p:cNvSpPr txBox="1"/>
          <p:nvPr/>
        </p:nvSpPr>
        <p:spPr>
          <a:xfrm>
            <a:off x="476400" y="5241175"/>
            <a:ext cx="10653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P(not 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p22"/>
          <p:cNvSpPr txBox="1"/>
          <p:nvPr/>
        </p:nvSpPr>
        <p:spPr>
          <a:xfrm>
            <a:off x="1597358" y="5241175"/>
            <a:ext cx="17436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Venn 1: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P(not B) =     =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5" name="Google Shape;395;p22"/>
          <p:cNvSpPr txBox="1"/>
          <p:nvPr/>
        </p:nvSpPr>
        <p:spPr>
          <a:xfrm>
            <a:off x="3714722" y="5241175"/>
            <a:ext cx="227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Venn 2: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P(not B) =     =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6" name="Google Shape;396;p22"/>
          <p:cNvSpPr txBox="1"/>
          <p:nvPr/>
        </p:nvSpPr>
        <p:spPr>
          <a:xfrm>
            <a:off x="5678053" y="5178900"/>
            <a:ext cx="14139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So not event B is more likely in Venn 2.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97" name="Google Shape;397;p22" descr="&lt;math xmlns=&quot;http://www.w3.org/1998/Math/MathML&quot; display=&quot;block&quot; data-is-equatio=&quot;1&quot; data-latex=&quot;\frac{11}{24}&quot;&gt;&lt;mfrac&gt;&lt;mn&gt;11&lt;/mn&gt;&lt;mn&gt;24&lt;/mn&gt;&lt;/mfrac&gt;&lt;/math&gt;" title="11 over 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08032" y="5491536"/>
            <a:ext cx="192924" cy="349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2" descr="&lt;math xmlns=&quot;http://www.w3.org/1998/Math/MathML&quot; display=&quot;block&quot; data-is-equatio=&quot;1&quot; data-latex=&quot;\frac{44}{96}&quot;&gt;&lt;mfrac&gt;&lt;mn&gt;44&lt;/mn&gt;&lt;mn&gt;96&lt;/mn&gt;&lt;/mfrac&gt;&lt;/math&gt;" title="44 over 9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82306" y="5491536"/>
            <a:ext cx="193343" cy="355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22" descr="&lt;math xmlns=&quot;http://www.w3.org/1998/Math/MathML&quot; display=&quot;block&quot; data-is-equatio=&quot;1&quot; data-latex=&quot;\frac{15}{32}&quot;&gt;&lt;mfrac&gt;&lt;mn&gt;15&lt;/mn&gt;&lt;mn&gt;32&lt;/mn&gt;&lt;/mfrac&gt;&lt;/math&gt;" title="15 over 3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563925" y="5485655"/>
            <a:ext cx="191992" cy="353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2" descr="&lt;math xmlns=&quot;http://www.w3.org/1998/Math/MathML&quot; display=&quot;block&quot; data-is-equatio=&quot;1&quot; data-latex=&quot;\frac{45}{96}&quot;&gt;&lt;mfrac&gt;&lt;mn&gt;45&lt;/mn&gt;&lt;mn&gt;96&lt;/mn&gt;&lt;/mfrac&gt;&lt;/math&gt;" title="45 over 9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927139" y="5491536"/>
            <a:ext cx="190536" cy="355653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2"/>
          <p:cNvSpPr txBox="1"/>
          <p:nvPr/>
        </p:nvSpPr>
        <p:spPr>
          <a:xfrm>
            <a:off x="476400" y="6474300"/>
            <a:ext cx="6615600" cy="24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Complete the second Venn diagram with number of outcomes such that you are more likely to select an outcome from event B in Venn 2.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22"/>
          <p:cNvSpPr/>
          <p:nvPr/>
        </p:nvSpPr>
        <p:spPr>
          <a:xfrm>
            <a:off x="1386009" y="7429722"/>
            <a:ext cx="2076300" cy="11859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>
            <a:off x="1264792" y="7384058"/>
            <a:ext cx="1170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4" name="Google Shape;404;p22"/>
          <p:cNvSpPr/>
          <p:nvPr/>
        </p:nvSpPr>
        <p:spPr>
          <a:xfrm>
            <a:off x="1615431" y="7559581"/>
            <a:ext cx="971100" cy="9267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>
            <a:off x="1648305" y="7470411"/>
            <a:ext cx="1515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2"/>
          <p:cNvSpPr/>
          <p:nvPr/>
        </p:nvSpPr>
        <p:spPr>
          <a:xfrm>
            <a:off x="2214325" y="7559581"/>
            <a:ext cx="971100" cy="9267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3040737" y="7470415"/>
            <a:ext cx="1515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>
            <a:off x="1916325" y="7906018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>
            <a:off x="2807789" y="7900974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0" name="Google Shape;410;p22"/>
          <p:cNvSpPr txBox="1"/>
          <p:nvPr/>
        </p:nvSpPr>
        <p:spPr>
          <a:xfrm>
            <a:off x="3149579" y="8369749"/>
            <a:ext cx="238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22"/>
          <p:cNvSpPr txBox="1"/>
          <p:nvPr/>
        </p:nvSpPr>
        <p:spPr>
          <a:xfrm>
            <a:off x="2348315" y="7905856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22"/>
          <p:cNvSpPr txBox="1"/>
          <p:nvPr/>
        </p:nvSpPr>
        <p:spPr>
          <a:xfrm>
            <a:off x="2015495" y="7164434"/>
            <a:ext cx="7290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Venn 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3" name="Google Shape;413;p22"/>
          <p:cNvSpPr/>
          <p:nvPr/>
        </p:nvSpPr>
        <p:spPr>
          <a:xfrm>
            <a:off x="4323385" y="7429722"/>
            <a:ext cx="2076300" cy="11859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4" name="Google Shape;414;p22"/>
          <p:cNvSpPr txBox="1"/>
          <p:nvPr/>
        </p:nvSpPr>
        <p:spPr>
          <a:xfrm>
            <a:off x="4202167" y="7384058"/>
            <a:ext cx="1170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5" name="Google Shape;415;p22"/>
          <p:cNvSpPr/>
          <p:nvPr/>
        </p:nvSpPr>
        <p:spPr>
          <a:xfrm>
            <a:off x="4552807" y="7559581"/>
            <a:ext cx="971100" cy="9267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22"/>
          <p:cNvSpPr txBox="1"/>
          <p:nvPr/>
        </p:nvSpPr>
        <p:spPr>
          <a:xfrm>
            <a:off x="4585681" y="7470411"/>
            <a:ext cx="1515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22"/>
          <p:cNvSpPr/>
          <p:nvPr/>
        </p:nvSpPr>
        <p:spPr>
          <a:xfrm>
            <a:off x="5151701" y="7559581"/>
            <a:ext cx="971100" cy="9267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22"/>
          <p:cNvSpPr txBox="1"/>
          <p:nvPr/>
        </p:nvSpPr>
        <p:spPr>
          <a:xfrm>
            <a:off x="5978112" y="7470415"/>
            <a:ext cx="1515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22"/>
          <p:cNvSpPr txBox="1"/>
          <p:nvPr/>
        </p:nvSpPr>
        <p:spPr>
          <a:xfrm>
            <a:off x="4853700" y="7906018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22"/>
          <p:cNvSpPr txBox="1"/>
          <p:nvPr/>
        </p:nvSpPr>
        <p:spPr>
          <a:xfrm>
            <a:off x="5745164" y="7900974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1" name="Google Shape;421;p22"/>
          <p:cNvSpPr txBox="1"/>
          <p:nvPr/>
        </p:nvSpPr>
        <p:spPr>
          <a:xfrm>
            <a:off x="6086955" y="8369749"/>
            <a:ext cx="238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22"/>
          <p:cNvSpPr txBox="1"/>
          <p:nvPr/>
        </p:nvSpPr>
        <p:spPr>
          <a:xfrm>
            <a:off x="5285690" y="7905856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3" name="Google Shape;423;p22"/>
          <p:cNvSpPr txBox="1"/>
          <p:nvPr/>
        </p:nvSpPr>
        <p:spPr>
          <a:xfrm>
            <a:off x="4952870" y="7164434"/>
            <a:ext cx="7290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Venn 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22"/>
          <p:cNvSpPr txBox="1"/>
          <p:nvPr/>
        </p:nvSpPr>
        <p:spPr>
          <a:xfrm>
            <a:off x="4519705" y="8776593"/>
            <a:ext cx="2472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Any integer greater than 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425" name="Google Shape;425;p22"/>
          <p:cNvCxnSpPr>
            <a:stCxn id="420" idx="2"/>
            <a:endCxn id="424" idx="0"/>
          </p:cNvCxnSpPr>
          <p:nvPr/>
        </p:nvCxnSpPr>
        <p:spPr>
          <a:xfrm flipH="1">
            <a:off x="5755814" y="8085774"/>
            <a:ext cx="65100" cy="6909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180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Calculating theoretical probabilities from Venn diagrams (one event)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2024-03-05T12:47:21.215</cp:lastPrinted>
  <dcterms:created xsi:type="dcterms:W3CDTF">2024-03-05T12:47:21Z</dcterms:created>
  <dcterms:modified xsi:type="dcterms:W3CDTF">2024-03-05T12:47:32Z</dcterms:modified>
</cp:coreProperties>
</file>