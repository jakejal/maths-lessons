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FFC99133-0131-4958-B7B7-6030D925380B}">
  <a:tblStyle styleId="{FFC99133-0131-4958-B7B7-6030D925380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</a:tblStyle>
  <a:tblStyle styleId="{E849BBBD-7E3F-4147-94F9-6DA72BF7FA0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85" name="Shape 285"/>
        <p:cNvGrpSpPr/>
        <p:nvPr/>
      </p:nvGrpSpPr>
      <p:grpSpPr>
        <a:xfrm>
          <a:off x="0" y="0"/>
          <a:ext cx="0" cy="0"/>
        </a:xfrm>
      </p:grpSpPr>
      <p:sp>
        <p:nvSpPr>
          <p:cNvPr id="286" name="Google Shape;286;g2bdc893d75d_0_127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bdc893d75d_0_1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62" name="Shape 362"/>
        <p:cNvGrpSpPr/>
        <p:nvPr/>
      </p:nvGrpSpPr>
      <p:grpSpPr>
        <a:xfrm>
          <a:off x="0" y="0"/>
          <a:ext cx="0" cy="0"/>
        </a:xfrm>
      </p:grpSpPr>
      <p:sp>
        <p:nvSpPr>
          <p:cNvPr id="363" name="Google Shape;363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13" Type="http://schemas.openxmlformats.org/officeDocument/2006/relationships/image" Target="../media/image17.png" /><Relationship Id="rId14" Type="http://schemas.openxmlformats.org/officeDocument/2006/relationships/image" Target="../media/image18.png" /><Relationship Id="rId15" Type="http://schemas.openxmlformats.org/officeDocument/2006/relationships/image" Target="../media/image19.png" /><Relationship Id="rId16" Type="http://schemas.openxmlformats.org/officeDocument/2006/relationships/image" Target="../media/image20.png" /><Relationship Id="rId17" Type="http://schemas.openxmlformats.org/officeDocument/2006/relationships/image" Target="../media/image21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10" Type="http://schemas.openxmlformats.org/officeDocument/2006/relationships/image" Target="../media/image29.png" /><Relationship Id="rId11" Type="http://schemas.openxmlformats.org/officeDocument/2006/relationships/image" Target="../media/image30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22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5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28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31.png" /><Relationship Id="rId4" Type="http://schemas.openxmlformats.org/officeDocument/2006/relationships/image" Target="../media/image32.png" /><Relationship Id="rId5" Type="http://schemas.openxmlformats.org/officeDocument/2006/relationships/image" Target="../media/image33.png" /><Relationship Id="rId6" Type="http://schemas.openxmlformats.org/officeDocument/2006/relationships/image" Target="../media/image34.png" /><Relationship Id="rId7" Type="http://schemas.openxmlformats.org/officeDocument/2006/relationships/image" Target="../media/image35.png" /><Relationship Id="rId8" Type="http://schemas.openxmlformats.org/officeDocument/2006/relationships/image" Target="../media/image36.png" /><Relationship Id="rId9" Type="http://schemas.openxmlformats.org/officeDocument/2006/relationships/image" Target="../media/image3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/>
          <p:nvPr/>
        </p:nvSpPr>
        <p:spPr>
          <a:xfrm>
            <a:off x="4119489" y="2984400"/>
            <a:ext cx="635400" cy="20205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2" name="Google Shape;172;p20"/>
          <p:cNvCxnSpPr>
            <a:stCxn id="171" idx="0"/>
          </p:cNvCxnSpPr>
          <p:nvPr/>
        </p:nvCxnSpPr>
        <p:spPr>
          <a:xfrm flipH="1">
            <a:off x="4437189" y="2984400"/>
            <a:ext cx="0" cy="2020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3" name="Google Shape;173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4" name="Google Shape;174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multiple representations to calculate theoretical probabilities for combined events</a:t>
            </a:r>
            <a:endParaRPr/>
          </a:p>
        </p:txBody>
      </p:sp>
      <p:cxnSp>
        <p:nvCxnSpPr>
          <p:cNvPr id="175" name="Google Shape;175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6" name="Google Shape;176;p20"/>
          <p:cNvSpPr txBox="1"/>
          <p:nvPr/>
        </p:nvSpPr>
        <p:spPr>
          <a:xfrm>
            <a:off x="1882945" y="2096794"/>
            <a:ext cx="5209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Trial: this spinner is spun twice, with the outcomes of each spin multiplied together.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Complete the outcome table and probability tree for this trial.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1670900"/>
            <a:ext cx="6610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Showing two-stage trials across different diagrams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8" name="Google Shape;178;p20"/>
          <p:cNvGrpSpPr/>
          <p:nvPr/>
        </p:nvGrpSpPr>
        <p:grpSpPr>
          <a:xfrm>
            <a:off x="467966" y="1808130"/>
            <a:ext cx="1414851" cy="1414683"/>
            <a:chOff x="698170" y="423326"/>
            <a:chExt cx="1814842" cy="1814627"/>
          </a:xfrm>
        </p:grpSpPr>
        <p:sp>
          <p:nvSpPr>
            <p:cNvPr id="179" name="Google Shape;179;p20"/>
            <p:cNvSpPr/>
            <p:nvPr/>
          </p:nvSpPr>
          <p:spPr>
            <a:xfrm rot="10800000">
              <a:off x="941822" y="666567"/>
              <a:ext cx="1328100" cy="1328100"/>
            </a:xfrm>
            <a:prstGeom prst="pie">
              <a:avLst>
                <a:gd name="adj1" fmla="val 12607844"/>
                <a:gd name="adj2" fmla="val 16200000"/>
              </a:avLst>
            </a:prstGeom>
            <a:solidFill>
              <a:srgbClr val="66666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0" name="Google Shape;180;p20"/>
            <p:cNvSpPr/>
            <p:nvPr/>
          </p:nvSpPr>
          <p:spPr>
            <a:xfrm rot="-7200295">
              <a:off x="941712" y="666425"/>
              <a:ext cx="1328202" cy="1328202"/>
            </a:xfrm>
            <a:prstGeom prst="pie">
              <a:avLst>
                <a:gd name="adj1" fmla="val 12607844"/>
                <a:gd name="adj2" fmla="val 16200000"/>
              </a:avLst>
            </a:prstGeom>
            <a:solidFill>
              <a:srgbClr val="66666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1" name="Google Shape;181;p20"/>
            <p:cNvSpPr/>
            <p:nvPr/>
          </p:nvSpPr>
          <p:spPr>
            <a:xfrm rot="-3599705">
              <a:off x="941269" y="666490"/>
              <a:ext cx="1328202" cy="1328202"/>
            </a:xfrm>
            <a:prstGeom prst="pie">
              <a:avLst>
                <a:gd name="adj1" fmla="val 12607844"/>
                <a:gd name="adj2" fmla="val 16200000"/>
              </a:avLst>
            </a:prstGeom>
            <a:solidFill>
              <a:srgbClr val="66666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2" name="Google Shape;182;p20"/>
            <p:cNvSpPr/>
            <p:nvPr/>
          </p:nvSpPr>
          <p:spPr>
            <a:xfrm>
              <a:off x="941229" y="666482"/>
              <a:ext cx="1328100" cy="1328100"/>
            </a:xfrm>
            <a:prstGeom prst="pie">
              <a:avLst>
                <a:gd name="adj1" fmla="val 12607844"/>
                <a:gd name="adj2" fmla="val 16200000"/>
              </a:avLst>
            </a:prstGeom>
            <a:solidFill>
              <a:srgbClr val="66666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3" name="Google Shape;183;p20"/>
            <p:cNvSpPr/>
            <p:nvPr/>
          </p:nvSpPr>
          <p:spPr>
            <a:xfrm flipH="1">
              <a:off x="941656" y="666644"/>
              <a:ext cx="1328100" cy="1328100"/>
            </a:xfrm>
            <a:prstGeom prst="pie">
              <a:avLst>
                <a:gd name="adj1" fmla="val 12595974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4" name="Google Shape;184;p20"/>
            <p:cNvSpPr txBox="1"/>
            <p:nvPr/>
          </p:nvSpPr>
          <p:spPr>
            <a:xfrm>
              <a:off x="1037632" y="1994771"/>
              <a:ext cx="1136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spinner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" name="Google Shape;185;p20"/>
            <p:cNvSpPr/>
            <p:nvPr/>
          </p:nvSpPr>
          <p:spPr>
            <a:xfrm rot="3599705" flipH="1">
              <a:off x="941289" y="666652"/>
              <a:ext cx="1328202" cy="1328202"/>
            </a:xfrm>
            <a:prstGeom prst="pie">
              <a:avLst>
                <a:gd name="adj1" fmla="val 12595974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6" name="Google Shape;186;p20"/>
            <p:cNvSpPr txBox="1"/>
            <p:nvPr/>
          </p:nvSpPr>
          <p:spPr>
            <a:xfrm flipH="1">
              <a:off x="1669842" y="868796"/>
              <a:ext cx="3315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" name="Google Shape;187;p20"/>
            <p:cNvSpPr txBox="1"/>
            <p:nvPr/>
          </p:nvSpPr>
          <p:spPr>
            <a:xfrm flipH="1">
              <a:off x="1842542" y="1207621"/>
              <a:ext cx="3315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" name="Google Shape;188;p20"/>
            <p:cNvSpPr txBox="1"/>
            <p:nvPr/>
          </p:nvSpPr>
          <p:spPr>
            <a:xfrm flipH="1">
              <a:off x="1209637" y="868773"/>
              <a:ext cx="3315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" name="Google Shape;189;p20"/>
            <p:cNvSpPr txBox="1"/>
            <p:nvPr/>
          </p:nvSpPr>
          <p:spPr>
            <a:xfrm flipH="1">
              <a:off x="1669842" y="1601209"/>
              <a:ext cx="3315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" name="Google Shape;190;p20"/>
            <p:cNvSpPr txBox="1"/>
            <p:nvPr/>
          </p:nvSpPr>
          <p:spPr>
            <a:xfrm flipH="1">
              <a:off x="1209637" y="1601185"/>
              <a:ext cx="3315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" name="Google Shape;191;p20"/>
            <p:cNvSpPr txBox="1"/>
            <p:nvPr/>
          </p:nvSpPr>
          <p:spPr>
            <a:xfrm flipH="1">
              <a:off x="1036942" y="1207621"/>
              <a:ext cx="3315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2" name="Google Shape;192;p20"/>
            <p:cNvGrpSpPr/>
            <p:nvPr/>
          </p:nvGrpSpPr>
          <p:grpSpPr>
            <a:xfrm>
              <a:off x="1578331" y="881495"/>
              <a:ext cx="54300" cy="473780"/>
              <a:chOff x="779080" y="747789"/>
              <a:chExt cx="54300" cy="473780"/>
            </a:xfrm>
          </p:grpSpPr>
          <p:cxnSp>
            <p:nvCxnSpPr>
              <p:cNvPr id="193" name="Google Shape;193;p20"/>
              <p:cNvCxnSpPr/>
              <p:nvPr/>
            </p:nvCxnSpPr>
            <p:spPr>
              <a:xfrm rot="10800000" flipH="1">
                <a:off x="808433" y="747789"/>
                <a:ext cx="0" cy="443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94" name="Google Shape;194;p20"/>
              <p:cNvSpPr/>
              <p:nvPr/>
            </p:nvSpPr>
            <p:spPr>
              <a:xfrm>
                <a:off x="779080" y="1172670"/>
                <a:ext cx="54300" cy="48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aphicFrame>
        <p:nvGraphicFramePr>
          <p:cNvPr id="195" name="Google Shape;195;p20"/>
          <p:cNvGraphicFramePr>
            <a:graphicFrameLocks noGrp="1"/>
          </p:cNvGraphicFramePr>
          <p:nvPr/>
        </p:nvGraphicFramePr>
        <p:xfrm>
          <a:off x="4953598" y="2984400"/>
          <a:ext cx="2124850" cy="2020475"/>
        </p:xfrm>
        <a:graphic>
          <a:graphicData uri="http://schemas.openxmlformats.org/drawingml/2006/table">
            <a:tbl>
              <a:tblPr>
                <a:noFill/>
                <a:tableStyleId>{FFC99133-0131-4958-B7B7-6030D925380B}</a:tableStyleId>
              </a:tblPr>
              <a:tblGrid>
                <a:gridCol w="303550"/>
                <a:gridCol w="303550"/>
                <a:gridCol w="303550"/>
                <a:gridCol w="303550"/>
                <a:gridCol w="303550"/>
                <a:gridCol w="303550"/>
                <a:gridCol w="303550"/>
              </a:tblGrid>
              <a:tr h="2743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1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1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1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1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1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1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96" name="Google Shape;196;p20"/>
          <p:cNvGrpSpPr/>
          <p:nvPr/>
        </p:nvGrpSpPr>
        <p:grpSpPr>
          <a:xfrm>
            <a:off x="2412043" y="3131757"/>
            <a:ext cx="1654930" cy="1706542"/>
            <a:chOff x="1522484" y="2212450"/>
            <a:chExt cx="2183861" cy="2523724"/>
          </a:xfrm>
        </p:grpSpPr>
        <p:cxnSp>
          <p:nvCxnSpPr>
            <p:cNvPr id="197" name="Google Shape;197;p20"/>
            <p:cNvCxnSpPr/>
            <p:nvPr/>
          </p:nvCxnSpPr>
          <p:spPr>
            <a:xfrm rot="10800000" flipH="1">
              <a:off x="1522484" y="2765881"/>
              <a:ext cx="781800" cy="711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" name="Google Shape;198;p20"/>
            <p:cNvCxnSpPr/>
            <p:nvPr/>
          </p:nvCxnSpPr>
          <p:spPr>
            <a:xfrm rot="10800000" flipH="1">
              <a:off x="2694340" y="2300322"/>
              <a:ext cx="781800" cy="462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9" name="Google Shape;199;p20"/>
            <p:cNvSpPr txBox="1"/>
            <p:nvPr/>
          </p:nvSpPr>
          <p:spPr>
            <a:xfrm>
              <a:off x="2413449" y="2629094"/>
              <a:ext cx="16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" name="Google Shape;200;p20"/>
            <p:cNvSpPr txBox="1"/>
            <p:nvPr/>
          </p:nvSpPr>
          <p:spPr>
            <a:xfrm>
              <a:off x="2413449" y="4057951"/>
              <a:ext cx="16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1" name="Google Shape;201;p20"/>
            <p:cNvCxnSpPr/>
            <p:nvPr/>
          </p:nvCxnSpPr>
          <p:spPr>
            <a:xfrm>
              <a:off x="1522484" y="3485231"/>
              <a:ext cx="781800" cy="711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2" name="Google Shape;202;p20"/>
            <p:cNvSpPr txBox="1"/>
            <p:nvPr/>
          </p:nvSpPr>
          <p:spPr>
            <a:xfrm>
              <a:off x="3544045" y="3138904"/>
              <a:ext cx="162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3" name="Google Shape;203;p20"/>
            <p:cNvCxnSpPr/>
            <p:nvPr/>
          </p:nvCxnSpPr>
          <p:spPr>
            <a:xfrm>
              <a:off x="2694340" y="2767158"/>
              <a:ext cx="781800" cy="462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" name="Google Shape;204;p20"/>
            <p:cNvCxnSpPr/>
            <p:nvPr/>
          </p:nvCxnSpPr>
          <p:spPr>
            <a:xfrm>
              <a:off x="2694340" y="4190283"/>
              <a:ext cx="781800" cy="462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" name="Google Shape;205;p20"/>
            <p:cNvCxnSpPr/>
            <p:nvPr/>
          </p:nvCxnSpPr>
          <p:spPr>
            <a:xfrm rot="10800000" flipH="1">
              <a:off x="2694340" y="3723447"/>
              <a:ext cx="781800" cy="462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6" name="Google Shape;206;p20"/>
            <p:cNvSpPr txBox="1"/>
            <p:nvPr/>
          </p:nvSpPr>
          <p:spPr>
            <a:xfrm>
              <a:off x="3544045" y="2212450"/>
              <a:ext cx="162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" name="Google Shape;207;p20"/>
            <p:cNvSpPr txBox="1"/>
            <p:nvPr/>
          </p:nvSpPr>
          <p:spPr>
            <a:xfrm>
              <a:off x="3544045" y="4556174"/>
              <a:ext cx="162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" name="Google Shape;208;p20"/>
            <p:cNvSpPr txBox="1"/>
            <p:nvPr/>
          </p:nvSpPr>
          <p:spPr>
            <a:xfrm>
              <a:off x="3544045" y="3629719"/>
              <a:ext cx="162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09" name="Google Shape;209;p20" descr="&lt;math xmlns=&quot;http://www.w3.org/1998/Math/MathML&quot; display=&quot;block&quot; data-is-equatio=&quot;1&quot; data-latex=&quot;\frac{4}{6}&quot;&gt;&lt;mfrac&gt;&lt;mn&gt;4&lt;/mn&gt;&lt;mn&gt;6&lt;/mn&gt;&lt;/mfrac&gt;&lt;/math&gt;" title="four six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5928" y="3409832"/>
            <a:ext cx="100826" cy="327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&lt;math xmlns=&quot;http://www.w3.org/1998/Math/MathML&quot; display=&quot;block&quot; data-is-equatio=&quot;1&quot; data-latex=&quot;\frac{2}{6}&quot;&gt;&lt;mfrac&gt;&lt;mn&gt;2&lt;/mn&gt;&lt;mn&gt;6&lt;/mn&gt;&lt;/mfrac&gt;&lt;/math&gt;" title="two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8251" y="3980227"/>
            <a:ext cx="100826" cy="324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&lt;math xmlns=&quot;http://www.w3.org/1998/Math/MathML&quot; display=&quot;block&quot; data-is-equatio=&quot;1&quot; data-latex=&quot;\frac{4}{6}&quot;&gt;&lt;mfrac&gt;&lt;mn&gt;4&lt;/mn&gt;&lt;mn&gt;6&lt;/mn&gt;&lt;/mfrac&gt;&lt;/math&gt;" title="four six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5982" y="2985286"/>
            <a:ext cx="100826" cy="327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&lt;math xmlns=&quot;http://www.w3.org/1998/Math/MathML&quot; display=&quot;block&quot; data-is-equatio=&quot;1&quot; data-latex=&quot;\frac{2}{6}&quot;&gt;&lt;mfrac&gt;&lt;mn&gt;2&lt;/mn&gt;&lt;mn&gt;6&lt;/mn&gt;&lt;/mfrac&gt;&lt;/math&gt;" title="two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0877" y="3405192"/>
            <a:ext cx="100826" cy="324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 descr="&lt;math xmlns=&quot;http://www.w3.org/1998/Math/MathML&quot; display=&quot;block&quot; data-is-equatio=&quot;1&quot; data-latex=&quot;\frac{4}{6}&quot;&gt;&lt;mfrac&gt;&lt;mn&gt;4&lt;/mn&gt;&lt;mn&gt;6&lt;/mn&gt;&lt;/mfrac&gt;&lt;/math&gt;" title="four six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5982" y="3949343"/>
            <a:ext cx="100826" cy="327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 descr="&lt;math xmlns=&quot;http://www.w3.org/1998/Math/MathML&quot; display=&quot;block&quot; data-is-equatio=&quot;1&quot; data-latex=&quot;\frac{2}{6}&quot;&gt;&lt;mfrac&gt;&lt;mn&gt;2&lt;/mn&gt;&lt;mn&gt;6&lt;/mn&gt;&lt;/mfrac&gt;&lt;/math&gt;" title="two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0877" y="4369249"/>
            <a:ext cx="100826" cy="32495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463200" y="3443450"/>
            <a:ext cx="1948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Circle the probabilities and outcomes for the event “even number”.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Find P(multiple of 7)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6" name="Google Shape;216;p20" descr="&lt;math xmlns=&quot;http://www.w3.org/1998/Math/MathML&quot; display=&quot;block&quot; data-is-equatio=&quot;1&quot; data-latex=&quot;\frac{20}{36}&quot;&gt;&lt;mfrac&gt;&lt;mn&gt;20&lt;/mn&gt;&lt;mn&gt;36&lt;/mn&gt;&lt;/mfrac&gt;&lt;/math&gt;" title="20 over 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7886" y="4472544"/>
            <a:ext cx="206127" cy="377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 descr="&lt;math xmlns=&quot;http://www.w3.org/1998/Math/MathML&quot; display=&quot;block&quot; data-is-equatio=&quot;1&quot; data-latex=&quot;\frac{8}{36}&quot;&gt;&lt;mfrac&gt;&lt;mn&gt;8&lt;/mn&gt;&lt;mn&gt;36&lt;/mn&gt;&lt;/mfrac&gt;&lt;/math&gt;" title="8 over 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04555" y="3628680"/>
            <a:ext cx="177646" cy="324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 descr="&lt;math xmlns=&quot;http://www.w3.org/1998/Math/MathML&quot; display=&quot;block&quot; data-is-equatio=&quot;1&quot; data-latex=&quot;\frac{4}{36}&quot;&gt;&lt;mfrac&gt;&lt;mn&gt;4&lt;/mn&gt;&lt;mn&gt;36&lt;/mn&gt;&lt;/mfrac&gt;&lt;/math&gt;" title="4 over 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17326" y="4613535"/>
            <a:ext cx="180046" cy="327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&lt;math xmlns=&quot;http://www.w3.org/1998/Math/MathML&quot; display=&quot;block&quot; data-is-equatio=&quot;1&quot; data-latex=&quot;\frac{16}{36}&quot;&gt;&lt;mfrac&gt;&lt;mn&gt;16&lt;/mn&gt;&lt;mn&gt;36&lt;/mn&gt;&lt;/mfrac&gt;&lt;/math&gt;" title="16 over 3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18536" y="3030009"/>
            <a:ext cx="177646" cy="32495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 txBox="1"/>
          <p:nvPr/>
        </p:nvSpPr>
        <p:spPr>
          <a:xfrm>
            <a:off x="4119488" y="3730343"/>
            <a:ext cx="317700" cy="1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4119488" y="3131673"/>
            <a:ext cx="317700" cy="1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4119488" y="4716402"/>
            <a:ext cx="317700" cy="1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4119488" y="4117733"/>
            <a:ext cx="317700" cy="1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4" name="Google Shape;224;p20" descr="&lt;math xmlns=&quot;http://www.w3.org/1998/Math/MathML&quot; display=&quot;block&quot; data-is-equatio=&quot;1&quot; data-latex=&quot;\frac{8}{36}&quot;&gt;&lt;mfrac&gt;&lt;mn&gt;8&lt;/mn&gt;&lt;mn&gt;36&lt;/mn&gt;&lt;/mfrac&gt;&lt;/math&gt;" title="8 over 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04555" y="4007988"/>
            <a:ext cx="177646" cy="32495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/>
          <p:nvPr/>
        </p:nvSpPr>
        <p:spPr>
          <a:xfrm>
            <a:off x="4123750" y="2984400"/>
            <a:ext cx="635400" cy="1414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5257150" y="3246200"/>
            <a:ext cx="1214100" cy="1176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6470900" y="3246200"/>
            <a:ext cx="635400" cy="1176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5257150" y="4422825"/>
            <a:ext cx="1214100" cy="5541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9" name="Google Shape;229;p20"/>
          <p:cNvGrpSpPr/>
          <p:nvPr/>
        </p:nvGrpSpPr>
        <p:grpSpPr>
          <a:xfrm>
            <a:off x="6341065" y="5347558"/>
            <a:ext cx="751212" cy="3524714"/>
            <a:chOff x="5147377" y="2154000"/>
            <a:chExt cx="838500" cy="2666400"/>
          </a:xfrm>
        </p:grpSpPr>
        <p:sp>
          <p:nvSpPr>
            <p:cNvPr id="230" name="Google Shape;230;p20"/>
            <p:cNvSpPr/>
            <p:nvPr/>
          </p:nvSpPr>
          <p:spPr>
            <a:xfrm>
              <a:off x="5147377" y="2154000"/>
              <a:ext cx="838500" cy="26664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1" name="Google Shape;231;p20"/>
            <p:cNvCxnSpPr>
              <a:stCxn id="230" idx="0"/>
            </p:cNvCxnSpPr>
            <p:nvPr/>
          </p:nvCxnSpPr>
          <p:spPr>
            <a:xfrm flipH="1">
              <a:off x="5566627" y="2154000"/>
              <a:ext cx="0" cy="2666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32" name="Google Shape;232;p20"/>
          <p:cNvSpPr txBox="1"/>
          <p:nvPr/>
        </p:nvSpPr>
        <p:spPr>
          <a:xfrm>
            <a:off x="455325" y="7988535"/>
            <a:ext cx="244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Find P(6 or 8) using the probability tree.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455325" y="7471859"/>
            <a:ext cx="3825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How many prime outcomes are there?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4" name="Google Shape;234;p20"/>
          <p:cNvGraphicFramePr>
            <a:graphicFrameLocks noGrp="1"/>
          </p:cNvGraphicFramePr>
          <p:nvPr/>
        </p:nvGraphicFramePr>
        <p:xfrm>
          <a:off x="463200" y="5354513"/>
          <a:ext cx="3614975" cy="1414825"/>
        </p:xfrm>
        <a:graphic>
          <a:graphicData uri="http://schemas.openxmlformats.org/drawingml/2006/table">
            <a:tbl>
              <a:tblPr>
                <a:noFill/>
                <a:tableStyleId>{FFC99133-0131-4958-B7B7-6030D925380B}</a:tableStyleId>
              </a:tblPr>
              <a:tblGrid>
                <a:gridCol w="382850"/>
                <a:gridCol w="248450"/>
                <a:gridCol w="303725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46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8"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spinner A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 vert="horz" wrap="square"/>
                    <a:lstStyle/>
                    <a:p/>
                  </a:txBody>
                  <a:tcPr/>
                </a:tc>
                <a:tc hMerge="1">
                  <a:txBody>
                    <a:bodyPr vert="horz" wrap="square"/>
                    <a:lstStyle/>
                    <a:p/>
                  </a:txBody>
                  <a:tcPr/>
                </a:tc>
                <a:tc hMerge="1">
                  <a:txBody>
                    <a:bodyPr vert="horz" wrap="square"/>
                    <a:lstStyle/>
                    <a:p/>
                  </a:txBody>
                  <a:tcPr/>
                </a:tc>
                <a:tc hMerge="1">
                  <a:txBody>
                    <a:bodyPr vert="horz" wrap="square"/>
                    <a:lstStyle/>
                    <a:p/>
                  </a:txBody>
                  <a:tcPr/>
                </a:tc>
                <a:tc hMerge="1">
                  <a:txBody>
                    <a:bodyPr vert="horz" wrap="square"/>
                    <a:lstStyle/>
                    <a:p/>
                  </a:txBody>
                  <a:tcPr/>
                </a:tc>
                <a:tc hMerge="1">
                  <a:txBody>
                    <a:bodyPr vert="horz" wrap="square"/>
                    <a:lstStyle/>
                    <a:p/>
                  </a:txBody>
                  <a:tcPr/>
                </a:tc>
                <a:tc hMerge="1">
                  <a:txBody>
                    <a:bodyPr vert="horz" wrap="square"/>
                    <a:lstStyle/>
                    <a:p/>
                  </a:txBody>
                  <a:tcPr/>
                </a:tc>
              </a:tr>
              <a:tr h="278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450">
                <a:tc rowSpan="3"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450">
                <a:tc vMerge="1"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450">
                <a:tc vMerge="1"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35" name="Google Shape;235;p20"/>
          <p:cNvSpPr txBox="1"/>
          <p:nvPr/>
        </p:nvSpPr>
        <p:spPr>
          <a:xfrm>
            <a:off x="474750" y="5024575"/>
            <a:ext cx="661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Trial: spinner A and B will be spun once each. The outcomes are added together.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455325" y="6914500"/>
            <a:ext cx="3825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Use the outcome table to complete the probability tree.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7" name="Google Shape;237;p20"/>
          <p:cNvCxnSpPr/>
          <p:nvPr/>
        </p:nvCxnSpPr>
        <p:spPr>
          <a:xfrm>
            <a:off x="5139579" y="8306086"/>
            <a:ext cx="700500" cy="371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" name="Google Shape;238;p20"/>
          <p:cNvCxnSpPr/>
          <p:nvPr/>
        </p:nvCxnSpPr>
        <p:spPr>
          <a:xfrm rot="10800000" flipH="1">
            <a:off x="5139579" y="7931103"/>
            <a:ext cx="700500" cy="371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9" name="Google Shape;239;p20"/>
          <p:cNvSpPr txBox="1"/>
          <p:nvPr/>
        </p:nvSpPr>
        <p:spPr>
          <a:xfrm>
            <a:off x="5900786" y="8599907"/>
            <a:ext cx="1455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5900786" y="7855938"/>
            <a:ext cx="1455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1" name="Google Shape;241;p20"/>
          <p:cNvCxnSpPr/>
          <p:nvPr/>
        </p:nvCxnSpPr>
        <p:spPr>
          <a:xfrm rot="10800000" flipH="1">
            <a:off x="4139999" y="5972761"/>
            <a:ext cx="700500" cy="1142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2" name="Google Shape;242;p20"/>
          <p:cNvSpPr txBox="1"/>
          <p:nvPr/>
        </p:nvSpPr>
        <p:spPr>
          <a:xfrm>
            <a:off x="4938173" y="5753362"/>
            <a:ext cx="1455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4938173" y="8046098"/>
            <a:ext cx="1455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4" name="Google Shape;244;p20"/>
          <p:cNvCxnSpPr/>
          <p:nvPr/>
        </p:nvCxnSpPr>
        <p:spPr>
          <a:xfrm>
            <a:off x="4139999" y="7127115"/>
            <a:ext cx="700500" cy="1142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5" name="Google Shape;245;p20"/>
          <p:cNvCxnSpPr/>
          <p:nvPr/>
        </p:nvCxnSpPr>
        <p:spPr>
          <a:xfrm>
            <a:off x="4139999" y="7127115"/>
            <a:ext cx="707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6" name="Google Shape;246;p20"/>
          <p:cNvSpPr txBox="1"/>
          <p:nvPr/>
        </p:nvSpPr>
        <p:spPr>
          <a:xfrm>
            <a:off x="4938173" y="6899736"/>
            <a:ext cx="1455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7" name="Google Shape;247;p20"/>
          <p:cNvCxnSpPr/>
          <p:nvPr/>
        </p:nvCxnSpPr>
        <p:spPr>
          <a:xfrm>
            <a:off x="5139579" y="7127940"/>
            <a:ext cx="700500" cy="371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" name="Google Shape;248;p20"/>
          <p:cNvCxnSpPr/>
          <p:nvPr/>
        </p:nvCxnSpPr>
        <p:spPr>
          <a:xfrm rot="10800000" flipH="1">
            <a:off x="5139579" y="6752957"/>
            <a:ext cx="700500" cy="371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9" name="Google Shape;249;p20"/>
          <p:cNvSpPr txBox="1"/>
          <p:nvPr/>
        </p:nvSpPr>
        <p:spPr>
          <a:xfrm>
            <a:off x="5900786" y="7421761"/>
            <a:ext cx="1455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5900786" y="6677792"/>
            <a:ext cx="1455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1" name="Google Shape;251;p20"/>
          <p:cNvCxnSpPr/>
          <p:nvPr/>
        </p:nvCxnSpPr>
        <p:spPr>
          <a:xfrm>
            <a:off x="5139579" y="5949783"/>
            <a:ext cx="700500" cy="371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2" name="Google Shape;252;p20"/>
          <p:cNvCxnSpPr/>
          <p:nvPr/>
        </p:nvCxnSpPr>
        <p:spPr>
          <a:xfrm rot="10800000" flipH="1">
            <a:off x="5139579" y="5574799"/>
            <a:ext cx="700500" cy="371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3" name="Google Shape;253;p20"/>
          <p:cNvSpPr txBox="1"/>
          <p:nvPr/>
        </p:nvSpPr>
        <p:spPr>
          <a:xfrm>
            <a:off x="5900786" y="6243603"/>
            <a:ext cx="1455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5900786" y="5499634"/>
            <a:ext cx="1455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 rot="-5400000">
            <a:off x="193650" y="6148188"/>
            <a:ext cx="9303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B</a:t>
            </a:r>
            <a:endParaRPr sz="1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6" name="Google Shape;256;p20" descr="&lt;math xmlns=&quot;http://www.w3.org/1998/Math/MathML&quot; display=&quot;block&quot; data-is-equatio=&quot;1&quot; data-latex=&quot;\frac{3}{8}&quot;&gt;&lt;mfrac&gt;&lt;mn&gt;3&lt;/mn&gt;&lt;mn&gt;8&lt;/mn&gt;&lt;/mfrac&gt;&lt;/math&gt;" title="three eigh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63977" y="6018027"/>
            <a:ext cx="117630" cy="387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0" descr="&lt;math xmlns=&quot;http://www.w3.org/1998/Math/MathML&quot; display=&quot;block&quot; data-is-equatio=&quot;1&quot; data-latex=&quot;\frac{2}{8}&quot;&gt;&lt;mfrac&gt;&lt;mn&gt;2&lt;/mn&gt;&lt;mn&gt;8&lt;/mn&gt;&lt;/mfrac&gt;&lt;/math&gt;" title="two eigh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57829" y="6718938"/>
            <a:ext cx="117630" cy="387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0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344948" y="5397947"/>
            <a:ext cx="117630" cy="387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0" descr="&lt;math xmlns=&quot;http://www.w3.org/1998/Math/MathML&quot; display=&quot;block&quot; data-is-equatio=&quot;1&quot; data-latex=&quot;\frac{3}{24}&quot;&gt;&lt;mfrac&gt;&lt;mn&gt;3&lt;/mn&gt;&lt;mn&gt;24&lt;/mn&gt;&lt;/mfrac&gt;&lt;/math&gt;" title="3 over 2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756166" y="5400736"/>
            <a:ext cx="212855" cy="381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0" descr="&lt;math xmlns=&quot;http://www.w3.org/1998/Math/MathML&quot; display=&quot;block&quot; data-is-equatio=&quot;1&quot; data-latex=&quot;\frac{6}{24}&quot;&gt;&lt;mfrac&gt;&lt;mn&gt;6&lt;/mn&gt;&lt;mn&gt;24&lt;/mn&gt;&lt;/mfrac&gt;&lt;/math&gt;" title="6 over 2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756166" y="6120351"/>
            <a:ext cx="212855" cy="381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0" descr="&lt;math xmlns=&quot;http://www.w3.org/1998/Math/MathML&quot; display=&quot;block&quot; data-is-equatio=&quot;1&quot; data-latex=&quot;\frac{3}{8}&quot;&gt;&lt;mfrac&gt;&lt;mn&gt;3&lt;/mn&gt;&lt;mn&gt;8&lt;/mn&gt;&lt;/mfrac&gt;&lt;/math&gt;" title="three eigh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16642" y="7523496"/>
            <a:ext cx="117630" cy="387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0" descr="&lt;math xmlns=&quot;http://www.w3.org/1998/Math/MathML&quot; display=&quot;block&quot; data-is-equatio=&quot;1&quot; data-latex=&quot;\frac{2}{3}&quot;&gt;&lt;mfrac&gt;&lt;mn&gt;2&lt;/mn&gt;&lt;mn&gt;3&lt;/mn&gt;&lt;/mfrac&gt;&lt;/math&gt;" title="two third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588822" y="5799494"/>
            <a:ext cx="117630" cy="387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0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344948" y="6575386"/>
            <a:ext cx="117630" cy="387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0" descr="&lt;math xmlns=&quot;http://www.w3.org/1998/Math/MathML&quot; display=&quot;block&quot; data-is-equatio=&quot;1&quot; data-latex=&quot;\frac{2}{3}&quot;&gt;&lt;mfrac&gt;&lt;mn&gt;2&lt;/mn&gt;&lt;mn&gt;3&lt;/mn&gt;&lt;/mfrac&gt;&lt;/math&gt;" title="two third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588822" y="6976933"/>
            <a:ext cx="117630" cy="387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0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344948" y="7757395"/>
            <a:ext cx="117630" cy="387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0" descr="&lt;math xmlns=&quot;http://www.w3.org/1998/Math/MathML&quot; display=&quot;block&quot; data-is-equatio=&quot;1&quot; data-latex=&quot;\frac{2}{3}&quot;&gt;&lt;mfrac&gt;&lt;mn&gt;2&lt;/mn&gt;&lt;mn&gt;3&lt;/mn&gt;&lt;/mfrac&gt;&lt;/math&gt;" title="two third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588822" y="8158942"/>
            <a:ext cx="117630" cy="387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0" descr="&lt;math xmlns=&quot;http://www.w3.org/1998/Math/MathML&quot; display=&quot;block&quot; data-is-equatio=&quot;1&quot; data-latex=&quot;\frac{2}{24}&quot;&gt;&lt;mfrac&gt;&lt;mn&gt;2&lt;/mn&gt;&lt;mn&gt;24&lt;/mn&gt;&lt;/mfrac&gt;&lt;/math&gt;" title="2 over 24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754229" y="6575381"/>
            <a:ext cx="216725" cy="387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0" descr="&lt;math xmlns=&quot;http://www.w3.org/1998/Math/MathML&quot; display=&quot;block&quot; data-is-equatio=&quot;1&quot; data-latex=&quot;\frac{4}{24}&quot;&gt;&lt;mfrac&gt;&lt;mn&gt;4&lt;/mn&gt;&lt;mn&gt;24&lt;/mn&gt;&lt;/mfrac&gt;&lt;/math&gt;" title="4 over 24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755655" y="7305388"/>
            <a:ext cx="213873" cy="387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0" descr="&lt;math xmlns=&quot;http://www.w3.org/1998/Math/MathML&quot; display=&quot;block&quot; data-is-equatio=&quot;1&quot; data-latex=&quot;\frac{3}{24}&quot;&gt;&lt;mfrac&gt;&lt;mn&gt;3&lt;/mn&gt;&lt;mn&gt;24&lt;/mn&gt;&lt;/mfrac&gt;&lt;/math&gt;" title="3 over 2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756166" y="7755617"/>
            <a:ext cx="212855" cy="381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0" descr="&lt;math xmlns=&quot;http://www.w3.org/1998/Math/MathML&quot; display=&quot;block&quot; data-is-equatio=&quot;1&quot; data-latex=&quot;\frac{6}{24}&quot;&gt;&lt;mfrac&gt;&lt;mn&gt;6&lt;/mn&gt;&lt;mn&gt;24&lt;/mn&gt;&lt;/mfrac&gt;&lt;/math&gt;" title="6 over 2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756166" y="8454560"/>
            <a:ext cx="212855" cy="38144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0"/>
          <p:cNvSpPr txBox="1"/>
          <p:nvPr/>
        </p:nvSpPr>
        <p:spPr>
          <a:xfrm>
            <a:off x="6466428" y="8558451"/>
            <a:ext cx="1455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6466428" y="7855938"/>
            <a:ext cx="1455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6466428" y="7421761"/>
            <a:ext cx="1455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6466428" y="6677792"/>
            <a:ext cx="1455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0"/>
          <p:cNvSpPr txBox="1"/>
          <p:nvPr/>
        </p:nvSpPr>
        <p:spPr>
          <a:xfrm>
            <a:off x="6466428" y="6243603"/>
            <a:ext cx="1455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6466428" y="5499634"/>
            <a:ext cx="1455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0"/>
          <p:cNvSpPr txBox="1"/>
          <p:nvPr/>
        </p:nvSpPr>
        <p:spPr>
          <a:xfrm>
            <a:off x="1551555" y="7697221"/>
            <a:ext cx="180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 prime outcomes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78" name="Google Shape;278;p20" descr="&lt;math xmlns=&quot;http://www.w3.org/1998/Math/MathML&quot; display=&quot;block&quot; data-is-equatio=&quot;1&quot; data-latex=&quot;\frac{6}{24}&quot;&gt;&lt;mfrac&gt;&lt;mn&gt;6&lt;/mn&gt;&lt;mn&gt;24&lt;/mn&gt;&lt;/mfrac&gt;&lt;/math&gt;" title="6 over 2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94504" y="8448576"/>
            <a:ext cx="200134" cy="358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0" descr="&lt;math xmlns=&quot;http://www.w3.org/1998/Math/MathML&quot; display=&quot;block&quot; data-is-equatio=&quot;1&quot; data-latex=&quot;\frac{2}{24}&quot;&gt;&lt;mfrac&gt;&lt;mn&gt;2&lt;/mn&gt;&lt;mn&gt;24&lt;/mn&gt;&lt;/mfrac&gt;&lt;/math&gt;" title="2 over 24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622521" y="8445958"/>
            <a:ext cx="203773" cy="36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0" descr="&lt;math xmlns=&quot;http://www.w3.org/1998/Math/MathML&quot; display=&quot;block&quot; data-is-equatio=&quot;1&quot; data-latex=&quot;\frac{6}{24}&quot;&gt;&lt;mfrac&gt;&lt;mn&gt;6&lt;/mn&gt;&lt;mn&gt;24&lt;/mn&gt;&lt;/mfrac&gt;&lt;/math&gt;" title="6 over 2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154177" y="8448576"/>
            <a:ext cx="200134" cy="358644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0"/>
          <p:cNvSpPr txBox="1"/>
          <p:nvPr/>
        </p:nvSpPr>
        <p:spPr>
          <a:xfrm>
            <a:off x="1316186" y="8511153"/>
            <a:ext cx="284700" cy="2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1847842" y="8511153"/>
            <a:ext cx="284700" cy="2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3" name="Google Shape;283;p20" descr="&lt;math xmlns=&quot;http://www.w3.org/1998/Math/MathML&quot; display=&quot;block&quot; data-is-equatio=&quot;1&quot; data-latex=&quot;\frac{14}{24}&quot;&gt;&lt;mfrac&gt;&lt;mn&gt;14&lt;/mn&gt;&lt;mn&gt;24&lt;/mn&gt;&lt;/mfrac&gt;&lt;/math&gt;" title="14 over 24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2651850" y="8419675"/>
            <a:ext cx="238750" cy="434104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0"/>
          <p:cNvSpPr txBox="1"/>
          <p:nvPr/>
        </p:nvSpPr>
        <p:spPr>
          <a:xfrm>
            <a:off x="2377900" y="8511153"/>
            <a:ext cx="284700" cy="2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sp>
        <p:nvSpPr>
          <p:cNvPr id="289" name="Google Shape;289;p21"/>
          <p:cNvSpPr txBox="1"/>
          <p:nvPr>
            <p:ph type="subTitle" idx="1"/>
          </p:nvPr>
        </p:nvSpPr>
        <p:spPr>
          <a:xfrm>
            <a:off x="1463400" y="360000"/>
            <a:ext cx="47826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Comparing multiple representations to calculate theoretical probabilities for combined events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5391865" y="2291550"/>
            <a:ext cx="1699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these probabilities: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P(M5 and F100)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P(M5)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P(M5 or F100)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468025" y="1145750"/>
            <a:ext cx="6624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Trial: a spinner is spun once.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Events: the spinner lands on a factor of 100 (F100) or a multiple of 5 (M5).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Use the outcome table to complete the Venn diagram showing the number of outcomes for each event.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468025" y="847850"/>
            <a:ext cx="66240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Statements for events across different diagrams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3181841" y="2515436"/>
            <a:ext cx="1966200" cy="14403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3318400" y="2774565"/>
            <a:ext cx="1176300" cy="1008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3835444" y="2774565"/>
            <a:ext cx="1176300" cy="1008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3216978" y="2515436"/>
            <a:ext cx="94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F100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4192754" y="2515436"/>
            <a:ext cx="92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3013400" y="2498275"/>
            <a:ext cx="16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ξ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9" name="Google Shape;299;p21"/>
          <p:cNvGrpSpPr/>
          <p:nvPr/>
        </p:nvGrpSpPr>
        <p:grpSpPr>
          <a:xfrm>
            <a:off x="5256903" y="2246074"/>
            <a:ext cx="1835178" cy="1953230"/>
            <a:chOff x="3238750" y="2117900"/>
            <a:chExt cx="350700" cy="419400"/>
          </a:xfrm>
        </p:grpSpPr>
        <p:cxnSp>
          <p:nvCxnSpPr>
            <p:cNvPr id="300" name="Google Shape;300;p21"/>
            <p:cNvCxnSpPr/>
            <p:nvPr/>
          </p:nvCxnSpPr>
          <p:spPr>
            <a:xfrm flipH="1">
              <a:off x="3238750" y="2117900"/>
              <a:ext cx="0" cy="4194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1" name="Google Shape;301;p21"/>
            <p:cNvCxnSpPr/>
            <p:nvPr/>
          </p:nvCxnSpPr>
          <p:spPr>
            <a:xfrm>
              <a:off x="3238750" y="2117900"/>
              <a:ext cx="350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302" name="Google Shape;302;p21"/>
          <p:cNvGraphicFramePr>
            <a:graphicFrameLocks noGrp="1"/>
          </p:cNvGraphicFramePr>
          <p:nvPr/>
        </p:nvGraphicFramePr>
        <p:xfrm>
          <a:off x="468000" y="22564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{E849BBBD-7E3F-4147-94F9-6DA72BF7FA0E}</a:tableStyleId>
              </a:tblPr>
              <a:tblGrid>
                <a:gridCol w="458550"/>
                <a:gridCol w="1013425"/>
                <a:gridCol w="984700"/>
              </a:tblGrid>
              <a:tr h="217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(M5)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M5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03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F100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03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F100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03" name="Google Shape;303;p21"/>
          <p:cNvSpPr txBox="1"/>
          <p:nvPr/>
        </p:nvSpPr>
        <p:spPr>
          <a:xfrm>
            <a:off x="954798" y="2506036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1617166" y="2484476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954798" y="2940033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1607141" y="2963004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1278713" y="2745302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2042732" y="2566320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2534094" y="2630768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2235579" y="2940034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1024341" y="3374031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1546688" y="3374031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1396976" y="3744809"/>
            <a:ext cx="5067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992127" y="3744809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1994078" y="3313748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2316079" y="3313748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2638080" y="3313748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1994078" y="3687463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2316079" y="3687463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>
            <a:off x="2638080" y="3687463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>
            <a:off x="4003744" y="3167751"/>
            <a:ext cx="3222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3435436" y="3167751"/>
            <a:ext cx="3222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4572052" y="3167751"/>
            <a:ext cx="3222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4790395" y="3687316"/>
            <a:ext cx="3222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25" name="Google Shape;325;p21" descr="&lt;math xmlns=&quot;http://www.w3.org/1998/Math/MathML&quot; display=&quot;block&quot; data-is-equatio=&quot;1&quot; data-latex=&quot;\frac{5}{18}&quot;&gt;&lt;mfrac&gt;&lt;mn&gt;5&lt;/mn&gt;&lt;mn&gt;18&lt;/mn&gt;&lt;/mfrac&gt;&lt;/math&gt;" title="5 over 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2012" y="2784256"/>
            <a:ext cx="178450" cy="327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1" descr="&lt;math xmlns=&quot;http://www.w3.org/1998/Math/MathML&quot; display=&quot;block&quot; data-is-equatio=&quot;1&quot; data-latex=&quot;\frac{9}{18}&quot;&gt;&lt;mfrac&gt;&lt;mn&gt;9&lt;/mn&gt;&lt;mn&gt;18&lt;/mn&gt;&lt;/mfrac&gt;&lt;/math&gt;" title="9 over 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4008" y="3138465"/>
            <a:ext cx="180862" cy="3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1" descr="&lt;math xmlns=&quot;http://www.w3.org/1998/Math/MathML&quot; display=&quot;block&quot; data-is-equatio=&quot;1&quot; data-latex=&quot;\frac{12}{18}&quot;&gt;&lt;mfrac&gt;&lt;mn&gt;12&lt;/mn&gt;&lt;mn&gt;18&lt;/mn&gt;&lt;/mfrac&gt;&lt;/math&gt;" title="12 over 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05204" y="3495433"/>
            <a:ext cx="180862" cy="336974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1"/>
          <p:cNvSpPr txBox="1"/>
          <p:nvPr/>
        </p:nvSpPr>
        <p:spPr>
          <a:xfrm>
            <a:off x="452679" y="4620851"/>
            <a:ext cx="6623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Trial: selecting a random number from a game at a fair.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Events: Izzy wins, Jun wins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Use the Venn diagram showing the number of outcomes that result in Izzy or Jun winning to complete the probability tree.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1"/>
          <p:cNvSpPr/>
          <p:nvPr/>
        </p:nvSpPr>
        <p:spPr>
          <a:xfrm>
            <a:off x="616752" y="6123466"/>
            <a:ext cx="1915200" cy="14028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1"/>
          <p:cNvSpPr/>
          <p:nvPr/>
        </p:nvSpPr>
        <p:spPr>
          <a:xfrm>
            <a:off x="749771" y="6375878"/>
            <a:ext cx="1145700" cy="9822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1253412" y="6375878"/>
            <a:ext cx="1145700" cy="9822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650978" y="6123466"/>
            <a:ext cx="916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Izzy wins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1601461" y="6123466"/>
            <a:ext cx="89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 wins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1"/>
          <p:cNvSpPr txBox="1"/>
          <p:nvPr/>
        </p:nvSpPr>
        <p:spPr>
          <a:xfrm>
            <a:off x="452677" y="6106750"/>
            <a:ext cx="164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ξ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2185765" y="7273934"/>
            <a:ext cx="314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1417311" y="6711040"/>
            <a:ext cx="314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1987939" y="6711040"/>
            <a:ext cx="314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856432" y="6711040"/>
            <a:ext cx="314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9" name="Google Shape;339;p21"/>
          <p:cNvCxnSpPr/>
          <p:nvPr/>
        </p:nvCxnSpPr>
        <p:spPr>
          <a:xfrm rot="10800000" flipH="1">
            <a:off x="3702129" y="7040059"/>
            <a:ext cx="369300" cy="349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21"/>
          <p:cNvCxnSpPr/>
          <p:nvPr/>
        </p:nvCxnSpPr>
        <p:spPr>
          <a:xfrm>
            <a:off x="2653030" y="6777453"/>
            <a:ext cx="369300" cy="627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1" name="Google Shape;341;p21"/>
          <p:cNvCxnSpPr/>
          <p:nvPr/>
        </p:nvCxnSpPr>
        <p:spPr>
          <a:xfrm rot="10800000" flipH="1">
            <a:off x="3702129" y="5815847"/>
            <a:ext cx="369300" cy="349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2" name="Google Shape;342;p21"/>
          <p:cNvCxnSpPr/>
          <p:nvPr/>
        </p:nvCxnSpPr>
        <p:spPr>
          <a:xfrm>
            <a:off x="3702129" y="7389559"/>
            <a:ext cx="369300" cy="349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3" name="Google Shape;343;p21"/>
          <p:cNvCxnSpPr/>
          <p:nvPr/>
        </p:nvCxnSpPr>
        <p:spPr>
          <a:xfrm>
            <a:off x="3702129" y="6165347"/>
            <a:ext cx="369300" cy="349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4" name="Google Shape;344;p21"/>
          <p:cNvCxnSpPr/>
          <p:nvPr/>
        </p:nvCxnSpPr>
        <p:spPr>
          <a:xfrm rot="10800000" flipH="1">
            <a:off x="2653030" y="6150153"/>
            <a:ext cx="369300" cy="627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5" name="Google Shape;345;p21"/>
          <p:cNvSpPr txBox="1"/>
          <p:nvPr/>
        </p:nvSpPr>
        <p:spPr>
          <a:xfrm>
            <a:off x="3022333" y="6057390"/>
            <a:ext cx="679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Izzy wins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3022333" y="7292392"/>
            <a:ext cx="679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 loses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1"/>
          <p:cNvSpPr txBox="1"/>
          <p:nvPr/>
        </p:nvSpPr>
        <p:spPr>
          <a:xfrm>
            <a:off x="4071443" y="5710806"/>
            <a:ext cx="679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4071443" y="6950030"/>
            <a:ext cx="679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4071443" y="7635569"/>
            <a:ext cx="679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loses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4071443" y="6396345"/>
            <a:ext cx="679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loses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51" name="Google Shape;351;p21" descr="&lt;math xmlns=&quot;http://www.w3.org/1998/Math/MathML&quot; display=&quot;block&quot; data-is-equatio=&quot;1&quot; data-latex=&quot;\frac{4}{32}&quot;&gt;&lt;mfrac&gt;&lt;mn&gt;4&lt;/mn&gt;&lt;mn&gt;32&lt;/mn&gt;&lt;/mfrac&gt;&lt;/math&gt;" title="4 over 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0756" y="6335987"/>
            <a:ext cx="181872" cy="3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1" descr="&lt;math xmlns=&quot;http://www.w3.org/1998/Math/MathML&quot; display=&quot;block&quot; data-is-equatio=&quot;1&quot; data-latex=&quot;\frac{1}{32}&quot;&gt;&lt;mfrac&gt;&lt;mn&gt;1&lt;/mn&gt;&lt;mn&gt;32&lt;/mn&gt;&lt;/mfrac&gt;&lt;/math&gt;" title="1 over 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01956" y="5651669"/>
            <a:ext cx="179479" cy="334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1" descr="&lt;math xmlns=&quot;http://www.w3.org/1998/Math/MathML&quot; display=&quot;block&quot; data-is-equatio=&quot;1&quot; data-latex=&quot;\frac{7}{32}&quot;&gt;&lt;mfrac&gt;&lt;mn&gt;7&lt;/mn&gt;&lt;mn&gt;32&lt;/mn&gt;&lt;/mfrac&gt;&lt;/math&gt;" title="7 over 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72540" y="6890885"/>
            <a:ext cx="181872" cy="334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1" descr="&lt;math xmlns=&quot;http://www.w3.org/1998/Math/MathML&quot; display=&quot;block&quot; data-is-equatio=&quot;1&quot; data-latex=&quot;\frac{20}{32}&quot;&gt;&lt;mfrac&gt;&lt;mn&gt;20&lt;/mn&gt;&lt;mn&gt;32&lt;/mn&gt;&lt;/mfrac&gt;&lt;/math&gt;" title="20 over 3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12221" y="7576432"/>
            <a:ext cx="179479" cy="334394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1"/>
          <p:cNvSpPr txBox="1"/>
          <p:nvPr/>
        </p:nvSpPr>
        <p:spPr>
          <a:xfrm>
            <a:off x="5389515" y="5813213"/>
            <a:ext cx="16869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these probabilities: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P(Izzy wins)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P(only Jun wins)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P(either win)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6" name="Google Shape;356;p21"/>
          <p:cNvGrpSpPr/>
          <p:nvPr/>
        </p:nvGrpSpPr>
        <p:grpSpPr>
          <a:xfrm>
            <a:off x="5255575" y="5768120"/>
            <a:ext cx="1821150" cy="2121157"/>
            <a:chOff x="3238750" y="2117900"/>
            <a:chExt cx="350700" cy="419400"/>
          </a:xfrm>
        </p:grpSpPr>
        <p:cxnSp>
          <p:nvCxnSpPr>
            <p:cNvPr id="357" name="Google Shape;357;p21"/>
            <p:cNvCxnSpPr/>
            <p:nvPr/>
          </p:nvCxnSpPr>
          <p:spPr>
            <a:xfrm flipH="1">
              <a:off x="3238750" y="2117900"/>
              <a:ext cx="0" cy="4194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8" name="Google Shape;358;p21"/>
            <p:cNvCxnSpPr/>
            <p:nvPr/>
          </p:nvCxnSpPr>
          <p:spPr>
            <a:xfrm>
              <a:off x="3238750" y="2117900"/>
              <a:ext cx="350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59" name="Google Shape;359;p21" descr="&lt;math xmlns=&quot;http://www.w3.org/1998/Math/MathML&quot; display=&quot;block&quot; data-is-equatio=&quot;1&quot; data-latex=&quot;\frac{12}{32}&quot;&gt;&lt;mfrac&gt;&lt;mn&gt;12&lt;/mn&gt;&lt;mn&gt;32&lt;/mn&gt;&lt;/mfrac&gt;&lt;/math&gt;" title="12 over 3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11498" y="7032697"/>
            <a:ext cx="179479" cy="334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1" descr="&lt;math xmlns=&quot;http://www.w3.org/1998/Math/MathML&quot; display=&quot;block&quot; data-is-equatio=&quot;1&quot; data-latex=&quot;\frac{5}{32}&quot;&gt;&lt;mfrac&gt;&lt;mn&gt;5&lt;/mn&gt;&lt;mn&gt;32&lt;/mn&gt;&lt;/mfrac&gt;&lt;/math&gt;" title="5 over 3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608616" y="6270192"/>
            <a:ext cx="185240" cy="3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1" descr="&lt;math xmlns=&quot;http://www.w3.org/1998/Math/MathML&quot; display=&quot;block&quot; data-is-equatio=&quot;1&quot; data-latex=&quot;\frac{7}{32}&quot;&gt;&lt;mfrac&gt;&lt;mn&gt;7&lt;/mn&gt;&lt;mn&gt;32&lt;/mn&gt;&lt;/mfrac&gt;&lt;/math&gt;" title="7 over 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38892" y="6689842"/>
            <a:ext cx="181872" cy="334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65" name="Shape 365"/>
        <p:cNvGrpSpPr/>
        <p:nvPr/>
      </p:nvGrpSpPr>
      <p:grpSpPr>
        <a:xfrm>
          <a:off x="0" y="0"/>
          <a:ext cx="0" cy="0"/>
        </a:xfrm>
      </p:grpSpPr>
      <p:sp>
        <p:nvSpPr>
          <p:cNvPr id="366" name="Google Shape;366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367" name="Google Shape;367;p22"/>
          <p:cNvSpPr txBox="1"/>
          <p:nvPr>
            <p:ph type="subTitle" idx="1"/>
          </p:nvPr>
        </p:nvSpPr>
        <p:spPr>
          <a:xfrm>
            <a:off x="1463400" y="360000"/>
            <a:ext cx="47826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multiple representations to calculate theoretical probabilities for combined events</a:t>
            </a:r>
            <a:endParaRPr/>
          </a:p>
        </p:txBody>
      </p:sp>
      <p:sp>
        <p:nvSpPr>
          <p:cNvPr id="368" name="Google Shape;368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370" name="Google Shape;370;p22"/>
          <p:cNvSpPr txBox="1"/>
          <p:nvPr/>
        </p:nvSpPr>
        <p:spPr>
          <a:xfrm>
            <a:off x="468025" y="720000"/>
            <a:ext cx="6624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Trial: a spinner is spun once.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Events: the spinner lands on a square number or an even number.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Complete both the probability tree with probabilities and events, and complete the outcome table with one possible missing outcome.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71" name="Google Shape;371;p22"/>
          <p:cNvGraphicFramePr>
            <a:graphicFrameLocks noGrp="1"/>
          </p:cNvGraphicFramePr>
          <p:nvPr/>
        </p:nvGraphicFramePr>
        <p:xfrm>
          <a:off x="468000" y="172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{E849BBBD-7E3F-4147-94F9-6DA72BF7FA0E}</a:tableStyleId>
              </a:tblPr>
              <a:tblGrid>
                <a:gridCol w="555725"/>
                <a:gridCol w="1228175"/>
                <a:gridCol w="1193350"/>
              </a:tblGrid>
              <a:tr h="2819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square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4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even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4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odd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72" name="Google Shape;372;p22"/>
          <p:cNvSpPr txBox="1"/>
          <p:nvPr/>
        </p:nvSpPr>
        <p:spPr>
          <a:xfrm>
            <a:off x="1073075" y="2086925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>
            <a:off x="1465035" y="2086925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2"/>
          <p:cNvSpPr txBox="1"/>
          <p:nvPr/>
        </p:nvSpPr>
        <p:spPr>
          <a:xfrm>
            <a:off x="1856995" y="2086925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2"/>
          <p:cNvSpPr txBox="1"/>
          <p:nvPr/>
        </p:nvSpPr>
        <p:spPr>
          <a:xfrm>
            <a:off x="1073075" y="2426275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2"/>
          <p:cNvSpPr txBox="1"/>
          <p:nvPr/>
        </p:nvSpPr>
        <p:spPr>
          <a:xfrm>
            <a:off x="1465035" y="2426275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2"/>
          <p:cNvSpPr txBox="1"/>
          <p:nvPr/>
        </p:nvSpPr>
        <p:spPr>
          <a:xfrm>
            <a:off x="1804350" y="2426275"/>
            <a:ext cx="4014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22"/>
          <p:cNvSpPr txBox="1"/>
          <p:nvPr/>
        </p:nvSpPr>
        <p:spPr>
          <a:xfrm>
            <a:off x="1171363" y="2765625"/>
            <a:ext cx="4014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2"/>
          <p:cNvSpPr txBox="1"/>
          <p:nvPr/>
        </p:nvSpPr>
        <p:spPr>
          <a:xfrm>
            <a:off x="1653388" y="2765625"/>
            <a:ext cx="4014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196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2"/>
          <p:cNvSpPr txBox="1"/>
          <p:nvPr/>
        </p:nvSpPr>
        <p:spPr>
          <a:xfrm>
            <a:off x="2297936" y="2192750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2"/>
          <p:cNvSpPr txBox="1"/>
          <p:nvPr/>
        </p:nvSpPr>
        <p:spPr>
          <a:xfrm>
            <a:off x="2689896" y="2192750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2"/>
          <p:cNvSpPr txBox="1"/>
          <p:nvPr/>
        </p:nvSpPr>
        <p:spPr>
          <a:xfrm>
            <a:off x="3081856" y="2192750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22"/>
          <p:cNvSpPr txBox="1"/>
          <p:nvPr/>
        </p:nvSpPr>
        <p:spPr>
          <a:xfrm>
            <a:off x="2297936" y="2532100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2"/>
          <p:cNvSpPr txBox="1"/>
          <p:nvPr/>
        </p:nvSpPr>
        <p:spPr>
          <a:xfrm>
            <a:off x="2689896" y="2532100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22"/>
          <p:cNvSpPr txBox="1"/>
          <p:nvPr/>
        </p:nvSpPr>
        <p:spPr>
          <a:xfrm>
            <a:off x="3081871" y="2532100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22"/>
          <p:cNvSpPr txBox="1"/>
          <p:nvPr/>
        </p:nvSpPr>
        <p:spPr>
          <a:xfrm>
            <a:off x="1269049" y="3265450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7" name="Google Shape;387;p22"/>
          <p:cNvSpPr txBox="1"/>
          <p:nvPr/>
        </p:nvSpPr>
        <p:spPr>
          <a:xfrm>
            <a:off x="1661009" y="3265450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8" name="Google Shape;388;p22"/>
          <p:cNvSpPr txBox="1"/>
          <p:nvPr/>
        </p:nvSpPr>
        <p:spPr>
          <a:xfrm>
            <a:off x="1269049" y="3604800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22"/>
          <p:cNvSpPr txBox="1"/>
          <p:nvPr/>
        </p:nvSpPr>
        <p:spPr>
          <a:xfrm>
            <a:off x="1661009" y="3604800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22"/>
          <p:cNvSpPr txBox="1"/>
          <p:nvPr/>
        </p:nvSpPr>
        <p:spPr>
          <a:xfrm>
            <a:off x="2300920" y="3110101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1" name="Google Shape;391;p22"/>
          <p:cNvSpPr txBox="1"/>
          <p:nvPr/>
        </p:nvSpPr>
        <p:spPr>
          <a:xfrm>
            <a:off x="2692880" y="3110101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2" name="Google Shape;392;p22"/>
          <p:cNvSpPr txBox="1"/>
          <p:nvPr/>
        </p:nvSpPr>
        <p:spPr>
          <a:xfrm>
            <a:off x="2300920" y="3449451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22"/>
          <p:cNvSpPr txBox="1"/>
          <p:nvPr/>
        </p:nvSpPr>
        <p:spPr>
          <a:xfrm>
            <a:off x="2692880" y="3449451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2"/>
          <p:cNvSpPr txBox="1"/>
          <p:nvPr/>
        </p:nvSpPr>
        <p:spPr>
          <a:xfrm>
            <a:off x="3084830" y="3110101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5" name="Google Shape;395;p22"/>
          <p:cNvSpPr txBox="1"/>
          <p:nvPr/>
        </p:nvSpPr>
        <p:spPr>
          <a:xfrm>
            <a:off x="3084830" y="3449451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6" name="Google Shape;396;p22"/>
          <p:cNvSpPr txBox="1"/>
          <p:nvPr/>
        </p:nvSpPr>
        <p:spPr>
          <a:xfrm>
            <a:off x="2300920" y="3788801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7" name="Google Shape;397;p22"/>
          <p:cNvSpPr txBox="1"/>
          <p:nvPr/>
        </p:nvSpPr>
        <p:spPr>
          <a:xfrm>
            <a:off x="2692880" y="3788801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8" name="Google Shape;398;p22"/>
          <p:cNvSpPr txBox="1"/>
          <p:nvPr/>
        </p:nvSpPr>
        <p:spPr>
          <a:xfrm>
            <a:off x="3084830" y="3788801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99" name="Google Shape;399;p22"/>
          <p:cNvCxnSpPr/>
          <p:nvPr/>
        </p:nvCxnSpPr>
        <p:spPr>
          <a:xfrm rot="10800000" flipH="1">
            <a:off x="4368671" y="3138359"/>
            <a:ext cx="376800" cy="356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0" name="Google Shape;400;p22"/>
          <p:cNvCxnSpPr/>
          <p:nvPr/>
        </p:nvCxnSpPr>
        <p:spPr>
          <a:xfrm>
            <a:off x="3518925" y="2870264"/>
            <a:ext cx="376800" cy="639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1" name="Google Shape;401;p22"/>
          <p:cNvCxnSpPr/>
          <p:nvPr/>
        </p:nvCxnSpPr>
        <p:spPr>
          <a:xfrm rot="10800000" flipH="1">
            <a:off x="4368671" y="1889368"/>
            <a:ext cx="376800" cy="356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2" name="Google Shape;402;p22"/>
          <p:cNvCxnSpPr/>
          <p:nvPr/>
        </p:nvCxnSpPr>
        <p:spPr>
          <a:xfrm>
            <a:off x="4368671" y="3494759"/>
            <a:ext cx="376800" cy="356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3" name="Google Shape;403;p22"/>
          <p:cNvCxnSpPr/>
          <p:nvPr/>
        </p:nvCxnSpPr>
        <p:spPr>
          <a:xfrm>
            <a:off x="4368671" y="2245768"/>
            <a:ext cx="376800" cy="356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4" name="Google Shape;404;p22"/>
          <p:cNvCxnSpPr/>
          <p:nvPr/>
        </p:nvCxnSpPr>
        <p:spPr>
          <a:xfrm rot="10800000" flipH="1">
            <a:off x="3518925" y="2230364"/>
            <a:ext cx="376800" cy="639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5" name="Google Shape;405;p22"/>
          <p:cNvSpPr txBox="1"/>
          <p:nvPr/>
        </p:nvSpPr>
        <p:spPr>
          <a:xfrm>
            <a:off x="3796336" y="2135626"/>
            <a:ext cx="693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3796336" y="3395626"/>
            <a:ext cx="693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4684849" y="1782027"/>
            <a:ext cx="693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4866680" y="3745749"/>
            <a:ext cx="693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4866680" y="3046334"/>
            <a:ext cx="693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0" name="Google Shape;410;p22"/>
          <p:cNvSpPr txBox="1"/>
          <p:nvPr/>
        </p:nvSpPr>
        <p:spPr>
          <a:xfrm>
            <a:off x="4684849" y="2481442"/>
            <a:ext cx="693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1" name="Google Shape;411;p22" descr="&lt;math xmlns=&quot;http://www.w3.org/1998/Math/MathML&quot; display=&quot;block&quot; data-is-equatio=&quot;1&quot; data-latex=&quot;\frac{4}{14}&quot;&gt;&lt;mfrac&gt;&lt;mn&gt;4&lt;/mn&gt;&lt;mn&gt;14&lt;/mn&gt;&lt;/mfrac&gt;&lt;/math&gt;" title="4 over 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8628" y="1720449"/>
            <a:ext cx="189894" cy="343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2" descr="&lt;math xmlns=&quot;http://www.w3.org/1998/Math/MathML&quot; display=&quot;block&quot; data-is-equatio=&quot;1&quot; data-latex=&quot;\frac{3}{14}&quot;&gt;&lt;mfrac&gt;&lt;mn&gt;3&lt;/mn&gt;&lt;mn&gt;14&lt;/mn&gt;&lt;/mfrac&gt;&lt;/math&gt;" title="3 over 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7362" y="2419874"/>
            <a:ext cx="192426" cy="343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22" descr="&lt;math xmlns=&quot;http://www.w3.org/1998/Math/MathML&quot; display=&quot;block&quot; data-is-equatio=&quot;1&quot; data-latex=&quot;\frac{2}{14}&quot;&gt;&lt;mfrac&gt;&lt;mn&gt;2&lt;/mn&gt;&lt;mn&gt;14&lt;/mn&gt;&lt;/mfrac&gt;&lt;/math&gt;" title="2 over 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38916" y="2984780"/>
            <a:ext cx="192426" cy="343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22" descr="&lt;math xmlns=&quot;http://www.w3.org/1998/Math/MathML&quot; display=&quot;block&quot; data-is-equatio=&quot;1&quot; data-latex=&quot;\frac{5}{14}&quot;&gt;&lt;mfrac&gt;&lt;mn&gt;5&lt;/mn&gt;&lt;mn&gt;14&lt;/mn&gt;&lt;/mfrac&gt;&lt;/math&gt;" title="5 over 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71170" y="3689195"/>
            <a:ext cx="184830" cy="33358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2"/>
          <p:cNvSpPr txBox="1"/>
          <p:nvPr/>
        </p:nvSpPr>
        <p:spPr>
          <a:xfrm>
            <a:off x="467275" y="4276975"/>
            <a:ext cx="6624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missing outcome was an odd number that wasn’t square.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For example: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7, 11, 15, 17, 19, 23, …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16" name="Google Shape;416;p22"/>
          <p:cNvSpPr txBox="1"/>
          <p:nvPr/>
        </p:nvSpPr>
        <p:spPr>
          <a:xfrm>
            <a:off x="3478139" y="3793473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22"/>
          <p:cNvSpPr txBox="1"/>
          <p:nvPr/>
        </p:nvSpPr>
        <p:spPr>
          <a:xfrm>
            <a:off x="468025" y="5221725"/>
            <a:ext cx="3672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P(square)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P(either square or even)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P(either square or even, but not both)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8" name="Google Shape;418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3926" y="5509872"/>
            <a:ext cx="626486" cy="348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22" descr="&lt;math xmlns=&quot;http://www.w3.org/1998/Math/MathML&quot; display=&quot;block&quot; data-is-equatio=&quot;1&quot; data-latex=&quot;\frac{18}{28}=\frac{9}{14}&quot;&gt;&lt;mfrac&gt;&lt;mn&gt;18&lt;/mn&gt;&lt;mn&gt;28&lt;/mn&gt;&lt;/mfrac&gt;&lt;mo&gt;=&lt;/mo&gt;&lt;mfrac&gt;&lt;mn&gt;9&lt;/mn&gt;&lt;mn&gt;14&lt;/mn&gt;&lt;/mfrac&gt;&lt;/math&gt;" title="18 over 28 equals 9 over 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17869" y="5858801"/>
            <a:ext cx="626486" cy="348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22" descr="&lt;math xmlns=&quot;http://www.w3.org/1998/Math/MathML&quot; display=&quot;block&quot; data-is-equatio=&quot;1&quot; data-latex=&quot;\frac{10}{28}=\frac{5}{14}&quot;&gt;&lt;mfrac&gt;&lt;mn&gt;10&lt;/mn&gt;&lt;mn&gt;28&lt;/mn&gt;&lt;/mfrac&gt;&lt;mo&gt;=&lt;/mo&gt;&lt;mfrac&gt;&lt;mn&gt;5&lt;/mn&gt;&lt;mn&gt;14&lt;/mn&gt;&lt;/mfrac&gt;&lt;/math&gt;" title="10 over 28 equals 5 over 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50230" y="6252133"/>
            <a:ext cx="608945" cy="338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156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Comparing multiple representations to calculate theoretical probabilities for combined events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2024-03-05T14:00:57.469</cp:lastPrinted>
  <dcterms:created xsi:type="dcterms:W3CDTF">2024-03-05T14:00:57Z</dcterms:created>
  <dcterms:modified xsi:type="dcterms:W3CDTF">2024-03-05T14:01:27Z</dcterms:modified>
</cp:coreProperties>
</file>