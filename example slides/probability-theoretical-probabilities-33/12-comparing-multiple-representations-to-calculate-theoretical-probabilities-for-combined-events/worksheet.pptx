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90B43CF-016C-4C8C-9388-B02A761A7F98}">
  <a:tblStyle styleId="{C90B43CF-016C-4C8C-9388-B02A761A7F9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</a:tblStyle>
  <a:tblStyle styleId="{5F7FCD50-763A-4F89-93E7-07DCC063891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sp>
        <p:nvSpPr>
          <p:cNvPr id="220" name="Google Shape;220;g2bdde704fff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bdde704ff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3" name="Shape 283"/>
        <p:cNvGrpSpPr/>
        <p:nvPr/>
      </p:nvGrpSpPr>
      <p:grpSpPr>
        <a:xfrm>
          <a:off x="0" y="0"/>
          <a:ext cx="0" cy="0"/>
        </a:xfrm>
      </p:grpSpPr>
      <p:sp>
        <p:nvSpPr>
          <p:cNvPr id="284" name="Google Shape;28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 for combined events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4119489" y="2984400"/>
            <a:ext cx="635400" cy="20205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" name="Google Shape;162;p20"/>
          <p:cNvCxnSpPr>
            <a:stCxn id="161" idx="0"/>
          </p:cNvCxnSpPr>
          <p:nvPr/>
        </p:nvCxnSpPr>
        <p:spPr>
          <a:xfrm flipH="1">
            <a:off x="4437189" y="2984400"/>
            <a:ext cx="0" cy="2020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" name="Google Shape;164;p20"/>
          <p:cNvSpPr txBox="1"/>
          <p:nvPr/>
        </p:nvSpPr>
        <p:spPr>
          <a:xfrm>
            <a:off x="1882945" y="2096794"/>
            <a:ext cx="5209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Trial: this spinner is spun twice, with the outcomes of each spin multiplied together.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the outcome table and probability tree for this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670900"/>
            <a:ext cx="661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Showing two-stage trials across different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467966" y="1808130"/>
            <a:ext cx="1414851" cy="1414683"/>
            <a:chOff x="698170" y="423326"/>
            <a:chExt cx="1814842" cy="1814627"/>
          </a:xfrm>
        </p:grpSpPr>
        <p:sp>
          <p:nvSpPr>
            <p:cNvPr id="167" name="Google Shape;167;p20"/>
            <p:cNvSpPr/>
            <p:nvPr/>
          </p:nvSpPr>
          <p:spPr>
            <a:xfrm rot="10800000">
              <a:off x="941822" y="666567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66666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 rot="-7200295">
              <a:off x="941712" y="666425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66666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9" name="Google Shape;169;p20"/>
            <p:cNvSpPr/>
            <p:nvPr/>
          </p:nvSpPr>
          <p:spPr>
            <a:xfrm rot="-3599705">
              <a:off x="941269" y="666490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66666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941229" y="666482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66666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941656" y="666644"/>
              <a:ext cx="1328100" cy="1328100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1037632" y="1994771"/>
              <a:ext cx="11364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 rot="3599705" flipH="1">
              <a:off x="941289" y="666652"/>
              <a:ext cx="1328202" cy="1328202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4" name="Google Shape;174;p20"/>
            <p:cNvSpPr txBox="1"/>
            <p:nvPr/>
          </p:nvSpPr>
          <p:spPr>
            <a:xfrm flipH="1">
              <a:off x="1669842" y="868796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 flipH="1">
              <a:off x="1842542" y="1207621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 flipH="1">
              <a:off x="1209637" y="868773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20"/>
            <p:cNvSpPr txBox="1"/>
            <p:nvPr/>
          </p:nvSpPr>
          <p:spPr>
            <a:xfrm flipH="1">
              <a:off x="1669842" y="1601209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 txBox="1"/>
            <p:nvPr/>
          </p:nvSpPr>
          <p:spPr>
            <a:xfrm flipH="1">
              <a:off x="1209637" y="1601185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 flipH="1">
              <a:off x="1036942" y="1207621"/>
              <a:ext cx="3315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0" name="Google Shape;180;p20"/>
            <p:cNvGrpSpPr/>
            <p:nvPr/>
          </p:nvGrpSpPr>
          <p:grpSpPr>
            <a:xfrm>
              <a:off x="1578331" y="881495"/>
              <a:ext cx="54300" cy="473780"/>
              <a:chOff x="779080" y="747789"/>
              <a:chExt cx="54300" cy="473780"/>
            </a:xfrm>
          </p:grpSpPr>
          <p:cxnSp>
            <p:nvCxnSpPr>
              <p:cNvPr id="181" name="Google Shape;181;p20"/>
              <p:cNvCxnSpPr/>
              <p:nvPr/>
            </p:nvCxnSpPr>
            <p:spPr>
              <a:xfrm rot="10800000" flipH="1">
                <a:off x="808433" y="7477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82" name="Google Shape;182;p20"/>
              <p:cNvSpPr/>
              <p:nvPr/>
            </p:nvSpPr>
            <p:spPr>
              <a:xfrm>
                <a:off x="779080" y="1172670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183" name="Google Shape;183;p20"/>
          <p:cNvGraphicFramePr>
            <a:graphicFrameLocks noGrp="1"/>
          </p:cNvGraphicFramePr>
          <p:nvPr/>
        </p:nvGraphicFramePr>
        <p:xfrm>
          <a:off x="4953598" y="2984400"/>
          <a:ext cx="2124850" cy="2020475"/>
        </p:xfrm>
        <a:graphic>
          <a:graphicData uri="http://schemas.openxmlformats.org/drawingml/2006/table">
            <a:tbl>
              <a:tblPr>
                <a:noFill/>
                <a:tableStyleId>{C90B43CF-016C-4C8C-9388-B02A761A7F98}</a:tableStyleId>
              </a:tblPr>
              <a:tblGrid>
                <a:gridCol w="303550"/>
                <a:gridCol w="303550"/>
                <a:gridCol w="303550"/>
                <a:gridCol w="303550"/>
                <a:gridCol w="303550"/>
                <a:gridCol w="303550"/>
                <a:gridCol w="303550"/>
              </a:tblGrid>
              <a:tr h="274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84" name="Google Shape;184;p20"/>
          <p:cNvGrpSpPr/>
          <p:nvPr/>
        </p:nvGrpSpPr>
        <p:grpSpPr>
          <a:xfrm>
            <a:off x="2412043" y="3191176"/>
            <a:ext cx="1654930" cy="1647123"/>
            <a:chOff x="1522484" y="2300322"/>
            <a:chExt cx="2183861" cy="2435852"/>
          </a:xfrm>
        </p:grpSpPr>
        <p:cxnSp>
          <p:nvCxnSpPr>
            <p:cNvPr id="185" name="Google Shape;185;p20"/>
            <p:cNvCxnSpPr/>
            <p:nvPr/>
          </p:nvCxnSpPr>
          <p:spPr>
            <a:xfrm rot="10800000" flipH="1">
              <a:off x="1522484" y="2765881"/>
              <a:ext cx="781800" cy="711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20"/>
            <p:cNvCxnSpPr/>
            <p:nvPr/>
          </p:nvCxnSpPr>
          <p:spPr>
            <a:xfrm rot="10800000" flipH="1">
              <a:off x="2694340" y="2300322"/>
              <a:ext cx="781800" cy="462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7" name="Google Shape;187;p20"/>
            <p:cNvSpPr txBox="1"/>
            <p:nvPr/>
          </p:nvSpPr>
          <p:spPr>
            <a:xfrm>
              <a:off x="2413449" y="2629094"/>
              <a:ext cx="16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8" name="Google Shape;188;p20"/>
            <p:cNvCxnSpPr/>
            <p:nvPr/>
          </p:nvCxnSpPr>
          <p:spPr>
            <a:xfrm>
              <a:off x="1522484" y="3485231"/>
              <a:ext cx="781800" cy="711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0"/>
            <p:cNvCxnSpPr/>
            <p:nvPr/>
          </p:nvCxnSpPr>
          <p:spPr>
            <a:xfrm>
              <a:off x="2694340" y="2767158"/>
              <a:ext cx="781800" cy="462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20"/>
            <p:cNvCxnSpPr/>
            <p:nvPr/>
          </p:nvCxnSpPr>
          <p:spPr>
            <a:xfrm>
              <a:off x="2694340" y="4190283"/>
              <a:ext cx="781800" cy="462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20"/>
            <p:cNvCxnSpPr/>
            <p:nvPr/>
          </p:nvCxnSpPr>
          <p:spPr>
            <a:xfrm rot="10800000" flipH="1">
              <a:off x="2694340" y="3723447"/>
              <a:ext cx="781800" cy="462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2" name="Google Shape;192;p20"/>
            <p:cNvSpPr txBox="1"/>
            <p:nvPr/>
          </p:nvSpPr>
          <p:spPr>
            <a:xfrm>
              <a:off x="3544045" y="4556174"/>
              <a:ext cx="1623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3" name="Google Shape;193;p20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251" y="3980227"/>
            <a:ext cx="100826" cy="32495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463200" y="3443450"/>
            <a:ext cx="194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Circle the probabilities and outcomes for the event “even number”.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Find P(multiple of 7)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55325" y="7988535"/>
            <a:ext cx="244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P(6 or 8) using the probability tree.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55325" y="7471859"/>
            <a:ext cx="382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How many prime outcomes are there?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7" name="Google Shape;197;p20"/>
          <p:cNvGraphicFramePr>
            <a:graphicFrameLocks noGrp="1"/>
          </p:cNvGraphicFramePr>
          <p:nvPr/>
        </p:nvGraphicFramePr>
        <p:xfrm>
          <a:off x="463200" y="5354513"/>
          <a:ext cx="3614975" cy="1414825"/>
        </p:xfrm>
        <a:graphic>
          <a:graphicData uri="http://schemas.openxmlformats.org/drawingml/2006/table">
            <a:tbl>
              <a:tblPr>
                <a:noFill/>
                <a:tableStyleId>{C90B43CF-016C-4C8C-9388-B02A761A7F98}</a:tableStyleId>
              </a:tblPr>
              <a:tblGrid>
                <a:gridCol w="382850"/>
                <a:gridCol w="248450"/>
                <a:gridCol w="303725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46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8"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spinner A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  <a:tc hMerge="1">
                  <a:txBody>
                    <a:bodyPr vert="horz" wrap="square"/>
                    <a:lstStyle/>
                    <a:p/>
                  </a:txBody>
                  <a:tcPr/>
                </a:tc>
              </a:tr>
              <a:tr h="278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450">
                <a:tc rowSpan="3"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450"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450"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0"/>
          <p:cNvSpPr txBox="1"/>
          <p:nvPr/>
        </p:nvSpPr>
        <p:spPr>
          <a:xfrm>
            <a:off x="474750" y="5024575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Trial: spinner A and B will be spun once each. The outcomes are added together.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55325" y="6914500"/>
            <a:ext cx="382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Use the outcome table to complete the probability tree.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5139579" y="8306086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0"/>
          <p:cNvCxnSpPr/>
          <p:nvPr/>
        </p:nvCxnSpPr>
        <p:spPr>
          <a:xfrm rot="10800000" flipH="1">
            <a:off x="5139579" y="7931103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Google Shape;202;p20"/>
          <p:cNvSpPr txBox="1"/>
          <p:nvPr/>
        </p:nvSpPr>
        <p:spPr>
          <a:xfrm>
            <a:off x="5900786" y="8599907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900786" y="7855938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 rot="10800000" flipH="1">
            <a:off x="4139999" y="5972761"/>
            <a:ext cx="700500" cy="1142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" name="Google Shape;205;p20"/>
          <p:cNvSpPr txBox="1"/>
          <p:nvPr/>
        </p:nvSpPr>
        <p:spPr>
          <a:xfrm>
            <a:off x="4938173" y="5753362"/>
            <a:ext cx="1455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938173" y="8046098"/>
            <a:ext cx="1455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>
            <a:off x="4139999" y="7127115"/>
            <a:ext cx="700500" cy="1142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0"/>
          <p:cNvCxnSpPr/>
          <p:nvPr/>
        </p:nvCxnSpPr>
        <p:spPr>
          <a:xfrm>
            <a:off x="4139999" y="7127115"/>
            <a:ext cx="707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" name="Google Shape;209;p20"/>
          <p:cNvSpPr txBox="1"/>
          <p:nvPr/>
        </p:nvSpPr>
        <p:spPr>
          <a:xfrm>
            <a:off x="4938173" y="6899736"/>
            <a:ext cx="1455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" name="Google Shape;210;p20"/>
          <p:cNvCxnSpPr/>
          <p:nvPr/>
        </p:nvCxnSpPr>
        <p:spPr>
          <a:xfrm>
            <a:off x="5139579" y="7127940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0"/>
          <p:cNvCxnSpPr/>
          <p:nvPr/>
        </p:nvCxnSpPr>
        <p:spPr>
          <a:xfrm rot="10800000" flipH="1">
            <a:off x="5139579" y="6752957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" name="Google Shape;212;p20"/>
          <p:cNvSpPr txBox="1"/>
          <p:nvPr/>
        </p:nvSpPr>
        <p:spPr>
          <a:xfrm>
            <a:off x="5900786" y="7421761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900786" y="6677792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" name="Google Shape;214;p20"/>
          <p:cNvCxnSpPr/>
          <p:nvPr/>
        </p:nvCxnSpPr>
        <p:spPr>
          <a:xfrm>
            <a:off x="5139579" y="5949783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20"/>
          <p:cNvCxnSpPr/>
          <p:nvPr/>
        </p:nvCxnSpPr>
        <p:spPr>
          <a:xfrm rot="10800000" flipH="1">
            <a:off x="5139579" y="5574799"/>
            <a:ext cx="700500" cy="37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6" name="Google Shape;216;p20"/>
          <p:cNvSpPr txBox="1"/>
          <p:nvPr/>
        </p:nvSpPr>
        <p:spPr>
          <a:xfrm>
            <a:off x="5900786" y="6243603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900786" y="5499634"/>
            <a:ext cx="1455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 rot="-5400000">
            <a:off x="193650" y="6148188"/>
            <a:ext cx="9303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B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sp>
        <p:nvSpPr>
          <p:cNvPr id="223" name="Google Shape;22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Comparing multiple representations to calculate theoretical probabilities for combined events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391865" y="2291550"/>
            <a:ext cx="1699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P(M5 and F100)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P(M5)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P(M5 or F100)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68025" y="1145750"/>
            <a:ext cx="662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Trial: a spinner is spun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Events: the spinner lands on a factor of 100 (F100) or a multiple of 5 (M5).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outcome table to complete the Venn diagram showing the number of outcomes for each event.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68025" y="847850"/>
            <a:ext cx="66240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Statements for events across different diagrams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181841" y="2515436"/>
            <a:ext cx="1966200" cy="1440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3318400" y="2774565"/>
            <a:ext cx="1176300" cy="1008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3835444" y="2774565"/>
            <a:ext cx="1176300" cy="1008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216978" y="2515436"/>
            <a:ext cx="94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F100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192754" y="2515436"/>
            <a:ext cx="92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013400" y="2498275"/>
            <a:ext cx="168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1"/>
          <p:cNvGrpSpPr/>
          <p:nvPr/>
        </p:nvGrpSpPr>
        <p:grpSpPr>
          <a:xfrm>
            <a:off x="5256903" y="2246074"/>
            <a:ext cx="1835178" cy="1953230"/>
            <a:chOff x="3238750" y="2117900"/>
            <a:chExt cx="350700" cy="419400"/>
          </a:xfrm>
        </p:grpSpPr>
        <p:cxnSp>
          <p:nvCxnSpPr>
            <p:cNvPr id="234" name="Google Shape;234;p21"/>
            <p:cNvCxnSpPr/>
            <p:nvPr/>
          </p:nvCxnSpPr>
          <p:spPr>
            <a:xfrm flipH="1">
              <a:off x="3238750" y="2117900"/>
              <a:ext cx="0" cy="419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" name="Google Shape;235;p21"/>
            <p:cNvCxnSpPr/>
            <p:nvPr/>
          </p:nvCxnSpPr>
          <p:spPr>
            <a:xfrm>
              <a:off x="3238750" y="2117900"/>
              <a:ext cx="3507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236" name="Google Shape;236;p21"/>
          <p:cNvGraphicFramePr>
            <a:graphicFrameLocks noGrp="1"/>
          </p:cNvGraphicFramePr>
          <p:nvPr/>
        </p:nvGraphicFramePr>
        <p:xfrm>
          <a:off x="468000" y="22564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{5F7FCD50-763A-4F89-93E7-07DCC0638914}</a:tableStyleId>
              </a:tblPr>
              <a:tblGrid>
                <a:gridCol w="458550"/>
                <a:gridCol w="1013425"/>
                <a:gridCol w="984700"/>
              </a:tblGrid>
              <a:tr h="217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(M5)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M5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03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F100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03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F100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7" name="Google Shape;237;p21"/>
          <p:cNvSpPr txBox="1"/>
          <p:nvPr/>
        </p:nvSpPr>
        <p:spPr>
          <a:xfrm>
            <a:off x="954798" y="2506036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1617166" y="2484476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954798" y="2940033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607141" y="2963004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1278713" y="2745302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2042732" y="2566320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2534094" y="2630768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2235579" y="2940034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024341" y="3374031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1546688" y="3374031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1396976" y="3744809"/>
            <a:ext cx="5067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992127" y="3744809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994078" y="3313748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2316079" y="3313748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2638080" y="3313748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1994078" y="3687463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2316079" y="3687463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2638080" y="3687463"/>
            <a:ext cx="286500" cy="276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52679" y="4620851"/>
            <a:ext cx="6623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Trial: selecting a random number from a game at a fair.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Events: Izzy wins, Jun wins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Venn diagram showing the number of outcomes that result in Izzy or Jun winning to complete the probability tree.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16752" y="6123466"/>
            <a:ext cx="1915200" cy="14028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749771" y="6375878"/>
            <a:ext cx="1145700" cy="982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1253412" y="6375878"/>
            <a:ext cx="1145700" cy="982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50978" y="6123466"/>
            <a:ext cx="91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 wins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1601461" y="6123466"/>
            <a:ext cx="89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 wins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52677" y="6106750"/>
            <a:ext cx="16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2185765" y="7273934"/>
            <a:ext cx="314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1417311" y="6711040"/>
            <a:ext cx="314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1987939" y="6711040"/>
            <a:ext cx="314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856432" y="6711040"/>
            <a:ext cx="3141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" name="Google Shape;266;p21"/>
          <p:cNvCxnSpPr/>
          <p:nvPr/>
        </p:nvCxnSpPr>
        <p:spPr>
          <a:xfrm rot="10800000" flipH="1">
            <a:off x="3702129" y="7040059"/>
            <a:ext cx="369300" cy="34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1"/>
          <p:cNvCxnSpPr/>
          <p:nvPr/>
        </p:nvCxnSpPr>
        <p:spPr>
          <a:xfrm>
            <a:off x="2653030" y="6777453"/>
            <a:ext cx="369300" cy="627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21"/>
          <p:cNvCxnSpPr/>
          <p:nvPr/>
        </p:nvCxnSpPr>
        <p:spPr>
          <a:xfrm rot="10800000" flipH="1">
            <a:off x="3702129" y="5815847"/>
            <a:ext cx="369300" cy="34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1"/>
          <p:cNvCxnSpPr/>
          <p:nvPr/>
        </p:nvCxnSpPr>
        <p:spPr>
          <a:xfrm>
            <a:off x="3702129" y="7389559"/>
            <a:ext cx="369300" cy="34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1"/>
          <p:cNvCxnSpPr/>
          <p:nvPr/>
        </p:nvCxnSpPr>
        <p:spPr>
          <a:xfrm>
            <a:off x="3702129" y="6165347"/>
            <a:ext cx="369300" cy="34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21"/>
          <p:cNvCxnSpPr/>
          <p:nvPr/>
        </p:nvCxnSpPr>
        <p:spPr>
          <a:xfrm rot="10800000" flipH="1">
            <a:off x="2653030" y="6150153"/>
            <a:ext cx="369300" cy="627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p21"/>
          <p:cNvSpPr txBox="1"/>
          <p:nvPr/>
        </p:nvSpPr>
        <p:spPr>
          <a:xfrm>
            <a:off x="3022333" y="6057390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 wins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3022333" y="7292392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loses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071443" y="5710806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071443" y="6950030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071443" y="7635569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071443" y="6396345"/>
            <a:ext cx="679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loses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8" name="Google Shape;278;p21" descr="&lt;math xmlns=&quot;http://www.w3.org/1998/Math/MathML&quot; display=&quot;block&quot; data-is-equatio=&quot;1&quot; data-latex=&quot;\frac{4}{32}&quot;&gt;&lt;mfrac&gt;&lt;mn&gt;4&lt;/mn&gt;&lt;mn&gt;32&lt;/mn&gt;&lt;/mfrac&gt;&lt;/math&gt;" title="4 over 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756" y="6335987"/>
            <a:ext cx="181872" cy="3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1"/>
          <p:cNvSpPr txBox="1"/>
          <p:nvPr/>
        </p:nvSpPr>
        <p:spPr>
          <a:xfrm>
            <a:off x="5389515" y="5813213"/>
            <a:ext cx="16869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P(Izzy wins)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P(only Jun wins)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P(either win)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0" name="Google Shape;280;p21"/>
          <p:cNvGrpSpPr/>
          <p:nvPr/>
        </p:nvGrpSpPr>
        <p:grpSpPr>
          <a:xfrm>
            <a:off x="5255575" y="5768120"/>
            <a:ext cx="1821150" cy="2121157"/>
            <a:chOff x="3238750" y="2117900"/>
            <a:chExt cx="350700" cy="419400"/>
          </a:xfrm>
        </p:grpSpPr>
        <p:cxnSp>
          <p:nvCxnSpPr>
            <p:cNvPr id="281" name="Google Shape;281;p21"/>
            <p:cNvCxnSpPr/>
            <p:nvPr/>
          </p:nvCxnSpPr>
          <p:spPr>
            <a:xfrm flipH="1">
              <a:off x="3238750" y="2117900"/>
              <a:ext cx="0" cy="419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21"/>
            <p:cNvCxnSpPr/>
            <p:nvPr/>
          </p:nvCxnSpPr>
          <p:spPr>
            <a:xfrm>
              <a:off x="3238750" y="2117900"/>
              <a:ext cx="3507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6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88" name="Google Shape;288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 for combined events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468025" y="720000"/>
            <a:ext cx="662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Trial: a spinner is spun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Events: the spinner lands on a square number or an even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both the probability tree with probabilities and events, and complete the outcome table with one possible missing outcome.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2" name="Google Shape;292;p22"/>
          <p:cNvGraphicFramePr>
            <a:graphicFrameLocks noGrp="1"/>
          </p:cNvGraphicFramePr>
          <p:nvPr/>
        </p:nvGraphicFramePr>
        <p:xfrm>
          <a:off x="468000" y="172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{5F7FCD50-763A-4F89-93E7-07DCC0638914}</a:tableStyleId>
              </a:tblPr>
              <a:tblGrid>
                <a:gridCol w="555725"/>
                <a:gridCol w="1228175"/>
                <a:gridCol w="1193350"/>
              </a:tblGrid>
              <a:tr h="281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4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4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93" name="Google Shape;293;p22"/>
          <p:cNvSpPr txBox="1"/>
          <p:nvPr/>
        </p:nvSpPr>
        <p:spPr>
          <a:xfrm>
            <a:off x="1073075" y="2086925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1465035" y="2086925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1856995" y="2086925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1073075" y="2426275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1465035" y="2426275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1804350" y="2426275"/>
            <a:ext cx="4014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1171363" y="2765625"/>
            <a:ext cx="4014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1653388" y="2765625"/>
            <a:ext cx="4014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2297936" y="219275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2689896" y="219275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3081856" y="219275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2297936" y="253210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2689896" y="253210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3081871" y="253210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1269049" y="326545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1661009" y="326545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1269049" y="360480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1661009" y="3604800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2300920" y="31101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2692880" y="31101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2300920" y="344945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2692880" y="344945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3084830" y="31101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3084830" y="344945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2300920" y="37888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2692880" y="37888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3084830" y="3788801"/>
            <a:ext cx="296100" cy="2352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0" name="Google Shape;320;p22"/>
          <p:cNvCxnSpPr/>
          <p:nvPr/>
        </p:nvCxnSpPr>
        <p:spPr>
          <a:xfrm rot="10800000" flipH="1">
            <a:off x="4368671" y="3138359"/>
            <a:ext cx="376800" cy="35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2"/>
          <p:cNvCxnSpPr/>
          <p:nvPr/>
        </p:nvCxnSpPr>
        <p:spPr>
          <a:xfrm>
            <a:off x="3518925" y="2870264"/>
            <a:ext cx="376800" cy="639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22"/>
          <p:cNvCxnSpPr/>
          <p:nvPr/>
        </p:nvCxnSpPr>
        <p:spPr>
          <a:xfrm rot="10800000" flipH="1">
            <a:off x="4368671" y="1889368"/>
            <a:ext cx="376800" cy="35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22"/>
          <p:cNvCxnSpPr/>
          <p:nvPr/>
        </p:nvCxnSpPr>
        <p:spPr>
          <a:xfrm>
            <a:off x="4368671" y="3494759"/>
            <a:ext cx="376800" cy="35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22"/>
          <p:cNvCxnSpPr/>
          <p:nvPr/>
        </p:nvCxnSpPr>
        <p:spPr>
          <a:xfrm>
            <a:off x="4368671" y="2245768"/>
            <a:ext cx="376800" cy="356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22"/>
          <p:cNvCxnSpPr/>
          <p:nvPr/>
        </p:nvCxnSpPr>
        <p:spPr>
          <a:xfrm rot="10800000" flipH="1">
            <a:off x="3518925" y="2230364"/>
            <a:ext cx="376800" cy="639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Google Shape;326;p22"/>
          <p:cNvSpPr txBox="1"/>
          <p:nvPr/>
        </p:nvSpPr>
        <p:spPr>
          <a:xfrm>
            <a:off x="3796336" y="2135626"/>
            <a:ext cx="693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4684849" y="1782027"/>
            <a:ext cx="693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4866680" y="3745749"/>
            <a:ext cx="693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4684849" y="2481442"/>
            <a:ext cx="693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0" name="Google Shape;330;p22" descr="&lt;math xmlns=&quot;http://www.w3.org/1998/Math/MathML&quot; display=&quot;block&quot; data-is-equatio=&quot;1&quot; data-latex=&quot;\frac{4}{14}&quot;&gt;&lt;mfrac&gt;&lt;mn&gt;4&lt;/mn&gt;&lt;mn&gt;14&lt;/mn&gt;&lt;/mfrac&gt;&lt;/math&gt;" title="4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8628" y="1720449"/>
            <a:ext cx="189894" cy="343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2" descr="&lt;math xmlns=&quot;http://www.w3.org/1998/Math/MathML&quot; display=&quot;block&quot; data-is-equatio=&quot;1&quot; data-latex=&quot;\frac{2}{14}&quot;&gt;&lt;mfrac&gt;&lt;mn&gt;2&lt;/mn&gt;&lt;mn&gt;14&lt;/mn&gt;&lt;/mfrac&gt;&lt;/math&gt;" title="2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8916" y="2984780"/>
            <a:ext cx="192426" cy="343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2" descr="&lt;math xmlns=&quot;http://www.w3.org/1998/Math/MathML&quot; display=&quot;block&quot; data-is-equatio=&quot;1&quot; data-latex=&quot;\frac{5}{14}&quot;&gt;&lt;mfrac&gt;&lt;mn&gt;5&lt;/mn&gt;&lt;mn&gt;14&lt;/mn&gt;&lt;/mfrac&gt;&lt;/math&gt;" title="5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1170" y="3689195"/>
            <a:ext cx="184830" cy="33358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2"/>
          <p:cNvSpPr txBox="1"/>
          <p:nvPr/>
        </p:nvSpPr>
        <p:spPr>
          <a:xfrm>
            <a:off x="468025" y="5221725"/>
            <a:ext cx="3672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P(square)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P(either square or even)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P(either square or even, but not both)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128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Comparing multiple representations to calculate theoretical probabilities for combined events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2024-03-05T14:00:55.547</cp:lastPrinted>
  <dcterms:created xsi:type="dcterms:W3CDTF">2024-03-05T14:00:55Z</dcterms:created>
  <dcterms:modified xsi:type="dcterms:W3CDTF">2024-03-05T14:01:18Z</dcterms:modified>
</cp:coreProperties>
</file>