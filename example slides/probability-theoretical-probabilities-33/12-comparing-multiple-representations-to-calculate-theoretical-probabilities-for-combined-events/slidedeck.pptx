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F7CE9F-10F2-4CC4-98FD-25E62B0FB873}">
  <a:tblStyle styleId="{ADF7CE9F-10F2-4CC4-98FD-25E62B0FB8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A3F118E-B2D7-4046-9669-8A3E4319C3B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9f646042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9f646042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9f646042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9f646042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9f64604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9f64604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9f646042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9f646042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b9f646042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b9f646042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9f646042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9f646042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b9f6460425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b9f6460425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b9f6460425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b9f6460425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b9f6460425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b9f6460425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b9f6460425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b9f6460425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b9f6460425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b9f6460425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b9f6460425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b9f6460425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b9f6460425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b9f6460425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b9f6460425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b9f6460425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b9f6460425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b9f6460425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b9f6460425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b9f6460425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b9f6460425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b9f6460425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2ba45291188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ba45291188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b9f6460425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b9f6460425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b9f6460425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b9f6460425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b9f6460425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b9f6460425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b9f6460425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b9f6460425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2b9f6460425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2b9f6460425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b9f6460425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b9f6460425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2b9f6460425_0_1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2b9f6460425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b9f6460425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b9f6460425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2b9f6460425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2b9f6460425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2b9f6460425_0_1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2b9f6460425_0_1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b9f6460425_0_1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b9f6460425_0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b9f6460425_0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b9f6460425_0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g2b9f6460425_0_1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2b9f6460425_0_1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2b9f6460425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2b9f6460425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2b9f6460425_0_2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2b9f6460425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2b9f6460425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2b9f6460425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2b9f6460425_0_2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2b9f6460425_0_2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2b9f6460425_0_2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2b9f6460425_0_2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g2b9f6460425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1" name="Google Shape;2341;g2b9f6460425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g2b9f6460425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6" name="Google Shape;2376;g2b9f6460425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g2b9f6460425_0_2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9" name="Google Shape;2409;g2b9f6460425_0_2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2b9f6460425_0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2b9f6460425_0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g2b9f6460425_0_2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2" name="Google Shape;2502;g2b9f6460425_0_2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g2b9f6460425_0_2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1" name="Google Shape;2541;g2b9f6460425_0_2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g2b9f6460425_0_2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2" name="Google Shape;2592;g2b9f6460425_0_2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2b9f6460425_0_2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2b9f6460425_0_2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2b9f6460425_0_2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2b9f6460425_0_2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5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5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5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60.png"/><Relationship Id="rId9" Type="http://schemas.openxmlformats.org/officeDocument/2006/relationships/image" Target="../media/image57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Relationship Id="rId10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Relationship Id="rId8" Type="http://schemas.openxmlformats.org/officeDocument/2006/relationships/image" Target="../media/image60.png"/><Relationship Id="rId10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Relationship Id="rId8" Type="http://schemas.openxmlformats.org/officeDocument/2006/relationships/image" Target="../media/image60.png"/><Relationship Id="rId11" Type="http://schemas.openxmlformats.org/officeDocument/2006/relationships/image" Target="../media/image56.png"/><Relationship Id="rId10" Type="http://schemas.openxmlformats.org/officeDocument/2006/relationships/image" Target="../media/image6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51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50.png"/><Relationship Id="rId8" Type="http://schemas.openxmlformats.org/officeDocument/2006/relationships/image" Target="../media/image58.png"/><Relationship Id="rId11" Type="http://schemas.openxmlformats.org/officeDocument/2006/relationships/image" Target="../media/image52.png"/><Relationship Id="rId10" Type="http://schemas.openxmlformats.org/officeDocument/2006/relationships/image" Target="../media/image60.png"/><Relationship Id="rId12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64.png"/><Relationship Id="rId8" Type="http://schemas.openxmlformats.org/officeDocument/2006/relationships/image" Target="../media/image51.png"/><Relationship Id="rId11" Type="http://schemas.openxmlformats.org/officeDocument/2006/relationships/image" Target="../media/image60.png"/><Relationship Id="rId10" Type="http://schemas.openxmlformats.org/officeDocument/2006/relationships/image" Target="../media/image62.png"/><Relationship Id="rId12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61.png"/><Relationship Id="rId5" Type="http://schemas.openxmlformats.org/officeDocument/2006/relationships/image" Target="../media/image63.png"/><Relationship Id="rId6" Type="http://schemas.openxmlformats.org/officeDocument/2006/relationships/image" Target="../media/image53.png"/><Relationship Id="rId7" Type="http://schemas.openxmlformats.org/officeDocument/2006/relationships/image" Target="../media/image6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Relationship Id="rId7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9" Type="http://schemas.openxmlformats.org/officeDocument/2006/relationships/image" Target="../media/image66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Relationship Id="rId7" Type="http://schemas.openxmlformats.org/officeDocument/2006/relationships/image" Target="../media/image68.png"/><Relationship Id="rId8" Type="http://schemas.openxmlformats.org/officeDocument/2006/relationships/image" Target="../media/image67.png"/><Relationship Id="rId11" Type="http://schemas.openxmlformats.org/officeDocument/2006/relationships/image" Target="../media/image44.png"/><Relationship Id="rId10" Type="http://schemas.openxmlformats.org/officeDocument/2006/relationships/image" Target="../media/image70.png"/><Relationship Id="rId12" Type="http://schemas.openxmlformats.org/officeDocument/2006/relationships/image" Target="../media/image7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2.png"/><Relationship Id="rId4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6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7.png"/><Relationship Id="rId8" Type="http://schemas.openxmlformats.org/officeDocument/2006/relationships/image" Target="../media/image7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Relationship Id="rId4" Type="http://schemas.openxmlformats.org/officeDocument/2006/relationships/image" Target="../media/image80.png"/><Relationship Id="rId9" Type="http://schemas.openxmlformats.org/officeDocument/2006/relationships/image" Target="../media/image86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11" Type="http://schemas.openxmlformats.org/officeDocument/2006/relationships/image" Target="../media/image88.png"/><Relationship Id="rId10" Type="http://schemas.openxmlformats.org/officeDocument/2006/relationships/image" Target="../media/image8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0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0.png"/><Relationship Id="rId6" Type="http://schemas.openxmlformats.org/officeDocument/2006/relationships/image" Target="../media/image9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97.png"/><Relationship Id="rId6" Type="http://schemas.openxmlformats.org/officeDocument/2006/relationships/image" Target="../media/image105.png"/><Relationship Id="rId7" Type="http://schemas.openxmlformats.org/officeDocument/2006/relationships/image" Target="../media/image10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Relationship Id="rId9" Type="http://schemas.openxmlformats.org/officeDocument/2006/relationships/image" Target="../media/image104.png"/><Relationship Id="rId5" Type="http://schemas.openxmlformats.org/officeDocument/2006/relationships/image" Target="../media/image108.png"/><Relationship Id="rId6" Type="http://schemas.openxmlformats.org/officeDocument/2006/relationships/image" Target="../media/image98.png"/><Relationship Id="rId7" Type="http://schemas.openxmlformats.org/officeDocument/2006/relationships/image" Target="../media/image107.png"/><Relationship Id="rId8" Type="http://schemas.openxmlformats.org/officeDocument/2006/relationships/image" Target="../media/image110.png"/><Relationship Id="rId11" Type="http://schemas.openxmlformats.org/officeDocument/2006/relationships/image" Target="../media/image109.png"/><Relationship Id="rId10" Type="http://schemas.openxmlformats.org/officeDocument/2006/relationships/image" Target="../media/image106.png"/><Relationship Id="rId13" Type="http://schemas.openxmlformats.org/officeDocument/2006/relationships/image" Target="../media/image112.png"/><Relationship Id="rId12" Type="http://schemas.openxmlformats.org/officeDocument/2006/relationships/image" Target="../media/image1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Relationship Id="rId9" Type="http://schemas.openxmlformats.org/officeDocument/2006/relationships/image" Target="../media/image104.png"/><Relationship Id="rId5" Type="http://schemas.openxmlformats.org/officeDocument/2006/relationships/image" Target="../media/image108.png"/><Relationship Id="rId6" Type="http://schemas.openxmlformats.org/officeDocument/2006/relationships/image" Target="../media/image98.png"/><Relationship Id="rId7" Type="http://schemas.openxmlformats.org/officeDocument/2006/relationships/image" Target="../media/image107.png"/><Relationship Id="rId8" Type="http://schemas.openxmlformats.org/officeDocument/2006/relationships/image" Target="../media/image110.png"/><Relationship Id="rId11" Type="http://schemas.openxmlformats.org/officeDocument/2006/relationships/image" Target="../media/image109.png"/><Relationship Id="rId10" Type="http://schemas.openxmlformats.org/officeDocument/2006/relationships/image" Target="../media/image106.png"/><Relationship Id="rId13" Type="http://schemas.openxmlformats.org/officeDocument/2006/relationships/image" Target="../media/image112.png"/><Relationship Id="rId12" Type="http://schemas.openxmlformats.org/officeDocument/2006/relationships/image" Target="../media/image111.png"/><Relationship Id="rId15" Type="http://schemas.openxmlformats.org/officeDocument/2006/relationships/image" Target="../media/image116.png"/><Relationship Id="rId14" Type="http://schemas.openxmlformats.org/officeDocument/2006/relationships/image" Target="../media/image114.png"/><Relationship Id="rId17" Type="http://schemas.openxmlformats.org/officeDocument/2006/relationships/image" Target="../media/image117.png"/><Relationship Id="rId16" Type="http://schemas.openxmlformats.org/officeDocument/2006/relationships/image" Target="../media/image1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118.png"/><Relationship Id="rId5" Type="http://schemas.openxmlformats.org/officeDocument/2006/relationships/image" Target="../media/image125.png"/><Relationship Id="rId6" Type="http://schemas.openxmlformats.org/officeDocument/2006/relationships/image" Target="../media/image1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Relationship Id="rId4" Type="http://schemas.openxmlformats.org/officeDocument/2006/relationships/image" Target="../media/image103.png"/><Relationship Id="rId5" Type="http://schemas.openxmlformats.org/officeDocument/2006/relationships/image" Target="../media/image126.png"/><Relationship Id="rId6" Type="http://schemas.openxmlformats.org/officeDocument/2006/relationships/image" Target="../media/image9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5.png"/><Relationship Id="rId4" Type="http://schemas.openxmlformats.org/officeDocument/2006/relationships/image" Target="../media/image97.png"/><Relationship Id="rId5" Type="http://schemas.openxmlformats.org/officeDocument/2006/relationships/image" Target="../media/image10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5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7.png"/><Relationship Id="rId4" Type="http://schemas.openxmlformats.org/officeDocument/2006/relationships/image" Target="../media/image132.png"/><Relationship Id="rId5" Type="http://schemas.openxmlformats.org/officeDocument/2006/relationships/image" Target="../media/image128.png"/><Relationship Id="rId6" Type="http://schemas.openxmlformats.org/officeDocument/2006/relationships/image" Target="../media/image131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5.png"/><Relationship Id="rId4" Type="http://schemas.openxmlformats.org/officeDocument/2006/relationships/image" Target="../media/image121.png"/><Relationship Id="rId5" Type="http://schemas.openxmlformats.org/officeDocument/2006/relationships/image" Target="../media/image97.png"/><Relationship Id="rId6" Type="http://schemas.openxmlformats.org/officeDocument/2006/relationships/image" Target="../media/image10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5.png"/><Relationship Id="rId4" Type="http://schemas.openxmlformats.org/officeDocument/2006/relationships/image" Target="../media/image121.png"/><Relationship Id="rId9" Type="http://schemas.openxmlformats.org/officeDocument/2006/relationships/image" Target="../media/image136.png"/><Relationship Id="rId5" Type="http://schemas.openxmlformats.org/officeDocument/2006/relationships/image" Target="../media/image97.png"/><Relationship Id="rId6" Type="http://schemas.openxmlformats.org/officeDocument/2006/relationships/image" Target="../media/image101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compare and contrast the usefulness of the different representations when calculating theoretical probabilities for combined events.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2" type="subTitle"/>
          </p:nvPr>
        </p:nvSpPr>
        <p:spPr>
          <a:xfrm>
            <a:off x="324000" y="8100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Each branch of a probability tree shows a possible outcome from an event or from a stage of a trial, along with the probability of that outcome happening.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sample space is all the possible outcomes of a trial. A sample space diagram is a systematic way of producing a sample space.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</a:rPr>
              <a:t>Venn diagrams are a representation used to model statistical/probability questions. Commonly circles are used to represent events. 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768" name="Google Shape;768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pic>
        <p:nvPicPr>
          <p:cNvPr id="769" name="Google Shape;76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059448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5" name="Google Shape;775;p67"/>
          <p:cNvGraphicFramePr/>
          <p:nvPr/>
        </p:nvGraphicFramePr>
        <p:xfrm>
          <a:off x="2219125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679575"/>
                <a:gridCol w="679575"/>
                <a:gridCol w="679575"/>
                <a:gridCol w="679575"/>
                <a:gridCol w="679575"/>
                <a:gridCol w="679575"/>
                <a:gridCol w="679575"/>
                <a:gridCol w="679575"/>
                <a:gridCol w="679575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76" name="Google Shape;776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777" name="Google Shape;777;p67"/>
          <p:cNvSpPr txBox="1"/>
          <p:nvPr/>
        </p:nvSpPr>
        <p:spPr>
          <a:xfrm>
            <a:off x="315450" y="606600"/>
            <a:ext cx="1644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spinner 1 and spinner 2 will be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556311" y="3011644"/>
            <a:ext cx="116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/>
          <p:nvPr/>
        </p:nvSpPr>
        <p:spPr>
          <a:xfrm flipH="1">
            <a:off x="556270" y="1825210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7"/>
          <p:cNvSpPr/>
          <p:nvPr/>
        </p:nvSpPr>
        <p:spPr>
          <a:xfrm flipH="1" rot="2700000">
            <a:off x="556502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7"/>
          <p:cNvSpPr/>
          <p:nvPr/>
        </p:nvSpPr>
        <p:spPr>
          <a:xfrm flipH="1" rot="5400000">
            <a:off x="556622" y="182541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67"/>
          <p:cNvSpPr/>
          <p:nvPr/>
        </p:nvSpPr>
        <p:spPr>
          <a:xfrm flipH="1" rot="8100000">
            <a:off x="556568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7"/>
          <p:cNvSpPr/>
          <p:nvPr/>
        </p:nvSpPr>
        <p:spPr>
          <a:xfrm flipH="1" rot="10800000">
            <a:off x="556433" y="182518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7"/>
          <p:cNvSpPr/>
          <p:nvPr/>
        </p:nvSpPr>
        <p:spPr>
          <a:xfrm flipH="1" rot="-8100000">
            <a:off x="556393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67"/>
          <p:cNvSpPr/>
          <p:nvPr/>
        </p:nvSpPr>
        <p:spPr>
          <a:xfrm flipH="1" rot="-5400000">
            <a:off x="556381" y="182528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7"/>
          <p:cNvSpPr/>
          <p:nvPr/>
        </p:nvSpPr>
        <p:spPr>
          <a:xfrm flipH="1" rot="-2700000">
            <a:off x="556327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7" name="Google Shape;787;p67"/>
          <p:cNvGrpSpPr/>
          <p:nvPr/>
        </p:nvGrpSpPr>
        <p:grpSpPr>
          <a:xfrm rot="5400000">
            <a:off x="1364837" y="2118462"/>
            <a:ext cx="65100" cy="576723"/>
            <a:chOff x="936300" y="737518"/>
            <a:chExt cx="65100" cy="576723"/>
          </a:xfrm>
        </p:grpSpPr>
        <p:cxnSp>
          <p:nvCxnSpPr>
            <p:cNvPr id="788" name="Google Shape;788;p6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9" name="Google Shape;789;p67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0" name="Google Shape;790;p67"/>
          <p:cNvSpPr txBox="1"/>
          <p:nvPr/>
        </p:nvSpPr>
        <p:spPr>
          <a:xfrm flipH="1">
            <a:off x="1337890" y="2068131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7"/>
          <p:cNvSpPr txBox="1"/>
          <p:nvPr/>
        </p:nvSpPr>
        <p:spPr>
          <a:xfrm flipH="1">
            <a:off x="1337890" y="241620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7"/>
          <p:cNvSpPr txBox="1"/>
          <p:nvPr/>
        </p:nvSpPr>
        <p:spPr>
          <a:xfrm flipH="1">
            <a:off x="1134678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>
            <a:off x="650130" y="211114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7"/>
          <p:cNvSpPr txBox="1"/>
          <p:nvPr/>
        </p:nvSpPr>
        <p:spPr>
          <a:xfrm>
            <a:off x="650130" y="238144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7"/>
          <p:cNvSpPr txBox="1"/>
          <p:nvPr/>
        </p:nvSpPr>
        <p:spPr>
          <a:xfrm>
            <a:off x="853342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7"/>
          <p:cNvSpPr txBox="1"/>
          <p:nvPr/>
        </p:nvSpPr>
        <p:spPr>
          <a:xfrm flipH="1">
            <a:off x="113467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7"/>
          <p:cNvSpPr txBox="1"/>
          <p:nvPr/>
        </p:nvSpPr>
        <p:spPr>
          <a:xfrm>
            <a:off x="85182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7"/>
          <p:cNvSpPr txBox="1"/>
          <p:nvPr/>
        </p:nvSpPr>
        <p:spPr>
          <a:xfrm>
            <a:off x="569701" y="4503209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9" name="Google Shape;799;p67"/>
          <p:cNvGrpSpPr/>
          <p:nvPr/>
        </p:nvGrpSpPr>
        <p:grpSpPr>
          <a:xfrm>
            <a:off x="435650" y="3267219"/>
            <a:ext cx="1404403" cy="1404403"/>
            <a:chOff x="146832" y="518450"/>
            <a:chExt cx="1320300" cy="1320300"/>
          </a:xfrm>
        </p:grpSpPr>
        <p:sp>
          <p:nvSpPr>
            <p:cNvPr id="800" name="Google Shape;800;p67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7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7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3" name="Google Shape;803;p67"/>
          <p:cNvGrpSpPr/>
          <p:nvPr/>
        </p:nvGrpSpPr>
        <p:grpSpPr>
          <a:xfrm>
            <a:off x="1105475" y="3496150"/>
            <a:ext cx="65100" cy="499203"/>
            <a:chOff x="936300" y="737518"/>
            <a:chExt cx="65100" cy="584752"/>
          </a:xfrm>
        </p:grpSpPr>
        <p:cxnSp>
          <p:nvCxnSpPr>
            <p:cNvPr id="804" name="Google Shape;804;p6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05" name="Google Shape;805;p67"/>
            <p:cNvSpPr/>
            <p:nvPr/>
          </p:nvSpPr>
          <p:spPr>
            <a:xfrm>
              <a:off x="936300" y="1247270"/>
              <a:ext cx="65100" cy="75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6" name="Google Shape;806;p67"/>
          <p:cNvSpPr txBox="1"/>
          <p:nvPr/>
        </p:nvSpPr>
        <p:spPr>
          <a:xfrm>
            <a:off x="1256992" y="370576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/>
        </p:nvSpPr>
        <p:spPr>
          <a:xfrm flipH="1">
            <a:off x="997623" y="403434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8" name="Google Shape;808;p67"/>
          <p:cNvGrpSpPr/>
          <p:nvPr/>
        </p:nvGrpSpPr>
        <p:grpSpPr>
          <a:xfrm>
            <a:off x="5172788" y="712021"/>
            <a:ext cx="3191125" cy="1405105"/>
            <a:chOff x="4950696" y="682200"/>
            <a:chExt cx="3320975" cy="1767651"/>
          </a:xfrm>
        </p:grpSpPr>
        <p:pic>
          <p:nvPicPr>
            <p:cNvPr id="809" name="Google Shape;809;p67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67"/>
            <p:cNvSpPr txBox="1"/>
            <p:nvPr/>
          </p:nvSpPr>
          <p:spPr>
            <a:xfrm>
              <a:off x="5015198" y="71451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know how to find the probability for each outcome of this trial using an outcome table!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1" name="Google Shape;811;p67"/>
          <p:cNvGrpSpPr/>
          <p:nvPr/>
        </p:nvGrpSpPr>
        <p:grpSpPr>
          <a:xfrm>
            <a:off x="8116301" y="1526992"/>
            <a:ext cx="676200" cy="1040525"/>
            <a:chOff x="8137196" y="1935832"/>
            <a:chExt cx="676200" cy="1040525"/>
          </a:xfrm>
        </p:grpSpPr>
        <p:pic>
          <p:nvPicPr>
            <p:cNvPr id="812" name="Google Shape;812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67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4" name="Google Shape;814;p67"/>
          <p:cNvSpPr txBox="1"/>
          <p:nvPr/>
        </p:nvSpPr>
        <p:spPr>
          <a:xfrm flipH="1">
            <a:off x="738248" y="37057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15" name="Google Shape;815;p67"/>
          <p:cNvGraphicFramePr/>
          <p:nvPr/>
        </p:nvGraphicFramePr>
        <p:xfrm>
          <a:off x="2219125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679575"/>
                <a:gridCol w="679575"/>
                <a:gridCol w="679575"/>
                <a:gridCol w="679575"/>
                <a:gridCol w="679575"/>
                <a:gridCol w="679575"/>
                <a:gridCol w="679575"/>
                <a:gridCol w="679575"/>
                <a:gridCol w="679575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16" name="Google Shape;816;p67"/>
          <p:cNvGrpSpPr/>
          <p:nvPr/>
        </p:nvGrpSpPr>
        <p:grpSpPr>
          <a:xfrm>
            <a:off x="2876700" y="2326025"/>
            <a:ext cx="5458600" cy="764550"/>
            <a:chOff x="2876700" y="2326025"/>
            <a:chExt cx="5458600" cy="764550"/>
          </a:xfrm>
        </p:grpSpPr>
        <p:sp>
          <p:nvSpPr>
            <p:cNvPr id="817" name="Google Shape;817;p67"/>
            <p:cNvSpPr/>
            <p:nvPr/>
          </p:nvSpPr>
          <p:spPr>
            <a:xfrm>
              <a:off x="2898700" y="2682275"/>
              <a:ext cx="5436600" cy="408300"/>
            </a:xfrm>
            <a:prstGeom prst="rect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67"/>
            <p:cNvSpPr txBox="1"/>
            <p:nvPr/>
          </p:nvSpPr>
          <p:spPr>
            <a:xfrm>
              <a:off x="2876700" y="2326025"/>
              <a:ext cx="2779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outcomes of spinner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9" name="Google Shape;819;p67"/>
          <p:cNvGrpSpPr/>
          <p:nvPr/>
        </p:nvGrpSpPr>
        <p:grpSpPr>
          <a:xfrm>
            <a:off x="2219125" y="3090575"/>
            <a:ext cx="2604900" cy="1581050"/>
            <a:chOff x="2219125" y="3090575"/>
            <a:chExt cx="2604900" cy="1581050"/>
          </a:xfrm>
        </p:grpSpPr>
        <p:sp>
          <p:nvSpPr>
            <p:cNvPr id="820" name="Google Shape;820;p67"/>
            <p:cNvSpPr/>
            <p:nvPr/>
          </p:nvSpPr>
          <p:spPr>
            <a:xfrm>
              <a:off x="2219125" y="3090575"/>
              <a:ext cx="676200" cy="12336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1" name="Google Shape;821;p67"/>
            <p:cNvSpPr txBox="1"/>
            <p:nvPr/>
          </p:nvSpPr>
          <p:spPr>
            <a:xfrm>
              <a:off x="2219125" y="4394425"/>
              <a:ext cx="2604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outcomes of spinner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2" name="Google Shape;822;p67"/>
          <p:cNvGrpSpPr/>
          <p:nvPr/>
        </p:nvGrpSpPr>
        <p:grpSpPr>
          <a:xfrm>
            <a:off x="2898700" y="3090575"/>
            <a:ext cx="5436800" cy="1581050"/>
            <a:chOff x="-85275" y="1713125"/>
            <a:chExt cx="5436800" cy="1581050"/>
          </a:xfrm>
        </p:grpSpPr>
        <p:sp>
          <p:nvSpPr>
            <p:cNvPr id="823" name="Google Shape;823;p67"/>
            <p:cNvSpPr/>
            <p:nvPr/>
          </p:nvSpPr>
          <p:spPr>
            <a:xfrm>
              <a:off x="-85275" y="1713125"/>
              <a:ext cx="5436600" cy="1233600"/>
            </a:xfrm>
            <a:prstGeom prst="rect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67"/>
            <p:cNvSpPr txBox="1"/>
            <p:nvPr/>
          </p:nvSpPr>
          <p:spPr>
            <a:xfrm>
              <a:off x="1067825" y="3016975"/>
              <a:ext cx="4283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 for this two -stage trial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p68"/>
          <p:cNvGrpSpPr/>
          <p:nvPr/>
        </p:nvGrpSpPr>
        <p:grpSpPr>
          <a:xfrm>
            <a:off x="3293262" y="1163309"/>
            <a:ext cx="1511958" cy="3591691"/>
            <a:chOff x="2761265" y="2076180"/>
            <a:chExt cx="1591200" cy="3591691"/>
          </a:xfrm>
        </p:grpSpPr>
        <p:sp>
          <p:nvSpPr>
            <p:cNvPr id="830" name="Google Shape;830;p68"/>
            <p:cNvSpPr/>
            <p:nvPr/>
          </p:nvSpPr>
          <p:spPr>
            <a:xfrm>
              <a:off x="2980444" y="2532870"/>
              <a:ext cx="1233300" cy="31350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1" name="Google Shape;831;p68"/>
            <p:cNvSpPr txBox="1"/>
            <p:nvPr/>
          </p:nvSpPr>
          <p:spPr>
            <a:xfrm>
              <a:off x="2761265" y="2076180"/>
              <a:ext cx="159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outcomes of spinner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2" name="Google Shape;832;p68"/>
          <p:cNvGrpSpPr/>
          <p:nvPr/>
        </p:nvGrpSpPr>
        <p:grpSpPr>
          <a:xfrm>
            <a:off x="2172325" y="1275623"/>
            <a:ext cx="1360200" cy="3479502"/>
            <a:chOff x="2876700" y="2188498"/>
            <a:chExt cx="1360200" cy="3479502"/>
          </a:xfrm>
        </p:grpSpPr>
        <p:sp>
          <p:nvSpPr>
            <p:cNvPr id="833" name="Google Shape;833;p68"/>
            <p:cNvSpPr/>
            <p:nvPr/>
          </p:nvSpPr>
          <p:spPr>
            <a:xfrm>
              <a:off x="2980450" y="2647900"/>
              <a:ext cx="1233300" cy="3020100"/>
            </a:xfrm>
            <a:prstGeom prst="rect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68"/>
            <p:cNvSpPr txBox="1"/>
            <p:nvPr/>
          </p:nvSpPr>
          <p:spPr>
            <a:xfrm>
              <a:off x="2876700" y="2188498"/>
              <a:ext cx="136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outcomes of spinner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35" name="Google Shape;835;p68"/>
          <p:cNvCxnSpPr/>
          <p:nvPr/>
        </p:nvCxnSpPr>
        <p:spPr>
          <a:xfrm flipH="1" rot="10800000">
            <a:off x="2360684" y="253728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68"/>
          <p:cNvCxnSpPr/>
          <p:nvPr/>
        </p:nvCxnSpPr>
        <p:spPr>
          <a:xfrm flipH="1" rot="10800000">
            <a:off x="3532540" y="2071722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37" name="Google Shape;837;p68"/>
          <p:cNvGrpSpPr/>
          <p:nvPr/>
        </p:nvGrpSpPr>
        <p:grpSpPr>
          <a:xfrm>
            <a:off x="2360684" y="2071722"/>
            <a:ext cx="1953656" cy="1177459"/>
            <a:chOff x="2360684" y="2071722"/>
            <a:chExt cx="1953656" cy="1177459"/>
          </a:xfrm>
        </p:grpSpPr>
        <p:cxnSp>
          <p:nvCxnSpPr>
            <p:cNvPr id="838" name="Google Shape;838;p68"/>
            <p:cNvCxnSpPr/>
            <p:nvPr/>
          </p:nvCxnSpPr>
          <p:spPr>
            <a:xfrm flipH="1" rot="10800000">
              <a:off x="2360684" y="2537281"/>
              <a:ext cx="781800" cy="7119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68"/>
            <p:cNvCxnSpPr/>
            <p:nvPr/>
          </p:nvCxnSpPr>
          <p:spPr>
            <a:xfrm flipH="1" rot="10800000">
              <a:off x="3532540" y="2071722"/>
              <a:ext cx="781800" cy="4620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0" name="Google Shape;840;p68"/>
          <p:cNvGrpSpPr/>
          <p:nvPr/>
        </p:nvGrpSpPr>
        <p:grpSpPr>
          <a:xfrm>
            <a:off x="4813373" y="1358701"/>
            <a:ext cx="972600" cy="3335549"/>
            <a:chOff x="6261173" y="1358701"/>
            <a:chExt cx="972600" cy="3335549"/>
          </a:xfrm>
        </p:grpSpPr>
        <p:grpSp>
          <p:nvGrpSpPr>
            <p:cNvPr id="841" name="Google Shape;841;p68"/>
            <p:cNvGrpSpPr/>
            <p:nvPr/>
          </p:nvGrpSpPr>
          <p:grpSpPr>
            <a:xfrm>
              <a:off x="6261173" y="1790250"/>
              <a:ext cx="972600" cy="2904000"/>
              <a:chOff x="6261173" y="1790250"/>
              <a:chExt cx="972600" cy="2904000"/>
            </a:xfrm>
          </p:grpSpPr>
          <p:sp>
            <p:nvSpPr>
              <p:cNvPr id="842" name="Google Shape;842;p68"/>
              <p:cNvSpPr/>
              <p:nvPr/>
            </p:nvSpPr>
            <p:spPr>
              <a:xfrm>
                <a:off x="6261173" y="1790250"/>
                <a:ext cx="972600" cy="2904000"/>
              </a:xfrm>
              <a:prstGeom prst="rect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3" name="Google Shape;843;p68"/>
              <p:cNvSpPr txBox="1"/>
              <p:nvPr/>
            </p:nvSpPr>
            <p:spPr>
              <a:xfrm>
                <a:off x="6361394" y="2834105"/>
                <a:ext cx="6108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4" name="Google Shape;844;p68"/>
              <p:cNvSpPr txBox="1"/>
              <p:nvPr/>
            </p:nvSpPr>
            <p:spPr>
              <a:xfrm>
                <a:off x="6361394" y="1983850"/>
                <a:ext cx="6108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5" name="Google Shape;845;p68"/>
              <p:cNvSpPr txBox="1"/>
              <p:nvPr/>
            </p:nvSpPr>
            <p:spPr>
              <a:xfrm>
                <a:off x="6361394" y="4327575"/>
                <a:ext cx="6108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6" name="Google Shape;846;p68"/>
              <p:cNvSpPr txBox="1"/>
              <p:nvPr/>
            </p:nvSpPr>
            <p:spPr>
              <a:xfrm>
                <a:off x="6361394" y="3477320"/>
                <a:ext cx="6108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47" name="Google Shape;847;p68"/>
            <p:cNvSpPr txBox="1"/>
            <p:nvPr/>
          </p:nvSpPr>
          <p:spPr>
            <a:xfrm>
              <a:off x="6304075" y="1358701"/>
              <a:ext cx="88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8" name="Google Shape;848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849" name="Google Shape;849;p68"/>
          <p:cNvSpPr txBox="1"/>
          <p:nvPr/>
        </p:nvSpPr>
        <p:spPr>
          <a:xfrm>
            <a:off x="315450" y="606600"/>
            <a:ext cx="1644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spinner 1 and spinner 2 will be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68"/>
          <p:cNvSpPr txBox="1"/>
          <p:nvPr/>
        </p:nvSpPr>
        <p:spPr>
          <a:xfrm>
            <a:off x="556311" y="3011644"/>
            <a:ext cx="116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8"/>
          <p:cNvSpPr/>
          <p:nvPr/>
        </p:nvSpPr>
        <p:spPr>
          <a:xfrm flipH="1">
            <a:off x="556270" y="1825210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8"/>
          <p:cNvSpPr/>
          <p:nvPr/>
        </p:nvSpPr>
        <p:spPr>
          <a:xfrm flipH="1" rot="2700000">
            <a:off x="556502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8"/>
          <p:cNvSpPr/>
          <p:nvPr/>
        </p:nvSpPr>
        <p:spPr>
          <a:xfrm flipH="1" rot="5400000">
            <a:off x="556622" y="182541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8"/>
          <p:cNvSpPr/>
          <p:nvPr/>
        </p:nvSpPr>
        <p:spPr>
          <a:xfrm flipH="1" rot="8100000">
            <a:off x="556568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8"/>
          <p:cNvSpPr/>
          <p:nvPr/>
        </p:nvSpPr>
        <p:spPr>
          <a:xfrm flipH="1" rot="10800000">
            <a:off x="556433" y="182518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8"/>
          <p:cNvSpPr/>
          <p:nvPr/>
        </p:nvSpPr>
        <p:spPr>
          <a:xfrm flipH="1" rot="-8100000">
            <a:off x="556393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68"/>
          <p:cNvSpPr/>
          <p:nvPr/>
        </p:nvSpPr>
        <p:spPr>
          <a:xfrm flipH="1" rot="-5400000">
            <a:off x="556381" y="182528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8"/>
          <p:cNvSpPr/>
          <p:nvPr/>
        </p:nvSpPr>
        <p:spPr>
          <a:xfrm flipH="1" rot="-2700000">
            <a:off x="556327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9" name="Google Shape;859;p68"/>
          <p:cNvGrpSpPr/>
          <p:nvPr/>
        </p:nvGrpSpPr>
        <p:grpSpPr>
          <a:xfrm rot="5400000">
            <a:off x="1364837" y="2118462"/>
            <a:ext cx="65100" cy="576723"/>
            <a:chOff x="936300" y="737518"/>
            <a:chExt cx="65100" cy="576723"/>
          </a:xfrm>
        </p:grpSpPr>
        <p:cxnSp>
          <p:nvCxnSpPr>
            <p:cNvPr id="860" name="Google Shape;860;p68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1" name="Google Shape;861;p68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68"/>
          <p:cNvSpPr txBox="1"/>
          <p:nvPr/>
        </p:nvSpPr>
        <p:spPr>
          <a:xfrm flipH="1">
            <a:off x="1337890" y="2068131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8"/>
          <p:cNvSpPr txBox="1"/>
          <p:nvPr/>
        </p:nvSpPr>
        <p:spPr>
          <a:xfrm flipH="1">
            <a:off x="1337890" y="241620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8"/>
          <p:cNvSpPr txBox="1"/>
          <p:nvPr/>
        </p:nvSpPr>
        <p:spPr>
          <a:xfrm flipH="1">
            <a:off x="1134678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8"/>
          <p:cNvSpPr txBox="1"/>
          <p:nvPr/>
        </p:nvSpPr>
        <p:spPr>
          <a:xfrm>
            <a:off x="650130" y="211114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68"/>
          <p:cNvSpPr txBox="1"/>
          <p:nvPr/>
        </p:nvSpPr>
        <p:spPr>
          <a:xfrm>
            <a:off x="650130" y="238144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68"/>
          <p:cNvSpPr txBox="1"/>
          <p:nvPr/>
        </p:nvSpPr>
        <p:spPr>
          <a:xfrm>
            <a:off x="853342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68"/>
          <p:cNvSpPr txBox="1"/>
          <p:nvPr/>
        </p:nvSpPr>
        <p:spPr>
          <a:xfrm flipH="1">
            <a:off x="113467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68"/>
          <p:cNvSpPr txBox="1"/>
          <p:nvPr/>
        </p:nvSpPr>
        <p:spPr>
          <a:xfrm>
            <a:off x="85182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68"/>
          <p:cNvSpPr txBox="1"/>
          <p:nvPr/>
        </p:nvSpPr>
        <p:spPr>
          <a:xfrm>
            <a:off x="569701" y="4503209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1" name="Google Shape;871;p68"/>
          <p:cNvGrpSpPr/>
          <p:nvPr/>
        </p:nvGrpSpPr>
        <p:grpSpPr>
          <a:xfrm>
            <a:off x="435650" y="3267219"/>
            <a:ext cx="1404403" cy="1404403"/>
            <a:chOff x="146832" y="518450"/>
            <a:chExt cx="1320300" cy="1320300"/>
          </a:xfrm>
        </p:grpSpPr>
        <p:sp>
          <p:nvSpPr>
            <p:cNvPr id="872" name="Google Shape;872;p68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8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8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68"/>
          <p:cNvGrpSpPr/>
          <p:nvPr/>
        </p:nvGrpSpPr>
        <p:grpSpPr>
          <a:xfrm>
            <a:off x="1105475" y="3496150"/>
            <a:ext cx="65100" cy="499203"/>
            <a:chOff x="936300" y="737518"/>
            <a:chExt cx="65100" cy="584752"/>
          </a:xfrm>
        </p:grpSpPr>
        <p:cxnSp>
          <p:nvCxnSpPr>
            <p:cNvPr id="876" name="Google Shape;876;p68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7" name="Google Shape;877;p68"/>
            <p:cNvSpPr/>
            <p:nvPr/>
          </p:nvSpPr>
          <p:spPr>
            <a:xfrm>
              <a:off x="936300" y="1247270"/>
              <a:ext cx="65100" cy="75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8" name="Google Shape;878;p68"/>
          <p:cNvSpPr txBox="1"/>
          <p:nvPr/>
        </p:nvSpPr>
        <p:spPr>
          <a:xfrm>
            <a:off x="1256992" y="370576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68"/>
          <p:cNvSpPr txBox="1"/>
          <p:nvPr/>
        </p:nvSpPr>
        <p:spPr>
          <a:xfrm flipH="1">
            <a:off x="997623" y="403434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68"/>
          <p:cNvSpPr txBox="1"/>
          <p:nvPr/>
        </p:nvSpPr>
        <p:spPr>
          <a:xfrm flipH="1">
            <a:off x="738248" y="37057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8"/>
          <p:cNvSpPr txBox="1"/>
          <p:nvPr/>
        </p:nvSpPr>
        <p:spPr>
          <a:xfrm>
            <a:off x="3251649" y="2400494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68"/>
          <p:cNvSpPr txBox="1"/>
          <p:nvPr/>
        </p:nvSpPr>
        <p:spPr>
          <a:xfrm>
            <a:off x="3251649" y="3829351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3" name="Google Shape;883;p68"/>
          <p:cNvCxnSpPr/>
          <p:nvPr/>
        </p:nvCxnSpPr>
        <p:spPr>
          <a:xfrm>
            <a:off x="2360684" y="325663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68"/>
          <p:cNvSpPr txBox="1"/>
          <p:nvPr/>
        </p:nvSpPr>
        <p:spPr>
          <a:xfrm>
            <a:off x="4382245" y="291030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5" name="Google Shape;885;p68"/>
          <p:cNvCxnSpPr/>
          <p:nvPr/>
        </p:nvCxnSpPr>
        <p:spPr>
          <a:xfrm>
            <a:off x="3532540" y="25385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68"/>
          <p:cNvCxnSpPr/>
          <p:nvPr/>
        </p:nvCxnSpPr>
        <p:spPr>
          <a:xfrm>
            <a:off x="3532540" y="396168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68"/>
          <p:cNvCxnSpPr/>
          <p:nvPr/>
        </p:nvCxnSpPr>
        <p:spPr>
          <a:xfrm flipH="1" rot="10800000">
            <a:off x="3532540" y="3494847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8" name="Google Shape;888;p68"/>
          <p:cNvSpPr txBox="1"/>
          <p:nvPr/>
        </p:nvSpPr>
        <p:spPr>
          <a:xfrm>
            <a:off x="4382245" y="198385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68"/>
          <p:cNvSpPr txBox="1"/>
          <p:nvPr/>
        </p:nvSpPr>
        <p:spPr>
          <a:xfrm>
            <a:off x="4382245" y="432757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68"/>
          <p:cNvSpPr txBox="1"/>
          <p:nvPr/>
        </p:nvSpPr>
        <p:spPr>
          <a:xfrm>
            <a:off x="4382245" y="3401119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891" name="Google Shape;891;p68" title="10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206" y="1827925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4}&quot;&gt;&lt;mfrac&gt;&lt;mn&gt;5&lt;/mn&gt;&lt;mn&gt;24&lt;/mn&gt;&lt;/mfrac&gt;&lt;/math&gt;" id="892" name="Google Shape;892;p68" title="5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500" y="2691690"/>
            <a:ext cx="258252" cy="464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893" name="Google Shape;893;p68" title="6 over 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5200" y="3324213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894" name="Google Shape;894;p68" title="3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5200" y="4178175"/>
            <a:ext cx="268865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68"/>
          <p:cNvSpPr txBox="1"/>
          <p:nvPr/>
        </p:nvSpPr>
        <p:spPr>
          <a:xfrm>
            <a:off x="6259050" y="2775868"/>
            <a:ext cx="256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each outcome in the sample space is the product of the probabilities of the two branches that lead to that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68"/>
          <p:cNvSpPr txBox="1"/>
          <p:nvPr/>
        </p:nvSpPr>
        <p:spPr>
          <a:xfrm>
            <a:off x="6259050" y="606600"/>
            <a:ext cx="256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two-stage trial can be shown on a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layer of branches represents one stage of the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7" name="Google Shape;897;p68"/>
          <p:cNvGrpSpPr/>
          <p:nvPr/>
        </p:nvGrpSpPr>
        <p:grpSpPr>
          <a:xfrm>
            <a:off x="2360684" y="2537281"/>
            <a:ext cx="1953656" cy="711900"/>
            <a:chOff x="2360684" y="2537281"/>
            <a:chExt cx="1953656" cy="711900"/>
          </a:xfrm>
        </p:grpSpPr>
        <p:cxnSp>
          <p:nvCxnSpPr>
            <p:cNvPr id="898" name="Google Shape;898;p68"/>
            <p:cNvCxnSpPr/>
            <p:nvPr/>
          </p:nvCxnSpPr>
          <p:spPr>
            <a:xfrm flipH="1" rot="10800000">
              <a:off x="2360684" y="2537281"/>
              <a:ext cx="781800" cy="7119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p68"/>
            <p:cNvCxnSpPr/>
            <p:nvPr/>
          </p:nvCxnSpPr>
          <p:spPr>
            <a:xfrm>
              <a:off x="3532540" y="2538558"/>
              <a:ext cx="781800" cy="4620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900" name="Google Shape;900;p68" title="five eigh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1513" y="2411888"/>
            <a:ext cx="129600" cy="419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01" name="Google Shape;901;p68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3375" y="176274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902" name="Google Shape;902;p68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0875" y="2412551"/>
            <a:ext cx="129600" cy="43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p68"/>
          <p:cNvGrpSpPr/>
          <p:nvPr/>
        </p:nvGrpSpPr>
        <p:grpSpPr>
          <a:xfrm>
            <a:off x="2360684" y="3256631"/>
            <a:ext cx="1953656" cy="711900"/>
            <a:chOff x="2360684" y="3256631"/>
            <a:chExt cx="1953656" cy="711900"/>
          </a:xfrm>
        </p:grpSpPr>
        <p:cxnSp>
          <p:nvCxnSpPr>
            <p:cNvPr id="904" name="Google Shape;904;p68"/>
            <p:cNvCxnSpPr/>
            <p:nvPr/>
          </p:nvCxnSpPr>
          <p:spPr>
            <a:xfrm>
              <a:off x="2360684" y="3256631"/>
              <a:ext cx="781800" cy="71190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p68"/>
            <p:cNvCxnSpPr/>
            <p:nvPr/>
          </p:nvCxnSpPr>
          <p:spPr>
            <a:xfrm flipH="1" rot="10800000">
              <a:off x="3532540" y="3494847"/>
              <a:ext cx="781800" cy="46200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6" name="Google Shape;906;p68"/>
          <p:cNvGrpSpPr/>
          <p:nvPr/>
        </p:nvGrpSpPr>
        <p:grpSpPr>
          <a:xfrm>
            <a:off x="2360684" y="3256631"/>
            <a:ext cx="1953656" cy="1168316"/>
            <a:chOff x="2360684" y="3256631"/>
            <a:chExt cx="1953656" cy="1168316"/>
          </a:xfrm>
        </p:grpSpPr>
        <p:cxnSp>
          <p:nvCxnSpPr>
            <p:cNvPr id="907" name="Google Shape;907;p68"/>
            <p:cNvCxnSpPr/>
            <p:nvPr/>
          </p:nvCxnSpPr>
          <p:spPr>
            <a:xfrm>
              <a:off x="2360684" y="3256631"/>
              <a:ext cx="781800" cy="71190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68"/>
            <p:cNvCxnSpPr/>
            <p:nvPr/>
          </p:nvCxnSpPr>
          <p:spPr>
            <a:xfrm rot="10800000">
              <a:off x="3532540" y="3962947"/>
              <a:ext cx="781800" cy="462000"/>
            </a:xfrm>
            <a:prstGeom prst="straightConnector1">
              <a:avLst/>
            </a:prstGeom>
            <a:noFill/>
            <a:ln cap="flat" cmpd="sng" w="762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909" name="Google Shape;909;p68" title="three eigh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79900" y="328200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10" name="Google Shape;910;p68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3375" y="318775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911" name="Google Shape;911;p68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0875" y="3837562"/>
            <a:ext cx="1296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9"/>
          <p:cNvSpPr/>
          <p:nvPr/>
        </p:nvSpPr>
        <p:spPr>
          <a:xfrm>
            <a:off x="4813373" y="1790250"/>
            <a:ext cx="972600" cy="2904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69"/>
          <p:cNvSpPr txBox="1"/>
          <p:nvPr/>
        </p:nvSpPr>
        <p:spPr>
          <a:xfrm>
            <a:off x="4913594" y="2834105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69"/>
          <p:cNvSpPr txBox="1"/>
          <p:nvPr/>
        </p:nvSpPr>
        <p:spPr>
          <a:xfrm>
            <a:off x="4913594" y="4327575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69"/>
          <p:cNvSpPr txBox="1"/>
          <p:nvPr/>
        </p:nvSpPr>
        <p:spPr>
          <a:xfrm>
            <a:off x="4913594" y="3477320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69"/>
          <p:cNvSpPr/>
          <p:nvPr/>
        </p:nvSpPr>
        <p:spPr>
          <a:xfrm>
            <a:off x="4803825" y="1796700"/>
            <a:ext cx="970500" cy="5922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69"/>
          <p:cNvSpPr/>
          <p:nvPr/>
        </p:nvSpPr>
        <p:spPr>
          <a:xfrm>
            <a:off x="4803825" y="1796700"/>
            <a:ext cx="970500" cy="592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2" name="Google Shape;922;p69"/>
          <p:cNvCxnSpPr/>
          <p:nvPr/>
        </p:nvCxnSpPr>
        <p:spPr>
          <a:xfrm flipH="1" rot="10800000">
            <a:off x="2360684" y="253728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69"/>
          <p:cNvCxnSpPr/>
          <p:nvPr/>
        </p:nvCxnSpPr>
        <p:spPr>
          <a:xfrm flipH="1" rot="10800000">
            <a:off x="3532540" y="2071722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925" name="Google Shape;925;p69"/>
          <p:cNvSpPr txBox="1"/>
          <p:nvPr/>
        </p:nvSpPr>
        <p:spPr>
          <a:xfrm>
            <a:off x="315450" y="606600"/>
            <a:ext cx="1644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spinner 1 and spinner 2 will be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69"/>
          <p:cNvSpPr txBox="1"/>
          <p:nvPr/>
        </p:nvSpPr>
        <p:spPr>
          <a:xfrm>
            <a:off x="556311" y="3011644"/>
            <a:ext cx="116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69"/>
          <p:cNvSpPr/>
          <p:nvPr/>
        </p:nvSpPr>
        <p:spPr>
          <a:xfrm flipH="1">
            <a:off x="556270" y="1825210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9"/>
          <p:cNvSpPr/>
          <p:nvPr/>
        </p:nvSpPr>
        <p:spPr>
          <a:xfrm flipH="1" rot="2700000">
            <a:off x="556502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9"/>
          <p:cNvSpPr/>
          <p:nvPr/>
        </p:nvSpPr>
        <p:spPr>
          <a:xfrm flipH="1" rot="5400000">
            <a:off x="556622" y="182541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9"/>
          <p:cNvSpPr/>
          <p:nvPr/>
        </p:nvSpPr>
        <p:spPr>
          <a:xfrm flipH="1" rot="8100000">
            <a:off x="556568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69"/>
          <p:cNvSpPr/>
          <p:nvPr/>
        </p:nvSpPr>
        <p:spPr>
          <a:xfrm flipH="1" rot="10800000">
            <a:off x="556433" y="182518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9"/>
          <p:cNvSpPr/>
          <p:nvPr/>
        </p:nvSpPr>
        <p:spPr>
          <a:xfrm flipH="1" rot="-8100000">
            <a:off x="556393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69"/>
          <p:cNvSpPr/>
          <p:nvPr/>
        </p:nvSpPr>
        <p:spPr>
          <a:xfrm flipH="1" rot="-5400000">
            <a:off x="556381" y="182528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69"/>
          <p:cNvSpPr/>
          <p:nvPr/>
        </p:nvSpPr>
        <p:spPr>
          <a:xfrm flipH="1" rot="-2700000">
            <a:off x="556327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5" name="Google Shape;935;p69"/>
          <p:cNvGrpSpPr/>
          <p:nvPr/>
        </p:nvGrpSpPr>
        <p:grpSpPr>
          <a:xfrm rot="5400000">
            <a:off x="1364837" y="2118462"/>
            <a:ext cx="65100" cy="576723"/>
            <a:chOff x="936300" y="737518"/>
            <a:chExt cx="65100" cy="576723"/>
          </a:xfrm>
        </p:grpSpPr>
        <p:cxnSp>
          <p:nvCxnSpPr>
            <p:cNvPr id="936" name="Google Shape;936;p69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7" name="Google Shape;937;p69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69"/>
          <p:cNvSpPr txBox="1"/>
          <p:nvPr/>
        </p:nvSpPr>
        <p:spPr>
          <a:xfrm flipH="1">
            <a:off x="1337890" y="2068131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69"/>
          <p:cNvSpPr txBox="1"/>
          <p:nvPr/>
        </p:nvSpPr>
        <p:spPr>
          <a:xfrm flipH="1">
            <a:off x="1337890" y="241620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69"/>
          <p:cNvSpPr txBox="1"/>
          <p:nvPr/>
        </p:nvSpPr>
        <p:spPr>
          <a:xfrm flipH="1">
            <a:off x="1134678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69"/>
          <p:cNvSpPr txBox="1"/>
          <p:nvPr/>
        </p:nvSpPr>
        <p:spPr>
          <a:xfrm>
            <a:off x="650130" y="211114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69"/>
          <p:cNvSpPr txBox="1"/>
          <p:nvPr/>
        </p:nvSpPr>
        <p:spPr>
          <a:xfrm>
            <a:off x="650130" y="238144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69"/>
          <p:cNvSpPr txBox="1"/>
          <p:nvPr/>
        </p:nvSpPr>
        <p:spPr>
          <a:xfrm>
            <a:off x="853342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69"/>
          <p:cNvSpPr txBox="1"/>
          <p:nvPr/>
        </p:nvSpPr>
        <p:spPr>
          <a:xfrm flipH="1">
            <a:off x="113467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69"/>
          <p:cNvSpPr txBox="1"/>
          <p:nvPr/>
        </p:nvSpPr>
        <p:spPr>
          <a:xfrm>
            <a:off x="85182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69"/>
          <p:cNvSpPr txBox="1"/>
          <p:nvPr/>
        </p:nvSpPr>
        <p:spPr>
          <a:xfrm>
            <a:off x="569701" y="4503209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7" name="Google Shape;947;p69"/>
          <p:cNvGrpSpPr/>
          <p:nvPr/>
        </p:nvGrpSpPr>
        <p:grpSpPr>
          <a:xfrm>
            <a:off x="435650" y="3267219"/>
            <a:ext cx="1404403" cy="1404403"/>
            <a:chOff x="146832" y="518450"/>
            <a:chExt cx="1320300" cy="1320300"/>
          </a:xfrm>
        </p:grpSpPr>
        <p:sp>
          <p:nvSpPr>
            <p:cNvPr id="948" name="Google Shape;948;p69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9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9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69"/>
          <p:cNvGrpSpPr/>
          <p:nvPr/>
        </p:nvGrpSpPr>
        <p:grpSpPr>
          <a:xfrm>
            <a:off x="1105475" y="3496150"/>
            <a:ext cx="65100" cy="499203"/>
            <a:chOff x="936300" y="737518"/>
            <a:chExt cx="65100" cy="584752"/>
          </a:xfrm>
        </p:grpSpPr>
        <p:cxnSp>
          <p:nvCxnSpPr>
            <p:cNvPr id="952" name="Google Shape;952;p69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3" name="Google Shape;953;p69"/>
            <p:cNvSpPr/>
            <p:nvPr/>
          </p:nvSpPr>
          <p:spPr>
            <a:xfrm>
              <a:off x="936300" y="1247270"/>
              <a:ext cx="65100" cy="75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4" name="Google Shape;954;p69"/>
          <p:cNvSpPr txBox="1"/>
          <p:nvPr/>
        </p:nvSpPr>
        <p:spPr>
          <a:xfrm>
            <a:off x="1256992" y="370576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69"/>
          <p:cNvSpPr txBox="1"/>
          <p:nvPr/>
        </p:nvSpPr>
        <p:spPr>
          <a:xfrm flipH="1">
            <a:off x="997623" y="403434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69"/>
          <p:cNvSpPr txBox="1"/>
          <p:nvPr/>
        </p:nvSpPr>
        <p:spPr>
          <a:xfrm flipH="1">
            <a:off x="738248" y="37057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69"/>
          <p:cNvSpPr txBox="1"/>
          <p:nvPr/>
        </p:nvSpPr>
        <p:spPr>
          <a:xfrm>
            <a:off x="3251649" y="2400494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69"/>
          <p:cNvSpPr txBox="1"/>
          <p:nvPr/>
        </p:nvSpPr>
        <p:spPr>
          <a:xfrm>
            <a:off x="3251649" y="3829351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69"/>
          <p:cNvCxnSpPr/>
          <p:nvPr/>
        </p:nvCxnSpPr>
        <p:spPr>
          <a:xfrm>
            <a:off x="2360684" y="325663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69"/>
          <p:cNvSpPr txBox="1"/>
          <p:nvPr/>
        </p:nvSpPr>
        <p:spPr>
          <a:xfrm>
            <a:off x="4382245" y="291030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1" name="Google Shape;961;p69"/>
          <p:cNvCxnSpPr/>
          <p:nvPr/>
        </p:nvCxnSpPr>
        <p:spPr>
          <a:xfrm>
            <a:off x="3532540" y="25385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69"/>
          <p:cNvCxnSpPr/>
          <p:nvPr/>
        </p:nvCxnSpPr>
        <p:spPr>
          <a:xfrm>
            <a:off x="3532540" y="396168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9"/>
          <p:cNvCxnSpPr/>
          <p:nvPr/>
        </p:nvCxnSpPr>
        <p:spPr>
          <a:xfrm flipH="1" rot="10800000">
            <a:off x="3532540" y="3494847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69"/>
          <p:cNvSpPr txBox="1"/>
          <p:nvPr/>
        </p:nvSpPr>
        <p:spPr>
          <a:xfrm>
            <a:off x="4382245" y="198385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69"/>
          <p:cNvSpPr txBox="1"/>
          <p:nvPr/>
        </p:nvSpPr>
        <p:spPr>
          <a:xfrm>
            <a:off x="4382245" y="432757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69"/>
          <p:cNvSpPr txBox="1"/>
          <p:nvPr/>
        </p:nvSpPr>
        <p:spPr>
          <a:xfrm>
            <a:off x="4382245" y="3401119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967" name="Google Shape;967;p69" title="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513" y="2411888"/>
            <a:ext cx="129600" cy="4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69"/>
          <p:cNvSpPr txBox="1"/>
          <p:nvPr/>
        </p:nvSpPr>
        <p:spPr>
          <a:xfrm>
            <a:off x="6259050" y="759000"/>
            <a:ext cx="256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also find probabilities from this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69" name="Google Shape;969;p69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375" y="176274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970" name="Google Shape;970;p69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0875" y="241255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971" name="Google Shape;971;p69" title="three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9900" y="328200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72" name="Google Shape;972;p69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375" y="318775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973" name="Google Shape;973;p69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0875" y="3837562"/>
            <a:ext cx="129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9"/>
          <p:cNvSpPr txBox="1"/>
          <p:nvPr/>
        </p:nvSpPr>
        <p:spPr>
          <a:xfrm>
            <a:off x="6257725" y="2069250"/>
            <a:ext cx="14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P(X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975" name="Google Shape;975;p69" title="10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46731" y="1968450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976" name="Google Shape;976;p69" title="10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5206" y="1827925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4}&quot;&gt;&lt;mfrac&gt;&lt;mn&gt;5&lt;/mn&gt;&lt;mn&gt;24&lt;/mn&gt;&lt;/mfrac&gt;&lt;/math&gt;" id="977" name="Google Shape;977;p69" title="5 over 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0500" y="2691690"/>
            <a:ext cx="258252" cy="464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978" name="Google Shape;978;p69" title="6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35200" y="3324213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979" name="Google Shape;979;p69" title="3 over 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35200" y="4178175"/>
            <a:ext cx="268865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69"/>
          <p:cNvSpPr txBox="1"/>
          <p:nvPr/>
        </p:nvSpPr>
        <p:spPr>
          <a:xfrm>
            <a:off x="4913594" y="1983850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69"/>
          <p:cNvSpPr txBox="1"/>
          <p:nvPr/>
        </p:nvSpPr>
        <p:spPr>
          <a:xfrm>
            <a:off x="4856275" y="1358701"/>
            <a:ext cx="88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0"/>
          <p:cNvSpPr/>
          <p:nvPr/>
        </p:nvSpPr>
        <p:spPr>
          <a:xfrm>
            <a:off x="4808850" y="3275250"/>
            <a:ext cx="972600" cy="5922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0"/>
          <p:cNvSpPr/>
          <p:nvPr/>
        </p:nvSpPr>
        <p:spPr>
          <a:xfrm>
            <a:off x="4808850" y="2634900"/>
            <a:ext cx="972600" cy="5922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0"/>
          <p:cNvSpPr/>
          <p:nvPr/>
        </p:nvSpPr>
        <p:spPr>
          <a:xfrm>
            <a:off x="4808849" y="1777750"/>
            <a:ext cx="972600" cy="5922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0"/>
          <p:cNvSpPr/>
          <p:nvPr/>
        </p:nvSpPr>
        <p:spPr>
          <a:xfrm>
            <a:off x="4813373" y="1790250"/>
            <a:ext cx="972600" cy="2904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0" name="Google Shape;990;p70"/>
          <p:cNvCxnSpPr/>
          <p:nvPr/>
        </p:nvCxnSpPr>
        <p:spPr>
          <a:xfrm flipH="1" rot="10800000">
            <a:off x="2360684" y="253728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0"/>
          <p:cNvCxnSpPr/>
          <p:nvPr/>
        </p:nvCxnSpPr>
        <p:spPr>
          <a:xfrm flipH="1" rot="10800000">
            <a:off x="3532540" y="2071722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993" name="Google Shape;993;p70"/>
          <p:cNvSpPr txBox="1"/>
          <p:nvPr/>
        </p:nvSpPr>
        <p:spPr>
          <a:xfrm>
            <a:off x="315450" y="606600"/>
            <a:ext cx="1644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spinner 1 and spinner 2 will be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0"/>
          <p:cNvSpPr txBox="1"/>
          <p:nvPr/>
        </p:nvSpPr>
        <p:spPr>
          <a:xfrm>
            <a:off x="556311" y="3011644"/>
            <a:ext cx="116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0"/>
          <p:cNvSpPr/>
          <p:nvPr/>
        </p:nvSpPr>
        <p:spPr>
          <a:xfrm flipH="1">
            <a:off x="556270" y="1825210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0"/>
          <p:cNvSpPr/>
          <p:nvPr/>
        </p:nvSpPr>
        <p:spPr>
          <a:xfrm flipH="1" rot="2700000">
            <a:off x="556502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0"/>
          <p:cNvSpPr/>
          <p:nvPr/>
        </p:nvSpPr>
        <p:spPr>
          <a:xfrm flipH="1" rot="5400000">
            <a:off x="556622" y="182541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70"/>
          <p:cNvSpPr/>
          <p:nvPr/>
        </p:nvSpPr>
        <p:spPr>
          <a:xfrm flipH="1" rot="8100000">
            <a:off x="556568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70"/>
          <p:cNvSpPr/>
          <p:nvPr/>
        </p:nvSpPr>
        <p:spPr>
          <a:xfrm flipH="1" rot="10800000">
            <a:off x="556433" y="182518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70"/>
          <p:cNvSpPr/>
          <p:nvPr/>
        </p:nvSpPr>
        <p:spPr>
          <a:xfrm flipH="1" rot="-8100000">
            <a:off x="556393" y="18252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70"/>
          <p:cNvSpPr/>
          <p:nvPr/>
        </p:nvSpPr>
        <p:spPr>
          <a:xfrm flipH="1" rot="-5400000">
            <a:off x="556381" y="182528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0"/>
          <p:cNvSpPr/>
          <p:nvPr/>
        </p:nvSpPr>
        <p:spPr>
          <a:xfrm flipH="1" rot="-2700000">
            <a:off x="556327" y="18253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3" name="Google Shape;1003;p70"/>
          <p:cNvGrpSpPr/>
          <p:nvPr/>
        </p:nvGrpSpPr>
        <p:grpSpPr>
          <a:xfrm rot="5400000">
            <a:off x="1364837" y="2118462"/>
            <a:ext cx="65100" cy="576723"/>
            <a:chOff x="936300" y="737518"/>
            <a:chExt cx="65100" cy="576723"/>
          </a:xfrm>
        </p:grpSpPr>
        <p:cxnSp>
          <p:nvCxnSpPr>
            <p:cNvPr id="1004" name="Google Shape;1004;p7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5" name="Google Shape;1005;p7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6" name="Google Shape;1006;p70"/>
          <p:cNvSpPr txBox="1"/>
          <p:nvPr/>
        </p:nvSpPr>
        <p:spPr>
          <a:xfrm flipH="1">
            <a:off x="1337890" y="2068131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0"/>
          <p:cNvSpPr txBox="1"/>
          <p:nvPr/>
        </p:nvSpPr>
        <p:spPr>
          <a:xfrm flipH="1">
            <a:off x="1337890" y="241620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0"/>
          <p:cNvSpPr txBox="1"/>
          <p:nvPr/>
        </p:nvSpPr>
        <p:spPr>
          <a:xfrm flipH="1">
            <a:off x="1134678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0"/>
          <p:cNvSpPr txBox="1"/>
          <p:nvPr/>
        </p:nvSpPr>
        <p:spPr>
          <a:xfrm>
            <a:off x="650130" y="211114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0"/>
          <p:cNvSpPr txBox="1"/>
          <p:nvPr/>
        </p:nvSpPr>
        <p:spPr>
          <a:xfrm>
            <a:off x="650130" y="238144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0"/>
          <p:cNvSpPr txBox="1"/>
          <p:nvPr/>
        </p:nvSpPr>
        <p:spPr>
          <a:xfrm>
            <a:off x="853342" y="26032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0"/>
          <p:cNvSpPr txBox="1"/>
          <p:nvPr/>
        </p:nvSpPr>
        <p:spPr>
          <a:xfrm flipH="1">
            <a:off x="113467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0"/>
          <p:cNvSpPr txBox="1"/>
          <p:nvPr/>
        </p:nvSpPr>
        <p:spPr>
          <a:xfrm>
            <a:off x="851823" y="18824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0"/>
          <p:cNvSpPr txBox="1"/>
          <p:nvPr/>
        </p:nvSpPr>
        <p:spPr>
          <a:xfrm>
            <a:off x="569701" y="4503209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5" name="Google Shape;1015;p70"/>
          <p:cNvGrpSpPr/>
          <p:nvPr/>
        </p:nvGrpSpPr>
        <p:grpSpPr>
          <a:xfrm>
            <a:off x="435650" y="3267219"/>
            <a:ext cx="1404403" cy="1404403"/>
            <a:chOff x="146832" y="518450"/>
            <a:chExt cx="1320300" cy="1320300"/>
          </a:xfrm>
        </p:grpSpPr>
        <p:sp>
          <p:nvSpPr>
            <p:cNvPr id="1016" name="Google Shape;1016;p70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70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70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9" name="Google Shape;1019;p70"/>
          <p:cNvGrpSpPr/>
          <p:nvPr/>
        </p:nvGrpSpPr>
        <p:grpSpPr>
          <a:xfrm>
            <a:off x="1105475" y="3496150"/>
            <a:ext cx="65100" cy="499203"/>
            <a:chOff x="936300" y="737518"/>
            <a:chExt cx="65100" cy="584752"/>
          </a:xfrm>
        </p:grpSpPr>
        <p:cxnSp>
          <p:nvCxnSpPr>
            <p:cNvPr id="1020" name="Google Shape;1020;p7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1" name="Google Shape;1021;p70"/>
            <p:cNvSpPr/>
            <p:nvPr/>
          </p:nvSpPr>
          <p:spPr>
            <a:xfrm>
              <a:off x="936300" y="1247270"/>
              <a:ext cx="65100" cy="75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2" name="Google Shape;1022;p70"/>
          <p:cNvSpPr txBox="1"/>
          <p:nvPr/>
        </p:nvSpPr>
        <p:spPr>
          <a:xfrm>
            <a:off x="1256992" y="370576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0"/>
          <p:cNvSpPr txBox="1"/>
          <p:nvPr/>
        </p:nvSpPr>
        <p:spPr>
          <a:xfrm flipH="1">
            <a:off x="997623" y="403434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0"/>
          <p:cNvSpPr txBox="1"/>
          <p:nvPr/>
        </p:nvSpPr>
        <p:spPr>
          <a:xfrm flipH="1">
            <a:off x="738248" y="37057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0"/>
          <p:cNvSpPr txBox="1"/>
          <p:nvPr/>
        </p:nvSpPr>
        <p:spPr>
          <a:xfrm>
            <a:off x="3251649" y="2400494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0"/>
          <p:cNvSpPr txBox="1"/>
          <p:nvPr/>
        </p:nvSpPr>
        <p:spPr>
          <a:xfrm>
            <a:off x="3251649" y="3829351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7" name="Google Shape;1027;p70"/>
          <p:cNvCxnSpPr/>
          <p:nvPr/>
        </p:nvCxnSpPr>
        <p:spPr>
          <a:xfrm>
            <a:off x="2360684" y="325663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70"/>
          <p:cNvSpPr txBox="1"/>
          <p:nvPr/>
        </p:nvSpPr>
        <p:spPr>
          <a:xfrm>
            <a:off x="4382245" y="291030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9" name="Google Shape;1029;p70"/>
          <p:cNvCxnSpPr/>
          <p:nvPr/>
        </p:nvCxnSpPr>
        <p:spPr>
          <a:xfrm>
            <a:off x="3532540" y="25385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70"/>
          <p:cNvCxnSpPr/>
          <p:nvPr/>
        </p:nvCxnSpPr>
        <p:spPr>
          <a:xfrm>
            <a:off x="3532540" y="396168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70"/>
          <p:cNvCxnSpPr/>
          <p:nvPr/>
        </p:nvCxnSpPr>
        <p:spPr>
          <a:xfrm flipH="1" rot="10800000">
            <a:off x="3532540" y="3494847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70"/>
          <p:cNvSpPr txBox="1"/>
          <p:nvPr/>
        </p:nvSpPr>
        <p:spPr>
          <a:xfrm>
            <a:off x="4382245" y="198385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0"/>
          <p:cNvSpPr txBox="1"/>
          <p:nvPr/>
        </p:nvSpPr>
        <p:spPr>
          <a:xfrm>
            <a:off x="4382245" y="432757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0"/>
          <p:cNvSpPr txBox="1"/>
          <p:nvPr/>
        </p:nvSpPr>
        <p:spPr>
          <a:xfrm>
            <a:off x="4382245" y="3401119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035" name="Google Shape;1035;p70" title="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513" y="2411888"/>
            <a:ext cx="129600" cy="4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70"/>
          <p:cNvSpPr txBox="1"/>
          <p:nvPr/>
        </p:nvSpPr>
        <p:spPr>
          <a:xfrm>
            <a:off x="6259050" y="759000"/>
            <a:ext cx="256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also find probabilities from this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37" name="Google Shape;1037;p70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375" y="176274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38" name="Google Shape;1038;p70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0875" y="241255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039" name="Google Shape;1039;p70" title="three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9900" y="328200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40" name="Google Shape;1040;p70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375" y="318775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41" name="Google Shape;1041;p70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0875" y="3837562"/>
            <a:ext cx="129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0"/>
          <p:cNvSpPr txBox="1"/>
          <p:nvPr/>
        </p:nvSpPr>
        <p:spPr>
          <a:xfrm>
            <a:off x="6257725" y="2069250"/>
            <a:ext cx="14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P(X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043" name="Google Shape;1043;p70" title="10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5681" y="2476240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4}&quot;&gt;&lt;mfrac&gt;&lt;mn&gt;5&lt;/mn&gt;&lt;mn&gt;24&lt;/mn&gt;&lt;/mfrac&gt;&lt;/math&gt;" id="1044" name="Google Shape;1044;p70" title="5 over 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83602" y="2483230"/>
            <a:ext cx="258252" cy="464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045" name="Google Shape;1045;p70" title="6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0909" y="2476240"/>
            <a:ext cx="268865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70"/>
          <p:cNvSpPr txBox="1"/>
          <p:nvPr/>
        </p:nvSpPr>
        <p:spPr>
          <a:xfrm>
            <a:off x="6829674" y="2577040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0"/>
          <p:cNvSpPr txBox="1"/>
          <p:nvPr/>
        </p:nvSpPr>
        <p:spPr>
          <a:xfrm>
            <a:off x="7326981" y="2577040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0"/>
          <p:cNvSpPr txBox="1"/>
          <p:nvPr/>
        </p:nvSpPr>
        <p:spPr>
          <a:xfrm>
            <a:off x="7834902" y="2577040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1}{24}&quot;&gt;&lt;mfrac&gt;&lt;mn&gt;21&lt;/mn&gt;&lt;mn&gt;24&lt;/mn&gt;&lt;/mfrac&gt;&lt;/math&gt;" id="1049" name="Google Shape;1049;p70" title="21 over 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88830" y="2476240"/>
            <a:ext cx="268865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70"/>
          <p:cNvSpPr txBox="1"/>
          <p:nvPr/>
        </p:nvSpPr>
        <p:spPr>
          <a:xfrm>
            <a:off x="4913594" y="2834105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0"/>
          <p:cNvSpPr txBox="1"/>
          <p:nvPr/>
        </p:nvSpPr>
        <p:spPr>
          <a:xfrm>
            <a:off x="4913594" y="4327575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0"/>
          <p:cNvSpPr txBox="1"/>
          <p:nvPr/>
        </p:nvSpPr>
        <p:spPr>
          <a:xfrm>
            <a:off x="4913594" y="3477320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053" name="Google Shape;1053;p70" title="10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5206" y="1827925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4}&quot;&gt;&lt;mfrac&gt;&lt;mn&gt;5&lt;/mn&gt;&lt;mn&gt;24&lt;/mn&gt;&lt;/mfrac&gt;&lt;/math&gt;" id="1054" name="Google Shape;1054;p70" title="5 over 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0500" y="2691690"/>
            <a:ext cx="258252" cy="464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055" name="Google Shape;1055;p70" title="6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35200" y="3324213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1056" name="Google Shape;1056;p70" title="3 over 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35200" y="4178175"/>
            <a:ext cx="268865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70"/>
          <p:cNvSpPr txBox="1"/>
          <p:nvPr/>
        </p:nvSpPr>
        <p:spPr>
          <a:xfrm>
            <a:off x="4913594" y="1983850"/>
            <a:ext cx="61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0"/>
          <p:cNvSpPr/>
          <p:nvPr/>
        </p:nvSpPr>
        <p:spPr>
          <a:xfrm>
            <a:off x="4810202" y="2634900"/>
            <a:ext cx="972600" cy="592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0"/>
          <p:cNvSpPr/>
          <p:nvPr/>
        </p:nvSpPr>
        <p:spPr>
          <a:xfrm>
            <a:off x="4810202" y="1777750"/>
            <a:ext cx="972600" cy="592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0"/>
          <p:cNvSpPr/>
          <p:nvPr/>
        </p:nvSpPr>
        <p:spPr>
          <a:xfrm>
            <a:off x="4810202" y="3275250"/>
            <a:ext cx="972600" cy="592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0"/>
          <p:cNvSpPr txBox="1"/>
          <p:nvPr/>
        </p:nvSpPr>
        <p:spPr>
          <a:xfrm>
            <a:off x="4856275" y="1358701"/>
            <a:ext cx="88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6" name="Google Shape;1066;p71"/>
          <p:cNvGrpSpPr/>
          <p:nvPr/>
        </p:nvGrpSpPr>
        <p:grpSpPr>
          <a:xfrm>
            <a:off x="4504678" y="3090600"/>
            <a:ext cx="4287906" cy="1230431"/>
            <a:chOff x="3355900" y="4995575"/>
            <a:chExt cx="5436675" cy="1230431"/>
          </a:xfrm>
        </p:grpSpPr>
        <p:sp>
          <p:nvSpPr>
            <p:cNvPr id="1067" name="Google Shape;1067;p71"/>
            <p:cNvSpPr/>
            <p:nvPr/>
          </p:nvSpPr>
          <p:spPr>
            <a:xfrm>
              <a:off x="3355900" y="4995575"/>
              <a:ext cx="3397800" cy="822300"/>
            </a:xfrm>
            <a:prstGeom prst="rect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71"/>
            <p:cNvSpPr/>
            <p:nvPr/>
          </p:nvSpPr>
          <p:spPr>
            <a:xfrm>
              <a:off x="6753775" y="4995575"/>
              <a:ext cx="2038800" cy="8223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71"/>
            <p:cNvSpPr/>
            <p:nvPr/>
          </p:nvSpPr>
          <p:spPr>
            <a:xfrm>
              <a:off x="3355900" y="5817706"/>
              <a:ext cx="3397800" cy="4083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71"/>
            <p:cNvSpPr/>
            <p:nvPr/>
          </p:nvSpPr>
          <p:spPr>
            <a:xfrm>
              <a:off x="6753775" y="5817706"/>
              <a:ext cx="2038800" cy="4083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71" name="Google Shape;1071;p71"/>
          <p:cNvCxnSpPr/>
          <p:nvPr/>
        </p:nvCxnSpPr>
        <p:spPr>
          <a:xfrm flipH="1" rot="10800000">
            <a:off x="358855" y="259229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71"/>
          <p:cNvCxnSpPr/>
          <p:nvPr/>
        </p:nvCxnSpPr>
        <p:spPr>
          <a:xfrm flipH="1" rot="10800000">
            <a:off x="1530711" y="212673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074" name="Google Shape;1074;p71"/>
          <p:cNvSpPr txBox="1"/>
          <p:nvPr/>
        </p:nvSpPr>
        <p:spPr>
          <a:xfrm>
            <a:off x="1249820" y="2455505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1"/>
          <p:cNvSpPr txBox="1"/>
          <p:nvPr/>
        </p:nvSpPr>
        <p:spPr>
          <a:xfrm>
            <a:off x="1249820" y="3884362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6" name="Google Shape;1076;p71"/>
          <p:cNvCxnSpPr/>
          <p:nvPr/>
        </p:nvCxnSpPr>
        <p:spPr>
          <a:xfrm>
            <a:off x="358855" y="331164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71"/>
          <p:cNvSpPr txBox="1"/>
          <p:nvPr/>
        </p:nvSpPr>
        <p:spPr>
          <a:xfrm>
            <a:off x="2380416" y="296531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8" name="Google Shape;1078;p71"/>
          <p:cNvCxnSpPr/>
          <p:nvPr/>
        </p:nvCxnSpPr>
        <p:spPr>
          <a:xfrm>
            <a:off x="1530711" y="2593569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71"/>
          <p:cNvCxnSpPr/>
          <p:nvPr/>
        </p:nvCxnSpPr>
        <p:spPr>
          <a:xfrm>
            <a:off x="1530711" y="4016694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71"/>
          <p:cNvCxnSpPr/>
          <p:nvPr/>
        </p:nvCxnSpPr>
        <p:spPr>
          <a:xfrm flipH="1" rot="10800000">
            <a:off x="1530711" y="35498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1" name="Google Shape;1081;p71"/>
          <p:cNvSpPr txBox="1"/>
          <p:nvPr/>
        </p:nvSpPr>
        <p:spPr>
          <a:xfrm>
            <a:off x="2380416" y="203886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1"/>
          <p:cNvSpPr txBox="1"/>
          <p:nvPr/>
        </p:nvSpPr>
        <p:spPr>
          <a:xfrm>
            <a:off x="2380416" y="438258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1"/>
          <p:cNvSpPr txBox="1"/>
          <p:nvPr/>
        </p:nvSpPr>
        <p:spPr>
          <a:xfrm>
            <a:off x="2380416" y="345613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084" name="Google Shape;1084;p71" title="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83" y="2466899"/>
            <a:ext cx="129600" cy="419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85" name="Google Shape;1085;p71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546" y="181775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86" name="Google Shape;1086;p71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9046" y="2467562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087" name="Google Shape;1087;p71" title="three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071" y="3337012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88" name="Google Shape;1088;p71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546" y="3242766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89" name="Google Shape;1089;p71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9046" y="3892573"/>
            <a:ext cx="129600" cy="43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0" name="Google Shape;1090;p71"/>
          <p:cNvGraphicFramePr/>
          <p:nvPr/>
        </p:nvGraphicFramePr>
        <p:xfrm>
          <a:off x="3968950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1" name="Google Shape;1091;p71"/>
          <p:cNvGrpSpPr/>
          <p:nvPr/>
        </p:nvGrpSpPr>
        <p:grpSpPr>
          <a:xfrm>
            <a:off x="4505042" y="3090600"/>
            <a:ext cx="4287906" cy="1230431"/>
            <a:chOff x="3355900" y="4995575"/>
            <a:chExt cx="5436675" cy="1230431"/>
          </a:xfrm>
        </p:grpSpPr>
        <p:sp>
          <p:nvSpPr>
            <p:cNvPr id="1092" name="Google Shape;1092;p71"/>
            <p:cNvSpPr/>
            <p:nvPr/>
          </p:nvSpPr>
          <p:spPr>
            <a:xfrm>
              <a:off x="3355900" y="4995575"/>
              <a:ext cx="3397800" cy="8223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71"/>
            <p:cNvSpPr/>
            <p:nvPr/>
          </p:nvSpPr>
          <p:spPr>
            <a:xfrm>
              <a:off x="6753775" y="4995575"/>
              <a:ext cx="2038800" cy="822300"/>
            </a:xfrm>
            <a:prstGeom prst="rect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71"/>
            <p:cNvSpPr/>
            <p:nvPr/>
          </p:nvSpPr>
          <p:spPr>
            <a:xfrm>
              <a:off x="3355900" y="5817706"/>
              <a:ext cx="3397800" cy="4083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71"/>
            <p:cNvSpPr/>
            <p:nvPr/>
          </p:nvSpPr>
          <p:spPr>
            <a:xfrm>
              <a:off x="6753775" y="5817706"/>
              <a:ext cx="2038800" cy="408300"/>
            </a:xfrm>
            <a:prstGeom prst="rect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6" name="Google Shape;1096;p71"/>
          <p:cNvGrpSpPr/>
          <p:nvPr/>
        </p:nvGrpSpPr>
        <p:grpSpPr>
          <a:xfrm>
            <a:off x="5172788" y="657592"/>
            <a:ext cx="3191125" cy="1405105"/>
            <a:chOff x="4950696" y="682200"/>
            <a:chExt cx="3320975" cy="1767651"/>
          </a:xfrm>
        </p:grpSpPr>
        <p:pic>
          <p:nvPicPr>
            <p:cNvPr id="1097" name="Google Shape;1097;p71"/>
            <p:cNvPicPr preferRelativeResize="0"/>
            <p:nvPr/>
          </p:nvPicPr>
          <p:blipFill rotWithShape="1">
            <a:blip r:embed="rId7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71"/>
            <p:cNvSpPr txBox="1"/>
            <p:nvPr/>
          </p:nvSpPr>
          <p:spPr>
            <a:xfrm>
              <a:off x="5015198" y="71451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 prefer the probability tree, as you can see the probabilities straight away…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71"/>
          <p:cNvGrpSpPr/>
          <p:nvPr/>
        </p:nvGrpSpPr>
        <p:grpSpPr>
          <a:xfrm>
            <a:off x="5122900" y="655600"/>
            <a:ext cx="3315600" cy="1405200"/>
            <a:chOff x="5122900" y="-1577152"/>
            <a:chExt cx="3315600" cy="1405200"/>
          </a:xfrm>
        </p:grpSpPr>
        <p:sp>
          <p:nvSpPr>
            <p:cNvPr id="1100" name="Google Shape;1100;p71"/>
            <p:cNvSpPr/>
            <p:nvPr/>
          </p:nvSpPr>
          <p:spPr>
            <a:xfrm>
              <a:off x="5122900" y="-1577152"/>
              <a:ext cx="3315600" cy="140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1" name="Google Shape;1101;p71"/>
            <p:cNvGrpSpPr/>
            <p:nvPr/>
          </p:nvGrpSpPr>
          <p:grpSpPr>
            <a:xfrm>
              <a:off x="5172788" y="-1577108"/>
              <a:ext cx="3191125" cy="1405105"/>
              <a:chOff x="4950696" y="682200"/>
              <a:chExt cx="3320975" cy="1767651"/>
            </a:xfrm>
          </p:grpSpPr>
          <p:pic>
            <p:nvPicPr>
              <p:cNvPr id="1102" name="Google Shape;1102;p71"/>
              <p:cNvPicPr preferRelativeResize="0"/>
              <p:nvPr/>
            </p:nvPicPr>
            <p:blipFill rotWithShape="1">
              <a:blip r:embed="rId7">
                <a:alphaModFix/>
              </a:blip>
              <a:srcRect b="43690" l="0" r="57905" t="0"/>
              <a:stretch/>
            </p:blipFill>
            <p:spPr>
              <a:xfrm>
                <a:off x="4950696" y="682200"/>
                <a:ext cx="3320975" cy="1767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3" name="Google Shape;1103;p71"/>
              <p:cNvSpPr txBox="1"/>
              <p:nvPr/>
            </p:nvSpPr>
            <p:spPr>
              <a:xfrm>
                <a:off x="5015198" y="714518"/>
                <a:ext cx="3000000" cy="14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But the outcome table is also really good at showing where each probability comes from.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104" name="Google Shape;1104;p71"/>
          <p:cNvGrpSpPr/>
          <p:nvPr/>
        </p:nvGrpSpPr>
        <p:grpSpPr>
          <a:xfrm>
            <a:off x="8116301" y="1472563"/>
            <a:ext cx="676200" cy="1040525"/>
            <a:chOff x="8137196" y="1935832"/>
            <a:chExt cx="676200" cy="1040525"/>
          </a:xfrm>
        </p:grpSpPr>
        <p:pic>
          <p:nvPicPr>
            <p:cNvPr id="1105" name="Google Shape;1105;p7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71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71"/>
          <p:cNvGrpSpPr/>
          <p:nvPr/>
        </p:nvGrpSpPr>
        <p:grpSpPr>
          <a:xfrm>
            <a:off x="2660301" y="1854029"/>
            <a:ext cx="972600" cy="2904000"/>
            <a:chOff x="6261173" y="1790250"/>
            <a:chExt cx="972600" cy="2904000"/>
          </a:xfrm>
        </p:grpSpPr>
        <p:sp>
          <p:nvSpPr>
            <p:cNvPr id="1108" name="Google Shape;1108;p71"/>
            <p:cNvSpPr/>
            <p:nvPr/>
          </p:nvSpPr>
          <p:spPr>
            <a:xfrm>
              <a:off x="6261173" y="1790250"/>
              <a:ext cx="972600" cy="29040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71"/>
            <p:cNvSpPr txBox="1"/>
            <p:nvPr/>
          </p:nvSpPr>
          <p:spPr>
            <a:xfrm>
              <a:off x="6361394" y="2834105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71"/>
            <p:cNvSpPr txBox="1"/>
            <p:nvPr/>
          </p:nvSpPr>
          <p:spPr>
            <a:xfrm>
              <a:off x="6361394" y="1983850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71"/>
            <p:cNvSpPr txBox="1"/>
            <p:nvPr/>
          </p:nvSpPr>
          <p:spPr>
            <a:xfrm>
              <a:off x="6361394" y="4327575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71"/>
            <p:cNvSpPr txBox="1"/>
            <p:nvPr/>
          </p:nvSpPr>
          <p:spPr>
            <a:xfrm>
              <a:off x="6361394" y="3477320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113" name="Google Shape;1113;p71" title="10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82135" y="1891704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4}&quot;&gt;&lt;mfrac&gt;&lt;mn&gt;5&lt;/mn&gt;&lt;mn&gt;24&lt;/mn&gt;&lt;/mfrac&gt;&lt;/math&gt;" id="1114" name="Google Shape;1114;p71" title="5 over 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87429" y="2755468"/>
            <a:ext cx="258252" cy="464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115" name="Google Shape;1115;p71" title="6 over 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82129" y="3387991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1116" name="Google Shape;1116;p71" title="3 over 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82129" y="4241954"/>
            <a:ext cx="268865" cy="4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72"/>
          <p:cNvGrpSpPr/>
          <p:nvPr/>
        </p:nvGrpSpPr>
        <p:grpSpPr>
          <a:xfrm>
            <a:off x="2659150" y="1845250"/>
            <a:ext cx="972608" cy="2910675"/>
            <a:chOff x="2811550" y="1845250"/>
            <a:chExt cx="837300" cy="2910675"/>
          </a:xfrm>
        </p:grpSpPr>
        <p:sp>
          <p:nvSpPr>
            <p:cNvPr id="1122" name="Google Shape;1122;p72"/>
            <p:cNvSpPr/>
            <p:nvPr/>
          </p:nvSpPr>
          <p:spPr>
            <a:xfrm>
              <a:off x="2811550" y="1845250"/>
              <a:ext cx="837300" cy="566700"/>
            </a:xfrm>
            <a:prstGeom prst="rect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72"/>
            <p:cNvSpPr/>
            <p:nvPr/>
          </p:nvSpPr>
          <p:spPr>
            <a:xfrm>
              <a:off x="2811550" y="4189225"/>
              <a:ext cx="837300" cy="566700"/>
            </a:xfrm>
            <a:prstGeom prst="rect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4" name="Google Shape;1124;p72"/>
          <p:cNvGrpSpPr/>
          <p:nvPr/>
        </p:nvGrpSpPr>
        <p:grpSpPr>
          <a:xfrm>
            <a:off x="2660301" y="1854029"/>
            <a:ext cx="972600" cy="2904000"/>
            <a:chOff x="6261173" y="1790250"/>
            <a:chExt cx="972600" cy="2904000"/>
          </a:xfrm>
        </p:grpSpPr>
        <p:sp>
          <p:nvSpPr>
            <p:cNvPr id="1125" name="Google Shape;1125;p72"/>
            <p:cNvSpPr/>
            <p:nvPr/>
          </p:nvSpPr>
          <p:spPr>
            <a:xfrm>
              <a:off x="6261173" y="1790250"/>
              <a:ext cx="972600" cy="29040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72"/>
            <p:cNvSpPr txBox="1"/>
            <p:nvPr/>
          </p:nvSpPr>
          <p:spPr>
            <a:xfrm>
              <a:off x="6361394" y="2834105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72"/>
            <p:cNvSpPr txBox="1"/>
            <p:nvPr/>
          </p:nvSpPr>
          <p:spPr>
            <a:xfrm>
              <a:off x="6361394" y="1983850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72"/>
            <p:cNvSpPr txBox="1"/>
            <p:nvPr/>
          </p:nvSpPr>
          <p:spPr>
            <a:xfrm>
              <a:off x="6361394" y="4327575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72"/>
            <p:cNvSpPr txBox="1"/>
            <p:nvPr/>
          </p:nvSpPr>
          <p:spPr>
            <a:xfrm>
              <a:off x="6361394" y="3477320"/>
              <a:ext cx="610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72"/>
          <p:cNvGrpSpPr/>
          <p:nvPr/>
        </p:nvGrpSpPr>
        <p:grpSpPr>
          <a:xfrm>
            <a:off x="2660502" y="1845250"/>
            <a:ext cx="972608" cy="2910675"/>
            <a:chOff x="2812866" y="1845250"/>
            <a:chExt cx="837300" cy="2910675"/>
          </a:xfrm>
        </p:grpSpPr>
        <p:sp>
          <p:nvSpPr>
            <p:cNvPr id="1131" name="Google Shape;1131;p72"/>
            <p:cNvSpPr/>
            <p:nvPr/>
          </p:nvSpPr>
          <p:spPr>
            <a:xfrm>
              <a:off x="2812866" y="1845250"/>
              <a:ext cx="837300" cy="5667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72"/>
            <p:cNvSpPr/>
            <p:nvPr/>
          </p:nvSpPr>
          <p:spPr>
            <a:xfrm>
              <a:off x="2812866" y="4189225"/>
              <a:ext cx="837300" cy="5667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72"/>
          <p:cNvGrpSpPr/>
          <p:nvPr/>
        </p:nvGrpSpPr>
        <p:grpSpPr>
          <a:xfrm>
            <a:off x="4504678" y="3090600"/>
            <a:ext cx="4287906" cy="1230431"/>
            <a:chOff x="3355900" y="4995575"/>
            <a:chExt cx="5436675" cy="1230431"/>
          </a:xfrm>
        </p:grpSpPr>
        <p:sp>
          <p:nvSpPr>
            <p:cNvPr id="1134" name="Google Shape;1134;p72"/>
            <p:cNvSpPr/>
            <p:nvPr/>
          </p:nvSpPr>
          <p:spPr>
            <a:xfrm>
              <a:off x="3355900" y="4995575"/>
              <a:ext cx="3397800" cy="822300"/>
            </a:xfrm>
            <a:prstGeom prst="rect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72"/>
            <p:cNvSpPr/>
            <p:nvPr/>
          </p:nvSpPr>
          <p:spPr>
            <a:xfrm>
              <a:off x="6753775" y="5817706"/>
              <a:ext cx="2038800" cy="4083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36" name="Google Shape;1136;p72"/>
          <p:cNvCxnSpPr/>
          <p:nvPr/>
        </p:nvCxnSpPr>
        <p:spPr>
          <a:xfrm flipH="1" rot="10800000">
            <a:off x="358855" y="259229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72"/>
          <p:cNvCxnSpPr/>
          <p:nvPr/>
        </p:nvCxnSpPr>
        <p:spPr>
          <a:xfrm flipH="1" rot="10800000">
            <a:off x="1530711" y="212673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" name="Google Shape;113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139" name="Google Shape;1139;p72"/>
          <p:cNvSpPr txBox="1"/>
          <p:nvPr/>
        </p:nvSpPr>
        <p:spPr>
          <a:xfrm>
            <a:off x="1249820" y="2455505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1249820" y="3884362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1" name="Google Shape;1141;p72"/>
          <p:cNvCxnSpPr/>
          <p:nvPr/>
        </p:nvCxnSpPr>
        <p:spPr>
          <a:xfrm>
            <a:off x="358855" y="331164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72"/>
          <p:cNvSpPr txBox="1"/>
          <p:nvPr/>
        </p:nvSpPr>
        <p:spPr>
          <a:xfrm>
            <a:off x="2380416" y="296531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3" name="Google Shape;1143;p72"/>
          <p:cNvCxnSpPr/>
          <p:nvPr/>
        </p:nvCxnSpPr>
        <p:spPr>
          <a:xfrm>
            <a:off x="1530711" y="2593569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72"/>
          <p:cNvCxnSpPr/>
          <p:nvPr/>
        </p:nvCxnSpPr>
        <p:spPr>
          <a:xfrm>
            <a:off x="1530711" y="4016694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2"/>
          <p:cNvCxnSpPr/>
          <p:nvPr/>
        </p:nvCxnSpPr>
        <p:spPr>
          <a:xfrm flipH="1" rot="10800000">
            <a:off x="1530711" y="35498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6" name="Google Shape;1146;p72"/>
          <p:cNvSpPr txBox="1"/>
          <p:nvPr/>
        </p:nvSpPr>
        <p:spPr>
          <a:xfrm>
            <a:off x="2380416" y="203886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2380416" y="438258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2380416" y="345613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149" name="Google Shape;1149;p72" title="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83" y="2466899"/>
            <a:ext cx="129600" cy="419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150" name="Google Shape;1150;p72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546" y="1817755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51" name="Google Shape;1151;p72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9046" y="2467562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152" name="Google Shape;1152;p72" title="three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071" y="3337012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153" name="Google Shape;1153;p72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546" y="3242766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54" name="Google Shape;1154;p72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9046" y="3892573"/>
            <a:ext cx="129600" cy="43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5" name="Google Shape;1155;p72"/>
          <p:cNvGraphicFramePr/>
          <p:nvPr/>
        </p:nvGraphicFramePr>
        <p:xfrm>
          <a:off x="3968950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6" name="Google Shape;1156;p72"/>
          <p:cNvSpPr txBox="1"/>
          <p:nvPr/>
        </p:nvSpPr>
        <p:spPr>
          <a:xfrm>
            <a:off x="324000" y="68280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on each sample space is the event of “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either X or B, but not both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 shown?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What’s the probability of this event happening?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7" name="Google Shape;1157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4788" y="3408742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72"/>
          <p:cNvGrpSpPr/>
          <p:nvPr/>
        </p:nvGrpSpPr>
        <p:grpSpPr>
          <a:xfrm>
            <a:off x="4505042" y="3090600"/>
            <a:ext cx="4287906" cy="1230431"/>
            <a:chOff x="3355900" y="4995575"/>
            <a:chExt cx="5436675" cy="1230431"/>
          </a:xfrm>
        </p:grpSpPr>
        <p:sp>
          <p:nvSpPr>
            <p:cNvPr id="1159" name="Google Shape;1159;p72"/>
            <p:cNvSpPr/>
            <p:nvPr/>
          </p:nvSpPr>
          <p:spPr>
            <a:xfrm>
              <a:off x="3355900" y="4995575"/>
              <a:ext cx="3397800" cy="8223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72"/>
            <p:cNvSpPr/>
            <p:nvPr/>
          </p:nvSpPr>
          <p:spPr>
            <a:xfrm>
              <a:off x="6753775" y="5817706"/>
              <a:ext cx="2038800" cy="408300"/>
            </a:xfrm>
            <a:prstGeom prst="rect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161" name="Google Shape;1161;p72" title="10 over 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2152" y="1733536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1162" name="Google Shape;1162;p72" title="3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07364" y="1733536"/>
            <a:ext cx="268865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2"/>
          <p:cNvSpPr txBox="1"/>
          <p:nvPr/>
        </p:nvSpPr>
        <p:spPr>
          <a:xfrm>
            <a:off x="4974790" y="1834336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2"/>
          <p:cNvSpPr txBox="1"/>
          <p:nvPr/>
        </p:nvSpPr>
        <p:spPr>
          <a:xfrm>
            <a:off x="5640002" y="1834336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24}&quot;&gt;&lt;mfrac&gt;&lt;mn&gt;13&lt;/mn&gt;&lt;mn&gt;24&lt;/mn&gt;&lt;/mfrac&gt;&lt;/math&gt;" id="1165" name="Google Shape;1165;p72" title="13 over 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72575" y="1733525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4}&quot;&gt;&lt;mfrac&gt;&lt;mn&gt;10&lt;/mn&gt;&lt;mn&gt;24&lt;/mn&gt;&lt;/mfrac&gt;&lt;/math&gt;" id="1166" name="Google Shape;1166;p72" title="10 over 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82135" y="1891704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4}&quot;&gt;&lt;mfrac&gt;&lt;mn&gt;5&lt;/mn&gt;&lt;mn&gt;24&lt;/mn&gt;&lt;/mfrac&gt;&lt;/math&gt;" id="1167" name="Google Shape;1167;p72" title="5 over 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87429" y="2755468"/>
            <a:ext cx="258252" cy="464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168" name="Google Shape;1168;p72" title="6 over 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82129" y="3387991"/>
            <a:ext cx="26886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1169" name="Google Shape;1169;p72" title="3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82129" y="4241954"/>
            <a:ext cx="268865" cy="4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3"/>
          <p:cNvSpPr/>
          <p:nvPr/>
        </p:nvSpPr>
        <p:spPr>
          <a:xfrm>
            <a:off x="1883171" y="1780755"/>
            <a:ext cx="289800" cy="521100"/>
          </a:xfrm>
          <a:prstGeom prst="roundRect">
            <a:avLst>
              <a:gd fmla="val 2661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3"/>
          <p:cNvSpPr/>
          <p:nvPr/>
        </p:nvSpPr>
        <p:spPr>
          <a:xfrm>
            <a:off x="770600" y="3243125"/>
            <a:ext cx="289800" cy="521100"/>
          </a:xfrm>
          <a:prstGeom prst="roundRect">
            <a:avLst>
              <a:gd fmla="val 2661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6" name="Google Shape;1176;p73"/>
          <p:cNvCxnSpPr/>
          <p:nvPr/>
        </p:nvCxnSpPr>
        <p:spPr>
          <a:xfrm flipH="1" rot="10800000">
            <a:off x="358855" y="259229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73"/>
          <p:cNvCxnSpPr/>
          <p:nvPr/>
        </p:nvCxnSpPr>
        <p:spPr>
          <a:xfrm flipH="1" rot="10800000">
            <a:off x="1530711" y="212673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8" name="Google Shape;117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179" name="Google Shape;1179;p73"/>
          <p:cNvSpPr txBox="1"/>
          <p:nvPr/>
        </p:nvSpPr>
        <p:spPr>
          <a:xfrm>
            <a:off x="1249820" y="2455505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3"/>
          <p:cNvSpPr txBox="1"/>
          <p:nvPr/>
        </p:nvSpPr>
        <p:spPr>
          <a:xfrm>
            <a:off x="1249820" y="3884362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1" name="Google Shape;1181;p73"/>
          <p:cNvCxnSpPr/>
          <p:nvPr/>
        </p:nvCxnSpPr>
        <p:spPr>
          <a:xfrm>
            <a:off x="358855" y="331164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2" name="Google Shape;1182;p73"/>
          <p:cNvSpPr txBox="1"/>
          <p:nvPr/>
        </p:nvSpPr>
        <p:spPr>
          <a:xfrm>
            <a:off x="2380416" y="296531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3" name="Google Shape;1183;p73"/>
          <p:cNvCxnSpPr/>
          <p:nvPr/>
        </p:nvCxnSpPr>
        <p:spPr>
          <a:xfrm>
            <a:off x="1530711" y="2593569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73"/>
          <p:cNvCxnSpPr/>
          <p:nvPr/>
        </p:nvCxnSpPr>
        <p:spPr>
          <a:xfrm>
            <a:off x="1530711" y="4016694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73"/>
          <p:cNvCxnSpPr/>
          <p:nvPr/>
        </p:nvCxnSpPr>
        <p:spPr>
          <a:xfrm flipH="1" rot="10800000">
            <a:off x="1530711" y="35498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73"/>
          <p:cNvSpPr txBox="1"/>
          <p:nvPr/>
        </p:nvSpPr>
        <p:spPr>
          <a:xfrm>
            <a:off x="2380416" y="203886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3"/>
          <p:cNvSpPr txBox="1"/>
          <p:nvPr/>
        </p:nvSpPr>
        <p:spPr>
          <a:xfrm>
            <a:off x="2380416" y="438258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3"/>
          <p:cNvSpPr txBox="1"/>
          <p:nvPr/>
        </p:nvSpPr>
        <p:spPr>
          <a:xfrm>
            <a:off x="2380416" y="345613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89" name="Google Shape;1189;p73"/>
          <p:cNvGraphicFramePr/>
          <p:nvPr/>
        </p:nvGraphicFramePr>
        <p:xfrm>
          <a:off x="4518300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0" name="Google Shape;1190;p73"/>
          <p:cNvSpPr txBox="1"/>
          <p:nvPr/>
        </p:nvSpPr>
        <p:spPr>
          <a:xfrm>
            <a:off x="3713225" y="1496425"/>
            <a:ext cx="510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outcome table, what two probabilities go on the two branches?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3"/>
          <p:cNvSpPr txBox="1"/>
          <p:nvPr/>
        </p:nvSpPr>
        <p:spPr>
          <a:xfrm>
            <a:off x="324000" y="655586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two diagrams show the same trial: spinning two spinners once each.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outcomes of each spin are added together.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192" name="Google Shape;1192;p73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46" y="3299569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193" name="Google Shape;1193;p73" title="three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289" y="1829756"/>
            <a:ext cx="131305" cy="428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74"/>
          <p:cNvSpPr/>
          <p:nvPr/>
        </p:nvSpPr>
        <p:spPr>
          <a:xfrm>
            <a:off x="2811558" y="1845261"/>
            <a:ext cx="838500" cy="2904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4"/>
          <p:cNvSpPr txBox="1"/>
          <p:nvPr/>
        </p:nvSpPr>
        <p:spPr>
          <a:xfrm>
            <a:off x="2911770" y="2889105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4"/>
          <p:cNvSpPr txBox="1"/>
          <p:nvPr/>
        </p:nvSpPr>
        <p:spPr>
          <a:xfrm>
            <a:off x="2911770" y="2038850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4"/>
          <p:cNvSpPr txBox="1"/>
          <p:nvPr/>
        </p:nvSpPr>
        <p:spPr>
          <a:xfrm>
            <a:off x="2911770" y="4382575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74"/>
          <p:cNvSpPr txBox="1"/>
          <p:nvPr/>
        </p:nvSpPr>
        <p:spPr>
          <a:xfrm>
            <a:off x="2911770" y="3532320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3" name="Google Shape;1203;p74"/>
          <p:cNvCxnSpPr/>
          <p:nvPr/>
        </p:nvCxnSpPr>
        <p:spPr>
          <a:xfrm flipH="1" rot="10800000">
            <a:off x="358855" y="259229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74"/>
          <p:cNvCxnSpPr/>
          <p:nvPr/>
        </p:nvCxnSpPr>
        <p:spPr>
          <a:xfrm flipH="1" rot="10800000">
            <a:off x="1530711" y="212673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206" name="Google Shape;1206;p74"/>
          <p:cNvSpPr txBox="1"/>
          <p:nvPr/>
        </p:nvSpPr>
        <p:spPr>
          <a:xfrm>
            <a:off x="1249820" y="2455505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74"/>
          <p:cNvSpPr txBox="1"/>
          <p:nvPr/>
        </p:nvSpPr>
        <p:spPr>
          <a:xfrm>
            <a:off x="1249820" y="3884362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8" name="Google Shape;1208;p74"/>
          <p:cNvCxnSpPr/>
          <p:nvPr/>
        </p:nvCxnSpPr>
        <p:spPr>
          <a:xfrm>
            <a:off x="358855" y="331164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74"/>
          <p:cNvSpPr txBox="1"/>
          <p:nvPr/>
        </p:nvSpPr>
        <p:spPr>
          <a:xfrm>
            <a:off x="2380416" y="296531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0" name="Google Shape;1210;p74"/>
          <p:cNvCxnSpPr/>
          <p:nvPr/>
        </p:nvCxnSpPr>
        <p:spPr>
          <a:xfrm>
            <a:off x="1530711" y="2593569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74"/>
          <p:cNvCxnSpPr/>
          <p:nvPr/>
        </p:nvCxnSpPr>
        <p:spPr>
          <a:xfrm>
            <a:off x="1530711" y="4016694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74"/>
          <p:cNvCxnSpPr/>
          <p:nvPr/>
        </p:nvCxnSpPr>
        <p:spPr>
          <a:xfrm flipH="1" rot="10800000">
            <a:off x="1530711" y="35498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74"/>
          <p:cNvSpPr txBox="1"/>
          <p:nvPr/>
        </p:nvSpPr>
        <p:spPr>
          <a:xfrm>
            <a:off x="2380416" y="203886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74"/>
          <p:cNvSpPr txBox="1"/>
          <p:nvPr/>
        </p:nvSpPr>
        <p:spPr>
          <a:xfrm>
            <a:off x="2380416" y="438258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74"/>
          <p:cNvSpPr txBox="1"/>
          <p:nvPr/>
        </p:nvSpPr>
        <p:spPr>
          <a:xfrm>
            <a:off x="2380416" y="345613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6" name="Google Shape;1216;p74"/>
          <p:cNvGraphicFramePr/>
          <p:nvPr/>
        </p:nvGraphicFramePr>
        <p:xfrm>
          <a:off x="4518300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17" name="Google Shape;1217;p74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946" y="246873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218" name="Google Shape;1218;p74" title="three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289" y="1829756"/>
            <a:ext cx="131305" cy="428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19" name="Google Shape;1219;p74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6177" y="2474769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20" name="Google Shape;1220;p74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6177" y="3895493"/>
            <a:ext cx="131305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74"/>
          <p:cNvSpPr txBox="1"/>
          <p:nvPr/>
        </p:nvSpPr>
        <p:spPr>
          <a:xfrm>
            <a:off x="4320000" y="788700"/>
            <a:ext cx="45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two fractions must be multiplied together to find the probability of getting a 9?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2" name="Google Shape;1222;p74"/>
          <p:cNvGrpSpPr/>
          <p:nvPr/>
        </p:nvGrpSpPr>
        <p:grpSpPr>
          <a:xfrm>
            <a:off x="358855" y="3311642"/>
            <a:ext cx="1953656" cy="711900"/>
            <a:chOff x="358855" y="3311642"/>
            <a:chExt cx="1953656" cy="711900"/>
          </a:xfrm>
        </p:grpSpPr>
        <p:cxnSp>
          <p:nvCxnSpPr>
            <p:cNvPr id="1223" name="Google Shape;1223;p74"/>
            <p:cNvCxnSpPr/>
            <p:nvPr/>
          </p:nvCxnSpPr>
          <p:spPr>
            <a:xfrm>
              <a:off x="358855" y="3311642"/>
              <a:ext cx="781800" cy="7119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4" name="Google Shape;1224;p74"/>
            <p:cNvCxnSpPr/>
            <p:nvPr/>
          </p:nvCxnSpPr>
          <p:spPr>
            <a:xfrm flipH="1" rot="10800000">
              <a:off x="1530711" y="3549858"/>
              <a:ext cx="781800" cy="4620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25" name="Google Shape;1225;p74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546" y="3299569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226" name="Google Shape;1226;p74" title="three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289" y="3250481"/>
            <a:ext cx="131305" cy="428892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74"/>
          <p:cNvSpPr txBox="1"/>
          <p:nvPr/>
        </p:nvSpPr>
        <p:spPr>
          <a:xfrm>
            <a:off x="7054591" y="2150386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8" name="Google Shape;1228;p74"/>
          <p:cNvGrpSpPr/>
          <p:nvPr/>
        </p:nvGrpSpPr>
        <p:grpSpPr>
          <a:xfrm>
            <a:off x="6256796" y="2072969"/>
            <a:ext cx="708432" cy="432000"/>
            <a:chOff x="6256796" y="2072969"/>
            <a:chExt cx="708432" cy="432000"/>
          </a:xfrm>
        </p:grpSpPr>
        <p:pic>
          <p:nvPicPr>
            <p:cNvPr descr="&lt;math xmlns=&quot;http://www.w3.org/1998/Math/MathML&quot; display=&quot;block&quot; data-is-equatio=&quot;1&quot; data-latex=&quot;\frac{2}{3}&quot;&gt;&lt;mfrac&gt;&lt;mn&gt;2&lt;/mn&gt;&lt;mn&gt;3&lt;/mn&gt;&lt;/mfrac&gt;&lt;/math&gt;" id="1229" name="Google Shape;1229;p74" title="two third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256796" y="2072969"/>
              <a:ext cx="129600" cy="4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74"/>
            <p:cNvSpPr txBox="1"/>
            <p:nvPr/>
          </p:nvSpPr>
          <p:spPr>
            <a:xfrm>
              <a:off x="6475759" y="2150386"/>
              <a:ext cx="26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}{7}&quot;&gt;&lt;mfrac&gt;&lt;mn&gt;3&lt;/mn&gt;&lt;mn&gt;7&lt;/mn&gt;&lt;/mfrac&gt;&lt;/math&gt;" id="1231" name="Google Shape;1231;p74" title="three seve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33922" y="2074531"/>
              <a:ext cx="131305" cy="4288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6}{21}&quot;&gt;&lt;mfrac&gt;&lt;mn&gt;6&lt;/mn&gt;&lt;mn&gt;21&lt;/mn&gt;&lt;/mfrac&gt;&lt;/math&gt;" id="1232" name="Google Shape;1232;p74" title="6 over 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2754" y="2076089"/>
            <a:ext cx="237600" cy="42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5"/>
          <p:cNvSpPr/>
          <p:nvPr/>
        </p:nvSpPr>
        <p:spPr>
          <a:xfrm>
            <a:off x="2811558" y="1845261"/>
            <a:ext cx="838500" cy="2904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5"/>
          <p:cNvSpPr txBox="1"/>
          <p:nvPr/>
        </p:nvSpPr>
        <p:spPr>
          <a:xfrm>
            <a:off x="2911770" y="2889105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5"/>
          <p:cNvSpPr txBox="1"/>
          <p:nvPr/>
        </p:nvSpPr>
        <p:spPr>
          <a:xfrm>
            <a:off x="2911770" y="2038850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5"/>
          <p:cNvSpPr txBox="1"/>
          <p:nvPr/>
        </p:nvSpPr>
        <p:spPr>
          <a:xfrm>
            <a:off x="2911770" y="4382575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75"/>
          <p:cNvSpPr txBox="1"/>
          <p:nvPr/>
        </p:nvSpPr>
        <p:spPr>
          <a:xfrm>
            <a:off x="2911770" y="3532320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2" name="Google Shape;1242;p75"/>
          <p:cNvCxnSpPr/>
          <p:nvPr/>
        </p:nvCxnSpPr>
        <p:spPr>
          <a:xfrm flipH="1" rot="10800000">
            <a:off x="358855" y="259229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75"/>
          <p:cNvCxnSpPr/>
          <p:nvPr/>
        </p:nvCxnSpPr>
        <p:spPr>
          <a:xfrm flipH="1" rot="10800000">
            <a:off x="1530711" y="212673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245" name="Google Shape;1245;p75"/>
          <p:cNvSpPr txBox="1"/>
          <p:nvPr/>
        </p:nvSpPr>
        <p:spPr>
          <a:xfrm>
            <a:off x="1249820" y="2455505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75"/>
          <p:cNvSpPr txBox="1"/>
          <p:nvPr/>
        </p:nvSpPr>
        <p:spPr>
          <a:xfrm>
            <a:off x="1249820" y="3884362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7" name="Google Shape;1247;p75"/>
          <p:cNvCxnSpPr/>
          <p:nvPr/>
        </p:nvCxnSpPr>
        <p:spPr>
          <a:xfrm>
            <a:off x="358855" y="331164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75"/>
          <p:cNvSpPr txBox="1"/>
          <p:nvPr/>
        </p:nvSpPr>
        <p:spPr>
          <a:xfrm>
            <a:off x="2380416" y="296531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9" name="Google Shape;1249;p75"/>
          <p:cNvCxnSpPr/>
          <p:nvPr/>
        </p:nvCxnSpPr>
        <p:spPr>
          <a:xfrm>
            <a:off x="1530711" y="2593569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75"/>
          <p:cNvCxnSpPr/>
          <p:nvPr/>
        </p:nvCxnSpPr>
        <p:spPr>
          <a:xfrm>
            <a:off x="1530711" y="4016694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75"/>
          <p:cNvCxnSpPr/>
          <p:nvPr/>
        </p:nvCxnSpPr>
        <p:spPr>
          <a:xfrm flipH="1" rot="10800000">
            <a:off x="1530711" y="35498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2" name="Google Shape;1252;p75"/>
          <p:cNvSpPr txBox="1"/>
          <p:nvPr/>
        </p:nvSpPr>
        <p:spPr>
          <a:xfrm>
            <a:off x="2380416" y="203886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5"/>
          <p:cNvSpPr txBox="1"/>
          <p:nvPr/>
        </p:nvSpPr>
        <p:spPr>
          <a:xfrm>
            <a:off x="2380416" y="438258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5"/>
          <p:cNvSpPr txBox="1"/>
          <p:nvPr/>
        </p:nvSpPr>
        <p:spPr>
          <a:xfrm>
            <a:off x="2380416" y="345613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55" name="Google Shape;1255;p75"/>
          <p:cNvGraphicFramePr/>
          <p:nvPr/>
        </p:nvGraphicFramePr>
        <p:xfrm>
          <a:off x="4518300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56" name="Google Shape;1256;p75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46" y="3299569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57" name="Google Shape;1257;p75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946" y="246873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258" name="Google Shape;1258;p75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289" y="1829756"/>
            <a:ext cx="131305" cy="428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59" name="Google Shape;1259;p75" title="four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6177" y="2474769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1}&quot;&gt;&lt;mfrac&gt;&lt;mn&gt;6&lt;/mn&gt;&lt;mn&gt;21&lt;/mn&gt;&lt;/mfrac&gt;&lt;/math&gt;" id="1260" name="Google Shape;1260;p75" title="6 over 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204" y="3409427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261" name="Google Shape;1261;p75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289" y="3250481"/>
            <a:ext cx="131305" cy="428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62" name="Google Shape;1262;p75" title="four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6177" y="3895493"/>
            <a:ext cx="131305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75"/>
          <p:cNvSpPr txBox="1"/>
          <p:nvPr/>
        </p:nvSpPr>
        <p:spPr>
          <a:xfrm>
            <a:off x="4320000" y="810000"/>
            <a:ext cx="45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outcomes in the table are 9?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75"/>
          <p:cNvSpPr txBox="1"/>
          <p:nvPr/>
        </p:nvSpPr>
        <p:spPr>
          <a:xfrm>
            <a:off x="5216375" y="1442875"/>
            <a:ext cx="360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out of the 21 outcomes are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" name="Google Shape;1269;p76"/>
          <p:cNvGrpSpPr/>
          <p:nvPr/>
        </p:nvGrpSpPr>
        <p:grpSpPr>
          <a:xfrm>
            <a:off x="5054250" y="3090600"/>
            <a:ext cx="3751500" cy="1233425"/>
            <a:chOff x="5054250" y="3090600"/>
            <a:chExt cx="3751500" cy="1233425"/>
          </a:xfrm>
        </p:grpSpPr>
        <p:sp>
          <p:nvSpPr>
            <p:cNvPr id="1270" name="Google Shape;1270;p76"/>
            <p:cNvSpPr/>
            <p:nvPr/>
          </p:nvSpPr>
          <p:spPr>
            <a:xfrm>
              <a:off x="5054250" y="3090600"/>
              <a:ext cx="1607700" cy="411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76"/>
            <p:cNvSpPr/>
            <p:nvPr/>
          </p:nvSpPr>
          <p:spPr>
            <a:xfrm>
              <a:off x="6661950" y="3090600"/>
              <a:ext cx="2143800" cy="411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76"/>
            <p:cNvSpPr/>
            <p:nvPr/>
          </p:nvSpPr>
          <p:spPr>
            <a:xfrm>
              <a:off x="6661950" y="3501725"/>
              <a:ext cx="2143800" cy="8223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3" name="Google Shape;1273;p76"/>
          <p:cNvSpPr/>
          <p:nvPr/>
        </p:nvSpPr>
        <p:spPr>
          <a:xfrm>
            <a:off x="2811558" y="1845261"/>
            <a:ext cx="838500" cy="2904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76"/>
          <p:cNvSpPr txBox="1"/>
          <p:nvPr/>
        </p:nvSpPr>
        <p:spPr>
          <a:xfrm>
            <a:off x="2911770" y="2889105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76"/>
          <p:cNvSpPr txBox="1"/>
          <p:nvPr/>
        </p:nvSpPr>
        <p:spPr>
          <a:xfrm>
            <a:off x="2911770" y="2038850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76"/>
          <p:cNvSpPr txBox="1"/>
          <p:nvPr/>
        </p:nvSpPr>
        <p:spPr>
          <a:xfrm>
            <a:off x="2911770" y="4382575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76"/>
          <p:cNvSpPr txBox="1"/>
          <p:nvPr/>
        </p:nvSpPr>
        <p:spPr>
          <a:xfrm>
            <a:off x="2911770" y="3532320"/>
            <a:ext cx="32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8" name="Google Shape;1278;p76"/>
          <p:cNvCxnSpPr/>
          <p:nvPr/>
        </p:nvCxnSpPr>
        <p:spPr>
          <a:xfrm flipH="1" rot="10800000">
            <a:off x="358855" y="259229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76"/>
          <p:cNvCxnSpPr/>
          <p:nvPr/>
        </p:nvCxnSpPr>
        <p:spPr>
          <a:xfrm flipH="1" rot="10800000">
            <a:off x="1530711" y="212673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281" name="Google Shape;1281;p76"/>
          <p:cNvSpPr txBox="1"/>
          <p:nvPr/>
        </p:nvSpPr>
        <p:spPr>
          <a:xfrm>
            <a:off x="1249820" y="2455505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76"/>
          <p:cNvSpPr txBox="1"/>
          <p:nvPr/>
        </p:nvSpPr>
        <p:spPr>
          <a:xfrm>
            <a:off x="1249820" y="3884362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3" name="Google Shape;1283;p76"/>
          <p:cNvCxnSpPr/>
          <p:nvPr/>
        </p:nvCxnSpPr>
        <p:spPr>
          <a:xfrm>
            <a:off x="358855" y="3311642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76"/>
          <p:cNvSpPr txBox="1"/>
          <p:nvPr/>
        </p:nvSpPr>
        <p:spPr>
          <a:xfrm>
            <a:off x="2380416" y="296531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5" name="Google Shape;1285;p76"/>
          <p:cNvCxnSpPr/>
          <p:nvPr/>
        </p:nvCxnSpPr>
        <p:spPr>
          <a:xfrm>
            <a:off x="1530711" y="2593569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76"/>
          <p:cNvCxnSpPr/>
          <p:nvPr/>
        </p:nvCxnSpPr>
        <p:spPr>
          <a:xfrm>
            <a:off x="1530711" y="4016694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76"/>
          <p:cNvCxnSpPr/>
          <p:nvPr/>
        </p:nvCxnSpPr>
        <p:spPr>
          <a:xfrm flipH="1" rot="10800000">
            <a:off x="1530711" y="35498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76"/>
          <p:cNvSpPr txBox="1"/>
          <p:nvPr/>
        </p:nvSpPr>
        <p:spPr>
          <a:xfrm>
            <a:off x="2380416" y="203886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76"/>
          <p:cNvSpPr txBox="1"/>
          <p:nvPr/>
        </p:nvSpPr>
        <p:spPr>
          <a:xfrm>
            <a:off x="2380416" y="4382585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76"/>
          <p:cNvSpPr txBox="1"/>
          <p:nvPr/>
        </p:nvSpPr>
        <p:spPr>
          <a:xfrm>
            <a:off x="2380416" y="345613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91" name="Google Shape;1291;p76"/>
          <p:cNvGraphicFramePr/>
          <p:nvPr/>
        </p:nvGraphicFramePr>
        <p:xfrm>
          <a:off x="4518300" y="26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92" name="Google Shape;1292;p76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46" y="3299569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93" name="Google Shape;1293;p76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946" y="2468731"/>
            <a:ext cx="129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294" name="Google Shape;1294;p76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289" y="1829756"/>
            <a:ext cx="131305" cy="428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295" name="Google Shape;1295;p76" title="four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6177" y="2474769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1}&quot;&gt;&lt;mfrac&gt;&lt;mn&gt;3&lt;/mn&gt;&lt;mn&gt;21&lt;/mn&gt;&lt;/mfrac&gt;&lt;/math&gt;" id="1296" name="Google Shape;1296;p76" title="3 over 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204" y="1915952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21}&quot;&gt;&lt;mfrac&gt;&lt;mn&gt;4&lt;/mn&gt;&lt;mn&gt;21&lt;/mn&gt;&lt;/mfrac&gt;&lt;/math&gt;" id="1297" name="Google Shape;1297;p76" title="4 over 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6767" y="2735352"/>
            <a:ext cx="234474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1}&quot;&gt;&lt;mfrac&gt;&lt;mn&gt;6&lt;/mn&gt;&lt;mn&gt;21&lt;/mn&gt;&lt;/mfrac&gt;&lt;/math&gt;" id="1298" name="Google Shape;1298;p76" title="6 over 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4" y="3409427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1}&quot;&gt;&lt;mfrac&gt;&lt;mn&gt;8&lt;/mn&gt;&lt;mn&gt;21&lt;/mn&gt;&lt;/mfrac&gt;&lt;/math&gt;" id="1299" name="Google Shape;1299;p76" title="8 over 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5204" y="4259677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300" name="Google Shape;1300;p76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289" y="3250481"/>
            <a:ext cx="131305" cy="428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01" name="Google Shape;1301;p76" title="four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6177" y="3895493"/>
            <a:ext cx="131305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76"/>
          <p:cNvSpPr txBox="1"/>
          <p:nvPr/>
        </p:nvSpPr>
        <p:spPr>
          <a:xfrm>
            <a:off x="4345576" y="1677000"/>
            <a:ext cx="446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probability of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result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being a prime number?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76"/>
          <p:cNvSpPr txBox="1"/>
          <p:nvPr/>
        </p:nvSpPr>
        <p:spPr>
          <a:xfrm>
            <a:off x="4345570" y="730749"/>
            <a:ext cx="373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outcomes are prime?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4" name="Google Shape;1304;p76"/>
          <p:cNvGrpSpPr/>
          <p:nvPr/>
        </p:nvGrpSpPr>
        <p:grpSpPr>
          <a:xfrm>
            <a:off x="4004231" y="729964"/>
            <a:ext cx="278755" cy="278755"/>
            <a:chOff x="1020916" y="1442088"/>
            <a:chExt cx="457200" cy="457200"/>
          </a:xfrm>
        </p:grpSpPr>
        <p:pic>
          <p:nvPicPr>
            <p:cNvPr id="1305" name="Google Shape;1305;p76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7" name="Google Shape;1307;p76"/>
          <p:cNvGrpSpPr/>
          <p:nvPr/>
        </p:nvGrpSpPr>
        <p:grpSpPr>
          <a:xfrm>
            <a:off x="4004231" y="1676215"/>
            <a:ext cx="278755" cy="278755"/>
            <a:chOff x="1020916" y="1442088"/>
            <a:chExt cx="457200" cy="457200"/>
          </a:xfrm>
        </p:grpSpPr>
        <p:pic>
          <p:nvPicPr>
            <p:cNvPr id="1308" name="Google Shape;1308;p76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3}{21}&quot;&gt;&lt;mfrac&gt;&lt;mn&gt;3&lt;/mn&gt;&lt;mn&gt;21&lt;/mn&gt;&lt;/mfrac&gt;&lt;/math&gt;" id="1310" name="Google Shape;1310;p76" title="3 over 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804" y="2217661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21}&quot;&gt;&lt;mfrac&gt;&lt;mn&gt;4&lt;/mn&gt;&lt;mn&gt;21&lt;/mn&gt;&lt;/mfrac&gt;&lt;/math&gt;" id="1311" name="Google Shape;1311;p76" title="4 over 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32129" y="2217661"/>
            <a:ext cx="234474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1}&quot;&gt;&lt;mfrac&gt;&lt;mn&gt;8&lt;/mn&gt;&lt;mn&gt;21&lt;/mn&gt;&lt;/mfrac&gt;&lt;/math&gt;" id="1312" name="Google Shape;1312;p76" title="8 over 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04329" y="2217661"/>
            <a:ext cx="237600" cy="42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76"/>
          <p:cNvSpPr txBox="1"/>
          <p:nvPr/>
        </p:nvSpPr>
        <p:spPr>
          <a:xfrm>
            <a:off x="7101066" y="2291953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76"/>
          <p:cNvSpPr txBox="1"/>
          <p:nvPr/>
        </p:nvSpPr>
        <p:spPr>
          <a:xfrm>
            <a:off x="6528867" y="2291953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76"/>
          <p:cNvSpPr txBox="1"/>
          <p:nvPr/>
        </p:nvSpPr>
        <p:spPr>
          <a:xfrm>
            <a:off x="7676366" y="2291953"/>
            <a:ext cx="2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5}{21}&quot;&gt;&lt;mfrac&gt;&lt;mn&gt;15&lt;/mn&gt;&lt;mn&gt;21&lt;/mn&gt;&lt;/mfrac&gt;&lt;/math&gt;" id="1316" name="Google Shape;1316;p76" title="15 over 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79613" y="2218134"/>
            <a:ext cx="239433" cy="4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76"/>
          <p:cNvSpPr txBox="1"/>
          <p:nvPr/>
        </p:nvSpPr>
        <p:spPr>
          <a:xfrm>
            <a:off x="4345575" y="1006300"/>
            <a:ext cx="439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the sevens, elevens, and thirteens are prime. There are 15 prime outcomes.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76"/>
          <p:cNvSpPr/>
          <p:nvPr/>
        </p:nvSpPr>
        <p:spPr>
          <a:xfrm>
            <a:off x="5054250" y="3090600"/>
            <a:ext cx="1607700" cy="411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76"/>
          <p:cNvSpPr/>
          <p:nvPr/>
        </p:nvSpPr>
        <p:spPr>
          <a:xfrm>
            <a:off x="6661950" y="3090600"/>
            <a:ext cx="2143800" cy="411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76"/>
          <p:cNvSpPr/>
          <p:nvPr/>
        </p:nvSpPr>
        <p:spPr>
          <a:xfrm>
            <a:off x="6661950" y="3501725"/>
            <a:ext cx="2143800" cy="8223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1" name="Google Shape;1321;p76"/>
          <p:cNvGrpSpPr/>
          <p:nvPr/>
        </p:nvGrpSpPr>
        <p:grpSpPr>
          <a:xfrm>
            <a:off x="2811550" y="1845250"/>
            <a:ext cx="838500" cy="2904375"/>
            <a:chOff x="2811550" y="1845250"/>
            <a:chExt cx="838500" cy="2904375"/>
          </a:xfrm>
        </p:grpSpPr>
        <p:sp>
          <p:nvSpPr>
            <p:cNvPr id="1322" name="Google Shape;1322;p76"/>
            <p:cNvSpPr/>
            <p:nvPr/>
          </p:nvSpPr>
          <p:spPr>
            <a:xfrm>
              <a:off x="2811550" y="1845250"/>
              <a:ext cx="838500" cy="5541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76"/>
            <p:cNvSpPr/>
            <p:nvPr/>
          </p:nvSpPr>
          <p:spPr>
            <a:xfrm>
              <a:off x="2811550" y="2702050"/>
              <a:ext cx="838500" cy="5541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76"/>
            <p:cNvSpPr/>
            <p:nvPr/>
          </p:nvSpPr>
          <p:spPr>
            <a:xfrm>
              <a:off x="2811550" y="4195525"/>
              <a:ext cx="838500" cy="5541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76"/>
          <p:cNvGrpSpPr/>
          <p:nvPr/>
        </p:nvGrpSpPr>
        <p:grpSpPr>
          <a:xfrm>
            <a:off x="6580875" y="1318121"/>
            <a:ext cx="1686157" cy="1113037"/>
            <a:chOff x="6580868" y="1310061"/>
            <a:chExt cx="1686157" cy="1121787"/>
          </a:xfrm>
        </p:grpSpPr>
        <p:sp>
          <p:nvSpPr>
            <p:cNvPr id="1326" name="Google Shape;1326;p76"/>
            <p:cNvSpPr/>
            <p:nvPr/>
          </p:nvSpPr>
          <p:spPr>
            <a:xfrm>
              <a:off x="6580868" y="1310061"/>
              <a:ext cx="321300" cy="2793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76"/>
            <p:cNvSpPr/>
            <p:nvPr/>
          </p:nvSpPr>
          <p:spPr>
            <a:xfrm>
              <a:off x="7931625" y="2115649"/>
              <a:ext cx="335400" cy="3162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2" name="Google Shape;1332;p77"/>
          <p:cNvGrpSpPr/>
          <p:nvPr/>
        </p:nvGrpSpPr>
        <p:grpSpPr>
          <a:xfrm>
            <a:off x="5172788" y="655644"/>
            <a:ext cx="3191125" cy="1405105"/>
            <a:chOff x="4950696" y="682200"/>
            <a:chExt cx="3320975" cy="1767651"/>
          </a:xfrm>
        </p:grpSpPr>
        <p:pic>
          <p:nvPicPr>
            <p:cNvPr id="1333" name="Google Shape;1333;p77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4" name="Google Shape;1334;p77"/>
            <p:cNvSpPr txBox="1"/>
            <p:nvPr/>
          </p:nvSpPr>
          <p:spPr>
            <a:xfrm>
              <a:off x="5015198" y="71451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While I prefer probability trees if there are lots of repeated outcomes in a stage of a trial…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5" name="Google Shape;133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grpSp>
        <p:nvGrpSpPr>
          <p:cNvPr id="1336" name="Google Shape;1336;p77"/>
          <p:cNvGrpSpPr/>
          <p:nvPr/>
        </p:nvGrpSpPr>
        <p:grpSpPr>
          <a:xfrm>
            <a:off x="8116301" y="1472563"/>
            <a:ext cx="676200" cy="1040525"/>
            <a:chOff x="8137196" y="1935832"/>
            <a:chExt cx="676200" cy="1040525"/>
          </a:xfrm>
        </p:grpSpPr>
        <p:pic>
          <p:nvPicPr>
            <p:cNvPr id="1337" name="Google Shape;1337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77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9" name="Google Shape;1339;p77"/>
          <p:cNvSpPr txBox="1"/>
          <p:nvPr/>
        </p:nvSpPr>
        <p:spPr>
          <a:xfrm>
            <a:off x="556311" y="2173444"/>
            <a:ext cx="116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77"/>
          <p:cNvSpPr/>
          <p:nvPr/>
        </p:nvSpPr>
        <p:spPr>
          <a:xfrm flipH="1">
            <a:off x="556270" y="987010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77"/>
          <p:cNvSpPr/>
          <p:nvPr/>
        </p:nvSpPr>
        <p:spPr>
          <a:xfrm flipH="1" rot="2700000">
            <a:off x="556502" y="9871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77"/>
          <p:cNvSpPr/>
          <p:nvPr/>
        </p:nvSpPr>
        <p:spPr>
          <a:xfrm flipH="1" rot="5400000">
            <a:off x="556622" y="98721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77"/>
          <p:cNvSpPr/>
          <p:nvPr/>
        </p:nvSpPr>
        <p:spPr>
          <a:xfrm flipH="1" rot="8100000">
            <a:off x="556568" y="9870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77"/>
          <p:cNvSpPr/>
          <p:nvPr/>
        </p:nvSpPr>
        <p:spPr>
          <a:xfrm flipH="1" rot="10800000">
            <a:off x="556433" y="98698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77"/>
          <p:cNvSpPr/>
          <p:nvPr/>
        </p:nvSpPr>
        <p:spPr>
          <a:xfrm flipH="1" rot="-8100000">
            <a:off x="556393" y="98708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77"/>
          <p:cNvSpPr/>
          <p:nvPr/>
        </p:nvSpPr>
        <p:spPr>
          <a:xfrm flipH="1" rot="-5400000">
            <a:off x="556381" y="987084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77"/>
          <p:cNvSpPr/>
          <p:nvPr/>
        </p:nvSpPr>
        <p:spPr>
          <a:xfrm flipH="1" rot="-2700000">
            <a:off x="556327" y="987107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8" name="Google Shape;1348;p77"/>
          <p:cNvGrpSpPr/>
          <p:nvPr/>
        </p:nvGrpSpPr>
        <p:grpSpPr>
          <a:xfrm rot="5400000">
            <a:off x="1364837" y="1280262"/>
            <a:ext cx="65100" cy="576723"/>
            <a:chOff x="936300" y="737518"/>
            <a:chExt cx="65100" cy="576723"/>
          </a:xfrm>
        </p:grpSpPr>
        <p:cxnSp>
          <p:nvCxnSpPr>
            <p:cNvPr id="1349" name="Google Shape;1349;p7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0" name="Google Shape;1350;p77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1" name="Google Shape;1351;p77"/>
          <p:cNvSpPr txBox="1"/>
          <p:nvPr/>
        </p:nvSpPr>
        <p:spPr>
          <a:xfrm flipH="1">
            <a:off x="1337890" y="1229931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77"/>
          <p:cNvSpPr txBox="1"/>
          <p:nvPr/>
        </p:nvSpPr>
        <p:spPr>
          <a:xfrm flipH="1">
            <a:off x="1337890" y="157800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77"/>
          <p:cNvSpPr txBox="1"/>
          <p:nvPr/>
        </p:nvSpPr>
        <p:spPr>
          <a:xfrm flipH="1">
            <a:off x="1134678" y="17650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77"/>
          <p:cNvSpPr txBox="1"/>
          <p:nvPr/>
        </p:nvSpPr>
        <p:spPr>
          <a:xfrm>
            <a:off x="650130" y="127294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77"/>
          <p:cNvSpPr txBox="1"/>
          <p:nvPr/>
        </p:nvSpPr>
        <p:spPr>
          <a:xfrm>
            <a:off x="650130" y="154324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77"/>
          <p:cNvSpPr txBox="1"/>
          <p:nvPr/>
        </p:nvSpPr>
        <p:spPr>
          <a:xfrm>
            <a:off x="853342" y="176502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77"/>
          <p:cNvSpPr txBox="1"/>
          <p:nvPr/>
        </p:nvSpPr>
        <p:spPr>
          <a:xfrm flipH="1">
            <a:off x="1134673" y="10442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77"/>
          <p:cNvSpPr txBox="1"/>
          <p:nvPr/>
        </p:nvSpPr>
        <p:spPr>
          <a:xfrm>
            <a:off x="851823" y="10442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77"/>
          <p:cNvSpPr txBox="1"/>
          <p:nvPr/>
        </p:nvSpPr>
        <p:spPr>
          <a:xfrm>
            <a:off x="569701" y="3665009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0" name="Google Shape;1360;p77"/>
          <p:cNvGrpSpPr/>
          <p:nvPr/>
        </p:nvGrpSpPr>
        <p:grpSpPr>
          <a:xfrm>
            <a:off x="435650" y="2429019"/>
            <a:ext cx="1404403" cy="1404403"/>
            <a:chOff x="146832" y="518450"/>
            <a:chExt cx="1320300" cy="1320300"/>
          </a:xfrm>
        </p:grpSpPr>
        <p:sp>
          <p:nvSpPr>
            <p:cNvPr id="1361" name="Google Shape;1361;p77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77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77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4" name="Google Shape;1364;p77"/>
          <p:cNvGrpSpPr/>
          <p:nvPr/>
        </p:nvGrpSpPr>
        <p:grpSpPr>
          <a:xfrm>
            <a:off x="1105475" y="2657950"/>
            <a:ext cx="65100" cy="499203"/>
            <a:chOff x="936300" y="737518"/>
            <a:chExt cx="65100" cy="584752"/>
          </a:xfrm>
        </p:grpSpPr>
        <p:cxnSp>
          <p:nvCxnSpPr>
            <p:cNvPr id="1365" name="Google Shape;1365;p7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6" name="Google Shape;1366;p77"/>
            <p:cNvSpPr/>
            <p:nvPr/>
          </p:nvSpPr>
          <p:spPr>
            <a:xfrm>
              <a:off x="936300" y="1247270"/>
              <a:ext cx="65100" cy="75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7" name="Google Shape;1367;p77"/>
          <p:cNvSpPr txBox="1"/>
          <p:nvPr/>
        </p:nvSpPr>
        <p:spPr>
          <a:xfrm>
            <a:off x="1256992" y="286756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77"/>
          <p:cNvSpPr txBox="1"/>
          <p:nvPr/>
        </p:nvSpPr>
        <p:spPr>
          <a:xfrm flipH="1">
            <a:off x="997623" y="319614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77"/>
          <p:cNvSpPr txBox="1"/>
          <p:nvPr/>
        </p:nvSpPr>
        <p:spPr>
          <a:xfrm flipH="1">
            <a:off x="738248" y="28675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0" name="Google Shape;1370;p77"/>
          <p:cNvCxnSpPr/>
          <p:nvPr/>
        </p:nvCxnSpPr>
        <p:spPr>
          <a:xfrm flipH="1" rot="10800000">
            <a:off x="2284484" y="185148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77"/>
          <p:cNvCxnSpPr/>
          <p:nvPr/>
        </p:nvCxnSpPr>
        <p:spPr>
          <a:xfrm flipH="1" rot="10800000">
            <a:off x="3456340" y="1385922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77"/>
          <p:cNvSpPr txBox="1"/>
          <p:nvPr/>
        </p:nvSpPr>
        <p:spPr>
          <a:xfrm>
            <a:off x="3175449" y="1714694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77"/>
          <p:cNvSpPr txBox="1"/>
          <p:nvPr/>
        </p:nvSpPr>
        <p:spPr>
          <a:xfrm>
            <a:off x="3175449" y="3143551"/>
            <a:ext cx="1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4" name="Google Shape;1374;p77"/>
          <p:cNvCxnSpPr/>
          <p:nvPr/>
        </p:nvCxnSpPr>
        <p:spPr>
          <a:xfrm>
            <a:off x="2284484" y="2570831"/>
            <a:ext cx="7818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5" name="Google Shape;1375;p77"/>
          <p:cNvSpPr txBox="1"/>
          <p:nvPr/>
        </p:nvSpPr>
        <p:spPr>
          <a:xfrm>
            <a:off x="4306045" y="222450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6" name="Google Shape;1376;p77"/>
          <p:cNvCxnSpPr/>
          <p:nvPr/>
        </p:nvCxnSpPr>
        <p:spPr>
          <a:xfrm>
            <a:off x="3456340" y="1852758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7" name="Google Shape;1377;p77"/>
          <p:cNvCxnSpPr/>
          <p:nvPr/>
        </p:nvCxnSpPr>
        <p:spPr>
          <a:xfrm>
            <a:off x="3456340" y="3275883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77"/>
          <p:cNvCxnSpPr/>
          <p:nvPr/>
        </p:nvCxnSpPr>
        <p:spPr>
          <a:xfrm flipH="1" rot="10800000">
            <a:off x="3456340" y="2809047"/>
            <a:ext cx="781800" cy="4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77"/>
          <p:cNvSpPr txBox="1"/>
          <p:nvPr/>
        </p:nvSpPr>
        <p:spPr>
          <a:xfrm>
            <a:off x="4306045" y="1298050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77"/>
          <p:cNvSpPr txBox="1"/>
          <p:nvPr/>
        </p:nvSpPr>
        <p:spPr>
          <a:xfrm>
            <a:off x="4306045" y="3641774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77"/>
          <p:cNvSpPr txBox="1"/>
          <p:nvPr/>
        </p:nvSpPr>
        <p:spPr>
          <a:xfrm>
            <a:off x="4306045" y="2715319"/>
            <a:ext cx="162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78"/>
          <p:cNvGrpSpPr/>
          <p:nvPr/>
        </p:nvGrpSpPr>
        <p:grpSpPr>
          <a:xfrm>
            <a:off x="4739625" y="655643"/>
            <a:ext cx="3663650" cy="1708555"/>
            <a:chOff x="4858520" y="682197"/>
            <a:chExt cx="3450414" cy="2107246"/>
          </a:xfrm>
        </p:grpSpPr>
        <p:pic>
          <p:nvPicPr>
            <p:cNvPr id="1387" name="Google Shape;1387;p7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858520" y="682197"/>
              <a:ext cx="3450414" cy="2107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8" name="Google Shape;1388;p78"/>
            <p:cNvSpPr txBox="1"/>
            <p:nvPr/>
          </p:nvSpPr>
          <p:spPr>
            <a:xfrm>
              <a:off x="4937985" y="750687"/>
              <a:ext cx="30777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each stage has a load of unique outcomes, the tree will be much harder to draw than an outcome table!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9" name="Google Shape;138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grpSp>
        <p:nvGrpSpPr>
          <p:cNvPr id="1390" name="Google Shape;1390;p78"/>
          <p:cNvGrpSpPr/>
          <p:nvPr/>
        </p:nvGrpSpPr>
        <p:grpSpPr>
          <a:xfrm>
            <a:off x="8121101" y="1472563"/>
            <a:ext cx="676200" cy="1040525"/>
            <a:chOff x="8137196" y="1935832"/>
            <a:chExt cx="676200" cy="1040525"/>
          </a:xfrm>
        </p:grpSpPr>
        <p:pic>
          <p:nvPicPr>
            <p:cNvPr id="1391" name="Google Shape;1391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2" name="Google Shape;1392;p78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3" name="Google Shape;1393;p78"/>
          <p:cNvSpPr txBox="1"/>
          <p:nvPr/>
        </p:nvSpPr>
        <p:spPr>
          <a:xfrm>
            <a:off x="569701" y="3969809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4" name="Google Shape;1394;p78"/>
          <p:cNvGrpSpPr/>
          <p:nvPr/>
        </p:nvGrpSpPr>
        <p:grpSpPr>
          <a:xfrm>
            <a:off x="435650" y="2733819"/>
            <a:ext cx="1404403" cy="1404403"/>
            <a:chOff x="146832" y="518450"/>
            <a:chExt cx="1320300" cy="1320300"/>
          </a:xfrm>
        </p:grpSpPr>
        <p:sp>
          <p:nvSpPr>
            <p:cNvPr id="1395" name="Google Shape;1395;p78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78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78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8" name="Google Shape;1398;p78"/>
          <p:cNvGrpSpPr/>
          <p:nvPr/>
        </p:nvGrpSpPr>
        <p:grpSpPr>
          <a:xfrm>
            <a:off x="1105475" y="2962750"/>
            <a:ext cx="65100" cy="499203"/>
            <a:chOff x="936300" y="737518"/>
            <a:chExt cx="65100" cy="584752"/>
          </a:xfrm>
        </p:grpSpPr>
        <p:cxnSp>
          <p:nvCxnSpPr>
            <p:cNvPr id="1399" name="Google Shape;1399;p78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0" name="Google Shape;1400;p78"/>
            <p:cNvSpPr/>
            <p:nvPr/>
          </p:nvSpPr>
          <p:spPr>
            <a:xfrm>
              <a:off x="936300" y="1247270"/>
              <a:ext cx="65100" cy="75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1" name="Google Shape;1401;p78"/>
          <p:cNvSpPr txBox="1"/>
          <p:nvPr/>
        </p:nvSpPr>
        <p:spPr>
          <a:xfrm>
            <a:off x="1256992" y="317236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78"/>
          <p:cNvSpPr txBox="1"/>
          <p:nvPr/>
        </p:nvSpPr>
        <p:spPr>
          <a:xfrm flipH="1">
            <a:off x="997623" y="350094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78"/>
          <p:cNvSpPr txBox="1"/>
          <p:nvPr/>
        </p:nvSpPr>
        <p:spPr>
          <a:xfrm flipH="1">
            <a:off x="738248" y="317237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4" name="Google Shape;1404;p78"/>
          <p:cNvGrpSpPr/>
          <p:nvPr/>
        </p:nvGrpSpPr>
        <p:grpSpPr>
          <a:xfrm>
            <a:off x="400210" y="648701"/>
            <a:ext cx="1486626" cy="1838712"/>
            <a:chOff x="324000" y="724875"/>
            <a:chExt cx="1695900" cy="2097550"/>
          </a:xfrm>
        </p:grpSpPr>
        <p:sp>
          <p:nvSpPr>
            <p:cNvPr id="1405" name="Google Shape;1405;p78"/>
            <p:cNvSpPr/>
            <p:nvPr/>
          </p:nvSpPr>
          <p:spPr>
            <a:xfrm>
              <a:off x="324000" y="724875"/>
              <a:ext cx="1695900" cy="16959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78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5387953" name="adj1"/>
                <a:gd fmla="val 10824216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78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5387953" name="adj1"/>
                <a:gd fmla="val 1085822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78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10799941" name="adj1"/>
                <a:gd fmla="val 16225322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78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10825856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78"/>
            <p:cNvSpPr txBox="1"/>
            <p:nvPr/>
          </p:nvSpPr>
          <p:spPr>
            <a:xfrm>
              <a:off x="117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11" name="Google Shape;1411;p78"/>
            <p:cNvGrpSpPr/>
            <p:nvPr/>
          </p:nvGrpSpPr>
          <p:grpSpPr>
            <a:xfrm>
              <a:off x="1123309" y="790388"/>
              <a:ext cx="93900" cy="816939"/>
              <a:chOff x="996050" y="213293"/>
              <a:chExt cx="93900" cy="909732"/>
            </a:xfrm>
          </p:grpSpPr>
          <p:cxnSp>
            <p:nvCxnSpPr>
              <p:cNvPr id="1412" name="Google Shape;1412;p78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13" name="Google Shape;1413;p7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4" name="Google Shape;1414;p78"/>
            <p:cNvSpPr txBox="1"/>
            <p:nvPr/>
          </p:nvSpPr>
          <p:spPr>
            <a:xfrm>
              <a:off x="54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5" name="Google Shape;1415;p78"/>
            <p:cNvSpPr txBox="1"/>
            <p:nvPr/>
          </p:nvSpPr>
          <p:spPr>
            <a:xfrm>
              <a:off x="117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6" name="Google Shape;1416;p78"/>
            <p:cNvSpPr txBox="1"/>
            <p:nvPr/>
          </p:nvSpPr>
          <p:spPr>
            <a:xfrm>
              <a:off x="54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7" name="Google Shape;1417;p78"/>
            <p:cNvSpPr txBox="1"/>
            <p:nvPr/>
          </p:nvSpPr>
          <p:spPr>
            <a:xfrm>
              <a:off x="494318" y="2506225"/>
              <a:ext cx="13608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pinner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8" name="Google Shape;1418;p78"/>
          <p:cNvGrpSpPr/>
          <p:nvPr/>
        </p:nvGrpSpPr>
        <p:grpSpPr>
          <a:xfrm>
            <a:off x="3608245" y="1679899"/>
            <a:ext cx="1012005" cy="567611"/>
            <a:chOff x="4157715" y="3226775"/>
            <a:chExt cx="1012005" cy="1106455"/>
          </a:xfrm>
        </p:grpSpPr>
        <p:cxnSp>
          <p:nvCxnSpPr>
            <p:cNvPr id="1419" name="Google Shape;1419;p78"/>
            <p:cNvCxnSpPr/>
            <p:nvPr/>
          </p:nvCxnSpPr>
          <p:spPr>
            <a:xfrm flipH="1" rot="10800000">
              <a:off x="4157715" y="3314647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0" name="Google Shape;1420;p78"/>
            <p:cNvSpPr txBox="1"/>
            <p:nvPr/>
          </p:nvSpPr>
          <p:spPr>
            <a:xfrm>
              <a:off x="5007420" y="4153229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1" name="Google Shape;1421;p78"/>
            <p:cNvCxnSpPr/>
            <p:nvPr/>
          </p:nvCxnSpPr>
          <p:spPr>
            <a:xfrm>
              <a:off x="4157715" y="3781483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2" name="Google Shape;1422;p78"/>
            <p:cNvSpPr txBox="1"/>
            <p:nvPr/>
          </p:nvSpPr>
          <p:spPr>
            <a:xfrm>
              <a:off x="5007420" y="3226775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3" name="Google Shape;1423;p78"/>
            <p:cNvCxnSpPr/>
            <p:nvPr/>
          </p:nvCxnSpPr>
          <p:spPr>
            <a:xfrm>
              <a:off x="4158890" y="3776658"/>
              <a:ext cx="826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4" name="Google Shape;1424;p78"/>
            <p:cNvSpPr txBox="1"/>
            <p:nvPr/>
          </p:nvSpPr>
          <p:spPr>
            <a:xfrm>
              <a:off x="5007420" y="369000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5" name="Google Shape;1425;p78"/>
          <p:cNvGrpSpPr/>
          <p:nvPr/>
        </p:nvGrpSpPr>
        <p:grpSpPr>
          <a:xfrm>
            <a:off x="3608245" y="2410562"/>
            <a:ext cx="1012005" cy="1298274"/>
            <a:chOff x="3760645" y="2791562"/>
            <a:chExt cx="1012005" cy="1298274"/>
          </a:xfrm>
        </p:grpSpPr>
        <p:grpSp>
          <p:nvGrpSpPr>
            <p:cNvPr id="1426" name="Google Shape;1426;p78"/>
            <p:cNvGrpSpPr/>
            <p:nvPr/>
          </p:nvGrpSpPr>
          <p:grpSpPr>
            <a:xfrm>
              <a:off x="3760645" y="2791562"/>
              <a:ext cx="1012005" cy="567611"/>
              <a:chOff x="4157715" y="3226775"/>
              <a:chExt cx="1012005" cy="1106455"/>
            </a:xfrm>
          </p:grpSpPr>
          <p:cxnSp>
            <p:nvCxnSpPr>
              <p:cNvPr id="1427" name="Google Shape;1427;p78"/>
              <p:cNvCxnSpPr/>
              <p:nvPr/>
            </p:nvCxnSpPr>
            <p:spPr>
              <a:xfrm flipH="1" rot="10800000">
                <a:off x="4157715" y="3314647"/>
                <a:ext cx="781800" cy="462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8" name="Google Shape;1428;p78"/>
              <p:cNvSpPr txBox="1"/>
              <p:nvPr/>
            </p:nvSpPr>
            <p:spPr>
              <a:xfrm>
                <a:off x="5007420" y="4153229"/>
                <a:ext cx="1623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Z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29" name="Google Shape;1429;p78"/>
              <p:cNvCxnSpPr/>
              <p:nvPr/>
            </p:nvCxnSpPr>
            <p:spPr>
              <a:xfrm>
                <a:off x="4157715" y="3781483"/>
                <a:ext cx="781800" cy="462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0" name="Google Shape;1430;p78"/>
              <p:cNvSpPr txBox="1"/>
              <p:nvPr/>
            </p:nvSpPr>
            <p:spPr>
              <a:xfrm>
                <a:off x="5007420" y="3226775"/>
                <a:ext cx="1623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31" name="Google Shape;1431;p78"/>
              <p:cNvCxnSpPr/>
              <p:nvPr/>
            </p:nvCxnSpPr>
            <p:spPr>
              <a:xfrm>
                <a:off x="4158890" y="3776658"/>
                <a:ext cx="8262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2" name="Google Shape;1432;p78"/>
              <p:cNvSpPr txBox="1"/>
              <p:nvPr/>
            </p:nvSpPr>
            <p:spPr>
              <a:xfrm>
                <a:off x="5007420" y="3690004"/>
                <a:ext cx="1623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33" name="Google Shape;1433;p78"/>
            <p:cNvGrpSpPr/>
            <p:nvPr/>
          </p:nvGrpSpPr>
          <p:grpSpPr>
            <a:xfrm>
              <a:off x="3760645" y="3522226"/>
              <a:ext cx="1012005" cy="567611"/>
              <a:chOff x="4157715" y="3226775"/>
              <a:chExt cx="1012005" cy="1106455"/>
            </a:xfrm>
          </p:grpSpPr>
          <p:cxnSp>
            <p:nvCxnSpPr>
              <p:cNvPr id="1434" name="Google Shape;1434;p78"/>
              <p:cNvCxnSpPr/>
              <p:nvPr/>
            </p:nvCxnSpPr>
            <p:spPr>
              <a:xfrm flipH="1" rot="10800000">
                <a:off x="4157715" y="3314647"/>
                <a:ext cx="781800" cy="462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5" name="Google Shape;1435;p78"/>
              <p:cNvSpPr txBox="1"/>
              <p:nvPr/>
            </p:nvSpPr>
            <p:spPr>
              <a:xfrm>
                <a:off x="5007420" y="4153229"/>
                <a:ext cx="1623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Z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36" name="Google Shape;1436;p78"/>
              <p:cNvCxnSpPr/>
              <p:nvPr/>
            </p:nvCxnSpPr>
            <p:spPr>
              <a:xfrm>
                <a:off x="4157715" y="3781483"/>
                <a:ext cx="781800" cy="462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7" name="Google Shape;1437;p78"/>
              <p:cNvSpPr txBox="1"/>
              <p:nvPr/>
            </p:nvSpPr>
            <p:spPr>
              <a:xfrm>
                <a:off x="5007420" y="3226775"/>
                <a:ext cx="1623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38" name="Google Shape;1438;p78"/>
              <p:cNvCxnSpPr/>
              <p:nvPr/>
            </p:nvCxnSpPr>
            <p:spPr>
              <a:xfrm>
                <a:off x="4158890" y="3776658"/>
                <a:ext cx="8262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9" name="Google Shape;1439;p78"/>
              <p:cNvSpPr txBox="1"/>
              <p:nvPr/>
            </p:nvSpPr>
            <p:spPr>
              <a:xfrm>
                <a:off x="5007420" y="3690004"/>
                <a:ext cx="1623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40" name="Google Shape;1440;p78"/>
          <p:cNvGrpSpPr/>
          <p:nvPr/>
        </p:nvGrpSpPr>
        <p:grpSpPr>
          <a:xfrm>
            <a:off x="3608245" y="3871889"/>
            <a:ext cx="1012005" cy="567611"/>
            <a:chOff x="4157715" y="3226775"/>
            <a:chExt cx="1012005" cy="1106455"/>
          </a:xfrm>
        </p:grpSpPr>
        <p:cxnSp>
          <p:nvCxnSpPr>
            <p:cNvPr id="1441" name="Google Shape;1441;p78"/>
            <p:cNvCxnSpPr/>
            <p:nvPr/>
          </p:nvCxnSpPr>
          <p:spPr>
            <a:xfrm flipH="1" rot="10800000">
              <a:off x="4157715" y="3314647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2" name="Google Shape;1442;p78"/>
            <p:cNvSpPr txBox="1"/>
            <p:nvPr/>
          </p:nvSpPr>
          <p:spPr>
            <a:xfrm>
              <a:off x="5007420" y="4153229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3" name="Google Shape;1443;p78"/>
            <p:cNvCxnSpPr/>
            <p:nvPr/>
          </p:nvCxnSpPr>
          <p:spPr>
            <a:xfrm>
              <a:off x="4157715" y="3781483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4" name="Google Shape;1444;p78"/>
            <p:cNvSpPr txBox="1"/>
            <p:nvPr/>
          </p:nvSpPr>
          <p:spPr>
            <a:xfrm>
              <a:off x="5007420" y="3226775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5" name="Google Shape;1445;p78"/>
            <p:cNvCxnSpPr/>
            <p:nvPr/>
          </p:nvCxnSpPr>
          <p:spPr>
            <a:xfrm>
              <a:off x="4158890" y="3776658"/>
              <a:ext cx="826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6" name="Google Shape;1446;p78"/>
            <p:cNvSpPr txBox="1"/>
            <p:nvPr/>
          </p:nvSpPr>
          <p:spPr>
            <a:xfrm>
              <a:off x="5007420" y="369000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7" name="Google Shape;1447;p78"/>
          <p:cNvGrpSpPr/>
          <p:nvPr/>
        </p:nvGrpSpPr>
        <p:grpSpPr>
          <a:xfrm>
            <a:off x="2560495" y="2678565"/>
            <a:ext cx="1012005" cy="761905"/>
            <a:chOff x="4157715" y="3226775"/>
            <a:chExt cx="1012005" cy="1106455"/>
          </a:xfrm>
        </p:grpSpPr>
        <p:cxnSp>
          <p:nvCxnSpPr>
            <p:cNvPr id="1448" name="Google Shape;1448;p78"/>
            <p:cNvCxnSpPr/>
            <p:nvPr/>
          </p:nvCxnSpPr>
          <p:spPr>
            <a:xfrm flipH="1" rot="10800000">
              <a:off x="4157715" y="3314647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9" name="Google Shape;1449;p78"/>
            <p:cNvSpPr txBox="1"/>
            <p:nvPr/>
          </p:nvSpPr>
          <p:spPr>
            <a:xfrm>
              <a:off x="5007420" y="4153229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0" name="Google Shape;1450;p78"/>
            <p:cNvCxnSpPr/>
            <p:nvPr/>
          </p:nvCxnSpPr>
          <p:spPr>
            <a:xfrm>
              <a:off x="4157715" y="3781483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1" name="Google Shape;1451;p78"/>
            <p:cNvSpPr txBox="1"/>
            <p:nvPr/>
          </p:nvSpPr>
          <p:spPr>
            <a:xfrm>
              <a:off x="5007420" y="3226775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2" name="Google Shape;1452;p78"/>
          <p:cNvGrpSpPr/>
          <p:nvPr/>
        </p:nvGrpSpPr>
        <p:grpSpPr>
          <a:xfrm>
            <a:off x="2569070" y="1737314"/>
            <a:ext cx="1012005" cy="2644205"/>
            <a:chOff x="4157715" y="3226775"/>
            <a:chExt cx="1012005" cy="1106455"/>
          </a:xfrm>
        </p:grpSpPr>
        <p:cxnSp>
          <p:nvCxnSpPr>
            <p:cNvPr id="1453" name="Google Shape;1453;p78"/>
            <p:cNvCxnSpPr/>
            <p:nvPr/>
          </p:nvCxnSpPr>
          <p:spPr>
            <a:xfrm flipH="1" rot="10800000">
              <a:off x="4157715" y="3314647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4" name="Google Shape;1454;p78"/>
            <p:cNvSpPr txBox="1"/>
            <p:nvPr/>
          </p:nvSpPr>
          <p:spPr>
            <a:xfrm>
              <a:off x="5007420" y="4153229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5" name="Google Shape;1455;p78"/>
            <p:cNvCxnSpPr/>
            <p:nvPr/>
          </p:nvCxnSpPr>
          <p:spPr>
            <a:xfrm>
              <a:off x="4157715" y="3781483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6" name="Google Shape;1456;p78"/>
            <p:cNvSpPr txBox="1"/>
            <p:nvPr/>
          </p:nvSpPr>
          <p:spPr>
            <a:xfrm>
              <a:off x="5007420" y="3226775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457" name="Google Shape;1457;p78"/>
          <p:cNvGraphicFramePr/>
          <p:nvPr/>
        </p:nvGraphicFramePr>
        <p:xfrm>
          <a:off x="5585100" y="245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535950"/>
                <a:gridCol w="535950"/>
                <a:gridCol w="535950"/>
                <a:gridCol w="535950"/>
              </a:tblGrid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79"/>
          <p:cNvSpPr txBox="1"/>
          <p:nvPr/>
        </p:nvSpPr>
        <p:spPr>
          <a:xfrm>
            <a:off x="324000" y="655586"/>
            <a:ext cx="8496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4-sided dice has the integers 1 to 4.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spinner has outcomes: {3, 3, 3, 4, 4}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the dice is rolled once and the spinner is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464" name="Google Shape;1464;p79"/>
          <p:cNvSpPr txBox="1"/>
          <p:nvPr/>
        </p:nvSpPr>
        <p:spPr>
          <a:xfrm>
            <a:off x="712625" y="4237200"/>
            <a:ext cx="810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sensible reasons for choosing one diagram over the other.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65" name="Google Shape;1465;p79"/>
          <p:cNvGrpSpPr/>
          <p:nvPr/>
        </p:nvGrpSpPr>
        <p:grpSpPr>
          <a:xfrm>
            <a:off x="712633" y="2901450"/>
            <a:ext cx="396000" cy="893575"/>
            <a:chOff x="712633" y="2596650"/>
            <a:chExt cx="396000" cy="893575"/>
          </a:xfrm>
        </p:grpSpPr>
        <p:pic>
          <p:nvPicPr>
            <p:cNvPr id="1466" name="Google Shape;1466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633" y="259665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633" y="3071125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8" name="Google Shape;1468;p79"/>
          <p:cNvGrpSpPr/>
          <p:nvPr/>
        </p:nvGrpSpPr>
        <p:grpSpPr>
          <a:xfrm>
            <a:off x="324000" y="2080111"/>
            <a:ext cx="8496000" cy="1920864"/>
            <a:chOff x="324000" y="2080111"/>
            <a:chExt cx="8496000" cy="1920864"/>
          </a:xfrm>
        </p:grpSpPr>
        <p:sp>
          <p:nvSpPr>
            <p:cNvPr id="1469" name="Google Shape;1469;p79"/>
            <p:cNvSpPr txBox="1"/>
            <p:nvPr/>
          </p:nvSpPr>
          <p:spPr>
            <a:xfrm>
              <a:off x="1499050" y="3446875"/>
              <a:ext cx="7320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Probability tree, because there are lots of repeated outcomes on the spinner.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79"/>
            <p:cNvSpPr txBox="1"/>
            <p:nvPr/>
          </p:nvSpPr>
          <p:spPr>
            <a:xfrm>
              <a:off x="1499050" y="2972400"/>
              <a:ext cx="7320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Outcome table, because there are 4 unique outcomes on the dice.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71" name="Google Shape;1471;p79"/>
            <p:cNvGrpSpPr/>
            <p:nvPr/>
          </p:nvGrpSpPr>
          <p:grpSpPr>
            <a:xfrm>
              <a:off x="1108631" y="2971615"/>
              <a:ext cx="278755" cy="278755"/>
              <a:chOff x="1020916" y="1442088"/>
              <a:chExt cx="457200" cy="457200"/>
            </a:xfrm>
          </p:grpSpPr>
          <p:pic>
            <p:nvPicPr>
              <p:cNvPr id="1472" name="Google Shape;1472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3" name="Google Shape;1473;p79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74" name="Google Shape;1474;p79"/>
            <p:cNvGrpSpPr/>
            <p:nvPr/>
          </p:nvGrpSpPr>
          <p:grpSpPr>
            <a:xfrm>
              <a:off x="1108631" y="3446090"/>
              <a:ext cx="278755" cy="278755"/>
              <a:chOff x="1020916" y="1442088"/>
              <a:chExt cx="457200" cy="457200"/>
            </a:xfrm>
          </p:grpSpPr>
          <p:pic>
            <p:nvPicPr>
              <p:cNvPr id="1475" name="Google Shape;1475;p7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6" name="Google Shape;1476;p79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77" name="Google Shape;1477;p79"/>
            <p:cNvSpPr txBox="1"/>
            <p:nvPr/>
          </p:nvSpPr>
          <p:spPr>
            <a:xfrm>
              <a:off x="324000" y="2080111"/>
              <a:ext cx="8496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Which of these statements are suitable reasons for choosing to show this trial as either an outcome table or probability tree?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80"/>
          <p:cNvSpPr txBox="1"/>
          <p:nvPr/>
        </p:nvSpPr>
        <p:spPr>
          <a:xfrm>
            <a:off x="2138850" y="775725"/>
            <a:ext cx="6681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Trial: this spinner is spun twice, with the outcomes of each spin multiplied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the outcome table and probability tree for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grpSp>
        <p:nvGrpSpPr>
          <p:cNvPr id="1484" name="Google Shape;1484;p80"/>
          <p:cNvGrpSpPr/>
          <p:nvPr/>
        </p:nvGrpSpPr>
        <p:grpSpPr>
          <a:xfrm>
            <a:off x="323995" y="405502"/>
            <a:ext cx="1814842" cy="1848646"/>
            <a:chOff x="698170" y="423326"/>
            <a:chExt cx="1814842" cy="1848646"/>
          </a:xfrm>
        </p:grpSpPr>
        <p:sp>
          <p:nvSpPr>
            <p:cNvPr id="1485" name="Google Shape;1485;p80"/>
            <p:cNvSpPr/>
            <p:nvPr/>
          </p:nvSpPr>
          <p:spPr>
            <a:xfrm rot="10800000">
              <a:off x="941822" y="666567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80"/>
            <p:cNvSpPr/>
            <p:nvPr/>
          </p:nvSpPr>
          <p:spPr>
            <a:xfrm rot="-7200295">
              <a:off x="941712" y="666425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80"/>
            <p:cNvSpPr/>
            <p:nvPr/>
          </p:nvSpPr>
          <p:spPr>
            <a:xfrm rot="-3599705">
              <a:off x="941269" y="666490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80"/>
            <p:cNvSpPr/>
            <p:nvPr/>
          </p:nvSpPr>
          <p:spPr>
            <a:xfrm>
              <a:off x="941229" y="666482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80"/>
            <p:cNvSpPr/>
            <p:nvPr/>
          </p:nvSpPr>
          <p:spPr>
            <a:xfrm flipH="1">
              <a:off x="941656" y="666644"/>
              <a:ext cx="1328100" cy="1328100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80"/>
            <p:cNvSpPr txBox="1"/>
            <p:nvPr/>
          </p:nvSpPr>
          <p:spPr>
            <a:xfrm>
              <a:off x="1037632" y="1994771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1" name="Google Shape;1491;p80"/>
            <p:cNvSpPr/>
            <p:nvPr/>
          </p:nvSpPr>
          <p:spPr>
            <a:xfrm flipH="1" rot="3599705">
              <a:off x="941289" y="666652"/>
              <a:ext cx="1328202" cy="1328202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80"/>
            <p:cNvSpPr txBox="1"/>
            <p:nvPr/>
          </p:nvSpPr>
          <p:spPr>
            <a:xfrm flipH="1">
              <a:off x="1669842" y="868796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80"/>
            <p:cNvSpPr txBox="1"/>
            <p:nvPr/>
          </p:nvSpPr>
          <p:spPr>
            <a:xfrm flipH="1">
              <a:off x="1842542" y="1207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80"/>
            <p:cNvSpPr txBox="1"/>
            <p:nvPr/>
          </p:nvSpPr>
          <p:spPr>
            <a:xfrm flipH="1">
              <a:off x="1209637" y="868773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5" name="Google Shape;1495;p80"/>
            <p:cNvSpPr txBox="1"/>
            <p:nvPr/>
          </p:nvSpPr>
          <p:spPr>
            <a:xfrm flipH="1">
              <a:off x="1669842" y="16012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6" name="Google Shape;1496;p80"/>
            <p:cNvSpPr txBox="1"/>
            <p:nvPr/>
          </p:nvSpPr>
          <p:spPr>
            <a:xfrm flipH="1">
              <a:off x="1209637" y="1601185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80"/>
            <p:cNvSpPr txBox="1"/>
            <p:nvPr/>
          </p:nvSpPr>
          <p:spPr>
            <a:xfrm flipH="1">
              <a:off x="1036942" y="1207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98" name="Google Shape;1498;p80"/>
            <p:cNvGrpSpPr/>
            <p:nvPr/>
          </p:nvGrpSpPr>
          <p:grpSpPr>
            <a:xfrm>
              <a:off x="1578331" y="881495"/>
              <a:ext cx="54300" cy="473780"/>
              <a:chOff x="779080" y="747789"/>
              <a:chExt cx="54300" cy="473780"/>
            </a:xfrm>
          </p:grpSpPr>
          <p:cxnSp>
            <p:nvCxnSpPr>
              <p:cNvPr id="1499" name="Google Shape;1499;p80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00" name="Google Shape;1500;p80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501" name="Google Shape;1501;p80"/>
          <p:cNvGraphicFramePr/>
          <p:nvPr/>
        </p:nvGraphicFramePr>
        <p:xfrm>
          <a:off x="6315925" y="20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353200"/>
                <a:gridCol w="353200"/>
                <a:gridCol w="353200"/>
                <a:gridCol w="353200"/>
                <a:gridCol w="353200"/>
                <a:gridCol w="353200"/>
                <a:gridCol w="353200"/>
              </a:tblGrid>
              <a:tr h="318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02" name="Google Shape;1502;p80"/>
          <p:cNvGrpSpPr/>
          <p:nvPr/>
        </p:nvGrpSpPr>
        <p:grpSpPr>
          <a:xfrm>
            <a:off x="2894065" y="2426753"/>
            <a:ext cx="2183861" cy="2173510"/>
            <a:chOff x="1522484" y="2300322"/>
            <a:chExt cx="2183861" cy="2435852"/>
          </a:xfrm>
        </p:grpSpPr>
        <p:cxnSp>
          <p:nvCxnSpPr>
            <p:cNvPr id="1503" name="Google Shape;1503;p80"/>
            <p:cNvCxnSpPr/>
            <p:nvPr/>
          </p:nvCxnSpPr>
          <p:spPr>
            <a:xfrm flipH="1" rot="10800000">
              <a:off x="1522484" y="2765881"/>
              <a:ext cx="7818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4" name="Google Shape;1504;p80"/>
            <p:cNvCxnSpPr/>
            <p:nvPr/>
          </p:nvCxnSpPr>
          <p:spPr>
            <a:xfrm flipH="1" rot="10800000">
              <a:off x="2694340" y="2300322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5" name="Google Shape;1505;p80"/>
            <p:cNvSpPr txBox="1"/>
            <p:nvPr/>
          </p:nvSpPr>
          <p:spPr>
            <a:xfrm>
              <a:off x="2413449" y="2629094"/>
              <a:ext cx="16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6" name="Google Shape;1506;p80"/>
            <p:cNvCxnSpPr/>
            <p:nvPr/>
          </p:nvCxnSpPr>
          <p:spPr>
            <a:xfrm>
              <a:off x="1522484" y="3485231"/>
              <a:ext cx="7818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7" name="Google Shape;1507;p80"/>
            <p:cNvCxnSpPr/>
            <p:nvPr/>
          </p:nvCxnSpPr>
          <p:spPr>
            <a:xfrm>
              <a:off x="2694340" y="2767158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8" name="Google Shape;1508;p80"/>
            <p:cNvCxnSpPr/>
            <p:nvPr/>
          </p:nvCxnSpPr>
          <p:spPr>
            <a:xfrm>
              <a:off x="2694340" y="4190283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9" name="Google Shape;1509;p80"/>
            <p:cNvCxnSpPr/>
            <p:nvPr/>
          </p:nvCxnSpPr>
          <p:spPr>
            <a:xfrm flipH="1" rot="10800000">
              <a:off x="2694340" y="3723447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0" name="Google Shape;1510;p80"/>
            <p:cNvSpPr txBox="1"/>
            <p:nvPr/>
          </p:nvSpPr>
          <p:spPr>
            <a:xfrm>
              <a:off x="3544045" y="455617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511" name="Google Shape;1511;p80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397" y="3468151"/>
            <a:ext cx="133056" cy="42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80"/>
          <p:cNvSpPr txBox="1"/>
          <p:nvPr/>
        </p:nvSpPr>
        <p:spPr>
          <a:xfrm>
            <a:off x="351500" y="2421800"/>
            <a:ext cx="2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Circle the probabilities and outcomes for the event “even number”.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Find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P(multiple of 7)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0"/>
          <p:cNvSpPr/>
          <p:nvPr/>
        </p:nvSpPr>
        <p:spPr>
          <a:xfrm>
            <a:off x="5147377" y="2154000"/>
            <a:ext cx="838500" cy="2666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4" name="Google Shape;1514;p80"/>
          <p:cNvCxnSpPr>
            <a:stCxn id="1513" idx="0"/>
          </p:cNvCxnSpPr>
          <p:nvPr/>
        </p:nvCxnSpPr>
        <p:spPr>
          <a:xfrm>
            <a:off x="5566627" y="2154000"/>
            <a:ext cx="0" cy="2666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9" name="Google Shape;1519;p81"/>
          <p:cNvGraphicFramePr/>
          <p:nvPr/>
        </p:nvGraphicFramePr>
        <p:xfrm>
          <a:off x="436325" y="121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382850"/>
                <a:gridCol w="305250"/>
                <a:gridCol w="373150"/>
                <a:gridCol w="373150"/>
                <a:gridCol w="373150"/>
                <a:gridCol w="373150"/>
                <a:gridCol w="373150"/>
                <a:gridCol w="373150"/>
                <a:gridCol w="373150"/>
                <a:gridCol w="373150"/>
              </a:tblGrid>
              <a:tr h="212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spinner 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53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697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0" name="Google Shape;1520;p81"/>
          <p:cNvSpPr txBox="1"/>
          <p:nvPr/>
        </p:nvSpPr>
        <p:spPr>
          <a:xfrm>
            <a:off x="324000" y="606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Trial: spinner A and B will be spun once each. The outcomes are added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grpSp>
        <p:nvGrpSpPr>
          <p:cNvPr id="1522" name="Google Shape;1522;p81"/>
          <p:cNvGrpSpPr/>
          <p:nvPr/>
        </p:nvGrpSpPr>
        <p:grpSpPr>
          <a:xfrm>
            <a:off x="5176694" y="1041329"/>
            <a:ext cx="2127785" cy="3622121"/>
            <a:chOff x="5786294" y="1041329"/>
            <a:chExt cx="2127785" cy="3622121"/>
          </a:xfrm>
        </p:grpSpPr>
        <p:grpSp>
          <p:nvGrpSpPr>
            <p:cNvPr id="1523" name="Google Shape;1523;p81"/>
            <p:cNvGrpSpPr/>
            <p:nvPr/>
          </p:nvGrpSpPr>
          <p:grpSpPr>
            <a:xfrm>
              <a:off x="6902078" y="3671566"/>
              <a:ext cx="1012001" cy="991883"/>
              <a:chOff x="6260525" y="3188827"/>
              <a:chExt cx="1012001" cy="1583466"/>
            </a:xfrm>
          </p:grpSpPr>
          <p:cxnSp>
            <p:nvCxnSpPr>
              <p:cNvPr id="1524" name="Google Shape;1524;p81"/>
              <p:cNvCxnSpPr/>
              <p:nvPr/>
            </p:nvCxnSpPr>
            <p:spPr>
              <a:xfrm>
                <a:off x="6260525" y="3991000"/>
                <a:ext cx="781800" cy="66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5" name="Google Shape;1525;p81"/>
              <p:cNvCxnSpPr/>
              <p:nvPr/>
            </p:nvCxnSpPr>
            <p:spPr>
              <a:xfrm flipH="1" rot="10800000">
                <a:off x="6260525" y="3322880"/>
                <a:ext cx="781800" cy="66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26" name="Google Shape;1526;p81"/>
              <p:cNvSpPr txBox="1"/>
              <p:nvPr/>
            </p:nvSpPr>
            <p:spPr>
              <a:xfrm>
                <a:off x="7110226" y="4514593"/>
                <a:ext cx="1623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7" name="Google Shape;1527;p81"/>
              <p:cNvSpPr txBox="1"/>
              <p:nvPr/>
            </p:nvSpPr>
            <p:spPr>
              <a:xfrm>
                <a:off x="7110226" y="3188827"/>
                <a:ext cx="1623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28" name="Google Shape;1528;p81"/>
            <p:cNvGrpSpPr/>
            <p:nvPr/>
          </p:nvGrpSpPr>
          <p:grpSpPr>
            <a:xfrm>
              <a:off x="5786294" y="1324554"/>
              <a:ext cx="1053264" cy="3055683"/>
              <a:chOff x="5469675" y="1359484"/>
              <a:chExt cx="1053264" cy="2890081"/>
            </a:xfrm>
          </p:grpSpPr>
          <p:cxnSp>
            <p:nvCxnSpPr>
              <p:cNvPr id="1529" name="Google Shape;1529;p81"/>
              <p:cNvCxnSpPr/>
              <p:nvPr/>
            </p:nvCxnSpPr>
            <p:spPr>
              <a:xfrm flipH="1" rot="10800000">
                <a:off x="5469675" y="1590918"/>
                <a:ext cx="781800" cy="120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30" name="Google Shape;1530;p81"/>
              <p:cNvSpPr txBox="1"/>
              <p:nvPr/>
            </p:nvSpPr>
            <p:spPr>
              <a:xfrm>
                <a:off x="6360639" y="1359484"/>
                <a:ext cx="1623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31" name="Google Shape;1531;p81"/>
              <p:cNvSpPr txBox="1"/>
              <p:nvPr/>
            </p:nvSpPr>
            <p:spPr>
              <a:xfrm>
                <a:off x="6360639" y="3780065"/>
                <a:ext cx="1623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32" name="Google Shape;1532;p81"/>
              <p:cNvCxnSpPr/>
              <p:nvPr/>
            </p:nvCxnSpPr>
            <p:spPr>
              <a:xfrm>
                <a:off x="5469675" y="2809839"/>
                <a:ext cx="781800" cy="120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3" name="Google Shape;1533;p81"/>
              <p:cNvCxnSpPr/>
              <p:nvPr/>
            </p:nvCxnSpPr>
            <p:spPr>
              <a:xfrm>
                <a:off x="5469675" y="2809839"/>
                <a:ext cx="789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34" name="Google Shape;1534;p81"/>
              <p:cNvSpPr txBox="1"/>
              <p:nvPr/>
            </p:nvSpPr>
            <p:spPr>
              <a:xfrm>
                <a:off x="6360639" y="2569781"/>
                <a:ext cx="1623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35" name="Google Shape;1535;p81"/>
            <p:cNvGrpSpPr/>
            <p:nvPr/>
          </p:nvGrpSpPr>
          <p:grpSpPr>
            <a:xfrm>
              <a:off x="6902078" y="2356454"/>
              <a:ext cx="1012001" cy="991883"/>
              <a:chOff x="6260525" y="3188827"/>
              <a:chExt cx="1012001" cy="1583466"/>
            </a:xfrm>
          </p:grpSpPr>
          <p:cxnSp>
            <p:nvCxnSpPr>
              <p:cNvPr id="1536" name="Google Shape;1536;p81"/>
              <p:cNvCxnSpPr/>
              <p:nvPr/>
            </p:nvCxnSpPr>
            <p:spPr>
              <a:xfrm>
                <a:off x="6260525" y="3991000"/>
                <a:ext cx="781800" cy="66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7" name="Google Shape;1537;p81"/>
              <p:cNvCxnSpPr/>
              <p:nvPr/>
            </p:nvCxnSpPr>
            <p:spPr>
              <a:xfrm flipH="1" rot="10800000">
                <a:off x="6260525" y="3322880"/>
                <a:ext cx="781800" cy="66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38" name="Google Shape;1538;p81"/>
              <p:cNvSpPr txBox="1"/>
              <p:nvPr/>
            </p:nvSpPr>
            <p:spPr>
              <a:xfrm>
                <a:off x="7110226" y="4514593"/>
                <a:ext cx="1623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39" name="Google Shape;1539;p81"/>
              <p:cNvSpPr txBox="1"/>
              <p:nvPr/>
            </p:nvSpPr>
            <p:spPr>
              <a:xfrm>
                <a:off x="7110226" y="3188827"/>
                <a:ext cx="1623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40" name="Google Shape;1540;p81"/>
            <p:cNvGrpSpPr/>
            <p:nvPr/>
          </p:nvGrpSpPr>
          <p:grpSpPr>
            <a:xfrm>
              <a:off x="6902078" y="1041329"/>
              <a:ext cx="1012001" cy="991883"/>
              <a:chOff x="6260525" y="3188827"/>
              <a:chExt cx="1012001" cy="1583466"/>
            </a:xfrm>
          </p:grpSpPr>
          <p:cxnSp>
            <p:nvCxnSpPr>
              <p:cNvPr id="1541" name="Google Shape;1541;p81"/>
              <p:cNvCxnSpPr/>
              <p:nvPr/>
            </p:nvCxnSpPr>
            <p:spPr>
              <a:xfrm>
                <a:off x="6260525" y="3991000"/>
                <a:ext cx="781800" cy="66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81"/>
              <p:cNvCxnSpPr/>
              <p:nvPr/>
            </p:nvCxnSpPr>
            <p:spPr>
              <a:xfrm flipH="1" rot="10800000">
                <a:off x="6260525" y="3322880"/>
                <a:ext cx="781800" cy="66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43" name="Google Shape;1543;p81"/>
              <p:cNvSpPr txBox="1"/>
              <p:nvPr/>
            </p:nvSpPr>
            <p:spPr>
              <a:xfrm>
                <a:off x="7110226" y="4514593"/>
                <a:ext cx="1623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44" name="Google Shape;1544;p81"/>
              <p:cNvSpPr txBox="1"/>
              <p:nvPr/>
            </p:nvSpPr>
            <p:spPr>
              <a:xfrm>
                <a:off x="7110226" y="3188827"/>
                <a:ext cx="1623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45" name="Google Shape;1545;p81"/>
          <p:cNvSpPr txBox="1"/>
          <p:nvPr/>
        </p:nvSpPr>
        <p:spPr>
          <a:xfrm>
            <a:off x="436325" y="3981700"/>
            <a:ext cx="29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Find P(6 or 8) using the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81"/>
          <p:cNvSpPr txBox="1"/>
          <p:nvPr/>
        </p:nvSpPr>
        <p:spPr>
          <a:xfrm>
            <a:off x="436325" y="3368300"/>
            <a:ext cx="45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How many prime outcomes are there?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81"/>
          <p:cNvSpPr txBox="1"/>
          <p:nvPr/>
        </p:nvSpPr>
        <p:spPr>
          <a:xfrm>
            <a:off x="436325" y="2706600"/>
            <a:ext cx="4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Use the outcome table to complete the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81"/>
          <p:cNvSpPr txBox="1"/>
          <p:nvPr/>
        </p:nvSpPr>
        <p:spPr>
          <a:xfrm rot="-5400000">
            <a:off x="168400" y="1998200"/>
            <a:ext cx="930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82"/>
          <p:cNvSpPr/>
          <p:nvPr/>
        </p:nvSpPr>
        <p:spPr>
          <a:xfrm rot="5400000">
            <a:off x="7758726" y="2655275"/>
            <a:ext cx="1352700" cy="706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82"/>
          <p:cNvSpPr/>
          <p:nvPr/>
        </p:nvSpPr>
        <p:spPr>
          <a:xfrm>
            <a:off x="6669125" y="2332175"/>
            <a:ext cx="1412700" cy="135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82"/>
          <p:cNvSpPr/>
          <p:nvPr/>
        </p:nvSpPr>
        <p:spPr>
          <a:xfrm>
            <a:off x="6669114" y="3684875"/>
            <a:ext cx="1412700" cy="67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82"/>
          <p:cNvSpPr txBox="1"/>
          <p:nvPr/>
        </p:nvSpPr>
        <p:spPr>
          <a:xfrm>
            <a:off x="2138850" y="775725"/>
            <a:ext cx="6681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Trial: this spinner is spun twice, with the outcomes of each spin multiplied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the outcome table and probability tree for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grpSp>
        <p:nvGrpSpPr>
          <p:cNvPr id="1558" name="Google Shape;1558;p82"/>
          <p:cNvGrpSpPr/>
          <p:nvPr/>
        </p:nvGrpSpPr>
        <p:grpSpPr>
          <a:xfrm>
            <a:off x="323995" y="405502"/>
            <a:ext cx="1814842" cy="1848646"/>
            <a:chOff x="698170" y="423326"/>
            <a:chExt cx="1814842" cy="1848646"/>
          </a:xfrm>
        </p:grpSpPr>
        <p:sp>
          <p:nvSpPr>
            <p:cNvPr id="1559" name="Google Shape;1559;p82"/>
            <p:cNvSpPr/>
            <p:nvPr/>
          </p:nvSpPr>
          <p:spPr>
            <a:xfrm rot="10800000">
              <a:off x="941822" y="666567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82"/>
            <p:cNvSpPr/>
            <p:nvPr/>
          </p:nvSpPr>
          <p:spPr>
            <a:xfrm rot="-7200295">
              <a:off x="941712" y="666425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82"/>
            <p:cNvSpPr/>
            <p:nvPr/>
          </p:nvSpPr>
          <p:spPr>
            <a:xfrm rot="-3599705">
              <a:off x="941269" y="666490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82"/>
            <p:cNvSpPr/>
            <p:nvPr/>
          </p:nvSpPr>
          <p:spPr>
            <a:xfrm>
              <a:off x="941229" y="666482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82"/>
            <p:cNvSpPr/>
            <p:nvPr/>
          </p:nvSpPr>
          <p:spPr>
            <a:xfrm flipH="1">
              <a:off x="941656" y="666644"/>
              <a:ext cx="1328100" cy="1328100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82"/>
            <p:cNvSpPr txBox="1"/>
            <p:nvPr/>
          </p:nvSpPr>
          <p:spPr>
            <a:xfrm>
              <a:off x="1037632" y="1994771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82"/>
            <p:cNvSpPr/>
            <p:nvPr/>
          </p:nvSpPr>
          <p:spPr>
            <a:xfrm flipH="1" rot="3599705">
              <a:off x="941289" y="666652"/>
              <a:ext cx="1328202" cy="1328202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82"/>
            <p:cNvSpPr txBox="1"/>
            <p:nvPr/>
          </p:nvSpPr>
          <p:spPr>
            <a:xfrm flipH="1">
              <a:off x="1669842" y="868796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2"/>
            <p:cNvSpPr txBox="1"/>
            <p:nvPr/>
          </p:nvSpPr>
          <p:spPr>
            <a:xfrm flipH="1">
              <a:off x="1842542" y="1207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82"/>
            <p:cNvSpPr txBox="1"/>
            <p:nvPr/>
          </p:nvSpPr>
          <p:spPr>
            <a:xfrm flipH="1">
              <a:off x="1209637" y="868773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82"/>
            <p:cNvSpPr txBox="1"/>
            <p:nvPr/>
          </p:nvSpPr>
          <p:spPr>
            <a:xfrm flipH="1">
              <a:off x="1669842" y="16012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82"/>
            <p:cNvSpPr txBox="1"/>
            <p:nvPr/>
          </p:nvSpPr>
          <p:spPr>
            <a:xfrm flipH="1">
              <a:off x="1209637" y="1601185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82"/>
            <p:cNvSpPr txBox="1"/>
            <p:nvPr/>
          </p:nvSpPr>
          <p:spPr>
            <a:xfrm flipH="1">
              <a:off x="1036942" y="1207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72" name="Google Shape;1572;p82"/>
            <p:cNvGrpSpPr/>
            <p:nvPr/>
          </p:nvGrpSpPr>
          <p:grpSpPr>
            <a:xfrm>
              <a:off x="1578331" y="881495"/>
              <a:ext cx="54300" cy="473780"/>
              <a:chOff x="779080" y="747789"/>
              <a:chExt cx="54300" cy="473780"/>
            </a:xfrm>
          </p:grpSpPr>
          <p:cxnSp>
            <p:nvCxnSpPr>
              <p:cNvPr id="1573" name="Google Shape;1573;p82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74" name="Google Shape;1574;p82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575" name="Google Shape;1575;p82"/>
          <p:cNvGraphicFramePr/>
          <p:nvPr/>
        </p:nvGraphicFramePr>
        <p:xfrm>
          <a:off x="6315925" y="20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353200"/>
                <a:gridCol w="353200"/>
                <a:gridCol w="353200"/>
                <a:gridCol w="353200"/>
                <a:gridCol w="353200"/>
                <a:gridCol w="353200"/>
                <a:gridCol w="353200"/>
              </a:tblGrid>
              <a:tr h="318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76" name="Google Shape;1576;p82"/>
          <p:cNvGrpSpPr/>
          <p:nvPr/>
        </p:nvGrpSpPr>
        <p:grpSpPr>
          <a:xfrm>
            <a:off x="2894065" y="2348345"/>
            <a:ext cx="2183861" cy="2251919"/>
            <a:chOff x="1522484" y="2212450"/>
            <a:chExt cx="2183861" cy="2523724"/>
          </a:xfrm>
        </p:grpSpPr>
        <p:cxnSp>
          <p:nvCxnSpPr>
            <p:cNvPr id="1577" name="Google Shape;1577;p82"/>
            <p:cNvCxnSpPr/>
            <p:nvPr/>
          </p:nvCxnSpPr>
          <p:spPr>
            <a:xfrm flipH="1" rot="10800000">
              <a:off x="1522484" y="2765881"/>
              <a:ext cx="7818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8" name="Google Shape;1578;p82"/>
            <p:cNvCxnSpPr/>
            <p:nvPr/>
          </p:nvCxnSpPr>
          <p:spPr>
            <a:xfrm flipH="1" rot="10800000">
              <a:off x="2694340" y="2300322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9" name="Google Shape;1579;p82"/>
            <p:cNvSpPr txBox="1"/>
            <p:nvPr/>
          </p:nvSpPr>
          <p:spPr>
            <a:xfrm>
              <a:off x="2413449" y="2629094"/>
              <a:ext cx="16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82"/>
            <p:cNvSpPr txBox="1"/>
            <p:nvPr/>
          </p:nvSpPr>
          <p:spPr>
            <a:xfrm>
              <a:off x="2413449" y="4057951"/>
              <a:ext cx="16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1" name="Google Shape;1581;p82"/>
            <p:cNvCxnSpPr/>
            <p:nvPr/>
          </p:nvCxnSpPr>
          <p:spPr>
            <a:xfrm>
              <a:off x="1522484" y="3485231"/>
              <a:ext cx="7818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2" name="Google Shape;1582;p82"/>
            <p:cNvSpPr txBox="1"/>
            <p:nvPr/>
          </p:nvSpPr>
          <p:spPr>
            <a:xfrm>
              <a:off x="3544045" y="313890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3" name="Google Shape;1583;p82"/>
            <p:cNvCxnSpPr/>
            <p:nvPr/>
          </p:nvCxnSpPr>
          <p:spPr>
            <a:xfrm>
              <a:off x="2694340" y="2767158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4" name="Google Shape;1584;p82"/>
            <p:cNvCxnSpPr/>
            <p:nvPr/>
          </p:nvCxnSpPr>
          <p:spPr>
            <a:xfrm>
              <a:off x="2694340" y="4190283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82"/>
            <p:cNvCxnSpPr/>
            <p:nvPr/>
          </p:nvCxnSpPr>
          <p:spPr>
            <a:xfrm flipH="1" rot="10800000">
              <a:off x="2694340" y="3723447"/>
              <a:ext cx="781800" cy="462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6" name="Google Shape;1586;p82"/>
            <p:cNvSpPr txBox="1"/>
            <p:nvPr/>
          </p:nvSpPr>
          <p:spPr>
            <a:xfrm>
              <a:off x="3544045" y="2212450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82"/>
            <p:cNvSpPr txBox="1"/>
            <p:nvPr/>
          </p:nvSpPr>
          <p:spPr>
            <a:xfrm>
              <a:off x="3544045" y="455617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8" name="Google Shape;1588;p82"/>
            <p:cNvSpPr txBox="1"/>
            <p:nvPr/>
          </p:nvSpPr>
          <p:spPr>
            <a:xfrm>
              <a:off x="3544045" y="3629719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4}{6}&quot;&gt;&lt;mfrac&gt;&lt;mn&gt;4&lt;/mn&gt;&lt;mn&gt;6&lt;/mn&gt;&lt;/mfrac&gt;&lt;/math&gt;" id="1589" name="Google Shape;1589;p82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185" y="2715425"/>
            <a:ext cx="133056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590" name="Google Shape;1590;p82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7397" y="3468151"/>
            <a:ext cx="133056" cy="428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6}&quot;&gt;&lt;mfrac&gt;&lt;mn&gt;4&lt;/mn&gt;&lt;mn&gt;6&lt;/mn&gt;&lt;/mfrac&gt;&lt;/math&gt;" id="1591" name="Google Shape;1591;p82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935" y="2155169"/>
            <a:ext cx="133056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592" name="Google Shape;1592;p82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147" y="2709301"/>
            <a:ext cx="133056" cy="428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6}&quot;&gt;&lt;mfrac&gt;&lt;mn&gt;4&lt;/mn&gt;&lt;mn&gt;6&lt;/mn&gt;&lt;/mfrac&gt;&lt;/math&gt;" id="1593" name="Google Shape;1593;p82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935" y="3427394"/>
            <a:ext cx="133056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1594" name="Google Shape;1594;p82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147" y="3981526"/>
            <a:ext cx="133056" cy="42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82"/>
          <p:cNvSpPr txBox="1"/>
          <p:nvPr/>
        </p:nvSpPr>
        <p:spPr>
          <a:xfrm>
            <a:off x="351500" y="2421800"/>
            <a:ext cx="2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Circle the probabilities and outcomes for the event “even number”.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Find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P(multiple of 7)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82"/>
          <p:cNvSpPr/>
          <p:nvPr/>
        </p:nvSpPr>
        <p:spPr>
          <a:xfrm>
            <a:off x="6669125" y="2332175"/>
            <a:ext cx="1412700" cy="135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82"/>
          <p:cNvSpPr/>
          <p:nvPr/>
        </p:nvSpPr>
        <p:spPr>
          <a:xfrm>
            <a:off x="6669114" y="3684875"/>
            <a:ext cx="1412700" cy="67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82"/>
          <p:cNvSpPr/>
          <p:nvPr/>
        </p:nvSpPr>
        <p:spPr>
          <a:xfrm rot="5400000">
            <a:off x="7758726" y="2655275"/>
            <a:ext cx="1352700" cy="70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0}{36}&quot;&gt;&lt;mfrac&gt;&lt;mn&gt;20&lt;/mn&gt;&lt;mn&gt;36&lt;/mn&gt;&lt;/mfrac&gt;&lt;/math&gt;" id="1599" name="Google Shape;1599;p82" title="20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0075" y="3981513"/>
            <a:ext cx="261498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82"/>
          <p:cNvSpPr/>
          <p:nvPr/>
        </p:nvSpPr>
        <p:spPr>
          <a:xfrm>
            <a:off x="5153075" y="2154000"/>
            <a:ext cx="838500" cy="187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82"/>
          <p:cNvSpPr/>
          <p:nvPr/>
        </p:nvSpPr>
        <p:spPr>
          <a:xfrm>
            <a:off x="5147377" y="2154000"/>
            <a:ext cx="838500" cy="26664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36}&quot;&gt;&lt;mfrac&gt;&lt;mn&gt;8&lt;/mn&gt;&lt;mn&gt;36&lt;/mn&gt;&lt;/mfrac&gt;&lt;/math&gt;" id="1602" name="Google Shape;1602;p82" title="8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5534" y="3004229"/>
            <a:ext cx="234432" cy="428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6}&quot;&gt;&lt;mfrac&gt;&lt;mn&gt;4&lt;/mn&gt;&lt;mn&gt;36&lt;/mn&gt;&lt;/mfrac&gt;&lt;/math&gt;" id="1603" name="Google Shape;1603;p82" title="4 over 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72388" y="4303900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36}&quot;&gt;&lt;mfrac&gt;&lt;mn&gt;16&lt;/mn&gt;&lt;mn&gt;36&lt;/mn&gt;&lt;/mfrac&gt;&lt;/math&gt;" id="1604" name="Google Shape;1604;p82" title="16 over 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73984" y="2214188"/>
            <a:ext cx="234432" cy="42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82"/>
          <p:cNvSpPr txBox="1"/>
          <p:nvPr/>
        </p:nvSpPr>
        <p:spPr>
          <a:xfrm>
            <a:off x="5147375" y="3138389"/>
            <a:ext cx="419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82"/>
          <p:cNvSpPr txBox="1"/>
          <p:nvPr/>
        </p:nvSpPr>
        <p:spPr>
          <a:xfrm>
            <a:off x="5147375" y="2348350"/>
            <a:ext cx="419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82"/>
          <p:cNvSpPr txBox="1"/>
          <p:nvPr/>
        </p:nvSpPr>
        <p:spPr>
          <a:xfrm>
            <a:off x="5147375" y="4439650"/>
            <a:ext cx="419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82"/>
          <p:cNvSpPr txBox="1"/>
          <p:nvPr/>
        </p:nvSpPr>
        <p:spPr>
          <a:xfrm>
            <a:off x="5147375" y="3649611"/>
            <a:ext cx="419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36}&quot;&gt;&lt;mfrac&gt;&lt;mn&gt;8&lt;/mn&gt;&lt;mn&gt;36&lt;/mn&gt;&lt;/mfrac&gt;&lt;/math&gt;" id="1609" name="Google Shape;1609;p82" title="8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5534" y="3504785"/>
            <a:ext cx="234432" cy="4288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0" name="Google Shape;1610;p82"/>
          <p:cNvCxnSpPr>
            <a:stCxn id="1601" idx="0"/>
          </p:cNvCxnSpPr>
          <p:nvPr/>
        </p:nvCxnSpPr>
        <p:spPr>
          <a:xfrm>
            <a:off x="5566627" y="2154000"/>
            <a:ext cx="0" cy="2666400"/>
          </a:xfrm>
          <a:prstGeom prst="straightConnector1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82"/>
          <p:cNvSpPr/>
          <p:nvPr/>
        </p:nvSpPr>
        <p:spPr>
          <a:xfrm>
            <a:off x="5153075" y="2154000"/>
            <a:ext cx="838500" cy="187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6" name="Google Shape;1616;p83"/>
          <p:cNvGrpSpPr/>
          <p:nvPr/>
        </p:nvGrpSpPr>
        <p:grpSpPr>
          <a:xfrm>
            <a:off x="1124428" y="1717075"/>
            <a:ext cx="2989813" cy="942925"/>
            <a:chOff x="1124428" y="1717075"/>
            <a:chExt cx="2989813" cy="942925"/>
          </a:xfrm>
        </p:grpSpPr>
        <p:sp>
          <p:nvSpPr>
            <p:cNvPr id="1617" name="Google Shape;1617;p83"/>
            <p:cNvSpPr/>
            <p:nvPr/>
          </p:nvSpPr>
          <p:spPr>
            <a:xfrm>
              <a:off x="1124428" y="1717075"/>
              <a:ext cx="1118400" cy="314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8" name="Google Shape;1618;p83"/>
            <p:cNvSpPr/>
            <p:nvPr/>
          </p:nvSpPr>
          <p:spPr>
            <a:xfrm>
              <a:off x="2243173" y="2027000"/>
              <a:ext cx="747000" cy="633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83"/>
            <p:cNvSpPr/>
            <p:nvPr/>
          </p:nvSpPr>
          <p:spPr>
            <a:xfrm>
              <a:off x="2995840" y="1717075"/>
              <a:ext cx="1118400" cy="314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0" name="Google Shape;1620;p83"/>
          <p:cNvGrpSpPr/>
          <p:nvPr/>
        </p:nvGrpSpPr>
        <p:grpSpPr>
          <a:xfrm>
            <a:off x="7633375" y="871619"/>
            <a:ext cx="838500" cy="3934540"/>
            <a:chOff x="5147377" y="2154000"/>
            <a:chExt cx="838500" cy="2666400"/>
          </a:xfrm>
        </p:grpSpPr>
        <p:sp>
          <p:nvSpPr>
            <p:cNvPr id="1621" name="Google Shape;1621;p83"/>
            <p:cNvSpPr/>
            <p:nvPr/>
          </p:nvSpPr>
          <p:spPr>
            <a:xfrm>
              <a:off x="5147377" y="2154000"/>
              <a:ext cx="838500" cy="26664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22" name="Google Shape;1622;p83"/>
            <p:cNvCxnSpPr>
              <a:stCxn id="1621" idx="0"/>
            </p:cNvCxnSpPr>
            <p:nvPr/>
          </p:nvCxnSpPr>
          <p:spPr>
            <a:xfrm>
              <a:off x="5566627" y="2154000"/>
              <a:ext cx="0" cy="26664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23" name="Google Shape;1623;p83"/>
          <p:cNvSpPr txBox="1"/>
          <p:nvPr/>
        </p:nvSpPr>
        <p:spPr>
          <a:xfrm>
            <a:off x="436325" y="3981700"/>
            <a:ext cx="29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Find P(6 or 8) using the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83"/>
          <p:cNvSpPr txBox="1"/>
          <p:nvPr/>
        </p:nvSpPr>
        <p:spPr>
          <a:xfrm>
            <a:off x="436325" y="3368300"/>
            <a:ext cx="454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How many prime outcomes are there?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5" name="Google Shape;1625;p83"/>
          <p:cNvGraphicFramePr/>
          <p:nvPr/>
        </p:nvGraphicFramePr>
        <p:xfrm>
          <a:off x="436325" y="121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{ADF7CE9F-10F2-4CC4-98FD-25E62B0FB873}</a:tableStyleId>
              </a:tblPr>
              <a:tblGrid>
                <a:gridCol w="382850"/>
                <a:gridCol w="305250"/>
                <a:gridCol w="373150"/>
                <a:gridCol w="373150"/>
                <a:gridCol w="373150"/>
                <a:gridCol w="373150"/>
                <a:gridCol w="373150"/>
                <a:gridCol w="373150"/>
                <a:gridCol w="373150"/>
                <a:gridCol w="373150"/>
              </a:tblGrid>
              <a:tr h="212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spinner 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53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697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6" name="Google Shape;1626;p83"/>
          <p:cNvSpPr txBox="1"/>
          <p:nvPr/>
        </p:nvSpPr>
        <p:spPr>
          <a:xfrm>
            <a:off x="324000" y="606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Trial: spinner A and B will be spun once each. The outcomes are added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628" name="Google Shape;1628;p83"/>
          <p:cNvSpPr txBox="1"/>
          <p:nvPr/>
        </p:nvSpPr>
        <p:spPr>
          <a:xfrm>
            <a:off x="436325" y="2706600"/>
            <a:ext cx="454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Use the outcome table to complete the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9" name="Google Shape;1629;p83"/>
          <p:cNvCxnSpPr/>
          <p:nvPr/>
        </p:nvCxnSpPr>
        <p:spPr>
          <a:xfrm>
            <a:off x="6292478" y="4174047"/>
            <a:ext cx="781800" cy="41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83"/>
          <p:cNvCxnSpPr/>
          <p:nvPr/>
        </p:nvCxnSpPr>
        <p:spPr>
          <a:xfrm flipH="1" rot="10800000">
            <a:off x="6292478" y="3755412"/>
            <a:ext cx="781800" cy="41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83"/>
          <p:cNvSpPr txBox="1"/>
          <p:nvPr/>
        </p:nvSpPr>
        <p:spPr>
          <a:xfrm>
            <a:off x="7142179" y="4502026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83"/>
          <p:cNvSpPr txBox="1"/>
          <p:nvPr/>
        </p:nvSpPr>
        <p:spPr>
          <a:xfrm>
            <a:off x="7142179" y="3671566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3" name="Google Shape;1633;p83"/>
          <p:cNvCxnSpPr/>
          <p:nvPr/>
        </p:nvCxnSpPr>
        <p:spPr>
          <a:xfrm flipH="1" rot="10800000">
            <a:off x="5176694" y="1569370"/>
            <a:ext cx="781800" cy="127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4" name="Google Shape;1634;p83"/>
          <p:cNvSpPr txBox="1"/>
          <p:nvPr/>
        </p:nvSpPr>
        <p:spPr>
          <a:xfrm>
            <a:off x="6067658" y="1324554"/>
            <a:ext cx="162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83"/>
          <p:cNvSpPr txBox="1"/>
          <p:nvPr/>
        </p:nvSpPr>
        <p:spPr>
          <a:xfrm>
            <a:off x="6067658" y="3883834"/>
            <a:ext cx="162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6" name="Google Shape;1636;p83"/>
          <p:cNvCxnSpPr/>
          <p:nvPr/>
        </p:nvCxnSpPr>
        <p:spPr>
          <a:xfrm>
            <a:off x="5176694" y="2858014"/>
            <a:ext cx="781800" cy="127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7" name="Google Shape;1637;p83"/>
          <p:cNvCxnSpPr/>
          <p:nvPr/>
        </p:nvCxnSpPr>
        <p:spPr>
          <a:xfrm>
            <a:off x="5176694" y="2858014"/>
            <a:ext cx="789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8" name="Google Shape;1638;p83"/>
          <p:cNvSpPr txBox="1"/>
          <p:nvPr/>
        </p:nvSpPr>
        <p:spPr>
          <a:xfrm>
            <a:off x="6067658" y="2604200"/>
            <a:ext cx="162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9" name="Google Shape;1639;p83"/>
          <p:cNvCxnSpPr/>
          <p:nvPr/>
        </p:nvCxnSpPr>
        <p:spPr>
          <a:xfrm>
            <a:off x="6292478" y="2858935"/>
            <a:ext cx="781800" cy="41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83"/>
          <p:cNvCxnSpPr/>
          <p:nvPr/>
        </p:nvCxnSpPr>
        <p:spPr>
          <a:xfrm flipH="1" rot="10800000">
            <a:off x="6292478" y="2440300"/>
            <a:ext cx="781800" cy="41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83"/>
          <p:cNvSpPr txBox="1"/>
          <p:nvPr/>
        </p:nvSpPr>
        <p:spPr>
          <a:xfrm>
            <a:off x="7142179" y="3186914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3"/>
          <p:cNvSpPr txBox="1"/>
          <p:nvPr/>
        </p:nvSpPr>
        <p:spPr>
          <a:xfrm>
            <a:off x="7142179" y="2356454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3" name="Google Shape;1643;p83"/>
          <p:cNvCxnSpPr/>
          <p:nvPr/>
        </p:nvCxnSpPr>
        <p:spPr>
          <a:xfrm>
            <a:off x="6292478" y="1543810"/>
            <a:ext cx="781800" cy="41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4" name="Google Shape;1644;p83"/>
          <p:cNvCxnSpPr/>
          <p:nvPr/>
        </p:nvCxnSpPr>
        <p:spPr>
          <a:xfrm flipH="1" rot="10800000">
            <a:off x="6292478" y="1125175"/>
            <a:ext cx="781800" cy="41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5" name="Google Shape;1645;p83"/>
          <p:cNvSpPr txBox="1"/>
          <p:nvPr/>
        </p:nvSpPr>
        <p:spPr>
          <a:xfrm>
            <a:off x="7142179" y="1871789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83"/>
          <p:cNvSpPr txBox="1"/>
          <p:nvPr/>
        </p:nvSpPr>
        <p:spPr>
          <a:xfrm>
            <a:off x="7142179" y="1041329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83"/>
          <p:cNvSpPr txBox="1"/>
          <p:nvPr/>
        </p:nvSpPr>
        <p:spPr>
          <a:xfrm rot="-5400000">
            <a:off x="168400" y="1998200"/>
            <a:ext cx="930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48" name="Google Shape;1648;p83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335" y="1619988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8}&quot;&gt;&lt;mfrac&gt;&lt;mn&gt;2&lt;/mn&gt;&lt;mn&gt;8&lt;/mn&gt;&lt;/mfrac&gt;&lt;/math&gt;" id="1649" name="Google Shape;1649;p83" title="two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097" y="2402384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650" name="Google Shape;1650;p83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1722" y="927819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1651" name="Google Shape;1651;p83" title="3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7000" y="930933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652" name="Google Shape;1652;p83" title="6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7000" y="1734208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53" name="Google Shape;1653;p83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747" y="3300477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654" name="Google Shape;1654;p83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93947" y="1376049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655" name="Google Shape;1655;p83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1722" y="2242143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656" name="Google Shape;1656;p83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93947" y="2690372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657" name="Google Shape;1657;p83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1722" y="3561568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658" name="Google Shape;1658;p83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93947" y="4009797"/>
            <a:ext cx="13130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24}&quot;&gt;&lt;mfrac&gt;&lt;mn&gt;2&lt;/mn&gt;&lt;mn&gt;24&lt;/mn&gt;&lt;/mfrac&gt;&lt;/math&gt;" id="1659" name="Google Shape;1659;p83" title="2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94838" y="2242138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24}&quot;&gt;&lt;mfrac&gt;&lt;mn&gt;4&lt;/mn&gt;&lt;mn&gt;24&lt;/mn&gt;&lt;/mfrac&gt;&lt;/math&gt;" id="1660" name="Google Shape;1660;p83" title="4 over 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96429" y="3057013"/>
            <a:ext cx="238737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4}&quot;&gt;&lt;mfrac&gt;&lt;mn&gt;3&lt;/mn&gt;&lt;mn&gt;24&lt;/mn&gt;&lt;/mfrac&gt;&lt;/math&gt;" id="1661" name="Google Shape;1661;p83" title="3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7000" y="3559583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662" name="Google Shape;1662;p83" title="6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7000" y="4339783"/>
            <a:ext cx="237600" cy="42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83"/>
          <p:cNvSpPr txBox="1"/>
          <p:nvPr/>
        </p:nvSpPr>
        <p:spPr>
          <a:xfrm>
            <a:off x="7773579" y="4455751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3"/>
          <p:cNvSpPr txBox="1"/>
          <p:nvPr/>
        </p:nvSpPr>
        <p:spPr>
          <a:xfrm>
            <a:off x="7773579" y="3671566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3"/>
          <p:cNvSpPr txBox="1"/>
          <p:nvPr/>
        </p:nvSpPr>
        <p:spPr>
          <a:xfrm>
            <a:off x="7773579" y="3186914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3"/>
          <p:cNvSpPr txBox="1"/>
          <p:nvPr/>
        </p:nvSpPr>
        <p:spPr>
          <a:xfrm>
            <a:off x="7773579" y="2356454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3"/>
          <p:cNvSpPr txBox="1"/>
          <p:nvPr/>
        </p:nvSpPr>
        <p:spPr>
          <a:xfrm>
            <a:off x="7773579" y="1871789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3"/>
          <p:cNvSpPr txBox="1"/>
          <p:nvPr/>
        </p:nvSpPr>
        <p:spPr>
          <a:xfrm>
            <a:off x="7773579" y="1041329"/>
            <a:ext cx="1623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83"/>
          <p:cNvSpPr txBox="1"/>
          <p:nvPr/>
        </p:nvSpPr>
        <p:spPr>
          <a:xfrm>
            <a:off x="1737775" y="3635850"/>
            <a:ext cx="214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prime outcomes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670" name="Google Shape;1670;p83" title="6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0350" y="4303733"/>
            <a:ext cx="237600" cy="42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24}&quot;&gt;&lt;mfrac&gt;&lt;mn&gt;2&lt;/mn&gt;&lt;mn&gt;24&lt;/mn&gt;&lt;/mfrac&gt;&lt;/math&gt;" id="1671" name="Google Shape;1671;p83" title="2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87215" y="4300625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4}&quot;&gt;&lt;mfrac&gt;&lt;mn&gt;6&lt;/mn&gt;&lt;mn&gt;24&lt;/mn&gt;&lt;/mfrac&gt;&lt;/math&gt;" id="1672" name="Google Shape;1672;p83" title="6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8400" y="4303733"/>
            <a:ext cx="237600" cy="42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83"/>
          <p:cNvSpPr txBox="1"/>
          <p:nvPr/>
        </p:nvSpPr>
        <p:spPr>
          <a:xfrm>
            <a:off x="3323532" y="4378025"/>
            <a:ext cx="33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3"/>
          <p:cNvSpPr txBox="1"/>
          <p:nvPr/>
        </p:nvSpPr>
        <p:spPr>
          <a:xfrm>
            <a:off x="3954717" y="4378025"/>
            <a:ext cx="33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4}{24}&quot;&gt;&lt;mfrac&gt;&lt;mn&gt;14&lt;/mn&gt;&lt;mn&gt;24&lt;/mn&gt;&lt;/mfrac&gt;&lt;/math&gt;" id="1675" name="Google Shape;1675;p83" title="14 over 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50125" y="4300613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83"/>
          <p:cNvSpPr txBox="1"/>
          <p:nvPr/>
        </p:nvSpPr>
        <p:spPr>
          <a:xfrm>
            <a:off x="4584005" y="4378025"/>
            <a:ext cx="33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7" name="Google Shape;1677;p83"/>
          <p:cNvGrpSpPr/>
          <p:nvPr/>
        </p:nvGrpSpPr>
        <p:grpSpPr>
          <a:xfrm>
            <a:off x="1124428" y="1717075"/>
            <a:ext cx="2989813" cy="942925"/>
            <a:chOff x="1124428" y="1717075"/>
            <a:chExt cx="2989813" cy="942925"/>
          </a:xfrm>
        </p:grpSpPr>
        <p:sp>
          <p:nvSpPr>
            <p:cNvPr id="1678" name="Google Shape;1678;p83"/>
            <p:cNvSpPr/>
            <p:nvPr/>
          </p:nvSpPr>
          <p:spPr>
            <a:xfrm>
              <a:off x="1124428" y="1717075"/>
              <a:ext cx="1118400" cy="3144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9" name="Google Shape;1679;p83"/>
            <p:cNvSpPr/>
            <p:nvPr/>
          </p:nvSpPr>
          <p:spPr>
            <a:xfrm>
              <a:off x="2243173" y="2027000"/>
              <a:ext cx="747000" cy="633000"/>
            </a:xfrm>
            <a:prstGeom prst="rect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83"/>
            <p:cNvSpPr/>
            <p:nvPr/>
          </p:nvSpPr>
          <p:spPr>
            <a:xfrm>
              <a:off x="2995840" y="1717075"/>
              <a:ext cx="1118400" cy="314400"/>
            </a:xfrm>
            <a:prstGeom prst="rect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two-stage trials across different diagrams</a:t>
            </a:r>
            <a:endParaRPr/>
          </a:p>
        </p:txBody>
      </p:sp>
      <p:sp>
        <p:nvSpPr>
          <p:cNvPr id="1686" name="Google Shape;1686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pic>
        <p:nvPicPr>
          <p:cNvPr id="1687" name="Google Shape;168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3" name="Google Shape;1693;p85"/>
          <p:cNvGrpSpPr/>
          <p:nvPr/>
        </p:nvGrpSpPr>
        <p:grpSpPr>
          <a:xfrm>
            <a:off x="3061507" y="2125402"/>
            <a:ext cx="3821683" cy="2695176"/>
            <a:chOff x="3518700" y="2099150"/>
            <a:chExt cx="3821683" cy="2721300"/>
          </a:xfrm>
        </p:grpSpPr>
        <p:sp>
          <p:nvSpPr>
            <p:cNvPr id="1694" name="Google Shape;1694;p85"/>
            <p:cNvSpPr txBox="1"/>
            <p:nvPr/>
          </p:nvSpPr>
          <p:spPr>
            <a:xfrm>
              <a:off x="6017983" y="2099150"/>
              <a:ext cx="1322400" cy="55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event 1 (Sam wins)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5" name="Google Shape;1695;p85"/>
            <p:cNvSpPr/>
            <p:nvPr/>
          </p:nvSpPr>
          <p:spPr>
            <a:xfrm>
              <a:off x="3518700" y="2099150"/>
              <a:ext cx="2440500" cy="27213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6" name="Google Shape;1696;p85"/>
          <p:cNvSpPr txBox="1"/>
          <p:nvPr/>
        </p:nvSpPr>
        <p:spPr>
          <a:xfrm>
            <a:off x="2579100" y="684500"/>
            <a:ext cx="6240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 Sam wins, 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show these events on a probability tree, we must first categorise the outcomes for each event into two groups (like an outcome tree):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85"/>
          <p:cNvSpPr txBox="1"/>
          <p:nvPr/>
        </p:nvSpPr>
        <p:spPr>
          <a:xfrm>
            <a:off x="532475" y="3682150"/>
            <a:ext cx="19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or 4 - Sam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or 4 - Alex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no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1699" name="Google Shape;1699;p85"/>
          <p:cNvSpPr txBox="1"/>
          <p:nvPr/>
        </p:nvSpPr>
        <p:spPr>
          <a:xfrm>
            <a:off x="324000" y="2518450"/>
            <a:ext cx="216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it lands on a: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0" name="Google Shape;1700;p85"/>
          <p:cNvPicPr preferRelativeResize="0"/>
          <p:nvPr/>
        </p:nvPicPr>
        <p:blipFill rotWithShape="1">
          <a:blip r:embed="rId3">
            <a:alphaModFix/>
          </a:blip>
          <a:srcRect b="7855" l="7863" r="7855" t="7863"/>
          <a:stretch/>
        </p:blipFill>
        <p:spPr>
          <a:xfrm>
            <a:off x="324000" y="606152"/>
            <a:ext cx="1926644" cy="1912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1" name="Google Shape;1701;p85"/>
          <p:cNvGrpSpPr/>
          <p:nvPr/>
        </p:nvGrpSpPr>
        <p:grpSpPr>
          <a:xfrm>
            <a:off x="1264307" y="1180554"/>
            <a:ext cx="46046" cy="401766"/>
            <a:chOff x="779080" y="747789"/>
            <a:chExt cx="54300" cy="473780"/>
          </a:xfrm>
        </p:grpSpPr>
        <p:cxnSp>
          <p:nvCxnSpPr>
            <p:cNvPr id="1702" name="Google Shape;1702;p85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3" name="Google Shape;1703;p85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4" name="Google Shape;1704;p85"/>
          <p:cNvGrpSpPr/>
          <p:nvPr/>
        </p:nvGrpSpPr>
        <p:grpSpPr>
          <a:xfrm>
            <a:off x="3111725" y="2340671"/>
            <a:ext cx="1165500" cy="1609459"/>
            <a:chOff x="5440150" y="3100825"/>
            <a:chExt cx="1165500" cy="1178400"/>
          </a:xfrm>
        </p:grpSpPr>
        <p:cxnSp>
          <p:nvCxnSpPr>
            <p:cNvPr id="1705" name="Google Shape;1705;p85"/>
            <p:cNvCxnSpPr/>
            <p:nvPr/>
          </p:nvCxnSpPr>
          <p:spPr>
            <a:xfrm flipH="1" rot="10800000">
              <a:off x="5440150" y="31008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6" name="Google Shape;1706;p85"/>
            <p:cNvCxnSpPr/>
            <p:nvPr/>
          </p:nvCxnSpPr>
          <p:spPr>
            <a:xfrm>
              <a:off x="5440150" y="36900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7" name="Google Shape;1707;p85"/>
          <p:cNvSpPr txBox="1"/>
          <p:nvPr/>
        </p:nvSpPr>
        <p:spPr>
          <a:xfrm>
            <a:off x="4290600" y="2221813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85"/>
          <p:cNvSpPr txBox="1"/>
          <p:nvPr/>
        </p:nvSpPr>
        <p:spPr>
          <a:xfrm>
            <a:off x="4174050" y="3792025"/>
            <a:ext cx="128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85"/>
          <p:cNvSpPr txBox="1"/>
          <p:nvPr/>
        </p:nvSpPr>
        <p:spPr>
          <a:xfrm>
            <a:off x="4277225" y="251292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85"/>
          <p:cNvSpPr txBox="1"/>
          <p:nvPr/>
        </p:nvSpPr>
        <p:spPr>
          <a:xfrm>
            <a:off x="4572000" y="251292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85"/>
          <p:cNvSpPr txBox="1"/>
          <p:nvPr/>
        </p:nvSpPr>
        <p:spPr>
          <a:xfrm>
            <a:off x="4866775" y="251292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85"/>
          <p:cNvSpPr txBox="1"/>
          <p:nvPr/>
        </p:nvSpPr>
        <p:spPr>
          <a:xfrm>
            <a:off x="5161550" y="251292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85"/>
          <p:cNvSpPr txBox="1"/>
          <p:nvPr/>
        </p:nvSpPr>
        <p:spPr>
          <a:xfrm>
            <a:off x="4277225" y="282371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85"/>
          <p:cNvSpPr txBox="1"/>
          <p:nvPr/>
        </p:nvSpPr>
        <p:spPr>
          <a:xfrm>
            <a:off x="4572000" y="282371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85"/>
          <p:cNvSpPr txBox="1"/>
          <p:nvPr/>
        </p:nvSpPr>
        <p:spPr>
          <a:xfrm>
            <a:off x="4866775" y="282371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85"/>
          <p:cNvSpPr txBox="1"/>
          <p:nvPr/>
        </p:nvSpPr>
        <p:spPr>
          <a:xfrm>
            <a:off x="4277225" y="422197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85"/>
          <p:cNvSpPr txBox="1"/>
          <p:nvPr/>
        </p:nvSpPr>
        <p:spPr>
          <a:xfrm>
            <a:off x="4572000" y="422197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85"/>
          <p:cNvSpPr txBox="1"/>
          <p:nvPr/>
        </p:nvSpPr>
        <p:spPr>
          <a:xfrm>
            <a:off x="4866775" y="422197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85"/>
          <p:cNvSpPr txBox="1"/>
          <p:nvPr/>
        </p:nvSpPr>
        <p:spPr>
          <a:xfrm>
            <a:off x="5161550" y="422197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85"/>
          <p:cNvSpPr txBox="1"/>
          <p:nvPr/>
        </p:nvSpPr>
        <p:spPr>
          <a:xfrm>
            <a:off x="4277225" y="453276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85"/>
          <p:cNvSpPr txBox="1"/>
          <p:nvPr/>
        </p:nvSpPr>
        <p:spPr>
          <a:xfrm>
            <a:off x="4572000" y="453276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85"/>
          <p:cNvSpPr txBox="1"/>
          <p:nvPr/>
        </p:nvSpPr>
        <p:spPr>
          <a:xfrm>
            <a:off x="4866775" y="453276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5"/>
          <p:cNvSpPr txBox="1"/>
          <p:nvPr/>
        </p:nvSpPr>
        <p:spPr>
          <a:xfrm>
            <a:off x="3982450" y="422197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85"/>
          <p:cNvSpPr txBox="1"/>
          <p:nvPr/>
        </p:nvSpPr>
        <p:spPr>
          <a:xfrm>
            <a:off x="3982450" y="4532766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9" name="Google Shape;1729;p86"/>
          <p:cNvGrpSpPr/>
          <p:nvPr/>
        </p:nvGrpSpPr>
        <p:grpSpPr>
          <a:xfrm>
            <a:off x="5514574" y="1342979"/>
            <a:ext cx="3305374" cy="3477517"/>
            <a:chOff x="3518690" y="1863638"/>
            <a:chExt cx="2734200" cy="2956821"/>
          </a:xfrm>
        </p:grpSpPr>
        <p:sp>
          <p:nvSpPr>
            <p:cNvPr id="1730" name="Google Shape;1730;p86"/>
            <p:cNvSpPr txBox="1"/>
            <p:nvPr/>
          </p:nvSpPr>
          <p:spPr>
            <a:xfrm>
              <a:off x="3518693" y="1863638"/>
              <a:ext cx="24405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event 2 (Alex wins)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1" name="Google Shape;1731;p86"/>
            <p:cNvSpPr/>
            <p:nvPr/>
          </p:nvSpPr>
          <p:spPr>
            <a:xfrm>
              <a:off x="3518690" y="2099158"/>
              <a:ext cx="2734200" cy="27213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2" name="Google Shape;1732;p86"/>
          <p:cNvSpPr txBox="1"/>
          <p:nvPr/>
        </p:nvSpPr>
        <p:spPr>
          <a:xfrm>
            <a:off x="532475" y="3682150"/>
            <a:ext cx="19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or 4 - Sam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or 4 - Alex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no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1734" name="Google Shape;1734;p86"/>
          <p:cNvSpPr txBox="1"/>
          <p:nvPr/>
        </p:nvSpPr>
        <p:spPr>
          <a:xfrm>
            <a:off x="324000" y="2518450"/>
            <a:ext cx="216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it lands on a: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5" name="Google Shape;1735;p86"/>
          <p:cNvPicPr preferRelativeResize="0"/>
          <p:nvPr/>
        </p:nvPicPr>
        <p:blipFill rotWithShape="1">
          <a:blip r:embed="rId3">
            <a:alphaModFix/>
          </a:blip>
          <a:srcRect b="7855" l="7863" r="7855" t="7863"/>
          <a:stretch/>
        </p:blipFill>
        <p:spPr>
          <a:xfrm>
            <a:off x="324000" y="606152"/>
            <a:ext cx="1926644" cy="1912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6" name="Google Shape;1736;p86"/>
          <p:cNvGrpSpPr/>
          <p:nvPr/>
        </p:nvGrpSpPr>
        <p:grpSpPr>
          <a:xfrm>
            <a:off x="1264307" y="1180554"/>
            <a:ext cx="46046" cy="401766"/>
            <a:chOff x="779080" y="747789"/>
            <a:chExt cx="54300" cy="473780"/>
          </a:xfrm>
        </p:grpSpPr>
        <p:cxnSp>
          <p:nvCxnSpPr>
            <p:cNvPr id="1737" name="Google Shape;1737;p86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8" name="Google Shape;1738;p86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9" name="Google Shape;1739;p86"/>
          <p:cNvGrpSpPr/>
          <p:nvPr/>
        </p:nvGrpSpPr>
        <p:grpSpPr>
          <a:xfrm>
            <a:off x="5574600" y="1912196"/>
            <a:ext cx="1165500" cy="896173"/>
            <a:chOff x="5440150" y="3100825"/>
            <a:chExt cx="1165500" cy="1178400"/>
          </a:xfrm>
        </p:grpSpPr>
        <p:cxnSp>
          <p:nvCxnSpPr>
            <p:cNvPr id="1740" name="Google Shape;1740;p86"/>
            <p:cNvCxnSpPr/>
            <p:nvPr/>
          </p:nvCxnSpPr>
          <p:spPr>
            <a:xfrm flipH="1" rot="10800000">
              <a:off x="5440150" y="31008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1" name="Google Shape;1741;p86"/>
            <p:cNvCxnSpPr/>
            <p:nvPr/>
          </p:nvCxnSpPr>
          <p:spPr>
            <a:xfrm>
              <a:off x="5440150" y="36900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42" name="Google Shape;1742;p86"/>
          <p:cNvGrpSpPr/>
          <p:nvPr/>
        </p:nvGrpSpPr>
        <p:grpSpPr>
          <a:xfrm>
            <a:off x="5574600" y="3482430"/>
            <a:ext cx="1165500" cy="896173"/>
            <a:chOff x="5440150" y="3100825"/>
            <a:chExt cx="1165500" cy="1178400"/>
          </a:xfrm>
        </p:grpSpPr>
        <p:cxnSp>
          <p:nvCxnSpPr>
            <p:cNvPr id="1743" name="Google Shape;1743;p86"/>
            <p:cNvCxnSpPr/>
            <p:nvPr/>
          </p:nvCxnSpPr>
          <p:spPr>
            <a:xfrm flipH="1" rot="10800000">
              <a:off x="5440150" y="31008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4" name="Google Shape;1744;p86"/>
            <p:cNvCxnSpPr/>
            <p:nvPr/>
          </p:nvCxnSpPr>
          <p:spPr>
            <a:xfrm>
              <a:off x="5440150" y="36900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45" name="Google Shape;1745;p86"/>
          <p:cNvSpPr txBox="1"/>
          <p:nvPr/>
        </p:nvSpPr>
        <p:spPr>
          <a:xfrm>
            <a:off x="6740100" y="2668725"/>
            <a:ext cx="207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86"/>
          <p:cNvSpPr txBox="1"/>
          <p:nvPr/>
        </p:nvSpPr>
        <p:spPr>
          <a:xfrm>
            <a:off x="6740100" y="1776435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86"/>
          <p:cNvSpPr txBox="1"/>
          <p:nvPr/>
        </p:nvSpPr>
        <p:spPr>
          <a:xfrm>
            <a:off x="6740100" y="4238175"/>
            <a:ext cx="207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86"/>
          <p:cNvSpPr txBox="1"/>
          <p:nvPr/>
        </p:nvSpPr>
        <p:spPr>
          <a:xfrm>
            <a:off x="6740100" y="3345885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9" name="Google Shape;1749;p86"/>
          <p:cNvGrpSpPr/>
          <p:nvPr/>
        </p:nvGrpSpPr>
        <p:grpSpPr>
          <a:xfrm>
            <a:off x="3111725" y="2340671"/>
            <a:ext cx="1165500" cy="1609459"/>
            <a:chOff x="5440150" y="3100825"/>
            <a:chExt cx="1165500" cy="1178400"/>
          </a:xfrm>
        </p:grpSpPr>
        <p:cxnSp>
          <p:nvCxnSpPr>
            <p:cNvPr id="1750" name="Google Shape;1750;p86"/>
            <p:cNvCxnSpPr/>
            <p:nvPr/>
          </p:nvCxnSpPr>
          <p:spPr>
            <a:xfrm flipH="1" rot="10800000">
              <a:off x="5440150" y="31008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1" name="Google Shape;1751;p86"/>
            <p:cNvCxnSpPr/>
            <p:nvPr/>
          </p:nvCxnSpPr>
          <p:spPr>
            <a:xfrm>
              <a:off x="5440150" y="3690025"/>
              <a:ext cx="1165500" cy="58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2" name="Google Shape;1752;p86"/>
          <p:cNvSpPr txBox="1"/>
          <p:nvPr/>
        </p:nvSpPr>
        <p:spPr>
          <a:xfrm>
            <a:off x="4290600" y="2221813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86"/>
          <p:cNvSpPr txBox="1"/>
          <p:nvPr/>
        </p:nvSpPr>
        <p:spPr>
          <a:xfrm>
            <a:off x="4174050" y="3792025"/>
            <a:ext cx="128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4" name="Google Shape;1754;p86"/>
          <p:cNvGrpSpPr/>
          <p:nvPr/>
        </p:nvGrpSpPr>
        <p:grpSpPr>
          <a:xfrm>
            <a:off x="4277225" y="2512926"/>
            <a:ext cx="508375" cy="235200"/>
            <a:chOff x="4277225" y="2512926"/>
            <a:chExt cx="508375" cy="235200"/>
          </a:xfrm>
        </p:grpSpPr>
        <p:sp>
          <p:nvSpPr>
            <p:cNvPr id="1755" name="Google Shape;1755;p86"/>
            <p:cNvSpPr txBox="1"/>
            <p:nvPr/>
          </p:nvSpPr>
          <p:spPr>
            <a:xfrm>
              <a:off x="4277225" y="251292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6" name="Google Shape;1756;p86"/>
            <p:cNvSpPr txBox="1"/>
            <p:nvPr/>
          </p:nvSpPr>
          <p:spPr>
            <a:xfrm>
              <a:off x="4572000" y="251292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7" name="Google Shape;1757;p86"/>
          <p:cNvGrpSpPr/>
          <p:nvPr/>
        </p:nvGrpSpPr>
        <p:grpSpPr>
          <a:xfrm>
            <a:off x="4277225" y="2512926"/>
            <a:ext cx="1097925" cy="545990"/>
            <a:chOff x="4277225" y="2512926"/>
            <a:chExt cx="1097925" cy="545990"/>
          </a:xfrm>
        </p:grpSpPr>
        <p:sp>
          <p:nvSpPr>
            <p:cNvPr id="1758" name="Google Shape;1758;p86"/>
            <p:cNvSpPr txBox="1"/>
            <p:nvPr/>
          </p:nvSpPr>
          <p:spPr>
            <a:xfrm>
              <a:off x="4866775" y="251292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86"/>
            <p:cNvSpPr txBox="1"/>
            <p:nvPr/>
          </p:nvSpPr>
          <p:spPr>
            <a:xfrm>
              <a:off x="5161550" y="251292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0" name="Google Shape;1760;p86"/>
            <p:cNvSpPr txBox="1"/>
            <p:nvPr/>
          </p:nvSpPr>
          <p:spPr>
            <a:xfrm>
              <a:off x="4277225" y="282371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1" name="Google Shape;1761;p86"/>
            <p:cNvSpPr txBox="1"/>
            <p:nvPr/>
          </p:nvSpPr>
          <p:spPr>
            <a:xfrm>
              <a:off x="4572000" y="282371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2" name="Google Shape;1762;p86"/>
            <p:cNvSpPr txBox="1"/>
            <p:nvPr/>
          </p:nvSpPr>
          <p:spPr>
            <a:xfrm>
              <a:off x="4866775" y="282371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3" name="Google Shape;1763;p86"/>
          <p:cNvGrpSpPr/>
          <p:nvPr/>
        </p:nvGrpSpPr>
        <p:grpSpPr>
          <a:xfrm>
            <a:off x="4277225" y="4532766"/>
            <a:ext cx="803150" cy="235200"/>
            <a:chOff x="4277225" y="4532766"/>
            <a:chExt cx="803150" cy="235200"/>
          </a:xfrm>
        </p:grpSpPr>
        <p:sp>
          <p:nvSpPr>
            <p:cNvPr id="1764" name="Google Shape;1764;p86"/>
            <p:cNvSpPr txBox="1"/>
            <p:nvPr/>
          </p:nvSpPr>
          <p:spPr>
            <a:xfrm>
              <a:off x="4277225" y="45327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5" name="Google Shape;1765;p86"/>
            <p:cNvSpPr txBox="1"/>
            <p:nvPr/>
          </p:nvSpPr>
          <p:spPr>
            <a:xfrm>
              <a:off x="4572000" y="45327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6" name="Google Shape;1766;p86"/>
            <p:cNvSpPr txBox="1"/>
            <p:nvPr/>
          </p:nvSpPr>
          <p:spPr>
            <a:xfrm>
              <a:off x="4866775" y="45327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7" name="Google Shape;1767;p86"/>
          <p:cNvGrpSpPr/>
          <p:nvPr/>
        </p:nvGrpSpPr>
        <p:grpSpPr>
          <a:xfrm>
            <a:off x="3982450" y="4221976"/>
            <a:ext cx="1392700" cy="545990"/>
            <a:chOff x="3982450" y="4221976"/>
            <a:chExt cx="1392700" cy="545990"/>
          </a:xfrm>
        </p:grpSpPr>
        <p:sp>
          <p:nvSpPr>
            <p:cNvPr id="1768" name="Google Shape;1768;p86"/>
            <p:cNvSpPr txBox="1"/>
            <p:nvPr/>
          </p:nvSpPr>
          <p:spPr>
            <a:xfrm>
              <a:off x="4277225" y="422197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9" name="Google Shape;1769;p86"/>
            <p:cNvSpPr txBox="1"/>
            <p:nvPr/>
          </p:nvSpPr>
          <p:spPr>
            <a:xfrm>
              <a:off x="4572000" y="422197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0" name="Google Shape;1770;p86"/>
            <p:cNvSpPr txBox="1"/>
            <p:nvPr/>
          </p:nvSpPr>
          <p:spPr>
            <a:xfrm>
              <a:off x="4866775" y="422197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86"/>
            <p:cNvSpPr txBox="1"/>
            <p:nvPr/>
          </p:nvSpPr>
          <p:spPr>
            <a:xfrm>
              <a:off x="5161550" y="422197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2" name="Google Shape;1772;p86"/>
            <p:cNvSpPr txBox="1"/>
            <p:nvPr/>
          </p:nvSpPr>
          <p:spPr>
            <a:xfrm>
              <a:off x="3982450" y="422197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3" name="Google Shape;1773;p86"/>
            <p:cNvSpPr txBox="1"/>
            <p:nvPr/>
          </p:nvSpPr>
          <p:spPr>
            <a:xfrm>
              <a:off x="3982450" y="45327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4" name="Google Shape;1774;p86"/>
          <p:cNvGrpSpPr/>
          <p:nvPr/>
        </p:nvGrpSpPr>
        <p:grpSpPr>
          <a:xfrm>
            <a:off x="6711450" y="2088189"/>
            <a:ext cx="1392700" cy="235210"/>
            <a:chOff x="6711450" y="2088189"/>
            <a:chExt cx="1392700" cy="235210"/>
          </a:xfrm>
        </p:grpSpPr>
        <p:sp>
          <p:nvSpPr>
            <p:cNvPr id="1775" name="Google Shape;1775;p86"/>
            <p:cNvSpPr txBox="1"/>
            <p:nvPr/>
          </p:nvSpPr>
          <p:spPr>
            <a:xfrm>
              <a:off x="7301000" y="2088199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6" name="Google Shape;1776;p86"/>
            <p:cNvSpPr txBox="1"/>
            <p:nvPr/>
          </p:nvSpPr>
          <p:spPr>
            <a:xfrm>
              <a:off x="6711450" y="2088189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7" name="Google Shape;1777;p86"/>
            <p:cNvSpPr txBox="1"/>
            <p:nvPr/>
          </p:nvSpPr>
          <p:spPr>
            <a:xfrm>
              <a:off x="7006225" y="2088189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8" name="Google Shape;1778;p86"/>
            <p:cNvSpPr txBox="1"/>
            <p:nvPr/>
          </p:nvSpPr>
          <p:spPr>
            <a:xfrm>
              <a:off x="7595775" y="2088189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9" name="Google Shape;1779;p86"/>
            <p:cNvSpPr txBox="1"/>
            <p:nvPr/>
          </p:nvSpPr>
          <p:spPr>
            <a:xfrm>
              <a:off x="7890550" y="2088189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0" name="Google Shape;1780;p86"/>
          <p:cNvGrpSpPr/>
          <p:nvPr/>
        </p:nvGrpSpPr>
        <p:grpSpPr>
          <a:xfrm>
            <a:off x="7205019" y="2955532"/>
            <a:ext cx="508375" cy="235200"/>
            <a:chOff x="7595775" y="2689726"/>
            <a:chExt cx="508375" cy="235200"/>
          </a:xfrm>
        </p:grpSpPr>
        <p:sp>
          <p:nvSpPr>
            <p:cNvPr id="1781" name="Google Shape;1781;p86"/>
            <p:cNvSpPr txBox="1"/>
            <p:nvPr/>
          </p:nvSpPr>
          <p:spPr>
            <a:xfrm>
              <a:off x="7595775" y="268972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2" name="Google Shape;1782;p86"/>
            <p:cNvSpPr txBox="1"/>
            <p:nvPr/>
          </p:nvSpPr>
          <p:spPr>
            <a:xfrm>
              <a:off x="7890550" y="268972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3" name="Google Shape;1783;p86"/>
          <p:cNvGrpSpPr/>
          <p:nvPr/>
        </p:nvGrpSpPr>
        <p:grpSpPr>
          <a:xfrm>
            <a:off x="6890225" y="3623066"/>
            <a:ext cx="803150" cy="235200"/>
            <a:chOff x="6890225" y="3623066"/>
            <a:chExt cx="803150" cy="235200"/>
          </a:xfrm>
        </p:grpSpPr>
        <p:sp>
          <p:nvSpPr>
            <p:cNvPr id="1784" name="Google Shape;1784;p86"/>
            <p:cNvSpPr txBox="1"/>
            <p:nvPr/>
          </p:nvSpPr>
          <p:spPr>
            <a:xfrm>
              <a:off x="6890225" y="36230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5" name="Google Shape;1785;p86"/>
            <p:cNvSpPr txBox="1"/>
            <p:nvPr/>
          </p:nvSpPr>
          <p:spPr>
            <a:xfrm>
              <a:off x="7185000" y="36230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6" name="Google Shape;1786;p86"/>
            <p:cNvSpPr txBox="1"/>
            <p:nvPr/>
          </p:nvSpPr>
          <p:spPr>
            <a:xfrm>
              <a:off x="7479775" y="3623066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7" name="Google Shape;1787;p86"/>
          <p:cNvGrpSpPr/>
          <p:nvPr/>
        </p:nvGrpSpPr>
        <p:grpSpPr>
          <a:xfrm>
            <a:off x="6738954" y="4513447"/>
            <a:ext cx="1686976" cy="235200"/>
            <a:chOff x="6058124" y="5189072"/>
            <a:chExt cx="1686976" cy="235200"/>
          </a:xfrm>
        </p:grpSpPr>
        <p:sp>
          <p:nvSpPr>
            <p:cNvPr id="1788" name="Google Shape;1788;p86"/>
            <p:cNvSpPr txBox="1"/>
            <p:nvPr/>
          </p:nvSpPr>
          <p:spPr>
            <a:xfrm>
              <a:off x="6352899" y="5189072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9" name="Google Shape;1789;p86"/>
            <p:cNvSpPr txBox="1"/>
            <p:nvPr/>
          </p:nvSpPr>
          <p:spPr>
            <a:xfrm>
              <a:off x="6647674" y="5189072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0" name="Google Shape;1790;p86"/>
            <p:cNvSpPr txBox="1"/>
            <p:nvPr/>
          </p:nvSpPr>
          <p:spPr>
            <a:xfrm>
              <a:off x="6058124" y="5189072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1" name="Google Shape;1791;p86"/>
            <p:cNvSpPr txBox="1"/>
            <p:nvPr/>
          </p:nvSpPr>
          <p:spPr>
            <a:xfrm>
              <a:off x="7236725" y="5189072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2" name="Google Shape;1792;p86"/>
            <p:cNvSpPr txBox="1"/>
            <p:nvPr/>
          </p:nvSpPr>
          <p:spPr>
            <a:xfrm>
              <a:off x="7531500" y="5189072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3" name="Google Shape;1793;p86"/>
            <p:cNvSpPr txBox="1"/>
            <p:nvPr/>
          </p:nvSpPr>
          <p:spPr>
            <a:xfrm>
              <a:off x="6941950" y="5189072"/>
              <a:ext cx="213600" cy="2352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87"/>
          <p:cNvSpPr txBox="1"/>
          <p:nvPr/>
        </p:nvSpPr>
        <p:spPr>
          <a:xfrm>
            <a:off x="4041325" y="684500"/>
            <a:ext cx="47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same events can be represented on a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could show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each individual 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from the spinner categorised into different events…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grpSp>
        <p:nvGrpSpPr>
          <p:cNvPr id="1800" name="Google Shape;1800;p87"/>
          <p:cNvGrpSpPr/>
          <p:nvPr/>
        </p:nvGrpSpPr>
        <p:grpSpPr>
          <a:xfrm>
            <a:off x="3830075" y="2470000"/>
            <a:ext cx="4545275" cy="2350500"/>
            <a:chOff x="3830075" y="2470000"/>
            <a:chExt cx="4545275" cy="2350500"/>
          </a:xfrm>
        </p:grpSpPr>
        <p:sp>
          <p:nvSpPr>
            <p:cNvPr id="1801" name="Google Shape;1801;p87"/>
            <p:cNvSpPr/>
            <p:nvPr/>
          </p:nvSpPr>
          <p:spPr>
            <a:xfrm>
              <a:off x="4112050" y="2496100"/>
              <a:ext cx="4263300" cy="23244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02" name="Google Shape;1802;p87"/>
            <p:cNvGrpSpPr/>
            <p:nvPr/>
          </p:nvGrpSpPr>
          <p:grpSpPr>
            <a:xfrm>
              <a:off x="4407751" y="2747200"/>
              <a:ext cx="3671898" cy="1533300"/>
              <a:chOff x="4407725" y="2747200"/>
              <a:chExt cx="2207200" cy="1533300"/>
            </a:xfrm>
          </p:grpSpPr>
          <p:sp>
            <p:nvSpPr>
              <p:cNvPr id="1803" name="Google Shape;1803;p87"/>
              <p:cNvSpPr/>
              <p:nvPr/>
            </p:nvSpPr>
            <p:spPr>
              <a:xfrm>
                <a:off x="44077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4" name="Google Shape;1804;p87"/>
              <p:cNvSpPr/>
              <p:nvPr/>
            </p:nvSpPr>
            <p:spPr>
              <a:xfrm>
                <a:off x="50816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05" name="Google Shape;1805;p87"/>
            <p:cNvSpPr/>
            <p:nvPr/>
          </p:nvSpPr>
          <p:spPr>
            <a:xfrm>
              <a:off x="4407751" y="2747200"/>
              <a:ext cx="2550900" cy="1533300"/>
            </a:xfrm>
            <a:prstGeom prst="arc">
              <a:avLst>
                <a:gd fmla="val 1311860" name="adj1"/>
                <a:gd fmla="val 5384545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6" name="Google Shape;1806;p87"/>
            <p:cNvSpPr txBox="1"/>
            <p:nvPr/>
          </p:nvSpPr>
          <p:spPr>
            <a:xfrm>
              <a:off x="4188250" y="2496100"/>
              <a:ext cx="112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 wins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7" name="Google Shape;1807;p87"/>
            <p:cNvSpPr txBox="1"/>
            <p:nvPr/>
          </p:nvSpPr>
          <p:spPr>
            <a:xfrm>
              <a:off x="7171450" y="2496100"/>
              <a:ext cx="112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 wins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8" name="Google Shape;1808;p87"/>
            <p:cNvSpPr txBox="1"/>
            <p:nvPr/>
          </p:nvSpPr>
          <p:spPr>
            <a:xfrm>
              <a:off x="3830075" y="2470000"/>
              <a:ext cx="27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9" name="Google Shape;1809;p87"/>
          <p:cNvGrpSpPr/>
          <p:nvPr/>
        </p:nvGrpSpPr>
        <p:grpSpPr>
          <a:xfrm>
            <a:off x="5622875" y="3008700"/>
            <a:ext cx="1212275" cy="1048500"/>
            <a:chOff x="5622875" y="3008700"/>
            <a:chExt cx="1212275" cy="1048500"/>
          </a:xfrm>
        </p:grpSpPr>
        <p:sp>
          <p:nvSpPr>
            <p:cNvPr id="1810" name="Google Shape;1810;p87"/>
            <p:cNvSpPr txBox="1"/>
            <p:nvPr/>
          </p:nvSpPr>
          <p:spPr>
            <a:xfrm>
              <a:off x="5863550" y="30087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1" name="Google Shape;1811;p87"/>
            <p:cNvSpPr txBox="1"/>
            <p:nvPr/>
          </p:nvSpPr>
          <p:spPr>
            <a:xfrm>
              <a:off x="6413650" y="32400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2" name="Google Shape;1812;p87"/>
            <p:cNvSpPr txBox="1"/>
            <p:nvPr/>
          </p:nvSpPr>
          <p:spPr>
            <a:xfrm>
              <a:off x="5622875" y="334315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3" name="Google Shape;1813;p87"/>
            <p:cNvSpPr txBox="1"/>
            <p:nvPr/>
          </p:nvSpPr>
          <p:spPr>
            <a:xfrm>
              <a:off x="5863550" y="37800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4" name="Google Shape;1814;p87"/>
            <p:cNvSpPr txBox="1"/>
            <p:nvPr/>
          </p:nvSpPr>
          <p:spPr>
            <a:xfrm>
              <a:off x="6256800" y="35172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5" name="Google Shape;1815;p87"/>
          <p:cNvGrpSpPr/>
          <p:nvPr/>
        </p:nvGrpSpPr>
        <p:grpSpPr>
          <a:xfrm>
            <a:off x="4736925" y="2962800"/>
            <a:ext cx="538400" cy="955800"/>
            <a:chOff x="4736925" y="2962800"/>
            <a:chExt cx="538400" cy="955800"/>
          </a:xfrm>
        </p:grpSpPr>
        <p:sp>
          <p:nvSpPr>
            <p:cNvPr id="1816" name="Google Shape;1816;p87"/>
            <p:cNvSpPr txBox="1"/>
            <p:nvPr/>
          </p:nvSpPr>
          <p:spPr>
            <a:xfrm>
              <a:off x="4853825" y="29628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7" name="Google Shape;1817;p87"/>
            <p:cNvSpPr txBox="1"/>
            <p:nvPr/>
          </p:nvSpPr>
          <p:spPr>
            <a:xfrm>
              <a:off x="4736925" y="36414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8" name="Google Shape;1818;p87"/>
          <p:cNvGrpSpPr/>
          <p:nvPr/>
        </p:nvGrpSpPr>
        <p:grpSpPr>
          <a:xfrm>
            <a:off x="6948900" y="2962800"/>
            <a:ext cx="772200" cy="955800"/>
            <a:chOff x="6948900" y="2962800"/>
            <a:chExt cx="772200" cy="955800"/>
          </a:xfrm>
        </p:grpSpPr>
        <p:sp>
          <p:nvSpPr>
            <p:cNvPr id="1819" name="Google Shape;1819;p87"/>
            <p:cNvSpPr txBox="1"/>
            <p:nvPr/>
          </p:nvSpPr>
          <p:spPr>
            <a:xfrm>
              <a:off x="7065800" y="29628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0" name="Google Shape;1820;p87"/>
            <p:cNvSpPr txBox="1"/>
            <p:nvPr/>
          </p:nvSpPr>
          <p:spPr>
            <a:xfrm>
              <a:off x="7299600" y="3320375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87"/>
            <p:cNvSpPr txBox="1"/>
            <p:nvPr/>
          </p:nvSpPr>
          <p:spPr>
            <a:xfrm>
              <a:off x="6948900" y="36414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2" name="Google Shape;1822;p87"/>
          <p:cNvGrpSpPr/>
          <p:nvPr/>
        </p:nvGrpSpPr>
        <p:grpSpPr>
          <a:xfrm>
            <a:off x="5577300" y="4265000"/>
            <a:ext cx="2565300" cy="449100"/>
            <a:chOff x="5577300" y="4265000"/>
            <a:chExt cx="2565300" cy="449100"/>
          </a:xfrm>
        </p:grpSpPr>
        <p:sp>
          <p:nvSpPr>
            <p:cNvPr id="1823" name="Google Shape;1823;p87"/>
            <p:cNvSpPr txBox="1"/>
            <p:nvPr/>
          </p:nvSpPr>
          <p:spPr>
            <a:xfrm>
              <a:off x="5577300" y="44034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4" name="Google Shape;1824;p87"/>
            <p:cNvSpPr txBox="1"/>
            <p:nvPr/>
          </p:nvSpPr>
          <p:spPr>
            <a:xfrm>
              <a:off x="6079275" y="44034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5" name="Google Shape;1825;p87"/>
            <p:cNvSpPr txBox="1"/>
            <p:nvPr/>
          </p:nvSpPr>
          <p:spPr>
            <a:xfrm>
              <a:off x="6471225" y="43200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6" name="Google Shape;1826;p87"/>
            <p:cNvSpPr txBox="1"/>
            <p:nvPr/>
          </p:nvSpPr>
          <p:spPr>
            <a:xfrm>
              <a:off x="6948900" y="44369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7" name="Google Shape;1827;p87"/>
            <p:cNvSpPr txBox="1"/>
            <p:nvPr/>
          </p:nvSpPr>
          <p:spPr>
            <a:xfrm>
              <a:off x="7365150" y="42650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8" name="Google Shape;1828;p87"/>
            <p:cNvSpPr txBox="1"/>
            <p:nvPr/>
          </p:nvSpPr>
          <p:spPr>
            <a:xfrm>
              <a:off x="7721100" y="4403400"/>
              <a:ext cx="42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9" name="Google Shape;1829;p87"/>
          <p:cNvSpPr txBox="1"/>
          <p:nvPr/>
        </p:nvSpPr>
        <p:spPr>
          <a:xfrm>
            <a:off x="532475" y="3682150"/>
            <a:ext cx="19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or 4 - Sam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or 4 - Alex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no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87"/>
          <p:cNvSpPr txBox="1"/>
          <p:nvPr/>
        </p:nvSpPr>
        <p:spPr>
          <a:xfrm>
            <a:off x="324000" y="2518450"/>
            <a:ext cx="216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it lands on a: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1" name="Google Shape;1831;p87"/>
          <p:cNvPicPr preferRelativeResize="0"/>
          <p:nvPr/>
        </p:nvPicPr>
        <p:blipFill rotWithShape="1">
          <a:blip r:embed="rId3">
            <a:alphaModFix/>
          </a:blip>
          <a:srcRect b="7855" l="7863" r="7855" t="7863"/>
          <a:stretch/>
        </p:blipFill>
        <p:spPr>
          <a:xfrm>
            <a:off x="324000" y="606152"/>
            <a:ext cx="1926644" cy="1912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2" name="Google Shape;1832;p87"/>
          <p:cNvCxnSpPr/>
          <p:nvPr/>
        </p:nvCxnSpPr>
        <p:spPr>
          <a:xfrm rot="10800000">
            <a:off x="1289199" y="1180658"/>
            <a:ext cx="0" cy="375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3" name="Google Shape;1833;p87"/>
          <p:cNvSpPr/>
          <p:nvPr/>
        </p:nvSpPr>
        <p:spPr>
          <a:xfrm>
            <a:off x="1264307" y="1540853"/>
            <a:ext cx="45900" cy="41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88"/>
          <p:cNvSpPr txBox="1"/>
          <p:nvPr/>
        </p:nvSpPr>
        <p:spPr>
          <a:xfrm>
            <a:off x="4041325" y="684500"/>
            <a:ext cx="477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same events can be represented on a different type of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could show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the number of outcomes in each event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grpSp>
        <p:nvGrpSpPr>
          <p:cNvPr id="1840" name="Google Shape;1840;p88"/>
          <p:cNvGrpSpPr/>
          <p:nvPr/>
        </p:nvGrpSpPr>
        <p:grpSpPr>
          <a:xfrm>
            <a:off x="3830075" y="2470000"/>
            <a:ext cx="4545275" cy="2350500"/>
            <a:chOff x="3830075" y="2470000"/>
            <a:chExt cx="4545275" cy="2350500"/>
          </a:xfrm>
        </p:grpSpPr>
        <p:sp>
          <p:nvSpPr>
            <p:cNvPr id="1841" name="Google Shape;1841;p88"/>
            <p:cNvSpPr/>
            <p:nvPr/>
          </p:nvSpPr>
          <p:spPr>
            <a:xfrm>
              <a:off x="4112050" y="2496100"/>
              <a:ext cx="4263300" cy="23244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42" name="Google Shape;1842;p88"/>
            <p:cNvGrpSpPr/>
            <p:nvPr/>
          </p:nvGrpSpPr>
          <p:grpSpPr>
            <a:xfrm>
              <a:off x="4407751" y="2747200"/>
              <a:ext cx="3671898" cy="1533300"/>
              <a:chOff x="4407725" y="2747200"/>
              <a:chExt cx="2207200" cy="1533300"/>
            </a:xfrm>
          </p:grpSpPr>
          <p:sp>
            <p:nvSpPr>
              <p:cNvPr id="1843" name="Google Shape;1843;p88"/>
              <p:cNvSpPr/>
              <p:nvPr/>
            </p:nvSpPr>
            <p:spPr>
              <a:xfrm>
                <a:off x="44077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4" name="Google Shape;1844;p88"/>
              <p:cNvSpPr/>
              <p:nvPr/>
            </p:nvSpPr>
            <p:spPr>
              <a:xfrm>
                <a:off x="50816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45" name="Google Shape;1845;p88"/>
            <p:cNvSpPr/>
            <p:nvPr/>
          </p:nvSpPr>
          <p:spPr>
            <a:xfrm>
              <a:off x="4407751" y="2747200"/>
              <a:ext cx="2550900" cy="1533300"/>
            </a:xfrm>
            <a:prstGeom prst="arc">
              <a:avLst>
                <a:gd fmla="val 1311860" name="adj1"/>
                <a:gd fmla="val 5384545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6" name="Google Shape;1846;p88"/>
            <p:cNvSpPr txBox="1"/>
            <p:nvPr/>
          </p:nvSpPr>
          <p:spPr>
            <a:xfrm>
              <a:off x="4188250" y="2496100"/>
              <a:ext cx="112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 wins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7" name="Google Shape;1847;p88"/>
            <p:cNvSpPr txBox="1"/>
            <p:nvPr/>
          </p:nvSpPr>
          <p:spPr>
            <a:xfrm>
              <a:off x="7171450" y="2496100"/>
              <a:ext cx="112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 wins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8" name="Google Shape;1848;p88"/>
            <p:cNvSpPr txBox="1"/>
            <p:nvPr/>
          </p:nvSpPr>
          <p:spPr>
            <a:xfrm>
              <a:off x="3830075" y="2470000"/>
              <a:ext cx="27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9" name="Google Shape;1849;p88"/>
          <p:cNvSpPr txBox="1"/>
          <p:nvPr/>
        </p:nvSpPr>
        <p:spPr>
          <a:xfrm>
            <a:off x="6046050" y="3178125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88"/>
          <p:cNvSpPr txBox="1"/>
          <p:nvPr/>
        </p:nvSpPr>
        <p:spPr>
          <a:xfrm>
            <a:off x="4661275" y="34880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88"/>
          <p:cNvSpPr txBox="1"/>
          <p:nvPr/>
        </p:nvSpPr>
        <p:spPr>
          <a:xfrm>
            <a:off x="7299600" y="324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88"/>
          <p:cNvSpPr txBox="1"/>
          <p:nvPr/>
        </p:nvSpPr>
        <p:spPr>
          <a:xfrm>
            <a:off x="7721100" y="4403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88"/>
          <p:cNvSpPr txBox="1"/>
          <p:nvPr/>
        </p:nvSpPr>
        <p:spPr>
          <a:xfrm>
            <a:off x="532475" y="3682150"/>
            <a:ext cx="19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or 4 - Sam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or 4 - Alex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no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88"/>
          <p:cNvSpPr txBox="1"/>
          <p:nvPr/>
        </p:nvSpPr>
        <p:spPr>
          <a:xfrm>
            <a:off x="324000" y="2518450"/>
            <a:ext cx="216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it lands on a: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5" name="Google Shape;1855;p88"/>
          <p:cNvPicPr preferRelativeResize="0"/>
          <p:nvPr/>
        </p:nvPicPr>
        <p:blipFill rotWithShape="1">
          <a:blip r:embed="rId3">
            <a:alphaModFix/>
          </a:blip>
          <a:srcRect b="7855" l="7863" r="7855" t="7863"/>
          <a:stretch/>
        </p:blipFill>
        <p:spPr>
          <a:xfrm>
            <a:off x="324000" y="606152"/>
            <a:ext cx="1926644" cy="1912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6" name="Google Shape;1856;p88"/>
          <p:cNvCxnSpPr/>
          <p:nvPr/>
        </p:nvCxnSpPr>
        <p:spPr>
          <a:xfrm rot="10800000">
            <a:off x="1289199" y="1180658"/>
            <a:ext cx="0" cy="375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7" name="Google Shape;1857;p88"/>
          <p:cNvSpPr/>
          <p:nvPr/>
        </p:nvSpPr>
        <p:spPr>
          <a:xfrm>
            <a:off x="1264307" y="1540853"/>
            <a:ext cx="45900" cy="41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89"/>
          <p:cNvSpPr/>
          <p:nvPr/>
        </p:nvSpPr>
        <p:spPr>
          <a:xfrm>
            <a:off x="5274155" y="2496100"/>
            <a:ext cx="3204900" cy="2324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3" name="Google Shape;1863;p89"/>
          <p:cNvGrpSpPr/>
          <p:nvPr/>
        </p:nvGrpSpPr>
        <p:grpSpPr>
          <a:xfrm>
            <a:off x="5496492" y="3052000"/>
            <a:ext cx="2760324" cy="1533300"/>
            <a:chOff x="4407725" y="2747200"/>
            <a:chExt cx="2207200" cy="1533300"/>
          </a:xfrm>
        </p:grpSpPr>
        <p:sp>
          <p:nvSpPr>
            <p:cNvPr id="1864" name="Google Shape;1864;p89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5" name="Google Shape;1865;p89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6" name="Google Shape;1866;p89"/>
          <p:cNvSpPr txBox="1"/>
          <p:nvPr/>
        </p:nvSpPr>
        <p:spPr>
          <a:xfrm>
            <a:off x="5331438" y="2496100"/>
            <a:ext cx="84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89"/>
          <p:cNvSpPr txBox="1"/>
          <p:nvPr/>
        </p:nvSpPr>
        <p:spPr>
          <a:xfrm>
            <a:off x="7574019" y="2496100"/>
            <a:ext cx="84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89"/>
          <p:cNvSpPr txBox="1"/>
          <p:nvPr/>
        </p:nvSpPr>
        <p:spPr>
          <a:xfrm>
            <a:off x="5002655" y="2470000"/>
            <a:ext cx="27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1870" name="Google Shape;1870;p89"/>
          <p:cNvSpPr txBox="1"/>
          <p:nvPr/>
        </p:nvSpPr>
        <p:spPr>
          <a:xfrm>
            <a:off x="6728014" y="3482925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89"/>
          <p:cNvSpPr txBox="1"/>
          <p:nvPr/>
        </p:nvSpPr>
        <p:spPr>
          <a:xfrm>
            <a:off x="5687028" y="3792850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89"/>
          <p:cNvSpPr txBox="1"/>
          <p:nvPr/>
        </p:nvSpPr>
        <p:spPr>
          <a:xfrm>
            <a:off x="7670354" y="3544800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89"/>
          <p:cNvSpPr txBox="1"/>
          <p:nvPr/>
        </p:nvSpPr>
        <p:spPr>
          <a:xfrm>
            <a:off x="7987211" y="4403400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89"/>
          <p:cNvSpPr txBox="1"/>
          <p:nvPr/>
        </p:nvSpPr>
        <p:spPr>
          <a:xfrm>
            <a:off x="324000" y="6845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P(Sam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Alex wins)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5" name="Google Shape;1875;p89"/>
          <p:cNvCxnSpPr/>
          <p:nvPr/>
        </p:nvCxnSpPr>
        <p:spPr>
          <a:xfrm flipH="1" rot="10800000">
            <a:off x="1756197" y="2711996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6" name="Google Shape;1876;p89"/>
          <p:cNvSpPr txBox="1"/>
          <p:nvPr/>
        </p:nvSpPr>
        <p:spPr>
          <a:xfrm>
            <a:off x="2229987" y="2575557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7" name="Google Shape;1877;p89"/>
          <p:cNvCxnSpPr/>
          <p:nvPr/>
        </p:nvCxnSpPr>
        <p:spPr>
          <a:xfrm>
            <a:off x="410561" y="2375072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8" name="Google Shape;1878;p89"/>
          <p:cNvSpPr txBox="1"/>
          <p:nvPr/>
        </p:nvSpPr>
        <p:spPr>
          <a:xfrm>
            <a:off x="838787" y="3021697"/>
            <a:ext cx="91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89"/>
          <p:cNvSpPr txBox="1"/>
          <p:nvPr/>
        </p:nvSpPr>
        <p:spPr>
          <a:xfrm>
            <a:off x="2380112" y="285273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89"/>
          <p:cNvSpPr txBox="1"/>
          <p:nvPr/>
        </p:nvSpPr>
        <p:spPr>
          <a:xfrm>
            <a:off x="2674887" y="285273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89"/>
          <p:cNvSpPr txBox="1"/>
          <p:nvPr/>
        </p:nvSpPr>
        <p:spPr>
          <a:xfrm>
            <a:off x="2969662" y="285273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2" name="Google Shape;1882;p89"/>
          <p:cNvCxnSpPr/>
          <p:nvPr/>
        </p:nvCxnSpPr>
        <p:spPr>
          <a:xfrm flipH="1" rot="10800000">
            <a:off x="1756197" y="1141747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3" name="Google Shape;1883;p89"/>
          <p:cNvSpPr txBox="1"/>
          <p:nvPr/>
        </p:nvSpPr>
        <p:spPr>
          <a:xfrm>
            <a:off x="2229987" y="1006107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89"/>
          <p:cNvSpPr txBox="1"/>
          <p:nvPr/>
        </p:nvSpPr>
        <p:spPr>
          <a:xfrm>
            <a:off x="2790887" y="1317871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89"/>
          <p:cNvSpPr txBox="1"/>
          <p:nvPr/>
        </p:nvSpPr>
        <p:spPr>
          <a:xfrm>
            <a:off x="2201337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89"/>
          <p:cNvSpPr txBox="1"/>
          <p:nvPr/>
        </p:nvSpPr>
        <p:spPr>
          <a:xfrm>
            <a:off x="2496112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89"/>
          <p:cNvSpPr txBox="1"/>
          <p:nvPr/>
        </p:nvSpPr>
        <p:spPr>
          <a:xfrm>
            <a:off x="3085662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89"/>
          <p:cNvSpPr txBox="1"/>
          <p:nvPr/>
        </p:nvSpPr>
        <p:spPr>
          <a:xfrm>
            <a:off x="3380437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9" name="Google Shape;1889;p89"/>
          <p:cNvCxnSpPr/>
          <p:nvPr/>
        </p:nvCxnSpPr>
        <p:spPr>
          <a:xfrm>
            <a:off x="1756197" y="3160196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0" name="Google Shape;1890;p89"/>
          <p:cNvSpPr txBox="1"/>
          <p:nvPr/>
        </p:nvSpPr>
        <p:spPr>
          <a:xfrm>
            <a:off x="2229987" y="3467847"/>
            <a:ext cx="207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89"/>
          <p:cNvSpPr txBox="1"/>
          <p:nvPr/>
        </p:nvSpPr>
        <p:spPr>
          <a:xfrm>
            <a:off x="2523616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89"/>
          <p:cNvSpPr txBox="1"/>
          <p:nvPr/>
        </p:nvSpPr>
        <p:spPr>
          <a:xfrm>
            <a:off x="2818391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89"/>
          <p:cNvSpPr txBox="1"/>
          <p:nvPr/>
        </p:nvSpPr>
        <p:spPr>
          <a:xfrm>
            <a:off x="2228841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89"/>
          <p:cNvSpPr txBox="1"/>
          <p:nvPr/>
        </p:nvSpPr>
        <p:spPr>
          <a:xfrm>
            <a:off x="3407442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89"/>
          <p:cNvSpPr txBox="1"/>
          <p:nvPr/>
        </p:nvSpPr>
        <p:spPr>
          <a:xfrm>
            <a:off x="3702217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89"/>
          <p:cNvSpPr txBox="1"/>
          <p:nvPr/>
        </p:nvSpPr>
        <p:spPr>
          <a:xfrm>
            <a:off x="3112667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7" name="Google Shape;1897;p89"/>
          <p:cNvCxnSpPr/>
          <p:nvPr/>
        </p:nvCxnSpPr>
        <p:spPr>
          <a:xfrm>
            <a:off x="1756197" y="1589947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8" name="Google Shape;1898;p89"/>
          <p:cNvSpPr txBox="1"/>
          <p:nvPr/>
        </p:nvSpPr>
        <p:spPr>
          <a:xfrm>
            <a:off x="2229987" y="1898397"/>
            <a:ext cx="207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89"/>
          <p:cNvSpPr txBox="1"/>
          <p:nvPr/>
        </p:nvSpPr>
        <p:spPr>
          <a:xfrm>
            <a:off x="2694906" y="2185204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89"/>
          <p:cNvSpPr txBox="1"/>
          <p:nvPr/>
        </p:nvSpPr>
        <p:spPr>
          <a:xfrm>
            <a:off x="2989681" y="2185204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1" name="Google Shape;1901;p89"/>
          <p:cNvCxnSpPr/>
          <p:nvPr/>
        </p:nvCxnSpPr>
        <p:spPr>
          <a:xfrm flipH="1" rot="10800000">
            <a:off x="410561" y="1570472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2" name="Google Shape;1902;p89"/>
          <p:cNvSpPr txBox="1"/>
          <p:nvPr/>
        </p:nvSpPr>
        <p:spPr>
          <a:xfrm>
            <a:off x="998060" y="1451477"/>
            <a:ext cx="59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3" name="Google Shape;1903;p89"/>
          <p:cNvCxnSpPr/>
          <p:nvPr/>
        </p:nvCxnSpPr>
        <p:spPr>
          <a:xfrm flipH="1" rot="10800000">
            <a:off x="1756197" y="2711996"/>
            <a:ext cx="473700" cy="4482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4" name="Google Shape;1904;p89"/>
          <p:cNvCxnSpPr/>
          <p:nvPr/>
        </p:nvCxnSpPr>
        <p:spPr>
          <a:xfrm>
            <a:off x="410561" y="2375072"/>
            <a:ext cx="473700" cy="8046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5" name="Google Shape;1905;p89"/>
          <p:cNvCxnSpPr/>
          <p:nvPr/>
        </p:nvCxnSpPr>
        <p:spPr>
          <a:xfrm flipH="1" rot="10800000">
            <a:off x="1756197" y="1141747"/>
            <a:ext cx="473700" cy="4482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89"/>
          <p:cNvCxnSpPr/>
          <p:nvPr/>
        </p:nvCxnSpPr>
        <p:spPr>
          <a:xfrm>
            <a:off x="1756197" y="1589947"/>
            <a:ext cx="473700" cy="4482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89"/>
          <p:cNvCxnSpPr/>
          <p:nvPr/>
        </p:nvCxnSpPr>
        <p:spPr>
          <a:xfrm flipH="1" rot="10800000">
            <a:off x="410561" y="1570472"/>
            <a:ext cx="473700" cy="8046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908" name="Google Shape;1908;p89" title="5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36" y="1225884"/>
            <a:ext cx="231178" cy="4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6}&quot;&gt;&lt;mfrac&gt;&lt;mn&gt;2&lt;/mn&gt;&lt;mn&gt;16&lt;/mn&gt;&lt;/mfrac&gt;&lt;/math&gt;" id="1909" name="Google Shape;1909;p89" title="2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913" y="2086784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910" name="Google Shape;1910;p89" title="3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3450" y="2743347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89"/>
          <p:cNvSpPr txBox="1"/>
          <p:nvPr/>
        </p:nvSpPr>
        <p:spPr>
          <a:xfrm>
            <a:off x="324000" y="4472422"/>
            <a:ext cx="249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P(Sam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Alex wins)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6}&quot;&gt;&lt;mfrac&gt;&lt;mn&gt;2&lt;/mn&gt;&lt;mn&gt;16&lt;/mn&gt;&lt;/mfrac&gt;&lt;/math&gt;" id="1912" name="Google Shape;1912;p89" title="2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525" y="4387640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89"/>
          <p:cNvSpPr txBox="1"/>
          <p:nvPr/>
        </p:nvSpPr>
        <p:spPr>
          <a:xfrm>
            <a:off x="3594431" y="4465040"/>
            <a:ext cx="2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89"/>
          <p:cNvSpPr txBox="1"/>
          <p:nvPr/>
        </p:nvSpPr>
        <p:spPr>
          <a:xfrm>
            <a:off x="4075925" y="4465040"/>
            <a:ext cx="2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89"/>
          <p:cNvSpPr txBox="1"/>
          <p:nvPr/>
        </p:nvSpPr>
        <p:spPr>
          <a:xfrm>
            <a:off x="3113071" y="4465040"/>
            <a:ext cx="2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16}&quot;&gt;&lt;mfrac&gt;&lt;mn&gt;10&lt;/mn&gt;&lt;mn&gt;16&lt;/mn&gt;&lt;/mfrac&gt;&lt;/math&gt;" id="1916" name="Google Shape;1916;p89" title="10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6522" y="4387640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917" name="Google Shape;1917;p89" title="5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178" y="4387640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918" name="Google Shape;1918;p89" title="3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5093" y="4387640"/>
            <a:ext cx="237466" cy="4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9" name="Google Shape;1919;p89"/>
          <p:cNvCxnSpPr/>
          <p:nvPr/>
        </p:nvCxnSpPr>
        <p:spPr>
          <a:xfrm>
            <a:off x="4696813" y="1237750"/>
            <a:ext cx="0" cy="3582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89"/>
          <p:cNvSpPr/>
          <p:nvPr/>
        </p:nvSpPr>
        <p:spPr>
          <a:xfrm>
            <a:off x="3758475" y="1129475"/>
            <a:ext cx="375900" cy="612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89"/>
          <p:cNvSpPr/>
          <p:nvPr/>
        </p:nvSpPr>
        <p:spPr>
          <a:xfrm>
            <a:off x="4050763" y="1996800"/>
            <a:ext cx="375900" cy="612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89"/>
          <p:cNvSpPr/>
          <p:nvPr/>
        </p:nvSpPr>
        <p:spPr>
          <a:xfrm>
            <a:off x="3264413" y="2630100"/>
            <a:ext cx="375900" cy="612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7" name="Google Shape;1927;p90"/>
          <p:cNvGrpSpPr/>
          <p:nvPr/>
        </p:nvGrpSpPr>
        <p:grpSpPr>
          <a:xfrm>
            <a:off x="5495192" y="3052000"/>
            <a:ext cx="2762141" cy="1533300"/>
            <a:chOff x="4405714" y="2747200"/>
            <a:chExt cx="3674037" cy="1533300"/>
          </a:xfrm>
        </p:grpSpPr>
        <p:sp>
          <p:nvSpPr>
            <p:cNvPr id="1928" name="Google Shape;1928;p90"/>
            <p:cNvSpPr/>
            <p:nvPr/>
          </p:nvSpPr>
          <p:spPr>
            <a:xfrm>
              <a:off x="5528851" y="2747200"/>
              <a:ext cx="2550900" cy="1533300"/>
            </a:xfrm>
            <a:prstGeom prst="ellipse">
              <a:avLst/>
            </a:prstGeom>
            <a:solidFill>
              <a:srgbClr val="EBEDFE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9" name="Google Shape;1929;p90"/>
            <p:cNvSpPr/>
            <p:nvPr/>
          </p:nvSpPr>
          <p:spPr>
            <a:xfrm>
              <a:off x="4405714" y="2747200"/>
              <a:ext cx="2550900" cy="1533300"/>
            </a:xfrm>
            <a:prstGeom prst="ellipse">
              <a:avLst/>
            </a:prstGeom>
            <a:solidFill>
              <a:srgbClr val="EBEDFE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0" name="Google Shape;1930;p90"/>
          <p:cNvSpPr/>
          <p:nvPr/>
        </p:nvSpPr>
        <p:spPr>
          <a:xfrm>
            <a:off x="5274155" y="2496100"/>
            <a:ext cx="3204900" cy="2324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1" name="Google Shape;1931;p90"/>
          <p:cNvGrpSpPr/>
          <p:nvPr/>
        </p:nvGrpSpPr>
        <p:grpSpPr>
          <a:xfrm>
            <a:off x="5496492" y="3052000"/>
            <a:ext cx="2760324" cy="1533300"/>
            <a:chOff x="4407725" y="2747200"/>
            <a:chExt cx="2207200" cy="1533300"/>
          </a:xfrm>
        </p:grpSpPr>
        <p:sp>
          <p:nvSpPr>
            <p:cNvPr id="1932" name="Google Shape;1932;p90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3" name="Google Shape;1933;p90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4" name="Google Shape;1934;p90"/>
          <p:cNvSpPr/>
          <p:nvPr/>
        </p:nvSpPr>
        <p:spPr>
          <a:xfrm>
            <a:off x="5496445" y="3052000"/>
            <a:ext cx="1917600" cy="1533300"/>
          </a:xfrm>
          <a:prstGeom prst="arc">
            <a:avLst>
              <a:gd fmla="val 1311860" name="adj1"/>
              <a:gd fmla="val 5384545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90"/>
          <p:cNvSpPr txBox="1"/>
          <p:nvPr/>
        </p:nvSpPr>
        <p:spPr>
          <a:xfrm>
            <a:off x="5331438" y="2496100"/>
            <a:ext cx="84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90"/>
          <p:cNvSpPr txBox="1"/>
          <p:nvPr/>
        </p:nvSpPr>
        <p:spPr>
          <a:xfrm>
            <a:off x="7574019" y="2496100"/>
            <a:ext cx="84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90"/>
          <p:cNvSpPr txBox="1"/>
          <p:nvPr/>
        </p:nvSpPr>
        <p:spPr>
          <a:xfrm>
            <a:off x="5002655" y="2470000"/>
            <a:ext cx="27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1939" name="Google Shape;1939;p90"/>
          <p:cNvSpPr txBox="1"/>
          <p:nvPr/>
        </p:nvSpPr>
        <p:spPr>
          <a:xfrm>
            <a:off x="6728014" y="3482925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90"/>
          <p:cNvSpPr txBox="1"/>
          <p:nvPr/>
        </p:nvSpPr>
        <p:spPr>
          <a:xfrm>
            <a:off x="5687028" y="3792850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90"/>
          <p:cNvSpPr txBox="1"/>
          <p:nvPr/>
        </p:nvSpPr>
        <p:spPr>
          <a:xfrm>
            <a:off x="7670354" y="3544800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90"/>
          <p:cNvSpPr txBox="1"/>
          <p:nvPr/>
        </p:nvSpPr>
        <p:spPr>
          <a:xfrm>
            <a:off x="7987211" y="4403400"/>
            <a:ext cx="3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3" name="Google Shape;1943;p90"/>
          <p:cNvGrpSpPr/>
          <p:nvPr/>
        </p:nvGrpSpPr>
        <p:grpSpPr>
          <a:xfrm>
            <a:off x="4798946" y="1515121"/>
            <a:ext cx="1681947" cy="504830"/>
            <a:chOff x="3889065" y="1134121"/>
            <a:chExt cx="1681947" cy="504830"/>
          </a:xfrm>
        </p:grpSpPr>
        <p:pic>
          <p:nvPicPr>
            <p:cNvPr descr="&lt;math xmlns=&quot;http://www.w3.org/1998/Math/MathML&quot; display=&quot;block&quot; data-is-equatio=&quot;1&quot; data-latex=&quot;\frac{2}{16}&quot;&gt;&lt;mfrac&gt;&lt;mn&gt;2&lt;/mn&gt;&lt;mn&gt;16&lt;/mn&gt;&lt;/mfrac&gt;&lt;/math&gt;" id="1944" name="Google Shape;1944;p90" title="2 over 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9065" y="1206951"/>
              <a:ext cx="237600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16}&quot;&gt;&lt;mfrac&gt;&lt;mn&gt;3&lt;/mn&gt;&lt;mn&gt;16&lt;/mn&gt;&lt;/mfrac&gt;&lt;/math&gt;" id="1945" name="Google Shape;1945;p90" title="3 over 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70559" y="1206951"/>
              <a:ext cx="237466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16}&quot;&gt;&lt;mfrac&gt;&lt;mn&gt;5&lt;/mn&gt;&lt;mn&gt;16&lt;/mn&gt;&lt;/mfrac&gt;&lt;/math&gt;" id="1946" name="Google Shape;1946;p90" title="5 over 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51919" y="1206951"/>
              <a:ext cx="237600" cy="4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7" name="Google Shape;1947;p90"/>
            <p:cNvSpPr txBox="1"/>
            <p:nvPr/>
          </p:nvSpPr>
          <p:spPr>
            <a:xfrm>
              <a:off x="4611322" y="1134121"/>
              <a:ext cx="23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8" name="Google Shape;1948;p90"/>
            <p:cNvSpPr txBox="1"/>
            <p:nvPr/>
          </p:nvSpPr>
          <p:spPr>
            <a:xfrm>
              <a:off x="5092816" y="1134121"/>
              <a:ext cx="23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9" name="Google Shape;1949;p90"/>
            <p:cNvSpPr txBox="1"/>
            <p:nvPr/>
          </p:nvSpPr>
          <p:spPr>
            <a:xfrm>
              <a:off x="4129962" y="1134121"/>
              <a:ext cx="237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}{16}&quot;&gt;&lt;mfrac&gt;&lt;mn&gt;10&lt;/mn&gt;&lt;mn&gt;16&lt;/mn&gt;&lt;/mfrac&gt;&lt;/math&gt;" id="1950" name="Google Shape;1950;p90" title="10 over 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333413" y="1206938"/>
              <a:ext cx="237600" cy="43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1" name="Google Shape;1951;p90"/>
          <p:cNvSpPr/>
          <p:nvPr/>
        </p:nvSpPr>
        <p:spPr>
          <a:xfrm>
            <a:off x="4737156" y="1772350"/>
            <a:ext cx="14721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2" name="Google Shape;1952;p90"/>
          <p:cNvGrpSpPr/>
          <p:nvPr/>
        </p:nvGrpSpPr>
        <p:grpSpPr>
          <a:xfrm>
            <a:off x="4862031" y="1786998"/>
            <a:ext cx="1065900" cy="232025"/>
            <a:chOff x="4256950" y="1391344"/>
            <a:chExt cx="1065900" cy="232025"/>
          </a:xfrm>
        </p:grpSpPr>
        <p:pic>
          <p:nvPicPr>
            <p:cNvPr descr="&lt;math xmlns=&quot;http://www.w3.org/1998/Math/MathML&quot; display=&quot;block&quot; data-is-equatio=&quot;1&quot; data-latex=&quot;\frac{10}{16}&quot;&gt;&lt;mfrac&gt;&lt;mn&gt;10&lt;/mn&gt;&lt;mn&gt;16&lt;/mn&gt;&lt;/mfrac&gt;&lt;/math&gt;" id="1953" name="Google Shape;1953;p90" title="10 over 16"/>
            <p:cNvPicPr preferRelativeResize="0"/>
            <p:nvPr/>
          </p:nvPicPr>
          <p:blipFill rotWithShape="1">
            <a:blip r:embed="rId6">
              <a:alphaModFix/>
            </a:blip>
            <a:srcRect b="0" l="9" r="0" t="46291"/>
            <a:stretch/>
          </p:blipFill>
          <p:spPr>
            <a:xfrm>
              <a:off x="4671113" y="1391344"/>
              <a:ext cx="237575" cy="232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54" name="Google Shape;1954;p90"/>
            <p:cNvCxnSpPr/>
            <p:nvPr/>
          </p:nvCxnSpPr>
          <p:spPr>
            <a:xfrm>
              <a:off x="4256950" y="1420675"/>
              <a:ext cx="1065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5" name="Google Shape;1955;p90"/>
          <p:cNvSpPr txBox="1"/>
          <p:nvPr/>
        </p:nvSpPr>
        <p:spPr>
          <a:xfrm>
            <a:off x="6612700" y="1097943"/>
            <a:ext cx="22074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outcomes across either event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6" name="Google Shape;1956;p90"/>
          <p:cNvGrpSpPr/>
          <p:nvPr/>
        </p:nvGrpSpPr>
        <p:grpSpPr>
          <a:xfrm>
            <a:off x="5496723" y="3052000"/>
            <a:ext cx="2760572" cy="1533300"/>
            <a:chOff x="4407751" y="6404800"/>
            <a:chExt cx="3671950" cy="1533300"/>
          </a:xfrm>
        </p:grpSpPr>
        <p:sp>
          <p:nvSpPr>
            <p:cNvPr id="1957" name="Google Shape;1957;p90"/>
            <p:cNvSpPr/>
            <p:nvPr/>
          </p:nvSpPr>
          <p:spPr>
            <a:xfrm flipH="1">
              <a:off x="5528801" y="6404800"/>
              <a:ext cx="2550900" cy="1533300"/>
            </a:xfrm>
            <a:prstGeom prst="arc">
              <a:avLst>
                <a:gd fmla="val 3405768" name="adj1"/>
                <a:gd fmla="val 18015914" name="adj2"/>
              </a:avLst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8" name="Google Shape;1958;p90"/>
            <p:cNvSpPr/>
            <p:nvPr/>
          </p:nvSpPr>
          <p:spPr>
            <a:xfrm>
              <a:off x="4407751" y="6404800"/>
              <a:ext cx="2550900" cy="1533300"/>
            </a:xfrm>
            <a:prstGeom prst="arc">
              <a:avLst>
                <a:gd fmla="val 3297876" name="adj1"/>
                <a:gd fmla="val 18229674" name="adj2"/>
              </a:avLst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59" name="Google Shape;1959;p90"/>
          <p:cNvCxnSpPr/>
          <p:nvPr/>
        </p:nvCxnSpPr>
        <p:spPr>
          <a:xfrm>
            <a:off x="6243281" y="1816325"/>
            <a:ext cx="23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90"/>
          <p:cNvSpPr/>
          <p:nvPr/>
        </p:nvSpPr>
        <p:spPr>
          <a:xfrm>
            <a:off x="6243306" y="1772350"/>
            <a:ext cx="3747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1" name="Google Shape;1961;p90"/>
          <p:cNvCxnSpPr/>
          <p:nvPr/>
        </p:nvCxnSpPr>
        <p:spPr>
          <a:xfrm>
            <a:off x="4696813" y="1237750"/>
            <a:ext cx="0" cy="3582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2" name="Google Shape;1962;p90"/>
          <p:cNvSpPr txBox="1"/>
          <p:nvPr/>
        </p:nvSpPr>
        <p:spPr>
          <a:xfrm>
            <a:off x="6612674" y="1641646"/>
            <a:ext cx="22074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 of a total of 16 outcomes in the sample space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90"/>
          <p:cNvSpPr txBox="1"/>
          <p:nvPr/>
        </p:nvSpPr>
        <p:spPr>
          <a:xfrm>
            <a:off x="3002650" y="684500"/>
            <a:ext cx="313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P(Sam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Alex wins)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4" name="Google Shape;1964;p90"/>
          <p:cNvCxnSpPr/>
          <p:nvPr/>
        </p:nvCxnSpPr>
        <p:spPr>
          <a:xfrm flipH="1" rot="10800000">
            <a:off x="1756197" y="2711996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5" name="Google Shape;1965;p90"/>
          <p:cNvSpPr txBox="1"/>
          <p:nvPr/>
        </p:nvSpPr>
        <p:spPr>
          <a:xfrm>
            <a:off x="2229987" y="2575557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6" name="Google Shape;1966;p90"/>
          <p:cNvCxnSpPr/>
          <p:nvPr/>
        </p:nvCxnSpPr>
        <p:spPr>
          <a:xfrm>
            <a:off x="410561" y="2375072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7" name="Google Shape;1967;p90"/>
          <p:cNvSpPr txBox="1"/>
          <p:nvPr/>
        </p:nvSpPr>
        <p:spPr>
          <a:xfrm>
            <a:off x="838787" y="3021697"/>
            <a:ext cx="91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90"/>
          <p:cNvSpPr txBox="1"/>
          <p:nvPr/>
        </p:nvSpPr>
        <p:spPr>
          <a:xfrm>
            <a:off x="2380112" y="285273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90"/>
          <p:cNvSpPr txBox="1"/>
          <p:nvPr/>
        </p:nvSpPr>
        <p:spPr>
          <a:xfrm>
            <a:off x="2674887" y="285273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90"/>
          <p:cNvSpPr txBox="1"/>
          <p:nvPr/>
        </p:nvSpPr>
        <p:spPr>
          <a:xfrm>
            <a:off x="2969662" y="285273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1" name="Google Shape;1971;p90"/>
          <p:cNvCxnSpPr/>
          <p:nvPr/>
        </p:nvCxnSpPr>
        <p:spPr>
          <a:xfrm flipH="1" rot="10800000">
            <a:off x="1756197" y="1141747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90"/>
          <p:cNvSpPr txBox="1"/>
          <p:nvPr/>
        </p:nvSpPr>
        <p:spPr>
          <a:xfrm>
            <a:off x="2229987" y="1006107"/>
            <a:ext cx="1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90"/>
          <p:cNvSpPr txBox="1"/>
          <p:nvPr/>
        </p:nvSpPr>
        <p:spPr>
          <a:xfrm>
            <a:off x="2790887" y="1317871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90"/>
          <p:cNvSpPr txBox="1"/>
          <p:nvPr/>
        </p:nvSpPr>
        <p:spPr>
          <a:xfrm>
            <a:off x="2201337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90"/>
          <p:cNvSpPr txBox="1"/>
          <p:nvPr/>
        </p:nvSpPr>
        <p:spPr>
          <a:xfrm>
            <a:off x="2496112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90"/>
          <p:cNvSpPr txBox="1"/>
          <p:nvPr/>
        </p:nvSpPr>
        <p:spPr>
          <a:xfrm>
            <a:off x="3085662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90"/>
          <p:cNvSpPr txBox="1"/>
          <p:nvPr/>
        </p:nvSpPr>
        <p:spPr>
          <a:xfrm>
            <a:off x="3380437" y="1317860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8" name="Google Shape;1978;p90"/>
          <p:cNvCxnSpPr/>
          <p:nvPr/>
        </p:nvCxnSpPr>
        <p:spPr>
          <a:xfrm>
            <a:off x="1756197" y="3160196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9" name="Google Shape;1979;p90"/>
          <p:cNvSpPr txBox="1"/>
          <p:nvPr/>
        </p:nvSpPr>
        <p:spPr>
          <a:xfrm>
            <a:off x="2229987" y="3467847"/>
            <a:ext cx="207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90"/>
          <p:cNvSpPr txBox="1"/>
          <p:nvPr/>
        </p:nvSpPr>
        <p:spPr>
          <a:xfrm>
            <a:off x="2523616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90"/>
          <p:cNvSpPr txBox="1"/>
          <p:nvPr/>
        </p:nvSpPr>
        <p:spPr>
          <a:xfrm>
            <a:off x="2818391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90"/>
          <p:cNvSpPr txBox="1"/>
          <p:nvPr/>
        </p:nvSpPr>
        <p:spPr>
          <a:xfrm>
            <a:off x="2228841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0"/>
          <p:cNvSpPr txBox="1"/>
          <p:nvPr/>
        </p:nvSpPr>
        <p:spPr>
          <a:xfrm>
            <a:off x="3407442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0"/>
          <p:cNvSpPr txBox="1"/>
          <p:nvPr/>
        </p:nvSpPr>
        <p:spPr>
          <a:xfrm>
            <a:off x="3702217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0"/>
          <p:cNvSpPr txBox="1"/>
          <p:nvPr/>
        </p:nvSpPr>
        <p:spPr>
          <a:xfrm>
            <a:off x="3112667" y="3743118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6" name="Google Shape;1986;p90"/>
          <p:cNvCxnSpPr/>
          <p:nvPr/>
        </p:nvCxnSpPr>
        <p:spPr>
          <a:xfrm>
            <a:off x="1756197" y="1589947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7" name="Google Shape;1987;p90"/>
          <p:cNvSpPr txBox="1"/>
          <p:nvPr/>
        </p:nvSpPr>
        <p:spPr>
          <a:xfrm>
            <a:off x="2229987" y="1898397"/>
            <a:ext cx="207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doesn’t 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0"/>
          <p:cNvSpPr txBox="1"/>
          <p:nvPr/>
        </p:nvSpPr>
        <p:spPr>
          <a:xfrm>
            <a:off x="2694906" y="2185204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0"/>
          <p:cNvSpPr txBox="1"/>
          <p:nvPr/>
        </p:nvSpPr>
        <p:spPr>
          <a:xfrm>
            <a:off x="2989681" y="2185204"/>
            <a:ext cx="213600" cy="2352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0" name="Google Shape;1990;p90"/>
          <p:cNvCxnSpPr/>
          <p:nvPr/>
        </p:nvCxnSpPr>
        <p:spPr>
          <a:xfrm flipH="1" rot="10800000">
            <a:off x="410561" y="1570472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1" name="Google Shape;1991;p90"/>
          <p:cNvSpPr txBox="1"/>
          <p:nvPr/>
        </p:nvSpPr>
        <p:spPr>
          <a:xfrm>
            <a:off x="998060" y="1451477"/>
            <a:ext cx="59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992" name="Google Shape;1992;p90" title="5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0836" y="1225884"/>
            <a:ext cx="231178" cy="4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6}&quot;&gt;&lt;mfrac&gt;&lt;mn&gt;2&lt;/mn&gt;&lt;mn&gt;16&lt;/mn&gt;&lt;/mfrac&gt;&lt;/math&gt;" id="1993" name="Google Shape;1993;p90" title="2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913" y="2086784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994" name="Google Shape;1994;p90" title="3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450" y="2743347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5" name="Google Shape;1995;p90"/>
          <p:cNvSpPr txBox="1"/>
          <p:nvPr/>
        </p:nvSpPr>
        <p:spPr>
          <a:xfrm>
            <a:off x="324000" y="4472422"/>
            <a:ext cx="249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P(Sam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Alex wins)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6}&quot;&gt;&lt;mfrac&gt;&lt;mn&gt;2&lt;/mn&gt;&lt;mn&gt;16&lt;/mn&gt;&lt;/mfrac&gt;&lt;/math&gt;" id="1996" name="Google Shape;1996;p90" title="2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3525" y="4387640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7" name="Google Shape;1997;p90"/>
          <p:cNvSpPr txBox="1"/>
          <p:nvPr/>
        </p:nvSpPr>
        <p:spPr>
          <a:xfrm>
            <a:off x="3594431" y="4465040"/>
            <a:ext cx="2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0"/>
          <p:cNvSpPr txBox="1"/>
          <p:nvPr/>
        </p:nvSpPr>
        <p:spPr>
          <a:xfrm>
            <a:off x="4075925" y="4465040"/>
            <a:ext cx="2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0"/>
          <p:cNvSpPr txBox="1"/>
          <p:nvPr/>
        </p:nvSpPr>
        <p:spPr>
          <a:xfrm>
            <a:off x="3113071" y="4465040"/>
            <a:ext cx="2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16}&quot;&gt;&lt;mfrac&gt;&lt;mn&gt;10&lt;/mn&gt;&lt;mn&gt;16&lt;/mn&gt;&lt;/mfrac&gt;&lt;/math&gt;" id="2000" name="Google Shape;2000;p90" title="10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6522" y="4387640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2001" name="Google Shape;2001;p90" title="5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2178" y="4387640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2002" name="Google Shape;2002;p90" title="3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093" y="4387640"/>
            <a:ext cx="237466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7" name="Google Shape;2007;p91"/>
          <p:cNvGrpSpPr/>
          <p:nvPr/>
        </p:nvGrpSpPr>
        <p:grpSpPr>
          <a:xfrm>
            <a:off x="261553" y="2470000"/>
            <a:ext cx="4545275" cy="2350500"/>
            <a:chOff x="3830075" y="2470000"/>
            <a:chExt cx="4545275" cy="2350500"/>
          </a:xfrm>
        </p:grpSpPr>
        <p:sp>
          <p:nvSpPr>
            <p:cNvPr id="2008" name="Google Shape;2008;p91"/>
            <p:cNvSpPr/>
            <p:nvPr/>
          </p:nvSpPr>
          <p:spPr>
            <a:xfrm>
              <a:off x="4112050" y="2496100"/>
              <a:ext cx="4263300" cy="23244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09" name="Google Shape;2009;p91"/>
            <p:cNvGrpSpPr/>
            <p:nvPr/>
          </p:nvGrpSpPr>
          <p:grpSpPr>
            <a:xfrm>
              <a:off x="4407751" y="2747200"/>
              <a:ext cx="3671898" cy="1533300"/>
              <a:chOff x="4407725" y="2747200"/>
              <a:chExt cx="2207200" cy="1533300"/>
            </a:xfrm>
          </p:grpSpPr>
          <p:sp>
            <p:nvSpPr>
              <p:cNvPr id="2010" name="Google Shape;2010;p91"/>
              <p:cNvSpPr/>
              <p:nvPr/>
            </p:nvSpPr>
            <p:spPr>
              <a:xfrm>
                <a:off x="44077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1" name="Google Shape;2011;p91"/>
              <p:cNvSpPr/>
              <p:nvPr/>
            </p:nvSpPr>
            <p:spPr>
              <a:xfrm>
                <a:off x="50816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12" name="Google Shape;2012;p91"/>
            <p:cNvSpPr txBox="1"/>
            <p:nvPr/>
          </p:nvSpPr>
          <p:spPr>
            <a:xfrm>
              <a:off x="4188250" y="2496100"/>
              <a:ext cx="112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3" name="Google Shape;2013;p91"/>
            <p:cNvSpPr txBox="1"/>
            <p:nvPr/>
          </p:nvSpPr>
          <p:spPr>
            <a:xfrm>
              <a:off x="6910725" y="2496100"/>
              <a:ext cx="1388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 of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(M5)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4" name="Google Shape;2014;p91"/>
            <p:cNvSpPr txBox="1"/>
            <p:nvPr/>
          </p:nvSpPr>
          <p:spPr>
            <a:xfrm>
              <a:off x="3830075" y="2470000"/>
              <a:ext cx="27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5" name="Google Shape;201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016" name="Google Shape;2016;p91"/>
          <p:cNvSpPr txBox="1"/>
          <p:nvPr/>
        </p:nvSpPr>
        <p:spPr>
          <a:xfrm>
            <a:off x="1450328" y="33347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91"/>
          <p:cNvSpPr txBox="1"/>
          <p:nvPr/>
        </p:nvSpPr>
        <p:spPr>
          <a:xfrm>
            <a:off x="1085878" y="3641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91"/>
          <p:cNvSpPr txBox="1"/>
          <p:nvPr/>
        </p:nvSpPr>
        <p:spPr>
          <a:xfrm>
            <a:off x="1821653" y="4445925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91"/>
          <p:cNvSpPr txBox="1"/>
          <p:nvPr/>
        </p:nvSpPr>
        <p:spPr>
          <a:xfrm>
            <a:off x="2477528" y="3191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91"/>
          <p:cNvSpPr txBox="1"/>
          <p:nvPr/>
        </p:nvSpPr>
        <p:spPr>
          <a:xfrm>
            <a:off x="2580678" y="432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91"/>
          <p:cNvSpPr txBox="1"/>
          <p:nvPr/>
        </p:nvSpPr>
        <p:spPr>
          <a:xfrm>
            <a:off x="1706803" y="38831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91"/>
          <p:cNvSpPr txBox="1"/>
          <p:nvPr/>
        </p:nvSpPr>
        <p:spPr>
          <a:xfrm>
            <a:off x="3274603" y="43645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91"/>
          <p:cNvSpPr txBox="1"/>
          <p:nvPr/>
        </p:nvSpPr>
        <p:spPr>
          <a:xfrm>
            <a:off x="4147903" y="43645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91"/>
          <p:cNvSpPr txBox="1"/>
          <p:nvPr/>
        </p:nvSpPr>
        <p:spPr>
          <a:xfrm>
            <a:off x="324000" y="684500"/>
            <a:ext cx="4500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shows the individual outcomes from a spinner (that has some repeated outcomes).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 prime number and multiple of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91"/>
          <p:cNvSpPr txBox="1"/>
          <p:nvPr/>
        </p:nvSpPr>
        <p:spPr>
          <a:xfrm>
            <a:off x="3563403" y="333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91"/>
          <p:cNvSpPr txBox="1"/>
          <p:nvPr/>
        </p:nvSpPr>
        <p:spPr>
          <a:xfrm>
            <a:off x="3993403" y="35638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91"/>
          <p:cNvSpPr txBox="1"/>
          <p:nvPr/>
        </p:nvSpPr>
        <p:spPr>
          <a:xfrm>
            <a:off x="5350600" y="2878050"/>
            <a:ext cx="346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individual outcomes are there in this Venn diagram?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91"/>
          <p:cNvSpPr txBox="1"/>
          <p:nvPr/>
        </p:nvSpPr>
        <p:spPr>
          <a:xfrm>
            <a:off x="1821653" y="27863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91"/>
          <p:cNvSpPr txBox="1"/>
          <p:nvPr/>
        </p:nvSpPr>
        <p:spPr>
          <a:xfrm>
            <a:off x="1028828" y="3101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91"/>
          <p:cNvSpPr txBox="1"/>
          <p:nvPr/>
        </p:nvSpPr>
        <p:spPr>
          <a:xfrm>
            <a:off x="1450328" y="43645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91"/>
          <p:cNvSpPr txBox="1"/>
          <p:nvPr/>
        </p:nvSpPr>
        <p:spPr>
          <a:xfrm>
            <a:off x="3726403" y="432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91"/>
          <p:cNvSpPr txBox="1"/>
          <p:nvPr/>
        </p:nvSpPr>
        <p:spPr>
          <a:xfrm>
            <a:off x="5844875" y="3918600"/>
            <a:ext cx="156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 outcomes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7" name="Google Shape;2037;p92"/>
          <p:cNvGrpSpPr/>
          <p:nvPr/>
        </p:nvGrpSpPr>
        <p:grpSpPr>
          <a:xfrm>
            <a:off x="839229" y="2713750"/>
            <a:ext cx="3666395" cy="1566750"/>
            <a:chOff x="839229" y="4542550"/>
            <a:chExt cx="3666395" cy="1566750"/>
          </a:xfrm>
        </p:grpSpPr>
        <p:sp>
          <p:nvSpPr>
            <p:cNvPr id="2038" name="Google Shape;2038;p92"/>
            <p:cNvSpPr/>
            <p:nvPr/>
          </p:nvSpPr>
          <p:spPr>
            <a:xfrm>
              <a:off x="839229" y="4576000"/>
              <a:ext cx="2550900" cy="15333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9" name="Google Shape;2039;p92"/>
            <p:cNvSpPr/>
            <p:nvPr/>
          </p:nvSpPr>
          <p:spPr>
            <a:xfrm>
              <a:off x="1954723" y="4542550"/>
              <a:ext cx="2550900" cy="15333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0" name="Google Shape;2040;p92"/>
          <p:cNvGrpSpPr/>
          <p:nvPr/>
        </p:nvGrpSpPr>
        <p:grpSpPr>
          <a:xfrm>
            <a:off x="261553" y="2470000"/>
            <a:ext cx="4545275" cy="2350500"/>
            <a:chOff x="3830075" y="2470000"/>
            <a:chExt cx="4545275" cy="2350500"/>
          </a:xfrm>
        </p:grpSpPr>
        <p:sp>
          <p:nvSpPr>
            <p:cNvPr id="2041" name="Google Shape;2041;p92"/>
            <p:cNvSpPr/>
            <p:nvPr/>
          </p:nvSpPr>
          <p:spPr>
            <a:xfrm>
              <a:off x="4112050" y="2496100"/>
              <a:ext cx="4263300" cy="23244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42" name="Google Shape;2042;p92"/>
            <p:cNvGrpSpPr/>
            <p:nvPr/>
          </p:nvGrpSpPr>
          <p:grpSpPr>
            <a:xfrm>
              <a:off x="4407751" y="2747200"/>
              <a:ext cx="3671898" cy="1533300"/>
              <a:chOff x="4407725" y="2747200"/>
              <a:chExt cx="2207200" cy="1533300"/>
            </a:xfrm>
          </p:grpSpPr>
          <p:sp>
            <p:nvSpPr>
              <p:cNvPr id="2043" name="Google Shape;2043;p92"/>
              <p:cNvSpPr/>
              <p:nvPr/>
            </p:nvSpPr>
            <p:spPr>
              <a:xfrm>
                <a:off x="44077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4" name="Google Shape;2044;p92"/>
              <p:cNvSpPr/>
              <p:nvPr/>
            </p:nvSpPr>
            <p:spPr>
              <a:xfrm>
                <a:off x="50816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45" name="Google Shape;2045;p92"/>
            <p:cNvSpPr txBox="1"/>
            <p:nvPr/>
          </p:nvSpPr>
          <p:spPr>
            <a:xfrm>
              <a:off x="4188250" y="2496100"/>
              <a:ext cx="112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6" name="Google Shape;2046;p92"/>
            <p:cNvSpPr txBox="1"/>
            <p:nvPr/>
          </p:nvSpPr>
          <p:spPr>
            <a:xfrm>
              <a:off x="6910725" y="2496100"/>
              <a:ext cx="1388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 of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(M5)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7" name="Google Shape;2047;p92"/>
            <p:cNvSpPr txBox="1"/>
            <p:nvPr/>
          </p:nvSpPr>
          <p:spPr>
            <a:xfrm>
              <a:off x="3830075" y="2470000"/>
              <a:ext cx="27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8" name="Google Shape;204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049" name="Google Shape;2049;p92"/>
          <p:cNvSpPr txBox="1"/>
          <p:nvPr/>
        </p:nvSpPr>
        <p:spPr>
          <a:xfrm>
            <a:off x="1450328" y="33347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92"/>
          <p:cNvSpPr txBox="1"/>
          <p:nvPr/>
        </p:nvSpPr>
        <p:spPr>
          <a:xfrm>
            <a:off x="1085878" y="3641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92"/>
          <p:cNvSpPr txBox="1"/>
          <p:nvPr/>
        </p:nvSpPr>
        <p:spPr>
          <a:xfrm>
            <a:off x="1821653" y="4445925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92"/>
          <p:cNvSpPr txBox="1"/>
          <p:nvPr/>
        </p:nvSpPr>
        <p:spPr>
          <a:xfrm>
            <a:off x="2477528" y="3191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2"/>
          <p:cNvSpPr txBox="1"/>
          <p:nvPr/>
        </p:nvSpPr>
        <p:spPr>
          <a:xfrm>
            <a:off x="2580678" y="432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92"/>
          <p:cNvSpPr txBox="1"/>
          <p:nvPr/>
        </p:nvSpPr>
        <p:spPr>
          <a:xfrm>
            <a:off x="1706803" y="38831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92"/>
          <p:cNvSpPr txBox="1"/>
          <p:nvPr/>
        </p:nvSpPr>
        <p:spPr>
          <a:xfrm>
            <a:off x="3274603" y="43645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92"/>
          <p:cNvSpPr txBox="1"/>
          <p:nvPr/>
        </p:nvSpPr>
        <p:spPr>
          <a:xfrm>
            <a:off x="4147903" y="43645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92"/>
          <p:cNvSpPr txBox="1"/>
          <p:nvPr/>
        </p:nvSpPr>
        <p:spPr>
          <a:xfrm>
            <a:off x="324000" y="684500"/>
            <a:ext cx="4500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shows the individual outcomes from a spinner (that has some repeated outcomes).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 prime number and multiple of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92"/>
          <p:cNvSpPr txBox="1"/>
          <p:nvPr/>
        </p:nvSpPr>
        <p:spPr>
          <a:xfrm>
            <a:off x="3563403" y="333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92"/>
          <p:cNvSpPr txBox="1"/>
          <p:nvPr/>
        </p:nvSpPr>
        <p:spPr>
          <a:xfrm>
            <a:off x="3993403" y="35638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92"/>
          <p:cNvSpPr txBox="1"/>
          <p:nvPr/>
        </p:nvSpPr>
        <p:spPr>
          <a:xfrm>
            <a:off x="1821653" y="278635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92"/>
          <p:cNvSpPr txBox="1"/>
          <p:nvPr/>
        </p:nvSpPr>
        <p:spPr>
          <a:xfrm>
            <a:off x="1028828" y="31014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92"/>
          <p:cNvSpPr txBox="1"/>
          <p:nvPr/>
        </p:nvSpPr>
        <p:spPr>
          <a:xfrm>
            <a:off x="1450328" y="43645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92"/>
          <p:cNvSpPr txBox="1"/>
          <p:nvPr/>
        </p:nvSpPr>
        <p:spPr>
          <a:xfrm>
            <a:off x="3726403" y="4320000"/>
            <a:ext cx="42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92"/>
          <p:cNvSpPr txBox="1"/>
          <p:nvPr/>
        </p:nvSpPr>
        <p:spPr>
          <a:xfrm>
            <a:off x="5463000" y="1151700"/>
            <a:ext cx="262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P(prime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M5)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5" name="Google Shape;2065;p92"/>
          <p:cNvCxnSpPr/>
          <p:nvPr/>
        </p:nvCxnSpPr>
        <p:spPr>
          <a:xfrm flipH="1" rot="10800000">
            <a:off x="6473160" y="3778796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6" name="Google Shape;2066;p92"/>
          <p:cNvCxnSpPr/>
          <p:nvPr/>
        </p:nvCxnSpPr>
        <p:spPr>
          <a:xfrm>
            <a:off x="5127525" y="3441872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92"/>
          <p:cNvCxnSpPr/>
          <p:nvPr/>
        </p:nvCxnSpPr>
        <p:spPr>
          <a:xfrm flipH="1" rot="10800000">
            <a:off x="6473160" y="2208547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92"/>
          <p:cNvCxnSpPr/>
          <p:nvPr/>
        </p:nvCxnSpPr>
        <p:spPr>
          <a:xfrm>
            <a:off x="6473160" y="4226996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92"/>
          <p:cNvCxnSpPr/>
          <p:nvPr/>
        </p:nvCxnSpPr>
        <p:spPr>
          <a:xfrm>
            <a:off x="6473160" y="2656747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0" name="Google Shape;2070;p92"/>
          <p:cNvCxnSpPr/>
          <p:nvPr/>
        </p:nvCxnSpPr>
        <p:spPr>
          <a:xfrm flipH="1" rot="10800000">
            <a:off x="5127525" y="2637272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1" name="Google Shape;2071;p92"/>
          <p:cNvSpPr txBox="1"/>
          <p:nvPr/>
        </p:nvSpPr>
        <p:spPr>
          <a:xfrm>
            <a:off x="5601214" y="2518275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92"/>
          <p:cNvSpPr txBox="1"/>
          <p:nvPr/>
        </p:nvSpPr>
        <p:spPr>
          <a:xfrm>
            <a:off x="5601214" y="4102364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prime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92"/>
          <p:cNvSpPr txBox="1"/>
          <p:nvPr/>
        </p:nvSpPr>
        <p:spPr>
          <a:xfrm>
            <a:off x="6946864" y="2073725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92"/>
          <p:cNvSpPr txBox="1"/>
          <p:nvPr/>
        </p:nvSpPr>
        <p:spPr>
          <a:xfrm>
            <a:off x="6946864" y="2953040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92"/>
          <p:cNvSpPr txBox="1"/>
          <p:nvPr/>
        </p:nvSpPr>
        <p:spPr>
          <a:xfrm>
            <a:off x="6946864" y="3663230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92"/>
          <p:cNvSpPr txBox="1"/>
          <p:nvPr/>
        </p:nvSpPr>
        <p:spPr>
          <a:xfrm>
            <a:off x="6946864" y="4542544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M5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4}&quot;&gt;&lt;mfrac&gt;&lt;mn&gt;1&lt;/mn&gt;&lt;mn&gt;14&lt;/mn&gt;&lt;/mfrac&gt;&lt;/math&gt;" id="2077" name="Google Shape;2077;p92" title="1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563" y="1996313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4}&quot;&gt;&lt;mfrac&gt;&lt;mn&gt;5&lt;/mn&gt;&lt;mn&gt;14&lt;/mn&gt;&lt;/mfrac&gt;&lt;/math&gt;" id="2078" name="Google Shape;2078;p92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8775" y="2881960"/>
            <a:ext cx="232370" cy="419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8800" y="3585827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4}&quot;&gt;&lt;mfrac&gt;&lt;mn&gt;6&lt;/mn&gt;&lt;mn&gt;14&lt;/mn&gt;&lt;/mfrac&gt;&lt;/math&gt;" id="2080" name="Google Shape;2080;p92" title="6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9225" y="4373398"/>
            <a:ext cx="241920" cy="43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92"/>
          <p:cNvGrpSpPr/>
          <p:nvPr/>
        </p:nvGrpSpPr>
        <p:grpSpPr>
          <a:xfrm>
            <a:off x="823955" y="2735557"/>
            <a:ext cx="3687024" cy="1544943"/>
            <a:chOff x="823955" y="4564357"/>
            <a:chExt cx="3687024" cy="1544943"/>
          </a:xfrm>
        </p:grpSpPr>
        <p:sp>
          <p:nvSpPr>
            <p:cNvPr id="2082" name="Google Shape;2082;p92"/>
            <p:cNvSpPr/>
            <p:nvPr/>
          </p:nvSpPr>
          <p:spPr>
            <a:xfrm>
              <a:off x="823955" y="4576000"/>
              <a:ext cx="2550900" cy="1533300"/>
            </a:xfrm>
            <a:prstGeom prst="ellipse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3" name="Google Shape;2083;p92"/>
            <p:cNvSpPr/>
            <p:nvPr/>
          </p:nvSpPr>
          <p:spPr>
            <a:xfrm>
              <a:off x="1960079" y="4564357"/>
              <a:ext cx="2550900" cy="1533300"/>
            </a:xfrm>
            <a:prstGeom prst="ellipse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4" name="Google Shape;2084;p92"/>
          <p:cNvGrpSpPr/>
          <p:nvPr/>
        </p:nvGrpSpPr>
        <p:grpSpPr>
          <a:xfrm>
            <a:off x="5127525" y="2208547"/>
            <a:ext cx="1819335" cy="2037925"/>
            <a:chOff x="5127525" y="2208547"/>
            <a:chExt cx="1819335" cy="2037925"/>
          </a:xfrm>
        </p:grpSpPr>
        <p:grpSp>
          <p:nvGrpSpPr>
            <p:cNvPr id="2085" name="Google Shape;2085;p92"/>
            <p:cNvGrpSpPr/>
            <p:nvPr/>
          </p:nvGrpSpPr>
          <p:grpSpPr>
            <a:xfrm>
              <a:off x="5127525" y="2208547"/>
              <a:ext cx="1819335" cy="1233325"/>
              <a:chOff x="5127525" y="2208547"/>
              <a:chExt cx="1819335" cy="1233325"/>
            </a:xfrm>
          </p:grpSpPr>
          <p:cxnSp>
            <p:nvCxnSpPr>
              <p:cNvPr id="2086" name="Google Shape;2086;p92"/>
              <p:cNvCxnSpPr/>
              <p:nvPr/>
            </p:nvCxnSpPr>
            <p:spPr>
              <a:xfrm flipH="1" rot="10800000">
                <a:off x="6473160" y="2208547"/>
                <a:ext cx="473700" cy="4482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7" name="Google Shape;2087;p92"/>
              <p:cNvCxnSpPr/>
              <p:nvPr/>
            </p:nvCxnSpPr>
            <p:spPr>
              <a:xfrm>
                <a:off x="6473160" y="2656747"/>
                <a:ext cx="473700" cy="4482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8" name="Google Shape;2088;p92"/>
              <p:cNvCxnSpPr/>
              <p:nvPr/>
            </p:nvCxnSpPr>
            <p:spPr>
              <a:xfrm flipH="1" rot="10800000">
                <a:off x="5127525" y="2637272"/>
                <a:ext cx="473700" cy="8046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089" name="Google Shape;2089;p92"/>
            <p:cNvCxnSpPr/>
            <p:nvPr/>
          </p:nvCxnSpPr>
          <p:spPr>
            <a:xfrm flipH="1" rot="10800000">
              <a:off x="6473160" y="3778796"/>
              <a:ext cx="473700" cy="4482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0" name="Google Shape;2090;p92"/>
            <p:cNvCxnSpPr/>
            <p:nvPr/>
          </p:nvCxnSpPr>
          <p:spPr>
            <a:xfrm>
              <a:off x="5127525" y="3441872"/>
              <a:ext cx="473700" cy="8046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8}{14}&quot;&gt;&lt;mfrac&gt;&lt;mn&gt;8&lt;/mn&gt;&lt;mn&gt;14&lt;/mn&gt;&lt;/mfrac&gt;&lt;/math&gt;" id="2091" name="Google Shape;2091;p92" title="8 over 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32638" y="1088888"/>
            <a:ext cx="24192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6" name="Google Shape;2096;p93"/>
          <p:cNvGraphicFramePr/>
          <p:nvPr/>
        </p:nvGraphicFramePr>
        <p:xfrm>
          <a:off x="324000" y="248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932925"/>
                <a:gridCol w="1885175"/>
                <a:gridCol w="1885175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hat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bear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a bear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097" name="Google Shape;2097;p93"/>
          <p:cNvSpPr txBox="1"/>
          <p:nvPr/>
        </p:nvSpPr>
        <p:spPr>
          <a:xfrm>
            <a:off x="962675" y="980801"/>
            <a:ext cx="78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a toy is chosen at random.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 the toy is a bear, the toy has a hat.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93"/>
          <p:cNvSpPr txBox="1"/>
          <p:nvPr/>
        </p:nvSpPr>
        <p:spPr>
          <a:xfrm>
            <a:off x="324000" y="642971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two-way outcome table shares many similarities with a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100" name="Google Shape;2100;p93"/>
          <p:cNvSpPr txBox="1"/>
          <p:nvPr/>
        </p:nvSpPr>
        <p:spPr>
          <a:xfrm>
            <a:off x="324000" y="1595531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outcome table shows the individual outcomes of the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can the outcome table be used to complete a Venn diagram that shows the number of outcomes in each event?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1" name="Google Shape;2101;p93"/>
          <p:cNvGrpSpPr/>
          <p:nvPr/>
        </p:nvGrpSpPr>
        <p:grpSpPr>
          <a:xfrm>
            <a:off x="2215422" y="2859702"/>
            <a:ext cx="385719" cy="781301"/>
            <a:chOff x="5910147" y="3074951"/>
            <a:chExt cx="431742" cy="874525"/>
          </a:xfrm>
        </p:grpSpPr>
        <p:pic>
          <p:nvPicPr>
            <p:cNvPr id="2102" name="Google Shape;2102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10147" y="3372125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3" name="Google Shape;2103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5995243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4" name="Google Shape;2104;p93"/>
          <p:cNvGrpSpPr/>
          <p:nvPr/>
        </p:nvGrpSpPr>
        <p:grpSpPr>
          <a:xfrm>
            <a:off x="2655868" y="2859702"/>
            <a:ext cx="385719" cy="781301"/>
            <a:chOff x="7552908" y="3074951"/>
            <a:chExt cx="431742" cy="874525"/>
          </a:xfrm>
        </p:grpSpPr>
        <p:pic>
          <p:nvPicPr>
            <p:cNvPr id="2105" name="Google Shape;2105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2908" y="3372125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6" name="Google Shape;2106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7637993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7" name="Google Shape;2107;p93"/>
          <p:cNvGrpSpPr/>
          <p:nvPr/>
        </p:nvGrpSpPr>
        <p:grpSpPr>
          <a:xfrm>
            <a:off x="1797821" y="2859702"/>
            <a:ext cx="362861" cy="766018"/>
            <a:chOff x="6744320" y="3074951"/>
            <a:chExt cx="406158" cy="857418"/>
          </a:xfrm>
        </p:grpSpPr>
        <p:pic>
          <p:nvPicPr>
            <p:cNvPr id="2108" name="Google Shape;2108;p9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44320" y="3389232"/>
              <a:ext cx="406158" cy="543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9" name="Google Shape;2109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6816618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0" name="Google Shape;2110;p93"/>
          <p:cNvGrpSpPr/>
          <p:nvPr/>
        </p:nvGrpSpPr>
        <p:grpSpPr>
          <a:xfrm>
            <a:off x="1357376" y="2859702"/>
            <a:ext cx="385719" cy="781301"/>
            <a:chOff x="5075975" y="3074951"/>
            <a:chExt cx="431742" cy="874525"/>
          </a:xfrm>
        </p:grpSpPr>
        <p:pic>
          <p:nvPicPr>
            <p:cNvPr id="2111" name="Google Shape;2111;p9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5975" y="3372125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2" name="Google Shape;2112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5161068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3" name="Google Shape;2113;p93"/>
          <p:cNvGrpSpPr/>
          <p:nvPr/>
        </p:nvGrpSpPr>
        <p:grpSpPr>
          <a:xfrm>
            <a:off x="3285536" y="2868494"/>
            <a:ext cx="1598254" cy="848616"/>
            <a:chOff x="1256922" y="3822889"/>
            <a:chExt cx="1885178" cy="1000962"/>
          </a:xfrm>
        </p:grpSpPr>
        <p:pic>
          <p:nvPicPr>
            <p:cNvPr id="2114" name="Google Shape;2114;p9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613754" y="3822889"/>
              <a:ext cx="432000" cy="5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5" name="Google Shape;2115;p9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53251" y="3822891"/>
              <a:ext cx="432000" cy="5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6" name="Google Shape;211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6922" y="4246500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7" name="Google Shape;2117;p93"/>
            <p:cNvGrpSpPr/>
            <p:nvPr/>
          </p:nvGrpSpPr>
          <p:grpSpPr>
            <a:xfrm>
              <a:off x="1996432" y="4246500"/>
              <a:ext cx="1145668" cy="577351"/>
              <a:chOff x="1996432" y="4246500"/>
              <a:chExt cx="1145668" cy="577351"/>
            </a:xfrm>
          </p:grpSpPr>
          <p:pic>
            <p:nvPicPr>
              <p:cNvPr id="2118" name="Google Shape;2118;p9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10358" y="4246500"/>
                <a:ext cx="431742" cy="5773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9" name="Google Shape;2119;p9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996432" y="4263607"/>
                <a:ext cx="406158" cy="5431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20" name="Google Shape;2120;p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78536" y="4047963"/>
            <a:ext cx="412254" cy="544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1" name="Google Shape;2121;p93"/>
          <p:cNvGrpSpPr/>
          <p:nvPr/>
        </p:nvGrpSpPr>
        <p:grpSpPr>
          <a:xfrm>
            <a:off x="1479749" y="3924313"/>
            <a:ext cx="382059" cy="757326"/>
            <a:chOff x="1479749" y="3908851"/>
            <a:chExt cx="382059" cy="757326"/>
          </a:xfrm>
        </p:grpSpPr>
        <p:pic>
          <p:nvPicPr>
            <p:cNvPr id="2122" name="Google Shape;2122;p9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479749" y="4128725"/>
              <a:ext cx="382059" cy="537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3" name="Google Shape;2123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1542734" y="3908851"/>
              <a:ext cx="257200" cy="335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4" name="Google Shape;2124;p93"/>
          <p:cNvGrpSpPr/>
          <p:nvPr/>
        </p:nvGrpSpPr>
        <p:grpSpPr>
          <a:xfrm>
            <a:off x="2038788" y="3910298"/>
            <a:ext cx="410178" cy="785354"/>
            <a:chOff x="1942596" y="3911746"/>
            <a:chExt cx="410178" cy="785354"/>
          </a:xfrm>
        </p:grpSpPr>
        <p:pic>
          <p:nvPicPr>
            <p:cNvPr id="2125" name="Google Shape;2125;p9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942596" y="4128725"/>
              <a:ext cx="410178" cy="568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6" name="Google Shape;2126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2019964" y="3911746"/>
              <a:ext cx="257200" cy="335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7" name="Google Shape;2127;p93"/>
          <p:cNvGrpSpPr/>
          <p:nvPr/>
        </p:nvGrpSpPr>
        <p:grpSpPr>
          <a:xfrm>
            <a:off x="2625946" y="3949627"/>
            <a:ext cx="382745" cy="706698"/>
            <a:chOff x="6701246" y="4073027"/>
            <a:chExt cx="382745" cy="706698"/>
          </a:xfrm>
        </p:grpSpPr>
        <p:pic>
          <p:nvPicPr>
            <p:cNvPr id="2128" name="Google Shape;2128;p9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701246" y="4280082"/>
              <a:ext cx="382745" cy="4996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9" name="Google Shape;2129;p93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6764034" y="4073027"/>
              <a:ext cx="257200" cy="335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0" name="Google Shape;2130;p93"/>
          <p:cNvGrpSpPr/>
          <p:nvPr/>
        </p:nvGrpSpPr>
        <p:grpSpPr>
          <a:xfrm>
            <a:off x="5225598" y="2487459"/>
            <a:ext cx="3518498" cy="1820767"/>
            <a:chOff x="3830075" y="2470000"/>
            <a:chExt cx="4545275" cy="2216393"/>
          </a:xfrm>
        </p:grpSpPr>
        <p:sp>
          <p:nvSpPr>
            <p:cNvPr id="2131" name="Google Shape;2131;p93"/>
            <p:cNvSpPr/>
            <p:nvPr/>
          </p:nvSpPr>
          <p:spPr>
            <a:xfrm>
              <a:off x="4112050" y="2496093"/>
              <a:ext cx="4263300" cy="21903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32" name="Google Shape;2132;p93"/>
            <p:cNvGrpSpPr/>
            <p:nvPr/>
          </p:nvGrpSpPr>
          <p:grpSpPr>
            <a:xfrm>
              <a:off x="4407751" y="2747200"/>
              <a:ext cx="3671898" cy="1533300"/>
              <a:chOff x="4407725" y="2747200"/>
              <a:chExt cx="2207200" cy="1533300"/>
            </a:xfrm>
          </p:grpSpPr>
          <p:sp>
            <p:nvSpPr>
              <p:cNvPr id="2133" name="Google Shape;2133;p93"/>
              <p:cNvSpPr/>
              <p:nvPr/>
            </p:nvSpPr>
            <p:spPr>
              <a:xfrm>
                <a:off x="44077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4" name="Google Shape;2134;p93"/>
              <p:cNvSpPr/>
              <p:nvPr/>
            </p:nvSpPr>
            <p:spPr>
              <a:xfrm>
                <a:off x="5081625" y="2747200"/>
                <a:ext cx="1533300" cy="15333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135" name="Google Shape;2135;p93"/>
            <p:cNvSpPr txBox="1"/>
            <p:nvPr/>
          </p:nvSpPr>
          <p:spPr>
            <a:xfrm>
              <a:off x="4188250" y="2496100"/>
              <a:ext cx="11277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bear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6" name="Google Shape;2136;p93"/>
            <p:cNvSpPr txBox="1"/>
            <p:nvPr/>
          </p:nvSpPr>
          <p:spPr>
            <a:xfrm>
              <a:off x="6910725" y="2496100"/>
              <a:ext cx="13884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7" name="Google Shape;2137;p93"/>
            <p:cNvSpPr txBox="1"/>
            <p:nvPr/>
          </p:nvSpPr>
          <p:spPr>
            <a:xfrm>
              <a:off x="3830075" y="2470000"/>
              <a:ext cx="2715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8" name="Google Shape;2138;p93"/>
          <p:cNvSpPr/>
          <p:nvPr/>
        </p:nvSpPr>
        <p:spPr>
          <a:xfrm>
            <a:off x="1254675" y="2781350"/>
            <a:ext cx="1894200" cy="1042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93"/>
          <p:cNvSpPr txBox="1"/>
          <p:nvPr/>
        </p:nvSpPr>
        <p:spPr>
          <a:xfrm>
            <a:off x="6896875" y="3087737"/>
            <a:ext cx="435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93"/>
          <p:cNvSpPr/>
          <p:nvPr/>
        </p:nvSpPr>
        <p:spPr>
          <a:xfrm>
            <a:off x="3137563" y="2781350"/>
            <a:ext cx="1894200" cy="1042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93"/>
          <p:cNvSpPr txBox="1"/>
          <p:nvPr/>
        </p:nvSpPr>
        <p:spPr>
          <a:xfrm>
            <a:off x="5902050" y="3102163"/>
            <a:ext cx="435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93"/>
          <p:cNvSpPr/>
          <p:nvPr/>
        </p:nvSpPr>
        <p:spPr>
          <a:xfrm>
            <a:off x="1254663" y="3798900"/>
            <a:ext cx="1894200" cy="1042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93"/>
          <p:cNvSpPr txBox="1"/>
          <p:nvPr/>
        </p:nvSpPr>
        <p:spPr>
          <a:xfrm>
            <a:off x="7774200" y="3171325"/>
            <a:ext cx="435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93"/>
          <p:cNvSpPr/>
          <p:nvPr/>
        </p:nvSpPr>
        <p:spPr>
          <a:xfrm>
            <a:off x="3137550" y="3798900"/>
            <a:ext cx="1894200" cy="1042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93"/>
          <p:cNvSpPr txBox="1"/>
          <p:nvPr/>
        </p:nvSpPr>
        <p:spPr>
          <a:xfrm>
            <a:off x="8209200" y="3779988"/>
            <a:ext cx="435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" name="Google Shape;2150;p94"/>
          <p:cNvGraphicFramePr/>
          <p:nvPr/>
        </p:nvGraphicFramePr>
        <p:xfrm>
          <a:off x="324000" y="248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932925"/>
                <a:gridCol w="1885175"/>
                <a:gridCol w="1885175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hat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bear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a bear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151" name="Google Shape;2151;p94"/>
          <p:cNvSpPr/>
          <p:nvPr/>
        </p:nvSpPr>
        <p:spPr>
          <a:xfrm flipH="1" rot="10800000">
            <a:off x="1256925" y="2765025"/>
            <a:ext cx="3765900" cy="2093400"/>
          </a:xfrm>
          <a:prstGeom prst="corner">
            <a:avLst>
              <a:gd fmla="val 50000" name="adj1"/>
              <a:gd fmla="val 90206" name="adj2"/>
            </a:avLst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2" name="Google Shape;2152;p94"/>
          <p:cNvGrpSpPr/>
          <p:nvPr/>
        </p:nvGrpSpPr>
        <p:grpSpPr>
          <a:xfrm>
            <a:off x="5672809" y="2715179"/>
            <a:ext cx="2842432" cy="1259606"/>
            <a:chOff x="4407725" y="2747200"/>
            <a:chExt cx="2207200" cy="1533300"/>
          </a:xfrm>
        </p:grpSpPr>
        <p:sp>
          <p:nvSpPr>
            <p:cNvPr id="2153" name="Google Shape;2153;p94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4" name="Google Shape;2154;p94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5" name="Google Shape;2155;p94"/>
          <p:cNvSpPr txBox="1"/>
          <p:nvPr/>
        </p:nvSpPr>
        <p:spPr>
          <a:xfrm>
            <a:off x="324026" y="6763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part of the outcome table and Venn diagram shows the event of choosing a toy that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either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bear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wears a hat?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94"/>
          <p:cNvSpPr txBox="1"/>
          <p:nvPr/>
        </p:nvSpPr>
        <p:spPr>
          <a:xfrm>
            <a:off x="5443694" y="4311434"/>
            <a:ext cx="306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 of outcomes in each event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grpSp>
        <p:nvGrpSpPr>
          <p:cNvPr id="2158" name="Google Shape;2158;p94"/>
          <p:cNvGrpSpPr/>
          <p:nvPr/>
        </p:nvGrpSpPr>
        <p:grpSpPr>
          <a:xfrm>
            <a:off x="2215422" y="2859702"/>
            <a:ext cx="385719" cy="781301"/>
            <a:chOff x="5910147" y="3074951"/>
            <a:chExt cx="431742" cy="874525"/>
          </a:xfrm>
        </p:grpSpPr>
        <p:pic>
          <p:nvPicPr>
            <p:cNvPr id="2159" name="Google Shape;2159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10147" y="3372125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0" name="Google Shape;2160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5995243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1" name="Google Shape;2161;p94"/>
          <p:cNvGrpSpPr/>
          <p:nvPr/>
        </p:nvGrpSpPr>
        <p:grpSpPr>
          <a:xfrm>
            <a:off x="2655868" y="2859702"/>
            <a:ext cx="385719" cy="781301"/>
            <a:chOff x="7552908" y="3074951"/>
            <a:chExt cx="431742" cy="874525"/>
          </a:xfrm>
        </p:grpSpPr>
        <p:pic>
          <p:nvPicPr>
            <p:cNvPr id="2162" name="Google Shape;216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52908" y="3372125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3" name="Google Shape;2163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7637993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4" name="Google Shape;2164;p94"/>
          <p:cNvGrpSpPr/>
          <p:nvPr/>
        </p:nvGrpSpPr>
        <p:grpSpPr>
          <a:xfrm>
            <a:off x="1797821" y="2859702"/>
            <a:ext cx="362861" cy="766018"/>
            <a:chOff x="6744320" y="3074951"/>
            <a:chExt cx="406158" cy="857418"/>
          </a:xfrm>
        </p:grpSpPr>
        <p:pic>
          <p:nvPicPr>
            <p:cNvPr id="2165" name="Google Shape;2165;p9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44320" y="3389232"/>
              <a:ext cx="406158" cy="543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6" name="Google Shape;2166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6816618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7" name="Google Shape;2167;p94"/>
          <p:cNvGrpSpPr/>
          <p:nvPr/>
        </p:nvGrpSpPr>
        <p:grpSpPr>
          <a:xfrm>
            <a:off x="1357376" y="2859702"/>
            <a:ext cx="385719" cy="781301"/>
            <a:chOff x="5075975" y="3074951"/>
            <a:chExt cx="431742" cy="874525"/>
          </a:xfrm>
        </p:grpSpPr>
        <p:pic>
          <p:nvPicPr>
            <p:cNvPr id="2168" name="Google Shape;2168;p9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5975" y="3372125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9" name="Google Shape;2169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5161068" y="3074951"/>
              <a:ext cx="323702" cy="42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0" name="Google Shape;2170;p94"/>
          <p:cNvGrpSpPr/>
          <p:nvPr/>
        </p:nvGrpSpPr>
        <p:grpSpPr>
          <a:xfrm>
            <a:off x="3285536" y="2868494"/>
            <a:ext cx="1598254" cy="848616"/>
            <a:chOff x="1256922" y="3822889"/>
            <a:chExt cx="1885178" cy="1000962"/>
          </a:xfrm>
        </p:grpSpPr>
        <p:pic>
          <p:nvPicPr>
            <p:cNvPr id="2171" name="Google Shape;2171;p9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613754" y="3822889"/>
              <a:ext cx="432000" cy="5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2" name="Google Shape;2172;p9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53251" y="3822891"/>
              <a:ext cx="432000" cy="5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3" name="Google Shape;2173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6922" y="4246500"/>
              <a:ext cx="431742" cy="5773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74" name="Google Shape;2174;p94"/>
            <p:cNvGrpSpPr/>
            <p:nvPr/>
          </p:nvGrpSpPr>
          <p:grpSpPr>
            <a:xfrm>
              <a:off x="1996432" y="4246500"/>
              <a:ext cx="1145668" cy="577351"/>
              <a:chOff x="1996432" y="4246500"/>
              <a:chExt cx="1145668" cy="577351"/>
            </a:xfrm>
          </p:grpSpPr>
          <p:pic>
            <p:nvPicPr>
              <p:cNvPr id="2175" name="Google Shape;2175;p9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10358" y="4246500"/>
                <a:ext cx="431742" cy="5773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76" name="Google Shape;2176;p9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996432" y="4263607"/>
                <a:ext cx="406158" cy="5431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77" name="Google Shape;2177;p9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78536" y="4047963"/>
            <a:ext cx="412254" cy="544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8" name="Google Shape;2178;p94"/>
          <p:cNvGrpSpPr/>
          <p:nvPr/>
        </p:nvGrpSpPr>
        <p:grpSpPr>
          <a:xfrm>
            <a:off x="1479749" y="3924313"/>
            <a:ext cx="382059" cy="757326"/>
            <a:chOff x="1479749" y="3908851"/>
            <a:chExt cx="382059" cy="757326"/>
          </a:xfrm>
        </p:grpSpPr>
        <p:pic>
          <p:nvPicPr>
            <p:cNvPr id="2179" name="Google Shape;2179;p9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479749" y="4128725"/>
              <a:ext cx="382059" cy="537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0" name="Google Shape;2180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1542734" y="3908851"/>
              <a:ext cx="257200" cy="335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1" name="Google Shape;2181;p94"/>
          <p:cNvGrpSpPr/>
          <p:nvPr/>
        </p:nvGrpSpPr>
        <p:grpSpPr>
          <a:xfrm>
            <a:off x="2038788" y="3910298"/>
            <a:ext cx="410178" cy="785354"/>
            <a:chOff x="1942596" y="3911746"/>
            <a:chExt cx="410178" cy="785354"/>
          </a:xfrm>
        </p:grpSpPr>
        <p:pic>
          <p:nvPicPr>
            <p:cNvPr id="2182" name="Google Shape;2182;p94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942596" y="4128725"/>
              <a:ext cx="410178" cy="568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3" name="Google Shape;2183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2019964" y="3911746"/>
              <a:ext cx="257200" cy="335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4" name="Google Shape;2184;p94"/>
          <p:cNvGrpSpPr/>
          <p:nvPr/>
        </p:nvGrpSpPr>
        <p:grpSpPr>
          <a:xfrm>
            <a:off x="2625946" y="3949627"/>
            <a:ext cx="382745" cy="706698"/>
            <a:chOff x="6701246" y="4073027"/>
            <a:chExt cx="382745" cy="706698"/>
          </a:xfrm>
        </p:grpSpPr>
        <p:pic>
          <p:nvPicPr>
            <p:cNvPr id="2185" name="Google Shape;2185;p94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701246" y="4280082"/>
              <a:ext cx="382745" cy="4996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6" name="Google Shape;2186;p94"/>
            <p:cNvPicPr preferRelativeResize="0"/>
            <p:nvPr/>
          </p:nvPicPr>
          <p:blipFill rotWithShape="1">
            <a:blip r:embed="rId4">
              <a:alphaModFix/>
            </a:blip>
            <a:srcRect b="-5507" l="64903" r="20104" t="53302"/>
            <a:stretch/>
          </p:blipFill>
          <p:spPr>
            <a:xfrm>
              <a:off x="6764034" y="4073027"/>
              <a:ext cx="257200" cy="335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7" name="Google Shape;2187;p94"/>
          <p:cNvSpPr/>
          <p:nvPr/>
        </p:nvSpPr>
        <p:spPr>
          <a:xfrm>
            <a:off x="5443875" y="2508894"/>
            <a:ext cx="33003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8" name="Google Shape;2188;p94"/>
          <p:cNvGrpSpPr/>
          <p:nvPr/>
        </p:nvGrpSpPr>
        <p:grpSpPr>
          <a:xfrm>
            <a:off x="5672809" y="2715179"/>
            <a:ext cx="2842432" cy="1259606"/>
            <a:chOff x="4407725" y="2747200"/>
            <a:chExt cx="2207200" cy="1533300"/>
          </a:xfrm>
        </p:grpSpPr>
        <p:sp>
          <p:nvSpPr>
            <p:cNvPr id="2189" name="Google Shape;2189;p94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0" name="Google Shape;2190;p94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1" name="Google Shape;2191;p94"/>
          <p:cNvSpPr txBox="1"/>
          <p:nvPr/>
        </p:nvSpPr>
        <p:spPr>
          <a:xfrm>
            <a:off x="5502861" y="2508900"/>
            <a:ext cx="8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94"/>
          <p:cNvSpPr txBox="1"/>
          <p:nvPr/>
        </p:nvSpPr>
        <p:spPr>
          <a:xfrm>
            <a:off x="7610329" y="2508900"/>
            <a:ext cx="107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94"/>
          <p:cNvSpPr txBox="1"/>
          <p:nvPr/>
        </p:nvSpPr>
        <p:spPr>
          <a:xfrm>
            <a:off x="5225598" y="24874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94"/>
          <p:cNvSpPr txBox="1"/>
          <p:nvPr/>
        </p:nvSpPr>
        <p:spPr>
          <a:xfrm>
            <a:off x="6752015" y="3062375"/>
            <a:ext cx="68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94"/>
          <p:cNvSpPr txBox="1"/>
          <p:nvPr/>
        </p:nvSpPr>
        <p:spPr>
          <a:xfrm>
            <a:off x="5809965" y="3062375"/>
            <a:ext cx="68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94"/>
          <p:cNvSpPr txBox="1"/>
          <p:nvPr/>
        </p:nvSpPr>
        <p:spPr>
          <a:xfrm>
            <a:off x="7955365" y="3949625"/>
            <a:ext cx="68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94"/>
          <p:cNvSpPr txBox="1"/>
          <p:nvPr/>
        </p:nvSpPr>
        <p:spPr>
          <a:xfrm>
            <a:off x="7694065" y="3062375"/>
            <a:ext cx="68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8" name="Google Shape;2198;p94"/>
          <p:cNvGrpSpPr/>
          <p:nvPr/>
        </p:nvGrpSpPr>
        <p:grpSpPr>
          <a:xfrm>
            <a:off x="5672809" y="2715179"/>
            <a:ext cx="2842432" cy="1259606"/>
            <a:chOff x="4407725" y="2747200"/>
            <a:chExt cx="2207200" cy="1533300"/>
          </a:xfrm>
        </p:grpSpPr>
        <p:sp>
          <p:nvSpPr>
            <p:cNvPr id="2199" name="Google Shape;2199;p94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76200">
              <a:solidFill>
                <a:srgbClr val="374CF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0" name="Google Shape;2200;p94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76200">
              <a:solidFill>
                <a:srgbClr val="374CF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1" name="Google Shape;2201;p94"/>
          <p:cNvSpPr/>
          <p:nvPr/>
        </p:nvSpPr>
        <p:spPr>
          <a:xfrm flipH="1" rot="10800000">
            <a:off x="1256925" y="2765025"/>
            <a:ext cx="3765900" cy="2093400"/>
          </a:xfrm>
          <a:prstGeom prst="corner">
            <a:avLst>
              <a:gd fmla="val 50000" name="adj1"/>
              <a:gd fmla="val 90206" name="adj2"/>
            </a:avLst>
          </a:prstGeom>
          <a:noFill/>
          <a:ln cap="flat" cmpd="sng" w="762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94"/>
          <p:cNvSpPr txBox="1"/>
          <p:nvPr/>
        </p:nvSpPr>
        <p:spPr>
          <a:xfrm>
            <a:off x="705025" y="1463500"/>
            <a:ext cx="197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P(bear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hat)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3}&quot;&gt;&lt;mfrac&gt;&lt;mn&gt;4&lt;/mn&gt;&lt;mn&gt;13&lt;/mn&gt;&lt;/mfrac&gt;&lt;/math&gt;" id="2203" name="Google Shape;2203;p94" title="4 over 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55875" y="1404000"/>
            <a:ext cx="23328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3}&quot;&gt;&lt;mfrac&gt;&lt;mn&gt;5&lt;/mn&gt;&lt;mn&gt;13&lt;/mn&gt;&lt;/mfrac&gt;&lt;/math&gt;" id="2204" name="Google Shape;2204;p94" title="5 over 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297656" y="1411714"/>
            <a:ext cx="227141" cy="4165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3}&quot;&gt;&lt;mfrac&gt;&lt;mn&gt;3&lt;/mn&gt;&lt;mn&gt;13&lt;/mn&gt;&lt;/mfrac&gt;&lt;/math&gt;" id="2205" name="Google Shape;2205;p94" title="3 over 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933298" y="1405543"/>
            <a:ext cx="230210" cy="428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3}&quot;&gt;&lt;mfrac&gt;&lt;mn&gt;12&lt;/mn&gt;&lt;mn&gt;13&lt;/mn&gt;&lt;/mfrac&gt;&lt;/math&gt;" id="2206" name="Google Shape;2206;p94" title="12 over 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572010" y="1405543"/>
            <a:ext cx="230210" cy="4289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94"/>
          <p:cNvSpPr txBox="1"/>
          <p:nvPr/>
        </p:nvSpPr>
        <p:spPr>
          <a:xfrm>
            <a:off x="2979855" y="14814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94"/>
          <p:cNvSpPr txBox="1"/>
          <p:nvPr/>
        </p:nvSpPr>
        <p:spPr>
          <a:xfrm>
            <a:off x="3615498" y="14814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94"/>
          <p:cNvSpPr txBox="1"/>
          <p:nvPr/>
        </p:nvSpPr>
        <p:spPr>
          <a:xfrm>
            <a:off x="4254209" y="14814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95"/>
          <p:cNvSpPr/>
          <p:nvPr/>
        </p:nvSpPr>
        <p:spPr>
          <a:xfrm>
            <a:off x="6058197" y="2508900"/>
            <a:ext cx="26862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5" name="Google Shape;2215;p95"/>
          <p:cNvGrpSpPr/>
          <p:nvPr/>
        </p:nvGrpSpPr>
        <p:grpSpPr>
          <a:xfrm>
            <a:off x="6244577" y="2715201"/>
            <a:ext cx="2313366" cy="1259606"/>
            <a:chOff x="4407725" y="2747200"/>
            <a:chExt cx="2207200" cy="1533300"/>
          </a:xfrm>
        </p:grpSpPr>
        <p:sp>
          <p:nvSpPr>
            <p:cNvPr id="2216" name="Google Shape;2216;p95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7" name="Google Shape;2217;p95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18" name="Google Shape;221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219" name="Google Shape;2219;p95"/>
          <p:cNvSpPr txBox="1"/>
          <p:nvPr/>
        </p:nvSpPr>
        <p:spPr>
          <a:xfrm>
            <a:off x="6058051" y="4311426"/>
            <a:ext cx="2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 of outcomes in each event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95"/>
          <p:cNvSpPr txBox="1"/>
          <p:nvPr/>
        </p:nvSpPr>
        <p:spPr>
          <a:xfrm>
            <a:off x="6106204" y="2508906"/>
            <a:ext cx="71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95"/>
          <p:cNvSpPr txBox="1"/>
          <p:nvPr/>
        </p:nvSpPr>
        <p:spPr>
          <a:xfrm>
            <a:off x="7821384" y="2508906"/>
            <a:ext cx="8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95"/>
          <p:cNvSpPr txBox="1"/>
          <p:nvPr/>
        </p:nvSpPr>
        <p:spPr>
          <a:xfrm>
            <a:off x="324026" y="676300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randomly select a card with a number on it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the card shows an even number, the card shows a multiple of 3.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correct Venn diagram to identify which part of the outcome table has a missing card. Suggest a possible value of that card.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95"/>
          <p:cNvSpPr txBox="1"/>
          <p:nvPr/>
        </p:nvSpPr>
        <p:spPr>
          <a:xfrm>
            <a:off x="5847748" y="24874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95"/>
          <p:cNvSpPr txBox="1"/>
          <p:nvPr/>
        </p:nvSpPr>
        <p:spPr>
          <a:xfrm>
            <a:off x="8160332" y="3949619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5" name="Google Shape;2225;p95"/>
          <p:cNvGraphicFramePr/>
          <p:nvPr/>
        </p:nvGraphicFramePr>
        <p:xfrm>
          <a:off x="324000" y="248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974800"/>
                <a:gridCol w="2154350"/>
                <a:gridCol w="2093250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 (M3)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6" name="Google Shape;2226;p95"/>
          <p:cNvSpPr txBox="1"/>
          <p:nvPr/>
        </p:nvSpPr>
        <p:spPr>
          <a:xfrm>
            <a:off x="1564200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95"/>
          <p:cNvSpPr txBox="1"/>
          <p:nvPr/>
        </p:nvSpPr>
        <p:spPr>
          <a:xfrm>
            <a:off x="1564200" y="39083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95"/>
          <p:cNvSpPr txBox="1"/>
          <p:nvPr/>
        </p:nvSpPr>
        <p:spPr>
          <a:xfrm>
            <a:off x="2197375" y="31055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95"/>
          <p:cNvSpPr txBox="1"/>
          <p:nvPr/>
        </p:nvSpPr>
        <p:spPr>
          <a:xfrm>
            <a:off x="2902113" y="28618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95"/>
          <p:cNvSpPr txBox="1"/>
          <p:nvPr/>
        </p:nvSpPr>
        <p:spPr>
          <a:xfrm>
            <a:off x="2148675" y="41559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95"/>
          <p:cNvSpPr txBox="1"/>
          <p:nvPr/>
        </p:nvSpPr>
        <p:spPr>
          <a:xfrm>
            <a:off x="2733150" y="43083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95"/>
          <p:cNvSpPr txBox="1"/>
          <p:nvPr/>
        </p:nvSpPr>
        <p:spPr>
          <a:xfrm>
            <a:off x="3562050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95"/>
          <p:cNvSpPr txBox="1"/>
          <p:nvPr/>
        </p:nvSpPr>
        <p:spPr>
          <a:xfrm>
            <a:off x="3953548" y="33006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95"/>
          <p:cNvSpPr txBox="1"/>
          <p:nvPr/>
        </p:nvSpPr>
        <p:spPr>
          <a:xfrm>
            <a:off x="4345046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95"/>
          <p:cNvSpPr txBox="1"/>
          <p:nvPr/>
        </p:nvSpPr>
        <p:spPr>
          <a:xfrm>
            <a:off x="5128042" y="2827360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95"/>
          <p:cNvSpPr txBox="1"/>
          <p:nvPr/>
        </p:nvSpPr>
        <p:spPr>
          <a:xfrm>
            <a:off x="3601650" y="40608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95"/>
          <p:cNvSpPr txBox="1"/>
          <p:nvPr/>
        </p:nvSpPr>
        <p:spPr>
          <a:xfrm>
            <a:off x="4688275" y="39893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95"/>
          <p:cNvSpPr txBox="1"/>
          <p:nvPr/>
        </p:nvSpPr>
        <p:spPr>
          <a:xfrm>
            <a:off x="4736544" y="33006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95"/>
          <p:cNvSpPr txBox="1"/>
          <p:nvPr/>
        </p:nvSpPr>
        <p:spPr>
          <a:xfrm>
            <a:off x="7180956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0" name="Google Shape;2240;p95"/>
          <p:cNvSpPr txBox="1"/>
          <p:nvPr/>
        </p:nvSpPr>
        <p:spPr>
          <a:xfrm>
            <a:off x="7981243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95"/>
          <p:cNvSpPr txBox="1"/>
          <p:nvPr/>
        </p:nvSpPr>
        <p:spPr>
          <a:xfrm>
            <a:off x="6394342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95"/>
          <p:cNvSpPr txBox="1"/>
          <p:nvPr/>
        </p:nvSpPr>
        <p:spPr>
          <a:xfrm>
            <a:off x="757225" y="2089558"/>
            <a:ext cx="80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Odd multiple of 3. For example: 9, 21, 27, 33, 39, 45, 51, 57, 63, 69, …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96"/>
          <p:cNvSpPr/>
          <p:nvPr/>
        </p:nvSpPr>
        <p:spPr>
          <a:xfrm>
            <a:off x="6058197" y="2508900"/>
            <a:ext cx="26862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8" name="Google Shape;2248;p96"/>
          <p:cNvGrpSpPr/>
          <p:nvPr/>
        </p:nvGrpSpPr>
        <p:grpSpPr>
          <a:xfrm>
            <a:off x="6244577" y="2715201"/>
            <a:ext cx="2313366" cy="1259606"/>
            <a:chOff x="4407725" y="2747200"/>
            <a:chExt cx="2207200" cy="1533300"/>
          </a:xfrm>
        </p:grpSpPr>
        <p:sp>
          <p:nvSpPr>
            <p:cNvPr id="2249" name="Google Shape;2249;p96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0" name="Google Shape;2250;p96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1" name="Google Shape;225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252" name="Google Shape;2252;p96"/>
          <p:cNvSpPr txBox="1"/>
          <p:nvPr/>
        </p:nvSpPr>
        <p:spPr>
          <a:xfrm>
            <a:off x="6058051" y="4311426"/>
            <a:ext cx="2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 of outcomes in each event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3" name="Google Shape;2253;p96"/>
          <p:cNvSpPr txBox="1"/>
          <p:nvPr/>
        </p:nvSpPr>
        <p:spPr>
          <a:xfrm>
            <a:off x="6106204" y="2508906"/>
            <a:ext cx="71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96"/>
          <p:cNvSpPr txBox="1"/>
          <p:nvPr/>
        </p:nvSpPr>
        <p:spPr>
          <a:xfrm>
            <a:off x="7821384" y="2508906"/>
            <a:ext cx="8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96"/>
          <p:cNvSpPr txBox="1"/>
          <p:nvPr/>
        </p:nvSpPr>
        <p:spPr>
          <a:xfrm>
            <a:off x="324026" y="6763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probability of: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6" name="Google Shape;2256;p96"/>
          <p:cNvSpPr txBox="1"/>
          <p:nvPr/>
        </p:nvSpPr>
        <p:spPr>
          <a:xfrm>
            <a:off x="5847748" y="24874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7" name="Google Shape;2257;p96"/>
          <p:cNvSpPr txBox="1"/>
          <p:nvPr/>
        </p:nvSpPr>
        <p:spPr>
          <a:xfrm>
            <a:off x="8160332" y="3949619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8" name="Google Shape;2258;p96"/>
          <p:cNvGraphicFramePr/>
          <p:nvPr/>
        </p:nvGraphicFramePr>
        <p:xfrm>
          <a:off x="324000" y="248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974800"/>
                <a:gridCol w="2154350"/>
                <a:gridCol w="2093250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 (M3)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9" name="Google Shape;2259;p96"/>
          <p:cNvSpPr txBox="1"/>
          <p:nvPr/>
        </p:nvSpPr>
        <p:spPr>
          <a:xfrm>
            <a:off x="1564200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96"/>
          <p:cNvSpPr txBox="1"/>
          <p:nvPr/>
        </p:nvSpPr>
        <p:spPr>
          <a:xfrm>
            <a:off x="1356229" y="39083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96"/>
          <p:cNvSpPr txBox="1"/>
          <p:nvPr/>
        </p:nvSpPr>
        <p:spPr>
          <a:xfrm>
            <a:off x="2197375" y="31055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96"/>
          <p:cNvSpPr txBox="1"/>
          <p:nvPr/>
        </p:nvSpPr>
        <p:spPr>
          <a:xfrm>
            <a:off x="2902113" y="28618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96"/>
          <p:cNvSpPr txBox="1"/>
          <p:nvPr/>
        </p:nvSpPr>
        <p:spPr>
          <a:xfrm>
            <a:off x="1940704" y="41559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96"/>
          <p:cNvSpPr txBox="1"/>
          <p:nvPr/>
        </p:nvSpPr>
        <p:spPr>
          <a:xfrm>
            <a:off x="2982379" y="43083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96"/>
          <p:cNvSpPr txBox="1"/>
          <p:nvPr/>
        </p:nvSpPr>
        <p:spPr>
          <a:xfrm>
            <a:off x="3562050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96"/>
          <p:cNvSpPr txBox="1"/>
          <p:nvPr/>
        </p:nvSpPr>
        <p:spPr>
          <a:xfrm>
            <a:off x="3953548" y="33006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96"/>
          <p:cNvSpPr txBox="1"/>
          <p:nvPr/>
        </p:nvSpPr>
        <p:spPr>
          <a:xfrm>
            <a:off x="4345046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96"/>
          <p:cNvSpPr txBox="1"/>
          <p:nvPr/>
        </p:nvSpPr>
        <p:spPr>
          <a:xfrm>
            <a:off x="5128042" y="2827360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96"/>
          <p:cNvSpPr txBox="1"/>
          <p:nvPr/>
        </p:nvSpPr>
        <p:spPr>
          <a:xfrm>
            <a:off x="3601650" y="40608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96"/>
          <p:cNvSpPr txBox="1"/>
          <p:nvPr/>
        </p:nvSpPr>
        <p:spPr>
          <a:xfrm>
            <a:off x="4688275" y="39893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96"/>
          <p:cNvSpPr txBox="1"/>
          <p:nvPr/>
        </p:nvSpPr>
        <p:spPr>
          <a:xfrm>
            <a:off x="4736544" y="33006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96"/>
          <p:cNvSpPr txBox="1"/>
          <p:nvPr/>
        </p:nvSpPr>
        <p:spPr>
          <a:xfrm>
            <a:off x="7180956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96"/>
          <p:cNvSpPr txBox="1"/>
          <p:nvPr/>
        </p:nvSpPr>
        <p:spPr>
          <a:xfrm>
            <a:off x="7981243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96"/>
          <p:cNvSpPr txBox="1"/>
          <p:nvPr/>
        </p:nvSpPr>
        <p:spPr>
          <a:xfrm>
            <a:off x="6394342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96"/>
          <p:cNvSpPr txBox="1"/>
          <p:nvPr/>
        </p:nvSpPr>
        <p:spPr>
          <a:xfrm>
            <a:off x="2461542" y="39083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6" name="Google Shape;2276;p96"/>
          <p:cNvGrpSpPr/>
          <p:nvPr/>
        </p:nvGrpSpPr>
        <p:grpSpPr>
          <a:xfrm>
            <a:off x="1563259" y="1117098"/>
            <a:ext cx="243093" cy="243093"/>
            <a:chOff x="1020916" y="1442088"/>
            <a:chExt cx="457200" cy="457200"/>
          </a:xfrm>
        </p:grpSpPr>
        <p:pic>
          <p:nvPicPr>
            <p:cNvPr id="2277" name="Google Shape;2277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96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79" name="Google Shape;2279;p96"/>
          <p:cNvSpPr txBox="1"/>
          <p:nvPr/>
        </p:nvSpPr>
        <p:spPr>
          <a:xfrm>
            <a:off x="1891835" y="1100050"/>
            <a:ext cx="81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P(M3)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0" name="Google Shape;2280;p96"/>
          <p:cNvGrpSpPr/>
          <p:nvPr/>
        </p:nvGrpSpPr>
        <p:grpSpPr>
          <a:xfrm>
            <a:off x="1563259" y="1599436"/>
            <a:ext cx="243093" cy="243093"/>
            <a:chOff x="1020916" y="1442088"/>
            <a:chExt cx="457200" cy="457200"/>
          </a:xfrm>
        </p:grpSpPr>
        <p:pic>
          <p:nvPicPr>
            <p:cNvPr id="2281" name="Google Shape;2281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2" name="Google Shape;2282;p96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3" name="Google Shape;2283;p96"/>
          <p:cNvSpPr txBox="1"/>
          <p:nvPr/>
        </p:nvSpPr>
        <p:spPr>
          <a:xfrm>
            <a:off x="1891831" y="1582400"/>
            <a:ext cx="257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P(M3 and not 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4" name="Google Shape;2284;p96"/>
          <p:cNvGrpSpPr/>
          <p:nvPr/>
        </p:nvGrpSpPr>
        <p:grpSpPr>
          <a:xfrm>
            <a:off x="1563259" y="2052473"/>
            <a:ext cx="243093" cy="243093"/>
            <a:chOff x="1020916" y="1442088"/>
            <a:chExt cx="457200" cy="457200"/>
          </a:xfrm>
        </p:grpSpPr>
        <p:pic>
          <p:nvPicPr>
            <p:cNvPr id="2285" name="Google Shape;228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6" name="Google Shape;2286;p96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7" name="Google Shape;2287;p96"/>
          <p:cNvSpPr txBox="1"/>
          <p:nvPr/>
        </p:nvSpPr>
        <p:spPr>
          <a:xfrm>
            <a:off x="1891827" y="2035450"/>
            <a:ext cx="17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P(M3 and 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4}&quot;&gt;&lt;mfrac&gt;&lt;mn&gt;7&lt;/mn&gt;&lt;mn&gt;14&lt;/mn&gt;&lt;/mfrac&gt;&lt;/math&gt;" id="2288" name="Google Shape;2288;p96" title="7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8467" y="1053527"/>
            <a:ext cx="238737" cy="4288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4}&quot;&gt;&lt;mfrac&gt;&lt;mn&gt;4&lt;/mn&gt;&lt;mn&gt;14&lt;/mn&gt;&lt;/mfrac&gt;&lt;/math&gt;" id="2289" name="Google Shape;2289;p96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7229" y="1504975"/>
            <a:ext cx="238737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4}&quot;&gt;&lt;mfrac&gt;&lt;mn&gt;3&lt;/mn&gt;&lt;mn&gt;14&lt;/mn&gt;&lt;/mfrac&gt;&lt;/math&gt;" id="2290" name="Google Shape;2290;p96" title="3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1620" y="1958025"/>
            <a:ext cx="24192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97"/>
          <p:cNvSpPr/>
          <p:nvPr/>
        </p:nvSpPr>
        <p:spPr>
          <a:xfrm>
            <a:off x="6058197" y="2508900"/>
            <a:ext cx="26862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6" name="Google Shape;2296;p97"/>
          <p:cNvGrpSpPr/>
          <p:nvPr/>
        </p:nvGrpSpPr>
        <p:grpSpPr>
          <a:xfrm>
            <a:off x="6244577" y="2715201"/>
            <a:ext cx="2313366" cy="1259606"/>
            <a:chOff x="4407725" y="2747200"/>
            <a:chExt cx="2207200" cy="1533300"/>
          </a:xfrm>
        </p:grpSpPr>
        <p:sp>
          <p:nvSpPr>
            <p:cNvPr id="2297" name="Google Shape;2297;p97"/>
            <p:cNvSpPr/>
            <p:nvPr/>
          </p:nvSpPr>
          <p:spPr>
            <a:xfrm>
              <a:off x="44077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8" name="Google Shape;2298;p97"/>
            <p:cNvSpPr/>
            <p:nvPr/>
          </p:nvSpPr>
          <p:spPr>
            <a:xfrm>
              <a:off x="5081625" y="2747200"/>
              <a:ext cx="1533300" cy="1533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99" name="Google Shape;2299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300" name="Google Shape;2300;p97"/>
          <p:cNvSpPr txBox="1"/>
          <p:nvPr/>
        </p:nvSpPr>
        <p:spPr>
          <a:xfrm>
            <a:off x="6058051" y="4311426"/>
            <a:ext cx="2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 of outcomes in each event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97"/>
          <p:cNvSpPr txBox="1"/>
          <p:nvPr/>
        </p:nvSpPr>
        <p:spPr>
          <a:xfrm>
            <a:off x="6106204" y="2508906"/>
            <a:ext cx="71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97"/>
          <p:cNvSpPr txBox="1"/>
          <p:nvPr/>
        </p:nvSpPr>
        <p:spPr>
          <a:xfrm>
            <a:off x="7821384" y="2508906"/>
            <a:ext cx="8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97"/>
          <p:cNvSpPr txBox="1"/>
          <p:nvPr/>
        </p:nvSpPr>
        <p:spPr>
          <a:xfrm>
            <a:off x="324026" y="6763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probability of: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97"/>
          <p:cNvSpPr txBox="1"/>
          <p:nvPr/>
        </p:nvSpPr>
        <p:spPr>
          <a:xfrm>
            <a:off x="5847748" y="24874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97"/>
          <p:cNvSpPr txBox="1"/>
          <p:nvPr/>
        </p:nvSpPr>
        <p:spPr>
          <a:xfrm>
            <a:off x="8160332" y="3949619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6" name="Google Shape;2306;p97"/>
          <p:cNvGraphicFramePr/>
          <p:nvPr/>
        </p:nvGraphicFramePr>
        <p:xfrm>
          <a:off x="324000" y="248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974800"/>
                <a:gridCol w="2154350"/>
                <a:gridCol w="2093250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 (M3)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7" name="Google Shape;2307;p97"/>
          <p:cNvSpPr txBox="1"/>
          <p:nvPr/>
        </p:nvSpPr>
        <p:spPr>
          <a:xfrm>
            <a:off x="1564200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97"/>
          <p:cNvSpPr txBox="1"/>
          <p:nvPr/>
        </p:nvSpPr>
        <p:spPr>
          <a:xfrm>
            <a:off x="1356229" y="39083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97"/>
          <p:cNvSpPr txBox="1"/>
          <p:nvPr/>
        </p:nvSpPr>
        <p:spPr>
          <a:xfrm>
            <a:off x="2197375" y="31055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97"/>
          <p:cNvSpPr txBox="1"/>
          <p:nvPr/>
        </p:nvSpPr>
        <p:spPr>
          <a:xfrm>
            <a:off x="2902113" y="28618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97"/>
          <p:cNvSpPr txBox="1"/>
          <p:nvPr/>
        </p:nvSpPr>
        <p:spPr>
          <a:xfrm>
            <a:off x="1940704" y="41559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97"/>
          <p:cNvSpPr txBox="1"/>
          <p:nvPr/>
        </p:nvSpPr>
        <p:spPr>
          <a:xfrm>
            <a:off x="2982379" y="43083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99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97"/>
          <p:cNvSpPr txBox="1"/>
          <p:nvPr/>
        </p:nvSpPr>
        <p:spPr>
          <a:xfrm>
            <a:off x="3562050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97"/>
          <p:cNvSpPr txBox="1"/>
          <p:nvPr/>
        </p:nvSpPr>
        <p:spPr>
          <a:xfrm>
            <a:off x="3953548" y="33006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97"/>
          <p:cNvSpPr txBox="1"/>
          <p:nvPr/>
        </p:nvSpPr>
        <p:spPr>
          <a:xfrm>
            <a:off x="4345046" y="28218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97"/>
          <p:cNvSpPr txBox="1"/>
          <p:nvPr/>
        </p:nvSpPr>
        <p:spPr>
          <a:xfrm>
            <a:off x="5128042" y="2827360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97"/>
          <p:cNvSpPr txBox="1"/>
          <p:nvPr/>
        </p:nvSpPr>
        <p:spPr>
          <a:xfrm>
            <a:off x="3601650" y="40608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8" name="Google Shape;2318;p97"/>
          <p:cNvSpPr txBox="1"/>
          <p:nvPr/>
        </p:nvSpPr>
        <p:spPr>
          <a:xfrm>
            <a:off x="4688275" y="398930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97"/>
          <p:cNvSpPr txBox="1"/>
          <p:nvPr/>
        </p:nvSpPr>
        <p:spPr>
          <a:xfrm>
            <a:off x="4736544" y="3300677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97"/>
          <p:cNvSpPr txBox="1"/>
          <p:nvPr/>
        </p:nvSpPr>
        <p:spPr>
          <a:xfrm>
            <a:off x="7180956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1" name="Google Shape;2321;p97"/>
          <p:cNvSpPr txBox="1"/>
          <p:nvPr/>
        </p:nvSpPr>
        <p:spPr>
          <a:xfrm>
            <a:off x="7981243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97"/>
          <p:cNvSpPr txBox="1"/>
          <p:nvPr/>
        </p:nvSpPr>
        <p:spPr>
          <a:xfrm>
            <a:off x="6394342" y="3145101"/>
            <a:ext cx="4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97"/>
          <p:cNvSpPr txBox="1"/>
          <p:nvPr/>
        </p:nvSpPr>
        <p:spPr>
          <a:xfrm>
            <a:off x="2461542" y="3908352"/>
            <a:ext cx="377100" cy="478800"/>
          </a:xfrm>
          <a:prstGeom prst="rect">
            <a:avLst/>
          </a:prstGeom>
          <a:solidFill>
            <a:srgbClr val="FAEAF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4" name="Google Shape;2324;p97"/>
          <p:cNvGrpSpPr/>
          <p:nvPr/>
        </p:nvGrpSpPr>
        <p:grpSpPr>
          <a:xfrm>
            <a:off x="1563259" y="1117098"/>
            <a:ext cx="243093" cy="243093"/>
            <a:chOff x="1020916" y="1442088"/>
            <a:chExt cx="457200" cy="457200"/>
          </a:xfrm>
        </p:grpSpPr>
        <p:pic>
          <p:nvPicPr>
            <p:cNvPr id="2325" name="Google Shape;2325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6" name="Google Shape;2326;p97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7" name="Google Shape;2327;p97"/>
          <p:cNvSpPr txBox="1"/>
          <p:nvPr/>
        </p:nvSpPr>
        <p:spPr>
          <a:xfrm>
            <a:off x="1891822" y="1100050"/>
            <a:ext cx="10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8" name="Google Shape;2328;p97"/>
          <p:cNvGrpSpPr/>
          <p:nvPr/>
        </p:nvGrpSpPr>
        <p:grpSpPr>
          <a:xfrm>
            <a:off x="1563259" y="1599436"/>
            <a:ext cx="243093" cy="243093"/>
            <a:chOff x="1020916" y="1442088"/>
            <a:chExt cx="457200" cy="457200"/>
          </a:xfrm>
        </p:grpSpPr>
        <p:pic>
          <p:nvPicPr>
            <p:cNvPr id="2329" name="Google Shape;2329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0" name="Google Shape;2330;p97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31" name="Google Shape;2331;p97"/>
          <p:cNvSpPr txBox="1"/>
          <p:nvPr/>
        </p:nvSpPr>
        <p:spPr>
          <a:xfrm>
            <a:off x="1891831" y="1582400"/>
            <a:ext cx="257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P(M3 or 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2" name="Google Shape;2332;p97"/>
          <p:cNvGrpSpPr/>
          <p:nvPr/>
        </p:nvGrpSpPr>
        <p:grpSpPr>
          <a:xfrm>
            <a:off x="1563259" y="2052473"/>
            <a:ext cx="243093" cy="243093"/>
            <a:chOff x="1020916" y="1442088"/>
            <a:chExt cx="457200" cy="457200"/>
          </a:xfrm>
        </p:grpSpPr>
        <p:pic>
          <p:nvPicPr>
            <p:cNvPr id="2333" name="Google Shape;2333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4" name="Google Shape;2334;p97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35" name="Google Shape;2335;p97"/>
          <p:cNvSpPr txBox="1"/>
          <p:nvPr/>
        </p:nvSpPr>
        <p:spPr>
          <a:xfrm>
            <a:off x="1891824" y="2035450"/>
            <a:ext cx="28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P(neither M3 nor 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6" name="Google Shape;233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4238" y="1051938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4}&quot;&gt;&lt;mfrac&gt;&lt;mn&gt;12&lt;/mn&gt;&lt;mn&gt;14&lt;/mn&gt;&lt;/mfrac&gt;&lt;/math&gt;" id="2337" name="Google Shape;2337;p97" title="12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0188" y="1526025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4}&quot;&gt;&lt;mfrac&gt;&lt;mn&gt;2&lt;/mn&gt;&lt;mn&gt;14&lt;/mn&gt;&lt;/mfrac&gt;&lt;/math&gt;" id="2338" name="Google Shape;2338;p97" title="2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4625" y="1958013"/>
            <a:ext cx="24192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98"/>
          <p:cNvSpPr txBox="1"/>
          <p:nvPr/>
        </p:nvSpPr>
        <p:spPr>
          <a:xfrm>
            <a:off x="324026" y="620729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Trial: a spinner is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factor of 100 (F100) or a multiple of 5 (M5).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Use the outcome table to complete the Venn diagram showing the number of outcomes for each event.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4" name="Google Shape;2344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345" name="Google Shape;2345;p98"/>
          <p:cNvSpPr/>
          <p:nvPr/>
        </p:nvSpPr>
        <p:spPr>
          <a:xfrm>
            <a:off x="3811075" y="2520600"/>
            <a:ext cx="24567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6" name="Google Shape;2346;p98"/>
          <p:cNvSpPr/>
          <p:nvPr/>
        </p:nvSpPr>
        <p:spPr>
          <a:xfrm>
            <a:off x="39816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98"/>
          <p:cNvSpPr/>
          <p:nvPr/>
        </p:nvSpPr>
        <p:spPr>
          <a:xfrm>
            <a:off x="46276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98"/>
          <p:cNvSpPr txBox="1"/>
          <p:nvPr/>
        </p:nvSpPr>
        <p:spPr>
          <a:xfrm>
            <a:off x="3854975" y="2520600"/>
            <a:ext cx="117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F100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98"/>
          <p:cNvSpPr txBox="1"/>
          <p:nvPr/>
        </p:nvSpPr>
        <p:spPr>
          <a:xfrm>
            <a:off x="5074120" y="2520600"/>
            <a:ext cx="11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0" name="Google Shape;2350;p98"/>
          <p:cNvSpPr txBox="1"/>
          <p:nvPr/>
        </p:nvSpPr>
        <p:spPr>
          <a:xfrm>
            <a:off x="3600623" y="24991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1" name="Google Shape;2351;p98"/>
          <p:cNvGraphicFramePr/>
          <p:nvPr/>
        </p:nvGraphicFramePr>
        <p:xfrm>
          <a:off x="324000" y="218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594875"/>
                <a:gridCol w="1314700"/>
                <a:gridCol w="1277425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(M5)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F100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F100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2" name="Google Shape;2352;p98"/>
          <p:cNvSpPr txBox="1"/>
          <p:nvPr/>
        </p:nvSpPr>
        <p:spPr>
          <a:xfrm>
            <a:off x="990939" y="2542799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3" name="Google Shape;2353;p98"/>
          <p:cNvSpPr txBox="1"/>
          <p:nvPr/>
        </p:nvSpPr>
        <p:spPr>
          <a:xfrm>
            <a:off x="1825735" y="251562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4" name="Google Shape;2354;p98"/>
          <p:cNvSpPr txBox="1"/>
          <p:nvPr/>
        </p:nvSpPr>
        <p:spPr>
          <a:xfrm>
            <a:off x="990939" y="3089774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98"/>
          <p:cNvSpPr txBox="1"/>
          <p:nvPr/>
        </p:nvSpPr>
        <p:spPr>
          <a:xfrm>
            <a:off x="1813100" y="311872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98"/>
          <p:cNvSpPr txBox="1"/>
          <p:nvPr/>
        </p:nvSpPr>
        <p:spPr>
          <a:xfrm>
            <a:off x="1399175" y="28443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98"/>
          <p:cNvSpPr txBox="1"/>
          <p:nvPr/>
        </p:nvSpPr>
        <p:spPr>
          <a:xfrm>
            <a:off x="2362085" y="2618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98"/>
          <p:cNvSpPr txBox="1"/>
          <p:nvPr/>
        </p:nvSpPr>
        <p:spPr>
          <a:xfrm>
            <a:off x="2981360" y="270000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98"/>
          <p:cNvSpPr txBox="1"/>
          <p:nvPr/>
        </p:nvSpPr>
        <p:spPr>
          <a:xfrm>
            <a:off x="2605135" y="3089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98"/>
          <p:cNvSpPr txBox="1"/>
          <p:nvPr/>
        </p:nvSpPr>
        <p:spPr>
          <a:xfrm>
            <a:off x="1078585" y="36367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1" name="Google Shape;2361;p98"/>
          <p:cNvSpPr txBox="1"/>
          <p:nvPr/>
        </p:nvSpPr>
        <p:spPr>
          <a:xfrm>
            <a:off x="1736910" y="36367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2" name="Google Shape;2362;p98"/>
          <p:cNvSpPr txBox="1"/>
          <p:nvPr/>
        </p:nvSpPr>
        <p:spPr>
          <a:xfrm>
            <a:off x="1548225" y="4104050"/>
            <a:ext cx="6387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3" name="Google Shape;2363;p98"/>
          <p:cNvSpPr txBox="1"/>
          <p:nvPr/>
        </p:nvSpPr>
        <p:spPr>
          <a:xfrm>
            <a:off x="1037985" y="41040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4" name="Google Shape;2364;p98"/>
          <p:cNvSpPr txBox="1"/>
          <p:nvPr/>
        </p:nvSpPr>
        <p:spPr>
          <a:xfrm>
            <a:off x="2300765" y="3560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5" name="Google Shape;2365;p98"/>
          <p:cNvSpPr txBox="1"/>
          <p:nvPr/>
        </p:nvSpPr>
        <p:spPr>
          <a:xfrm>
            <a:off x="2706590" y="3560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6" name="Google Shape;2366;p98"/>
          <p:cNvSpPr txBox="1"/>
          <p:nvPr/>
        </p:nvSpPr>
        <p:spPr>
          <a:xfrm>
            <a:off x="3112415" y="3560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7" name="Google Shape;2367;p98"/>
          <p:cNvSpPr txBox="1"/>
          <p:nvPr/>
        </p:nvSpPr>
        <p:spPr>
          <a:xfrm>
            <a:off x="2300765" y="4031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98"/>
          <p:cNvSpPr txBox="1"/>
          <p:nvPr/>
        </p:nvSpPr>
        <p:spPr>
          <a:xfrm>
            <a:off x="2706590" y="4031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9" name="Google Shape;2369;p98"/>
          <p:cNvSpPr txBox="1"/>
          <p:nvPr/>
        </p:nvSpPr>
        <p:spPr>
          <a:xfrm>
            <a:off x="3112415" y="4031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0" name="Google Shape;2370;p98"/>
          <p:cNvSpPr txBox="1"/>
          <p:nvPr/>
        </p:nvSpPr>
        <p:spPr>
          <a:xfrm>
            <a:off x="6656300" y="2122650"/>
            <a:ext cx="21636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P(M5 and F100)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P(M5)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P(M5 or F100)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71" name="Google Shape;2371;p98"/>
          <p:cNvGrpSpPr/>
          <p:nvPr/>
        </p:nvGrpSpPr>
        <p:grpSpPr>
          <a:xfrm>
            <a:off x="6484445" y="2064834"/>
            <a:ext cx="2335907" cy="2720732"/>
            <a:chOff x="3238750" y="2117900"/>
            <a:chExt cx="350700" cy="419400"/>
          </a:xfrm>
        </p:grpSpPr>
        <p:cxnSp>
          <p:nvCxnSpPr>
            <p:cNvPr id="2372" name="Google Shape;2372;p98"/>
            <p:cNvCxnSpPr/>
            <p:nvPr/>
          </p:nvCxnSpPr>
          <p:spPr>
            <a:xfrm>
              <a:off x="3238750" y="2117900"/>
              <a:ext cx="0" cy="419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3" name="Google Shape;2373;p98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99"/>
          <p:cNvSpPr txBox="1"/>
          <p:nvPr/>
        </p:nvSpPr>
        <p:spPr>
          <a:xfrm>
            <a:off x="324026" y="593253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Trial: selecting a random number from a game at a fair.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Izzy wins, Jun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Use the Venn diagram showing the number of outcomes that result in Izzy or Jun winning to complete the probability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9" name="Google Shape;2379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380" name="Google Shape;2380;p99"/>
          <p:cNvSpPr/>
          <p:nvPr/>
        </p:nvSpPr>
        <p:spPr>
          <a:xfrm>
            <a:off x="534475" y="2520600"/>
            <a:ext cx="24567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1" name="Google Shape;2381;p99"/>
          <p:cNvSpPr/>
          <p:nvPr/>
        </p:nvSpPr>
        <p:spPr>
          <a:xfrm>
            <a:off x="7050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2" name="Google Shape;2382;p99"/>
          <p:cNvSpPr/>
          <p:nvPr/>
        </p:nvSpPr>
        <p:spPr>
          <a:xfrm>
            <a:off x="13510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3" name="Google Shape;2383;p99"/>
          <p:cNvSpPr txBox="1"/>
          <p:nvPr/>
        </p:nvSpPr>
        <p:spPr>
          <a:xfrm>
            <a:off x="578375" y="2520600"/>
            <a:ext cx="117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4" name="Google Shape;2384;p99"/>
          <p:cNvSpPr txBox="1"/>
          <p:nvPr/>
        </p:nvSpPr>
        <p:spPr>
          <a:xfrm>
            <a:off x="1797520" y="2520600"/>
            <a:ext cx="11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5" name="Google Shape;2385;p99"/>
          <p:cNvSpPr txBox="1"/>
          <p:nvPr/>
        </p:nvSpPr>
        <p:spPr>
          <a:xfrm>
            <a:off x="324023" y="24991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6" name="Google Shape;2386;p99"/>
          <p:cNvSpPr txBox="1"/>
          <p:nvPr/>
        </p:nvSpPr>
        <p:spPr>
          <a:xfrm>
            <a:off x="2546983" y="3996261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7" name="Google Shape;2387;p99"/>
          <p:cNvSpPr txBox="1"/>
          <p:nvPr/>
        </p:nvSpPr>
        <p:spPr>
          <a:xfrm>
            <a:off x="1561319" y="32742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8" name="Google Shape;2388;p99"/>
          <p:cNvSpPr txBox="1"/>
          <p:nvPr/>
        </p:nvSpPr>
        <p:spPr>
          <a:xfrm>
            <a:off x="2293239" y="32742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9" name="Google Shape;2389;p99"/>
          <p:cNvSpPr txBox="1"/>
          <p:nvPr/>
        </p:nvSpPr>
        <p:spPr>
          <a:xfrm>
            <a:off x="841903" y="32742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0" name="Google Shape;2390;p99"/>
          <p:cNvCxnSpPr/>
          <p:nvPr/>
        </p:nvCxnSpPr>
        <p:spPr>
          <a:xfrm flipH="1" rot="10800000">
            <a:off x="4491960" y="369636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1" name="Google Shape;2391;p99"/>
          <p:cNvCxnSpPr/>
          <p:nvPr/>
        </p:nvCxnSpPr>
        <p:spPr>
          <a:xfrm>
            <a:off x="3146325" y="3359444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2" name="Google Shape;2392;p99"/>
          <p:cNvCxnSpPr/>
          <p:nvPr/>
        </p:nvCxnSpPr>
        <p:spPr>
          <a:xfrm flipH="1" rot="10800000">
            <a:off x="4491960" y="212611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99"/>
          <p:cNvCxnSpPr/>
          <p:nvPr/>
        </p:nvCxnSpPr>
        <p:spPr>
          <a:xfrm>
            <a:off x="4491960" y="414456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4" name="Google Shape;2394;p99"/>
          <p:cNvCxnSpPr/>
          <p:nvPr/>
        </p:nvCxnSpPr>
        <p:spPr>
          <a:xfrm>
            <a:off x="4491960" y="257431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5" name="Google Shape;2395;p99"/>
          <p:cNvCxnSpPr/>
          <p:nvPr/>
        </p:nvCxnSpPr>
        <p:spPr>
          <a:xfrm flipH="1" rot="10800000">
            <a:off x="3146325" y="2554844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6" name="Google Shape;2396;p99"/>
          <p:cNvSpPr txBox="1"/>
          <p:nvPr/>
        </p:nvSpPr>
        <p:spPr>
          <a:xfrm>
            <a:off x="3620014" y="243584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7" name="Google Shape;2397;p99"/>
          <p:cNvSpPr txBox="1"/>
          <p:nvPr/>
        </p:nvSpPr>
        <p:spPr>
          <a:xfrm>
            <a:off x="3620014" y="401993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loses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8" name="Google Shape;2398;p99"/>
          <p:cNvSpPr txBox="1"/>
          <p:nvPr/>
        </p:nvSpPr>
        <p:spPr>
          <a:xfrm>
            <a:off x="4965664" y="199129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9" name="Google Shape;2399;p99"/>
          <p:cNvSpPr txBox="1"/>
          <p:nvPr/>
        </p:nvSpPr>
        <p:spPr>
          <a:xfrm>
            <a:off x="4965664" y="3580802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0" name="Google Shape;2400;p99"/>
          <p:cNvSpPr txBox="1"/>
          <p:nvPr/>
        </p:nvSpPr>
        <p:spPr>
          <a:xfrm>
            <a:off x="4965664" y="446011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1" name="Google Shape;2401;p99"/>
          <p:cNvSpPr txBox="1"/>
          <p:nvPr/>
        </p:nvSpPr>
        <p:spPr>
          <a:xfrm>
            <a:off x="4965664" y="2870612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32}&quot;&gt;&lt;mfrac&gt;&lt;mn&gt;4&lt;/mn&gt;&lt;mn&gt;32&lt;/mn&gt;&lt;/mfrac&gt;&lt;/math&gt;" id="2402" name="Google Shape;2402;p99" title="4 over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858" y="2793192"/>
            <a:ext cx="23328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99"/>
          <p:cNvSpPr txBox="1"/>
          <p:nvPr/>
        </p:nvSpPr>
        <p:spPr>
          <a:xfrm>
            <a:off x="6656300" y="2122650"/>
            <a:ext cx="2163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P(Izzy wins)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P(only Jun wins)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P(either win)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04" name="Google Shape;2404;p99"/>
          <p:cNvGrpSpPr/>
          <p:nvPr/>
        </p:nvGrpSpPr>
        <p:grpSpPr>
          <a:xfrm>
            <a:off x="6484445" y="2064834"/>
            <a:ext cx="2335907" cy="2720732"/>
            <a:chOff x="3238750" y="2117900"/>
            <a:chExt cx="350700" cy="419400"/>
          </a:xfrm>
        </p:grpSpPr>
        <p:cxnSp>
          <p:nvCxnSpPr>
            <p:cNvPr id="2405" name="Google Shape;2405;p99"/>
            <p:cNvCxnSpPr/>
            <p:nvPr/>
          </p:nvCxnSpPr>
          <p:spPr>
            <a:xfrm>
              <a:off x="3238750" y="2117900"/>
              <a:ext cx="0" cy="419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6" name="Google Shape;2406;p99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100"/>
          <p:cNvSpPr txBox="1"/>
          <p:nvPr/>
        </p:nvSpPr>
        <p:spPr>
          <a:xfrm>
            <a:off x="324026" y="620729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Trial: a spinner is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square number or an even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both the probability tree with probabilities and events, and complete the outcome table with one possible missing outcome.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graphicFrame>
        <p:nvGraphicFramePr>
          <p:cNvPr id="2413" name="Google Shape;2413;p100"/>
          <p:cNvGraphicFramePr/>
          <p:nvPr/>
        </p:nvGraphicFramePr>
        <p:xfrm>
          <a:off x="324000" y="239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555725"/>
                <a:gridCol w="1228175"/>
                <a:gridCol w="1193350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4" name="Google Shape;2414;p100"/>
          <p:cNvSpPr txBox="1"/>
          <p:nvPr/>
        </p:nvSpPr>
        <p:spPr>
          <a:xfrm>
            <a:off x="92907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5" name="Google Shape;2415;p100"/>
          <p:cNvSpPr txBox="1"/>
          <p:nvPr/>
        </p:nvSpPr>
        <p:spPr>
          <a:xfrm>
            <a:off x="132103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6" name="Google Shape;2416;p100"/>
          <p:cNvSpPr txBox="1"/>
          <p:nvPr/>
        </p:nvSpPr>
        <p:spPr>
          <a:xfrm>
            <a:off x="171299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7" name="Google Shape;2417;p100"/>
          <p:cNvSpPr txBox="1"/>
          <p:nvPr/>
        </p:nvSpPr>
        <p:spPr>
          <a:xfrm>
            <a:off x="929075" y="308900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8" name="Google Shape;2418;p100"/>
          <p:cNvSpPr txBox="1"/>
          <p:nvPr/>
        </p:nvSpPr>
        <p:spPr>
          <a:xfrm>
            <a:off x="1321035" y="308900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9" name="Google Shape;2419;p100"/>
          <p:cNvSpPr txBox="1"/>
          <p:nvPr/>
        </p:nvSpPr>
        <p:spPr>
          <a:xfrm>
            <a:off x="1660350" y="308900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0" name="Google Shape;2420;p100"/>
          <p:cNvSpPr txBox="1"/>
          <p:nvPr/>
        </p:nvSpPr>
        <p:spPr>
          <a:xfrm>
            <a:off x="1027363" y="342835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1" name="Google Shape;2421;p100"/>
          <p:cNvSpPr txBox="1"/>
          <p:nvPr/>
        </p:nvSpPr>
        <p:spPr>
          <a:xfrm>
            <a:off x="1509388" y="342835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2" name="Google Shape;2422;p100"/>
          <p:cNvSpPr txBox="1"/>
          <p:nvPr/>
        </p:nvSpPr>
        <p:spPr>
          <a:xfrm>
            <a:off x="215393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100"/>
          <p:cNvSpPr txBox="1"/>
          <p:nvPr/>
        </p:nvSpPr>
        <p:spPr>
          <a:xfrm>
            <a:off x="254589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4" name="Google Shape;2424;p100"/>
          <p:cNvSpPr txBox="1"/>
          <p:nvPr/>
        </p:nvSpPr>
        <p:spPr>
          <a:xfrm>
            <a:off x="293785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5" name="Google Shape;2425;p100"/>
          <p:cNvSpPr txBox="1"/>
          <p:nvPr/>
        </p:nvSpPr>
        <p:spPr>
          <a:xfrm>
            <a:off x="2153936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100"/>
          <p:cNvSpPr txBox="1"/>
          <p:nvPr/>
        </p:nvSpPr>
        <p:spPr>
          <a:xfrm>
            <a:off x="2545896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7" name="Google Shape;2427;p100"/>
          <p:cNvSpPr txBox="1"/>
          <p:nvPr/>
        </p:nvSpPr>
        <p:spPr>
          <a:xfrm>
            <a:off x="2937871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8" name="Google Shape;2428;p100"/>
          <p:cNvSpPr txBox="1"/>
          <p:nvPr/>
        </p:nvSpPr>
        <p:spPr>
          <a:xfrm>
            <a:off x="1125049" y="39281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9" name="Google Shape;2429;p100"/>
          <p:cNvSpPr txBox="1"/>
          <p:nvPr/>
        </p:nvSpPr>
        <p:spPr>
          <a:xfrm>
            <a:off x="1517009" y="39281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0" name="Google Shape;2430;p100"/>
          <p:cNvSpPr txBox="1"/>
          <p:nvPr/>
        </p:nvSpPr>
        <p:spPr>
          <a:xfrm>
            <a:off x="1125049" y="42675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1" name="Google Shape;2431;p100"/>
          <p:cNvSpPr txBox="1"/>
          <p:nvPr/>
        </p:nvSpPr>
        <p:spPr>
          <a:xfrm>
            <a:off x="1517009" y="42675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2" name="Google Shape;2432;p100"/>
          <p:cNvSpPr txBox="1"/>
          <p:nvPr/>
        </p:nvSpPr>
        <p:spPr>
          <a:xfrm>
            <a:off x="215692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3" name="Google Shape;2433;p100"/>
          <p:cNvSpPr txBox="1"/>
          <p:nvPr/>
        </p:nvSpPr>
        <p:spPr>
          <a:xfrm>
            <a:off x="254888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4" name="Google Shape;2434;p100"/>
          <p:cNvSpPr txBox="1"/>
          <p:nvPr/>
        </p:nvSpPr>
        <p:spPr>
          <a:xfrm>
            <a:off x="215692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5" name="Google Shape;2435;p100"/>
          <p:cNvSpPr txBox="1"/>
          <p:nvPr/>
        </p:nvSpPr>
        <p:spPr>
          <a:xfrm>
            <a:off x="254888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6" name="Google Shape;2436;p100"/>
          <p:cNvSpPr txBox="1"/>
          <p:nvPr/>
        </p:nvSpPr>
        <p:spPr>
          <a:xfrm>
            <a:off x="294083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7" name="Google Shape;2437;p100"/>
          <p:cNvSpPr txBox="1"/>
          <p:nvPr/>
        </p:nvSpPr>
        <p:spPr>
          <a:xfrm>
            <a:off x="294083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8" name="Google Shape;2438;p100"/>
          <p:cNvSpPr txBox="1"/>
          <p:nvPr/>
        </p:nvSpPr>
        <p:spPr>
          <a:xfrm>
            <a:off x="215692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9" name="Google Shape;2439;p100"/>
          <p:cNvSpPr txBox="1"/>
          <p:nvPr/>
        </p:nvSpPr>
        <p:spPr>
          <a:xfrm>
            <a:off x="254888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0" name="Google Shape;2440;p100"/>
          <p:cNvSpPr txBox="1"/>
          <p:nvPr/>
        </p:nvSpPr>
        <p:spPr>
          <a:xfrm>
            <a:off x="294083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41" name="Google Shape;2441;p100"/>
          <p:cNvCxnSpPr/>
          <p:nvPr/>
        </p:nvCxnSpPr>
        <p:spPr>
          <a:xfrm flipH="1" rot="10800000">
            <a:off x="4443236" y="363225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100"/>
          <p:cNvCxnSpPr/>
          <p:nvPr/>
        </p:nvCxnSpPr>
        <p:spPr>
          <a:xfrm>
            <a:off x="3374925" y="3295333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100"/>
          <p:cNvCxnSpPr/>
          <p:nvPr/>
        </p:nvCxnSpPr>
        <p:spPr>
          <a:xfrm flipH="1" rot="10800000">
            <a:off x="4443236" y="206200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4" name="Google Shape;2444;p100"/>
          <p:cNvCxnSpPr/>
          <p:nvPr/>
        </p:nvCxnSpPr>
        <p:spPr>
          <a:xfrm>
            <a:off x="4443236" y="408045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5" name="Google Shape;2445;p100"/>
          <p:cNvCxnSpPr/>
          <p:nvPr/>
        </p:nvCxnSpPr>
        <p:spPr>
          <a:xfrm>
            <a:off x="4443236" y="251020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6" name="Google Shape;2446;p100"/>
          <p:cNvCxnSpPr/>
          <p:nvPr/>
        </p:nvCxnSpPr>
        <p:spPr>
          <a:xfrm flipH="1" rot="10800000">
            <a:off x="3374925" y="2490733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7" name="Google Shape;2447;p100"/>
          <p:cNvSpPr txBox="1"/>
          <p:nvPr/>
        </p:nvSpPr>
        <p:spPr>
          <a:xfrm>
            <a:off x="3723690" y="237173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100"/>
          <p:cNvSpPr txBox="1"/>
          <p:nvPr/>
        </p:nvSpPr>
        <p:spPr>
          <a:xfrm>
            <a:off x="4916940" y="192718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100"/>
          <p:cNvSpPr txBox="1"/>
          <p:nvPr/>
        </p:nvSpPr>
        <p:spPr>
          <a:xfrm>
            <a:off x="4916940" y="439600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0" name="Google Shape;2450;p100"/>
          <p:cNvSpPr txBox="1"/>
          <p:nvPr/>
        </p:nvSpPr>
        <p:spPr>
          <a:xfrm>
            <a:off x="4916940" y="2806501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4}&quot;&gt;&lt;mfrac&gt;&lt;mn&gt;4&lt;/mn&gt;&lt;mn&gt;14&lt;/mn&gt;&lt;/mfrac&gt;&lt;/math&gt;" id="2451" name="Google Shape;2451;p100" title="4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117" y="1849770"/>
            <a:ext cx="238737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4}&quot;&gt;&lt;mfrac&gt;&lt;mn&gt;2&lt;/mn&gt;&lt;mn&gt;14&lt;/mn&gt;&lt;/mfrac&gt;&lt;/math&gt;" id="2452" name="Google Shape;2452;p100" title="2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763" y="3439304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4}&quot;&gt;&lt;mfrac&gt;&lt;mn&gt;5&lt;/mn&gt;&lt;mn&gt;14&lt;/mn&gt;&lt;/mfrac&gt;&lt;/math&gt;" id="2453" name="Google Shape;2453;p100" title="5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312" y="4324905"/>
            <a:ext cx="232370" cy="419387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100"/>
          <p:cNvSpPr txBox="1"/>
          <p:nvPr/>
        </p:nvSpPr>
        <p:spPr>
          <a:xfrm>
            <a:off x="6397346" y="1970256"/>
            <a:ext cx="2422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P(square)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P(either square or 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P(either square or even, but not both)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5" name="Google Shape;2455;p100"/>
          <p:cNvGrpSpPr/>
          <p:nvPr/>
        </p:nvGrpSpPr>
        <p:grpSpPr>
          <a:xfrm>
            <a:off x="6304710" y="1912494"/>
            <a:ext cx="2515782" cy="2907994"/>
            <a:chOff x="3238750" y="2117900"/>
            <a:chExt cx="350700" cy="419400"/>
          </a:xfrm>
        </p:grpSpPr>
        <p:cxnSp>
          <p:nvCxnSpPr>
            <p:cNvPr id="2456" name="Google Shape;2456;p100"/>
            <p:cNvCxnSpPr/>
            <p:nvPr/>
          </p:nvCxnSpPr>
          <p:spPr>
            <a:xfrm>
              <a:off x="3238750" y="2117900"/>
              <a:ext cx="0" cy="419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7" name="Google Shape;2457;p100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101"/>
          <p:cNvSpPr txBox="1"/>
          <p:nvPr/>
        </p:nvSpPr>
        <p:spPr>
          <a:xfrm>
            <a:off x="6656300" y="2122650"/>
            <a:ext cx="21636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P(M5 and F100)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P(M5)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P(M5 or F100)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3" name="Google Shape;2463;p101"/>
          <p:cNvSpPr txBox="1"/>
          <p:nvPr/>
        </p:nvSpPr>
        <p:spPr>
          <a:xfrm>
            <a:off x="324026" y="620729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Trial: a spinner is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factor of 100 (F100) or a multiple of 5 (M5).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Use the outcome table to complete the Venn diagram showing the number of outcomes for each event.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4" name="Google Shape;2464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465" name="Google Shape;2465;p101"/>
          <p:cNvSpPr/>
          <p:nvPr/>
        </p:nvSpPr>
        <p:spPr>
          <a:xfrm>
            <a:off x="3811075" y="2520600"/>
            <a:ext cx="24567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6" name="Google Shape;2466;p101"/>
          <p:cNvSpPr/>
          <p:nvPr/>
        </p:nvSpPr>
        <p:spPr>
          <a:xfrm>
            <a:off x="39816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7" name="Google Shape;2467;p101"/>
          <p:cNvSpPr/>
          <p:nvPr/>
        </p:nvSpPr>
        <p:spPr>
          <a:xfrm>
            <a:off x="46276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8" name="Google Shape;2468;p101"/>
          <p:cNvSpPr txBox="1"/>
          <p:nvPr/>
        </p:nvSpPr>
        <p:spPr>
          <a:xfrm>
            <a:off x="3854975" y="2520600"/>
            <a:ext cx="117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F100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9" name="Google Shape;2469;p101"/>
          <p:cNvSpPr txBox="1"/>
          <p:nvPr/>
        </p:nvSpPr>
        <p:spPr>
          <a:xfrm>
            <a:off x="5074120" y="2520600"/>
            <a:ext cx="11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0" name="Google Shape;2470;p101"/>
          <p:cNvSpPr txBox="1"/>
          <p:nvPr/>
        </p:nvSpPr>
        <p:spPr>
          <a:xfrm>
            <a:off x="3600623" y="24991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1" name="Google Shape;2471;p101"/>
          <p:cNvGrpSpPr/>
          <p:nvPr/>
        </p:nvGrpSpPr>
        <p:grpSpPr>
          <a:xfrm>
            <a:off x="6484445" y="2064834"/>
            <a:ext cx="2335907" cy="2720732"/>
            <a:chOff x="3238750" y="2117900"/>
            <a:chExt cx="350700" cy="419400"/>
          </a:xfrm>
        </p:grpSpPr>
        <p:cxnSp>
          <p:nvCxnSpPr>
            <p:cNvPr id="2472" name="Google Shape;2472;p101"/>
            <p:cNvCxnSpPr/>
            <p:nvPr/>
          </p:nvCxnSpPr>
          <p:spPr>
            <a:xfrm>
              <a:off x="3238750" y="2117900"/>
              <a:ext cx="0" cy="419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3" name="Google Shape;2473;p101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2474" name="Google Shape;2474;p101"/>
          <p:cNvGraphicFramePr/>
          <p:nvPr/>
        </p:nvGraphicFramePr>
        <p:xfrm>
          <a:off x="324000" y="218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594875"/>
                <a:gridCol w="1314700"/>
                <a:gridCol w="1277425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(M5)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F100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F100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5" name="Google Shape;2475;p101"/>
          <p:cNvSpPr txBox="1"/>
          <p:nvPr/>
        </p:nvSpPr>
        <p:spPr>
          <a:xfrm>
            <a:off x="990939" y="2542799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6" name="Google Shape;2476;p101"/>
          <p:cNvSpPr txBox="1"/>
          <p:nvPr/>
        </p:nvSpPr>
        <p:spPr>
          <a:xfrm>
            <a:off x="1825735" y="251562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7" name="Google Shape;2477;p101"/>
          <p:cNvSpPr txBox="1"/>
          <p:nvPr/>
        </p:nvSpPr>
        <p:spPr>
          <a:xfrm>
            <a:off x="990939" y="3089774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8" name="Google Shape;2478;p101"/>
          <p:cNvSpPr txBox="1"/>
          <p:nvPr/>
        </p:nvSpPr>
        <p:spPr>
          <a:xfrm>
            <a:off x="1813100" y="311872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9" name="Google Shape;2479;p101"/>
          <p:cNvSpPr txBox="1"/>
          <p:nvPr/>
        </p:nvSpPr>
        <p:spPr>
          <a:xfrm>
            <a:off x="1399175" y="28443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0" name="Google Shape;2480;p101"/>
          <p:cNvSpPr txBox="1"/>
          <p:nvPr/>
        </p:nvSpPr>
        <p:spPr>
          <a:xfrm>
            <a:off x="2362085" y="2618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1" name="Google Shape;2481;p101"/>
          <p:cNvSpPr txBox="1"/>
          <p:nvPr/>
        </p:nvSpPr>
        <p:spPr>
          <a:xfrm>
            <a:off x="2981360" y="270000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2" name="Google Shape;2482;p101"/>
          <p:cNvSpPr txBox="1"/>
          <p:nvPr/>
        </p:nvSpPr>
        <p:spPr>
          <a:xfrm>
            <a:off x="2605135" y="3089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3" name="Google Shape;2483;p101"/>
          <p:cNvSpPr txBox="1"/>
          <p:nvPr/>
        </p:nvSpPr>
        <p:spPr>
          <a:xfrm>
            <a:off x="1078585" y="36367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4" name="Google Shape;2484;p101"/>
          <p:cNvSpPr txBox="1"/>
          <p:nvPr/>
        </p:nvSpPr>
        <p:spPr>
          <a:xfrm>
            <a:off x="1736910" y="36367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5" name="Google Shape;2485;p101"/>
          <p:cNvSpPr txBox="1"/>
          <p:nvPr/>
        </p:nvSpPr>
        <p:spPr>
          <a:xfrm>
            <a:off x="1548225" y="4104050"/>
            <a:ext cx="6387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6" name="Google Shape;2486;p101"/>
          <p:cNvSpPr txBox="1"/>
          <p:nvPr/>
        </p:nvSpPr>
        <p:spPr>
          <a:xfrm>
            <a:off x="1037985" y="4104050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7" name="Google Shape;2487;p101"/>
          <p:cNvSpPr txBox="1"/>
          <p:nvPr/>
        </p:nvSpPr>
        <p:spPr>
          <a:xfrm>
            <a:off x="2300765" y="3560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8" name="Google Shape;2488;p101"/>
          <p:cNvSpPr txBox="1"/>
          <p:nvPr/>
        </p:nvSpPr>
        <p:spPr>
          <a:xfrm>
            <a:off x="2706590" y="3560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9" name="Google Shape;2489;p101"/>
          <p:cNvSpPr txBox="1"/>
          <p:nvPr/>
        </p:nvSpPr>
        <p:spPr>
          <a:xfrm>
            <a:off x="3112415" y="3560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0" name="Google Shape;2490;p101"/>
          <p:cNvSpPr txBox="1"/>
          <p:nvPr/>
        </p:nvSpPr>
        <p:spPr>
          <a:xfrm>
            <a:off x="2300765" y="4031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1" name="Google Shape;2491;p101"/>
          <p:cNvSpPr txBox="1"/>
          <p:nvPr/>
        </p:nvSpPr>
        <p:spPr>
          <a:xfrm>
            <a:off x="2706590" y="4031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2" name="Google Shape;2492;p101"/>
          <p:cNvSpPr txBox="1"/>
          <p:nvPr/>
        </p:nvSpPr>
        <p:spPr>
          <a:xfrm>
            <a:off x="3112415" y="4031775"/>
            <a:ext cx="361200" cy="34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3" name="Google Shape;2493;p101"/>
          <p:cNvSpPr txBox="1"/>
          <p:nvPr/>
        </p:nvSpPr>
        <p:spPr>
          <a:xfrm>
            <a:off x="4837969" y="333560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4" name="Google Shape;2494;p101"/>
          <p:cNvSpPr txBox="1"/>
          <p:nvPr/>
        </p:nvSpPr>
        <p:spPr>
          <a:xfrm>
            <a:off x="4127919" y="333560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5" name="Google Shape;2495;p101"/>
          <p:cNvSpPr txBox="1"/>
          <p:nvPr/>
        </p:nvSpPr>
        <p:spPr>
          <a:xfrm>
            <a:off x="5548019" y="333560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6" name="Google Shape;2496;p101"/>
          <p:cNvSpPr txBox="1"/>
          <p:nvPr/>
        </p:nvSpPr>
        <p:spPr>
          <a:xfrm>
            <a:off x="5820819" y="39847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8}&quot;&gt;&lt;mfrac&gt;&lt;mn&gt;5&lt;/mn&gt;&lt;mn&gt;18&lt;/mn&gt;&lt;/mfrac&gt;&lt;/math&gt;" id="2497" name="Google Shape;2497;p101" title="5 over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8832" y="3053464"/>
            <a:ext cx="227141" cy="4165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8}&quot;&gt;&lt;mfrac&gt;&lt;mn&gt;9&lt;/mn&gt;&lt;mn&gt;18&lt;/mn&gt;&lt;/mfrac&gt;&lt;/math&gt;" id="2498" name="Google Shape;2498;p101" title="9 over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7297" y="3685589"/>
            <a:ext cx="230210" cy="428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8}&quot;&gt;&lt;mfrac&gt;&lt;mn&gt;12&lt;/mn&gt;&lt;mn&gt;18&lt;/mn&gt;&lt;/mfrac&gt;&lt;/math&gt;" id="2499" name="Google Shape;2499;p101" title="12 over 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7297" y="4354491"/>
            <a:ext cx="230210" cy="42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102"/>
          <p:cNvSpPr txBox="1"/>
          <p:nvPr/>
        </p:nvSpPr>
        <p:spPr>
          <a:xfrm>
            <a:off x="324026" y="593253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Trial: selecting a random number from a game at a fair.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Izzy wins, Jun wins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Use the Venn diagram showing the number of outcomes that result in Izzy or Jun winning to complete the probability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5" name="Google Shape;2505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sp>
        <p:nvSpPr>
          <p:cNvPr id="2506" name="Google Shape;2506;p102"/>
          <p:cNvSpPr/>
          <p:nvPr/>
        </p:nvSpPr>
        <p:spPr>
          <a:xfrm>
            <a:off x="534475" y="2520600"/>
            <a:ext cx="2456700" cy="179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7" name="Google Shape;2507;p102"/>
          <p:cNvSpPr/>
          <p:nvPr/>
        </p:nvSpPr>
        <p:spPr>
          <a:xfrm>
            <a:off x="7050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8" name="Google Shape;2508;p102"/>
          <p:cNvSpPr/>
          <p:nvPr/>
        </p:nvSpPr>
        <p:spPr>
          <a:xfrm>
            <a:off x="1351093" y="2844359"/>
            <a:ext cx="1469700" cy="1259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9" name="Google Shape;2509;p102"/>
          <p:cNvSpPr txBox="1"/>
          <p:nvPr/>
        </p:nvSpPr>
        <p:spPr>
          <a:xfrm>
            <a:off x="578375" y="2520600"/>
            <a:ext cx="117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0" name="Google Shape;2510;p102"/>
          <p:cNvSpPr txBox="1"/>
          <p:nvPr/>
        </p:nvSpPr>
        <p:spPr>
          <a:xfrm>
            <a:off x="1797520" y="2520600"/>
            <a:ext cx="11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1" name="Google Shape;2511;p102"/>
          <p:cNvSpPr txBox="1"/>
          <p:nvPr/>
        </p:nvSpPr>
        <p:spPr>
          <a:xfrm>
            <a:off x="324023" y="2499159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2" name="Google Shape;2512;p102"/>
          <p:cNvSpPr txBox="1"/>
          <p:nvPr/>
        </p:nvSpPr>
        <p:spPr>
          <a:xfrm>
            <a:off x="2546983" y="3996261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3" name="Google Shape;2513;p102"/>
          <p:cNvSpPr txBox="1"/>
          <p:nvPr/>
        </p:nvSpPr>
        <p:spPr>
          <a:xfrm>
            <a:off x="1561319" y="32742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4" name="Google Shape;2514;p102"/>
          <p:cNvSpPr txBox="1"/>
          <p:nvPr/>
        </p:nvSpPr>
        <p:spPr>
          <a:xfrm>
            <a:off x="2293239" y="32742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5" name="Google Shape;2515;p102"/>
          <p:cNvSpPr txBox="1"/>
          <p:nvPr/>
        </p:nvSpPr>
        <p:spPr>
          <a:xfrm>
            <a:off x="841903" y="3274259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6" name="Google Shape;2516;p102"/>
          <p:cNvCxnSpPr/>
          <p:nvPr/>
        </p:nvCxnSpPr>
        <p:spPr>
          <a:xfrm flipH="1" rot="10800000">
            <a:off x="4491960" y="369636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102"/>
          <p:cNvCxnSpPr/>
          <p:nvPr/>
        </p:nvCxnSpPr>
        <p:spPr>
          <a:xfrm>
            <a:off x="3146325" y="3359444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8" name="Google Shape;2518;p102"/>
          <p:cNvCxnSpPr/>
          <p:nvPr/>
        </p:nvCxnSpPr>
        <p:spPr>
          <a:xfrm flipH="1" rot="10800000">
            <a:off x="4491960" y="212611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9" name="Google Shape;2519;p102"/>
          <p:cNvCxnSpPr/>
          <p:nvPr/>
        </p:nvCxnSpPr>
        <p:spPr>
          <a:xfrm>
            <a:off x="4491960" y="414456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0" name="Google Shape;2520;p102"/>
          <p:cNvCxnSpPr/>
          <p:nvPr/>
        </p:nvCxnSpPr>
        <p:spPr>
          <a:xfrm>
            <a:off x="4491960" y="257431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1" name="Google Shape;2521;p102"/>
          <p:cNvCxnSpPr/>
          <p:nvPr/>
        </p:nvCxnSpPr>
        <p:spPr>
          <a:xfrm flipH="1" rot="10800000">
            <a:off x="3146325" y="2554844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2" name="Google Shape;2522;p102"/>
          <p:cNvSpPr txBox="1"/>
          <p:nvPr/>
        </p:nvSpPr>
        <p:spPr>
          <a:xfrm>
            <a:off x="3620014" y="243584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3" name="Google Shape;2523;p102"/>
          <p:cNvSpPr txBox="1"/>
          <p:nvPr/>
        </p:nvSpPr>
        <p:spPr>
          <a:xfrm>
            <a:off x="3620014" y="401993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loses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4" name="Google Shape;2524;p102"/>
          <p:cNvSpPr txBox="1"/>
          <p:nvPr/>
        </p:nvSpPr>
        <p:spPr>
          <a:xfrm>
            <a:off x="4965664" y="199129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5" name="Google Shape;2525;p102"/>
          <p:cNvSpPr txBox="1"/>
          <p:nvPr/>
        </p:nvSpPr>
        <p:spPr>
          <a:xfrm>
            <a:off x="4965664" y="3580802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6" name="Google Shape;2526;p102"/>
          <p:cNvSpPr txBox="1"/>
          <p:nvPr/>
        </p:nvSpPr>
        <p:spPr>
          <a:xfrm>
            <a:off x="4965664" y="446011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7" name="Google Shape;2527;p102"/>
          <p:cNvSpPr txBox="1"/>
          <p:nvPr/>
        </p:nvSpPr>
        <p:spPr>
          <a:xfrm>
            <a:off x="4965664" y="2870612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32}&quot;&gt;&lt;mfrac&gt;&lt;mn&gt;4&lt;/mn&gt;&lt;mn&gt;32&lt;/mn&gt;&lt;/mfrac&gt;&lt;/math&gt;" id="2528" name="Google Shape;2528;p102" title="4 over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858" y="2793192"/>
            <a:ext cx="23328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2}&quot;&gt;&lt;mfrac&gt;&lt;mn&gt;1&lt;/mn&gt;&lt;mn&gt;32&lt;/mn&gt;&lt;/mfrac&gt;&lt;/math&gt;" id="2529" name="Google Shape;2529;p102" title="1 over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397" y="1915445"/>
            <a:ext cx="230210" cy="428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2}&quot;&gt;&lt;mfrac&gt;&lt;mn&gt;7&lt;/mn&gt;&lt;mn&gt;32&lt;/mn&gt;&lt;/mfrac&gt;&lt;/math&gt;" id="2530" name="Google Shape;2530;p102" title="7 over 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8400" y="3504939"/>
            <a:ext cx="233280" cy="428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32}&quot;&gt;&lt;mfrac&gt;&lt;mn&gt;20&lt;/mn&gt;&lt;mn&gt;32&lt;/mn&gt;&lt;/mfrac&gt;&lt;/math&gt;" id="2531" name="Google Shape;2531;p102" title="20 over 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9297" y="4384264"/>
            <a:ext cx="230210" cy="4289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2" name="Google Shape;2532;p102"/>
          <p:cNvSpPr txBox="1"/>
          <p:nvPr/>
        </p:nvSpPr>
        <p:spPr>
          <a:xfrm>
            <a:off x="6656300" y="2122650"/>
            <a:ext cx="2163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P(Izzy wins)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P(only Jun wins)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P(either win)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33" name="Google Shape;2533;p102"/>
          <p:cNvGrpSpPr/>
          <p:nvPr/>
        </p:nvGrpSpPr>
        <p:grpSpPr>
          <a:xfrm>
            <a:off x="6484445" y="2064834"/>
            <a:ext cx="2335907" cy="2720732"/>
            <a:chOff x="3238750" y="2117900"/>
            <a:chExt cx="350700" cy="419400"/>
          </a:xfrm>
        </p:grpSpPr>
        <p:cxnSp>
          <p:nvCxnSpPr>
            <p:cNvPr id="2534" name="Google Shape;2534;p102"/>
            <p:cNvCxnSpPr/>
            <p:nvPr/>
          </p:nvCxnSpPr>
          <p:spPr>
            <a:xfrm>
              <a:off x="3238750" y="2117900"/>
              <a:ext cx="0" cy="419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5" name="Google Shape;2535;p102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2}{32}&quot;&gt;&lt;mfrac&gt;&lt;mn&gt;12&lt;/mn&gt;&lt;mn&gt;32&lt;/mn&gt;&lt;/mfrac&gt;&lt;/math&gt;" id="2536" name="Google Shape;2536;p102" title="12 over 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57972" y="4314701"/>
            <a:ext cx="230210" cy="428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2}&quot;&gt;&lt;mfrac&gt;&lt;mn&gt;5&lt;/mn&gt;&lt;mn&gt;32&lt;/mn&gt;&lt;/mfrac&gt;&lt;/math&gt;" id="2537" name="Google Shape;2537;p102" title="5 over 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54275" y="3002017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32}&quot;&gt;&lt;mfrac&gt;&lt;mn&gt;7&lt;/mn&gt;&lt;mn&gt;32&lt;/mn&gt;&lt;/mfrac&gt;&lt;/math&gt;" id="2538" name="Google Shape;2538;p102" title="7 over 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6425" y="3673614"/>
            <a:ext cx="233280" cy="42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103"/>
          <p:cNvSpPr txBox="1"/>
          <p:nvPr/>
        </p:nvSpPr>
        <p:spPr>
          <a:xfrm>
            <a:off x="324026" y="620729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Trial: a spinner is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square number or an even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both the probability tree with probabilities and events, and complete the outcome table with one possible missing outcome.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4" name="Google Shape;2544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graphicFrame>
        <p:nvGraphicFramePr>
          <p:cNvPr id="2545" name="Google Shape;2545;p103"/>
          <p:cNvGraphicFramePr/>
          <p:nvPr/>
        </p:nvGraphicFramePr>
        <p:xfrm>
          <a:off x="324000" y="239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555725"/>
                <a:gridCol w="1228175"/>
                <a:gridCol w="1193350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6" name="Google Shape;2546;p103"/>
          <p:cNvSpPr txBox="1"/>
          <p:nvPr/>
        </p:nvSpPr>
        <p:spPr>
          <a:xfrm>
            <a:off x="92907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7" name="Google Shape;2547;p103"/>
          <p:cNvSpPr txBox="1"/>
          <p:nvPr/>
        </p:nvSpPr>
        <p:spPr>
          <a:xfrm>
            <a:off x="132103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8" name="Google Shape;2548;p103"/>
          <p:cNvSpPr txBox="1"/>
          <p:nvPr/>
        </p:nvSpPr>
        <p:spPr>
          <a:xfrm>
            <a:off x="171299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9" name="Google Shape;2549;p103"/>
          <p:cNvSpPr txBox="1"/>
          <p:nvPr/>
        </p:nvSpPr>
        <p:spPr>
          <a:xfrm>
            <a:off x="929075" y="308900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0" name="Google Shape;2550;p103"/>
          <p:cNvSpPr txBox="1"/>
          <p:nvPr/>
        </p:nvSpPr>
        <p:spPr>
          <a:xfrm>
            <a:off x="1321035" y="308900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1" name="Google Shape;2551;p103"/>
          <p:cNvSpPr txBox="1"/>
          <p:nvPr/>
        </p:nvSpPr>
        <p:spPr>
          <a:xfrm>
            <a:off x="1660350" y="308900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2" name="Google Shape;2552;p103"/>
          <p:cNvSpPr txBox="1"/>
          <p:nvPr/>
        </p:nvSpPr>
        <p:spPr>
          <a:xfrm>
            <a:off x="1027363" y="342835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3" name="Google Shape;2553;p103"/>
          <p:cNvSpPr txBox="1"/>
          <p:nvPr/>
        </p:nvSpPr>
        <p:spPr>
          <a:xfrm>
            <a:off x="1509388" y="342835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103"/>
          <p:cNvSpPr txBox="1"/>
          <p:nvPr/>
        </p:nvSpPr>
        <p:spPr>
          <a:xfrm>
            <a:off x="215393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5" name="Google Shape;2555;p103"/>
          <p:cNvSpPr txBox="1"/>
          <p:nvPr/>
        </p:nvSpPr>
        <p:spPr>
          <a:xfrm>
            <a:off x="254589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6" name="Google Shape;2556;p103"/>
          <p:cNvSpPr txBox="1"/>
          <p:nvPr/>
        </p:nvSpPr>
        <p:spPr>
          <a:xfrm>
            <a:off x="293785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7" name="Google Shape;2557;p103"/>
          <p:cNvSpPr txBox="1"/>
          <p:nvPr/>
        </p:nvSpPr>
        <p:spPr>
          <a:xfrm>
            <a:off x="2153936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8" name="Google Shape;2558;p103"/>
          <p:cNvSpPr txBox="1"/>
          <p:nvPr/>
        </p:nvSpPr>
        <p:spPr>
          <a:xfrm>
            <a:off x="2545896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9" name="Google Shape;2559;p103"/>
          <p:cNvSpPr txBox="1"/>
          <p:nvPr/>
        </p:nvSpPr>
        <p:spPr>
          <a:xfrm>
            <a:off x="2937871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0" name="Google Shape;2560;p103"/>
          <p:cNvSpPr txBox="1"/>
          <p:nvPr/>
        </p:nvSpPr>
        <p:spPr>
          <a:xfrm>
            <a:off x="1125049" y="39281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1" name="Google Shape;2561;p103"/>
          <p:cNvSpPr txBox="1"/>
          <p:nvPr/>
        </p:nvSpPr>
        <p:spPr>
          <a:xfrm>
            <a:off x="1517009" y="39281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2" name="Google Shape;2562;p103"/>
          <p:cNvSpPr txBox="1"/>
          <p:nvPr/>
        </p:nvSpPr>
        <p:spPr>
          <a:xfrm>
            <a:off x="1125049" y="42675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3" name="Google Shape;2563;p103"/>
          <p:cNvSpPr txBox="1"/>
          <p:nvPr/>
        </p:nvSpPr>
        <p:spPr>
          <a:xfrm>
            <a:off x="1517009" y="42675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4" name="Google Shape;2564;p103"/>
          <p:cNvSpPr txBox="1"/>
          <p:nvPr/>
        </p:nvSpPr>
        <p:spPr>
          <a:xfrm>
            <a:off x="215692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5" name="Google Shape;2565;p103"/>
          <p:cNvSpPr txBox="1"/>
          <p:nvPr/>
        </p:nvSpPr>
        <p:spPr>
          <a:xfrm>
            <a:off x="254888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6" name="Google Shape;2566;p103"/>
          <p:cNvSpPr txBox="1"/>
          <p:nvPr/>
        </p:nvSpPr>
        <p:spPr>
          <a:xfrm>
            <a:off x="215692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7" name="Google Shape;2567;p103"/>
          <p:cNvSpPr txBox="1"/>
          <p:nvPr/>
        </p:nvSpPr>
        <p:spPr>
          <a:xfrm>
            <a:off x="254888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8" name="Google Shape;2568;p103"/>
          <p:cNvSpPr txBox="1"/>
          <p:nvPr/>
        </p:nvSpPr>
        <p:spPr>
          <a:xfrm>
            <a:off x="294083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9" name="Google Shape;2569;p103"/>
          <p:cNvSpPr txBox="1"/>
          <p:nvPr/>
        </p:nvSpPr>
        <p:spPr>
          <a:xfrm>
            <a:off x="294083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0" name="Google Shape;2570;p103"/>
          <p:cNvSpPr txBox="1"/>
          <p:nvPr/>
        </p:nvSpPr>
        <p:spPr>
          <a:xfrm>
            <a:off x="215692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1" name="Google Shape;2571;p103"/>
          <p:cNvSpPr txBox="1"/>
          <p:nvPr/>
        </p:nvSpPr>
        <p:spPr>
          <a:xfrm>
            <a:off x="254888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2" name="Google Shape;2572;p103"/>
          <p:cNvSpPr txBox="1"/>
          <p:nvPr/>
        </p:nvSpPr>
        <p:spPr>
          <a:xfrm>
            <a:off x="294083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3" name="Google Shape;2573;p103"/>
          <p:cNvCxnSpPr/>
          <p:nvPr/>
        </p:nvCxnSpPr>
        <p:spPr>
          <a:xfrm flipH="1" rot="10800000">
            <a:off x="4443236" y="363225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4" name="Google Shape;2574;p103"/>
          <p:cNvCxnSpPr/>
          <p:nvPr/>
        </p:nvCxnSpPr>
        <p:spPr>
          <a:xfrm>
            <a:off x="3374925" y="3295333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5" name="Google Shape;2575;p103"/>
          <p:cNvCxnSpPr/>
          <p:nvPr/>
        </p:nvCxnSpPr>
        <p:spPr>
          <a:xfrm flipH="1" rot="10800000">
            <a:off x="4443236" y="206200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6" name="Google Shape;2576;p103"/>
          <p:cNvCxnSpPr/>
          <p:nvPr/>
        </p:nvCxnSpPr>
        <p:spPr>
          <a:xfrm>
            <a:off x="4443236" y="408045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7" name="Google Shape;2577;p103"/>
          <p:cNvCxnSpPr/>
          <p:nvPr/>
        </p:nvCxnSpPr>
        <p:spPr>
          <a:xfrm>
            <a:off x="4443236" y="251020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8" name="Google Shape;2578;p103"/>
          <p:cNvCxnSpPr/>
          <p:nvPr/>
        </p:nvCxnSpPr>
        <p:spPr>
          <a:xfrm flipH="1" rot="10800000">
            <a:off x="3374925" y="2490733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9" name="Google Shape;2579;p103"/>
          <p:cNvSpPr txBox="1"/>
          <p:nvPr/>
        </p:nvSpPr>
        <p:spPr>
          <a:xfrm>
            <a:off x="3723690" y="237173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0" name="Google Shape;2580;p103"/>
          <p:cNvSpPr txBox="1"/>
          <p:nvPr/>
        </p:nvSpPr>
        <p:spPr>
          <a:xfrm>
            <a:off x="3723690" y="395582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1" name="Google Shape;2581;p103"/>
          <p:cNvSpPr txBox="1"/>
          <p:nvPr/>
        </p:nvSpPr>
        <p:spPr>
          <a:xfrm>
            <a:off x="4916940" y="192718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2" name="Google Shape;2582;p103"/>
          <p:cNvSpPr txBox="1"/>
          <p:nvPr/>
        </p:nvSpPr>
        <p:spPr>
          <a:xfrm>
            <a:off x="4916940" y="439600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3" name="Google Shape;2583;p103"/>
          <p:cNvSpPr txBox="1"/>
          <p:nvPr/>
        </p:nvSpPr>
        <p:spPr>
          <a:xfrm>
            <a:off x="4916940" y="3516691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4" name="Google Shape;2584;p103"/>
          <p:cNvSpPr txBox="1"/>
          <p:nvPr/>
        </p:nvSpPr>
        <p:spPr>
          <a:xfrm>
            <a:off x="4916940" y="2806501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4}&quot;&gt;&lt;mfrac&gt;&lt;mn&gt;4&lt;/mn&gt;&lt;mn&gt;14&lt;/mn&gt;&lt;/mfrac&gt;&lt;/math&gt;" id="2585" name="Google Shape;2585;p103" title="4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117" y="1849770"/>
            <a:ext cx="238737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4}&quot;&gt;&lt;mfrac&gt;&lt;mn&gt;3&lt;/mn&gt;&lt;mn&gt;14&lt;/mn&gt;&lt;/mfrac&gt;&lt;/math&gt;" id="2586" name="Google Shape;2586;p103" title="3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4525" y="2729097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4}&quot;&gt;&lt;mfrac&gt;&lt;mn&gt;2&lt;/mn&gt;&lt;mn&gt;14&lt;/mn&gt;&lt;/mfrac&gt;&lt;/math&gt;" id="2587" name="Google Shape;2587;p103" title="2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8763" y="3439304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4}&quot;&gt;&lt;mfrac&gt;&lt;mn&gt;5&lt;/mn&gt;&lt;mn&gt;14&lt;/mn&gt;&lt;/mfrac&gt;&lt;/math&gt;" id="2588" name="Google Shape;2588;p103" title="5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312" y="4324905"/>
            <a:ext cx="232370" cy="419387"/>
          </a:xfrm>
          <a:prstGeom prst="rect">
            <a:avLst/>
          </a:prstGeom>
          <a:noFill/>
          <a:ln>
            <a:noFill/>
          </a:ln>
        </p:spPr>
      </p:pic>
      <p:sp>
        <p:nvSpPr>
          <p:cNvPr id="2589" name="Google Shape;2589;p103"/>
          <p:cNvSpPr txBox="1"/>
          <p:nvPr/>
        </p:nvSpPr>
        <p:spPr>
          <a:xfrm>
            <a:off x="6463750" y="2446950"/>
            <a:ext cx="2356200" cy="18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missing outcome was an odd number that wasn’t square.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example: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7, 11, 15, 17, 19, 23, …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104"/>
          <p:cNvSpPr txBox="1"/>
          <p:nvPr/>
        </p:nvSpPr>
        <p:spPr>
          <a:xfrm>
            <a:off x="324026" y="620729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Trial: a spinner is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square number or an even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both the probability tree with probabilities and events, and complete the outcome table with one possible missing outcome.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5" name="Google Shape;259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Statements for events across different diagrams</a:t>
            </a:r>
            <a:endParaRPr/>
          </a:p>
        </p:txBody>
      </p:sp>
      <p:graphicFrame>
        <p:nvGraphicFramePr>
          <p:cNvPr id="2596" name="Google Shape;2596;p104"/>
          <p:cNvGraphicFramePr/>
          <p:nvPr/>
        </p:nvGraphicFramePr>
        <p:xfrm>
          <a:off x="324000" y="239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{1A3F118E-B2D7-4046-9669-8A3E4319C3BF}</a:tableStyleId>
              </a:tblPr>
              <a:tblGrid>
                <a:gridCol w="555725"/>
                <a:gridCol w="1228175"/>
                <a:gridCol w="1193350"/>
              </a:tblGrid>
              <a:tr h="28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7" name="Google Shape;2597;p104"/>
          <p:cNvSpPr txBox="1"/>
          <p:nvPr/>
        </p:nvSpPr>
        <p:spPr>
          <a:xfrm>
            <a:off x="92907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8" name="Google Shape;2598;p104"/>
          <p:cNvSpPr txBox="1"/>
          <p:nvPr/>
        </p:nvSpPr>
        <p:spPr>
          <a:xfrm>
            <a:off x="132103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9" name="Google Shape;2599;p104"/>
          <p:cNvSpPr txBox="1"/>
          <p:nvPr/>
        </p:nvSpPr>
        <p:spPr>
          <a:xfrm>
            <a:off x="1712995" y="274965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0" name="Google Shape;2600;p104"/>
          <p:cNvSpPr txBox="1"/>
          <p:nvPr/>
        </p:nvSpPr>
        <p:spPr>
          <a:xfrm>
            <a:off x="929075" y="308900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1" name="Google Shape;2601;p104"/>
          <p:cNvSpPr txBox="1"/>
          <p:nvPr/>
        </p:nvSpPr>
        <p:spPr>
          <a:xfrm>
            <a:off x="1321035" y="3089000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2" name="Google Shape;2602;p104"/>
          <p:cNvSpPr txBox="1"/>
          <p:nvPr/>
        </p:nvSpPr>
        <p:spPr>
          <a:xfrm>
            <a:off x="1660350" y="308900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3" name="Google Shape;2603;p104"/>
          <p:cNvSpPr txBox="1"/>
          <p:nvPr/>
        </p:nvSpPr>
        <p:spPr>
          <a:xfrm>
            <a:off x="1027363" y="342835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4" name="Google Shape;2604;p104"/>
          <p:cNvSpPr txBox="1"/>
          <p:nvPr/>
        </p:nvSpPr>
        <p:spPr>
          <a:xfrm>
            <a:off x="1509388" y="3428350"/>
            <a:ext cx="4014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5" name="Google Shape;2605;p104"/>
          <p:cNvSpPr txBox="1"/>
          <p:nvPr/>
        </p:nvSpPr>
        <p:spPr>
          <a:xfrm>
            <a:off x="215393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6" name="Google Shape;2606;p104"/>
          <p:cNvSpPr txBox="1"/>
          <p:nvPr/>
        </p:nvSpPr>
        <p:spPr>
          <a:xfrm>
            <a:off x="254589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7" name="Google Shape;2607;p104"/>
          <p:cNvSpPr txBox="1"/>
          <p:nvPr/>
        </p:nvSpPr>
        <p:spPr>
          <a:xfrm>
            <a:off x="2937856" y="28554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8" name="Google Shape;2608;p104"/>
          <p:cNvSpPr txBox="1"/>
          <p:nvPr/>
        </p:nvSpPr>
        <p:spPr>
          <a:xfrm>
            <a:off x="2153936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9" name="Google Shape;2609;p104"/>
          <p:cNvSpPr txBox="1"/>
          <p:nvPr/>
        </p:nvSpPr>
        <p:spPr>
          <a:xfrm>
            <a:off x="2545896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0" name="Google Shape;2610;p104"/>
          <p:cNvSpPr txBox="1"/>
          <p:nvPr/>
        </p:nvSpPr>
        <p:spPr>
          <a:xfrm>
            <a:off x="2937871" y="31948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1" name="Google Shape;2611;p104"/>
          <p:cNvSpPr txBox="1"/>
          <p:nvPr/>
        </p:nvSpPr>
        <p:spPr>
          <a:xfrm>
            <a:off x="1125049" y="39281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2" name="Google Shape;2612;p104"/>
          <p:cNvSpPr txBox="1"/>
          <p:nvPr/>
        </p:nvSpPr>
        <p:spPr>
          <a:xfrm>
            <a:off x="1517009" y="392817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3" name="Google Shape;2613;p104"/>
          <p:cNvSpPr txBox="1"/>
          <p:nvPr/>
        </p:nvSpPr>
        <p:spPr>
          <a:xfrm>
            <a:off x="1125049" y="42675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4" name="Google Shape;2614;p104"/>
          <p:cNvSpPr txBox="1"/>
          <p:nvPr/>
        </p:nvSpPr>
        <p:spPr>
          <a:xfrm>
            <a:off x="1517009" y="4267525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5" name="Google Shape;2615;p104"/>
          <p:cNvSpPr txBox="1"/>
          <p:nvPr/>
        </p:nvSpPr>
        <p:spPr>
          <a:xfrm>
            <a:off x="215692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6" name="Google Shape;2616;p104"/>
          <p:cNvSpPr txBox="1"/>
          <p:nvPr/>
        </p:nvSpPr>
        <p:spPr>
          <a:xfrm>
            <a:off x="254888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7" name="Google Shape;2617;p104"/>
          <p:cNvSpPr txBox="1"/>
          <p:nvPr/>
        </p:nvSpPr>
        <p:spPr>
          <a:xfrm>
            <a:off x="215692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8" name="Google Shape;2618;p104"/>
          <p:cNvSpPr txBox="1"/>
          <p:nvPr/>
        </p:nvSpPr>
        <p:spPr>
          <a:xfrm>
            <a:off x="254888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9" name="Google Shape;2619;p104"/>
          <p:cNvSpPr txBox="1"/>
          <p:nvPr/>
        </p:nvSpPr>
        <p:spPr>
          <a:xfrm>
            <a:off x="2940830" y="37728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0" name="Google Shape;2620;p104"/>
          <p:cNvSpPr txBox="1"/>
          <p:nvPr/>
        </p:nvSpPr>
        <p:spPr>
          <a:xfrm>
            <a:off x="2940830" y="411217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1" name="Google Shape;2621;p104"/>
          <p:cNvSpPr txBox="1"/>
          <p:nvPr/>
        </p:nvSpPr>
        <p:spPr>
          <a:xfrm>
            <a:off x="215692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2" name="Google Shape;2622;p104"/>
          <p:cNvSpPr txBox="1"/>
          <p:nvPr/>
        </p:nvSpPr>
        <p:spPr>
          <a:xfrm>
            <a:off x="254888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3" name="Google Shape;2623;p104"/>
          <p:cNvSpPr txBox="1"/>
          <p:nvPr/>
        </p:nvSpPr>
        <p:spPr>
          <a:xfrm>
            <a:off x="294083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4" name="Google Shape;2624;p104"/>
          <p:cNvCxnSpPr/>
          <p:nvPr/>
        </p:nvCxnSpPr>
        <p:spPr>
          <a:xfrm flipH="1" rot="10800000">
            <a:off x="4443236" y="363225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5" name="Google Shape;2625;p104"/>
          <p:cNvCxnSpPr/>
          <p:nvPr/>
        </p:nvCxnSpPr>
        <p:spPr>
          <a:xfrm>
            <a:off x="3374925" y="3295333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6" name="Google Shape;2626;p104"/>
          <p:cNvCxnSpPr/>
          <p:nvPr/>
        </p:nvCxnSpPr>
        <p:spPr>
          <a:xfrm flipH="1" rot="10800000">
            <a:off x="4443236" y="206200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7" name="Google Shape;2627;p104"/>
          <p:cNvCxnSpPr/>
          <p:nvPr/>
        </p:nvCxnSpPr>
        <p:spPr>
          <a:xfrm>
            <a:off x="4443236" y="4080458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8" name="Google Shape;2628;p104"/>
          <p:cNvCxnSpPr/>
          <p:nvPr/>
        </p:nvCxnSpPr>
        <p:spPr>
          <a:xfrm>
            <a:off x="4443236" y="2510209"/>
            <a:ext cx="473700" cy="4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9" name="Google Shape;2629;p104"/>
          <p:cNvCxnSpPr/>
          <p:nvPr/>
        </p:nvCxnSpPr>
        <p:spPr>
          <a:xfrm flipH="1" rot="10800000">
            <a:off x="3374925" y="2490733"/>
            <a:ext cx="473700" cy="80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0" name="Google Shape;2630;p104"/>
          <p:cNvSpPr txBox="1"/>
          <p:nvPr/>
        </p:nvSpPr>
        <p:spPr>
          <a:xfrm>
            <a:off x="3723690" y="237173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1" name="Google Shape;2631;p104"/>
          <p:cNvSpPr txBox="1"/>
          <p:nvPr/>
        </p:nvSpPr>
        <p:spPr>
          <a:xfrm>
            <a:off x="3723690" y="395582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2" name="Google Shape;2632;p104"/>
          <p:cNvSpPr txBox="1"/>
          <p:nvPr/>
        </p:nvSpPr>
        <p:spPr>
          <a:xfrm>
            <a:off x="4916940" y="1927187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3" name="Google Shape;2633;p104"/>
          <p:cNvSpPr txBox="1"/>
          <p:nvPr/>
        </p:nvSpPr>
        <p:spPr>
          <a:xfrm>
            <a:off x="4916940" y="4396006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4" name="Google Shape;2634;p104"/>
          <p:cNvSpPr txBox="1"/>
          <p:nvPr/>
        </p:nvSpPr>
        <p:spPr>
          <a:xfrm>
            <a:off x="4916940" y="3516691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5" name="Google Shape;2635;p104"/>
          <p:cNvSpPr txBox="1"/>
          <p:nvPr/>
        </p:nvSpPr>
        <p:spPr>
          <a:xfrm>
            <a:off x="4916940" y="2806501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4}&quot;&gt;&lt;mfrac&gt;&lt;mn&gt;4&lt;/mn&gt;&lt;mn&gt;14&lt;/mn&gt;&lt;/mfrac&gt;&lt;/math&gt;" id="2636" name="Google Shape;2636;p104" title="4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117" y="1849770"/>
            <a:ext cx="238737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4}&quot;&gt;&lt;mfrac&gt;&lt;mn&gt;3&lt;/mn&gt;&lt;mn&gt;14&lt;/mn&gt;&lt;/mfrac&gt;&lt;/math&gt;" id="2637" name="Google Shape;2637;p104" title="3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4525" y="2729097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4}&quot;&gt;&lt;mfrac&gt;&lt;mn&gt;2&lt;/mn&gt;&lt;mn&gt;14&lt;/mn&gt;&lt;/mfrac&gt;&lt;/math&gt;" id="2638" name="Google Shape;2638;p104" title="2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8763" y="3439304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4}&quot;&gt;&lt;mfrac&gt;&lt;mn&gt;5&lt;/mn&gt;&lt;mn&gt;14&lt;/mn&gt;&lt;/mfrac&gt;&lt;/math&gt;" id="2639" name="Google Shape;2639;p104" title="5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312" y="4324905"/>
            <a:ext cx="232370" cy="419387"/>
          </a:xfrm>
          <a:prstGeom prst="rect">
            <a:avLst/>
          </a:prstGeom>
          <a:noFill/>
          <a:ln>
            <a:noFill/>
          </a:ln>
        </p:spPr>
      </p:pic>
      <p:sp>
        <p:nvSpPr>
          <p:cNvPr id="2640" name="Google Shape;2640;p104"/>
          <p:cNvSpPr txBox="1"/>
          <p:nvPr/>
        </p:nvSpPr>
        <p:spPr>
          <a:xfrm>
            <a:off x="6397346" y="1970256"/>
            <a:ext cx="2422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P(square)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P(either square or even)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P(either square or even, but not both)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41" name="Google Shape;2641;p104"/>
          <p:cNvGrpSpPr/>
          <p:nvPr/>
        </p:nvGrpSpPr>
        <p:grpSpPr>
          <a:xfrm>
            <a:off x="6304710" y="1912494"/>
            <a:ext cx="2515782" cy="2907994"/>
            <a:chOff x="3238750" y="2117900"/>
            <a:chExt cx="350700" cy="419400"/>
          </a:xfrm>
        </p:grpSpPr>
        <p:cxnSp>
          <p:nvCxnSpPr>
            <p:cNvPr id="2642" name="Google Shape;2642;p104"/>
            <p:cNvCxnSpPr/>
            <p:nvPr/>
          </p:nvCxnSpPr>
          <p:spPr>
            <a:xfrm>
              <a:off x="3238750" y="2117900"/>
              <a:ext cx="0" cy="419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3" name="Google Shape;2643;p104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644" name="Google Shape;2644;p10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0750" y="2306852"/>
            <a:ext cx="77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8}=\frac{9}{14}&quot;&gt;&lt;mfrac&gt;&lt;mn&gt;18&lt;/mn&gt;&lt;mn&gt;28&lt;/mn&gt;&lt;/mfrac&gt;&lt;mo&gt;=&lt;/mo&gt;&lt;mfrac&gt;&lt;mn&gt;9&lt;/mn&gt;&lt;mn&gt;14&lt;/mn&gt;&lt;/mfrac&gt;&lt;/math&gt;" id="2645" name="Google Shape;2645;p104" title="18 over 28 equals 9 over 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74900" y="3307438"/>
            <a:ext cx="77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8}=\frac{5}{14}&quot;&gt;&lt;mfrac&gt;&lt;mn&gt;10&lt;/mn&gt;&lt;mn&gt;28&lt;/mn&gt;&lt;/mfrac&gt;&lt;mo&gt;=&lt;/mo&gt;&lt;mfrac&gt;&lt;mn&gt;5&lt;/mn&gt;&lt;mn&gt;14&lt;/mn&gt;&lt;/mfrac&gt;&lt;/math&gt;" id="2646" name="Google Shape;2646;p104" title="10 over 28 equals 5 over 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78761" y="4395627"/>
            <a:ext cx="755827" cy="4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2647" name="Google Shape;2647;p104"/>
          <p:cNvSpPr txBox="1"/>
          <p:nvPr/>
        </p:nvSpPr>
        <p:spPr>
          <a:xfrm>
            <a:off x="3332780" y="4451526"/>
            <a:ext cx="296100" cy="23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105"/>
          <p:cNvSpPr txBox="1"/>
          <p:nvPr/>
        </p:nvSpPr>
        <p:spPr>
          <a:xfrm>
            <a:off x="324026" y="974253"/>
            <a:ext cx="84960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outcomes of a two-stage trial can be shown on an outcome table, with probabilities calculated from its sample space.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outcomes and probabilities of a two-stage trial can be shown on a probability tree with two layers of branches.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outcomes and probabilities of two events (including and/or statements) can be shown on an outcome table, a probability tree, and different types of Venn diagram.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3" name="Google Shape;2653;p105"/>
          <p:cNvSpPr txBox="1"/>
          <p:nvPr>
            <p:ph type="title"/>
          </p:nvPr>
        </p:nvSpPr>
        <p:spPr>
          <a:xfrm>
            <a:off x="1684800" y="43825"/>
            <a:ext cx="6052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659" name="Google Shape;2659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