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bdc510dbaf_0_32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bdc510dbaf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.png"/><Relationship Id="rId11" Type="http://schemas.openxmlformats.org/officeDocument/2006/relationships/image" Target="../media/image11.png"/><Relationship Id="rId10" Type="http://schemas.openxmlformats.org/officeDocument/2006/relationships/image" Target="../media/image8.png"/><Relationship Id="rId21" Type="http://schemas.openxmlformats.org/officeDocument/2006/relationships/image" Target="../media/image24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9" Type="http://schemas.openxmlformats.org/officeDocument/2006/relationships/image" Target="../media/image13.png"/><Relationship Id="rId15" Type="http://schemas.openxmlformats.org/officeDocument/2006/relationships/image" Target="../media/image17.png"/><Relationship Id="rId14" Type="http://schemas.openxmlformats.org/officeDocument/2006/relationships/image" Target="../media/image12.png"/><Relationship Id="rId17" Type="http://schemas.openxmlformats.org/officeDocument/2006/relationships/image" Target="../media/image19.png"/><Relationship Id="rId16" Type="http://schemas.openxmlformats.org/officeDocument/2006/relationships/image" Target="../media/image23.png"/><Relationship Id="rId5" Type="http://schemas.openxmlformats.org/officeDocument/2006/relationships/image" Target="../media/image20.png"/><Relationship Id="rId19" Type="http://schemas.openxmlformats.org/officeDocument/2006/relationships/image" Target="../media/image28.png"/><Relationship Id="rId6" Type="http://schemas.openxmlformats.org/officeDocument/2006/relationships/image" Target="../media/image14.png"/><Relationship Id="rId18" Type="http://schemas.openxmlformats.org/officeDocument/2006/relationships/image" Target="../media/image21.png"/><Relationship Id="rId7" Type="http://schemas.openxmlformats.org/officeDocument/2006/relationships/image" Target="../media/image10.png"/><Relationship Id="rId8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34.png"/><Relationship Id="rId13" Type="http://schemas.openxmlformats.org/officeDocument/2006/relationships/image" Target="../media/image30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5.png"/><Relationship Id="rId4" Type="http://schemas.openxmlformats.org/officeDocument/2006/relationships/image" Target="../media/image37.png"/><Relationship Id="rId9" Type="http://schemas.openxmlformats.org/officeDocument/2006/relationships/image" Target="../media/image29.png"/><Relationship Id="rId5" Type="http://schemas.openxmlformats.org/officeDocument/2006/relationships/image" Target="../media/image33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probability trees (two events)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2014622"/>
            <a:ext cx="20895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Spinner 1 is spun several times.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spinner landed on R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of the time.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Spinner 2 is spun several times.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spinner landed on G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the time.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631845"/>
            <a:ext cx="66105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Probability of an outcome from a two-stage trial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 rot="-5400000">
            <a:off x="493656" y="3765290"/>
            <a:ext cx="827700" cy="827700"/>
          </a:xfrm>
          <a:prstGeom prst="pie">
            <a:avLst>
              <a:gd fmla="val 16197753" name="adj1"/>
              <a:gd fmla="val 2029901" name="adj2"/>
            </a:avLst>
          </a:prstGeom>
          <a:solidFill>
            <a:srgbClr val="57575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 rot="-5400000">
            <a:off x="493656" y="3765290"/>
            <a:ext cx="827700" cy="827700"/>
          </a:xfrm>
          <a:prstGeom prst="pie">
            <a:avLst>
              <a:gd fmla="val 2035414" name="adj1"/>
              <a:gd fmla="val 16207343" name="adj2"/>
            </a:avLst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7" name="Google Shape;177;p20"/>
          <p:cNvGrpSpPr/>
          <p:nvPr/>
        </p:nvGrpSpPr>
        <p:grpSpPr>
          <a:xfrm rot="-5400000">
            <a:off x="718725" y="3999451"/>
            <a:ext cx="40570" cy="359414"/>
            <a:chOff x="936300" y="737518"/>
            <a:chExt cx="65100" cy="576723"/>
          </a:xfrm>
        </p:grpSpPr>
        <p:cxnSp>
          <p:nvCxnSpPr>
            <p:cNvPr id="178" name="Google Shape;178;p20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9" name="Google Shape;179;p20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" name="Google Shape;180;p20"/>
          <p:cNvSpPr txBox="1"/>
          <p:nvPr/>
        </p:nvSpPr>
        <p:spPr>
          <a:xfrm>
            <a:off x="692621" y="3892432"/>
            <a:ext cx="175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929775" y="4253880"/>
            <a:ext cx="175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 rot="-5400000">
            <a:off x="2042687" y="3765290"/>
            <a:ext cx="827700" cy="827700"/>
          </a:xfrm>
          <a:prstGeom prst="pie">
            <a:avLst>
              <a:gd fmla="val 16197753" name="adj1"/>
              <a:gd fmla="val 20397738" name="adj2"/>
            </a:avLst>
          </a:prstGeom>
          <a:solidFill>
            <a:srgbClr val="57575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 rot="-5400000">
            <a:off x="2042687" y="3765290"/>
            <a:ext cx="827700" cy="827700"/>
          </a:xfrm>
          <a:prstGeom prst="pie">
            <a:avLst>
              <a:gd fmla="val 20410576" name="adj1"/>
              <a:gd fmla="val 16207343" name="adj2"/>
            </a:avLst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" name="Google Shape;184;p20"/>
          <p:cNvGrpSpPr/>
          <p:nvPr/>
        </p:nvGrpSpPr>
        <p:grpSpPr>
          <a:xfrm rot="-5400000">
            <a:off x="2267756" y="3999451"/>
            <a:ext cx="40570" cy="359414"/>
            <a:chOff x="936300" y="737518"/>
            <a:chExt cx="65100" cy="576723"/>
          </a:xfrm>
        </p:grpSpPr>
        <p:cxnSp>
          <p:nvCxnSpPr>
            <p:cNvPr id="185" name="Google Shape;185;p20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6" name="Google Shape;186;p20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20"/>
          <p:cNvSpPr txBox="1"/>
          <p:nvPr/>
        </p:nvSpPr>
        <p:spPr>
          <a:xfrm>
            <a:off x="2170750" y="3917758"/>
            <a:ext cx="175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557551" y="4157244"/>
            <a:ext cx="175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93657" y="4556093"/>
            <a:ext cx="827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2042687" y="4556093"/>
            <a:ext cx="827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>
            <a:off x="2988056" y="1963250"/>
            <a:ext cx="0" cy="306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0"/>
          <p:cNvSpPr/>
          <p:nvPr/>
        </p:nvSpPr>
        <p:spPr>
          <a:xfrm>
            <a:off x="5087885" y="2898467"/>
            <a:ext cx="1678200" cy="20322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>
            <a:off x="3079127" y="3928037"/>
            <a:ext cx="566100" cy="553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0"/>
          <p:cNvCxnSpPr/>
          <p:nvPr/>
        </p:nvCxnSpPr>
        <p:spPr>
          <a:xfrm flipH="1" rot="10800000">
            <a:off x="3915939" y="3020676"/>
            <a:ext cx="896100" cy="347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0"/>
          <p:cNvSpPr txBox="1"/>
          <p:nvPr/>
        </p:nvSpPr>
        <p:spPr>
          <a:xfrm>
            <a:off x="3656424" y="3261916"/>
            <a:ext cx="275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" name="Google Shape;196;p20"/>
          <p:cNvCxnSpPr/>
          <p:nvPr/>
        </p:nvCxnSpPr>
        <p:spPr>
          <a:xfrm>
            <a:off x="3915939" y="4509529"/>
            <a:ext cx="896100" cy="347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0"/>
          <p:cNvSpPr txBox="1"/>
          <p:nvPr/>
        </p:nvSpPr>
        <p:spPr>
          <a:xfrm>
            <a:off x="4846716" y="2954016"/>
            <a:ext cx="27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" name="Google Shape;198;p20"/>
          <p:cNvCxnSpPr/>
          <p:nvPr/>
        </p:nvCxnSpPr>
        <p:spPr>
          <a:xfrm flipH="1" rot="10800000">
            <a:off x="3079127" y="3368440"/>
            <a:ext cx="566100" cy="553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0"/>
          <p:cNvCxnSpPr/>
          <p:nvPr/>
        </p:nvCxnSpPr>
        <p:spPr>
          <a:xfrm>
            <a:off x="3915939" y="3371408"/>
            <a:ext cx="896100" cy="347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0"/>
          <p:cNvCxnSpPr/>
          <p:nvPr/>
        </p:nvCxnSpPr>
        <p:spPr>
          <a:xfrm flipH="1" rot="10800000">
            <a:off x="3915939" y="4158797"/>
            <a:ext cx="896100" cy="347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0"/>
          <p:cNvCxnSpPr/>
          <p:nvPr/>
        </p:nvCxnSpPr>
        <p:spPr>
          <a:xfrm rot="10800000">
            <a:off x="5084711" y="3405459"/>
            <a:ext cx="1684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0"/>
          <p:cNvCxnSpPr/>
          <p:nvPr/>
        </p:nvCxnSpPr>
        <p:spPr>
          <a:xfrm rot="10800000">
            <a:off x="5084711" y="3920209"/>
            <a:ext cx="1684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0"/>
          <p:cNvCxnSpPr/>
          <p:nvPr/>
        </p:nvCxnSpPr>
        <p:spPr>
          <a:xfrm rot="10800000">
            <a:off x="5084711" y="4461474"/>
            <a:ext cx="1684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0"/>
          <p:cNvSpPr txBox="1"/>
          <p:nvPr/>
        </p:nvSpPr>
        <p:spPr>
          <a:xfrm>
            <a:off x="3137678" y="2073910"/>
            <a:ext cx="39408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Trial: spinning spinner 1 and spinner 2 once each.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 the probability tree to calculate the probability of each outcome from this trial.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122394" y="3121052"/>
            <a:ext cx="4122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3709486" y="4416828"/>
            <a:ext cx="1470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846725" y="3628920"/>
            <a:ext cx="1470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846716" y="4079371"/>
            <a:ext cx="27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846725" y="4754275"/>
            <a:ext cx="1470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122394" y="3600213"/>
            <a:ext cx="4122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 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122394" y="4105061"/>
            <a:ext cx="4122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122394" y="4620842"/>
            <a:ext cx="4122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 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\times\frac{6}{7}=\frac{6}{21}&quot;&gt;&lt;mfrac&gt;&lt;mn&gt;1&lt;/mn&gt;&lt;mn&gt;3&lt;/mn&gt;&lt;/mfrac&gt;&lt;mo&gt;×&lt;/mo&gt;&lt;mfrac&gt;&lt;mn&gt;6&lt;/mn&gt;&lt;mn&gt;7&lt;/mn&gt;&lt;/mfrac&gt;&lt;mo&gt;=&lt;/mo&gt;&lt;mfrac&gt;&lt;mn&gt;6&lt;/mn&gt;&lt;mn&gt;21&lt;/mn&gt;&lt;/mfrac&gt;&lt;/math&gt;" id="213" name="Google Shape;213;p20" title="one third times six sevenths equals 6 over 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00" y="3488314"/>
            <a:ext cx="896098" cy="359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times\frac{1}{7}=\frac{2}{21}&quot;&gt;&lt;mfrac&gt;&lt;mn&gt;2&lt;/mn&gt;&lt;mn&gt;3&lt;/mn&gt;&lt;/mfrac&gt;&lt;mo&gt;×&lt;/mo&gt;&lt;mfrac&gt;&lt;mn&gt;1&lt;/mn&gt;&lt;mn&gt;7&lt;/mn&gt;&lt;/mfrac&gt;&lt;mo&gt;=&lt;/mo&gt;&lt;mfrac&gt;&lt;mn&gt;2&lt;/mn&gt;&lt;mn&gt;21&lt;/mn&gt;&lt;/mfrac&gt;&lt;/math&gt;" id="214" name="Google Shape;214;p20" title="two thirds times one seventh equals 2 over 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2168" y="4011430"/>
            <a:ext cx="896084" cy="3598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times\frac{6}{7}=\frac{12}{21}&quot;&gt;&lt;mfrac&gt;&lt;mn&gt;2&lt;/mn&gt;&lt;mn&gt;3&lt;/mn&gt;&lt;/mfrac&gt;&lt;mo&gt;×&lt;/mo&gt;&lt;mfrac&gt;&lt;mn&gt;6&lt;/mn&gt;&lt;mn&gt;7&lt;/mn&gt;&lt;/mfrac&gt;&lt;mo&gt;=&lt;/mo&gt;&lt;mfrac&gt;&lt;mn&gt;12&lt;/mn&gt;&lt;mn&gt;21&lt;/mn&gt;&lt;/mfrac&gt;&lt;/math&gt;" id="215" name="Google Shape;215;p20" title="two thirds times six sevenths equals 12 over 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1214" y="4519853"/>
            <a:ext cx="896084" cy="3598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16" name="Google Shape;216;p20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28896" y="2309383"/>
            <a:ext cx="102452" cy="339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217" name="Google Shape;217;p20" title="one sev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65892" y="3230917"/>
            <a:ext cx="102452" cy="3369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1}{7}=\frac{1}{21}&quot;&gt;&lt;mfrac&gt;&lt;mn&gt;1&lt;/mn&gt;&lt;mn&gt;3&lt;/mn&gt;&lt;/mfrac&gt;&lt;mo&gt;×&lt;/mo&gt;&lt;mfrac&gt;&lt;mn&gt;1&lt;/mn&gt;&lt;mn&gt;7&lt;/mn&gt;&lt;/mfrac&gt;&lt;mo&gt;=&lt;/mo&gt;&lt;mfrac&gt;&lt;mn&gt;1&lt;/mn&gt;&lt;mn&gt;21&lt;/mn&gt;&lt;/mfrac&gt;&lt;/math&gt;" id="218" name="Google Shape;218;p20" title="one third times one seventh equals 1 over 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42198" y="2997537"/>
            <a:ext cx="838188" cy="336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19" name="Google Shape;219;p20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1019" y="3274016"/>
            <a:ext cx="102452" cy="339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220" name="Google Shape;220;p20" title="one sev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84507" y="2839690"/>
            <a:ext cx="102452" cy="3369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221" name="Google Shape;221;p20" title="one sev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05057" y="3948463"/>
            <a:ext cx="102452" cy="3369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222" name="Google Shape;222;p20" title="two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71019" y="4222797"/>
            <a:ext cx="102452" cy="33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&quot;&gt;&lt;mfrac&gt;&lt;mn&gt;6&lt;/mn&gt;&lt;mn&gt;7&lt;/mn&gt;&lt;/mfrac&gt;&lt;/math&gt;" id="223" name="Google Shape;223;p20" title="six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44266" y="3358496"/>
            <a:ext cx="102452" cy="336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&quot;&gt;&lt;mfrac&gt;&lt;mn&gt;6&lt;/mn&gt;&lt;mn&gt;7&lt;/mn&gt;&lt;/mfrac&gt;&lt;/math&gt;" id="224" name="Google Shape;224;p20" title="six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13318" y="4490585"/>
            <a:ext cx="102452" cy="33662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97356" y="6017188"/>
            <a:ext cx="195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Trial: spinner 1 and spinner 2 are spun once each.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This probability tree currently shows all the outcomes on spinner 1.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697970" y="8376061"/>
            <a:ext cx="75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/>
          <p:nvPr/>
        </p:nvSpPr>
        <p:spPr>
          <a:xfrm flipH="1">
            <a:off x="634815" y="7473317"/>
            <a:ext cx="885000" cy="885000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 flipH="1" rot="2700000">
            <a:off x="634797" y="7473307"/>
            <a:ext cx="885015" cy="885015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 flipH="1" rot="5400000">
            <a:off x="635155" y="7473540"/>
            <a:ext cx="884700" cy="884700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 flipH="1" rot="8100000">
            <a:off x="634963" y="7473174"/>
            <a:ext cx="885015" cy="885015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 flipH="1" rot="10800000">
            <a:off x="634941" y="7473296"/>
            <a:ext cx="885000" cy="885000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 flipH="1" rot="-8100000">
            <a:off x="634944" y="7473290"/>
            <a:ext cx="885015" cy="885015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 flipH="1" rot="-5400000">
            <a:off x="634901" y="7473373"/>
            <a:ext cx="884700" cy="884700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 flipH="1" rot="-2700000">
            <a:off x="634779" y="7473424"/>
            <a:ext cx="885015" cy="885015"/>
          </a:xfrm>
          <a:prstGeom prst="pie">
            <a:avLst>
              <a:gd fmla="val 13499686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" name="Google Shape;235;p20"/>
          <p:cNvCxnSpPr/>
          <p:nvPr/>
        </p:nvCxnSpPr>
        <p:spPr>
          <a:xfrm rot="10800000">
            <a:off x="1291014" y="7712798"/>
            <a:ext cx="0" cy="406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20"/>
          <p:cNvSpPr/>
          <p:nvPr/>
        </p:nvSpPr>
        <p:spPr>
          <a:xfrm rot="5400000">
            <a:off x="1053047" y="7893496"/>
            <a:ext cx="49500" cy="44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 flipH="1">
            <a:off x="1229608" y="7658153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 flipH="1">
            <a:off x="1229608" y="7923001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 flipH="1">
            <a:off x="1074985" y="8065306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706235" y="7690879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706235" y="7896551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860858" y="8065306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 flipH="1">
            <a:off x="1074981" y="7516885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859702" y="7516885"/>
            <a:ext cx="213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" name="Google Shape;245;p20"/>
          <p:cNvGrpSpPr/>
          <p:nvPr/>
        </p:nvGrpSpPr>
        <p:grpSpPr>
          <a:xfrm>
            <a:off x="1505838" y="7293144"/>
            <a:ext cx="1230184" cy="1230044"/>
            <a:chOff x="1502704" y="2293958"/>
            <a:chExt cx="2197150" cy="2196900"/>
          </a:xfrm>
        </p:grpSpPr>
        <p:sp>
          <p:nvSpPr>
            <p:cNvPr id="246" name="Google Shape;246;p20"/>
            <p:cNvSpPr/>
            <p:nvPr/>
          </p:nvSpPr>
          <p:spPr>
            <a:xfrm flipH="1">
              <a:off x="1814123" y="2606453"/>
              <a:ext cx="1572600" cy="1572600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47" name="Google Shape;247;p20"/>
            <p:cNvSpPr/>
            <p:nvPr/>
          </p:nvSpPr>
          <p:spPr>
            <a:xfrm flipH="1" rot="4320031">
              <a:off x="1813539" y="2606224"/>
              <a:ext cx="1572773" cy="1572773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48" name="Google Shape;248;p20"/>
            <p:cNvSpPr/>
            <p:nvPr/>
          </p:nvSpPr>
          <p:spPr>
            <a:xfrm flipH="1" rot="8639756">
              <a:off x="1814675" y="2606457"/>
              <a:ext cx="1572360" cy="1572360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49" name="Google Shape;249;p20"/>
            <p:cNvSpPr/>
            <p:nvPr/>
          </p:nvSpPr>
          <p:spPr>
            <a:xfrm flipH="1" rot="-8639611">
              <a:off x="1815015" y="2606019"/>
              <a:ext cx="1572779" cy="1572779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1813258" y="2606453"/>
              <a:ext cx="1572600" cy="1572600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251" name="Google Shape;251;p20"/>
            <p:cNvSpPr txBox="1"/>
            <p:nvPr/>
          </p:nvSpPr>
          <p:spPr>
            <a:xfrm flipH="1">
              <a:off x="2872931" y="3369250"/>
              <a:ext cx="392400" cy="3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0"/>
            <p:cNvSpPr txBox="1"/>
            <p:nvPr/>
          </p:nvSpPr>
          <p:spPr>
            <a:xfrm flipH="1">
              <a:off x="2405359" y="3748426"/>
              <a:ext cx="392400" cy="3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0"/>
            <p:cNvSpPr txBox="1"/>
            <p:nvPr/>
          </p:nvSpPr>
          <p:spPr>
            <a:xfrm flipH="1">
              <a:off x="1935123" y="3369250"/>
              <a:ext cx="392400" cy="3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0"/>
            <p:cNvSpPr txBox="1"/>
            <p:nvPr/>
          </p:nvSpPr>
          <p:spPr>
            <a:xfrm flipH="1">
              <a:off x="2104224" y="2860823"/>
              <a:ext cx="392400" cy="3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" name="Google Shape;255;p20"/>
            <p:cNvSpPr txBox="1"/>
            <p:nvPr/>
          </p:nvSpPr>
          <p:spPr>
            <a:xfrm flipH="1">
              <a:off x="2703852" y="2860823"/>
              <a:ext cx="392400" cy="3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6" name="Google Shape;256;p20"/>
          <p:cNvSpPr txBox="1"/>
          <p:nvPr/>
        </p:nvSpPr>
        <p:spPr>
          <a:xfrm>
            <a:off x="1609152" y="8376066"/>
            <a:ext cx="102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7" name="Google Shape;257;p20"/>
          <p:cNvGrpSpPr/>
          <p:nvPr/>
        </p:nvGrpSpPr>
        <p:grpSpPr>
          <a:xfrm rot="-5400000">
            <a:off x="1901651" y="7681315"/>
            <a:ext cx="438829" cy="49535"/>
            <a:chOff x="1078387" y="4053082"/>
            <a:chExt cx="576723" cy="65100"/>
          </a:xfrm>
        </p:grpSpPr>
        <p:cxnSp>
          <p:nvCxnSpPr>
            <p:cNvPr id="258" name="Google Shape;258;p20"/>
            <p:cNvCxnSpPr/>
            <p:nvPr/>
          </p:nvCxnSpPr>
          <p:spPr>
            <a:xfrm rot="10800000">
              <a:off x="1388111" y="381867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9" name="Google Shape;259;p20"/>
            <p:cNvSpPr/>
            <p:nvPr/>
          </p:nvSpPr>
          <p:spPr>
            <a:xfrm rot="5400000">
              <a:off x="1075237" y="405623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60" name="Google Shape;260;p20"/>
          <p:cNvCxnSpPr>
            <a:endCxn id="256" idx="3"/>
          </p:cNvCxnSpPr>
          <p:nvPr/>
        </p:nvCxnSpPr>
        <p:spPr>
          <a:xfrm flipH="1">
            <a:off x="2633052" y="5967066"/>
            <a:ext cx="10200" cy="250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20"/>
          <p:cNvSpPr txBox="1"/>
          <p:nvPr/>
        </p:nvSpPr>
        <p:spPr>
          <a:xfrm>
            <a:off x="3488738" y="6310387"/>
            <a:ext cx="213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0"/>
          <p:cNvCxnSpPr/>
          <p:nvPr/>
        </p:nvCxnSpPr>
        <p:spPr>
          <a:xfrm>
            <a:off x="2769273" y="7329640"/>
            <a:ext cx="706800" cy="847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0"/>
          <p:cNvCxnSpPr/>
          <p:nvPr/>
        </p:nvCxnSpPr>
        <p:spPr>
          <a:xfrm flipH="1" rot="10800000">
            <a:off x="2769273" y="6472970"/>
            <a:ext cx="706800" cy="847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0"/>
          <p:cNvCxnSpPr/>
          <p:nvPr/>
        </p:nvCxnSpPr>
        <p:spPr>
          <a:xfrm>
            <a:off x="2769273" y="7320770"/>
            <a:ext cx="700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20"/>
          <p:cNvSpPr txBox="1"/>
          <p:nvPr/>
        </p:nvSpPr>
        <p:spPr>
          <a:xfrm>
            <a:off x="3488738" y="7154521"/>
            <a:ext cx="213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3488738" y="8027386"/>
            <a:ext cx="213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2736178" y="5940988"/>
            <a:ext cx="94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5690827" y="6393775"/>
            <a:ext cx="140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is the probability of the outcome C Q happening?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4421867" y="6068192"/>
            <a:ext cx="2136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70" name="Google Shape;270;p20"/>
          <p:cNvCxnSpPr/>
          <p:nvPr/>
        </p:nvCxnSpPr>
        <p:spPr>
          <a:xfrm>
            <a:off x="3702401" y="6474090"/>
            <a:ext cx="706800" cy="27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20"/>
          <p:cNvCxnSpPr/>
          <p:nvPr/>
        </p:nvCxnSpPr>
        <p:spPr>
          <a:xfrm flipH="1" rot="10800000">
            <a:off x="3702401" y="6197021"/>
            <a:ext cx="706800" cy="27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20"/>
          <p:cNvSpPr txBox="1"/>
          <p:nvPr/>
        </p:nvSpPr>
        <p:spPr>
          <a:xfrm>
            <a:off x="4421867" y="6699789"/>
            <a:ext cx="2136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Q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4421867" y="6993933"/>
            <a:ext cx="2136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74" name="Google Shape;274;p20"/>
          <p:cNvCxnSpPr/>
          <p:nvPr/>
        </p:nvCxnSpPr>
        <p:spPr>
          <a:xfrm>
            <a:off x="3702401" y="7323630"/>
            <a:ext cx="706800" cy="27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0"/>
          <p:cNvCxnSpPr/>
          <p:nvPr/>
        </p:nvCxnSpPr>
        <p:spPr>
          <a:xfrm flipH="1" rot="10800000">
            <a:off x="3702401" y="7046561"/>
            <a:ext cx="706800" cy="27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20"/>
          <p:cNvSpPr txBox="1"/>
          <p:nvPr/>
        </p:nvSpPr>
        <p:spPr>
          <a:xfrm>
            <a:off x="4421867" y="7549330"/>
            <a:ext cx="2136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Q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4421867" y="7881573"/>
            <a:ext cx="2136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78" name="Google Shape;278;p20"/>
          <p:cNvCxnSpPr/>
          <p:nvPr/>
        </p:nvCxnSpPr>
        <p:spPr>
          <a:xfrm>
            <a:off x="3702401" y="8211270"/>
            <a:ext cx="706800" cy="27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0"/>
          <p:cNvCxnSpPr/>
          <p:nvPr/>
        </p:nvCxnSpPr>
        <p:spPr>
          <a:xfrm flipH="1" rot="10800000">
            <a:off x="3702401" y="7934201"/>
            <a:ext cx="706800" cy="27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20"/>
          <p:cNvSpPr txBox="1"/>
          <p:nvPr/>
        </p:nvSpPr>
        <p:spPr>
          <a:xfrm>
            <a:off x="4421867" y="8436970"/>
            <a:ext cx="2136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Q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4756311" y="6641807"/>
            <a:ext cx="4395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Q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4756311" y="7550466"/>
            <a:ext cx="4395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Q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4756311" y="6068191"/>
            <a:ext cx="4395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4756311" y="8436966"/>
            <a:ext cx="4395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Q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4756311" y="7051911"/>
            <a:ext cx="4395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4756311" y="7939550"/>
            <a:ext cx="4395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8}&quot;&gt;&lt;mfrac&gt;&lt;mn&gt;4&lt;/mn&gt;&lt;mn&gt;8&lt;/mn&gt;&lt;/mfrac&gt;&lt;/math&gt;" id="287" name="Google Shape;287;p20" title="four eigh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091772" y="6424894"/>
            <a:ext cx="100191" cy="333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8}&quot;&gt;&lt;mfrac&gt;&lt;mn&gt;1&lt;/mn&gt;&lt;mn&gt;8&lt;/mn&gt;&lt;/mfrac&gt;&lt;/math&gt;" id="288" name="Google Shape;288;p20" title="one eighth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91779" y="6980557"/>
            <a:ext cx="100191" cy="331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289" name="Google Shape;289;p20" title="three eigh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091773" y="7821643"/>
            <a:ext cx="100191" cy="331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90" name="Google Shape;290;p20" title="three fif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895095" y="7750871"/>
            <a:ext cx="100191" cy="3220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291" name="Google Shape;291;p20" title="two fifths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277420" y="8108741"/>
            <a:ext cx="100191" cy="3220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40}&quot;&gt;&lt;mfrac&gt;&lt;mn&gt;12&lt;/mn&gt;&lt;mn&gt;40&lt;/mn&gt;&lt;/mfrac&gt;&lt;/math&gt;" id="292" name="Google Shape;292;p20" title="12 over 4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95951" y="6027121"/>
            <a:ext cx="178088" cy="330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40}&quot;&gt;&lt;mfrac&gt;&lt;mn&gt;8&lt;/mn&gt;&lt;mn&gt;40&lt;/mn&gt;&lt;/mfrac&gt;&lt;/math&gt;" id="293" name="Google Shape;293;p20" title="8 over 4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195951" y="6530186"/>
            <a:ext cx="178088" cy="330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0}&quot;&gt;&lt;mfrac&gt;&lt;mn&gt;3&lt;/mn&gt;&lt;mn&gt;40&lt;/mn&gt;&lt;/mfrac&gt;&lt;/math&gt;" id="294" name="Google Shape;294;p20" title="3 over 4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195957" y="6940299"/>
            <a:ext cx="178088" cy="3300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0}&quot;&gt;&lt;mfrac&gt;&lt;mn&gt;2&lt;/mn&gt;&lt;mn&gt;40&lt;/mn&gt;&lt;/mfrac&gt;&lt;/math&gt;" id="295" name="Google Shape;295;p20" title="2 over 4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195951" y="7419765"/>
            <a:ext cx="178088" cy="330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40}&quot;&gt;&lt;mfrac&gt;&lt;mn&gt;9&lt;/mn&gt;&lt;mn&gt;40&lt;/mn&gt;&lt;/mfrac&gt;&lt;/math&gt;" id="296" name="Google Shape;296;p20" title="9 over 40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195951" y="7833006"/>
            <a:ext cx="178088" cy="330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40}&quot;&gt;&lt;mfrac&gt;&lt;mn&gt;6&lt;/mn&gt;&lt;mn&gt;40&lt;/mn&gt;&lt;/mfrac&gt;&lt;/math&gt;" id="297" name="Google Shape;297;p20" title="6 over 4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195948" y="8309353"/>
            <a:ext cx="178105" cy="330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0}&quot;&gt;&lt;mfrac&gt;&lt;mn&gt;2&lt;/mn&gt;&lt;mn&gt;40&lt;/mn&gt;&lt;/mfrac&gt;&lt;/math&gt;" id="298" name="Google Shape;298;p20" title="2 over 4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760129" y="6868111"/>
            <a:ext cx="178088" cy="330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299" name="Google Shape;299;p20" title="two fifths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277420" y="7216607"/>
            <a:ext cx="100191" cy="3220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300" name="Google Shape;300;p20" title="two fifths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277430" y="6357169"/>
            <a:ext cx="100191" cy="3220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301" name="Google Shape;301;p20" title="three fif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896084" y="6869146"/>
            <a:ext cx="100191" cy="3220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302" name="Google Shape;302;p20" title="three fif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896084" y="6014910"/>
            <a:ext cx="100191" cy="322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21"/>
          <p:cNvGrpSpPr/>
          <p:nvPr/>
        </p:nvGrpSpPr>
        <p:grpSpPr>
          <a:xfrm>
            <a:off x="5198487" y="1651152"/>
            <a:ext cx="1445405" cy="2177980"/>
            <a:chOff x="7887300" y="1859650"/>
            <a:chExt cx="932700" cy="2611800"/>
          </a:xfrm>
        </p:grpSpPr>
        <p:sp>
          <p:nvSpPr>
            <p:cNvPr id="308" name="Google Shape;308;p21"/>
            <p:cNvSpPr/>
            <p:nvPr/>
          </p:nvSpPr>
          <p:spPr>
            <a:xfrm>
              <a:off x="7889043" y="1859650"/>
              <a:ext cx="929100" cy="26118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9" name="Google Shape;309;p21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0" name="Google Shape;310;p21"/>
            <p:cNvCxnSpPr/>
            <p:nvPr/>
          </p:nvCxnSpPr>
          <p:spPr>
            <a:xfrm rot="10800000">
              <a:off x="7887300" y="315830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1" name="Google Shape;311;p21"/>
            <p:cNvCxnSpPr/>
            <p:nvPr/>
          </p:nvCxnSpPr>
          <p:spPr>
            <a:xfrm rot="10800000">
              <a:off x="7887300" y="3832165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2" name="Google Shape;312;p21"/>
          <p:cNvSpPr txBox="1"/>
          <p:nvPr/>
        </p:nvSpPr>
        <p:spPr>
          <a:xfrm>
            <a:off x="4372016" y="3843499"/>
            <a:ext cx="7971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daisy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3" name="Google Shape;31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Calculating theoretical probabilities from probability trees (two events)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5207934" y="3357838"/>
            <a:ext cx="14454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violet doesn’t grow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daisy doesn’t grow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4343239" y="1651063"/>
            <a:ext cx="854700" cy="21777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3391735" y="1925096"/>
            <a:ext cx="951600" cy="15144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2242998" y="2370440"/>
            <a:ext cx="10947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Lucas’ tree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468000" y="720002"/>
            <a:ext cx="17397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Lucas, Izzy, and Laura each take two flower seeds from a packet to grow.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probability of each type of flower growing is written on the packet.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1034885" y="2950996"/>
            <a:ext cx="572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rose: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0" name="Google Shape;3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200" y="3053003"/>
            <a:ext cx="333795" cy="590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8370" y="2766906"/>
            <a:ext cx="333800" cy="588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00" y="2480809"/>
            <a:ext cx="388202" cy="5884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21"/>
          <p:cNvCxnSpPr/>
          <p:nvPr/>
        </p:nvCxnSpPr>
        <p:spPr>
          <a:xfrm>
            <a:off x="2177680" y="727498"/>
            <a:ext cx="0" cy="295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21"/>
          <p:cNvSpPr txBox="1"/>
          <p:nvPr/>
        </p:nvSpPr>
        <p:spPr>
          <a:xfrm>
            <a:off x="846957" y="2452524"/>
            <a:ext cx="1094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violet: 80%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712053" y="3423264"/>
            <a:ext cx="1094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daisy: 90%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6" name="Google Shape;326;p21"/>
          <p:cNvGrpSpPr/>
          <p:nvPr/>
        </p:nvGrpSpPr>
        <p:grpSpPr>
          <a:xfrm>
            <a:off x="2271055" y="827652"/>
            <a:ext cx="1288953" cy="689653"/>
            <a:chOff x="3069685" y="699150"/>
            <a:chExt cx="1653140" cy="884510"/>
          </a:xfrm>
        </p:grpSpPr>
        <p:pic>
          <p:nvPicPr>
            <p:cNvPr id="327" name="Google Shape;327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3069685" y="712955"/>
              <a:ext cx="688874" cy="666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21"/>
            <p:cNvSpPr txBox="1"/>
            <p:nvPr/>
          </p:nvSpPr>
          <p:spPr>
            <a:xfrm>
              <a:off x="3211357" y="1389860"/>
              <a:ext cx="5472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3830025" y="699150"/>
              <a:ext cx="8928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 roses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0" name="Google Shape;330;p21"/>
          <p:cNvGrpSpPr/>
          <p:nvPr/>
        </p:nvGrpSpPr>
        <p:grpSpPr>
          <a:xfrm>
            <a:off x="4063611" y="827652"/>
            <a:ext cx="1256446" cy="689645"/>
            <a:chOff x="4989001" y="699150"/>
            <a:chExt cx="1611449" cy="884500"/>
          </a:xfrm>
        </p:grpSpPr>
        <p:pic>
          <p:nvPicPr>
            <p:cNvPr id="331" name="Google Shape;331;p2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074773" y="835849"/>
              <a:ext cx="493551" cy="5540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21"/>
            <p:cNvSpPr txBox="1"/>
            <p:nvPr/>
          </p:nvSpPr>
          <p:spPr>
            <a:xfrm>
              <a:off x="4989001" y="1389850"/>
              <a:ext cx="7854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5707050" y="699150"/>
              <a:ext cx="8934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 violet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 daisy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4" name="Google Shape;334;p21"/>
          <p:cNvGrpSpPr/>
          <p:nvPr/>
        </p:nvGrpSpPr>
        <p:grpSpPr>
          <a:xfrm>
            <a:off x="5823662" y="827652"/>
            <a:ext cx="1268671" cy="689645"/>
            <a:chOff x="6910573" y="699150"/>
            <a:chExt cx="1627127" cy="884500"/>
          </a:xfrm>
        </p:grpSpPr>
        <p:sp>
          <p:nvSpPr>
            <p:cNvPr id="335" name="Google Shape;335;p21"/>
            <p:cNvSpPr/>
            <p:nvPr/>
          </p:nvSpPr>
          <p:spPr>
            <a:xfrm>
              <a:off x="7644900" y="699150"/>
              <a:ext cx="8928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 rose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 daisy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336" name="Google Shape;336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042487" y="785816"/>
              <a:ext cx="499385" cy="6540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21"/>
            <p:cNvSpPr txBox="1"/>
            <p:nvPr/>
          </p:nvSpPr>
          <p:spPr>
            <a:xfrm>
              <a:off x="6910573" y="1389850"/>
              <a:ext cx="7632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38" name="Google Shape;338;p21"/>
          <p:cNvCxnSpPr/>
          <p:nvPr/>
        </p:nvCxnSpPr>
        <p:spPr>
          <a:xfrm>
            <a:off x="3392126" y="2682686"/>
            <a:ext cx="567300" cy="555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21"/>
          <p:cNvCxnSpPr/>
          <p:nvPr/>
        </p:nvCxnSpPr>
        <p:spPr>
          <a:xfrm flipH="1" rot="10800000">
            <a:off x="4350463" y="1773579"/>
            <a:ext cx="4485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21"/>
          <p:cNvSpPr txBox="1"/>
          <p:nvPr/>
        </p:nvSpPr>
        <p:spPr>
          <a:xfrm>
            <a:off x="3959350" y="2015206"/>
            <a:ext cx="388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1" name="Google Shape;341;p21"/>
          <p:cNvCxnSpPr/>
          <p:nvPr/>
        </p:nvCxnSpPr>
        <p:spPr>
          <a:xfrm>
            <a:off x="4350463" y="3265378"/>
            <a:ext cx="4485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21"/>
          <p:cNvCxnSpPr/>
          <p:nvPr/>
        </p:nvCxnSpPr>
        <p:spPr>
          <a:xfrm flipH="1" rot="10800000">
            <a:off x="3392126" y="2121878"/>
            <a:ext cx="567300" cy="555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21"/>
          <p:cNvCxnSpPr/>
          <p:nvPr/>
        </p:nvCxnSpPr>
        <p:spPr>
          <a:xfrm>
            <a:off x="4350463" y="2124918"/>
            <a:ext cx="4485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21"/>
          <p:cNvCxnSpPr/>
          <p:nvPr/>
        </p:nvCxnSpPr>
        <p:spPr>
          <a:xfrm flipH="1" rot="10800000">
            <a:off x="4350463" y="2914038"/>
            <a:ext cx="448500" cy="347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" name="Google Shape;345;p21"/>
          <p:cNvSpPr txBox="1"/>
          <p:nvPr/>
        </p:nvSpPr>
        <p:spPr>
          <a:xfrm>
            <a:off x="3959350" y="3109153"/>
            <a:ext cx="388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4809562" y="1665094"/>
            <a:ext cx="388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4809562" y="2352864"/>
            <a:ext cx="388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4809562" y="2817028"/>
            <a:ext cx="388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4809562" y="3504798"/>
            <a:ext cx="388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3391735" y="3470917"/>
            <a:ext cx="9516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stage: plant the violet seed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3419357" y="2069324"/>
            <a:ext cx="4485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80%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3419357" y="3059447"/>
            <a:ext cx="4485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4323754" y="1664871"/>
            <a:ext cx="4485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90%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4323754" y="2380227"/>
            <a:ext cx="4485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4323754" y="2802898"/>
            <a:ext cx="4485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90%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4323754" y="3518254"/>
            <a:ext cx="4485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5207934" y="1696911"/>
            <a:ext cx="14454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violet grows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daisy grows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5484773" y="1969974"/>
            <a:ext cx="8916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72%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5207934" y="2251627"/>
            <a:ext cx="14454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violet grows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daisy doesn’t grow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5484773" y="2524689"/>
            <a:ext cx="8916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5484773" y="3091507"/>
            <a:ext cx="8916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5207934" y="2818445"/>
            <a:ext cx="14454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violet doesn’t grow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daisy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grows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5484773" y="3630900"/>
            <a:ext cx="8916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364" name="Google Shape;364;p21" title="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77635" y="2907588"/>
            <a:ext cx="102662" cy="327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5" name="Google Shape;365;p21"/>
          <p:cNvGrpSpPr/>
          <p:nvPr/>
        </p:nvGrpSpPr>
        <p:grpSpPr>
          <a:xfrm>
            <a:off x="2179434" y="4284954"/>
            <a:ext cx="1371629" cy="2066717"/>
            <a:chOff x="7887300" y="1859650"/>
            <a:chExt cx="932700" cy="2611800"/>
          </a:xfrm>
        </p:grpSpPr>
        <p:sp>
          <p:nvSpPr>
            <p:cNvPr id="366" name="Google Shape;366;p21"/>
            <p:cNvSpPr/>
            <p:nvPr/>
          </p:nvSpPr>
          <p:spPr>
            <a:xfrm>
              <a:off x="7889043" y="1859650"/>
              <a:ext cx="929100" cy="26118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67" name="Google Shape;367;p21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8" name="Google Shape;368;p21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9" name="Google Shape;369;p21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0" name="Google Shape;370;p21"/>
          <p:cNvSpPr/>
          <p:nvPr/>
        </p:nvSpPr>
        <p:spPr>
          <a:xfrm>
            <a:off x="1368006" y="4284949"/>
            <a:ext cx="811200" cy="20667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465055" y="4544997"/>
            <a:ext cx="903000" cy="14373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495200" y="4057544"/>
            <a:ext cx="11235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Izzy’s tree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3" name="Google Shape;373;p21"/>
          <p:cNvCxnSpPr/>
          <p:nvPr/>
        </p:nvCxnSpPr>
        <p:spPr>
          <a:xfrm>
            <a:off x="465427" y="5263924"/>
            <a:ext cx="538200" cy="526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21"/>
          <p:cNvCxnSpPr/>
          <p:nvPr/>
        </p:nvCxnSpPr>
        <p:spPr>
          <a:xfrm flipH="1" rot="10800000">
            <a:off x="1374862" y="4401168"/>
            <a:ext cx="425700" cy="330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" name="Google Shape;375;p21"/>
          <p:cNvSpPr txBox="1"/>
          <p:nvPr/>
        </p:nvSpPr>
        <p:spPr>
          <a:xfrm>
            <a:off x="918948" y="4630500"/>
            <a:ext cx="5382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6" name="Google Shape;376;p21"/>
          <p:cNvCxnSpPr/>
          <p:nvPr/>
        </p:nvCxnSpPr>
        <p:spPr>
          <a:xfrm>
            <a:off x="1374862" y="5816879"/>
            <a:ext cx="425700" cy="330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21"/>
          <p:cNvCxnSpPr/>
          <p:nvPr/>
        </p:nvCxnSpPr>
        <p:spPr>
          <a:xfrm flipH="1" rot="10800000">
            <a:off x="465427" y="4731612"/>
            <a:ext cx="538200" cy="526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21"/>
          <p:cNvCxnSpPr/>
          <p:nvPr/>
        </p:nvCxnSpPr>
        <p:spPr>
          <a:xfrm>
            <a:off x="1374862" y="4734622"/>
            <a:ext cx="425700" cy="330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21"/>
          <p:cNvCxnSpPr/>
          <p:nvPr/>
        </p:nvCxnSpPr>
        <p:spPr>
          <a:xfrm flipH="1" rot="10800000">
            <a:off x="1374862" y="5483425"/>
            <a:ext cx="425700" cy="330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21"/>
          <p:cNvSpPr txBox="1"/>
          <p:nvPr/>
        </p:nvSpPr>
        <p:spPr>
          <a:xfrm>
            <a:off x="918948" y="5668624"/>
            <a:ext cx="5382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1791024" y="4298275"/>
            <a:ext cx="3882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1791024" y="4950940"/>
            <a:ext cx="3882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1791024" y="5391412"/>
            <a:ext cx="3882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1791024" y="6044077"/>
            <a:ext cx="3882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465049" y="6011931"/>
            <a:ext cx="9030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rose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2188574" y="4292355"/>
            <a:ext cx="13713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two roses grow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1395315" y="6365496"/>
            <a:ext cx="756300" cy="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rose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2188574" y="4809453"/>
            <a:ext cx="13713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first rose grows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2188574" y="5326552"/>
            <a:ext cx="13713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second rose grows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2188574" y="5873726"/>
            <a:ext cx="13713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neither rose grows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391" name="Google Shape;391;p21" title="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9837" y="4630513"/>
            <a:ext cx="97423" cy="310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392" name="Google Shape;392;p21" title="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50291" y="4291095"/>
            <a:ext cx="97423" cy="310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393" name="Google Shape;393;p21" title="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55739" y="5366892"/>
            <a:ext cx="97423" cy="310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394" name="Google Shape;394;p21" title="one four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9837" y="5557931"/>
            <a:ext cx="97423" cy="310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395" name="Google Shape;395;p21" title="one four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50291" y="4893838"/>
            <a:ext cx="97423" cy="310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396" name="Google Shape;396;p21" title="one four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50291" y="5979512"/>
            <a:ext cx="97423" cy="310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6}&quot;&gt;&lt;mfrac&gt;&lt;mn&gt;9&lt;/mn&gt;&lt;mn&gt;16&lt;/mn&gt;&lt;/mfrac&gt;&lt;/math&gt;" id="397" name="Google Shape;397;p21" title="9 over 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99823" y="4458042"/>
            <a:ext cx="170135" cy="310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398" name="Google Shape;398;p21" title="3 over 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799817" y="4981633"/>
            <a:ext cx="170135" cy="310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6}&quot;&gt;&lt;mfrac&gt;&lt;mn&gt;1&lt;/mn&gt;&lt;mn&gt;16&lt;/mn&gt;&lt;/mfrac&gt;&lt;/math&gt;" id="399" name="Google Shape;399;p21" title="1 over 1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799814" y="6020302"/>
            <a:ext cx="170144" cy="3103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400" name="Google Shape;400;p21" title="3 over 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799817" y="5493201"/>
            <a:ext cx="170135" cy="3103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1" name="Google Shape;401;p21"/>
          <p:cNvGrpSpPr/>
          <p:nvPr/>
        </p:nvGrpSpPr>
        <p:grpSpPr>
          <a:xfrm>
            <a:off x="5616628" y="4254826"/>
            <a:ext cx="1472267" cy="2218463"/>
            <a:chOff x="7887300" y="1859650"/>
            <a:chExt cx="932700" cy="2611800"/>
          </a:xfrm>
        </p:grpSpPr>
        <p:sp>
          <p:nvSpPr>
            <p:cNvPr id="402" name="Google Shape;402;p21"/>
            <p:cNvSpPr/>
            <p:nvPr/>
          </p:nvSpPr>
          <p:spPr>
            <a:xfrm>
              <a:off x="7889043" y="1859650"/>
              <a:ext cx="929100" cy="26118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03" name="Google Shape;403;p21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4" name="Google Shape;404;p21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21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6" name="Google Shape;406;p21"/>
          <p:cNvSpPr/>
          <p:nvPr/>
        </p:nvSpPr>
        <p:spPr>
          <a:xfrm>
            <a:off x="3776509" y="4533879"/>
            <a:ext cx="969000" cy="15426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7" name="Google Shape;407;p21"/>
          <p:cNvCxnSpPr/>
          <p:nvPr/>
        </p:nvCxnSpPr>
        <p:spPr>
          <a:xfrm>
            <a:off x="3776908" y="5305557"/>
            <a:ext cx="577800" cy="565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21"/>
          <p:cNvSpPr txBox="1"/>
          <p:nvPr/>
        </p:nvSpPr>
        <p:spPr>
          <a:xfrm>
            <a:off x="4354684" y="4625664"/>
            <a:ext cx="395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9" name="Google Shape;409;p21"/>
          <p:cNvCxnSpPr/>
          <p:nvPr/>
        </p:nvCxnSpPr>
        <p:spPr>
          <a:xfrm flipH="1" rot="10800000">
            <a:off x="3776908" y="4734441"/>
            <a:ext cx="577800" cy="565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21"/>
          <p:cNvSpPr txBox="1"/>
          <p:nvPr/>
        </p:nvSpPr>
        <p:spPr>
          <a:xfrm>
            <a:off x="4354684" y="5739955"/>
            <a:ext cx="395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1"/>
          <p:cNvSpPr txBox="1"/>
          <p:nvPr/>
        </p:nvSpPr>
        <p:spPr>
          <a:xfrm>
            <a:off x="3776503" y="6108449"/>
            <a:ext cx="9690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rose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1"/>
          <p:cNvSpPr txBox="1"/>
          <p:nvPr/>
        </p:nvSpPr>
        <p:spPr>
          <a:xfrm>
            <a:off x="3784191" y="4053783"/>
            <a:ext cx="1115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Laura’s tree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4745715" y="4254750"/>
            <a:ext cx="870300" cy="22182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4" name="Google Shape;414;p21"/>
          <p:cNvCxnSpPr/>
          <p:nvPr/>
        </p:nvCxnSpPr>
        <p:spPr>
          <a:xfrm flipH="1" rot="10800000">
            <a:off x="4753074" y="4379410"/>
            <a:ext cx="457200" cy="35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21"/>
          <p:cNvCxnSpPr/>
          <p:nvPr/>
        </p:nvCxnSpPr>
        <p:spPr>
          <a:xfrm>
            <a:off x="4753074" y="5899085"/>
            <a:ext cx="457200" cy="35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21"/>
          <p:cNvCxnSpPr/>
          <p:nvPr/>
        </p:nvCxnSpPr>
        <p:spPr>
          <a:xfrm>
            <a:off x="4753074" y="4737417"/>
            <a:ext cx="457200" cy="35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21"/>
          <p:cNvCxnSpPr/>
          <p:nvPr/>
        </p:nvCxnSpPr>
        <p:spPr>
          <a:xfrm flipH="1" rot="10800000">
            <a:off x="4753074" y="5541078"/>
            <a:ext cx="457200" cy="354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21"/>
          <p:cNvSpPr txBox="1"/>
          <p:nvPr/>
        </p:nvSpPr>
        <p:spPr>
          <a:xfrm>
            <a:off x="5220714" y="4269042"/>
            <a:ext cx="395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1"/>
          <p:cNvSpPr txBox="1"/>
          <p:nvPr/>
        </p:nvSpPr>
        <p:spPr>
          <a:xfrm>
            <a:off x="5220714" y="4969602"/>
            <a:ext cx="395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1"/>
          <p:cNvSpPr txBox="1"/>
          <p:nvPr/>
        </p:nvSpPr>
        <p:spPr>
          <a:xfrm>
            <a:off x="5220714" y="5442397"/>
            <a:ext cx="395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1"/>
          <p:cNvSpPr txBox="1"/>
          <p:nvPr/>
        </p:nvSpPr>
        <p:spPr>
          <a:xfrm>
            <a:off x="5220714" y="6142958"/>
            <a:ext cx="3957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grow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4725868" y="4268815"/>
            <a:ext cx="4572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90%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3" name="Google Shape;423;p21"/>
          <p:cNvSpPr txBox="1"/>
          <p:nvPr/>
        </p:nvSpPr>
        <p:spPr>
          <a:xfrm>
            <a:off x="4725868" y="4997474"/>
            <a:ext cx="4572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4" name="Google Shape;424;p21"/>
          <p:cNvSpPr txBox="1"/>
          <p:nvPr/>
        </p:nvSpPr>
        <p:spPr>
          <a:xfrm>
            <a:off x="4725868" y="5428005"/>
            <a:ext cx="4572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90%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5" name="Google Shape;425;p21"/>
          <p:cNvSpPr txBox="1"/>
          <p:nvPr/>
        </p:nvSpPr>
        <p:spPr>
          <a:xfrm>
            <a:off x="4725868" y="6156664"/>
            <a:ext cx="4572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6" name="Google Shape;426;p21"/>
          <p:cNvSpPr txBox="1"/>
          <p:nvPr/>
        </p:nvSpPr>
        <p:spPr>
          <a:xfrm>
            <a:off x="4775028" y="6487958"/>
            <a:ext cx="811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daisy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7" name="Google Shape;427;p21"/>
          <p:cNvSpPr txBox="1"/>
          <p:nvPr/>
        </p:nvSpPr>
        <p:spPr>
          <a:xfrm>
            <a:off x="5626497" y="5993265"/>
            <a:ext cx="14721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rose doesn’t grow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daisy doesn’t grow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8" name="Google Shape;428;p21"/>
          <p:cNvSpPr txBox="1"/>
          <p:nvPr/>
        </p:nvSpPr>
        <p:spPr>
          <a:xfrm>
            <a:off x="5626497" y="4866482"/>
            <a:ext cx="14721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rose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grows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daisy doesn’t grow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9" name="Google Shape;429;p21"/>
          <p:cNvSpPr txBox="1"/>
          <p:nvPr/>
        </p:nvSpPr>
        <p:spPr>
          <a:xfrm>
            <a:off x="5908486" y="5144622"/>
            <a:ext cx="9081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7.5%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0" name="Google Shape;430;p21"/>
          <p:cNvSpPr txBox="1"/>
          <p:nvPr/>
        </p:nvSpPr>
        <p:spPr>
          <a:xfrm>
            <a:off x="5908486" y="5721981"/>
            <a:ext cx="9081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22.5%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1" name="Google Shape;431;p21"/>
          <p:cNvSpPr txBox="1"/>
          <p:nvPr/>
        </p:nvSpPr>
        <p:spPr>
          <a:xfrm>
            <a:off x="5626497" y="5443841"/>
            <a:ext cx="14721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rose doesn’t grow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daisy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grows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2" name="Google Shape;432;p21"/>
          <p:cNvSpPr txBox="1"/>
          <p:nvPr/>
        </p:nvSpPr>
        <p:spPr>
          <a:xfrm>
            <a:off x="5908486" y="6271405"/>
            <a:ext cx="9081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2.5%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3" name="Google Shape;433;p21"/>
          <p:cNvSpPr txBox="1"/>
          <p:nvPr/>
        </p:nvSpPr>
        <p:spPr>
          <a:xfrm>
            <a:off x="5626497" y="4301451"/>
            <a:ext cx="14721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rose grows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daisy grows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5908486" y="4579591"/>
            <a:ext cx="9081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67.5%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435" name="Google Shape;435;p21" title="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74849" y="4625669"/>
            <a:ext cx="104572" cy="333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436" name="Google Shape;436;p21" title="one four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74849" y="5621138"/>
            <a:ext cx="104572" cy="3331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7" name="Google Shape;437;p21"/>
          <p:cNvCxnSpPr/>
          <p:nvPr/>
        </p:nvCxnSpPr>
        <p:spPr>
          <a:xfrm>
            <a:off x="474757" y="67256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21"/>
          <p:cNvSpPr txBox="1"/>
          <p:nvPr/>
        </p:nvSpPr>
        <p:spPr>
          <a:xfrm>
            <a:off x="4315450" y="8241470"/>
            <a:ext cx="2773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is the probability of the event that at least one coin lands on a heads?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21"/>
          <p:cNvSpPr txBox="1"/>
          <p:nvPr/>
        </p:nvSpPr>
        <p:spPr>
          <a:xfrm>
            <a:off x="467975" y="7102525"/>
            <a:ext cx="6621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A coin is flipped several times. On 45% (or 0.45 as a decimal) of trials, the coin lands on heads.				Trial: flipping this coin twice.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21"/>
          <p:cNvSpPr txBox="1"/>
          <p:nvPr/>
        </p:nvSpPr>
        <p:spPr>
          <a:xfrm>
            <a:off x="465050" y="6800500"/>
            <a:ext cx="66336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Probability of an event from a two-stage trial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21"/>
          <p:cNvSpPr txBox="1"/>
          <p:nvPr/>
        </p:nvSpPr>
        <p:spPr>
          <a:xfrm>
            <a:off x="1175023" y="8012060"/>
            <a:ext cx="5094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2" name="Google Shape;442;p21"/>
          <p:cNvGrpSpPr/>
          <p:nvPr/>
        </p:nvGrpSpPr>
        <p:grpSpPr>
          <a:xfrm>
            <a:off x="644540" y="8138568"/>
            <a:ext cx="509378" cy="1324765"/>
            <a:chOff x="354975" y="1421050"/>
            <a:chExt cx="2175900" cy="1431250"/>
          </a:xfrm>
        </p:grpSpPr>
        <p:cxnSp>
          <p:nvCxnSpPr>
            <p:cNvPr id="443" name="Google Shape;443;p21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" name="Google Shape;444;p21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5" name="Google Shape;445;p21"/>
          <p:cNvSpPr txBox="1"/>
          <p:nvPr/>
        </p:nvSpPr>
        <p:spPr>
          <a:xfrm>
            <a:off x="1175023" y="9334693"/>
            <a:ext cx="5094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6" name="Google Shape;446;p21"/>
          <p:cNvSpPr txBox="1"/>
          <p:nvPr/>
        </p:nvSpPr>
        <p:spPr>
          <a:xfrm>
            <a:off x="2301904" y="7736797"/>
            <a:ext cx="509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7" name="Google Shape;447;p21"/>
          <p:cNvGrpSpPr/>
          <p:nvPr/>
        </p:nvGrpSpPr>
        <p:grpSpPr>
          <a:xfrm>
            <a:off x="1654613" y="7803149"/>
            <a:ext cx="618391" cy="693870"/>
            <a:chOff x="354975" y="1421050"/>
            <a:chExt cx="2175900" cy="1431250"/>
          </a:xfrm>
        </p:grpSpPr>
        <p:cxnSp>
          <p:nvCxnSpPr>
            <p:cNvPr id="448" name="Google Shape;448;p21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21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0" name="Google Shape;450;p21"/>
          <p:cNvSpPr txBox="1"/>
          <p:nvPr/>
        </p:nvSpPr>
        <p:spPr>
          <a:xfrm>
            <a:off x="2301904" y="8429453"/>
            <a:ext cx="509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2301904" y="9072552"/>
            <a:ext cx="509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52" name="Google Shape;452;p21"/>
          <p:cNvGrpSpPr/>
          <p:nvPr/>
        </p:nvGrpSpPr>
        <p:grpSpPr>
          <a:xfrm>
            <a:off x="1654613" y="9138909"/>
            <a:ext cx="618391" cy="693870"/>
            <a:chOff x="354975" y="1421050"/>
            <a:chExt cx="2175900" cy="1431250"/>
          </a:xfrm>
        </p:grpSpPr>
        <p:cxnSp>
          <p:nvCxnSpPr>
            <p:cNvPr id="453" name="Google Shape;453;p21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21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5" name="Google Shape;455;p21"/>
          <p:cNvSpPr txBox="1"/>
          <p:nvPr/>
        </p:nvSpPr>
        <p:spPr>
          <a:xfrm>
            <a:off x="2301904" y="9765209"/>
            <a:ext cx="509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p21"/>
          <p:cNvSpPr txBox="1"/>
          <p:nvPr/>
        </p:nvSpPr>
        <p:spPr>
          <a:xfrm>
            <a:off x="489104" y="8239753"/>
            <a:ext cx="5094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57" name="Google Shape;457;p21"/>
          <p:cNvGrpSpPr/>
          <p:nvPr/>
        </p:nvGrpSpPr>
        <p:grpSpPr>
          <a:xfrm>
            <a:off x="2807971" y="7663980"/>
            <a:ext cx="1167274" cy="2274371"/>
            <a:chOff x="7887300" y="1898378"/>
            <a:chExt cx="932700" cy="2534400"/>
          </a:xfrm>
        </p:grpSpPr>
        <p:sp>
          <p:nvSpPr>
            <p:cNvPr id="458" name="Google Shape;458;p21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59" name="Google Shape;459;p21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21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" name="Google Shape;461;p21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2" name="Google Shape;462;p21"/>
          <p:cNvSpPr txBox="1"/>
          <p:nvPr/>
        </p:nvSpPr>
        <p:spPr>
          <a:xfrm>
            <a:off x="2899585" y="7880121"/>
            <a:ext cx="5094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>
            <a:off x="2899585" y="8453962"/>
            <a:ext cx="5094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1"/>
          <p:cNvSpPr txBox="1"/>
          <p:nvPr/>
        </p:nvSpPr>
        <p:spPr>
          <a:xfrm>
            <a:off x="2899585" y="9615883"/>
            <a:ext cx="5094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21"/>
          <p:cNvSpPr txBox="1"/>
          <p:nvPr/>
        </p:nvSpPr>
        <p:spPr>
          <a:xfrm>
            <a:off x="2899585" y="9081377"/>
            <a:ext cx="5094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21"/>
          <p:cNvSpPr txBox="1"/>
          <p:nvPr/>
        </p:nvSpPr>
        <p:spPr>
          <a:xfrm>
            <a:off x="489104" y="9122830"/>
            <a:ext cx="5094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21"/>
          <p:cNvSpPr txBox="1"/>
          <p:nvPr/>
        </p:nvSpPr>
        <p:spPr>
          <a:xfrm>
            <a:off x="1679088" y="7736795"/>
            <a:ext cx="5094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21"/>
          <p:cNvSpPr txBox="1"/>
          <p:nvPr/>
        </p:nvSpPr>
        <p:spPr>
          <a:xfrm>
            <a:off x="1679088" y="8386180"/>
            <a:ext cx="5094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9" name="Google Shape;469;p21"/>
          <p:cNvSpPr txBox="1"/>
          <p:nvPr/>
        </p:nvSpPr>
        <p:spPr>
          <a:xfrm>
            <a:off x="1679088" y="9069502"/>
            <a:ext cx="5094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21"/>
          <p:cNvSpPr txBox="1"/>
          <p:nvPr/>
        </p:nvSpPr>
        <p:spPr>
          <a:xfrm>
            <a:off x="1679088" y="9718887"/>
            <a:ext cx="5094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21"/>
          <p:cNvSpPr txBox="1"/>
          <p:nvPr/>
        </p:nvSpPr>
        <p:spPr>
          <a:xfrm>
            <a:off x="4315450" y="7587737"/>
            <a:ext cx="2773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What is the probability of the outcome “two heads”?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21"/>
          <p:cNvSpPr txBox="1"/>
          <p:nvPr/>
        </p:nvSpPr>
        <p:spPr>
          <a:xfrm>
            <a:off x="4315450" y="9094119"/>
            <a:ext cx="2773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What is the probability of the event that exactly one coin lands on a tails?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21"/>
          <p:cNvSpPr txBox="1"/>
          <p:nvPr/>
        </p:nvSpPr>
        <p:spPr>
          <a:xfrm>
            <a:off x="4328131" y="8012064"/>
            <a:ext cx="27735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0.2025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4" name="Google Shape;474;p21"/>
          <p:cNvSpPr txBox="1"/>
          <p:nvPr/>
        </p:nvSpPr>
        <p:spPr>
          <a:xfrm>
            <a:off x="4315429" y="9738091"/>
            <a:ext cx="27735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0.2475 + 0.2475 = 0.495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5" name="Google Shape;475;p21"/>
          <p:cNvSpPr txBox="1"/>
          <p:nvPr/>
        </p:nvSpPr>
        <p:spPr>
          <a:xfrm>
            <a:off x="4315429" y="8895203"/>
            <a:ext cx="27735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0.2025 + 2 × 0.2475 = 0.6975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6" name="Google Shape;476;p21"/>
          <p:cNvSpPr txBox="1"/>
          <p:nvPr/>
        </p:nvSpPr>
        <p:spPr>
          <a:xfrm>
            <a:off x="3367004" y="8388504"/>
            <a:ext cx="607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0.2475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21"/>
          <p:cNvSpPr txBox="1"/>
          <p:nvPr/>
        </p:nvSpPr>
        <p:spPr>
          <a:xfrm>
            <a:off x="3367004" y="9550436"/>
            <a:ext cx="607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0.3025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8" name="Google Shape;478;p21"/>
          <p:cNvSpPr txBox="1"/>
          <p:nvPr/>
        </p:nvSpPr>
        <p:spPr>
          <a:xfrm>
            <a:off x="3367004" y="7824488"/>
            <a:ext cx="607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0.2025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21"/>
          <p:cNvSpPr txBox="1"/>
          <p:nvPr/>
        </p:nvSpPr>
        <p:spPr>
          <a:xfrm>
            <a:off x="3367004" y="9015916"/>
            <a:ext cx="607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0.2475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0" name="Google Shape;48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oogle Shape;485;p22"/>
          <p:cNvGrpSpPr/>
          <p:nvPr/>
        </p:nvGrpSpPr>
        <p:grpSpPr>
          <a:xfrm>
            <a:off x="2557322" y="6355791"/>
            <a:ext cx="1123344" cy="1763689"/>
            <a:chOff x="7887300" y="1898378"/>
            <a:chExt cx="932700" cy="2534400"/>
          </a:xfrm>
        </p:grpSpPr>
        <p:sp>
          <p:nvSpPr>
            <p:cNvPr id="486" name="Google Shape;486;p22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87" name="Google Shape;487;p22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22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22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90" name="Google Shape;490;p22"/>
          <p:cNvGrpSpPr/>
          <p:nvPr/>
        </p:nvGrpSpPr>
        <p:grpSpPr>
          <a:xfrm>
            <a:off x="2808538" y="1281857"/>
            <a:ext cx="1288152" cy="2275384"/>
            <a:chOff x="7887300" y="1898378"/>
            <a:chExt cx="932700" cy="2534400"/>
          </a:xfrm>
        </p:grpSpPr>
        <p:sp>
          <p:nvSpPr>
            <p:cNvPr id="491" name="Google Shape;491;p22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92" name="Google Shape;492;p22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2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22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5" name="Google Shape;495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6" name="Google Shape;496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probability trees (two events)</a:t>
            </a:r>
            <a:endParaRPr/>
          </a:p>
        </p:txBody>
      </p:sp>
      <p:sp>
        <p:nvSpPr>
          <p:cNvPr id="497" name="Google Shape;49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8" name="Google Shape;498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499" name="Google Shape;499;p22"/>
          <p:cNvSpPr txBox="1"/>
          <p:nvPr/>
        </p:nvSpPr>
        <p:spPr>
          <a:xfrm>
            <a:off x="3410400" y="3203122"/>
            <a:ext cx="6864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0.2209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00" name="Google Shape;500;p22"/>
          <p:cNvSpPr txBox="1"/>
          <p:nvPr/>
        </p:nvSpPr>
        <p:spPr>
          <a:xfrm>
            <a:off x="468000" y="720000"/>
            <a:ext cx="66240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 different coin is flipped several times. On 53% (or 0.53 as a decimal) of trials, the coin lands on heads.			Trial: flipping this coin twice.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1" name="Google Shape;501;p22"/>
          <p:cNvSpPr txBox="1"/>
          <p:nvPr/>
        </p:nvSpPr>
        <p:spPr>
          <a:xfrm>
            <a:off x="1175376" y="1630134"/>
            <a:ext cx="509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2" name="Google Shape;502;p22"/>
          <p:cNvGrpSpPr/>
          <p:nvPr/>
        </p:nvGrpSpPr>
        <p:grpSpPr>
          <a:xfrm>
            <a:off x="644643" y="1756799"/>
            <a:ext cx="509596" cy="1325481"/>
            <a:chOff x="354975" y="1421050"/>
            <a:chExt cx="2175900" cy="1431250"/>
          </a:xfrm>
        </p:grpSpPr>
        <p:cxnSp>
          <p:nvCxnSpPr>
            <p:cNvPr id="503" name="Google Shape;503;p2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4" name="Google Shape;504;p2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05" name="Google Shape;505;p22"/>
          <p:cNvSpPr txBox="1"/>
          <p:nvPr/>
        </p:nvSpPr>
        <p:spPr>
          <a:xfrm>
            <a:off x="2302782" y="1354743"/>
            <a:ext cx="5097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6" name="Google Shape;506;p22"/>
          <p:cNvGrpSpPr/>
          <p:nvPr/>
        </p:nvGrpSpPr>
        <p:grpSpPr>
          <a:xfrm>
            <a:off x="1655178" y="1421089"/>
            <a:ext cx="618608" cy="694156"/>
            <a:chOff x="354975" y="1421050"/>
            <a:chExt cx="2175900" cy="1431250"/>
          </a:xfrm>
        </p:grpSpPr>
        <p:cxnSp>
          <p:nvCxnSpPr>
            <p:cNvPr id="507" name="Google Shape;507;p2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09" name="Google Shape;509;p22"/>
          <p:cNvSpPr txBox="1"/>
          <p:nvPr/>
        </p:nvSpPr>
        <p:spPr>
          <a:xfrm>
            <a:off x="2302782" y="2047722"/>
            <a:ext cx="5097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22"/>
          <p:cNvSpPr txBox="1"/>
          <p:nvPr/>
        </p:nvSpPr>
        <p:spPr>
          <a:xfrm>
            <a:off x="489138" y="1857932"/>
            <a:ext cx="509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22"/>
          <p:cNvSpPr txBox="1"/>
          <p:nvPr/>
        </p:nvSpPr>
        <p:spPr>
          <a:xfrm>
            <a:off x="2900741" y="1498133"/>
            <a:ext cx="5097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22"/>
          <p:cNvSpPr txBox="1"/>
          <p:nvPr/>
        </p:nvSpPr>
        <p:spPr>
          <a:xfrm>
            <a:off x="2900741" y="2072241"/>
            <a:ext cx="5097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22"/>
          <p:cNvSpPr txBox="1"/>
          <p:nvPr/>
        </p:nvSpPr>
        <p:spPr>
          <a:xfrm>
            <a:off x="2900741" y="3234703"/>
            <a:ext cx="5097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22"/>
          <p:cNvSpPr txBox="1"/>
          <p:nvPr/>
        </p:nvSpPr>
        <p:spPr>
          <a:xfrm>
            <a:off x="2900741" y="2699949"/>
            <a:ext cx="5097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p22"/>
          <p:cNvSpPr txBox="1"/>
          <p:nvPr/>
        </p:nvSpPr>
        <p:spPr>
          <a:xfrm>
            <a:off x="4317264" y="1146729"/>
            <a:ext cx="27747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Event 1: landing on heads twice.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Event 2: landing on exactly one head.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16" name="Google Shape;516;p22"/>
          <p:cNvGrpSpPr/>
          <p:nvPr/>
        </p:nvGrpSpPr>
        <p:grpSpPr>
          <a:xfrm>
            <a:off x="644643" y="1756799"/>
            <a:ext cx="509596" cy="1325481"/>
            <a:chOff x="354975" y="1421050"/>
            <a:chExt cx="2175900" cy="1431250"/>
          </a:xfrm>
        </p:grpSpPr>
        <p:cxnSp>
          <p:nvCxnSpPr>
            <p:cNvPr id="517" name="Google Shape;517;p2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9" name="Google Shape;519;p22"/>
          <p:cNvSpPr txBox="1"/>
          <p:nvPr/>
        </p:nvSpPr>
        <p:spPr>
          <a:xfrm>
            <a:off x="1175376" y="2953383"/>
            <a:ext cx="509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tail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20" name="Google Shape;520;p22"/>
          <p:cNvSpPr txBox="1"/>
          <p:nvPr/>
        </p:nvSpPr>
        <p:spPr>
          <a:xfrm>
            <a:off x="2302782" y="2691120"/>
            <a:ext cx="5097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head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521" name="Google Shape;521;p22"/>
          <p:cNvGrpSpPr/>
          <p:nvPr/>
        </p:nvGrpSpPr>
        <p:grpSpPr>
          <a:xfrm>
            <a:off x="1655178" y="2757471"/>
            <a:ext cx="618608" cy="694156"/>
            <a:chOff x="354975" y="1421050"/>
            <a:chExt cx="2175900" cy="1431250"/>
          </a:xfrm>
        </p:grpSpPr>
        <p:cxnSp>
          <p:nvCxnSpPr>
            <p:cNvPr id="522" name="Google Shape;522;p2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3" name="Google Shape;523;p2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4" name="Google Shape;524;p22"/>
          <p:cNvSpPr txBox="1"/>
          <p:nvPr/>
        </p:nvSpPr>
        <p:spPr>
          <a:xfrm>
            <a:off x="2302782" y="3384099"/>
            <a:ext cx="5097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tail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25" name="Google Shape;525;p22"/>
          <p:cNvSpPr txBox="1"/>
          <p:nvPr/>
        </p:nvSpPr>
        <p:spPr>
          <a:xfrm>
            <a:off x="489138" y="2741421"/>
            <a:ext cx="5097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0.47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26" name="Google Shape;526;p22"/>
          <p:cNvSpPr txBox="1"/>
          <p:nvPr/>
        </p:nvSpPr>
        <p:spPr>
          <a:xfrm>
            <a:off x="1679675" y="1354741"/>
            <a:ext cx="509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0.53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27" name="Google Shape;527;p22"/>
          <p:cNvSpPr txBox="1"/>
          <p:nvPr/>
        </p:nvSpPr>
        <p:spPr>
          <a:xfrm>
            <a:off x="1679675" y="2020512"/>
            <a:ext cx="509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0.47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28" name="Google Shape;528;p22"/>
          <p:cNvSpPr txBox="1"/>
          <p:nvPr/>
        </p:nvSpPr>
        <p:spPr>
          <a:xfrm>
            <a:off x="1679675" y="2688068"/>
            <a:ext cx="509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0.53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29" name="Google Shape;529;p22"/>
          <p:cNvSpPr txBox="1"/>
          <p:nvPr/>
        </p:nvSpPr>
        <p:spPr>
          <a:xfrm>
            <a:off x="1679675" y="3353839"/>
            <a:ext cx="5097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0.47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0" name="Google Shape;530;p22"/>
          <p:cNvSpPr txBox="1"/>
          <p:nvPr/>
        </p:nvSpPr>
        <p:spPr>
          <a:xfrm>
            <a:off x="3410400" y="1466566"/>
            <a:ext cx="6864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0.2809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1" name="Google Shape;531;p22"/>
          <p:cNvSpPr txBox="1"/>
          <p:nvPr/>
        </p:nvSpPr>
        <p:spPr>
          <a:xfrm>
            <a:off x="4557965" y="1886958"/>
            <a:ext cx="2501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Event 1: 0.2809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Event 2: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0.2491 + 0.2491 = 0.4982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Event 2 is more likely, by 0.2173 (or 21.73%).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2" name="Google Shape;532;p22"/>
          <p:cNvSpPr txBox="1"/>
          <p:nvPr/>
        </p:nvSpPr>
        <p:spPr>
          <a:xfrm>
            <a:off x="3410400" y="2040668"/>
            <a:ext cx="6864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0.2491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3" name="Google Shape;533;p22"/>
          <p:cNvSpPr txBox="1"/>
          <p:nvPr/>
        </p:nvSpPr>
        <p:spPr>
          <a:xfrm>
            <a:off x="3410400" y="2637683"/>
            <a:ext cx="6864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0.2491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534" name="Google Shape;534;p22"/>
          <p:cNvGrpSpPr/>
          <p:nvPr/>
        </p:nvGrpSpPr>
        <p:grpSpPr>
          <a:xfrm>
            <a:off x="5065725" y="4909353"/>
            <a:ext cx="403706" cy="383819"/>
            <a:chOff x="5653584" y="3082069"/>
            <a:chExt cx="609000" cy="579000"/>
          </a:xfrm>
        </p:grpSpPr>
        <p:sp>
          <p:nvSpPr>
            <p:cNvPr id="535" name="Google Shape;535;p2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38" name="Google Shape;5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9764" y="3609514"/>
            <a:ext cx="612133" cy="64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3029" y="3650553"/>
            <a:ext cx="427420" cy="562026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2"/>
          <p:cNvSpPr txBox="1"/>
          <p:nvPr/>
        </p:nvSpPr>
        <p:spPr>
          <a:xfrm>
            <a:off x="5939176" y="4306562"/>
            <a:ext cx="11529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cowboy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 60%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41" name="Google Shape;54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818960" y="5086085"/>
            <a:ext cx="500005" cy="572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8117" y="5059404"/>
            <a:ext cx="427420" cy="562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3" name="Google Shape;543;p22"/>
          <p:cNvGrpSpPr/>
          <p:nvPr/>
        </p:nvGrpSpPr>
        <p:grpSpPr>
          <a:xfrm>
            <a:off x="5722174" y="5090595"/>
            <a:ext cx="171860" cy="163394"/>
            <a:chOff x="5653584" y="3082069"/>
            <a:chExt cx="609000" cy="579000"/>
          </a:xfrm>
        </p:grpSpPr>
        <p:sp>
          <p:nvSpPr>
            <p:cNvPr id="544" name="Google Shape;544;p2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47" name="Google Shape;547;p22"/>
          <p:cNvSpPr txBox="1"/>
          <p:nvPr/>
        </p:nvSpPr>
        <p:spPr>
          <a:xfrm>
            <a:off x="4492594" y="5764560"/>
            <a:ext cx="11529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unicorn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 60%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8" name="Google Shape;548;p22"/>
          <p:cNvSpPr txBox="1"/>
          <p:nvPr/>
        </p:nvSpPr>
        <p:spPr>
          <a:xfrm>
            <a:off x="4492594" y="4316255"/>
            <a:ext cx="11529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dragon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accuracy: 80%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9" name="Google Shape;549;p22"/>
          <p:cNvSpPr txBox="1"/>
          <p:nvPr/>
        </p:nvSpPr>
        <p:spPr>
          <a:xfrm>
            <a:off x="453198" y="3606900"/>
            <a:ext cx="3815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Lucas is playing a video game, and needs to scare away a cowboy using either his dragon or unicorn.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probability of a character hitting their opponent is shown by their “accuracy” stat.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order for Lucas to scare away the cowboy, either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Lucas’ character has to hit, or the cowboy has to miss (or both).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constructing two probability trees, find out whether the dragon or unicorn is more likely to scare away the cowboy.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22"/>
          <p:cNvSpPr txBox="1"/>
          <p:nvPr/>
        </p:nvSpPr>
        <p:spPr>
          <a:xfrm>
            <a:off x="6078001" y="5758444"/>
            <a:ext cx="8751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cowboy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 25%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22"/>
          <p:cNvSpPr txBox="1"/>
          <p:nvPr/>
        </p:nvSpPr>
        <p:spPr>
          <a:xfrm>
            <a:off x="453207" y="8262875"/>
            <a:ext cx="3276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probability that the dragon hits or the cowboy misses is: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0.48 + 0.32 + 0.08 = 0.88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52" name="Google Shape;552;p22"/>
          <p:cNvSpPr txBox="1"/>
          <p:nvPr/>
        </p:nvSpPr>
        <p:spPr>
          <a:xfrm>
            <a:off x="936731" y="6625971"/>
            <a:ext cx="5436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dragon hits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553" name="Google Shape;553;p22"/>
          <p:cNvGrpSpPr/>
          <p:nvPr/>
        </p:nvGrpSpPr>
        <p:grpSpPr>
          <a:xfrm>
            <a:off x="525314" y="6724252"/>
            <a:ext cx="395143" cy="1027638"/>
            <a:chOff x="354975" y="1421050"/>
            <a:chExt cx="2175900" cy="1431250"/>
          </a:xfrm>
        </p:grpSpPr>
        <p:cxnSp>
          <p:nvCxnSpPr>
            <p:cNvPr id="554" name="Google Shape;554;p2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" name="Google Shape;555;p2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56" name="Google Shape;556;p22"/>
          <p:cNvSpPr txBox="1"/>
          <p:nvPr/>
        </p:nvSpPr>
        <p:spPr>
          <a:xfrm>
            <a:off x="936731" y="7651778"/>
            <a:ext cx="5436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dragon misses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57" name="Google Shape;557;p22"/>
          <p:cNvSpPr txBox="1"/>
          <p:nvPr/>
        </p:nvSpPr>
        <p:spPr>
          <a:xfrm>
            <a:off x="1982498" y="6412477"/>
            <a:ext cx="574800" cy="1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cowboy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hits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558" name="Google Shape;558;p22"/>
          <p:cNvGrpSpPr/>
          <p:nvPr/>
        </p:nvGrpSpPr>
        <p:grpSpPr>
          <a:xfrm>
            <a:off x="1480493" y="6463933"/>
            <a:ext cx="479786" cy="538150"/>
            <a:chOff x="354975" y="1421050"/>
            <a:chExt cx="2175900" cy="1431250"/>
          </a:xfrm>
        </p:grpSpPr>
        <p:cxnSp>
          <p:nvCxnSpPr>
            <p:cNvPr id="559" name="Google Shape;559;p2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2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61" name="Google Shape;561;p22"/>
          <p:cNvSpPr txBox="1"/>
          <p:nvPr/>
        </p:nvSpPr>
        <p:spPr>
          <a:xfrm>
            <a:off x="1982497" y="6949694"/>
            <a:ext cx="574800" cy="1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cowboy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misses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562" name="Google Shape;562;p22"/>
          <p:cNvGrpSpPr/>
          <p:nvPr/>
        </p:nvGrpSpPr>
        <p:grpSpPr>
          <a:xfrm>
            <a:off x="1480493" y="7499929"/>
            <a:ext cx="479786" cy="538150"/>
            <a:chOff x="354975" y="1421050"/>
            <a:chExt cx="2175900" cy="1431250"/>
          </a:xfrm>
        </p:grpSpPr>
        <p:cxnSp>
          <p:nvCxnSpPr>
            <p:cNvPr id="563" name="Google Shape;563;p2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65" name="Google Shape;565;p22"/>
          <p:cNvSpPr txBox="1"/>
          <p:nvPr/>
        </p:nvSpPr>
        <p:spPr>
          <a:xfrm>
            <a:off x="404747" y="6802562"/>
            <a:ext cx="3951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66" name="Google Shape;566;p22"/>
          <p:cNvSpPr txBox="1"/>
          <p:nvPr/>
        </p:nvSpPr>
        <p:spPr>
          <a:xfrm>
            <a:off x="3269154" y="6917924"/>
            <a:ext cx="3951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0.32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67" name="Google Shape;567;p22"/>
          <p:cNvSpPr txBox="1"/>
          <p:nvPr/>
        </p:nvSpPr>
        <p:spPr>
          <a:xfrm>
            <a:off x="3269154" y="7819102"/>
            <a:ext cx="3951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0.08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68" name="Google Shape;568;p22"/>
          <p:cNvSpPr txBox="1"/>
          <p:nvPr/>
        </p:nvSpPr>
        <p:spPr>
          <a:xfrm>
            <a:off x="2567608" y="6523644"/>
            <a:ext cx="701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dragon ✔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cowboy ✔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69" name="Google Shape;569;p22"/>
          <p:cNvSpPr txBox="1"/>
          <p:nvPr/>
        </p:nvSpPr>
        <p:spPr>
          <a:xfrm>
            <a:off x="2567608" y="6968703"/>
            <a:ext cx="701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dragon ✔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cowboy ✘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70" name="Google Shape;570;p22"/>
          <p:cNvSpPr txBox="1"/>
          <p:nvPr/>
        </p:nvSpPr>
        <p:spPr>
          <a:xfrm>
            <a:off x="3269156" y="6480496"/>
            <a:ext cx="3951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0.48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71" name="Google Shape;571;p22"/>
          <p:cNvSpPr txBox="1"/>
          <p:nvPr/>
        </p:nvSpPr>
        <p:spPr>
          <a:xfrm>
            <a:off x="3269154" y="7404536"/>
            <a:ext cx="3951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0.12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72" name="Google Shape;572;p22"/>
          <p:cNvSpPr txBox="1"/>
          <p:nvPr/>
        </p:nvSpPr>
        <p:spPr>
          <a:xfrm>
            <a:off x="2567608" y="7869866"/>
            <a:ext cx="701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dragon ✘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cowboy ✘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73" name="Google Shape;573;p22"/>
          <p:cNvSpPr txBox="1"/>
          <p:nvPr/>
        </p:nvSpPr>
        <p:spPr>
          <a:xfrm>
            <a:off x="2567608" y="7455314"/>
            <a:ext cx="701700" cy="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dragon ✘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cowboy ✔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74" name="Google Shape;574;p22"/>
          <p:cNvSpPr txBox="1"/>
          <p:nvPr/>
        </p:nvSpPr>
        <p:spPr>
          <a:xfrm>
            <a:off x="404747" y="7487464"/>
            <a:ext cx="3951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75" name="Google Shape;575;p22"/>
          <p:cNvSpPr txBox="1"/>
          <p:nvPr/>
        </p:nvSpPr>
        <p:spPr>
          <a:xfrm>
            <a:off x="1499448" y="6412476"/>
            <a:ext cx="395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76" name="Google Shape;576;p22"/>
          <p:cNvSpPr txBox="1"/>
          <p:nvPr/>
        </p:nvSpPr>
        <p:spPr>
          <a:xfrm>
            <a:off x="1499448" y="6916129"/>
            <a:ext cx="395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77" name="Google Shape;577;p22"/>
          <p:cNvSpPr txBox="1"/>
          <p:nvPr/>
        </p:nvSpPr>
        <p:spPr>
          <a:xfrm>
            <a:off x="1499448" y="7446104"/>
            <a:ext cx="395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78" name="Google Shape;578;p22"/>
          <p:cNvSpPr txBox="1"/>
          <p:nvPr/>
        </p:nvSpPr>
        <p:spPr>
          <a:xfrm>
            <a:off x="1499448" y="7949757"/>
            <a:ext cx="395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79" name="Google Shape;579;p22"/>
          <p:cNvSpPr txBox="1"/>
          <p:nvPr/>
        </p:nvSpPr>
        <p:spPr>
          <a:xfrm>
            <a:off x="1982498" y="7436988"/>
            <a:ext cx="574800" cy="1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cowboy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hits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80" name="Google Shape;580;p22"/>
          <p:cNvSpPr txBox="1"/>
          <p:nvPr/>
        </p:nvSpPr>
        <p:spPr>
          <a:xfrm>
            <a:off x="1982497" y="7974204"/>
            <a:ext cx="574800" cy="1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cowboy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misses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581" name="Google Shape;581;p22"/>
          <p:cNvGrpSpPr/>
          <p:nvPr/>
        </p:nvGrpSpPr>
        <p:grpSpPr>
          <a:xfrm>
            <a:off x="5932609" y="6355960"/>
            <a:ext cx="1123251" cy="1763689"/>
            <a:chOff x="7887300" y="1898378"/>
            <a:chExt cx="932700" cy="2534400"/>
          </a:xfrm>
        </p:grpSpPr>
        <p:sp>
          <p:nvSpPr>
            <p:cNvPr id="582" name="Google Shape;582;p22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583" name="Google Shape;583;p22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2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22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86" name="Google Shape;586;p22"/>
          <p:cNvGrpSpPr/>
          <p:nvPr/>
        </p:nvGrpSpPr>
        <p:grpSpPr>
          <a:xfrm>
            <a:off x="3900560" y="6724200"/>
            <a:ext cx="395143" cy="1027494"/>
            <a:chOff x="354975" y="1421050"/>
            <a:chExt cx="2175900" cy="1431250"/>
          </a:xfrm>
        </p:grpSpPr>
        <p:cxnSp>
          <p:nvCxnSpPr>
            <p:cNvPr id="587" name="Google Shape;587;p2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2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89" name="Google Shape;589;p22"/>
          <p:cNvSpPr txBox="1"/>
          <p:nvPr/>
        </p:nvSpPr>
        <p:spPr>
          <a:xfrm>
            <a:off x="4311924" y="7651637"/>
            <a:ext cx="5439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unicorn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misses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90" name="Google Shape;590;p22"/>
          <p:cNvSpPr txBox="1"/>
          <p:nvPr/>
        </p:nvSpPr>
        <p:spPr>
          <a:xfrm>
            <a:off x="5357574" y="6412483"/>
            <a:ext cx="574800" cy="1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cowboy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hits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591" name="Google Shape;591;p22"/>
          <p:cNvGrpSpPr/>
          <p:nvPr/>
        </p:nvGrpSpPr>
        <p:grpSpPr>
          <a:xfrm>
            <a:off x="4855598" y="6463996"/>
            <a:ext cx="479568" cy="538150"/>
            <a:chOff x="354975" y="1421050"/>
            <a:chExt cx="2175900" cy="1431250"/>
          </a:xfrm>
        </p:grpSpPr>
        <p:cxnSp>
          <p:nvCxnSpPr>
            <p:cNvPr id="592" name="Google Shape;592;p2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2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4" name="Google Shape;594;p22"/>
          <p:cNvSpPr txBox="1"/>
          <p:nvPr/>
        </p:nvSpPr>
        <p:spPr>
          <a:xfrm>
            <a:off x="5357573" y="6949635"/>
            <a:ext cx="574800" cy="1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cowboy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misses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595" name="Google Shape;595;p22"/>
          <p:cNvGrpSpPr/>
          <p:nvPr/>
        </p:nvGrpSpPr>
        <p:grpSpPr>
          <a:xfrm>
            <a:off x="4855598" y="7499869"/>
            <a:ext cx="479568" cy="538150"/>
            <a:chOff x="354975" y="1421050"/>
            <a:chExt cx="2175900" cy="1431250"/>
          </a:xfrm>
        </p:grpSpPr>
        <p:cxnSp>
          <p:nvCxnSpPr>
            <p:cNvPr id="596" name="Google Shape;596;p2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7" name="Google Shape;597;p2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8" name="Google Shape;598;p22"/>
          <p:cNvSpPr txBox="1"/>
          <p:nvPr/>
        </p:nvSpPr>
        <p:spPr>
          <a:xfrm>
            <a:off x="3780000" y="6802521"/>
            <a:ext cx="3951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99" name="Google Shape;599;p22"/>
          <p:cNvSpPr txBox="1"/>
          <p:nvPr/>
        </p:nvSpPr>
        <p:spPr>
          <a:xfrm>
            <a:off x="6644086" y="6917870"/>
            <a:ext cx="3951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0.45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00" name="Google Shape;600;p22"/>
          <p:cNvSpPr txBox="1"/>
          <p:nvPr/>
        </p:nvSpPr>
        <p:spPr>
          <a:xfrm>
            <a:off x="6644086" y="7818941"/>
            <a:ext cx="3951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01" name="Google Shape;601;p22"/>
          <p:cNvSpPr txBox="1"/>
          <p:nvPr/>
        </p:nvSpPr>
        <p:spPr>
          <a:xfrm>
            <a:off x="5942618" y="6523636"/>
            <a:ext cx="701400" cy="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unicorn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✔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cowboy ✔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02" name="Google Shape;602;p22"/>
          <p:cNvSpPr txBox="1"/>
          <p:nvPr/>
        </p:nvSpPr>
        <p:spPr>
          <a:xfrm>
            <a:off x="5942618" y="6968643"/>
            <a:ext cx="701400" cy="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unicorn ✔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cowboy ✘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03" name="Google Shape;603;p22"/>
          <p:cNvSpPr txBox="1"/>
          <p:nvPr/>
        </p:nvSpPr>
        <p:spPr>
          <a:xfrm>
            <a:off x="6644087" y="6480493"/>
            <a:ext cx="3951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04" name="Google Shape;604;p22"/>
          <p:cNvSpPr txBox="1"/>
          <p:nvPr/>
        </p:nvSpPr>
        <p:spPr>
          <a:xfrm>
            <a:off x="6644086" y="7404424"/>
            <a:ext cx="3951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05" name="Google Shape;605;p22"/>
          <p:cNvSpPr txBox="1"/>
          <p:nvPr/>
        </p:nvSpPr>
        <p:spPr>
          <a:xfrm>
            <a:off x="3780000" y="7487342"/>
            <a:ext cx="3951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06" name="Google Shape;606;p22"/>
          <p:cNvSpPr txBox="1"/>
          <p:nvPr/>
        </p:nvSpPr>
        <p:spPr>
          <a:xfrm>
            <a:off x="4874578" y="6412481"/>
            <a:ext cx="395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07" name="Google Shape;607;p22"/>
          <p:cNvSpPr txBox="1"/>
          <p:nvPr/>
        </p:nvSpPr>
        <p:spPr>
          <a:xfrm>
            <a:off x="4837176" y="6916075"/>
            <a:ext cx="395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08" name="Google Shape;608;p22"/>
          <p:cNvSpPr txBox="1"/>
          <p:nvPr/>
        </p:nvSpPr>
        <p:spPr>
          <a:xfrm>
            <a:off x="4874578" y="7445987"/>
            <a:ext cx="395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09" name="Google Shape;609;p22"/>
          <p:cNvSpPr txBox="1"/>
          <p:nvPr/>
        </p:nvSpPr>
        <p:spPr>
          <a:xfrm>
            <a:off x="4837176" y="7949581"/>
            <a:ext cx="395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10" name="Google Shape;610;p22"/>
          <p:cNvSpPr txBox="1"/>
          <p:nvPr/>
        </p:nvSpPr>
        <p:spPr>
          <a:xfrm>
            <a:off x="4144030" y="8262875"/>
            <a:ext cx="29481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probability that the unicorn hits or the cowboy misses is: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0.15 + 0.45 + 0.3 = 0.9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11" name="Google Shape;611;p22"/>
          <p:cNvSpPr txBox="1"/>
          <p:nvPr/>
        </p:nvSpPr>
        <p:spPr>
          <a:xfrm>
            <a:off x="5357574" y="7436872"/>
            <a:ext cx="574800" cy="1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cowboy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hits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12" name="Google Shape;612;p22"/>
          <p:cNvSpPr txBox="1"/>
          <p:nvPr/>
        </p:nvSpPr>
        <p:spPr>
          <a:xfrm>
            <a:off x="5357573" y="7974024"/>
            <a:ext cx="574800" cy="1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cowboy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misses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13" name="Google Shape;613;p22"/>
          <p:cNvSpPr txBox="1"/>
          <p:nvPr/>
        </p:nvSpPr>
        <p:spPr>
          <a:xfrm>
            <a:off x="4311924" y="6625951"/>
            <a:ext cx="5439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unicorn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hits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14" name="Google Shape;614;p22"/>
          <p:cNvSpPr txBox="1"/>
          <p:nvPr/>
        </p:nvSpPr>
        <p:spPr>
          <a:xfrm>
            <a:off x="5942618" y="7455196"/>
            <a:ext cx="701400" cy="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unicorn ✘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cowboy ✔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15" name="Google Shape;615;p22"/>
          <p:cNvSpPr txBox="1"/>
          <p:nvPr/>
        </p:nvSpPr>
        <p:spPr>
          <a:xfrm>
            <a:off x="5942618" y="7869699"/>
            <a:ext cx="701400" cy="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unicorn ✘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cowboy ✘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16" name="Google Shape;616;p22"/>
          <p:cNvSpPr txBox="1"/>
          <p:nvPr/>
        </p:nvSpPr>
        <p:spPr>
          <a:xfrm>
            <a:off x="482400" y="8995950"/>
            <a:ext cx="6624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Lucas should use the unicorn to scare away the cowboy.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617" name="Google Shape;617;p22"/>
          <p:cNvGrpSpPr/>
          <p:nvPr/>
        </p:nvGrpSpPr>
        <p:grpSpPr>
          <a:xfrm>
            <a:off x="5493574" y="4861995"/>
            <a:ext cx="171860" cy="163394"/>
            <a:chOff x="5653584" y="3082069"/>
            <a:chExt cx="609000" cy="579000"/>
          </a:xfrm>
        </p:grpSpPr>
        <p:sp>
          <p:nvSpPr>
            <p:cNvPr id="618" name="Google Shape;618;p2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19" name="Google Shape;619;p2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20" name="Google Shape;620;p2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22"/>
          <p:cNvGrpSpPr/>
          <p:nvPr/>
        </p:nvGrpSpPr>
        <p:grpSpPr>
          <a:xfrm>
            <a:off x="5874574" y="4938195"/>
            <a:ext cx="171860" cy="163394"/>
            <a:chOff x="5653584" y="3082069"/>
            <a:chExt cx="609000" cy="579000"/>
          </a:xfrm>
        </p:grpSpPr>
        <p:sp>
          <p:nvSpPr>
            <p:cNvPr id="622" name="Google Shape;622;p2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23" name="Google Shape;623;p2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24" name="Google Shape;624;p2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5" name="Google Shape;625;p22"/>
          <p:cNvGrpSpPr/>
          <p:nvPr/>
        </p:nvGrpSpPr>
        <p:grpSpPr>
          <a:xfrm>
            <a:off x="6026974" y="5166795"/>
            <a:ext cx="171860" cy="163394"/>
            <a:chOff x="5653584" y="3082069"/>
            <a:chExt cx="609000" cy="579000"/>
          </a:xfrm>
        </p:grpSpPr>
        <p:sp>
          <p:nvSpPr>
            <p:cNvPr id="626" name="Google Shape;626;p2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27" name="Google Shape;627;p2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28" name="Google Shape;628;p2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9" name="Google Shape;629;p22"/>
          <p:cNvGrpSpPr/>
          <p:nvPr/>
        </p:nvGrpSpPr>
        <p:grpSpPr>
          <a:xfrm>
            <a:off x="6179374" y="5014395"/>
            <a:ext cx="171860" cy="163394"/>
            <a:chOff x="5653584" y="3082069"/>
            <a:chExt cx="609000" cy="579000"/>
          </a:xfrm>
        </p:grpSpPr>
        <p:sp>
          <p:nvSpPr>
            <p:cNvPr id="630" name="Google Shape;630;p2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31" name="Google Shape;631;p2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32" name="Google Shape;632;p2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3" name="Google Shape;633;p22"/>
          <p:cNvGrpSpPr/>
          <p:nvPr/>
        </p:nvGrpSpPr>
        <p:grpSpPr>
          <a:xfrm rot="-10224957">
            <a:off x="5366848" y="3765933"/>
            <a:ext cx="968245" cy="38077"/>
            <a:chOff x="3225150" y="2619875"/>
            <a:chExt cx="2085475" cy="288900"/>
          </a:xfrm>
        </p:grpSpPr>
        <p:sp>
          <p:nvSpPr>
            <p:cNvPr id="634" name="Google Shape;634;p22"/>
            <p:cNvSpPr/>
            <p:nvPr/>
          </p:nvSpPr>
          <p:spPr>
            <a:xfrm>
              <a:off x="3225150" y="2619875"/>
              <a:ext cx="2085300" cy="288900"/>
            </a:xfrm>
            <a:prstGeom prst="roundRect">
              <a:avLst>
                <a:gd fmla="val 50000" name="adj"/>
              </a:avLst>
            </a:pr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35" name="Google Shape;635;p22"/>
            <p:cNvSpPr/>
            <p:nvPr/>
          </p:nvSpPr>
          <p:spPr>
            <a:xfrm>
              <a:off x="3253350" y="2648098"/>
              <a:ext cx="232500" cy="232500"/>
            </a:xfrm>
            <a:prstGeom prst="ellipse">
              <a:avLst/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36" name="Google Shape;636;p22"/>
            <p:cNvSpPr/>
            <p:nvPr/>
          </p:nvSpPr>
          <p:spPr>
            <a:xfrm>
              <a:off x="3285125" y="2679874"/>
              <a:ext cx="168900" cy="168900"/>
            </a:xfrm>
            <a:prstGeom prst="ellipse">
              <a:avLst/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37" name="Google Shape;637;p22"/>
            <p:cNvSpPr/>
            <p:nvPr/>
          </p:nvSpPr>
          <p:spPr>
            <a:xfrm>
              <a:off x="3369625" y="2648100"/>
              <a:ext cx="1941000" cy="2325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38" name="Google Shape;638;p22"/>
            <p:cNvSpPr/>
            <p:nvPr/>
          </p:nvSpPr>
          <p:spPr>
            <a:xfrm>
              <a:off x="3369508" y="2679875"/>
              <a:ext cx="1941000" cy="168900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