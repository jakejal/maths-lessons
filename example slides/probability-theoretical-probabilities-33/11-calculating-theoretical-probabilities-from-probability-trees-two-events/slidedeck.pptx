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6870e9cb8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6870e9cb8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6870e9cb8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6870e9cb8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6870e9cb8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6870e9cb8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6870e9cb8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6870e9cb8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6870e9cb8d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6870e9cb8d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6870e9cb8d_0_1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6870e9cb8d_0_1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6870e9cb8d_0_1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6870e9cb8d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6870e9cb8d_0_1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6870e9cb8d_0_1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6870e9cb8d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6870e9cb8d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6870e9cb8d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6870e9cb8d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6870e9cb8d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6870e9cb8d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6870e9cb8d_0_1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6870e9cb8d_0_1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6870e9cb8d_0_1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6870e9cb8d_0_1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6870e9cb8d_0_1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6870e9cb8d_0_1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26870e9cb8d_0_2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26870e9cb8d_0_2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6870e9cb8d_0_2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6870e9cb8d_0_2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6870e9cb8d_0_2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6870e9cb8d_0_2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6870e9cb8d_0_2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6870e9cb8d_0_2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6870e9cb8d_0_2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6870e9cb8d_0_2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6870e9cb8d_0_2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6870e9cb8d_0_2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26870e9cb8d_0_2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6870e9cb8d_0_2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26870e9cb8d_0_2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8" name="Google Shape;1698;g26870e9cb8d_0_2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6870e9cb8d_0_2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6870e9cb8d_0_2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26870e9cb8d_0_3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26870e9cb8d_0_3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26870e9cb8d_0_3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6870e9cb8d_0_3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2ba406de574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2ba406de574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6870e9cb8d_0_3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6870e9cb8d_0_3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26870e9cb8d_0_3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26870e9cb8d_0_3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26870e9cb8d_0_3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26870e9cb8d_0_3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26870e9cb8d_0_3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26870e9cb8d_0_3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g26870e9cb8d_0_3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2" name="Google Shape;2232;g26870e9cb8d_0_3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26870e9cb8d_0_3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26870e9cb8d_0_3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26870e9cb8d_0_3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26870e9cb8d_0_3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g26870e9cb8d_0_3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2" name="Google Shape;2382;g26870e9cb8d_0_3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g26870e9cb8d_0_3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9" name="Google Shape;2409;g26870e9cb8d_0_3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g26870e9cb8d_0_3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3" name="Google Shape;2453;g26870e9cb8d_0_3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g26870e9cb8d_0_3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9" name="Google Shape;2499;g26870e9cb8d_0_3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g26870e9cb8d_0_4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4" name="Google Shape;2544;g26870e9cb8d_0_4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g26870e9cb8d_0_4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8" name="Google Shape;2588;g26870e9cb8d_0_4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26870e9cb8d_0_4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26870e9cb8d_0_4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2" name="Shape 2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" name="Google Shape;2713;g26870e9cb8d_0_4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4" name="Google Shape;2714;g26870e9cb8d_0_4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0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g26870e9cb8d_0_4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2" name="Google Shape;2762;g26870e9cb8d_0_4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26870e9cb8d_0_4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26870e9cb8d_0_4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2.png"/><Relationship Id="rId4" Type="http://schemas.openxmlformats.org/officeDocument/2006/relationships/image" Target="../media/image91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34.png"/><Relationship Id="rId7" Type="http://schemas.openxmlformats.org/officeDocument/2006/relationships/image" Target="../media/image21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1.png"/><Relationship Id="rId4" Type="http://schemas.openxmlformats.org/officeDocument/2006/relationships/image" Target="../media/image32.png"/><Relationship Id="rId11" Type="http://schemas.openxmlformats.org/officeDocument/2006/relationships/image" Target="../media/image22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34.png"/><Relationship Id="rId8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61.png"/><Relationship Id="rId7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Relationship Id="rId5" Type="http://schemas.openxmlformats.org/officeDocument/2006/relationships/image" Target="../media/image62.png"/><Relationship Id="rId6" Type="http://schemas.openxmlformats.org/officeDocument/2006/relationships/image" Target="../media/image53.png"/><Relationship Id="rId7" Type="http://schemas.openxmlformats.org/officeDocument/2006/relationships/image" Target="../media/image52.png"/><Relationship Id="rId8" Type="http://schemas.openxmlformats.org/officeDocument/2006/relationships/image" Target="../media/image58.png"/><Relationship Id="rId10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61.png"/><Relationship Id="rId7" Type="http://schemas.openxmlformats.org/officeDocument/2006/relationships/image" Target="../media/image52.png"/><Relationship Id="rId8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61.png"/><Relationship Id="rId9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65.png"/><Relationship Id="rId7" Type="http://schemas.openxmlformats.org/officeDocument/2006/relationships/image" Target="../media/image54.png"/><Relationship Id="rId8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63.png"/><Relationship Id="rId9" Type="http://schemas.openxmlformats.org/officeDocument/2006/relationships/image" Target="../media/image71.png"/><Relationship Id="rId5" Type="http://schemas.openxmlformats.org/officeDocument/2006/relationships/image" Target="../media/image64.png"/><Relationship Id="rId6" Type="http://schemas.openxmlformats.org/officeDocument/2006/relationships/image" Target="../media/image67.png"/><Relationship Id="rId7" Type="http://schemas.openxmlformats.org/officeDocument/2006/relationships/image" Target="../media/image72.png"/><Relationship Id="rId8" Type="http://schemas.openxmlformats.org/officeDocument/2006/relationships/image" Target="../media/image6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7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9" Type="http://schemas.openxmlformats.org/officeDocument/2006/relationships/image" Target="../media/image80.png"/><Relationship Id="rId5" Type="http://schemas.openxmlformats.org/officeDocument/2006/relationships/image" Target="../media/image74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5" Type="http://schemas.openxmlformats.org/officeDocument/2006/relationships/image" Target="../media/image84.png"/><Relationship Id="rId6" Type="http://schemas.openxmlformats.org/officeDocument/2006/relationships/image" Target="../media/image68.png"/><Relationship Id="rId7" Type="http://schemas.openxmlformats.org/officeDocument/2006/relationships/image" Target="../media/image70.png"/><Relationship Id="rId8" Type="http://schemas.openxmlformats.org/officeDocument/2006/relationships/image" Target="../media/image73.png"/><Relationship Id="rId10" Type="http://schemas.openxmlformats.org/officeDocument/2006/relationships/image" Target="../media/image8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7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5" Type="http://schemas.openxmlformats.org/officeDocument/2006/relationships/image" Target="../media/image5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95.png"/><Relationship Id="rId11" Type="http://schemas.openxmlformats.org/officeDocument/2006/relationships/image" Target="../media/image97.png"/><Relationship Id="rId10" Type="http://schemas.openxmlformats.org/officeDocument/2006/relationships/image" Target="../media/image93.png"/><Relationship Id="rId13" Type="http://schemas.openxmlformats.org/officeDocument/2006/relationships/image" Target="../media/image98.png"/><Relationship Id="rId12" Type="http://schemas.openxmlformats.org/officeDocument/2006/relationships/image" Target="../media/image9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9" Type="http://schemas.openxmlformats.org/officeDocument/2006/relationships/image" Target="../media/image80.png"/><Relationship Id="rId5" Type="http://schemas.openxmlformats.org/officeDocument/2006/relationships/image" Target="../media/image74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9" Type="http://schemas.openxmlformats.org/officeDocument/2006/relationships/image" Target="../media/image80.png"/><Relationship Id="rId5" Type="http://schemas.openxmlformats.org/officeDocument/2006/relationships/image" Target="../media/image74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5.png"/><Relationship Id="rId11" Type="http://schemas.openxmlformats.org/officeDocument/2006/relationships/image" Target="../media/image102.png"/><Relationship Id="rId10" Type="http://schemas.openxmlformats.org/officeDocument/2006/relationships/image" Target="../media/image99.png"/><Relationship Id="rId13" Type="http://schemas.openxmlformats.org/officeDocument/2006/relationships/image" Target="../media/image103.png"/><Relationship Id="rId12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9" Type="http://schemas.openxmlformats.org/officeDocument/2006/relationships/image" Target="../media/image80.png"/><Relationship Id="rId5" Type="http://schemas.openxmlformats.org/officeDocument/2006/relationships/image" Target="../media/image74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5.png"/><Relationship Id="rId10" Type="http://schemas.openxmlformats.org/officeDocument/2006/relationships/image" Target="../media/image9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5.png"/><Relationship Id="rId4" Type="http://schemas.openxmlformats.org/officeDocument/2006/relationships/image" Target="../media/image101.png"/><Relationship Id="rId5" Type="http://schemas.openxmlformats.org/officeDocument/2006/relationships/image" Target="../media/image107.png"/><Relationship Id="rId6" Type="http://schemas.openxmlformats.org/officeDocument/2006/relationships/image" Target="../media/image104.png"/><Relationship Id="rId7" Type="http://schemas.openxmlformats.org/officeDocument/2006/relationships/image" Target="../media/image10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1.png"/><Relationship Id="rId4" Type="http://schemas.openxmlformats.org/officeDocument/2006/relationships/image" Target="../media/image107.png"/><Relationship Id="rId5" Type="http://schemas.openxmlformats.org/officeDocument/2006/relationships/image" Target="../media/image105.png"/><Relationship Id="rId6" Type="http://schemas.openxmlformats.org/officeDocument/2006/relationships/image" Target="../media/image104.png"/><Relationship Id="rId7" Type="http://schemas.openxmlformats.org/officeDocument/2006/relationships/image" Target="../media/image10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7.png"/><Relationship Id="rId4" Type="http://schemas.openxmlformats.org/officeDocument/2006/relationships/image" Target="../media/image105.png"/><Relationship Id="rId5" Type="http://schemas.openxmlformats.org/officeDocument/2006/relationships/image" Target="../media/image101.png"/><Relationship Id="rId6" Type="http://schemas.openxmlformats.org/officeDocument/2006/relationships/image" Target="../media/image106.png"/><Relationship Id="rId7" Type="http://schemas.openxmlformats.org/officeDocument/2006/relationships/image" Target="../media/image10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3.png"/><Relationship Id="rId4" Type="http://schemas.openxmlformats.org/officeDocument/2006/relationships/image" Target="../media/image107.png"/><Relationship Id="rId5" Type="http://schemas.openxmlformats.org/officeDocument/2006/relationships/image" Target="../media/image105.png"/><Relationship Id="rId6" Type="http://schemas.openxmlformats.org/officeDocument/2006/relationships/image" Target="../media/image101.png"/><Relationship Id="rId7" Type="http://schemas.openxmlformats.org/officeDocument/2006/relationships/image" Target="../media/image106.png"/><Relationship Id="rId8" Type="http://schemas.openxmlformats.org/officeDocument/2006/relationships/image" Target="../media/image10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1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5.png"/><Relationship Id="rId7" Type="http://schemas.openxmlformats.org/officeDocument/2006/relationships/image" Target="../media/image10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5.png"/><Relationship Id="rId4" Type="http://schemas.openxmlformats.org/officeDocument/2006/relationships/image" Target="../media/image110.png"/><Relationship Id="rId5" Type="http://schemas.openxmlformats.org/officeDocument/2006/relationships/image" Target="../media/image101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9.png"/><Relationship Id="rId4" Type="http://schemas.openxmlformats.org/officeDocument/2006/relationships/image" Target="../media/image1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109.png"/><Relationship Id="rId6" Type="http://schemas.openxmlformats.org/officeDocument/2006/relationships/image" Target="../media/image114.png"/><Relationship Id="rId7" Type="http://schemas.openxmlformats.org/officeDocument/2006/relationships/image" Target="../media/image10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and use theoretical probabilities for combined events using probability trees (2 events).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810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outcome is a result of a trial (e.g. getting heads when flipping a coin once or getting two heads when flipping a coin twice).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event is a subset of a sample space. i.e. An outcome or set of outcomes that may occur from a trial (e.g. flipping a coin twice and getting the same result each time).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branch of a probability tree shows a possible outcome from an event or from a stage of a trial, along with the probability of that outcome happening.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sample space is all the possible outcomes of a trial. A sample space diagram is a systematic way of producing a sample space.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768" name="Google Shape;768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769" name="Google Shape;769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  <p:pic>
        <p:nvPicPr>
          <p:cNvPr id="770" name="Google Shape;7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7" y="20802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/>
          <p:nvPr/>
        </p:nvSpPr>
        <p:spPr>
          <a:xfrm>
            <a:off x="3916050" y="716125"/>
            <a:ext cx="1148400" cy="28137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777" name="Google Shape;777;p67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7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7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1" name="Google Shape;781;p67"/>
          <p:cNvGrpSpPr/>
          <p:nvPr/>
        </p:nvGrpSpPr>
        <p:grpSpPr>
          <a:xfrm>
            <a:off x="348313" y="1421050"/>
            <a:ext cx="727403" cy="1431250"/>
            <a:chOff x="354975" y="1421050"/>
            <a:chExt cx="2175900" cy="1431250"/>
          </a:xfrm>
        </p:grpSpPr>
        <p:cxnSp>
          <p:nvCxnSpPr>
            <p:cNvPr id="782" name="Google Shape;782;p67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67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4" name="Google Shape;784;p67"/>
          <p:cNvGrpSpPr/>
          <p:nvPr/>
        </p:nvGrpSpPr>
        <p:grpSpPr>
          <a:xfrm>
            <a:off x="1423831" y="974229"/>
            <a:ext cx="1657601" cy="2359634"/>
            <a:chOff x="2939073" y="974232"/>
            <a:chExt cx="2175900" cy="2359634"/>
          </a:xfrm>
        </p:grpSpPr>
        <p:cxnSp>
          <p:nvCxnSpPr>
            <p:cNvPr id="785" name="Google Shape;785;p67"/>
            <p:cNvCxnSpPr/>
            <p:nvPr/>
          </p:nvCxnSpPr>
          <p:spPr>
            <a:xfrm>
              <a:off x="2939073" y="1425000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67"/>
            <p:cNvCxnSpPr/>
            <p:nvPr/>
          </p:nvCxnSpPr>
          <p:spPr>
            <a:xfrm flipH="1" rot="10800000">
              <a:off x="2939073" y="974232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67"/>
            <p:cNvCxnSpPr/>
            <p:nvPr/>
          </p:nvCxnSpPr>
          <p:spPr>
            <a:xfrm>
              <a:off x="2939073" y="2887765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67"/>
            <p:cNvCxnSpPr/>
            <p:nvPr/>
          </p:nvCxnSpPr>
          <p:spPr>
            <a:xfrm flipH="1" rot="10800000">
              <a:off x="2939073" y="2436997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9" name="Google Shape;789;p67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7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7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7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7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7"/>
          <p:cNvSpPr txBox="1"/>
          <p:nvPr/>
        </p:nvSpPr>
        <p:spPr>
          <a:xfrm>
            <a:off x="5794626" y="888554"/>
            <a:ext cx="25773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6" name="Google Shape;796;p67"/>
          <p:cNvGrpSpPr/>
          <p:nvPr/>
        </p:nvGrpSpPr>
        <p:grpSpPr>
          <a:xfrm>
            <a:off x="132443" y="3115995"/>
            <a:ext cx="1644841" cy="1704397"/>
            <a:chOff x="145325" y="463995"/>
            <a:chExt cx="1644841" cy="1704397"/>
          </a:xfrm>
        </p:grpSpPr>
        <p:grpSp>
          <p:nvGrpSpPr>
            <p:cNvPr id="797" name="Google Shape;797;p67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798" name="Google Shape;798;p67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799" name="Google Shape;799;p67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67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67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67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67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67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67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67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07" name="Google Shape;807;p67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808" name="Google Shape;808;p67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809" name="Google Shape;809;p67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10" name="Google Shape;810;p67"/>
              <p:cNvSpPr txBox="1"/>
              <p:nvPr/>
            </p:nvSpPr>
            <p:spPr>
              <a:xfrm flipH="1">
                <a:off x="1167734" y="94768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1" name="Google Shape;811;p67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2" name="Google Shape;812;p67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3" name="Google Shape;813;p67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4" name="Google Shape;814;p67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15" name="Google Shape;815;p67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816" name="Google Shape;816;p67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67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8" name="Google Shape;81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729" y="3845900"/>
            <a:ext cx="840826" cy="4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67"/>
          <p:cNvSpPr txBox="1"/>
          <p:nvPr/>
        </p:nvSpPr>
        <p:spPr>
          <a:xfrm>
            <a:off x="1724692" y="4266300"/>
            <a:ext cx="164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0" name="Google Shape;820;p67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821" name="Google Shape;821;p67" title="five eigh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822" name="Google Shape;822;p67" title="three eigh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3" name="Google Shape;823;p67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24" name="Google Shape;824;p67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25" name="Google Shape;825;p67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6" name="Google Shape;826;p67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27" name="Google Shape;827;p67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28" name="Google Shape;828;p67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9" name="Google Shape;829;p67"/>
          <p:cNvSpPr txBox="1"/>
          <p:nvPr/>
        </p:nvSpPr>
        <p:spPr>
          <a:xfrm>
            <a:off x="5331300" y="930425"/>
            <a:ext cx="34887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is a probability tree for a 2 stage trial.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7"/>
          <p:cNvSpPr txBox="1"/>
          <p:nvPr/>
        </p:nvSpPr>
        <p:spPr>
          <a:xfrm>
            <a:off x="5492525" y="2918100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we flip the coin on the second trial.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7"/>
          <p:cNvSpPr txBox="1"/>
          <p:nvPr/>
        </p:nvSpPr>
        <p:spPr>
          <a:xfrm>
            <a:off x="5371925" y="1915325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spin the spinner on the first trial.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68"/>
          <p:cNvGrpSpPr/>
          <p:nvPr/>
        </p:nvGrpSpPr>
        <p:grpSpPr>
          <a:xfrm>
            <a:off x="324000" y="1125250"/>
            <a:ext cx="3746700" cy="3613633"/>
            <a:chOff x="324000" y="1582450"/>
            <a:chExt cx="3746700" cy="3613633"/>
          </a:xfrm>
        </p:grpSpPr>
        <p:sp>
          <p:nvSpPr>
            <p:cNvPr id="837" name="Google Shape;837;p68"/>
            <p:cNvSpPr txBox="1"/>
            <p:nvPr/>
          </p:nvSpPr>
          <p:spPr>
            <a:xfrm>
              <a:off x="324000" y="4396283"/>
              <a:ext cx="37467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know the probabilities of each outcome in the sample space for stage 1 of our trial.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68"/>
            <p:cNvSpPr/>
            <p:nvPr/>
          </p:nvSpPr>
          <p:spPr>
            <a:xfrm>
              <a:off x="324000" y="1582450"/>
              <a:ext cx="1050900" cy="19830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9" name="Google Shape;839;p68"/>
            <p:cNvCxnSpPr>
              <a:stCxn id="838" idx="2"/>
            </p:cNvCxnSpPr>
            <p:nvPr/>
          </p:nvCxnSpPr>
          <p:spPr>
            <a:xfrm>
              <a:off x="849450" y="3565450"/>
              <a:ext cx="0" cy="8250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0" name="Google Shape;840;p68"/>
          <p:cNvSpPr/>
          <p:nvPr/>
        </p:nvSpPr>
        <p:spPr>
          <a:xfrm>
            <a:off x="3916050" y="716125"/>
            <a:ext cx="1148400" cy="28137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842" name="Google Shape;842;p68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8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68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68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6" name="Google Shape;846;p68"/>
          <p:cNvGrpSpPr/>
          <p:nvPr/>
        </p:nvGrpSpPr>
        <p:grpSpPr>
          <a:xfrm>
            <a:off x="348313" y="1421050"/>
            <a:ext cx="727403" cy="1431250"/>
            <a:chOff x="354975" y="1421050"/>
            <a:chExt cx="2175900" cy="1431250"/>
          </a:xfrm>
        </p:grpSpPr>
        <p:cxnSp>
          <p:nvCxnSpPr>
            <p:cNvPr id="847" name="Google Shape;847;p68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68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9" name="Google Shape;849;p68"/>
          <p:cNvGrpSpPr/>
          <p:nvPr/>
        </p:nvGrpSpPr>
        <p:grpSpPr>
          <a:xfrm>
            <a:off x="1423831" y="974229"/>
            <a:ext cx="1657601" cy="2359634"/>
            <a:chOff x="2939073" y="974232"/>
            <a:chExt cx="2175900" cy="2359634"/>
          </a:xfrm>
        </p:grpSpPr>
        <p:cxnSp>
          <p:nvCxnSpPr>
            <p:cNvPr id="850" name="Google Shape;850;p68"/>
            <p:cNvCxnSpPr/>
            <p:nvPr/>
          </p:nvCxnSpPr>
          <p:spPr>
            <a:xfrm>
              <a:off x="2939073" y="1425000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68"/>
            <p:cNvCxnSpPr/>
            <p:nvPr/>
          </p:nvCxnSpPr>
          <p:spPr>
            <a:xfrm flipH="1" rot="10800000">
              <a:off x="2939073" y="974232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68"/>
            <p:cNvCxnSpPr/>
            <p:nvPr/>
          </p:nvCxnSpPr>
          <p:spPr>
            <a:xfrm>
              <a:off x="2939073" y="2887765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68"/>
            <p:cNvCxnSpPr/>
            <p:nvPr/>
          </p:nvCxnSpPr>
          <p:spPr>
            <a:xfrm flipH="1" rot="10800000">
              <a:off x="2939073" y="2436997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4" name="Google Shape;854;p68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8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68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68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68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68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0" name="Google Shape;860;p68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861" name="Google Shape;861;p68" title="five eigh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862" name="Google Shape;862;p68" title="three eigh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3" name="Google Shape;863;p68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64" name="Google Shape;864;p68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65" name="Google Shape;865;p68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6" name="Google Shape;866;p68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67" name="Google Shape;867;p68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868" name="Google Shape;868;p68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9"/>
          <p:cNvSpPr/>
          <p:nvPr/>
        </p:nvSpPr>
        <p:spPr>
          <a:xfrm>
            <a:off x="1376075" y="680750"/>
            <a:ext cx="2540100" cy="3099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875" name="Google Shape;875;p69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69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69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69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9" name="Google Shape;879;p69"/>
          <p:cNvGrpSpPr/>
          <p:nvPr/>
        </p:nvGrpSpPr>
        <p:grpSpPr>
          <a:xfrm>
            <a:off x="348313" y="1421050"/>
            <a:ext cx="727403" cy="1431250"/>
            <a:chOff x="354975" y="1421050"/>
            <a:chExt cx="2175900" cy="1431250"/>
          </a:xfrm>
        </p:grpSpPr>
        <p:cxnSp>
          <p:nvCxnSpPr>
            <p:cNvPr id="880" name="Google Shape;880;p69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1" name="Google Shape;881;p69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82" name="Google Shape;882;p69"/>
          <p:cNvGrpSpPr/>
          <p:nvPr/>
        </p:nvGrpSpPr>
        <p:grpSpPr>
          <a:xfrm>
            <a:off x="1423831" y="974229"/>
            <a:ext cx="1657601" cy="2359634"/>
            <a:chOff x="2939073" y="974232"/>
            <a:chExt cx="2175900" cy="2359634"/>
          </a:xfrm>
        </p:grpSpPr>
        <p:cxnSp>
          <p:nvCxnSpPr>
            <p:cNvPr id="883" name="Google Shape;883;p69"/>
            <p:cNvCxnSpPr/>
            <p:nvPr/>
          </p:nvCxnSpPr>
          <p:spPr>
            <a:xfrm>
              <a:off x="2939073" y="1425000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4" name="Google Shape;884;p69"/>
            <p:cNvCxnSpPr/>
            <p:nvPr/>
          </p:nvCxnSpPr>
          <p:spPr>
            <a:xfrm flipH="1" rot="10800000">
              <a:off x="2939073" y="974232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69"/>
            <p:cNvCxnSpPr/>
            <p:nvPr/>
          </p:nvCxnSpPr>
          <p:spPr>
            <a:xfrm>
              <a:off x="2939073" y="2887765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6" name="Google Shape;886;p69"/>
            <p:cNvCxnSpPr/>
            <p:nvPr/>
          </p:nvCxnSpPr>
          <p:spPr>
            <a:xfrm flipH="1" rot="10800000">
              <a:off x="2939073" y="2436997"/>
              <a:ext cx="2175900" cy="446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7" name="Google Shape;887;p69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69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69"/>
          <p:cNvSpPr/>
          <p:nvPr/>
        </p:nvSpPr>
        <p:spPr>
          <a:xfrm>
            <a:off x="3916050" y="716125"/>
            <a:ext cx="1148400" cy="28137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69"/>
          <p:cNvSpPr txBox="1"/>
          <p:nvPr/>
        </p:nvSpPr>
        <p:spPr>
          <a:xfrm>
            <a:off x="324000" y="3962384"/>
            <a:ext cx="4895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know the probabilities of each outcome in the sample space for stage 2 of our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1" name="Google Shape;891;p69"/>
          <p:cNvCxnSpPr>
            <a:stCxn id="873" idx="2"/>
          </p:cNvCxnSpPr>
          <p:nvPr/>
        </p:nvCxnSpPr>
        <p:spPr>
          <a:xfrm>
            <a:off x="2646125" y="3780050"/>
            <a:ext cx="0" cy="1824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2" name="Google Shape;892;p69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69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69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69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6" name="Google Shape;896;p69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897" name="Google Shape;897;p69" title="five eigh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898" name="Google Shape;898;p69" title="three eigh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9" name="Google Shape;899;p69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00" name="Google Shape;900;p69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01" name="Google Shape;901;p69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2" name="Google Shape;902;p69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03" name="Google Shape;903;p69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04" name="Google Shape;904;p69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0"/>
          <p:cNvSpPr txBox="1"/>
          <p:nvPr/>
        </p:nvSpPr>
        <p:spPr>
          <a:xfrm>
            <a:off x="5315400" y="1783875"/>
            <a:ext cx="35046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find the probability of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both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spinner landing on A and the coin landing on heads…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0" name="Google Shape;910;p70"/>
          <p:cNvCxnSpPr/>
          <p:nvPr/>
        </p:nvCxnSpPr>
        <p:spPr>
          <a:xfrm flipH="1" rot="10800000">
            <a:off x="1423831" y="974229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1" name="Google Shape;91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912" name="Google Shape;912;p70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0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0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0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6" name="Google Shape;916;p70"/>
          <p:cNvCxnSpPr/>
          <p:nvPr/>
        </p:nvCxnSpPr>
        <p:spPr>
          <a:xfrm flipH="1" rot="10800000">
            <a:off x="348313" y="142105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70"/>
          <p:cNvCxnSpPr/>
          <p:nvPr/>
        </p:nvCxnSpPr>
        <p:spPr>
          <a:xfrm>
            <a:off x="348313" y="214040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70"/>
          <p:cNvCxnSpPr/>
          <p:nvPr/>
        </p:nvCxnSpPr>
        <p:spPr>
          <a:xfrm>
            <a:off x="1423831" y="1424997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70"/>
          <p:cNvCxnSpPr/>
          <p:nvPr/>
        </p:nvCxnSpPr>
        <p:spPr>
          <a:xfrm>
            <a:off x="1423831" y="2887762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70"/>
          <p:cNvCxnSpPr/>
          <p:nvPr/>
        </p:nvCxnSpPr>
        <p:spPr>
          <a:xfrm flipH="1" rot="10800000">
            <a:off x="1423831" y="2436994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1" name="Google Shape;921;p70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0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0"/>
          <p:cNvSpPr txBox="1"/>
          <p:nvPr/>
        </p:nvSpPr>
        <p:spPr>
          <a:xfrm>
            <a:off x="5315400" y="712950"/>
            <a:ext cx="35046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we can also calculate the probability of each outcome in the whole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0"/>
          <p:cNvSpPr/>
          <p:nvPr/>
        </p:nvSpPr>
        <p:spPr>
          <a:xfrm>
            <a:off x="3916050" y="716125"/>
            <a:ext cx="1148400" cy="28137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0"/>
          <p:cNvSpPr/>
          <p:nvPr/>
        </p:nvSpPr>
        <p:spPr>
          <a:xfrm>
            <a:off x="3916050" y="810000"/>
            <a:ext cx="1148400" cy="3384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6" name="Google Shape;926;p70"/>
          <p:cNvGrpSpPr/>
          <p:nvPr/>
        </p:nvGrpSpPr>
        <p:grpSpPr>
          <a:xfrm>
            <a:off x="132443" y="3115995"/>
            <a:ext cx="1644841" cy="1704397"/>
            <a:chOff x="145325" y="463995"/>
            <a:chExt cx="1644841" cy="1704397"/>
          </a:xfrm>
        </p:grpSpPr>
        <p:grpSp>
          <p:nvGrpSpPr>
            <p:cNvPr id="927" name="Google Shape;927;p70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928" name="Google Shape;928;p70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9" name="Google Shape;929;p70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70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70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70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70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70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70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70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37" name="Google Shape;937;p70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938" name="Google Shape;938;p70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939" name="Google Shape;939;p70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40" name="Google Shape;940;p70"/>
              <p:cNvSpPr txBox="1"/>
              <p:nvPr/>
            </p:nvSpPr>
            <p:spPr>
              <a:xfrm flipH="1">
                <a:off x="1167734" y="94768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1" name="Google Shape;941;p70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2" name="Google Shape;942;p70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3" name="Google Shape;943;p70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4" name="Google Shape;944;p70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45" name="Google Shape;945;p70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46" name="Google Shape;946;p70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70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8" name="Google Shape;94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729" y="3845900"/>
            <a:ext cx="840826" cy="4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0"/>
          <p:cNvSpPr txBox="1"/>
          <p:nvPr/>
        </p:nvSpPr>
        <p:spPr>
          <a:xfrm>
            <a:off x="1724692" y="4266300"/>
            <a:ext cx="164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0" name="Google Shape;950;p70"/>
          <p:cNvCxnSpPr/>
          <p:nvPr/>
        </p:nvCxnSpPr>
        <p:spPr>
          <a:xfrm flipH="1" rot="10800000">
            <a:off x="1423831" y="974229"/>
            <a:ext cx="1657500" cy="446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70"/>
          <p:cNvCxnSpPr/>
          <p:nvPr/>
        </p:nvCxnSpPr>
        <p:spPr>
          <a:xfrm flipH="1" rot="10800000">
            <a:off x="348313" y="1421050"/>
            <a:ext cx="727500" cy="7119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952" name="Google Shape;952;p70" title="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3000" y="3774409"/>
            <a:ext cx="190125" cy="60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953" name="Google Shape;953;p7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7125" y="3774409"/>
            <a:ext cx="190125" cy="60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954" name="Google Shape;954;p70" title="5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1250" y="3774409"/>
            <a:ext cx="334620" cy="60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0"/>
          <p:cNvSpPr txBox="1"/>
          <p:nvPr/>
        </p:nvSpPr>
        <p:spPr>
          <a:xfrm>
            <a:off x="5315400" y="2789325"/>
            <a:ext cx="35046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multiply the probabilities on the branches of the outcomes at each stage of a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0"/>
          <p:cNvSpPr txBox="1"/>
          <p:nvPr/>
        </p:nvSpPr>
        <p:spPr>
          <a:xfrm>
            <a:off x="6287975" y="3909409"/>
            <a:ext cx="35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0"/>
          <p:cNvSpPr txBox="1"/>
          <p:nvPr/>
        </p:nvSpPr>
        <p:spPr>
          <a:xfrm>
            <a:off x="7022100" y="3909409"/>
            <a:ext cx="35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0"/>
          <p:cNvSpPr txBox="1"/>
          <p:nvPr/>
        </p:nvSpPr>
        <p:spPr>
          <a:xfrm>
            <a:off x="5388900" y="4500500"/>
            <a:ext cx="1020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stage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0"/>
          <p:cNvSpPr txBox="1"/>
          <p:nvPr/>
        </p:nvSpPr>
        <p:spPr>
          <a:xfrm>
            <a:off x="6489875" y="4500500"/>
            <a:ext cx="1020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stage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0"/>
          <p:cNvSpPr/>
          <p:nvPr/>
        </p:nvSpPr>
        <p:spPr>
          <a:xfrm>
            <a:off x="5908175" y="3656200"/>
            <a:ext cx="379800" cy="7998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0"/>
          <p:cNvSpPr/>
          <p:nvPr/>
        </p:nvSpPr>
        <p:spPr>
          <a:xfrm>
            <a:off x="6642288" y="3656200"/>
            <a:ext cx="379800" cy="7998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0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0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0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0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6" name="Google Shape;966;p70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967" name="Google Shape;967;p70" title="five eigh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968" name="Google Shape;968;p70" title="three eigh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9" name="Google Shape;969;p70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70" name="Google Shape;970;p70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71" name="Google Shape;971;p70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2" name="Google Shape;972;p70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73" name="Google Shape;973;p70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974" name="Google Shape;974;p70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9" name="Google Shape;979;p71"/>
          <p:cNvCxnSpPr/>
          <p:nvPr/>
        </p:nvCxnSpPr>
        <p:spPr>
          <a:xfrm flipH="1" rot="10800000">
            <a:off x="1423831" y="974229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0" name="Google Shape;98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981" name="Google Shape;981;p71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1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1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1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5" name="Google Shape;985;p71"/>
          <p:cNvCxnSpPr/>
          <p:nvPr/>
        </p:nvCxnSpPr>
        <p:spPr>
          <a:xfrm flipH="1" rot="10800000">
            <a:off x="348313" y="142105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71"/>
          <p:cNvCxnSpPr/>
          <p:nvPr/>
        </p:nvCxnSpPr>
        <p:spPr>
          <a:xfrm>
            <a:off x="348313" y="214040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71"/>
          <p:cNvCxnSpPr/>
          <p:nvPr/>
        </p:nvCxnSpPr>
        <p:spPr>
          <a:xfrm>
            <a:off x="1423831" y="1424997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71"/>
          <p:cNvCxnSpPr/>
          <p:nvPr/>
        </p:nvCxnSpPr>
        <p:spPr>
          <a:xfrm>
            <a:off x="1423831" y="2887762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71"/>
          <p:cNvCxnSpPr/>
          <p:nvPr/>
        </p:nvCxnSpPr>
        <p:spPr>
          <a:xfrm flipH="1" rot="10800000">
            <a:off x="1423831" y="2436994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71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1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1"/>
          <p:cNvSpPr txBox="1"/>
          <p:nvPr/>
        </p:nvSpPr>
        <p:spPr>
          <a:xfrm>
            <a:off x="5908175" y="712950"/>
            <a:ext cx="29118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both landing on A and landing on heads is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3" name="Google Shape;993;p71"/>
          <p:cNvGrpSpPr/>
          <p:nvPr/>
        </p:nvGrpSpPr>
        <p:grpSpPr>
          <a:xfrm>
            <a:off x="132443" y="3115995"/>
            <a:ext cx="1644841" cy="1704397"/>
            <a:chOff x="145325" y="463995"/>
            <a:chExt cx="1644841" cy="1704397"/>
          </a:xfrm>
        </p:grpSpPr>
        <p:grpSp>
          <p:nvGrpSpPr>
            <p:cNvPr id="994" name="Google Shape;994;p71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995" name="Google Shape;995;p71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96" name="Google Shape;996;p71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71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71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71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71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71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71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71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04" name="Google Shape;1004;p71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1005" name="Google Shape;1005;p71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006" name="Google Shape;1006;p71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07" name="Google Shape;1007;p71"/>
              <p:cNvSpPr txBox="1"/>
              <p:nvPr/>
            </p:nvSpPr>
            <p:spPr>
              <a:xfrm flipH="1">
                <a:off x="1167734" y="94768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8" name="Google Shape;1008;p71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09" name="Google Shape;1009;p71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0" name="Google Shape;1010;p71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1" name="Google Shape;1011;p71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2" name="Google Shape;1012;p71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13" name="Google Shape;1013;p71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4" name="Google Shape;1014;p71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5" name="Google Shape;101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729" y="3845900"/>
            <a:ext cx="840826" cy="4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71"/>
          <p:cNvSpPr txBox="1"/>
          <p:nvPr/>
        </p:nvSpPr>
        <p:spPr>
          <a:xfrm>
            <a:off x="1724692" y="4266300"/>
            <a:ext cx="164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1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1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1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1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1" name="Google Shape;1021;p71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1022" name="Google Shape;1022;p71" title="five eigh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1023" name="Google Shape;1023;p71" title="three eigh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4" name="Google Shape;1024;p71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25" name="Google Shape;1025;p71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26" name="Google Shape;1026;p71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7" name="Google Shape;1027;p71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28" name="Google Shape;1028;p71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29" name="Google Shape;1029;p71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030" name="Google Shape;1030;p71" title="5 over 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81708" y="752359"/>
            <a:ext cx="245342" cy="44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031" name="Google Shape;1031;p71" title="5 over 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9283" y="1463861"/>
            <a:ext cx="245342" cy="4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71"/>
          <p:cNvSpPr/>
          <p:nvPr/>
        </p:nvSpPr>
        <p:spPr>
          <a:xfrm>
            <a:off x="3916050" y="716125"/>
            <a:ext cx="1745700" cy="2889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Google Shape;1037;p7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769236" y="1742617"/>
            <a:ext cx="2840750" cy="18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72"/>
          <p:cNvSpPr/>
          <p:nvPr/>
        </p:nvSpPr>
        <p:spPr>
          <a:xfrm>
            <a:off x="3916050" y="716125"/>
            <a:ext cx="1745700" cy="2889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9" name="Google Shape;1039;p72"/>
          <p:cNvCxnSpPr/>
          <p:nvPr/>
        </p:nvCxnSpPr>
        <p:spPr>
          <a:xfrm>
            <a:off x="348313" y="214040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72"/>
          <p:cNvCxnSpPr/>
          <p:nvPr/>
        </p:nvCxnSpPr>
        <p:spPr>
          <a:xfrm>
            <a:off x="1423831" y="2887762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72"/>
          <p:cNvSpPr txBox="1"/>
          <p:nvPr/>
        </p:nvSpPr>
        <p:spPr>
          <a:xfrm>
            <a:off x="5832512" y="1787725"/>
            <a:ext cx="25773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probability of landing on B and landing on tails is…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2" name="Google Shape;1042;p72"/>
          <p:cNvCxnSpPr/>
          <p:nvPr/>
        </p:nvCxnSpPr>
        <p:spPr>
          <a:xfrm flipH="1" rot="10800000">
            <a:off x="1423831" y="974229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3" name="Google Shape;104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044" name="Google Shape;1044;p72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2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2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2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8" name="Google Shape;1048;p72"/>
          <p:cNvCxnSpPr/>
          <p:nvPr/>
        </p:nvCxnSpPr>
        <p:spPr>
          <a:xfrm flipH="1" rot="10800000">
            <a:off x="348313" y="142105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72"/>
          <p:cNvCxnSpPr/>
          <p:nvPr/>
        </p:nvCxnSpPr>
        <p:spPr>
          <a:xfrm>
            <a:off x="1423831" y="1424997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72"/>
          <p:cNvCxnSpPr/>
          <p:nvPr/>
        </p:nvCxnSpPr>
        <p:spPr>
          <a:xfrm flipH="1" rot="10800000">
            <a:off x="1423831" y="2436994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1" name="Google Shape;1051;p72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2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3" name="Google Shape;1053;p72"/>
          <p:cNvGrpSpPr/>
          <p:nvPr/>
        </p:nvGrpSpPr>
        <p:grpSpPr>
          <a:xfrm>
            <a:off x="132443" y="3115995"/>
            <a:ext cx="1644841" cy="1704397"/>
            <a:chOff x="145325" y="463995"/>
            <a:chExt cx="1644841" cy="1704397"/>
          </a:xfrm>
        </p:grpSpPr>
        <p:grpSp>
          <p:nvGrpSpPr>
            <p:cNvPr id="1054" name="Google Shape;1054;p72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1055" name="Google Shape;1055;p72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56" name="Google Shape;1056;p72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72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72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72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72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72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72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72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64" name="Google Shape;1064;p72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1065" name="Google Shape;1065;p72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066" name="Google Shape;1066;p72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7" name="Google Shape;1067;p72"/>
              <p:cNvSpPr txBox="1"/>
              <p:nvPr/>
            </p:nvSpPr>
            <p:spPr>
              <a:xfrm flipH="1">
                <a:off x="1167734" y="94768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8" name="Google Shape;1068;p72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9" name="Google Shape;1069;p72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0" name="Google Shape;1070;p72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1" name="Google Shape;1071;p72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2" name="Google Shape;1072;p72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73" name="Google Shape;1073;p72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72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5" name="Google Shape;107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6729" y="3845900"/>
            <a:ext cx="840826" cy="4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72"/>
          <p:cNvSpPr txBox="1"/>
          <p:nvPr/>
        </p:nvSpPr>
        <p:spPr>
          <a:xfrm>
            <a:off x="1724692" y="4266300"/>
            <a:ext cx="164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7" name="Google Shape;1077;p72"/>
          <p:cNvGrpSpPr/>
          <p:nvPr/>
        </p:nvGrpSpPr>
        <p:grpSpPr>
          <a:xfrm>
            <a:off x="8116285" y="3279467"/>
            <a:ext cx="676200" cy="1040525"/>
            <a:chOff x="8137196" y="1935832"/>
            <a:chExt cx="676200" cy="1040525"/>
          </a:xfrm>
        </p:grpSpPr>
        <p:pic>
          <p:nvPicPr>
            <p:cNvPr id="1078" name="Google Shape;1078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p72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80" name="Google Shape;1080;p72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57156" y="2623182"/>
            <a:ext cx="190125" cy="60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72"/>
          <p:cNvSpPr txBox="1"/>
          <p:nvPr/>
        </p:nvSpPr>
        <p:spPr>
          <a:xfrm>
            <a:off x="6508006" y="2758182"/>
            <a:ext cx="35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2"/>
          <p:cNvSpPr txBox="1"/>
          <p:nvPr/>
        </p:nvSpPr>
        <p:spPr>
          <a:xfrm>
            <a:off x="7242131" y="2758182"/>
            <a:ext cx="3543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083" name="Google Shape;1083;p72" title="three eigh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3042" y="2623167"/>
            <a:ext cx="182520" cy="60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084" name="Google Shape;1084;p72" title="3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91263" y="2623185"/>
            <a:ext cx="334620" cy="60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5" name="Google Shape;1085;p72"/>
          <p:cNvCxnSpPr/>
          <p:nvPr/>
        </p:nvCxnSpPr>
        <p:spPr>
          <a:xfrm>
            <a:off x="348313" y="2140400"/>
            <a:ext cx="727500" cy="7119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72"/>
          <p:cNvCxnSpPr/>
          <p:nvPr/>
        </p:nvCxnSpPr>
        <p:spPr>
          <a:xfrm>
            <a:off x="1423831" y="2887762"/>
            <a:ext cx="1657500" cy="446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72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2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2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2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1" name="Google Shape;1091;p72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1092" name="Google Shape;1092;p72" title="five eighth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1093" name="Google Shape;1093;p72" title="three eigh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4" name="Google Shape;1094;p72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95" name="Google Shape;1095;p72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96" name="Google Shape;1096;p72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7" name="Google Shape;1097;p72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98" name="Google Shape;1098;p72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099" name="Google Shape;1099;p72" title="one hal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100" name="Google Shape;1100;p72" title="5 over 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81708" y="752359"/>
            <a:ext cx="245342" cy="44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101" name="Google Shape;1101;p72" title="3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1700" y="3109692"/>
            <a:ext cx="245350" cy="447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3"/>
          <p:cNvSpPr/>
          <p:nvPr/>
        </p:nvSpPr>
        <p:spPr>
          <a:xfrm>
            <a:off x="3916050" y="716125"/>
            <a:ext cx="1745700" cy="2889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7" name="Google Shape;1107;p73"/>
          <p:cNvCxnSpPr/>
          <p:nvPr/>
        </p:nvCxnSpPr>
        <p:spPr>
          <a:xfrm>
            <a:off x="348313" y="214040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73"/>
          <p:cNvCxnSpPr/>
          <p:nvPr/>
        </p:nvCxnSpPr>
        <p:spPr>
          <a:xfrm>
            <a:off x="1423831" y="2887762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73"/>
          <p:cNvCxnSpPr/>
          <p:nvPr/>
        </p:nvCxnSpPr>
        <p:spPr>
          <a:xfrm flipH="1" rot="10800000">
            <a:off x="1423831" y="974229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111" name="Google Shape;1111;p73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3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3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3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5" name="Google Shape;1115;p73"/>
          <p:cNvCxnSpPr/>
          <p:nvPr/>
        </p:nvCxnSpPr>
        <p:spPr>
          <a:xfrm flipH="1" rot="10800000">
            <a:off x="348313" y="142105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73"/>
          <p:cNvCxnSpPr/>
          <p:nvPr/>
        </p:nvCxnSpPr>
        <p:spPr>
          <a:xfrm>
            <a:off x="1423831" y="1424997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73"/>
          <p:cNvCxnSpPr/>
          <p:nvPr/>
        </p:nvCxnSpPr>
        <p:spPr>
          <a:xfrm flipH="1" rot="10800000">
            <a:off x="1423831" y="2436994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73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3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0" name="Google Shape;1120;p73"/>
          <p:cNvGrpSpPr/>
          <p:nvPr/>
        </p:nvGrpSpPr>
        <p:grpSpPr>
          <a:xfrm>
            <a:off x="132443" y="3115995"/>
            <a:ext cx="1644841" cy="1704397"/>
            <a:chOff x="145325" y="463995"/>
            <a:chExt cx="1644841" cy="1704397"/>
          </a:xfrm>
        </p:grpSpPr>
        <p:grpSp>
          <p:nvGrpSpPr>
            <p:cNvPr id="1121" name="Google Shape;1121;p73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1122" name="Google Shape;1122;p73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3" name="Google Shape;1123;p73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73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73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73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73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73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73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73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1" name="Google Shape;1131;p73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1132" name="Google Shape;1132;p73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133" name="Google Shape;1133;p73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34" name="Google Shape;1134;p73"/>
              <p:cNvSpPr txBox="1"/>
              <p:nvPr/>
            </p:nvSpPr>
            <p:spPr>
              <a:xfrm flipH="1">
                <a:off x="1167734" y="94768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5" name="Google Shape;1135;p73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6" name="Google Shape;1136;p73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7" name="Google Shape;1137;p73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8" name="Google Shape;1138;p73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9" name="Google Shape;1139;p73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40" name="Google Shape;1140;p73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1" name="Google Shape;1141;p73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42" name="Google Shape;114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729" y="3845900"/>
            <a:ext cx="840826" cy="4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73"/>
          <p:cNvSpPr txBox="1"/>
          <p:nvPr/>
        </p:nvSpPr>
        <p:spPr>
          <a:xfrm>
            <a:off x="1724692" y="4266300"/>
            <a:ext cx="164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144" name="Google Shape;1144;p73" title="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925" y="1654675"/>
            <a:ext cx="135032" cy="432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145" name="Google Shape;1145;p73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322" y="1654675"/>
            <a:ext cx="135032" cy="432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146" name="Google Shape;1146;p73" title="5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3718" y="1654675"/>
            <a:ext cx="237657" cy="43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73"/>
          <p:cNvSpPr txBox="1"/>
          <p:nvPr/>
        </p:nvSpPr>
        <p:spPr>
          <a:xfrm>
            <a:off x="6243322" y="1750558"/>
            <a:ext cx="251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73"/>
          <p:cNvSpPr txBox="1"/>
          <p:nvPr/>
        </p:nvSpPr>
        <p:spPr>
          <a:xfrm>
            <a:off x="6764719" y="1750558"/>
            <a:ext cx="251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149" name="Google Shape;1149;p73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2316" y="2240598"/>
            <a:ext cx="135032" cy="4321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73"/>
          <p:cNvSpPr txBox="1"/>
          <p:nvPr/>
        </p:nvSpPr>
        <p:spPr>
          <a:xfrm>
            <a:off x="6243317" y="2336481"/>
            <a:ext cx="251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73"/>
          <p:cNvSpPr txBox="1"/>
          <p:nvPr/>
        </p:nvSpPr>
        <p:spPr>
          <a:xfrm>
            <a:off x="6764714" y="2336481"/>
            <a:ext cx="2517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152" name="Google Shape;1152;p73" title="three eigh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0928" y="2240588"/>
            <a:ext cx="129631" cy="4321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153" name="Google Shape;1153;p73" title="3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83700" y="2240601"/>
            <a:ext cx="237657" cy="43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73"/>
          <p:cNvSpPr/>
          <p:nvPr/>
        </p:nvSpPr>
        <p:spPr>
          <a:xfrm>
            <a:off x="3916050" y="1701500"/>
            <a:ext cx="1148400" cy="3384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73"/>
          <p:cNvSpPr/>
          <p:nvPr/>
        </p:nvSpPr>
        <p:spPr>
          <a:xfrm>
            <a:off x="3916050" y="2268975"/>
            <a:ext cx="1148400" cy="3384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73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3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3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3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0" name="Google Shape;1160;p73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1161" name="Google Shape;1161;p73" title="five eigh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1162" name="Google Shape;1162;p73" title="three eigh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3" name="Google Shape;1163;p73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164" name="Google Shape;1164;p73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165" name="Google Shape;1165;p73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6" name="Google Shape;1166;p73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167" name="Google Shape;1167;p73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168" name="Google Shape;1168;p73" title="one half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169" name="Google Shape;1169;p73" title="5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1708" y="752359"/>
            <a:ext cx="245342" cy="44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170" name="Google Shape;1170;p73" title="3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1700" y="3109692"/>
            <a:ext cx="245350" cy="447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171" name="Google Shape;1171;p73" title="5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1708" y="1665284"/>
            <a:ext cx="245342" cy="44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172" name="Google Shape;1172;p73" title="3 over 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1700" y="2255917"/>
            <a:ext cx="245350" cy="447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177" name="Google Shape;1177;p74" title="3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7464" y="3047976"/>
            <a:ext cx="334625" cy="610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178" name="Google Shape;1178;p74" title="3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0050" y="3050989"/>
            <a:ext cx="334625" cy="610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179" name="Google Shape;1179;p74" title="5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820" y="3048963"/>
            <a:ext cx="334625" cy="608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180" name="Google Shape;1180;p74" title="5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2986" y="3048025"/>
            <a:ext cx="334625" cy="608484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74"/>
          <p:cNvSpPr/>
          <p:nvPr/>
        </p:nvSpPr>
        <p:spPr>
          <a:xfrm>
            <a:off x="3916050" y="716125"/>
            <a:ext cx="1745700" cy="2889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74"/>
          <p:cNvSpPr/>
          <p:nvPr/>
        </p:nvSpPr>
        <p:spPr>
          <a:xfrm>
            <a:off x="5084475" y="728925"/>
            <a:ext cx="439800" cy="477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74"/>
          <p:cNvSpPr/>
          <p:nvPr/>
        </p:nvSpPr>
        <p:spPr>
          <a:xfrm>
            <a:off x="5084475" y="1646321"/>
            <a:ext cx="439800" cy="477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74"/>
          <p:cNvSpPr/>
          <p:nvPr/>
        </p:nvSpPr>
        <p:spPr>
          <a:xfrm>
            <a:off x="5084475" y="2241136"/>
            <a:ext cx="439800" cy="477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4"/>
          <p:cNvSpPr/>
          <p:nvPr/>
        </p:nvSpPr>
        <p:spPr>
          <a:xfrm>
            <a:off x="5083750" y="3087870"/>
            <a:ext cx="439800" cy="4773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6" name="Google Shape;1186;p74"/>
          <p:cNvCxnSpPr/>
          <p:nvPr/>
        </p:nvCxnSpPr>
        <p:spPr>
          <a:xfrm>
            <a:off x="348313" y="214040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7" name="Google Shape;1187;p74"/>
          <p:cNvSpPr txBox="1"/>
          <p:nvPr/>
        </p:nvSpPr>
        <p:spPr>
          <a:xfrm>
            <a:off x="5886150" y="712950"/>
            <a:ext cx="27987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probabilities of all outcomes in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sample space must sum to 1.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good way of checking all calculations on the probability tree are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74"/>
          <p:cNvCxnSpPr/>
          <p:nvPr/>
        </p:nvCxnSpPr>
        <p:spPr>
          <a:xfrm>
            <a:off x="1423831" y="2887762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74"/>
          <p:cNvCxnSpPr/>
          <p:nvPr/>
        </p:nvCxnSpPr>
        <p:spPr>
          <a:xfrm flipH="1" rot="10800000">
            <a:off x="1423831" y="974229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0" name="Google Shape;119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191" name="Google Shape;1191;p74"/>
          <p:cNvSpPr txBox="1"/>
          <p:nvPr/>
        </p:nvSpPr>
        <p:spPr>
          <a:xfrm>
            <a:off x="1090278" y="128427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4"/>
          <p:cNvSpPr txBox="1"/>
          <p:nvPr/>
        </p:nvSpPr>
        <p:spPr>
          <a:xfrm>
            <a:off x="3188548" y="888550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4"/>
          <p:cNvSpPr txBox="1"/>
          <p:nvPr/>
        </p:nvSpPr>
        <p:spPr>
          <a:xfrm>
            <a:off x="3188548" y="1783875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4"/>
          <p:cNvSpPr txBox="1"/>
          <p:nvPr/>
        </p:nvSpPr>
        <p:spPr>
          <a:xfrm>
            <a:off x="3188548" y="3246641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5" name="Google Shape;1195;p74"/>
          <p:cNvCxnSpPr/>
          <p:nvPr/>
        </p:nvCxnSpPr>
        <p:spPr>
          <a:xfrm flipH="1" rot="10800000">
            <a:off x="348313" y="1421050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74"/>
          <p:cNvCxnSpPr/>
          <p:nvPr/>
        </p:nvCxnSpPr>
        <p:spPr>
          <a:xfrm>
            <a:off x="1423831" y="1424997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7" name="Google Shape;1197;p74"/>
          <p:cNvCxnSpPr/>
          <p:nvPr/>
        </p:nvCxnSpPr>
        <p:spPr>
          <a:xfrm flipH="1" rot="10800000">
            <a:off x="1423831" y="2436994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8" name="Google Shape;1198;p74"/>
          <p:cNvSpPr txBox="1"/>
          <p:nvPr/>
        </p:nvSpPr>
        <p:spPr>
          <a:xfrm>
            <a:off x="1090278" y="2713126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74"/>
          <p:cNvSpPr txBox="1"/>
          <p:nvPr/>
        </p:nvSpPr>
        <p:spPr>
          <a:xfrm>
            <a:off x="3188548" y="2351316"/>
            <a:ext cx="7275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0" name="Google Shape;1200;p74"/>
          <p:cNvGrpSpPr/>
          <p:nvPr/>
        </p:nvGrpSpPr>
        <p:grpSpPr>
          <a:xfrm>
            <a:off x="132443" y="3115995"/>
            <a:ext cx="1644841" cy="1704397"/>
            <a:chOff x="145325" y="463995"/>
            <a:chExt cx="1644841" cy="1704397"/>
          </a:xfrm>
        </p:grpSpPr>
        <p:grpSp>
          <p:nvGrpSpPr>
            <p:cNvPr id="1201" name="Google Shape;1201;p74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1202" name="Google Shape;1202;p74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03" name="Google Shape;1203;p74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74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74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74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74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845A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74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74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74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11" name="Google Shape;1211;p74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1212" name="Google Shape;1212;p74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213" name="Google Shape;1213;p74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14" name="Google Shape;1214;p74"/>
              <p:cNvSpPr txBox="1"/>
              <p:nvPr/>
            </p:nvSpPr>
            <p:spPr>
              <a:xfrm flipH="1">
                <a:off x="1167734" y="94768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5" name="Google Shape;1215;p74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6" name="Google Shape;1216;p74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7" name="Google Shape;1217;p74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8" name="Google Shape;1218;p74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19" name="Google Shape;1219;p74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20" name="Google Shape;1220;p74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74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22" name="Google Shape;122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6729" y="3845900"/>
            <a:ext cx="840826" cy="4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4"/>
          <p:cNvSpPr txBox="1"/>
          <p:nvPr/>
        </p:nvSpPr>
        <p:spPr>
          <a:xfrm>
            <a:off x="1724692" y="4266300"/>
            <a:ext cx="164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{heads, tails}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74"/>
          <p:cNvSpPr txBox="1"/>
          <p:nvPr/>
        </p:nvSpPr>
        <p:spPr>
          <a:xfrm>
            <a:off x="6259352" y="3184156"/>
            <a:ext cx="354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74"/>
          <p:cNvSpPr txBox="1"/>
          <p:nvPr/>
        </p:nvSpPr>
        <p:spPr>
          <a:xfrm>
            <a:off x="8006619" y="3184156"/>
            <a:ext cx="354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74"/>
          <p:cNvSpPr txBox="1"/>
          <p:nvPr/>
        </p:nvSpPr>
        <p:spPr>
          <a:xfrm>
            <a:off x="6846845" y="3184156"/>
            <a:ext cx="354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74"/>
          <p:cNvSpPr txBox="1"/>
          <p:nvPr/>
        </p:nvSpPr>
        <p:spPr>
          <a:xfrm>
            <a:off x="7426732" y="3184156"/>
            <a:ext cx="354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6}{16}&quot;&gt;&lt;mfrac&gt;&lt;mn&gt;16&lt;/mn&gt;&lt;mn&gt;16&lt;/mn&gt;&lt;/mfrac&gt;&lt;/math&gt;" id="1228" name="Google Shape;1228;p74" title="16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2586" y="3049085"/>
            <a:ext cx="334602" cy="608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16}&quot;&gt;&lt;mfrac&gt;&lt;mn&gt;16&lt;/mn&gt;&lt;mn&gt;16&lt;/mn&gt;&lt;/mfrac&gt;&lt;/math&gt;" id="1229" name="Google Shape;1229;p74" title="16 over 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4187" y="3998563"/>
            <a:ext cx="334602" cy="608243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74"/>
          <p:cNvSpPr txBox="1"/>
          <p:nvPr/>
        </p:nvSpPr>
        <p:spPr>
          <a:xfrm>
            <a:off x="7760145" y="4133634"/>
            <a:ext cx="3546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4"/>
          <p:cNvSpPr txBox="1"/>
          <p:nvPr/>
        </p:nvSpPr>
        <p:spPr>
          <a:xfrm>
            <a:off x="8041401" y="4109028"/>
            <a:ext cx="243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5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2" name="Google Shape;1232;p74"/>
          <p:cNvSpPr txBox="1"/>
          <p:nvPr/>
        </p:nvSpPr>
        <p:spPr>
          <a:xfrm>
            <a:off x="5176925" y="3902775"/>
            <a:ext cx="22059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the sample space is likely to be correct.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74"/>
          <p:cNvSpPr txBox="1"/>
          <p:nvPr/>
        </p:nvSpPr>
        <p:spPr>
          <a:xfrm>
            <a:off x="4002025" y="8885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74"/>
          <p:cNvSpPr txBox="1"/>
          <p:nvPr/>
        </p:nvSpPr>
        <p:spPr>
          <a:xfrm>
            <a:off x="4002025" y="3246650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74"/>
          <p:cNvSpPr txBox="1"/>
          <p:nvPr/>
        </p:nvSpPr>
        <p:spPr>
          <a:xfrm>
            <a:off x="4002025" y="1783879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tails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74"/>
          <p:cNvSpPr txBox="1"/>
          <p:nvPr/>
        </p:nvSpPr>
        <p:spPr>
          <a:xfrm>
            <a:off x="4002025" y="2351321"/>
            <a:ext cx="10626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7" name="Google Shape;1237;p74"/>
          <p:cNvGrpSpPr/>
          <p:nvPr/>
        </p:nvGrpSpPr>
        <p:grpSpPr>
          <a:xfrm>
            <a:off x="493700" y="1415355"/>
            <a:ext cx="131688" cy="1414084"/>
            <a:chOff x="3527500" y="1208805"/>
            <a:chExt cx="131688" cy="1414084"/>
          </a:xfrm>
        </p:grpSpPr>
        <p:pic>
          <p:nvPicPr>
            <p:cNvPr descr="&lt;math xmlns=&quot;http://www.w3.org/1998/Math/MathML&quot; display=&quot;block&quot; data-is-equatio=&quot;1&quot; data-latex=&quot;\frac{5}{8}&quot;&gt;&lt;mfrac&gt;&lt;mn&gt;5&lt;/mn&gt;&lt;mn&gt;8&lt;/mn&gt;&lt;/mfrac&gt;&lt;/math&gt;" id="1238" name="Google Shape;1238;p74" title="five eigh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527500" y="1208805"/>
              <a:ext cx="131675" cy="423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1239" name="Google Shape;1239;p74" title="three eigh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527513" y="2187083"/>
              <a:ext cx="131675" cy="4358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0" name="Google Shape;1240;p74"/>
          <p:cNvGrpSpPr/>
          <p:nvPr/>
        </p:nvGrpSpPr>
        <p:grpSpPr>
          <a:xfrm>
            <a:off x="2134592" y="737692"/>
            <a:ext cx="131700" cy="1381438"/>
            <a:chOff x="5777992" y="706851"/>
            <a:chExt cx="131700" cy="1381438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241" name="Google Shape;1241;p74" title="one half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242" name="Google Shape;1242;p74" title="one half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77992" y="1668687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3" name="Google Shape;1243;p74"/>
          <p:cNvGrpSpPr/>
          <p:nvPr/>
        </p:nvGrpSpPr>
        <p:grpSpPr>
          <a:xfrm>
            <a:off x="2515592" y="2117062"/>
            <a:ext cx="131700" cy="1563420"/>
            <a:chOff x="5777992" y="706851"/>
            <a:chExt cx="131700" cy="1563420"/>
          </a:xfrm>
        </p:grpSpPr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244" name="Google Shape;1244;p74" title="one half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77992" y="706851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245" name="Google Shape;1245;p74" title="one half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777992" y="1850669"/>
              <a:ext cx="131700" cy="4196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246" name="Google Shape;1246;p74" title="5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708" y="752359"/>
            <a:ext cx="245342" cy="44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247" name="Google Shape;1247;p74" title="3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700" y="3109692"/>
            <a:ext cx="245350" cy="447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6}&quot;&gt;&lt;mfrac&gt;&lt;mn&gt;5&lt;/mn&gt;&lt;mn&gt;16&lt;/mn&gt;&lt;/mfrac&gt;&lt;/math&gt;" id="1248" name="Google Shape;1248;p74" title="5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708" y="1665284"/>
            <a:ext cx="245342" cy="44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249" name="Google Shape;1249;p74" title="3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700" y="2255917"/>
            <a:ext cx="245350" cy="447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75"/>
          <p:cNvSpPr/>
          <p:nvPr/>
        </p:nvSpPr>
        <p:spPr>
          <a:xfrm>
            <a:off x="3611250" y="649994"/>
            <a:ext cx="1745700" cy="28137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cxnSp>
        <p:nvCxnSpPr>
          <p:cNvPr id="1256" name="Google Shape;1256;p75"/>
          <p:cNvCxnSpPr/>
          <p:nvPr/>
        </p:nvCxnSpPr>
        <p:spPr>
          <a:xfrm>
            <a:off x="348313" y="2074269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75"/>
          <p:cNvCxnSpPr/>
          <p:nvPr/>
        </p:nvCxnSpPr>
        <p:spPr>
          <a:xfrm flipH="1" rot="10800000">
            <a:off x="1423831" y="908098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p75"/>
          <p:cNvSpPr txBox="1"/>
          <p:nvPr/>
        </p:nvSpPr>
        <p:spPr>
          <a:xfrm>
            <a:off x="1090278" y="1218144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9" name="Google Shape;1259;p75"/>
          <p:cNvCxnSpPr/>
          <p:nvPr/>
        </p:nvCxnSpPr>
        <p:spPr>
          <a:xfrm>
            <a:off x="1423831" y="2821632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p75"/>
          <p:cNvSpPr txBox="1"/>
          <p:nvPr/>
        </p:nvSpPr>
        <p:spPr>
          <a:xfrm>
            <a:off x="606651" y="1290875"/>
            <a:ext cx="354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75"/>
          <p:cNvSpPr txBox="1"/>
          <p:nvPr/>
        </p:nvSpPr>
        <p:spPr>
          <a:xfrm>
            <a:off x="3188549" y="822419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75"/>
          <p:cNvSpPr txBox="1"/>
          <p:nvPr/>
        </p:nvSpPr>
        <p:spPr>
          <a:xfrm>
            <a:off x="3188549" y="1717748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75"/>
          <p:cNvSpPr txBox="1"/>
          <p:nvPr/>
        </p:nvSpPr>
        <p:spPr>
          <a:xfrm>
            <a:off x="2136650" y="787475"/>
            <a:ext cx="499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75"/>
          <p:cNvSpPr txBox="1"/>
          <p:nvPr/>
        </p:nvSpPr>
        <p:spPr>
          <a:xfrm>
            <a:off x="3188549" y="3180519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5" name="Google Shape;1265;p75"/>
          <p:cNvCxnSpPr/>
          <p:nvPr/>
        </p:nvCxnSpPr>
        <p:spPr>
          <a:xfrm flipH="1" rot="10800000">
            <a:off x="348313" y="1354919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75"/>
          <p:cNvCxnSpPr/>
          <p:nvPr/>
        </p:nvCxnSpPr>
        <p:spPr>
          <a:xfrm>
            <a:off x="1423831" y="1358866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7" name="Google Shape;1267;p75"/>
          <p:cNvCxnSpPr/>
          <p:nvPr/>
        </p:nvCxnSpPr>
        <p:spPr>
          <a:xfrm flipH="1" rot="10800000">
            <a:off x="1423831" y="2370864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8" name="Google Shape;1268;p75"/>
          <p:cNvSpPr txBox="1"/>
          <p:nvPr/>
        </p:nvSpPr>
        <p:spPr>
          <a:xfrm>
            <a:off x="1090278" y="264699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75"/>
          <p:cNvSpPr txBox="1"/>
          <p:nvPr/>
        </p:nvSpPr>
        <p:spPr>
          <a:xfrm>
            <a:off x="3188549" y="2285190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75"/>
          <p:cNvSpPr txBox="1"/>
          <p:nvPr/>
        </p:nvSpPr>
        <p:spPr>
          <a:xfrm>
            <a:off x="3697225" y="712950"/>
            <a:ext cx="1586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 P		0.075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75"/>
          <p:cNvSpPr txBox="1"/>
          <p:nvPr/>
        </p:nvSpPr>
        <p:spPr>
          <a:xfrm>
            <a:off x="735428" y="2272625"/>
            <a:ext cx="354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75"/>
          <p:cNvSpPr/>
          <p:nvPr/>
        </p:nvSpPr>
        <p:spPr>
          <a:xfrm rot="-5400000">
            <a:off x="661774" y="3528846"/>
            <a:ext cx="1063800" cy="1063800"/>
          </a:xfrm>
          <a:prstGeom prst="pie">
            <a:avLst>
              <a:gd fmla="val 16197753" name="adj1"/>
              <a:gd fmla="val 1060669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75"/>
          <p:cNvSpPr/>
          <p:nvPr/>
        </p:nvSpPr>
        <p:spPr>
          <a:xfrm rot="-5400000">
            <a:off x="661774" y="3528846"/>
            <a:ext cx="1063800" cy="1063800"/>
          </a:xfrm>
          <a:prstGeom prst="pie">
            <a:avLst>
              <a:gd fmla="val 1066339" name="adj1"/>
              <a:gd fmla="val 16207343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4" name="Google Shape;1274;p75"/>
          <p:cNvGrpSpPr/>
          <p:nvPr/>
        </p:nvGrpSpPr>
        <p:grpSpPr>
          <a:xfrm rot="-5400000">
            <a:off x="951081" y="3829758"/>
            <a:ext cx="52145" cy="461955"/>
            <a:chOff x="936300" y="737518"/>
            <a:chExt cx="65100" cy="576723"/>
          </a:xfrm>
        </p:grpSpPr>
        <p:cxnSp>
          <p:nvCxnSpPr>
            <p:cNvPr id="1275" name="Google Shape;1275;p75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76" name="Google Shape;1276;p75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7" name="Google Shape;1277;p75"/>
          <p:cNvSpPr txBox="1"/>
          <p:nvPr/>
        </p:nvSpPr>
        <p:spPr>
          <a:xfrm>
            <a:off x="917491" y="3692261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75"/>
          <p:cNvSpPr txBox="1"/>
          <p:nvPr/>
        </p:nvSpPr>
        <p:spPr>
          <a:xfrm>
            <a:off x="1222291" y="41568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75"/>
          <p:cNvSpPr/>
          <p:nvPr/>
        </p:nvSpPr>
        <p:spPr>
          <a:xfrm rot="-5400000">
            <a:off x="2652649" y="3528846"/>
            <a:ext cx="1063800" cy="1063800"/>
          </a:xfrm>
          <a:prstGeom prst="pie">
            <a:avLst>
              <a:gd fmla="val 16197753" name="adj1"/>
              <a:gd fmla="val 20734" name="adj2"/>
            </a:avLst>
          </a:prstGeom>
          <a:solidFill>
            <a:schemeClr val="accent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75"/>
          <p:cNvSpPr/>
          <p:nvPr/>
        </p:nvSpPr>
        <p:spPr>
          <a:xfrm rot="-5400000">
            <a:off x="2652649" y="3528846"/>
            <a:ext cx="1063800" cy="1063800"/>
          </a:xfrm>
          <a:prstGeom prst="pie">
            <a:avLst>
              <a:gd fmla="val 7812" name="adj1"/>
              <a:gd fmla="val 16207343" name="adj2"/>
            </a:avLst>
          </a:prstGeom>
          <a:solidFill>
            <a:srgbClr val="FAEAF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1" name="Google Shape;1281;p75"/>
          <p:cNvGrpSpPr/>
          <p:nvPr/>
        </p:nvGrpSpPr>
        <p:grpSpPr>
          <a:xfrm rot="-5400000">
            <a:off x="2941956" y="3829758"/>
            <a:ext cx="52145" cy="461955"/>
            <a:chOff x="936300" y="737518"/>
            <a:chExt cx="65100" cy="576723"/>
          </a:xfrm>
        </p:grpSpPr>
        <p:cxnSp>
          <p:nvCxnSpPr>
            <p:cNvPr id="1282" name="Google Shape;1282;p75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3" name="Google Shape;1283;p75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75"/>
          <p:cNvSpPr txBox="1"/>
          <p:nvPr/>
        </p:nvSpPr>
        <p:spPr>
          <a:xfrm>
            <a:off x="2908366" y="3692261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75"/>
          <p:cNvSpPr txBox="1"/>
          <p:nvPr/>
        </p:nvSpPr>
        <p:spPr>
          <a:xfrm>
            <a:off x="3213166" y="41568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6" name="Google Shape;1286;p75"/>
          <p:cNvCxnSpPr/>
          <p:nvPr/>
        </p:nvCxnSpPr>
        <p:spPr>
          <a:xfrm rot="10800000">
            <a:off x="3607800" y="1352013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75"/>
          <p:cNvCxnSpPr/>
          <p:nvPr/>
        </p:nvCxnSpPr>
        <p:spPr>
          <a:xfrm rot="10800000">
            <a:off x="3607800" y="2064771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75"/>
          <p:cNvCxnSpPr/>
          <p:nvPr/>
        </p:nvCxnSpPr>
        <p:spPr>
          <a:xfrm rot="10800000">
            <a:off x="3607800" y="2814246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9" name="Google Shape;1289;p75"/>
          <p:cNvSpPr txBox="1"/>
          <p:nvPr/>
        </p:nvSpPr>
        <p:spPr>
          <a:xfrm>
            <a:off x="5774400" y="731250"/>
            <a:ext cx="2765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spinner 1 and spinner 2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probability tree models this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75"/>
          <p:cNvSpPr txBox="1"/>
          <p:nvPr/>
        </p:nvSpPr>
        <p:spPr>
          <a:xfrm>
            <a:off x="661775" y="4545225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75"/>
          <p:cNvSpPr txBox="1"/>
          <p:nvPr/>
        </p:nvSpPr>
        <p:spPr>
          <a:xfrm>
            <a:off x="5795275" y="2571750"/>
            <a:ext cx="2765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outcome goes in place of       on the sample space?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75"/>
          <p:cNvSpPr txBox="1"/>
          <p:nvPr/>
        </p:nvSpPr>
        <p:spPr>
          <a:xfrm>
            <a:off x="2652650" y="4545225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3" name="Google Shape;1293;p75"/>
          <p:cNvGrpSpPr/>
          <p:nvPr/>
        </p:nvGrpSpPr>
        <p:grpSpPr>
          <a:xfrm>
            <a:off x="3697564" y="2300900"/>
            <a:ext cx="397244" cy="277200"/>
            <a:chOff x="4193788" y="2215950"/>
            <a:chExt cx="433200" cy="277200"/>
          </a:xfrm>
        </p:grpSpPr>
        <p:sp>
          <p:nvSpPr>
            <p:cNvPr id="1294" name="Google Shape;1294;p75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95" name="Google Shape;1295;p75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296" name="Google Shape;1296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7" name="Google Shape;1297;p7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98" name="Google Shape;1298;p75"/>
          <p:cNvGrpSpPr/>
          <p:nvPr/>
        </p:nvGrpSpPr>
        <p:grpSpPr>
          <a:xfrm>
            <a:off x="6734686" y="2833055"/>
            <a:ext cx="433200" cy="277200"/>
            <a:chOff x="4193788" y="2215950"/>
            <a:chExt cx="433200" cy="277200"/>
          </a:xfrm>
        </p:grpSpPr>
        <p:sp>
          <p:nvSpPr>
            <p:cNvPr id="1299" name="Google Shape;1299;p75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00" name="Google Shape;1300;p75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301" name="Google Shape;1301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2" name="Google Shape;1302;p75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03" name="Google Shape;1303;p75"/>
          <p:cNvSpPr txBox="1"/>
          <p:nvPr/>
        </p:nvSpPr>
        <p:spPr>
          <a:xfrm>
            <a:off x="2136638" y="2272613"/>
            <a:ext cx="499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75"/>
          <p:cNvSpPr txBox="1"/>
          <p:nvPr/>
        </p:nvSpPr>
        <p:spPr>
          <a:xfrm>
            <a:off x="2136650" y="1691613"/>
            <a:ext cx="499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75"/>
          <p:cNvSpPr txBox="1"/>
          <p:nvPr/>
        </p:nvSpPr>
        <p:spPr>
          <a:xfrm>
            <a:off x="2136650" y="3145563"/>
            <a:ext cx="4992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75"/>
          <p:cNvSpPr txBox="1"/>
          <p:nvPr/>
        </p:nvSpPr>
        <p:spPr>
          <a:xfrm>
            <a:off x="3690025" y="2135225"/>
            <a:ext cx="1586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 P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7" name="Google Shape;1307;p75"/>
          <p:cNvSpPr txBox="1"/>
          <p:nvPr/>
        </p:nvSpPr>
        <p:spPr>
          <a:xfrm>
            <a:off x="5774400" y="3461050"/>
            <a:ext cx="288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probability of this outcome?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75"/>
          <p:cNvSpPr txBox="1"/>
          <p:nvPr/>
        </p:nvSpPr>
        <p:spPr>
          <a:xfrm>
            <a:off x="5360400" y="41568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0.7 x 0.25 = 0.175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76"/>
          <p:cNvSpPr/>
          <p:nvPr/>
        </p:nvSpPr>
        <p:spPr>
          <a:xfrm>
            <a:off x="3839850" y="802394"/>
            <a:ext cx="1745700" cy="28137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cxnSp>
        <p:nvCxnSpPr>
          <p:cNvPr id="1315" name="Google Shape;1315;p76"/>
          <p:cNvCxnSpPr/>
          <p:nvPr/>
        </p:nvCxnSpPr>
        <p:spPr>
          <a:xfrm>
            <a:off x="576913" y="2226669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76"/>
          <p:cNvCxnSpPr/>
          <p:nvPr/>
        </p:nvCxnSpPr>
        <p:spPr>
          <a:xfrm flipH="1" rot="10800000">
            <a:off x="1652431" y="1060498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7" name="Google Shape;1317;p76"/>
          <p:cNvSpPr txBox="1"/>
          <p:nvPr/>
        </p:nvSpPr>
        <p:spPr>
          <a:xfrm>
            <a:off x="1318878" y="1370544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8" name="Google Shape;1318;p76"/>
          <p:cNvCxnSpPr/>
          <p:nvPr/>
        </p:nvCxnSpPr>
        <p:spPr>
          <a:xfrm>
            <a:off x="1652431" y="2974032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9" name="Google Shape;1319;p76"/>
          <p:cNvSpPr txBox="1"/>
          <p:nvPr/>
        </p:nvSpPr>
        <p:spPr>
          <a:xfrm>
            <a:off x="3417149" y="974819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76"/>
          <p:cNvSpPr txBox="1"/>
          <p:nvPr/>
        </p:nvSpPr>
        <p:spPr>
          <a:xfrm>
            <a:off x="3417149" y="1870148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76"/>
          <p:cNvSpPr txBox="1"/>
          <p:nvPr/>
        </p:nvSpPr>
        <p:spPr>
          <a:xfrm>
            <a:off x="3417149" y="3332919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2" name="Google Shape;1322;p76"/>
          <p:cNvCxnSpPr/>
          <p:nvPr/>
        </p:nvCxnSpPr>
        <p:spPr>
          <a:xfrm flipH="1" rot="10800000">
            <a:off x="576913" y="1507319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76"/>
          <p:cNvCxnSpPr/>
          <p:nvPr/>
        </p:nvCxnSpPr>
        <p:spPr>
          <a:xfrm>
            <a:off x="1652431" y="1511266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76"/>
          <p:cNvCxnSpPr/>
          <p:nvPr/>
        </p:nvCxnSpPr>
        <p:spPr>
          <a:xfrm flipH="1" rot="10800000">
            <a:off x="1652431" y="2523264"/>
            <a:ext cx="16575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5" name="Google Shape;1325;p76"/>
          <p:cNvSpPr txBox="1"/>
          <p:nvPr/>
        </p:nvSpPr>
        <p:spPr>
          <a:xfrm>
            <a:off x="1318878" y="2799395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76"/>
          <p:cNvSpPr txBox="1"/>
          <p:nvPr/>
        </p:nvSpPr>
        <p:spPr>
          <a:xfrm>
            <a:off x="3417149" y="2437590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7" name="Google Shape;1327;p76"/>
          <p:cNvCxnSpPr/>
          <p:nvPr/>
        </p:nvCxnSpPr>
        <p:spPr>
          <a:xfrm rot="10800000">
            <a:off x="3836400" y="1504413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76"/>
          <p:cNvCxnSpPr/>
          <p:nvPr/>
        </p:nvCxnSpPr>
        <p:spPr>
          <a:xfrm rot="10800000">
            <a:off x="3836400" y="2217171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76"/>
          <p:cNvCxnSpPr/>
          <p:nvPr/>
        </p:nvCxnSpPr>
        <p:spPr>
          <a:xfrm rot="10800000">
            <a:off x="3836400" y="2966646"/>
            <a:ext cx="17526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0" name="Google Shape;1330;p76"/>
          <p:cNvSpPr txBox="1"/>
          <p:nvPr/>
        </p:nvSpPr>
        <p:spPr>
          <a:xfrm>
            <a:off x="6054625" y="865350"/>
            <a:ext cx="27651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32% written as a fraction?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76"/>
          <p:cNvSpPr txBox="1"/>
          <p:nvPr/>
        </p:nvSpPr>
        <p:spPr>
          <a:xfrm>
            <a:off x="572902" y="1533078"/>
            <a:ext cx="5496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32%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76"/>
          <p:cNvSpPr txBox="1"/>
          <p:nvPr/>
        </p:nvSpPr>
        <p:spPr>
          <a:xfrm>
            <a:off x="572902" y="2656513"/>
            <a:ext cx="5496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68%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76"/>
          <p:cNvSpPr txBox="1"/>
          <p:nvPr/>
        </p:nvSpPr>
        <p:spPr>
          <a:xfrm>
            <a:off x="6054625" y="2389350"/>
            <a:ext cx="2765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hat would go in the part of the sample space labelled     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4" name="Google Shape;1334;p76"/>
          <p:cNvGrpSpPr/>
          <p:nvPr/>
        </p:nvGrpSpPr>
        <p:grpSpPr>
          <a:xfrm>
            <a:off x="7602905" y="2943705"/>
            <a:ext cx="433200" cy="277200"/>
            <a:chOff x="4193788" y="2215950"/>
            <a:chExt cx="433200" cy="277200"/>
          </a:xfrm>
        </p:grpSpPr>
        <p:sp>
          <p:nvSpPr>
            <p:cNvPr id="1335" name="Google Shape;1335;p7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36" name="Google Shape;1336;p7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337" name="Google Shape;1337;p7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8" name="Google Shape;1338;p7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39" name="Google Shape;1339;p76"/>
          <p:cNvGrpSpPr/>
          <p:nvPr/>
        </p:nvGrpSpPr>
        <p:grpSpPr>
          <a:xfrm>
            <a:off x="4496105" y="1722209"/>
            <a:ext cx="433200" cy="277200"/>
            <a:chOff x="4193788" y="2215950"/>
            <a:chExt cx="433200" cy="277200"/>
          </a:xfrm>
        </p:grpSpPr>
        <p:sp>
          <p:nvSpPr>
            <p:cNvPr id="1340" name="Google Shape;1340;p76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41" name="Google Shape;1341;p76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1342" name="Google Shape;1342;p7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3" name="Google Shape;1343;p7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44" name="Google Shape;1344;p76"/>
          <p:cNvGrpSpPr/>
          <p:nvPr/>
        </p:nvGrpSpPr>
        <p:grpSpPr>
          <a:xfrm>
            <a:off x="6028202" y="3248975"/>
            <a:ext cx="1324100" cy="399175"/>
            <a:chOff x="6256802" y="4010975"/>
            <a:chExt cx="1324100" cy="399175"/>
          </a:xfrm>
        </p:grpSpPr>
        <p:sp>
          <p:nvSpPr>
            <p:cNvPr id="1345" name="Google Shape;1345;p76"/>
            <p:cNvSpPr txBox="1"/>
            <p:nvPr/>
          </p:nvSpPr>
          <p:spPr>
            <a:xfrm>
              <a:off x="6927802" y="4010975"/>
              <a:ext cx="6531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X P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346" name="Google Shape;1346;p76"/>
            <p:cNvSpPr txBox="1"/>
            <p:nvPr/>
          </p:nvSpPr>
          <p:spPr>
            <a:xfrm>
              <a:off x="6256802" y="4030950"/>
              <a:ext cx="653100" cy="37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or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47" name="Google Shape;1347;p76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255" y="3322294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348" name="Google Shape;1348;p76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8250" y="735067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349" name="Google Shape;1349;p76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8250" y="2202830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350" name="Google Shape;1350;p76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255" y="1341230"/>
            <a:ext cx="131675" cy="423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1" name="Google Shape;1351;p76"/>
          <p:cNvGrpSpPr/>
          <p:nvPr/>
        </p:nvGrpSpPr>
        <p:grpSpPr>
          <a:xfrm>
            <a:off x="580417" y="1020117"/>
            <a:ext cx="549600" cy="804801"/>
            <a:chOff x="580417" y="1020117"/>
            <a:chExt cx="549600" cy="804801"/>
          </a:xfrm>
        </p:grpSpPr>
        <p:sp>
          <p:nvSpPr>
            <p:cNvPr id="1352" name="Google Shape;1352;p76"/>
            <p:cNvSpPr/>
            <p:nvPr/>
          </p:nvSpPr>
          <p:spPr>
            <a:xfrm>
              <a:off x="580417" y="1486517"/>
              <a:ext cx="549600" cy="338400"/>
            </a:xfrm>
            <a:prstGeom prst="roundRect">
              <a:avLst>
                <a:gd fmla="val 902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2}{100}&quot;&gt;&lt;mfrac&gt;&lt;mn&gt;32&lt;/mn&gt;&lt;mn&gt;100&lt;/mn&gt;&lt;/mfrac&gt;&lt;/math&gt;" id="1353" name="Google Shape;1353;p76" title="32 over 1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3354" y="1020117"/>
              <a:ext cx="328675" cy="4191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4" name="Google Shape;1354;p76"/>
          <p:cNvGrpSpPr/>
          <p:nvPr/>
        </p:nvGrpSpPr>
        <p:grpSpPr>
          <a:xfrm>
            <a:off x="6893654" y="1533079"/>
            <a:ext cx="1131100" cy="446100"/>
            <a:chOff x="6344429" y="2012979"/>
            <a:chExt cx="1131100" cy="446100"/>
          </a:xfrm>
        </p:grpSpPr>
        <p:pic>
          <p:nvPicPr>
            <p:cNvPr descr="&lt;math xmlns=&quot;http://www.w3.org/1998/Math/MathML&quot; display=&quot;block&quot; data-is-equatio=&quot;1&quot; data-latex=&quot;\frac{32}{100}&quot;&gt;&lt;mfrac&gt;&lt;mn&gt;32&lt;/mn&gt;&lt;mn&gt;100&lt;/mn&gt;&lt;/mfrac&gt;&lt;/math&gt;" id="1355" name="Google Shape;1355;p76" title="32 over 1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44429" y="2026467"/>
              <a:ext cx="328675" cy="4191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8}{25}&quot;&gt;&lt;mfrac&gt;&lt;mn&gt;8&lt;/mn&gt;&lt;mn&gt;25&lt;/mn&gt;&lt;/mfrac&gt;&lt;/math&gt;" id="1356" name="Google Shape;1356;p76" title="8 over 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231000" y="2012979"/>
              <a:ext cx="244529" cy="44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7" name="Google Shape;1357;p76"/>
          <p:cNvSpPr txBox="1"/>
          <p:nvPr/>
        </p:nvSpPr>
        <p:spPr>
          <a:xfrm>
            <a:off x="3921863" y="1571900"/>
            <a:ext cx="1586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X 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		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6}{500}&quot;&gt;&lt;mfrac&gt;&lt;mn&gt;96&lt;/mn&gt;&lt;mn&gt;500&lt;/mn&gt;&lt;/mfrac&gt;&lt;/math&gt;" id="1358" name="Google Shape;1358;p76" title="96 over 5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00525" y="1651216"/>
            <a:ext cx="329110" cy="4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125}&quot;&gt;&lt;mfrac&gt;&lt;mn&gt;24&lt;/mn&gt;&lt;mn&gt;125&lt;/mn&gt;&lt;/mfrac&gt;&lt;/math&gt;" id="1359" name="Google Shape;1359;p76" title="24 over 1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59191" y="3239413"/>
            <a:ext cx="329100" cy="418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77"/>
          <p:cNvSpPr txBox="1"/>
          <p:nvPr/>
        </p:nvSpPr>
        <p:spPr>
          <a:xfrm>
            <a:off x="324000" y="636750"/>
            <a:ext cx="26856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Spinner 1 is spun several times.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spinner landed on R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 is spun several times.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spinner landed on G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366" name="Google Shape;1366;p77"/>
          <p:cNvSpPr/>
          <p:nvPr/>
        </p:nvSpPr>
        <p:spPr>
          <a:xfrm rot="-5400000">
            <a:off x="356974" y="3376446"/>
            <a:ext cx="1063800" cy="1063800"/>
          </a:xfrm>
          <a:prstGeom prst="pie">
            <a:avLst>
              <a:gd fmla="val 16197753" name="adj1"/>
              <a:gd fmla="val 2029901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77"/>
          <p:cNvSpPr/>
          <p:nvPr/>
        </p:nvSpPr>
        <p:spPr>
          <a:xfrm rot="-5400000">
            <a:off x="356974" y="3376446"/>
            <a:ext cx="1063800" cy="1063800"/>
          </a:xfrm>
          <a:prstGeom prst="pie">
            <a:avLst>
              <a:gd fmla="val 2035414" name="adj1"/>
              <a:gd fmla="val 16207343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8" name="Google Shape;1368;p77"/>
          <p:cNvGrpSpPr/>
          <p:nvPr/>
        </p:nvGrpSpPr>
        <p:grpSpPr>
          <a:xfrm rot="-5400000">
            <a:off x="646281" y="3677358"/>
            <a:ext cx="52145" cy="461955"/>
            <a:chOff x="936300" y="737518"/>
            <a:chExt cx="65100" cy="576723"/>
          </a:xfrm>
        </p:grpSpPr>
        <p:cxnSp>
          <p:nvCxnSpPr>
            <p:cNvPr id="1369" name="Google Shape;1369;p77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70" name="Google Shape;1370;p77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1" name="Google Shape;1371;p77"/>
          <p:cNvSpPr txBox="1"/>
          <p:nvPr/>
        </p:nvSpPr>
        <p:spPr>
          <a:xfrm>
            <a:off x="612691" y="3539861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77"/>
          <p:cNvSpPr txBox="1"/>
          <p:nvPr/>
        </p:nvSpPr>
        <p:spPr>
          <a:xfrm>
            <a:off x="917491" y="40044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77"/>
          <p:cNvSpPr/>
          <p:nvPr/>
        </p:nvSpPr>
        <p:spPr>
          <a:xfrm rot="-5400000">
            <a:off x="2347849" y="3376446"/>
            <a:ext cx="1063800" cy="1063800"/>
          </a:xfrm>
          <a:prstGeom prst="pie">
            <a:avLst>
              <a:gd fmla="val 16197753" name="adj1"/>
              <a:gd fmla="val 20397738" name="adj2"/>
            </a:avLst>
          </a:prstGeom>
          <a:solidFill>
            <a:schemeClr val="accent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77"/>
          <p:cNvSpPr/>
          <p:nvPr/>
        </p:nvSpPr>
        <p:spPr>
          <a:xfrm rot="-5400000">
            <a:off x="2347849" y="3376446"/>
            <a:ext cx="1063800" cy="1063800"/>
          </a:xfrm>
          <a:prstGeom prst="pie">
            <a:avLst>
              <a:gd fmla="val 20410576" name="adj1"/>
              <a:gd fmla="val 16207343" name="adj2"/>
            </a:avLst>
          </a:prstGeom>
          <a:solidFill>
            <a:srgbClr val="FAEAF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5" name="Google Shape;1375;p77"/>
          <p:cNvGrpSpPr/>
          <p:nvPr/>
        </p:nvGrpSpPr>
        <p:grpSpPr>
          <a:xfrm rot="-5400000">
            <a:off x="2637156" y="3677358"/>
            <a:ext cx="52145" cy="461955"/>
            <a:chOff x="936300" y="737518"/>
            <a:chExt cx="65100" cy="576723"/>
          </a:xfrm>
        </p:grpSpPr>
        <p:cxnSp>
          <p:nvCxnSpPr>
            <p:cNvPr id="1376" name="Google Shape;1376;p77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77" name="Google Shape;1377;p77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8" name="Google Shape;1378;p77"/>
          <p:cNvSpPr txBox="1"/>
          <p:nvPr/>
        </p:nvSpPr>
        <p:spPr>
          <a:xfrm>
            <a:off x="2512441" y="3572411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77"/>
          <p:cNvSpPr txBox="1"/>
          <p:nvPr/>
        </p:nvSpPr>
        <p:spPr>
          <a:xfrm>
            <a:off x="3009573" y="38802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77"/>
          <p:cNvSpPr txBox="1"/>
          <p:nvPr/>
        </p:nvSpPr>
        <p:spPr>
          <a:xfrm>
            <a:off x="356975" y="4392825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77"/>
          <p:cNvSpPr txBox="1"/>
          <p:nvPr/>
        </p:nvSpPr>
        <p:spPr>
          <a:xfrm>
            <a:off x="2347850" y="4392825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82" name="Google Shape;1382;p77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776" y="1113524"/>
            <a:ext cx="131675" cy="43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383" name="Google Shape;1383;p77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9325" y="2493786"/>
            <a:ext cx="131675" cy="4330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4" name="Google Shape;1384;p77"/>
          <p:cNvCxnSpPr/>
          <p:nvPr/>
        </p:nvCxnSpPr>
        <p:spPr>
          <a:xfrm>
            <a:off x="3562875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5" name="Google Shape;1385;p77"/>
          <p:cNvSpPr/>
          <p:nvPr/>
        </p:nvSpPr>
        <p:spPr>
          <a:xfrm>
            <a:off x="6261658" y="2164443"/>
            <a:ext cx="2157000" cy="26118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6" name="Google Shape;1386;p77"/>
          <p:cNvCxnSpPr/>
          <p:nvPr/>
        </p:nvCxnSpPr>
        <p:spPr>
          <a:xfrm>
            <a:off x="3679924" y="3487688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77"/>
          <p:cNvCxnSpPr/>
          <p:nvPr/>
        </p:nvCxnSpPr>
        <p:spPr>
          <a:xfrm flipH="1" rot="10800000">
            <a:off x="4755427" y="2321518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77"/>
          <p:cNvSpPr txBox="1"/>
          <p:nvPr/>
        </p:nvSpPr>
        <p:spPr>
          <a:xfrm>
            <a:off x="4421889" y="2631563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9" name="Google Shape;1389;p77"/>
          <p:cNvCxnSpPr/>
          <p:nvPr/>
        </p:nvCxnSpPr>
        <p:spPr>
          <a:xfrm>
            <a:off x="4755427" y="4235044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77"/>
          <p:cNvSpPr txBox="1"/>
          <p:nvPr/>
        </p:nvSpPr>
        <p:spPr>
          <a:xfrm>
            <a:off x="5951699" y="2235838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1" name="Google Shape;1391;p77"/>
          <p:cNvCxnSpPr/>
          <p:nvPr/>
        </p:nvCxnSpPr>
        <p:spPr>
          <a:xfrm flipH="1" rot="10800000">
            <a:off x="3679924" y="2768338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77"/>
          <p:cNvCxnSpPr/>
          <p:nvPr/>
        </p:nvCxnSpPr>
        <p:spPr>
          <a:xfrm>
            <a:off x="4755427" y="2772286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3" name="Google Shape;1393;p77"/>
          <p:cNvCxnSpPr/>
          <p:nvPr/>
        </p:nvCxnSpPr>
        <p:spPr>
          <a:xfrm flipH="1" rot="10800000">
            <a:off x="4755427" y="3784276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77"/>
          <p:cNvCxnSpPr/>
          <p:nvPr/>
        </p:nvCxnSpPr>
        <p:spPr>
          <a:xfrm rot="10800000">
            <a:off x="6257550" y="2816050"/>
            <a:ext cx="2165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5" name="Google Shape;1395;p77"/>
          <p:cNvCxnSpPr/>
          <p:nvPr/>
        </p:nvCxnSpPr>
        <p:spPr>
          <a:xfrm rot="10800000">
            <a:off x="6257550" y="3477626"/>
            <a:ext cx="2165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6" name="Google Shape;1396;p77"/>
          <p:cNvCxnSpPr/>
          <p:nvPr/>
        </p:nvCxnSpPr>
        <p:spPr>
          <a:xfrm rot="10800000">
            <a:off x="6257550" y="4173282"/>
            <a:ext cx="2165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7" name="Google Shape;1397;p77"/>
          <p:cNvSpPr txBox="1"/>
          <p:nvPr/>
        </p:nvSpPr>
        <p:spPr>
          <a:xfrm>
            <a:off x="3755175" y="712950"/>
            <a:ext cx="50649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spinner 1 and spinner 2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probability tree to calculate the probability of each outcome from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77"/>
          <p:cNvSpPr txBox="1"/>
          <p:nvPr/>
        </p:nvSpPr>
        <p:spPr>
          <a:xfrm>
            <a:off x="6306010" y="2450518"/>
            <a:ext cx="529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 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times\frac{1}{7}=\frac{1}{21}&quot;&gt;&lt;mfrac&gt;&lt;mn&gt;1&lt;/mn&gt;&lt;mn&gt;3&lt;/mn&gt;&lt;/mfrac&gt;&lt;mo&gt;×&lt;/mo&gt;&lt;mfrac&gt;&lt;mn&gt;1&lt;/mn&gt;&lt;mn&gt;7&lt;/mn&gt;&lt;/mfrac&gt;&lt;mo&gt;=&lt;/mo&gt;&lt;mfrac&gt;&lt;mn&gt;1&lt;/mn&gt;&lt;mn&gt;21&lt;/mn&gt;&lt;/mfrac&gt;&lt;/math&gt;" id="1399" name="Google Shape;1399;p77" title="one third times one seventh equals 1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1131" y="2291772"/>
            <a:ext cx="1077272" cy="43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21}&quot;&gt;&lt;mfrac&gt;&lt;mn&gt;2&lt;/mn&gt;&lt;mn&gt;21&lt;/mn&gt;&lt;/mfrac&gt;&lt;/math&gt;" id="1400" name="Google Shape;1400;p77" title="2 over 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59925" y="3592980"/>
            <a:ext cx="266025" cy="472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401" name="Google Shape;1401;p77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6551" y="2647113"/>
            <a:ext cx="131675" cy="43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402" name="Google Shape;1402;p77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125" y="2088902"/>
            <a:ext cx="131675" cy="433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78"/>
          <p:cNvSpPr txBox="1"/>
          <p:nvPr/>
        </p:nvSpPr>
        <p:spPr>
          <a:xfrm>
            <a:off x="3134925" y="636750"/>
            <a:ext cx="56853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Modify this probability tree so that it shows the sample space and probability of each outcome of this trial happening.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is the probability of the outcome C Q happening?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78"/>
          <p:cNvSpPr txBox="1"/>
          <p:nvPr/>
        </p:nvSpPr>
        <p:spPr>
          <a:xfrm>
            <a:off x="324000" y="636750"/>
            <a:ext cx="2563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Trial: spinner 1 and spinner 2 are spun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probability tree currently shows all the outcomes on spinner 1.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410" name="Google Shape;1410;p78"/>
          <p:cNvSpPr txBox="1"/>
          <p:nvPr/>
        </p:nvSpPr>
        <p:spPr>
          <a:xfrm>
            <a:off x="456231" y="4538043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78"/>
          <p:cNvSpPr/>
          <p:nvPr/>
        </p:nvSpPr>
        <p:spPr>
          <a:xfrm flipH="1">
            <a:off x="373232" y="3351618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78"/>
          <p:cNvSpPr/>
          <p:nvPr/>
        </p:nvSpPr>
        <p:spPr>
          <a:xfrm flipH="1" rot="2700000">
            <a:off x="373464" y="335171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78"/>
          <p:cNvSpPr/>
          <p:nvPr/>
        </p:nvSpPr>
        <p:spPr>
          <a:xfrm flipH="1" rot="5400000">
            <a:off x="373585" y="3351822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78"/>
          <p:cNvSpPr/>
          <p:nvPr/>
        </p:nvSpPr>
        <p:spPr>
          <a:xfrm flipH="1" rot="8100000">
            <a:off x="373531" y="3351692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78"/>
          <p:cNvSpPr/>
          <p:nvPr/>
        </p:nvSpPr>
        <p:spPr>
          <a:xfrm flipH="1" rot="10800000">
            <a:off x="373396" y="3351596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78"/>
          <p:cNvSpPr/>
          <p:nvPr/>
        </p:nvSpPr>
        <p:spPr>
          <a:xfrm flipH="1" rot="-8100000">
            <a:off x="373356" y="3351692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78"/>
          <p:cNvSpPr/>
          <p:nvPr/>
        </p:nvSpPr>
        <p:spPr>
          <a:xfrm flipH="1" rot="-5400000">
            <a:off x="373343" y="3351692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8"/>
          <p:cNvSpPr/>
          <p:nvPr/>
        </p:nvSpPr>
        <p:spPr>
          <a:xfrm flipH="1" rot="-2700000">
            <a:off x="373289" y="335171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78"/>
          <p:cNvSpPr/>
          <p:nvPr/>
        </p:nvSpPr>
        <p:spPr>
          <a:xfrm rot="5400000">
            <a:off x="922837" y="3903832"/>
            <a:ext cx="65100" cy="58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78"/>
          <p:cNvSpPr txBox="1"/>
          <p:nvPr/>
        </p:nvSpPr>
        <p:spPr>
          <a:xfrm flipH="1">
            <a:off x="1154853" y="3594539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78"/>
          <p:cNvSpPr txBox="1"/>
          <p:nvPr/>
        </p:nvSpPr>
        <p:spPr>
          <a:xfrm flipH="1">
            <a:off x="1154853" y="3942613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78"/>
          <p:cNvSpPr txBox="1"/>
          <p:nvPr/>
        </p:nvSpPr>
        <p:spPr>
          <a:xfrm flipH="1">
            <a:off x="951640" y="412963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78"/>
          <p:cNvSpPr txBox="1"/>
          <p:nvPr/>
        </p:nvSpPr>
        <p:spPr>
          <a:xfrm>
            <a:off x="467092" y="363754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78"/>
          <p:cNvSpPr txBox="1"/>
          <p:nvPr/>
        </p:nvSpPr>
        <p:spPr>
          <a:xfrm>
            <a:off x="467092" y="390785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78"/>
          <p:cNvSpPr txBox="1"/>
          <p:nvPr/>
        </p:nvSpPr>
        <p:spPr>
          <a:xfrm>
            <a:off x="670305" y="412963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78"/>
          <p:cNvSpPr txBox="1"/>
          <p:nvPr/>
        </p:nvSpPr>
        <p:spPr>
          <a:xfrm flipH="1">
            <a:off x="951635" y="340887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78"/>
          <p:cNvSpPr txBox="1"/>
          <p:nvPr/>
        </p:nvSpPr>
        <p:spPr>
          <a:xfrm>
            <a:off x="668785" y="340887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8" name="Google Shape;1428;p78"/>
          <p:cNvGrpSpPr/>
          <p:nvPr/>
        </p:nvGrpSpPr>
        <p:grpSpPr>
          <a:xfrm>
            <a:off x="1518048" y="3114726"/>
            <a:ext cx="1616882" cy="1616479"/>
            <a:chOff x="1502704" y="2293958"/>
            <a:chExt cx="2197150" cy="2196900"/>
          </a:xfrm>
        </p:grpSpPr>
        <p:sp>
          <p:nvSpPr>
            <p:cNvPr id="1429" name="Google Shape;1429;p78"/>
            <p:cNvSpPr/>
            <p:nvPr/>
          </p:nvSpPr>
          <p:spPr>
            <a:xfrm flipH="1">
              <a:off x="1814123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78"/>
            <p:cNvSpPr/>
            <p:nvPr/>
          </p:nvSpPr>
          <p:spPr>
            <a:xfrm flipH="1" rot="4320031">
              <a:off x="1813539" y="2606224"/>
              <a:ext cx="1572773" cy="1572773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78"/>
            <p:cNvSpPr/>
            <p:nvPr/>
          </p:nvSpPr>
          <p:spPr>
            <a:xfrm flipH="1" rot="8639756">
              <a:off x="1814675" y="2606457"/>
              <a:ext cx="1572360" cy="157236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78"/>
            <p:cNvSpPr/>
            <p:nvPr/>
          </p:nvSpPr>
          <p:spPr>
            <a:xfrm flipH="1" rot="-8639611">
              <a:off x="1815015" y="2606019"/>
              <a:ext cx="1572779" cy="1572779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78"/>
            <p:cNvSpPr/>
            <p:nvPr/>
          </p:nvSpPr>
          <p:spPr>
            <a:xfrm>
              <a:off x="1813258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78"/>
            <p:cNvSpPr txBox="1"/>
            <p:nvPr/>
          </p:nvSpPr>
          <p:spPr>
            <a:xfrm flipH="1">
              <a:off x="2872931" y="3369250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5" name="Google Shape;1435;p78"/>
            <p:cNvSpPr txBox="1"/>
            <p:nvPr/>
          </p:nvSpPr>
          <p:spPr>
            <a:xfrm flipH="1">
              <a:off x="2405359" y="3748426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6" name="Google Shape;1436;p78"/>
            <p:cNvSpPr txBox="1"/>
            <p:nvPr/>
          </p:nvSpPr>
          <p:spPr>
            <a:xfrm flipH="1">
              <a:off x="1935123" y="3369250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7" name="Google Shape;1437;p78"/>
            <p:cNvSpPr txBox="1"/>
            <p:nvPr/>
          </p:nvSpPr>
          <p:spPr>
            <a:xfrm flipH="1">
              <a:off x="2104224" y="2860823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8" name="Google Shape;1438;p78"/>
            <p:cNvSpPr txBox="1"/>
            <p:nvPr/>
          </p:nvSpPr>
          <p:spPr>
            <a:xfrm flipH="1">
              <a:off x="2703852" y="2860823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9" name="Google Shape;1439;p78"/>
          <p:cNvSpPr txBox="1"/>
          <p:nvPr/>
        </p:nvSpPr>
        <p:spPr>
          <a:xfrm>
            <a:off x="1653742" y="4538049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0" name="Google Shape;1440;p78"/>
          <p:cNvCxnSpPr/>
          <p:nvPr/>
        </p:nvCxnSpPr>
        <p:spPr>
          <a:xfrm>
            <a:off x="3012775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41" name="Google Shape;1441;p78"/>
          <p:cNvGrpSpPr/>
          <p:nvPr/>
        </p:nvGrpSpPr>
        <p:grpSpPr>
          <a:xfrm>
            <a:off x="4841727" y="1546351"/>
            <a:ext cx="1226350" cy="2419502"/>
            <a:chOff x="4308325" y="1382425"/>
            <a:chExt cx="1226350" cy="2747249"/>
          </a:xfrm>
        </p:grpSpPr>
        <p:sp>
          <p:nvSpPr>
            <p:cNvPr id="1442" name="Google Shape;1442;p78"/>
            <p:cNvSpPr txBox="1"/>
            <p:nvPr/>
          </p:nvSpPr>
          <p:spPr>
            <a:xfrm>
              <a:off x="5253876" y="1382425"/>
              <a:ext cx="2808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3" name="Google Shape;1443;p78"/>
            <p:cNvCxnSpPr/>
            <p:nvPr/>
          </p:nvCxnSpPr>
          <p:spPr>
            <a:xfrm>
              <a:off x="4308325" y="2750224"/>
              <a:ext cx="928800" cy="1137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4" name="Google Shape;1444;p78"/>
            <p:cNvCxnSpPr/>
            <p:nvPr/>
          </p:nvCxnSpPr>
          <p:spPr>
            <a:xfrm flipH="1" rot="10800000">
              <a:off x="4308325" y="1600721"/>
              <a:ext cx="928800" cy="1137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5" name="Google Shape;1445;p78"/>
            <p:cNvCxnSpPr/>
            <p:nvPr/>
          </p:nvCxnSpPr>
          <p:spPr>
            <a:xfrm>
              <a:off x="4308325" y="2738321"/>
              <a:ext cx="92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6" name="Google Shape;1446;p78"/>
            <p:cNvSpPr txBox="1"/>
            <p:nvPr/>
          </p:nvSpPr>
          <p:spPr>
            <a:xfrm>
              <a:off x="5253876" y="2515222"/>
              <a:ext cx="2808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78"/>
            <p:cNvSpPr txBox="1"/>
            <p:nvPr/>
          </p:nvSpPr>
          <p:spPr>
            <a:xfrm>
              <a:off x="5253876" y="3686574"/>
              <a:ext cx="2808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448" name="Google Shape;1448;p78"/>
          <p:cNvCxnSpPr>
            <a:endCxn id="1433" idx="3"/>
          </p:cNvCxnSpPr>
          <p:nvPr/>
        </p:nvCxnSpPr>
        <p:spPr>
          <a:xfrm flipH="1" rot="10800000">
            <a:off x="2324023" y="3344660"/>
            <a:ext cx="1200" cy="57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9" name="Google Shape;1449;p78"/>
          <p:cNvCxnSpPr/>
          <p:nvPr/>
        </p:nvCxnSpPr>
        <p:spPr>
          <a:xfrm>
            <a:off x="1002187" y="3933232"/>
            <a:ext cx="547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79"/>
          <p:cNvSpPr/>
          <p:nvPr/>
        </p:nvSpPr>
        <p:spPr>
          <a:xfrm>
            <a:off x="6437415" y="1859725"/>
            <a:ext cx="1096200" cy="2793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79"/>
          <p:cNvSpPr/>
          <p:nvPr/>
        </p:nvSpPr>
        <p:spPr>
          <a:xfrm>
            <a:off x="5217008" y="2211200"/>
            <a:ext cx="1220400" cy="19422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79"/>
          <p:cNvSpPr txBox="1"/>
          <p:nvPr/>
        </p:nvSpPr>
        <p:spPr>
          <a:xfrm>
            <a:off x="2603025" y="1936900"/>
            <a:ext cx="23325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three probability trees (one each for Izzy, Lucas, and Laura) which show the probabilities of their two flowers growing.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has started to construct his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79"/>
          <p:cNvSpPr txBox="1"/>
          <p:nvPr/>
        </p:nvSpPr>
        <p:spPr>
          <a:xfrm>
            <a:off x="324000" y="565873"/>
            <a:ext cx="22314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Lucas, Izzy, and Laura each take two flower seeds from a packet to grow.</a:t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probability of each type of flower growing is written on the packet.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79"/>
          <p:cNvSpPr txBox="1"/>
          <p:nvPr/>
        </p:nvSpPr>
        <p:spPr>
          <a:xfrm>
            <a:off x="1051091" y="3911263"/>
            <a:ext cx="734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rose: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pic>
        <p:nvPicPr>
          <p:cNvPr id="1460" name="Google Shape;146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87" y="4042098"/>
            <a:ext cx="428128" cy="75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9040" y="3675148"/>
            <a:ext cx="428135" cy="75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2" name="Google Shape;146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308199"/>
            <a:ext cx="497911" cy="7547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3" name="Google Shape;1463;p79"/>
          <p:cNvCxnSpPr/>
          <p:nvPr/>
        </p:nvCxnSpPr>
        <p:spPr>
          <a:xfrm>
            <a:off x="2516850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4" name="Google Shape;1464;p79"/>
          <p:cNvSpPr txBox="1"/>
          <p:nvPr/>
        </p:nvSpPr>
        <p:spPr>
          <a:xfrm>
            <a:off x="810053" y="3271921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violet: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79"/>
          <p:cNvSpPr txBox="1"/>
          <p:nvPr/>
        </p:nvSpPr>
        <p:spPr>
          <a:xfrm>
            <a:off x="637024" y="4516995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daisy: 90%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6" name="Google Shape;1466;p79"/>
          <p:cNvGrpSpPr/>
          <p:nvPr/>
        </p:nvGrpSpPr>
        <p:grpSpPr>
          <a:xfrm>
            <a:off x="2636460" y="699150"/>
            <a:ext cx="1653140" cy="884510"/>
            <a:chOff x="3069685" y="699150"/>
            <a:chExt cx="1653140" cy="884510"/>
          </a:xfrm>
        </p:grpSpPr>
        <p:pic>
          <p:nvPicPr>
            <p:cNvPr id="1467" name="Google Shape;1467;p7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069685" y="712955"/>
              <a:ext cx="688874" cy="666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8" name="Google Shape;1468;p79"/>
            <p:cNvSpPr txBox="1"/>
            <p:nvPr/>
          </p:nvSpPr>
          <p:spPr>
            <a:xfrm>
              <a:off x="3211357" y="1389860"/>
              <a:ext cx="547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9" name="Google Shape;1469;p79"/>
            <p:cNvSpPr/>
            <p:nvPr/>
          </p:nvSpPr>
          <p:spPr>
            <a:xfrm>
              <a:off x="3830025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roses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0" name="Google Shape;1470;p79"/>
          <p:cNvGrpSpPr/>
          <p:nvPr/>
        </p:nvGrpSpPr>
        <p:grpSpPr>
          <a:xfrm>
            <a:off x="4935512" y="699150"/>
            <a:ext cx="1611449" cy="884500"/>
            <a:chOff x="4989001" y="699150"/>
            <a:chExt cx="1611449" cy="884500"/>
          </a:xfrm>
        </p:grpSpPr>
        <p:pic>
          <p:nvPicPr>
            <p:cNvPr id="1471" name="Google Shape;1471;p7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4773" y="835849"/>
              <a:ext cx="493551" cy="554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2" name="Google Shape;1472;p79"/>
            <p:cNvSpPr txBox="1"/>
            <p:nvPr/>
          </p:nvSpPr>
          <p:spPr>
            <a:xfrm>
              <a:off x="4989001" y="1389850"/>
              <a:ext cx="7854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3" name="Google Shape;1473;p79"/>
            <p:cNvSpPr/>
            <p:nvPr/>
          </p:nvSpPr>
          <p:spPr>
            <a:xfrm>
              <a:off x="5707050" y="699150"/>
              <a:ext cx="8934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violet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4" name="Google Shape;1474;p79"/>
          <p:cNvGrpSpPr/>
          <p:nvPr/>
        </p:nvGrpSpPr>
        <p:grpSpPr>
          <a:xfrm>
            <a:off x="7192873" y="699150"/>
            <a:ext cx="1627127" cy="884500"/>
            <a:chOff x="6910573" y="699150"/>
            <a:chExt cx="1627127" cy="884500"/>
          </a:xfrm>
        </p:grpSpPr>
        <p:sp>
          <p:nvSpPr>
            <p:cNvPr id="1475" name="Google Shape;1475;p79"/>
            <p:cNvSpPr/>
            <p:nvPr/>
          </p:nvSpPr>
          <p:spPr>
            <a:xfrm>
              <a:off x="7644900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rose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76" name="Google Shape;1476;p7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42487" y="785816"/>
              <a:ext cx="499385" cy="6540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7" name="Google Shape;1477;p79"/>
            <p:cNvSpPr txBox="1"/>
            <p:nvPr/>
          </p:nvSpPr>
          <p:spPr>
            <a:xfrm>
              <a:off x="6910573" y="1389850"/>
              <a:ext cx="763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478" name="Google Shape;1478;p79"/>
          <p:cNvCxnSpPr/>
          <p:nvPr/>
        </p:nvCxnSpPr>
        <p:spPr>
          <a:xfrm>
            <a:off x="5217510" y="3182888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79"/>
          <p:cNvCxnSpPr/>
          <p:nvPr/>
        </p:nvCxnSpPr>
        <p:spPr>
          <a:xfrm flipH="1" rot="10800000">
            <a:off x="6446681" y="2016725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0" name="Google Shape;1480;p79"/>
          <p:cNvSpPr txBox="1"/>
          <p:nvPr/>
        </p:nvSpPr>
        <p:spPr>
          <a:xfrm>
            <a:off x="5945035" y="2326775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1" name="Google Shape;1481;p79"/>
          <p:cNvCxnSpPr/>
          <p:nvPr/>
        </p:nvCxnSpPr>
        <p:spPr>
          <a:xfrm>
            <a:off x="6446681" y="3930250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2" name="Google Shape;1482;p79"/>
          <p:cNvCxnSpPr/>
          <p:nvPr/>
        </p:nvCxnSpPr>
        <p:spPr>
          <a:xfrm flipH="1" rot="10800000">
            <a:off x="5217510" y="2463538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3" name="Google Shape;1483;p79"/>
          <p:cNvCxnSpPr/>
          <p:nvPr/>
        </p:nvCxnSpPr>
        <p:spPr>
          <a:xfrm>
            <a:off x="6446681" y="2467493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4" name="Google Shape;1484;p79"/>
          <p:cNvCxnSpPr/>
          <p:nvPr/>
        </p:nvCxnSpPr>
        <p:spPr>
          <a:xfrm flipH="1" rot="10800000">
            <a:off x="6446681" y="3479482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85" name="Google Shape;1485;p79"/>
          <p:cNvGrpSpPr/>
          <p:nvPr/>
        </p:nvGrpSpPr>
        <p:grpSpPr>
          <a:xfrm>
            <a:off x="7533639" y="1859736"/>
            <a:ext cx="932700" cy="2793320"/>
            <a:chOff x="7887300" y="1859650"/>
            <a:chExt cx="932700" cy="2611800"/>
          </a:xfrm>
        </p:grpSpPr>
        <p:sp>
          <p:nvSpPr>
            <p:cNvPr id="1486" name="Google Shape;1486;p79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7" name="Google Shape;1487;p79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8" name="Google Shape;1488;p79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9" name="Google Shape;1489;p79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0" name="Google Shape;1490;p79"/>
          <p:cNvSpPr txBox="1"/>
          <p:nvPr/>
        </p:nvSpPr>
        <p:spPr>
          <a:xfrm>
            <a:off x="5945035" y="3729875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79"/>
          <p:cNvSpPr txBox="1"/>
          <p:nvPr/>
        </p:nvSpPr>
        <p:spPr>
          <a:xfrm>
            <a:off x="7035526" y="1877721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79"/>
          <p:cNvSpPr txBox="1"/>
          <p:nvPr/>
        </p:nvSpPr>
        <p:spPr>
          <a:xfrm>
            <a:off x="7035526" y="2759857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79"/>
          <p:cNvSpPr txBox="1"/>
          <p:nvPr/>
        </p:nvSpPr>
        <p:spPr>
          <a:xfrm>
            <a:off x="7035526" y="3355195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79"/>
          <p:cNvSpPr txBox="1"/>
          <p:nvPr/>
        </p:nvSpPr>
        <p:spPr>
          <a:xfrm>
            <a:off x="7035526" y="4237331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79"/>
          <p:cNvSpPr txBox="1"/>
          <p:nvPr/>
        </p:nvSpPr>
        <p:spPr>
          <a:xfrm>
            <a:off x="5217008" y="4193875"/>
            <a:ext cx="1220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stage: violet seed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496" name="Google Shape;1496;p79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18967" y="3855587"/>
            <a:ext cx="131675" cy="41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80"/>
          <p:cNvSpPr txBox="1"/>
          <p:nvPr/>
        </p:nvSpPr>
        <p:spPr>
          <a:xfrm>
            <a:off x="324000" y="636750"/>
            <a:ext cx="26856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Spinner 1 is spun several times.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spinner landed on R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 is spun several times.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spinner landed on G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time.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503" name="Google Shape;1503;p80"/>
          <p:cNvSpPr/>
          <p:nvPr/>
        </p:nvSpPr>
        <p:spPr>
          <a:xfrm rot="-5400000">
            <a:off x="356974" y="3376446"/>
            <a:ext cx="1063800" cy="1063800"/>
          </a:xfrm>
          <a:prstGeom prst="pie">
            <a:avLst>
              <a:gd fmla="val 16197753" name="adj1"/>
              <a:gd fmla="val 2029901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80"/>
          <p:cNvSpPr/>
          <p:nvPr/>
        </p:nvSpPr>
        <p:spPr>
          <a:xfrm rot="-5400000">
            <a:off x="356974" y="3376446"/>
            <a:ext cx="1063800" cy="1063800"/>
          </a:xfrm>
          <a:prstGeom prst="pie">
            <a:avLst>
              <a:gd fmla="val 2035414" name="adj1"/>
              <a:gd fmla="val 16207343" name="adj2"/>
            </a:avLst>
          </a:prstGeom>
          <a:solidFill>
            <a:srgbClr val="EBEDF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5" name="Google Shape;1505;p80"/>
          <p:cNvGrpSpPr/>
          <p:nvPr/>
        </p:nvGrpSpPr>
        <p:grpSpPr>
          <a:xfrm rot="-5400000">
            <a:off x="646281" y="3677358"/>
            <a:ext cx="52145" cy="461955"/>
            <a:chOff x="936300" y="737518"/>
            <a:chExt cx="65100" cy="576723"/>
          </a:xfrm>
        </p:grpSpPr>
        <p:cxnSp>
          <p:nvCxnSpPr>
            <p:cNvPr id="1506" name="Google Shape;1506;p8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07" name="Google Shape;1507;p8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8" name="Google Shape;1508;p80"/>
          <p:cNvSpPr txBox="1"/>
          <p:nvPr/>
        </p:nvSpPr>
        <p:spPr>
          <a:xfrm>
            <a:off x="612691" y="3539861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0"/>
          <p:cNvSpPr txBox="1"/>
          <p:nvPr/>
        </p:nvSpPr>
        <p:spPr>
          <a:xfrm>
            <a:off x="917491" y="40044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80"/>
          <p:cNvSpPr/>
          <p:nvPr/>
        </p:nvSpPr>
        <p:spPr>
          <a:xfrm rot="-5400000">
            <a:off x="2347849" y="3376446"/>
            <a:ext cx="1063800" cy="1063800"/>
          </a:xfrm>
          <a:prstGeom prst="pie">
            <a:avLst>
              <a:gd fmla="val 16197753" name="adj1"/>
              <a:gd fmla="val 20397738" name="adj2"/>
            </a:avLst>
          </a:prstGeom>
          <a:solidFill>
            <a:schemeClr val="accent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80"/>
          <p:cNvSpPr/>
          <p:nvPr/>
        </p:nvSpPr>
        <p:spPr>
          <a:xfrm rot="-5400000">
            <a:off x="2347849" y="3376446"/>
            <a:ext cx="1063800" cy="1063800"/>
          </a:xfrm>
          <a:prstGeom prst="pie">
            <a:avLst>
              <a:gd fmla="val 20410576" name="adj1"/>
              <a:gd fmla="val 16207343" name="adj2"/>
            </a:avLst>
          </a:prstGeom>
          <a:solidFill>
            <a:srgbClr val="FAEAF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2" name="Google Shape;1512;p80"/>
          <p:cNvGrpSpPr/>
          <p:nvPr/>
        </p:nvGrpSpPr>
        <p:grpSpPr>
          <a:xfrm rot="-5400000">
            <a:off x="2637156" y="3677358"/>
            <a:ext cx="52145" cy="461955"/>
            <a:chOff x="936300" y="737518"/>
            <a:chExt cx="65100" cy="576723"/>
          </a:xfrm>
        </p:grpSpPr>
        <p:cxnSp>
          <p:nvCxnSpPr>
            <p:cNvPr id="1513" name="Google Shape;1513;p8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14" name="Google Shape;1514;p8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5" name="Google Shape;1515;p80"/>
          <p:cNvSpPr txBox="1"/>
          <p:nvPr/>
        </p:nvSpPr>
        <p:spPr>
          <a:xfrm>
            <a:off x="2512441" y="3572411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0"/>
          <p:cNvSpPr txBox="1"/>
          <p:nvPr/>
        </p:nvSpPr>
        <p:spPr>
          <a:xfrm>
            <a:off x="3009573" y="38802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0"/>
          <p:cNvSpPr txBox="1"/>
          <p:nvPr/>
        </p:nvSpPr>
        <p:spPr>
          <a:xfrm>
            <a:off x="356975" y="4392825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0"/>
          <p:cNvSpPr txBox="1"/>
          <p:nvPr/>
        </p:nvSpPr>
        <p:spPr>
          <a:xfrm>
            <a:off x="2347850" y="4392825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9" name="Google Shape;1519;p80"/>
          <p:cNvCxnSpPr/>
          <p:nvPr/>
        </p:nvCxnSpPr>
        <p:spPr>
          <a:xfrm>
            <a:off x="3562875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0" name="Google Shape;1520;p80"/>
          <p:cNvSpPr/>
          <p:nvPr/>
        </p:nvSpPr>
        <p:spPr>
          <a:xfrm>
            <a:off x="6261658" y="2164443"/>
            <a:ext cx="2157000" cy="26118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1" name="Google Shape;1521;p80"/>
          <p:cNvCxnSpPr/>
          <p:nvPr/>
        </p:nvCxnSpPr>
        <p:spPr>
          <a:xfrm>
            <a:off x="3679924" y="3487688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2" name="Google Shape;1522;p80"/>
          <p:cNvCxnSpPr/>
          <p:nvPr/>
        </p:nvCxnSpPr>
        <p:spPr>
          <a:xfrm flipH="1" rot="10800000">
            <a:off x="4755427" y="2321518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3" name="Google Shape;1523;p80"/>
          <p:cNvSpPr txBox="1"/>
          <p:nvPr/>
        </p:nvSpPr>
        <p:spPr>
          <a:xfrm>
            <a:off x="4421889" y="2631563"/>
            <a:ext cx="35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4" name="Google Shape;1524;p80"/>
          <p:cNvCxnSpPr/>
          <p:nvPr/>
        </p:nvCxnSpPr>
        <p:spPr>
          <a:xfrm>
            <a:off x="4755427" y="4235044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5" name="Google Shape;1525;p80"/>
          <p:cNvSpPr txBox="1"/>
          <p:nvPr/>
        </p:nvSpPr>
        <p:spPr>
          <a:xfrm>
            <a:off x="5951699" y="2235838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6" name="Google Shape;1526;p80"/>
          <p:cNvCxnSpPr/>
          <p:nvPr/>
        </p:nvCxnSpPr>
        <p:spPr>
          <a:xfrm flipH="1" rot="10800000">
            <a:off x="3679924" y="2768338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80"/>
          <p:cNvCxnSpPr/>
          <p:nvPr/>
        </p:nvCxnSpPr>
        <p:spPr>
          <a:xfrm>
            <a:off x="4755427" y="2772286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8" name="Google Shape;1528;p80"/>
          <p:cNvCxnSpPr/>
          <p:nvPr/>
        </p:nvCxnSpPr>
        <p:spPr>
          <a:xfrm flipH="1" rot="10800000">
            <a:off x="4755427" y="3784276"/>
            <a:ext cx="1151700" cy="44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9" name="Google Shape;1529;p80"/>
          <p:cNvCxnSpPr/>
          <p:nvPr/>
        </p:nvCxnSpPr>
        <p:spPr>
          <a:xfrm rot="10800000">
            <a:off x="6257550" y="2816050"/>
            <a:ext cx="2165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0" name="Google Shape;1530;p80"/>
          <p:cNvCxnSpPr/>
          <p:nvPr/>
        </p:nvCxnSpPr>
        <p:spPr>
          <a:xfrm rot="10800000">
            <a:off x="6257550" y="3477626"/>
            <a:ext cx="2165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1" name="Google Shape;1531;p80"/>
          <p:cNvCxnSpPr/>
          <p:nvPr/>
        </p:nvCxnSpPr>
        <p:spPr>
          <a:xfrm rot="10800000">
            <a:off x="6257550" y="4173282"/>
            <a:ext cx="21654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2" name="Google Shape;1532;p80"/>
          <p:cNvSpPr txBox="1"/>
          <p:nvPr/>
        </p:nvSpPr>
        <p:spPr>
          <a:xfrm>
            <a:off x="3755175" y="712950"/>
            <a:ext cx="50649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spinner 1 and spinner 2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probability tree to calculate the probability of each outcome from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80"/>
          <p:cNvSpPr txBox="1"/>
          <p:nvPr/>
        </p:nvSpPr>
        <p:spPr>
          <a:xfrm>
            <a:off x="6306010" y="2450518"/>
            <a:ext cx="529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 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80"/>
          <p:cNvSpPr txBox="1"/>
          <p:nvPr/>
        </p:nvSpPr>
        <p:spPr>
          <a:xfrm>
            <a:off x="4490085" y="4115901"/>
            <a:ext cx="189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5" name="Google Shape;1535;p80"/>
          <p:cNvSpPr txBox="1"/>
          <p:nvPr/>
        </p:nvSpPr>
        <p:spPr>
          <a:xfrm>
            <a:off x="5951710" y="3103251"/>
            <a:ext cx="189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80"/>
          <p:cNvSpPr txBox="1"/>
          <p:nvPr/>
        </p:nvSpPr>
        <p:spPr>
          <a:xfrm>
            <a:off x="5951699" y="3682188"/>
            <a:ext cx="354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7" name="Google Shape;1537;p80"/>
          <p:cNvSpPr txBox="1"/>
          <p:nvPr/>
        </p:nvSpPr>
        <p:spPr>
          <a:xfrm>
            <a:off x="5951710" y="4549601"/>
            <a:ext cx="189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80"/>
          <p:cNvSpPr txBox="1"/>
          <p:nvPr/>
        </p:nvSpPr>
        <p:spPr>
          <a:xfrm>
            <a:off x="6306010" y="3066356"/>
            <a:ext cx="529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 H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80"/>
          <p:cNvSpPr txBox="1"/>
          <p:nvPr/>
        </p:nvSpPr>
        <p:spPr>
          <a:xfrm>
            <a:off x="6306010" y="3715206"/>
            <a:ext cx="529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 G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0" name="Google Shape;1540;p80"/>
          <p:cNvSpPr txBox="1"/>
          <p:nvPr/>
        </p:nvSpPr>
        <p:spPr>
          <a:xfrm>
            <a:off x="6306010" y="4378108"/>
            <a:ext cx="5298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 H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times\frac{6}{7}=\frac{6}{21}&quot;&gt;&lt;mfrac&gt;&lt;mn&gt;1&lt;/mn&gt;&lt;mn&gt;3&lt;/mn&gt;&lt;/mfrac&gt;&lt;mo&gt;×&lt;/mo&gt;&lt;mfrac&gt;&lt;mn&gt;6&lt;/mn&gt;&lt;mn&gt;7&lt;/mn&gt;&lt;/mfrac&gt;&lt;mo&gt;=&lt;/mo&gt;&lt;mfrac&gt;&lt;mn&gt;6&lt;/mn&gt;&lt;mn&gt;21&lt;/mn&gt;&lt;/mfrac&gt;&lt;/math&gt;" id="1541" name="Google Shape;1541;p80" title="one third times six sevenths equals 6 over 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849" y="2922539"/>
            <a:ext cx="1151700" cy="462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1}{7}=\frac{2}{21}&quot;&gt;&lt;mfrac&gt;&lt;mn&gt;2&lt;/mn&gt;&lt;mn&gt;3&lt;/mn&gt;&lt;/mfrac&gt;&lt;mo&gt;×&lt;/mo&gt;&lt;mfrac&gt;&lt;mn&gt;1&lt;/mn&gt;&lt;mn&gt;7&lt;/mn&gt;&lt;/mfrac&gt;&lt;mo&gt;=&lt;/mo&gt;&lt;mfrac&gt;&lt;mn&gt;2&lt;/mn&gt;&lt;mn&gt;21&lt;/mn&gt;&lt;/mfrac&gt;&lt;/math&gt;" id="1542" name="Google Shape;1542;p80" title="two thirds times one seventh equals 2 over 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1092" y="3594868"/>
            <a:ext cx="1151683" cy="46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6}{7}=\frac{12}{21}&quot;&gt;&lt;mfrac&gt;&lt;mn&gt;2&lt;/mn&gt;&lt;mn&gt;3&lt;/mn&gt;&lt;/mfrac&gt;&lt;mo&gt;×&lt;/mo&gt;&lt;mfrac&gt;&lt;mn&gt;6&lt;/mn&gt;&lt;mn&gt;7&lt;/mn&gt;&lt;/mfrac&gt;&lt;mo&gt;=&lt;/mo&gt;&lt;mfrac&gt;&lt;mn&gt;12&lt;/mn&gt;&lt;mn&gt;21&lt;/mn&gt;&lt;/mfrac&gt;&lt;/math&gt;" id="1543" name="Google Shape;1543;p80" title="two thirds times six sevenths equals 12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9867" y="4248312"/>
            <a:ext cx="1151683" cy="46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544" name="Google Shape;1544;p80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1776" y="1113524"/>
            <a:ext cx="131675" cy="43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45" name="Google Shape;1545;p80" title="one sev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9325" y="2493786"/>
            <a:ext cx="131675" cy="433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1}{7}=\frac{1}{21}&quot;&gt;&lt;mfrac&gt;&lt;mn&gt;1&lt;/mn&gt;&lt;mn&gt;3&lt;/mn&gt;&lt;/mfrac&gt;&lt;mo&gt;×&lt;/mo&gt;&lt;mfrac&gt;&lt;mn&gt;1&lt;/mn&gt;&lt;mn&gt;7&lt;/mn&gt;&lt;/mfrac&gt;&lt;mo&gt;=&lt;/mo&gt;&lt;mfrac&gt;&lt;mn&gt;1&lt;/mn&gt;&lt;mn&gt;21&lt;/mn&gt;&lt;/mfrac&gt;&lt;/math&gt;" id="1546" name="Google Shape;1546;p80" title="one third times one seventh equals 1 over 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31131" y="2291772"/>
            <a:ext cx="1077272" cy="43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547" name="Google Shape;1547;p80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6551" y="2647113"/>
            <a:ext cx="131675" cy="436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48" name="Google Shape;1548;p80" title="one sev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29125" y="2088902"/>
            <a:ext cx="131675" cy="433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49" name="Google Shape;1549;p80" title="one sev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5537" y="3513939"/>
            <a:ext cx="131675" cy="433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550" name="Google Shape;1550;p80" title="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6550" y="3866525"/>
            <a:ext cx="131675" cy="43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1551" name="Google Shape;1551;p80" title="six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20025" y="2755691"/>
            <a:ext cx="131675" cy="4326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&quot;&gt;&lt;mfrac&gt;&lt;mn&gt;6&lt;/mn&gt;&lt;mn&gt;7&lt;/mn&gt;&lt;/mfrac&gt;&lt;/math&gt;" id="1552" name="Google Shape;1552;p80" title="six seve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80250" y="4210696"/>
            <a:ext cx="131675" cy="432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81"/>
          <p:cNvSpPr txBox="1"/>
          <p:nvPr/>
        </p:nvSpPr>
        <p:spPr>
          <a:xfrm>
            <a:off x="324000" y="636750"/>
            <a:ext cx="2563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Trial: spinner 1 and spinner 2 are spun once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probability tree currently shows all the outcomes on spinner 1.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559" name="Google Shape;1559;p81"/>
          <p:cNvSpPr txBox="1"/>
          <p:nvPr/>
        </p:nvSpPr>
        <p:spPr>
          <a:xfrm>
            <a:off x="456231" y="4538043"/>
            <a:ext cx="99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81"/>
          <p:cNvSpPr/>
          <p:nvPr/>
        </p:nvSpPr>
        <p:spPr>
          <a:xfrm flipH="1">
            <a:off x="373232" y="3351618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81"/>
          <p:cNvSpPr/>
          <p:nvPr/>
        </p:nvSpPr>
        <p:spPr>
          <a:xfrm flipH="1" rot="2700000">
            <a:off x="373464" y="335171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81"/>
          <p:cNvSpPr/>
          <p:nvPr/>
        </p:nvSpPr>
        <p:spPr>
          <a:xfrm flipH="1" rot="5400000">
            <a:off x="373585" y="3351822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81"/>
          <p:cNvSpPr/>
          <p:nvPr/>
        </p:nvSpPr>
        <p:spPr>
          <a:xfrm flipH="1" rot="8100000">
            <a:off x="373531" y="3351692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81"/>
          <p:cNvSpPr/>
          <p:nvPr/>
        </p:nvSpPr>
        <p:spPr>
          <a:xfrm flipH="1" rot="10800000">
            <a:off x="373396" y="3351596"/>
            <a:ext cx="1163100" cy="11631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81"/>
          <p:cNvSpPr/>
          <p:nvPr/>
        </p:nvSpPr>
        <p:spPr>
          <a:xfrm flipH="1" rot="-8100000">
            <a:off x="373356" y="3351692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81"/>
          <p:cNvSpPr/>
          <p:nvPr/>
        </p:nvSpPr>
        <p:spPr>
          <a:xfrm flipH="1" rot="-5400000">
            <a:off x="373343" y="3351692"/>
            <a:ext cx="1162800" cy="1162800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81"/>
          <p:cNvSpPr/>
          <p:nvPr/>
        </p:nvSpPr>
        <p:spPr>
          <a:xfrm flipH="1" rot="-2700000">
            <a:off x="373289" y="3351714"/>
            <a:ext cx="1162908" cy="1162908"/>
          </a:xfrm>
          <a:prstGeom prst="pie">
            <a:avLst>
              <a:gd fmla="val 13499686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81"/>
          <p:cNvSpPr/>
          <p:nvPr/>
        </p:nvSpPr>
        <p:spPr>
          <a:xfrm rot="5400000">
            <a:off x="922837" y="3903832"/>
            <a:ext cx="65100" cy="58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81"/>
          <p:cNvSpPr txBox="1"/>
          <p:nvPr/>
        </p:nvSpPr>
        <p:spPr>
          <a:xfrm flipH="1">
            <a:off x="1154853" y="3594539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1"/>
          <p:cNvSpPr txBox="1"/>
          <p:nvPr/>
        </p:nvSpPr>
        <p:spPr>
          <a:xfrm flipH="1">
            <a:off x="1154853" y="3942613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1"/>
          <p:cNvSpPr txBox="1"/>
          <p:nvPr/>
        </p:nvSpPr>
        <p:spPr>
          <a:xfrm flipH="1">
            <a:off x="951640" y="412963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81"/>
          <p:cNvSpPr txBox="1"/>
          <p:nvPr/>
        </p:nvSpPr>
        <p:spPr>
          <a:xfrm>
            <a:off x="467092" y="363754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81"/>
          <p:cNvSpPr txBox="1"/>
          <p:nvPr/>
        </p:nvSpPr>
        <p:spPr>
          <a:xfrm>
            <a:off x="467092" y="3907850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81"/>
          <p:cNvSpPr txBox="1"/>
          <p:nvPr/>
        </p:nvSpPr>
        <p:spPr>
          <a:xfrm>
            <a:off x="670305" y="4129635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1"/>
          <p:cNvSpPr txBox="1"/>
          <p:nvPr/>
        </p:nvSpPr>
        <p:spPr>
          <a:xfrm flipH="1">
            <a:off x="951635" y="340887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1"/>
          <p:cNvSpPr txBox="1"/>
          <p:nvPr/>
        </p:nvSpPr>
        <p:spPr>
          <a:xfrm>
            <a:off x="668785" y="3408878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7" name="Google Shape;1577;p81"/>
          <p:cNvGrpSpPr/>
          <p:nvPr/>
        </p:nvGrpSpPr>
        <p:grpSpPr>
          <a:xfrm>
            <a:off x="1518048" y="3114726"/>
            <a:ext cx="1616882" cy="1616479"/>
            <a:chOff x="1502704" y="2293958"/>
            <a:chExt cx="2197150" cy="2196900"/>
          </a:xfrm>
        </p:grpSpPr>
        <p:sp>
          <p:nvSpPr>
            <p:cNvPr id="1578" name="Google Shape;1578;p81"/>
            <p:cNvSpPr/>
            <p:nvPr/>
          </p:nvSpPr>
          <p:spPr>
            <a:xfrm flipH="1">
              <a:off x="1814123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81"/>
            <p:cNvSpPr/>
            <p:nvPr/>
          </p:nvSpPr>
          <p:spPr>
            <a:xfrm flipH="1" rot="4320031">
              <a:off x="1813539" y="2606224"/>
              <a:ext cx="1572773" cy="1572773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81"/>
            <p:cNvSpPr/>
            <p:nvPr/>
          </p:nvSpPr>
          <p:spPr>
            <a:xfrm flipH="1" rot="8639756">
              <a:off x="1814675" y="2606457"/>
              <a:ext cx="1572360" cy="157236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81"/>
            <p:cNvSpPr/>
            <p:nvPr/>
          </p:nvSpPr>
          <p:spPr>
            <a:xfrm flipH="1" rot="-8639611">
              <a:off x="1815015" y="2606019"/>
              <a:ext cx="1572779" cy="1572779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666666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81"/>
            <p:cNvSpPr/>
            <p:nvPr/>
          </p:nvSpPr>
          <p:spPr>
            <a:xfrm>
              <a:off x="1813258" y="2606453"/>
              <a:ext cx="1572600" cy="1572600"/>
            </a:xfrm>
            <a:prstGeom prst="pie">
              <a:avLst>
                <a:gd fmla="val 1187253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81"/>
            <p:cNvSpPr txBox="1"/>
            <p:nvPr/>
          </p:nvSpPr>
          <p:spPr>
            <a:xfrm flipH="1">
              <a:off x="2872931" y="3369250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4" name="Google Shape;1584;p81"/>
            <p:cNvSpPr txBox="1"/>
            <p:nvPr/>
          </p:nvSpPr>
          <p:spPr>
            <a:xfrm flipH="1">
              <a:off x="2405359" y="3748426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5" name="Google Shape;1585;p81"/>
            <p:cNvSpPr txBox="1"/>
            <p:nvPr/>
          </p:nvSpPr>
          <p:spPr>
            <a:xfrm flipH="1">
              <a:off x="1935123" y="3369250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81"/>
            <p:cNvSpPr txBox="1"/>
            <p:nvPr/>
          </p:nvSpPr>
          <p:spPr>
            <a:xfrm flipH="1">
              <a:off x="2104224" y="2860823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81"/>
            <p:cNvSpPr txBox="1"/>
            <p:nvPr/>
          </p:nvSpPr>
          <p:spPr>
            <a:xfrm flipH="1">
              <a:off x="2703852" y="2860823"/>
              <a:ext cx="392400" cy="3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8" name="Google Shape;1588;p81"/>
          <p:cNvSpPr txBox="1"/>
          <p:nvPr/>
        </p:nvSpPr>
        <p:spPr>
          <a:xfrm>
            <a:off x="1653742" y="4538049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9" name="Google Shape;1589;p81"/>
          <p:cNvCxnSpPr/>
          <p:nvPr/>
        </p:nvCxnSpPr>
        <p:spPr>
          <a:xfrm>
            <a:off x="3012775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81"/>
          <p:cNvSpPr txBox="1"/>
          <p:nvPr/>
        </p:nvSpPr>
        <p:spPr>
          <a:xfrm>
            <a:off x="5025275" y="1022085"/>
            <a:ext cx="280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1" name="Google Shape;1591;p81"/>
          <p:cNvCxnSpPr/>
          <p:nvPr/>
        </p:nvCxnSpPr>
        <p:spPr>
          <a:xfrm>
            <a:off x="4079725" y="2361630"/>
            <a:ext cx="928800" cy="11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81"/>
          <p:cNvCxnSpPr/>
          <p:nvPr/>
        </p:nvCxnSpPr>
        <p:spPr>
          <a:xfrm flipH="1" rot="10800000">
            <a:off x="4079725" y="1235773"/>
            <a:ext cx="928800" cy="111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81"/>
          <p:cNvCxnSpPr/>
          <p:nvPr/>
        </p:nvCxnSpPr>
        <p:spPr>
          <a:xfrm>
            <a:off x="4079725" y="2349973"/>
            <a:ext cx="920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4" name="Google Shape;1594;p81"/>
          <p:cNvSpPr txBox="1"/>
          <p:nvPr/>
        </p:nvSpPr>
        <p:spPr>
          <a:xfrm>
            <a:off x="5025275" y="2131482"/>
            <a:ext cx="280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81"/>
          <p:cNvSpPr txBox="1"/>
          <p:nvPr/>
        </p:nvSpPr>
        <p:spPr>
          <a:xfrm>
            <a:off x="5025275" y="3278638"/>
            <a:ext cx="2808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81"/>
          <p:cNvSpPr txBox="1"/>
          <p:nvPr/>
        </p:nvSpPr>
        <p:spPr>
          <a:xfrm>
            <a:off x="3134925" y="636750"/>
            <a:ext cx="123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81"/>
          <p:cNvSpPr txBox="1"/>
          <p:nvPr/>
        </p:nvSpPr>
        <p:spPr>
          <a:xfrm>
            <a:off x="3134925" y="4127528"/>
            <a:ext cx="568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is the probability of the outcome C Q happening?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81"/>
          <p:cNvSpPr txBox="1"/>
          <p:nvPr/>
        </p:nvSpPr>
        <p:spPr>
          <a:xfrm>
            <a:off x="6251629" y="803927"/>
            <a:ext cx="280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99" name="Google Shape;1599;p81"/>
          <p:cNvCxnSpPr/>
          <p:nvPr/>
        </p:nvCxnSpPr>
        <p:spPr>
          <a:xfrm>
            <a:off x="5306079" y="1237230"/>
            <a:ext cx="928800" cy="36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81"/>
          <p:cNvCxnSpPr/>
          <p:nvPr/>
        </p:nvCxnSpPr>
        <p:spPr>
          <a:xfrm flipH="1" rot="10800000">
            <a:off x="5306079" y="873159"/>
            <a:ext cx="928800" cy="36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1" name="Google Shape;1601;p81"/>
          <p:cNvSpPr txBox="1"/>
          <p:nvPr/>
        </p:nvSpPr>
        <p:spPr>
          <a:xfrm>
            <a:off x="6251629" y="1533854"/>
            <a:ext cx="280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2" name="Google Shape;1602;p81"/>
          <p:cNvSpPr txBox="1"/>
          <p:nvPr/>
        </p:nvSpPr>
        <p:spPr>
          <a:xfrm>
            <a:off x="6251629" y="1920430"/>
            <a:ext cx="280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03" name="Google Shape;1603;p81"/>
          <p:cNvCxnSpPr/>
          <p:nvPr/>
        </p:nvCxnSpPr>
        <p:spPr>
          <a:xfrm>
            <a:off x="5306079" y="2353732"/>
            <a:ext cx="928800" cy="36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4" name="Google Shape;1604;p81"/>
          <p:cNvCxnSpPr/>
          <p:nvPr/>
        </p:nvCxnSpPr>
        <p:spPr>
          <a:xfrm flipH="1" rot="10800000">
            <a:off x="5306079" y="1989661"/>
            <a:ext cx="928800" cy="36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5" name="Google Shape;1605;p81"/>
          <p:cNvSpPr txBox="1"/>
          <p:nvPr/>
        </p:nvSpPr>
        <p:spPr>
          <a:xfrm>
            <a:off x="6251629" y="2650356"/>
            <a:ext cx="280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6" name="Google Shape;1606;p81"/>
          <p:cNvSpPr txBox="1"/>
          <p:nvPr/>
        </p:nvSpPr>
        <p:spPr>
          <a:xfrm>
            <a:off x="6251629" y="3087004"/>
            <a:ext cx="280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07" name="Google Shape;1607;p81"/>
          <p:cNvCxnSpPr/>
          <p:nvPr/>
        </p:nvCxnSpPr>
        <p:spPr>
          <a:xfrm>
            <a:off x="5306079" y="3520306"/>
            <a:ext cx="928800" cy="36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81"/>
          <p:cNvCxnSpPr/>
          <p:nvPr/>
        </p:nvCxnSpPr>
        <p:spPr>
          <a:xfrm flipH="1" rot="10800000">
            <a:off x="5306079" y="3156235"/>
            <a:ext cx="928800" cy="36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81"/>
          <p:cNvSpPr txBox="1"/>
          <p:nvPr/>
        </p:nvSpPr>
        <p:spPr>
          <a:xfrm>
            <a:off x="6251629" y="3816930"/>
            <a:ext cx="280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0" name="Google Shape;1610;p81"/>
          <p:cNvSpPr txBox="1"/>
          <p:nvPr/>
        </p:nvSpPr>
        <p:spPr>
          <a:xfrm>
            <a:off x="7091750" y="1457651"/>
            <a:ext cx="577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1" name="Google Shape;1611;p81"/>
          <p:cNvSpPr txBox="1"/>
          <p:nvPr/>
        </p:nvSpPr>
        <p:spPr>
          <a:xfrm>
            <a:off x="7091750" y="2651849"/>
            <a:ext cx="577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2" name="Google Shape;1612;p81"/>
          <p:cNvSpPr txBox="1"/>
          <p:nvPr/>
        </p:nvSpPr>
        <p:spPr>
          <a:xfrm>
            <a:off x="7091750" y="803925"/>
            <a:ext cx="577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3" name="Google Shape;1613;p81"/>
          <p:cNvSpPr txBox="1"/>
          <p:nvPr/>
        </p:nvSpPr>
        <p:spPr>
          <a:xfrm>
            <a:off x="7091750" y="3816925"/>
            <a:ext cx="577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4" name="Google Shape;1614;p81"/>
          <p:cNvSpPr txBox="1"/>
          <p:nvPr/>
        </p:nvSpPr>
        <p:spPr>
          <a:xfrm>
            <a:off x="7091750" y="1996627"/>
            <a:ext cx="577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5" name="Google Shape;1615;p81"/>
          <p:cNvSpPr txBox="1"/>
          <p:nvPr/>
        </p:nvSpPr>
        <p:spPr>
          <a:xfrm>
            <a:off x="7091750" y="3163199"/>
            <a:ext cx="5778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8}&quot;&gt;&lt;mfrac&gt;&lt;mn&gt;4&lt;/mn&gt;&lt;mn&gt;8&lt;/mn&gt;&lt;/mfrac&gt;&lt;/math&gt;" id="1616" name="Google Shape;1616;p81" title="four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566" y="1172575"/>
            <a:ext cx="131675" cy="438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1617" name="Google Shape;1617;p81" title="one eigh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3575" y="1902850"/>
            <a:ext cx="131675" cy="43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618" name="Google Shape;1618;p81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567" y="3008242"/>
            <a:ext cx="131675" cy="43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619" name="Google Shape;1619;p81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9325" y="2915230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620" name="Google Shape;1620;p81" title="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1792" y="3385558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40}&quot;&gt;&lt;mfrac&gt;&lt;mn&gt;12&lt;/mn&gt;&lt;mn&gt;40&lt;/mn&gt;&lt;/mfrac&gt;&lt;/math&gt;" id="1621" name="Google Shape;1621;p81" title="12 over 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9542" y="649804"/>
            <a:ext cx="234050" cy="433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40}&quot;&gt;&lt;mfrac&gt;&lt;mn&gt;8&lt;/mn&gt;&lt;mn&gt;40&lt;/mn&gt;&lt;/mfrac&gt;&lt;/math&gt;" id="1622" name="Google Shape;1622;p81" title="8 over 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9542" y="1310954"/>
            <a:ext cx="234050" cy="433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0}&quot;&gt;&lt;mfrac&gt;&lt;mn&gt;3&lt;/mn&gt;&lt;mn&gt;40&lt;/mn&gt;&lt;/mfrac&gt;&lt;/math&gt;" id="1623" name="Google Shape;1623;p81" title="3 over 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69550" y="1849942"/>
            <a:ext cx="234050" cy="433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0}&quot;&gt;&lt;mfrac&gt;&lt;mn&gt;2&lt;/mn&gt;&lt;mn&gt;40&lt;/mn&gt;&lt;/mfrac&gt;&lt;/math&gt;" id="1624" name="Google Shape;1624;p81" title="2 over 4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69542" y="2480076"/>
            <a:ext cx="234050" cy="433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40}&quot;&gt;&lt;mfrac&gt;&lt;mn&gt;9&lt;/mn&gt;&lt;mn&gt;40&lt;/mn&gt;&lt;/mfrac&gt;&lt;/math&gt;" id="1625" name="Google Shape;1625;p81" title="9 over 4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69542" y="3023175"/>
            <a:ext cx="234050" cy="433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40}&quot;&gt;&lt;mfrac&gt;&lt;mn&gt;6&lt;/mn&gt;&lt;mn&gt;40&lt;/mn&gt;&lt;/mfrac&gt;&lt;/math&gt;" id="1626" name="Google Shape;1626;p81" title="6 over 4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69538" y="3649211"/>
            <a:ext cx="234072" cy="4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0}&quot;&gt;&lt;mfrac&gt;&lt;mn&gt;2&lt;/mn&gt;&lt;mn&gt;40&lt;/mn&gt;&lt;/mfrac&gt;&lt;/math&gt;" id="1627" name="Google Shape;1627;p81" title="2 over 4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27067" y="4383554"/>
            <a:ext cx="234050" cy="433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628" name="Google Shape;1628;p81" title="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1792" y="2213078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629" name="Google Shape;1629;p81" title="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1804" y="1083567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630" name="Google Shape;1630;p81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0625" y="1756430"/>
            <a:ext cx="131675" cy="423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631" name="Google Shape;1631;p81" title="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0625" y="633757"/>
            <a:ext cx="131675" cy="4232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2" name="Google Shape;1632;p81"/>
          <p:cNvCxnSpPr/>
          <p:nvPr/>
        </p:nvCxnSpPr>
        <p:spPr>
          <a:xfrm>
            <a:off x="925987" y="3933232"/>
            <a:ext cx="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3" name="Google Shape;1633;p81"/>
          <p:cNvCxnSpPr>
            <a:endCxn id="1582" idx="3"/>
          </p:cNvCxnSpPr>
          <p:nvPr/>
        </p:nvCxnSpPr>
        <p:spPr>
          <a:xfrm rot="10800000">
            <a:off x="2325223" y="3344660"/>
            <a:ext cx="1200" cy="55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82"/>
          <p:cNvSpPr txBox="1"/>
          <p:nvPr/>
        </p:nvSpPr>
        <p:spPr>
          <a:xfrm>
            <a:off x="6403480" y="3944407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violet doesn’t grow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9" name="Google Shape;1639;p82"/>
          <p:cNvSpPr/>
          <p:nvPr/>
        </p:nvSpPr>
        <p:spPr>
          <a:xfrm>
            <a:off x="5294415" y="1755293"/>
            <a:ext cx="1096200" cy="2793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82"/>
          <p:cNvSpPr/>
          <p:nvPr/>
        </p:nvSpPr>
        <p:spPr>
          <a:xfrm>
            <a:off x="4074008" y="2106768"/>
            <a:ext cx="1220400" cy="19422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82"/>
          <p:cNvSpPr txBox="1"/>
          <p:nvPr/>
        </p:nvSpPr>
        <p:spPr>
          <a:xfrm>
            <a:off x="2600627" y="2677968"/>
            <a:ext cx="14040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Lucas’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2"/>
          <p:cNvSpPr txBox="1"/>
          <p:nvPr/>
        </p:nvSpPr>
        <p:spPr>
          <a:xfrm>
            <a:off x="324000" y="561110"/>
            <a:ext cx="22314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Lucas, Izzy, and Laura each take two flower seeds from a packet to grow.</a:t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probability of each type of flower growing is written on the packet.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82"/>
          <p:cNvSpPr txBox="1"/>
          <p:nvPr/>
        </p:nvSpPr>
        <p:spPr>
          <a:xfrm>
            <a:off x="1051091" y="3911263"/>
            <a:ext cx="734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rose: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pic>
        <p:nvPicPr>
          <p:cNvPr id="1645" name="Google Shape;164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87" y="4042098"/>
            <a:ext cx="428128" cy="75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9040" y="3675148"/>
            <a:ext cx="428135" cy="75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308199"/>
            <a:ext cx="497911" cy="7547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8" name="Google Shape;1648;p82"/>
          <p:cNvCxnSpPr/>
          <p:nvPr/>
        </p:nvCxnSpPr>
        <p:spPr>
          <a:xfrm>
            <a:off x="2516850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9" name="Google Shape;1649;p82"/>
          <p:cNvSpPr txBox="1"/>
          <p:nvPr/>
        </p:nvSpPr>
        <p:spPr>
          <a:xfrm>
            <a:off x="810053" y="3271921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violet: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82"/>
          <p:cNvSpPr txBox="1"/>
          <p:nvPr/>
        </p:nvSpPr>
        <p:spPr>
          <a:xfrm>
            <a:off x="637024" y="4516995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daisy: 90%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1" name="Google Shape;1651;p82"/>
          <p:cNvGrpSpPr/>
          <p:nvPr/>
        </p:nvGrpSpPr>
        <p:grpSpPr>
          <a:xfrm>
            <a:off x="2636460" y="699150"/>
            <a:ext cx="1653140" cy="884510"/>
            <a:chOff x="3069685" y="699150"/>
            <a:chExt cx="1653140" cy="884510"/>
          </a:xfrm>
        </p:grpSpPr>
        <p:pic>
          <p:nvPicPr>
            <p:cNvPr id="1652" name="Google Shape;1652;p8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069685" y="712955"/>
              <a:ext cx="688874" cy="666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3" name="Google Shape;1653;p82"/>
            <p:cNvSpPr txBox="1"/>
            <p:nvPr/>
          </p:nvSpPr>
          <p:spPr>
            <a:xfrm>
              <a:off x="3211357" y="1389860"/>
              <a:ext cx="547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4" name="Google Shape;1654;p82"/>
            <p:cNvSpPr/>
            <p:nvPr/>
          </p:nvSpPr>
          <p:spPr>
            <a:xfrm>
              <a:off x="3830025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roses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5" name="Google Shape;1655;p82"/>
          <p:cNvGrpSpPr/>
          <p:nvPr/>
        </p:nvGrpSpPr>
        <p:grpSpPr>
          <a:xfrm>
            <a:off x="4935512" y="699150"/>
            <a:ext cx="1611449" cy="884500"/>
            <a:chOff x="4989001" y="699150"/>
            <a:chExt cx="1611449" cy="884500"/>
          </a:xfrm>
        </p:grpSpPr>
        <p:pic>
          <p:nvPicPr>
            <p:cNvPr id="1656" name="Google Shape;1656;p8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4773" y="835849"/>
              <a:ext cx="493551" cy="554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7" name="Google Shape;1657;p82"/>
            <p:cNvSpPr txBox="1"/>
            <p:nvPr/>
          </p:nvSpPr>
          <p:spPr>
            <a:xfrm>
              <a:off x="4989001" y="1389850"/>
              <a:ext cx="7854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8" name="Google Shape;1658;p82"/>
            <p:cNvSpPr/>
            <p:nvPr/>
          </p:nvSpPr>
          <p:spPr>
            <a:xfrm>
              <a:off x="5707050" y="699150"/>
              <a:ext cx="8934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violet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9" name="Google Shape;1659;p82"/>
          <p:cNvGrpSpPr/>
          <p:nvPr/>
        </p:nvGrpSpPr>
        <p:grpSpPr>
          <a:xfrm>
            <a:off x="7192873" y="699150"/>
            <a:ext cx="1627127" cy="884500"/>
            <a:chOff x="6910573" y="699150"/>
            <a:chExt cx="1627127" cy="884500"/>
          </a:xfrm>
        </p:grpSpPr>
        <p:sp>
          <p:nvSpPr>
            <p:cNvPr id="1660" name="Google Shape;1660;p82"/>
            <p:cNvSpPr/>
            <p:nvPr/>
          </p:nvSpPr>
          <p:spPr>
            <a:xfrm>
              <a:off x="7644900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rose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61" name="Google Shape;1661;p8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42487" y="785816"/>
              <a:ext cx="499385" cy="6540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2" name="Google Shape;1662;p82"/>
            <p:cNvSpPr txBox="1"/>
            <p:nvPr/>
          </p:nvSpPr>
          <p:spPr>
            <a:xfrm>
              <a:off x="6910573" y="1389850"/>
              <a:ext cx="763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63" name="Google Shape;1663;p82"/>
          <p:cNvCxnSpPr/>
          <p:nvPr/>
        </p:nvCxnSpPr>
        <p:spPr>
          <a:xfrm>
            <a:off x="4074510" y="3078455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82"/>
          <p:cNvCxnSpPr/>
          <p:nvPr/>
        </p:nvCxnSpPr>
        <p:spPr>
          <a:xfrm flipH="1" rot="10800000">
            <a:off x="5303681" y="1912293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5" name="Google Shape;1665;p82"/>
          <p:cNvSpPr txBox="1"/>
          <p:nvPr/>
        </p:nvSpPr>
        <p:spPr>
          <a:xfrm>
            <a:off x="4802035" y="2222343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6" name="Google Shape;1666;p82"/>
          <p:cNvCxnSpPr/>
          <p:nvPr/>
        </p:nvCxnSpPr>
        <p:spPr>
          <a:xfrm>
            <a:off x="5303681" y="3825818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82"/>
          <p:cNvCxnSpPr/>
          <p:nvPr/>
        </p:nvCxnSpPr>
        <p:spPr>
          <a:xfrm flipH="1" rot="10800000">
            <a:off x="4074510" y="2359105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82"/>
          <p:cNvCxnSpPr/>
          <p:nvPr/>
        </p:nvCxnSpPr>
        <p:spPr>
          <a:xfrm>
            <a:off x="5303681" y="2363061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82"/>
          <p:cNvCxnSpPr/>
          <p:nvPr/>
        </p:nvCxnSpPr>
        <p:spPr>
          <a:xfrm flipH="1" rot="10800000">
            <a:off x="5303681" y="3375050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70" name="Google Shape;1670;p82"/>
          <p:cNvGrpSpPr/>
          <p:nvPr/>
        </p:nvGrpSpPr>
        <p:grpSpPr>
          <a:xfrm>
            <a:off x="6390900" y="1755289"/>
            <a:ext cx="1853835" cy="2793320"/>
            <a:chOff x="7887300" y="1859650"/>
            <a:chExt cx="932700" cy="2611800"/>
          </a:xfrm>
        </p:grpSpPr>
        <p:sp>
          <p:nvSpPr>
            <p:cNvPr id="1671" name="Google Shape;1671;p82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72" name="Google Shape;1672;p82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3" name="Google Shape;1673;p82"/>
            <p:cNvCxnSpPr/>
            <p:nvPr/>
          </p:nvCxnSpPr>
          <p:spPr>
            <a:xfrm rot="10800000">
              <a:off x="7887300" y="315830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4" name="Google Shape;1674;p82"/>
            <p:cNvCxnSpPr/>
            <p:nvPr/>
          </p:nvCxnSpPr>
          <p:spPr>
            <a:xfrm rot="10800000">
              <a:off x="7887300" y="3832165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75" name="Google Shape;1675;p82"/>
          <p:cNvSpPr txBox="1"/>
          <p:nvPr/>
        </p:nvSpPr>
        <p:spPr>
          <a:xfrm>
            <a:off x="4802035" y="3625443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82"/>
          <p:cNvSpPr txBox="1"/>
          <p:nvPr/>
        </p:nvSpPr>
        <p:spPr>
          <a:xfrm>
            <a:off x="5892526" y="1773288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82"/>
          <p:cNvSpPr txBox="1"/>
          <p:nvPr/>
        </p:nvSpPr>
        <p:spPr>
          <a:xfrm>
            <a:off x="5892526" y="2655425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82"/>
          <p:cNvSpPr txBox="1"/>
          <p:nvPr/>
        </p:nvSpPr>
        <p:spPr>
          <a:xfrm>
            <a:off x="5892526" y="3250762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82"/>
          <p:cNvSpPr txBox="1"/>
          <p:nvPr/>
        </p:nvSpPr>
        <p:spPr>
          <a:xfrm>
            <a:off x="5892526" y="4132898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82"/>
          <p:cNvSpPr txBox="1"/>
          <p:nvPr/>
        </p:nvSpPr>
        <p:spPr>
          <a:xfrm>
            <a:off x="4074008" y="4089443"/>
            <a:ext cx="12204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stage: plant the violet seed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82"/>
          <p:cNvSpPr txBox="1"/>
          <p:nvPr/>
        </p:nvSpPr>
        <p:spPr>
          <a:xfrm>
            <a:off x="4109437" y="2291755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2" name="Google Shape;1682;p82"/>
          <p:cNvSpPr txBox="1"/>
          <p:nvPr/>
        </p:nvSpPr>
        <p:spPr>
          <a:xfrm>
            <a:off x="4109437" y="3561690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3" name="Google Shape;1683;p82"/>
          <p:cNvSpPr txBox="1"/>
          <p:nvPr/>
        </p:nvSpPr>
        <p:spPr>
          <a:xfrm>
            <a:off x="5269424" y="1773003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4" name="Google Shape;1684;p82"/>
          <p:cNvSpPr txBox="1"/>
          <p:nvPr/>
        </p:nvSpPr>
        <p:spPr>
          <a:xfrm>
            <a:off x="5269424" y="2690520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5" name="Google Shape;1685;p82"/>
          <p:cNvSpPr txBox="1"/>
          <p:nvPr/>
        </p:nvSpPr>
        <p:spPr>
          <a:xfrm>
            <a:off x="5269424" y="3232640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6" name="Google Shape;1686;p82"/>
          <p:cNvSpPr txBox="1"/>
          <p:nvPr/>
        </p:nvSpPr>
        <p:spPr>
          <a:xfrm>
            <a:off x="5269424" y="4150158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7" name="Google Shape;1687;p82"/>
          <p:cNvSpPr txBox="1"/>
          <p:nvPr/>
        </p:nvSpPr>
        <p:spPr>
          <a:xfrm>
            <a:off x="6403480" y="1814097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violet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daisy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8" name="Google Shape;1688;p82"/>
          <p:cNvSpPr txBox="1"/>
          <p:nvPr/>
        </p:nvSpPr>
        <p:spPr>
          <a:xfrm>
            <a:off x="6758556" y="2164328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72%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9" name="Google Shape;1689;p82"/>
          <p:cNvSpPr txBox="1"/>
          <p:nvPr/>
        </p:nvSpPr>
        <p:spPr>
          <a:xfrm>
            <a:off x="6403480" y="2525577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violet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0" name="Google Shape;1690;p82"/>
          <p:cNvSpPr txBox="1"/>
          <p:nvPr/>
        </p:nvSpPr>
        <p:spPr>
          <a:xfrm>
            <a:off x="6758556" y="2875808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1" name="Google Shape;1691;p82"/>
          <p:cNvSpPr txBox="1"/>
          <p:nvPr/>
        </p:nvSpPr>
        <p:spPr>
          <a:xfrm>
            <a:off x="6758556" y="3602810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2" name="Google Shape;1692;p82"/>
          <p:cNvSpPr txBox="1"/>
          <p:nvPr/>
        </p:nvSpPr>
        <p:spPr>
          <a:xfrm>
            <a:off x="6403480" y="3252580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violet doesn’t grow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daisy 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3" name="Google Shape;1693;p82"/>
          <p:cNvSpPr txBox="1"/>
          <p:nvPr/>
        </p:nvSpPr>
        <p:spPr>
          <a:xfrm>
            <a:off x="6758556" y="4294638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4" name="Google Shape;1694;p82"/>
          <p:cNvSpPr txBox="1"/>
          <p:nvPr/>
        </p:nvSpPr>
        <p:spPr>
          <a:xfrm>
            <a:off x="5331325" y="4567318"/>
            <a:ext cx="1022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daisy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695" name="Google Shape;1695;p82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18967" y="3855587"/>
            <a:ext cx="131675" cy="41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0" name="Google Shape;1700;p83"/>
          <p:cNvGrpSpPr/>
          <p:nvPr/>
        </p:nvGrpSpPr>
        <p:grpSpPr>
          <a:xfrm>
            <a:off x="6390900" y="1755289"/>
            <a:ext cx="1853835" cy="2793320"/>
            <a:chOff x="7887300" y="1859650"/>
            <a:chExt cx="932700" cy="2611800"/>
          </a:xfrm>
        </p:grpSpPr>
        <p:sp>
          <p:nvSpPr>
            <p:cNvPr id="1701" name="Google Shape;1701;p83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2" name="Google Shape;1702;p83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3" name="Google Shape;1703;p83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4" name="Google Shape;1704;p83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05" name="Google Shape;1705;p83"/>
          <p:cNvSpPr/>
          <p:nvPr/>
        </p:nvSpPr>
        <p:spPr>
          <a:xfrm>
            <a:off x="5294415" y="1755293"/>
            <a:ext cx="1096200" cy="2793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83"/>
          <p:cNvSpPr/>
          <p:nvPr/>
        </p:nvSpPr>
        <p:spPr>
          <a:xfrm>
            <a:off x="4074008" y="2106768"/>
            <a:ext cx="1220400" cy="19422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83"/>
          <p:cNvSpPr txBox="1"/>
          <p:nvPr/>
        </p:nvSpPr>
        <p:spPr>
          <a:xfrm>
            <a:off x="2600627" y="2677968"/>
            <a:ext cx="14040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Izzy’s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83"/>
          <p:cNvSpPr txBox="1"/>
          <p:nvPr/>
        </p:nvSpPr>
        <p:spPr>
          <a:xfrm>
            <a:off x="324000" y="561110"/>
            <a:ext cx="22314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Lucas, Izzy, and Laura each take two flower seeds from a packet to grow.</a:t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probability of each type of flower growing is written on the packet.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83"/>
          <p:cNvSpPr txBox="1"/>
          <p:nvPr/>
        </p:nvSpPr>
        <p:spPr>
          <a:xfrm>
            <a:off x="1051091" y="3911263"/>
            <a:ext cx="734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rose: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pic>
        <p:nvPicPr>
          <p:cNvPr id="1711" name="Google Shape;171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87" y="4042098"/>
            <a:ext cx="428128" cy="75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9040" y="3675148"/>
            <a:ext cx="428135" cy="75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3" name="Google Shape;1713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308199"/>
            <a:ext cx="497911" cy="7547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4" name="Google Shape;1714;p83"/>
          <p:cNvCxnSpPr/>
          <p:nvPr/>
        </p:nvCxnSpPr>
        <p:spPr>
          <a:xfrm>
            <a:off x="2516850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5" name="Google Shape;1715;p83"/>
          <p:cNvSpPr txBox="1"/>
          <p:nvPr/>
        </p:nvSpPr>
        <p:spPr>
          <a:xfrm>
            <a:off x="810053" y="3271921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violet: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83"/>
          <p:cNvSpPr txBox="1"/>
          <p:nvPr/>
        </p:nvSpPr>
        <p:spPr>
          <a:xfrm>
            <a:off x="637024" y="4516995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daisy: 90%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7" name="Google Shape;1717;p83"/>
          <p:cNvGrpSpPr/>
          <p:nvPr/>
        </p:nvGrpSpPr>
        <p:grpSpPr>
          <a:xfrm>
            <a:off x="2636460" y="699150"/>
            <a:ext cx="1653140" cy="884510"/>
            <a:chOff x="3069685" y="699150"/>
            <a:chExt cx="1653140" cy="884510"/>
          </a:xfrm>
        </p:grpSpPr>
        <p:pic>
          <p:nvPicPr>
            <p:cNvPr id="1718" name="Google Shape;1718;p8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069685" y="712955"/>
              <a:ext cx="688874" cy="666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9" name="Google Shape;1719;p83"/>
            <p:cNvSpPr txBox="1"/>
            <p:nvPr/>
          </p:nvSpPr>
          <p:spPr>
            <a:xfrm>
              <a:off x="3211357" y="1389860"/>
              <a:ext cx="547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0" name="Google Shape;1720;p83"/>
            <p:cNvSpPr/>
            <p:nvPr/>
          </p:nvSpPr>
          <p:spPr>
            <a:xfrm>
              <a:off x="3830025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roses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1" name="Google Shape;1721;p83"/>
          <p:cNvGrpSpPr/>
          <p:nvPr/>
        </p:nvGrpSpPr>
        <p:grpSpPr>
          <a:xfrm>
            <a:off x="4935512" y="699150"/>
            <a:ext cx="1611449" cy="884500"/>
            <a:chOff x="4989001" y="699150"/>
            <a:chExt cx="1611449" cy="884500"/>
          </a:xfrm>
        </p:grpSpPr>
        <p:pic>
          <p:nvPicPr>
            <p:cNvPr id="1722" name="Google Shape;1722;p8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4773" y="835849"/>
              <a:ext cx="493551" cy="554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3" name="Google Shape;1723;p83"/>
            <p:cNvSpPr txBox="1"/>
            <p:nvPr/>
          </p:nvSpPr>
          <p:spPr>
            <a:xfrm>
              <a:off x="4989001" y="1389850"/>
              <a:ext cx="7854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4" name="Google Shape;1724;p83"/>
            <p:cNvSpPr/>
            <p:nvPr/>
          </p:nvSpPr>
          <p:spPr>
            <a:xfrm>
              <a:off x="5707050" y="699150"/>
              <a:ext cx="8934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violet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25" name="Google Shape;1725;p83"/>
          <p:cNvGrpSpPr/>
          <p:nvPr/>
        </p:nvGrpSpPr>
        <p:grpSpPr>
          <a:xfrm>
            <a:off x="7192873" y="699150"/>
            <a:ext cx="1627127" cy="884500"/>
            <a:chOff x="6910573" y="699150"/>
            <a:chExt cx="1627127" cy="884500"/>
          </a:xfrm>
        </p:grpSpPr>
        <p:sp>
          <p:nvSpPr>
            <p:cNvPr id="1726" name="Google Shape;1726;p83"/>
            <p:cNvSpPr/>
            <p:nvPr/>
          </p:nvSpPr>
          <p:spPr>
            <a:xfrm>
              <a:off x="7644900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rose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27" name="Google Shape;1727;p8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42487" y="785816"/>
              <a:ext cx="499385" cy="6540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8" name="Google Shape;1728;p83"/>
            <p:cNvSpPr txBox="1"/>
            <p:nvPr/>
          </p:nvSpPr>
          <p:spPr>
            <a:xfrm>
              <a:off x="6910573" y="1389850"/>
              <a:ext cx="763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29" name="Google Shape;1729;p83"/>
          <p:cNvCxnSpPr/>
          <p:nvPr/>
        </p:nvCxnSpPr>
        <p:spPr>
          <a:xfrm>
            <a:off x="4074510" y="3078455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83"/>
          <p:cNvCxnSpPr/>
          <p:nvPr/>
        </p:nvCxnSpPr>
        <p:spPr>
          <a:xfrm flipH="1" rot="10800000">
            <a:off x="5303681" y="1912293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1" name="Google Shape;1731;p83"/>
          <p:cNvSpPr txBox="1"/>
          <p:nvPr/>
        </p:nvSpPr>
        <p:spPr>
          <a:xfrm>
            <a:off x="4802035" y="2222343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2" name="Google Shape;1732;p83"/>
          <p:cNvCxnSpPr/>
          <p:nvPr/>
        </p:nvCxnSpPr>
        <p:spPr>
          <a:xfrm>
            <a:off x="5303681" y="3825818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83"/>
          <p:cNvCxnSpPr/>
          <p:nvPr/>
        </p:nvCxnSpPr>
        <p:spPr>
          <a:xfrm flipH="1" rot="10800000">
            <a:off x="4074510" y="2359105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83"/>
          <p:cNvCxnSpPr/>
          <p:nvPr/>
        </p:nvCxnSpPr>
        <p:spPr>
          <a:xfrm>
            <a:off x="5303681" y="2363061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5" name="Google Shape;1735;p83"/>
          <p:cNvCxnSpPr/>
          <p:nvPr/>
        </p:nvCxnSpPr>
        <p:spPr>
          <a:xfrm flipH="1" rot="10800000">
            <a:off x="5303681" y="3375050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6" name="Google Shape;1736;p83"/>
          <p:cNvSpPr txBox="1"/>
          <p:nvPr/>
        </p:nvSpPr>
        <p:spPr>
          <a:xfrm>
            <a:off x="4802035" y="3625443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83"/>
          <p:cNvSpPr txBox="1"/>
          <p:nvPr/>
        </p:nvSpPr>
        <p:spPr>
          <a:xfrm>
            <a:off x="5892526" y="1773288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83"/>
          <p:cNvSpPr txBox="1"/>
          <p:nvPr/>
        </p:nvSpPr>
        <p:spPr>
          <a:xfrm>
            <a:off x="5892526" y="2655425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83"/>
          <p:cNvSpPr txBox="1"/>
          <p:nvPr/>
        </p:nvSpPr>
        <p:spPr>
          <a:xfrm>
            <a:off x="5892526" y="3250762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83"/>
          <p:cNvSpPr txBox="1"/>
          <p:nvPr/>
        </p:nvSpPr>
        <p:spPr>
          <a:xfrm>
            <a:off x="5892526" y="4132898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83"/>
          <p:cNvSpPr txBox="1"/>
          <p:nvPr/>
        </p:nvSpPr>
        <p:spPr>
          <a:xfrm>
            <a:off x="4074000" y="4089446"/>
            <a:ext cx="1220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rose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83"/>
          <p:cNvSpPr txBox="1"/>
          <p:nvPr/>
        </p:nvSpPr>
        <p:spPr>
          <a:xfrm>
            <a:off x="6403475" y="1765302"/>
            <a:ext cx="185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two roses grow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3" name="Google Shape;1743;p83"/>
          <p:cNvSpPr txBox="1"/>
          <p:nvPr/>
        </p:nvSpPr>
        <p:spPr>
          <a:xfrm>
            <a:off x="5331325" y="4567318"/>
            <a:ext cx="1022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rose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4" name="Google Shape;1744;p83"/>
          <p:cNvSpPr txBox="1"/>
          <p:nvPr/>
        </p:nvSpPr>
        <p:spPr>
          <a:xfrm>
            <a:off x="6403475" y="2464202"/>
            <a:ext cx="185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first rose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5" name="Google Shape;1745;p83"/>
          <p:cNvSpPr txBox="1"/>
          <p:nvPr/>
        </p:nvSpPr>
        <p:spPr>
          <a:xfrm>
            <a:off x="6403475" y="3163102"/>
            <a:ext cx="185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second rose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6" name="Google Shape;1746;p83"/>
          <p:cNvSpPr txBox="1"/>
          <p:nvPr/>
        </p:nvSpPr>
        <p:spPr>
          <a:xfrm>
            <a:off x="6403475" y="3902652"/>
            <a:ext cx="1853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neither rose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747" name="Google Shape;1747;p83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18967" y="3855587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748" name="Google Shape;1748;p83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23755" y="2222349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749" name="Google Shape;1749;p83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05630" y="1763599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750" name="Google Shape;1750;p83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12992" y="3217624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751" name="Google Shape;1751;p83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23755" y="3475830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752" name="Google Shape;1752;p83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630" y="2578255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753" name="Google Shape;1753;p83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630" y="4045630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6}&quot;&gt;&lt;mfrac&gt;&lt;mn&gt;9&lt;/mn&gt;&lt;mn&gt;16&lt;/mn&gt;&lt;/mfrac&gt;&lt;/math&gt;" id="1754" name="Google Shape;1754;p83" title="9 over 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29625" y="1989241"/>
            <a:ext cx="229950" cy="419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755" name="Google Shape;1755;p83" title="3 over 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29617" y="2696917"/>
            <a:ext cx="229950" cy="419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6}&quot;&gt;&lt;mfrac&gt;&lt;mn&gt;1&lt;/mn&gt;&lt;mn&gt;16&lt;/mn&gt;&lt;/mfrac&gt;&lt;/math&gt;" id="1756" name="Google Shape;1756;p83" title="1 over 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29613" y="4100761"/>
            <a:ext cx="229962" cy="4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6}&quot;&gt;&lt;mfrac&gt;&lt;mn&gt;3&lt;/mn&gt;&lt;mn&gt;16&lt;/mn&gt;&lt;/mfrac&gt;&lt;/math&gt;" id="1757" name="Google Shape;1757;p83" title="3 over 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29617" y="3388342"/>
            <a:ext cx="229950" cy="419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2" name="Google Shape;1762;p84"/>
          <p:cNvGrpSpPr/>
          <p:nvPr/>
        </p:nvGrpSpPr>
        <p:grpSpPr>
          <a:xfrm>
            <a:off x="6390900" y="1755289"/>
            <a:ext cx="1853835" cy="2793320"/>
            <a:chOff x="7887300" y="1859650"/>
            <a:chExt cx="932700" cy="2611800"/>
          </a:xfrm>
        </p:grpSpPr>
        <p:sp>
          <p:nvSpPr>
            <p:cNvPr id="1763" name="Google Shape;1763;p84"/>
            <p:cNvSpPr/>
            <p:nvPr/>
          </p:nvSpPr>
          <p:spPr>
            <a:xfrm>
              <a:off x="7889043" y="1859650"/>
              <a:ext cx="929100" cy="26118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64" name="Google Shape;1764;p84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5" name="Google Shape;1765;p84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6" name="Google Shape;1766;p84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7" name="Google Shape;1767;p84"/>
          <p:cNvSpPr/>
          <p:nvPr/>
        </p:nvSpPr>
        <p:spPr>
          <a:xfrm>
            <a:off x="4074008" y="2106768"/>
            <a:ext cx="1220400" cy="19422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84"/>
          <p:cNvSpPr txBox="1"/>
          <p:nvPr/>
        </p:nvSpPr>
        <p:spPr>
          <a:xfrm>
            <a:off x="324000" y="561110"/>
            <a:ext cx="22314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Lucas, Izzy, and Laura each take two flower seeds from a packet to grow.</a:t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probability of each type of flower growing is written on the packet.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84"/>
          <p:cNvSpPr txBox="1"/>
          <p:nvPr/>
        </p:nvSpPr>
        <p:spPr>
          <a:xfrm>
            <a:off x="1051091" y="3911263"/>
            <a:ext cx="734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rose: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pic>
        <p:nvPicPr>
          <p:cNvPr id="1771" name="Google Shape;177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87" y="4042098"/>
            <a:ext cx="428128" cy="757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2" name="Google Shape;177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9040" y="3675148"/>
            <a:ext cx="428135" cy="75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308199"/>
            <a:ext cx="497911" cy="7547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4" name="Google Shape;1774;p84"/>
          <p:cNvCxnSpPr/>
          <p:nvPr/>
        </p:nvCxnSpPr>
        <p:spPr>
          <a:xfrm>
            <a:off x="2516850" y="570725"/>
            <a:ext cx="0" cy="424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84"/>
          <p:cNvSpPr txBox="1"/>
          <p:nvPr/>
        </p:nvSpPr>
        <p:spPr>
          <a:xfrm>
            <a:off x="810053" y="3271921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violet: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84"/>
          <p:cNvSpPr txBox="1"/>
          <p:nvPr/>
        </p:nvSpPr>
        <p:spPr>
          <a:xfrm>
            <a:off x="637024" y="4516995"/>
            <a:ext cx="1404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daisy: 90%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7" name="Google Shape;1777;p84"/>
          <p:cNvGrpSpPr/>
          <p:nvPr/>
        </p:nvGrpSpPr>
        <p:grpSpPr>
          <a:xfrm>
            <a:off x="2636460" y="699150"/>
            <a:ext cx="1653140" cy="884510"/>
            <a:chOff x="3069685" y="699150"/>
            <a:chExt cx="1653140" cy="884510"/>
          </a:xfrm>
        </p:grpSpPr>
        <p:pic>
          <p:nvPicPr>
            <p:cNvPr id="1778" name="Google Shape;1778;p8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3069685" y="712955"/>
              <a:ext cx="688874" cy="666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9" name="Google Shape;1779;p84"/>
            <p:cNvSpPr txBox="1"/>
            <p:nvPr/>
          </p:nvSpPr>
          <p:spPr>
            <a:xfrm>
              <a:off x="3211357" y="1389860"/>
              <a:ext cx="547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Izzy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0" name="Google Shape;1780;p84"/>
            <p:cNvSpPr/>
            <p:nvPr/>
          </p:nvSpPr>
          <p:spPr>
            <a:xfrm>
              <a:off x="3830025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roses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1" name="Google Shape;1781;p84"/>
          <p:cNvGrpSpPr/>
          <p:nvPr/>
        </p:nvGrpSpPr>
        <p:grpSpPr>
          <a:xfrm>
            <a:off x="4935512" y="699150"/>
            <a:ext cx="1611449" cy="884500"/>
            <a:chOff x="4989001" y="699150"/>
            <a:chExt cx="1611449" cy="884500"/>
          </a:xfrm>
        </p:grpSpPr>
        <p:pic>
          <p:nvPicPr>
            <p:cNvPr id="1782" name="Google Shape;1782;p8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074773" y="835849"/>
              <a:ext cx="493551" cy="554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3" name="Google Shape;1783;p84"/>
            <p:cNvSpPr txBox="1"/>
            <p:nvPr/>
          </p:nvSpPr>
          <p:spPr>
            <a:xfrm>
              <a:off x="4989001" y="1389850"/>
              <a:ext cx="7854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4" name="Google Shape;1784;p84"/>
            <p:cNvSpPr/>
            <p:nvPr/>
          </p:nvSpPr>
          <p:spPr>
            <a:xfrm>
              <a:off x="5707050" y="699150"/>
              <a:ext cx="8934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violet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5" name="Google Shape;1785;p84"/>
          <p:cNvGrpSpPr/>
          <p:nvPr/>
        </p:nvGrpSpPr>
        <p:grpSpPr>
          <a:xfrm>
            <a:off x="7192873" y="699150"/>
            <a:ext cx="1627127" cy="884500"/>
            <a:chOff x="6910573" y="699150"/>
            <a:chExt cx="1627127" cy="884500"/>
          </a:xfrm>
        </p:grpSpPr>
        <p:sp>
          <p:nvSpPr>
            <p:cNvPr id="1786" name="Google Shape;1786;p84"/>
            <p:cNvSpPr/>
            <p:nvPr/>
          </p:nvSpPr>
          <p:spPr>
            <a:xfrm>
              <a:off x="7644900" y="699150"/>
              <a:ext cx="892800" cy="8274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rose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daisy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787" name="Google Shape;1787;p8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042487" y="785816"/>
              <a:ext cx="499385" cy="6540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8" name="Google Shape;1788;p84"/>
            <p:cNvSpPr txBox="1"/>
            <p:nvPr/>
          </p:nvSpPr>
          <p:spPr>
            <a:xfrm>
              <a:off x="6910573" y="1389850"/>
              <a:ext cx="7632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Laura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789" name="Google Shape;1789;p84"/>
          <p:cNvCxnSpPr/>
          <p:nvPr/>
        </p:nvCxnSpPr>
        <p:spPr>
          <a:xfrm>
            <a:off x="4074510" y="3078455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0" name="Google Shape;1790;p84"/>
          <p:cNvSpPr txBox="1"/>
          <p:nvPr/>
        </p:nvSpPr>
        <p:spPr>
          <a:xfrm>
            <a:off x="4802035" y="2222343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1" name="Google Shape;1791;p84"/>
          <p:cNvCxnSpPr/>
          <p:nvPr/>
        </p:nvCxnSpPr>
        <p:spPr>
          <a:xfrm flipH="1" rot="10800000">
            <a:off x="4074510" y="2359105"/>
            <a:ext cx="727500" cy="71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2" name="Google Shape;1792;p84"/>
          <p:cNvSpPr txBox="1"/>
          <p:nvPr/>
        </p:nvSpPr>
        <p:spPr>
          <a:xfrm>
            <a:off x="4802035" y="3625443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84"/>
          <p:cNvSpPr txBox="1"/>
          <p:nvPr/>
        </p:nvSpPr>
        <p:spPr>
          <a:xfrm>
            <a:off x="4074000" y="4089446"/>
            <a:ext cx="1220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rose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84"/>
          <p:cNvSpPr txBox="1"/>
          <p:nvPr/>
        </p:nvSpPr>
        <p:spPr>
          <a:xfrm>
            <a:off x="2600627" y="2677968"/>
            <a:ext cx="14040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Laura’s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84"/>
          <p:cNvSpPr/>
          <p:nvPr/>
        </p:nvSpPr>
        <p:spPr>
          <a:xfrm>
            <a:off x="5294415" y="1755293"/>
            <a:ext cx="1096200" cy="2793300"/>
          </a:xfrm>
          <a:prstGeom prst="roundRect">
            <a:avLst>
              <a:gd fmla="val 5713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6" name="Google Shape;1796;p84"/>
          <p:cNvCxnSpPr/>
          <p:nvPr/>
        </p:nvCxnSpPr>
        <p:spPr>
          <a:xfrm flipH="1" rot="10800000">
            <a:off x="5303681" y="1912293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84"/>
          <p:cNvCxnSpPr/>
          <p:nvPr/>
        </p:nvCxnSpPr>
        <p:spPr>
          <a:xfrm>
            <a:off x="5303681" y="3825818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84"/>
          <p:cNvCxnSpPr/>
          <p:nvPr/>
        </p:nvCxnSpPr>
        <p:spPr>
          <a:xfrm>
            <a:off x="5303681" y="2363061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84"/>
          <p:cNvCxnSpPr/>
          <p:nvPr/>
        </p:nvCxnSpPr>
        <p:spPr>
          <a:xfrm flipH="1" rot="10800000">
            <a:off x="5303681" y="3375050"/>
            <a:ext cx="575400" cy="44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0" name="Google Shape;1800;p84"/>
          <p:cNvSpPr txBox="1"/>
          <p:nvPr/>
        </p:nvSpPr>
        <p:spPr>
          <a:xfrm>
            <a:off x="5892526" y="1773288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84"/>
          <p:cNvSpPr txBox="1"/>
          <p:nvPr/>
        </p:nvSpPr>
        <p:spPr>
          <a:xfrm>
            <a:off x="5892526" y="2655425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84"/>
          <p:cNvSpPr txBox="1"/>
          <p:nvPr/>
        </p:nvSpPr>
        <p:spPr>
          <a:xfrm>
            <a:off x="5892526" y="3250762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84"/>
          <p:cNvSpPr txBox="1"/>
          <p:nvPr/>
        </p:nvSpPr>
        <p:spPr>
          <a:xfrm>
            <a:off x="5892526" y="4132898"/>
            <a:ext cx="49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not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grow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84"/>
          <p:cNvSpPr txBox="1"/>
          <p:nvPr/>
        </p:nvSpPr>
        <p:spPr>
          <a:xfrm>
            <a:off x="5269424" y="1773003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5" name="Google Shape;1805;p84"/>
          <p:cNvSpPr txBox="1"/>
          <p:nvPr/>
        </p:nvSpPr>
        <p:spPr>
          <a:xfrm>
            <a:off x="5269424" y="2690520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6" name="Google Shape;1806;p84"/>
          <p:cNvSpPr txBox="1"/>
          <p:nvPr/>
        </p:nvSpPr>
        <p:spPr>
          <a:xfrm>
            <a:off x="5269424" y="3232640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7" name="Google Shape;1807;p84"/>
          <p:cNvSpPr txBox="1"/>
          <p:nvPr/>
        </p:nvSpPr>
        <p:spPr>
          <a:xfrm>
            <a:off x="5269424" y="4150158"/>
            <a:ext cx="575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8" name="Google Shape;1808;p84"/>
          <p:cNvSpPr txBox="1"/>
          <p:nvPr/>
        </p:nvSpPr>
        <p:spPr>
          <a:xfrm>
            <a:off x="5331325" y="4567318"/>
            <a:ext cx="10224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daisy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9" name="Google Shape;1809;p84"/>
          <p:cNvSpPr txBox="1"/>
          <p:nvPr/>
        </p:nvSpPr>
        <p:spPr>
          <a:xfrm>
            <a:off x="6403480" y="3944407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rose doesn’t grow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0" name="Google Shape;1810;p84"/>
          <p:cNvSpPr txBox="1"/>
          <p:nvPr/>
        </p:nvSpPr>
        <p:spPr>
          <a:xfrm>
            <a:off x="6403480" y="2525577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rose 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daisy doesn’t grow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1" name="Google Shape;1811;p84"/>
          <p:cNvSpPr txBox="1"/>
          <p:nvPr/>
        </p:nvSpPr>
        <p:spPr>
          <a:xfrm>
            <a:off x="6758556" y="2875808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7.5%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2" name="Google Shape;1812;p84"/>
          <p:cNvSpPr txBox="1"/>
          <p:nvPr/>
        </p:nvSpPr>
        <p:spPr>
          <a:xfrm>
            <a:off x="6758556" y="3602810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22.5%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3" name="Google Shape;1813;p84"/>
          <p:cNvSpPr txBox="1"/>
          <p:nvPr/>
        </p:nvSpPr>
        <p:spPr>
          <a:xfrm>
            <a:off x="6403480" y="3252580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rose doesn’t grow</a:t>
            </a:r>
            <a:endParaRPr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daisy 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4" name="Google Shape;1814;p84"/>
          <p:cNvSpPr txBox="1"/>
          <p:nvPr/>
        </p:nvSpPr>
        <p:spPr>
          <a:xfrm>
            <a:off x="6758556" y="4294638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2.5%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5" name="Google Shape;1815;p84"/>
          <p:cNvSpPr txBox="1"/>
          <p:nvPr/>
        </p:nvSpPr>
        <p:spPr>
          <a:xfrm>
            <a:off x="6403480" y="1814097"/>
            <a:ext cx="18537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rose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daisy grows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6" name="Google Shape;1816;p84"/>
          <p:cNvSpPr txBox="1"/>
          <p:nvPr/>
        </p:nvSpPr>
        <p:spPr>
          <a:xfrm>
            <a:off x="6758556" y="2164328"/>
            <a:ext cx="11436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67.5%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817" name="Google Shape;1817;p84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18967" y="3855587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818" name="Google Shape;1818;p84" title="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23755" y="2222349"/>
            <a:ext cx="131675" cy="419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819" name="Google Shape;1819;p84" title="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23755" y="3475830"/>
            <a:ext cx="131675" cy="41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Probability of an outcome from a two-stage trial</a:t>
            </a:r>
            <a:endParaRPr/>
          </a:p>
        </p:txBody>
      </p:sp>
      <p:sp>
        <p:nvSpPr>
          <p:cNvPr id="1825" name="Google Shape;1825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1826" name="Google Shape;1826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  <p:pic>
        <p:nvPicPr>
          <p:cNvPr id="1827" name="Google Shape;182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7" y="29808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2" name="Google Shape;1832;p86"/>
          <p:cNvGrpSpPr/>
          <p:nvPr/>
        </p:nvGrpSpPr>
        <p:grpSpPr>
          <a:xfrm>
            <a:off x="3563175" y="1369300"/>
            <a:ext cx="1532100" cy="3487226"/>
            <a:chOff x="2531850" y="1445500"/>
            <a:chExt cx="1532100" cy="3487226"/>
          </a:xfrm>
        </p:grpSpPr>
        <p:sp>
          <p:nvSpPr>
            <p:cNvPr id="1833" name="Google Shape;1833;p86"/>
            <p:cNvSpPr/>
            <p:nvPr/>
          </p:nvSpPr>
          <p:spPr>
            <a:xfrm>
              <a:off x="2763250" y="1445500"/>
              <a:ext cx="1120200" cy="32097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4" name="Google Shape;1834;p86"/>
            <p:cNvSpPr txBox="1"/>
            <p:nvPr/>
          </p:nvSpPr>
          <p:spPr>
            <a:xfrm>
              <a:off x="2531850" y="4635426"/>
              <a:ext cx="15321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second spin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5" name="Google Shape;1835;p86"/>
          <p:cNvGrpSpPr/>
          <p:nvPr/>
        </p:nvGrpSpPr>
        <p:grpSpPr>
          <a:xfrm>
            <a:off x="4994275" y="1480750"/>
            <a:ext cx="3825775" cy="2420835"/>
            <a:chOff x="4994275" y="1480750"/>
            <a:chExt cx="3825775" cy="2420835"/>
          </a:xfrm>
        </p:grpSpPr>
        <p:sp>
          <p:nvSpPr>
            <p:cNvPr id="1836" name="Google Shape;1836;p86"/>
            <p:cNvSpPr txBox="1"/>
            <p:nvPr/>
          </p:nvSpPr>
          <p:spPr>
            <a:xfrm>
              <a:off x="6346850" y="1480750"/>
              <a:ext cx="24732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Using this sample space…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know the probability that the trial produces an outcome of Y then 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0}{81}&quot;&gt;&lt;mfrac&gt;&lt;mn&gt;20&lt;/mn&gt;&lt;mn&gt;81&lt;/mn&gt;&lt;/mfrac&gt;&lt;/math&gt;" id="1837" name="Google Shape;1837;p86" title="20 over 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24601" y="3475752"/>
              <a:ext cx="229950" cy="4258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8" name="Google Shape;1838;p86"/>
            <p:cNvSpPr/>
            <p:nvPr/>
          </p:nvSpPr>
          <p:spPr>
            <a:xfrm>
              <a:off x="4994275" y="3135600"/>
              <a:ext cx="1173900" cy="6744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9" name="Google Shape;1839;p86"/>
          <p:cNvGrpSpPr/>
          <p:nvPr/>
        </p:nvGrpSpPr>
        <p:grpSpPr>
          <a:xfrm>
            <a:off x="2763250" y="1930625"/>
            <a:ext cx="1050850" cy="2461825"/>
            <a:chOff x="2763250" y="2006825"/>
            <a:chExt cx="1050850" cy="2461825"/>
          </a:xfrm>
        </p:grpSpPr>
        <p:sp>
          <p:nvSpPr>
            <p:cNvPr id="1840" name="Google Shape;1840;p86"/>
            <p:cNvSpPr/>
            <p:nvPr/>
          </p:nvSpPr>
          <p:spPr>
            <a:xfrm>
              <a:off x="2763250" y="2006825"/>
              <a:ext cx="1032300" cy="21711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1" name="Google Shape;1841;p86"/>
            <p:cNvSpPr txBox="1"/>
            <p:nvPr/>
          </p:nvSpPr>
          <p:spPr>
            <a:xfrm>
              <a:off x="2781800" y="4171350"/>
              <a:ext cx="1032300" cy="2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first spin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2" name="Google Shape;1842;p86"/>
          <p:cNvGrpSpPr/>
          <p:nvPr/>
        </p:nvGrpSpPr>
        <p:grpSpPr>
          <a:xfrm>
            <a:off x="4952787" y="1328950"/>
            <a:ext cx="1256160" cy="3374554"/>
            <a:chOff x="7887300" y="1898378"/>
            <a:chExt cx="932700" cy="2534400"/>
          </a:xfrm>
        </p:grpSpPr>
        <p:sp>
          <p:nvSpPr>
            <p:cNvPr id="1843" name="Google Shape;1843;p86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44" name="Google Shape;1844;p86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5" name="Google Shape;1845;p86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6" name="Google Shape;1846;p86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47" name="Google Shape;184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1848" name="Google Shape;1848;p86"/>
          <p:cNvSpPr txBox="1"/>
          <p:nvPr/>
        </p:nvSpPr>
        <p:spPr>
          <a:xfrm>
            <a:off x="324000" y="644175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the sample space from a probability tree to calculate the probability of an event occurring from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86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16197753" name="adj1"/>
              <a:gd fmla="val 3656561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86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3645020" name="adj1"/>
              <a:gd fmla="val 16207343" name="adj2"/>
            </a:avLst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1" name="Google Shape;1851;p86"/>
          <p:cNvGrpSpPr/>
          <p:nvPr/>
        </p:nvGrpSpPr>
        <p:grpSpPr>
          <a:xfrm rot="-5400000">
            <a:off x="1054786" y="2762958"/>
            <a:ext cx="52145" cy="461955"/>
            <a:chOff x="936300" y="737518"/>
            <a:chExt cx="65100" cy="576723"/>
          </a:xfrm>
        </p:grpSpPr>
        <p:cxnSp>
          <p:nvCxnSpPr>
            <p:cNvPr id="1852" name="Google Shape;1852;p86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53" name="Google Shape;1853;p86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4" name="Google Shape;1854;p86"/>
          <p:cNvSpPr txBox="1"/>
          <p:nvPr/>
        </p:nvSpPr>
        <p:spPr>
          <a:xfrm>
            <a:off x="1131778" y="2577327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86"/>
          <p:cNvSpPr txBox="1"/>
          <p:nvPr/>
        </p:nvSpPr>
        <p:spPr>
          <a:xfrm>
            <a:off x="1249797" y="30900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86"/>
          <p:cNvSpPr txBox="1"/>
          <p:nvPr/>
        </p:nvSpPr>
        <p:spPr>
          <a:xfrm>
            <a:off x="765480" y="3512807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86"/>
          <p:cNvSpPr txBox="1"/>
          <p:nvPr/>
        </p:nvSpPr>
        <p:spPr>
          <a:xfrm>
            <a:off x="297155" y="4212150"/>
            <a:ext cx="2000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the spinner is spun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86"/>
          <p:cNvSpPr txBox="1"/>
          <p:nvPr/>
        </p:nvSpPr>
        <p:spPr>
          <a:xfrm>
            <a:off x="410880" y="1486442"/>
            <a:ext cx="1773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chance of landing on 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9" name="Google Shape;1859;p86"/>
          <p:cNvCxnSpPr/>
          <p:nvPr/>
        </p:nvCxnSpPr>
        <p:spPr>
          <a:xfrm>
            <a:off x="1297380" y="2208425"/>
            <a:ext cx="0" cy="32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86"/>
          <p:cNvCxnSpPr/>
          <p:nvPr/>
        </p:nvCxnSpPr>
        <p:spPr>
          <a:xfrm>
            <a:off x="2516850" y="1244625"/>
            <a:ext cx="0" cy="357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86"/>
          <p:cNvCxnSpPr/>
          <p:nvPr/>
        </p:nvCxnSpPr>
        <p:spPr>
          <a:xfrm rot="10800000">
            <a:off x="2518500" y="1244625"/>
            <a:ext cx="6290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862" name="Google Shape;1862;p86" title="four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774" y="1429724"/>
            <a:ext cx="131675" cy="424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3" name="Google Shape;1863;p86"/>
          <p:cNvGrpSpPr/>
          <p:nvPr/>
        </p:nvGrpSpPr>
        <p:grpSpPr>
          <a:xfrm>
            <a:off x="5046360" y="1622152"/>
            <a:ext cx="581700" cy="2820825"/>
            <a:chOff x="4953124" y="1552225"/>
            <a:chExt cx="581700" cy="2820825"/>
          </a:xfrm>
        </p:grpSpPr>
        <p:sp>
          <p:nvSpPr>
            <p:cNvPr id="1864" name="Google Shape;1864;p86"/>
            <p:cNvSpPr txBox="1"/>
            <p:nvPr/>
          </p:nvSpPr>
          <p:spPr>
            <a:xfrm>
              <a:off x="4953124" y="2428208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5" name="Google Shape;1865;p86"/>
            <p:cNvSpPr txBox="1"/>
            <p:nvPr/>
          </p:nvSpPr>
          <p:spPr>
            <a:xfrm>
              <a:off x="4953124" y="3312267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6" name="Google Shape;1866;p86"/>
            <p:cNvSpPr txBox="1"/>
            <p:nvPr/>
          </p:nvSpPr>
          <p:spPr>
            <a:xfrm>
              <a:off x="4953124" y="1552225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7" name="Google Shape;1867;p86"/>
            <p:cNvSpPr txBox="1"/>
            <p:nvPr/>
          </p:nvSpPr>
          <p:spPr>
            <a:xfrm>
              <a:off x="4953124" y="4188250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1868" name="Google Shape;1868;p86" title="16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561" y="1480178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1869" name="Google Shape;1869;p86" title="20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561" y="2362503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81}&quot;&gt;&lt;mfrac&gt;&lt;mn&gt;25&lt;/mn&gt;&lt;mn&gt;81&lt;/mn&gt;&lt;/mfrac&gt;&lt;/math&gt;" id="1870" name="Google Shape;1870;p86" title="25 over 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6757" y="4127151"/>
            <a:ext cx="229950" cy="42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1871" name="Google Shape;1871;p86" title="20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561" y="3244828"/>
            <a:ext cx="229950" cy="427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2" name="Google Shape;1872;p86"/>
          <p:cNvGrpSpPr/>
          <p:nvPr/>
        </p:nvGrpSpPr>
        <p:grpSpPr>
          <a:xfrm>
            <a:off x="2885270" y="1930618"/>
            <a:ext cx="922912" cy="2170950"/>
            <a:chOff x="2885270" y="1930618"/>
            <a:chExt cx="922912" cy="2170950"/>
          </a:xfrm>
        </p:grpSpPr>
        <p:grpSp>
          <p:nvGrpSpPr>
            <p:cNvPr id="1873" name="Google Shape;1873;p86"/>
            <p:cNvGrpSpPr/>
            <p:nvPr/>
          </p:nvGrpSpPr>
          <p:grpSpPr>
            <a:xfrm>
              <a:off x="2885270" y="1930618"/>
              <a:ext cx="922912" cy="2170950"/>
              <a:chOff x="348313" y="2503475"/>
              <a:chExt cx="1026941" cy="1706051"/>
            </a:xfrm>
          </p:grpSpPr>
          <p:sp>
            <p:nvSpPr>
              <p:cNvPr id="1874" name="Google Shape;1874;p86"/>
              <p:cNvSpPr txBox="1"/>
              <p:nvPr/>
            </p:nvSpPr>
            <p:spPr>
              <a:xfrm>
                <a:off x="1020954" y="2503475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875" name="Google Shape;1875;p86"/>
              <p:cNvGrpSpPr/>
              <p:nvPr/>
            </p:nvGrpSpPr>
            <p:grpSpPr>
              <a:xfrm>
                <a:off x="348313" y="2640250"/>
                <a:ext cx="727403" cy="1431250"/>
                <a:chOff x="354975" y="1421050"/>
                <a:chExt cx="2175900" cy="1431250"/>
              </a:xfrm>
            </p:grpSpPr>
            <p:cxnSp>
              <p:nvCxnSpPr>
                <p:cNvPr id="1876" name="Google Shape;1876;p86"/>
                <p:cNvCxnSpPr/>
                <p:nvPr/>
              </p:nvCxnSpPr>
              <p:spPr>
                <a:xfrm flipH="1" rot="10800000">
                  <a:off x="354975" y="142105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77" name="Google Shape;1877;p86"/>
                <p:cNvCxnSpPr/>
                <p:nvPr/>
              </p:nvCxnSpPr>
              <p:spPr>
                <a:xfrm>
                  <a:off x="354975" y="214040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878" name="Google Shape;1878;p86"/>
              <p:cNvSpPr txBox="1"/>
              <p:nvPr/>
            </p:nvSpPr>
            <p:spPr>
              <a:xfrm>
                <a:off x="1020954" y="3932326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879" name="Google Shape;1879;p86" title="four ni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59237" y="2157599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1880" name="Google Shape;1880;p86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59225" y="34822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1" name="Google Shape;1881;p86"/>
          <p:cNvGrpSpPr/>
          <p:nvPr/>
        </p:nvGrpSpPr>
        <p:grpSpPr>
          <a:xfrm>
            <a:off x="3814149" y="1422724"/>
            <a:ext cx="1120180" cy="3102735"/>
            <a:chOff x="3814149" y="1422724"/>
            <a:chExt cx="1120180" cy="3102735"/>
          </a:xfrm>
        </p:grpSpPr>
        <p:sp>
          <p:nvSpPr>
            <p:cNvPr id="1882" name="Google Shape;1882;p86"/>
            <p:cNvSpPr txBox="1"/>
            <p:nvPr/>
          </p:nvSpPr>
          <p:spPr>
            <a:xfrm>
              <a:off x="4547929" y="1552225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83" name="Google Shape;1883;p86"/>
            <p:cNvGrpSpPr/>
            <p:nvPr/>
          </p:nvGrpSpPr>
          <p:grpSpPr>
            <a:xfrm>
              <a:off x="3814149" y="1643372"/>
              <a:ext cx="793551" cy="953785"/>
              <a:chOff x="354975" y="1421050"/>
              <a:chExt cx="2175900" cy="1431250"/>
            </a:xfrm>
          </p:grpSpPr>
          <p:cxnSp>
            <p:nvCxnSpPr>
              <p:cNvPr id="1884" name="Google Shape;1884;p86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85" name="Google Shape;1885;p86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86" name="Google Shape;1886;p86"/>
            <p:cNvSpPr txBox="1"/>
            <p:nvPr/>
          </p:nvSpPr>
          <p:spPr>
            <a:xfrm>
              <a:off x="4547929" y="2504411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7" name="Google Shape;1887;p86"/>
            <p:cNvSpPr txBox="1"/>
            <p:nvPr/>
          </p:nvSpPr>
          <p:spPr>
            <a:xfrm>
              <a:off x="4547929" y="3388472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88" name="Google Shape;1888;p86"/>
            <p:cNvGrpSpPr/>
            <p:nvPr/>
          </p:nvGrpSpPr>
          <p:grpSpPr>
            <a:xfrm>
              <a:off x="3814149" y="3479619"/>
              <a:ext cx="793551" cy="953785"/>
              <a:chOff x="354975" y="1421050"/>
              <a:chExt cx="2175900" cy="1431250"/>
            </a:xfrm>
          </p:grpSpPr>
          <p:cxnSp>
            <p:nvCxnSpPr>
              <p:cNvPr id="1889" name="Google Shape;1889;p86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0" name="Google Shape;1890;p86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91" name="Google Shape;1891;p86"/>
            <p:cNvSpPr txBox="1"/>
            <p:nvPr/>
          </p:nvSpPr>
          <p:spPr>
            <a:xfrm>
              <a:off x="4547929" y="4340659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892" name="Google Shape;1892;p86" title="four ni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45099" y="14227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1893" name="Google Shape;1893;p86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416250" y="38808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894" name="Google Shape;1894;p86" title="four ni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45087" y="32430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1895" name="Google Shape;1895;p86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416250" y="20315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87"/>
          <p:cNvSpPr txBox="1"/>
          <p:nvPr/>
        </p:nvSpPr>
        <p:spPr>
          <a:xfrm>
            <a:off x="3563175" y="4559226"/>
            <a:ext cx="1532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second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1" name="Google Shape;1901;p87"/>
          <p:cNvGrpSpPr/>
          <p:nvPr/>
        </p:nvGrpSpPr>
        <p:grpSpPr>
          <a:xfrm>
            <a:off x="4952787" y="1328950"/>
            <a:ext cx="1256160" cy="3374554"/>
            <a:chOff x="7887300" y="1898378"/>
            <a:chExt cx="932700" cy="2534400"/>
          </a:xfrm>
        </p:grpSpPr>
        <p:sp>
          <p:nvSpPr>
            <p:cNvPr id="1902" name="Google Shape;1902;p87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03" name="Google Shape;1903;p87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4" name="Google Shape;1904;p87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5" name="Google Shape;1905;p87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06" name="Google Shape;190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1907" name="Google Shape;1907;p87"/>
          <p:cNvSpPr txBox="1"/>
          <p:nvPr/>
        </p:nvSpPr>
        <p:spPr>
          <a:xfrm>
            <a:off x="2781800" y="4095150"/>
            <a:ext cx="1032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87"/>
          <p:cNvSpPr txBox="1"/>
          <p:nvPr/>
        </p:nvSpPr>
        <p:spPr>
          <a:xfrm>
            <a:off x="324000" y="644175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the sample space from a probability tree to calculate the probability of an event occurring from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87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16197753" name="adj1"/>
              <a:gd fmla="val 3656561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87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3645020" name="adj1"/>
              <a:gd fmla="val 16207343" name="adj2"/>
            </a:avLst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1" name="Google Shape;1911;p87"/>
          <p:cNvGrpSpPr/>
          <p:nvPr/>
        </p:nvGrpSpPr>
        <p:grpSpPr>
          <a:xfrm rot="-5400000">
            <a:off x="1054786" y="2762958"/>
            <a:ext cx="52145" cy="461955"/>
            <a:chOff x="936300" y="737518"/>
            <a:chExt cx="65100" cy="576723"/>
          </a:xfrm>
        </p:grpSpPr>
        <p:cxnSp>
          <p:nvCxnSpPr>
            <p:cNvPr id="1912" name="Google Shape;1912;p87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3" name="Google Shape;1913;p87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4" name="Google Shape;1914;p87"/>
          <p:cNvSpPr txBox="1"/>
          <p:nvPr/>
        </p:nvSpPr>
        <p:spPr>
          <a:xfrm>
            <a:off x="1131778" y="2577327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87"/>
          <p:cNvSpPr txBox="1"/>
          <p:nvPr/>
        </p:nvSpPr>
        <p:spPr>
          <a:xfrm>
            <a:off x="1249797" y="30900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87"/>
          <p:cNvSpPr txBox="1"/>
          <p:nvPr/>
        </p:nvSpPr>
        <p:spPr>
          <a:xfrm>
            <a:off x="765480" y="3512807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87"/>
          <p:cNvSpPr txBox="1"/>
          <p:nvPr/>
        </p:nvSpPr>
        <p:spPr>
          <a:xfrm>
            <a:off x="297155" y="4212150"/>
            <a:ext cx="2000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the spinner is spun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87"/>
          <p:cNvSpPr txBox="1"/>
          <p:nvPr/>
        </p:nvSpPr>
        <p:spPr>
          <a:xfrm>
            <a:off x="410880" y="1486442"/>
            <a:ext cx="1773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chance of landing on 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9" name="Google Shape;1919;p87"/>
          <p:cNvCxnSpPr/>
          <p:nvPr/>
        </p:nvCxnSpPr>
        <p:spPr>
          <a:xfrm>
            <a:off x="1297380" y="2208425"/>
            <a:ext cx="0" cy="32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87"/>
          <p:cNvCxnSpPr/>
          <p:nvPr/>
        </p:nvCxnSpPr>
        <p:spPr>
          <a:xfrm>
            <a:off x="2516850" y="1244625"/>
            <a:ext cx="0" cy="357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87"/>
          <p:cNvCxnSpPr/>
          <p:nvPr/>
        </p:nvCxnSpPr>
        <p:spPr>
          <a:xfrm rot="10800000">
            <a:off x="2518500" y="1244625"/>
            <a:ext cx="6290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922" name="Google Shape;1922;p87" title="four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74" y="1429724"/>
            <a:ext cx="131675" cy="424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3" name="Google Shape;1923;p87"/>
          <p:cNvGrpSpPr/>
          <p:nvPr/>
        </p:nvGrpSpPr>
        <p:grpSpPr>
          <a:xfrm>
            <a:off x="5046360" y="1622152"/>
            <a:ext cx="581700" cy="2820825"/>
            <a:chOff x="4953124" y="1552225"/>
            <a:chExt cx="581700" cy="2820825"/>
          </a:xfrm>
        </p:grpSpPr>
        <p:sp>
          <p:nvSpPr>
            <p:cNvPr id="1924" name="Google Shape;1924;p87"/>
            <p:cNvSpPr txBox="1"/>
            <p:nvPr/>
          </p:nvSpPr>
          <p:spPr>
            <a:xfrm>
              <a:off x="4953124" y="2428208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5" name="Google Shape;1925;p87"/>
            <p:cNvSpPr txBox="1"/>
            <p:nvPr/>
          </p:nvSpPr>
          <p:spPr>
            <a:xfrm>
              <a:off x="4953124" y="3312267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6" name="Google Shape;1926;p87"/>
            <p:cNvSpPr txBox="1"/>
            <p:nvPr/>
          </p:nvSpPr>
          <p:spPr>
            <a:xfrm>
              <a:off x="4953124" y="1552225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7" name="Google Shape;1927;p87"/>
            <p:cNvSpPr txBox="1"/>
            <p:nvPr/>
          </p:nvSpPr>
          <p:spPr>
            <a:xfrm>
              <a:off x="4953124" y="4188250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1928" name="Google Shape;1928;p87" title="16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561" y="1480178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1929" name="Google Shape;1929;p87" title="20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561" y="2362503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81}&quot;&gt;&lt;mfrac&gt;&lt;mn&gt;25&lt;/mn&gt;&lt;mn&gt;81&lt;/mn&gt;&lt;/mfrac&gt;&lt;/math&gt;" id="1930" name="Google Shape;1930;p87" title="25 over 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6757" y="4127151"/>
            <a:ext cx="229950" cy="42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1931" name="Google Shape;1931;p87" title="20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561" y="3244828"/>
            <a:ext cx="229950" cy="427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2" name="Google Shape;1932;p87"/>
          <p:cNvGrpSpPr/>
          <p:nvPr/>
        </p:nvGrpSpPr>
        <p:grpSpPr>
          <a:xfrm>
            <a:off x="2885270" y="1930618"/>
            <a:ext cx="922912" cy="2170950"/>
            <a:chOff x="2885270" y="1930618"/>
            <a:chExt cx="922912" cy="2170950"/>
          </a:xfrm>
        </p:grpSpPr>
        <p:grpSp>
          <p:nvGrpSpPr>
            <p:cNvPr id="1933" name="Google Shape;1933;p87"/>
            <p:cNvGrpSpPr/>
            <p:nvPr/>
          </p:nvGrpSpPr>
          <p:grpSpPr>
            <a:xfrm>
              <a:off x="2885270" y="1930618"/>
              <a:ext cx="922912" cy="2170950"/>
              <a:chOff x="348313" y="2503475"/>
              <a:chExt cx="1026941" cy="1706051"/>
            </a:xfrm>
          </p:grpSpPr>
          <p:sp>
            <p:nvSpPr>
              <p:cNvPr id="1934" name="Google Shape;1934;p87"/>
              <p:cNvSpPr txBox="1"/>
              <p:nvPr/>
            </p:nvSpPr>
            <p:spPr>
              <a:xfrm>
                <a:off x="1020954" y="2503475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935" name="Google Shape;1935;p87"/>
              <p:cNvGrpSpPr/>
              <p:nvPr/>
            </p:nvGrpSpPr>
            <p:grpSpPr>
              <a:xfrm>
                <a:off x="348313" y="2640250"/>
                <a:ext cx="727403" cy="1431250"/>
                <a:chOff x="354975" y="1421050"/>
                <a:chExt cx="2175900" cy="1431250"/>
              </a:xfrm>
            </p:grpSpPr>
            <p:cxnSp>
              <p:nvCxnSpPr>
                <p:cNvPr id="1936" name="Google Shape;1936;p87"/>
                <p:cNvCxnSpPr/>
                <p:nvPr/>
              </p:nvCxnSpPr>
              <p:spPr>
                <a:xfrm flipH="1" rot="10800000">
                  <a:off x="354975" y="142105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7" name="Google Shape;1937;p87"/>
                <p:cNvCxnSpPr/>
                <p:nvPr/>
              </p:nvCxnSpPr>
              <p:spPr>
                <a:xfrm>
                  <a:off x="354975" y="214040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38" name="Google Shape;1938;p87"/>
              <p:cNvSpPr txBox="1"/>
              <p:nvPr/>
            </p:nvSpPr>
            <p:spPr>
              <a:xfrm>
                <a:off x="1020954" y="3932326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939" name="Google Shape;1939;p87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237" y="2157599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1940" name="Google Shape;1940;p87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59225" y="34822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1" name="Google Shape;1941;p87"/>
          <p:cNvGrpSpPr/>
          <p:nvPr/>
        </p:nvGrpSpPr>
        <p:grpSpPr>
          <a:xfrm>
            <a:off x="3814149" y="1422724"/>
            <a:ext cx="1120180" cy="3102735"/>
            <a:chOff x="3814149" y="1422724"/>
            <a:chExt cx="1120180" cy="3102735"/>
          </a:xfrm>
        </p:grpSpPr>
        <p:sp>
          <p:nvSpPr>
            <p:cNvPr id="1942" name="Google Shape;1942;p87"/>
            <p:cNvSpPr txBox="1"/>
            <p:nvPr/>
          </p:nvSpPr>
          <p:spPr>
            <a:xfrm>
              <a:off x="4547929" y="1552225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43" name="Google Shape;1943;p87"/>
            <p:cNvGrpSpPr/>
            <p:nvPr/>
          </p:nvGrpSpPr>
          <p:grpSpPr>
            <a:xfrm>
              <a:off x="3814149" y="1643372"/>
              <a:ext cx="793551" cy="953785"/>
              <a:chOff x="354975" y="1421050"/>
              <a:chExt cx="2175900" cy="1431250"/>
            </a:xfrm>
          </p:grpSpPr>
          <p:cxnSp>
            <p:nvCxnSpPr>
              <p:cNvPr id="1944" name="Google Shape;1944;p87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87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46" name="Google Shape;1946;p87"/>
            <p:cNvSpPr txBox="1"/>
            <p:nvPr/>
          </p:nvSpPr>
          <p:spPr>
            <a:xfrm>
              <a:off x="4547929" y="2504411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7" name="Google Shape;1947;p87"/>
            <p:cNvSpPr txBox="1"/>
            <p:nvPr/>
          </p:nvSpPr>
          <p:spPr>
            <a:xfrm>
              <a:off x="4547929" y="3388472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48" name="Google Shape;1948;p87"/>
            <p:cNvGrpSpPr/>
            <p:nvPr/>
          </p:nvGrpSpPr>
          <p:grpSpPr>
            <a:xfrm>
              <a:off x="3814149" y="3479619"/>
              <a:ext cx="793551" cy="953785"/>
              <a:chOff x="354975" y="1421050"/>
              <a:chExt cx="2175900" cy="1431250"/>
            </a:xfrm>
          </p:grpSpPr>
          <p:cxnSp>
            <p:nvCxnSpPr>
              <p:cNvPr id="1949" name="Google Shape;1949;p87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0" name="Google Shape;1950;p87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51" name="Google Shape;1951;p87"/>
            <p:cNvSpPr txBox="1"/>
            <p:nvPr/>
          </p:nvSpPr>
          <p:spPr>
            <a:xfrm>
              <a:off x="4547929" y="4340659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952" name="Google Shape;1952;p87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45099" y="14227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1953" name="Google Shape;1953;p87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416250" y="38808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1954" name="Google Shape;1954;p87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45087" y="32430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1955" name="Google Shape;1955;p87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416250" y="20315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6" name="Google Shape;1956;p87"/>
          <p:cNvSpPr txBox="1"/>
          <p:nvPr/>
        </p:nvSpPr>
        <p:spPr>
          <a:xfrm>
            <a:off x="6346850" y="1480750"/>
            <a:ext cx="247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at least one spin lands on an 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of this event happening?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1" name="Google Shape;1961;p88"/>
          <p:cNvGrpSpPr/>
          <p:nvPr/>
        </p:nvGrpSpPr>
        <p:grpSpPr>
          <a:xfrm>
            <a:off x="4952787" y="1328950"/>
            <a:ext cx="1256160" cy="3374554"/>
            <a:chOff x="7887300" y="1898378"/>
            <a:chExt cx="932700" cy="2534400"/>
          </a:xfrm>
        </p:grpSpPr>
        <p:sp>
          <p:nvSpPr>
            <p:cNvPr id="1962" name="Google Shape;1962;p88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63" name="Google Shape;1963;p88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4" name="Google Shape;1964;p88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5" name="Google Shape;1965;p88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66" name="Google Shape;1966;p88"/>
          <p:cNvSpPr txBox="1"/>
          <p:nvPr/>
        </p:nvSpPr>
        <p:spPr>
          <a:xfrm>
            <a:off x="6346850" y="1480750"/>
            <a:ext cx="247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at least one spin lands on an 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1968" name="Google Shape;1968;p88"/>
          <p:cNvSpPr txBox="1"/>
          <p:nvPr/>
        </p:nvSpPr>
        <p:spPr>
          <a:xfrm>
            <a:off x="6346850" y="2303471"/>
            <a:ext cx="247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outcomes in this sample space have at least one X, and what are their probabilities?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1969" name="Google Shape;1969;p88" title="16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7175" y="3793826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1970" name="Google Shape;1970;p88" title="20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2425" y="3793825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1971" name="Google Shape;1971;p88" title="20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7675" y="3793825"/>
            <a:ext cx="229950" cy="42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2" name="Google Shape;1972;p88"/>
          <p:cNvSpPr/>
          <p:nvPr/>
        </p:nvSpPr>
        <p:spPr>
          <a:xfrm>
            <a:off x="5774397" y="3135600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88"/>
          <p:cNvSpPr/>
          <p:nvPr/>
        </p:nvSpPr>
        <p:spPr>
          <a:xfrm>
            <a:off x="5774397" y="2259575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88"/>
          <p:cNvSpPr/>
          <p:nvPr/>
        </p:nvSpPr>
        <p:spPr>
          <a:xfrm>
            <a:off x="5774397" y="1383550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88"/>
          <p:cNvSpPr txBox="1"/>
          <p:nvPr/>
        </p:nvSpPr>
        <p:spPr>
          <a:xfrm>
            <a:off x="3563175" y="4559226"/>
            <a:ext cx="1532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second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1977" name="Google Shape;1977;p88"/>
          <p:cNvSpPr txBox="1"/>
          <p:nvPr/>
        </p:nvSpPr>
        <p:spPr>
          <a:xfrm>
            <a:off x="2781800" y="4095150"/>
            <a:ext cx="1032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88"/>
          <p:cNvSpPr txBox="1"/>
          <p:nvPr/>
        </p:nvSpPr>
        <p:spPr>
          <a:xfrm>
            <a:off x="324000" y="644175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the sample space from a probability tree to calculate the probability of an event occurring from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88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16197753" name="adj1"/>
              <a:gd fmla="val 3656561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88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3645020" name="adj1"/>
              <a:gd fmla="val 16207343" name="adj2"/>
            </a:avLst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1" name="Google Shape;1981;p88"/>
          <p:cNvGrpSpPr/>
          <p:nvPr/>
        </p:nvGrpSpPr>
        <p:grpSpPr>
          <a:xfrm rot="-5400000">
            <a:off x="1054786" y="2762958"/>
            <a:ext cx="52145" cy="461955"/>
            <a:chOff x="936300" y="737518"/>
            <a:chExt cx="65100" cy="576723"/>
          </a:xfrm>
        </p:grpSpPr>
        <p:cxnSp>
          <p:nvCxnSpPr>
            <p:cNvPr id="1982" name="Google Shape;1982;p88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3" name="Google Shape;1983;p88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4" name="Google Shape;1984;p88"/>
          <p:cNvSpPr txBox="1"/>
          <p:nvPr/>
        </p:nvSpPr>
        <p:spPr>
          <a:xfrm>
            <a:off x="1131778" y="2577327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88"/>
          <p:cNvSpPr txBox="1"/>
          <p:nvPr/>
        </p:nvSpPr>
        <p:spPr>
          <a:xfrm>
            <a:off x="1249797" y="30900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88"/>
          <p:cNvSpPr txBox="1"/>
          <p:nvPr/>
        </p:nvSpPr>
        <p:spPr>
          <a:xfrm>
            <a:off x="765480" y="3512807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88"/>
          <p:cNvSpPr txBox="1"/>
          <p:nvPr/>
        </p:nvSpPr>
        <p:spPr>
          <a:xfrm>
            <a:off x="297155" y="4212150"/>
            <a:ext cx="2000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the spinner is spun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88"/>
          <p:cNvSpPr txBox="1"/>
          <p:nvPr/>
        </p:nvSpPr>
        <p:spPr>
          <a:xfrm>
            <a:off x="410880" y="1486442"/>
            <a:ext cx="1773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chance of landing on 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9" name="Google Shape;1989;p88"/>
          <p:cNvCxnSpPr/>
          <p:nvPr/>
        </p:nvCxnSpPr>
        <p:spPr>
          <a:xfrm>
            <a:off x="1297380" y="2208425"/>
            <a:ext cx="0" cy="32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0" name="Google Shape;1990;p88"/>
          <p:cNvCxnSpPr/>
          <p:nvPr/>
        </p:nvCxnSpPr>
        <p:spPr>
          <a:xfrm>
            <a:off x="2516850" y="1244625"/>
            <a:ext cx="0" cy="357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88"/>
          <p:cNvCxnSpPr/>
          <p:nvPr/>
        </p:nvCxnSpPr>
        <p:spPr>
          <a:xfrm rot="10800000">
            <a:off x="2518500" y="1244625"/>
            <a:ext cx="6290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992" name="Google Shape;1992;p88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774" y="1429724"/>
            <a:ext cx="131675" cy="424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3" name="Google Shape;1993;p88"/>
          <p:cNvGrpSpPr/>
          <p:nvPr/>
        </p:nvGrpSpPr>
        <p:grpSpPr>
          <a:xfrm>
            <a:off x="2885270" y="1930618"/>
            <a:ext cx="922912" cy="2170950"/>
            <a:chOff x="2885270" y="1930618"/>
            <a:chExt cx="922912" cy="2170950"/>
          </a:xfrm>
        </p:grpSpPr>
        <p:grpSp>
          <p:nvGrpSpPr>
            <p:cNvPr id="1994" name="Google Shape;1994;p88"/>
            <p:cNvGrpSpPr/>
            <p:nvPr/>
          </p:nvGrpSpPr>
          <p:grpSpPr>
            <a:xfrm>
              <a:off x="2885270" y="1930618"/>
              <a:ext cx="922912" cy="2170950"/>
              <a:chOff x="348313" y="2503475"/>
              <a:chExt cx="1026941" cy="1706051"/>
            </a:xfrm>
          </p:grpSpPr>
          <p:sp>
            <p:nvSpPr>
              <p:cNvPr id="1995" name="Google Shape;1995;p88"/>
              <p:cNvSpPr txBox="1"/>
              <p:nvPr/>
            </p:nvSpPr>
            <p:spPr>
              <a:xfrm>
                <a:off x="1020954" y="2503475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996" name="Google Shape;1996;p88"/>
              <p:cNvGrpSpPr/>
              <p:nvPr/>
            </p:nvGrpSpPr>
            <p:grpSpPr>
              <a:xfrm>
                <a:off x="348313" y="2640250"/>
                <a:ext cx="727403" cy="1431250"/>
                <a:chOff x="354975" y="1421050"/>
                <a:chExt cx="2175900" cy="1431250"/>
              </a:xfrm>
            </p:grpSpPr>
            <p:cxnSp>
              <p:nvCxnSpPr>
                <p:cNvPr id="1997" name="Google Shape;1997;p88"/>
                <p:cNvCxnSpPr/>
                <p:nvPr/>
              </p:nvCxnSpPr>
              <p:spPr>
                <a:xfrm flipH="1" rot="10800000">
                  <a:off x="354975" y="142105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98" name="Google Shape;1998;p88"/>
                <p:cNvCxnSpPr/>
                <p:nvPr/>
              </p:nvCxnSpPr>
              <p:spPr>
                <a:xfrm>
                  <a:off x="354975" y="214040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99" name="Google Shape;1999;p88"/>
              <p:cNvSpPr txBox="1"/>
              <p:nvPr/>
            </p:nvSpPr>
            <p:spPr>
              <a:xfrm>
                <a:off x="1020954" y="3932326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000" name="Google Shape;2000;p88" title="four ni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59237" y="2157599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001" name="Google Shape;2001;p88" title="five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59225" y="34822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2" name="Google Shape;2002;p88"/>
          <p:cNvGrpSpPr/>
          <p:nvPr/>
        </p:nvGrpSpPr>
        <p:grpSpPr>
          <a:xfrm>
            <a:off x="3814149" y="1422724"/>
            <a:ext cx="1120180" cy="3102735"/>
            <a:chOff x="3814149" y="1422724"/>
            <a:chExt cx="1120180" cy="3102735"/>
          </a:xfrm>
        </p:grpSpPr>
        <p:sp>
          <p:nvSpPr>
            <p:cNvPr id="2003" name="Google Shape;2003;p88"/>
            <p:cNvSpPr txBox="1"/>
            <p:nvPr/>
          </p:nvSpPr>
          <p:spPr>
            <a:xfrm>
              <a:off x="4547929" y="1552225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04" name="Google Shape;2004;p88"/>
            <p:cNvGrpSpPr/>
            <p:nvPr/>
          </p:nvGrpSpPr>
          <p:grpSpPr>
            <a:xfrm>
              <a:off x="3814149" y="1643372"/>
              <a:ext cx="793551" cy="953785"/>
              <a:chOff x="354975" y="1421050"/>
              <a:chExt cx="2175900" cy="1431250"/>
            </a:xfrm>
          </p:grpSpPr>
          <p:cxnSp>
            <p:nvCxnSpPr>
              <p:cNvPr id="2005" name="Google Shape;2005;p88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6" name="Google Shape;2006;p88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07" name="Google Shape;2007;p88"/>
            <p:cNvSpPr txBox="1"/>
            <p:nvPr/>
          </p:nvSpPr>
          <p:spPr>
            <a:xfrm>
              <a:off x="4547929" y="2504411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8" name="Google Shape;2008;p88"/>
            <p:cNvSpPr txBox="1"/>
            <p:nvPr/>
          </p:nvSpPr>
          <p:spPr>
            <a:xfrm>
              <a:off x="4547929" y="3388472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09" name="Google Shape;2009;p88"/>
            <p:cNvGrpSpPr/>
            <p:nvPr/>
          </p:nvGrpSpPr>
          <p:grpSpPr>
            <a:xfrm>
              <a:off x="3814149" y="3479619"/>
              <a:ext cx="793551" cy="953785"/>
              <a:chOff x="354975" y="1421050"/>
              <a:chExt cx="2175900" cy="1431250"/>
            </a:xfrm>
          </p:grpSpPr>
          <p:cxnSp>
            <p:nvCxnSpPr>
              <p:cNvPr id="2010" name="Google Shape;2010;p88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1" name="Google Shape;2011;p88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12" name="Google Shape;2012;p88"/>
            <p:cNvSpPr txBox="1"/>
            <p:nvPr/>
          </p:nvSpPr>
          <p:spPr>
            <a:xfrm>
              <a:off x="4547929" y="4340659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013" name="Google Shape;2013;p88" title="four ni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45099" y="14227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014" name="Google Shape;2014;p88" title="five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16250" y="38808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015" name="Google Shape;2015;p88" title="four ni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45087" y="32430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016" name="Google Shape;2016;p88" title="five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16250" y="20315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17" name="Google Shape;2017;p88"/>
          <p:cNvGrpSpPr/>
          <p:nvPr/>
        </p:nvGrpSpPr>
        <p:grpSpPr>
          <a:xfrm>
            <a:off x="5046360" y="1622152"/>
            <a:ext cx="581700" cy="2820825"/>
            <a:chOff x="4953124" y="1552225"/>
            <a:chExt cx="581700" cy="2820825"/>
          </a:xfrm>
        </p:grpSpPr>
        <p:sp>
          <p:nvSpPr>
            <p:cNvPr id="2018" name="Google Shape;2018;p88"/>
            <p:cNvSpPr txBox="1"/>
            <p:nvPr/>
          </p:nvSpPr>
          <p:spPr>
            <a:xfrm>
              <a:off x="4953124" y="2428208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9" name="Google Shape;2019;p88"/>
            <p:cNvSpPr txBox="1"/>
            <p:nvPr/>
          </p:nvSpPr>
          <p:spPr>
            <a:xfrm>
              <a:off x="4953124" y="3312267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0" name="Google Shape;2020;p88"/>
            <p:cNvSpPr txBox="1"/>
            <p:nvPr/>
          </p:nvSpPr>
          <p:spPr>
            <a:xfrm>
              <a:off x="4953124" y="1552225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1" name="Google Shape;2021;p88"/>
            <p:cNvSpPr txBox="1"/>
            <p:nvPr/>
          </p:nvSpPr>
          <p:spPr>
            <a:xfrm>
              <a:off x="4953124" y="4188250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2022" name="Google Shape;2022;p88" title="16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561" y="1480178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023" name="Google Shape;2023;p88" title="20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561" y="2362503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81}&quot;&gt;&lt;mfrac&gt;&lt;mn&gt;25&lt;/mn&gt;&lt;mn&gt;81&lt;/mn&gt;&lt;/mfrac&gt;&lt;/math&gt;" id="2024" name="Google Shape;2024;p88" title="25 over 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6757" y="4127151"/>
            <a:ext cx="229950" cy="42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025" name="Google Shape;2025;p88" title="20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561" y="3244828"/>
            <a:ext cx="229950" cy="42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0" name="Google Shape;2030;p89"/>
          <p:cNvGrpSpPr/>
          <p:nvPr/>
        </p:nvGrpSpPr>
        <p:grpSpPr>
          <a:xfrm>
            <a:off x="4952787" y="1328950"/>
            <a:ext cx="1256160" cy="3374554"/>
            <a:chOff x="7887300" y="1898378"/>
            <a:chExt cx="932700" cy="2534400"/>
          </a:xfrm>
        </p:grpSpPr>
        <p:sp>
          <p:nvSpPr>
            <p:cNvPr id="2031" name="Google Shape;2031;p89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32" name="Google Shape;2032;p89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3" name="Google Shape;2033;p89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4" name="Google Shape;2034;p89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35" name="Google Shape;2035;p89"/>
          <p:cNvSpPr txBox="1"/>
          <p:nvPr/>
        </p:nvSpPr>
        <p:spPr>
          <a:xfrm>
            <a:off x="6346850" y="1480750"/>
            <a:ext cx="247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find the probability of at least one spin landing on an X…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add together the probability of each individual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037" name="Google Shape;2037;p89"/>
          <p:cNvSpPr txBox="1"/>
          <p:nvPr/>
        </p:nvSpPr>
        <p:spPr>
          <a:xfrm>
            <a:off x="6738023" y="3873175"/>
            <a:ext cx="27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89"/>
          <p:cNvSpPr txBox="1"/>
          <p:nvPr/>
        </p:nvSpPr>
        <p:spPr>
          <a:xfrm>
            <a:off x="7343348" y="3873175"/>
            <a:ext cx="27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89"/>
          <p:cNvSpPr txBox="1"/>
          <p:nvPr/>
        </p:nvSpPr>
        <p:spPr>
          <a:xfrm>
            <a:off x="7948673" y="3873175"/>
            <a:ext cx="27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6}{81}&quot;&gt;&lt;mfrac&gt;&lt;mn&gt;56&lt;/mn&gt;&lt;mn&gt;81&lt;/mn&gt;&lt;/mfrac&gt;&lt;/math&gt;" id="2040" name="Google Shape;2040;p89" title="56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2925" y="3793825"/>
            <a:ext cx="229950" cy="418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2041" name="Google Shape;2041;p89" title="16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7175" y="3793826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042" name="Google Shape;2042;p89" title="20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2425" y="3793825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043" name="Google Shape;2043;p89" title="20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7675" y="3793825"/>
            <a:ext cx="229950" cy="427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4" name="Google Shape;2044;p89"/>
          <p:cNvSpPr/>
          <p:nvPr/>
        </p:nvSpPr>
        <p:spPr>
          <a:xfrm>
            <a:off x="5774398" y="3135600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89"/>
          <p:cNvSpPr/>
          <p:nvPr/>
        </p:nvSpPr>
        <p:spPr>
          <a:xfrm>
            <a:off x="5774398" y="2259575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89"/>
          <p:cNvSpPr/>
          <p:nvPr/>
        </p:nvSpPr>
        <p:spPr>
          <a:xfrm>
            <a:off x="5774398" y="1383550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89"/>
          <p:cNvSpPr txBox="1"/>
          <p:nvPr/>
        </p:nvSpPr>
        <p:spPr>
          <a:xfrm>
            <a:off x="3563175" y="4559226"/>
            <a:ext cx="1532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second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89"/>
          <p:cNvSpPr txBox="1"/>
          <p:nvPr/>
        </p:nvSpPr>
        <p:spPr>
          <a:xfrm>
            <a:off x="2781800" y="4095150"/>
            <a:ext cx="1032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89"/>
          <p:cNvSpPr txBox="1"/>
          <p:nvPr/>
        </p:nvSpPr>
        <p:spPr>
          <a:xfrm>
            <a:off x="324000" y="644175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the sample space from a probability tree to calculate the probability of an event occurring from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89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16197753" name="adj1"/>
              <a:gd fmla="val 3656561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89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3645020" name="adj1"/>
              <a:gd fmla="val 16207343" name="adj2"/>
            </a:avLst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2" name="Google Shape;2052;p89"/>
          <p:cNvGrpSpPr/>
          <p:nvPr/>
        </p:nvGrpSpPr>
        <p:grpSpPr>
          <a:xfrm rot="-5400000">
            <a:off x="1054786" y="2762958"/>
            <a:ext cx="52145" cy="461955"/>
            <a:chOff x="936300" y="737518"/>
            <a:chExt cx="65100" cy="576723"/>
          </a:xfrm>
        </p:grpSpPr>
        <p:cxnSp>
          <p:nvCxnSpPr>
            <p:cNvPr id="2053" name="Google Shape;2053;p89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54" name="Google Shape;2054;p89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5" name="Google Shape;2055;p89"/>
          <p:cNvSpPr txBox="1"/>
          <p:nvPr/>
        </p:nvSpPr>
        <p:spPr>
          <a:xfrm>
            <a:off x="1131778" y="2577327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89"/>
          <p:cNvSpPr txBox="1"/>
          <p:nvPr/>
        </p:nvSpPr>
        <p:spPr>
          <a:xfrm>
            <a:off x="1249797" y="30900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89"/>
          <p:cNvSpPr txBox="1"/>
          <p:nvPr/>
        </p:nvSpPr>
        <p:spPr>
          <a:xfrm>
            <a:off x="765480" y="3512807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89"/>
          <p:cNvSpPr txBox="1"/>
          <p:nvPr/>
        </p:nvSpPr>
        <p:spPr>
          <a:xfrm>
            <a:off x="297155" y="4212150"/>
            <a:ext cx="2000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the spinner is spun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89"/>
          <p:cNvSpPr txBox="1"/>
          <p:nvPr/>
        </p:nvSpPr>
        <p:spPr>
          <a:xfrm>
            <a:off x="410880" y="1486442"/>
            <a:ext cx="1773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chance of landing on 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0" name="Google Shape;2060;p89"/>
          <p:cNvCxnSpPr/>
          <p:nvPr/>
        </p:nvCxnSpPr>
        <p:spPr>
          <a:xfrm>
            <a:off x="1297380" y="2208425"/>
            <a:ext cx="0" cy="32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1" name="Google Shape;2061;p89"/>
          <p:cNvCxnSpPr/>
          <p:nvPr/>
        </p:nvCxnSpPr>
        <p:spPr>
          <a:xfrm>
            <a:off x="2516850" y="1244625"/>
            <a:ext cx="0" cy="357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89"/>
          <p:cNvCxnSpPr/>
          <p:nvPr/>
        </p:nvCxnSpPr>
        <p:spPr>
          <a:xfrm rot="10800000">
            <a:off x="2518500" y="1244625"/>
            <a:ext cx="6290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2063" name="Google Shape;2063;p89" title="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774" y="1429724"/>
            <a:ext cx="131675" cy="424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4" name="Google Shape;2064;p89"/>
          <p:cNvGrpSpPr/>
          <p:nvPr/>
        </p:nvGrpSpPr>
        <p:grpSpPr>
          <a:xfrm>
            <a:off x="2885270" y="1930618"/>
            <a:ext cx="922912" cy="2170950"/>
            <a:chOff x="2885270" y="1930618"/>
            <a:chExt cx="922912" cy="2170950"/>
          </a:xfrm>
        </p:grpSpPr>
        <p:grpSp>
          <p:nvGrpSpPr>
            <p:cNvPr id="2065" name="Google Shape;2065;p89"/>
            <p:cNvGrpSpPr/>
            <p:nvPr/>
          </p:nvGrpSpPr>
          <p:grpSpPr>
            <a:xfrm>
              <a:off x="2885270" y="1930618"/>
              <a:ext cx="922912" cy="2170950"/>
              <a:chOff x="348313" y="2503475"/>
              <a:chExt cx="1026941" cy="1706051"/>
            </a:xfrm>
          </p:grpSpPr>
          <p:sp>
            <p:nvSpPr>
              <p:cNvPr id="2066" name="Google Shape;2066;p89"/>
              <p:cNvSpPr txBox="1"/>
              <p:nvPr/>
            </p:nvSpPr>
            <p:spPr>
              <a:xfrm>
                <a:off x="1020954" y="2503475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067" name="Google Shape;2067;p89"/>
              <p:cNvGrpSpPr/>
              <p:nvPr/>
            </p:nvGrpSpPr>
            <p:grpSpPr>
              <a:xfrm>
                <a:off x="348313" y="2640250"/>
                <a:ext cx="727403" cy="1431250"/>
                <a:chOff x="354975" y="1421050"/>
                <a:chExt cx="2175900" cy="1431250"/>
              </a:xfrm>
            </p:grpSpPr>
            <p:cxnSp>
              <p:nvCxnSpPr>
                <p:cNvPr id="2068" name="Google Shape;2068;p89"/>
                <p:cNvCxnSpPr/>
                <p:nvPr/>
              </p:nvCxnSpPr>
              <p:spPr>
                <a:xfrm flipH="1" rot="10800000">
                  <a:off x="354975" y="142105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9" name="Google Shape;2069;p89"/>
                <p:cNvCxnSpPr/>
                <p:nvPr/>
              </p:nvCxnSpPr>
              <p:spPr>
                <a:xfrm>
                  <a:off x="354975" y="214040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070" name="Google Shape;2070;p89"/>
              <p:cNvSpPr txBox="1"/>
              <p:nvPr/>
            </p:nvSpPr>
            <p:spPr>
              <a:xfrm>
                <a:off x="1020954" y="3932326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071" name="Google Shape;2071;p89" title="four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59237" y="2157599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072" name="Google Shape;2072;p89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059225" y="34822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3" name="Google Shape;2073;p89"/>
          <p:cNvGrpSpPr/>
          <p:nvPr/>
        </p:nvGrpSpPr>
        <p:grpSpPr>
          <a:xfrm>
            <a:off x="3814149" y="1422724"/>
            <a:ext cx="1120180" cy="3102735"/>
            <a:chOff x="3814149" y="1422724"/>
            <a:chExt cx="1120180" cy="3102735"/>
          </a:xfrm>
        </p:grpSpPr>
        <p:sp>
          <p:nvSpPr>
            <p:cNvPr id="2074" name="Google Shape;2074;p89"/>
            <p:cNvSpPr txBox="1"/>
            <p:nvPr/>
          </p:nvSpPr>
          <p:spPr>
            <a:xfrm>
              <a:off x="4547929" y="1552225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75" name="Google Shape;2075;p89"/>
            <p:cNvGrpSpPr/>
            <p:nvPr/>
          </p:nvGrpSpPr>
          <p:grpSpPr>
            <a:xfrm>
              <a:off x="3814149" y="1643372"/>
              <a:ext cx="793551" cy="953785"/>
              <a:chOff x="354975" y="1421050"/>
              <a:chExt cx="2175900" cy="1431250"/>
            </a:xfrm>
          </p:grpSpPr>
          <p:cxnSp>
            <p:nvCxnSpPr>
              <p:cNvPr id="2076" name="Google Shape;2076;p89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7" name="Google Shape;2077;p89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78" name="Google Shape;2078;p89"/>
            <p:cNvSpPr txBox="1"/>
            <p:nvPr/>
          </p:nvSpPr>
          <p:spPr>
            <a:xfrm>
              <a:off x="4547929" y="2504411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9" name="Google Shape;2079;p89"/>
            <p:cNvSpPr txBox="1"/>
            <p:nvPr/>
          </p:nvSpPr>
          <p:spPr>
            <a:xfrm>
              <a:off x="4547929" y="3388472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80" name="Google Shape;2080;p89"/>
            <p:cNvGrpSpPr/>
            <p:nvPr/>
          </p:nvGrpSpPr>
          <p:grpSpPr>
            <a:xfrm>
              <a:off x="3814149" y="3479619"/>
              <a:ext cx="793551" cy="953785"/>
              <a:chOff x="354975" y="1421050"/>
              <a:chExt cx="2175900" cy="1431250"/>
            </a:xfrm>
          </p:grpSpPr>
          <p:cxnSp>
            <p:nvCxnSpPr>
              <p:cNvPr id="2081" name="Google Shape;2081;p89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2" name="Google Shape;2082;p89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83" name="Google Shape;2083;p89"/>
            <p:cNvSpPr txBox="1"/>
            <p:nvPr/>
          </p:nvSpPr>
          <p:spPr>
            <a:xfrm>
              <a:off x="4547929" y="4340659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084" name="Google Shape;2084;p89" title="four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45099" y="14227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085" name="Google Shape;2085;p89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416250" y="38808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086" name="Google Shape;2086;p89" title="four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45087" y="32430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087" name="Google Shape;2087;p89" title="five nin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416250" y="20315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8" name="Google Shape;2088;p89"/>
          <p:cNvGrpSpPr/>
          <p:nvPr/>
        </p:nvGrpSpPr>
        <p:grpSpPr>
          <a:xfrm>
            <a:off x="5046360" y="1622152"/>
            <a:ext cx="581700" cy="2820825"/>
            <a:chOff x="4953124" y="1552225"/>
            <a:chExt cx="581700" cy="2820825"/>
          </a:xfrm>
        </p:grpSpPr>
        <p:sp>
          <p:nvSpPr>
            <p:cNvPr id="2089" name="Google Shape;2089;p89"/>
            <p:cNvSpPr txBox="1"/>
            <p:nvPr/>
          </p:nvSpPr>
          <p:spPr>
            <a:xfrm>
              <a:off x="4953124" y="2428208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89"/>
            <p:cNvSpPr txBox="1"/>
            <p:nvPr/>
          </p:nvSpPr>
          <p:spPr>
            <a:xfrm>
              <a:off x="4953124" y="3312267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1" name="Google Shape;2091;p89"/>
            <p:cNvSpPr txBox="1"/>
            <p:nvPr/>
          </p:nvSpPr>
          <p:spPr>
            <a:xfrm>
              <a:off x="4953124" y="1552225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2" name="Google Shape;2092;p89"/>
            <p:cNvSpPr txBox="1"/>
            <p:nvPr/>
          </p:nvSpPr>
          <p:spPr>
            <a:xfrm>
              <a:off x="4953124" y="4188250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2093" name="Google Shape;2093;p89" title="16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561" y="1480178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094" name="Google Shape;2094;p89" title="20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561" y="2362503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81}&quot;&gt;&lt;mfrac&gt;&lt;mn&gt;25&lt;/mn&gt;&lt;mn&gt;81&lt;/mn&gt;&lt;/mfrac&gt;&lt;/math&gt;" id="2095" name="Google Shape;2095;p89" title="25 over 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6757" y="4127151"/>
            <a:ext cx="229950" cy="42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096" name="Google Shape;2096;p89" title="20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561" y="3244828"/>
            <a:ext cx="229950" cy="42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1" name="Google Shape;2101;p90"/>
          <p:cNvGrpSpPr/>
          <p:nvPr/>
        </p:nvGrpSpPr>
        <p:grpSpPr>
          <a:xfrm>
            <a:off x="4952787" y="1328950"/>
            <a:ext cx="1256160" cy="3374554"/>
            <a:chOff x="7887300" y="1898378"/>
            <a:chExt cx="932700" cy="2534400"/>
          </a:xfrm>
        </p:grpSpPr>
        <p:sp>
          <p:nvSpPr>
            <p:cNvPr id="2102" name="Google Shape;2102;p90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03" name="Google Shape;2103;p90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4" name="Google Shape;2104;p90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5" name="Google Shape;2105;p90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06" name="Google Shape;2106;p90"/>
          <p:cNvSpPr txBox="1"/>
          <p:nvPr/>
        </p:nvSpPr>
        <p:spPr>
          <a:xfrm>
            <a:off x="6346850" y="1480750"/>
            <a:ext cx="247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exactly one spin lands on an 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different about this event compared to the previous one?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7" name="Google Shape;2107;p90"/>
          <p:cNvGrpSpPr/>
          <p:nvPr/>
        </p:nvGrpSpPr>
        <p:grpSpPr>
          <a:xfrm>
            <a:off x="4985350" y="1383550"/>
            <a:ext cx="3424250" cy="674400"/>
            <a:chOff x="4985350" y="1383550"/>
            <a:chExt cx="3424250" cy="674400"/>
          </a:xfrm>
        </p:grpSpPr>
        <p:sp>
          <p:nvSpPr>
            <p:cNvPr id="2108" name="Google Shape;2108;p90"/>
            <p:cNvSpPr/>
            <p:nvPr/>
          </p:nvSpPr>
          <p:spPr>
            <a:xfrm>
              <a:off x="4985350" y="1383550"/>
              <a:ext cx="1149900" cy="6744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9" name="Google Shape;2109;p90"/>
            <p:cNvSpPr/>
            <p:nvPr/>
          </p:nvSpPr>
          <p:spPr>
            <a:xfrm>
              <a:off x="7059300" y="1484605"/>
              <a:ext cx="1350300" cy="2973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0" name="Google Shape;211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111" name="Google Shape;2111;p90"/>
          <p:cNvSpPr txBox="1"/>
          <p:nvPr/>
        </p:nvSpPr>
        <p:spPr>
          <a:xfrm>
            <a:off x="6346850" y="3827250"/>
            <a:ext cx="247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Exactly one means the outcome X X doesn’t count.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2" name="Google Shape;2112;p90"/>
          <p:cNvSpPr txBox="1"/>
          <p:nvPr/>
        </p:nvSpPr>
        <p:spPr>
          <a:xfrm>
            <a:off x="3563175" y="4559226"/>
            <a:ext cx="1532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second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90"/>
          <p:cNvSpPr txBox="1"/>
          <p:nvPr/>
        </p:nvSpPr>
        <p:spPr>
          <a:xfrm>
            <a:off x="2781800" y="4095150"/>
            <a:ext cx="1032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90"/>
          <p:cNvSpPr txBox="1"/>
          <p:nvPr/>
        </p:nvSpPr>
        <p:spPr>
          <a:xfrm>
            <a:off x="324000" y="644175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the sample space from a probability tree to calculate the probability of an event occurring from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90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16197753" name="adj1"/>
              <a:gd fmla="val 3656561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90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3645020" name="adj1"/>
              <a:gd fmla="val 16207343" name="adj2"/>
            </a:avLst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7" name="Google Shape;2117;p90"/>
          <p:cNvGrpSpPr/>
          <p:nvPr/>
        </p:nvGrpSpPr>
        <p:grpSpPr>
          <a:xfrm rot="-5400000">
            <a:off x="1054786" y="2762958"/>
            <a:ext cx="52145" cy="461955"/>
            <a:chOff x="936300" y="737518"/>
            <a:chExt cx="65100" cy="576723"/>
          </a:xfrm>
        </p:grpSpPr>
        <p:cxnSp>
          <p:nvCxnSpPr>
            <p:cNvPr id="2118" name="Google Shape;2118;p90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19" name="Google Shape;2119;p90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0" name="Google Shape;2120;p90"/>
          <p:cNvSpPr txBox="1"/>
          <p:nvPr/>
        </p:nvSpPr>
        <p:spPr>
          <a:xfrm>
            <a:off x="1131778" y="2577327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90"/>
          <p:cNvSpPr txBox="1"/>
          <p:nvPr/>
        </p:nvSpPr>
        <p:spPr>
          <a:xfrm>
            <a:off x="1249797" y="30900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90"/>
          <p:cNvSpPr txBox="1"/>
          <p:nvPr/>
        </p:nvSpPr>
        <p:spPr>
          <a:xfrm>
            <a:off x="765480" y="3512807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90"/>
          <p:cNvSpPr txBox="1"/>
          <p:nvPr/>
        </p:nvSpPr>
        <p:spPr>
          <a:xfrm>
            <a:off x="297155" y="4212150"/>
            <a:ext cx="2000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the spinner is spun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4" name="Google Shape;2124;p90"/>
          <p:cNvSpPr txBox="1"/>
          <p:nvPr/>
        </p:nvSpPr>
        <p:spPr>
          <a:xfrm>
            <a:off x="410880" y="1486442"/>
            <a:ext cx="1773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chance of landing on 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5" name="Google Shape;2125;p90"/>
          <p:cNvCxnSpPr/>
          <p:nvPr/>
        </p:nvCxnSpPr>
        <p:spPr>
          <a:xfrm>
            <a:off x="1297380" y="2208425"/>
            <a:ext cx="0" cy="32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90"/>
          <p:cNvCxnSpPr/>
          <p:nvPr/>
        </p:nvCxnSpPr>
        <p:spPr>
          <a:xfrm>
            <a:off x="2516850" y="1244625"/>
            <a:ext cx="0" cy="357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90"/>
          <p:cNvCxnSpPr/>
          <p:nvPr/>
        </p:nvCxnSpPr>
        <p:spPr>
          <a:xfrm rot="10800000">
            <a:off x="2518500" y="1244625"/>
            <a:ext cx="6290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2128" name="Google Shape;2128;p90" title="four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74" y="1429724"/>
            <a:ext cx="131675" cy="424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9" name="Google Shape;2129;p90"/>
          <p:cNvGrpSpPr/>
          <p:nvPr/>
        </p:nvGrpSpPr>
        <p:grpSpPr>
          <a:xfrm>
            <a:off x="2885270" y="1930618"/>
            <a:ext cx="922912" cy="2170950"/>
            <a:chOff x="2885270" y="1930618"/>
            <a:chExt cx="922912" cy="2170950"/>
          </a:xfrm>
        </p:grpSpPr>
        <p:grpSp>
          <p:nvGrpSpPr>
            <p:cNvPr id="2130" name="Google Shape;2130;p90"/>
            <p:cNvGrpSpPr/>
            <p:nvPr/>
          </p:nvGrpSpPr>
          <p:grpSpPr>
            <a:xfrm>
              <a:off x="2885270" y="1930618"/>
              <a:ext cx="922912" cy="2170950"/>
              <a:chOff x="348313" y="2503475"/>
              <a:chExt cx="1026941" cy="1706051"/>
            </a:xfrm>
          </p:grpSpPr>
          <p:sp>
            <p:nvSpPr>
              <p:cNvPr id="2131" name="Google Shape;2131;p90"/>
              <p:cNvSpPr txBox="1"/>
              <p:nvPr/>
            </p:nvSpPr>
            <p:spPr>
              <a:xfrm>
                <a:off x="1020954" y="2503475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132" name="Google Shape;2132;p90"/>
              <p:cNvGrpSpPr/>
              <p:nvPr/>
            </p:nvGrpSpPr>
            <p:grpSpPr>
              <a:xfrm>
                <a:off x="348313" y="2640250"/>
                <a:ext cx="727403" cy="1431250"/>
                <a:chOff x="354975" y="1421050"/>
                <a:chExt cx="2175900" cy="1431250"/>
              </a:xfrm>
            </p:grpSpPr>
            <p:cxnSp>
              <p:nvCxnSpPr>
                <p:cNvPr id="2133" name="Google Shape;2133;p90"/>
                <p:cNvCxnSpPr/>
                <p:nvPr/>
              </p:nvCxnSpPr>
              <p:spPr>
                <a:xfrm flipH="1" rot="10800000">
                  <a:off x="354975" y="142105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34" name="Google Shape;2134;p90"/>
                <p:cNvCxnSpPr/>
                <p:nvPr/>
              </p:nvCxnSpPr>
              <p:spPr>
                <a:xfrm>
                  <a:off x="354975" y="214040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135" name="Google Shape;2135;p90"/>
              <p:cNvSpPr txBox="1"/>
              <p:nvPr/>
            </p:nvSpPr>
            <p:spPr>
              <a:xfrm>
                <a:off x="1020954" y="3932326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136" name="Google Shape;2136;p90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59237" y="2157599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137" name="Google Shape;2137;p90" title="five ni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59225" y="34822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8" name="Google Shape;2138;p90"/>
          <p:cNvGrpSpPr/>
          <p:nvPr/>
        </p:nvGrpSpPr>
        <p:grpSpPr>
          <a:xfrm>
            <a:off x="3814149" y="1422724"/>
            <a:ext cx="1120180" cy="3102735"/>
            <a:chOff x="3814149" y="1422724"/>
            <a:chExt cx="1120180" cy="3102735"/>
          </a:xfrm>
        </p:grpSpPr>
        <p:sp>
          <p:nvSpPr>
            <p:cNvPr id="2139" name="Google Shape;2139;p90"/>
            <p:cNvSpPr txBox="1"/>
            <p:nvPr/>
          </p:nvSpPr>
          <p:spPr>
            <a:xfrm>
              <a:off x="4547929" y="1552225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40" name="Google Shape;2140;p90"/>
            <p:cNvGrpSpPr/>
            <p:nvPr/>
          </p:nvGrpSpPr>
          <p:grpSpPr>
            <a:xfrm>
              <a:off x="3814149" y="1643372"/>
              <a:ext cx="793551" cy="953785"/>
              <a:chOff x="354975" y="1421050"/>
              <a:chExt cx="2175900" cy="1431250"/>
            </a:xfrm>
          </p:grpSpPr>
          <p:cxnSp>
            <p:nvCxnSpPr>
              <p:cNvPr id="2141" name="Google Shape;2141;p90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2" name="Google Shape;2142;p90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43" name="Google Shape;2143;p90"/>
            <p:cNvSpPr txBox="1"/>
            <p:nvPr/>
          </p:nvSpPr>
          <p:spPr>
            <a:xfrm>
              <a:off x="4547929" y="2504411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4" name="Google Shape;2144;p90"/>
            <p:cNvSpPr txBox="1"/>
            <p:nvPr/>
          </p:nvSpPr>
          <p:spPr>
            <a:xfrm>
              <a:off x="4547929" y="3388472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45" name="Google Shape;2145;p90"/>
            <p:cNvGrpSpPr/>
            <p:nvPr/>
          </p:nvGrpSpPr>
          <p:grpSpPr>
            <a:xfrm>
              <a:off x="3814149" y="3479619"/>
              <a:ext cx="793551" cy="953785"/>
              <a:chOff x="354975" y="1421050"/>
              <a:chExt cx="2175900" cy="1431250"/>
            </a:xfrm>
          </p:grpSpPr>
          <p:cxnSp>
            <p:nvCxnSpPr>
              <p:cNvPr id="2146" name="Google Shape;2146;p90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47" name="Google Shape;2147;p90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48" name="Google Shape;2148;p90"/>
            <p:cNvSpPr txBox="1"/>
            <p:nvPr/>
          </p:nvSpPr>
          <p:spPr>
            <a:xfrm>
              <a:off x="4547929" y="4340659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149" name="Google Shape;2149;p90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45099" y="14227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150" name="Google Shape;2150;p90" title="five ni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16250" y="38808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151" name="Google Shape;2151;p90" title="four nin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45087" y="32430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152" name="Google Shape;2152;p90" title="five ni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16250" y="20315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53" name="Google Shape;2153;p90"/>
          <p:cNvGrpSpPr/>
          <p:nvPr/>
        </p:nvGrpSpPr>
        <p:grpSpPr>
          <a:xfrm>
            <a:off x="5046360" y="1622152"/>
            <a:ext cx="581700" cy="2820825"/>
            <a:chOff x="4953124" y="1552225"/>
            <a:chExt cx="581700" cy="2820825"/>
          </a:xfrm>
        </p:grpSpPr>
        <p:sp>
          <p:nvSpPr>
            <p:cNvPr id="2154" name="Google Shape;2154;p90"/>
            <p:cNvSpPr txBox="1"/>
            <p:nvPr/>
          </p:nvSpPr>
          <p:spPr>
            <a:xfrm>
              <a:off x="4953124" y="2428208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5" name="Google Shape;2155;p90"/>
            <p:cNvSpPr txBox="1"/>
            <p:nvPr/>
          </p:nvSpPr>
          <p:spPr>
            <a:xfrm>
              <a:off x="4953124" y="3312267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6" name="Google Shape;2156;p90"/>
            <p:cNvSpPr txBox="1"/>
            <p:nvPr/>
          </p:nvSpPr>
          <p:spPr>
            <a:xfrm>
              <a:off x="4953124" y="1552225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7" name="Google Shape;2157;p90"/>
            <p:cNvSpPr txBox="1"/>
            <p:nvPr/>
          </p:nvSpPr>
          <p:spPr>
            <a:xfrm>
              <a:off x="4953124" y="4188250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2158" name="Google Shape;2158;p90" title="16 over 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4561" y="1480178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159" name="Google Shape;2159;p90" title="20 over 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4561" y="2362503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81}&quot;&gt;&lt;mfrac&gt;&lt;mn&gt;25&lt;/mn&gt;&lt;mn&gt;81&lt;/mn&gt;&lt;/mfrac&gt;&lt;/math&gt;" id="2160" name="Google Shape;2160;p90" title="25 over 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6757" y="4127151"/>
            <a:ext cx="229950" cy="42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161" name="Google Shape;2161;p90" title="20 over 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4561" y="3244828"/>
            <a:ext cx="229950" cy="42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6" name="Google Shape;2166;p91"/>
          <p:cNvGrpSpPr/>
          <p:nvPr/>
        </p:nvGrpSpPr>
        <p:grpSpPr>
          <a:xfrm>
            <a:off x="4952787" y="1328950"/>
            <a:ext cx="1256160" cy="3374554"/>
            <a:chOff x="7887300" y="1898378"/>
            <a:chExt cx="932700" cy="2534400"/>
          </a:xfrm>
        </p:grpSpPr>
        <p:sp>
          <p:nvSpPr>
            <p:cNvPr id="2167" name="Google Shape;2167;p91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68" name="Google Shape;2168;p9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9" name="Google Shape;2169;p91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0" name="Google Shape;2170;p91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71" name="Google Shape;217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172" name="Google Shape;2172;p91"/>
          <p:cNvSpPr txBox="1"/>
          <p:nvPr/>
        </p:nvSpPr>
        <p:spPr>
          <a:xfrm>
            <a:off x="6346850" y="1480750"/>
            <a:ext cx="2473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exactly one spin lands on an 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this event happening is: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91"/>
          <p:cNvSpPr/>
          <p:nvPr/>
        </p:nvSpPr>
        <p:spPr>
          <a:xfrm>
            <a:off x="5774398" y="3135600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91"/>
          <p:cNvSpPr/>
          <p:nvPr/>
        </p:nvSpPr>
        <p:spPr>
          <a:xfrm>
            <a:off x="5774398" y="2259575"/>
            <a:ext cx="3609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175" name="Google Shape;2175;p91" title="20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7625" y="3031825"/>
            <a:ext cx="229950" cy="427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176" name="Google Shape;2176;p91" title="20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402" y="3031825"/>
            <a:ext cx="229950" cy="427812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Google Shape;2177;p91"/>
          <p:cNvSpPr txBox="1"/>
          <p:nvPr/>
        </p:nvSpPr>
        <p:spPr>
          <a:xfrm>
            <a:off x="7038548" y="3111175"/>
            <a:ext cx="27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91"/>
          <p:cNvSpPr txBox="1"/>
          <p:nvPr/>
        </p:nvSpPr>
        <p:spPr>
          <a:xfrm>
            <a:off x="7643873" y="3111175"/>
            <a:ext cx="278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0}{81}&quot;&gt;&lt;mfrac&gt;&lt;mn&gt;40&lt;/mn&gt;&lt;mn&gt;81&lt;/mn&gt;&lt;/mfrac&gt;&lt;/math&gt;" id="2179" name="Google Shape;2179;p91" title="40 over 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3050" y="3031825"/>
            <a:ext cx="229950" cy="427812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91"/>
          <p:cNvSpPr txBox="1"/>
          <p:nvPr/>
        </p:nvSpPr>
        <p:spPr>
          <a:xfrm>
            <a:off x="3563175" y="4559226"/>
            <a:ext cx="15321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second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91"/>
          <p:cNvSpPr txBox="1"/>
          <p:nvPr/>
        </p:nvSpPr>
        <p:spPr>
          <a:xfrm>
            <a:off x="2781800" y="4095150"/>
            <a:ext cx="1032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spin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2" name="Google Shape;2182;p91"/>
          <p:cNvSpPr txBox="1"/>
          <p:nvPr/>
        </p:nvSpPr>
        <p:spPr>
          <a:xfrm>
            <a:off x="324000" y="644175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use the sample space from a probability tree to calculate the probability of an event occurring from a two-stage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91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16197753" name="adj1"/>
              <a:gd fmla="val 3656561" name="adj2"/>
            </a:avLst>
          </a:prstGeom>
          <a:solidFill>
            <a:schemeClr val="accent5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91"/>
          <p:cNvSpPr/>
          <p:nvPr/>
        </p:nvSpPr>
        <p:spPr>
          <a:xfrm rot="-5400000">
            <a:off x="765480" y="2462046"/>
            <a:ext cx="1063800" cy="1063800"/>
          </a:xfrm>
          <a:prstGeom prst="pie">
            <a:avLst>
              <a:gd fmla="val 3645020" name="adj1"/>
              <a:gd fmla="val 16207343" name="adj2"/>
            </a:avLst>
          </a:prstGeom>
          <a:solidFill>
            <a:srgbClr val="E6F2F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5" name="Google Shape;2185;p91"/>
          <p:cNvGrpSpPr/>
          <p:nvPr/>
        </p:nvGrpSpPr>
        <p:grpSpPr>
          <a:xfrm rot="-5400000">
            <a:off x="1054786" y="2762958"/>
            <a:ext cx="52145" cy="461955"/>
            <a:chOff x="936300" y="737518"/>
            <a:chExt cx="65100" cy="576723"/>
          </a:xfrm>
        </p:grpSpPr>
        <p:cxnSp>
          <p:nvCxnSpPr>
            <p:cNvPr id="2186" name="Google Shape;2186;p91"/>
            <p:cNvCxnSpPr/>
            <p:nvPr/>
          </p:nvCxnSpPr>
          <p:spPr>
            <a:xfrm rot="10800000">
              <a:off x="968896" y="737518"/>
              <a:ext cx="0" cy="53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87" name="Google Shape;2187;p91"/>
            <p:cNvSpPr/>
            <p:nvPr/>
          </p:nvSpPr>
          <p:spPr>
            <a:xfrm>
              <a:off x="936300" y="12554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8" name="Google Shape;2188;p91"/>
          <p:cNvSpPr txBox="1"/>
          <p:nvPr/>
        </p:nvSpPr>
        <p:spPr>
          <a:xfrm>
            <a:off x="1131778" y="2577327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91"/>
          <p:cNvSpPr txBox="1"/>
          <p:nvPr/>
        </p:nvSpPr>
        <p:spPr>
          <a:xfrm>
            <a:off x="1249797" y="3090009"/>
            <a:ext cx="2250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0" name="Google Shape;2190;p91"/>
          <p:cNvSpPr txBox="1"/>
          <p:nvPr/>
        </p:nvSpPr>
        <p:spPr>
          <a:xfrm>
            <a:off x="765480" y="3512807"/>
            <a:ext cx="1063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91"/>
          <p:cNvSpPr txBox="1"/>
          <p:nvPr/>
        </p:nvSpPr>
        <p:spPr>
          <a:xfrm>
            <a:off x="297155" y="4212150"/>
            <a:ext cx="20007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the spinner is spun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91"/>
          <p:cNvSpPr txBox="1"/>
          <p:nvPr/>
        </p:nvSpPr>
        <p:spPr>
          <a:xfrm>
            <a:off x="410880" y="1486442"/>
            <a:ext cx="17730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chance of landing on 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3" name="Google Shape;2193;p91"/>
          <p:cNvCxnSpPr/>
          <p:nvPr/>
        </p:nvCxnSpPr>
        <p:spPr>
          <a:xfrm>
            <a:off x="1297380" y="2208425"/>
            <a:ext cx="0" cy="32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4" name="Google Shape;2194;p91"/>
          <p:cNvCxnSpPr/>
          <p:nvPr/>
        </p:nvCxnSpPr>
        <p:spPr>
          <a:xfrm>
            <a:off x="2516850" y="1244625"/>
            <a:ext cx="0" cy="357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5" name="Google Shape;2195;p91"/>
          <p:cNvCxnSpPr/>
          <p:nvPr/>
        </p:nvCxnSpPr>
        <p:spPr>
          <a:xfrm rot="10800000">
            <a:off x="2518500" y="1244625"/>
            <a:ext cx="6290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2196" name="Google Shape;2196;p91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774" y="1429724"/>
            <a:ext cx="131675" cy="4247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7" name="Google Shape;2197;p91"/>
          <p:cNvGrpSpPr/>
          <p:nvPr/>
        </p:nvGrpSpPr>
        <p:grpSpPr>
          <a:xfrm>
            <a:off x="2885270" y="1930618"/>
            <a:ext cx="922912" cy="2170950"/>
            <a:chOff x="2885270" y="1930618"/>
            <a:chExt cx="922912" cy="2170950"/>
          </a:xfrm>
        </p:grpSpPr>
        <p:grpSp>
          <p:nvGrpSpPr>
            <p:cNvPr id="2198" name="Google Shape;2198;p91"/>
            <p:cNvGrpSpPr/>
            <p:nvPr/>
          </p:nvGrpSpPr>
          <p:grpSpPr>
            <a:xfrm>
              <a:off x="2885270" y="1930618"/>
              <a:ext cx="922912" cy="2170950"/>
              <a:chOff x="348313" y="2503475"/>
              <a:chExt cx="1026941" cy="1706051"/>
            </a:xfrm>
          </p:grpSpPr>
          <p:sp>
            <p:nvSpPr>
              <p:cNvPr id="2199" name="Google Shape;2199;p91"/>
              <p:cNvSpPr txBox="1"/>
              <p:nvPr/>
            </p:nvSpPr>
            <p:spPr>
              <a:xfrm>
                <a:off x="1020954" y="2503475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X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200" name="Google Shape;2200;p91"/>
              <p:cNvGrpSpPr/>
              <p:nvPr/>
            </p:nvGrpSpPr>
            <p:grpSpPr>
              <a:xfrm>
                <a:off x="348313" y="2640250"/>
                <a:ext cx="727403" cy="1431250"/>
                <a:chOff x="354975" y="1421050"/>
                <a:chExt cx="2175900" cy="1431250"/>
              </a:xfrm>
            </p:grpSpPr>
            <p:cxnSp>
              <p:nvCxnSpPr>
                <p:cNvPr id="2201" name="Google Shape;2201;p91"/>
                <p:cNvCxnSpPr/>
                <p:nvPr/>
              </p:nvCxnSpPr>
              <p:spPr>
                <a:xfrm flipH="1" rot="10800000">
                  <a:off x="354975" y="142105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02" name="Google Shape;2202;p91"/>
                <p:cNvCxnSpPr/>
                <p:nvPr/>
              </p:nvCxnSpPr>
              <p:spPr>
                <a:xfrm>
                  <a:off x="354975" y="2140400"/>
                  <a:ext cx="2175900" cy="7119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03" name="Google Shape;2203;p91"/>
              <p:cNvSpPr txBox="1"/>
              <p:nvPr/>
            </p:nvSpPr>
            <p:spPr>
              <a:xfrm>
                <a:off x="1020954" y="3932326"/>
                <a:ext cx="3543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204" name="Google Shape;2204;p91" title="four ni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059237" y="2157599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205" name="Google Shape;2205;p91" title="five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59225" y="34822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6" name="Google Shape;2206;p91"/>
          <p:cNvGrpSpPr/>
          <p:nvPr/>
        </p:nvGrpSpPr>
        <p:grpSpPr>
          <a:xfrm>
            <a:off x="3814149" y="1422724"/>
            <a:ext cx="1120180" cy="3102735"/>
            <a:chOff x="3814149" y="1422724"/>
            <a:chExt cx="1120180" cy="3102735"/>
          </a:xfrm>
        </p:grpSpPr>
        <p:sp>
          <p:nvSpPr>
            <p:cNvPr id="2207" name="Google Shape;2207;p91"/>
            <p:cNvSpPr txBox="1"/>
            <p:nvPr/>
          </p:nvSpPr>
          <p:spPr>
            <a:xfrm>
              <a:off x="4547929" y="1552225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08" name="Google Shape;2208;p91"/>
            <p:cNvGrpSpPr/>
            <p:nvPr/>
          </p:nvGrpSpPr>
          <p:grpSpPr>
            <a:xfrm>
              <a:off x="3814149" y="1643372"/>
              <a:ext cx="793551" cy="953785"/>
              <a:chOff x="354975" y="1421050"/>
              <a:chExt cx="2175900" cy="1431250"/>
            </a:xfrm>
          </p:grpSpPr>
          <p:cxnSp>
            <p:nvCxnSpPr>
              <p:cNvPr id="2209" name="Google Shape;2209;p91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0" name="Google Shape;2210;p91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11" name="Google Shape;2211;p91"/>
            <p:cNvSpPr txBox="1"/>
            <p:nvPr/>
          </p:nvSpPr>
          <p:spPr>
            <a:xfrm>
              <a:off x="4547929" y="2504411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2" name="Google Shape;2212;p91"/>
            <p:cNvSpPr txBox="1"/>
            <p:nvPr/>
          </p:nvSpPr>
          <p:spPr>
            <a:xfrm>
              <a:off x="4547929" y="3388472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13" name="Google Shape;2213;p91"/>
            <p:cNvGrpSpPr/>
            <p:nvPr/>
          </p:nvGrpSpPr>
          <p:grpSpPr>
            <a:xfrm>
              <a:off x="3814149" y="3479619"/>
              <a:ext cx="793551" cy="953785"/>
              <a:chOff x="354975" y="1421050"/>
              <a:chExt cx="2175900" cy="1431250"/>
            </a:xfrm>
          </p:grpSpPr>
          <p:cxnSp>
            <p:nvCxnSpPr>
              <p:cNvPr id="2214" name="Google Shape;2214;p91"/>
              <p:cNvCxnSpPr/>
              <p:nvPr/>
            </p:nvCxnSpPr>
            <p:spPr>
              <a:xfrm flipH="1" rot="10800000">
                <a:off x="354975" y="142105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5" name="Google Shape;2215;p91"/>
              <p:cNvCxnSpPr/>
              <p:nvPr/>
            </p:nvCxnSpPr>
            <p:spPr>
              <a:xfrm>
                <a:off x="354975" y="2140400"/>
                <a:ext cx="2175900" cy="711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16" name="Google Shape;2216;p91"/>
            <p:cNvSpPr txBox="1"/>
            <p:nvPr/>
          </p:nvSpPr>
          <p:spPr>
            <a:xfrm>
              <a:off x="4547929" y="4340659"/>
              <a:ext cx="3864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217" name="Google Shape;2217;p91" title="four ni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45099" y="14227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218" name="Google Shape;2218;p91" title="five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16250" y="38808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9}&quot;&gt;&lt;mfrac&gt;&lt;mn&gt;4&lt;/mn&gt;&lt;mn&gt;9&lt;/mn&gt;&lt;/mfrac&gt;&lt;/math&gt;" id="2219" name="Google Shape;2219;p91" title="four nin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45087" y="3243024"/>
              <a:ext cx="131675" cy="42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9}&quot;&gt;&lt;mfrac&gt;&lt;mn&gt;5&lt;/mn&gt;&lt;mn&gt;9&lt;/mn&gt;&lt;/mfrac&gt;&lt;/math&gt;" id="2220" name="Google Shape;2220;p91" title="five nin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416250" y="2031567"/>
              <a:ext cx="131675" cy="4312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21" name="Google Shape;2221;p91"/>
          <p:cNvGrpSpPr/>
          <p:nvPr/>
        </p:nvGrpSpPr>
        <p:grpSpPr>
          <a:xfrm>
            <a:off x="5046360" y="1622152"/>
            <a:ext cx="581700" cy="2820825"/>
            <a:chOff x="4953124" y="1552225"/>
            <a:chExt cx="581700" cy="2820825"/>
          </a:xfrm>
        </p:grpSpPr>
        <p:sp>
          <p:nvSpPr>
            <p:cNvPr id="2222" name="Google Shape;2222;p91"/>
            <p:cNvSpPr txBox="1"/>
            <p:nvPr/>
          </p:nvSpPr>
          <p:spPr>
            <a:xfrm>
              <a:off x="4953124" y="2428208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3" name="Google Shape;2223;p91"/>
            <p:cNvSpPr txBox="1"/>
            <p:nvPr/>
          </p:nvSpPr>
          <p:spPr>
            <a:xfrm>
              <a:off x="4953124" y="3312267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4" name="Google Shape;2224;p91"/>
            <p:cNvSpPr txBox="1"/>
            <p:nvPr/>
          </p:nvSpPr>
          <p:spPr>
            <a:xfrm>
              <a:off x="4953124" y="1552225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 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5" name="Google Shape;2225;p91"/>
            <p:cNvSpPr txBox="1"/>
            <p:nvPr/>
          </p:nvSpPr>
          <p:spPr>
            <a:xfrm>
              <a:off x="4953124" y="4188250"/>
              <a:ext cx="5817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Y 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6}{81}&quot;&gt;&lt;mfrac&gt;&lt;mn&gt;16&lt;/mn&gt;&lt;mn&gt;81&lt;/mn&gt;&lt;/mfrac&gt;&lt;/math&gt;" id="2226" name="Google Shape;2226;p91" title="16 over 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44561" y="1480178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227" name="Google Shape;2227;p91" title="20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561" y="2362503"/>
            <a:ext cx="229950" cy="427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5}{81}&quot;&gt;&lt;mfrac&gt;&lt;mn&gt;25&lt;/mn&gt;&lt;mn&gt;81&lt;/mn&gt;&lt;/mfrac&gt;&lt;/math&gt;" id="2228" name="Google Shape;2228;p91" title="25 over 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6757" y="4127151"/>
            <a:ext cx="229950" cy="42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}{81}&quot;&gt;&lt;mfrac&gt;&lt;mn&gt;20&lt;/mn&gt;&lt;mn&gt;81&lt;/mn&gt;&lt;/mfrac&gt;&lt;/math&gt;" id="2229" name="Google Shape;2229;p91" title="20 over 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561" y="3244828"/>
            <a:ext cx="229950" cy="42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92"/>
          <p:cNvSpPr txBox="1"/>
          <p:nvPr/>
        </p:nvSpPr>
        <p:spPr>
          <a:xfrm>
            <a:off x="4245150" y="2786450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5" name="Google Shape;2235;p92"/>
          <p:cNvSpPr txBox="1"/>
          <p:nvPr/>
        </p:nvSpPr>
        <p:spPr>
          <a:xfrm>
            <a:off x="4245150" y="4277450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36" name="Google Shape;2236;p92"/>
          <p:cNvGrpSpPr/>
          <p:nvPr/>
        </p:nvGrpSpPr>
        <p:grpSpPr>
          <a:xfrm>
            <a:off x="3527350" y="1856665"/>
            <a:ext cx="1416865" cy="2918362"/>
            <a:chOff x="7887300" y="1898378"/>
            <a:chExt cx="932700" cy="2534400"/>
          </a:xfrm>
        </p:grpSpPr>
        <p:sp>
          <p:nvSpPr>
            <p:cNvPr id="2237" name="Google Shape;2237;p92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38" name="Google Shape;2238;p92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9" name="Google Shape;2239;p92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0" name="Google Shape;2240;p92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41" name="Google Shape;2241;p92"/>
          <p:cNvSpPr txBox="1"/>
          <p:nvPr/>
        </p:nvSpPr>
        <p:spPr>
          <a:xfrm>
            <a:off x="324000" y="630423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spinner is spun several times. On 70% (or 0.7 as a decimal) of trials, the spinner lands on an odd number. The remaining trials, it lands on an even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this spinner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243" name="Google Shape;2243;p92"/>
          <p:cNvSpPr txBox="1"/>
          <p:nvPr/>
        </p:nvSpPr>
        <p:spPr>
          <a:xfrm>
            <a:off x="1432376" y="2370234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4" name="Google Shape;2244;p92"/>
          <p:cNvGrpSpPr/>
          <p:nvPr/>
        </p:nvGrpSpPr>
        <p:grpSpPr>
          <a:xfrm>
            <a:off x="751656" y="2521868"/>
            <a:ext cx="653640" cy="1587686"/>
            <a:chOff x="354975" y="1421050"/>
            <a:chExt cx="2175900" cy="1431250"/>
          </a:xfrm>
        </p:grpSpPr>
        <p:cxnSp>
          <p:nvCxnSpPr>
            <p:cNvPr id="2245" name="Google Shape;2245;p9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6" name="Google Shape;2246;p9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47" name="Google Shape;2247;p92"/>
          <p:cNvSpPr txBox="1"/>
          <p:nvPr/>
        </p:nvSpPr>
        <p:spPr>
          <a:xfrm>
            <a:off x="1432376" y="3955343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92"/>
          <p:cNvSpPr txBox="1"/>
          <p:nvPr/>
        </p:nvSpPr>
        <p:spPr>
          <a:xfrm>
            <a:off x="2878399" y="2040345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9" name="Google Shape;2249;p92"/>
          <p:cNvGrpSpPr/>
          <p:nvPr/>
        </p:nvGrpSpPr>
        <p:grpSpPr>
          <a:xfrm>
            <a:off x="2047795" y="2119853"/>
            <a:ext cx="793551" cy="831556"/>
            <a:chOff x="354975" y="1421050"/>
            <a:chExt cx="2175900" cy="1431250"/>
          </a:xfrm>
        </p:grpSpPr>
        <p:cxnSp>
          <p:nvCxnSpPr>
            <p:cNvPr id="2250" name="Google Shape;2250;p9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1" name="Google Shape;2251;p9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52" name="Google Shape;2252;p92"/>
          <p:cNvSpPr txBox="1"/>
          <p:nvPr/>
        </p:nvSpPr>
        <p:spPr>
          <a:xfrm>
            <a:off x="2878399" y="2870458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3" name="Google Shape;2253;p92"/>
          <p:cNvSpPr txBox="1"/>
          <p:nvPr/>
        </p:nvSpPr>
        <p:spPr>
          <a:xfrm>
            <a:off x="2878399" y="3641180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4" name="Google Shape;2254;p92"/>
          <p:cNvGrpSpPr/>
          <p:nvPr/>
        </p:nvGrpSpPr>
        <p:grpSpPr>
          <a:xfrm>
            <a:off x="2047795" y="3720693"/>
            <a:ext cx="793551" cy="831556"/>
            <a:chOff x="354975" y="1421050"/>
            <a:chExt cx="2175900" cy="1431250"/>
          </a:xfrm>
        </p:grpSpPr>
        <p:cxnSp>
          <p:nvCxnSpPr>
            <p:cNvPr id="2255" name="Google Shape;2255;p92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6" name="Google Shape;2256;p92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57" name="Google Shape;2257;p92"/>
          <p:cNvSpPr txBox="1"/>
          <p:nvPr/>
        </p:nvSpPr>
        <p:spPr>
          <a:xfrm>
            <a:off x="2878399" y="4471294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8" name="Google Shape;2258;p92"/>
          <p:cNvSpPr txBox="1"/>
          <p:nvPr/>
        </p:nvSpPr>
        <p:spPr>
          <a:xfrm>
            <a:off x="552200" y="2643112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92"/>
          <p:cNvSpPr txBox="1"/>
          <p:nvPr/>
        </p:nvSpPr>
        <p:spPr>
          <a:xfrm>
            <a:off x="552200" y="3695013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92"/>
          <p:cNvSpPr txBox="1"/>
          <p:nvPr/>
        </p:nvSpPr>
        <p:spPr>
          <a:xfrm>
            <a:off x="2117728" y="2021075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92"/>
          <p:cNvSpPr txBox="1"/>
          <p:nvPr/>
        </p:nvSpPr>
        <p:spPr>
          <a:xfrm>
            <a:off x="2117728" y="2775732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92"/>
          <p:cNvSpPr txBox="1"/>
          <p:nvPr/>
        </p:nvSpPr>
        <p:spPr>
          <a:xfrm>
            <a:off x="3645349" y="2134102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92"/>
          <p:cNvSpPr txBox="1"/>
          <p:nvPr/>
        </p:nvSpPr>
        <p:spPr>
          <a:xfrm>
            <a:off x="2117728" y="3606793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92"/>
          <p:cNvSpPr txBox="1"/>
          <p:nvPr/>
        </p:nvSpPr>
        <p:spPr>
          <a:xfrm>
            <a:off x="2117728" y="4361451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92"/>
          <p:cNvSpPr txBox="1"/>
          <p:nvPr/>
        </p:nvSpPr>
        <p:spPr>
          <a:xfrm>
            <a:off x="3645349" y="2870458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6" name="Google Shape;2266;p92"/>
          <p:cNvSpPr txBox="1"/>
          <p:nvPr/>
        </p:nvSpPr>
        <p:spPr>
          <a:xfrm>
            <a:off x="3645349" y="3675562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92"/>
          <p:cNvSpPr txBox="1"/>
          <p:nvPr/>
        </p:nvSpPr>
        <p:spPr>
          <a:xfrm>
            <a:off x="3645349" y="4361444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92"/>
          <p:cNvSpPr txBox="1"/>
          <p:nvPr/>
        </p:nvSpPr>
        <p:spPr>
          <a:xfrm>
            <a:off x="4170303" y="2062725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9" name="Google Shape;2269;p92"/>
          <p:cNvGrpSpPr/>
          <p:nvPr/>
        </p:nvGrpSpPr>
        <p:grpSpPr>
          <a:xfrm>
            <a:off x="4355405" y="4303405"/>
            <a:ext cx="433200" cy="277200"/>
            <a:chOff x="4193788" y="2215950"/>
            <a:chExt cx="433200" cy="277200"/>
          </a:xfrm>
        </p:grpSpPr>
        <p:sp>
          <p:nvSpPr>
            <p:cNvPr id="2270" name="Google Shape;2270;p92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71" name="Google Shape;2271;p92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2272" name="Google Shape;2272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73" name="Google Shape;2273;p9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274" name="Google Shape;2274;p92"/>
          <p:cNvGrpSpPr/>
          <p:nvPr/>
        </p:nvGrpSpPr>
        <p:grpSpPr>
          <a:xfrm>
            <a:off x="5378125" y="2234250"/>
            <a:ext cx="3441900" cy="613500"/>
            <a:chOff x="5378125" y="2234250"/>
            <a:chExt cx="3441900" cy="613500"/>
          </a:xfrm>
        </p:grpSpPr>
        <p:sp>
          <p:nvSpPr>
            <p:cNvPr id="2275" name="Google Shape;2275;p92"/>
            <p:cNvSpPr txBox="1"/>
            <p:nvPr/>
          </p:nvSpPr>
          <p:spPr>
            <a:xfrm>
              <a:off x="5378125" y="2234250"/>
              <a:ext cx="34419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are the probabilities at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     , written as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decimals?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76" name="Google Shape;2276;p92"/>
            <p:cNvGrpSpPr/>
            <p:nvPr/>
          </p:nvGrpSpPr>
          <p:grpSpPr>
            <a:xfrm>
              <a:off x="5617444" y="2521880"/>
              <a:ext cx="433200" cy="277200"/>
              <a:chOff x="4193788" y="2215950"/>
              <a:chExt cx="433200" cy="277200"/>
            </a:xfrm>
          </p:grpSpPr>
          <p:sp>
            <p:nvSpPr>
              <p:cNvPr id="2277" name="Google Shape;2277;p92"/>
              <p:cNvSpPr txBox="1"/>
              <p:nvPr/>
            </p:nvSpPr>
            <p:spPr>
              <a:xfrm>
                <a:off x="4193788" y="22159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278" name="Google Shape;2278;p92"/>
              <p:cNvGrpSpPr/>
              <p:nvPr/>
            </p:nvGrpSpPr>
            <p:grpSpPr>
              <a:xfrm>
                <a:off x="4276799" y="2233177"/>
                <a:ext cx="242727" cy="242727"/>
                <a:chOff x="1020916" y="1442088"/>
                <a:chExt cx="457200" cy="457200"/>
              </a:xfrm>
            </p:grpSpPr>
            <p:pic>
              <p:nvPicPr>
                <p:cNvPr id="2279" name="Google Shape;2279;p9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80" name="Google Shape;2280;p92"/>
                <p:cNvSpPr txBox="1"/>
                <p:nvPr/>
              </p:nvSpPr>
              <p:spPr>
                <a:xfrm>
                  <a:off x="1045528" y="152640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2281" name="Google Shape;2281;p92"/>
            <p:cNvGrpSpPr/>
            <p:nvPr/>
          </p:nvGrpSpPr>
          <p:grpSpPr>
            <a:xfrm>
              <a:off x="6511369" y="2521880"/>
              <a:ext cx="433200" cy="277200"/>
              <a:chOff x="4193788" y="2215950"/>
              <a:chExt cx="433200" cy="277200"/>
            </a:xfrm>
          </p:grpSpPr>
          <p:sp>
            <p:nvSpPr>
              <p:cNvPr id="2282" name="Google Shape;2282;p92"/>
              <p:cNvSpPr txBox="1"/>
              <p:nvPr/>
            </p:nvSpPr>
            <p:spPr>
              <a:xfrm>
                <a:off x="4193788" y="2215950"/>
                <a:ext cx="433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2283" name="Google Shape;2283;p92"/>
              <p:cNvGrpSpPr/>
              <p:nvPr/>
            </p:nvGrpSpPr>
            <p:grpSpPr>
              <a:xfrm>
                <a:off x="4276799" y="2233177"/>
                <a:ext cx="242727" cy="242727"/>
                <a:chOff x="1020916" y="1442088"/>
                <a:chExt cx="457200" cy="457200"/>
              </a:xfrm>
            </p:grpSpPr>
            <p:pic>
              <p:nvPicPr>
                <p:cNvPr id="2284" name="Google Shape;2284;p92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85" name="Google Shape;2285;p92"/>
                <p:cNvSpPr txBox="1"/>
                <p:nvPr/>
              </p:nvSpPr>
              <p:spPr>
                <a:xfrm>
                  <a:off x="1045528" y="152640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</p:grpSp>
      <p:grpSp>
        <p:nvGrpSpPr>
          <p:cNvPr id="2286" name="Google Shape;2286;p92"/>
          <p:cNvGrpSpPr/>
          <p:nvPr/>
        </p:nvGrpSpPr>
        <p:grpSpPr>
          <a:xfrm>
            <a:off x="4355405" y="2812405"/>
            <a:ext cx="433200" cy="277200"/>
            <a:chOff x="4193788" y="2215950"/>
            <a:chExt cx="433200" cy="277200"/>
          </a:xfrm>
        </p:grpSpPr>
        <p:sp>
          <p:nvSpPr>
            <p:cNvPr id="2287" name="Google Shape;2287;p92"/>
            <p:cNvSpPr txBox="1"/>
            <p:nvPr/>
          </p:nvSpPr>
          <p:spPr>
            <a:xfrm>
              <a:off x="4193788" y="2215950"/>
              <a:ext cx="433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88" name="Google Shape;2288;p92"/>
            <p:cNvGrpSpPr/>
            <p:nvPr/>
          </p:nvGrpSpPr>
          <p:grpSpPr>
            <a:xfrm>
              <a:off x="4276799" y="2233177"/>
              <a:ext cx="242727" cy="242727"/>
              <a:chOff x="1020916" y="1442088"/>
              <a:chExt cx="457200" cy="457200"/>
            </a:xfrm>
          </p:grpSpPr>
          <p:pic>
            <p:nvPicPr>
              <p:cNvPr id="2289" name="Google Shape;2289;p9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0" name="Google Shape;2290;p9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5" name="Google Shape;2295;p93"/>
          <p:cNvGrpSpPr/>
          <p:nvPr/>
        </p:nvGrpSpPr>
        <p:grpSpPr>
          <a:xfrm>
            <a:off x="3527350" y="1856665"/>
            <a:ext cx="1416865" cy="2918362"/>
            <a:chOff x="7887300" y="1898378"/>
            <a:chExt cx="932700" cy="2534400"/>
          </a:xfrm>
        </p:grpSpPr>
        <p:sp>
          <p:nvSpPr>
            <p:cNvPr id="2296" name="Google Shape;2296;p93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97" name="Google Shape;2297;p93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8" name="Google Shape;2298;p93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9" name="Google Shape;2299;p93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00" name="Google Shape;2300;p93"/>
          <p:cNvSpPr txBox="1"/>
          <p:nvPr/>
        </p:nvSpPr>
        <p:spPr>
          <a:xfrm>
            <a:off x="4245150" y="2786450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1" name="Google Shape;2301;p93"/>
          <p:cNvSpPr txBox="1"/>
          <p:nvPr/>
        </p:nvSpPr>
        <p:spPr>
          <a:xfrm>
            <a:off x="4245150" y="4277450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2" name="Google Shape;2302;p93"/>
          <p:cNvSpPr txBox="1"/>
          <p:nvPr/>
        </p:nvSpPr>
        <p:spPr>
          <a:xfrm>
            <a:off x="324000" y="630423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spinner is spun several times. On 70% (or 0.7 as a decimal) of trials, the spinner lands on an odd number. The remaining trials, it lands on an even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this spinner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304" name="Google Shape;2304;p93"/>
          <p:cNvSpPr txBox="1"/>
          <p:nvPr/>
        </p:nvSpPr>
        <p:spPr>
          <a:xfrm>
            <a:off x="1432376" y="2370234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5" name="Google Shape;2305;p93"/>
          <p:cNvGrpSpPr/>
          <p:nvPr/>
        </p:nvGrpSpPr>
        <p:grpSpPr>
          <a:xfrm>
            <a:off x="751656" y="2521868"/>
            <a:ext cx="653640" cy="1587686"/>
            <a:chOff x="354975" y="1421050"/>
            <a:chExt cx="2175900" cy="1431250"/>
          </a:xfrm>
        </p:grpSpPr>
        <p:cxnSp>
          <p:nvCxnSpPr>
            <p:cNvPr id="2306" name="Google Shape;2306;p93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7" name="Google Shape;2307;p93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08" name="Google Shape;2308;p93"/>
          <p:cNvSpPr txBox="1"/>
          <p:nvPr/>
        </p:nvSpPr>
        <p:spPr>
          <a:xfrm>
            <a:off x="1432376" y="3955343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93"/>
          <p:cNvSpPr txBox="1"/>
          <p:nvPr/>
        </p:nvSpPr>
        <p:spPr>
          <a:xfrm>
            <a:off x="2878399" y="2040345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0" name="Google Shape;2310;p93"/>
          <p:cNvGrpSpPr/>
          <p:nvPr/>
        </p:nvGrpSpPr>
        <p:grpSpPr>
          <a:xfrm>
            <a:off x="2047795" y="2119853"/>
            <a:ext cx="793551" cy="831556"/>
            <a:chOff x="354975" y="1421050"/>
            <a:chExt cx="2175900" cy="1431250"/>
          </a:xfrm>
        </p:grpSpPr>
        <p:cxnSp>
          <p:nvCxnSpPr>
            <p:cNvPr id="2311" name="Google Shape;2311;p93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2" name="Google Shape;2312;p93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3" name="Google Shape;2313;p93"/>
          <p:cNvSpPr txBox="1"/>
          <p:nvPr/>
        </p:nvSpPr>
        <p:spPr>
          <a:xfrm>
            <a:off x="2878399" y="2870458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93"/>
          <p:cNvSpPr txBox="1"/>
          <p:nvPr/>
        </p:nvSpPr>
        <p:spPr>
          <a:xfrm>
            <a:off x="2878399" y="3641180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5" name="Google Shape;2315;p93"/>
          <p:cNvGrpSpPr/>
          <p:nvPr/>
        </p:nvGrpSpPr>
        <p:grpSpPr>
          <a:xfrm>
            <a:off x="2047795" y="3720693"/>
            <a:ext cx="793551" cy="831556"/>
            <a:chOff x="354975" y="1421050"/>
            <a:chExt cx="2175900" cy="1431250"/>
          </a:xfrm>
        </p:grpSpPr>
        <p:cxnSp>
          <p:nvCxnSpPr>
            <p:cNvPr id="2316" name="Google Shape;2316;p93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7" name="Google Shape;2317;p93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8" name="Google Shape;2318;p93"/>
          <p:cNvSpPr txBox="1"/>
          <p:nvPr/>
        </p:nvSpPr>
        <p:spPr>
          <a:xfrm>
            <a:off x="2878399" y="4471294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9" name="Google Shape;2319;p93"/>
          <p:cNvSpPr txBox="1"/>
          <p:nvPr/>
        </p:nvSpPr>
        <p:spPr>
          <a:xfrm>
            <a:off x="552200" y="2643112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0" name="Google Shape;2320;p93"/>
          <p:cNvSpPr txBox="1"/>
          <p:nvPr/>
        </p:nvSpPr>
        <p:spPr>
          <a:xfrm>
            <a:off x="552200" y="3695013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1" name="Google Shape;2321;p93"/>
          <p:cNvSpPr txBox="1"/>
          <p:nvPr/>
        </p:nvSpPr>
        <p:spPr>
          <a:xfrm>
            <a:off x="2117728" y="2021075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93"/>
          <p:cNvSpPr txBox="1"/>
          <p:nvPr/>
        </p:nvSpPr>
        <p:spPr>
          <a:xfrm>
            <a:off x="2117728" y="2775732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3" name="Google Shape;2323;p93"/>
          <p:cNvSpPr txBox="1"/>
          <p:nvPr/>
        </p:nvSpPr>
        <p:spPr>
          <a:xfrm>
            <a:off x="3645349" y="2134102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4" name="Google Shape;2324;p93"/>
          <p:cNvSpPr txBox="1"/>
          <p:nvPr/>
        </p:nvSpPr>
        <p:spPr>
          <a:xfrm>
            <a:off x="2117728" y="3606793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93"/>
          <p:cNvSpPr txBox="1"/>
          <p:nvPr/>
        </p:nvSpPr>
        <p:spPr>
          <a:xfrm>
            <a:off x="2117728" y="4361451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6" name="Google Shape;2326;p93"/>
          <p:cNvSpPr txBox="1"/>
          <p:nvPr/>
        </p:nvSpPr>
        <p:spPr>
          <a:xfrm>
            <a:off x="3645349" y="2870458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7" name="Google Shape;2327;p93"/>
          <p:cNvSpPr txBox="1"/>
          <p:nvPr/>
        </p:nvSpPr>
        <p:spPr>
          <a:xfrm>
            <a:off x="3645349" y="3675562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8" name="Google Shape;2328;p93"/>
          <p:cNvSpPr txBox="1"/>
          <p:nvPr/>
        </p:nvSpPr>
        <p:spPr>
          <a:xfrm>
            <a:off x="5378125" y="2234250"/>
            <a:ext cx="3441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that the two spins of the spinner will result in at least one even number?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9" name="Google Shape;2329;p93"/>
          <p:cNvSpPr txBox="1"/>
          <p:nvPr/>
        </p:nvSpPr>
        <p:spPr>
          <a:xfrm>
            <a:off x="3645349" y="4361444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93"/>
          <p:cNvSpPr txBox="1"/>
          <p:nvPr/>
        </p:nvSpPr>
        <p:spPr>
          <a:xfrm>
            <a:off x="4170303" y="2062725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93"/>
          <p:cNvSpPr txBox="1"/>
          <p:nvPr/>
        </p:nvSpPr>
        <p:spPr>
          <a:xfrm>
            <a:off x="4245150" y="3591550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2" name="Google Shape;2332;p93"/>
          <p:cNvGrpSpPr/>
          <p:nvPr/>
        </p:nvGrpSpPr>
        <p:grpSpPr>
          <a:xfrm>
            <a:off x="3603250" y="2606175"/>
            <a:ext cx="1220701" cy="2129451"/>
            <a:chOff x="3603250" y="2606175"/>
            <a:chExt cx="1220701" cy="2129451"/>
          </a:xfrm>
        </p:grpSpPr>
        <p:sp>
          <p:nvSpPr>
            <p:cNvPr id="2333" name="Google Shape;2333;p93"/>
            <p:cNvSpPr/>
            <p:nvPr/>
          </p:nvSpPr>
          <p:spPr>
            <a:xfrm>
              <a:off x="3603251" y="2606175"/>
              <a:ext cx="1220700" cy="6744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4" name="Google Shape;2334;p93"/>
            <p:cNvSpPr/>
            <p:nvPr/>
          </p:nvSpPr>
          <p:spPr>
            <a:xfrm>
              <a:off x="3603251" y="3386805"/>
              <a:ext cx="1220700" cy="6744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5" name="Google Shape;2335;p93"/>
            <p:cNvSpPr/>
            <p:nvPr/>
          </p:nvSpPr>
          <p:spPr>
            <a:xfrm>
              <a:off x="3603250" y="4167426"/>
              <a:ext cx="1220700" cy="568200"/>
            </a:xfrm>
            <a:prstGeom prst="roundRect">
              <a:avLst>
                <a:gd fmla="val 7296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36" name="Google Shape;2336;p93"/>
          <p:cNvSpPr txBox="1"/>
          <p:nvPr/>
        </p:nvSpPr>
        <p:spPr>
          <a:xfrm>
            <a:off x="5540550" y="3700850"/>
            <a:ext cx="2889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0.21 + 0.21 + 0.09 = 0.51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94"/>
          <p:cNvSpPr txBox="1"/>
          <p:nvPr/>
        </p:nvSpPr>
        <p:spPr>
          <a:xfrm>
            <a:off x="5261100" y="2580825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is the probability of the event that at least one coin lands on a heads?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2" name="Google Shape;2342;p94"/>
          <p:cNvSpPr txBox="1"/>
          <p:nvPr/>
        </p:nvSpPr>
        <p:spPr>
          <a:xfrm>
            <a:off x="324000" y="630423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 coin is flipped several times. On 45% (or 0.45 as a decimal) of trials, the coin lands on heads.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flipping this coin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3" name="Google Shape;2343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344" name="Google Shape;2344;p94"/>
          <p:cNvSpPr txBox="1"/>
          <p:nvPr/>
        </p:nvSpPr>
        <p:spPr>
          <a:xfrm>
            <a:off x="1231287" y="2286445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5" name="Google Shape;2345;p94"/>
          <p:cNvGrpSpPr/>
          <p:nvPr/>
        </p:nvGrpSpPr>
        <p:grpSpPr>
          <a:xfrm>
            <a:off x="550568" y="2448870"/>
            <a:ext cx="653640" cy="1700039"/>
            <a:chOff x="354975" y="1421050"/>
            <a:chExt cx="2175900" cy="1431250"/>
          </a:xfrm>
        </p:grpSpPr>
        <p:cxnSp>
          <p:nvCxnSpPr>
            <p:cNvPr id="2346" name="Google Shape;2346;p94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7" name="Google Shape;2347;p94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48" name="Google Shape;2348;p94"/>
          <p:cNvSpPr txBox="1"/>
          <p:nvPr/>
        </p:nvSpPr>
        <p:spPr>
          <a:xfrm>
            <a:off x="1231287" y="3983657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9" name="Google Shape;2349;p94"/>
          <p:cNvSpPr txBox="1"/>
          <p:nvPr/>
        </p:nvSpPr>
        <p:spPr>
          <a:xfrm>
            <a:off x="2677307" y="1933225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50" name="Google Shape;2350;p94"/>
          <p:cNvGrpSpPr/>
          <p:nvPr/>
        </p:nvGrpSpPr>
        <p:grpSpPr>
          <a:xfrm>
            <a:off x="1846704" y="2018370"/>
            <a:ext cx="793551" cy="890381"/>
            <a:chOff x="354975" y="1421050"/>
            <a:chExt cx="2175900" cy="1431250"/>
          </a:xfrm>
        </p:grpSpPr>
        <p:cxnSp>
          <p:nvCxnSpPr>
            <p:cNvPr id="2351" name="Google Shape;2351;p94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2" name="Google Shape;2352;p94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53" name="Google Shape;2353;p94"/>
          <p:cNvSpPr txBox="1"/>
          <p:nvPr/>
        </p:nvSpPr>
        <p:spPr>
          <a:xfrm>
            <a:off x="2677307" y="2822046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4" name="Google Shape;2354;p94"/>
          <p:cNvSpPr txBox="1"/>
          <p:nvPr/>
        </p:nvSpPr>
        <p:spPr>
          <a:xfrm>
            <a:off x="2677307" y="3647276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55" name="Google Shape;2355;p94"/>
          <p:cNvGrpSpPr/>
          <p:nvPr/>
        </p:nvGrpSpPr>
        <p:grpSpPr>
          <a:xfrm>
            <a:off x="1846704" y="3732427"/>
            <a:ext cx="793551" cy="890381"/>
            <a:chOff x="354975" y="1421050"/>
            <a:chExt cx="2175900" cy="1431250"/>
          </a:xfrm>
        </p:grpSpPr>
        <p:cxnSp>
          <p:nvCxnSpPr>
            <p:cNvPr id="2356" name="Google Shape;2356;p94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7" name="Google Shape;2357;p94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58" name="Google Shape;2358;p94"/>
          <p:cNvSpPr txBox="1"/>
          <p:nvPr/>
        </p:nvSpPr>
        <p:spPr>
          <a:xfrm>
            <a:off x="2677307" y="4536097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94"/>
          <p:cNvSpPr txBox="1"/>
          <p:nvPr/>
        </p:nvSpPr>
        <p:spPr>
          <a:xfrm>
            <a:off x="351112" y="2578621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0" name="Google Shape;2360;p94"/>
          <p:cNvGrpSpPr/>
          <p:nvPr/>
        </p:nvGrpSpPr>
        <p:grpSpPr>
          <a:xfrm>
            <a:off x="3326584" y="1839690"/>
            <a:ext cx="1529815" cy="2918362"/>
            <a:chOff x="7887300" y="1898378"/>
            <a:chExt cx="932700" cy="2534400"/>
          </a:xfrm>
        </p:grpSpPr>
        <p:sp>
          <p:nvSpPr>
            <p:cNvPr id="2361" name="Google Shape;2361;p94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62" name="Google Shape;2362;p94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3" name="Google Shape;2363;p94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4" name="Google Shape;2364;p94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65" name="Google Shape;2365;p94"/>
          <p:cNvSpPr txBox="1"/>
          <p:nvPr/>
        </p:nvSpPr>
        <p:spPr>
          <a:xfrm>
            <a:off x="4044049" y="2769500"/>
            <a:ext cx="780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6" name="Google Shape;2366;p94"/>
          <p:cNvSpPr txBox="1"/>
          <p:nvPr/>
        </p:nvSpPr>
        <p:spPr>
          <a:xfrm>
            <a:off x="4044049" y="4260500"/>
            <a:ext cx="780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0.3025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7" name="Google Shape;2367;p94"/>
          <p:cNvSpPr txBox="1"/>
          <p:nvPr/>
        </p:nvSpPr>
        <p:spPr>
          <a:xfrm>
            <a:off x="3444254" y="211713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8" name="Google Shape;2368;p94"/>
          <p:cNvSpPr txBox="1"/>
          <p:nvPr/>
        </p:nvSpPr>
        <p:spPr>
          <a:xfrm>
            <a:off x="3444254" y="2853496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9" name="Google Shape;2369;p94"/>
          <p:cNvSpPr txBox="1"/>
          <p:nvPr/>
        </p:nvSpPr>
        <p:spPr>
          <a:xfrm>
            <a:off x="4044049" y="2045750"/>
            <a:ext cx="7800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0.2025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0" name="Google Shape;2370;p94"/>
          <p:cNvSpPr txBox="1"/>
          <p:nvPr/>
        </p:nvSpPr>
        <p:spPr>
          <a:xfrm>
            <a:off x="4044049" y="3574600"/>
            <a:ext cx="780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1" name="Google Shape;2371;p94"/>
          <p:cNvSpPr txBox="1"/>
          <p:nvPr/>
        </p:nvSpPr>
        <p:spPr>
          <a:xfrm>
            <a:off x="3444254" y="4344481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2" name="Google Shape;2372;p94"/>
          <p:cNvSpPr txBox="1"/>
          <p:nvPr/>
        </p:nvSpPr>
        <p:spPr>
          <a:xfrm>
            <a:off x="3444254" y="365859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3" name="Google Shape;2373;p94"/>
          <p:cNvSpPr txBox="1"/>
          <p:nvPr/>
        </p:nvSpPr>
        <p:spPr>
          <a:xfrm>
            <a:off x="351112" y="3711792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4" name="Google Shape;2374;p94"/>
          <p:cNvSpPr txBox="1"/>
          <p:nvPr/>
        </p:nvSpPr>
        <p:spPr>
          <a:xfrm>
            <a:off x="1878105" y="1933223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5" name="Google Shape;2375;p94"/>
          <p:cNvSpPr txBox="1"/>
          <p:nvPr/>
        </p:nvSpPr>
        <p:spPr>
          <a:xfrm>
            <a:off x="1878105" y="2766518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6" name="Google Shape;2376;p94"/>
          <p:cNvSpPr txBox="1"/>
          <p:nvPr/>
        </p:nvSpPr>
        <p:spPr>
          <a:xfrm>
            <a:off x="1878105" y="3643361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7" name="Google Shape;2377;p94"/>
          <p:cNvSpPr txBox="1"/>
          <p:nvPr/>
        </p:nvSpPr>
        <p:spPr>
          <a:xfrm>
            <a:off x="1878105" y="4476657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8" name="Google Shape;2378;p94"/>
          <p:cNvSpPr txBox="1"/>
          <p:nvPr/>
        </p:nvSpPr>
        <p:spPr>
          <a:xfrm>
            <a:off x="5261100" y="1741950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What is the probability of the outcome “two heads”?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9" name="Google Shape;2379;p94"/>
          <p:cNvSpPr txBox="1"/>
          <p:nvPr/>
        </p:nvSpPr>
        <p:spPr>
          <a:xfrm>
            <a:off x="5261100" y="3674950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What is the probability of the event that exactly one coin lands on a tails?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95"/>
          <p:cNvSpPr txBox="1"/>
          <p:nvPr/>
        </p:nvSpPr>
        <p:spPr>
          <a:xfrm>
            <a:off x="324000" y="630423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 different coin is flipped several times. On 53% (or 0.53 as a decimal) of trials, the coin lands on heads.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flipping this coin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5" name="Google Shape;2385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386" name="Google Shape;2386;p95"/>
          <p:cNvSpPr txBox="1"/>
          <p:nvPr/>
        </p:nvSpPr>
        <p:spPr>
          <a:xfrm>
            <a:off x="1231287" y="2286445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87" name="Google Shape;2387;p95"/>
          <p:cNvGrpSpPr/>
          <p:nvPr/>
        </p:nvGrpSpPr>
        <p:grpSpPr>
          <a:xfrm>
            <a:off x="550568" y="2448870"/>
            <a:ext cx="653640" cy="1700039"/>
            <a:chOff x="354975" y="1421050"/>
            <a:chExt cx="2175900" cy="1431250"/>
          </a:xfrm>
        </p:grpSpPr>
        <p:cxnSp>
          <p:nvCxnSpPr>
            <p:cNvPr id="2388" name="Google Shape;2388;p95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9" name="Google Shape;2389;p95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90" name="Google Shape;2390;p95"/>
          <p:cNvSpPr txBox="1"/>
          <p:nvPr/>
        </p:nvSpPr>
        <p:spPr>
          <a:xfrm>
            <a:off x="2677307" y="1933225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1" name="Google Shape;2391;p95"/>
          <p:cNvGrpSpPr/>
          <p:nvPr/>
        </p:nvGrpSpPr>
        <p:grpSpPr>
          <a:xfrm>
            <a:off x="1846704" y="2018370"/>
            <a:ext cx="793551" cy="890381"/>
            <a:chOff x="354975" y="1421050"/>
            <a:chExt cx="2175900" cy="1431250"/>
          </a:xfrm>
        </p:grpSpPr>
        <p:cxnSp>
          <p:nvCxnSpPr>
            <p:cNvPr id="2392" name="Google Shape;2392;p95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3" name="Google Shape;2393;p95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94" name="Google Shape;2394;p95"/>
          <p:cNvSpPr txBox="1"/>
          <p:nvPr/>
        </p:nvSpPr>
        <p:spPr>
          <a:xfrm>
            <a:off x="2677307" y="2822046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5" name="Google Shape;2395;p95"/>
          <p:cNvSpPr txBox="1"/>
          <p:nvPr/>
        </p:nvSpPr>
        <p:spPr>
          <a:xfrm>
            <a:off x="351112" y="2578621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6" name="Google Shape;2396;p95"/>
          <p:cNvSpPr txBox="1"/>
          <p:nvPr/>
        </p:nvSpPr>
        <p:spPr>
          <a:xfrm>
            <a:off x="3444254" y="211713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7" name="Google Shape;2397;p95"/>
          <p:cNvSpPr txBox="1"/>
          <p:nvPr/>
        </p:nvSpPr>
        <p:spPr>
          <a:xfrm>
            <a:off x="3444254" y="2853496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8" name="Google Shape;2398;p95"/>
          <p:cNvSpPr txBox="1"/>
          <p:nvPr/>
        </p:nvSpPr>
        <p:spPr>
          <a:xfrm>
            <a:off x="3444254" y="4344481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9" name="Google Shape;2399;p95"/>
          <p:cNvSpPr txBox="1"/>
          <p:nvPr/>
        </p:nvSpPr>
        <p:spPr>
          <a:xfrm>
            <a:off x="3444254" y="365859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0" name="Google Shape;2400;p95"/>
          <p:cNvSpPr txBox="1"/>
          <p:nvPr/>
        </p:nvSpPr>
        <p:spPr>
          <a:xfrm>
            <a:off x="5261100" y="1741950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the probability tree and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1" name="Google Shape;2401;p95"/>
          <p:cNvSpPr txBox="1"/>
          <p:nvPr/>
        </p:nvSpPr>
        <p:spPr>
          <a:xfrm>
            <a:off x="5261100" y="2580825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1: landing on heads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2: landing on exactly one head.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Which of these two events is more likely to happen?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by how much?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02" name="Google Shape;2402;p95"/>
          <p:cNvGrpSpPr/>
          <p:nvPr/>
        </p:nvGrpSpPr>
        <p:grpSpPr>
          <a:xfrm>
            <a:off x="3325909" y="1839690"/>
            <a:ext cx="1652185" cy="2918362"/>
            <a:chOff x="7887300" y="1898378"/>
            <a:chExt cx="932700" cy="2534400"/>
          </a:xfrm>
        </p:grpSpPr>
        <p:sp>
          <p:nvSpPr>
            <p:cNvPr id="2403" name="Google Shape;2403;p95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4" name="Google Shape;2404;p95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5" name="Google Shape;2405;p95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6" name="Google Shape;2406;p95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1" name="Google Shape;2411;p96"/>
          <p:cNvGrpSpPr/>
          <p:nvPr/>
        </p:nvGrpSpPr>
        <p:grpSpPr>
          <a:xfrm>
            <a:off x="6894044" y="2619591"/>
            <a:ext cx="223564" cy="212551"/>
            <a:chOff x="5653584" y="3082069"/>
            <a:chExt cx="609000" cy="579000"/>
          </a:xfrm>
        </p:grpSpPr>
        <p:sp>
          <p:nvSpPr>
            <p:cNvPr id="2412" name="Google Shape;2412;p96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3" name="Google Shape;2413;p96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4" name="Google Shape;2414;p96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5" name="Google Shape;2415;p96"/>
          <p:cNvGrpSpPr/>
          <p:nvPr/>
        </p:nvGrpSpPr>
        <p:grpSpPr>
          <a:xfrm>
            <a:off x="6324620" y="2721407"/>
            <a:ext cx="525202" cy="499330"/>
            <a:chOff x="5653584" y="3082069"/>
            <a:chExt cx="609000" cy="579000"/>
          </a:xfrm>
        </p:grpSpPr>
        <p:sp>
          <p:nvSpPr>
            <p:cNvPr id="2416" name="Google Shape;2416;p96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7" name="Google Shape;2417;p96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8" name="Google Shape;2418;p96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19" name="Google Shape;2419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grpSp>
        <p:nvGrpSpPr>
          <p:cNvPr id="2420" name="Google Shape;2420;p96"/>
          <p:cNvGrpSpPr/>
          <p:nvPr/>
        </p:nvGrpSpPr>
        <p:grpSpPr>
          <a:xfrm rot="-10226679">
            <a:off x="6539123" y="823097"/>
            <a:ext cx="1435961" cy="74206"/>
            <a:chOff x="3225150" y="2619875"/>
            <a:chExt cx="2085475" cy="288900"/>
          </a:xfrm>
        </p:grpSpPr>
        <p:sp>
          <p:nvSpPr>
            <p:cNvPr id="2421" name="Google Shape;2421;p96"/>
            <p:cNvSpPr/>
            <p:nvPr/>
          </p:nvSpPr>
          <p:spPr>
            <a:xfrm>
              <a:off x="3225150" y="2619875"/>
              <a:ext cx="2085300" cy="288900"/>
            </a:xfrm>
            <a:prstGeom prst="roundRect">
              <a:avLst>
                <a:gd fmla="val 50000" name="adj"/>
              </a:avLst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2" name="Google Shape;2422;p96"/>
            <p:cNvSpPr/>
            <p:nvPr/>
          </p:nvSpPr>
          <p:spPr>
            <a:xfrm>
              <a:off x="3253350" y="2648098"/>
              <a:ext cx="232500" cy="23250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3" name="Google Shape;2423;p96"/>
            <p:cNvSpPr/>
            <p:nvPr/>
          </p:nvSpPr>
          <p:spPr>
            <a:xfrm>
              <a:off x="3285125" y="2679874"/>
              <a:ext cx="168900" cy="16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4" name="Google Shape;2424;p96"/>
            <p:cNvSpPr/>
            <p:nvPr/>
          </p:nvSpPr>
          <p:spPr>
            <a:xfrm>
              <a:off x="3369625" y="2648100"/>
              <a:ext cx="1941000" cy="232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5" name="Google Shape;2425;p96"/>
            <p:cNvSpPr/>
            <p:nvPr/>
          </p:nvSpPr>
          <p:spPr>
            <a:xfrm>
              <a:off x="3369508" y="2679875"/>
              <a:ext cx="1941000" cy="168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426" name="Google Shape;242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378" y="633825"/>
            <a:ext cx="796320" cy="83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7" name="Google Shape;2427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7995" y="864458"/>
            <a:ext cx="556028" cy="731135"/>
          </a:xfrm>
          <a:prstGeom prst="rect">
            <a:avLst/>
          </a:prstGeom>
          <a:noFill/>
          <a:ln>
            <a:noFill/>
          </a:ln>
        </p:spPr>
      </p:pic>
      <p:sp>
        <p:nvSpPr>
          <p:cNvPr id="2428" name="Google Shape;2428;p96"/>
          <p:cNvSpPr txBox="1"/>
          <p:nvPr/>
        </p:nvSpPr>
        <p:spPr>
          <a:xfrm>
            <a:off x="7460678" y="1717855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9" name="Google Shape;242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03394" y="2951196"/>
            <a:ext cx="650454" cy="744330"/>
          </a:xfrm>
          <a:prstGeom prst="rect">
            <a:avLst/>
          </a:prstGeom>
          <a:noFill/>
          <a:ln>
            <a:noFill/>
          </a:ln>
        </p:spPr>
      </p:pic>
      <p:sp>
        <p:nvSpPr>
          <p:cNvPr id="2430" name="Google Shape;2430;p96"/>
          <p:cNvSpPr txBox="1"/>
          <p:nvPr/>
        </p:nvSpPr>
        <p:spPr>
          <a:xfrm>
            <a:off x="7641275" y="3825863"/>
            <a:ext cx="1138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25%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1" name="Google Shape;2431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4" y="2916487"/>
            <a:ext cx="556028" cy="731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2" name="Google Shape;2432;p96"/>
          <p:cNvGrpSpPr/>
          <p:nvPr/>
        </p:nvGrpSpPr>
        <p:grpSpPr>
          <a:xfrm>
            <a:off x="7178311" y="2957028"/>
            <a:ext cx="223564" cy="212551"/>
            <a:chOff x="5653584" y="3082069"/>
            <a:chExt cx="609000" cy="579000"/>
          </a:xfrm>
        </p:grpSpPr>
        <p:sp>
          <p:nvSpPr>
            <p:cNvPr id="2433" name="Google Shape;2433;p96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4" name="Google Shape;2434;p96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5" name="Google Shape;2435;p96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6" name="Google Shape;2436;p96"/>
          <p:cNvGrpSpPr/>
          <p:nvPr/>
        </p:nvGrpSpPr>
        <p:grpSpPr>
          <a:xfrm>
            <a:off x="7355365" y="2699143"/>
            <a:ext cx="223564" cy="212551"/>
            <a:chOff x="5653584" y="3082069"/>
            <a:chExt cx="609000" cy="579000"/>
          </a:xfrm>
        </p:grpSpPr>
        <p:sp>
          <p:nvSpPr>
            <p:cNvPr id="2437" name="Google Shape;2437;p96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8" name="Google Shape;2438;p96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9" name="Google Shape;2439;p96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40" name="Google Shape;2440;p96"/>
          <p:cNvGrpSpPr/>
          <p:nvPr/>
        </p:nvGrpSpPr>
        <p:grpSpPr>
          <a:xfrm>
            <a:off x="7565513" y="3050147"/>
            <a:ext cx="223564" cy="212551"/>
            <a:chOff x="5653584" y="3082069"/>
            <a:chExt cx="609000" cy="579000"/>
          </a:xfrm>
        </p:grpSpPr>
        <p:sp>
          <p:nvSpPr>
            <p:cNvPr id="2441" name="Google Shape;2441;p96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2" name="Google Shape;2442;p96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3" name="Google Shape;2443;p96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44" name="Google Shape;2444;p96"/>
          <p:cNvGrpSpPr/>
          <p:nvPr/>
        </p:nvGrpSpPr>
        <p:grpSpPr>
          <a:xfrm>
            <a:off x="7805695" y="2891246"/>
            <a:ext cx="223564" cy="212551"/>
            <a:chOff x="5653584" y="3082069"/>
            <a:chExt cx="609000" cy="579000"/>
          </a:xfrm>
        </p:grpSpPr>
        <p:sp>
          <p:nvSpPr>
            <p:cNvPr id="2445" name="Google Shape;2445;p96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6" name="Google Shape;2446;p96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7" name="Google Shape;2447;p96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48" name="Google Shape;2448;p96"/>
          <p:cNvSpPr txBox="1"/>
          <p:nvPr/>
        </p:nvSpPr>
        <p:spPr>
          <a:xfrm>
            <a:off x="5578827" y="3833819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unicorn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96"/>
          <p:cNvSpPr txBox="1"/>
          <p:nvPr/>
        </p:nvSpPr>
        <p:spPr>
          <a:xfrm>
            <a:off x="5578827" y="1553220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dragon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accuracy: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0" name="Google Shape;2450;p96"/>
          <p:cNvSpPr txBox="1"/>
          <p:nvPr/>
        </p:nvSpPr>
        <p:spPr>
          <a:xfrm>
            <a:off x="324000" y="630425"/>
            <a:ext cx="4963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Lucas is playing a video game, and needs to scare away a cowboy using either his dragon or unicorn.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a character hitting their opponent is shown by their “accuracy” stat.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order for Lucas to scare away the cowboy, either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Lucas’ character has to hit, or the cowboy has to miss (or both)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constructing two probability trees, find out whether the dragon or unicorn is more likely to scare away the cowboy.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97"/>
          <p:cNvSpPr txBox="1"/>
          <p:nvPr/>
        </p:nvSpPr>
        <p:spPr>
          <a:xfrm>
            <a:off x="5261100" y="2580825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What is the probability of the event that at least one coin lands on a heads?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6" name="Google Shape;2456;p97"/>
          <p:cNvSpPr txBox="1"/>
          <p:nvPr/>
        </p:nvSpPr>
        <p:spPr>
          <a:xfrm>
            <a:off x="324000" y="630423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 coin is flipped several times. On 45% (or 0.45 as a decimal) of trials, the coin lands on heads.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flipping this coin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7" name="Google Shape;2457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458" name="Google Shape;2458;p97"/>
          <p:cNvSpPr txBox="1"/>
          <p:nvPr/>
        </p:nvSpPr>
        <p:spPr>
          <a:xfrm>
            <a:off x="1231287" y="2286445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9" name="Google Shape;2459;p97"/>
          <p:cNvGrpSpPr/>
          <p:nvPr/>
        </p:nvGrpSpPr>
        <p:grpSpPr>
          <a:xfrm>
            <a:off x="550568" y="2448870"/>
            <a:ext cx="653640" cy="1700039"/>
            <a:chOff x="354975" y="1421050"/>
            <a:chExt cx="2175900" cy="1431250"/>
          </a:xfrm>
        </p:grpSpPr>
        <p:cxnSp>
          <p:nvCxnSpPr>
            <p:cNvPr id="2460" name="Google Shape;2460;p97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1" name="Google Shape;2461;p97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62" name="Google Shape;2462;p97"/>
          <p:cNvSpPr txBox="1"/>
          <p:nvPr/>
        </p:nvSpPr>
        <p:spPr>
          <a:xfrm>
            <a:off x="1231287" y="3983657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3" name="Google Shape;2463;p97"/>
          <p:cNvSpPr txBox="1"/>
          <p:nvPr/>
        </p:nvSpPr>
        <p:spPr>
          <a:xfrm>
            <a:off x="2677307" y="1933225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64" name="Google Shape;2464;p97"/>
          <p:cNvGrpSpPr/>
          <p:nvPr/>
        </p:nvGrpSpPr>
        <p:grpSpPr>
          <a:xfrm>
            <a:off x="1846704" y="2018370"/>
            <a:ext cx="793551" cy="890381"/>
            <a:chOff x="354975" y="1421050"/>
            <a:chExt cx="2175900" cy="1431250"/>
          </a:xfrm>
        </p:grpSpPr>
        <p:cxnSp>
          <p:nvCxnSpPr>
            <p:cNvPr id="2465" name="Google Shape;2465;p97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6" name="Google Shape;2466;p97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67" name="Google Shape;2467;p97"/>
          <p:cNvSpPr txBox="1"/>
          <p:nvPr/>
        </p:nvSpPr>
        <p:spPr>
          <a:xfrm>
            <a:off x="2677307" y="2822046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8" name="Google Shape;2468;p97"/>
          <p:cNvSpPr txBox="1"/>
          <p:nvPr/>
        </p:nvSpPr>
        <p:spPr>
          <a:xfrm>
            <a:off x="2677307" y="3647276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69" name="Google Shape;2469;p97"/>
          <p:cNvGrpSpPr/>
          <p:nvPr/>
        </p:nvGrpSpPr>
        <p:grpSpPr>
          <a:xfrm>
            <a:off x="1846704" y="3732427"/>
            <a:ext cx="793551" cy="890381"/>
            <a:chOff x="354975" y="1421050"/>
            <a:chExt cx="2175900" cy="1431250"/>
          </a:xfrm>
        </p:grpSpPr>
        <p:cxnSp>
          <p:nvCxnSpPr>
            <p:cNvPr id="2470" name="Google Shape;2470;p97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1" name="Google Shape;2471;p97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72" name="Google Shape;2472;p97"/>
          <p:cNvSpPr txBox="1"/>
          <p:nvPr/>
        </p:nvSpPr>
        <p:spPr>
          <a:xfrm>
            <a:off x="2677307" y="4536097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3" name="Google Shape;2473;p97"/>
          <p:cNvSpPr txBox="1"/>
          <p:nvPr/>
        </p:nvSpPr>
        <p:spPr>
          <a:xfrm>
            <a:off x="351112" y="2578621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4" name="Google Shape;2474;p97"/>
          <p:cNvGrpSpPr/>
          <p:nvPr/>
        </p:nvGrpSpPr>
        <p:grpSpPr>
          <a:xfrm>
            <a:off x="3326444" y="1839690"/>
            <a:ext cx="1497823" cy="2918362"/>
            <a:chOff x="7887300" y="1898378"/>
            <a:chExt cx="932700" cy="2534400"/>
          </a:xfrm>
        </p:grpSpPr>
        <p:sp>
          <p:nvSpPr>
            <p:cNvPr id="2475" name="Google Shape;2475;p97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76" name="Google Shape;2476;p97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7" name="Google Shape;2477;p97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8" name="Google Shape;2478;p97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79" name="Google Shape;2479;p97"/>
          <p:cNvSpPr txBox="1"/>
          <p:nvPr/>
        </p:nvSpPr>
        <p:spPr>
          <a:xfrm>
            <a:off x="3444254" y="211713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0" name="Google Shape;2480;p97"/>
          <p:cNvSpPr txBox="1"/>
          <p:nvPr/>
        </p:nvSpPr>
        <p:spPr>
          <a:xfrm>
            <a:off x="3444254" y="2853496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1" name="Google Shape;2481;p97"/>
          <p:cNvSpPr txBox="1"/>
          <p:nvPr/>
        </p:nvSpPr>
        <p:spPr>
          <a:xfrm>
            <a:off x="3444254" y="4344481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2" name="Google Shape;2482;p97"/>
          <p:cNvSpPr txBox="1"/>
          <p:nvPr/>
        </p:nvSpPr>
        <p:spPr>
          <a:xfrm>
            <a:off x="3444254" y="365859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3" name="Google Shape;2483;p97"/>
          <p:cNvSpPr txBox="1"/>
          <p:nvPr/>
        </p:nvSpPr>
        <p:spPr>
          <a:xfrm>
            <a:off x="351112" y="3711792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4" name="Google Shape;2484;p97"/>
          <p:cNvSpPr txBox="1"/>
          <p:nvPr/>
        </p:nvSpPr>
        <p:spPr>
          <a:xfrm>
            <a:off x="1878105" y="1933223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5" name="Google Shape;2485;p97"/>
          <p:cNvSpPr txBox="1"/>
          <p:nvPr/>
        </p:nvSpPr>
        <p:spPr>
          <a:xfrm>
            <a:off x="1878105" y="2766518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6" name="Google Shape;2486;p97"/>
          <p:cNvSpPr txBox="1"/>
          <p:nvPr/>
        </p:nvSpPr>
        <p:spPr>
          <a:xfrm>
            <a:off x="1878105" y="3643361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0.45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7" name="Google Shape;2487;p97"/>
          <p:cNvSpPr txBox="1"/>
          <p:nvPr/>
        </p:nvSpPr>
        <p:spPr>
          <a:xfrm>
            <a:off x="1878105" y="4476657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8" name="Google Shape;2488;p97"/>
          <p:cNvSpPr txBox="1"/>
          <p:nvPr/>
        </p:nvSpPr>
        <p:spPr>
          <a:xfrm>
            <a:off x="5261100" y="1741950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What is the probability of the outcome “two heads”?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9" name="Google Shape;2489;p97"/>
          <p:cNvSpPr txBox="1"/>
          <p:nvPr/>
        </p:nvSpPr>
        <p:spPr>
          <a:xfrm>
            <a:off x="5261100" y="3674950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What is the probability of the event that exactly one coin lands on a tails?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0" name="Google Shape;2490;p97"/>
          <p:cNvSpPr txBox="1"/>
          <p:nvPr/>
        </p:nvSpPr>
        <p:spPr>
          <a:xfrm>
            <a:off x="5277373" y="2286450"/>
            <a:ext cx="3558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0.2025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1" name="Google Shape;2491;p97"/>
          <p:cNvSpPr txBox="1"/>
          <p:nvPr/>
        </p:nvSpPr>
        <p:spPr>
          <a:xfrm>
            <a:off x="5261074" y="4501300"/>
            <a:ext cx="3558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0.2475 + 0.2475 = 0.495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2" name="Google Shape;2492;p97"/>
          <p:cNvSpPr txBox="1"/>
          <p:nvPr/>
        </p:nvSpPr>
        <p:spPr>
          <a:xfrm>
            <a:off x="5261074" y="3419700"/>
            <a:ext cx="3558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0.2025 + 2 × 0.2475 = 0.6975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3" name="Google Shape;2493;p97"/>
          <p:cNvSpPr txBox="1"/>
          <p:nvPr/>
        </p:nvSpPr>
        <p:spPr>
          <a:xfrm>
            <a:off x="4044049" y="2769500"/>
            <a:ext cx="780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4" name="Google Shape;2494;p97"/>
          <p:cNvSpPr txBox="1"/>
          <p:nvPr/>
        </p:nvSpPr>
        <p:spPr>
          <a:xfrm>
            <a:off x="4044049" y="4260500"/>
            <a:ext cx="780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0.3025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5" name="Google Shape;2495;p97"/>
          <p:cNvSpPr txBox="1"/>
          <p:nvPr/>
        </p:nvSpPr>
        <p:spPr>
          <a:xfrm>
            <a:off x="4044049" y="2045750"/>
            <a:ext cx="7800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0.2025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6" name="Google Shape;2496;p97"/>
          <p:cNvSpPr txBox="1"/>
          <p:nvPr/>
        </p:nvSpPr>
        <p:spPr>
          <a:xfrm>
            <a:off x="4044049" y="3574600"/>
            <a:ext cx="780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0.2475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98"/>
          <p:cNvSpPr txBox="1"/>
          <p:nvPr/>
        </p:nvSpPr>
        <p:spPr>
          <a:xfrm>
            <a:off x="4097948" y="4303975"/>
            <a:ext cx="8802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0.2209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2" name="Google Shape;2502;p98"/>
          <p:cNvSpPr txBox="1"/>
          <p:nvPr/>
        </p:nvSpPr>
        <p:spPr>
          <a:xfrm>
            <a:off x="324000" y="630423"/>
            <a:ext cx="8496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 different coin is flipped several times. On 53% (or 0.53 as a decimal) of trials, the coin lands on heads.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flipping this coin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3" name="Google Shape;2503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504" name="Google Shape;2504;p98"/>
          <p:cNvSpPr txBox="1"/>
          <p:nvPr/>
        </p:nvSpPr>
        <p:spPr>
          <a:xfrm>
            <a:off x="1231287" y="2286445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05" name="Google Shape;2505;p98"/>
          <p:cNvGrpSpPr/>
          <p:nvPr/>
        </p:nvGrpSpPr>
        <p:grpSpPr>
          <a:xfrm>
            <a:off x="550568" y="2448870"/>
            <a:ext cx="653640" cy="1700039"/>
            <a:chOff x="354975" y="1421050"/>
            <a:chExt cx="2175900" cy="1431250"/>
          </a:xfrm>
        </p:grpSpPr>
        <p:cxnSp>
          <p:nvCxnSpPr>
            <p:cNvPr id="2506" name="Google Shape;2506;p98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7" name="Google Shape;2507;p98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08" name="Google Shape;2508;p98"/>
          <p:cNvSpPr txBox="1"/>
          <p:nvPr/>
        </p:nvSpPr>
        <p:spPr>
          <a:xfrm>
            <a:off x="2677307" y="1933225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09" name="Google Shape;2509;p98"/>
          <p:cNvGrpSpPr/>
          <p:nvPr/>
        </p:nvGrpSpPr>
        <p:grpSpPr>
          <a:xfrm>
            <a:off x="1846704" y="2018370"/>
            <a:ext cx="793551" cy="890381"/>
            <a:chOff x="354975" y="1421050"/>
            <a:chExt cx="2175900" cy="1431250"/>
          </a:xfrm>
        </p:grpSpPr>
        <p:cxnSp>
          <p:nvCxnSpPr>
            <p:cNvPr id="2510" name="Google Shape;2510;p98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1" name="Google Shape;2511;p98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12" name="Google Shape;2512;p98"/>
          <p:cNvSpPr txBox="1"/>
          <p:nvPr/>
        </p:nvSpPr>
        <p:spPr>
          <a:xfrm>
            <a:off x="2677307" y="2822046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3" name="Google Shape;2513;p98"/>
          <p:cNvSpPr txBox="1"/>
          <p:nvPr/>
        </p:nvSpPr>
        <p:spPr>
          <a:xfrm>
            <a:off x="351112" y="2578621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4" name="Google Shape;2514;p98"/>
          <p:cNvGrpSpPr/>
          <p:nvPr/>
        </p:nvGrpSpPr>
        <p:grpSpPr>
          <a:xfrm>
            <a:off x="3325909" y="1839690"/>
            <a:ext cx="1652185" cy="2918362"/>
            <a:chOff x="7887300" y="1898378"/>
            <a:chExt cx="932700" cy="2534400"/>
          </a:xfrm>
        </p:grpSpPr>
        <p:sp>
          <p:nvSpPr>
            <p:cNvPr id="2515" name="Google Shape;2515;p98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16" name="Google Shape;2516;p98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7" name="Google Shape;2517;p98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8" name="Google Shape;2518;p98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19" name="Google Shape;2519;p98"/>
          <p:cNvSpPr txBox="1"/>
          <p:nvPr/>
        </p:nvSpPr>
        <p:spPr>
          <a:xfrm>
            <a:off x="3444254" y="211713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0" name="Google Shape;2520;p98"/>
          <p:cNvSpPr txBox="1"/>
          <p:nvPr/>
        </p:nvSpPr>
        <p:spPr>
          <a:xfrm>
            <a:off x="3444254" y="2853496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1" name="Google Shape;2521;p98"/>
          <p:cNvSpPr txBox="1"/>
          <p:nvPr/>
        </p:nvSpPr>
        <p:spPr>
          <a:xfrm>
            <a:off x="3444254" y="4344481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2" name="Google Shape;2522;p98"/>
          <p:cNvSpPr txBox="1"/>
          <p:nvPr/>
        </p:nvSpPr>
        <p:spPr>
          <a:xfrm>
            <a:off x="3444254" y="3658599"/>
            <a:ext cx="653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3" name="Google Shape;2523;p98"/>
          <p:cNvSpPr txBox="1"/>
          <p:nvPr/>
        </p:nvSpPr>
        <p:spPr>
          <a:xfrm>
            <a:off x="5261100" y="1666425"/>
            <a:ext cx="3558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1: landing on heads twice.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 2: landing on exactly one head.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24" name="Google Shape;2524;p98"/>
          <p:cNvGrpSpPr/>
          <p:nvPr/>
        </p:nvGrpSpPr>
        <p:grpSpPr>
          <a:xfrm>
            <a:off x="550568" y="2448870"/>
            <a:ext cx="653640" cy="1700039"/>
            <a:chOff x="354975" y="1421050"/>
            <a:chExt cx="2175900" cy="1431250"/>
          </a:xfrm>
        </p:grpSpPr>
        <p:cxnSp>
          <p:nvCxnSpPr>
            <p:cNvPr id="2525" name="Google Shape;2525;p98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6" name="Google Shape;2526;p98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27" name="Google Shape;2527;p98"/>
          <p:cNvSpPr txBox="1"/>
          <p:nvPr/>
        </p:nvSpPr>
        <p:spPr>
          <a:xfrm>
            <a:off x="1231287" y="3983657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tail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8" name="Google Shape;2528;p98"/>
          <p:cNvSpPr txBox="1"/>
          <p:nvPr/>
        </p:nvSpPr>
        <p:spPr>
          <a:xfrm>
            <a:off x="2677307" y="3647276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head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29" name="Google Shape;2529;p98"/>
          <p:cNvGrpSpPr/>
          <p:nvPr/>
        </p:nvGrpSpPr>
        <p:grpSpPr>
          <a:xfrm>
            <a:off x="1846704" y="3732427"/>
            <a:ext cx="793551" cy="890381"/>
            <a:chOff x="354975" y="1421050"/>
            <a:chExt cx="2175900" cy="1431250"/>
          </a:xfrm>
        </p:grpSpPr>
        <p:cxnSp>
          <p:nvCxnSpPr>
            <p:cNvPr id="2530" name="Google Shape;2530;p98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1" name="Google Shape;2531;p98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32" name="Google Shape;2532;p98"/>
          <p:cNvSpPr txBox="1"/>
          <p:nvPr/>
        </p:nvSpPr>
        <p:spPr>
          <a:xfrm>
            <a:off x="2677307" y="4536097"/>
            <a:ext cx="653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tail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3" name="Google Shape;2533;p98"/>
          <p:cNvSpPr txBox="1"/>
          <p:nvPr/>
        </p:nvSpPr>
        <p:spPr>
          <a:xfrm>
            <a:off x="351112" y="3711792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4" name="Google Shape;2534;p98"/>
          <p:cNvSpPr txBox="1"/>
          <p:nvPr/>
        </p:nvSpPr>
        <p:spPr>
          <a:xfrm>
            <a:off x="1878105" y="1933223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0.53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5" name="Google Shape;2535;p98"/>
          <p:cNvSpPr txBox="1"/>
          <p:nvPr/>
        </p:nvSpPr>
        <p:spPr>
          <a:xfrm>
            <a:off x="1878105" y="2787147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6" name="Google Shape;2536;p98"/>
          <p:cNvSpPr txBox="1"/>
          <p:nvPr/>
        </p:nvSpPr>
        <p:spPr>
          <a:xfrm>
            <a:off x="1878105" y="3643361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7" name="Google Shape;2537;p98"/>
          <p:cNvSpPr txBox="1"/>
          <p:nvPr/>
        </p:nvSpPr>
        <p:spPr>
          <a:xfrm>
            <a:off x="1878105" y="4497286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8" name="Google Shape;2538;p98"/>
          <p:cNvSpPr txBox="1"/>
          <p:nvPr/>
        </p:nvSpPr>
        <p:spPr>
          <a:xfrm>
            <a:off x="4097948" y="2076650"/>
            <a:ext cx="8802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0.2809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9" name="Google Shape;2539;p98"/>
          <p:cNvSpPr txBox="1"/>
          <p:nvPr/>
        </p:nvSpPr>
        <p:spPr>
          <a:xfrm>
            <a:off x="5569825" y="2615850"/>
            <a:ext cx="32082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Event 1: 0.2809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Event 2: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0.2491 + 0.2491 = 0.4982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Event 2 is more likely, by 0.2173 (or 21.73%).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0" name="Google Shape;2540;p98"/>
          <p:cNvSpPr txBox="1"/>
          <p:nvPr/>
        </p:nvSpPr>
        <p:spPr>
          <a:xfrm>
            <a:off x="4097948" y="2813000"/>
            <a:ext cx="8802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0.2491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1" name="Google Shape;2541;p98"/>
          <p:cNvSpPr txBox="1"/>
          <p:nvPr/>
        </p:nvSpPr>
        <p:spPr>
          <a:xfrm>
            <a:off x="4097948" y="3578738"/>
            <a:ext cx="8802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0.2491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6" name="Google Shape;2546;p99"/>
          <p:cNvGrpSpPr/>
          <p:nvPr/>
        </p:nvGrpSpPr>
        <p:grpSpPr>
          <a:xfrm rot="-10226679">
            <a:off x="6539123" y="823097"/>
            <a:ext cx="1435961" cy="74206"/>
            <a:chOff x="3225150" y="2619875"/>
            <a:chExt cx="2085475" cy="288900"/>
          </a:xfrm>
        </p:grpSpPr>
        <p:sp>
          <p:nvSpPr>
            <p:cNvPr id="2547" name="Google Shape;2547;p99"/>
            <p:cNvSpPr/>
            <p:nvPr/>
          </p:nvSpPr>
          <p:spPr>
            <a:xfrm>
              <a:off x="3225150" y="2619875"/>
              <a:ext cx="2085300" cy="288900"/>
            </a:xfrm>
            <a:prstGeom prst="roundRect">
              <a:avLst>
                <a:gd fmla="val 50000" name="adj"/>
              </a:avLst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8" name="Google Shape;2548;p99"/>
            <p:cNvSpPr/>
            <p:nvPr/>
          </p:nvSpPr>
          <p:spPr>
            <a:xfrm>
              <a:off x="3253350" y="2648098"/>
              <a:ext cx="232500" cy="23250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9" name="Google Shape;2549;p99"/>
            <p:cNvSpPr/>
            <p:nvPr/>
          </p:nvSpPr>
          <p:spPr>
            <a:xfrm>
              <a:off x="3285125" y="2679874"/>
              <a:ext cx="168900" cy="16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0" name="Google Shape;2550;p99"/>
            <p:cNvSpPr/>
            <p:nvPr/>
          </p:nvSpPr>
          <p:spPr>
            <a:xfrm>
              <a:off x="3369625" y="2648100"/>
              <a:ext cx="1941000" cy="232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1" name="Google Shape;2551;p99"/>
            <p:cNvSpPr/>
            <p:nvPr/>
          </p:nvSpPr>
          <p:spPr>
            <a:xfrm>
              <a:off x="3369508" y="2679875"/>
              <a:ext cx="1941000" cy="168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2" name="Google Shape;2552;p99"/>
          <p:cNvGrpSpPr/>
          <p:nvPr/>
        </p:nvGrpSpPr>
        <p:grpSpPr>
          <a:xfrm>
            <a:off x="6894044" y="2619591"/>
            <a:ext cx="223564" cy="212551"/>
            <a:chOff x="5653584" y="3082069"/>
            <a:chExt cx="609000" cy="579000"/>
          </a:xfrm>
        </p:grpSpPr>
        <p:sp>
          <p:nvSpPr>
            <p:cNvPr id="2553" name="Google Shape;2553;p99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4" name="Google Shape;2554;p99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5" name="Google Shape;2555;p99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6" name="Google Shape;2556;p99"/>
          <p:cNvGrpSpPr/>
          <p:nvPr/>
        </p:nvGrpSpPr>
        <p:grpSpPr>
          <a:xfrm>
            <a:off x="6324620" y="2721407"/>
            <a:ext cx="525202" cy="499330"/>
            <a:chOff x="5653584" y="3082069"/>
            <a:chExt cx="609000" cy="579000"/>
          </a:xfrm>
        </p:grpSpPr>
        <p:sp>
          <p:nvSpPr>
            <p:cNvPr id="2557" name="Google Shape;2557;p99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8" name="Google Shape;2558;p99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9" name="Google Shape;2559;p99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60" name="Google Shape;2560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pic>
        <p:nvPicPr>
          <p:cNvPr id="2561" name="Google Shape;256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378" y="633825"/>
            <a:ext cx="796320" cy="83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7995" y="864458"/>
            <a:ext cx="556028" cy="7311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3" name="Google Shape;2563;p99"/>
          <p:cNvSpPr txBox="1"/>
          <p:nvPr/>
        </p:nvSpPr>
        <p:spPr>
          <a:xfrm>
            <a:off x="7460678" y="1717855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4" name="Google Shape;2564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03394" y="2951196"/>
            <a:ext cx="650454" cy="744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5" name="Google Shape;256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4" y="2916487"/>
            <a:ext cx="556028" cy="731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6" name="Google Shape;2566;p99"/>
          <p:cNvGrpSpPr/>
          <p:nvPr/>
        </p:nvGrpSpPr>
        <p:grpSpPr>
          <a:xfrm>
            <a:off x="7178311" y="2957028"/>
            <a:ext cx="223564" cy="212551"/>
            <a:chOff x="5653584" y="3082069"/>
            <a:chExt cx="609000" cy="579000"/>
          </a:xfrm>
        </p:grpSpPr>
        <p:sp>
          <p:nvSpPr>
            <p:cNvPr id="2567" name="Google Shape;2567;p99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8" name="Google Shape;2568;p99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9" name="Google Shape;2569;p99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0" name="Google Shape;2570;p99"/>
          <p:cNvGrpSpPr/>
          <p:nvPr/>
        </p:nvGrpSpPr>
        <p:grpSpPr>
          <a:xfrm>
            <a:off x="7355365" y="2699143"/>
            <a:ext cx="223564" cy="212551"/>
            <a:chOff x="5653584" y="3082069"/>
            <a:chExt cx="609000" cy="579000"/>
          </a:xfrm>
        </p:grpSpPr>
        <p:sp>
          <p:nvSpPr>
            <p:cNvPr id="2571" name="Google Shape;2571;p99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2" name="Google Shape;2572;p99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3" name="Google Shape;2573;p99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4" name="Google Shape;2574;p99"/>
          <p:cNvGrpSpPr/>
          <p:nvPr/>
        </p:nvGrpSpPr>
        <p:grpSpPr>
          <a:xfrm>
            <a:off x="7565513" y="3050147"/>
            <a:ext cx="223564" cy="212551"/>
            <a:chOff x="5653584" y="3082069"/>
            <a:chExt cx="609000" cy="579000"/>
          </a:xfrm>
        </p:grpSpPr>
        <p:sp>
          <p:nvSpPr>
            <p:cNvPr id="2575" name="Google Shape;2575;p99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6" name="Google Shape;2576;p99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7" name="Google Shape;2577;p99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8" name="Google Shape;2578;p99"/>
          <p:cNvGrpSpPr/>
          <p:nvPr/>
        </p:nvGrpSpPr>
        <p:grpSpPr>
          <a:xfrm>
            <a:off x="7805695" y="2891246"/>
            <a:ext cx="223564" cy="212551"/>
            <a:chOff x="5653584" y="3082069"/>
            <a:chExt cx="609000" cy="579000"/>
          </a:xfrm>
        </p:grpSpPr>
        <p:sp>
          <p:nvSpPr>
            <p:cNvPr id="2579" name="Google Shape;2579;p99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0" name="Google Shape;2580;p99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1" name="Google Shape;2581;p99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82" name="Google Shape;2582;p99"/>
          <p:cNvSpPr txBox="1"/>
          <p:nvPr/>
        </p:nvSpPr>
        <p:spPr>
          <a:xfrm>
            <a:off x="5578827" y="3833819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unicorn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3" name="Google Shape;2583;p99"/>
          <p:cNvSpPr txBox="1"/>
          <p:nvPr/>
        </p:nvSpPr>
        <p:spPr>
          <a:xfrm>
            <a:off x="5578827" y="1553220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dragon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accuracy: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4" name="Google Shape;2584;p99"/>
          <p:cNvSpPr txBox="1"/>
          <p:nvPr/>
        </p:nvSpPr>
        <p:spPr>
          <a:xfrm>
            <a:off x="324000" y="630425"/>
            <a:ext cx="4963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Lucas is playing a video game, and needs to scare away a cowboy using either his dragon or unicorn.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a character hitting their opponent is shown by their “accuracy” stat.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order for Lucas to scare away the cowboy, either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Lucas’ character has to hit, or the cowboy has to miss (or both)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constructing two probability trees, find out whether the dragon or unicorn is more likely to scare away the cowboy.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5" name="Google Shape;2585;p99"/>
          <p:cNvSpPr txBox="1"/>
          <p:nvPr/>
        </p:nvSpPr>
        <p:spPr>
          <a:xfrm>
            <a:off x="7641275" y="3825863"/>
            <a:ext cx="1138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25%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0" name="Google Shape;2590;p100"/>
          <p:cNvGrpSpPr/>
          <p:nvPr/>
        </p:nvGrpSpPr>
        <p:grpSpPr>
          <a:xfrm rot="-10226679">
            <a:off x="6539123" y="823097"/>
            <a:ext cx="1435961" cy="74206"/>
            <a:chOff x="3225150" y="2619875"/>
            <a:chExt cx="2085475" cy="288900"/>
          </a:xfrm>
        </p:grpSpPr>
        <p:sp>
          <p:nvSpPr>
            <p:cNvPr id="2591" name="Google Shape;2591;p100"/>
            <p:cNvSpPr/>
            <p:nvPr/>
          </p:nvSpPr>
          <p:spPr>
            <a:xfrm>
              <a:off x="3225150" y="2619875"/>
              <a:ext cx="2085300" cy="288900"/>
            </a:xfrm>
            <a:prstGeom prst="roundRect">
              <a:avLst>
                <a:gd fmla="val 50000" name="adj"/>
              </a:avLst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2" name="Google Shape;2592;p100"/>
            <p:cNvSpPr/>
            <p:nvPr/>
          </p:nvSpPr>
          <p:spPr>
            <a:xfrm>
              <a:off x="3253350" y="2648098"/>
              <a:ext cx="232500" cy="23250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3" name="Google Shape;2593;p100"/>
            <p:cNvSpPr/>
            <p:nvPr/>
          </p:nvSpPr>
          <p:spPr>
            <a:xfrm>
              <a:off x="3285125" y="2679874"/>
              <a:ext cx="168900" cy="16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4" name="Google Shape;2594;p100"/>
            <p:cNvSpPr/>
            <p:nvPr/>
          </p:nvSpPr>
          <p:spPr>
            <a:xfrm>
              <a:off x="3369625" y="2648100"/>
              <a:ext cx="1941000" cy="232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5" name="Google Shape;2595;p100"/>
            <p:cNvSpPr/>
            <p:nvPr/>
          </p:nvSpPr>
          <p:spPr>
            <a:xfrm>
              <a:off x="3369508" y="2679875"/>
              <a:ext cx="1941000" cy="168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96" name="Google Shape;2596;p100"/>
          <p:cNvSpPr txBox="1"/>
          <p:nvPr/>
        </p:nvSpPr>
        <p:spPr>
          <a:xfrm>
            <a:off x="5872400" y="2952775"/>
            <a:ext cx="2947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probability that the dragon hits or the cowboy misses is: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0.48 + 0.32 + 0.08 = 0.88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7" name="Google Shape;2597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pic>
        <p:nvPicPr>
          <p:cNvPr id="2598" name="Google Shape;259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378" y="633825"/>
            <a:ext cx="796320" cy="83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9" name="Google Shape;259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7995" y="864458"/>
            <a:ext cx="556028" cy="731135"/>
          </a:xfrm>
          <a:prstGeom prst="rect">
            <a:avLst/>
          </a:prstGeom>
          <a:noFill/>
          <a:ln>
            <a:noFill/>
          </a:ln>
        </p:spPr>
      </p:pic>
      <p:sp>
        <p:nvSpPr>
          <p:cNvPr id="2600" name="Google Shape;2600;p100"/>
          <p:cNvSpPr txBox="1"/>
          <p:nvPr/>
        </p:nvSpPr>
        <p:spPr>
          <a:xfrm>
            <a:off x="7460678" y="1717855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1" name="Google Shape;2601;p100"/>
          <p:cNvSpPr txBox="1"/>
          <p:nvPr/>
        </p:nvSpPr>
        <p:spPr>
          <a:xfrm>
            <a:off x="5578827" y="1553220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dragon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accuracy: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2" name="Google Shape;2602;p100"/>
          <p:cNvSpPr txBox="1"/>
          <p:nvPr/>
        </p:nvSpPr>
        <p:spPr>
          <a:xfrm>
            <a:off x="1231270" y="2210250"/>
            <a:ext cx="899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dragon hits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3" name="Google Shape;2603;p100"/>
          <p:cNvSpPr txBox="1"/>
          <p:nvPr/>
        </p:nvSpPr>
        <p:spPr>
          <a:xfrm>
            <a:off x="324000" y="630425"/>
            <a:ext cx="4963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order for Lucas to scare away the cowboy, either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Lucas’ character has to hit, or the cowboy has to miss (or both)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04" name="Google Shape;2604;p100"/>
          <p:cNvGrpSpPr/>
          <p:nvPr/>
        </p:nvGrpSpPr>
        <p:grpSpPr>
          <a:xfrm>
            <a:off x="550568" y="2372670"/>
            <a:ext cx="653640" cy="1700039"/>
            <a:chOff x="354975" y="1421050"/>
            <a:chExt cx="2175900" cy="1431250"/>
          </a:xfrm>
        </p:grpSpPr>
        <p:cxnSp>
          <p:nvCxnSpPr>
            <p:cNvPr id="2605" name="Google Shape;2605;p100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06" name="Google Shape;2606;p100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07" name="Google Shape;2607;p100"/>
          <p:cNvSpPr txBox="1"/>
          <p:nvPr/>
        </p:nvSpPr>
        <p:spPr>
          <a:xfrm>
            <a:off x="1231271" y="3907450"/>
            <a:ext cx="899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dragon misses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8" name="Google Shape;2608;p100"/>
          <p:cNvSpPr txBox="1"/>
          <p:nvPr/>
        </p:nvSpPr>
        <p:spPr>
          <a:xfrm>
            <a:off x="2961475" y="1857025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09" name="Google Shape;2609;p100"/>
          <p:cNvGrpSpPr/>
          <p:nvPr/>
        </p:nvGrpSpPr>
        <p:grpSpPr>
          <a:xfrm>
            <a:off x="2130875" y="1942170"/>
            <a:ext cx="793551" cy="890381"/>
            <a:chOff x="354975" y="1421050"/>
            <a:chExt cx="2175900" cy="1431250"/>
          </a:xfrm>
        </p:grpSpPr>
        <p:cxnSp>
          <p:nvCxnSpPr>
            <p:cNvPr id="2610" name="Google Shape;2610;p100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1" name="Google Shape;2611;p100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12" name="Google Shape;2612;p100"/>
          <p:cNvSpPr txBox="1"/>
          <p:nvPr/>
        </p:nvSpPr>
        <p:spPr>
          <a:xfrm>
            <a:off x="2961474" y="2745850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13" name="Google Shape;2613;p100"/>
          <p:cNvGrpSpPr/>
          <p:nvPr/>
        </p:nvGrpSpPr>
        <p:grpSpPr>
          <a:xfrm>
            <a:off x="2130875" y="3656227"/>
            <a:ext cx="793551" cy="890381"/>
            <a:chOff x="354975" y="1421050"/>
            <a:chExt cx="2175900" cy="1431250"/>
          </a:xfrm>
        </p:grpSpPr>
        <p:cxnSp>
          <p:nvCxnSpPr>
            <p:cNvPr id="2614" name="Google Shape;2614;p100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5" name="Google Shape;2615;p100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16" name="Google Shape;2616;p100"/>
          <p:cNvSpPr txBox="1"/>
          <p:nvPr/>
        </p:nvSpPr>
        <p:spPr>
          <a:xfrm>
            <a:off x="351112" y="2502421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17" name="Google Shape;2617;p100"/>
          <p:cNvGrpSpPr/>
          <p:nvPr/>
        </p:nvGrpSpPr>
        <p:grpSpPr>
          <a:xfrm>
            <a:off x="3912825" y="1763490"/>
            <a:ext cx="1858591" cy="2918362"/>
            <a:chOff x="7887300" y="1898378"/>
            <a:chExt cx="932700" cy="2534400"/>
          </a:xfrm>
        </p:grpSpPr>
        <p:sp>
          <p:nvSpPr>
            <p:cNvPr id="2618" name="Google Shape;2618;p100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19" name="Google Shape;2619;p100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0" name="Google Shape;2620;p100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1" name="Google Shape;2621;p100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22" name="Google Shape;2622;p100"/>
          <p:cNvSpPr txBox="1"/>
          <p:nvPr/>
        </p:nvSpPr>
        <p:spPr>
          <a:xfrm>
            <a:off x="5090226" y="2693288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0.32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3" name="Google Shape;2623;p100"/>
          <p:cNvSpPr txBox="1"/>
          <p:nvPr/>
        </p:nvSpPr>
        <p:spPr>
          <a:xfrm>
            <a:off x="5090226" y="4184288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4" name="Google Shape;2624;p100"/>
          <p:cNvSpPr txBox="1"/>
          <p:nvPr/>
        </p:nvSpPr>
        <p:spPr>
          <a:xfrm>
            <a:off x="3929529" y="2040950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dragon ✔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cowboy ✔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5" name="Google Shape;2625;p100"/>
          <p:cNvSpPr txBox="1"/>
          <p:nvPr/>
        </p:nvSpPr>
        <p:spPr>
          <a:xfrm>
            <a:off x="3929529" y="2777302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dragon ✔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6" name="Google Shape;2626;p100"/>
          <p:cNvSpPr txBox="1"/>
          <p:nvPr/>
        </p:nvSpPr>
        <p:spPr>
          <a:xfrm>
            <a:off x="5090229" y="1969562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7" name="Google Shape;2627;p100"/>
          <p:cNvSpPr txBox="1"/>
          <p:nvPr/>
        </p:nvSpPr>
        <p:spPr>
          <a:xfrm>
            <a:off x="5090226" y="3498388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8" name="Google Shape;2628;p100"/>
          <p:cNvSpPr txBox="1"/>
          <p:nvPr/>
        </p:nvSpPr>
        <p:spPr>
          <a:xfrm>
            <a:off x="3929529" y="4268276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dragon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29" name="Google Shape;2629;p100"/>
          <p:cNvSpPr txBox="1"/>
          <p:nvPr/>
        </p:nvSpPr>
        <p:spPr>
          <a:xfrm>
            <a:off x="3929529" y="3582399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dragon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 ✔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0" name="Google Shape;2630;p100"/>
          <p:cNvSpPr txBox="1"/>
          <p:nvPr/>
        </p:nvSpPr>
        <p:spPr>
          <a:xfrm>
            <a:off x="351112" y="3635592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1" name="Google Shape;2631;p100"/>
          <p:cNvSpPr txBox="1"/>
          <p:nvPr/>
        </p:nvSpPr>
        <p:spPr>
          <a:xfrm>
            <a:off x="2162276" y="1857023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2" name="Google Shape;2632;p100"/>
          <p:cNvSpPr txBox="1"/>
          <p:nvPr/>
        </p:nvSpPr>
        <p:spPr>
          <a:xfrm>
            <a:off x="2162276" y="2690318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3" name="Google Shape;2633;p100"/>
          <p:cNvSpPr txBox="1"/>
          <p:nvPr/>
        </p:nvSpPr>
        <p:spPr>
          <a:xfrm>
            <a:off x="2162276" y="3567161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4" name="Google Shape;2634;p100"/>
          <p:cNvSpPr txBox="1"/>
          <p:nvPr/>
        </p:nvSpPr>
        <p:spPr>
          <a:xfrm>
            <a:off x="2162276" y="4400457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5" name="Google Shape;2635;p100"/>
          <p:cNvSpPr txBox="1"/>
          <p:nvPr/>
        </p:nvSpPr>
        <p:spPr>
          <a:xfrm>
            <a:off x="2961475" y="3552079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6" name="Google Shape;2636;p100"/>
          <p:cNvSpPr txBox="1"/>
          <p:nvPr/>
        </p:nvSpPr>
        <p:spPr>
          <a:xfrm>
            <a:off x="2961474" y="4440904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7" name="Google Shape;2637;p100"/>
          <p:cNvSpPr/>
          <p:nvPr/>
        </p:nvSpPr>
        <p:spPr>
          <a:xfrm>
            <a:off x="3912825" y="2513025"/>
            <a:ext cx="18585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8" name="Google Shape;2638;p100"/>
          <p:cNvSpPr/>
          <p:nvPr/>
        </p:nvSpPr>
        <p:spPr>
          <a:xfrm>
            <a:off x="3912825" y="4072700"/>
            <a:ext cx="1858500" cy="58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9" name="Google Shape;2639;p100"/>
          <p:cNvSpPr/>
          <p:nvPr/>
        </p:nvSpPr>
        <p:spPr>
          <a:xfrm>
            <a:off x="3912825" y="1831100"/>
            <a:ext cx="1858500" cy="58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4" name="Google Shape;2644;p101"/>
          <p:cNvGrpSpPr/>
          <p:nvPr/>
        </p:nvGrpSpPr>
        <p:grpSpPr>
          <a:xfrm>
            <a:off x="3912825" y="1763490"/>
            <a:ext cx="1858591" cy="2918362"/>
            <a:chOff x="7887300" y="1898378"/>
            <a:chExt cx="932700" cy="2534400"/>
          </a:xfrm>
        </p:grpSpPr>
        <p:sp>
          <p:nvSpPr>
            <p:cNvPr id="2645" name="Google Shape;2645;p101"/>
            <p:cNvSpPr/>
            <p:nvPr/>
          </p:nvSpPr>
          <p:spPr>
            <a:xfrm>
              <a:off x="7889036" y="1898378"/>
              <a:ext cx="929100" cy="2534400"/>
            </a:xfrm>
            <a:prstGeom prst="roundRect">
              <a:avLst>
                <a:gd fmla="val 5713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46" name="Google Shape;2646;p101"/>
            <p:cNvCxnSpPr/>
            <p:nvPr/>
          </p:nvCxnSpPr>
          <p:spPr>
            <a:xfrm rot="10800000">
              <a:off x="7887300" y="2511257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7" name="Google Shape;2647;p101"/>
            <p:cNvCxnSpPr/>
            <p:nvPr/>
          </p:nvCxnSpPr>
          <p:spPr>
            <a:xfrm rot="10800000">
              <a:off x="7887300" y="3172833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8" name="Google Shape;2648;p101"/>
            <p:cNvCxnSpPr/>
            <p:nvPr/>
          </p:nvCxnSpPr>
          <p:spPr>
            <a:xfrm rot="10800000">
              <a:off x="7887300" y="3868489"/>
              <a:ext cx="9327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49" name="Google Shape;2649;p101"/>
          <p:cNvSpPr/>
          <p:nvPr/>
        </p:nvSpPr>
        <p:spPr>
          <a:xfrm>
            <a:off x="3912825" y="2513025"/>
            <a:ext cx="1858500" cy="67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0" name="Google Shape;2650;p101"/>
          <p:cNvSpPr/>
          <p:nvPr/>
        </p:nvSpPr>
        <p:spPr>
          <a:xfrm>
            <a:off x="3912825" y="4072700"/>
            <a:ext cx="1858500" cy="58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1" name="Google Shape;2651;p101"/>
          <p:cNvSpPr/>
          <p:nvPr/>
        </p:nvSpPr>
        <p:spPr>
          <a:xfrm>
            <a:off x="3912825" y="1831100"/>
            <a:ext cx="1858500" cy="584400"/>
          </a:xfrm>
          <a:prstGeom prst="roundRect">
            <a:avLst>
              <a:gd fmla="val 7296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2" name="Google Shape;2652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653" name="Google Shape;2653;p101"/>
          <p:cNvSpPr txBox="1"/>
          <p:nvPr/>
        </p:nvSpPr>
        <p:spPr>
          <a:xfrm>
            <a:off x="324000" y="630425"/>
            <a:ext cx="4963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order for Lucas to scare away the cowboy, either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Lucas’ character has to hit, or the cowboy has to miss (or both)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54" name="Google Shape;2654;p101"/>
          <p:cNvGrpSpPr/>
          <p:nvPr/>
        </p:nvGrpSpPr>
        <p:grpSpPr>
          <a:xfrm>
            <a:off x="550568" y="2372670"/>
            <a:ext cx="653640" cy="1700039"/>
            <a:chOff x="354975" y="1421050"/>
            <a:chExt cx="2175900" cy="1431250"/>
          </a:xfrm>
        </p:grpSpPr>
        <p:cxnSp>
          <p:nvCxnSpPr>
            <p:cNvPr id="2655" name="Google Shape;2655;p10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6" name="Google Shape;2656;p10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57" name="Google Shape;2657;p101"/>
          <p:cNvSpPr txBox="1"/>
          <p:nvPr/>
        </p:nvSpPr>
        <p:spPr>
          <a:xfrm>
            <a:off x="1231271" y="3907450"/>
            <a:ext cx="899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unicorn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misses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8" name="Google Shape;2658;p101"/>
          <p:cNvSpPr txBox="1"/>
          <p:nvPr/>
        </p:nvSpPr>
        <p:spPr>
          <a:xfrm>
            <a:off x="2961475" y="1857025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59" name="Google Shape;2659;p101"/>
          <p:cNvGrpSpPr/>
          <p:nvPr/>
        </p:nvGrpSpPr>
        <p:grpSpPr>
          <a:xfrm>
            <a:off x="2130875" y="1942170"/>
            <a:ext cx="793551" cy="890381"/>
            <a:chOff x="354975" y="1421050"/>
            <a:chExt cx="2175900" cy="1431250"/>
          </a:xfrm>
        </p:grpSpPr>
        <p:cxnSp>
          <p:nvCxnSpPr>
            <p:cNvPr id="2660" name="Google Shape;2660;p10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1" name="Google Shape;2661;p10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62" name="Google Shape;2662;p101"/>
          <p:cNvSpPr txBox="1"/>
          <p:nvPr/>
        </p:nvSpPr>
        <p:spPr>
          <a:xfrm>
            <a:off x="2961474" y="2745850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63" name="Google Shape;2663;p101"/>
          <p:cNvGrpSpPr/>
          <p:nvPr/>
        </p:nvGrpSpPr>
        <p:grpSpPr>
          <a:xfrm>
            <a:off x="2130875" y="3656227"/>
            <a:ext cx="793551" cy="890381"/>
            <a:chOff x="354975" y="1421050"/>
            <a:chExt cx="2175900" cy="1431250"/>
          </a:xfrm>
        </p:grpSpPr>
        <p:cxnSp>
          <p:nvCxnSpPr>
            <p:cNvPr id="2664" name="Google Shape;2664;p101"/>
            <p:cNvCxnSpPr/>
            <p:nvPr/>
          </p:nvCxnSpPr>
          <p:spPr>
            <a:xfrm flipH="1" rot="10800000">
              <a:off x="354975" y="142105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5" name="Google Shape;2665;p101"/>
            <p:cNvCxnSpPr/>
            <p:nvPr/>
          </p:nvCxnSpPr>
          <p:spPr>
            <a:xfrm>
              <a:off x="354975" y="2140400"/>
              <a:ext cx="2175900" cy="7119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66" name="Google Shape;2666;p101"/>
          <p:cNvSpPr txBox="1"/>
          <p:nvPr/>
        </p:nvSpPr>
        <p:spPr>
          <a:xfrm>
            <a:off x="351112" y="2502421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7" name="Google Shape;2667;p101"/>
          <p:cNvSpPr txBox="1"/>
          <p:nvPr/>
        </p:nvSpPr>
        <p:spPr>
          <a:xfrm>
            <a:off x="5090226" y="2693288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8" name="Google Shape;2668;p101"/>
          <p:cNvSpPr txBox="1"/>
          <p:nvPr/>
        </p:nvSpPr>
        <p:spPr>
          <a:xfrm>
            <a:off x="5090226" y="4184288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9" name="Google Shape;2669;p101"/>
          <p:cNvSpPr txBox="1"/>
          <p:nvPr/>
        </p:nvSpPr>
        <p:spPr>
          <a:xfrm>
            <a:off x="3929529" y="2040950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unicorn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✔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cowboy ✔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0" name="Google Shape;2670;p101"/>
          <p:cNvSpPr txBox="1"/>
          <p:nvPr/>
        </p:nvSpPr>
        <p:spPr>
          <a:xfrm>
            <a:off x="3929529" y="2777302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unicorn ✔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1" name="Google Shape;2671;p101"/>
          <p:cNvSpPr txBox="1"/>
          <p:nvPr/>
        </p:nvSpPr>
        <p:spPr>
          <a:xfrm>
            <a:off x="5090229" y="1969562"/>
            <a:ext cx="6537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2" name="Google Shape;2672;p101"/>
          <p:cNvSpPr txBox="1"/>
          <p:nvPr/>
        </p:nvSpPr>
        <p:spPr>
          <a:xfrm>
            <a:off x="5090226" y="3498388"/>
            <a:ext cx="653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3" name="Google Shape;2673;p101"/>
          <p:cNvSpPr txBox="1"/>
          <p:nvPr/>
        </p:nvSpPr>
        <p:spPr>
          <a:xfrm>
            <a:off x="351112" y="3635592"/>
            <a:ext cx="653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4" name="Google Shape;2674;p101"/>
          <p:cNvSpPr txBox="1"/>
          <p:nvPr/>
        </p:nvSpPr>
        <p:spPr>
          <a:xfrm>
            <a:off x="2162276" y="1857023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5" name="Google Shape;2675;p101"/>
          <p:cNvSpPr txBox="1"/>
          <p:nvPr/>
        </p:nvSpPr>
        <p:spPr>
          <a:xfrm>
            <a:off x="2100389" y="2690318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0.75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6" name="Google Shape;2676;p101"/>
          <p:cNvSpPr txBox="1"/>
          <p:nvPr/>
        </p:nvSpPr>
        <p:spPr>
          <a:xfrm>
            <a:off x="2162276" y="3567161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7" name="Google Shape;2677;p101"/>
          <p:cNvSpPr txBox="1"/>
          <p:nvPr/>
        </p:nvSpPr>
        <p:spPr>
          <a:xfrm>
            <a:off x="2100389" y="4400457"/>
            <a:ext cx="653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0.75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8" name="Google Shape;2678;p101"/>
          <p:cNvSpPr txBox="1"/>
          <p:nvPr/>
        </p:nvSpPr>
        <p:spPr>
          <a:xfrm>
            <a:off x="5872400" y="2952775"/>
            <a:ext cx="2947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probability that the unicorn hits or the cowboy misses is: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0.15 + 0.45 + 0.3 = 0.9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9" name="Google Shape;2679;p101"/>
          <p:cNvSpPr txBox="1"/>
          <p:nvPr/>
        </p:nvSpPr>
        <p:spPr>
          <a:xfrm>
            <a:off x="2961475" y="3552079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0" name="Google Shape;2680;p101"/>
          <p:cNvSpPr txBox="1"/>
          <p:nvPr/>
        </p:nvSpPr>
        <p:spPr>
          <a:xfrm>
            <a:off x="2961474" y="4440904"/>
            <a:ext cx="9510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misses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681" name="Google Shape;2681;p101"/>
          <p:cNvGrpSpPr/>
          <p:nvPr/>
        </p:nvGrpSpPr>
        <p:grpSpPr>
          <a:xfrm>
            <a:off x="6935302" y="638391"/>
            <a:ext cx="223564" cy="212551"/>
            <a:chOff x="5653584" y="3082069"/>
            <a:chExt cx="609000" cy="579000"/>
          </a:xfrm>
        </p:grpSpPr>
        <p:sp>
          <p:nvSpPr>
            <p:cNvPr id="2682" name="Google Shape;2682;p101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3" name="Google Shape;2683;p101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4" name="Google Shape;2684;p101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5" name="Google Shape;2685;p101"/>
          <p:cNvGrpSpPr/>
          <p:nvPr/>
        </p:nvGrpSpPr>
        <p:grpSpPr>
          <a:xfrm>
            <a:off x="6365878" y="740207"/>
            <a:ext cx="525202" cy="499330"/>
            <a:chOff x="5653584" y="3082069"/>
            <a:chExt cx="609000" cy="579000"/>
          </a:xfrm>
        </p:grpSpPr>
        <p:sp>
          <p:nvSpPr>
            <p:cNvPr id="2686" name="Google Shape;2686;p101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7" name="Google Shape;2687;p101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8" name="Google Shape;2688;p101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689" name="Google Shape;268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044652" y="969996"/>
            <a:ext cx="650454" cy="744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5872" y="935287"/>
            <a:ext cx="556028" cy="731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1" name="Google Shape;2691;p101"/>
          <p:cNvGrpSpPr/>
          <p:nvPr/>
        </p:nvGrpSpPr>
        <p:grpSpPr>
          <a:xfrm>
            <a:off x="7219569" y="975828"/>
            <a:ext cx="223564" cy="212551"/>
            <a:chOff x="5653584" y="3082069"/>
            <a:chExt cx="609000" cy="579000"/>
          </a:xfrm>
        </p:grpSpPr>
        <p:sp>
          <p:nvSpPr>
            <p:cNvPr id="2692" name="Google Shape;2692;p101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3" name="Google Shape;2693;p101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4" name="Google Shape;2694;p101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5" name="Google Shape;2695;p101"/>
          <p:cNvGrpSpPr/>
          <p:nvPr/>
        </p:nvGrpSpPr>
        <p:grpSpPr>
          <a:xfrm>
            <a:off x="7396623" y="717943"/>
            <a:ext cx="223564" cy="212551"/>
            <a:chOff x="5653584" y="3082069"/>
            <a:chExt cx="609000" cy="579000"/>
          </a:xfrm>
        </p:grpSpPr>
        <p:sp>
          <p:nvSpPr>
            <p:cNvPr id="2696" name="Google Shape;2696;p101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7" name="Google Shape;2697;p101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8" name="Google Shape;2698;p101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9" name="Google Shape;2699;p101"/>
          <p:cNvGrpSpPr/>
          <p:nvPr/>
        </p:nvGrpSpPr>
        <p:grpSpPr>
          <a:xfrm>
            <a:off x="7606771" y="1068947"/>
            <a:ext cx="223564" cy="212551"/>
            <a:chOff x="5653584" y="3082069"/>
            <a:chExt cx="609000" cy="579000"/>
          </a:xfrm>
        </p:grpSpPr>
        <p:sp>
          <p:nvSpPr>
            <p:cNvPr id="2700" name="Google Shape;2700;p101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1" name="Google Shape;2701;p101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2" name="Google Shape;2702;p101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3" name="Google Shape;2703;p101"/>
          <p:cNvGrpSpPr/>
          <p:nvPr/>
        </p:nvGrpSpPr>
        <p:grpSpPr>
          <a:xfrm>
            <a:off x="7846954" y="910046"/>
            <a:ext cx="223564" cy="212551"/>
            <a:chOff x="5653584" y="3082069"/>
            <a:chExt cx="609000" cy="579000"/>
          </a:xfrm>
        </p:grpSpPr>
        <p:sp>
          <p:nvSpPr>
            <p:cNvPr id="2704" name="Google Shape;2704;p101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5" name="Google Shape;2705;p101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6" name="Google Shape;2706;p101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07" name="Google Shape;2707;p101"/>
          <p:cNvSpPr txBox="1"/>
          <p:nvPr/>
        </p:nvSpPr>
        <p:spPr>
          <a:xfrm>
            <a:off x="5620085" y="1852619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unicorn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8" name="Google Shape;2708;p101"/>
          <p:cNvSpPr txBox="1"/>
          <p:nvPr/>
        </p:nvSpPr>
        <p:spPr>
          <a:xfrm>
            <a:off x="1231270" y="2210250"/>
            <a:ext cx="899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unicorn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hits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9" name="Google Shape;2709;p101"/>
          <p:cNvSpPr txBox="1"/>
          <p:nvPr/>
        </p:nvSpPr>
        <p:spPr>
          <a:xfrm>
            <a:off x="3929529" y="3582399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unicorn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 ✔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0" name="Google Shape;2710;p101"/>
          <p:cNvSpPr txBox="1"/>
          <p:nvPr/>
        </p:nvSpPr>
        <p:spPr>
          <a:xfrm>
            <a:off x="3929529" y="4268276"/>
            <a:ext cx="1160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unicorn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cowboy ✘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1" name="Google Shape;2711;p101"/>
          <p:cNvSpPr txBox="1"/>
          <p:nvPr/>
        </p:nvSpPr>
        <p:spPr>
          <a:xfrm>
            <a:off x="7641275" y="1844663"/>
            <a:ext cx="1138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25%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of an event from a two-stage trial</a:t>
            </a:r>
            <a:endParaRPr/>
          </a:p>
        </p:txBody>
      </p:sp>
      <p:sp>
        <p:nvSpPr>
          <p:cNvPr id="2717" name="Google Shape;2717;p102"/>
          <p:cNvSpPr txBox="1"/>
          <p:nvPr/>
        </p:nvSpPr>
        <p:spPr>
          <a:xfrm>
            <a:off x="4572000" y="3013530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probability that the unicorn hits or the cowboy misses is: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0.15 + 0.45 + 0.3 = 0.9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718" name="Google Shape;2718;p102"/>
          <p:cNvGrpSpPr/>
          <p:nvPr/>
        </p:nvGrpSpPr>
        <p:grpSpPr>
          <a:xfrm>
            <a:off x="2056539" y="2707046"/>
            <a:ext cx="223564" cy="212551"/>
            <a:chOff x="5653584" y="3082069"/>
            <a:chExt cx="609000" cy="579000"/>
          </a:xfrm>
        </p:grpSpPr>
        <p:sp>
          <p:nvSpPr>
            <p:cNvPr id="2719" name="Google Shape;2719;p10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0" name="Google Shape;2720;p10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1" name="Google Shape;2721;p10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2" name="Google Shape;2722;p102"/>
          <p:cNvGrpSpPr/>
          <p:nvPr/>
        </p:nvGrpSpPr>
        <p:grpSpPr>
          <a:xfrm>
            <a:off x="1487116" y="2808863"/>
            <a:ext cx="525202" cy="499330"/>
            <a:chOff x="5653584" y="3082069"/>
            <a:chExt cx="609000" cy="579000"/>
          </a:xfrm>
        </p:grpSpPr>
        <p:sp>
          <p:nvSpPr>
            <p:cNvPr id="2723" name="Google Shape;2723;p10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4" name="Google Shape;2724;p10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5" name="Google Shape;2725;p10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726" name="Google Shape;272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165890" y="3038652"/>
            <a:ext cx="650454" cy="744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7" name="Google Shape;2727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109" y="3003943"/>
            <a:ext cx="556028" cy="731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8" name="Google Shape;2728;p102"/>
          <p:cNvGrpSpPr/>
          <p:nvPr/>
        </p:nvGrpSpPr>
        <p:grpSpPr>
          <a:xfrm>
            <a:off x="2340807" y="3044483"/>
            <a:ext cx="223564" cy="212551"/>
            <a:chOff x="5653584" y="3082069"/>
            <a:chExt cx="609000" cy="579000"/>
          </a:xfrm>
        </p:grpSpPr>
        <p:sp>
          <p:nvSpPr>
            <p:cNvPr id="2729" name="Google Shape;2729;p10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0" name="Google Shape;2730;p10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1" name="Google Shape;2731;p10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2" name="Google Shape;2732;p102"/>
          <p:cNvGrpSpPr/>
          <p:nvPr/>
        </p:nvGrpSpPr>
        <p:grpSpPr>
          <a:xfrm>
            <a:off x="2517860" y="2786598"/>
            <a:ext cx="223564" cy="212551"/>
            <a:chOff x="5653584" y="3082069"/>
            <a:chExt cx="609000" cy="579000"/>
          </a:xfrm>
        </p:grpSpPr>
        <p:sp>
          <p:nvSpPr>
            <p:cNvPr id="2733" name="Google Shape;2733;p10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4" name="Google Shape;2734;p10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5" name="Google Shape;2735;p10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6" name="Google Shape;2736;p102"/>
          <p:cNvGrpSpPr/>
          <p:nvPr/>
        </p:nvGrpSpPr>
        <p:grpSpPr>
          <a:xfrm>
            <a:off x="2728009" y="3137603"/>
            <a:ext cx="223564" cy="212551"/>
            <a:chOff x="5653584" y="3082069"/>
            <a:chExt cx="609000" cy="579000"/>
          </a:xfrm>
        </p:grpSpPr>
        <p:sp>
          <p:nvSpPr>
            <p:cNvPr id="2737" name="Google Shape;2737;p10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8" name="Google Shape;2738;p10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9" name="Google Shape;2739;p10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40" name="Google Shape;2740;p102"/>
          <p:cNvGrpSpPr/>
          <p:nvPr/>
        </p:nvGrpSpPr>
        <p:grpSpPr>
          <a:xfrm>
            <a:off x="2968191" y="2978701"/>
            <a:ext cx="223564" cy="212551"/>
            <a:chOff x="5653584" y="3082069"/>
            <a:chExt cx="609000" cy="579000"/>
          </a:xfrm>
        </p:grpSpPr>
        <p:sp>
          <p:nvSpPr>
            <p:cNvPr id="2741" name="Google Shape;2741;p102"/>
            <p:cNvSpPr/>
            <p:nvPr/>
          </p:nvSpPr>
          <p:spPr>
            <a:xfrm>
              <a:off x="5653584" y="3082069"/>
              <a:ext cx="609000" cy="5790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F0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2" name="Google Shape;2742;p102"/>
            <p:cNvSpPr/>
            <p:nvPr/>
          </p:nvSpPr>
          <p:spPr>
            <a:xfrm>
              <a:off x="5787114" y="3208975"/>
              <a:ext cx="3420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FAEA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3" name="Google Shape;2743;p102"/>
            <p:cNvSpPr/>
            <p:nvPr/>
          </p:nvSpPr>
          <p:spPr>
            <a:xfrm>
              <a:off x="5859831" y="3278054"/>
              <a:ext cx="196500" cy="186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44" name="Google Shape;2744;p102"/>
          <p:cNvSpPr txBox="1"/>
          <p:nvPr/>
        </p:nvSpPr>
        <p:spPr>
          <a:xfrm>
            <a:off x="741322" y="3921274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unicorn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5" name="Google Shape;2745;p102"/>
          <p:cNvSpPr txBox="1"/>
          <p:nvPr/>
        </p:nvSpPr>
        <p:spPr>
          <a:xfrm>
            <a:off x="4572000" y="920905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probability that the dragon hits or the cowboy misses is: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0.48 + 0.32 + 0.08 = 0.88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746" name="Google Shape;2746;p102"/>
          <p:cNvGrpSpPr/>
          <p:nvPr/>
        </p:nvGrpSpPr>
        <p:grpSpPr>
          <a:xfrm rot="-10226679">
            <a:off x="1662323" y="850602"/>
            <a:ext cx="1435961" cy="74206"/>
            <a:chOff x="3225150" y="2619875"/>
            <a:chExt cx="2085475" cy="288900"/>
          </a:xfrm>
        </p:grpSpPr>
        <p:sp>
          <p:nvSpPr>
            <p:cNvPr id="2747" name="Google Shape;2747;p102"/>
            <p:cNvSpPr/>
            <p:nvPr/>
          </p:nvSpPr>
          <p:spPr>
            <a:xfrm>
              <a:off x="3225150" y="2619875"/>
              <a:ext cx="2085300" cy="288900"/>
            </a:xfrm>
            <a:prstGeom prst="roundRect">
              <a:avLst>
                <a:gd fmla="val 50000" name="adj"/>
              </a:avLst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8" name="Google Shape;2748;p102"/>
            <p:cNvSpPr/>
            <p:nvPr/>
          </p:nvSpPr>
          <p:spPr>
            <a:xfrm>
              <a:off x="3253350" y="2648098"/>
              <a:ext cx="232500" cy="23250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9" name="Google Shape;2749;p102"/>
            <p:cNvSpPr/>
            <p:nvPr/>
          </p:nvSpPr>
          <p:spPr>
            <a:xfrm>
              <a:off x="3285125" y="2679874"/>
              <a:ext cx="168900" cy="16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0" name="Google Shape;2750;p102"/>
            <p:cNvSpPr/>
            <p:nvPr/>
          </p:nvSpPr>
          <p:spPr>
            <a:xfrm>
              <a:off x="3369625" y="2648100"/>
              <a:ext cx="1941000" cy="2325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1" name="Google Shape;2751;p102"/>
            <p:cNvSpPr/>
            <p:nvPr/>
          </p:nvSpPr>
          <p:spPr>
            <a:xfrm>
              <a:off x="3369508" y="2679875"/>
              <a:ext cx="1941000" cy="1689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752" name="Google Shape;2752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6578" y="661330"/>
            <a:ext cx="796320" cy="832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3" name="Google Shape;2753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1195" y="891963"/>
            <a:ext cx="556028" cy="731135"/>
          </a:xfrm>
          <a:prstGeom prst="rect">
            <a:avLst/>
          </a:prstGeom>
          <a:noFill/>
          <a:ln>
            <a:noFill/>
          </a:ln>
        </p:spPr>
      </p:pic>
      <p:sp>
        <p:nvSpPr>
          <p:cNvPr id="2754" name="Google Shape;2754;p102"/>
          <p:cNvSpPr txBox="1"/>
          <p:nvPr/>
        </p:nvSpPr>
        <p:spPr>
          <a:xfrm>
            <a:off x="2583878" y="1745360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60%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5" name="Google Shape;2755;p102"/>
          <p:cNvSpPr txBox="1"/>
          <p:nvPr/>
        </p:nvSpPr>
        <p:spPr>
          <a:xfrm>
            <a:off x="702027" y="1580725"/>
            <a:ext cx="14997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dragon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accuracy: 80%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6" name="Google Shape;2756;p102"/>
          <p:cNvSpPr txBox="1"/>
          <p:nvPr/>
        </p:nvSpPr>
        <p:spPr>
          <a:xfrm>
            <a:off x="4572000" y="4102634"/>
            <a:ext cx="4248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should use the unicorn to scare away the cowboy.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57" name="Google Shape;2757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583" y="32012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8" name="Google Shape;2758;p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563" y="867929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59" name="Google Shape;2759;p102"/>
          <p:cNvSpPr txBox="1"/>
          <p:nvPr/>
        </p:nvSpPr>
        <p:spPr>
          <a:xfrm>
            <a:off x="2837350" y="3922393"/>
            <a:ext cx="1033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cowboy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accuracy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 25%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103"/>
          <p:cNvSpPr txBox="1"/>
          <p:nvPr/>
        </p:nvSpPr>
        <p:spPr>
          <a:xfrm>
            <a:off x="324000" y="966800"/>
            <a:ext cx="8496000" cy="3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one-stage trial can be represented on a probability tree, where the sum of the probabilities on all branches is 1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two-stage trial can be represented on a probability tree, where the sum of the probabilities on all branches that meet at a point is 1 because this collection of branches make up the sample space for one stage of the trial.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probability tree can be used to calculate the probabilities of each outcome of a two-stage trial.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probability tree can be used to calculate the probabilities of an event from a two-stage trial by finding the sum of individual outcomes from the sample space.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5" name="Google Shape;2765;p10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trees (two events)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771" name="Google Shape;2771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