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bdd2f7473b_0_15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bdd2f7473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trees (two events)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2014622"/>
            <a:ext cx="20895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Spinner 1 is spun several times.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spinner landed on R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of the time.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2 is spun several times.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spinner landed on G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the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631845"/>
            <a:ext cx="66105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Probability of an outcome from a two-stage trial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 rot="-5400000">
            <a:off x="493656" y="3765290"/>
            <a:ext cx="827700" cy="827700"/>
          </a:xfrm>
          <a:prstGeom prst="pie">
            <a:avLst>
              <a:gd fmla="val 16197753" name="adj1"/>
              <a:gd fmla="val 2029901" name="adj2"/>
            </a:avLst>
          </a:prstGeom>
          <a:solidFill>
            <a:srgbClr val="57575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 rot="-5400000">
            <a:off x="493656" y="3765290"/>
            <a:ext cx="827700" cy="827700"/>
          </a:xfrm>
          <a:prstGeom prst="pie">
            <a:avLst>
              <a:gd fmla="val 2035414" name="adj1"/>
              <a:gd fmla="val 16207343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" name="Google Shape;165;p20"/>
          <p:cNvGrpSpPr/>
          <p:nvPr/>
        </p:nvGrpSpPr>
        <p:grpSpPr>
          <a:xfrm rot="-5400000">
            <a:off x="718725" y="3999451"/>
            <a:ext cx="40570" cy="359414"/>
            <a:chOff x="936300" y="737518"/>
            <a:chExt cx="65100" cy="576723"/>
          </a:xfrm>
        </p:grpSpPr>
        <p:cxnSp>
          <p:nvCxnSpPr>
            <p:cNvPr id="166" name="Google Shape;166;p2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" name="Google Shape;167;p20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20"/>
          <p:cNvSpPr txBox="1"/>
          <p:nvPr/>
        </p:nvSpPr>
        <p:spPr>
          <a:xfrm>
            <a:off x="692621" y="3892432"/>
            <a:ext cx="175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929775" y="4253880"/>
            <a:ext cx="175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 rot="-5400000">
            <a:off x="2042687" y="3765290"/>
            <a:ext cx="827700" cy="827700"/>
          </a:xfrm>
          <a:prstGeom prst="pie">
            <a:avLst>
              <a:gd fmla="val 16197753" name="adj1"/>
              <a:gd fmla="val 20397738" name="adj2"/>
            </a:avLst>
          </a:prstGeom>
          <a:solidFill>
            <a:srgbClr val="57575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 rot="-5400000">
            <a:off x="2042687" y="3765290"/>
            <a:ext cx="827700" cy="827700"/>
          </a:xfrm>
          <a:prstGeom prst="pie">
            <a:avLst>
              <a:gd fmla="val 20410576" name="adj1"/>
              <a:gd fmla="val 16207343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0"/>
          <p:cNvGrpSpPr/>
          <p:nvPr/>
        </p:nvGrpSpPr>
        <p:grpSpPr>
          <a:xfrm rot="-5400000">
            <a:off x="2267756" y="3999451"/>
            <a:ext cx="40570" cy="359414"/>
            <a:chOff x="936300" y="737518"/>
            <a:chExt cx="65100" cy="576723"/>
          </a:xfrm>
        </p:grpSpPr>
        <p:cxnSp>
          <p:nvCxnSpPr>
            <p:cNvPr id="173" name="Google Shape;173;p2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20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0"/>
          <p:cNvSpPr txBox="1"/>
          <p:nvPr/>
        </p:nvSpPr>
        <p:spPr>
          <a:xfrm>
            <a:off x="2170750" y="3917758"/>
            <a:ext cx="175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557551" y="4157244"/>
            <a:ext cx="175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93657" y="4556093"/>
            <a:ext cx="827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042687" y="4556093"/>
            <a:ext cx="827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2988056" y="1963250"/>
            <a:ext cx="0" cy="3062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0"/>
          <p:cNvSpPr/>
          <p:nvPr/>
        </p:nvSpPr>
        <p:spPr>
          <a:xfrm>
            <a:off x="5087885" y="2898467"/>
            <a:ext cx="1678200" cy="20322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3079127" y="3928037"/>
            <a:ext cx="566100" cy="553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0"/>
          <p:cNvCxnSpPr/>
          <p:nvPr/>
        </p:nvCxnSpPr>
        <p:spPr>
          <a:xfrm flipH="1" rot="10800000">
            <a:off x="3915939" y="3020676"/>
            <a:ext cx="896100" cy="34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0"/>
          <p:cNvSpPr txBox="1"/>
          <p:nvPr/>
        </p:nvSpPr>
        <p:spPr>
          <a:xfrm>
            <a:off x="3656424" y="3261916"/>
            <a:ext cx="27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3915939" y="4509529"/>
            <a:ext cx="896100" cy="34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0"/>
          <p:cNvSpPr txBox="1"/>
          <p:nvPr/>
        </p:nvSpPr>
        <p:spPr>
          <a:xfrm>
            <a:off x="4846716" y="2954016"/>
            <a:ext cx="27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 flipH="1" rot="10800000">
            <a:off x="3079127" y="3368440"/>
            <a:ext cx="566100" cy="553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3915939" y="3371408"/>
            <a:ext cx="896100" cy="34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0"/>
          <p:cNvCxnSpPr/>
          <p:nvPr/>
        </p:nvCxnSpPr>
        <p:spPr>
          <a:xfrm flipH="1" rot="10800000">
            <a:off x="3915939" y="4158797"/>
            <a:ext cx="896100" cy="34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 rot="10800000">
            <a:off x="5084711" y="3405459"/>
            <a:ext cx="1684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 rot="10800000">
            <a:off x="5084711" y="3920209"/>
            <a:ext cx="1684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/>
          <p:nvPr/>
        </p:nvCxnSpPr>
        <p:spPr>
          <a:xfrm rot="10800000">
            <a:off x="5084711" y="4461474"/>
            <a:ext cx="1684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/>
        </p:nvSpPr>
        <p:spPr>
          <a:xfrm>
            <a:off x="3137678" y="2073910"/>
            <a:ext cx="39408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Trial: spinning spinner 1 and spinner 2 once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probability tree to calculate the probability of each outcome from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122394" y="3121052"/>
            <a:ext cx="412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1}{7}=\frac{2}{21}&quot;&gt;&lt;mfrac&gt;&lt;mn&gt;2&lt;/mn&gt;&lt;mn&gt;3&lt;/mn&gt;&lt;/mfrac&gt;&lt;mo&gt;×&lt;/mo&gt;&lt;mfrac&gt;&lt;mn&gt;1&lt;/mn&gt;&lt;mn&gt;7&lt;/mn&gt;&lt;/mfrac&gt;&lt;mo&gt;=&lt;/mo&gt;&lt;mfrac&gt;&lt;mn&gt;2&lt;/mn&gt;&lt;mn&gt;21&lt;/mn&gt;&lt;/mfrac&gt;&lt;/math&gt;" id="194" name="Google Shape;194;p20" title="two thirds times one seventh equals 2 over 21"/>
          <p:cNvPicPr preferRelativeResize="0"/>
          <p:nvPr/>
        </p:nvPicPr>
        <p:blipFill rotWithShape="1">
          <a:blip r:embed="rId3">
            <a:alphaModFix/>
          </a:blip>
          <a:srcRect b="0" l="76162" r="0" t="0"/>
          <a:stretch/>
        </p:blipFill>
        <p:spPr>
          <a:xfrm>
            <a:off x="6524650" y="4011425"/>
            <a:ext cx="213600" cy="35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95" name="Google Shape;195;p20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8896" y="2309383"/>
            <a:ext cx="102452" cy="339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96" name="Google Shape;196;p20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5892" y="3230917"/>
            <a:ext cx="102452" cy="336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1}{7}=\frac{1}{21}&quot;&gt;&lt;mfrac&gt;&lt;mn&gt;1&lt;/mn&gt;&lt;mn&gt;3&lt;/mn&gt;&lt;/mfrac&gt;&lt;mo&gt;×&lt;/mo&gt;&lt;mfrac&gt;&lt;mn&gt;1&lt;/mn&gt;&lt;mn&gt;7&lt;/mn&gt;&lt;/mfrac&gt;&lt;mo&gt;=&lt;/mo&gt;&lt;mfrac&gt;&lt;mn&gt;1&lt;/mn&gt;&lt;mn&gt;21&lt;/mn&gt;&lt;/mfrac&gt;&lt;/math&gt;" id="197" name="Google Shape;197;p20" title="one third times one seventh equals 1 over 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2198" y="2997537"/>
            <a:ext cx="838188" cy="336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98" name="Google Shape;198;p20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1019" y="3274016"/>
            <a:ext cx="102452" cy="339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99" name="Google Shape;199;p20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4507" y="2839690"/>
            <a:ext cx="102452" cy="33696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97356" y="6093388"/>
            <a:ext cx="195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Trial: spinner 1 and spinner 2 are spun once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probability tree currently shows all the outcomes on spinner 1.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97970" y="8452261"/>
            <a:ext cx="75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flipH="1">
            <a:off x="634815" y="7549517"/>
            <a:ext cx="885000" cy="8850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 flipH="1" rot="2700000">
            <a:off x="634797" y="7549507"/>
            <a:ext cx="885015" cy="885015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 flipH="1" rot="5400000">
            <a:off x="635155" y="7549740"/>
            <a:ext cx="884700" cy="8847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 flipH="1" rot="8100000">
            <a:off x="634963" y="7549374"/>
            <a:ext cx="885015" cy="885015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 flipH="1" rot="10800000">
            <a:off x="634941" y="7549496"/>
            <a:ext cx="885000" cy="8850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 flipH="1" rot="-8100000">
            <a:off x="634944" y="7549490"/>
            <a:ext cx="885015" cy="885015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 flipH="1" rot="-5400000">
            <a:off x="634901" y="7549573"/>
            <a:ext cx="884700" cy="8847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 flipH="1" rot="-2700000">
            <a:off x="634779" y="7549624"/>
            <a:ext cx="885015" cy="885015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20"/>
          <p:cNvCxnSpPr/>
          <p:nvPr/>
        </p:nvCxnSpPr>
        <p:spPr>
          <a:xfrm rot="10800000">
            <a:off x="1291014" y="7788998"/>
            <a:ext cx="0" cy="40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20"/>
          <p:cNvSpPr/>
          <p:nvPr/>
        </p:nvSpPr>
        <p:spPr>
          <a:xfrm rot="5400000">
            <a:off x="1053047" y="7969696"/>
            <a:ext cx="49500" cy="44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 flipH="1">
            <a:off x="1229608" y="7734353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 flipH="1">
            <a:off x="1229608" y="7999201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flipH="1">
            <a:off x="1074985" y="8141506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706235" y="7767079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706235" y="7972751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860858" y="8141506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flipH="1">
            <a:off x="1074981" y="7593085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859702" y="7593085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0"/>
          <p:cNvGrpSpPr/>
          <p:nvPr/>
        </p:nvGrpSpPr>
        <p:grpSpPr>
          <a:xfrm>
            <a:off x="1505838" y="7369344"/>
            <a:ext cx="1230184" cy="1230044"/>
            <a:chOff x="1502704" y="2293958"/>
            <a:chExt cx="2197150" cy="2196900"/>
          </a:xfrm>
        </p:grpSpPr>
        <p:sp>
          <p:nvSpPr>
            <p:cNvPr id="221" name="Google Shape;221;p20"/>
            <p:cNvSpPr/>
            <p:nvPr/>
          </p:nvSpPr>
          <p:spPr>
            <a:xfrm flipH="1">
              <a:off x="1814123" y="2606453"/>
              <a:ext cx="1572600" cy="157260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22" name="Google Shape;222;p20"/>
            <p:cNvSpPr/>
            <p:nvPr/>
          </p:nvSpPr>
          <p:spPr>
            <a:xfrm flipH="1" rot="4320031">
              <a:off x="1813539" y="2606224"/>
              <a:ext cx="1572773" cy="1572773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23" name="Google Shape;223;p20"/>
            <p:cNvSpPr/>
            <p:nvPr/>
          </p:nvSpPr>
          <p:spPr>
            <a:xfrm flipH="1" rot="8639756">
              <a:off x="1814675" y="2606457"/>
              <a:ext cx="1572360" cy="157236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24" name="Google Shape;224;p20"/>
            <p:cNvSpPr/>
            <p:nvPr/>
          </p:nvSpPr>
          <p:spPr>
            <a:xfrm flipH="1" rot="-8639611">
              <a:off x="1815015" y="2606019"/>
              <a:ext cx="1572779" cy="1572779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1813258" y="2606453"/>
              <a:ext cx="1572600" cy="157260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26" name="Google Shape;226;p20"/>
            <p:cNvSpPr txBox="1"/>
            <p:nvPr/>
          </p:nvSpPr>
          <p:spPr>
            <a:xfrm flipH="1">
              <a:off x="2872931" y="3369250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 txBox="1"/>
            <p:nvPr/>
          </p:nvSpPr>
          <p:spPr>
            <a:xfrm flipH="1">
              <a:off x="2405359" y="3748426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 txBox="1"/>
            <p:nvPr/>
          </p:nvSpPr>
          <p:spPr>
            <a:xfrm flipH="1">
              <a:off x="1935123" y="3369250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 txBox="1"/>
            <p:nvPr/>
          </p:nvSpPr>
          <p:spPr>
            <a:xfrm flipH="1">
              <a:off x="2104224" y="2860823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 txBox="1"/>
            <p:nvPr/>
          </p:nvSpPr>
          <p:spPr>
            <a:xfrm flipH="1">
              <a:off x="2703852" y="2860823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1" name="Google Shape;231;p20"/>
          <p:cNvSpPr txBox="1"/>
          <p:nvPr/>
        </p:nvSpPr>
        <p:spPr>
          <a:xfrm>
            <a:off x="1609152" y="8452266"/>
            <a:ext cx="10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2" name="Google Shape;232;p20"/>
          <p:cNvGrpSpPr/>
          <p:nvPr/>
        </p:nvGrpSpPr>
        <p:grpSpPr>
          <a:xfrm rot="-5400000">
            <a:off x="1901651" y="7757515"/>
            <a:ext cx="438829" cy="49535"/>
            <a:chOff x="1078387" y="4053082"/>
            <a:chExt cx="576723" cy="65100"/>
          </a:xfrm>
        </p:grpSpPr>
        <p:cxnSp>
          <p:nvCxnSpPr>
            <p:cNvPr id="233" name="Google Shape;233;p20"/>
            <p:cNvCxnSpPr/>
            <p:nvPr/>
          </p:nvCxnSpPr>
          <p:spPr>
            <a:xfrm rot="10800000">
              <a:off x="1388111" y="381867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4" name="Google Shape;234;p20"/>
            <p:cNvSpPr/>
            <p:nvPr/>
          </p:nvSpPr>
          <p:spPr>
            <a:xfrm rot="5400000">
              <a:off x="1075237" y="405623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35" name="Google Shape;235;p20"/>
          <p:cNvCxnSpPr>
            <a:endCxn id="231" idx="3"/>
          </p:cNvCxnSpPr>
          <p:nvPr/>
        </p:nvCxnSpPr>
        <p:spPr>
          <a:xfrm flipH="1">
            <a:off x="2633052" y="6043266"/>
            <a:ext cx="10200" cy="2501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0"/>
          <p:cNvSpPr txBox="1"/>
          <p:nvPr/>
        </p:nvSpPr>
        <p:spPr>
          <a:xfrm>
            <a:off x="3488738" y="6691387"/>
            <a:ext cx="21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2769273" y="7710640"/>
            <a:ext cx="706800" cy="84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0"/>
          <p:cNvCxnSpPr/>
          <p:nvPr/>
        </p:nvCxnSpPr>
        <p:spPr>
          <a:xfrm flipH="1" rot="10800000">
            <a:off x="2769273" y="6853970"/>
            <a:ext cx="706800" cy="84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0"/>
          <p:cNvCxnSpPr/>
          <p:nvPr/>
        </p:nvCxnSpPr>
        <p:spPr>
          <a:xfrm>
            <a:off x="2769273" y="7701770"/>
            <a:ext cx="700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0"/>
          <p:cNvSpPr txBox="1"/>
          <p:nvPr/>
        </p:nvSpPr>
        <p:spPr>
          <a:xfrm>
            <a:off x="3488738" y="7535521"/>
            <a:ext cx="21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3488738" y="8408386"/>
            <a:ext cx="21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2736163" y="6093400"/>
            <a:ext cx="434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Modify this probability tree so that it shows the sample space and probability of each outcome of this trial happening.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690827" y="7079575"/>
            <a:ext cx="140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probability of the outcome C Q happening?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8}&quot;&gt;&lt;mfrac&gt;&lt;mn&gt;4&lt;/mn&gt;&lt;mn&gt;8&lt;/mn&gt;&lt;/mfrac&gt;&lt;/math&gt;" id="244" name="Google Shape;244;p20" title="four eigh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91772" y="6805894"/>
            <a:ext cx="100191" cy="333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245" name="Google Shape;245;p20" title="one eigh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91779" y="7361557"/>
            <a:ext cx="100191" cy="331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246" name="Google Shape;246;p20" title="three eigh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91773" y="8202643"/>
            <a:ext cx="100191" cy="331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Calculating theoretical probabilities from probability trees (two events)</a:t>
            </a:r>
            <a:endParaRPr/>
          </a:p>
        </p:txBody>
      </p:sp>
      <p:grpSp>
        <p:nvGrpSpPr>
          <p:cNvPr id="252" name="Google Shape;252;p21"/>
          <p:cNvGrpSpPr/>
          <p:nvPr/>
        </p:nvGrpSpPr>
        <p:grpSpPr>
          <a:xfrm>
            <a:off x="5198487" y="1651152"/>
            <a:ext cx="1445405" cy="2177980"/>
            <a:chOff x="7887300" y="1859650"/>
            <a:chExt cx="932700" cy="2611800"/>
          </a:xfrm>
        </p:grpSpPr>
        <p:sp>
          <p:nvSpPr>
            <p:cNvPr id="253" name="Google Shape;253;p21"/>
            <p:cNvSpPr/>
            <p:nvPr/>
          </p:nvSpPr>
          <p:spPr>
            <a:xfrm>
              <a:off x="7889043" y="1859650"/>
              <a:ext cx="929100" cy="26118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4" name="Google Shape;254;p21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1"/>
            <p:cNvCxnSpPr/>
            <p:nvPr/>
          </p:nvCxnSpPr>
          <p:spPr>
            <a:xfrm rot="10800000">
              <a:off x="7887300" y="315830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1"/>
            <p:cNvCxnSpPr/>
            <p:nvPr/>
          </p:nvCxnSpPr>
          <p:spPr>
            <a:xfrm rot="10800000">
              <a:off x="7887300" y="3832165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7" name="Google Shape;257;p21"/>
          <p:cNvSpPr/>
          <p:nvPr/>
        </p:nvSpPr>
        <p:spPr>
          <a:xfrm>
            <a:off x="4343239" y="1651063"/>
            <a:ext cx="854700" cy="21777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391735" y="1925096"/>
            <a:ext cx="951600" cy="15144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2242998" y="2370440"/>
            <a:ext cx="10947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Lucas’ tree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68000" y="720002"/>
            <a:ext cx="17397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Lucas, Izzy, and Laura each take two flower seeds from a packet to grow.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probability of each type of flower growing is written on the packet.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034885" y="2950996"/>
            <a:ext cx="572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rose: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" name="Google Shape;2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00" y="3053003"/>
            <a:ext cx="333795" cy="590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370" y="2766906"/>
            <a:ext cx="333800" cy="588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2480809"/>
            <a:ext cx="388202" cy="5884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21"/>
          <p:cNvCxnSpPr/>
          <p:nvPr/>
        </p:nvCxnSpPr>
        <p:spPr>
          <a:xfrm>
            <a:off x="2177680" y="727498"/>
            <a:ext cx="0" cy="2955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1"/>
          <p:cNvSpPr txBox="1"/>
          <p:nvPr/>
        </p:nvSpPr>
        <p:spPr>
          <a:xfrm>
            <a:off x="846957" y="2452524"/>
            <a:ext cx="1094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violet: 80%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712053" y="3423264"/>
            <a:ext cx="1094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daisy: 90%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8" name="Google Shape;268;p21"/>
          <p:cNvGrpSpPr/>
          <p:nvPr/>
        </p:nvGrpSpPr>
        <p:grpSpPr>
          <a:xfrm>
            <a:off x="2271055" y="827652"/>
            <a:ext cx="1288953" cy="689653"/>
            <a:chOff x="3069685" y="699150"/>
            <a:chExt cx="1653140" cy="884510"/>
          </a:xfrm>
        </p:grpSpPr>
        <p:pic>
          <p:nvPicPr>
            <p:cNvPr id="269" name="Google Shape;269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069685" y="712955"/>
              <a:ext cx="688874" cy="666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1"/>
            <p:cNvSpPr txBox="1"/>
            <p:nvPr/>
          </p:nvSpPr>
          <p:spPr>
            <a:xfrm>
              <a:off x="3211357" y="1389860"/>
              <a:ext cx="547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830025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roses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4063611" y="827652"/>
            <a:ext cx="1256446" cy="689645"/>
            <a:chOff x="4989001" y="699150"/>
            <a:chExt cx="1611449" cy="884500"/>
          </a:xfrm>
        </p:grpSpPr>
        <p:pic>
          <p:nvPicPr>
            <p:cNvPr id="273" name="Google Shape;273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74773" y="835849"/>
              <a:ext cx="493551" cy="554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1"/>
            <p:cNvSpPr txBox="1"/>
            <p:nvPr/>
          </p:nvSpPr>
          <p:spPr>
            <a:xfrm>
              <a:off x="4989001" y="1389850"/>
              <a:ext cx="7854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5707050" y="699150"/>
              <a:ext cx="8934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violet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5823662" y="827652"/>
            <a:ext cx="1268671" cy="689645"/>
            <a:chOff x="6910573" y="699150"/>
            <a:chExt cx="1627127" cy="884500"/>
          </a:xfrm>
        </p:grpSpPr>
        <p:sp>
          <p:nvSpPr>
            <p:cNvPr id="277" name="Google Shape;277;p21"/>
            <p:cNvSpPr/>
            <p:nvPr/>
          </p:nvSpPr>
          <p:spPr>
            <a:xfrm>
              <a:off x="7644900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rose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78" name="Google Shape;27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42487" y="785816"/>
              <a:ext cx="499385" cy="6540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21"/>
            <p:cNvSpPr txBox="1"/>
            <p:nvPr/>
          </p:nvSpPr>
          <p:spPr>
            <a:xfrm>
              <a:off x="6910573" y="1389850"/>
              <a:ext cx="763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80" name="Google Shape;280;p21"/>
          <p:cNvCxnSpPr/>
          <p:nvPr/>
        </p:nvCxnSpPr>
        <p:spPr>
          <a:xfrm>
            <a:off x="3392126" y="2682686"/>
            <a:ext cx="567300" cy="555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1"/>
          <p:cNvCxnSpPr/>
          <p:nvPr/>
        </p:nvCxnSpPr>
        <p:spPr>
          <a:xfrm flipH="1" rot="10800000">
            <a:off x="4350463" y="1773579"/>
            <a:ext cx="4485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21"/>
          <p:cNvSpPr txBox="1"/>
          <p:nvPr/>
        </p:nvSpPr>
        <p:spPr>
          <a:xfrm>
            <a:off x="3959350" y="2015206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>
            <a:off x="4350463" y="3265378"/>
            <a:ext cx="4485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1"/>
          <p:cNvCxnSpPr/>
          <p:nvPr/>
        </p:nvCxnSpPr>
        <p:spPr>
          <a:xfrm flipH="1" rot="10800000">
            <a:off x="3392126" y="2121878"/>
            <a:ext cx="567300" cy="555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1"/>
          <p:cNvCxnSpPr/>
          <p:nvPr/>
        </p:nvCxnSpPr>
        <p:spPr>
          <a:xfrm>
            <a:off x="4350463" y="2124918"/>
            <a:ext cx="4485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1"/>
          <p:cNvCxnSpPr/>
          <p:nvPr/>
        </p:nvCxnSpPr>
        <p:spPr>
          <a:xfrm flipH="1" rot="10800000">
            <a:off x="4350463" y="2914038"/>
            <a:ext cx="4485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21"/>
          <p:cNvSpPr txBox="1"/>
          <p:nvPr/>
        </p:nvSpPr>
        <p:spPr>
          <a:xfrm>
            <a:off x="3959350" y="3109153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809562" y="1665094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809562" y="2352864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809562" y="2817028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809562" y="3504798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3391735" y="3470917"/>
            <a:ext cx="951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stage: plant the violet seed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93" name="Google Shape;293;p21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77635" y="2907588"/>
            <a:ext cx="102662" cy="3270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p21"/>
          <p:cNvCxnSpPr/>
          <p:nvPr/>
        </p:nvCxnSpPr>
        <p:spPr>
          <a:xfrm>
            <a:off x="474757" y="67256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21"/>
          <p:cNvSpPr txBox="1"/>
          <p:nvPr/>
        </p:nvSpPr>
        <p:spPr>
          <a:xfrm>
            <a:off x="4315450" y="8241470"/>
            <a:ext cx="2773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probability of the event that at least one coin lands on a heads?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67975" y="7102525"/>
            <a:ext cx="6621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 coin is flipped several times. On 45% (or 0.45 as a decimal) of trials, the coin lands on heads.				Trial: flipping this coin twice.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65050" y="6800500"/>
            <a:ext cx="6633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Probability of an event from a two-stage trial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175023" y="8012060"/>
            <a:ext cx="509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9" name="Google Shape;299;p21"/>
          <p:cNvGrpSpPr/>
          <p:nvPr/>
        </p:nvGrpSpPr>
        <p:grpSpPr>
          <a:xfrm>
            <a:off x="644540" y="8138568"/>
            <a:ext cx="509378" cy="1324765"/>
            <a:chOff x="354975" y="1421050"/>
            <a:chExt cx="2175900" cy="1431250"/>
          </a:xfrm>
        </p:grpSpPr>
        <p:cxnSp>
          <p:nvCxnSpPr>
            <p:cNvPr id="300" name="Google Shape;300;p2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2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2" name="Google Shape;302;p21"/>
          <p:cNvSpPr txBox="1"/>
          <p:nvPr/>
        </p:nvSpPr>
        <p:spPr>
          <a:xfrm>
            <a:off x="1175023" y="9334693"/>
            <a:ext cx="509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2301904" y="7736797"/>
            <a:ext cx="509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4" name="Google Shape;304;p21"/>
          <p:cNvGrpSpPr/>
          <p:nvPr/>
        </p:nvGrpSpPr>
        <p:grpSpPr>
          <a:xfrm>
            <a:off x="1654613" y="7803149"/>
            <a:ext cx="618391" cy="693870"/>
            <a:chOff x="354975" y="1421050"/>
            <a:chExt cx="2175900" cy="1431250"/>
          </a:xfrm>
        </p:grpSpPr>
        <p:cxnSp>
          <p:nvCxnSpPr>
            <p:cNvPr id="305" name="Google Shape;305;p2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2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21"/>
          <p:cNvSpPr txBox="1"/>
          <p:nvPr/>
        </p:nvSpPr>
        <p:spPr>
          <a:xfrm>
            <a:off x="2301904" y="8429453"/>
            <a:ext cx="509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2301904" y="9072552"/>
            <a:ext cx="509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9" name="Google Shape;309;p21"/>
          <p:cNvGrpSpPr/>
          <p:nvPr/>
        </p:nvGrpSpPr>
        <p:grpSpPr>
          <a:xfrm>
            <a:off x="1654613" y="9138909"/>
            <a:ext cx="618391" cy="693870"/>
            <a:chOff x="354975" y="1421050"/>
            <a:chExt cx="2175900" cy="1431250"/>
          </a:xfrm>
        </p:grpSpPr>
        <p:cxnSp>
          <p:nvCxnSpPr>
            <p:cNvPr id="310" name="Google Shape;310;p2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2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2" name="Google Shape;312;p21"/>
          <p:cNvSpPr txBox="1"/>
          <p:nvPr/>
        </p:nvSpPr>
        <p:spPr>
          <a:xfrm>
            <a:off x="2301904" y="9765209"/>
            <a:ext cx="509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89104" y="8239753"/>
            <a:ext cx="509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4" name="Google Shape;314;p21"/>
          <p:cNvGrpSpPr/>
          <p:nvPr/>
        </p:nvGrpSpPr>
        <p:grpSpPr>
          <a:xfrm>
            <a:off x="2807971" y="7663980"/>
            <a:ext cx="1167274" cy="2274371"/>
            <a:chOff x="7887300" y="1898378"/>
            <a:chExt cx="932700" cy="2534400"/>
          </a:xfrm>
        </p:grpSpPr>
        <p:sp>
          <p:nvSpPr>
            <p:cNvPr id="315" name="Google Shape;315;p21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6" name="Google Shape;316;p21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21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21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9" name="Google Shape;319;p21"/>
          <p:cNvSpPr txBox="1"/>
          <p:nvPr/>
        </p:nvSpPr>
        <p:spPr>
          <a:xfrm>
            <a:off x="2899585" y="7880121"/>
            <a:ext cx="50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2899585" y="8453962"/>
            <a:ext cx="50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2899585" y="9615883"/>
            <a:ext cx="50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2899585" y="9081377"/>
            <a:ext cx="50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489104" y="9122830"/>
            <a:ext cx="509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1679088" y="7736795"/>
            <a:ext cx="509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1679088" y="8386180"/>
            <a:ext cx="509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1679088" y="9069502"/>
            <a:ext cx="509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1679088" y="9718887"/>
            <a:ext cx="509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4315450" y="7587737"/>
            <a:ext cx="2773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What is the probability of the outcome “two heads”?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4315450" y="9094119"/>
            <a:ext cx="2773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What is the probability of the event that exactly one coin lands on a tails?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3367004" y="8388504"/>
            <a:ext cx="607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0.2475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3367004" y="9550436"/>
            <a:ext cx="607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0.3025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3367004" y="7824488"/>
            <a:ext cx="607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0.2025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3367004" y="9015916"/>
            <a:ext cx="607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0.2475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68000" y="3721575"/>
            <a:ext cx="27735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Construct three probability trees (one each for Izzy, Lucas, and Laura) which show the probabilities of their two flowers growing.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1" name="Google Shape;341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trees (two events)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grpSp>
        <p:nvGrpSpPr>
          <p:cNvPr id="344" name="Google Shape;344;p22"/>
          <p:cNvGrpSpPr/>
          <p:nvPr/>
        </p:nvGrpSpPr>
        <p:grpSpPr>
          <a:xfrm>
            <a:off x="2808538" y="1281857"/>
            <a:ext cx="1288152" cy="2275384"/>
            <a:chOff x="7887300" y="1898378"/>
            <a:chExt cx="932700" cy="2534400"/>
          </a:xfrm>
        </p:grpSpPr>
        <p:sp>
          <p:nvSpPr>
            <p:cNvPr id="345" name="Google Shape;345;p22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6" name="Google Shape;346;p22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22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22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9" name="Google Shape;349;p22"/>
          <p:cNvSpPr txBox="1"/>
          <p:nvPr/>
        </p:nvSpPr>
        <p:spPr>
          <a:xfrm>
            <a:off x="468000" y="720000"/>
            <a:ext cx="66240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 different coin is flipped several times. On 53% (or 0.53 as a decimal) of trials, the coin lands on heads.			Trial: flipping this coin twice.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1175376" y="1630134"/>
            <a:ext cx="509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1" name="Google Shape;351;p22"/>
          <p:cNvGrpSpPr/>
          <p:nvPr/>
        </p:nvGrpSpPr>
        <p:grpSpPr>
          <a:xfrm>
            <a:off x="644643" y="1756799"/>
            <a:ext cx="509596" cy="1325481"/>
            <a:chOff x="354975" y="1421050"/>
            <a:chExt cx="2175900" cy="1431250"/>
          </a:xfrm>
        </p:grpSpPr>
        <p:cxnSp>
          <p:nvCxnSpPr>
            <p:cNvPr id="352" name="Google Shape;352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4" name="Google Shape;354;p22"/>
          <p:cNvSpPr txBox="1"/>
          <p:nvPr/>
        </p:nvSpPr>
        <p:spPr>
          <a:xfrm>
            <a:off x="2302782" y="1354743"/>
            <a:ext cx="5097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5" name="Google Shape;355;p22"/>
          <p:cNvGrpSpPr/>
          <p:nvPr/>
        </p:nvGrpSpPr>
        <p:grpSpPr>
          <a:xfrm>
            <a:off x="1655178" y="1421089"/>
            <a:ext cx="618608" cy="694156"/>
            <a:chOff x="354975" y="1421050"/>
            <a:chExt cx="2175900" cy="1431250"/>
          </a:xfrm>
        </p:grpSpPr>
        <p:cxnSp>
          <p:nvCxnSpPr>
            <p:cNvPr id="356" name="Google Shape;356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8" name="Google Shape;358;p22"/>
          <p:cNvSpPr txBox="1"/>
          <p:nvPr/>
        </p:nvSpPr>
        <p:spPr>
          <a:xfrm>
            <a:off x="2302782" y="2047722"/>
            <a:ext cx="5097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489138" y="1857932"/>
            <a:ext cx="509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2900741" y="1498133"/>
            <a:ext cx="509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2900741" y="2072241"/>
            <a:ext cx="509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2900741" y="3234703"/>
            <a:ext cx="509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2900741" y="2699949"/>
            <a:ext cx="509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4317264" y="1146729"/>
            <a:ext cx="277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Event 1: landing on heads twice.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Event 2: landing on exactly one head.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5" name="Google Shape;365;p22"/>
          <p:cNvGrpSpPr/>
          <p:nvPr/>
        </p:nvGrpSpPr>
        <p:grpSpPr>
          <a:xfrm>
            <a:off x="644643" y="1756799"/>
            <a:ext cx="509596" cy="1325481"/>
            <a:chOff x="354975" y="1421050"/>
            <a:chExt cx="2175900" cy="1431250"/>
          </a:xfrm>
        </p:grpSpPr>
        <p:cxnSp>
          <p:nvCxnSpPr>
            <p:cNvPr id="366" name="Google Shape;366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8" name="Google Shape;368;p22"/>
          <p:cNvGrpSpPr/>
          <p:nvPr/>
        </p:nvGrpSpPr>
        <p:grpSpPr>
          <a:xfrm rot="-10226387">
            <a:off x="5230897" y="3754886"/>
            <a:ext cx="1103739" cy="57037"/>
            <a:chOff x="3225150" y="2619875"/>
            <a:chExt cx="2085475" cy="288900"/>
          </a:xfrm>
        </p:grpSpPr>
        <p:sp>
          <p:nvSpPr>
            <p:cNvPr id="369" name="Google Shape;369;p22"/>
            <p:cNvSpPr/>
            <p:nvPr/>
          </p:nvSpPr>
          <p:spPr>
            <a:xfrm>
              <a:off x="3225150" y="2619875"/>
              <a:ext cx="2085300" cy="288900"/>
            </a:xfrm>
            <a:prstGeom prst="roundRect">
              <a:avLst>
                <a:gd fmla="val 50000" name="adj"/>
              </a:avLst>
            </a:pr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3253350" y="2648098"/>
              <a:ext cx="232500" cy="232500"/>
            </a:xfrm>
            <a:prstGeom prst="ellipse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3285125" y="2679874"/>
              <a:ext cx="168900" cy="168900"/>
            </a:xfrm>
            <a:prstGeom prst="ellipse">
              <a:avLst/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3369625" y="2648100"/>
              <a:ext cx="1941000" cy="2325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3369508" y="2679875"/>
              <a:ext cx="1941000" cy="168900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4" name="Google Shape;3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764" y="3609514"/>
            <a:ext cx="612133" cy="64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3029" y="3650553"/>
            <a:ext cx="427420" cy="56202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 txBox="1"/>
          <p:nvPr/>
        </p:nvSpPr>
        <p:spPr>
          <a:xfrm>
            <a:off x="5939176" y="4306562"/>
            <a:ext cx="11529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4492594" y="5764560"/>
            <a:ext cx="11529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unicorn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4492594" y="4316255"/>
            <a:ext cx="11529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dragon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accuracy: 80%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453198" y="3606900"/>
            <a:ext cx="3815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Lucas is playing a video game, and needs to scare away a cowboy using either his dragon or unicorn.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probability of a character hitting their opponent is shown by their “accuracy” stat.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order for Lucas to scare away the cowboy, either Lucas’ character has to hit, or the cowboy has to miss (or both).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constructing two probability trees, find out whether the dragon or unicorn is more likely to scare away the cowboy.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6078001" y="5758444"/>
            <a:ext cx="8751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25%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4326300" y="1623825"/>
            <a:ext cx="2774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the probability tree and sample space.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4326300" y="2081700"/>
            <a:ext cx="2722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Which of these two events is more likely to happen?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by how much?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3" name="Google Shape;383;p22"/>
          <p:cNvGrpSpPr/>
          <p:nvPr/>
        </p:nvGrpSpPr>
        <p:grpSpPr>
          <a:xfrm>
            <a:off x="5065725" y="4909353"/>
            <a:ext cx="403706" cy="383819"/>
            <a:chOff x="5653584" y="3082069"/>
            <a:chExt cx="609000" cy="579000"/>
          </a:xfrm>
        </p:grpSpPr>
        <p:sp>
          <p:nvSpPr>
            <p:cNvPr id="384" name="Google Shape;384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87" name="Google Shape;38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818960" y="5086085"/>
            <a:ext cx="500005" cy="572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8117" y="5059404"/>
            <a:ext cx="427420" cy="562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22"/>
          <p:cNvGrpSpPr/>
          <p:nvPr/>
        </p:nvGrpSpPr>
        <p:grpSpPr>
          <a:xfrm>
            <a:off x="5722174" y="5090595"/>
            <a:ext cx="171860" cy="163394"/>
            <a:chOff x="5653584" y="3082069"/>
            <a:chExt cx="609000" cy="579000"/>
          </a:xfrm>
        </p:grpSpPr>
        <p:sp>
          <p:nvSpPr>
            <p:cNvPr id="390" name="Google Shape;390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22"/>
          <p:cNvGrpSpPr/>
          <p:nvPr/>
        </p:nvGrpSpPr>
        <p:grpSpPr>
          <a:xfrm>
            <a:off x="5493574" y="4861995"/>
            <a:ext cx="171860" cy="163394"/>
            <a:chOff x="5653584" y="3082069"/>
            <a:chExt cx="609000" cy="579000"/>
          </a:xfrm>
        </p:grpSpPr>
        <p:sp>
          <p:nvSpPr>
            <p:cNvPr id="394" name="Google Shape;394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7" name="Google Shape;397;p22"/>
          <p:cNvGrpSpPr/>
          <p:nvPr/>
        </p:nvGrpSpPr>
        <p:grpSpPr>
          <a:xfrm>
            <a:off x="5874574" y="4938195"/>
            <a:ext cx="171860" cy="163394"/>
            <a:chOff x="5653584" y="3082069"/>
            <a:chExt cx="609000" cy="579000"/>
          </a:xfrm>
        </p:grpSpPr>
        <p:sp>
          <p:nvSpPr>
            <p:cNvPr id="398" name="Google Shape;398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1" name="Google Shape;401;p22"/>
          <p:cNvGrpSpPr/>
          <p:nvPr/>
        </p:nvGrpSpPr>
        <p:grpSpPr>
          <a:xfrm>
            <a:off x="6026974" y="5166795"/>
            <a:ext cx="171860" cy="163394"/>
            <a:chOff x="5653584" y="3082069"/>
            <a:chExt cx="609000" cy="579000"/>
          </a:xfrm>
        </p:grpSpPr>
        <p:sp>
          <p:nvSpPr>
            <p:cNvPr id="402" name="Google Shape;402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5" name="Google Shape;405;p22"/>
          <p:cNvGrpSpPr/>
          <p:nvPr/>
        </p:nvGrpSpPr>
        <p:grpSpPr>
          <a:xfrm>
            <a:off x="6179374" y="5014395"/>
            <a:ext cx="171860" cy="163394"/>
            <a:chOff x="5653584" y="3082069"/>
            <a:chExt cx="609000" cy="579000"/>
          </a:xfrm>
        </p:grpSpPr>
        <p:sp>
          <p:nvSpPr>
            <p:cNvPr id="406" name="Google Shape;406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