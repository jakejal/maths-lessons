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857d6d8b2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857d6d8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 claim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468000" y="2640662"/>
            <a:ext cx="2064600" cy="64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1940599" y="2536345"/>
            <a:ext cx="1204500" cy="8085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2624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Analysing headlines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1753525"/>
            <a:ext cx="6624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magazine article titled “Look at the savings you would make if tax was abolished” states the figures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Correct the prices of each item without VAT.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563160" y="2767229"/>
            <a:ext cx="1473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Television costing £450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1940599" y="2536345"/>
            <a:ext cx="1204500" cy="808500"/>
          </a:xfrm>
          <a:prstGeom prst="ellipse">
            <a:avLst/>
          </a:prstGeom>
          <a:solidFill>
            <a:srgbClr val="845AD9">
              <a:alpha val="48730"/>
            </a:srgbClr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2014105" y="2706424"/>
            <a:ext cx="1088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 cost only £360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661571" y="3353679"/>
            <a:ext cx="179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(without 20% VAT)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3919094" y="2635418"/>
            <a:ext cx="2064600" cy="64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5391693" y="2531100"/>
            <a:ext cx="1204500" cy="8085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4014254" y="2761984"/>
            <a:ext cx="1473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 seat costing £180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5391693" y="2531100"/>
            <a:ext cx="1204500" cy="808500"/>
          </a:xfrm>
          <a:prstGeom prst="ellipse">
            <a:avLst/>
          </a:prstGeom>
          <a:solidFill>
            <a:srgbClr val="845AD9">
              <a:alpha val="48730"/>
            </a:srgbClr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5465199" y="2701180"/>
            <a:ext cx="1088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 cost only £171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5112665" y="3348434"/>
            <a:ext cx="1793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(without 5% VAT)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4535397"/>
            <a:ext cx="66240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raffle there is a 1 in 2180 chance of winning a prize. A headline reads “Just buy 2 tickets and increase your chance of winning by 100%”.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5088123"/>
            <a:ext cx="6624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chance of winning with one ticket, as a percentage?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5985259"/>
            <a:ext cx="6624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chance of winning with two tickets, as a percentage?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6688026"/>
            <a:ext cx="6624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percentage point difference in the percentage chance of winning between buying 1 and 2 tickets?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55723" y="7302737"/>
            <a:ext cx="66414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Explain why, although technically correct, the claim could be misleading.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55723" y="8864475"/>
            <a:ext cx="6641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trial and improvement to find how many tickets you would need to buy to increase the probability of winning to 1%.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 claim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68000" y="720000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Explain the mistake in each headline.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718622" y="1118075"/>
            <a:ext cx="6287166" cy="813294"/>
          </a:xfrm>
          <a:prstGeom prst="flowChartDocumen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36245" y="1135111"/>
            <a:ext cx="59199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“Local employment rates fell by 10% last year and 15% the previous year. In just 2 years, employment rates have fallen by 25%.”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68000" y="1113183"/>
            <a:ext cx="32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718622" y="3517225"/>
            <a:ext cx="6287166" cy="813348"/>
          </a:xfrm>
          <a:prstGeom prst="flowChartDocumen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736242" y="3587473"/>
            <a:ext cx="62871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“28% of men and 22% of women say they only clean their teeth once a day. A whopping 50% of adults are not cleaning their teeth twice a day.”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68000" y="3514202"/>
            <a:ext cx="32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714795" y="6163377"/>
            <a:ext cx="6287166" cy="844074"/>
          </a:xfrm>
          <a:prstGeom prst="flowChartDocumen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732416" y="6194135"/>
            <a:ext cx="62289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“Decrease your food expenditure by 300% a week by taking your own lunch to work (based on a takeaway lunch cost of £28 a week and home made lunch cost of £7 a week).”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464173" y="6162224"/>
            <a:ext cx="32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" name="Google Shape;139;p13"/>
          <p:cNvCxnSpPr/>
          <p:nvPr/>
        </p:nvCxnSpPr>
        <p:spPr>
          <a:xfrm>
            <a:off x="47092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 claim</a:t>
            </a:r>
            <a:endParaRPr/>
          </a:p>
        </p:txBody>
      </p:sp>
      <p:sp>
        <p:nvSpPr>
          <p:cNvPr id="147" name="Google Shape;147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</a:t>
            </a:r>
            <a:r>
              <a:rPr lang="en-GB"/>
              <a:t>and</a:t>
            </a:r>
            <a:r>
              <a:rPr lang="en-GB"/>
              <a:t> Industry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468000" y="1052483"/>
            <a:ext cx="6624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 article reads: “The average person will spend 100 000 hours on their phone in their lifetime.”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68001" y="720000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Estimating to check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468000" y="3401867"/>
            <a:ext cx="66240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Does the article’s claim sound reasonable?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68000" y="1591085"/>
            <a:ext cx="6624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Estimate how long you think the average person will spend on their phone in a lifetime. Write down any estimations you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68000" y="4162297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newspaper states that “5% of the UK has a car parked on it.”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4602083" y="7093531"/>
            <a:ext cx="2452200" cy="252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468050" y="7085342"/>
            <a:ext cx="41793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Assume the area of the UK can be modelled by the two rectangles shown. What is the approximate area of the UK?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68000" y="4425174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Estimate how many households there are in the UK.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68000" y="5245823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Estimate how many cars there are in the UK.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68000" y="6289761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Estimate how much space is taken up by these cars.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68050" y="8177787"/>
            <a:ext cx="3989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Does the newspaper’s claim seem valid?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" name="Google Shape;160;p14"/>
          <p:cNvCxnSpPr/>
          <p:nvPr/>
        </p:nvCxnSpPr>
        <p:spPr>
          <a:xfrm flipH="1">
            <a:off x="5603236" y="7452289"/>
            <a:ext cx="282000" cy="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4"/>
          <p:cNvCxnSpPr/>
          <p:nvPr/>
        </p:nvCxnSpPr>
        <p:spPr>
          <a:xfrm flipH="1">
            <a:off x="5465153" y="7455733"/>
            <a:ext cx="140700" cy="349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4"/>
          <p:cNvCxnSpPr/>
          <p:nvPr/>
        </p:nvCxnSpPr>
        <p:spPr>
          <a:xfrm>
            <a:off x="5464937" y="7799653"/>
            <a:ext cx="18300" cy="208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4"/>
          <p:cNvCxnSpPr/>
          <p:nvPr/>
        </p:nvCxnSpPr>
        <p:spPr>
          <a:xfrm>
            <a:off x="5482323" y="8003945"/>
            <a:ext cx="10200" cy="320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4"/>
          <p:cNvCxnSpPr/>
          <p:nvPr/>
        </p:nvCxnSpPr>
        <p:spPr>
          <a:xfrm flipH="1" rot="10800000">
            <a:off x="5493900" y="8124075"/>
            <a:ext cx="93900" cy="197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4"/>
          <p:cNvCxnSpPr/>
          <p:nvPr/>
        </p:nvCxnSpPr>
        <p:spPr>
          <a:xfrm>
            <a:off x="5590126" y="8121554"/>
            <a:ext cx="8100" cy="358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4"/>
          <p:cNvCxnSpPr/>
          <p:nvPr/>
        </p:nvCxnSpPr>
        <p:spPr>
          <a:xfrm flipH="1" rot="10800000">
            <a:off x="5595244" y="8441172"/>
            <a:ext cx="246000" cy="35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4"/>
          <p:cNvCxnSpPr/>
          <p:nvPr/>
        </p:nvCxnSpPr>
        <p:spPr>
          <a:xfrm>
            <a:off x="5837807" y="8440371"/>
            <a:ext cx="10500" cy="348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4"/>
          <p:cNvCxnSpPr/>
          <p:nvPr/>
        </p:nvCxnSpPr>
        <p:spPr>
          <a:xfrm rot="10800000">
            <a:off x="5664771" y="8781789"/>
            <a:ext cx="187200" cy="78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4"/>
          <p:cNvCxnSpPr/>
          <p:nvPr/>
        </p:nvCxnSpPr>
        <p:spPr>
          <a:xfrm flipH="1">
            <a:off x="5595445" y="8780280"/>
            <a:ext cx="71100" cy="426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4"/>
          <p:cNvCxnSpPr/>
          <p:nvPr/>
        </p:nvCxnSpPr>
        <p:spPr>
          <a:xfrm>
            <a:off x="5591385" y="9204604"/>
            <a:ext cx="343800" cy="10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4"/>
          <p:cNvCxnSpPr/>
          <p:nvPr/>
        </p:nvCxnSpPr>
        <p:spPr>
          <a:xfrm flipH="1">
            <a:off x="5510910" y="9213290"/>
            <a:ext cx="426000" cy="3258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4"/>
          <p:cNvCxnSpPr/>
          <p:nvPr/>
        </p:nvCxnSpPr>
        <p:spPr>
          <a:xfrm flipH="1" rot="10800000">
            <a:off x="5515132" y="9341220"/>
            <a:ext cx="1010400" cy="198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4"/>
          <p:cNvCxnSpPr/>
          <p:nvPr/>
        </p:nvCxnSpPr>
        <p:spPr>
          <a:xfrm rot="10800000">
            <a:off x="6425395" y="9222628"/>
            <a:ext cx="99300" cy="120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4"/>
          <p:cNvCxnSpPr/>
          <p:nvPr/>
        </p:nvCxnSpPr>
        <p:spPr>
          <a:xfrm flipH="1" rot="10800000">
            <a:off x="6426256" y="8948840"/>
            <a:ext cx="133500" cy="279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4"/>
          <p:cNvCxnSpPr/>
          <p:nvPr/>
        </p:nvCxnSpPr>
        <p:spPr>
          <a:xfrm rot="10800000">
            <a:off x="6354376" y="8875004"/>
            <a:ext cx="207000" cy="77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4"/>
          <p:cNvCxnSpPr/>
          <p:nvPr/>
        </p:nvCxnSpPr>
        <p:spPr>
          <a:xfrm rot="10800000">
            <a:off x="5953226" y="8142978"/>
            <a:ext cx="407400" cy="738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4"/>
          <p:cNvCxnSpPr/>
          <p:nvPr/>
        </p:nvCxnSpPr>
        <p:spPr>
          <a:xfrm flipH="1">
            <a:off x="5850955" y="8142633"/>
            <a:ext cx="110700" cy="15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4"/>
          <p:cNvCxnSpPr/>
          <p:nvPr/>
        </p:nvCxnSpPr>
        <p:spPr>
          <a:xfrm flipH="1" rot="10800000">
            <a:off x="5856259" y="7752601"/>
            <a:ext cx="205500" cy="403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4"/>
          <p:cNvCxnSpPr/>
          <p:nvPr/>
        </p:nvCxnSpPr>
        <p:spPr>
          <a:xfrm rot="10800000">
            <a:off x="5756444" y="7717422"/>
            <a:ext cx="306900" cy="37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4"/>
          <p:cNvCxnSpPr/>
          <p:nvPr/>
        </p:nvCxnSpPr>
        <p:spPr>
          <a:xfrm flipH="1" rot="10800000">
            <a:off x="5756132" y="7448949"/>
            <a:ext cx="129600" cy="272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4"/>
          <p:cNvCxnSpPr/>
          <p:nvPr/>
        </p:nvCxnSpPr>
        <p:spPr>
          <a:xfrm flipH="1" rot="10800000">
            <a:off x="5271309" y="8350596"/>
            <a:ext cx="179100" cy="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4"/>
          <p:cNvCxnSpPr/>
          <p:nvPr/>
        </p:nvCxnSpPr>
        <p:spPr>
          <a:xfrm flipH="1">
            <a:off x="5148696" y="8357423"/>
            <a:ext cx="123900" cy="186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4"/>
          <p:cNvCxnSpPr/>
          <p:nvPr/>
        </p:nvCxnSpPr>
        <p:spPr>
          <a:xfrm>
            <a:off x="5148776" y="8538575"/>
            <a:ext cx="97200" cy="1158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4"/>
          <p:cNvCxnSpPr/>
          <p:nvPr/>
        </p:nvCxnSpPr>
        <p:spPr>
          <a:xfrm flipH="1" rot="10800000">
            <a:off x="5241987" y="8567332"/>
            <a:ext cx="77100" cy="85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4"/>
          <p:cNvCxnSpPr/>
          <p:nvPr/>
        </p:nvCxnSpPr>
        <p:spPr>
          <a:xfrm>
            <a:off x="5316303" y="8568561"/>
            <a:ext cx="117900" cy="124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4"/>
          <p:cNvCxnSpPr/>
          <p:nvPr/>
        </p:nvCxnSpPr>
        <p:spPr>
          <a:xfrm flipH="1" rot="10800000">
            <a:off x="5429404" y="8544463"/>
            <a:ext cx="127200" cy="151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4"/>
          <p:cNvCxnSpPr/>
          <p:nvPr/>
        </p:nvCxnSpPr>
        <p:spPr>
          <a:xfrm rot="10800000">
            <a:off x="5448479" y="8348537"/>
            <a:ext cx="107400" cy="202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4"/>
          <p:cNvCxnSpPr/>
          <p:nvPr/>
        </p:nvCxnSpPr>
        <p:spPr>
          <a:xfrm flipH="1" rot="10800000">
            <a:off x="5364285" y="7308519"/>
            <a:ext cx="660000" cy="108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89" name="Google Shape;189;p14"/>
          <p:cNvCxnSpPr/>
          <p:nvPr/>
        </p:nvCxnSpPr>
        <p:spPr>
          <a:xfrm>
            <a:off x="6128422" y="7397516"/>
            <a:ext cx="316800" cy="198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0" name="Google Shape;190;p14"/>
          <p:cNvCxnSpPr/>
          <p:nvPr/>
        </p:nvCxnSpPr>
        <p:spPr>
          <a:xfrm>
            <a:off x="5161805" y="8728709"/>
            <a:ext cx="303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1" name="Google Shape;191;p14"/>
          <p:cNvCxnSpPr/>
          <p:nvPr/>
        </p:nvCxnSpPr>
        <p:spPr>
          <a:xfrm rot="10800000">
            <a:off x="5080543" y="8362480"/>
            <a:ext cx="0" cy="28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2" name="Google Shape;192;p14"/>
          <p:cNvSpPr txBox="1"/>
          <p:nvPr/>
        </p:nvSpPr>
        <p:spPr>
          <a:xfrm>
            <a:off x="5401472" y="7116694"/>
            <a:ext cx="6339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220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6302630" y="8079161"/>
            <a:ext cx="789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1000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5188945" y="8759402"/>
            <a:ext cx="3438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150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4665559" y="8361852"/>
            <a:ext cx="368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4"/>
          <p:cNvSpPr/>
          <p:nvPr/>
        </p:nvSpPr>
        <p:spPr>
          <a:xfrm rot="-539228">
            <a:off x="5533754" y="7430948"/>
            <a:ext cx="677923" cy="2037713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154129" y="8363025"/>
            <a:ext cx="343800" cy="283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