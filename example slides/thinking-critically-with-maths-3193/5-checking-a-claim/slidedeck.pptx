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6F3249-BBC3-455E-94E9-BE214F79662F}">
  <a:tblStyle styleId="{396F3249-BBC3-455E-94E9-BE214F79662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f5262f34be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f5262f34be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f5262f34b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f5262f34b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2f5262f34b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2f5262f34b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2f5262f34b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2f5262f34b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2f5262f34b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2f5262f34b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2f5262f34b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2f5262f34b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2f5262f34be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2f5262f34be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f5262f34be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f5262f34be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2f5262f34b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2f5262f34be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2f5262f34be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2f5262f34b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2f5262f34be_0_1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2f5262f34be_0_1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f5262f34be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2f5262f34be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2f5262f34be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2f5262f34be_0_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2f5262f34be_0_1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2f5262f34be_0_1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2f5262f34be_0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2f5262f34be_0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2f5262f34be_0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2f5262f34be_0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f5262f34be_0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f5262f34be_0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2f5262f34be_0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2f5262f34be_0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2f5262f34b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2f5262f34b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2f5262f34be_0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2f5262f34be_0_1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f5262f34be_0_1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f5262f34be_0_1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2f5262f34be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2f5262f34be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2f5262f34be_0_1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2f5262f34be_0_1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2f5262f34be_0_1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2f5262f34be_0_1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2f5262f34be_0_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2f5262f34be_0_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2f5262f34be_0_1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2" name="Google Shape;1172;g2f5262f34be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2f5262f34be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8" name="Google Shape;1188;g2f5262f34be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2f5262f34be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2f5262f34be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2f5262f34be_0_1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2f5262f34be_0_1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2f5262f34be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2f5262f34be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2f5262f34be_0_1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2f5262f34be_0_1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2f5262f34be_0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2" name="Google Shape;1252;g2f5262f34be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2f5262f34be_0_1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2f5262f34be_0_1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2f5262f34be_0_1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2" name="Google Shape;1272;g2f5262f34be_0_1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2f5262f34be_0_1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2f5262f34be_0_1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2f5262f34be_0_1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2f5262f34be_0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2f5262f34be_0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6" name="Google Shape;1336;g2f5262f34be_0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2f5262f34be_0_1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9" name="Google Shape;1349;g2f5262f34be_0_1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2f5262f34be_0_1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2f5262f34be_0_1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7.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2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28.png"/><Relationship Id="rId5"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28.png"/><Relationship Id="rId5"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3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25.png"/><Relationship Id="rId5" Type="http://schemas.openxmlformats.org/officeDocument/2006/relationships/image" Target="../media/image2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2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34.png"/><Relationship Id="rId6" Type="http://schemas.openxmlformats.org/officeDocument/2006/relationships/image" Target="../media/image36.png"/><Relationship Id="rId7"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image" Target="../media/image81.png"/><Relationship Id="rId5" Type="http://schemas.openxmlformats.org/officeDocument/2006/relationships/image" Target="../media/image40.png"/><Relationship Id="rId6" Type="http://schemas.openxmlformats.org/officeDocument/2006/relationships/image" Target="../media/image42.png"/><Relationship Id="rId7" Type="http://schemas.openxmlformats.org/officeDocument/2006/relationships/image" Target="../media/image3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81.png"/><Relationship Id="rId4" Type="http://schemas.openxmlformats.org/officeDocument/2006/relationships/image" Target="../media/image39.png"/><Relationship Id="rId9" Type="http://schemas.openxmlformats.org/officeDocument/2006/relationships/image" Target="../media/image31.png"/><Relationship Id="rId5" Type="http://schemas.openxmlformats.org/officeDocument/2006/relationships/image" Target="../media/image38.png"/><Relationship Id="rId6" Type="http://schemas.openxmlformats.org/officeDocument/2006/relationships/image" Target="../media/image45.png"/><Relationship Id="rId7" Type="http://schemas.openxmlformats.org/officeDocument/2006/relationships/image" Target="../media/image40.png"/><Relationship Id="rId8" Type="http://schemas.openxmlformats.org/officeDocument/2006/relationships/image" Target="../media/image4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81.png"/><Relationship Id="rId4" Type="http://schemas.openxmlformats.org/officeDocument/2006/relationships/image" Target="../media/image44.png"/><Relationship Id="rId11" Type="http://schemas.openxmlformats.org/officeDocument/2006/relationships/image" Target="../media/image31.png"/><Relationship Id="rId10" Type="http://schemas.openxmlformats.org/officeDocument/2006/relationships/image" Target="../media/image56.png"/><Relationship Id="rId9" Type="http://schemas.openxmlformats.org/officeDocument/2006/relationships/image" Target="../media/image42.png"/><Relationship Id="rId5" Type="http://schemas.openxmlformats.org/officeDocument/2006/relationships/image" Target="../media/image39.png"/><Relationship Id="rId6" Type="http://schemas.openxmlformats.org/officeDocument/2006/relationships/image" Target="../media/image38.png"/><Relationship Id="rId7" Type="http://schemas.openxmlformats.org/officeDocument/2006/relationships/image" Target="../media/image45.png"/><Relationship Id="rId8" Type="http://schemas.openxmlformats.org/officeDocument/2006/relationships/image" Target="../media/image4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0.png"/><Relationship Id="rId4" Type="http://schemas.openxmlformats.org/officeDocument/2006/relationships/image" Target="../media/image5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0.png"/><Relationship Id="rId4" Type="http://schemas.openxmlformats.org/officeDocument/2006/relationships/image" Target="../media/image5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0.png"/><Relationship Id="rId4" Type="http://schemas.openxmlformats.org/officeDocument/2006/relationships/image" Target="../media/image5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49.png"/><Relationship Id="rId4" Type="http://schemas.openxmlformats.org/officeDocument/2006/relationships/image" Target="../media/image5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4.png"/><Relationship Id="rId4" Type="http://schemas.openxmlformats.org/officeDocument/2006/relationships/image" Target="../media/image5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5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6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68.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8.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7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70.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7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70.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832" name="Shape 832"/>
        <p:cNvGrpSpPr/>
        <p:nvPr/>
      </p:nvGrpSpPr>
      <p:grpSpPr>
        <a:xfrm>
          <a:off x="0" y="0"/>
          <a:ext cx="0" cy="0"/>
          <a:chOff x="0" y="0"/>
          <a:chExt cx="0" cy="0"/>
        </a:xfrm>
      </p:grpSpPr>
      <p:sp>
        <p:nvSpPr>
          <p:cNvPr id="833" name="Google Shape;833;p7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7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35" name="Google Shape;835;p7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36" name="Google Shape;836;p7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7" name="Google Shape;837;p7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8" name="Google Shape;838;p7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1.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6.xml"/><Relationship Id="rId3" Type="http://schemas.openxmlformats.org/officeDocument/2006/relationships/image" Target="../media/image71.png"/><Relationship Id="rId4" Type="http://schemas.openxmlformats.org/officeDocument/2006/relationships/image" Target="../media/image7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8.xml"/><Relationship Id="rId3" Type="http://schemas.openxmlformats.org/officeDocument/2006/relationships/image" Target="../media/image79.png"/><Relationship Id="rId4" Type="http://schemas.openxmlformats.org/officeDocument/2006/relationships/image" Target="../media/image7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 Id="rId3" Type="http://schemas.openxmlformats.org/officeDocument/2006/relationships/image" Target="../media/image6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5.xml"/><Relationship Id="rId3" Type="http://schemas.openxmlformats.org/officeDocument/2006/relationships/image" Target="../media/image78.png"/><Relationship Id="rId4" Type="http://schemas.openxmlformats.org/officeDocument/2006/relationships/image" Target="../media/image7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image" Target="../media/image80.png"/><Relationship Id="rId4" Type="http://schemas.openxmlformats.org/officeDocument/2006/relationships/image" Target="../media/image7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6.xml"/><Relationship Id="rId3" Type="http://schemas.openxmlformats.org/officeDocument/2006/relationships/image" Target="../media/image7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2.xml"/><Relationship Id="rId3" Type="http://schemas.openxmlformats.org/officeDocument/2006/relationships/image" Target="../media/image7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4.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a claim</a:t>
            </a:r>
            <a:endParaRPr/>
          </a:p>
        </p:txBody>
      </p:sp>
      <p:sp>
        <p:nvSpPr>
          <p:cNvPr id="844" name="Google Shape;844;p74"/>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Thinking critically with maths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8" name="Shape 848"/>
        <p:cNvGrpSpPr/>
        <p:nvPr/>
      </p:nvGrpSpPr>
      <p:grpSpPr>
        <a:xfrm>
          <a:off x="0" y="0"/>
          <a:ext cx="0" cy="0"/>
          <a:chOff x="0" y="0"/>
          <a:chExt cx="0" cy="0"/>
        </a:xfrm>
      </p:grpSpPr>
      <p:sp>
        <p:nvSpPr>
          <p:cNvPr id="849" name="Google Shape;849;p75"/>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analyse a claim using estimation to assess validity.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7"/>
          <p:cNvSpPr txBox="1"/>
          <p:nvPr>
            <p:ph idx="1" type="subTitle"/>
          </p:nvPr>
        </p:nvSpPr>
        <p:spPr>
          <a:xfrm>
            <a:off x="324000" y="1122750"/>
            <a:ext cx="8496000" cy="99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GB" sz="2000">
                <a:solidFill>
                  <a:schemeClr val="dk1"/>
                </a:solidFill>
              </a:rPr>
              <a:t>The probability that an event will occur is the proportion of times the event is expected to happen in a suitably large experiment. </a:t>
            </a:r>
            <a:endParaRPr b="0" sz="2000">
              <a:solidFill>
                <a:schemeClr val="dk1"/>
              </a:solidFill>
            </a:endParaRPr>
          </a:p>
        </p:txBody>
      </p:sp>
      <p:sp>
        <p:nvSpPr>
          <p:cNvPr id="860" name="Google Shape;860;p77"/>
          <p:cNvSpPr txBox="1"/>
          <p:nvPr>
            <p:ph idx="1" type="subTitle"/>
          </p:nvPr>
        </p:nvSpPr>
        <p:spPr>
          <a:xfrm>
            <a:off x="324000" y="2494350"/>
            <a:ext cx="8496000" cy="99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GB" sz="2000">
                <a:solidFill>
                  <a:schemeClr val="dk1"/>
                </a:solidFill>
              </a:rPr>
              <a:t>To estimate is to find a value that is close enough to the right answer, usually with some thought or calculation involved. </a:t>
            </a:r>
            <a:endParaRPr b="0"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866" name="Google Shape;866;p7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867" name="Google Shape;867;p7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a claim</a:t>
            </a:r>
            <a:endParaRPr/>
          </a:p>
        </p:txBody>
      </p:sp>
      <p:pic>
        <p:nvPicPr>
          <p:cNvPr id="868" name="Google Shape;868;p78"/>
          <p:cNvPicPr preferRelativeResize="0"/>
          <p:nvPr/>
        </p:nvPicPr>
        <p:blipFill>
          <a:blip r:embed="rId3">
            <a:alphaModFix/>
          </a:blip>
          <a:stretch>
            <a:fillRect/>
          </a:stretch>
        </p:blipFill>
        <p:spPr>
          <a:xfrm>
            <a:off x="416825"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874" name="Google Shape;874;p79"/>
          <p:cNvSpPr txBox="1"/>
          <p:nvPr>
            <p:ph idx="1" type="body"/>
          </p:nvPr>
        </p:nvSpPr>
        <p:spPr>
          <a:xfrm>
            <a:off x="324000" y="810000"/>
            <a:ext cx="8496000" cy="87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Articles and adverts often use statistics to influence opinion.</a:t>
            </a:r>
            <a:endParaRPr sz="2000"/>
          </a:p>
          <a:p>
            <a:pPr indent="0" lvl="0" marL="0" rtl="0" algn="l">
              <a:spcBef>
                <a:spcPts val="1000"/>
              </a:spcBef>
              <a:spcAft>
                <a:spcPts val="1000"/>
              </a:spcAft>
              <a:buNone/>
            </a:pPr>
            <a:r>
              <a:rPr lang="en-GB" sz="2000"/>
              <a:t>It is important that you verify these as they are not always correct. </a:t>
            </a:r>
            <a:endParaRPr sz="1800"/>
          </a:p>
        </p:txBody>
      </p:sp>
      <p:sp>
        <p:nvSpPr>
          <p:cNvPr id="875" name="Google Shape;875;p79"/>
          <p:cNvSpPr txBox="1"/>
          <p:nvPr>
            <p:ph idx="1" type="body"/>
          </p:nvPr>
        </p:nvSpPr>
        <p:spPr>
          <a:xfrm>
            <a:off x="324000" y="1780350"/>
            <a:ext cx="8496000" cy="49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newspaper headline states: </a:t>
            </a:r>
            <a:r>
              <a:rPr lang="en-GB" sz="2000"/>
              <a:t> </a:t>
            </a:r>
            <a:endParaRPr sz="1800"/>
          </a:p>
        </p:txBody>
      </p:sp>
      <p:sp>
        <p:nvSpPr>
          <p:cNvPr id="876" name="Google Shape;876;p79"/>
          <p:cNvSpPr/>
          <p:nvPr/>
        </p:nvSpPr>
        <p:spPr>
          <a:xfrm>
            <a:off x="478475" y="2227950"/>
            <a:ext cx="5868774" cy="1240974"/>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7" name="Google Shape;877;p79"/>
          <p:cNvSpPr txBox="1"/>
          <p:nvPr>
            <p:ph idx="1" type="body"/>
          </p:nvPr>
        </p:nvSpPr>
        <p:spPr>
          <a:xfrm>
            <a:off x="523675" y="2277700"/>
            <a:ext cx="58236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“Removing the 20% </a:t>
            </a:r>
            <a:r>
              <a:rPr lang="en-GB" sz="2100"/>
              <a:t>clothes</a:t>
            </a:r>
            <a:r>
              <a:rPr lang="en-GB" sz="2100"/>
              <a:t> tax will mean an average spend of £400 a year will decrease to £320”</a:t>
            </a:r>
            <a:r>
              <a:rPr lang="en-GB" sz="2100"/>
              <a:t>  </a:t>
            </a:r>
            <a:endParaRPr sz="1900"/>
          </a:p>
        </p:txBody>
      </p:sp>
      <p:sp>
        <p:nvSpPr>
          <p:cNvPr id="878" name="Google Shape;878;p79"/>
          <p:cNvSpPr txBox="1"/>
          <p:nvPr>
            <p:ph idx="1" type="body"/>
          </p:nvPr>
        </p:nvSpPr>
        <p:spPr>
          <a:xfrm>
            <a:off x="324000" y="3674650"/>
            <a:ext cx="8496000" cy="49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Is this claim correct? </a:t>
            </a:r>
            <a:r>
              <a:rPr lang="en-GB" sz="2000"/>
              <a:t>  </a:t>
            </a:r>
            <a:endParaRPr sz="1800"/>
          </a:p>
        </p:txBody>
      </p:sp>
      <p:sp>
        <p:nvSpPr>
          <p:cNvPr id="879" name="Google Shape;879;p79"/>
          <p:cNvSpPr txBox="1"/>
          <p:nvPr>
            <p:ph idx="1" type="body"/>
          </p:nvPr>
        </p:nvSpPr>
        <p:spPr>
          <a:xfrm>
            <a:off x="324000" y="4074300"/>
            <a:ext cx="8496000" cy="49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No, the author has incorrectly calculated the amount before a percentage increase. </a:t>
            </a:r>
            <a:r>
              <a:rPr lang="en-GB" sz="2000">
                <a:latin typeface="Kalam"/>
                <a:ea typeface="Kalam"/>
                <a:cs typeface="Kalam"/>
                <a:sym typeface="Kalam"/>
              </a:rPr>
              <a:t>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885" name="Google Shape;885;p80"/>
          <p:cNvSpPr/>
          <p:nvPr/>
        </p:nvSpPr>
        <p:spPr>
          <a:xfrm>
            <a:off x="324000" y="810000"/>
            <a:ext cx="5868774" cy="1240974"/>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6" name="Google Shape;886;p80"/>
          <p:cNvSpPr txBox="1"/>
          <p:nvPr>
            <p:ph idx="1" type="body"/>
          </p:nvPr>
        </p:nvSpPr>
        <p:spPr>
          <a:xfrm>
            <a:off x="369200" y="859750"/>
            <a:ext cx="58236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“Removing the 20% clothes tax will mean an average spend of £400 a year will decrease to £320”  </a:t>
            </a:r>
            <a:endParaRPr sz="1900"/>
          </a:p>
        </p:txBody>
      </p:sp>
      <p:sp>
        <p:nvSpPr>
          <p:cNvPr id="887" name="Google Shape;887;p80"/>
          <p:cNvSpPr txBox="1"/>
          <p:nvPr>
            <p:ph idx="1" type="body"/>
          </p:nvPr>
        </p:nvSpPr>
        <p:spPr>
          <a:xfrm>
            <a:off x="324000" y="2160000"/>
            <a:ext cx="8496000" cy="49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If the value of the </a:t>
            </a:r>
            <a:r>
              <a:rPr lang="en-GB" sz="2000"/>
              <a:t>clothes</a:t>
            </a:r>
            <a:r>
              <a:rPr lang="en-GB" sz="2000"/>
              <a:t> without tax was £320 then with 20% tax this would cost 320 × 1.2 = £384  (not £400).</a:t>
            </a:r>
            <a:r>
              <a:rPr lang="en-GB" sz="2000"/>
              <a:t>   </a:t>
            </a:r>
            <a:endParaRPr sz="1800"/>
          </a:p>
        </p:txBody>
      </p:sp>
      <p:sp>
        <p:nvSpPr>
          <p:cNvPr id="888" name="Google Shape;888;p80"/>
          <p:cNvSpPr txBox="1"/>
          <p:nvPr>
            <p:ph idx="1" type="body"/>
          </p:nvPr>
        </p:nvSpPr>
        <p:spPr>
          <a:xfrm>
            <a:off x="324000" y="3146700"/>
            <a:ext cx="8496000" cy="49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To calculate the cost of a £400 clothes shop without 20% tax we could use a proportion table. </a:t>
            </a:r>
            <a:r>
              <a:rPr lang="en-GB" sz="2000"/>
              <a:t>  </a:t>
            </a:r>
            <a:endParaRPr sz="1800"/>
          </a:p>
        </p:txBody>
      </p:sp>
      <p:sp>
        <p:nvSpPr>
          <p:cNvPr id="889" name="Google Shape;889;p80"/>
          <p:cNvSpPr/>
          <p:nvPr/>
        </p:nvSpPr>
        <p:spPr>
          <a:xfrm flipH="1" rot="-5400000">
            <a:off x="3799350" y="4097314"/>
            <a:ext cx="439800" cy="320700"/>
          </a:xfrm>
          <a:prstGeom prst="arc">
            <a:avLst>
              <a:gd fmla="val 10729459" name="adj1"/>
              <a:gd fmla="val 194289"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0" name="Google Shape;890;p80"/>
          <p:cNvSpPr/>
          <p:nvPr/>
        </p:nvSpPr>
        <p:spPr>
          <a:xfrm rot="5400000">
            <a:off x="7864950" y="4081864"/>
            <a:ext cx="439800" cy="351600"/>
          </a:xfrm>
          <a:prstGeom prst="arc">
            <a:avLst>
              <a:gd fmla="val 10729459" name="adj1"/>
              <a:gd fmla="val 194289"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891" name="Google Shape;891;p80"/>
          <p:cNvGraphicFramePr/>
          <p:nvPr/>
        </p:nvGraphicFramePr>
        <p:xfrm>
          <a:off x="4112325" y="3612963"/>
          <a:ext cx="3000000" cy="3000000"/>
        </p:xfrm>
        <a:graphic>
          <a:graphicData uri="http://schemas.openxmlformats.org/drawingml/2006/table">
            <a:tbl>
              <a:tblPr>
                <a:noFill/>
                <a:tableStyleId>{396F3249-BBC3-455E-94E9-BE214F79662F}</a:tableStyleId>
              </a:tblPr>
              <a:tblGrid>
                <a:gridCol w="1935750"/>
                <a:gridCol w="1935750"/>
              </a:tblGrid>
              <a:tr h="321250">
                <a:tc>
                  <a:txBody>
                    <a:bodyPr/>
                    <a:lstStyle/>
                    <a:p>
                      <a:pPr indent="0" lvl="0" marL="0" rtl="0" algn="ctr">
                        <a:spcBef>
                          <a:spcPts val="0"/>
                        </a:spcBef>
                        <a:spcAft>
                          <a:spcPts val="0"/>
                        </a:spcAft>
                        <a:buNone/>
                      </a:pPr>
                      <a:r>
                        <a:rPr lang="en-GB" sz="2000">
                          <a:solidFill>
                            <a:srgbClr val="FFFFFF"/>
                          </a:solidFill>
                          <a:latin typeface="Lexend"/>
                          <a:ea typeface="Lexend"/>
                          <a:cs typeface="Lexend"/>
                          <a:sym typeface="Lexend"/>
                        </a:rPr>
                        <a:t>%</a:t>
                      </a:r>
                      <a:endParaRPr sz="2000">
                        <a:solidFill>
                          <a:srgbClr val="FFFFFF"/>
                        </a:solidFill>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2000">
                          <a:solidFill>
                            <a:srgbClr val="FFFFFF"/>
                          </a:solidFill>
                          <a:latin typeface="Lexend"/>
                          <a:ea typeface="Lexend"/>
                          <a:cs typeface="Lexend"/>
                          <a:sym typeface="Lexend"/>
                        </a:rPr>
                        <a:t>Cost</a:t>
                      </a:r>
                      <a:endParaRPr sz="1900">
                        <a:solidFill>
                          <a:srgbClr val="FFFFFF"/>
                        </a:solidFill>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r>
              <a:tr h="321250">
                <a:tc>
                  <a:txBody>
                    <a:bodyPr/>
                    <a:lstStyle/>
                    <a:p>
                      <a:pPr indent="0" lvl="0" marL="0" rtl="0" algn="ctr">
                        <a:spcBef>
                          <a:spcPts val="0"/>
                        </a:spcBef>
                        <a:spcAft>
                          <a:spcPts val="0"/>
                        </a:spcAft>
                        <a:buNone/>
                      </a:pPr>
                      <a:r>
                        <a:rPr lang="en-GB" sz="2000">
                          <a:latin typeface="Lexend"/>
                          <a:ea typeface="Lexend"/>
                          <a:cs typeface="Lexend"/>
                          <a:sym typeface="Lexend"/>
                        </a:rPr>
                        <a:t>120</a:t>
                      </a:r>
                      <a:endParaRPr sz="20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£400</a:t>
                      </a:r>
                      <a:endParaRPr sz="20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21250">
                <a:tc>
                  <a:txBody>
                    <a:bodyPr/>
                    <a:lstStyle/>
                    <a:p>
                      <a:pPr indent="0" lvl="0" marL="0" rtl="0" algn="ctr">
                        <a:spcBef>
                          <a:spcPts val="0"/>
                        </a:spcBef>
                        <a:spcAft>
                          <a:spcPts val="0"/>
                        </a:spcAft>
                        <a:buNone/>
                      </a:pPr>
                      <a:r>
                        <a:rPr lang="en-GB" sz="2000">
                          <a:latin typeface="Lexend"/>
                          <a:ea typeface="Lexend"/>
                          <a:cs typeface="Lexend"/>
                          <a:sym typeface="Lexend"/>
                        </a:rPr>
                        <a:t>100</a:t>
                      </a:r>
                      <a:endParaRPr sz="20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892" name="Google Shape;892;p80"/>
          <p:cNvSpPr txBox="1"/>
          <p:nvPr/>
        </p:nvSpPr>
        <p:spPr>
          <a:xfrm>
            <a:off x="3254250" y="4054725"/>
            <a:ext cx="5286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1.2</a:t>
            </a:r>
            <a:endParaRPr sz="1800">
              <a:solidFill>
                <a:srgbClr val="000000"/>
              </a:solidFill>
              <a:latin typeface="Lexend"/>
              <a:ea typeface="Lexend"/>
              <a:cs typeface="Lexend"/>
              <a:sym typeface="Lexend"/>
            </a:endParaRPr>
          </a:p>
        </p:txBody>
      </p:sp>
      <p:sp>
        <p:nvSpPr>
          <p:cNvPr id="893" name="Google Shape;893;p80"/>
          <p:cNvSpPr txBox="1"/>
          <p:nvPr/>
        </p:nvSpPr>
        <p:spPr>
          <a:xfrm>
            <a:off x="8309475" y="4054725"/>
            <a:ext cx="5286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1.2</a:t>
            </a:r>
            <a:endParaRPr sz="1800">
              <a:solidFill>
                <a:srgbClr val="000000"/>
              </a:solidFill>
              <a:latin typeface="Lexend"/>
              <a:ea typeface="Lexend"/>
              <a:cs typeface="Lexend"/>
              <a:sym typeface="Lexend"/>
            </a:endParaRPr>
          </a:p>
        </p:txBody>
      </p:sp>
      <p:sp>
        <p:nvSpPr>
          <p:cNvPr id="894" name="Google Shape;894;p80"/>
          <p:cNvSpPr/>
          <p:nvPr/>
        </p:nvSpPr>
        <p:spPr>
          <a:xfrm>
            <a:off x="6048075" y="4274100"/>
            <a:ext cx="1935600" cy="30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rgbClr val="000000"/>
                </a:solidFill>
                <a:latin typeface="Lexend"/>
                <a:ea typeface="Lexend"/>
                <a:cs typeface="Lexend"/>
                <a:sym typeface="Lexend"/>
              </a:rPr>
              <a:t>£</a:t>
            </a:r>
            <a:r>
              <a:rPr lang="en-GB" sz="2000">
                <a:latin typeface="Lexend"/>
                <a:ea typeface="Lexend"/>
                <a:cs typeface="Lexend"/>
                <a:sym typeface="Lexend"/>
              </a:rPr>
              <a:t>333.33</a:t>
            </a:r>
            <a:endParaRPr sz="20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900" name="Google Shape;900;p81"/>
          <p:cNvSpPr txBox="1"/>
          <p:nvPr>
            <p:ph idx="1" type="body"/>
          </p:nvPr>
        </p:nvSpPr>
        <p:spPr>
          <a:xfrm>
            <a:off x="324000" y="810000"/>
            <a:ext cx="8496000" cy="348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Another </a:t>
            </a:r>
            <a:r>
              <a:rPr lang="en-GB" sz="2000"/>
              <a:t>article</a:t>
            </a:r>
            <a:r>
              <a:rPr lang="en-GB" sz="2000"/>
              <a:t> states: </a:t>
            </a:r>
            <a:r>
              <a:rPr lang="en-GB" sz="2000"/>
              <a:t> </a:t>
            </a:r>
            <a:endParaRPr sz="1800"/>
          </a:p>
        </p:txBody>
      </p:sp>
      <p:sp>
        <p:nvSpPr>
          <p:cNvPr id="901" name="Google Shape;901;p81"/>
          <p:cNvSpPr/>
          <p:nvPr/>
        </p:nvSpPr>
        <p:spPr>
          <a:xfrm>
            <a:off x="388025" y="1254575"/>
            <a:ext cx="7821198" cy="1105866"/>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2" name="Google Shape;902;p81"/>
          <p:cNvSpPr txBox="1"/>
          <p:nvPr>
            <p:ph idx="1" type="body"/>
          </p:nvPr>
        </p:nvSpPr>
        <p:spPr>
          <a:xfrm>
            <a:off x="433200" y="1290575"/>
            <a:ext cx="7776000" cy="87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“It is 188% cheaper to live in Oakfield than Acorndale”*</a:t>
            </a:r>
            <a:endParaRPr/>
          </a:p>
          <a:p>
            <a:pPr indent="0" lvl="0" marL="0" rtl="0" algn="l">
              <a:spcBef>
                <a:spcPts val="1000"/>
              </a:spcBef>
              <a:spcAft>
                <a:spcPts val="1000"/>
              </a:spcAft>
              <a:buNone/>
            </a:pPr>
            <a:r>
              <a:rPr lang="en-GB" sz="1800"/>
              <a:t>*Based on respective average house prices of £180 000 and £520 000</a:t>
            </a:r>
            <a:r>
              <a:rPr lang="en-GB"/>
              <a:t>  </a:t>
            </a:r>
            <a:endParaRPr/>
          </a:p>
        </p:txBody>
      </p:sp>
      <p:sp>
        <p:nvSpPr>
          <p:cNvPr id="903" name="Google Shape;903;p81"/>
          <p:cNvSpPr txBox="1"/>
          <p:nvPr>
            <p:ph idx="1" type="body"/>
          </p:nvPr>
        </p:nvSpPr>
        <p:spPr>
          <a:xfrm>
            <a:off x="323988" y="2428100"/>
            <a:ext cx="8496000" cy="49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Is this claim correct?   </a:t>
            </a:r>
            <a:endParaRPr sz="1800"/>
          </a:p>
        </p:txBody>
      </p:sp>
      <p:sp>
        <p:nvSpPr>
          <p:cNvPr id="904" name="Google Shape;904;p81"/>
          <p:cNvSpPr txBox="1"/>
          <p:nvPr>
            <p:ph idx="1" type="body"/>
          </p:nvPr>
        </p:nvSpPr>
        <p:spPr>
          <a:xfrm>
            <a:off x="2975413" y="2428100"/>
            <a:ext cx="5844600" cy="348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phrasing of this percentage saving is misleading. </a:t>
            </a:r>
            <a:r>
              <a:rPr lang="en-GB" sz="2000">
                <a:latin typeface="Kalam"/>
                <a:ea typeface="Kalam"/>
                <a:cs typeface="Kalam"/>
                <a:sym typeface="Kalam"/>
              </a:rPr>
              <a:t>   </a:t>
            </a:r>
            <a:endParaRPr sz="2000">
              <a:latin typeface="Kalam"/>
              <a:ea typeface="Kalam"/>
              <a:cs typeface="Kalam"/>
              <a:sym typeface="Kalam"/>
            </a:endParaRPr>
          </a:p>
        </p:txBody>
      </p:sp>
      <p:sp>
        <p:nvSpPr>
          <p:cNvPr id="905" name="Google Shape;905;p81"/>
          <p:cNvSpPr txBox="1"/>
          <p:nvPr/>
        </p:nvSpPr>
        <p:spPr>
          <a:xfrm>
            <a:off x="485175" y="4059613"/>
            <a:ext cx="1406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180 000</a:t>
            </a:r>
            <a:endParaRPr sz="2000">
              <a:solidFill>
                <a:srgbClr val="000000"/>
              </a:solidFill>
              <a:latin typeface="Kalam"/>
              <a:ea typeface="Kalam"/>
              <a:cs typeface="Kalam"/>
              <a:sym typeface="Kalam"/>
            </a:endParaRPr>
          </a:p>
        </p:txBody>
      </p:sp>
      <p:sp>
        <p:nvSpPr>
          <p:cNvPr id="906" name="Google Shape;906;p81"/>
          <p:cNvSpPr txBox="1"/>
          <p:nvPr/>
        </p:nvSpPr>
        <p:spPr>
          <a:xfrm>
            <a:off x="2457225" y="4059613"/>
            <a:ext cx="1406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520</a:t>
            </a:r>
            <a:r>
              <a:rPr lang="en-GB" sz="2000">
                <a:latin typeface="Kalam"/>
                <a:ea typeface="Kalam"/>
                <a:cs typeface="Kalam"/>
                <a:sym typeface="Kalam"/>
              </a:rPr>
              <a:t> 000</a:t>
            </a:r>
            <a:endParaRPr sz="2000">
              <a:solidFill>
                <a:srgbClr val="000000"/>
              </a:solidFill>
              <a:latin typeface="Kalam"/>
              <a:ea typeface="Kalam"/>
              <a:cs typeface="Kalam"/>
              <a:sym typeface="Kalam"/>
            </a:endParaRPr>
          </a:p>
        </p:txBody>
      </p:sp>
      <p:sp>
        <p:nvSpPr>
          <p:cNvPr id="907" name="Google Shape;907;p81"/>
          <p:cNvSpPr/>
          <p:nvPr/>
        </p:nvSpPr>
        <p:spPr>
          <a:xfrm>
            <a:off x="1001800" y="3704088"/>
            <a:ext cx="1764300" cy="613500"/>
          </a:xfrm>
          <a:prstGeom prst="arc">
            <a:avLst>
              <a:gd fmla="val 10729459" name="adj1"/>
              <a:gd fmla="val 194289"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8" name="Google Shape;908;p81"/>
          <p:cNvSpPr txBox="1"/>
          <p:nvPr/>
        </p:nvSpPr>
        <p:spPr>
          <a:xfrm>
            <a:off x="485175" y="3341850"/>
            <a:ext cx="3270600" cy="40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solidFill>
                  <a:schemeClr val="dk1"/>
                </a:solidFill>
                <a:latin typeface="Kalam"/>
                <a:ea typeface="Kalam"/>
                <a:cs typeface="Kalam"/>
                <a:sym typeface="Kalam"/>
              </a:rPr>
              <a:t>× 2.888… or ≈ 189% increase</a:t>
            </a:r>
            <a:endParaRPr sz="2000">
              <a:solidFill>
                <a:srgbClr val="000000"/>
              </a:solidFill>
              <a:latin typeface="Kalam"/>
              <a:ea typeface="Kalam"/>
              <a:cs typeface="Kalam"/>
              <a:sym typeface="Kalam"/>
            </a:endParaRPr>
          </a:p>
        </p:txBody>
      </p:sp>
      <p:sp>
        <p:nvSpPr>
          <p:cNvPr id="909" name="Google Shape;909;p81"/>
          <p:cNvSpPr txBox="1"/>
          <p:nvPr/>
        </p:nvSpPr>
        <p:spPr>
          <a:xfrm>
            <a:off x="4320000" y="4059613"/>
            <a:ext cx="1406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520 000</a:t>
            </a:r>
            <a:endParaRPr sz="2000">
              <a:solidFill>
                <a:srgbClr val="000000"/>
              </a:solidFill>
              <a:latin typeface="Kalam"/>
              <a:ea typeface="Kalam"/>
              <a:cs typeface="Kalam"/>
              <a:sym typeface="Kalam"/>
            </a:endParaRPr>
          </a:p>
        </p:txBody>
      </p:sp>
      <p:sp>
        <p:nvSpPr>
          <p:cNvPr id="910" name="Google Shape;910;p81"/>
          <p:cNvSpPr txBox="1"/>
          <p:nvPr/>
        </p:nvSpPr>
        <p:spPr>
          <a:xfrm>
            <a:off x="6286575" y="4059613"/>
            <a:ext cx="1406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180 000</a:t>
            </a:r>
            <a:endParaRPr sz="2000">
              <a:solidFill>
                <a:srgbClr val="000000"/>
              </a:solidFill>
              <a:latin typeface="Kalam"/>
              <a:ea typeface="Kalam"/>
              <a:cs typeface="Kalam"/>
              <a:sym typeface="Kalam"/>
            </a:endParaRPr>
          </a:p>
        </p:txBody>
      </p:sp>
      <p:sp>
        <p:nvSpPr>
          <p:cNvPr id="911" name="Google Shape;911;p81"/>
          <p:cNvSpPr/>
          <p:nvPr/>
        </p:nvSpPr>
        <p:spPr>
          <a:xfrm>
            <a:off x="4765125" y="3662413"/>
            <a:ext cx="1764300" cy="613500"/>
          </a:xfrm>
          <a:prstGeom prst="arc">
            <a:avLst>
              <a:gd fmla="val 10729459" name="adj1"/>
              <a:gd fmla="val 194289"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2" name="Google Shape;912;p81"/>
          <p:cNvSpPr txBox="1"/>
          <p:nvPr/>
        </p:nvSpPr>
        <p:spPr>
          <a:xfrm>
            <a:off x="4320000" y="3298200"/>
            <a:ext cx="3342300" cy="40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 0.346… or ≈ 65% decrease</a:t>
            </a:r>
            <a:endParaRPr sz="2000">
              <a:solidFill>
                <a:srgbClr val="000000"/>
              </a:solidFill>
              <a:latin typeface="Kalam"/>
              <a:ea typeface="Kalam"/>
              <a:cs typeface="Kalam"/>
              <a:sym typeface="Kalam"/>
            </a:endParaRPr>
          </a:p>
        </p:txBody>
      </p:sp>
      <p:sp>
        <p:nvSpPr>
          <p:cNvPr id="913" name="Google Shape;913;p81"/>
          <p:cNvSpPr txBox="1"/>
          <p:nvPr>
            <p:ph idx="1" type="body"/>
          </p:nvPr>
        </p:nvSpPr>
        <p:spPr>
          <a:xfrm>
            <a:off x="324000" y="4518350"/>
            <a:ext cx="8496000" cy="348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Moving to Oakfield would be a saving of 65%</a:t>
            </a:r>
            <a:r>
              <a:rPr lang="en-GB" sz="2000">
                <a:latin typeface="Kalam"/>
                <a:ea typeface="Kalam"/>
                <a:cs typeface="Kalam"/>
                <a:sym typeface="Kalam"/>
              </a:rPr>
              <a:t>    </a:t>
            </a:r>
            <a:endParaRPr sz="2000">
              <a:latin typeface="Kalam"/>
              <a:ea typeface="Kalam"/>
              <a:cs typeface="Kalam"/>
              <a:sym typeface="Kalam"/>
            </a:endParaRPr>
          </a:p>
        </p:txBody>
      </p:sp>
      <p:sp>
        <p:nvSpPr>
          <p:cNvPr id="914" name="Google Shape;914;p81"/>
          <p:cNvSpPr txBox="1"/>
          <p:nvPr>
            <p:ph idx="1" type="body"/>
          </p:nvPr>
        </p:nvSpPr>
        <p:spPr>
          <a:xfrm>
            <a:off x="324006" y="2828338"/>
            <a:ext cx="8648400" cy="348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It is not possible for something to be over 100% cheaper.</a:t>
            </a:r>
            <a:r>
              <a:rPr lang="en-GB" sz="2000">
                <a:latin typeface="Kalam"/>
                <a:ea typeface="Kalam"/>
                <a:cs typeface="Kalam"/>
                <a:sym typeface="Kalam"/>
              </a:rPr>
              <a:t>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920" name="Google Shape;920;p82"/>
          <p:cNvSpPr txBox="1"/>
          <p:nvPr>
            <p:ph idx="1" type="body"/>
          </p:nvPr>
        </p:nvSpPr>
        <p:spPr>
          <a:xfrm>
            <a:off x="324000" y="810000"/>
            <a:ext cx="84960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Another area of percentages which can be misleading is when percentages are compared.</a:t>
            </a:r>
            <a:endParaRPr sz="1800"/>
          </a:p>
        </p:txBody>
      </p:sp>
      <p:sp>
        <p:nvSpPr>
          <p:cNvPr id="921" name="Google Shape;921;p82"/>
          <p:cNvSpPr txBox="1"/>
          <p:nvPr>
            <p:ph idx="1" type="body"/>
          </p:nvPr>
        </p:nvSpPr>
        <p:spPr>
          <a:xfrm>
            <a:off x="324000" y="1620000"/>
            <a:ext cx="8496000" cy="49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Have a look at this claim</a:t>
            </a:r>
            <a:r>
              <a:rPr lang="en-GB" sz="2000"/>
              <a:t>:  </a:t>
            </a:r>
            <a:endParaRPr sz="1800"/>
          </a:p>
        </p:txBody>
      </p:sp>
      <p:sp>
        <p:nvSpPr>
          <p:cNvPr id="922" name="Google Shape;922;p82"/>
          <p:cNvSpPr/>
          <p:nvPr/>
        </p:nvSpPr>
        <p:spPr>
          <a:xfrm>
            <a:off x="478475" y="1999350"/>
            <a:ext cx="5868774" cy="1105812"/>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3" name="Google Shape;923;p82"/>
          <p:cNvSpPr txBox="1"/>
          <p:nvPr>
            <p:ph idx="1" type="body"/>
          </p:nvPr>
        </p:nvSpPr>
        <p:spPr>
          <a:xfrm>
            <a:off x="501063" y="2035350"/>
            <a:ext cx="58236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“Spending on public services only expected to rise by 5%” (from 18% to 23% of budget) </a:t>
            </a:r>
            <a:endParaRPr sz="1900"/>
          </a:p>
        </p:txBody>
      </p:sp>
      <p:sp>
        <p:nvSpPr>
          <p:cNvPr id="924" name="Google Shape;924;p82"/>
          <p:cNvSpPr txBox="1"/>
          <p:nvPr>
            <p:ph idx="1" type="body"/>
          </p:nvPr>
        </p:nvSpPr>
        <p:spPr>
          <a:xfrm>
            <a:off x="324000" y="3356875"/>
            <a:ext cx="8496000" cy="39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Is this claim correct?   </a:t>
            </a:r>
            <a:endParaRPr sz="1800"/>
          </a:p>
        </p:txBody>
      </p:sp>
      <p:sp>
        <p:nvSpPr>
          <p:cNvPr id="925" name="Google Shape;925;p82"/>
          <p:cNvSpPr txBox="1"/>
          <p:nvPr>
            <p:ph idx="1" type="body"/>
          </p:nvPr>
        </p:nvSpPr>
        <p:spPr>
          <a:xfrm>
            <a:off x="324000" y="3756175"/>
            <a:ext cx="8496000" cy="33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misinterpretation here comes from understanding percentage change. </a:t>
            </a:r>
            <a:r>
              <a:rPr lang="en-GB" sz="2000">
                <a:latin typeface="Kalam"/>
                <a:ea typeface="Kalam"/>
                <a:cs typeface="Kalam"/>
                <a:sym typeface="Kalam"/>
              </a:rPr>
              <a:t>   </a:t>
            </a:r>
            <a:endParaRPr sz="2000">
              <a:latin typeface="Kalam"/>
              <a:ea typeface="Kalam"/>
              <a:cs typeface="Kalam"/>
              <a:sym typeface="Kalam"/>
            </a:endParaRPr>
          </a:p>
        </p:txBody>
      </p:sp>
      <p:sp>
        <p:nvSpPr>
          <p:cNvPr id="926" name="Google Shape;926;p82"/>
          <p:cNvSpPr txBox="1"/>
          <p:nvPr>
            <p:ph idx="1" type="body"/>
          </p:nvPr>
        </p:nvSpPr>
        <p:spPr>
          <a:xfrm>
            <a:off x="324000" y="4213375"/>
            <a:ext cx="8496000" cy="33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percentage points have increased by 5% but the amount spent has not.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932" name="Google Shape;932;p83"/>
          <p:cNvSpPr/>
          <p:nvPr/>
        </p:nvSpPr>
        <p:spPr>
          <a:xfrm>
            <a:off x="324000" y="810000"/>
            <a:ext cx="5868774" cy="1240974"/>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3" name="Google Shape;933;p83"/>
          <p:cNvSpPr txBox="1"/>
          <p:nvPr>
            <p:ph idx="1" type="body"/>
          </p:nvPr>
        </p:nvSpPr>
        <p:spPr>
          <a:xfrm>
            <a:off x="346588" y="846000"/>
            <a:ext cx="58236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“Spending on public services only expected to rise by 5%” (from 18% to 23% </a:t>
            </a:r>
            <a:r>
              <a:rPr lang="en-GB" sz="2100"/>
              <a:t>of budget</a:t>
            </a:r>
            <a:r>
              <a:rPr lang="en-GB" sz="2100"/>
              <a:t>) </a:t>
            </a:r>
            <a:endParaRPr sz="1900"/>
          </a:p>
        </p:txBody>
      </p:sp>
      <p:sp>
        <p:nvSpPr>
          <p:cNvPr id="934" name="Google Shape;934;p83"/>
          <p:cNvSpPr txBox="1"/>
          <p:nvPr>
            <p:ph idx="1" type="body"/>
          </p:nvPr>
        </p:nvSpPr>
        <p:spPr>
          <a:xfrm>
            <a:off x="324000" y="2160000"/>
            <a:ext cx="8496000" cy="39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For example, if the budget was £100 then the spending has increased from £18 to £23</a:t>
            </a:r>
            <a:r>
              <a:rPr lang="en-GB" sz="2000"/>
              <a:t>   </a:t>
            </a:r>
            <a:endParaRPr sz="1800"/>
          </a:p>
        </p:txBody>
      </p:sp>
      <p:sp>
        <p:nvSpPr>
          <p:cNvPr id="935" name="Google Shape;935;p83"/>
          <p:cNvSpPr txBox="1"/>
          <p:nvPr/>
        </p:nvSpPr>
        <p:spPr>
          <a:xfrm>
            <a:off x="760075" y="3682913"/>
            <a:ext cx="1406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18</a:t>
            </a:r>
            <a:endParaRPr sz="2000">
              <a:solidFill>
                <a:srgbClr val="000000"/>
              </a:solidFill>
              <a:latin typeface="Kalam"/>
              <a:ea typeface="Kalam"/>
              <a:cs typeface="Kalam"/>
              <a:sym typeface="Kalam"/>
            </a:endParaRPr>
          </a:p>
        </p:txBody>
      </p:sp>
      <p:sp>
        <p:nvSpPr>
          <p:cNvPr id="936" name="Google Shape;936;p83"/>
          <p:cNvSpPr txBox="1"/>
          <p:nvPr/>
        </p:nvSpPr>
        <p:spPr>
          <a:xfrm>
            <a:off x="2046325" y="3682913"/>
            <a:ext cx="1406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23</a:t>
            </a:r>
            <a:endParaRPr sz="2000">
              <a:solidFill>
                <a:srgbClr val="000000"/>
              </a:solidFill>
              <a:latin typeface="Kalam"/>
              <a:ea typeface="Kalam"/>
              <a:cs typeface="Kalam"/>
              <a:sym typeface="Kalam"/>
            </a:endParaRPr>
          </a:p>
        </p:txBody>
      </p:sp>
      <p:sp>
        <p:nvSpPr>
          <p:cNvPr id="937" name="Google Shape;937;p83"/>
          <p:cNvSpPr/>
          <p:nvPr/>
        </p:nvSpPr>
        <p:spPr>
          <a:xfrm>
            <a:off x="971900" y="3327400"/>
            <a:ext cx="1143900" cy="613500"/>
          </a:xfrm>
          <a:prstGeom prst="arc">
            <a:avLst>
              <a:gd fmla="val 10729459" name="adj1"/>
              <a:gd fmla="val 194289"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8" name="Google Shape;938;p83"/>
          <p:cNvSpPr txBox="1"/>
          <p:nvPr/>
        </p:nvSpPr>
        <p:spPr>
          <a:xfrm>
            <a:off x="1218600" y="2965150"/>
            <a:ext cx="827700" cy="40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 1.28 </a:t>
            </a:r>
            <a:endParaRPr sz="2000">
              <a:solidFill>
                <a:srgbClr val="000000"/>
              </a:solidFill>
              <a:latin typeface="Kalam"/>
              <a:ea typeface="Kalam"/>
              <a:cs typeface="Kalam"/>
              <a:sym typeface="Kalam"/>
            </a:endParaRPr>
          </a:p>
        </p:txBody>
      </p:sp>
      <p:sp>
        <p:nvSpPr>
          <p:cNvPr id="939" name="Google Shape;939;p83"/>
          <p:cNvSpPr txBox="1"/>
          <p:nvPr/>
        </p:nvSpPr>
        <p:spPr>
          <a:xfrm>
            <a:off x="2887200" y="3431200"/>
            <a:ext cx="5220300" cy="40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This is an actual percentage increase of ≈ 28%</a:t>
            </a:r>
            <a:r>
              <a:rPr lang="en-GB" sz="2000">
                <a:solidFill>
                  <a:schemeClr val="dk1"/>
                </a:solidFill>
                <a:latin typeface="Kalam"/>
                <a:ea typeface="Kalam"/>
                <a:cs typeface="Kalam"/>
                <a:sym typeface="Kalam"/>
              </a:rPr>
              <a:t> </a:t>
            </a:r>
            <a:endParaRPr sz="2000">
              <a:solidFill>
                <a:srgbClr val="000000"/>
              </a:solidFill>
              <a:latin typeface="Kalam"/>
              <a:ea typeface="Kalam"/>
              <a:cs typeface="Kalam"/>
              <a:sym typeface="Kalam"/>
            </a:endParaRPr>
          </a:p>
        </p:txBody>
      </p:sp>
      <p:sp>
        <p:nvSpPr>
          <p:cNvPr id="940" name="Google Shape;940;p83"/>
          <p:cNvSpPr txBox="1"/>
          <p:nvPr>
            <p:ph idx="1" type="body"/>
          </p:nvPr>
        </p:nvSpPr>
        <p:spPr>
          <a:xfrm>
            <a:off x="324000" y="4105800"/>
            <a:ext cx="8496000" cy="71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percentage of the budget has gone up by 5 </a:t>
            </a:r>
            <a:r>
              <a:rPr lang="en-GB" sz="2000">
                <a:solidFill>
                  <a:schemeClr val="accent4"/>
                </a:solidFill>
              </a:rPr>
              <a:t>percentage points</a:t>
            </a:r>
            <a:r>
              <a:rPr lang="en-GB" sz="2000"/>
              <a:t> but the amount spent has increased by ≈ 28%</a:t>
            </a:r>
            <a:r>
              <a:rPr lang="en-GB" sz="20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84"/>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price of an item of clothing rose from £52 to £58. What is the percentage increase in the cost of this item?</a:t>
            </a:r>
            <a:endParaRPr/>
          </a:p>
        </p:txBody>
      </p:sp>
      <p:sp>
        <p:nvSpPr>
          <p:cNvPr id="946" name="Google Shape;946;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Analysing headlines</a:t>
            </a:r>
            <a:endParaRPr/>
          </a:p>
        </p:txBody>
      </p:sp>
      <p:sp>
        <p:nvSpPr>
          <p:cNvPr id="947" name="Google Shape;947;p84"/>
          <p:cNvSpPr txBox="1"/>
          <p:nvPr>
            <p:ph idx="1" type="body"/>
          </p:nvPr>
        </p:nvSpPr>
        <p:spPr>
          <a:xfrm>
            <a:off x="324000" y="2982550"/>
            <a:ext cx="82377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price of an item of clothing fell from £58 to £52. What is the percentage decrease in the cost of this item?</a:t>
            </a:r>
            <a:endParaRPr/>
          </a:p>
        </p:txBody>
      </p:sp>
      <p:sp>
        <p:nvSpPr>
          <p:cNvPr id="948" name="Google Shape;948;p84"/>
          <p:cNvSpPr txBox="1"/>
          <p:nvPr/>
        </p:nvSpPr>
        <p:spPr>
          <a:xfrm>
            <a:off x="324000" y="1689500"/>
            <a:ext cx="21879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58</a:t>
            </a:r>
            <a:r>
              <a:rPr lang="en-GB" sz="2000">
                <a:solidFill>
                  <a:srgbClr val="000000"/>
                </a:solidFill>
                <a:latin typeface="Kalam"/>
                <a:ea typeface="Kalam"/>
                <a:cs typeface="Kalam"/>
                <a:sym typeface="Kalam"/>
              </a:rPr>
              <a:t> ÷ </a:t>
            </a:r>
            <a:r>
              <a:rPr lang="en-GB" sz="2000">
                <a:latin typeface="Kalam"/>
                <a:ea typeface="Kalam"/>
                <a:cs typeface="Kalam"/>
                <a:sym typeface="Kalam"/>
              </a:rPr>
              <a:t>52</a:t>
            </a:r>
            <a:r>
              <a:rPr lang="en-GB" sz="2000">
                <a:solidFill>
                  <a:srgbClr val="000000"/>
                </a:solidFill>
                <a:latin typeface="Kalam"/>
                <a:ea typeface="Kalam"/>
                <a:cs typeface="Kalam"/>
                <a:sym typeface="Kalam"/>
              </a:rPr>
              <a:t> = </a:t>
            </a:r>
            <a:r>
              <a:rPr lang="en-GB" sz="2000">
                <a:latin typeface="Kalam"/>
                <a:ea typeface="Kalam"/>
                <a:cs typeface="Kalam"/>
                <a:sym typeface="Kalam"/>
              </a:rPr>
              <a:t>1.1153…</a:t>
            </a: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949" name="Google Shape;949;p84"/>
          <p:cNvSpPr txBox="1"/>
          <p:nvPr/>
        </p:nvSpPr>
        <p:spPr>
          <a:xfrm>
            <a:off x="324000" y="2160000"/>
            <a:ext cx="21879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11.5% increase</a:t>
            </a: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950" name="Google Shape;950;p84"/>
          <p:cNvSpPr txBox="1"/>
          <p:nvPr/>
        </p:nvSpPr>
        <p:spPr>
          <a:xfrm>
            <a:off x="324000" y="3843250"/>
            <a:ext cx="25632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52</a:t>
            </a:r>
            <a:r>
              <a:rPr lang="en-GB" sz="2000">
                <a:solidFill>
                  <a:srgbClr val="000000"/>
                </a:solidFill>
                <a:latin typeface="Kalam"/>
                <a:ea typeface="Kalam"/>
                <a:cs typeface="Kalam"/>
                <a:sym typeface="Kalam"/>
              </a:rPr>
              <a:t> ÷ </a:t>
            </a:r>
            <a:r>
              <a:rPr lang="en-GB" sz="2000">
                <a:latin typeface="Kalam"/>
                <a:ea typeface="Kalam"/>
                <a:cs typeface="Kalam"/>
                <a:sym typeface="Kalam"/>
              </a:rPr>
              <a:t>58</a:t>
            </a:r>
            <a:r>
              <a:rPr lang="en-GB" sz="2000">
                <a:solidFill>
                  <a:srgbClr val="000000"/>
                </a:solidFill>
                <a:latin typeface="Kalam"/>
                <a:ea typeface="Kalam"/>
                <a:cs typeface="Kalam"/>
                <a:sym typeface="Kalam"/>
              </a:rPr>
              <a:t> = </a:t>
            </a:r>
            <a:r>
              <a:rPr lang="en-GB" sz="2000">
                <a:latin typeface="Kalam"/>
                <a:ea typeface="Kalam"/>
                <a:cs typeface="Kalam"/>
                <a:sym typeface="Kalam"/>
              </a:rPr>
              <a:t>0.896551.</a:t>
            </a:r>
            <a:r>
              <a:rPr lang="en-GB" sz="2000">
                <a:latin typeface="Kalam"/>
                <a:ea typeface="Kalam"/>
                <a:cs typeface="Kalam"/>
                <a:sym typeface="Kalam"/>
              </a:rPr>
              <a:t>..</a:t>
            </a: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951" name="Google Shape;951;p84"/>
          <p:cNvSpPr txBox="1"/>
          <p:nvPr/>
        </p:nvSpPr>
        <p:spPr>
          <a:xfrm>
            <a:off x="324000" y="4313750"/>
            <a:ext cx="21879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10.3</a:t>
            </a:r>
            <a:r>
              <a:rPr lang="en-GB" sz="2000">
                <a:latin typeface="Kalam"/>
                <a:ea typeface="Kalam"/>
                <a:cs typeface="Kalam"/>
                <a:sym typeface="Kalam"/>
              </a:rPr>
              <a:t>% decrease</a:t>
            </a: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85"/>
          <p:cNvSpPr/>
          <p:nvPr/>
        </p:nvSpPr>
        <p:spPr>
          <a:xfrm>
            <a:off x="478475" y="2293700"/>
            <a:ext cx="2519400" cy="79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7" name="Google Shape;957;p85"/>
          <p:cNvSpPr/>
          <p:nvPr/>
        </p:nvSpPr>
        <p:spPr>
          <a:xfrm>
            <a:off x="2275500" y="2166400"/>
            <a:ext cx="1469700" cy="986700"/>
          </a:xfrm>
          <a:prstGeom prst="ellipse">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exend"/>
              <a:ea typeface="Lexend"/>
              <a:cs typeface="Lexend"/>
              <a:sym typeface="Lexend"/>
            </a:endParaRPr>
          </a:p>
        </p:txBody>
      </p:sp>
      <p:sp>
        <p:nvSpPr>
          <p:cNvPr id="958" name="Google Shape;958;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959" name="Google Shape;959;p85"/>
          <p:cNvSpPr txBox="1"/>
          <p:nvPr>
            <p:ph idx="1" type="body"/>
          </p:nvPr>
        </p:nvSpPr>
        <p:spPr>
          <a:xfrm>
            <a:off x="324000" y="759300"/>
            <a:ext cx="8496000" cy="132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A magazine article titled “Look at the savings you would make if tax was abolished” states the figures below.</a:t>
            </a:r>
            <a:endParaRPr/>
          </a:p>
          <a:p>
            <a:pPr indent="0" lvl="0" marL="0" rtl="0" algn="l">
              <a:spcBef>
                <a:spcPts val="1000"/>
              </a:spcBef>
              <a:spcAft>
                <a:spcPts val="1000"/>
              </a:spcAft>
              <a:buNone/>
            </a:pPr>
            <a:r>
              <a:rPr lang="en-GB"/>
              <a:t>Correct the prices of each item without VAT.  </a:t>
            </a:r>
            <a:endParaRPr/>
          </a:p>
        </p:txBody>
      </p:sp>
      <p:sp>
        <p:nvSpPr>
          <p:cNvPr id="960" name="Google Shape;960;p85"/>
          <p:cNvSpPr txBox="1"/>
          <p:nvPr/>
        </p:nvSpPr>
        <p:spPr>
          <a:xfrm>
            <a:off x="594600" y="2448150"/>
            <a:ext cx="17976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Television costing £450</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961" name="Google Shape;961;p85"/>
          <p:cNvSpPr/>
          <p:nvPr/>
        </p:nvSpPr>
        <p:spPr>
          <a:xfrm>
            <a:off x="2275500" y="2166400"/>
            <a:ext cx="1469700" cy="986700"/>
          </a:xfrm>
          <a:prstGeom prst="ellipse">
            <a:avLst/>
          </a:prstGeom>
          <a:solidFill>
            <a:srgbClr val="845AD9">
              <a:alpha val="48730"/>
            </a:srgbClr>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exend"/>
              <a:ea typeface="Lexend"/>
              <a:cs typeface="Lexend"/>
              <a:sym typeface="Lexend"/>
            </a:endParaRPr>
          </a:p>
        </p:txBody>
      </p:sp>
      <p:sp>
        <p:nvSpPr>
          <p:cNvPr id="962" name="Google Shape;962;p85"/>
          <p:cNvSpPr txBox="1"/>
          <p:nvPr/>
        </p:nvSpPr>
        <p:spPr>
          <a:xfrm>
            <a:off x="2365200" y="2373950"/>
            <a:ext cx="13278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Would cost only £360</a:t>
            </a:r>
            <a:endParaRPr sz="1800">
              <a:solidFill>
                <a:schemeClr val="dk1"/>
              </a:solidFill>
              <a:latin typeface="Lexend"/>
              <a:ea typeface="Lexend"/>
              <a:cs typeface="Lexend"/>
              <a:sym typeface="Lexend"/>
            </a:endParaRPr>
          </a:p>
        </p:txBody>
      </p:sp>
      <p:sp>
        <p:nvSpPr>
          <p:cNvPr id="963" name="Google Shape;963;p85"/>
          <p:cNvSpPr txBox="1"/>
          <p:nvPr/>
        </p:nvSpPr>
        <p:spPr>
          <a:xfrm>
            <a:off x="1935000" y="3163800"/>
            <a:ext cx="21882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(without 20% VAT)</a:t>
            </a:r>
            <a:endParaRPr sz="1800">
              <a:solidFill>
                <a:srgbClr val="000000"/>
              </a:solidFill>
              <a:latin typeface="Lexend"/>
              <a:ea typeface="Lexend"/>
              <a:cs typeface="Lexend"/>
              <a:sym typeface="Lexend"/>
            </a:endParaRPr>
          </a:p>
        </p:txBody>
      </p:sp>
      <p:sp>
        <p:nvSpPr>
          <p:cNvPr id="964" name="Google Shape;964;p85"/>
          <p:cNvSpPr/>
          <p:nvPr/>
        </p:nvSpPr>
        <p:spPr>
          <a:xfrm>
            <a:off x="4689875" y="2287300"/>
            <a:ext cx="2519400" cy="79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5" name="Google Shape;965;p85"/>
          <p:cNvSpPr/>
          <p:nvPr/>
        </p:nvSpPr>
        <p:spPr>
          <a:xfrm>
            <a:off x="6486900" y="2160000"/>
            <a:ext cx="1469700" cy="986700"/>
          </a:xfrm>
          <a:prstGeom prst="ellipse">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exend"/>
              <a:ea typeface="Lexend"/>
              <a:cs typeface="Lexend"/>
              <a:sym typeface="Lexend"/>
            </a:endParaRPr>
          </a:p>
        </p:txBody>
      </p:sp>
      <p:sp>
        <p:nvSpPr>
          <p:cNvPr id="966" name="Google Shape;966;p85"/>
          <p:cNvSpPr txBox="1"/>
          <p:nvPr/>
        </p:nvSpPr>
        <p:spPr>
          <a:xfrm>
            <a:off x="4806000" y="2441750"/>
            <a:ext cx="17976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Car seat</a:t>
            </a:r>
            <a:r>
              <a:rPr lang="en-GB" sz="1800">
                <a:latin typeface="Lexend"/>
                <a:ea typeface="Lexend"/>
                <a:cs typeface="Lexend"/>
                <a:sym typeface="Lexend"/>
              </a:rPr>
              <a:t> costing £180</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967" name="Google Shape;967;p85"/>
          <p:cNvSpPr/>
          <p:nvPr/>
        </p:nvSpPr>
        <p:spPr>
          <a:xfrm>
            <a:off x="6486900" y="2160000"/>
            <a:ext cx="1469700" cy="986700"/>
          </a:xfrm>
          <a:prstGeom prst="ellipse">
            <a:avLst/>
          </a:prstGeom>
          <a:solidFill>
            <a:srgbClr val="845AD9">
              <a:alpha val="48730"/>
            </a:srgbClr>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exend"/>
              <a:ea typeface="Lexend"/>
              <a:cs typeface="Lexend"/>
              <a:sym typeface="Lexend"/>
            </a:endParaRPr>
          </a:p>
        </p:txBody>
      </p:sp>
      <p:sp>
        <p:nvSpPr>
          <p:cNvPr id="968" name="Google Shape;968;p85"/>
          <p:cNvSpPr txBox="1"/>
          <p:nvPr/>
        </p:nvSpPr>
        <p:spPr>
          <a:xfrm>
            <a:off x="6576600" y="2367550"/>
            <a:ext cx="13278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Would cost only £171</a:t>
            </a:r>
            <a:endParaRPr sz="1800">
              <a:solidFill>
                <a:schemeClr val="dk1"/>
              </a:solidFill>
              <a:latin typeface="Lexend"/>
              <a:ea typeface="Lexend"/>
              <a:cs typeface="Lexend"/>
              <a:sym typeface="Lexend"/>
            </a:endParaRPr>
          </a:p>
        </p:txBody>
      </p:sp>
      <p:sp>
        <p:nvSpPr>
          <p:cNvPr id="969" name="Google Shape;969;p85"/>
          <p:cNvSpPr txBox="1"/>
          <p:nvPr/>
        </p:nvSpPr>
        <p:spPr>
          <a:xfrm>
            <a:off x="6146400" y="3157400"/>
            <a:ext cx="21882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(without 5% VAT)</a:t>
            </a:r>
            <a:endParaRPr sz="1800">
              <a:solidFill>
                <a:srgbClr val="000000"/>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975" name="Google Shape;975;p86"/>
          <p:cNvSpPr txBox="1"/>
          <p:nvPr>
            <p:ph idx="1" type="body"/>
          </p:nvPr>
        </p:nvSpPr>
        <p:spPr>
          <a:xfrm>
            <a:off x="324000" y="759300"/>
            <a:ext cx="8496000" cy="99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 In a raffle there is a 1 in 2180 chance of</a:t>
            </a:r>
            <a:r>
              <a:rPr lang="en-GB" sz="1900"/>
              <a:t> winning a prize</a:t>
            </a:r>
            <a:r>
              <a:rPr lang="en-GB" sz="1900"/>
              <a:t>. A headline reads “Just buy 2 tickets and increase your chance of winning by 100%”</a:t>
            </a:r>
            <a:r>
              <a:rPr lang="en-GB" sz="1900"/>
              <a:t>  </a:t>
            </a:r>
            <a:endParaRPr sz="1900"/>
          </a:p>
        </p:txBody>
      </p:sp>
      <p:sp>
        <p:nvSpPr>
          <p:cNvPr id="976" name="Google Shape;976;p86"/>
          <p:cNvSpPr txBox="1"/>
          <p:nvPr>
            <p:ph idx="4294967295" type="body"/>
          </p:nvPr>
        </p:nvSpPr>
        <p:spPr>
          <a:xfrm>
            <a:off x="324000" y="1663700"/>
            <a:ext cx="8496000" cy="39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What is the chance of winning with one ticket, as a percentage?</a:t>
            </a:r>
            <a:r>
              <a:rPr lang="en-GB" sz="1800"/>
              <a:t>  </a:t>
            </a:r>
            <a:endParaRPr sz="1800"/>
          </a:p>
        </p:txBody>
      </p:sp>
      <p:sp>
        <p:nvSpPr>
          <p:cNvPr id="977" name="Google Shape;977;p86"/>
          <p:cNvSpPr txBox="1"/>
          <p:nvPr>
            <p:ph idx="4294967295" type="body"/>
          </p:nvPr>
        </p:nvSpPr>
        <p:spPr>
          <a:xfrm>
            <a:off x="324000" y="2194425"/>
            <a:ext cx="8496000" cy="39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 What is the chance of winning with two tickets, as a percentage?  </a:t>
            </a:r>
            <a:endParaRPr sz="1800"/>
          </a:p>
        </p:txBody>
      </p:sp>
      <p:sp>
        <p:nvSpPr>
          <p:cNvPr id="978" name="Google Shape;978;p86"/>
          <p:cNvSpPr txBox="1"/>
          <p:nvPr>
            <p:ph idx="4294967295" type="body"/>
          </p:nvPr>
        </p:nvSpPr>
        <p:spPr>
          <a:xfrm>
            <a:off x="324000" y="2725150"/>
            <a:ext cx="8496000" cy="399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c</a:t>
            </a:r>
            <a:r>
              <a:rPr lang="en-GB" sz="1800"/>
              <a:t>) What is the percentage point difference in the </a:t>
            </a:r>
            <a:r>
              <a:rPr lang="en-GB" sz="1800"/>
              <a:t>percentage</a:t>
            </a:r>
            <a:r>
              <a:rPr lang="en-GB" sz="1800"/>
              <a:t> chance of winning between buying 1 and 2 tickets?</a:t>
            </a:r>
            <a:endParaRPr sz="1800"/>
          </a:p>
        </p:txBody>
      </p:sp>
      <p:sp>
        <p:nvSpPr>
          <p:cNvPr id="979" name="Google Shape;979;p86"/>
          <p:cNvSpPr txBox="1"/>
          <p:nvPr>
            <p:ph idx="4294967295" type="body"/>
          </p:nvPr>
        </p:nvSpPr>
        <p:spPr>
          <a:xfrm>
            <a:off x="324000" y="3456650"/>
            <a:ext cx="8496000" cy="399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d</a:t>
            </a:r>
            <a:r>
              <a:rPr lang="en-GB" sz="1800"/>
              <a:t>) Explain why, although technically correct, the claim could be misleading.</a:t>
            </a:r>
            <a:endParaRPr sz="1800"/>
          </a:p>
        </p:txBody>
      </p:sp>
      <p:sp>
        <p:nvSpPr>
          <p:cNvPr id="980" name="Google Shape;980;p86"/>
          <p:cNvSpPr txBox="1"/>
          <p:nvPr>
            <p:ph idx="4294967295" type="body"/>
          </p:nvPr>
        </p:nvSpPr>
        <p:spPr>
          <a:xfrm>
            <a:off x="324000" y="4015200"/>
            <a:ext cx="8496000" cy="45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e</a:t>
            </a:r>
            <a:r>
              <a:rPr lang="en-GB" sz="1800"/>
              <a:t>) Use trial and improvement to find how many tickets you would need to buy to increase the </a:t>
            </a:r>
            <a:r>
              <a:rPr lang="en-GB" sz="1800"/>
              <a:t>probability</a:t>
            </a:r>
            <a:r>
              <a:rPr lang="en-GB" sz="1800"/>
              <a:t> of winning to 1%</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8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986" name="Google Shape;986;p87"/>
          <p:cNvSpPr txBox="1"/>
          <p:nvPr>
            <p:ph idx="1" type="body"/>
          </p:nvPr>
        </p:nvSpPr>
        <p:spPr>
          <a:xfrm>
            <a:off x="324000" y="759300"/>
            <a:ext cx="8496000" cy="50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a:t>
            </a:r>
            <a:r>
              <a:rPr lang="en-GB"/>
              <a:t>) Explain the mistake in each headline.  </a:t>
            </a:r>
            <a:endParaRPr/>
          </a:p>
        </p:txBody>
      </p:sp>
      <p:sp>
        <p:nvSpPr>
          <p:cNvPr id="987" name="Google Shape;987;p87"/>
          <p:cNvSpPr/>
          <p:nvPr/>
        </p:nvSpPr>
        <p:spPr>
          <a:xfrm>
            <a:off x="645450" y="1269875"/>
            <a:ext cx="8063982" cy="1043172"/>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8" name="Google Shape;988;p87"/>
          <p:cNvSpPr txBox="1"/>
          <p:nvPr>
            <p:ph idx="4294967295" type="body"/>
          </p:nvPr>
        </p:nvSpPr>
        <p:spPr>
          <a:xfrm>
            <a:off x="668054" y="1291725"/>
            <a:ext cx="75930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“Local employment rates fell by 10% last year and 15% the previous year. In just 2 years, employment rates have fallen by 25%.” </a:t>
            </a:r>
            <a:endParaRPr sz="1600"/>
          </a:p>
        </p:txBody>
      </p:sp>
      <p:sp>
        <p:nvSpPr>
          <p:cNvPr id="989" name="Google Shape;989;p87"/>
          <p:cNvSpPr/>
          <p:nvPr/>
        </p:nvSpPr>
        <p:spPr>
          <a:xfrm>
            <a:off x="645450" y="2395525"/>
            <a:ext cx="8063982" cy="1043172"/>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0" name="Google Shape;990;p87"/>
          <p:cNvSpPr txBox="1"/>
          <p:nvPr>
            <p:ph idx="4294967295" type="body"/>
          </p:nvPr>
        </p:nvSpPr>
        <p:spPr>
          <a:xfrm>
            <a:off x="668050" y="2485625"/>
            <a:ext cx="80640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“28% of men and 22% of women say they only clean their teeth once a day. A whopping 50% of adults are not cleaning their teeth twice a day.”    </a:t>
            </a:r>
            <a:endParaRPr sz="1600"/>
          </a:p>
        </p:txBody>
      </p:sp>
      <p:sp>
        <p:nvSpPr>
          <p:cNvPr id="991" name="Google Shape;991;p87"/>
          <p:cNvSpPr/>
          <p:nvPr/>
        </p:nvSpPr>
        <p:spPr>
          <a:xfrm>
            <a:off x="645450" y="3521175"/>
            <a:ext cx="8063982" cy="1082646"/>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2" name="Google Shape;992;p87"/>
          <p:cNvSpPr txBox="1"/>
          <p:nvPr>
            <p:ph idx="4294967295" type="body"/>
          </p:nvPr>
        </p:nvSpPr>
        <p:spPr>
          <a:xfrm>
            <a:off x="668050" y="3560625"/>
            <a:ext cx="7989300" cy="940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“Decrease your food </a:t>
            </a:r>
            <a:r>
              <a:rPr lang="en-GB" sz="1800"/>
              <a:t>expenditure</a:t>
            </a:r>
            <a:r>
              <a:rPr lang="en-GB" sz="1800"/>
              <a:t> by 300% a week by taking your own lunch to work (based on a takeaway lunch cost of £28 a week and home made lunch cost of £7 a week).”</a:t>
            </a:r>
            <a:endParaRPr sz="1600"/>
          </a:p>
        </p:txBody>
      </p:sp>
      <p:sp>
        <p:nvSpPr>
          <p:cNvPr id="993" name="Google Shape;993;p87"/>
          <p:cNvSpPr txBox="1"/>
          <p:nvPr>
            <p:ph idx="1" type="body"/>
          </p:nvPr>
        </p:nvSpPr>
        <p:spPr>
          <a:xfrm>
            <a:off x="324000" y="1263600"/>
            <a:ext cx="420600" cy="50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a:t>
            </a:r>
            <a:r>
              <a:rPr lang="en-GB"/>
              <a:t>  </a:t>
            </a:r>
            <a:endParaRPr/>
          </a:p>
        </p:txBody>
      </p:sp>
      <p:sp>
        <p:nvSpPr>
          <p:cNvPr id="994" name="Google Shape;994;p87"/>
          <p:cNvSpPr txBox="1"/>
          <p:nvPr>
            <p:ph idx="1" type="body"/>
          </p:nvPr>
        </p:nvSpPr>
        <p:spPr>
          <a:xfrm>
            <a:off x="324000" y="2391648"/>
            <a:ext cx="420600" cy="50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a:t>
            </a:r>
            <a:r>
              <a:rPr lang="en-GB"/>
              <a:t>)  </a:t>
            </a:r>
            <a:endParaRPr/>
          </a:p>
        </p:txBody>
      </p:sp>
      <p:sp>
        <p:nvSpPr>
          <p:cNvPr id="995" name="Google Shape;995;p87"/>
          <p:cNvSpPr txBox="1"/>
          <p:nvPr>
            <p:ph idx="1" type="body"/>
          </p:nvPr>
        </p:nvSpPr>
        <p:spPr>
          <a:xfrm>
            <a:off x="324000" y="3519696"/>
            <a:ext cx="420600" cy="50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t>
            </a:r>
            <a:r>
              <a:rPr lang="en-GB"/>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88"/>
          <p:cNvSpPr/>
          <p:nvPr/>
        </p:nvSpPr>
        <p:spPr>
          <a:xfrm>
            <a:off x="478475" y="2293700"/>
            <a:ext cx="2519400" cy="79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1" name="Google Shape;1001;p88"/>
          <p:cNvSpPr/>
          <p:nvPr/>
        </p:nvSpPr>
        <p:spPr>
          <a:xfrm>
            <a:off x="2275500" y="2166400"/>
            <a:ext cx="1469700" cy="986700"/>
          </a:xfrm>
          <a:prstGeom prst="ellipse">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exend"/>
              <a:ea typeface="Lexend"/>
              <a:cs typeface="Lexend"/>
              <a:sym typeface="Lexend"/>
            </a:endParaRPr>
          </a:p>
        </p:txBody>
      </p:sp>
      <p:sp>
        <p:nvSpPr>
          <p:cNvPr id="1002" name="Google Shape;1002;p8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1003" name="Google Shape;1003;p88"/>
          <p:cNvSpPr txBox="1"/>
          <p:nvPr>
            <p:ph idx="1" type="body"/>
          </p:nvPr>
        </p:nvSpPr>
        <p:spPr>
          <a:xfrm>
            <a:off x="324000" y="759300"/>
            <a:ext cx="8237700" cy="127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A magazine article titled “Look at the savings you would make if tax was abolished” states the figures below.</a:t>
            </a:r>
            <a:endParaRPr/>
          </a:p>
          <a:p>
            <a:pPr indent="0" lvl="0" marL="0" rtl="0" algn="l">
              <a:spcBef>
                <a:spcPts val="1000"/>
              </a:spcBef>
              <a:spcAft>
                <a:spcPts val="1000"/>
              </a:spcAft>
              <a:buNone/>
            </a:pPr>
            <a:r>
              <a:rPr lang="en-GB"/>
              <a:t>Correct the prices of each item without VAT.  </a:t>
            </a:r>
            <a:endParaRPr/>
          </a:p>
        </p:txBody>
      </p:sp>
      <p:sp>
        <p:nvSpPr>
          <p:cNvPr id="1004" name="Google Shape;1004;p88"/>
          <p:cNvSpPr txBox="1"/>
          <p:nvPr/>
        </p:nvSpPr>
        <p:spPr>
          <a:xfrm>
            <a:off x="594600" y="2448150"/>
            <a:ext cx="17976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Television costing £450</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005" name="Google Shape;1005;p88"/>
          <p:cNvSpPr/>
          <p:nvPr/>
        </p:nvSpPr>
        <p:spPr>
          <a:xfrm>
            <a:off x="2275500" y="2166400"/>
            <a:ext cx="1469700" cy="986700"/>
          </a:xfrm>
          <a:prstGeom prst="ellipse">
            <a:avLst/>
          </a:prstGeom>
          <a:solidFill>
            <a:srgbClr val="845AD9">
              <a:alpha val="48730"/>
            </a:srgbClr>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exend"/>
              <a:ea typeface="Lexend"/>
              <a:cs typeface="Lexend"/>
              <a:sym typeface="Lexend"/>
            </a:endParaRPr>
          </a:p>
        </p:txBody>
      </p:sp>
      <p:sp>
        <p:nvSpPr>
          <p:cNvPr id="1006" name="Google Shape;1006;p88"/>
          <p:cNvSpPr txBox="1"/>
          <p:nvPr/>
        </p:nvSpPr>
        <p:spPr>
          <a:xfrm>
            <a:off x="2365200" y="2373950"/>
            <a:ext cx="13278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Would  cost only £360</a:t>
            </a:r>
            <a:endParaRPr sz="1800">
              <a:solidFill>
                <a:schemeClr val="dk1"/>
              </a:solidFill>
              <a:latin typeface="Lexend"/>
              <a:ea typeface="Lexend"/>
              <a:cs typeface="Lexend"/>
              <a:sym typeface="Lexend"/>
            </a:endParaRPr>
          </a:p>
        </p:txBody>
      </p:sp>
      <p:sp>
        <p:nvSpPr>
          <p:cNvPr id="1007" name="Google Shape;1007;p88"/>
          <p:cNvSpPr txBox="1"/>
          <p:nvPr/>
        </p:nvSpPr>
        <p:spPr>
          <a:xfrm>
            <a:off x="1935000" y="3163800"/>
            <a:ext cx="21882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(without 20% VAT)</a:t>
            </a:r>
            <a:endParaRPr sz="1800">
              <a:solidFill>
                <a:srgbClr val="000000"/>
              </a:solidFill>
              <a:latin typeface="Lexend"/>
              <a:ea typeface="Lexend"/>
              <a:cs typeface="Lexend"/>
              <a:sym typeface="Lexend"/>
            </a:endParaRPr>
          </a:p>
        </p:txBody>
      </p:sp>
      <p:sp>
        <p:nvSpPr>
          <p:cNvPr id="1008" name="Google Shape;1008;p88"/>
          <p:cNvSpPr/>
          <p:nvPr/>
        </p:nvSpPr>
        <p:spPr>
          <a:xfrm>
            <a:off x="4689875" y="2287300"/>
            <a:ext cx="2519400" cy="79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9" name="Google Shape;1009;p88"/>
          <p:cNvSpPr/>
          <p:nvPr/>
        </p:nvSpPr>
        <p:spPr>
          <a:xfrm>
            <a:off x="6486900" y="2160000"/>
            <a:ext cx="1469700" cy="986700"/>
          </a:xfrm>
          <a:prstGeom prst="ellipse">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exend"/>
              <a:ea typeface="Lexend"/>
              <a:cs typeface="Lexend"/>
              <a:sym typeface="Lexend"/>
            </a:endParaRPr>
          </a:p>
        </p:txBody>
      </p:sp>
      <p:sp>
        <p:nvSpPr>
          <p:cNvPr id="1010" name="Google Shape;1010;p88"/>
          <p:cNvSpPr txBox="1"/>
          <p:nvPr/>
        </p:nvSpPr>
        <p:spPr>
          <a:xfrm>
            <a:off x="4806000" y="2441750"/>
            <a:ext cx="17976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Car seat costing £180</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011" name="Google Shape;1011;p88"/>
          <p:cNvSpPr/>
          <p:nvPr/>
        </p:nvSpPr>
        <p:spPr>
          <a:xfrm>
            <a:off x="6486900" y="2160000"/>
            <a:ext cx="1469700" cy="986700"/>
          </a:xfrm>
          <a:prstGeom prst="ellipse">
            <a:avLst/>
          </a:prstGeom>
          <a:solidFill>
            <a:srgbClr val="845AD9">
              <a:alpha val="48730"/>
            </a:srgbClr>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exend"/>
              <a:ea typeface="Lexend"/>
              <a:cs typeface="Lexend"/>
              <a:sym typeface="Lexend"/>
            </a:endParaRPr>
          </a:p>
        </p:txBody>
      </p:sp>
      <p:sp>
        <p:nvSpPr>
          <p:cNvPr id="1012" name="Google Shape;1012;p88"/>
          <p:cNvSpPr txBox="1"/>
          <p:nvPr/>
        </p:nvSpPr>
        <p:spPr>
          <a:xfrm>
            <a:off x="6576600" y="2367550"/>
            <a:ext cx="13278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Would  cost only £171</a:t>
            </a:r>
            <a:endParaRPr sz="1800">
              <a:solidFill>
                <a:schemeClr val="dk1"/>
              </a:solidFill>
              <a:latin typeface="Lexend"/>
              <a:ea typeface="Lexend"/>
              <a:cs typeface="Lexend"/>
              <a:sym typeface="Lexend"/>
            </a:endParaRPr>
          </a:p>
        </p:txBody>
      </p:sp>
      <p:sp>
        <p:nvSpPr>
          <p:cNvPr id="1013" name="Google Shape;1013;p88"/>
          <p:cNvSpPr txBox="1"/>
          <p:nvPr/>
        </p:nvSpPr>
        <p:spPr>
          <a:xfrm>
            <a:off x="6146400" y="3157400"/>
            <a:ext cx="2188200" cy="35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(without 5% VAT)</a:t>
            </a:r>
            <a:endParaRPr sz="1800">
              <a:solidFill>
                <a:srgbClr val="000000"/>
              </a:solidFill>
              <a:latin typeface="Lexend"/>
              <a:ea typeface="Lexend"/>
              <a:cs typeface="Lexend"/>
              <a:sym typeface="Lexend"/>
            </a:endParaRPr>
          </a:p>
        </p:txBody>
      </p:sp>
      <p:sp>
        <p:nvSpPr>
          <p:cNvPr id="1014" name="Google Shape;1014;p88"/>
          <p:cNvSpPr/>
          <p:nvPr/>
        </p:nvSpPr>
        <p:spPr>
          <a:xfrm flipH="1" rot="-5400000">
            <a:off x="872125" y="4091823"/>
            <a:ext cx="364200" cy="328800"/>
          </a:xfrm>
          <a:prstGeom prst="arc">
            <a:avLst>
              <a:gd fmla="val 10729459" name="adj1"/>
              <a:gd fmla="val 194289"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015" name="Google Shape;1015;p88"/>
          <p:cNvGraphicFramePr/>
          <p:nvPr/>
        </p:nvGraphicFramePr>
        <p:xfrm>
          <a:off x="1105875" y="3687713"/>
          <a:ext cx="3000000" cy="3000000"/>
        </p:xfrm>
        <a:graphic>
          <a:graphicData uri="http://schemas.openxmlformats.org/drawingml/2006/table">
            <a:tbl>
              <a:tblPr>
                <a:noFill/>
                <a:tableStyleId>{396F3249-BBC3-455E-94E9-BE214F79662F}</a:tableStyleId>
              </a:tblPr>
              <a:tblGrid>
                <a:gridCol w="1550750"/>
                <a:gridCol w="1550750"/>
              </a:tblGrid>
              <a:tr h="264200">
                <a:tc>
                  <a:txBody>
                    <a:bodyPr/>
                    <a:lstStyle/>
                    <a:p>
                      <a:pPr indent="0" lvl="0" marL="0" rtl="0" algn="ctr">
                        <a:spcBef>
                          <a:spcPts val="0"/>
                        </a:spcBef>
                        <a:spcAft>
                          <a:spcPts val="0"/>
                        </a:spcAft>
                        <a:buNone/>
                      </a:pPr>
                      <a:r>
                        <a:rPr lang="en-GB" sz="2000">
                          <a:solidFill>
                            <a:srgbClr val="FFFFFF"/>
                          </a:solidFill>
                          <a:latin typeface="Kalam"/>
                          <a:ea typeface="Kalam"/>
                          <a:cs typeface="Kalam"/>
                          <a:sym typeface="Kalam"/>
                        </a:rPr>
                        <a:t>%</a:t>
                      </a:r>
                      <a:endParaRPr sz="2000">
                        <a:solidFill>
                          <a:srgbClr val="FFFFFF"/>
                        </a:solidFill>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2000">
                          <a:solidFill>
                            <a:srgbClr val="FFFFFF"/>
                          </a:solidFill>
                          <a:latin typeface="Kalam"/>
                          <a:ea typeface="Kalam"/>
                          <a:cs typeface="Kalam"/>
                          <a:sym typeface="Kalam"/>
                        </a:rPr>
                        <a:t>Cost</a:t>
                      </a:r>
                      <a:endParaRPr sz="2000">
                        <a:solidFill>
                          <a:srgbClr val="FFFFFF"/>
                        </a:solidFill>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r>
              <a:tr h="264200">
                <a:tc>
                  <a:txBody>
                    <a:bodyPr/>
                    <a:lstStyle/>
                    <a:p>
                      <a:pPr indent="0" lvl="0" marL="0" rtl="0" algn="ctr">
                        <a:spcBef>
                          <a:spcPts val="0"/>
                        </a:spcBef>
                        <a:spcAft>
                          <a:spcPts val="0"/>
                        </a:spcAft>
                        <a:buNone/>
                      </a:pPr>
                      <a:r>
                        <a:rPr lang="en-GB" sz="2000">
                          <a:latin typeface="Kalam"/>
                          <a:ea typeface="Kalam"/>
                          <a:cs typeface="Kalam"/>
                          <a:sym typeface="Kalam"/>
                        </a:rPr>
                        <a:t>120</a:t>
                      </a:r>
                      <a:endParaRPr sz="20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£450</a:t>
                      </a:r>
                      <a:endParaRPr sz="20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Kalam"/>
                          <a:ea typeface="Kalam"/>
                          <a:cs typeface="Kalam"/>
                          <a:sym typeface="Kalam"/>
                        </a:rPr>
                        <a:t>100</a:t>
                      </a:r>
                      <a:endParaRPr sz="20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£375</a:t>
                      </a:r>
                      <a:endParaRPr sz="20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016" name="Google Shape;1016;p88"/>
          <p:cNvSpPr txBox="1"/>
          <p:nvPr/>
        </p:nvSpPr>
        <p:spPr>
          <a:xfrm>
            <a:off x="324000" y="4053275"/>
            <a:ext cx="6279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 1.2</a:t>
            </a:r>
            <a:endParaRPr sz="2000">
              <a:solidFill>
                <a:srgbClr val="000000"/>
              </a:solidFill>
              <a:latin typeface="Kalam"/>
              <a:ea typeface="Kalam"/>
              <a:cs typeface="Kalam"/>
              <a:sym typeface="Kalam"/>
            </a:endParaRPr>
          </a:p>
        </p:txBody>
      </p:sp>
      <p:cxnSp>
        <p:nvCxnSpPr>
          <p:cNvPr id="1017" name="Google Shape;1017;p88"/>
          <p:cNvCxnSpPr/>
          <p:nvPr/>
        </p:nvCxnSpPr>
        <p:spPr>
          <a:xfrm flipH="1" rot="10800000">
            <a:off x="2825925" y="2713900"/>
            <a:ext cx="627900" cy="246600"/>
          </a:xfrm>
          <a:prstGeom prst="straightConnector1">
            <a:avLst/>
          </a:prstGeom>
          <a:noFill/>
          <a:ln cap="flat" cmpd="sng" w="19050">
            <a:solidFill>
              <a:schemeClr val="dk1"/>
            </a:solidFill>
            <a:prstDash val="solid"/>
            <a:round/>
            <a:headEnd len="med" w="med" type="none"/>
            <a:tailEnd len="med" w="med" type="none"/>
          </a:ln>
        </p:spPr>
      </p:cxnSp>
      <p:sp>
        <p:nvSpPr>
          <p:cNvPr id="1018" name="Google Shape;1018;p88"/>
          <p:cNvSpPr txBox="1"/>
          <p:nvPr/>
        </p:nvSpPr>
        <p:spPr>
          <a:xfrm>
            <a:off x="3495300" y="2713900"/>
            <a:ext cx="528600" cy="246600"/>
          </a:xfrm>
          <a:prstGeom prst="rect">
            <a:avLst/>
          </a:prstGeom>
          <a:solidFill>
            <a:schemeClr val="lt1"/>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t/>
            </a:r>
            <a:endParaRPr sz="1800">
              <a:solidFill>
                <a:srgbClr val="000000"/>
              </a:solidFill>
              <a:latin typeface="Lexend"/>
              <a:ea typeface="Lexend"/>
              <a:cs typeface="Lexend"/>
              <a:sym typeface="Lexend"/>
            </a:endParaRPr>
          </a:p>
        </p:txBody>
      </p:sp>
      <p:sp>
        <p:nvSpPr>
          <p:cNvPr id="1019" name="Google Shape;1019;p88"/>
          <p:cNvSpPr/>
          <p:nvPr/>
        </p:nvSpPr>
        <p:spPr>
          <a:xfrm flipH="1" rot="-5400000">
            <a:off x="5063125" y="4091823"/>
            <a:ext cx="364200" cy="328800"/>
          </a:xfrm>
          <a:prstGeom prst="arc">
            <a:avLst>
              <a:gd fmla="val 10729459" name="adj1"/>
              <a:gd fmla="val 194289"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020" name="Google Shape;1020;p88"/>
          <p:cNvGraphicFramePr/>
          <p:nvPr/>
        </p:nvGraphicFramePr>
        <p:xfrm>
          <a:off x="5296875" y="3687713"/>
          <a:ext cx="3000000" cy="3000000"/>
        </p:xfrm>
        <a:graphic>
          <a:graphicData uri="http://schemas.openxmlformats.org/drawingml/2006/table">
            <a:tbl>
              <a:tblPr>
                <a:noFill/>
                <a:tableStyleId>{396F3249-BBC3-455E-94E9-BE214F79662F}</a:tableStyleId>
              </a:tblPr>
              <a:tblGrid>
                <a:gridCol w="1550750"/>
                <a:gridCol w="1550750"/>
              </a:tblGrid>
              <a:tr h="264200">
                <a:tc>
                  <a:txBody>
                    <a:bodyPr/>
                    <a:lstStyle/>
                    <a:p>
                      <a:pPr indent="0" lvl="0" marL="0" rtl="0" algn="ctr">
                        <a:spcBef>
                          <a:spcPts val="0"/>
                        </a:spcBef>
                        <a:spcAft>
                          <a:spcPts val="0"/>
                        </a:spcAft>
                        <a:buNone/>
                      </a:pPr>
                      <a:r>
                        <a:rPr lang="en-GB" sz="2000">
                          <a:solidFill>
                            <a:srgbClr val="FFFFFF"/>
                          </a:solidFill>
                          <a:latin typeface="Kalam"/>
                          <a:ea typeface="Kalam"/>
                          <a:cs typeface="Kalam"/>
                          <a:sym typeface="Kalam"/>
                        </a:rPr>
                        <a:t>%</a:t>
                      </a:r>
                      <a:endParaRPr sz="2000">
                        <a:solidFill>
                          <a:srgbClr val="FFFFFF"/>
                        </a:solidFill>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2000">
                          <a:solidFill>
                            <a:srgbClr val="FFFFFF"/>
                          </a:solidFill>
                          <a:latin typeface="Kalam"/>
                          <a:ea typeface="Kalam"/>
                          <a:cs typeface="Kalam"/>
                          <a:sym typeface="Kalam"/>
                        </a:rPr>
                        <a:t>Cost</a:t>
                      </a:r>
                      <a:endParaRPr sz="2000">
                        <a:solidFill>
                          <a:srgbClr val="FFFFFF"/>
                        </a:solidFill>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r>
              <a:tr h="264200">
                <a:tc>
                  <a:txBody>
                    <a:bodyPr/>
                    <a:lstStyle/>
                    <a:p>
                      <a:pPr indent="0" lvl="0" marL="0" rtl="0" algn="ctr">
                        <a:spcBef>
                          <a:spcPts val="0"/>
                        </a:spcBef>
                        <a:spcAft>
                          <a:spcPts val="0"/>
                        </a:spcAft>
                        <a:buNone/>
                      </a:pPr>
                      <a:r>
                        <a:rPr lang="en-GB" sz="2000">
                          <a:latin typeface="Kalam"/>
                          <a:ea typeface="Kalam"/>
                          <a:cs typeface="Kalam"/>
                          <a:sym typeface="Kalam"/>
                        </a:rPr>
                        <a:t>1</a:t>
                      </a:r>
                      <a:r>
                        <a:rPr lang="en-GB" sz="2000">
                          <a:latin typeface="Kalam"/>
                          <a:ea typeface="Kalam"/>
                          <a:cs typeface="Kalam"/>
                          <a:sym typeface="Kalam"/>
                        </a:rPr>
                        <a:t>05</a:t>
                      </a:r>
                      <a:endParaRPr sz="20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£180</a:t>
                      </a:r>
                      <a:endParaRPr sz="20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Kalam"/>
                          <a:ea typeface="Kalam"/>
                          <a:cs typeface="Kalam"/>
                          <a:sym typeface="Kalam"/>
                        </a:rPr>
                        <a:t>100</a:t>
                      </a:r>
                      <a:endParaRPr sz="20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£171.43</a:t>
                      </a:r>
                      <a:endParaRPr sz="20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021" name="Google Shape;1021;p88"/>
          <p:cNvSpPr txBox="1"/>
          <p:nvPr/>
        </p:nvSpPr>
        <p:spPr>
          <a:xfrm>
            <a:off x="4351050" y="4053275"/>
            <a:ext cx="6927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 1.05</a:t>
            </a:r>
            <a:endParaRPr sz="2000">
              <a:solidFill>
                <a:srgbClr val="000000"/>
              </a:solidFill>
              <a:latin typeface="Kalam"/>
              <a:ea typeface="Kalam"/>
              <a:cs typeface="Kalam"/>
              <a:sym typeface="Kalam"/>
            </a:endParaRPr>
          </a:p>
        </p:txBody>
      </p:sp>
      <p:sp>
        <p:nvSpPr>
          <p:cNvPr id="1022" name="Google Shape;1022;p88"/>
          <p:cNvSpPr txBox="1"/>
          <p:nvPr/>
        </p:nvSpPr>
        <p:spPr>
          <a:xfrm>
            <a:off x="7737100" y="2740125"/>
            <a:ext cx="792900" cy="246600"/>
          </a:xfrm>
          <a:prstGeom prst="rect">
            <a:avLst/>
          </a:prstGeom>
          <a:solidFill>
            <a:schemeClr val="lt1"/>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t/>
            </a:r>
            <a:endParaRPr sz="1800">
              <a:solidFill>
                <a:srgbClr val="000000"/>
              </a:solidFill>
              <a:latin typeface="Lexend"/>
              <a:ea typeface="Lexend"/>
              <a:cs typeface="Lexend"/>
              <a:sym typeface="Lexend"/>
            </a:endParaRPr>
          </a:p>
        </p:txBody>
      </p:sp>
      <p:sp>
        <p:nvSpPr>
          <p:cNvPr id="1023" name="Google Shape;1023;p88"/>
          <p:cNvSpPr txBox="1"/>
          <p:nvPr/>
        </p:nvSpPr>
        <p:spPr>
          <a:xfrm>
            <a:off x="7737100" y="2740125"/>
            <a:ext cx="824700" cy="246600"/>
          </a:xfrm>
          <a:prstGeom prst="rect">
            <a:avLst/>
          </a:prstGeom>
          <a:solidFill>
            <a:srgbClr val="845AD9">
              <a:alpha val="48730"/>
            </a:srgbClr>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£171.43</a:t>
            </a:r>
            <a:endParaRPr sz="2000">
              <a:solidFill>
                <a:srgbClr val="000000"/>
              </a:solidFill>
              <a:latin typeface="Kalam"/>
              <a:ea typeface="Kalam"/>
              <a:cs typeface="Kalam"/>
              <a:sym typeface="Kalam"/>
            </a:endParaRPr>
          </a:p>
        </p:txBody>
      </p:sp>
      <p:cxnSp>
        <p:nvCxnSpPr>
          <p:cNvPr id="1024" name="Google Shape;1024;p88"/>
          <p:cNvCxnSpPr/>
          <p:nvPr/>
        </p:nvCxnSpPr>
        <p:spPr>
          <a:xfrm flipH="1" rot="10800000">
            <a:off x="7109200" y="2713900"/>
            <a:ext cx="627900" cy="246600"/>
          </a:xfrm>
          <a:prstGeom prst="straightConnector1">
            <a:avLst/>
          </a:prstGeom>
          <a:noFill/>
          <a:ln cap="flat" cmpd="sng" w="19050">
            <a:solidFill>
              <a:schemeClr val="dk1"/>
            </a:solidFill>
            <a:prstDash val="solid"/>
            <a:round/>
            <a:headEnd len="med" w="med" type="none"/>
            <a:tailEnd len="med" w="med" type="none"/>
          </a:ln>
        </p:spPr>
      </p:cxnSp>
      <p:sp>
        <p:nvSpPr>
          <p:cNvPr id="1025" name="Google Shape;1025;p88"/>
          <p:cNvSpPr txBox="1"/>
          <p:nvPr/>
        </p:nvSpPr>
        <p:spPr>
          <a:xfrm>
            <a:off x="3495300" y="2713900"/>
            <a:ext cx="692700" cy="246600"/>
          </a:xfrm>
          <a:prstGeom prst="rect">
            <a:avLst/>
          </a:prstGeom>
          <a:solidFill>
            <a:srgbClr val="845AD9">
              <a:alpha val="48730"/>
            </a:srgbClr>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£375</a:t>
            </a:r>
            <a:endParaRPr sz="2000">
              <a:solidFill>
                <a:srgbClr val="000000"/>
              </a:solidFill>
              <a:latin typeface="Kalam"/>
              <a:ea typeface="Kalam"/>
              <a:cs typeface="Kalam"/>
              <a:sym typeface="Kala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8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1031" name="Google Shape;1031;p89"/>
          <p:cNvSpPr txBox="1"/>
          <p:nvPr>
            <p:ph idx="1" type="body"/>
          </p:nvPr>
        </p:nvSpPr>
        <p:spPr>
          <a:xfrm>
            <a:off x="324000" y="759300"/>
            <a:ext cx="8496000" cy="105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 In a raffle there is a 1 in 2180 chance of winning a prize. A headline reads “Just buy 2 tickets and increase your chance of winning by 100%”.  </a:t>
            </a:r>
            <a:endParaRPr sz="1900"/>
          </a:p>
        </p:txBody>
      </p:sp>
      <p:sp>
        <p:nvSpPr>
          <p:cNvPr id="1032" name="Google Shape;1032;p89"/>
          <p:cNvSpPr txBox="1"/>
          <p:nvPr>
            <p:ph idx="4294967295" type="body"/>
          </p:nvPr>
        </p:nvSpPr>
        <p:spPr>
          <a:xfrm>
            <a:off x="324000" y="1663700"/>
            <a:ext cx="8496000" cy="39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What is the chance of winning with one ticket, as a percentage?  </a:t>
            </a:r>
            <a:endParaRPr sz="1800"/>
          </a:p>
        </p:txBody>
      </p:sp>
      <p:sp>
        <p:nvSpPr>
          <p:cNvPr id="1033" name="Google Shape;1033;p89"/>
          <p:cNvSpPr txBox="1"/>
          <p:nvPr>
            <p:ph idx="4294967295" type="body"/>
          </p:nvPr>
        </p:nvSpPr>
        <p:spPr>
          <a:xfrm>
            <a:off x="324000" y="2814375"/>
            <a:ext cx="8496000" cy="39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What is the chance of winning with two tickets, as a percentage?  </a:t>
            </a:r>
            <a:endParaRPr sz="1800"/>
          </a:p>
        </p:txBody>
      </p:sp>
      <p:pic>
        <p:nvPicPr>
          <p:cNvPr descr="&lt;math xmlns=&quot;http://www.w3.org/1998/Math/MathML&quot; display=&quot;block&quot; data-is-equatio=&quot;1&quot; data-latex=&quot;\frac{1}{2180}=0.0004587...&quot;&gt;&lt;mfrac&gt;&lt;mn&gt;1&lt;/mn&gt;&lt;mn&gt;2180&lt;/mn&gt;&lt;/mfrac&gt;&lt;mo&gt;=&lt;/mo&gt;&lt;mn&gt;0.0004587&lt;/mn&gt;&lt;mo&gt;.&lt;/mo&gt;&lt;mo&gt;.&lt;/mo&gt;&lt;mo&gt;.&lt;/mo&gt;&lt;/math&gt;" id="1034" name="Google Shape;1034;p89" title="1 over 2180 equals 0.0004587 period period period"/>
          <p:cNvPicPr preferRelativeResize="0"/>
          <p:nvPr/>
        </p:nvPicPr>
        <p:blipFill>
          <a:blip r:embed="rId3">
            <a:alphaModFix/>
          </a:blip>
          <a:stretch>
            <a:fillRect/>
          </a:stretch>
        </p:blipFill>
        <p:spPr>
          <a:xfrm>
            <a:off x="413175" y="2075438"/>
            <a:ext cx="1904376" cy="469350"/>
          </a:xfrm>
          <a:prstGeom prst="rect">
            <a:avLst/>
          </a:prstGeom>
          <a:noFill/>
          <a:ln>
            <a:noFill/>
          </a:ln>
        </p:spPr>
      </p:pic>
      <p:sp>
        <p:nvSpPr>
          <p:cNvPr id="1035" name="Google Shape;1035;p89"/>
          <p:cNvSpPr txBox="1"/>
          <p:nvPr/>
        </p:nvSpPr>
        <p:spPr>
          <a:xfrm>
            <a:off x="2693900" y="2141700"/>
            <a:ext cx="43485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0.046% to 2 significant figures.</a:t>
            </a:r>
            <a:endParaRPr sz="2000">
              <a:solidFill>
                <a:srgbClr val="000000"/>
              </a:solidFill>
              <a:latin typeface="Kalam"/>
              <a:ea typeface="Kalam"/>
              <a:cs typeface="Kalam"/>
              <a:sym typeface="Kalam"/>
            </a:endParaRPr>
          </a:p>
        </p:txBody>
      </p:sp>
      <p:pic>
        <p:nvPicPr>
          <p:cNvPr descr="&lt;math xmlns=&quot;http://www.w3.org/1998/Math/MathML&quot; display=&quot;block&quot; data-is-equatio=&quot;1&quot; data-latex=&quot;\frac{2}{2180}=0.0009174...&quot;&gt;&lt;mfrac&gt;&lt;mn&gt;2&lt;/mn&gt;&lt;mn&gt;2180&lt;/mn&gt;&lt;/mfrac&gt;&lt;mo&gt;=&lt;/mo&gt;&lt;mn&gt;0.0009174&lt;/mn&gt;&lt;mo&gt;.&lt;/mo&gt;&lt;mo&gt;.&lt;/mo&gt;&lt;mo&gt;.&lt;/mo&gt;&lt;/math&gt;" id="1036" name="Google Shape;1036;p89" title="2 over 2180 equals 0.0009174 period period period"/>
          <p:cNvPicPr preferRelativeResize="0"/>
          <p:nvPr/>
        </p:nvPicPr>
        <p:blipFill>
          <a:blip r:embed="rId4">
            <a:alphaModFix/>
          </a:blip>
          <a:stretch>
            <a:fillRect/>
          </a:stretch>
        </p:blipFill>
        <p:spPr>
          <a:xfrm>
            <a:off x="450550" y="3158251"/>
            <a:ext cx="1904376" cy="469341"/>
          </a:xfrm>
          <a:prstGeom prst="rect">
            <a:avLst/>
          </a:prstGeom>
          <a:noFill/>
          <a:ln>
            <a:noFill/>
          </a:ln>
        </p:spPr>
      </p:pic>
      <p:sp>
        <p:nvSpPr>
          <p:cNvPr id="1037" name="Google Shape;1037;p89"/>
          <p:cNvSpPr txBox="1"/>
          <p:nvPr/>
        </p:nvSpPr>
        <p:spPr>
          <a:xfrm>
            <a:off x="2592100" y="3189975"/>
            <a:ext cx="43485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0.092% to 2 significant figures.</a:t>
            </a:r>
            <a:endParaRPr sz="2000">
              <a:solidFill>
                <a:srgbClr val="000000"/>
              </a:solidFill>
              <a:latin typeface="Kalam"/>
              <a:ea typeface="Kalam"/>
              <a:cs typeface="Kalam"/>
              <a:sym typeface="Kalam"/>
            </a:endParaRPr>
          </a:p>
        </p:txBody>
      </p:sp>
      <p:sp>
        <p:nvSpPr>
          <p:cNvPr id="1038" name="Google Shape;1038;p89"/>
          <p:cNvSpPr txBox="1"/>
          <p:nvPr/>
        </p:nvSpPr>
        <p:spPr>
          <a:xfrm>
            <a:off x="2958450" y="4320000"/>
            <a:ext cx="54147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Approximate</a:t>
            </a:r>
            <a:r>
              <a:rPr lang="en-GB" sz="2000">
                <a:latin typeface="Kalam"/>
                <a:ea typeface="Kalam"/>
                <a:cs typeface="Kalam"/>
                <a:sym typeface="Kalam"/>
              </a:rPr>
              <a:t> percentage point increase of </a:t>
            </a:r>
            <a:r>
              <a:rPr lang="en-GB" sz="2000">
                <a:latin typeface="Kalam"/>
                <a:ea typeface="Kalam"/>
                <a:cs typeface="Kalam"/>
                <a:sym typeface="Kalam"/>
              </a:rPr>
              <a:t>0.046% </a:t>
            </a:r>
            <a:endParaRPr sz="2000">
              <a:solidFill>
                <a:srgbClr val="000000"/>
              </a:solidFill>
              <a:latin typeface="Kalam"/>
              <a:ea typeface="Kalam"/>
              <a:cs typeface="Kalam"/>
              <a:sym typeface="Kalam"/>
            </a:endParaRPr>
          </a:p>
        </p:txBody>
      </p:sp>
      <p:sp>
        <p:nvSpPr>
          <p:cNvPr id="1039" name="Google Shape;1039;p89"/>
          <p:cNvSpPr txBox="1"/>
          <p:nvPr>
            <p:ph idx="4294967295" type="body"/>
          </p:nvPr>
        </p:nvSpPr>
        <p:spPr>
          <a:xfrm>
            <a:off x="324000" y="3715750"/>
            <a:ext cx="8496000" cy="399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c) What is the percentage point difference in the percentage chance of winning between buying 1 and 2 tickets?</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1045" name="Google Shape;1045;p90"/>
          <p:cNvSpPr txBox="1"/>
          <p:nvPr>
            <p:ph idx="1" type="body"/>
          </p:nvPr>
        </p:nvSpPr>
        <p:spPr>
          <a:xfrm>
            <a:off x="324000" y="759300"/>
            <a:ext cx="8496000" cy="104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 In a raffle there is a 1 in 2180 chance of winning a prize. A headline reads “Just buy 2 tickets and increase your chance of winning by 100%”.  </a:t>
            </a:r>
            <a:endParaRPr sz="1900"/>
          </a:p>
        </p:txBody>
      </p:sp>
      <p:sp>
        <p:nvSpPr>
          <p:cNvPr id="1046" name="Google Shape;1046;p90"/>
          <p:cNvSpPr txBox="1"/>
          <p:nvPr>
            <p:ph idx="4294967295" type="body"/>
          </p:nvPr>
        </p:nvSpPr>
        <p:spPr>
          <a:xfrm>
            <a:off x="324000" y="1655550"/>
            <a:ext cx="8496000" cy="399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d) </a:t>
            </a:r>
            <a:r>
              <a:rPr lang="en-GB" sz="1800"/>
              <a:t>Explain why, although technically correct, the claim could be misleading.</a:t>
            </a:r>
            <a:endParaRPr sz="1800"/>
          </a:p>
        </p:txBody>
      </p:sp>
      <p:sp>
        <p:nvSpPr>
          <p:cNvPr id="1047" name="Google Shape;1047;p90"/>
          <p:cNvSpPr txBox="1"/>
          <p:nvPr/>
        </p:nvSpPr>
        <p:spPr>
          <a:xfrm>
            <a:off x="324000" y="1989300"/>
            <a:ext cx="84960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It is mathematically accurate; </a:t>
            </a:r>
            <a:r>
              <a:rPr lang="en-GB" sz="2000">
                <a:latin typeface="Kalam"/>
                <a:ea typeface="Kalam"/>
                <a:cs typeface="Kalam"/>
                <a:sym typeface="Kalam"/>
              </a:rPr>
              <a:t>doubling</a:t>
            </a:r>
            <a:r>
              <a:rPr lang="en-GB" sz="2000">
                <a:latin typeface="Kalam"/>
                <a:ea typeface="Kalam"/>
                <a:cs typeface="Kalam"/>
                <a:sym typeface="Kalam"/>
              </a:rPr>
              <a:t> the number of tickets does double your chance of winning as 0.092 is double 0.046</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This is the same as an increase of 100%. </a:t>
            </a:r>
            <a:r>
              <a:rPr lang="en-GB" sz="2000">
                <a:latin typeface="Kalam"/>
                <a:ea typeface="Kalam"/>
                <a:cs typeface="Kalam"/>
                <a:sym typeface="Kalam"/>
              </a:rPr>
              <a:t> </a:t>
            </a:r>
            <a:endParaRPr sz="2000">
              <a:solidFill>
                <a:srgbClr val="000000"/>
              </a:solidFill>
              <a:latin typeface="Kalam"/>
              <a:ea typeface="Kalam"/>
              <a:cs typeface="Kalam"/>
              <a:sym typeface="Kalam"/>
            </a:endParaRPr>
          </a:p>
        </p:txBody>
      </p:sp>
      <p:sp>
        <p:nvSpPr>
          <p:cNvPr id="1048" name="Google Shape;1048;p90"/>
          <p:cNvSpPr txBox="1"/>
          <p:nvPr/>
        </p:nvSpPr>
        <p:spPr>
          <a:xfrm>
            <a:off x="324000" y="3211250"/>
            <a:ext cx="84960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The chance of </a:t>
            </a:r>
            <a:r>
              <a:rPr lang="en-GB" sz="2000">
                <a:latin typeface="Kalam"/>
                <a:ea typeface="Kalam"/>
                <a:cs typeface="Kalam"/>
                <a:sym typeface="Kalam"/>
              </a:rPr>
              <a:t>winning</a:t>
            </a:r>
            <a:r>
              <a:rPr lang="en-GB" sz="2000">
                <a:latin typeface="Kalam"/>
                <a:ea typeface="Kalam"/>
                <a:cs typeface="Kalam"/>
                <a:sym typeface="Kalam"/>
              </a:rPr>
              <a:t> is so small that doubling that chance is still only a very small percentage, the chance has only increased by 0.046 percentage points. </a:t>
            </a:r>
            <a:r>
              <a:rPr lang="en-GB" sz="2000">
                <a:latin typeface="Kalam"/>
                <a:ea typeface="Kalam"/>
                <a:cs typeface="Kalam"/>
                <a:sym typeface="Kalam"/>
              </a:rPr>
              <a:t>People</a:t>
            </a:r>
            <a:r>
              <a:rPr lang="en-GB" sz="2000">
                <a:latin typeface="Kalam"/>
                <a:ea typeface="Kalam"/>
                <a:cs typeface="Kalam"/>
                <a:sym typeface="Kalam"/>
              </a:rPr>
              <a:t> who do not understand probability may find this misleading.</a:t>
            </a:r>
            <a:r>
              <a:rPr lang="en-GB" sz="2000">
                <a:latin typeface="Kalam"/>
                <a:ea typeface="Kalam"/>
                <a:cs typeface="Kalam"/>
                <a:sym typeface="Kalam"/>
              </a:rPr>
              <a:t>  </a:t>
            </a:r>
            <a:endParaRPr sz="2000">
              <a:solidFill>
                <a:srgbClr val="000000"/>
              </a:solidFill>
              <a:latin typeface="Kalam"/>
              <a:ea typeface="Kalam"/>
              <a:cs typeface="Kalam"/>
              <a:sym typeface="Kala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9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1054" name="Google Shape;1054;p91"/>
          <p:cNvSpPr txBox="1"/>
          <p:nvPr>
            <p:ph idx="1" type="body"/>
          </p:nvPr>
        </p:nvSpPr>
        <p:spPr>
          <a:xfrm>
            <a:off x="324000" y="759300"/>
            <a:ext cx="8496000" cy="104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 In a raffle there is a 1 in 2180 chance of winning a prize. A headline reads “Just buy 2 tickets and increase your chance of winning by 100%”.  </a:t>
            </a:r>
            <a:endParaRPr sz="1900"/>
          </a:p>
        </p:txBody>
      </p:sp>
      <p:sp>
        <p:nvSpPr>
          <p:cNvPr id="1055" name="Google Shape;1055;p91"/>
          <p:cNvSpPr txBox="1"/>
          <p:nvPr>
            <p:ph idx="4294967295" type="body"/>
          </p:nvPr>
        </p:nvSpPr>
        <p:spPr>
          <a:xfrm>
            <a:off x="324000" y="1685850"/>
            <a:ext cx="8496000" cy="45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e) Use trial and improvement to find how many tickets you would need to buy to increase the probability of winning to 1%.</a:t>
            </a:r>
            <a:endParaRPr sz="1800"/>
          </a:p>
        </p:txBody>
      </p:sp>
      <p:pic>
        <p:nvPicPr>
          <p:cNvPr descr="&lt;math xmlns=&quot;http://www.w3.org/1998/Math/MathML&quot; display=&quot;block&quot; data-is-equatio=&quot;1&quot; data-latex=&quot;\frac{21}{2180}=0.009633...&quot;&gt;&lt;mfrac&gt;&lt;mn&gt;21&lt;/mn&gt;&lt;mn&gt;2180&lt;/mn&gt;&lt;/mfrac&gt;&lt;mo&gt;=&lt;/mo&gt;&lt;mn&gt;0.009633&lt;/mn&gt;&lt;mo&gt;.&lt;/mo&gt;&lt;mo&gt;.&lt;/mo&gt;&lt;mo&gt;.&lt;/mo&gt;&lt;/math&gt;" id="1056" name="Google Shape;1056;p91" title="21 over 2180 equals 0.009633 period period period"/>
          <p:cNvPicPr preferRelativeResize="0"/>
          <p:nvPr/>
        </p:nvPicPr>
        <p:blipFill>
          <a:blip r:embed="rId3">
            <a:alphaModFix/>
          </a:blip>
          <a:stretch>
            <a:fillRect/>
          </a:stretch>
        </p:blipFill>
        <p:spPr>
          <a:xfrm>
            <a:off x="324000" y="2395200"/>
            <a:ext cx="1933932" cy="507200"/>
          </a:xfrm>
          <a:prstGeom prst="rect">
            <a:avLst/>
          </a:prstGeom>
          <a:noFill/>
          <a:ln>
            <a:noFill/>
          </a:ln>
        </p:spPr>
      </p:pic>
      <p:pic>
        <p:nvPicPr>
          <p:cNvPr descr="&lt;math xmlns=&quot;http://www.w3.org/1998/Math/MathML&quot; display=&quot;block&quot; data-is-equatio=&quot;1&quot; data-latex=&quot;\frac{22}{2180}=0.01009...&quot;&gt;&lt;mfrac&gt;&lt;mn&gt;22&lt;/mn&gt;&lt;mn&gt;2180&lt;/mn&gt;&lt;/mfrac&gt;&lt;mo&gt;=&lt;/mo&gt;&lt;mn&gt;0.01009&lt;/mn&gt;&lt;mo&gt;.&lt;/mo&gt;&lt;mo&gt;.&lt;/mo&gt;&lt;mo&gt;.&lt;/mo&gt;&lt;/math&gt;" id="1057" name="Google Shape;1057;p91" title="22 over 2180 equals 0.01009 period period period"/>
          <p:cNvPicPr preferRelativeResize="0"/>
          <p:nvPr/>
        </p:nvPicPr>
        <p:blipFill>
          <a:blip r:embed="rId4">
            <a:alphaModFix/>
          </a:blip>
          <a:stretch>
            <a:fillRect/>
          </a:stretch>
        </p:blipFill>
        <p:spPr>
          <a:xfrm>
            <a:off x="2945755" y="2395200"/>
            <a:ext cx="1813496" cy="507200"/>
          </a:xfrm>
          <a:prstGeom prst="rect">
            <a:avLst/>
          </a:prstGeom>
          <a:noFill/>
          <a:ln>
            <a:noFill/>
          </a:ln>
        </p:spPr>
      </p:pic>
      <p:sp>
        <p:nvSpPr>
          <p:cNvPr id="1058" name="Google Shape;1058;p91"/>
          <p:cNvSpPr txBox="1"/>
          <p:nvPr/>
        </p:nvSpPr>
        <p:spPr>
          <a:xfrm>
            <a:off x="324000" y="3069300"/>
            <a:ext cx="84960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You would need to buy 22 tickets to increase the chance to 1%.</a:t>
            </a:r>
            <a:endParaRPr sz="2000">
              <a:solidFill>
                <a:srgbClr val="000000"/>
              </a:solidFill>
              <a:latin typeface="Kalam"/>
              <a:ea typeface="Kalam"/>
              <a:cs typeface="Kalam"/>
              <a:sym typeface="Kalam"/>
            </a:endParaRPr>
          </a:p>
        </p:txBody>
      </p:sp>
      <p:sp>
        <p:nvSpPr>
          <p:cNvPr id="1059" name="Google Shape;1059;p91"/>
          <p:cNvSpPr txBox="1"/>
          <p:nvPr/>
        </p:nvSpPr>
        <p:spPr>
          <a:xfrm>
            <a:off x="324000" y="3609300"/>
            <a:ext cx="8496000" cy="90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(It is worth noting that most national lotteries have a probability of winning the jackpot of at least 1 in 14 million with some having a much smaller probability than that.) </a:t>
            </a:r>
            <a:endParaRPr sz="2000">
              <a:solidFill>
                <a:srgbClr val="000000"/>
              </a:solidFill>
              <a:latin typeface="Kalam"/>
              <a:ea typeface="Kalam"/>
              <a:cs typeface="Kalam"/>
              <a:sym typeface="Kala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9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1065" name="Google Shape;1065;p9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 Explain the mistake in each headline.  </a:t>
            </a:r>
            <a:endParaRPr/>
          </a:p>
        </p:txBody>
      </p:sp>
      <p:sp>
        <p:nvSpPr>
          <p:cNvPr id="1066" name="Google Shape;1066;p92"/>
          <p:cNvSpPr/>
          <p:nvPr/>
        </p:nvSpPr>
        <p:spPr>
          <a:xfrm>
            <a:off x="645450" y="1269875"/>
            <a:ext cx="8063982" cy="1043172"/>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7" name="Google Shape;1067;p92"/>
          <p:cNvSpPr txBox="1"/>
          <p:nvPr>
            <p:ph idx="4294967295" type="body"/>
          </p:nvPr>
        </p:nvSpPr>
        <p:spPr>
          <a:xfrm>
            <a:off x="668054" y="1291725"/>
            <a:ext cx="75930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“Local employment rates fell by 10% last year and 15% the previous year. In just 2 years, employment rates have fallen by 25%.” </a:t>
            </a:r>
            <a:endParaRPr sz="1600"/>
          </a:p>
        </p:txBody>
      </p:sp>
      <p:sp>
        <p:nvSpPr>
          <p:cNvPr id="1068" name="Google Shape;1068;p92"/>
          <p:cNvSpPr txBox="1"/>
          <p:nvPr>
            <p:ph idx="1" type="body"/>
          </p:nvPr>
        </p:nvSpPr>
        <p:spPr>
          <a:xfrm>
            <a:off x="324000" y="1263600"/>
            <a:ext cx="420600" cy="50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a:t>
            </a:r>
            <a:endParaRPr/>
          </a:p>
        </p:txBody>
      </p:sp>
      <p:sp>
        <p:nvSpPr>
          <p:cNvPr id="1069" name="Google Shape;1069;p92"/>
          <p:cNvSpPr txBox="1"/>
          <p:nvPr/>
        </p:nvSpPr>
        <p:spPr>
          <a:xfrm>
            <a:off x="324000" y="2497050"/>
            <a:ext cx="84960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When calculating two successive percentage changes you cannot just add the percentages together.  </a:t>
            </a:r>
            <a:endParaRPr sz="2000">
              <a:solidFill>
                <a:srgbClr val="000000"/>
              </a:solidFill>
              <a:latin typeface="Kalam"/>
              <a:ea typeface="Kalam"/>
              <a:cs typeface="Kalam"/>
              <a:sym typeface="Kalam"/>
            </a:endParaRPr>
          </a:p>
        </p:txBody>
      </p:sp>
      <p:sp>
        <p:nvSpPr>
          <p:cNvPr id="1070" name="Google Shape;1070;p92"/>
          <p:cNvSpPr txBox="1"/>
          <p:nvPr/>
        </p:nvSpPr>
        <p:spPr>
          <a:xfrm>
            <a:off x="324000" y="3269975"/>
            <a:ext cx="8496000" cy="128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latin typeface="Kalam"/>
                <a:ea typeface="Kalam"/>
                <a:cs typeface="Kalam"/>
                <a:sym typeface="Kalam"/>
              </a:rPr>
              <a:t>E.g. If there were 100 people employed one year then a decrease in 15% would be 100 × 0.85 = 85</a:t>
            </a:r>
            <a:endParaRPr sz="2000">
              <a:latin typeface="Kalam"/>
              <a:ea typeface="Kalam"/>
              <a:cs typeface="Kalam"/>
              <a:sym typeface="Kalam"/>
            </a:endParaRPr>
          </a:p>
          <a:p>
            <a:pPr indent="0" lvl="0" marL="0" rtl="0" algn="l">
              <a:lnSpc>
                <a:spcPct val="115000"/>
              </a:lnSpc>
              <a:spcBef>
                <a:spcPts val="0"/>
              </a:spcBef>
              <a:spcAft>
                <a:spcPts val="0"/>
              </a:spcAft>
              <a:buNone/>
            </a:pPr>
            <a:r>
              <a:rPr lang="en-GB" sz="2000">
                <a:latin typeface="Kalam"/>
                <a:ea typeface="Kalam"/>
                <a:cs typeface="Kalam"/>
                <a:sym typeface="Kalam"/>
              </a:rPr>
              <a:t>Then </a:t>
            </a:r>
            <a:r>
              <a:rPr lang="en-GB" sz="2000">
                <a:latin typeface="Kalam"/>
                <a:ea typeface="Kalam"/>
                <a:cs typeface="Kalam"/>
                <a:sym typeface="Kalam"/>
              </a:rPr>
              <a:t>decreasing</a:t>
            </a:r>
            <a:r>
              <a:rPr lang="en-GB" sz="2000">
                <a:latin typeface="Kalam"/>
                <a:ea typeface="Kalam"/>
                <a:cs typeface="Kalam"/>
                <a:sym typeface="Kalam"/>
              </a:rPr>
              <a:t> this by 10% would give </a:t>
            </a:r>
            <a:r>
              <a:rPr lang="en-GB" sz="2000">
                <a:solidFill>
                  <a:schemeClr val="dk1"/>
                </a:solidFill>
                <a:latin typeface="Kalam"/>
                <a:ea typeface="Kalam"/>
                <a:cs typeface="Kalam"/>
                <a:sym typeface="Kalam"/>
              </a:rPr>
              <a:t>85</a:t>
            </a:r>
            <a:r>
              <a:rPr lang="en-GB" sz="2000">
                <a:solidFill>
                  <a:schemeClr val="dk1"/>
                </a:solidFill>
                <a:latin typeface="Kalam"/>
                <a:ea typeface="Kalam"/>
                <a:cs typeface="Kalam"/>
                <a:sym typeface="Kalam"/>
              </a:rPr>
              <a:t> × 0.9 = 76.5</a:t>
            </a:r>
            <a:endParaRPr sz="2000">
              <a:solidFill>
                <a:schemeClr val="dk1"/>
              </a:solidFill>
              <a:latin typeface="Kalam"/>
              <a:ea typeface="Kalam"/>
              <a:cs typeface="Kalam"/>
              <a:sym typeface="Kalam"/>
            </a:endParaRPr>
          </a:p>
          <a:p>
            <a:pPr indent="0" lvl="0" marL="0" rtl="0" algn="l">
              <a:lnSpc>
                <a:spcPct val="115000"/>
              </a:lnSpc>
              <a:spcBef>
                <a:spcPts val="0"/>
              </a:spcBef>
              <a:spcAft>
                <a:spcPts val="0"/>
              </a:spcAft>
              <a:buNone/>
            </a:pPr>
            <a:r>
              <a:rPr lang="en-GB" sz="2000">
                <a:latin typeface="Kalam"/>
                <a:ea typeface="Kalam"/>
                <a:cs typeface="Kalam"/>
                <a:sym typeface="Kalam"/>
              </a:rPr>
              <a:t>This is a decrease of 23.5% not 25%</a:t>
            </a:r>
            <a:r>
              <a:rPr lang="en-GB" sz="2000">
                <a:latin typeface="Kalam"/>
                <a:ea typeface="Kalam"/>
                <a:cs typeface="Kalam"/>
                <a:sym typeface="Kalam"/>
              </a:rPr>
              <a:t>  </a:t>
            </a:r>
            <a:r>
              <a:rPr lang="en-GB" sz="2000">
                <a:latin typeface="Kalam"/>
                <a:ea typeface="Kalam"/>
                <a:cs typeface="Kalam"/>
                <a:sym typeface="Kalam"/>
              </a:rPr>
              <a:t> </a:t>
            </a:r>
            <a:endParaRPr sz="2000">
              <a:solidFill>
                <a:srgbClr val="000000"/>
              </a:solidFill>
              <a:latin typeface="Kalam"/>
              <a:ea typeface="Kalam"/>
              <a:cs typeface="Kalam"/>
              <a:sym typeface="Kala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9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1076" name="Google Shape;1076;p93"/>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 Explain the mistake in each headline.  </a:t>
            </a:r>
            <a:endParaRPr/>
          </a:p>
        </p:txBody>
      </p:sp>
      <p:sp>
        <p:nvSpPr>
          <p:cNvPr id="1077" name="Google Shape;1077;p93"/>
          <p:cNvSpPr/>
          <p:nvPr/>
        </p:nvSpPr>
        <p:spPr>
          <a:xfrm>
            <a:off x="645450" y="1266650"/>
            <a:ext cx="8063982" cy="1043172"/>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8" name="Google Shape;1078;p93"/>
          <p:cNvSpPr txBox="1"/>
          <p:nvPr>
            <p:ph idx="4294967295" type="body"/>
          </p:nvPr>
        </p:nvSpPr>
        <p:spPr>
          <a:xfrm>
            <a:off x="668050" y="1356750"/>
            <a:ext cx="8064000" cy="87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“28% of men and 22% of women say they only clean their teeth once a day. A whopping 50% of adults are not cleaning their teeth twice a day.”    </a:t>
            </a:r>
            <a:endParaRPr sz="1600"/>
          </a:p>
        </p:txBody>
      </p:sp>
      <p:sp>
        <p:nvSpPr>
          <p:cNvPr id="1079" name="Google Shape;1079;p93"/>
          <p:cNvSpPr txBox="1"/>
          <p:nvPr>
            <p:ph idx="1" type="body"/>
          </p:nvPr>
        </p:nvSpPr>
        <p:spPr>
          <a:xfrm>
            <a:off x="324000" y="1262773"/>
            <a:ext cx="420600" cy="50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  </a:t>
            </a:r>
            <a:endParaRPr/>
          </a:p>
        </p:txBody>
      </p:sp>
      <p:sp>
        <p:nvSpPr>
          <p:cNvPr id="1080" name="Google Shape;1080;p93"/>
          <p:cNvSpPr txBox="1"/>
          <p:nvPr/>
        </p:nvSpPr>
        <p:spPr>
          <a:xfrm>
            <a:off x="324000" y="2434375"/>
            <a:ext cx="8496000" cy="87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This is not how percentages work. The percentages are of two different populations, if we assume the same amount of men and women the total percentage of people will be the mean average of the two (25%).</a:t>
            </a:r>
            <a:endParaRPr sz="2000">
              <a:solidFill>
                <a:srgbClr val="000000"/>
              </a:solidFill>
              <a:latin typeface="Kalam"/>
              <a:ea typeface="Kalam"/>
              <a:cs typeface="Kalam"/>
              <a:sym typeface="Kalam"/>
            </a:endParaRPr>
          </a:p>
        </p:txBody>
      </p:sp>
      <p:sp>
        <p:nvSpPr>
          <p:cNvPr id="1081" name="Google Shape;1081;p93"/>
          <p:cNvSpPr txBox="1"/>
          <p:nvPr/>
        </p:nvSpPr>
        <p:spPr>
          <a:xfrm>
            <a:off x="324000" y="3564650"/>
            <a:ext cx="8496000" cy="90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Also this was the number of people who said they brush their teeth once a day, there </a:t>
            </a:r>
            <a:r>
              <a:rPr lang="en-GB" sz="2000">
                <a:latin typeface="Kalam"/>
                <a:ea typeface="Kalam"/>
                <a:cs typeface="Kalam"/>
                <a:sym typeface="Kalam"/>
              </a:rPr>
              <a:t>may</a:t>
            </a:r>
            <a:r>
              <a:rPr lang="en-GB" sz="2000">
                <a:latin typeface="Kalam"/>
                <a:ea typeface="Kalam"/>
                <a:cs typeface="Kalam"/>
                <a:sym typeface="Kalam"/>
              </a:rPr>
              <a:t> be people who do not brush their teeth every day or brush their teeth more than twice. So the claim that 50% of people are not cleaning their teeth twice a day is definitely wrong. </a:t>
            </a:r>
            <a:endParaRPr sz="2000">
              <a:solidFill>
                <a:srgbClr val="000000"/>
              </a:solidFill>
              <a:latin typeface="Kalam"/>
              <a:ea typeface="Kalam"/>
              <a:cs typeface="Kalam"/>
              <a:sym typeface="Kala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1087" name="Google Shape;1087;p94"/>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 Explain the mistake in each headline.  </a:t>
            </a:r>
            <a:endParaRPr/>
          </a:p>
        </p:txBody>
      </p:sp>
      <p:sp>
        <p:nvSpPr>
          <p:cNvPr id="1088" name="Google Shape;1088;p94"/>
          <p:cNvSpPr/>
          <p:nvPr/>
        </p:nvSpPr>
        <p:spPr>
          <a:xfrm>
            <a:off x="645450" y="1240925"/>
            <a:ext cx="8063982" cy="1082646"/>
          </a:xfrm>
          <a:prstGeom prst="flowChartDocumen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9" name="Google Shape;1089;p94"/>
          <p:cNvSpPr txBox="1"/>
          <p:nvPr>
            <p:ph idx="4294967295" type="body"/>
          </p:nvPr>
        </p:nvSpPr>
        <p:spPr>
          <a:xfrm>
            <a:off x="668050" y="1280375"/>
            <a:ext cx="7989300" cy="940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“Decrease your food expenditure by 300% a week by taking your own lunch to work (based on a takeaway lunch cost of £28 a week and home made lunch cost of £7 a week).”</a:t>
            </a:r>
            <a:endParaRPr sz="1600"/>
          </a:p>
        </p:txBody>
      </p:sp>
      <p:sp>
        <p:nvSpPr>
          <p:cNvPr id="1090" name="Google Shape;1090;p94"/>
          <p:cNvSpPr txBox="1"/>
          <p:nvPr>
            <p:ph idx="1" type="body"/>
          </p:nvPr>
        </p:nvSpPr>
        <p:spPr>
          <a:xfrm>
            <a:off x="324000" y="1239446"/>
            <a:ext cx="420600" cy="50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  </a:t>
            </a:r>
            <a:endParaRPr/>
          </a:p>
        </p:txBody>
      </p:sp>
      <p:sp>
        <p:nvSpPr>
          <p:cNvPr id="1091" name="Google Shape;1091;p94"/>
          <p:cNvSpPr txBox="1"/>
          <p:nvPr/>
        </p:nvSpPr>
        <p:spPr>
          <a:xfrm>
            <a:off x="324000" y="2422400"/>
            <a:ext cx="8496000" cy="2397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A value cannot decrease by more than 100%. </a:t>
            </a:r>
            <a:endParaRPr sz="2000">
              <a:latin typeface="Kalam"/>
              <a:ea typeface="Kalam"/>
              <a:cs typeface="Kalam"/>
              <a:sym typeface="Kalam"/>
            </a:endParaRPr>
          </a:p>
          <a:p>
            <a:pPr indent="0" lvl="0" marL="0" rtl="0" algn="l">
              <a:lnSpc>
                <a:spcPct val="100000"/>
              </a:lnSpc>
              <a:spcBef>
                <a:spcPts val="0"/>
              </a:spcBef>
              <a:spcAft>
                <a:spcPts val="0"/>
              </a:spcAft>
              <a:buNone/>
            </a:pPr>
            <a:r>
              <a:rPr lang="en-GB" sz="2000">
                <a:latin typeface="Kalam"/>
                <a:ea typeface="Kalam"/>
                <a:cs typeface="Kalam"/>
                <a:sym typeface="Kalam"/>
              </a:rPr>
              <a:t>It is true that increasing £7 by 300% is the same as multiplying by 4 which gives £28 but this does not work in reverse. </a:t>
            </a:r>
            <a:endParaRPr sz="2000">
              <a:latin typeface="Kalam"/>
              <a:ea typeface="Kalam"/>
              <a:cs typeface="Kalam"/>
              <a:sym typeface="Kalam"/>
            </a:endParaRPr>
          </a:p>
          <a:p>
            <a:pPr indent="0" lvl="0" marL="0" rtl="0" algn="l">
              <a:lnSpc>
                <a:spcPct val="100000"/>
              </a:lnSpc>
              <a:spcBef>
                <a:spcPts val="0"/>
              </a:spcBef>
              <a:spcAft>
                <a:spcPts val="0"/>
              </a:spcAft>
              <a:buNone/>
            </a:pPr>
            <a:r>
              <a:rPr lang="en-GB" sz="2000">
                <a:latin typeface="Kalam"/>
                <a:ea typeface="Kalam"/>
                <a:cs typeface="Kalam"/>
                <a:sym typeface="Kalam"/>
              </a:rPr>
              <a:t>The calculation should be </a:t>
            </a:r>
            <a:r>
              <a:rPr lang="en-GB" sz="2000">
                <a:solidFill>
                  <a:schemeClr val="dk1"/>
                </a:solidFill>
                <a:latin typeface="Kalam"/>
                <a:ea typeface="Kalam"/>
                <a:cs typeface="Kalam"/>
                <a:sym typeface="Kalam"/>
              </a:rPr>
              <a:t>7</a:t>
            </a:r>
            <a:r>
              <a:rPr lang="en-GB" sz="2000">
                <a:solidFill>
                  <a:schemeClr val="dk1"/>
                </a:solidFill>
                <a:latin typeface="Kalam"/>
                <a:ea typeface="Kalam"/>
                <a:cs typeface="Kalam"/>
                <a:sym typeface="Kalam"/>
              </a:rPr>
              <a:t> ÷ 28 = 0.25 which is a 75% decrease.</a:t>
            </a:r>
            <a:endParaRPr sz="2000">
              <a:solidFill>
                <a:schemeClr val="dk1"/>
              </a:solidFill>
              <a:latin typeface="Kalam"/>
              <a:ea typeface="Kalam"/>
              <a:cs typeface="Kalam"/>
              <a:sym typeface="Kalam"/>
            </a:endParaRPr>
          </a:p>
          <a:p>
            <a:pPr indent="0" lvl="0" marL="0" rtl="0" algn="l">
              <a:lnSpc>
                <a:spcPct val="100000"/>
              </a:lnSpc>
              <a:spcBef>
                <a:spcPts val="0"/>
              </a:spcBef>
              <a:spcAft>
                <a:spcPts val="0"/>
              </a:spcAft>
              <a:buNone/>
            </a:pPr>
            <a:r>
              <a:rPr lang="en-GB" sz="2000">
                <a:solidFill>
                  <a:schemeClr val="dk1"/>
                </a:solidFill>
                <a:latin typeface="Kalam"/>
                <a:ea typeface="Kalam"/>
                <a:cs typeface="Kalam"/>
                <a:sym typeface="Kalam"/>
              </a:rPr>
              <a:t>“It cost 4 times as much to buy a takeaway lunch” would be acceptable or “Decrease your food expenditure by 75%” (the ‘each week’ may also be misleading as the time scale doesn’t affect the percentage). </a:t>
            </a:r>
            <a:r>
              <a:rPr lang="en-GB" sz="2000">
                <a:latin typeface="Kalam"/>
                <a:ea typeface="Kalam"/>
                <a:cs typeface="Kalam"/>
                <a:sym typeface="Kalam"/>
              </a:rPr>
              <a:t> </a:t>
            </a:r>
            <a:r>
              <a:rPr lang="en-GB" sz="2000">
                <a:latin typeface="Kalam"/>
                <a:ea typeface="Kalam"/>
                <a:cs typeface="Kalam"/>
                <a:sym typeface="Kalam"/>
              </a:rPr>
              <a:t>   </a:t>
            </a:r>
            <a:endParaRPr sz="2000">
              <a:solidFill>
                <a:srgbClr val="000000"/>
              </a:solidFill>
              <a:latin typeface="Kalam"/>
              <a:ea typeface="Kalam"/>
              <a:cs typeface="Kalam"/>
              <a:sym typeface="Kala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95"/>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headlines</a:t>
            </a:r>
            <a:endParaRPr/>
          </a:p>
        </p:txBody>
      </p:sp>
      <p:sp>
        <p:nvSpPr>
          <p:cNvPr id="1097" name="Google Shape;1097;p95"/>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098" name="Google Shape;1098;p95"/>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a claim</a:t>
            </a:r>
            <a:endParaRPr/>
          </a:p>
        </p:txBody>
      </p:sp>
      <p:pic>
        <p:nvPicPr>
          <p:cNvPr id="1099" name="Google Shape;1099;p95"/>
          <p:cNvPicPr preferRelativeResize="0"/>
          <p:nvPr/>
        </p:nvPicPr>
        <p:blipFill>
          <a:blip r:embed="rId3">
            <a:alphaModFix/>
          </a:blip>
          <a:stretch>
            <a:fillRect/>
          </a:stretch>
        </p:blipFill>
        <p:spPr>
          <a:xfrm>
            <a:off x="416825" y="2988375"/>
            <a:ext cx="450575" cy="446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105" name="Google Shape;1105;p96"/>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can check if certain claims are realistic using estimation.</a:t>
            </a:r>
            <a:endParaRPr sz="2000"/>
          </a:p>
        </p:txBody>
      </p:sp>
      <p:sp>
        <p:nvSpPr>
          <p:cNvPr id="1106" name="Google Shape;1106;p96"/>
          <p:cNvSpPr txBox="1"/>
          <p:nvPr>
            <p:ph idx="1" type="body"/>
          </p:nvPr>
        </p:nvSpPr>
        <p:spPr>
          <a:xfrm>
            <a:off x="324000" y="12165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Having a rough idea of </a:t>
            </a:r>
            <a:r>
              <a:rPr lang="en-GB" sz="2000"/>
              <a:t>certain</a:t>
            </a:r>
            <a:r>
              <a:rPr lang="en-GB" sz="2000"/>
              <a:t> statistics can be helpful.</a:t>
            </a:r>
            <a:endParaRPr sz="2000"/>
          </a:p>
        </p:txBody>
      </p:sp>
      <p:sp>
        <p:nvSpPr>
          <p:cNvPr id="1107" name="Google Shape;1107;p96"/>
          <p:cNvSpPr txBox="1"/>
          <p:nvPr>
            <p:ph idx="1" type="body"/>
          </p:nvPr>
        </p:nvSpPr>
        <p:spPr>
          <a:xfrm>
            <a:off x="324000" y="18393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Estimate each of these:</a:t>
            </a:r>
            <a:endParaRPr sz="2000"/>
          </a:p>
        </p:txBody>
      </p:sp>
      <p:sp>
        <p:nvSpPr>
          <p:cNvPr id="1108" name="Google Shape;1108;p96"/>
          <p:cNvSpPr txBox="1"/>
          <p:nvPr>
            <p:ph idx="1" type="body"/>
          </p:nvPr>
        </p:nvSpPr>
        <p:spPr>
          <a:xfrm>
            <a:off x="324000" y="2338075"/>
            <a:ext cx="8496000" cy="32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sz="1800"/>
              <a:t>The population of the UK</a:t>
            </a:r>
            <a:endParaRPr sz="1800"/>
          </a:p>
          <a:p>
            <a:pPr indent="-342900" lvl="0" marL="457200" rtl="0" algn="l">
              <a:spcBef>
                <a:spcPts val="0"/>
              </a:spcBef>
              <a:spcAft>
                <a:spcPts val="0"/>
              </a:spcAft>
              <a:buSzPts val="1800"/>
              <a:buChar char="-"/>
            </a:pPr>
            <a:r>
              <a:rPr lang="en-GB" sz="1800"/>
              <a:t>The population of the world</a:t>
            </a:r>
            <a:endParaRPr sz="1800"/>
          </a:p>
          <a:p>
            <a:pPr indent="-342900" lvl="0" marL="457200" rtl="0" algn="l">
              <a:spcBef>
                <a:spcPts val="0"/>
              </a:spcBef>
              <a:spcAft>
                <a:spcPts val="0"/>
              </a:spcAft>
              <a:buSzPts val="1800"/>
              <a:buChar char="-"/>
            </a:pPr>
            <a:r>
              <a:rPr lang="en-GB" sz="1800"/>
              <a:t>The average life expectancy in the UK</a:t>
            </a:r>
            <a:endParaRPr sz="1800"/>
          </a:p>
          <a:p>
            <a:pPr indent="-342900" lvl="0" marL="457200" rtl="0" algn="l">
              <a:spcBef>
                <a:spcPts val="0"/>
              </a:spcBef>
              <a:spcAft>
                <a:spcPts val="0"/>
              </a:spcAft>
              <a:buSzPts val="1800"/>
              <a:buChar char="-"/>
            </a:pPr>
            <a:r>
              <a:rPr lang="en-GB" sz="1800"/>
              <a:t>The average number of people per household in the UK</a:t>
            </a:r>
            <a:endParaRPr sz="1800"/>
          </a:p>
          <a:p>
            <a:pPr indent="-342900" lvl="0" marL="457200" rtl="0" algn="l">
              <a:spcBef>
                <a:spcPts val="0"/>
              </a:spcBef>
              <a:spcAft>
                <a:spcPts val="0"/>
              </a:spcAft>
              <a:buSzPts val="1800"/>
              <a:buChar char="-"/>
            </a:pPr>
            <a:r>
              <a:rPr lang="en-GB" sz="1800"/>
              <a:t>The average wage in the UK</a:t>
            </a:r>
            <a:endParaRPr sz="1800"/>
          </a:p>
          <a:p>
            <a:pPr indent="-342900" lvl="0" marL="457200" rtl="0" algn="l">
              <a:spcBef>
                <a:spcPts val="0"/>
              </a:spcBef>
              <a:spcAft>
                <a:spcPts val="0"/>
              </a:spcAft>
              <a:buSzPts val="1800"/>
              <a:buChar char="-"/>
            </a:pPr>
            <a:r>
              <a:rPr lang="en-GB" sz="1800"/>
              <a:t>The capacity of a coffee mug</a:t>
            </a:r>
            <a:endParaRPr sz="1800"/>
          </a:p>
          <a:p>
            <a:pPr indent="-342900" lvl="0" marL="457200" rtl="0" algn="l">
              <a:spcBef>
                <a:spcPts val="0"/>
              </a:spcBef>
              <a:spcAft>
                <a:spcPts val="0"/>
              </a:spcAft>
              <a:buSzPts val="1800"/>
              <a:buChar char="-"/>
            </a:pPr>
            <a:r>
              <a:rPr lang="en-GB" sz="1800"/>
              <a:t>The mass of a smartphone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114" name="Google Shape;1114;p97"/>
          <p:cNvSpPr txBox="1"/>
          <p:nvPr>
            <p:ph idx="1" type="body"/>
          </p:nvPr>
        </p:nvSpPr>
        <p:spPr>
          <a:xfrm>
            <a:off x="324000" y="810000"/>
            <a:ext cx="8237700" cy="67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answers to these are all rough and most will change over time. You may wish to use the internet to find the most recent figures. </a:t>
            </a:r>
            <a:endParaRPr sz="1800"/>
          </a:p>
        </p:txBody>
      </p:sp>
      <p:sp>
        <p:nvSpPr>
          <p:cNvPr id="1115" name="Google Shape;1115;p97"/>
          <p:cNvSpPr txBox="1"/>
          <p:nvPr>
            <p:ph idx="1" type="body"/>
          </p:nvPr>
        </p:nvSpPr>
        <p:spPr>
          <a:xfrm>
            <a:off x="360100" y="1549050"/>
            <a:ext cx="8496000" cy="3236400"/>
          </a:xfrm>
          <a:prstGeom prst="rect">
            <a:avLst/>
          </a:prstGeom>
        </p:spPr>
        <p:txBody>
          <a:bodyPr anchorCtr="0" anchor="t" bIns="0" lIns="0" spcFirstLastPara="1" rIns="0" wrap="square" tIns="0">
            <a:noAutofit/>
          </a:bodyPr>
          <a:lstStyle/>
          <a:p>
            <a:pPr indent="-342900" lvl="0" marL="457200" rtl="0" algn="l">
              <a:lnSpc>
                <a:spcPct val="120000"/>
              </a:lnSpc>
              <a:spcBef>
                <a:spcPts val="0"/>
              </a:spcBef>
              <a:spcAft>
                <a:spcPts val="0"/>
              </a:spcAft>
              <a:buSzPts val="1800"/>
              <a:buChar char="-"/>
            </a:pPr>
            <a:r>
              <a:rPr lang="en-GB" sz="1800"/>
              <a:t>The population of the UK: </a:t>
            </a:r>
            <a:r>
              <a:rPr lang="en-GB" sz="2000">
                <a:latin typeface="Kalam"/>
                <a:ea typeface="Kalam"/>
                <a:cs typeface="Kalam"/>
                <a:sym typeface="Kalam"/>
              </a:rPr>
              <a:t>approximately</a:t>
            </a:r>
            <a:r>
              <a:rPr lang="en-GB" sz="2000">
                <a:latin typeface="Kalam"/>
                <a:ea typeface="Kalam"/>
                <a:cs typeface="Kalam"/>
                <a:sym typeface="Kalam"/>
              </a:rPr>
              <a:t> 70 million. (2024)</a:t>
            </a:r>
            <a:endParaRPr sz="2000">
              <a:latin typeface="Kalam"/>
              <a:ea typeface="Kalam"/>
              <a:cs typeface="Kalam"/>
              <a:sym typeface="Kalam"/>
            </a:endParaRPr>
          </a:p>
          <a:p>
            <a:pPr indent="-342900" lvl="0" marL="457200" rtl="0" algn="l">
              <a:lnSpc>
                <a:spcPct val="120000"/>
              </a:lnSpc>
              <a:spcBef>
                <a:spcPts val="0"/>
              </a:spcBef>
              <a:spcAft>
                <a:spcPts val="0"/>
              </a:spcAft>
              <a:buSzPts val="1800"/>
              <a:buChar char="-"/>
            </a:pPr>
            <a:r>
              <a:rPr lang="en-GB" sz="1800"/>
              <a:t>The population of the world: </a:t>
            </a:r>
            <a:r>
              <a:rPr lang="en-GB" sz="2000">
                <a:latin typeface="Kalam"/>
                <a:ea typeface="Kalam"/>
                <a:cs typeface="Kalam"/>
                <a:sym typeface="Kalam"/>
              </a:rPr>
              <a:t>approximately 8 billion. (2024)</a:t>
            </a:r>
            <a:endParaRPr sz="1800"/>
          </a:p>
          <a:p>
            <a:pPr indent="-342900" lvl="0" marL="457200" rtl="0" algn="l">
              <a:lnSpc>
                <a:spcPct val="120000"/>
              </a:lnSpc>
              <a:spcBef>
                <a:spcPts val="0"/>
              </a:spcBef>
              <a:spcAft>
                <a:spcPts val="0"/>
              </a:spcAft>
              <a:buSzPts val="1800"/>
              <a:buChar char="-"/>
            </a:pPr>
            <a:r>
              <a:rPr lang="en-GB" sz="1800"/>
              <a:t>The average life expectancy in the UK: </a:t>
            </a:r>
            <a:r>
              <a:rPr lang="en-GB" sz="2000">
                <a:latin typeface="Kalam"/>
                <a:ea typeface="Kalam"/>
                <a:cs typeface="Kalam"/>
                <a:sym typeface="Kalam"/>
              </a:rPr>
              <a:t>this depends on gender and when you were born but approximately 80 years.</a:t>
            </a:r>
            <a:endParaRPr sz="1800"/>
          </a:p>
          <a:p>
            <a:pPr indent="-342900" lvl="0" marL="457200" rtl="0" algn="l">
              <a:lnSpc>
                <a:spcPct val="120000"/>
              </a:lnSpc>
              <a:spcBef>
                <a:spcPts val="0"/>
              </a:spcBef>
              <a:spcAft>
                <a:spcPts val="0"/>
              </a:spcAft>
              <a:buSzPts val="1800"/>
              <a:buChar char="-"/>
            </a:pPr>
            <a:r>
              <a:rPr lang="en-GB" sz="1800"/>
              <a:t>The average number of people per household in the UK: </a:t>
            </a:r>
            <a:r>
              <a:rPr lang="en-GB" sz="2000">
                <a:latin typeface="Kalam"/>
                <a:ea typeface="Kalam"/>
                <a:cs typeface="Kalam"/>
                <a:sym typeface="Kalam"/>
              </a:rPr>
              <a:t>2.4 (2024)</a:t>
            </a:r>
            <a:endParaRPr sz="1800"/>
          </a:p>
          <a:p>
            <a:pPr indent="-342900" lvl="0" marL="457200" rtl="0" algn="l">
              <a:lnSpc>
                <a:spcPct val="120000"/>
              </a:lnSpc>
              <a:spcBef>
                <a:spcPts val="0"/>
              </a:spcBef>
              <a:spcAft>
                <a:spcPts val="0"/>
              </a:spcAft>
              <a:buSzPts val="1800"/>
              <a:buChar char="-"/>
            </a:pPr>
            <a:r>
              <a:rPr lang="en-GB" sz="1800"/>
              <a:t>The average wage in the UK:</a:t>
            </a:r>
            <a:r>
              <a:rPr lang="en-GB" sz="2000">
                <a:latin typeface="Kalam"/>
                <a:ea typeface="Kalam"/>
                <a:cs typeface="Kalam"/>
                <a:sym typeface="Kalam"/>
              </a:rPr>
              <a:t> this depends on which average is used but approximately £35 000 (2024)</a:t>
            </a:r>
            <a:endParaRPr sz="1800"/>
          </a:p>
          <a:p>
            <a:pPr indent="-342900" lvl="0" marL="457200" rtl="0" algn="l">
              <a:lnSpc>
                <a:spcPct val="120000"/>
              </a:lnSpc>
              <a:spcBef>
                <a:spcPts val="0"/>
              </a:spcBef>
              <a:spcAft>
                <a:spcPts val="0"/>
              </a:spcAft>
              <a:buSzPts val="1800"/>
              <a:buChar char="-"/>
            </a:pPr>
            <a:r>
              <a:rPr lang="en-GB" sz="1800"/>
              <a:t>The capacity of a coffee mug:</a:t>
            </a:r>
            <a:r>
              <a:rPr lang="en-GB" sz="2000">
                <a:latin typeface="Kalam"/>
                <a:ea typeface="Kalam"/>
                <a:cs typeface="Kalam"/>
                <a:sym typeface="Kalam"/>
              </a:rPr>
              <a:t> approximately 300 ml.</a:t>
            </a:r>
            <a:r>
              <a:rPr lang="en-GB" sz="1800"/>
              <a:t> </a:t>
            </a:r>
            <a:endParaRPr sz="1800"/>
          </a:p>
          <a:p>
            <a:pPr indent="-342900" lvl="0" marL="457200" rtl="0" algn="l">
              <a:lnSpc>
                <a:spcPct val="120000"/>
              </a:lnSpc>
              <a:spcBef>
                <a:spcPts val="0"/>
              </a:spcBef>
              <a:spcAft>
                <a:spcPts val="0"/>
              </a:spcAft>
              <a:buSzPts val="1800"/>
              <a:buChar char="-"/>
            </a:pPr>
            <a:r>
              <a:rPr lang="en-GB" sz="1800"/>
              <a:t>The mass of a smartphone: </a:t>
            </a:r>
            <a:r>
              <a:rPr lang="en-GB" sz="2000">
                <a:latin typeface="Kalam"/>
                <a:ea typeface="Kalam"/>
                <a:cs typeface="Kalam"/>
                <a:sym typeface="Kalam"/>
              </a:rPr>
              <a:t>approximately 170 grams. (2024)</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pic>
        <p:nvPicPr>
          <p:cNvPr id="1121" name="Google Shape;1121;p98"/>
          <p:cNvPicPr preferRelativeResize="0"/>
          <p:nvPr/>
        </p:nvPicPr>
        <p:blipFill>
          <a:blip r:embed="rId3">
            <a:alphaModFix/>
          </a:blip>
          <a:stretch>
            <a:fillRect/>
          </a:stretch>
        </p:blipFill>
        <p:spPr>
          <a:xfrm flipH="1">
            <a:off x="535813" y="1586650"/>
            <a:ext cx="675955" cy="654150"/>
          </a:xfrm>
          <a:prstGeom prst="rect">
            <a:avLst/>
          </a:prstGeom>
          <a:noFill/>
          <a:ln>
            <a:noFill/>
          </a:ln>
        </p:spPr>
      </p:pic>
      <p:sp>
        <p:nvSpPr>
          <p:cNvPr id="1122" name="Google Shape;1122;p98"/>
          <p:cNvSpPr txBox="1"/>
          <p:nvPr/>
        </p:nvSpPr>
        <p:spPr>
          <a:xfrm flipH="1">
            <a:off x="339488" y="2227175"/>
            <a:ext cx="1068600" cy="258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pic>
        <p:nvPicPr>
          <p:cNvPr id="1123" name="Google Shape;1123;p98"/>
          <p:cNvPicPr preferRelativeResize="0"/>
          <p:nvPr/>
        </p:nvPicPr>
        <p:blipFill rotWithShape="1">
          <a:blip r:embed="rId4">
            <a:alphaModFix/>
          </a:blip>
          <a:srcRect b="43690" l="0" r="57905" t="0"/>
          <a:stretch/>
        </p:blipFill>
        <p:spPr>
          <a:xfrm flipH="1">
            <a:off x="913550" y="785575"/>
            <a:ext cx="3658450" cy="1070350"/>
          </a:xfrm>
          <a:prstGeom prst="rect">
            <a:avLst/>
          </a:prstGeom>
          <a:noFill/>
          <a:ln>
            <a:noFill/>
          </a:ln>
        </p:spPr>
      </p:pic>
      <p:sp>
        <p:nvSpPr>
          <p:cNvPr id="1124" name="Google Shape;1124;p98"/>
          <p:cNvSpPr/>
          <p:nvPr/>
        </p:nvSpPr>
        <p:spPr>
          <a:xfrm>
            <a:off x="1214125" y="837850"/>
            <a:ext cx="3240000" cy="65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I reckon there must be about 1000 secondary schools in the UK.</a:t>
            </a:r>
            <a:endParaRPr sz="2100">
              <a:latin typeface="Lexend"/>
              <a:ea typeface="Lexend"/>
              <a:cs typeface="Lexend"/>
              <a:sym typeface="Lexend"/>
            </a:endParaRPr>
          </a:p>
        </p:txBody>
      </p:sp>
      <p:sp>
        <p:nvSpPr>
          <p:cNvPr id="1125" name="Google Shape;1125;p98"/>
          <p:cNvSpPr txBox="1"/>
          <p:nvPr>
            <p:ph idx="1" type="body"/>
          </p:nvPr>
        </p:nvSpPr>
        <p:spPr>
          <a:xfrm>
            <a:off x="4824000" y="837850"/>
            <a:ext cx="39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Do you think Izzy’s claim sounds reasonable?</a:t>
            </a:r>
            <a:endParaRPr sz="1800"/>
          </a:p>
        </p:txBody>
      </p:sp>
      <p:sp>
        <p:nvSpPr>
          <p:cNvPr id="1126" name="Google Shape;1126;p98"/>
          <p:cNvSpPr txBox="1"/>
          <p:nvPr>
            <p:ph idx="1" type="body"/>
          </p:nvPr>
        </p:nvSpPr>
        <p:spPr>
          <a:xfrm>
            <a:off x="324000" y="3792750"/>
            <a:ext cx="8496000" cy="36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 could we start to estimate the number of schools in the UK?</a:t>
            </a:r>
            <a:endParaRPr sz="1800"/>
          </a:p>
        </p:txBody>
      </p:sp>
      <p:sp>
        <p:nvSpPr>
          <p:cNvPr id="1127" name="Google Shape;1127;p98"/>
          <p:cNvSpPr txBox="1"/>
          <p:nvPr>
            <p:ph idx="1" type="body"/>
          </p:nvPr>
        </p:nvSpPr>
        <p:spPr>
          <a:xfrm>
            <a:off x="2790450" y="1753375"/>
            <a:ext cx="59430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This is really hard to tell. We only live and experience a small area of the country at one time. I</a:t>
            </a:r>
            <a:r>
              <a:rPr lang="en-GB" sz="2000">
                <a:latin typeface="Kalam"/>
                <a:ea typeface="Kalam"/>
                <a:cs typeface="Kalam"/>
                <a:sym typeface="Kalam"/>
              </a:rPr>
              <a:t>t is</a:t>
            </a:r>
            <a:r>
              <a:rPr lang="en-GB" sz="2000">
                <a:latin typeface="Kalam"/>
                <a:ea typeface="Kalam"/>
                <a:cs typeface="Kalam"/>
                <a:sym typeface="Kalam"/>
              </a:rPr>
              <a:t> hard to try and imagine a figure for the whole country. </a:t>
            </a:r>
            <a:endParaRPr sz="2000">
              <a:latin typeface="Kalam"/>
              <a:ea typeface="Kalam"/>
              <a:cs typeface="Kalam"/>
              <a:sym typeface="Kalam"/>
            </a:endParaRPr>
          </a:p>
        </p:txBody>
      </p:sp>
      <p:sp>
        <p:nvSpPr>
          <p:cNvPr id="1128" name="Google Shape;1128;p98"/>
          <p:cNvSpPr txBox="1"/>
          <p:nvPr>
            <p:ph idx="1" type="body"/>
          </p:nvPr>
        </p:nvSpPr>
        <p:spPr>
          <a:xfrm>
            <a:off x="324000" y="2856425"/>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can make this easier by considering facts we know and applying that on a wider scale.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134" name="Google Shape;1134;p99"/>
          <p:cNvSpPr txBox="1"/>
          <p:nvPr/>
        </p:nvSpPr>
        <p:spPr>
          <a:xfrm>
            <a:off x="237400" y="2800827"/>
            <a:ext cx="910500" cy="321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Sam</a:t>
            </a:r>
            <a:endParaRPr b="1" sz="1800">
              <a:latin typeface="Lexend"/>
              <a:ea typeface="Lexend"/>
              <a:cs typeface="Lexend"/>
              <a:sym typeface="Lexend"/>
            </a:endParaRPr>
          </a:p>
        </p:txBody>
      </p:sp>
      <p:pic>
        <p:nvPicPr>
          <p:cNvPr id="1135" name="Google Shape;1135;p99"/>
          <p:cNvPicPr preferRelativeResize="0"/>
          <p:nvPr/>
        </p:nvPicPr>
        <p:blipFill>
          <a:blip r:embed="rId3">
            <a:alphaModFix/>
          </a:blip>
          <a:stretch>
            <a:fillRect/>
          </a:stretch>
        </p:blipFill>
        <p:spPr>
          <a:xfrm>
            <a:off x="480512" y="2277261"/>
            <a:ext cx="387923" cy="558609"/>
          </a:xfrm>
          <a:prstGeom prst="rect">
            <a:avLst/>
          </a:prstGeom>
          <a:noFill/>
          <a:ln>
            <a:noFill/>
          </a:ln>
        </p:spPr>
      </p:pic>
      <p:pic>
        <p:nvPicPr>
          <p:cNvPr id="1136" name="Google Shape;1136;p99"/>
          <p:cNvPicPr preferRelativeResize="0"/>
          <p:nvPr/>
        </p:nvPicPr>
        <p:blipFill rotWithShape="1">
          <a:blip r:embed="rId4">
            <a:alphaModFix/>
          </a:blip>
          <a:srcRect b="43690" l="0" r="57905" t="0"/>
          <a:stretch/>
        </p:blipFill>
        <p:spPr>
          <a:xfrm flipH="1">
            <a:off x="649423" y="758350"/>
            <a:ext cx="2568627" cy="1723300"/>
          </a:xfrm>
          <a:prstGeom prst="rect">
            <a:avLst/>
          </a:prstGeom>
          <a:noFill/>
          <a:ln>
            <a:noFill/>
          </a:ln>
        </p:spPr>
      </p:pic>
      <p:sp>
        <p:nvSpPr>
          <p:cNvPr id="1137" name="Google Shape;1137;p99"/>
          <p:cNvSpPr/>
          <p:nvPr/>
        </p:nvSpPr>
        <p:spPr>
          <a:xfrm>
            <a:off x="875475" y="781950"/>
            <a:ext cx="2191200" cy="85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I live in a medium sized town and there are 5 secondary schools that I know of.</a:t>
            </a:r>
            <a:endParaRPr sz="2100">
              <a:latin typeface="Lexend"/>
              <a:ea typeface="Lexend"/>
              <a:cs typeface="Lexend"/>
              <a:sym typeface="Lexend"/>
            </a:endParaRPr>
          </a:p>
        </p:txBody>
      </p:sp>
      <p:sp>
        <p:nvSpPr>
          <p:cNvPr id="1138" name="Google Shape;1138;p99"/>
          <p:cNvSpPr txBox="1"/>
          <p:nvPr>
            <p:ph idx="1" type="body"/>
          </p:nvPr>
        </p:nvSpPr>
        <p:spPr>
          <a:xfrm>
            <a:off x="3434775" y="1046350"/>
            <a:ext cx="5385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Can you see any difficulties with using this as a start point?</a:t>
            </a:r>
            <a:endParaRPr sz="1800"/>
          </a:p>
        </p:txBody>
      </p:sp>
      <p:sp>
        <p:nvSpPr>
          <p:cNvPr id="1139" name="Google Shape;1139;p99"/>
          <p:cNvSpPr txBox="1"/>
          <p:nvPr>
            <p:ph idx="1" type="body"/>
          </p:nvPr>
        </p:nvSpPr>
        <p:spPr>
          <a:xfrm>
            <a:off x="3304875" y="1753375"/>
            <a:ext cx="5428200" cy="1775100"/>
          </a:xfrm>
          <a:prstGeom prst="rect">
            <a:avLst/>
          </a:prstGeom>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There may be other secondary schools they do not know of.</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It is going to be hard to then estimate the number of towns in the country.</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Big cities will have many more schools than towns. </a:t>
            </a:r>
            <a:endParaRPr sz="2000">
              <a:latin typeface="Kalam"/>
              <a:ea typeface="Kalam"/>
              <a:cs typeface="Kalam"/>
              <a:sym typeface="Kalam"/>
            </a:endParaRPr>
          </a:p>
        </p:txBody>
      </p:sp>
      <p:sp>
        <p:nvSpPr>
          <p:cNvPr id="1140" name="Google Shape;1140;p99"/>
          <p:cNvSpPr txBox="1"/>
          <p:nvPr>
            <p:ph idx="1" type="body"/>
          </p:nvPr>
        </p:nvSpPr>
        <p:spPr>
          <a:xfrm>
            <a:off x="324000" y="361965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Although this seems like a reasonable start point, there are going to be too many factors which are too hard to estimate accurately. </a:t>
            </a:r>
            <a:endParaRPr sz="1800"/>
          </a:p>
        </p:txBody>
      </p:sp>
      <p:sp>
        <p:nvSpPr>
          <p:cNvPr id="1141" name="Google Shape;1141;p99"/>
          <p:cNvSpPr txBox="1"/>
          <p:nvPr>
            <p:ph idx="1" type="body"/>
          </p:nvPr>
        </p:nvSpPr>
        <p:spPr>
          <a:xfrm>
            <a:off x="324000" y="4258625"/>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Instead it may be helpful to start with a statistic we know is reasonably accurate. </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147" name="Google Shape;1147;p100"/>
          <p:cNvSpPr txBox="1"/>
          <p:nvPr>
            <p:ph idx="1" type="body"/>
          </p:nvPr>
        </p:nvSpPr>
        <p:spPr>
          <a:xfrm>
            <a:off x="324000" y="8100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Number of schools in the UK:</a:t>
            </a:r>
            <a:endParaRPr sz="1800"/>
          </a:p>
        </p:txBody>
      </p:sp>
      <p:sp>
        <p:nvSpPr>
          <p:cNvPr id="1148" name="Google Shape;1148;p100"/>
          <p:cNvSpPr txBox="1"/>
          <p:nvPr>
            <p:ph idx="1" type="body"/>
          </p:nvPr>
        </p:nvSpPr>
        <p:spPr>
          <a:xfrm>
            <a:off x="705000" y="141635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know the UK population is approximately 70 million.</a:t>
            </a:r>
            <a:r>
              <a:rPr lang="en-GB" sz="1800"/>
              <a:t> </a:t>
            </a:r>
            <a:endParaRPr sz="1800"/>
          </a:p>
        </p:txBody>
      </p:sp>
      <p:sp>
        <p:nvSpPr>
          <p:cNvPr id="1149" name="Google Shape;1149;p100"/>
          <p:cNvSpPr txBox="1"/>
          <p:nvPr>
            <p:ph idx="1" type="body"/>
          </p:nvPr>
        </p:nvSpPr>
        <p:spPr>
          <a:xfrm>
            <a:off x="705000" y="1873675"/>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know the average life expectancy is approximately 80 years.</a:t>
            </a:r>
            <a:endParaRPr sz="1800"/>
          </a:p>
        </p:txBody>
      </p:sp>
      <p:sp>
        <p:nvSpPr>
          <p:cNvPr id="1150" name="Google Shape;1150;p100"/>
          <p:cNvSpPr txBox="1"/>
          <p:nvPr>
            <p:ph idx="1" type="body"/>
          </p:nvPr>
        </p:nvSpPr>
        <p:spPr>
          <a:xfrm>
            <a:off x="324000" y="2509525"/>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percentage of the UK population do you think are secondary school age? </a:t>
            </a:r>
            <a:endParaRPr sz="1800"/>
          </a:p>
        </p:txBody>
      </p:sp>
      <p:sp>
        <p:nvSpPr>
          <p:cNvPr id="1151" name="Google Shape;1151;p100"/>
          <p:cNvSpPr txBox="1"/>
          <p:nvPr>
            <p:ph idx="1" type="body"/>
          </p:nvPr>
        </p:nvSpPr>
        <p:spPr>
          <a:xfrm>
            <a:off x="324000" y="3354650"/>
            <a:ext cx="8496000" cy="133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Approximately 10% would be reasonable. </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This will depend if you are including post 16.</a:t>
            </a:r>
            <a:r>
              <a:rPr lang="en-GB" sz="2000">
                <a:latin typeface="Kalam"/>
                <a:ea typeface="Kalam"/>
                <a:cs typeface="Kalam"/>
                <a:sym typeface="Kalam"/>
              </a:rPr>
              <a:t> </a:t>
            </a:r>
            <a:endParaRPr sz="2000">
              <a:latin typeface="Kalam"/>
              <a:ea typeface="Kalam"/>
              <a:cs typeface="Kalam"/>
              <a:sym typeface="Kalam"/>
            </a:endParaRPr>
          </a:p>
        </p:txBody>
      </p:sp>
      <p:sp>
        <p:nvSpPr>
          <p:cNvPr id="1152" name="Google Shape;1152;p100"/>
          <p:cNvSpPr/>
          <p:nvPr/>
        </p:nvSpPr>
        <p:spPr>
          <a:xfrm>
            <a:off x="324000" y="1438963"/>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3" name="Google Shape;1153;p100"/>
          <p:cNvSpPr/>
          <p:nvPr/>
        </p:nvSpPr>
        <p:spPr>
          <a:xfrm>
            <a:off x="324000" y="1911463"/>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10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159" name="Google Shape;1159;p101"/>
          <p:cNvSpPr txBox="1"/>
          <p:nvPr>
            <p:ph idx="1" type="body"/>
          </p:nvPr>
        </p:nvSpPr>
        <p:spPr>
          <a:xfrm>
            <a:off x="324000" y="8100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Number of schools in the UK:</a:t>
            </a:r>
            <a:endParaRPr sz="1800"/>
          </a:p>
        </p:txBody>
      </p:sp>
      <p:sp>
        <p:nvSpPr>
          <p:cNvPr id="1160" name="Google Shape;1160;p101"/>
          <p:cNvSpPr txBox="1"/>
          <p:nvPr>
            <p:ph idx="1" type="body"/>
          </p:nvPr>
        </p:nvSpPr>
        <p:spPr>
          <a:xfrm>
            <a:off x="705000" y="141635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know the UK population is approximately 70 million. </a:t>
            </a:r>
            <a:endParaRPr sz="1800"/>
          </a:p>
        </p:txBody>
      </p:sp>
      <p:sp>
        <p:nvSpPr>
          <p:cNvPr id="1161" name="Google Shape;1161;p101"/>
          <p:cNvSpPr txBox="1"/>
          <p:nvPr>
            <p:ph idx="1" type="body"/>
          </p:nvPr>
        </p:nvSpPr>
        <p:spPr>
          <a:xfrm>
            <a:off x="705000" y="1873675"/>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know the average life expectancy is approximately 80 years.</a:t>
            </a:r>
            <a:endParaRPr sz="1800"/>
          </a:p>
        </p:txBody>
      </p:sp>
      <p:sp>
        <p:nvSpPr>
          <p:cNvPr id="1162" name="Google Shape;1162;p101"/>
          <p:cNvSpPr txBox="1"/>
          <p:nvPr>
            <p:ph idx="1" type="body"/>
          </p:nvPr>
        </p:nvSpPr>
        <p:spPr>
          <a:xfrm>
            <a:off x="705000" y="23793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10% are secondary school age that would be 7 million pupils. </a:t>
            </a:r>
            <a:endParaRPr sz="1800"/>
          </a:p>
        </p:txBody>
      </p:sp>
      <p:sp>
        <p:nvSpPr>
          <p:cNvPr id="1163" name="Google Shape;1163;p101"/>
          <p:cNvSpPr txBox="1"/>
          <p:nvPr>
            <p:ph idx="1" type="body"/>
          </p:nvPr>
        </p:nvSpPr>
        <p:spPr>
          <a:xfrm>
            <a:off x="324000" y="293735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can we do now? </a:t>
            </a:r>
            <a:r>
              <a:rPr lang="en-GB" sz="1800"/>
              <a:t> </a:t>
            </a:r>
            <a:endParaRPr sz="1800"/>
          </a:p>
        </p:txBody>
      </p:sp>
      <p:sp>
        <p:nvSpPr>
          <p:cNvPr id="1164" name="Google Shape;1164;p101"/>
          <p:cNvSpPr txBox="1"/>
          <p:nvPr>
            <p:ph idx="1" type="body"/>
          </p:nvPr>
        </p:nvSpPr>
        <p:spPr>
          <a:xfrm>
            <a:off x="324000" y="334225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Estimate the number of pupils per school.</a:t>
            </a:r>
            <a:r>
              <a:rPr lang="en-GB" sz="2000">
                <a:latin typeface="Kalam"/>
                <a:ea typeface="Kalam"/>
                <a:cs typeface="Kalam"/>
                <a:sym typeface="Kalam"/>
              </a:rPr>
              <a:t>  </a:t>
            </a:r>
            <a:endParaRPr sz="2000">
              <a:latin typeface="Kalam"/>
              <a:ea typeface="Kalam"/>
              <a:cs typeface="Kalam"/>
              <a:sym typeface="Kalam"/>
            </a:endParaRPr>
          </a:p>
        </p:txBody>
      </p:sp>
      <p:sp>
        <p:nvSpPr>
          <p:cNvPr id="1165" name="Google Shape;1165;p101"/>
          <p:cNvSpPr txBox="1"/>
          <p:nvPr>
            <p:ph idx="1" type="body"/>
          </p:nvPr>
        </p:nvSpPr>
        <p:spPr>
          <a:xfrm>
            <a:off x="324000" y="381945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Think about your own school, is it a small school, a large school? </a:t>
            </a:r>
            <a:r>
              <a:rPr lang="en-GB" sz="1800"/>
              <a:t>  </a:t>
            </a:r>
            <a:endParaRPr sz="1800"/>
          </a:p>
        </p:txBody>
      </p:sp>
      <p:sp>
        <p:nvSpPr>
          <p:cNvPr id="1166" name="Google Shape;1166;p101"/>
          <p:cNvSpPr txBox="1"/>
          <p:nvPr>
            <p:ph idx="1" type="body"/>
          </p:nvPr>
        </p:nvSpPr>
        <p:spPr>
          <a:xfrm>
            <a:off x="324000" y="429665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 sensible average school size is approximately 1000 pupils</a:t>
            </a:r>
            <a:r>
              <a:rPr lang="en-GB" sz="2000">
                <a:latin typeface="Kalam"/>
                <a:ea typeface="Kalam"/>
                <a:cs typeface="Kalam"/>
                <a:sym typeface="Kalam"/>
              </a:rPr>
              <a:t>.  </a:t>
            </a:r>
            <a:endParaRPr sz="2000">
              <a:latin typeface="Kalam"/>
              <a:ea typeface="Kalam"/>
              <a:cs typeface="Kalam"/>
              <a:sym typeface="Kalam"/>
            </a:endParaRPr>
          </a:p>
        </p:txBody>
      </p:sp>
      <p:sp>
        <p:nvSpPr>
          <p:cNvPr id="1167" name="Google Shape;1167;p101"/>
          <p:cNvSpPr/>
          <p:nvPr/>
        </p:nvSpPr>
        <p:spPr>
          <a:xfrm>
            <a:off x="324000" y="1438963"/>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8" name="Google Shape;1168;p101"/>
          <p:cNvSpPr/>
          <p:nvPr/>
        </p:nvSpPr>
        <p:spPr>
          <a:xfrm>
            <a:off x="324000" y="1911463"/>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9" name="Google Shape;1169;p101"/>
          <p:cNvSpPr/>
          <p:nvPr/>
        </p:nvSpPr>
        <p:spPr>
          <a:xfrm>
            <a:off x="324000" y="2368663"/>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10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175" name="Google Shape;1175;p102"/>
          <p:cNvSpPr txBox="1"/>
          <p:nvPr>
            <p:ph idx="1" type="body"/>
          </p:nvPr>
        </p:nvSpPr>
        <p:spPr>
          <a:xfrm>
            <a:off x="324000" y="8100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Number of schools in the UK:</a:t>
            </a:r>
            <a:endParaRPr sz="1800"/>
          </a:p>
        </p:txBody>
      </p:sp>
      <p:sp>
        <p:nvSpPr>
          <p:cNvPr id="1176" name="Google Shape;1176;p102"/>
          <p:cNvSpPr txBox="1"/>
          <p:nvPr>
            <p:ph idx="1" type="body"/>
          </p:nvPr>
        </p:nvSpPr>
        <p:spPr>
          <a:xfrm>
            <a:off x="705000" y="1260775"/>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know the UK population is approximately 70 million. </a:t>
            </a:r>
            <a:endParaRPr sz="1800"/>
          </a:p>
        </p:txBody>
      </p:sp>
      <p:sp>
        <p:nvSpPr>
          <p:cNvPr id="1177" name="Google Shape;1177;p102"/>
          <p:cNvSpPr txBox="1"/>
          <p:nvPr>
            <p:ph idx="1" type="body"/>
          </p:nvPr>
        </p:nvSpPr>
        <p:spPr>
          <a:xfrm>
            <a:off x="705000" y="17181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know the average life expectancy is approximately 80 years.</a:t>
            </a:r>
            <a:endParaRPr sz="1800"/>
          </a:p>
        </p:txBody>
      </p:sp>
      <p:sp>
        <p:nvSpPr>
          <p:cNvPr id="1178" name="Google Shape;1178;p102"/>
          <p:cNvSpPr txBox="1"/>
          <p:nvPr>
            <p:ph idx="1" type="body"/>
          </p:nvPr>
        </p:nvSpPr>
        <p:spPr>
          <a:xfrm>
            <a:off x="705000" y="2223725"/>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10% are secondary school age that would be 7 million pupils. </a:t>
            </a:r>
            <a:endParaRPr sz="1800"/>
          </a:p>
        </p:txBody>
      </p:sp>
      <p:sp>
        <p:nvSpPr>
          <p:cNvPr id="1179" name="Google Shape;1179;p102"/>
          <p:cNvSpPr txBox="1"/>
          <p:nvPr>
            <p:ph idx="1" type="body"/>
          </p:nvPr>
        </p:nvSpPr>
        <p:spPr>
          <a:xfrm>
            <a:off x="628800" y="272935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there are approximately 1000 pupils per school that would be: </a:t>
            </a:r>
            <a:r>
              <a:rPr lang="en-GB" sz="1800"/>
              <a:t>  </a:t>
            </a:r>
            <a:endParaRPr sz="1800"/>
          </a:p>
        </p:txBody>
      </p:sp>
      <p:sp>
        <p:nvSpPr>
          <p:cNvPr id="1180" name="Google Shape;1180;p102"/>
          <p:cNvSpPr txBox="1"/>
          <p:nvPr/>
        </p:nvSpPr>
        <p:spPr>
          <a:xfrm>
            <a:off x="628800" y="3186675"/>
            <a:ext cx="6798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7 000 000</a:t>
            </a:r>
            <a:r>
              <a:rPr lang="en-GB" sz="1800">
                <a:solidFill>
                  <a:srgbClr val="000000"/>
                </a:solidFill>
                <a:latin typeface="Lexend"/>
                <a:ea typeface="Lexend"/>
                <a:cs typeface="Lexend"/>
                <a:sym typeface="Lexend"/>
              </a:rPr>
              <a:t> ÷ </a:t>
            </a:r>
            <a:r>
              <a:rPr lang="en-GB" sz="1800">
                <a:latin typeface="Lexend"/>
                <a:ea typeface="Lexend"/>
                <a:cs typeface="Lexend"/>
                <a:sym typeface="Lexend"/>
              </a:rPr>
              <a:t>1000</a:t>
            </a:r>
            <a:r>
              <a:rPr lang="en-GB" sz="1800">
                <a:solidFill>
                  <a:srgbClr val="000000"/>
                </a:solidFill>
                <a:latin typeface="Lexend"/>
                <a:ea typeface="Lexend"/>
                <a:cs typeface="Lexend"/>
                <a:sym typeface="Lexend"/>
              </a:rPr>
              <a:t> = </a:t>
            </a:r>
            <a:r>
              <a:rPr lang="en-GB" sz="1800">
                <a:latin typeface="Lexend"/>
                <a:ea typeface="Lexend"/>
                <a:cs typeface="Lexend"/>
                <a:sym typeface="Lexend"/>
              </a:rPr>
              <a:t>7000</a:t>
            </a:r>
            <a:r>
              <a:rPr lang="en-GB" sz="1800">
                <a:solidFill>
                  <a:srgbClr val="000000"/>
                </a:solidFill>
                <a:latin typeface="Lexend"/>
                <a:ea typeface="Lexend"/>
                <a:cs typeface="Lexend"/>
                <a:sym typeface="Lexend"/>
              </a:rPr>
              <a:t> schools</a:t>
            </a:r>
            <a:endParaRPr sz="1800">
              <a:solidFill>
                <a:srgbClr val="000000"/>
              </a:solidFill>
              <a:latin typeface="Lexend"/>
              <a:ea typeface="Lexend"/>
              <a:cs typeface="Lexend"/>
              <a:sym typeface="Lexend"/>
            </a:endParaRPr>
          </a:p>
        </p:txBody>
      </p:sp>
      <p:sp>
        <p:nvSpPr>
          <p:cNvPr id="1181" name="Google Shape;1181;p102"/>
          <p:cNvSpPr txBox="1"/>
          <p:nvPr/>
        </p:nvSpPr>
        <p:spPr>
          <a:xfrm>
            <a:off x="324000" y="3723375"/>
            <a:ext cx="8496000" cy="41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Izzy’s prediction of 1000 seems a little low compared to this. </a:t>
            </a:r>
            <a:endParaRPr sz="1800">
              <a:latin typeface="Lexend"/>
              <a:ea typeface="Lexend"/>
              <a:cs typeface="Lexend"/>
              <a:sym typeface="Lexend"/>
            </a:endParaRPr>
          </a:p>
          <a:p>
            <a:pPr indent="0" lvl="0" marL="0" rtl="0" algn="l">
              <a:lnSpc>
                <a:spcPct val="115000"/>
              </a:lnSpc>
              <a:spcBef>
                <a:spcPts val="1000"/>
              </a:spcBef>
              <a:spcAft>
                <a:spcPts val="1000"/>
              </a:spcAft>
              <a:buNone/>
            </a:pPr>
            <a:r>
              <a:rPr lang="en-GB" sz="1800">
                <a:latin typeface="Lexend"/>
                <a:ea typeface="Lexend"/>
                <a:cs typeface="Lexend"/>
                <a:sym typeface="Lexend"/>
              </a:rPr>
              <a:t>Remember this uses population so does not consider type of school such as: secondary school, middle school, high school, independent school etc.</a:t>
            </a:r>
            <a:endParaRPr sz="1800">
              <a:solidFill>
                <a:srgbClr val="000000"/>
              </a:solidFill>
              <a:latin typeface="Lexend"/>
              <a:ea typeface="Lexend"/>
              <a:cs typeface="Lexend"/>
              <a:sym typeface="Lexend"/>
            </a:endParaRPr>
          </a:p>
        </p:txBody>
      </p:sp>
      <p:sp>
        <p:nvSpPr>
          <p:cNvPr id="1182" name="Google Shape;1182;p102"/>
          <p:cNvSpPr/>
          <p:nvPr/>
        </p:nvSpPr>
        <p:spPr>
          <a:xfrm>
            <a:off x="324000" y="1286563"/>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3" name="Google Shape;1183;p102"/>
          <p:cNvSpPr/>
          <p:nvPr/>
        </p:nvSpPr>
        <p:spPr>
          <a:xfrm>
            <a:off x="324000" y="1759063"/>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4" name="Google Shape;1184;p102"/>
          <p:cNvSpPr/>
          <p:nvPr/>
        </p:nvSpPr>
        <p:spPr>
          <a:xfrm>
            <a:off x="324000" y="2216263"/>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5" name="Google Shape;1185;p102"/>
          <p:cNvSpPr/>
          <p:nvPr/>
        </p:nvSpPr>
        <p:spPr>
          <a:xfrm>
            <a:off x="324000" y="2749663"/>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103"/>
          <p:cNvSpPr txBox="1"/>
          <p:nvPr>
            <p:ph idx="1" type="body"/>
          </p:nvPr>
        </p:nvSpPr>
        <p:spPr>
          <a:xfrm>
            <a:off x="324000" y="87885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Our area, volume and capacity skills can help us check claims as well. </a:t>
            </a:r>
            <a:endParaRPr sz="1800"/>
          </a:p>
        </p:txBody>
      </p:sp>
      <p:sp>
        <p:nvSpPr>
          <p:cNvPr id="1191" name="Google Shape;1191;p10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Estimating to check</a:t>
            </a:r>
            <a:endParaRPr/>
          </a:p>
        </p:txBody>
      </p:sp>
      <p:sp>
        <p:nvSpPr>
          <p:cNvPr id="1192" name="Google Shape;1192;p103"/>
          <p:cNvSpPr txBox="1"/>
          <p:nvPr>
            <p:ph idx="1" type="body"/>
          </p:nvPr>
        </p:nvSpPr>
        <p:spPr>
          <a:xfrm>
            <a:off x="324000" y="1336625"/>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An </a:t>
            </a:r>
            <a:r>
              <a:rPr lang="en-GB" sz="1800"/>
              <a:t>article</a:t>
            </a:r>
            <a:r>
              <a:rPr lang="en-GB" sz="1800"/>
              <a:t> in a magazine reads: </a:t>
            </a:r>
            <a:r>
              <a:rPr lang="en-GB" sz="2000"/>
              <a:t>“Many young people are drinking enough fizzy drinks in a month to fill a bath!”</a:t>
            </a:r>
            <a:endParaRPr sz="2000"/>
          </a:p>
        </p:txBody>
      </p:sp>
      <p:sp>
        <p:nvSpPr>
          <p:cNvPr id="1193" name="Google Shape;1193;p103"/>
          <p:cNvSpPr txBox="1"/>
          <p:nvPr>
            <p:ph idx="1" type="body"/>
          </p:nvPr>
        </p:nvSpPr>
        <p:spPr>
          <a:xfrm>
            <a:off x="324000" y="229770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things do we need to know to estimate whether this claim seems realistic?</a:t>
            </a:r>
            <a:r>
              <a:rPr lang="en-GB" sz="1800"/>
              <a:t> </a:t>
            </a:r>
            <a:endParaRPr sz="1800"/>
          </a:p>
        </p:txBody>
      </p:sp>
      <p:sp>
        <p:nvSpPr>
          <p:cNvPr id="1194" name="Google Shape;1194;p103"/>
          <p:cNvSpPr txBox="1"/>
          <p:nvPr>
            <p:ph idx="1" type="body"/>
          </p:nvPr>
        </p:nvSpPr>
        <p:spPr>
          <a:xfrm>
            <a:off x="324000" y="3038850"/>
            <a:ext cx="8496000" cy="4023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Font typeface="Kalam"/>
              <a:buChar char="-"/>
            </a:pPr>
            <a:r>
              <a:rPr lang="en-GB" sz="2000">
                <a:latin typeface="Kalam"/>
                <a:ea typeface="Kalam"/>
                <a:cs typeface="Kalam"/>
                <a:sym typeface="Kalam"/>
              </a:rPr>
              <a:t>The size of a bath</a:t>
            </a:r>
            <a:endParaRPr sz="2000">
              <a:latin typeface="Kalam"/>
              <a:ea typeface="Kalam"/>
              <a:cs typeface="Kalam"/>
              <a:sym typeface="Kalam"/>
            </a:endParaRPr>
          </a:p>
          <a:p>
            <a:pPr indent="-355600" lvl="0" marL="457200" rtl="0" algn="l">
              <a:spcBef>
                <a:spcPts val="0"/>
              </a:spcBef>
              <a:spcAft>
                <a:spcPts val="0"/>
              </a:spcAft>
              <a:buSzPts val="2000"/>
              <a:buFont typeface="Kalam"/>
              <a:buChar char="-"/>
            </a:pPr>
            <a:r>
              <a:rPr lang="en-GB" sz="2000">
                <a:latin typeface="Kalam"/>
                <a:ea typeface="Kalam"/>
                <a:cs typeface="Kalam"/>
                <a:sym typeface="Kalam"/>
              </a:rPr>
              <a:t>The size of a bottle of fizzy drink</a:t>
            </a:r>
            <a:endParaRPr sz="2000">
              <a:latin typeface="Kalam"/>
              <a:ea typeface="Kalam"/>
              <a:cs typeface="Kalam"/>
              <a:sym typeface="Kalam"/>
            </a:endParaRPr>
          </a:p>
          <a:p>
            <a:pPr indent="-355600" lvl="0" marL="457200" rtl="0" algn="l">
              <a:spcBef>
                <a:spcPts val="0"/>
              </a:spcBef>
              <a:spcAft>
                <a:spcPts val="0"/>
              </a:spcAft>
              <a:buSzPts val="2000"/>
              <a:buFont typeface="Kalam"/>
              <a:buChar char="-"/>
            </a:pPr>
            <a:r>
              <a:rPr lang="en-GB" sz="2000">
                <a:latin typeface="Kalam"/>
                <a:ea typeface="Kalam"/>
                <a:cs typeface="Kalam"/>
                <a:sym typeface="Kalam"/>
              </a:rPr>
              <a:t>The number of bottles of fizzy drink young people drink</a:t>
            </a:r>
            <a:endParaRPr sz="2000">
              <a:latin typeface="Kalam"/>
              <a:ea typeface="Kalam"/>
              <a:cs typeface="Kalam"/>
              <a:sym typeface="Kalam"/>
            </a:endParaRPr>
          </a:p>
        </p:txBody>
      </p:sp>
      <p:sp>
        <p:nvSpPr>
          <p:cNvPr id="1195" name="Google Shape;1195;p103"/>
          <p:cNvSpPr txBox="1"/>
          <p:nvPr>
            <p:ph idx="1" type="body"/>
          </p:nvPr>
        </p:nvSpPr>
        <p:spPr>
          <a:xfrm>
            <a:off x="324000" y="4218975"/>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There are lots of ways to start this, how big do you think the average bath is?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04"/>
          <p:cNvSpPr txBox="1"/>
          <p:nvPr>
            <p:ph idx="1" type="body"/>
          </p:nvPr>
        </p:nvSpPr>
        <p:spPr>
          <a:xfrm>
            <a:off x="324000" y="934325"/>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You could use your own height to help you.</a:t>
            </a:r>
            <a:endParaRPr sz="1800"/>
          </a:p>
        </p:txBody>
      </p:sp>
      <p:sp>
        <p:nvSpPr>
          <p:cNvPr id="1201" name="Google Shape;1201;p10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202" name="Google Shape;1202;p104"/>
          <p:cNvSpPr txBox="1"/>
          <p:nvPr>
            <p:ph idx="1" type="body"/>
          </p:nvPr>
        </p:nvSpPr>
        <p:spPr>
          <a:xfrm>
            <a:off x="628800" y="1524225"/>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interior length might be approximately 150 cm.</a:t>
            </a:r>
            <a:endParaRPr sz="1800"/>
          </a:p>
        </p:txBody>
      </p:sp>
      <p:sp>
        <p:nvSpPr>
          <p:cNvPr id="1203" name="Google Shape;1203;p104"/>
          <p:cNvSpPr txBox="1"/>
          <p:nvPr>
            <p:ph idx="1" type="body"/>
          </p:nvPr>
        </p:nvSpPr>
        <p:spPr>
          <a:xfrm>
            <a:off x="324000" y="257175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a:t>
            </a:r>
            <a:r>
              <a:rPr lang="en-GB" sz="1800"/>
              <a:t> claim said ‘fill a bath’ how deep do you think a bath has to be to be considered ‘full’?</a:t>
            </a:r>
            <a:endParaRPr sz="1800"/>
          </a:p>
        </p:txBody>
      </p:sp>
      <p:sp>
        <p:nvSpPr>
          <p:cNvPr id="1204" name="Google Shape;1204;p104"/>
          <p:cNvSpPr txBox="1"/>
          <p:nvPr>
            <p:ph idx="1" type="body"/>
          </p:nvPr>
        </p:nvSpPr>
        <p:spPr>
          <a:xfrm>
            <a:off x="628800" y="1986588"/>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interior width might be approximately 60 cm.</a:t>
            </a:r>
            <a:endParaRPr sz="1800"/>
          </a:p>
        </p:txBody>
      </p:sp>
      <p:sp>
        <p:nvSpPr>
          <p:cNvPr id="1205" name="Google Shape;1205;p104"/>
          <p:cNvSpPr txBox="1"/>
          <p:nvPr>
            <p:ph idx="1" type="body"/>
          </p:nvPr>
        </p:nvSpPr>
        <p:spPr>
          <a:xfrm>
            <a:off x="648000" y="3336275"/>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Approximately</a:t>
            </a:r>
            <a:r>
              <a:rPr lang="en-GB" sz="1800"/>
              <a:t> 30 cm depth.</a:t>
            </a:r>
            <a:endParaRPr sz="1800"/>
          </a:p>
        </p:txBody>
      </p:sp>
      <p:sp>
        <p:nvSpPr>
          <p:cNvPr id="1206" name="Google Shape;1206;p104"/>
          <p:cNvSpPr txBox="1"/>
          <p:nvPr>
            <p:ph idx="1" type="body"/>
          </p:nvPr>
        </p:nvSpPr>
        <p:spPr>
          <a:xfrm>
            <a:off x="324000" y="385670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Using my figures or your own figures, work out the volume of the interior of the bath in cm</a:t>
            </a:r>
            <a:r>
              <a:rPr baseline="30000" lang="en-GB" sz="1800"/>
              <a:t>3</a:t>
            </a:r>
            <a:r>
              <a:rPr lang="en-GB" sz="1700"/>
              <a:t>.</a:t>
            </a:r>
            <a:endParaRPr sz="1700"/>
          </a:p>
        </p:txBody>
      </p:sp>
      <p:sp>
        <p:nvSpPr>
          <p:cNvPr id="1207" name="Google Shape;1207;p104"/>
          <p:cNvSpPr/>
          <p:nvPr/>
        </p:nvSpPr>
        <p:spPr>
          <a:xfrm>
            <a:off x="324000" y="1539050"/>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8" name="Google Shape;1208;p104"/>
          <p:cNvSpPr/>
          <p:nvPr/>
        </p:nvSpPr>
        <p:spPr>
          <a:xfrm>
            <a:off x="324000" y="1986575"/>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9" name="Google Shape;1209;p104"/>
          <p:cNvSpPr/>
          <p:nvPr/>
        </p:nvSpPr>
        <p:spPr>
          <a:xfrm>
            <a:off x="324000" y="3380125"/>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105"/>
          <p:cNvSpPr txBox="1"/>
          <p:nvPr>
            <p:ph idx="1" type="body"/>
          </p:nvPr>
        </p:nvSpPr>
        <p:spPr>
          <a:xfrm>
            <a:off x="324000" y="222805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Using my figures: </a:t>
            </a:r>
            <a:endParaRPr sz="2000">
              <a:latin typeface="Kalam"/>
              <a:ea typeface="Kalam"/>
              <a:cs typeface="Kalam"/>
              <a:sym typeface="Kalam"/>
            </a:endParaRPr>
          </a:p>
        </p:txBody>
      </p:sp>
      <p:sp>
        <p:nvSpPr>
          <p:cNvPr id="1215" name="Google Shape;1215;p10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216" name="Google Shape;1216;p105"/>
          <p:cNvSpPr txBox="1"/>
          <p:nvPr>
            <p:ph idx="1" type="body"/>
          </p:nvPr>
        </p:nvSpPr>
        <p:spPr>
          <a:xfrm>
            <a:off x="324000" y="266555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150 × 60 × 30 = 270 000 cm</a:t>
            </a:r>
            <a:r>
              <a:rPr baseline="30000" lang="en-GB" sz="2000">
                <a:latin typeface="Kalam"/>
                <a:ea typeface="Kalam"/>
                <a:cs typeface="Kalam"/>
                <a:sym typeface="Kalam"/>
              </a:rPr>
              <a:t>3</a:t>
            </a:r>
            <a:endParaRPr baseline="30000" sz="2000">
              <a:latin typeface="Kalam"/>
              <a:ea typeface="Kalam"/>
              <a:cs typeface="Kalam"/>
              <a:sym typeface="Kalam"/>
            </a:endParaRPr>
          </a:p>
        </p:txBody>
      </p:sp>
      <p:sp>
        <p:nvSpPr>
          <p:cNvPr id="1217" name="Google Shape;1217;p105"/>
          <p:cNvSpPr txBox="1"/>
          <p:nvPr>
            <p:ph idx="1" type="body"/>
          </p:nvPr>
        </p:nvSpPr>
        <p:spPr>
          <a:xfrm>
            <a:off x="628800" y="81000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interior length might be approximately 150 cm</a:t>
            </a:r>
            <a:endParaRPr sz="1800"/>
          </a:p>
        </p:txBody>
      </p:sp>
      <p:sp>
        <p:nvSpPr>
          <p:cNvPr id="1218" name="Google Shape;1218;p105"/>
          <p:cNvSpPr txBox="1"/>
          <p:nvPr>
            <p:ph idx="1" type="body"/>
          </p:nvPr>
        </p:nvSpPr>
        <p:spPr>
          <a:xfrm>
            <a:off x="628800" y="1272363"/>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interior width might be approximately 60 cm</a:t>
            </a:r>
            <a:endParaRPr sz="1800"/>
          </a:p>
        </p:txBody>
      </p:sp>
      <p:sp>
        <p:nvSpPr>
          <p:cNvPr id="1219" name="Google Shape;1219;p105"/>
          <p:cNvSpPr txBox="1"/>
          <p:nvPr>
            <p:ph idx="1" type="body"/>
          </p:nvPr>
        </p:nvSpPr>
        <p:spPr>
          <a:xfrm>
            <a:off x="648000" y="170765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Approximately 30 cm depth</a:t>
            </a:r>
            <a:endParaRPr sz="1800"/>
          </a:p>
        </p:txBody>
      </p:sp>
      <p:sp>
        <p:nvSpPr>
          <p:cNvPr id="1220" name="Google Shape;1220;p105"/>
          <p:cNvSpPr/>
          <p:nvPr/>
        </p:nvSpPr>
        <p:spPr>
          <a:xfrm>
            <a:off x="324000" y="824825"/>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1" name="Google Shape;1221;p105"/>
          <p:cNvSpPr/>
          <p:nvPr/>
        </p:nvSpPr>
        <p:spPr>
          <a:xfrm>
            <a:off x="324000" y="1272350"/>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2" name="Google Shape;1222;p105"/>
          <p:cNvSpPr/>
          <p:nvPr/>
        </p:nvSpPr>
        <p:spPr>
          <a:xfrm>
            <a:off x="324000" y="1751500"/>
            <a:ext cx="242400" cy="2451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3" name="Google Shape;1223;p105"/>
          <p:cNvSpPr txBox="1"/>
          <p:nvPr>
            <p:ph idx="1" type="body"/>
          </p:nvPr>
        </p:nvSpPr>
        <p:spPr>
          <a:xfrm>
            <a:off x="324000" y="310305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1 cm</a:t>
            </a:r>
            <a:r>
              <a:rPr baseline="30000" lang="en-GB" sz="1800"/>
              <a:t>3</a:t>
            </a:r>
            <a:r>
              <a:rPr lang="en-GB" sz="1800"/>
              <a:t> is equivalent to 1 ml how many litres would it take to ‘fill’ the bath?</a:t>
            </a:r>
            <a:r>
              <a:rPr lang="en-GB" sz="1800"/>
              <a:t> </a:t>
            </a:r>
            <a:endParaRPr sz="1800"/>
          </a:p>
        </p:txBody>
      </p:sp>
      <p:sp>
        <p:nvSpPr>
          <p:cNvPr id="1224" name="Google Shape;1224;p105"/>
          <p:cNvSpPr txBox="1"/>
          <p:nvPr>
            <p:ph idx="1" type="body"/>
          </p:nvPr>
        </p:nvSpPr>
        <p:spPr>
          <a:xfrm>
            <a:off x="324000" y="3505350"/>
            <a:ext cx="22233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Using my figures: </a:t>
            </a:r>
            <a:endParaRPr sz="2000">
              <a:latin typeface="Kalam"/>
              <a:ea typeface="Kalam"/>
              <a:cs typeface="Kalam"/>
              <a:sym typeface="Kalam"/>
            </a:endParaRPr>
          </a:p>
        </p:txBody>
      </p:sp>
      <p:sp>
        <p:nvSpPr>
          <p:cNvPr id="1225" name="Google Shape;1225;p105"/>
          <p:cNvSpPr txBox="1"/>
          <p:nvPr>
            <p:ph idx="1" type="body"/>
          </p:nvPr>
        </p:nvSpPr>
        <p:spPr>
          <a:xfrm>
            <a:off x="324000" y="3878700"/>
            <a:ext cx="33705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27</a:t>
            </a:r>
            <a:r>
              <a:rPr lang="en-GB" sz="2000">
                <a:latin typeface="Kalam"/>
                <a:ea typeface="Kalam"/>
                <a:cs typeface="Kalam"/>
                <a:sym typeface="Kalam"/>
              </a:rPr>
              <a:t>0 000 cm</a:t>
            </a:r>
            <a:r>
              <a:rPr baseline="30000" lang="en-GB" sz="2000">
                <a:latin typeface="Kalam"/>
                <a:ea typeface="Kalam"/>
                <a:cs typeface="Kalam"/>
                <a:sym typeface="Kalam"/>
              </a:rPr>
              <a:t>3</a:t>
            </a:r>
            <a:r>
              <a:rPr lang="en-GB" sz="2000">
                <a:latin typeface="Kalam"/>
                <a:ea typeface="Kalam"/>
                <a:cs typeface="Kalam"/>
                <a:sym typeface="Kalam"/>
              </a:rPr>
              <a:t> = 270 000 ml</a:t>
            </a:r>
            <a:endParaRPr sz="2000">
              <a:latin typeface="Kalam"/>
              <a:ea typeface="Kalam"/>
              <a:cs typeface="Kalam"/>
              <a:sym typeface="Kalam"/>
            </a:endParaRPr>
          </a:p>
        </p:txBody>
      </p:sp>
      <p:sp>
        <p:nvSpPr>
          <p:cNvPr id="1226" name="Google Shape;1226;p105"/>
          <p:cNvSpPr txBox="1"/>
          <p:nvPr>
            <p:ph idx="1" type="body"/>
          </p:nvPr>
        </p:nvSpPr>
        <p:spPr>
          <a:xfrm>
            <a:off x="324000" y="4345150"/>
            <a:ext cx="33705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27</a:t>
            </a:r>
            <a:r>
              <a:rPr lang="en-GB" sz="2000">
                <a:latin typeface="Kalam"/>
                <a:ea typeface="Kalam"/>
                <a:cs typeface="Kalam"/>
                <a:sym typeface="Kalam"/>
              </a:rPr>
              <a:t>0 000 ÷ 1000 = 270 litres</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0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232" name="Google Shape;1232;p106"/>
          <p:cNvSpPr txBox="1"/>
          <p:nvPr>
            <p:ph idx="1" type="body"/>
          </p:nvPr>
        </p:nvSpPr>
        <p:spPr>
          <a:xfrm>
            <a:off x="352875" y="810000"/>
            <a:ext cx="8496000" cy="40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Does drinking 270 litres of fizzy drink a month sound reasonable? </a:t>
            </a:r>
            <a:endParaRPr sz="1800"/>
          </a:p>
          <a:p>
            <a:pPr indent="0" lvl="0" marL="0" rtl="0" algn="l">
              <a:spcBef>
                <a:spcPts val="1000"/>
              </a:spcBef>
              <a:spcAft>
                <a:spcPts val="1000"/>
              </a:spcAft>
              <a:buNone/>
            </a:pPr>
            <a:r>
              <a:rPr lang="en-GB" sz="1800"/>
              <a:t>How could we break that down into a value which is easier to interpret? </a:t>
            </a:r>
            <a:r>
              <a:rPr lang="en-GB" sz="1800"/>
              <a:t> </a:t>
            </a:r>
            <a:endParaRPr sz="1800"/>
          </a:p>
        </p:txBody>
      </p:sp>
      <p:sp>
        <p:nvSpPr>
          <p:cNvPr id="1233" name="Google Shape;1233;p106"/>
          <p:cNvSpPr txBox="1"/>
          <p:nvPr>
            <p:ph idx="1" type="body"/>
          </p:nvPr>
        </p:nvSpPr>
        <p:spPr>
          <a:xfrm>
            <a:off x="324000" y="2218200"/>
            <a:ext cx="33705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270 ÷ 30 = 9 litres a day</a:t>
            </a:r>
            <a:endParaRPr sz="1800"/>
          </a:p>
        </p:txBody>
      </p:sp>
      <p:sp>
        <p:nvSpPr>
          <p:cNvPr id="1234" name="Google Shape;1234;p106"/>
          <p:cNvSpPr txBox="1"/>
          <p:nvPr>
            <p:ph idx="1" type="body"/>
          </p:nvPr>
        </p:nvSpPr>
        <p:spPr>
          <a:xfrm>
            <a:off x="324000" y="1800600"/>
            <a:ext cx="4500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There are roughly 30 days in a month </a:t>
            </a:r>
            <a:r>
              <a:rPr lang="en-GB" sz="1800"/>
              <a:t>  </a:t>
            </a:r>
            <a:endParaRPr sz="1800"/>
          </a:p>
        </p:txBody>
      </p:sp>
      <p:sp>
        <p:nvSpPr>
          <p:cNvPr id="1235" name="Google Shape;1235;p106"/>
          <p:cNvSpPr txBox="1"/>
          <p:nvPr>
            <p:ph idx="1" type="body"/>
          </p:nvPr>
        </p:nvSpPr>
        <p:spPr>
          <a:xfrm>
            <a:off x="324000" y="2776200"/>
            <a:ext cx="8496000" cy="40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big bottle of fizzy drink is normally 2 litres so this would be 4.5 large bottles a day. This is definitely not a reasonable claim.  </a:t>
            </a:r>
            <a:r>
              <a:rPr lang="en-GB" sz="1800"/>
              <a:t>   </a:t>
            </a:r>
            <a:endParaRPr sz="1800"/>
          </a:p>
        </p:txBody>
      </p:sp>
      <p:sp>
        <p:nvSpPr>
          <p:cNvPr id="1236" name="Google Shape;1236;p106"/>
          <p:cNvSpPr txBox="1"/>
          <p:nvPr>
            <p:ph idx="1" type="body"/>
          </p:nvPr>
        </p:nvSpPr>
        <p:spPr>
          <a:xfrm>
            <a:off x="324000" y="3610950"/>
            <a:ext cx="8496000" cy="57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person who wrote this </a:t>
            </a:r>
            <a:r>
              <a:rPr lang="en-GB" sz="1800"/>
              <a:t>article</a:t>
            </a:r>
            <a:r>
              <a:rPr lang="en-GB" sz="1800"/>
              <a:t> is likely to have underestimated the size of a bath or </a:t>
            </a:r>
            <a:r>
              <a:rPr lang="en-GB" sz="1800"/>
              <a:t>interpreted</a:t>
            </a:r>
            <a:r>
              <a:rPr lang="en-GB" sz="1800"/>
              <a:t> the word ‘full’ </a:t>
            </a:r>
            <a:r>
              <a:rPr lang="en-GB" sz="1800"/>
              <a:t>differently</a:t>
            </a:r>
            <a:r>
              <a:rPr lang="en-GB" sz="1800"/>
              <a:t>. </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10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242" name="Google Shape;1242;p107"/>
          <p:cNvSpPr txBox="1"/>
          <p:nvPr>
            <p:ph idx="1" type="body"/>
          </p:nvPr>
        </p:nvSpPr>
        <p:spPr>
          <a:xfrm>
            <a:off x="324000" y="810000"/>
            <a:ext cx="8496000" cy="57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 deep would a 140 cm by 50 cm bath be if 60 litres of drink was poured in?     </a:t>
            </a:r>
            <a:endParaRPr sz="1800"/>
          </a:p>
        </p:txBody>
      </p:sp>
      <p:sp>
        <p:nvSpPr>
          <p:cNvPr id="1243" name="Google Shape;1243;p107"/>
          <p:cNvSpPr txBox="1"/>
          <p:nvPr>
            <p:ph idx="1" type="body"/>
          </p:nvPr>
        </p:nvSpPr>
        <p:spPr>
          <a:xfrm>
            <a:off x="324000" y="1543800"/>
            <a:ext cx="84960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140 × 50 = 7000 </a:t>
            </a:r>
            <a:r>
              <a:rPr lang="en-GB" sz="1800"/>
              <a:t>   </a:t>
            </a:r>
            <a:endParaRPr sz="1800"/>
          </a:p>
        </p:txBody>
      </p:sp>
      <p:sp>
        <p:nvSpPr>
          <p:cNvPr id="1244" name="Google Shape;1244;p107"/>
          <p:cNvSpPr txBox="1"/>
          <p:nvPr>
            <p:ph idx="1" type="body"/>
          </p:nvPr>
        </p:nvSpPr>
        <p:spPr>
          <a:xfrm>
            <a:off x="324000" y="3359100"/>
            <a:ext cx="84960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60 000</a:t>
            </a:r>
            <a:r>
              <a:rPr lang="en-GB" sz="2000">
                <a:latin typeface="Kalam"/>
                <a:ea typeface="Kalam"/>
                <a:cs typeface="Kalam"/>
                <a:sym typeface="Kalam"/>
              </a:rPr>
              <a:t> ÷ 7000 = 8.57… </a:t>
            </a:r>
            <a:r>
              <a:rPr lang="en-GB" sz="1800"/>
              <a:t>   </a:t>
            </a:r>
            <a:endParaRPr sz="1800"/>
          </a:p>
        </p:txBody>
      </p:sp>
      <p:sp>
        <p:nvSpPr>
          <p:cNvPr id="1245" name="Google Shape;1245;p107"/>
          <p:cNvSpPr txBox="1"/>
          <p:nvPr>
            <p:ph idx="1" type="body"/>
          </p:nvPr>
        </p:nvSpPr>
        <p:spPr>
          <a:xfrm>
            <a:off x="324000" y="3790950"/>
            <a:ext cx="74907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Roughly 8.6 cm deep (definitely cannot claim this is a full bath!)</a:t>
            </a:r>
            <a:r>
              <a:rPr lang="en-GB" sz="2000">
                <a:latin typeface="Kalam"/>
                <a:ea typeface="Kalam"/>
                <a:cs typeface="Kalam"/>
                <a:sym typeface="Kalam"/>
              </a:rPr>
              <a:t> </a:t>
            </a:r>
            <a:r>
              <a:rPr lang="en-GB" sz="1800"/>
              <a:t>   </a:t>
            </a:r>
            <a:endParaRPr sz="1800"/>
          </a:p>
        </p:txBody>
      </p:sp>
      <p:sp>
        <p:nvSpPr>
          <p:cNvPr id="1246" name="Google Shape;1246;p107"/>
          <p:cNvSpPr txBox="1"/>
          <p:nvPr>
            <p:ph idx="1" type="body"/>
          </p:nvPr>
        </p:nvSpPr>
        <p:spPr>
          <a:xfrm>
            <a:off x="324000" y="1908975"/>
            <a:ext cx="84960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Area of the base of the bath is 7000 cm</a:t>
            </a:r>
            <a:r>
              <a:rPr baseline="30000" lang="en-GB" sz="2000">
                <a:latin typeface="Kalam"/>
                <a:ea typeface="Kalam"/>
                <a:cs typeface="Kalam"/>
                <a:sym typeface="Kalam"/>
              </a:rPr>
              <a:t>2</a:t>
            </a:r>
            <a:r>
              <a:rPr lang="en-GB" sz="2000">
                <a:latin typeface="Kalam"/>
                <a:ea typeface="Kalam"/>
                <a:cs typeface="Kalam"/>
                <a:sym typeface="Kalam"/>
              </a:rPr>
              <a:t> </a:t>
            </a:r>
            <a:r>
              <a:rPr lang="en-GB" sz="1800"/>
              <a:t>   </a:t>
            </a:r>
            <a:endParaRPr sz="1800"/>
          </a:p>
        </p:txBody>
      </p:sp>
      <p:sp>
        <p:nvSpPr>
          <p:cNvPr id="1247" name="Google Shape;1247;p107"/>
          <p:cNvSpPr txBox="1"/>
          <p:nvPr>
            <p:ph idx="1" type="body"/>
          </p:nvPr>
        </p:nvSpPr>
        <p:spPr>
          <a:xfrm>
            <a:off x="324000" y="2329238"/>
            <a:ext cx="84960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60 litres is 60 000 ml </a:t>
            </a:r>
            <a:r>
              <a:rPr lang="en-GB" sz="1800"/>
              <a:t>   </a:t>
            </a:r>
            <a:endParaRPr sz="1800"/>
          </a:p>
        </p:txBody>
      </p:sp>
      <p:sp>
        <p:nvSpPr>
          <p:cNvPr id="1248" name="Google Shape;1248;p107"/>
          <p:cNvSpPr txBox="1"/>
          <p:nvPr>
            <p:ph idx="1" type="body"/>
          </p:nvPr>
        </p:nvSpPr>
        <p:spPr>
          <a:xfrm>
            <a:off x="324000" y="2839188"/>
            <a:ext cx="84960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60 000 ml = 60 000 cm</a:t>
            </a:r>
            <a:r>
              <a:rPr baseline="30000" lang="en-GB" sz="2000">
                <a:latin typeface="Kalam"/>
                <a:ea typeface="Kalam"/>
                <a:cs typeface="Kalam"/>
                <a:sym typeface="Kalam"/>
              </a:rPr>
              <a:t>3</a:t>
            </a:r>
            <a:r>
              <a:rPr lang="en-GB" sz="2000">
                <a:latin typeface="Kalam"/>
                <a:ea typeface="Kalam"/>
                <a:cs typeface="Kalam"/>
                <a:sym typeface="Kalam"/>
              </a:rPr>
              <a:t> </a:t>
            </a:r>
            <a:r>
              <a:rPr lang="en-GB" sz="1800"/>
              <a:t>   </a:t>
            </a:r>
            <a:endParaRPr sz="1800"/>
          </a:p>
        </p:txBody>
      </p:sp>
      <p:sp>
        <p:nvSpPr>
          <p:cNvPr id="1249" name="Google Shape;1249;p107"/>
          <p:cNvSpPr txBox="1"/>
          <p:nvPr>
            <p:ph idx="1" type="body"/>
          </p:nvPr>
        </p:nvSpPr>
        <p:spPr>
          <a:xfrm>
            <a:off x="324000" y="4243800"/>
            <a:ext cx="8496000" cy="57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So even assuming people drink 2 litres of fizzy drink a day, this claim is </a:t>
            </a:r>
            <a:r>
              <a:rPr lang="en-GB" sz="1800"/>
              <a:t>ridiculous.</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108"/>
          <p:cNvSpPr txBox="1"/>
          <p:nvPr>
            <p:ph idx="1" type="body"/>
          </p:nvPr>
        </p:nvSpPr>
        <p:spPr>
          <a:xfrm>
            <a:off x="324000" y="759300"/>
            <a:ext cx="8496000" cy="1246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An </a:t>
            </a:r>
            <a:r>
              <a:rPr lang="en-GB" sz="1900"/>
              <a:t>article claims: “You will spend 10% of your life in a school classroom.”</a:t>
            </a:r>
            <a:endParaRPr sz="1900"/>
          </a:p>
          <a:p>
            <a:pPr indent="0" lvl="0" marL="0" rtl="0" algn="l">
              <a:spcBef>
                <a:spcPts val="1000"/>
              </a:spcBef>
              <a:spcAft>
                <a:spcPts val="1000"/>
              </a:spcAft>
              <a:buNone/>
            </a:pPr>
            <a:r>
              <a:rPr lang="en-GB" sz="1900"/>
              <a:t>Answer the questions below and use those to state whether this claim realistic. </a:t>
            </a:r>
            <a:endParaRPr sz="1900"/>
          </a:p>
        </p:txBody>
      </p:sp>
      <p:sp>
        <p:nvSpPr>
          <p:cNvPr id="1255" name="Google Shape;1255;p10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256" name="Google Shape;1256;p108"/>
          <p:cNvSpPr txBox="1"/>
          <p:nvPr>
            <p:ph idx="1" type="body"/>
          </p:nvPr>
        </p:nvSpPr>
        <p:spPr>
          <a:xfrm>
            <a:off x="324000" y="2076600"/>
            <a:ext cx="8496000" cy="178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How many hours a day are you in a classroom?</a:t>
            </a:r>
            <a:endParaRPr sz="1800"/>
          </a:p>
          <a:p>
            <a:pPr indent="0" lvl="0" marL="0" rtl="0" algn="l">
              <a:spcBef>
                <a:spcPts val="1000"/>
              </a:spcBef>
              <a:spcAft>
                <a:spcPts val="0"/>
              </a:spcAft>
              <a:buNone/>
            </a:pPr>
            <a:r>
              <a:rPr lang="en-GB" sz="1800"/>
              <a:t>How many weeks of holiday are there every year?</a:t>
            </a:r>
            <a:endParaRPr sz="1800"/>
          </a:p>
          <a:p>
            <a:pPr indent="0" lvl="0" marL="0" rtl="0" algn="l">
              <a:spcBef>
                <a:spcPts val="1000"/>
              </a:spcBef>
              <a:spcAft>
                <a:spcPts val="0"/>
              </a:spcAft>
              <a:buNone/>
            </a:pPr>
            <a:r>
              <a:rPr lang="en-GB" sz="1800"/>
              <a:t>How many years are you in school?</a:t>
            </a:r>
            <a:endParaRPr sz="1800"/>
          </a:p>
          <a:p>
            <a:pPr indent="0" lvl="0" marL="0" rtl="0" algn="l">
              <a:spcBef>
                <a:spcPts val="1000"/>
              </a:spcBef>
              <a:spcAft>
                <a:spcPts val="1000"/>
              </a:spcAft>
              <a:buNone/>
            </a:pPr>
            <a:r>
              <a:rPr lang="en-GB" sz="1800"/>
              <a:t>What is the average </a:t>
            </a:r>
            <a:r>
              <a:rPr lang="en-GB" sz="1800"/>
              <a:t>lifespan</a:t>
            </a:r>
            <a:r>
              <a:rPr lang="en-GB" sz="1800"/>
              <a:t> in the UK? </a:t>
            </a:r>
            <a:r>
              <a:rPr lang="en-GB" sz="1800"/>
              <a:t> </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pic>
        <p:nvPicPr>
          <p:cNvPr descr="&lt;math xmlns=&quot;http://www.w3.org/1998/Math/MathML&quot; display=&quot;block&quot; data-is-equatio=&quot;1&quot; data-latex=&quot;\frac{1.56}{80}=0.01947...\ =\ 1.95\%&quot;&gt;&lt;mfrac&gt;&lt;mn&gt;1.56&lt;/mn&gt;&lt;mn&gt;80&lt;/mn&gt;&lt;/mfrac&gt;&lt;mo&gt;=&lt;/mo&gt;&lt;mn&gt;0.01947&lt;/mn&gt;&lt;mo&gt;.&lt;/mo&gt;&lt;mo&gt;.&lt;/mo&gt;&lt;mo&gt;.&lt;/mo&gt;&lt;mtext&gt;&lt;/mtext&gt;&lt;mo&gt;=&lt;/mo&gt;&lt;mtext&gt;&lt;/mtext&gt;&lt;mn&gt;1.95&lt;/mn&gt;&lt;mi mathvariant=&quot;normal&quot;&gt;%&lt;/mi&gt;&lt;/math&gt;" id="1261" name="Google Shape;1261;p109" title="1.56 over 80 equals 0.01947 period period period equals 1.95 percent sign"/>
          <p:cNvPicPr preferRelativeResize="0"/>
          <p:nvPr/>
        </p:nvPicPr>
        <p:blipFill>
          <a:blip r:embed="rId3">
            <a:alphaModFix/>
          </a:blip>
          <a:stretch>
            <a:fillRect/>
          </a:stretch>
        </p:blipFill>
        <p:spPr>
          <a:xfrm>
            <a:off x="4826291" y="2987742"/>
            <a:ext cx="2722796" cy="500550"/>
          </a:xfrm>
          <a:prstGeom prst="rect">
            <a:avLst/>
          </a:prstGeom>
          <a:noFill/>
          <a:ln>
            <a:noFill/>
          </a:ln>
        </p:spPr>
      </p:pic>
      <p:sp>
        <p:nvSpPr>
          <p:cNvPr id="1262" name="Google Shape;1262;p10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263" name="Google Shape;1263;p109"/>
          <p:cNvSpPr txBox="1"/>
          <p:nvPr>
            <p:ph idx="1" type="body"/>
          </p:nvPr>
        </p:nvSpPr>
        <p:spPr>
          <a:xfrm>
            <a:off x="324000" y="810000"/>
            <a:ext cx="8530200" cy="1783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An article claims: “You will spend 10% of your life in a school classroom.”</a:t>
            </a:r>
            <a:endParaRPr sz="1900"/>
          </a:p>
          <a:p>
            <a:pPr indent="0" lvl="0" marL="0" rtl="0" algn="l">
              <a:lnSpc>
                <a:spcPct val="100000"/>
              </a:lnSpc>
              <a:spcBef>
                <a:spcPts val="1000"/>
              </a:spcBef>
              <a:spcAft>
                <a:spcPts val="0"/>
              </a:spcAft>
              <a:buNone/>
            </a:pPr>
            <a:r>
              <a:rPr lang="en-GB" sz="1800"/>
              <a:t>How many hours a day are you in a classroom? </a:t>
            </a:r>
            <a:r>
              <a:rPr lang="en-GB" sz="2000">
                <a:latin typeface="Kalam"/>
                <a:ea typeface="Kalam"/>
                <a:cs typeface="Kalam"/>
                <a:sym typeface="Kalam"/>
              </a:rPr>
              <a:t>Approximately 5</a:t>
            </a:r>
            <a:endParaRPr sz="2000">
              <a:latin typeface="Kalam"/>
              <a:ea typeface="Kalam"/>
              <a:cs typeface="Kalam"/>
              <a:sym typeface="Kalam"/>
            </a:endParaRPr>
          </a:p>
          <a:p>
            <a:pPr indent="0" lvl="0" marL="0" rtl="0" algn="l">
              <a:lnSpc>
                <a:spcPct val="100000"/>
              </a:lnSpc>
              <a:spcBef>
                <a:spcPts val="1000"/>
              </a:spcBef>
              <a:spcAft>
                <a:spcPts val="0"/>
              </a:spcAft>
              <a:buNone/>
            </a:pPr>
            <a:r>
              <a:rPr lang="en-GB" sz="1800"/>
              <a:t>How many weeks of holiday are there every year? </a:t>
            </a:r>
            <a:r>
              <a:rPr lang="en-GB" sz="2000">
                <a:latin typeface="Kalam"/>
                <a:ea typeface="Kalam"/>
                <a:cs typeface="Kalam"/>
                <a:sym typeface="Kalam"/>
              </a:rPr>
              <a:t>Approximately 13</a:t>
            </a:r>
            <a:endParaRPr sz="1800"/>
          </a:p>
          <a:p>
            <a:pPr indent="0" lvl="0" marL="0" rtl="0" algn="l">
              <a:lnSpc>
                <a:spcPct val="100000"/>
              </a:lnSpc>
              <a:spcBef>
                <a:spcPts val="1000"/>
              </a:spcBef>
              <a:spcAft>
                <a:spcPts val="0"/>
              </a:spcAft>
              <a:buNone/>
            </a:pPr>
            <a:r>
              <a:rPr lang="en-GB" sz="1800"/>
              <a:t>How many years are you in school? (</a:t>
            </a:r>
            <a:r>
              <a:rPr lang="en-GB" sz="2000">
                <a:latin typeface="Kalam"/>
                <a:ea typeface="Kalam"/>
                <a:cs typeface="Kalam"/>
                <a:sym typeface="Kalam"/>
              </a:rPr>
              <a:t>Including reception and post 16) 14 years</a:t>
            </a:r>
            <a:r>
              <a:rPr lang="en-GB" sz="1800"/>
              <a:t> </a:t>
            </a:r>
            <a:endParaRPr sz="1800"/>
          </a:p>
          <a:p>
            <a:pPr indent="0" lvl="0" marL="0" rtl="0" algn="l">
              <a:lnSpc>
                <a:spcPct val="100000"/>
              </a:lnSpc>
              <a:spcBef>
                <a:spcPts val="1000"/>
              </a:spcBef>
              <a:spcAft>
                <a:spcPts val="1000"/>
              </a:spcAft>
              <a:buNone/>
            </a:pPr>
            <a:r>
              <a:rPr lang="en-GB" sz="1800"/>
              <a:t>What is the average lifespan in the UK?  </a:t>
            </a:r>
            <a:r>
              <a:rPr lang="en-GB" sz="2000">
                <a:latin typeface="Kalam"/>
                <a:ea typeface="Kalam"/>
                <a:cs typeface="Kalam"/>
                <a:sym typeface="Kalam"/>
              </a:rPr>
              <a:t>Approximately 80 </a:t>
            </a:r>
            <a:endParaRPr sz="1800"/>
          </a:p>
        </p:txBody>
      </p:sp>
      <p:sp>
        <p:nvSpPr>
          <p:cNvPr id="1264" name="Google Shape;1264;p109"/>
          <p:cNvSpPr txBox="1"/>
          <p:nvPr>
            <p:ph idx="1" type="body"/>
          </p:nvPr>
        </p:nvSpPr>
        <p:spPr>
          <a:xfrm>
            <a:off x="324000" y="2816250"/>
            <a:ext cx="35148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 </a:t>
            </a:r>
            <a:r>
              <a:rPr lang="en-GB" sz="2000">
                <a:latin typeface="Kalam"/>
                <a:ea typeface="Kalam"/>
                <a:cs typeface="Kalam"/>
                <a:sym typeface="Kalam"/>
              </a:rPr>
              <a:t>× 5 = 25 hours a week</a:t>
            </a:r>
            <a:r>
              <a:rPr lang="en-GB" sz="1800"/>
              <a:t>   </a:t>
            </a:r>
            <a:endParaRPr sz="1800"/>
          </a:p>
        </p:txBody>
      </p:sp>
      <p:sp>
        <p:nvSpPr>
          <p:cNvPr id="1265" name="Google Shape;1265;p109"/>
          <p:cNvSpPr txBox="1"/>
          <p:nvPr>
            <p:ph idx="1" type="body"/>
          </p:nvPr>
        </p:nvSpPr>
        <p:spPr>
          <a:xfrm>
            <a:off x="324000" y="3230875"/>
            <a:ext cx="40344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a:t>
            </a:r>
            <a:r>
              <a:rPr lang="en-GB" sz="2000">
                <a:latin typeface="Kalam"/>
                <a:ea typeface="Kalam"/>
                <a:cs typeface="Kalam"/>
                <a:sym typeface="Kalam"/>
              </a:rPr>
              <a:t>5 × (52 − 13) = 975 hours a year</a:t>
            </a:r>
            <a:r>
              <a:rPr lang="en-GB" sz="1800"/>
              <a:t>   </a:t>
            </a:r>
            <a:endParaRPr sz="1800"/>
          </a:p>
        </p:txBody>
      </p:sp>
      <p:sp>
        <p:nvSpPr>
          <p:cNvPr id="1266" name="Google Shape;1266;p109"/>
          <p:cNvSpPr txBox="1"/>
          <p:nvPr>
            <p:ph idx="1" type="body"/>
          </p:nvPr>
        </p:nvSpPr>
        <p:spPr>
          <a:xfrm>
            <a:off x="324000" y="3696000"/>
            <a:ext cx="43953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975</a:t>
            </a:r>
            <a:r>
              <a:rPr lang="en-GB" sz="2000">
                <a:latin typeface="Kalam"/>
                <a:ea typeface="Kalam"/>
                <a:cs typeface="Kalam"/>
                <a:sym typeface="Kalam"/>
              </a:rPr>
              <a:t> × 14 = 13 650 hours a lifetime</a:t>
            </a:r>
            <a:r>
              <a:rPr lang="en-GB" sz="1800"/>
              <a:t>   </a:t>
            </a:r>
            <a:endParaRPr sz="1800"/>
          </a:p>
        </p:txBody>
      </p:sp>
      <p:sp>
        <p:nvSpPr>
          <p:cNvPr id="1267" name="Google Shape;1267;p109"/>
          <p:cNvSpPr txBox="1"/>
          <p:nvPr>
            <p:ph idx="1" type="body"/>
          </p:nvPr>
        </p:nvSpPr>
        <p:spPr>
          <a:xfrm>
            <a:off x="324000" y="4091250"/>
            <a:ext cx="43953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13 650</a:t>
            </a:r>
            <a:r>
              <a:rPr lang="en-GB" sz="2000">
                <a:latin typeface="Kalam"/>
                <a:ea typeface="Kalam"/>
                <a:cs typeface="Kalam"/>
                <a:sym typeface="Kalam"/>
              </a:rPr>
              <a:t> ÷ 24 = 568.75 days a lifetime</a:t>
            </a:r>
            <a:r>
              <a:rPr lang="en-GB" sz="1800"/>
              <a:t>   </a:t>
            </a:r>
            <a:endParaRPr sz="1800"/>
          </a:p>
        </p:txBody>
      </p:sp>
      <p:sp>
        <p:nvSpPr>
          <p:cNvPr id="1268" name="Google Shape;1268;p109"/>
          <p:cNvSpPr txBox="1"/>
          <p:nvPr>
            <p:ph idx="1" type="body"/>
          </p:nvPr>
        </p:nvSpPr>
        <p:spPr>
          <a:xfrm>
            <a:off x="324000" y="4513625"/>
            <a:ext cx="3098400" cy="340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568.75</a:t>
            </a:r>
            <a:r>
              <a:rPr lang="en-GB" sz="2000">
                <a:latin typeface="Kalam"/>
                <a:ea typeface="Kalam"/>
                <a:cs typeface="Kalam"/>
                <a:sym typeface="Kalam"/>
              </a:rPr>
              <a:t> ÷ 365 = 1.56 years</a:t>
            </a:r>
            <a:r>
              <a:rPr lang="en-GB" sz="1800"/>
              <a:t>   </a:t>
            </a:r>
            <a:endParaRPr sz="1800"/>
          </a:p>
        </p:txBody>
      </p:sp>
      <p:sp>
        <p:nvSpPr>
          <p:cNvPr id="1269" name="Google Shape;1269;p109"/>
          <p:cNvSpPr txBox="1"/>
          <p:nvPr>
            <p:ph idx="1" type="body"/>
          </p:nvPr>
        </p:nvSpPr>
        <p:spPr>
          <a:xfrm>
            <a:off x="4824000" y="3616850"/>
            <a:ext cx="3996000" cy="107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Using all these assumptions you will be in a classroom approximately 2% of your life so the claim seems far too high.  </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110"/>
          <p:cNvSpPr txBox="1"/>
          <p:nvPr>
            <p:ph idx="4294967295" type="body"/>
          </p:nvPr>
        </p:nvSpPr>
        <p:spPr>
          <a:xfrm>
            <a:off x="324000" y="759300"/>
            <a:ext cx="8496000" cy="74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t>
            </a:r>
            <a:r>
              <a:rPr lang="en-GB" sz="2000"/>
              <a:t>An </a:t>
            </a:r>
            <a:r>
              <a:rPr lang="en-GB" sz="2000"/>
              <a:t>article</a:t>
            </a:r>
            <a:r>
              <a:rPr lang="en-GB" sz="2000"/>
              <a:t> reads: “The average person will spend 100 000 hours on their phone in their lifetime.” </a:t>
            </a:r>
            <a:endParaRPr sz="2000"/>
          </a:p>
        </p:txBody>
      </p:sp>
      <p:sp>
        <p:nvSpPr>
          <p:cNvPr id="1275" name="Google Shape;1275;p11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Estimating to check</a:t>
            </a:r>
            <a:endParaRPr/>
          </a:p>
        </p:txBody>
      </p:sp>
      <p:sp>
        <p:nvSpPr>
          <p:cNvPr id="1276" name="Google Shape;1276;p110"/>
          <p:cNvSpPr txBox="1"/>
          <p:nvPr>
            <p:ph idx="4294967295" type="body"/>
          </p:nvPr>
        </p:nvSpPr>
        <p:spPr>
          <a:xfrm>
            <a:off x="324000" y="1547850"/>
            <a:ext cx="8496000" cy="74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Estimate how long you think the average person will spend on their phone in a lifetime. Write down any estimations you make.</a:t>
            </a:r>
            <a:endParaRPr sz="1800"/>
          </a:p>
        </p:txBody>
      </p:sp>
      <p:sp>
        <p:nvSpPr>
          <p:cNvPr id="1277" name="Google Shape;1277;p110"/>
          <p:cNvSpPr txBox="1"/>
          <p:nvPr>
            <p:ph idx="4294967295" type="body"/>
          </p:nvPr>
        </p:nvSpPr>
        <p:spPr>
          <a:xfrm>
            <a:off x="324000" y="3376650"/>
            <a:ext cx="8496000" cy="74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Does the </a:t>
            </a:r>
            <a:r>
              <a:rPr lang="en-GB" sz="1800"/>
              <a:t>article</a:t>
            </a:r>
            <a:r>
              <a:rPr lang="en-GB" sz="1800"/>
              <a:t>’s claim sound reasonable? </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11"/>
          <p:cNvSpPr txBox="1"/>
          <p:nvPr>
            <p:ph idx="4294967295" type="body"/>
          </p:nvPr>
        </p:nvSpPr>
        <p:spPr>
          <a:xfrm>
            <a:off x="324000" y="810000"/>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a:t>
            </a:r>
            <a:r>
              <a:rPr lang="en-GB" sz="2000"/>
              <a:t>) A newspaper states that “5% of the UK has a car parked on it.”</a:t>
            </a:r>
            <a:endParaRPr sz="2000"/>
          </a:p>
        </p:txBody>
      </p:sp>
      <p:sp>
        <p:nvSpPr>
          <p:cNvPr id="1283" name="Google Shape;1283;p11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284" name="Google Shape;1284;p111"/>
          <p:cNvSpPr txBox="1"/>
          <p:nvPr>
            <p:ph idx="4294967295" type="body"/>
          </p:nvPr>
        </p:nvSpPr>
        <p:spPr>
          <a:xfrm>
            <a:off x="324000" y="1227600"/>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Estimate how many households there are in the UK.</a:t>
            </a:r>
            <a:endParaRPr sz="1800"/>
          </a:p>
        </p:txBody>
      </p:sp>
      <p:sp>
        <p:nvSpPr>
          <p:cNvPr id="1285" name="Google Shape;1285;p111"/>
          <p:cNvSpPr txBox="1"/>
          <p:nvPr>
            <p:ph idx="4294967295" type="body"/>
          </p:nvPr>
        </p:nvSpPr>
        <p:spPr>
          <a:xfrm>
            <a:off x="324000" y="2369125"/>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 Estimate how many cars there are in the UK.</a:t>
            </a:r>
            <a:endParaRPr sz="1800"/>
          </a:p>
        </p:txBody>
      </p:sp>
      <p:sp>
        <p:nvSpPr>
          <p:cNvPr id="1286" name="Google Shape;1286;p111"/>
          <p:cNvSpPr txBox="1"/>
          <p:nvPr>
            <p:ph idx="4294967295" type="body"/>
          </p:nvPr>
        </p:nvSpPr>
        <p:spPr>
          <a:xfrm>
            <a:off x="324000" y="3659100"/>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 Estimate how much space is taken up by these cars.</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112"/>
          <p:cNvSpPr/>
          <p:nvPr/>
        </p:nvSpPr>
        <p:spPr>
          <a:xfrm>
            <a:off x="5599550" y="1183500"/>
            <a:ext cx="3129300" cy="3224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2" name="Google Shape;1292;p112"/>
          <p:cNvSpPr txBox="1"/>
          <p:nvPr>
            <p:ph idx="4294967295" type="body"/>
          </p:nvPr>
        </p:nvSpPr>
        <p:spPr>
          <a:xfrm>
            <a:off x="324000" y="810000"/>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a:t>
            </a:r>
            <a:r>
              <a:rPr lang="en-GB" sz="2000"/>
              <a:t>) A newspaper states that “5% of the UK has a car parked on it.”</a:t>
            </a:r>
            <a:endParaRPr sz="2000"/>
          </a:p>
        </p:txBody>
      </p:sp>
      <p:sp>
        <p:nvSpPr>
          <p:cNvPr id="1293" name="Google Shape;1293;p11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294" name="Google Shape;1294;p112"/>
          <p:cNvSpPr txBox="1"/>
          <p:nvPr>
            <p:ph idx="4294967295" type="body"/>
          </p:nvPr>
        </p:nvSpPr>
        <p:spPr>
          <a:xfrm>
            <a:off x="324000" y="1249250"/>
            <a:ext cx="53334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 Assume the area of the UK can be modelled by the two rectangles shown. What is the approximate area of the UK?</a:t>
            </a:r>
            <a:endParaRPr sz="1800"/>
          </a:p>
        </p:txBody>
      </p:sp>
      <p:sp>
        <p:nvSpPr>
          <p:cNvPr id="1295" name="Google Shape;1295;p112"/>
          <p:cNvSpPr txBox="1"/>
          <p:nvPr>
            <p:ph idx="4294967295" type="body"/>
          </p:nvPr>
        </p:nvSpPr>
        <p:spPr>
          <a:xfrm>
            <a:off x="324000" y="3001850"/>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 Does the newspaper’s claim seem valid?</a:t>
            </a:r>
            <a:endParaRPr sz="1800"/>
          </a:p>
        </p:txBody>
      </p:sp>
      <p:cxnSp>
        <p:nvCxnSpPr>
          <p:cNvPr id="1296" name="Google Shape;1296;p112"/>
          <p:cNvCxnSpPr/>
          <p:nvPr/>
        </p:nvCxnSpPr>
        <p:spPr>
          <a:xfrm flipH="1">
            <a:off x="6877015" y="1641321"/>
            <a:ext cx="360000" cy="10200"/>
          </a:xfrm>
          <a:prstGeom prst="straightConnector1">
            <a:avLst/>
          </a:prstGeom>
          <a:noFill/>
          <a:ln cap="flat" cmpd="sng" w="19050">
            <a:solidFill>
              <a:schemeClr val="accent5"/>
            </a:solidFill>
            <a:prstDash val="solid"/>
            <a:round/>
            <a:headEnd len="med" w="med" type="none"/>
            <a:tailEnd len="med" w="med" type="none"/>
          </a:ln>
        </p:spPr>
      </p:cxnSp>
      <p:cxnSp>
        <p:nvCxnSpPr>
          <p:cNvPr id="1297" name="Google Shape;1297;p112"/>
          <p:cNvCxnSpPr/>
          <p:nvPr/>
        </p:nvCxnSpPr>
        <p:spPr>
          <a:xfrm flipH="1">
            <a:off x="6700787" y="1645716"/>
            <a:ext cx="179700" cy="445800"/>
          </a:xfrm>
          <a:prstGeom prst="straightConnector1">
            <a:avLst/>
          </a:prstGeom>
          <a:noFill/>
          <a:ln cap="flat" cmpd="sng" w="19050">
            <a:solidFill>
              <a:schemeClr val="accent5"/>
            </a:solidFill>
            <a:prstDash val="solid"/>
            <a:round/>
            <a:headEnd len="med" w="med" type="none"/>
            <a:tailEnd len="med" w="med" type="none"/>
          </a:ln>
        </p:spPr>
      </p:cxnSp>
      <p:cxnSp>
        <p:nvCxnSpPr>
          <p:cNvPr id="1298" name="Google Shape;1298;p112"/>
          <p:cNvCxnSpPr/>
          <p:nvPr/>
        </p:nvCxnSpPr>
        <p:spPr>
          <a:xfrm>
            <a:off x="6700661" y="2084603"/>
            <a:ext cx="23400" cy="265500"/>
          </a:xfrm>
          <a:prstGeom prst="straightConnector1">
            <a:avLst/>
          </a:prstGeom>
          <a:noFill/>
          <a:ln cap="flat" cmpd="sng" w="19050">
            <a:solidFill>
              <a:schemeClr val="accent5"/>
            </a:solidFill>
            <a:prstDash val="solid"/>
            <a:round/>
            <a:headEnd len="med" w="med" type="none"/>
            <a:tailEnd len="med" w="med" type="none"/>
          </a:ln>
        </p:spPr>
      </p:cxnSp>
      <p:cxnSp>
        <p:nvCxnSpPr>
          <p:cNvPr id="1299" name="Google Shape;1299;p112"/>
          <p:cNvCxnSpPr/>
          <p:nvPr/>
        </p:nvCxnSpPr>
        <p:spPr>
          <a:xfrm>
            <a:off x="6722848" y="2345305"/>
            <a:ext cx="12900" cy="409200"/>
          </a:xfrm>
          <a:prstGeom prst="straightConnector1">
            <a:avLst/>
          </a:prstGeom>
          <a:noFill/>
          <a:ln cap="flat" cmpd="sng" w="19050">
            <a:solidFill>
              <a:schemeClr val="accent5"/>
            </a:solidFill>
            <a:prstDash val="solid"/>
            <a:round/>
            <a:headEnd len="med" w="med" type="none"/>
            <a:tailEnd len="med" w="med" type="none"/>
          </a:ln>
        </p:spPr>
      </p:cxnSp>
      <p:cxnSp>
        <p:nvCxnSpPr>
          <p:cNvPr id="1300" name="Google Shape;1300;p112"/>
          <p:cNvCxnSpPr/>
          <p:nvPr/>
        </p:nvCxnSpPr>
        <p:spPr>
          <a:xfrm flipH="1" rot="10800000">
            <a:off x="6737622" y="2498514"/>
            <a:ext cx="119700" cy="252000"/>
          </a:xfrm>
          <a:prstGeom prst="straightConnector1">
            <a:avLst/>
          </a:prstGeom>
          <a:noFill/>
          <a:ln cap="flat" cmpd="sng" w="19050">
            <a:solidFill>
              <a:schemeClr val="accent5"/>
            </a:solidFill>
            <a:prstDash val="solid"/>
            <a:round/>
            <a:headEnd len="med" w="med" type="none"/>
            <a:tailEnd len="med" w="med" type="none"/>
          </a:ln>
        </p:spPr>
      </p:cxnSp>
      <p:cxnSp>
        <p:nvCxnSpPr>
          <p:cNvPr id="1301" name="Google Shape;1301;p112"/>
          <p:cNvCxnSpPr/>
          <p:nvPr/>
        </p:nvCxnSpPr>
        <p:spPr>
          <a:xfrm>
            <a:off x="6860418" y="2495390"/>
            <a:ext cx="10200" cy="457200"/>
          </a:xfrm>
          <a:prstGeom prst="straightConnector1">
            <a:avLst/>
          </a:prstGeom>
          <a:noFill/>
          <a:ln cap="flat" cmpd="sng" w="19050">
            <a:solidFill>
              <a:schemeClr val="accent5"/>
            </a:solidFill>
            <a:prstDash val="solid"/>
            <a:round/>
            <a:headEnd len="med" w="med" type="none"/>
            <a:tailEnd len="med" w="med" type="none"/>
          </a:ln>
        </p:spPr>
      </p:cxnSp>
      <p:cxnSp>
        <p:nvCxnSpPr>
          <p:cNvPr id="1302" name="Google Shape;1302;p112"/>
          <p:cNvCxnSpPr/>
          <p:nvPr/>
        </p:nvCxnSpPr>
        <p:spPr>
          <a:xfrm flipH="1" rot="10800000">
            <a:off x="6866949" y="2903221"/>
            <a:ext cx="314100" cy="45600"/>
          </a:xfrm>
          <a:prstGeom prst="straightConnector1">
            <a:avLst/>
          </a:prstGeom>
          <a:noFill/>
          <a:ln cap="flat" cmpd="sng" w="19050">
            <a:solidFill>
              <a:schemeClr val="accent5"/>
            </a:solidFill>
            <a:prstDash val="solid"/>
            <a:round/>
            <a:headEnd len="med" w="med" type="none"/>
            <a:tailEnd len="med" w="med" type="none"/>
          </a:ln>
        </p:spPr>
      </p:cxnSp>
      <p:cxnSp>
        <p:nvCxnSpPr>
          <p:cNvPr id="1303" name="Google Shape;1303;p112"/>
          <p:cNvCxnSpPr/>
          <p:nvPr/>
        </p:nvCxnSpPr>
        <p:spPr>
          <a:xfrm>
            <a:off x="7176491" y="2902241"/>
            <a:ext cx="13500" cy="444000"/>
          </a:xfrm>
          <a:prstGeom prst="straightConnector1">
            <a:avLst/>
          </a:prstGeom>
          <a:noFill/>
          <a:ln cap="flat" cmpd="sng" w="19050">
            <a:solidFill>
              <a:schemeClr val="accent5"/>
            </a:solidFill>
            <a:prstDash val="solid"/>
            <a:round/>
            <a:headEnd len="med" w="med" type="none"/>
            <a:tailEnd len="med" w="med" type="none"/>
          </a:ln>
        </p:spPr>
      </p:cxnSp>
      <p:cxnSp>
        <p:nvCxnSpPr>
          <p:cNvPr id="1304" name="Google Shape;1304;p112"/>
          <p:cNvCxnSpPr/>
          <p:nvPr/>
        </p:nvCxnSpPr>
        <p:spPr>
          <a:xfrm rot="10800000">
            <a:off x="6955765" y="3337988"/>
            <a:ext cx="238800" cy="9900"/>
          </a:xfrm>
          <a:prstGeom prst="straightConnector1">
            <a:avLst/>
          </a:prstGeom>
          <a:noFill/>
          <a:ln cap="flat" cmpd="sng" w="19050">
            <a:solidFill>
              <a:schemeClr val="accent5"/>
            </a:solidFill>
            <a:prstDash val="solid"/>
            <a:round/>
            <a:headEnd len="med" w="med" type="none"/>
            <a:tailEnd len="med" w="med" type="none"/>
          </a:ln>
        </p:spPr>
      </p:cxnSp>
      <p:cxnSp>
        <p:nvCxnSpPr>
          <p:cNvPr id="1305" name="Google Shape;1305;p112"/>
          <p:cNvCxnSpPr/>
          <p:nvPr/>
        </p:nvCxnSpPr>
        <p:spPr>
          <a:xfrm flipH="1">
            <a:off x="6867039" y="3336009"/>
            <a:ext cx="90900" cy="544800"/>
          </a:xfrm>
          <a:prstGeom prst="straightConnector1">
            <a:avLst/>
          </a:prstGeom>
          <a:noFill/>
          <a:ln cap="flat" cmpd="sng" w="19050">
            <a:solidFill>
              <a:schemeClr val="accent5"/>
            </a:solidFill>
            <a:prstDash val="solid"/>
            <a:round/>
            <a:headEnd len="med" w="med" type="none"/>
            <a:tailEnd len="med" w="med" type="none"/>
          </a:ln>
        </p:spPr>
      </p:cxnSp>
      <p:cxnSp>
        <p:nvCxnSpPr>
          <p:cNvPr id="1306" name="Google Shape;1306;p112"/>
          <p:cNvCxnSpPr/>
          <p:nvPr/>
        </p:nvCxnSpPr>
        <p:spPr>
          <a:xfrm>
            <a:off x="6862024" y="3877500"/>
            <a:ext cx="438900" cy="13200"/>
          </a:xfrm>
          <a:prstGeom prst="straightConnector1">
            <a:avLst/>
          </a:prstGeom>
          <a:noFill/>
          <a:ln cap="flat" cmpd="sng" w="19050">
            <a:solidFill>
              <a:schemeClr val="accent5"/>
            </a:solidFill>
            <a:prstDash val="solid"/>
            <a:round/>
            <a:headEnd len="med" w="med" type="none"/>
            <a:tailEnd len="med" w="med" type="none"/>
          </a:ln>
        </p:spPr>
      </p:cxnSp>
      <p:cxnSp>
        <p:nvCxnSpPr>
          <p:cNvPr id="1307" name="Google Shape;1307;p112"/>
          <p:cNvCxnSpPr/>
          <p:nvPr/>
        </p:nvCxnSpPr>
        <p:spPr>
          <a:xfrm flipH="1">
            <a:off x="6759359" y="3888585"/>
            <a:ext cx="543600" cy="415800"/>
          </a:xfrm>
          <a:prstGeom prst="straightConnector1">
            <a:avLst/>
          </a:prstGeom>
          <a:noFill/>
          <a:ln cap="flat" cmpd="sng" w="19050">
            <a:solidFill>
              <a:schemeClr val="accent5"/>
            </a:solidFill>
            <a:prstDash val="solid"/>
            <a:round/>
            <a:headEnd len="med" w="med" type="none"/>
            <a:tailEnd len="med" w="med" type="none"/>
          </a:ln>
        </p:spPr>
      </p:cxnSp>
      <p:cxnSp>
        <p:nvCxnSpPr>
          <p:cNvPr id="1308" name="Google Shape;1308;p112"/>
          <p:cNvCxnSpPr/>
          <p:nvPr/>
        </p:nvCxnSpPr>
        <p:spPr>
          <a:xfrm flipH="1" rot="10800000">
            <a:off x="6764716" y="4051996"/>
            <a:ext cx="1289400" cy="252900"/>
          </a:xfrm>
          <a:prstGeom prst="straightConnector1">
            <a:avLst/>
          </a:prstGeom>
          <a:noFill/>
          <a:ln cap="flat" cmpd="sng" w="19050">
            <a:solidFill>
              <a:schemeClr val="accent5"/>
            </a:solidFill>
            <a:prstDash val="solid"/>
            <a:round/>
            <a:headEnd len="med" w="med" type="none"/>
            <a:tailEnd len="med" w="med" type="none"/>
          </a:ln>
        </p:spPr>
      </p:cxnSp>
      <p:cxnSp>
        <p:nvCxnSpPr>
          <p:cNvPr id="1309" name="Google Shape;1309;p112"/>
          <p:cNvCxnSpPr/>
          <p:nvPr/>
        </p:nvCxnSpPr>
        <p:spPr>
          <a:xfrm rot="10800000">
            <a:off x="7926447" y="3900637"/>
            <a:ext cx="126600" cy="153000"/>
          </a:xfrm>
          <a:prstGeom prst="straightConnector1">
            <a:avLst/>
          </a:prstGeom>
          <a:noFill/>
          <a:ln cap="flat" cmpd="sng" w="19050">
            <a:solidFill>
              <a:schemeClr val="accent5"/>
            </a:solidFill>
            <a:prstDash val="solid"/>
            <a:round/>
            <a:headEnd len="med" w="med" type="none"/>
            <a:tailEnd len="med" w="med" type="none"/>
          </a:ln>
        </p:spPr>
      </p:cxnSp>
      <p:cxnSp>
        <p:nvCxnSpPr>
          <p:cNvPr id="1310" name="Google Shape;1310;p112"/>
          <p:cNvCxnSpPr/>
          <p:nvPr/>
        </p:nvCxnSpPr>
        <p:spPr>
          <a:xfrm flipH="1" rot="10800000">
            <a:off x="7927426" y="3551301"/>
            <a:ext cx="170400" cy="357000"/>
          </a:xfrm>
          <a:prstGeom prst="straightConnector1">
            <a:avLst/>
          </a:prstGeom>
          <a:noFill/>
          <a:ln cap="flat" cmpd="sng" w="19050">
            <a:solidFill>
              <a:schemeClr val="accent5"/>
            </a:solidFill>
            <a:prstDash val="solid"/>
            <a:round/>
            <a:headEnd len="med" w="med" type="none"/>
            <a:tailEnd len="med" w="med" type="none"/>
          </a:ln>
        </p:spPr>
      </p:cxnSp>
      <p:cxnSp>
        <p:nvCxnSpPr>
          <p:cNvPr id="1311" name="Google Shape;1311;p112"/>
          <p:cNvCxnSpPr/>
          <p:nvPr/>
        </p:nvCxnSpPr>
        <p:spPr>
          <a:xfrm rot="10800000">
            <a:off x="7835557" y="3457044"/>
            <a:ext cx="264300" cy="99000"/>
          </a:xfrm>
          <a:prstGeom prst="straightConnector1">
            <a:avLst/>
          </a:prstGeom>
          <a:noFill/>
          <a:ln cap="flat" cmpd="sng" w="19050">
            <a:solidFill>
              <a:schemeClr val="accent5"/>
            </a:solidFill>
            <a:prstDash val="solid"/>
            <a:round/>
            <a:headEnd len="med" w="med" type="none"/>
            <a:tailEnd len="med" w="med" type="none"/>
          </a:ln>
        </p:spPr>
      </p:cxnSp>
      <p:cxnSp>
        <p:nvCxnSpPr>
          <p:cNvPr id="1312" name="Google Shape;1312;p112"/>
          <p:cNvCxnSpPr/>
          <p:nvPr/>
        </p:nvCxnSpPr>
        <p:spPr>
          <a:xfrm rot="10800000">
            <a:off x="7323773" y="2522595"/>
            <a:ext cx="519900" cy="942300"/>
          </a:xfrm>
          <a:prstGeom prst="straightConnector1">
            <a:avLst/>
          </a:prstGeom>
          <a:noFill/>
          <a:ln cap="flat" cmpd="sng" w="19050">
            <a:solidFill>
              <a:schemeClr val="accent5"/>
            </a:solidFill>
            <a:prstDash val="solid"/>
            <a:round/>
            <a:headEnd len="med" w="med" type="none"/>
            <a:tailEnd len="med" w="med" type="none"/>
          </a:ln>
        </p:spPr>
      </p:cxnSp>
      <p:cxnSp>
        <p:nvCxnSpPr>
          <p:cNvPr id="1313" name="Google Shape;1313;p112"/>
          <p:cNvCxnSpPr/>
          <p:nvPr/>
        </p:nvCxnSpPr>
        <p:spPr>
          <a:xfrm flipH="1">
            <a:off x="7193236" y="2522290"/>
            <a:ext cx="141300" cy="20100"/>
          </a:xfrm>
          <a:prstGeom prst="straightConnector1">
            <a:avLst/>
          </a:prstGeom>
          <a:noFill/>
          <a:ln cap="flat" cmpd="sng" w="19050">
            <a:solidFill>
              <a:schemeClr val="accent5"/>
            </a:solidFill>
            <a:prstDash val="solid"/>
            <a:round/>
            <a:headEnd len="med" w="med" type="none"/>
            <a:tailEnd len="med" w="med" type="none"/>
          </a:ln>
        </p:spPr>
      </p:cxnSp>
      <p:cxnSp>
        <p:nvCxnSpPr>
          <p:cNvPr id="1314" name="Google Shape;1314;p112"/>
          <p:cNvCxnSpPr/>
          <p:nvPr/>
        </p:nvCxnSpPr>
        <p:spPr>
          <a:xfrm flipH="1" rot="10800000">
            <a:off x="7200037" y="2024593"/>
            <a:ext cx="262200" cy="514500"/>
          </a:xfrm>
          <a:prstGeom prst="straightConnector1">
            <a:avLst/>
          </a:prstGeom>
          <a:noFill/>
          <a:ln cap="flat" cmpd="sng" w="19050">
            <a:solidFill>
              <a:schemeClr val="accent5"/>
            </a:solidFill>
            <a:prstDash val="solid"/>
            <a:round/>
            <a:headEnd len="med" w="med" type="none"/>
            <a:tailEnd len="med" w="med" type="none"/>
          </a:ln>
        </p:spPr>
      </p:cxnSp>
      <p:cxnSp>
        <p:nvCxnSpPr>
          <p:cNvPr id="1315" name="Google Shape;1315;p112"/>
          <p:cNvCxnSpPr/>
          <p:nvPr/>
        </p:nvCxnSpPr>
        <p:spPr>
          <a:xfrm rot="10800000">
            <a:off x="7072505" y="1979520"/>
            <a:ext cx="391800" cy="48000"/>
          </a:xfrm>
          <a:prstGeom prst="straightConnector1">
            <a:avLst/>
          </a:prstGeom>
          <a:noFill/>
          <a:ln cap="flat" cmpd="sng" w="19050">
            <a:solidFill>
              <a:schemeClr val="accent5"/>
            </a:solidFill>
            <a:prstDash val="solid"/>
            <a:round/>
            <a:headEnd len="med" w="med" type="none"/>
            <a:tailEnd len="med" w="med" type="none"/>
          </a:ln>
        </p:spPr>
      </p:cxnSp>
      <p:cxnSp>
        <p:nvCxnSpPr>
          <p:cNvPr id="1316" name="Google Shape;1316;p112"/>
          <p:cNvCxnSpPr/>
          <p:nvPr/>
        </p:nvCxnSpPr>
        <p:spPr>
          <a:xfrm flipH="1" rot="10800000">
            <a:off x="7072263" y="1637193"/>
            <a:ext cx="165300" cy="347100"/>
          </a:xfrm>
          <a:prstGeom prst="straightConnector1">
            <a:avLst/>
          </a:prstGeom>
          <a:noFill/>
          <a:ln cap="flat" cmpd="sng" w="19050">
            <a:solidFill>
              <a:schemeClr val="accent5"/>
            </a:solidFill>
            <a:prstDash val="solid"/>
            <a:round/>
            <a:headEnd len="med" w="med" type="none"/>
            <a:tailEnd len="med" w="med" type="none"/>
          </a:ln>
        </p:spPr>
      </p:cxnSp>
      <p:cxnSp>
        <p:nvCxnSpPr>
          <p:cNvPr id="1317" name="Google Shape;1317;p112"/>
          <p:cNvCxnSpPr/>
          <p:nvPr/>
        </p:nvCxnSpPr>
        <p:spPr>
          <a:xfrm flipH="1" rot="10800000">
            <a:off x="6453568" y="2787813"/>
            <a:ext cx="228600" cy="10200"/>
          </a:xfrm>
          <a:prstGeom prst="straightConnector1">
            <a:avLst/>
          </a:prstGeom>
          <a:noFill/>
          <a:ln cap="flat" cmpd="sng" w="19050">
            <a:solidFill>
              <a:schemeClr val="accent5"/>
            </a:solidFill>
            <a:prstDash val="solid"/>
            <a:round/>
            <a:headEnd len="med" w="med" type="none"/>
            <a:tailEnd len="med" w="med" type="none"/>
          </a:ln>
        </p:spPr>
      </p:cxnSp>
      <p:cxnSp>
        <p:nvCxnSpPr>
          <p:cNvPr id="1318" name="Google Shape;1318;p112"/>
          <p:cNvCxnSpPr/>
          <p:nvPr/>
        </p:nvCxnSpPr>
        <p:spPr>
          <a:xfrm flipH="1">
            <a:off x="6297109" y="2796389"/>
            <a:ext cx="158100" cy="238500"/>
          </a:xfrm>
          <a:prstGeom prst="straightConnector1">
            <a:avLst/>
          </a:prstGeom>
          <a:noFill/>
          <a:ln cap="flat" cmpd="sng" w="19050">
            <a:solidFill>
              <a:schemeClr val="accent5"/>
            </a:solidFill>
            <a:prstDash val="solid"/>
            <a:round/>
            <a:headEnd len="med" w="med" type="none"/>
            <a:tailEnd len="med" w="med" type="none"/>
          </a:ln>
        </p:spPr>
      </p:cxnSp>
      <p:cxnSp>
        <p:nvCxnSpPr>
          <p:cNvPr id="1319" name="Google Shape;1319;p112"/>
          <p:cNvCxnSpPr/>
          <p:nvPr/>
        </p:nvCxnSpPr>
        <p:spPr>
          <a:xfrm>
            <a:off x="6297199" y="3027561"/>
            <a:ext cx="123900" cy="147900"/>
          </a:xfrm>
          <a:prstGeom prst="straightConnector1">
            <a:avLst/>
          </a:prstGeom>
          <a:noFill/>
          <a:ln cap="flat" cmpd="sng" w="19050">
            <a:solidFill>
              <a:schemeClr val="accent5"/>
            </a:solidFill>
            <a:prstDash val="solid"/>
            <a:round/>
            <a:headEnd len="med" w="med" type="none"/>
            <a:tailEnd len="med" w="med" type="none"/>
          </a:ln>
        </p:spPr>
      </p:cxnSp>
      <p:cxnSp>
        <p:nvCxnSpPr>
          <p:cNvPr id="1320" name="Google Shape;1320;p112"/>
          <p:cNvCxnSpPr/>
          <p:nvPr/>
        </p:nvCxnSpPr>
        <p:spPr>
          <a:xfrm flipH="1" rot="10800000">
            <a:off x="6416148" y="3064386"/>
            <a:ext cx="98400" cy="108600"/>
          </a:xfrm>
          <a:prstGeom prst="straightConnector1">
            <a:avLst/>
          </a:prstGeom>
          <a:noFill/>
          <a:ln cap="flat" cmpd="sng" w="19050">
            <a:solidFill>
              <a:schemeClr val="accent5"/>
            </a:solidFill>
            <a:prstDash val="solid"/>
            <a:round/>
            <a:headEnd len="med" w="med" type="none"/>
            <a:tailEnd len="med" w="med" type="none"/>
          </a:ln>
        </p:spPr>
      </p:cxnSp>
      <p:cxnSp>
        <p:nvCxnSpPr>
          <p:cNvPr id="1321" name="Google Shape;1321;p112"/>
          <p:cNvCxnSpPr/>
          <p:nvPr/>
        </p:nvCxnSpPr>
        <p:spPr>
          <a:xfrm>
            <a:off x="6510986" y="3065828"/>
            <a:ext cx="150300" cy="159000"/>
          </a:xfrm>
          <a:prstGeom prst="straightConnector1">
            <a:avLst/>
          </a:prstGeom>
          <a:noFill/>
          <a:ln cap="flat" cmpd="sng" w="19050">
            <a:solidFill>
              <a:schemeClr val="accent5"/>
            </a:solidFill>
            <a:prstDash val="solid"/>
            <a:round/>
            <a:headEnd len="med" w="med" type="none"/>
            <a:tailEnd len="med" w="med" type="none"/>
          </a:ln>
        </p:spPr>
      </p:cxnSp>
      <p:cxnSp>
        <p:nvCxnSpPr>
          <p:cNvPr id="1322" name="Google Shape;1322;p112"/>
          <p:cNvCxnSpPr/>
          <p:nvPr/>
        </p:nvCxnSpPr>
        <p:spPr>
          <a:xfrm flipH="1" rot="10800000">
            <a:off x="6655316" y="3034910"/>
            <a:ext cx="162300" cy="193500"/>
          </a:xfrm>
          <a:prstGeom prst="straightConnector1">
            <a:avLst/>
          </a:prstGeom>
          <a:noFill/>
          <a:ln cap="flat" cmpd="sng" w="19050">
            <a:solidFill>
              <a:schemeClr val="accent5"/>
            </a:solidFill>
            <a:prstDash val="solid"/>
            <a:round/>
            <a:headEnd len="med" w="med" type="none"/>
            <a:tailEnd len="med" w="med" type="none"/>
          </a:ln>
        </p:spPr>
      </p:cxnSp>
      <p:cxnSp>
        <p:nvCxnSpPr>
          <p:cNvPr id="1323" name="Google Shape;1323;p112"/>
          <p:cNvCxnSpPr/>
          <p:nvPr/>
        </p:nvCxnSpPr>
        <p:spPr>
          <a:xfrm rot="10800000">
            <a:off x="6679615" y="2785165"/>
            <a:ext cx="137100" cy="258300"/>
          </a:xfrm>
          <a:prstGeom prst="straightConnector1">
            <a:avLst/>
          </a:prstGeom>
          <a:noFill/>
          <a:ln cap="flat" cmpd="sng" w="19050">
            <a:solidFill>
              <a:schemeClr val="accent5"/>
            </a:solidFill>
            <a:prstDash val="solid"/>
            <a:round/>
            <a:headEnd len="med" w="med" type="none"/>
            <a:tailEnd len="med" w="med" type="none"/>
          </a:ln>
        </p:spPr>
      </p:cxnSp>
      <p:cxnSp>
        <p:nvCxnSpPr>
          <p:cNvPr id="1324" name="Google Shape;1324;p112"/>
          <p:cNvCxnSpPr/>
          <p:nvPr/>
        </p:nvCxnSpPr>
        <p:spPr>
          <a:xfrm flipH="1" rot="10800000">
            <a:off x="6572216" y="1457923"/>
            <a:ext cx="842100" cy="138900"/>
          </a:xfrm>
          <a:prstGeom prst="straightConnector1">
            <a:avLst/>
          </a:prstGeom>
          <a:noFill/>
          <a:ln cap="flat" cmpd="sng" w="28575">
            <a:solidFill>
              <a:srgbClr val="000000"/>
            </a:solidFill>
            <a:prstDash val="solid"/>
            <a:round/>
            <a:headEnd len="med" w="med" type="stealth"/>
            <a:tailEnd len="med" w="med" type="stealth"/>
          </a:ln>
        </p:spPr>
      </p:cxnSp>
      <p:cxnSp>
        <p:nvCxnSpPr>
          <p:cNvPr id="1325" name="Google Shape;1325;p112"/>
          <p:cNvCxnSpPr/>
          <p:nvPr/>
        </p:nvCxnSpPr>
        <p:spPr>
          <a:xfrm>
            <a:off x="7547352" y="1571424"/>
            <a:ext cx="404400" cy="2531400"/>
          </a:xfrm>
          <a:prstGeom prst="straightConnector1">
            <a:avLst/>
          </a:prstGeom>
          <a:noFill/>
          <a:ln cap="flat" cmpd="sng" w="28575">
            <a:solidFill>
              <a:srgbClr val="000000"/>
            </a:solidFill>
            <a:prstDash val="solid"/>
            <a:round/>
            <a:headEnd len="med" w="med" type="stealth"/>
            <a:tailEnd len="med" w="med" type="stealth"/>
          </a:ln>
        </p:spPr>
      </p:cxnSp>
      <p:cxnSp>
        <p:nvCxnSpPr>
          <p:cNvPr id="1326" name="Google Shape;1326;p112"/>
          <p:cNvCxnSpPr/>
          <p:nvPr/>
        </p:nvCxnSpPr>
        <p:spPr>
          <a:xfrm>
            <a:off x="6313826" y="3270198"/>
            <a:ext cx="386700" cy="0"/>
          </a:xfrm>
          <a:prstGeom prst="straightConnector1">
            <a:avLst/>
          </a:prstGeom>
          <a:noFill/>
          <a:ln cap="flat" cmpd="sng" w="28575">
            <a:solidFill>
              <a:srgbClr val="000000"/>
            </a:solidFill>
            <a:prstDash val="solid"/>
            <a:round/>
            <a:headEnd len="med" w="med" type="stealth"/>
            <a:tailEnd len="med" w="med" type="stealth"/>
          </a:ln>
        </p:spPr>
      </p:cxnSp>
      <p:cxnSp>
        <p:nvCxnSpPr>
          <p:cNvPr id="1327" name="Google Shape;1327;p112"/>
          <p:cNvCxnSpPr/>
          <p:nvPr/>
        </p:nvCxnSpPr>
        <p:spPr>
          <a:xfrm rot="10800000">
            <a:off x="6210125" y="2802855"/>
            <a:ext cx="0" cy="363300"/>
          </a:xfrm>
          <a:prstGeom prst="straightConnector1">
            <a:avLst/>
          </a:prstGeom>
          <a:noFill/>
          <a:ln cap="flat" cmpd="sng" w="28575">
            <a:solidFill>
              <a:srgbClr val="000000"/>
            </a:solidFill>
            <a:prstDash val="solid"/>
            <a:round/>
            <a:headEnd len="med" w="med" type="stealth"/>
            <a:tailEnd len="med" w="med" type="stealth"/>
          </a:ln>
        </p:spPr>
      </p:cxnSp>
      <p:sp>
        <p:nvSpPr>
          <p:cNvPr id="1328" name="Google Shape;1328;p112"/>
          <p:cNvSpPr txBox="1"/>
          <p:nvPr/>
        </p:nvSpPr>
        <p:spPr>
          <a:xfrm>
            <a:off x="6619672" y="1213059"/>
            <a:ext cx="808800" cy="31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220 km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329" name="Google Shape;1329;p112"/>
          <p:cNvSpPr txBox="1"/>
          <p:nvPr/>
        </p:nvSpPr>
        <p:spPr>
          <a:xfrm>
            <a:off x="7769663" y="2441290"/>
            <a:ext cx="1007400" cy="31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1000 km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330" name="Google Shape;1330;p112"/>
          <p:cNvSpPr txBox="1"/>
          <p:nvPr/>
        </p:nvSpPr>
        <p:spPr>
          <a:xfrm>
            <a:off x="6348460" y="3309365"/>
            <a:ext cx="438900" cy="313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150 km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331" name="Google Shape;1331;p112"/>
          <p:cNvSpPr txBox="1"/>
          <p:nvPr/>
        </p:nvSpPr>
        <p:spPr>
          <a:xfrm>
            <a:off x="5680553" y="2802041"/>
            <a:ext cx="470400" cy="313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100 km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332" name="Google Shape;1332;p112"/>
          <p:cNvSpPr/>
          <p:nvPr/>
        </p:nvSpPr>
        <p:spPr>
          <a:xfrm rot="-539907">
            <a:off x="6788472" y="1614007"/>
            <a:ext cx="865047" cy="2600224"/>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3" name="Google Shape;1333;p112"/>
          <p:cNvSpPr/>
          <p:nvPr/>
        </p:nvSpPr>
        <p:spPr>
          <a:xfrm>
            <a:off x="6304030" y="2803537"/>
            <a:ext cx="438900" cy="36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13"/>
          <p:cNvSpPr txBox="1"/>
          <p:nvPr>
            <p:ph idx="4294967295" type="body"/>
          </p:nvPr>
        </p:nvSpPr>
        <p:spPr>
          <a:xfrm>
            <a:off x="324000" y="759300"/>
            <a:ext cx="8496000" cy="74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An article reads: “The average person will spend 100 000 hours on their phone in their lifetime.” </a:t>
            </a:r>
            <a:endParaRPr sz="2000"/>
          </a:p>
        </p:txBody>
      </p:sp>
      <p:sp>
        <p:nvSpPr>
          <p:cNvPr id="1339" name="Google Shape;1339;p11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340" name="Google Shape;1340;p113"/>
          <p:cNvSpPr txBox="1"/>
          <p:nvPr>
            <p:ph idx="4294967295" type="body"/>
          </p:nvPr>
        </p:nvSpPr>
        <p:spPr>
          <a:xfrm>
            <a:off x="324000" y="3870375"/>
            <a:ext cx="8496000" cy="4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Does the article’s claim sound reasonable? </a:t>
            </a:r>
            <a:endParaRPr sz="1800"/>
          </a:p>
        </p:txBody>
      </p:sp>
      <p:sp>
        <p:nvSpPr>
          <p:cNvPr id="1341" name="Google Shape;1341;p113"/>
          <p:cNvSpPr txBox="1"/>
          <p:nvPr>
            <p:ph idx="4294967295" type="body"/>
          </p:nvPr>
        </p:nvSpPr>
        <p:spPr>
          <a:xfrm>
            <a:off x="324000" y="2196600"/>
            <a:ext cx="8496000" cy="443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These are only </a:t>
            </a:r>
            <a:r>
              <a:rPr lang="en-GB" sz="2000">
                <a:latin typeface="Kalam"/>
                <a:ea typeface="Kalam"/>
                <a:cs typeface="Kalam"/>
                <a:sym typeface="Kalam"/>
              </a:rPr>
              <a:t>approximate</a:t>
            </a:r>
            <a:r>
              <a:rPr lang="en-GB" sz="2000">
                <a:latin typeface="Kalam"/>
                <a:ea typeface="Kalam"/>
                <a:cs typeface="Kalam"/>
                <a:sym typeface="Kalam"/>
              </a:rPr>
              <a:t> figures and the answer will depend largely on your estimation of how long most people spend on their phone a day.</a:t>
            </a:r>
            <a:endParaRPr sz="2000">
              <a:latin typeface="Kalam"/>
              <a:ea typeface="Kalam"/>
              <a:cs typeface="Kalam"/>
              <a:sym typeface="Kalam"/>
            </a:endParaRPr>
          </a:p>
          <a:p>
            <a:pPr indent="0" lvl="0" marL="0" rtl="0" algn="l">
              <a:lnSpc>
                <a:spcPct val="100000"/>
              </a:lnSpc>
              <a:spcBef>
                <a:spcPts val="1000"/>
              </a:spcBef>
              <a:spcAft>
                <a:spcPts val="1000"/>
              </a:spcAft>
              <a:buNone/>
            </a:pPr>
            <a:r>
              <a:rPr lang="en-GB" sz="1800"/>
              <a:t> </a:t>
            </a:r>
            <a:r>
              <a:rPr lang="en-GB" sz="1800"/>
              <a:t>   </a:t>
            </a:r>
            <a:endParaRPr sz="1800"/>
          </a:p>
        </p:txBody>
      </p:sp>
      <p:sp>
        <p:nvSpPr>
          <p:cNvPr id="1342" name="Google Shape;1342;p113"/>
          <p:cNvSpPr txBox="1"/>
          <p:nvPr>
            <p:ph idx="4294967295" type="body"/>
          </p:nvPr>
        </p:nvSpPr>
        <p:spPr>
          <a:xfrm>
            <a:off x="324000" y="2830050"/>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If the average person spends 5 hours a day on their phone:</a:t>
            </a:r>
            <a:r>
              <a:rPr lang="en-GB" sz="1800"/>
              <a:t>   </a:t>
            </a:r>
            <a:endParaRPr sz="1800"/>
          </a:p>
        </p:txBody>
      </p:sp>
      <p:sp>
        <p:nvSpPr>
          <p:cNvPr id="1343" name="Google Shape;1343;p113"/>
          <p:cNvSpPr txBox="1"/>
          <p:nvPr>
            <p:ph idx="4294967295" type="body"/>
          </p:nvPr>
        </p:nvSpPr>
        <p:spPr>
          <a:xfrm>
            <a:off x="324000" y="3178650"/>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 × 365 = 1825 hours a year. </a:t>
            </a:r>
            <a:r>
              <a:rPr lang="en-GB" sz="1800"/>
              <a:t>   </a:t>
            </a:r>
            <a:endParaRPr sz="1800"/>
          </a:p>
        </p:txBody>
      </p:sp>
      <p:sp>
        <p:nvSpPr>
          <p:cNvPr id="1344" name="Google Shape;1344;p113"/>
          <p:cNvSpPr txBox="1"/>
          <p:nvPr>
            <p:ph idx="4294967295" type="body"/>
          </p:nvPr>
        </p:nvSpPr>
        <p:spPr>
          <a:xfrm>
            <a:off x="324000" y="3487575"/>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If average life </a:t>
            </a:r>
            <a:r>
              <a:rPr lang="en-GB" sz="2000">
                <a:latin typeface="Kalam"/>
                <a:ea typeface="Kalam"/>
                <a:cs typeface="Kalam"/>
                <a:sym typeface="Kalam"/>
              </a:rPr>
              <a:t>expectancy</a:t>
            </a:r>
            <a:r>
              <a:rPr lang="en-GB" sz="2000">
                <a:latin typeface="Kalam"/>
                <a:ea typeface="Kalam"/>
                <a:cs typeface="Kalam"/>
                <a:sym typeface="Kalam"/>
              </a:rPr>
              <a:t> is 80 years: 1825</a:t>
            </a:r>
            <a:r>
              <a:rPr lang="en-GB" sz="2000">
                <a:latin typeface="Kalam"/>
                <a:ea typeface="Kalam"/>
                <a:cs typeface="Kalam"/>
                <a:sym typeface="Kalam"/>
              </a:rPr>
              <a:t> × 80 = 146 000 hours</a:t>
            </a:r>
            <a:r>
              <a:rPr lang="en-GB" sz="1800"/>
              <a:t>   </a:t>
            </a:r>
            <a:endParaRPr sz="1800"/>
          </a:p>
        </p:txBody>
      </p:sp>
      <p:sp>
        <p:nvSpPr>
          <p:cNvPr id="1345" name="Google Shape;1345;p113"/>
          <p:cNvSpPr txBox="1"/>
          <p:nvPr>
            <p:ph idx="4294967295" type="body"/>
          </p:nvPr>
        </p:nvSpPr>
        <p:spPr>
          <a:xfrm>
            <a:off x="324000" y="4224450"/>
            <a:ext cx="8496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The claim is fairly reasonable, it’s potentially a little low considering the increase in use of technology such as mobile phones.</a:t>
            </a:r>
            <a:r>
              <a:rPr lang="en-GB" sz="1800"/>
              <a:t>   </a:t>
            </a:r>
            <a:endParaRPr sz="1800"/>
          </a:p>
        </p:txBody>
      </p:sp>
      <p:sp>
        <p:nvSpPr>
          <p:cNvPr id="1346" name="Google Shape;1346;p113"/>
          <p:cNvSpPr txBox="1"/>
          <p:nvPr>
            <p:ph idx="4294967295" type="body"/>
          </p:nvPr>
        </p:nvSpPr>
        <p:spPr>
          <a:xfrm>
            <a:off x="324000" y="1547850"/>
            <a:ext cx="8496000" cy="74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Estimate how long you think the average person will spend on their phone in a lifetime. Write down any estimations you make.</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114"/>
          <p:cNvSpPr txBox="1"/>
          <p:nvPr>
            <p:ph idx="4294967295" type="body"/>
          </p:nvPr>
        </p:nvSpPr>
        <p:spPr>
          <a:xfrm>
            <a:off x="324000" y="810000"/>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 A newspaper states that “5% of the UK has a car parked on it.”</a:t>
            </a:r>
            <a:endParaRPr sz="2000"/>
          </a:p>
        </p:txBody>
      </p:sp>
      <p:sp>
        <p:nvSpPr>
          <p:cNvPr id="1352" name="Google Shape;1352;p11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353" name="Google Shape;1353;p114"/>
          <p:cNvSpPr txBox="1"/>
          <p:nvPr>
            <p:ph idx="4294967295" type="body"/>
          </p:nvPr>
        </p:nvSpPr>
        <p:spPr>
          <a:xfrm>
            <a:off x="324000" y="1227600"/>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Estimate how many households there are in the UK.</a:t>
            </a:r>
            <a:endParaRPr sz="1800"/>
          </a:p>
        </p:txBody>
      </p:sp>
      <p:sp>
        <p:nvSpPr>
          <p:cNvPr id="1354" name="Google Shape;1354;p114"/>
          <p:cNvSpPr txBox="1"/>
          <p:nvPr>
            <p:ph idx="4294967295" type="body"/>
          </p:nvPr>
        </p:nvSpPr>
        <p:spPr>
          <a:xfrm>
            <a:off x="324000" y="2320388"/>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Estimate how many cars there are in the UK.</a:t>
            </a:r>
            <a:endParaRPr sz="1800"/>
          </a:p>
        </p:txBody>
      </p:sp>
      <p:sp>
        <p:nvSpPr>
          <p:cNvPr id="1355" name="Google Shape;1355;p114"/>
          <p:cNvSpPr txBox="1"/>
          <p:nvPr>
            <p:ph idx="4294967295" type="body"/>
          </p:nvPr>
        </p:nvSpPr>
        <p:spPr>
          <a:xfrm>
            <a:off x="324000" y="3780000"/>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Estimate how much space is taken up by these cars.</a:t>
            </a:r>
            <a:endParaRPr sz="1800"/>
          </a:p>
        </p:txBody>
      </p:sp>
      <p:sp>
        <p:nvSpPr>
          <p:cNvPr id="1356" name="Google Shape;1356;p114"/>
          <p:cNvSpPr txBox="1"/>
          <p:nvPr>
            <p:ph idx="4294967295" type="body"/>
          </p:nvPr>
        </p:nvSpPr>
        <p:spPr>
          <a:xfrm>
            <a:off x="324000" y="1584913"/>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Population of UK roughly 70 million and </a:t>
            </a:r>
            <a:r>
              <a:rPr lang="en-GB" sz="2000">
                <a:latin typeface="Kalam"/>
                <a:ea typeface="Kalam"/>
                <a:cs typeface="Kalam"/>
                <a:sym typeface="Kalam"/>
              </a:rPr>
              <a:t>average</a:t>
            </a:r>
            <a:r>
              <a:rPr lang="en-GB" sz="2000">
                <a:latin typeface="Kalam"/>
                <a:ea typeface="Kalam"/>
                <a:cs typeface="Kalam"/>
                <a:sym typeface="Kalam"/>
              </a:rPr>
              <a:t> of 2.4 people per household. </a:t>
            </a:r>
            <a:r>
              <a:rPr lang="en-GB" sz="1800"/>
              <a:t>   </a:t>
            </a:r>
            <a:endParaRPr sz="1800"/>
          </a:p>
        </p:txBody>
      </p:sp>
      <p:sp>
        <p:nvSpPr>
          <p:cNvPr id="1357" name="Google Shape;1357;p114"/>
          <p:cNvSpPr txBox="1"/>
          <p:nvPr>
            <p:ph idx="4294967295" type="body"/>
          </p:nvPr>
        </p:nvSpPr>
        <p:spPr>
          <a:xfrm>
            <a:off x="324000" y="1888838"/>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70 000 000 ÷ 2.4 = 29 166 667 so approximately 30 million households. </a:t>
            </a:r>
            <a:r>
              <a:rPr lang="en-GB" sz="1800"/>
              <a:t>   </a:t>
            </a:r>
            <a:endParaRPr sz="1800"/>
          </a:p>
        </p:txBody>
      </p:sp>
      <p:sp>
        <p:nvSpPr>
          <p:cNvPr id="1358" name="Google Shape;1358;p114"/>
          <p:cNvSpPr txBox="1"/>
          <p:nvPr>
            <p:ph idx="4294967295" type="body"/>
          </p:nvPr>
        </p:nvSpPr>
        <p:spPr>
          <a:xfrm>
            <a:off x="324000" y="2682450"/>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If each household had 2 cars: 60 million cars in the UK</a:t>
            </a:r>
            <a:r>
              <a:rPr lang="en-GB" sz="2000">
                <a:latin typeface="Kalam"/>
                <a:ea typeface="Kalam"/>
                <a:cs typeface="Kalam"/>
                <a:sym typeface="Kalam"/>
              </a:rPr>
              <a:t> </a:t>
            </a:r>
            <a:r>
              <a:rPr lang="en-GB" sz="1800"/>
              <a:t>   </a:t>
            </a:r>
            <a:endParaRPr sz="1800"/>
          </a:p>
        </p:txBody>
      </p:sp>
      <p:sp>
        <p:nvSpPr>
          <p:cNvPr id="1359" name="Google Shape;1359;p114"/>
          <p:cNvSpPr txBox="1"/>
          <p:nvPr>
            <p:ph idx="4294967295" type="body"/>
          </p:nvPr>
        </p:nvSpPr>
        <p:spPr>
          <a:xfrm>
            <a:off x="324000" y="3045538"/>
            <a:ext cx="8496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Note 2 cars per household is probably a high estimate but we haven’t included car impounds and showrooms etc.</a:t>
            </a:r>
            <a:r>
              <a:rPr lang="en-GB" sz="2000">
                <a:latin typeface="Kalam"/>
                <a:ea typeface="Kalam"/>
                <a:cs typeface="Kalam"/>
                <a:sym typeface="Kalam"/>
              </a:rPr>
              <a:t> </a:t>
            </a:r>
            <a:r>
              <a:rPr lang="en-GB" sz="1800"/>
              <a:t>   </a:t>
            </a:r>
            <a:endParaRPr sz="1800"/>
          </a:p>
        </p:txBody>
      </p:sp>
      <p:sp>
        <p:nvSpPr>
          <p:cNvPr id="1360" name="Google Shape;1360;p114"/>
          <p:cNvSpPr txBox="1"/>
          <p:nvPr>
            <p:ph idx="4294967295" type="body"/>
          </p:nvPr>
        </p:nvSpPr>
        <p:spPr>
          <a:xfrm>
            <a:off x="324000" y="4054800"/>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If a car measures 5 m by 1 m then it would take up 5 m</a:t>
            </a:r>
            <a:r>
              <a:rPr baseline="30000" lang="en-GB" sz="2000">
                <a:latin typeface="Kalam"/>
                <a:ea typeface="Kalam"/>
                <a:cs typeface="Kalam"/>
                <a:sym typeface="Kalam"/>
              </a:rPr>
              <a:t>2</a:t>
            </a:r>
            <a:r>
              <a:rPr lang="en-GB" sz="2000">
                <a:latin typeface="Kalam"/>
                <a:ea typeface="Kalam"/>
                <a:cs typeface="Kalam"/>
                <a:sym typeface="Kalam"/>
              </a:rPr>
              <a:t> </a:t>
            </a:r>
            <a:r>
              <a:rPr lang="en-GB" sz="1800"/>
              <a:t>   </a:t>
            </a:r>
            <a:endParaRPr sz="1800"/>
          </a:p>
        </p:txBody>
      </p:sp>
      <p:sp>
        <p:nvSpPr>
          <p:cNvPr id="1361" name="Google Shape;1361;p114"/>
          <p:cNvSpPr txBox="1"/>
          <p:nvPr>
            <p:ph idx="4294967295" type="body"/>
          </p:nvPr>
        </p:nvSpPr>
        <p:spPr>
          <a:xfrm>
            <a:off x="324000" y="4473675"/>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 × 60 000 000 = 300 000 000 m</a:t>
            </a:r>
            <a:r>
              <a:rPr baseline="30000" lang="en-GB" sz="2000">
                <a:latin typeface="Kalam"/>
                <a:ea typeface="Kalam"/>
                <a:cs typeface="Kalam"/>
                <a:sym typeface="Kalam"/>
              </a:rPr>
              <a:t>2</a:t>
            </a:r>
            <a:r>
              <a:rPr lang="en-GB" sz="2000">
                <a:latin typeface="Kalam"/>
                <a:ea typeface="Kalam"/>
                <a:cs typeface="Kalam"/>
                <a:sym typeface="Kalam"/>
              </a:rPr>
              <a:t> </a:t>
            </a:r>
            <a:r>
              <a:rPr lang="en-GB" sz="1800"/>
              <a:t>   </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15"/>
          <p:cNvSpPr/>
          <p:nvPr/>
        </p:nvSpPr>
        <p:spPr>
          <a:xfrm>
            <a:off x="5599550" y="1183500"/>
            <a:ext cx="3129300" cy="3224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7" name="Google Shape;1367;p115"/>
          <p:cNvSpPr txBox="1"/>
          <p:nvPr>
            <p:ph idx="4294967295" type="body"/>
          </p:nvPr>
        </p:nvSpPr>
        <p:spPr>
          <a:xfrm>
            <a:off x="324000" y="810000"/>
            <a:ext cx="84960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 A newspaper states that “5% of the UK has a car parked on it.”</a:t>
            </a:r>
            <a:endParaRPr sz="2000"/>
          </a:p>
        </p:txBody>
      </p:sp>
      <p:sp>
        <p:nvSpPr>
          <p:cNvPr id="1368" name="Google Shape;1368;p11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to check</a:t>
            </a:r>
            <a:endParaRPr/>
          </a:p>
        </p:txBody>
      </p:sp>
      <p:sp>
        <p:nvSpPr>
          <p:cNvPr id="1369" name="Google Shape;1369;p115"/>
          <p:cNvSpPr txBox="1"/>
          <p:nvPr>
            <p:ph idx="4294967295" type="body"/>
          </p:nvPr>
        </p:nvSpPr>
        <p:spPr>
          <a:xfrm>
            <a:off x="324000" y="1173050"/>
            <a:ext cx="53334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 Assume the area of the UK can be modelled by the two rectangles shown. What is the approximate area of the UK?</a:t>
            </a:r>
            <a:endParaRPr sz="1800"/>
          </a:p>
        </p:txBody>
      </p:sp>
      <p:sp>
        <p:nvSpPr>
          <p:cNvPr id="1370" name="Google Shape;1370;p115"/>
          <p:cNvSpPr txBox="1"/>
          <p:nvPr>
            <p:ph idx="4294967295" type="body"/>
          </p:nvPr>
        </p:nvSpPr>
        <p:spPr>
          <a:xfrm>
            <a:off x="324000" y="2567150"/>
            <a:ext cx="5091300" cy="3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 Does the newspaper’s claim seem valid?</a:t>
            </a:r>
            <a:endParaRPr sz="1800"/>
          </a:p>
        </p:txBody>
      </p:sp>
      <p:cxnSp>
        <p:nvCxnSpPr>
          <p:cNvPr id="1371" name="Google Shape;1371;p115"/>
          <p:cNvCxnSpPr/>
          <p:nvPr/>
        </p:nvCxnSpPr>
        <p:spPr>
          <a:xfrm flipH="1">
            <a:off x="6877015" y="1641321"/>
            <a:ext cx="360000" cy="10200"/>
          </a:xfrm>
          <a:prstGeom prst="straightConnector1">
            <a:avLst/>
          </a:prstGeom>
          <a:noFill/>
          <a:ln cap="flat" cmpd="sng" w="19050">
            <a:solidFill>
              <a:schemeClr val="accent5"/>
            </a:solidFill>
            <a:prstDash val="solid"/>
            <a:round/>
            <a:headEnd len="med" w="med" type="none"/>
            <a:tailEnd len="med" w="med" type="none"/>
          </a:ln>
        </p:spPr>
      </p:cxnSp>
      <p:cxnSp>
        <p:nvCxnSpPr>
          <p:cNvPr id="1372" name="Google Shape;1372;p115"/>
          <p:cNvCxnSpPr/>
          <p:nvPr/>
        </p:nvCxnSpPr>
        <p:spPr>
          <a:xfrm flipH="1">
            <a:off x="6700787" y="1645716"/>
            <a:ext cx="179700" cy="445800"/>
          </a:xfrm>
          <a:prstGeom prst="straightConnector1">
            <a:avLst/>
          </a:prstGeom>
          <a:noFill/>
          <a:ln cap="flat" cmpd="sng" w="19050">
            <a:solidFill>
              <a:schemeClr val="accent5"/>
            </a:solidFill>
            <a:prstDash val="solid"/>
            <a:round/>
            <a:headEnd len="med" w="med" type="none"/>
            <a:tailEnd len="med" w="med" type="none"/>
          </a:ln>
        </p:spPr>
      </p:cxnSp>
      <p:cxnSp>
        <p:nvCxnSpPr>
          <p:cNvPr id="1373" name="Google Shape;1373;p115"/>
          <p:cNvCxnSpPr/>
          <p:nvPr/>
        </p:nvCxnSpPr>
        <p:spPr>
          <a:xfrm>
            <a:off x="6700661" y="2084603"/>
            <a:ext cx="23400" cy="265500"/>
          </a:xfrm>
          <a:prstGeom prst="straightConnector1">
            <a:avLst/>
          </a:prstGeom>
          <a:noFill/>
          <a:ln cap="flat" cmpd="sng" w="19050">
            <a:solidFill>
              <a:schemeClr val="accent5"/>
            </a:solidFill>
            <a:prstDash val="solid"/>
            <a:round/>
            <a:headEnd len="med" w="med" type="none"/>
            <a:tailEnd len="med" w="med" type="none"/>
          </a:ln>
        </p:spPr>
      </p:cxnSp>
      <p:cxnSp>
        <p:nvCxnSpPr>
          <p:cNvPr id="1374" name="Google Shape;1374;p115"/>
          <p:cNvCxnSpPr/>
          <p:nvPr/>
        </p:nvCxnSpPr>
        <p:spPr>
          <a:xfrm>
            <a:off x="6722848" y="2345305"/>
            <a:ext cx="12900" cy="409200"/>
          </a:xfrm>
          <a:prstGeom prst="straightConnector1">
            <a:avLst/>
          </a:prstGeom>
          <a:noFill/>
          <a:ln cap="flat" cmpd="sng" w="19050">
            <a:solidFill>
              <a:schemeClr val="accent5"/>
            </a:solidFill>
            <a:prstDash val="solid"/>
            <a:round/>
            <a:headEnd len="med" w="med" type="none"/>
            <a:tailEnd len="med" w="med" type="none"/>
          </a:ln>
        </p:spPr>
      </p:cxnSp>
      <p:cxnSp>
        <p:nvCxnSpPr>
          <p:cNvPr id="1375" name="Google Shape;1375;p115"/>
          <p:cNvCxnSpPr/>
          <p:nvPr/>
        </p:nvCxnSpPr>
        <p:spPr>
          <a:xfrm flipH="1" rot="10800000">
            <a:off x="6737622" y="2498514"/>
            <a:ext cx="119700" cy="252000"/>
          </a:xfrm>
          <a:prstGeom prst="straightConnector1">
            <a:avLst/>
          </a:prstGeom>
          <a:noFill/>
          <a:ln cap="flat" cmpd="sng" w="19050">
            <a:solidFill>
              <a:schemeClr val="accent5"/>
            </a:solidFill>
            <a:prstDash val="solid"/>
            <a:round/>
            <a:headEnd len="med" w="med" type="none"/>
            <a:tailEnd len="med" w="med" type="none"/>
          </a:ln>
        </p:spPr>
      </p:cxnSp>
      <p:cxnSp>
        <p:nvCxnSpPr>
          <p:cNvPr id="1376" name="Google Shape;1376;p115"/>
          <p:cNvCxnSpPr/>
          <p:nvPr/>
        </p:nvCxnSpPr>
        <p:spPr>
          <a:xfrm>
            <a:off x="6860418" y="2495390"/>
            <a:ext cx="10200" cy="457200"/>
          </a:xfrm>
          <a:prstGeom prst="straightConnector1">
            <a:avLst/>
          </a:prstGeom>
          <a:noFill/>
          <a:ln cap="flat" cmpd="sng" w="19050">
            <a:solidFill>
              <a:schemeClr val="accent5"/>
            </a:solidFill>
            <a:prstDash val="solid"/>
            <a:round/>
            <a:headEnd len="med" w="med" type="none"/>
            <a:tailEnd len="med" w="med" type="none"/>
          </a:ln>
        </p:spPr>
      </p:cxnSp>
      <p:cxnSp>
        <p:nvCxnSpPr>
          <p:cNvPr id="1377" name="Google Shape;1377;p115"/>
          <p:cNvCxnSpPr/>
          <p:nvPr/>
        </p:nvCxnSpPr>
        <p:spPr>
          <a:xfrm flipH="1" rot="10800000">
            <a:off x="6866949" y="2903221"/>
            <a:ext cx="314100" cy="45600"/>
          </a:xfrm>
          <a:prstGeom prst="straightConnector1">
            <a:avLst/>
          </a:prstGeom>
          <a:noFill/>
          <a:ln cap="flat" cmpd="sng" w="19050">
            <a:solidFill>
              <a:schemeClr val="accent5"/>
            </a:solidFill>
            <a:prstDash val="solid"/>
            <a:round/>
            <a:headEnd len="med" w="med" type="none"/>
            <a:tailEnd len="med" w="med" type="none"/>
          </a:ln>
        </p:spPr>
      </p:cxnSp>
      <p:cxnSp>
        <p:nvCxnSpPr>
          <p:cNvPr id="1378" name="Google Shape;1378;p115"/>
          <p:cNvCxnSpPr/>
          <p:nvPr/>
        </p:nvCxnSpPr>
        <p:spPr>
          <a:xfrm>
            <a:off x="7176491" y="2902241"/>
            <a:ext cx="13500" cy="444000"/>
          </a:xfrm>
          <a:prstGeom prst="straightConnector1">
            <a:avLst/>
          </a:prstGeom>
          <a:noFill/>
          <a:ln cap="flat" cmpd="sng" w="19050">
            <a:solidFill>
              <a:schemeClr val="accent5"/>
            </a:solidFill>
            <a:prstDash val="solid"/>
            <a:round/>
            <a:headEnd len="med" w="med" type="none"/>
            <a:tailEnd len="med" w="med" type="none"/>
          </a:ln>
        </p:spPr>
      </p:cxnSp>
      <p:cxnSp>
        <p:nvCxnSpPr>
          <p:cNvPr id="1379" name="Google Shape;1379;p115"/>
          <p:cNvCxnSpPr/>
          <p:nvPr/>
        </p:nvCxnSpPr>
        <p:spPr>
          <a:xfrm rot="10800000">
            <a:off x="6955765" y="3337988"/>
            <a:ext cx="238800" cy="9900"/>
          </a:xfrm>
          <a:prstGeom prst="straightConnector1">
            <a:avLst/>
          </a:prstGeom>
          <a:noFill/>
          <a:ln cap="flat" cmpd="sng" w="19050">
            <a:solidFill>
              <a:schemeClr val="accent5"/>
            </a:solidFill>
            <a:prstDash val="solid"/>
            <a:round/>
            <a:headEnd len="med" w="med" type="none"/>
            <a:tailEnd len="med" w="med" type="none"/>
          </a:ln>
        </p:spPr>
      </p:cxnSp>
      <p:cxnSp>
        <p:nvCxnSpPr>
          <p:cNvPr id="1380" name="Google Shape;1380;p115"/>
          <p:cNvCxnSpPr/>
          <p:nvPr/>
        </p:nvCxnSpPr>
        <p:spPr>
          <a:xfrm flipH="1">
            <a:off x="6867039" y="3336009"/>
            <a:ext cx="90900" cy="544800"/>
          </a:xfrm>
          <a:prstGeom prst="straightConnector1">
            <a:avLst/>
          </a:prstGeom>
          <a:noFill/>
          <a:ln cap="flat" cmpd="sng" w="19050">
            <a:solidFill>
              <a:schemeClr val="accent5"/>
            </a:solidFill>
            <a:prstDash val="solid"/>
            <a:round/>
            <a:headEnd len="med" w="med" type="none"/>
            <a:tailEnd len="med" w="med" type="none"/>
          </a:ln>
        </p:spPr>
      </p:cxnSp>
      <p:cxnSp>
        <p:nvCxnSpPr>
          <p:cNvPr id="1381" name="Google Shape;1381;p115"/>
          <p:cNvCxnSpPr/>
          <p:nvPr/>
        </p:nvCxnSpPr>
        <p:spPr>
          <a:xfrm>
            <a:off x="6862024" y="3877500"/>
            <a:ext cx="438900" cy="13200"/>
          </a:xfrm>
          <a:prstGeom prst="straightConnector1">
            <a:avLst/>
          </a:prstGeom>
          <a:noFill/>
          <a:ln cap="flat" cmpd="sng" w="19050">
            <a:solidFill>
              <a:schemeClr val="accent5"/>
            </a:solidFill>
            <a:prstDash val="solid"/>
            <a:round/>
            <a:headEnd len="med" w="med" type="none"/>
            <a:tailEnd len="med" w="med" type="none"/>
          </a:ln>
        </p:spPr>
      </p:cxnSp>
      <p:cxnSp>
        <p:nvCxnSpPr>
          <p:cNvPr id="1382" name="Google Shape;1382;p115"/>
          <p:cNvCxnSpPr/>
          <p:nvPr/>
        </p:nvCxnSpPr>
        <p:spPr>
          <a:xfrm flipH="1">
            <a:off x="6759359" y="3888585"/>
            <a:ext cx="543600" cy="415800"/>
          </a:xfrm>
          <a:prstGeom prst="straightConnector1">
            <a:avLst/>
          </a:prstGeom>
          <a:noFill/>
          <a:ln cap="flat" cmpd="sng" w="19050">
            <a:solidFill>
              <a:schemeClr val="accent5"/>
            </a:solidFill>
            <a:prstDash val="solid"/>
            <a:round/>
            <a:headEnd len="med" w="med" type="none"/>
            <a:tailEnd len="med" w="med" type="none"/>
          </a:ln>
        </p:spPr>
      </p:cxnSp>
      <p:cxnSp>
        <p:nvCxnSpPr>
          <p:cNvPr id="1383" name="Google Shape;1383;p115"/>
          <p:cNvCxnSpPr/>
          <p:nvPr/>
        </p:nvCxnSpPr>
        <p:spPr>
          <a:xfrm flipH="1" rot="10800000">
            <a:off x="6764716" y="4051996"/>
            <a:ext cx="1289400" cy="252900"/>
          </a:xfrm>
          <a:prstGeom prst="straightConnector1">
            <a:avLst/>
          </a:prstGeom>
          <a:noFill/>
          <a:ln cap="flat" cmpd="sng" w="19050">
            <a:solidFill>
              <a:schemeClr val="accent5"/>
            </a:solidFill>
            <a:prstDash val="solid"/>
            <a:round/>
            <a:headEnd len="med" w="med" type="none"/>
            <a:tailEnd len="med" w="med" type="none"/>
          </a:ln>
        </p:spPr>
      </p:cxnSp>
      <p:cxnSp>
        <p:nvCxnSpPr>
          <p:cNvPr id="1384" name="Google Shape;1384;p115"/>
          <p:cNvCxnSpPr/>
          <p:nvPr/>
        </p:nvCxnSpPr>
        <p:spPr>
          <a:xfrm rot="10800000">
            <a:off x="7926447" y="3900637"/>
            <a:ext cx="126600" cy="153000"/>
          </a:xfrm>
          <a:prstGeom prst="straightConnector1">
            <a:avLst/>
          </a:prstGeom>
          <a:noFill/>
          <a:ln cap="flat" cmpd="sng" w="19050">
            <a:solidFill>
              <a:schemeClr val="accent5"/>
            </a:solidFill>
            <a:prstDash val="solid"/>
            <a:round/>
            <a:headEnd len="med" w="med" type="none"/>
            <a:tailEnd len="med" w="med" type="none"/>
          </a:ln>
        </p:spPr>
      </p:cxnSp>
      <p:cxnSp>
        <p:nvCxnSpPr>
          <p:cNvPr id="1385" name="Google Shape;1385;p115"/>
          <p:cNvCxnSpPr/>
          <p:nvPr/>
        </p:nvCxnSpPr>
        <p:spPr>
          <a:xfrm flipH="1" rot="10800000">
            <a:off x="7927426" y="3551301"/>
            <a:ext cx="170400" cy="357000"/>
          </a:xfrm>
          <a:prstGeom prst="straightConnector1">
            <a:avLst/>
          </a:prstGeom>
          <a:noFill/>
          <a:ln cap="flat" cmpd="sng" w="19050">
            <a:solidFill>
              <a:schemeClr val="accent5"/>
            </a:solidFill>
            <a:prstDash val="solid"/>
            <a:round/>
            <a:headEnd len="med" w="med" type="none"/>
            <a:tailEnd len="med" w="med" type="none"/>
          </a:ln>
        </p:spPr>
      </p:cxnSp>
      <p:cxnSp>
        <p:nvCxnSpPr>
          <p:cNvPr id="1386" name="Google Shape;1386;p115"/>
          <p:cNvCxnSpPr/>
          <p:nvPr/>
        </p:nvCxnSpPr>
        <p:spPr>
          <a:xfrm rot="10800000">
            <a:off x="7835557" y="3457044"/>
            <a:ext cx="264300" cy="99000"/>
          </a:xfrm>
          <a:prstGeom prst="straightConnector1">
            <a:avLst/>
          </a:prstGeom>
          <a:noFill/>
          <a:ln cap="flat" cmpd="sng" w="19050">
            <a:solidFill>
              <a:schemeClr val="accent5"/>
            </a:solidFill>
            <a:prstDash val="solid"/>
            <a:round/>
            <a:headEnd len="med" w="med" type="none"/>
            <a:tailEnd len="med" w="med" type="none"/>
          </a:ln>
        </p:spPr>
      </p:cxnSp>
      <p:cxnSp>
        <p:nvCxnSpPr>
          <p:cNvPr id="1387" name="Google Shape;1387;p115"/>
          <p:cNvCxnSpPr/>
          <p:nvPr/>
        </p:nvCxnSpPr>
        <p:spPr>
          <a:xfrm rot="10800000">
            <a:off x="7323773" y="2522595"/>
            <a:ext cx="519900" cy="942300"/>
          </a:xfrm>
          <a:prstGeom prst="straightConnector1">
            <a:avLst/>
          </a:prstGeom>
          <a:noFill/>
          <a:ln cap="flat" cmpd="sng" w="19050">
            <a:solidFill>
              <a:schemeClr val="accent5"/>
            </a:solidFill>
            <a:prstDash val="solid"/>
            <a:round/>
            <a:headEnd len="med" w="med" type="none"/>
            <a:tailEnd len="med" w="med" type="none"/>
          </a:ln>
        </p:spPr>
      </p:cxnSp>
      <p:cxnSp>
        <p:nvCxnSpPr>
          <p:cNvPr id="1388" name="Google Shape;1388;p115"/>
          <p:cNvCxnSpPr/>
          <p:nvPr/>
        </p:nvCxnSpPr>
        <p:spPr>
          <a:xfrm flipH="1">
            <a:off x="7193236" y="2522290"/>
            <a:ext cx="141300" cy="20100"/>
          </a:xfrm>
          <a:prstGeom prst="straightConnector1">
            <a:avLst/>
          </a:prstGeom>
          <a:noFill/>
          <a:ln cap="flat" cmpd="sng" w="19050">
            <a:solidFill>
              <a:schemeClr val="accent5"/>
            </a:solidFill>
            <a:prstDash val="solid"/>
            <a:round/>
            <a:headEnd len="med" w="med" type="none"/>
            <a:tailEnd len="med" w="med" type="none"/>
          </a:ln>
        </p:spPr>
      </p:cxnSp>
      <p:cxnSp>
        <p:nvCxnSpPr>
          <p:cNvPr id="1389" name="Google Shape;1389;p115"/>
          <p:cNvCxnSpPr/>
          <p:nvPr/>
        </p:nvCxnSpPr>
        <p:spPr>
          <a:xfrm flipH="1" rot="10800000">
            <a:off x="7200037" y="2024593"/>
            <a:ext cx="262200" cy="514500"/>
          </a:xfrm>
          <a:prstGeom prst="straightConnector1">
            <a:avLst/>
          </a:prstGeom>
          <a:noFill/>
          <a:ln cap="flat" cmpd="sng" w="19050">
            <a:solidFill>
              <a:schemeClr val="accent5"/>
            </a:solidFill>
            <a:prstDash val="solid"/>
            <a:round/>
            <a:headEnd len="med" w="med" type="none"/>
            <a:tailEnd len="med" w="med" type="none"/>
          </a:ln>
        </p:spPr>
      </p:cxnSp>
      <p:cxnSp>
        <p:nvCxnSpPr>
          <p:cNvPr id="1390" name="Google Shape;1390;p115"/>
          <p:cNvCxnSpPr/>
          <p:nvPr/>
        </p:nvCxnSpPr>
        <p:spPr>
          <a:xfrm rot="10800000">
            <a:off x="7072505" y="1979520"/>
            <a:ext cx="391800" cy="48000"/>
          </a:xfrm>
          <a:prstGeom prst="straightConnector1">
            <a:avLst/>
          </a:prstGeom>
          <a:noFill/>
          <a:ln cap="flat" cmpd="sng" w="19050">
            <a:solidFill>
              <a:schemeClr val="accent5"/>
            </a:solidFill>
            <a:prstDash val="solid"/>
            <a:round/>
            <a:headEnd len="med" w="med" type="none"/>
            <a:tailEnd len="med" w="med" type="none"/>
          </a:ln>
        </p:spPr>
      </p:cxnSp>
      <p:cxnSp>
        <p:nvCxnSpPr>
          <p:cNvPr id="1391" name="Google Shape;1391;p115"/>
          <p:cNvCxnSpPr/>
          <p:nvPr/>
        </p:nvCxnSpPr>
        <p:spPr>
          <a:xfrm flipH="1" rot="10800000">
            <a:off x="7072263" y="1637193"/>
            <a:ext cx="165300" cy="347100"/>
          </a:xfrm>
          <a:prstGeom prst="straightConnector1">
            <a:avLst/>
          </a:prstGeom>
          <a:noFill/>
          <a:ln cap="flat" cmpd="sng" w="19050">
            <a:solidFill>
              <a:schemeClr val="accent5"/>
            </a:solidFill>
            <a:prstDash val="solid"/>
            <a:round/>
            <a:headEnd len="med" w="med" type="none"/>
            <a:tailEnd len="med" w="med" type="none"/>
          </a:ln>
        </p:spPr>
      </p:cxnSp>
      <p:cxnSp>
        <p:nvCxnSpPr>
          <p:cNvPr id="1392" name="Google Shape;1392;p115"/>
          <p:cNvCxnSpPr/>
          <p:nvPr/>
        </p:nvCxnSpPr>
        <p:spPr>
          <a:xfrm flipH="1" rot="10800000">
            <a:off x="6453568" y="2787813"/>
            <a:ext cx="228600" cy="10200"/>
          </a:xfrm>
          <a:prstGeom prst="straightConnector1">
            <a:avLst/>
          </a:prstGeom>
          <a:noFill/>
          <a:ln cap="flat" cmpd="sng" w="19050">
            <a:solidFill>
              <a:schemeClr val="accent5"/>
            </a:solidFill>
            <a:prstDash val="solid"/>
            <a:round/>
            <a:headEnd len="med" w="med" type="none"/>
            <a:tailEnd len="med" w="med" type="none"/>
          </a:ln>
        </p:spPr>
      </p:cxnSp>
      <p:cxnSp>
        <p:nvCxnSpPr>
          <p:cNvPr id="1393" name="Google Shape;1393;p115"/>
          <p:cNvCxnSpPr/>
          <p:nvPr/>
        </p:nvCxnSpPr>
        <p:spPr>
          <a:xfrm flipH="1">
            <a:off x="6297109" y="2796389"/>
            <a:ext cx="158100" cy="238500"/>
          </a:xfrm>
          <a:prstGeom prst="straightConnector1">
            <a:avLst/>
          </a:prstGeom>
          <a:noFill/>
          <a:ln cap="flat" cmpd="sng" w="19050">
            <a:solidFill>
              <a:schemeClr val="accent5"/>
            </a:solidFill>
            <a:prstDash val="solid"/>
            <a:round/>
            <a:headEnd len="med" w="med" type="none"/>
            <a:tailEnd len="med" w="med" type="none"/>
          </a:ln>
        </p:spPr>
      </p:cxnSp>
      <p:cxnSp>
        <p:nvCxnSpPr>
          <p:cNvPr id="1394" name="Google Shape;1394;p115"/>
          <p:cNvCxnSpPr/>
          <p:nvPr/>
        </p:nvCxnSpPr>
        <p:spPr>
          <a:xfrm>
            <a:off x="6297199" y="3027561"/>
            <a:ext cx="123900" cy="147900"/>
          </a:xfrm>
          <a:prstGeom prst="straightConnector1">
            <a:avLst/>
          </a:prstGeom>
          <a:noFill/>
          <a:ln cap="flat" cmpd="sng" w="19050">
            <a:solidFill>
              <a:schemeClr val="accent5"/>
            </a:solidFill>
            <a:prstDash val="solid"/>
            <a:round/>
            <a:headEnd len="med" w="med" type="none"/>
            <a:tailEnd len="med" w="med" type="none"/>
          </a:ln>
        </p:spPr>
      </p:cxnSp>
      <p:cxnSp>
        <p:nvCxnSpPr>
          <p:cNvPr id="1395" name="Google Shape;1395;p115"/>
          <p:cNvCxnSpPr/>
          <p:nvPr/>
        </p:nvCxnSpPr>
        <p:spPr>
          <a:xfrm flipH="1" rot="10800000">
            <a:off x="6416148" y="3064386"/>
            <a:ext cx="98400" cy="108600"/>
          </a:xfrm>
          <a:prstGeom prst="straightConnector1">
            <a:avLst/>
          </a:prstGeom>
          <a:noFill/>
          <a:ln cap="flat" cmpd="sng" w="19050">
            <a:solidFill>
              <a:schemeClr val="accent5"/>
            </a:solidFill>
            <a:prstDash val="solid"/>
            <a:round/>
            <a:headEnd len="med" w="med" type="none"/>
            <a:tailEnd len="med" w="med" type="none"/>
          </a:ln>
        </p:spPr>
      </p:cxnSp>
      <p:cxnSp>
        <p:nvCxnSpPr>
          <p:cNvPr id="1396" name="Google Shape;1396;p115"/>
          <p:cNvCxnSpPr/>
          <p:nvPr/>
        </p:nvCxnSpPr>
        <p:spPr>
          <a:xfrm>
            <a:off x="6510986" y="3065828"/>
            <a:ext cx="150300" cy="159000"/>
          </a:xfrm>
          <a:prstGeom prst="straightConnector1">
            <a:avLst/>
          </a:prstGeom>
          <a:noFill/>
          <a:ln cap="flat" cmpd="sng" w="19050">
            <a:solidFill>
              <a:schemeClr val="accent5"/>
            </a:solidFill>
            <a:prstDash val="solid"/>
            <a:round/>
            <a:headEnd len="med" w="med" type="none"/>
            <a:tailEnd len="med" w="med" type="none"/>
          </a:ln>
        </p:spPr>
      </p:cxnSp>
      <p:cxnSp>
        <p:nvCxnSpPr>
          <p:cNvPr id="1397" name="Google Shape;1397;p115"/>
          <p:cNvCxnSpPr/>
          <p:nvPr/>
        </p:nvCxnSpPr>
        <p:spPr>
          <a:xfrm flipH="1" rot="10800000">
            <a:off x="6655316" y="3034910"/>
            <a:ext cx="162300" cy="193500"/>
          </a:xfrm>
          <a:prstGeom prst="straightConnector1">
            <a:avLst/>
          </a:prstGeom>
          <a:noFill/>
          <a:ln cap="flat" cmpd="sng" w="19050">
            <a:solidFill>
              <a:schemeClr val="accent5"/>
            </a:solidFill>
            <a:prstDash val="solid"/>
            <a:round/>
            <a:headEnd len="med" w="med" type="none"/>
            <a:tailEnd len="med" w="med" type="none"/>
          </a:ln>
        </p:spPr>
      </p:cxnSp>
      <p:cxnSp>
        <p:nvCxnSpPr>
          <p:cNvPr id="1398" name="Google Shape;1398;p115"/>
          <p:cNvCxnSpPr/>
          <p:nvPr/>
        </p:nvCxnSpPr>
        <p:spPr>
          <a:xfrm rot="10800000">
            <a:off x="6679615" y="2785165"/>
            <a:ext cx="137100" cy="258300"/>
          </a:xfrm>
          <a:prstGeom prst="straightConnector1">
            <a:avLst/>
          </a:prstGeom>
          <a:noFill/>
          <a:ln cap="flat" cmpd="sng" w="19050">
            <a:solidFill>
              <a:schemeClr val="accent5"/>
            </a:solidFill>
            <a:prstDash val="solid"/>
            <a:round/>
            <a:headEnd len="med" w="med" type="none"/>
            <a:tailEnd len="med" w="med" type="none"/>
          </a:ln>
        </p:spPr>
      </p:cxnSp>
      <p:cxnSp>
        <p:nvCxnSpPr>
          <p:cNvPr id="1399" name="Google Shape;1399;p115"/>
          <p:cNvCxnSpPr/>
          <p:nvPr/>
        </p:nvCxnSpPr>
        <p:spPr>
          <a:xfrm flipH="1" rot="10800000">
            <a:off x="6572216" y="1457923"/>
            <a:ext cx="842100" cy="138900"/>
          </a:xfrm>
          <a:prstGeom prst="straightConnector1">
            <a:avLst/>
          </a:prstGeom>
          <a:noFill/>
          <a:ln cap="flat" cmpd="sng" w="28575">
            <a:solidFill>
              <a:srgbClr val="000000"/>
            </a:solidFill>
            <a:prstDash val="solid"/>
            <a:round/>
            <a:headEnd len="med" w="med" type="stealth"/>
            <a:tailEnd len="med" w="med" type="stealth"/>
          </a:ln>
        </p:spPr>
      </p:cxnSp>
      <p:cxnSp>
        <p:nvCxnSpPr>
          <p:cNvPr id="1400" name="Google Shape;1400;p115"/>
          <p:cNvCxnSpPr/>
          <p:nvPr/>
        </p:nvCxnSpPr>
        <p:spPr>
          <a:xfrm>
            <a:off x="7547352" y="1571424"/>
            <a:ext cx="404400" cy="2531400"/>
          </a:xfrm>
          <a:prstGeom prst="straightConnector1">
            <a:avLst/>
          </a:prstGeom>
          <a:noFill/>
          <a:ln cap="flat" cmpd="sng" w="28575">
            <a:solidFill>
              <a:srgbClr val="000000"/>
            </a:solidFill>
            <a:prstDash val="solid"/>
            <a:round/>
            <a:headEnd len="med" w="med" type="stealth"/>
            <a:tailEnd len="med" w="med" type="stealth"/>
          </a:ln>
        </p:spPr>
      </p:cxnSp>
      <p:cxnSp>
        <p:nvCxnSpPr>
          <p:cNvPr id="1401" name="Google Shape;1401;p115"/>
          <p:cNvCxnSpPr/>
          <p:nvPr/>
        </p:nvCxnSpPr>
        <p:spPr>
          <a:xfrm>
            <a:off x="6313826" y="3270198"/>
            <a:ext cx="386700" cy="0"/>
          </a:xfrm>
          <a:prstGeom prst="straightConnector1">
            <a:avLst/>
          </a:prstGeom>
          <a:noFill/>
          <a:ln cap="flat" cmpd="sng" w="28575">
            <a:solidFill>
              <a:srgbClr val="000000"/>
            </a:solidFill>
            <a:prstDash val="solid"/>
            <a:round/>
            <a:headEnd len="med" w="med" type="stealth"/>
            <a:tailEnd len="med" w="med" type="stealth"/>
          </a:ln>
        </p:spPr>
      </p:cxnSp>
      <p:cxnSp>
        <p:nvCxnSpPr>
          <p:cNvPr id="1402" name="Google Shape;1402;p115"/>
          <p:cNvCxnSpPr/>
          <p:nvPr/>
        </p:nvCxnSpPr>
        <p:spPr>
          <a:xfrm rot="10800000">
            <a:off x="6210125" y="2802855"/>
            <a:ext cx="0" cy="363300"/>
          </a:xfrm>
          <a:prstGeom prst="straightConnector1">
            <a:avLst/>
          </a:prstGeom>
          <a:noFill/>
          <a:ln cap="flat" cmpd="sng" w="28575">
            <a:solidFill>
              <a:srgbClr val="000000"/>
            </a:solidFill>
            <a:prstDash val="solid"/>
            <a:round/>
            <a:headEnd len="med" w="med" type="stealth"/>
            <a:tailEnd len="med" w="med" type="stealth"/>
          </a:ln>
        </p:spPr>
      </p:cxnSp>
      <p:sp>
        <p:nvSpPr>
          <p:cNvPr id="1403" name="Google Shape;1403;p115"/>
          <p:cNvSpPr txBox="1"/>
          <p:nvPr/>
        </p:nvSpPr>
        <p:spPr>
          <a:xfrm>
            <a:off x="6619672" y="1213059"/>
            <a:ext cx="808800" cy="31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220 km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404" name="Google Shape;1404;p115"/>
          <p:cNvSpPr txBox="1"/>
          <p:nvPr/>
        </p:nvSpPr>
        <p:spPr>
          <a:xfrm>
            <a:off x="7769663" y="2441290"/>
            <a:ext cx="1007400" cy="31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1000 km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405" name="Google Shape;1405;p115"/>
          <p:cNvSpPr txBox="1"/>
          <p:nvPr/>
        </p:nvSpPr>
        <p:spPr>
          <a:xfrm>
            <a:off x="6348460" y="3309365"/>
            <a:ext cx="438900" cy="313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150 km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406" name="Google Shape;1406;p115"/>
          <p:cNvSpPr txBox="1"/>
          <p:nvPr/>
        </p:nvSpPr>
        <p:spPr>
          <a:xfrm>
            <a:off x="5680553" y="2802041"/>
            <a:ext cx="470400" cy="313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100 km</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407" name="Google Shape;1407;p115"/>
          <p:cNvSpPr/>
          <p:nvPr/>
        </p:nvSpPr>
        <p:spPr>
          <a:xfrm rot="-539907">
            <a:off x="6788472" y="1614007"/>
            <a:ext cx="865047" cy="2600224"/>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8" name="Google Shape;1408;p115"/>
          <p:cNvSpPr/>
          <p:nvPr/>
        </p:nvSpPr>
        <p:spPr>
          <a:xfrm>
            <a:off x="6304030" y="2803537"/>
            <a:ext cx="438900" cy="36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9" name="Google Shape;1409;p115"/>
          <p:cNvSpPr txBox="1"/>
          <p:nvPr>
            <p:ph idx="4294967295" type="body"/>
          </p:nvPr>
        </p:nvSpPr>
        <p:spPr>
          <a:xfrm>
            <a:off x="324000" y="2179925"/>
            <a:ext cx="48786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220</a:t>
            </a:r>
            <a:r>
              <a:rPr lang="en-GB" sz="2000">
                <a:latin typeface="Kalam"/>
                <a:ea typeface="Kalam"/>
                <a:cs typeface="Kalam"/>
                <a:sym typeface="Kalam"/>
              </a:rPr>
              <a:t> × 1000 + 150 </a:t>
            </a:r>
            <a:r>
              <a:rPr lang="en-GB" sz="2000">
                <a:latin typeface="Kalam"/>
                <a:ea typeface="Kalam"/>
                <a:cs typeface="Kalam"/>
                <a:sym typeface="Kalam"/>
              </a:rPr>
              <a:t>× 100</a:t>
            </a:r>
            <a:r>
              <a:rPr lang="en-GB" sz="2000">
                <a:latin typeface="Kalam"/>
                <a:ea typeface="Kalam"/>
                <a:cs typeface="Kalam"/>
                <a:sym typeface="Kalam"/>
              </a:rPr>
              <a:t> = 235 000 km</a:t>
            </a:r>
            <a:r>
              <a:rPr baseline="30000" lang="en-GB" sz="2000">
                <a:latin typeface="Kalam"/>
                <a:ea typeface="Kalam"/>
                <a:cs typeface="Kalam"/>
                <a:sym typeface="Kalam"/>
              </a:rPr>
              <a:t>2</a:t>
            </a:r>
            <a:r>
              <a:rPr lang="en-GB" sz="2000">
                <a:latin typeface="Kalam"/>
                <a:ea typeface="Kalam"/>
                <a:cs typeface="Kalam"/>
                <a:sym typeface="Kalam"/>
              </a:rPr>
              <a:t> </a:t>
            </a:r>
            <a:r>
              <a:rPr lang="en-GB" sz="1800"/>
              <a:t>   </a:t>
            </a:r>
            <a:endParaRPr sz="1800"/>
          </a:p>
        </p:txBody>
      </p:sp>
      <p:sp>
        <p:nvSpPr>
          <p:cNvPr id="1410" name="Google Shape;1410;p115"/>
          <p:cNvSpPr txBox="1"/>
          <p:nvPr>
            <p:ph idx="4294967295" type="body"/>
          </p:nvPr>
        </p:nvSpPr>
        <p:spPr>
          <a:xfrm>
            <a:off x="324000" y="2850200"/>
            <a:ext cx="4916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tricky bit is changing m</a:t>
            </a:r>
            <a:r>
              <a:rPr baseline="30000" lang="en-GB" sz="2000">
                <a:latin typeface="Kalam"/>
                <a:ea typeface="Kalam"/>
                <a:cs typeface="Kalam"/>
                <a:sym typeface="Kalam"/>
              </a:rPr>
              <a:t>2</a:t>
            </a:r>
            <a:r>
              <a:rPr lang="en-GB" sz="2000">
                <a:latin typeface="Kalam"/>
                <a:ea typeface="Kalam"/>
                <a:cs typeface="Kalam"/>
                <a:sym typeface="Kalam"/>
              </a:rPr>
              <a:t> to km</a:t>
            </a:r>
            <a:r>
              <a:rPr baseline="30000" lang="en-GB" sz="2000">
                <a:latin typeface="Kalam"/>
                <a:ea typeface="Kalam"/>
                <a:cs typeface="Kalam"/>
                <a:sym typeface="Kalam"/>
              </a:rPr>
              <a:t>2</a:t>
            </a:r>
            <a:r>
              <a:rPr lang="en-GB" sz="2000">
                <a:latin typeface="Kalam"/>
                <a:ea typeface="Kalam"/>
                <a:cs typeface="Kalam"/>
                <a:sym typeface="Kalam"/>
              </a:rPr>
              <a:t> </a:t>
            </a:r>
            <a:r>
              <a:rPr lang="en-GB" sz="1800"/>
              <a:t>   </a:t>
            </a:r>
            <a:endParaRPr sz="1800"/>
          </a:p>
        </p:txBody>
      </p:sp>
      <p:sp>
        <p:nvSpPr>
          <p:cNvPr id="1411" name="Google Shape;1411;p115"/>
          <p:cNvSpPr txBox="1"/>
          <p:nvPr>
            <p:ph idx="4294967295" type="body"/>
          </p:nvPr>
        </p:nvSpPr>
        <p:spPr>
          <a:xfrm>
            <a:off x="329775" y="3196100"/>
            <a:ext cx="48786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 </a:t>
            </a:r>
            <a:r>
              <a:rPr lang="en-GB" sz="2000">
                <a:latin typeface="Kalam"/>
                <a:ea typeface="Kalam"/>
                <a:cs typeface="Kalam"/>
                <a:sym typeface="Kalam"/>
              </a:rPr>
              <a:t>km</a:t>
            </a:r>
            <a:r>
              <a:rPr baseline="30000" lang="en-GB" sz="2000">
                <a:latin typeface="Kalam"/>
                <a:ea typeface="Kalam"/>
                <a:cs typeface="Kalam"/>
                <a:sym typeface="Kalam"/>
              </a:rPr>
              <a:t>2</a:t>
            </a:r>
            <a:r>
              <a:rPr lang="en-GB" sz="2000">
                <a:latin typeface="Kalam"/>
                <a:ea typeface="Kalam"/>
                <a:cs typeface="Kalam"/>
                <a:sym typeface="Kalam"/>
              </a:rPr>
              <a:t> = </a:t>
            </a:r>
            <a:r>
              <a:rPr lang="en-GB" sz="2000">
                <a:latin typeface="Kalam"/>
                <a:ea typeface="Kalam"/>
                <a:cs typeface="Kalam"/>
                <a:sym typeface="Kalam"/>
              </a:rPr>
              <a:t>1000 × 1000 = 1 000 000 m</a:t>
            </a:r>
            <a:r>
              <a:rPr baseline="30000" lang="en-GB" sz="2000">
                <a:latin typeface="Kalam"/>
                <a:ea typeface="Kalam"/>
                <a:cs typeface="Kalam"/>
                <a:sym typeface="Kalam"/>
              </a:rPr>
              <a:t>2</a:t>
            </a:r>
            <a:r>
              <a:rPr lang="en-GB" sz="2000">
                <a:latin typeface="Kalam"/>
                <a:ea typeface="Kalam"/>
                <a:cs typeface="Kalam"/>
                <a:sym typeface="Kalam"/>
              </a:rPr>
              <a:t> </a:t>
            </a:r>
            <a:r>
              <a:rPr lang="en-GB" sz="1800"/>
              <a:t>   </a:t>
            </a:r>
            <a:endParaRPr sz="1800"/>
          </a:p>
        </p:txBody>
      </p:sp>
      <p:sp>
        <p:nvSpPr>
          <p:cNvPr id="1412" name="Google Shape;1412;p115"/>
          <p:cNvSpPr txBox="1"/>
          <p:nvPr>
            <p:ph idx="4294967295" type="body"/>
          </p:nvPr>
        </p:nvSpPr>
        <p:spPr>
          <a:xfrm>
            <a:off x="329775" y="3542900"/>
            <a:ext cx="48786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So cars take up 300 km</a:t>
            </a:r>
            <a:r>
              <a:rPr baseline="30000" lang="en-GB" sz="2000">
                <a:latin typeface="Kalam"/>
                <a:ea typeface="Kalam"/>
                <a:cs typeface="Kalam"/>
                <a:sym typeface="Kalam"/>
              </a:rPr>
              <a:t>2</a:t>
            </a:r>
            <a:r>
              <a:rPr lang="en-GB" sz="2000">
                <a:latin typeface="Kalam"/>
                <a:ea typeface="Kalam"/>
                <a:cs typeface="Kalam"/>
                <a:sym typeface="Kalam"/>
              </a:rPr>
              <a:t> </a:t>
            </a:r>
            <a:r>
              <a:rPr lang="en-GB" sz="2000">
                <a:latin typeface="Kalam"/>
                <a:ea typeface="Kalam"/>
                <a:cs typeface="Kalam"/>
                <a:sym typeface="Kalam"/>
              </a:rPr>
              <a:t> </a:t>
            </a:r>
            <a:r>
              <a:rPr lang="en-GB" sz="1800"/>
              <a:t>   </a:t>
            </a:r>
            <a:endParaRPr sz="1800"/>
          </a:p>
        </p:txBody>
      </p:sp>
      <p:pic>
        <p:nvPicPr>
          <p:cNvPr descr="&lt;math xmlns=&quot;http://www.w3.org/1998/Math/MathML&quot; display=&quot;block&quot; data-is-equatio=&quot;1&quot; data-latex=&quot;\frac{300}{235000}=0.00127...\ =\ 0.13\%&quot;&gt;&lt;mfrac&gt;&lt;mn&gt;300&lt;/mn&gt;&lt;mn&gt;235000&lt;/mn&gt;&lt;/mfrac&gt;&lt;mo&gt;=&lt;/mo&gt;&lt;mn&gt;0.00127&lt;/mn&gt;&lt;mo&gt;.&lt;/mo&gt;&lt;mo&gt;.&lt;/mo&gt;&lt;mo&gt;.&lt;/mo&gt;&lt;mtext&gt;&lt;/mtext&gt;&lt;mo&gt;=&lt;/mo&gt;&lt;mtext&gt;&lt;/mtext&gt;&lt;mn&gt;0.13&lt;/mn&gt;&lt;mi mathvariant=&quot;normal&quot;&gt;%&lt;/mi&gt;&lt;/math&gt;" id="1413" name="Google Shape;1413;p115" title="300 over 235000 equals 0.00127 period period period equals 0.13 percent sign"/>
          <p:cNvPicPr preferRelativeResize="0"/>
          <p:nvPr/>
        </p:nvPicPr>
        <p:blipFill>
          <a:blip r:embed="rId3">
            <a:alphaModFix/>
          </a:blip>
          <a:stretch>
            <a:fillRect/>
          </a:stretch>
        </p:blipFill>
        <p:spPr>
          <a:xfrm>
            <a:off x="329775" y="3914750"/>
            <a:ext cx="2783855" cy="457200"/>
          </a:xfrm>
          <a:prstGeom prst="rect">
            <a:avLst/>
          </a:prstGeom>
          <a:noFill/>
          <a:ln>
            <a:noFill/>
          </a:ln>
        </p:spPr>
      </p:pic>
      <p:sp>
        <p:nvSpPr>
          <p:cNvPr id="1414" name="Google Shape;1414;p115"/>
          <p:cNvSpPr txBox="1"/>
          <p:nvPr>
            <p:ph idx="4294967295" type="body"/>
          </p:nvPr>
        </p:nvSpPr>
        <p:spPr>
          <a:xfrm>
            <a:off x="343050" y="4437600"/>
            <a:ext cx="74925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article’s claim seems to be a massive </a:t>
            </a:r>
            <a:r>
              <a:rPr lang="en-GB" sz="2000">
                <a:latin typeface="Kalam"/>
                <a:ea typeface="Kalam"/>
                <a:cs typeface="Kalam"/>
                <a:sym typeface="Kalam"/>
              </a:rPr>
              <a:t>over exaggeration</a:t>
            </a:r>
            <a:r>
              <a:rPr lang="en-GB" sz="2000">
                <a:latin typeface="Kalam"/>
                <a:ea typeface="Kalam"/>
                <a:cs typeface="Kalam"/>
                <a:sym typeface="Kalam"/>
              </a:rPr>
              <a:t>.</a:t>
            </a:r>
            <a:r>
              <a:rPr lang="en-GB" sz="2000">
                <a:latin typeface="Kalam"/>
                <a:ea typeface="Kalam"/>
                <a:cs typeface="Kalam"/>
                <a:sym typeface="Kalam"/>
              </a:rPr>
              <a:t> </a:t>
            </a:r>
            <a:r>
              <a:rPr lang="en-GB" sz="1800"/>
              <a:t>   </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11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Percentages can be misused in articles and statistics. It is important to check statistics yourself to assess validity.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Estimation can be used to check the validity of certain claims. </a:t>
            </a:r>
            <a:endParaRPr/>
          </a:p>
        </p:txBody>
      </p:sp>
      <p:sp>
        <p:nvSpPr>
          <p:cNvPr id="1420" name="Google Shape;1420;p116"/>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Checking a claim</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17"/>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426" name="Google Shape;1426;p117"/>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