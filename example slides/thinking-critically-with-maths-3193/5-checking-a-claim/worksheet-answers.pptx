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188513-1CC0-48DA-A185-01B3C266FE7F}">
  <a:tblStyle styleId="{33188513-1CC0-48DA-A185-01B3C266FE7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085475436c_0_2: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085475436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4" name="Google Shape;14;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5" name="Google Shape;15;p2"/>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6" name="Google Shape;16;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17" name="Google Shape;17;p2"/>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23" name="Google Shape;23;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4" name="Google Shape;24;p3"/>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25" name="Google Shape;25;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26" name="Google Shape;26;p3"/>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50" name="Google Shape;50;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1" name="Google Shape;51;p6"/>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52" name="Google Shape;52;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3" name="Google Shape;53;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4" name="Google Shape;54;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56" name="Google Shape;56;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6"/>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63" name="Google Shape;63;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4" name="Google Shape;64;p7"/>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65" name="Google Shape;65;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6" name="Google Shape;66;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7" name="Google Shape;67;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69" name="Google Shape;69;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70" name="Google Shape;70;p7"/>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76" name="Google Shape;76;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7" name="Google Shape;77;p8"/>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78" name="Google Shape;78;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79" name="Google Shape;79;p8"/>
          <p:cNvPicPr preferRelativeResize="0"/>
          <p:nvPr/>
        </p:nvPicPr>
        <p:blipFill>
          <a:blip r:embed="rId5">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03" name="Google Shape;103;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4" name="Google Shape;104;p11"/>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05" name="Google Shape;105;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6" name="Google Shape;106;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7" name="Google Shape;107;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2023</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109" name="Google Shape;109;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10" name="Google Shape;110;p11"/>
          <p:cNvPicPr preferRelativeResize="0"/>
          <p:nvPr/>
        </p:nvPicPr>
        <p:blipFill>
          <a:blip r:embed="rId7">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1"/>
              </a:buClr>
              <a:buSzPts val="1800"/>
              <a:buFont typeface="Lexend"/>
              <a:buChar char="●"/>
              <a:defRPr i="0" sz="18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Kalam"/>
              <a:buChar char="■"/>
              <a:defRPr i="0" sz="1400" u="none" cap="none" strike="noStrike">
                <a:solidFill>
                  <a:schemeClr val="dk1"/>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16" name="Google Shape;116;p12"/>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Checking a claim</a:t>
            </a:r>
            <a:endParaRPr/>
          </a:p>
        </p:txBody>
      </p:sp>
      <p:sp>
        <p:nvSpPr>
          <p:cNvPr id="117" name="Google Shape;117;p12"/>
          <p:cNvSpPr/>
          <p:nvPr/>
        </p:nvSpPr>
        <p:spPr>
          <a:xfrm>
            <a:off x="468000" y="2640662"/>
            <a:ext cx="2064600" cy="6495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 name="Google Shape;118;p12"/>
          <p:cNvSpPr/>
          <p:nvPr/>
        </p:nvSpPr>
        <p:spPr>
          <a:xfrm>
            <a:off x="1940599" y="2536345"/>
            <a:ext cx="1204500" cy="808500"/>
          </a:xfrm>
          <a:prstGeom prst="ellipse">
            <a:avLst/>
          </a:prstGeom>
          <a:solidFill>
            <a:srgbClr val="FFFFFF"/>
          </a:solidFill>
          <a:ln cap="flat" cmpd="sng" w="1905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exend"/>
              <a:ea typeface="Lexend"/>
              <a:cs typeface="Lexend"/>
              <a:sym typeface="Lexend"/>
            </a:endParaRPr>
          </a:p>
        </p:txBody>
      </p:sp>
      <p:sp>
        <p:nvSpPr>
          <p:cNvPr id="119" name="Google Shape;119;p12"/>
          <p:cNvSpPr txBox="1"/>
          <p:nvPr/>
        </p:nvSpPr>
        <p:spPr>
          <a:xfrm>
            <a:off x="468000" y="1262475"/>
            <a:ext cx="66240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Analysing headlines</a:t>
            </a:r>
            <a:endParaRPr b="1">
              <a:solidFill>
                <a:schemeClr val="dk1"/>
              </a:solidFill>
              <a:latin typeface="Lexend"/>
              <a:ea typeface="Lexend"/>
              <a:cs typeface="Lexend"/>
              <a:sym typeface="Lexend"/>
            </a:endParaRPr>
          </a:p>
        </p:txBody>
      </p:sp>
      <p:sp>
        <p:nvSpPr>
          <p:cNvPr id="120" name="Google Shape;120;p12"/>
          <p:cNvSpPr txBox="1"/>
          <p:nvPr/>
        </p:nvSpPr>
        <p:spPr>
          <a:xfrm>
            <a:off x="468000" y="1753525"/>
            <a:ext cx="6624000" cy="1029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1) A magazine article titled “Look at the savings you would make if tax was abolished” states the figures below.</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Correct the prices of each item without VAT.  </a:t>
            </a:r>
            <a:endParaRPr sz="1200">
              <a:solidFill>
                <a:srgbClr val="000000"/>
              </a:solidFill>
              <a:latin typeface="Lexend"/>
              <a:ea typeface="Lexend"/>
              <a:cs typeface="Lexend"/>
              <a:sym typeface="Lexend"/>
            </a:endParaRPr>
          </a:p>
        </p:txBody>
      </p:sp>
      <p:sp>
        <p:nvSpPr>
          <p:cNvPr id="121" name="Google Shape;121;p12"/>
          <p:cNvSpPr txBox="1"/>
          <p:nvPr/>
        </p:nvSpPr>
        <p:spPr>
          <a:xfrm>
            <a:off x="563160" y="2767229"/>
            <a:ext cx="1473000" cy="28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Television costing £450</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22" name="Google Shape;122;p12"/>
          <p:cNvSpPr/>
          <p:nvPr/>
        </p:nvSpPr>
        <p:spPr>
          <a:xfrm>
            <a:off x="1940599" y="2536345"/>
            <a:ext cx="1204500" cy="808500"/>
          </a:xfrm>
          <a:prstGeom prst="ellipse">
            <a:avLst/>
          </a:prstGeom>
          <a:solidFill>
            <a:srgbClr val="845AD9">
              <a:alpha val="48730"/>
            </a:srgbClr>
          </a:solidFill>
          <a:ln cap="flat" cmpd="sng" w="1905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exend"/>
              <a:ea typeface="Lexend"/>
              <a:cs typeface="Lexend"/>
              <a:sym typeface="Lexend"/>
            </a:endParaRPr>
          </a:p>
        </p:txBody>
      </p:sp>
      <p:sp>
        <p:nvSpPr>
          <p:cNvPr id="123" name="Google Shape;123;p12"/>
          <p:cNvSpPr txBox="1"/>
          <p:nvPr/>
        </p:nvSpPr>
        <p:spPr>
          <a:xfrm>
            <a:off x="2014105" y="2706424"/>
            <a:ext cx="1088100" cy="28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Would  cost only £360</a:t>
            </a:r>
            <a:endParaRPr sz="1200">
              <a:solidFill>
                <a:srgbClr val="000000"/>
              </a:solidFill>
              <a:latin typeface="Lexend"/>
              <a:ea typeface="Lexend"/>
              <a:cs typeface="Lexend"/>
              <a:sym typeface="Lexend"/>
            </a:endParaRPr>
          </a:p>
        </p:txBody>
      </p:sp>
      <p:sp>
        <p:nvSpPr>
          <p:cNvPr id="124" name="Google Shape;124;p12"/>
          <p:cNvSpPr txBox="1"/>
          <p:nvPr/>
        </p:nvSpPr>
        <p:spPr>
          <a:xfrm>
            <a:off x="1661571" y="3353679"/>
            <a:ext cx="1793100" cy="28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(without 20% VAT)</a:t>
            </a:r>
            <a:endParaRPr sz="1200">
              <a:solidFill>
                <a:srgbClr val="000000"/>
              </a:solidFill>
              <a:latin typeface="Lexend"/>
              <a:ea typeface="Lexend"/>
              <a:cs typeface="Lexend"/>
              <a:sym typeface="Lexend"/>
            </a:endParaRPr>
          </a:p>
        </p:txBody>
      </p:sp>
      <p:sp>
        <p:nvSpPr>
          <p:cNvPr id="125" name="Google Shape;125;p12"/>
          <p:cNvSpPr/>
          <p:nvPr/>
        </p:nvSpPr>
        <p:spPr>
          <a:xfrm>
            <a:off x="3919094" y="2635418"/>
            <a:ext cx="2064600" cy="6495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 name="Google Shape;126;p12"/>
          <p:cNvSpPr/>
          <p:nvPr/>
        </p:nvSpPr>
        <p:spPr>
          <a:xfrm>
            <a:off x="5391693" y="2531100"/>
            <a:ext cx="1204500" cy="808500"/>
          </a:xfrm>
          <a:prstGeom prst="ellipse">
            <a:avLst/>
          </a:prstGeom>
          <a:solidFill>
            <a:srgbClr val="FFFFFF"/>
          </a:solidFill>
          <a:ln cap="flat" cmpd="sng" w="1905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exend"/>
              <a:ea typeface="Lexend"/>
              <a:cs typeface="Lexend"/>
              <a:sym typeface="Lexend"/>
            </a:endParaRPr>
          </a:p>
        </p:txBody>
      </p:sp>
      <p:sp>
        <p:nvSpPr>
          <p:cNvPr id="127" name="Google Shape;127;p12"/>
          <p:cNvSpPr txBox="1"/>
          <p:nvPr/>
        </p:nvSpPr>
        <p:spPr>
          <a:xfrm>
            <a:off x="4014254" y="2761984"/>
            <a:ext cx="1473000" cy="28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Car seat costing £180</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28" name="Google Shape;128;p12"/>
          <p:cNvSpPr/>
          <p:nvPr/>
        </p:nvSpPr>
        <p:spPr>
          <a:xfrm>
            <a:off x="5391693" y="2531100"/>
            <a:ext cx="1204500" cy="808500"/>
          </a:xfrm>
          <a:prstGeom prst="ellipse">
            <a:avLst/>
          </a:prstGeom>
          <a:solidFill>
            <a:srgbClr val="845AD9">
              <a:alpha val="48730"/>
            </a:srgbClr>
          </a:solidFill>
          <a:ln cap="flat" cmpd="sng" w="1905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exend"/>
              <a:ea typeface="Lexend"/>
              <a:cs typeface="Lexend"/>
              <a:sym typeface="Lexend"/>
            </a:endParaRPr>
          </a:p>
        </p:txBody>
      </p:sp>
      <p:sp>
        <p:nvSpPr>
          <p:cNvPr id="129" name="Google Shape;129;p12"/>
          <p:cNvSpPr txBox="1"/>
          <p:nvPr/>
        </p:nvSpPr>
        <p:spPr>
          <a:xfrm>
            <a:off x="5465199" y="2701180"/>
            <a:ext cx="1088100" cy="28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Would  cost only £171</a:t>
            </a:r>
            <a:endParaRPr sz="1200">
              <a:solidFill>
                <a:srgbClr val="000000"/>
              </a:solidFill>
              <a:latin typeface="Lexend"/>
              <a:ea typeface="Lexend"/>
              <a:cs typeface="Lexend"/>
              <a:sym typeface="Lexend"/>
            </a:endParaRPr>
          </a:p>
        </p:txBody>
      </p:sp>
      <p:sp>
        <p:nvSpPr>
          <p:cNvPr id="130" name="Google Shape;130;p12"/>
          <p:cNvSpPr txBox="1"/>
          <p:nvPr/>
        </p:nvSpPr>
        <p:spPr>
          <a:xfrm>
            <a:off x="5112665" y="3348434"/>
            <a:ext cx="1793100" cy="28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(without 5% VAT)</a:t>
            </a:r>
            <a:endParaRPr sz="1200">
              <a:solidFill>
                <a:srgbClr val="000000"/>
              </a:solidFill>
              <a:latin typeface="Lexend"/>
              <a:ea typeface="Lexend"/>
              <a:cs typeface="Lexend"/>
              <a:sym typeface="Lexend"/>
            </a:endParaRPr>
          </a:p>
        </p:txBody>
      </p:sp>
      <p:sp>
        <p:nvSpPr>
          <p:cNvPr id="131" name="Google Shape;131;p12"/>
          <p:cNvSpPr/>
          <p:nvPr/>
        </p:nvSpPr>
        <p:spPr>
          <a:xfrm flipH="1" rot="-5400000">
            <a:off x="1069075" y="3919392"/>
            <a:ext cx="258300" cy="3288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32" name="Google Shape;132;p12"/>
          <p:cNvGraphicFramePr/>
          <p:nvPr/>
        </p:nvGraphicFramePr>
        <p:xfrm>
          <a:off x="1249875" y="3650488"/>
          <a:ext cx="3000000" cy="3000000"/>
        </p:xfrm>
        <a:graphic>
          <a:graphicData uri="http://schemas.openxmlformats.org/drawingml/2006/table">
            <a:tbl>
              <a:tblPr>
                <a:noFill/>
                <a:tableStyleId>{33188513-1CC0-48DA-A185-01B3C266FE7F}</a:tableStyleId>
              </a:tblPr>
              <a:tblGrid>
                <a:gridCol w="1101600"/>
                <a:gridCol w="1101600"/>
              </a:tblGrid>
              <a:tr h="216500">
                <a:tc>
                  <a:txBody>
                    <a:bodyPr/>
                    <a:lstStyle/>
                    <a:p>
                      <a:pPr indent="0" lvl="0" marL="0" rtl="0" algn="ctr">
                        <a:spcBef>
                          <a:spcPts val="0"/>
                        </a:spcBef>
                        <a:spcAft>
                          <a:spcPts val="0"/>
                        </a:spcAft>
                        <a:buNone/>
                      </a:pPr>
                      <a:r>
                        <a:rPr lang="en-GB" sz="1200">
                          <a:solidFill>
                            <a:srgbClr val="FFFFFF"/>
                          </a:solidFill>
                          <a:latin typeface="Kalam"/>
                          <a:ea typeface="Kalam"/>
                          <a:cs typeface="Kalam"/>
                          <a:sym typeface="Kalam"/>
                        </a:rPr>
                        <a:t>%</a:t>
                      </a:r>
                      <a:endParaRPr sz="1200">
                        <a:solidFill>
                          <a:srgbClr val="FFFFFF"/>
                        </a:solidFill>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200">
                          <a:solidFill>
                            <a:srgbClr val="FFFFFF"/>
                          </a:solidFill>
                          <a:latin typeface="Kalam"/>
                          <a:ea typeface="Kalam"/>
                          <a:cs typeface="Kalam"/>
                          <a:sym typeface="Kalam"/>
                        </a:rPr>
                        <a:t>Cost</a:t>
                      </a:r>
                      <a:endParaRPr sz="1200">
                        <a:solidFill>
                          <a:srgbClr val="FFFFFF"/>
                        </a:solidFill>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r>
              <a:tr h="216500">
                <a:tc>
                  <a:txBody>
                    <a:bodyPr/>
                    <a:lstStyle/>
                    <a:p>
                      <a:pPr indent="0" lvl="0" marL="0" rtl="0" algn="ctr">
                        <a:spcBef>
                          <a:spcPts val="0"/>
                        </a:spcBef>
                        <a:spcAft>
                          <a:spcPts val="0"/>
                        </a:spcAft>
                        <a:buNone/>
                      </a:pPr>
                      <a:r>
                        <a:rPr lang="en-GB" sz="1200">
                          <a:latin typeface="Kalam"/>
                          <a:ea typeface="Kalam"/>
                          <a:cs typeface="Kalam"/>
                          <a:sym typeface="Kalam"/>
                        </a:rPr>
                        <a:t>120</a:t>
                      </a:r>
                      <a:endParaRPr sz="12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£450</a:t>
                      </a:r>
                      <a:endParaRPr sz="12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16500">
                <a:tc>
                  <a:txBody>
                    <a:bodyPr/>
                    <a:lstStyle/>
                    <a:p>
                      <a:pPr indent="0" lvl="0" marL="0" rtl="0" algn="ctr">
                        <a:spcBef>
                          <a:spcPts val="0"/>
                        </a:spcBef>
                        <a:spcAft>
                          <a:spcPts val="0"/>
                        </a:spcAft>
                        <a:buNone/>
                      </a:pPr>
                      <a:r>
                        <a:rPr lang="en-GB" sz="1200">
                          <a:latin typeface="Kalam"/>
                          <a:ea typeface="Kalam"/>
                          <a:cs typeface="Kalam"/>
                          <a:sym typeface="Kalam"/>
                        </a:rPr>
                        <a:t>100</a:t>
                      </a:r>
                      <a:endParaRPr sz="12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£375</a:t>
                      </a:r>
                      <a:endParaRPr sz="12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33" name="Google Shape;133;p12"/>
          <p:cNvSpPr txBox="1"/>
          <p:nvPr/>
        </p:nvSpPr>
        <p:spPr>
          <a:xfrm>
            <a:off x="620400" y="3939850"/>
            <a:ext cx="627900" cy="28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 1.2</a:t>
            </a:r>
            <a:endParaRPr sz="1200">
              <a:solidFill>
                <a:srgbClr val="000000"/>
              </a:solidFill>
              <a:latin typeface="Kalam"/>
              <a:ea typeface="Kalam"/>
              <a:cs typeface="Kalam"/>
              <a:sym typeface="Kalam"/>
            </a:endParaRPr>
          </a:p>
        </p:txBody>
      </p:sp>
      <p:cxnSp>
        <p:nvCxnSpPr>
          <p:cNvPr id="134" name="Google Shape;134;p12"/>
          <p:cNvCxnSpPr/>
          <p:nvPr/>
        </p:nvCxnSpPr>
        <p:spPr>
          <a:xfrm flipH="1" rot="10800000">
            <a:off x="2315453" y="2908682"/>
            <a:ext cx="514500" cy="202200"/>
          </a:xfrm>
          <a:prstGeom prst="straightConnector1">
            <a:avLst/>
          </a:prstGeom>
          <a:noFill/>
          <a:ln cap="flat" cmpd="sng" w="19050">
            <a:solidFill>
              <a:srgbClr val="000000"/>
            </a:solidFill>
            <a:prstDash val="solid"/>
            <a:round/>
            <a:headEnd len="med" w="med" type="none"/>
            <a:tailEnd len="med" w="med" type="none"/>
          </a:ln>
        </p:spPr>
      </p:cxnSp>
      <p:sp>
        <p:nvSpPr>
          <p:cNvPr id="135" name="Google Shape;135;p12"/>
          <p:cNvSpPr txBox="1"/>
          <p:nvPr/>
        </p:nvSpPr>
        <p:spPr>
          <a:xfrm>
            <a:off x="2940182" y="2985002"/>
            <a:ext cx="433200" cy="202200"/>
          </a:xfrm>
          <a:prstGeom prst="rect">
            <a:avLst/>
          </a:prstGeom>
          <a:solidFill>
            <a:srgbClr val="FFFFFF"/>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t/>
            </a:r>
            <a:endParaRPr sz="1800">
              <a:solidFill>
                <a:srgbClr val="000000"/>
              </a:solidFill>
              <a:latin typeface="Lexend"/>
              <a:ea typeface="Lexend"/>
              <a:cs typeface="Lexend"/>
              <a:sym typeface="Lexend"/>
            </a:endParaRPr>
          </a:p>
        </p:txBody>
      </p:sp>
      <p:sp>
        <p:nvSpPr>
          <p:cNvPr id="136" name="Google Shape;136;p12"/>
          <p:cNvSpPr/>
          <p:nvPr/>
        </p:nvSpPr>
        <p:spPr>
          <a:xfrm flipH="1" rot="-5400000">
            <a:off x="4713175" y="3919392"/>
            <a:ext cx="258300" cy="328800"/>
          </a:xfrm>
          <a:prstGeom prst="arc">
            <a:avLst>
              <a:gd fmla="val 10729459" name="adj1"/>
              <a:gd fmla="val 194289" name="adj2"/>
            </a:avLst>
          </a:prstGeom>
          <a:noFill/>
          <a:ln cap="flat" cmpd="sng" w="38100">
            <a:solidFill>
              <a:srgbClr val="845AD9"/>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37" name="Google Shape;137;p12"/>
          <p:cNvGraphicFramePr/>
          <p:nvPr/>
        </p:nvGraphicFramePr>
        <p:xfrm>
          <a:off x="4893985" y="3650488"/>
          <a:ext cx="3000000" cy="3000000"/>
        </p:xfrm>
        <a:graphic>
          <a:graphicData uri="http://schemas.openxmlformats.org/drawingml/2006/table">
            <a:tbl>
              <a:tblPr>
                <a:noFill/>
                <a:tableStyleId>{33188513-1CC0-48DA-A185-01B3C266FE7F}</a:tableStyleId>
              </a:tblPr>
              <a:tblGrid>
                <a:gridCol w="1101600"/>
                <a:gridCol w="1101600"/>
              </a:tblGrid>
              <a:tr h="216500">
                <a:tc>
                  <a:txBody>
                    <a:bodyPr/>
                    <a:lstStyle/>
                    <a:p>
                      <a:pPr indent="0" lvl="0" marL="0" rtl="0" algn="ctr">
                        <a:spcBef>
                          <a:spcPts val="0"/>
                        </a:spcBef>
                        <a:spcAft>
                          <a:spcPts val="0"/>
                        </a:spcAft>
                        <a:buNone/>
                      </a:pPr>
                      <a:r>
                        <a:rPr lang="en-GB" sz="1200">
                          <a:solidFill>
                            <a:srgbClr val="FFFFFF"/>
                          </a:solidFill>
                          <a:latin typeface="Kalam"/>
                          <a:ea typeface="Kalam"/>
                          <a:cs typeface="Kalam"/>
                          <a:sym typeface="Kalam"/>
                        </a:rPr>
                        <a:t>%</a:t>
                      </a:r>
                      <a:endParaRPr sz="1200">
                        <a:solidFill>
                          <a:srgbClr val="FFFFFF"/>
                        </a:solidFill>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c>
                  <a:txBody>
                    <a:bodyPr/>
                    <a:lstStyle/>
                    <a:p>
                      <a:pPr indent="0" lvl="0" marL="0" rtl="0" algn="ctr">
                        <a:spcBef>
                          <a:spcPts val="0"/>
                        </a:spcBef>
                        <a:spcAft>
                          <a:spcPts val="0"/>
                        </a:spcAft>
                        <a:buNone/>
                      </a:pPr>
                      <a:r>
                        <a:rPr lang="en-GB" sz="1200">
                          <a:solidFill>
                            <a:srgbClr val="FFFFFF"/>
                          </a:solidFill>
                          <a:latin typeface="Kalam"/>
                          <a:ea typeface="Kalam"/>
                          <a:cs typeface="Kalam"/>
                          <a:sym typeface="Kalam"/>
                        </a:rPr>
                        <a:t>Cost</a:t>
                      </a:r>
                      <a:endParaRPr sz="1200">
                        <a:solidFill>
                          <a:srgbClr val="FFFFFF"/>
                        </a:solidFill>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solidFill>
                      <a:srgbClr val="845AD9"/>
                    </a:solidFill>
                  </a:tcPr>
                </a:tc>
              </a:tr>
              <a:tr h="216500">
                <a:tc>
                  <a:txBody>
                    <a:bodyPr/>
                    <a:lstStyle/>
                    <a:p>
                      <a:pPr indent="0" lvl="0" marL="0" rtl="0" algn="ctr">
                        <a:spcBef>
                          <a:spcPts val="0"/>
                        </a:spcBef>
                        <a:spcAft>
                          <a:spcPts val="0"/>
                        </a:spcAft>
                        <a:buNone/>
                      </a:pPr>
                      <a:r>
                        <a:rPr lang="en-GB" sz="1200">
                          <a:latin typeface="Kalam"/>
                          <a:ea typeface="Kalam"/>
                          <a:cs typeface="Kalam"/>
                          <a:sym typeface="Kalam"/>
                        </a:rPr>
                        <a:t>105</a:t>
                      </a:r>
                      <a:endParaRPr sz="12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£180</a:t>
                      </a:r>
                      <a:endParaRPr sz="12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216500">
                <a:tc>
                  <a:txBody>
                    <a:bodyPr/>
                    <a:lstStyle/>
                    <a:p>
                      <a:pPr indent="0" lvl="0" marL="0" rtl="0" algn="ctr">
                        <a:spcBef>
                          <a:spcPts val="0"/>
                        </a:spcBef>
                        <a:spcAft>
                          <a:spcPts val="0"/>
                        </a:spcAft>
                        <a:buNone/>
                      </a:pPr>
                      <a:r>
                        <a:rPr lang="en-GB" sz="1200">
                          <a:latin typeface="Kalam"/>
                          <a:ea typeface="Kalam"/>
                          <a:cs typeface="Kalam"/>
                          <a:sym typeface="Kalam"/>
                        </a:rPr>
                        <a:t>100</a:t>
                      </a:r>
                      <a:endParaRPr sz="12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Kalam"/>
                          <a:ea typeface="Kalam"/>
                          <a:cs typeface="Kalam"/>
                          <a:sym typeface="Kalam"/>
                        </a:rPr>
                        <a:t>£171.43</a:t>
                      </a:r>
                      <a:endParaRPr sz="1200">
                        <a:latin typeface="Kalam"/>
                        <a:ea typeface="Kalam"/>
                        <a:cs typeface="Kalam"/>
                        <a:sym typeface="Kalam"/>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138" name="Google Shape;138;p12"/>
          <p:cNvSpPr txBox="1"/>
          <p:nvPr/>
        </p:nvSpPr>
        <p:spPr>
          <a:xfrm>
            <a:off x="4176750" y="3939850"/>
            <a:ext cx="692700" cy="28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 1.05</a:t>
            </a:r>
            <a:endParaRPr sz="1200">
              <a:solidFill>
                <a:srgbClr val="000000"/>
              </a:solidFill>
              <a:latin typeface="Kalam"/>
              <a:ea typeface="Kalam"/>
              <a:cs typeface="Kalam"/>
              <a:sym typeface="Kalam"/>
            </a:endParaRPr>
          </a:p>
        </p:txBody>
      </p:sp>
      <p:sp>
        <p:nvSpPr>
          <p:cNvPr id="139" name="Google Shape;139;p12"/>
          <p:cNvSpPr txBox="1"/>
          <p:nvPr/>
        </p:nvSpPr>
        <p:spPr>
          <a:xfrm>
            <a:off x="6416187" y="3006492"/>
            <a:ext cx="649800" cy="202200"/>
          </a:xfrm>
          <a:prstGeom prst="rect">
            <a:avLst/>
          </a:prstGeom>
          <a:solidFill>
            <a:srgbClr val="FFFFFF"/>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t/>
            </a:r>
            <a:endParaRPr sz="1800">
              <a:solidFill>
                <a:srgbClr val="000000"/>
              </a:solidFill>
              <a:latin typeface="Lexend"/>
              <a:ea typeface="Lexend"/>
              <a:cs typeface="Lexend"/>
              <a:sym typeface="Lexend"/>
            </a:endParaRPr>
          </a:p>
        </p:txBody>
      </p:sp>
      <p:sp>
        <p:nvSpPr>
          <p:cNvPr id="140" name="Google Shape;140;p12"/>
          <p:cNvSpPr txBox="1"/>
          <p:nvPr/>
        </p:nvSpPr>
        <p:spPr>
          <a:xfrm>
            <a:off x="6416187" y="3006492"/>
            <a:ext cx="675900" cy="202200"/>
          </a:xfrm>
          <a:prstGeom prst="rect">
            <a:avLst/>
          </a:prstGeom>
          <a:solidFill>
            <a:srgbClr val="845AD9">
              <a:alpha val="48730"/>
            </a:srgbClr>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Kalam"/>
                <a:ea typeface="Kalam"/>
                <a:cs typeface="Kalam"/>
                <a:sym typeface="Kalam"/>
              </a:rPr>
              <a:t>£171.43</a:t>
            </a:r>
            <a:endParaRPr sz="1200">
              <a:solidFill>
                <a:srgbClr val="000000"/>
              </a:solidFill>
              <a:latin typeface="Kalam"/>
              <a:ea typeface="Kalam"/>
              <a:cs typeface="Kalam"/>
              <a:sym typeface="Kalam"/>
            </a:endParaRPr>
          </a:p>
        </p:txBody>
      </p:sp>
      <p:cxnSp>
        <p:nvCxnSpPr>
          <p:cNvPr id="141" name="Google Shape;141;p12"/>
          <p:cNvCxnSpPr/>
          <p:nvPr/>
        </p:nvCxnSpPr>
        <p:spPr>
          <a:xfrm flipH="1" rot="10800000">
            <a:off x="5825445" y="2908682"/>
            <a:ext cx="514500" cy="202200"/>
          </a:xfrm>
          <a:prstGeom prst="straightConnector1">
            <a:avLst/>
          </a:prstGeom>
          <a:noFill/>
          <a:ln cap="flat" cmpd="sng" w="19050">
            <a:solidFill>
              <a:srgbClr val="000000"/>
            </a:solidFill>
            <a:prstDash val="solid"/>
            <a:round/>
            <a:headEnd len="med" w="med" type="none"/>
            <a:tailEnd len="med" w="med" type="none"/>
          </a:ln>
        </p:spPr>
      </p:cxnSp>
      <p:sp>
        <p:nvSpPr>
          <p:cNvPr id="142" name="Google Shape;142;p12"/>
          <p:cNvSpPr txBox="1"/>
          <p:nvPr/>
        </p:nvSpPr>
        <p:spPr>
          <a:xfrm>
            <a:off x="2940182" y="2985002"/>
            <a:ext cx="567600" cy="202200"/>
          </a:xfrm>
          <a:prstGeom prst="rect">
            <a:avLst/>
          </a:prstGeom>
          <a:solidFill>
            <a:srgbClr val="845AD9">
              <a:alpha val="48730"/>
            </a:srgbClr>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Kalam"/>
                <a:ea typeface="Kalam"/>
                <a:cs typeface="Kalam"/>
                <a:sym typeface="Kalam"/>
              </a:rPr>
              <a:t>£375</a:t>
            </a:r>
            <a:endParaRPr sz="1200">
              <a:solidFill>
                <a:srgbClr val="000000"/>
              </a:solidFill>
              <a:latin typeface="Kalam"/>
              <a:ea typeface="Kalam"/>
              <a:cs typeface="Kalam"/>
              <a:sym typeface="Kalam"/>
            </a:endParaRPr>
          </a:p>
        </p:txBody>
      </p:sp>
      <p:sp>
        <p:nvSpPr>
          <p:cNvPr id="143" name="Google Shape;143;p12"/>
          <p:cNvSpPr txBox="1"/>
          <p:nvPr/>
        </p:nvSpPr>
        <p:spPr>
          <a:xfrm>
            <a:off x="468000" y="4535397"/>
            <a:ext cx="6624000" cy="824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2) In a raffle there is a 1 in 2180 chance of winning a prize. A headline reads “Just buy 2 tickets and increase your chance of winning by 100%”.  </a:t>
            </a:r>
            <a:endParaRPr sz="1200">
              <a:solidFill>
                <a:srgbClr val="000000"/>
              </a:solidFill>
              <a:latin typeface="Lexend"/>
              <a:ea typeface="Lexend"/>
              <a:cs typeface="Lexend"/>
              <a:sym typeface="Lexend"/>
            </a:endParaRPr>
          </a:p>
        </p:txBody>
      </p:sp>
      <p:sp>
        <p:nvSpPr>
          <p:cNvPr id="144" name="Google Shape;144;p12"/>
          <p:cNvSpPr txBox="1"/>
          <p:nvPr/>
        </p:nvSpPr>
        <p:spPr>
          <a:xfrm>
            <a:off x="468000" y="5088123"/>
            <a:ext cx="6624000" cy="311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a) What is the chance of winning with one ticket, as a percentage?  </a:t>
            </a:r>
            <a:endParaRPr sz="1200">
              <a:solidFill>
                <a:srgbClr val="000000"/>
              </a:solidFill>
              <a:latin typeface="Lexend"/>
              <a:ea typeface="Lexend"/>
              <a:cs typeface="Lexend"/>
              <a:sym typeface="Lexend"/>
            </a:endParaRPr>
          </a:p>
        </p:txBody>
      </p:sp>
      <p:sp>
        <p:nvSpPr>
          <p:cNvPr id="145" name="Google Shape;145;p12"/>
          <p:cNvSpPr txBox="1"/>
          <p:nvPr/>
        </p:nvSpPr>
        <p:spPr>
          <a:xfrm>
            <a:off x="468000" y="5985259"/>
            <a:ext cx="6624000" cy="311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What is the chance of winning with two tickets, as a percentage?  </a:t>
            </a:r>
            <a:endParaRPr sz="1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2180}=0.0004587...&quot;&gt;&lt;mfrac&gt;&lt;mn&gt;1&lt;/mn&gt;&lt;mn&gt;2180&lt;/mn&gt;&lt;/mfrac&gt;&lt;mo&gt;=&lt;/mo&gt;&lt;mn&gt;0.0004587&lt;/mn&gt;&lt;mo&gt;.&lt;/mo&gt;&lt;mo&gt;.&lt;/mo&gt;&lt;mo&gt;.&lt;/mo&gt;&lt;/math&gt;" id="146" name="Google Shape;146;p12" title="1 over 2180 equals 0.0004587 period period period"/>
          <p:cNvPicPr preferRelativeResize="0"/>
          <p:nvPr/>
        </p:nvPicPr>
        <p:blipFill>
          <a:blip r:embed="rId3">
            <a:alphaModFix/>
          </a:blip>
          <a:stretch>
            <a:fillRect/>
          </a:stretch>
        </p:blipFill>
        <p:spPr>
          <a:xfrm>
            <a:off x="537526" y="5409139"/>
            <a:ext cx="1484768" cy="365934"/>
          </a:xfrm>
          <a:prstGeom prst="rect">
            <a:avLst/>
          </a:prstGeom>
          <a:noFill/>
          <a:ln>
            <a:noFill/>
          </a:ln>
        </p:spPr>
      </p:pic>
      <p:sp>
        <p:nvSpPr>
          <p:cNvPr id="147" name="Google Shape;147;p12"/>
          <p:cNvSpPr txBox="1"/>
          <p:nvPr/>
        </p:nvSpPr>
        <p:spPr>
          <a:xfrm>
            <a:off x="2315719" y="5460801"/>
            <a:ext cx="3390300" cy="31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0.046% to 2 significant figures.</a:t>
            </a:r>
            <a:endParaRPr sz="1200">
              <a:solidFill>
                <a:srgbClr val="000000"/>
              </a:solidFill>
              <a:latin typeface="Kalam"/>
              <a:ea typeface="Kalam"/>
              <a:cs typeface="Kalam"/>
              <a:sym typeface="Kalam"/>
            </a:endParaRPr>
          </a:p>
        </p:txBody>
      </p:sp>
      <p:pic>
        <p:nvPicPr>
          <p:cNvPr descr="&lt;math xmlns=&quot;http://www.w3.org/1998/Math/MathML&quot; display=&quot;block&quot; data-is-equatio=&quot;1&quot; data-latex=&quot;\frac{2}{2180}=0.0009174...&quot;&gt;&lt;mfrac&gt;&lt;mn&gt;2&lt;/mn&gt;&lt;mn&gt;2180&lt;/mn&gt;&lt;/mfrac&gt;&lt;mo&gt;=&lt;/mo&gt;&lt;mn&gt;0.0009174&lt;/mn&gt;&lt;mo&gt;.&lt;/mo&gt;&lt;mo&gt;.&lt;/mo&gt;&lt;mo&gt;.&lt;/mo&gt;&lt;/math&gt;" id="148" name="Google Shape;148;p12" title="2 over 2180 equals 0.0009174 period period period"/>
          <p:cNvPicPr preferRelativeResize="0"/>
          <p:nvPr/>
        </p:nvPicPr>
        <p:blipFill>
          <a:blip r:embed="rId4">
            <a:alphaModFix/>
          </a:blip>
          <a:stretch>
            <a:fillRect/>
          </a:stretch>
        </p:blipFill>
        <p:spPr>
          <a:xfrm>
            <a:off x="566666" y="6253366"/>
            <a:ext cx="1484768" cy="365927"/>
          </a:xfrm>
          <a:prstGeom prst="rect">
            <a:avLst/>
          </a:prstGeom>
          <a:noFill/>
          <a:ln>
            <a:noFill/>
          </a:ln>
        </p:spPr>
      </p:pic>
      <p:sp>
        <p:nvSpPr>
          <p:cNvPr id="149" name="Google Shape;149;p12"/>
          <p:cNvSpPr txBox="1"/>
          <p:nvPr/>
        </p:nvSpPr>
        <p:spPr>
          <a:xfrm>
            <a:off x="2236349" y="6278100"/>
            <a:ext cx="3390300" cy="31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0.092% to 2 significant figures.</a:t>
            </a:r>
            <a:endParaRPr sz="1200">
              <a:solidFill>
                <a:srgbClr val="000000"/>
              </a:solidFill>
              <a:latin typeface="Kalam"/>
              <a:ea typeface="Kalam"/>
              <a:cs typeface="Kalam"/>
              <a:sym typeface="Kalam"/>
            </a:endParaRPr>
          </a:p>
        </p:txBody>
      </p:sp>
      <p:sp>
        <p:nvSpPr>
          <p:cNvPr id="150" name="Google Shape;150;p12"/>
          <p:cNvSpPr txBox="1"/>
          <p:nvPr/>
        </p:nvSpPr>
        <p:spPr>
          <a:xfrm>
            <a:off x="2521978" y="7023526"/>
            <a:ext cx="4221600" cy="31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Approximate percentage point increase of 0.046% </a:t>
            </a:r>
            <a:endParaRPr sz="1200">
              <a:solidFill>
                <a:srgbClr val="000000"/>
              </a:solidFill>
              <a:latin typeface="Kalam"/>
              <a:ea typeface="Kalam"/>
              <a:cs typeface="Kalam"/>
              <a:sym typeface="Kalam"/>
            </a:endParaRPr>
          </a:p>
        </p:txBody>
      </p:sp>
      <p:sp>
        <p:nvSpPr>
          <p:cNvPr id="151" name="Google Shape;151;p12"/>
          <p:cNvSpPr txBox="1"/>
          <p:nvPr/>
        </p:nvSpPr>
        <p:spPr>
          <a:xfrm>
            <a:off x="468000" y="6688026"/>
            <a:ext cx="6624000" cy="31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c) What is the percentage point difference in the percentage chance of winning between buying 1 and 2 tickets?</a:t>
            </a:r>
            <a:endParaRPr sz="1200">
              <a:solidFill>
                <a:srgbClr val="000000"/>
              </a:solidFill>
              <a:latin typeface="Lexend"/>
              <a:ea typeface="Lexend"/>
              <a:cs typeface="Lexend"/>
              <a:sym typeface="Lexend"/>
            </a:endParaRPr>
          </a:p>
        </p:txBody>
      </p:sp>
      <p:sp>
        <p:nvSpPr>
          <p:cNvPr id="152" name="Google Shape;152;p12"/>
          <p:cNvSpPr txBox="1"/>
          <p:nvPr/>
        </p:nvSpPr>
        <p:spPr>
          <a:xfrm>
            <a:off x="455723" y="7302737"/>
            <a:ext cx="6641400" cy="31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d) Explain why, although technically correct, the claim could be misleading.</a:t>
            </a:r>
            <a:endParaRPr sz="1200">
              <a:solidFill>
                <a:srgbClr val="000000"/>
              </a:solidFill>
              <a:latin typeface="Lexend"/>
              <a:ea typeface="Lexend"/>
              <a:cs typeface="Lexend"/>
              <a:sym typeface="Lexend"/>
            </a:endParaRPr>
          </a:p>
        </p:txBody>
      </p:sp>
      <p:sp>
        <p:nvSpPr>
          <p:cNvPr id="153" name="Google Shape;153;p12"/>
          <p:cNvSpPr txBox="1"/>
          <p:nvPr/>
        </p:nvSpPr>
        <p:spPr>
          <a:xfrm>
            <a:off x="455723" y="7563634"/>
            <a:ext cx="6641400" cy="31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It is mathematically accurate; doubling the number of tickets does double your chance of winning as 0.092 is double 0.046</a:t>
            </a:r>
            <a:endParaRPr sz="1200">
              <a:latin typeface="Kalam"/>
              <a:ea typeface="Kalam"/>
              <a:cs typeface="Kalam"/>
              <a:sym typeface="Kalam"/>
            </a:endParaRPr>
          </a:p>
          <a:p>
            <a:pPr indent="0" lvl="0" marL="0" rtl="0" algn="l">
              <a:spcBef>
                <a:spcPts val="0"/>
              </a:spcBef>
              <a:spcAft>
                <a:spcPts val="0"/>
              </a:spcAft>
              <a:buNone/>
            </a:pPr>
            <a:r>
              <a:rPr lang="en-GB" sz="1200">
                <a:latin typeface="Kalam"/>
                <a:ea typeface="Kalam"/>
                <a:cs typeface="Kalam"/>
                <a:sym typeface="Kalam"/>
              </a:rPr>
              <a:t>This is the same as an increase of 100%.  </a:t>
            </a:r>
            <a:endParaRPr sz="1200">
              <a:solidFill>
                <a:srgbClr val="000000"/>
              </a:solidFill>
              <a:latin typeface="Kalam"/>
              <a:ea typeface="Kalam"/>
              <a:cs typeface="Kalam"/>
              <a:sym typeface="Kalam"/>
            </a:endParaRPr>
          </a:p>
        </p:txBody>
      </p:sp>
      <p:sp>
        <p:nvSpPr>
          <p:cNvPr id="154" name="Google Shape;154;p12"/>
          <p:cNvSpPr txBox="1"/>
          <p:nvPr/>
        </p:nvSpPr>
        <p:spPr>
          <a:xfrm>
            <a:off x="455723" y="8214051"/>
            <a:ext cx="6641400" cy="31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The chance of winning is so small that doubling that chance is still only a very small percentage, the chance has only increased by 0.046 percentage points. People who do not understand probability may find this misleading.  </a:t>
            </a:r>
            <a:endParaRPr sz="1200">
              <a:solidFill>
                <a:srgbClr val="000000"/>
              </a:solidFill>
              <a:latin typeface="Kalam"/>
              <a:ea typeface="Kalam"/>
              <a:cs typeface="Kalam"/>
              <a:sym typeface="Kalam"/>
            </a:endParaRPr>
          </a:p>
        </p:txBody>
      </p:sp>
      <p:sp>
        <p:nvSpPr>
          <p:cNvPr id="155" name="Google Shape;155;p12"/>
          <p:cNvSpPr txBox="1"/>
          <p:nvPr/>
        </p:nvSpPr>
        <p:spPr>
          <a:xfrm>
            <a:off x="455723" y="8864475"/>
            <a:ext cx="6641400" cy="3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e) Use trial and improvement to find how many tickets you would need to buy to increase the probability of winning to 1%.</a:t>
            </a:r>
            <a:endParaRPr sz="1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21}{2180}=0.009633...&quot;&gt;&lt;mfrac&gt;&lt;mn&gt;21&lt;/mn&gt;&lt;mn&gt;2180&lt;/mn&gt;&lt;/mfrac&gt;&lt;mo&gt;=&lt;/mo&gt;&lt;mn&gt;0.009633&lt;/mn&gt;&lt;mo&gt;.&lt;/mo&gt;&lt;mo&gt;.&lt;/mo&gt;&lt;mo&gt;.&lt;/mo&gt;&lt;/math&gt;" id="156" name="Google Shape;156;p12" title="21 over 2180 equals 0.009633 period period period"/>
          <p:cNvPicPr preferRelativeResize="0"/>
          <p:nvPr/>
        </p:nvPicPr>
        <p:blipFill>
          <a:blip r:embed="rId5">
            <a:alphaModFix/>
          </a:blip>
          <a:stretch>
            <a:fillRect/>
          </a:stretch>
        </p:blipFill>
        <p:spPr>
          <a:xfrm>
            <a:off x="455723" y="9418980"/>
            <a:ext cx="1511772" cy="396483"/>
          </a:xfrm>
          <a:prstGeom prst="rect">
            <a:avLst/>
          </a:prstGeom>
          <a:noFill/>
          <a:ln>
            <a:noFill/>
          </a:ln>
        </p:spPr>
      </p:pic>
      <p:sp>
        <p:nvSpPr>
          <p:cNvPr id="157" name="Google Shape;157;p12"/>
          <p:cNvSpPr txBox="1"/>
          <p:nvPr/>
        </p:nvSpPr>
        <p:spPr>
          <a:xfrm>
            <a:off x="3919099" y="9438200"/>
            <a:ext cx="3178200" cy="31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You would need to buy 22 tickets to increase the chance to 1%.</a:t>
            </a:r>
            <a:endParaRPr sz="1200">
              <a:solidFill>
                <a:srgbClr val="000000"/>
              </a:solidFill>
              <a:latin typeface="Kalam"/>
              <a:ea typeface="Kalam"/>
              <a:cs typeface="Kalam"/>
              <a:sym typeface="Kalam"/>
            </a:endParaRPr>
          </a:p>
        </p:txBody>
      </p:sp>
      <p:pic>
        <p:nvPicPr>
          <p:cNvPr descr="&lt;math xmlns=&quot;http://www.w3.org/1998/Math/MathML&quot; display=&quot;block&quot; data-is-equatio=&quot;1&quot; data-latex=&quot;\frac{22}{2180}=0.01009...&quot;&gt;&lt;mfrac&gt;&lt;mn&gt;22&lt;/mn&gt;&lt;mn&gt;2180&lt;/mn&gt;&lt;/mfrac&gt;&lt;mo&gt;=&lt;/mo&gt;&lt;mn&gt;0.01009&lt;/mn&gt;&lt;mo&gt;.&lt;/mo&gt;&lt;mo&gt;.&lt;/mo&gt;&lt;mo&gt;.&lt;/mo&gt;&lt;/math&gt;" id="158" name="Google Shape;158;p12" title="22 over 2180 equals 0.01009 period period period"/>
          <p:cNvPicPr preferRelativeResize="0"/>
          <p:nvPr/>
        </p:nvPicPr>
        <p:blipFill>
          <a:blip r:embed="rId6">
            <a:alphaModFix/>
          </a:blip>
          <a:stretch>
            <a:fillRect/>
          </a:stretch>
        </p:blipFill>
        <p:spPr>
          <a:xfrm>
            <a:off x="2284526" y="9403792"/>
            <a:ext cx="1511775" cy="4228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Checking a claim</a:t>
            </a:r>
            <a:endParaRPr/>
          </a:p>
        </p:txBody>
      </p:sp>
      <p:sp>
        <p:nvSpPr>
          <p:cNvPr id="164" name="Google Shape;164;p13"/>
          <p:cNvSpPr txBox="1"/>
          <p:nvPr/>
        </p:nvSpPr>
        <p:spPr>
          <a:xfrm>
            <a:off x="468000" y="720000"/>
            <a:ext cx="6422700" cy="2355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3) Explain the mistake in each headline.  </a:t>
            </a:r>
            <a:endParaRPr sz="1200">
              <a:solidFill>
                <a:srgbClr val="000000"/>
              </a:solidFill>
              <a:latin typeface="Lexend"/>
              <a:ea typeface="Lexend"/>
              <a:cs typeface="Lexend"/>
              <a:sym typeface="Lexend"/>
            </a:endParaRPr>
          </a:p>
        </p:txBody>
      </p:sp>
      <p:sp>
        <p:nvSpPr>
          <p:cNvPr id="165" name="Google Shape;165;p13"/>
          <p:cNvSpPr/>
          <p:nvPr/>
        </p:nvSpPr>
        <p:spPr>
          <a:xfrm>
            <a:off x="718622" y="1118075"/>
            <a:ext cx="6287166" cy="813294"/>
          </a:xfrm>
          <a:prstGeom prst="flowChartDocumen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66" name="Google Shape;166;p13"/>
          <p:cNvSpPr txBox="1"/>
          <p:nvPr/>
        </p:nvSpPr>
        <p:spPr>
          <a:xfrm>
            <a:off x="736245" y="1135111"/>
            <a:ext cx="5919900" cy="679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“Local employment rates fell by 10% last year and 15% the previous year. In just 2 years, employment rates have fallen by 25%.” </a:t>
            </a:r>
            <a:endParaRPr sz="1200">
              <a:solidFill>
                <a:srgbClr val="000000"/>
              </a:solidFill>
              <a:latin typeface="Lexend"/>
              <a:ea typeface="Lexend"/>
              <a:cs typeface="Lexend"/>
              <a:sym typeface="Lexend"/>
            </a:endParaRPr>
          </a:p>
        </p:txBody>
      </p:sp>
      <p:sp>
        <p:nvSpPr>
          <p:cNvPr id="167" name="Google Shape;167;p13"/>
          <p:cNvSpPr txBox="1"/>
          <p:nvPr/>
        </p:nvSpPr>
        <p:spPr>
          <a:xfrm>
            <a:off x="468000" y="1113183"/>
            <a:ext cx="327900" cy="39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a)  </a:t>
            </a:r>
            <a:endParaRPr sz="1200">
              <a:solidFill>
                <a:srgbClr val="000000"/>
              </a:solidFill>
              <a:latin typeface="Lexend"/>
              <a:ea typeface="Lexend"/>
              <a:cs typeface="Lexend"/>
              <a:sym typeface="Lexend"/>
            </a:endParaRPr>
          </a:p>
        </p:txBody>
      </p:sp>
      <p:sp>
        <p:nvSpPr>
          <p:cNvPr id="168" name="Google Shape;168;p13"/>
          <p:cNvSpPr txBox="1"/>
          <p:nvPr/>
        </p:nvSpPr>
        <p:spPr>
          <a:xfrm>
            <a:off x="468000" y="2074856"/>
            <a:ext cx="6624000" cy="31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When calculating two successive percentage changes you cannot just add the percentages together.  </a:t>
            </a:r>
            <a:endParaRPr sz="1200">
              <a:solidFill>
                <a:srgbClr val="000000"/>
              </a:solidFill>
              <a:latin typeface="Kalam"/>
              <a:ea typeface="Kalam"/>
              <a:cs typeface="Kalam"/>
              <a:sym typeface="Kalam"/>
            </a:endParaRPr>
          </a:p>
        </p:txBody>
      </p:sp>
      <p:sp>
        <p:nvSpPr>
          <p:cNvPr id="169" name="Google Shape;169;p13"/>
          <p:cNvSpPr txBox="1"/>
          <p:nvPr/>
        </p:nvSpPr>
        <p:spPr>
          <a:xfrm>
            <a:off x="468000" y="2372675"/>
            <a:ext cx="6624000" cy="100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Kalam"/>
                <a:ea typeface="Kalam"/>
                <a:cs typeface="Kalam"/>
                <a:sym typeface="Kalam"/>
              </a:rPr>
              <a:t>E.g. If there were 100 people employed one year then a decrease in 15% would be 100 × 0.85 = 85</a:t>
            </a:r>
            <a:endParaRPr sz="1200">
              <a:latin typeface="Kalam"/>
              <a:ea typeface="Kalam"/>
              <a:cs typeface="Kalam"/>
              <a:sym typeface="Kalam"/>
            </a:endParaRPr>
          </a:p>
          <a:p>
            <a:pPr indent="0" lvl="0" marL="0" rtl="0" algn="l">
              <a:lnSpc>
                <a:spcPct val="115000"/>
              </a:lnSpc>
              <a:spcBef>
                <a:spcPts val="0"/>
              </a:spcBef>
              <a:spcAft>
                <a:spcPts val="0"/>
              </a:spcAft>
              <a:buNone/>
            </a:pPr>
            <a:r>
              <a:rPr lang="en-GB" sz="1200">
                <a:latin typeface="Kalam"/>
                <a:ea typeface="Kalam"/>
                <a:cs typeface="Kalam"/>
                <a:sym typeface="Kalam"/>
              </a:rPr>
              <a:t>Then decreasing this by 10% would give </a:t>
            </a:r>
            <a:r>
              <a:rPr lang="en-GB" sz="1200">
                <a:solidFill>
                  <a:srgbClr val="000000"/>
                </a:solidFill>
                <a:latin typeface="Kalam"/>
                <a:ea typeface="Kalam"/>
                <a:cs typeface="Kalam"/>
                <a:sym typeface="Kalam"/>
              </a:rPr>
              <a:t>85 × 0.9 = 76.5</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rPr lang="en-GB" sz="1200">
                <a:latin typeface="Kalam"/>
                <a:ea typeface="Kalam"/>
                <a:cs typeface="Kalam"/>
                <a:sym typeface="Kalam"/>
              </a:rPr>
              <a:t>This is a decrease of 23.5% not 25%   </a:t>
            </a:r>
            <a:endParaRPr sz="1200">
              <a:solidFill>
                <a:srgbClr val="000000"/>
              </a:solidFill>
              <a:latin typeface="Kalam"/>
              <a:ea typeface="Kalam"/>
              <a:cs typeface="Kalam"/>
              <a:sym typeface="Kalam"/>
            </a:endParaRPr>
          </a:p>
        </p:txBody>
      </p:sp>
      <p:sp>
        <p:nvSpPr>
          <p:cNvPr id="170" name="Google Shape;170;p13"/>
          <p:cNvSpPr/>
          <p:nvPr/>
        </p:nvSpPr>
        <p:spPr>
          <a:xfrm>
            <a:off x="718622" y="3517225"/>
            <a:ext cx="6287166" cy="813348"/>
          </a:xfrm>
          <a:prstGeom prst="flowChartDocumen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71" name="Google Shape;171;p13"/>
          <p:cNvSpPr txBox="1"/>
          <p:nvPr/>
        </p:nvSpPr>
        <p:spPr>
          <a:xfrm>
            <a:off x="736242" y="3587473"/>
            <a:ext cx="6287100" cy="679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“28% of men and 22% of women say they only clean their teeth once a day. A whopping 50% of adults are not cleaning their teeth twice a day.”    </a:t>
            </a:r>
            <a:endParaRPr sz="1200">
              <a:solidFill>
                <a:srgbClr val="000000"/>
              </a:solidFill>
              <a:latin typeface="Lexend"/>
              <a:ea typeface="Lexend"/>
              <a:cs typeface="Lexend"/>
              <a:sym typeface="Lexend"/>
            </a:endParaRPr>
          </a:p>
        </p:txBody>
      </p:sp>
      <p:sp>
        <p:nvSpPr>
          <p:cNvPr id="172" name="Google Shape;172;p13"/>
          <p:cNvSpPr txBox="1"/>
          <p:nvPr/>
        </p:nvSpPr>
        <p:spPr>
          <a:xfrm>
            <a:off x="468000" y="3514202"/>
            <a:ext cx="327900" cy="39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b)  </a:t>
            </a:r>
            <a:endParaRPr sz="1200">
              <a:solidFill>
                <a:srgbClr val="000000"/>
              </a:solidFill>
              <a:latin typeface="Lexend"/>
              <a:ea typeface="Lexend"/>
              <a:cs typeface="Lexend"/>
              <a:sym typeface="Lexend"/>
            </a:endParaRPr>
          </a:p>
        </p:txBody>
      </p:sp>
      <p:sp>
        <p:nvSpPr>
          <p:cNvPr id="173" name="Google Shape;173;p13"/>
          <p:cNvSpPr txBox="1"/>
          <p:nvPr/>
        </p:nvSpPr>
        <p:spPr>
          <a:xfrm>
            <a:off x="468000" y="4427661"/>
            <a:ext cx="6624000" cy="67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This is not how percentages work. The percentages are of two different populations, if we assume the same amount of men and women the total percentage of people will be the mean average of the two (25%).</a:t>
            </a:r>
            <a:endParaRPr sz="1200">
              <a:solidFill>
                <a:srgbClr val="000000"/>
              </a:solidFill>
              <a:latin typeface="Kalam"/>
              <a:ea typeface="Kalam"/>
              <a:cs typeface="Kalam"/>
              <a:sym typeface="Kalam"/>
            </a:endParaRPr>
          </a:p>
        </p:txBody>
      </p:sp>
      <p:sp>
        <p:nvSpPr>
          <p:cNvPr id="174" name="Google Shape;174;p13"/>
          <p:cNvSpPr txBox="1"/>
          <p:nvPr/>
        </p:nvSpPr>
        <p:spPr>
          <a:xfrm>
            <a:off x="468000" y="5080299"/>
            <a:ext cx="6624000" cy="70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Kalam"/>
                <a:ea typeface="Kalam"/>
                <a:cs typeface="Kalam"/>
                <a:sym typeface="Kalam"/>
              </a:rPr>
              <a:t>Also this was the number of people who said they brush their teeth once a day, there may be people who do not brush their teeth every day or brush their teeth more than twice. So the claim that 50% of people are not cleaning their teeth twice a day is definitely wrong. </a:t>
            </a:r>
            <a:endParaRPr sz="1200">
              <a:solidFill>
                <a:srgbClr val="000000"/>
              </a:solidFill>
              <a:latin typeface="Kalam"/>
              <a:ea typeface="Kalam"/>
              <a:cs typeface="Kalam"/>
              <a:sym typeface="Kalam"/>
            </a:endParaRPr>
          </a:p>
        </p:txBody>
      </p:sp>
      <p:sp>
        <p:nvSpPr>
          <p:cNvPr id="175" name="Google Shape;175;p13"/>
          <p:cNvSpPr/>
          <p:nvPr/>
        </p:nvSpPr>
        <p:spPr>
          <a:xfrm>
            <a:off x="714795" y="6163377"/>
            <a:ext cx="6287166" cy="844074"/>
          </a:xfrm>
          <a:prstGeom prst="flowChartDocumen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76" name="Google Shape;176;p13"/>
          <p:cNvSpPr txBox="1"/>
          <p:nvPr/>
        </p:nvSpPr>
        <p:spPr>
          <a:xfrm>
            <a:off x="732416" y="6194135"/>
            <a:ext cx="6228900" cy="732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“Decrease your food expenditure by 300% a week by taking your own lunch to work (based on a takeaway lunch cost of £28 a week and home made lunch cost of £7 a week).”</a:t>
            </a:r>
            <a:endParaRPr sz="1200">
              <a:solidFill>
                <a:srgbClr val="000000"/>
              </a:solidFill>
              <a:latin typeface="Lexend"/>
              <a:ea typeface="Lexend"/>
              <a:cs typeface="Lexend"/>
              <a:sym typeface="Lexend"/>
            </a:endParaRPr>
          </a:p>
        </p:txBody>
      </p:sp>
      <p:sp>
        <p:nvSpPr>
          <p:cNvPr id="177" name="Google Shape;177;p13"/>
          <p:cNvSpPr txBox="1"/>
          <p:nvPr/>
        </p:nvSpPr>
        <p:spPr>
          <a:xfrm>
            <a:off x="464173" y="6162224"/>
            <a:ext cx="327900" cy="39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  </a:t>
            </a:r>
            <a:endParaRPr sz="1200">
              <a:solidFill>
                <a:srgbClr val="000000"/>
              </a:solidFill>
              <a:latin typeface="Lexend"/>
              <a:ea typeface="Lexend"/>
              <a:cs typeface="Lexend"/>
              <a:sym typeface="Lexend"/>
            </a:endParaRPr>
          </a:p>
        </p:txBody>
      </p:sp>
      <p:sp>
        <p:nvSpPr>
          <p:cNvPr id="178" name="Google Shape;178;p13"/>
          <p:cNvSpPr txBox="1"/>
          <p:nvPr/>
        </p:nvSpPr>
        <p:spPr>
          <a:xfrm>
            <a:off x="464173" y="7084526"/>
            <a:ext cx="6624000" cy="1869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200">
                <a:latin typeface="Kalam"/>
                <a:ea typeface="Kalam"/>
                <a:cs typeface="Kalam"/>
                <a:sym typeface="Kalam"/>
              </a:rPr>
              <a:t>A value cannot decrease by more than 100%. </a:t>
            </a:r>
            <a:endParaRPr sz="1200">
              <a:latin typeface="Kalam"/>
              <a:ea typeface="Kalam"/>
              <a:cs typeface="Kalam"/>
              <a:sym typeface="Kalam"/>
            </a:endParaRPr>
          </a:p>
          <a:p>
            <a:pPr indent="0" lvl="0" marL="0" rtl="0" algn="l">
              <a:lnSpc>
                <a:spcPct val="100000"/>
              </a:lnSpc>
              <a:spcBef>
                <a:spcPts val="0"/>
              </a:spcBef>
              <a:spcAft>
                <a:spcPts val="0"/>
              </a:spcAft>
              <a:buNone/>
            </a:pPr>
            <a:r>
              <a:rPr lang="en-GB" sz="1200">
                <a:latin typeface="Kalam"/>
                <a:ea typeface="Kalam"/>
                <a:cs typeface="Kalam"/>
                <a:sym typeface="Kalam"/>
              </a:rPr>
              <a:t>It is true that increasing £7 by 300% is the same as multiplying by 4 which gives £28 but this does not work in reverse. </a:t>
            </a:r>
            <a:endParaRPr sz="1200">
              <a:latin typeface="Kalam"/>
              <a:ea typeface="Kalam"/>
              <a:cs typeface="Kalam"/>
              <a:sym typeface="Kalam"/>
            </a:endParaRPr>
          </a:p>
          <a:p>
            <a:pPr indent="0" lvl="0" marL="0" rtl="0" algn="l">
              <a:lnSpc>
                <a:spcPct val="100000"/>
              </a:lnSpc>
              <a:spcBef>
                <a:spcPts val="0"/>
              </a:spcBef>
              <a:spcAft>
                <a:spcPts val="0"/>
              </a:spcAft>
              <a:buNone/>
            </a:pPr>
            <a:r>
              <a:rPr lang="en-GB" sz="1200">
                <a:latin typeface="Kalam"/>
                <a:ea typeface="Kalam"/>
                <a:cs typeface="Kalam"/>
                <a:sym typeface="Kalam"/>
              </a:rPr>
              <a:t>The calculation should be </a:t>
            </a:r>
            <a:r>
              <a:rPr lang="en-GB" sz="1200">
                <a:solidFill>
                  <a:srgbClr val="000000"/>
                </a:solidFill>
                <a:latin typeface="Kalam"/>
                <a:ea typeface="Kalam"/>
                <a:cs typeface="Kalam"/>
                <a:sym typeface="Kalam"/>
              </a:rPr>
              <a:t>7 ÷ 28 = 0.25 which is a 75% decrease.</a:t>
            </a:r>
            <a:endParaRPr sz="1200">
              <a:solidFill>
                <a:srgbClr val="000000"/>
              </a:solidFill>
              <a:latin typeface="Kalam"/>
              <a:ea typeface="Kalam"/>
              <a:cs typeface="Kalam"/>
              <a:sym typeface="Kalam"/>
            </a:endParaRPr>
          </a:p>
          <a:p>
            <a:pPr indent="0" lvl="0" marL="0" rtl="0" algn="l">
              <a:lnSpc>
                <a:spcPct val="100000"/>
              </a:lnSpc>
              <a:spcBef>
                <a:spcPts val="0"/>
              </a:spcBef>
              <a:spcAft>
                <a:spcPts val="0"/>
              </a:spcAft>
              <a:buNone/>
            </a:pPr>
            <a:r>
              <a:rPr lang="en-GB" sz="1200">
                <a:solidFill>
                  <a:srgbClr val="000000"/>
                </a:solidFill>
                <a:latin typeface="Kalam"/>
                <a:ea typeface="Kalam"/>
                <a:cs typeface="Kalam"/>
                <a:sym typeface="Kalam"/>
              </a:rPr>
              <a:t>“It cost 4 times as much to buy a takeaway lunch” would be acceptable or “Decrease your food expenditure by 75%” (the ‘each week’ may also be misleading as the time scale doesn’t affect the percentage). </a:t>
            </a:r>
            <a:r>
              <a:rPr lang="en-GB" sz="1200">
                <a:latin typeface="Kalam"/>
                <a:ea typeface="Kalam"/>
                <a:cs typeface="Kalam"/>
                <a:sym typeface="Kalam"/>
              </a:rPr>
              <a:t>    </a:t>
            </a:r>
            <a:endParaRPr sz="1200">
              <a:solidFill>
                <a:srgbClr val="000000"/>
              </a:solidFill>
              <a:latin typeface="Kalam"/>
              <a:ea typeface="Kalam"/>
              <a:cs typeface="Kalam"/>
              <a:sym typeface="Kalam"/>
            </a:endParaRPr>
          </a:p>
        </p:txBody>
      </p:sp>
      <p:cxnSp>
        <p:nvCxnSpPr>
          <p:cNvPr id="179" name="Google Shape;179;p13"/>
          <p:cNvCxnSpPr/>
          <p:nvPr/>
        </p:nvCxnSpPr>
        <p:spPr>
          <a:xfrm>
            <a:off x="470926" y="9971988"/>
            <a:ext cx="6610500" cy="0"/>
          </a:xfrm>
          <a:prstGeom prst="straightConnector1">
            <a:avLst/>
          </a:prstGeom>
          <a:noFill/>
          <a:ln cap="flat" cmpd="sng" w="38100">
            <a:solidFill>
              <a:srgbClr val="000000"/>
            </a:solidFill>
            <a:prstDash val="solid"/>
            <a:round/>
            <a:headEnd len="med" w="med" type="none"/>
            <a:tailEnd len="med" w="med" type="none"/>
          </a:ln>
        </p:spPr>
      </p:cxnSp>
      <p:sp>
        <p:nvSpPr>
          <p:cNvPr id="180" name="Google Shape;180;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86" name="Google Shape;186;p14"/>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Checking a claim</a:t>
            </a:r>
            <a:endParaRPr/>
          </a:p>
        </p:txBody>
      </p:sp>
      <p:sp>
        <p:nvSpPr>
          <p:cNvPr id="187" name="Google Shape;187;p14"/>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188" name="Google Shape;188;p14"/>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v2.4</a:t>
            </a:r>
            <a:endParaRPr sz="1000">
              <a:solidFill>
                <a:srgbClr val="FFFFFF"/>
              </a:solidFill>
              <a:latin typeface="Lexend"/>
              <a:ea typeface="Lexend"/>
              <a:cs typeface="Lexend"/>
              <a:sym typeface="Lexend"/>
            </a:endParaRPr>
          </a:p>
        </p:txBody>
      </p:sp>
      <p:sp>
        <p:nvSpPr>
          <p:cNvPr id="189" name="Google Shape;189;p14"/>
          <p:cNvSpPr txBox="1"/>
          <p:nvPr/>
        </p:nvSpPr>
        <p:spPr>
          <a:xfrm>
            <a:off x="468000" y="1052483"/>
            <a:ext cx="6624000" cy="583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1) An article reads: “The average person will spend 100 000 hours on their phone in their lifetime.” </a:t>
            </a:r>
            <a:endParaRPr sz="1200">
              <a:solidFill>
                <a:srgbClr val="000000"/>
              </a:solidFill>
              <a:latin typeface="Lexend"/>
              <a:ea typeface="Lexend"/>
              <a:cs typeface="Lexend"/>
              <a:sym typeface="Lexend"/>
            </a:endParaRPr>
          </a:p>
        </p:txBody>
      </p:sp>
      <p:sp>
        <p:nvSpPr>
          <p:cNvPr id="190" name="Google Shape;190;p14"/>
          <p:cNvSpPr txBox="1"/>
          <p:nvPr/>
        </p:nvSpPr>
        <p:spPr>
          <a:xfrm>
            <a:off x="468001" y="720000"/>
            <a:ext cx="6245400" cy="2985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B: </a:t>
            </a:r>
            <a:r>
              <a:rPr b="1" lang="en-GB">
                <a:solidFill>
                  <a:schemeClr val="dk1"/>
                </a:solidFill>
                <a:latin typeface="Lexend"/>
                <a:ea typeface="Lexend"/>
                <a:cs typeface="Lexend"/>
                <a:sym typeface="Lexend"/>
              </a:rPr>
              <a:t>Estimating to check</a:t>
            </a:r>
            <a:endParaRPr b="1">
              <a:solidFill>
                <a:schemeClr val="dk1"/>
              </a:solidFill>
              <a:latin typeface="Lexend"/>
              <a:ea typeface="Lexend"/>
              <a:cs typeface="Lexend"/>
              <a:sym typeface="Lexend"/>
            </a:endParaRPr>
          </a:p>
        </p:txBody>
      </p:sp>
      <p:sp>
        <p:nvSpPr>
          <p:cNvPr id="191" name="Google Shape;191;p14"/>
          <p:cNvSpPr txBox="1"/>
          <p:nvPr/>
        </p:nvSpPr>
        <p:spPr>
          <a:xfrm>
            <a:off x="468000" y="3401867"/>
            <a:ext cx="6624000" cy="345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Does the article’s claim sound reasonable? </a:t>
            </a:r>
            <a:endParaRPr sz="1200">
              <a:solidFill>
                <a:srgbClr val="000000"/>
              </a:solidFill>
              <a:latin typeface="Lexend"/>
              <a:ea typeface="Lexend"/>
              <a:cs typeface="Lexend"/>
              <a:sym typeface="Lexend"/>
            </a:endParaRPr>
          </a:p>
        </p:txBody>
      </p:sp>
      <p:sp>
        <p:nvSpPr>
          <p:cNvPr id="192" name="Google Shape;192;p14"/>
          <p:cNvSpPr txBox="1"/>
          <p:nvPr/>
        </p:nvSpPr>
        <p:spPr>
          <a:xfrm>
            <a:off x="468000" y="2096890"/>
            <a:ext cx="6624000" cy="34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These are only approximate figures and the answer will depend largely on your estimation of how long most people spend on their phone a day.</a:t>
            </a:r>
            <a:endParaRPr sz="1200">
              <a:solidFill>
                <a:srgbClr val="000000"/>
              </a:solidFill>
              <a:latin typeface="Kalam"/>
              <a:ea typeface="Kalam"/>
              <a:cs typeface="Kalam"/>
              <a:sym typeface="Kalam"/>
            </a:endParaRPr>
          </a:p>
          <a:p>
            <a:pPr indent="0" lvl="0" marL="0" rtl="0" algn="l">
              <a:spcBef>
                <a:spcPts val="1000"/>
              </a:spcBef>
              <a:spcAft>
                <a:spcPts val="1000"/>
              </a:spcAft>
              <a:buNone/>
            </a:pP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93" name="Google Shape;193;p14"/>
          <p:cNvSpPr txBox="1"/>
          <p:nvPr/>
        </p:nvSpPr>
        <p:spPr>
          <a:xfrm>
            <a:off x="468000" y="2590766"/>
            <a:ext cx="6624000" cy="29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If the average person spends 5 hours a day on their phone:</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94" name="Google Shape;194;p14"/>
          <p:cNvSpPr txBox="1"/>
          <p:nvPr/>
        </p:nvSpPr>
        <p:spPr>
          <a:xfrm>
            <a:off x="468000" y="2862556"/>
            <a:ext cx="6624000" cy="29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5 × 365 = 1825 hours a year.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95" name="Google Shape;195;p14"/>
          <p:cNvSpPr txBox="1"/>
          <p:nvPr/>
        </p:nvSpPr>
        <p:spPr>
          <a:xfrm>
            <a:off x="468000" y="3103413"/>
            <a:ext cx="6624000" cy="29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If average life expectancy is 80 years: 1825 × 80 = 146 000 hours</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96" name="Google Shape;196;p14"/>
          <p:cNvSpPr txBox="1"/>
          <p:nvPr/>
        </p:nvSpPr>
        <p:spPr>
          <a:xfrm>
            <a:off x="468000" y="3677925"/>
            <a:ext cx="6624000" cy="29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The claim is fairly reasonable, it’s potentially a little low considering the increase in use of technology such as mobile phones.</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97" name="Google Shape;197;p14"/>
          <p:cNvSpPr txBox="1"/>
          <p:nvPr/>
        </p:nvSpPr>
        <p:spPr>
          <a:xfrm>
            <a:off x="468000" y="1591085"/>
            <a:ext cx="6624000" cy="583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a) Estimate how long you think the average person will spend on their phone in a lifetime. Write down any estimations you make.</a:t>
            </a:r>
            <a:endParaRPr sz="1200">
              <a:solidFill>
                <a:srgbClr val="000000"/>
              </a:solidFill>
              <a:latin typeface="Lexend"/>
              <a:ea typeface="Lexend"/>
              <a:cs typeface="Lexend"/>
              <a:sym typeface="Lexend"/>
            </a:endParaRPr>
          </a:p>
        </p:txBody>
      </p:sp>
      <p:sp>
        <p:nvSpPr>
          <p:cNvPr id="198" name="Google Shape;198;p14"/>
          <p:cNvSpPr txBox="1"/>
          <p:nvPr/>
        </p:nvSpPr>
        <p:spPr>
          <a:xfrm>
            <a:off x="468000" y="4162297"/>
            <a:ext cx="6624000" cy="2913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2) A newspaper states that “5% of the UK has a car parked on it.”</a:t>
            </a:r>
            <a:endParaRPr sz="1200">
              <a:solidFill>
                <a:srgbClr val="000000"/>
              </a:solidFill>
              <a:latin typeface="Lexend"/>
              <a:ea typeface="Lexend"/>
              <a:cs typeface="Lexend"/>
              <a:sym typeface="Lexend"/>
            </a:endParaRPr>
          </a:p>
        </p:txBody>
      </p:sp>
      <p:sp>
        <p:nvSpPr>
          <p:cNvPr id="199" name="Google Shape;199;p14"/>
          <p:cNvSpPr/>
          <p:nvPr/>
        </p:nvSpPr>
        <p:spPr>
          <a:xfrm>
            <a:off x="4602083" y="7093531"/>
            <a:ext cx="2452200" cy="2526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 name="Google Shape;200;p14"/>
          <p:cNvSpPr txBox="1"/>
          <p:nvPr/>
        </p:nvSpPr>
        <p:spPr>
          <a:xfrm>
            <a:off x="468050" y="7085342"/>
            <a:ext cx="4179300" cy="292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d) Assume the area of the UK can be modelled by the two rectangles shown. What is the approximate area of the UK?</a:t>
            </a:r>
            <a:endParaRPr sz="1200">
              <a:solidFill>
                <a:srgbClr val="000000"/>
              </a:solidFill>
              <a:latin typeface="Lexend"/>
              <a:ea typeface="Lexend"/>
              <a:cs typeface="Lexend"/>
              <a:sym typeface="Lexend"/>
            </a:endParaRPr>
          </a:p>
        </p:txBody>
      </p:sp>
      <p:sp>
        <p:nvSpPr>
          <p:cNvPr id="201" name="Google Shape;201;p14"/>
          <p:cNvSpPr txBox="1"/>
          <p:nvPr/>
        </p:nvSpPr>
        <p:spPr>
          <a:xfrm>
            <a:off x="468000" y="4425174"/>
            <a:ext cx="6624000" cy="2913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a) Estimate how many households there are in the UK.</a:t>
            </a:r>
            <a:endParaRPr sz="1200">
              <a:solidFill>
                <a:srgbClr val="000000"/>
              </a:solidFill>
              <a:latin typeface="Lexend"/>
              <a:ea typeface="Lexend"/>
              <a:cs typeface="Lexend"/>
              <a:sym typeface="Lexend"/>
            </a:endParaRPr>
          </a:p>
        </p:txBody>
      </p:sp>
      <p:sp>
        <p:nvSpPr>
          <p:cNvPr id="202" name="Google Shape;202;p14"/>
          <p:cNvSpPr txBox="1"/>
          <p:nvPr/>
        </p:nvSpPr>
        <p:spPr>
          <a:xfrm>
            <a:off x="468000" y="5245823"/>
            <a:ext cx="6624000" cy="2913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b) Estimate how many cars there are in the UK.</a:t>
            </a:r>
            <a:endParaRPr sz="1200">
              <a:solidFill>
                <a:srgbClr val="000000"/>
              </a:solidFill>
              <a:latin typeface="Lexend"/>
              <a:ea typeface="Lexend"/>
              <a:cs typeface="Lexend"/>
              <a:sym typeface="Lexend"/>
            </a:endParaRPr>
          </a:p>
        </p:txBody>
      </p:sp>
      <p:sp>
        <p:nvSpPr>
          <p:cNvPr id="203" name="Google Shape;203;p14"/>
          <p:cNvSpPr txBox="1"/>
          <p:nvPr/>
        </p:nvSpPr>
        <p:spPr>
          <a:xfrm>
            <a:off x="468000" y="6289761"/>
            <a:ext cx="6624000" cy="2913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c) Estimate how much space is taken up by these cars.</a:t>
            </a:r>
            <a:endParaRPr sz="1200">
              <a:solidFill>
                <a:srgbClr val="000000"/>
              </a:solidFill>
              <a:latin typeface="Lexend"/>
              <a:ea typeface="Lexend"/>
              <a:cs typeface="Lexend"/>
              <a:sym typeface="Lexend"/>
            </a:endParaRPr>
          </a:p>
        </p:txBody>
      </p:sp>
      <p:sp>
        <p:nvSpPr>
          <p:cNvPr id="204" name="Google Shape;204;p14"/>
          <p:cNvSpPr txBox="1"/>
          <p:nvPr/>
        </p:nvSpPr>
        <p:spPr>
          <a:xfrm>
            <a:off x="468000" y="4703757"/>
            <a:ext cx="6624000" cy="29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Population of UK roughly 70 million and average of 2.4 people per household.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05" name="Google Shape;205;p14"/>
          <p:cNvSpPr txBox="1"/>
          <p:nvPr/>
        </p:nvSpPr>
        <p:spPr>
          <a:xfrm>
            <a:off x="468000" y="4940715"/>
            <a:ext cx="6624000" cy="29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70 000 000 ÷ 2.4 = 29 166 667 so approximately 30 million households.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06" name="Google Shape;206;p14"/>
          <p:cNvSpPr txBox="1"/>
          <p:nvPr/>
        </p:nvSpPr>
        <p:spPr>
          <a:xfrm>
            <a:off x="468000" y="5528109"/>
            <a:ext cx="6624000" cy="29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If each household had 2 cars: 60 million cars in the UK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07" name="Google Shape;207;p14"/>
          <p:cNvSpPr txBox="1"/>
          <p:nvPr/>
        </p:nvSpPr>
        <p:spPr>
          <a:xfrm>
            <a:off x="468000" y="5811194"/>
            <a:ext cx="6624000" cy="29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Kalam"/>
                <a:ea typeface="Kalam"/>
                <a:cs typeface="Kalam"/>
                <a:sym typeface="Kalam"/>
              </a:rPr>
              <a:t>Note 2 cars per household is probably a high estimate but we haven’t included car impounds and showrooms etc.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08" name="Google Shape;208;p14"/>
          <p:cNvSpPr txBox="1"/>
          <p:nvPr/>
        </p:nvSpPr>
        <p:spPr>
          <a:xfrm>
            <a:off x="468000" y="6504012"/>
            <a:ext cx="6624000" cy="29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If a car measures 5 m by 1 m then it would take up 5 m</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09" name="Google Shape;209;p14"/>
          <p:cNvSpPr txBox="1"/>
          <p:nvPr/>
        </p:nvSpPr>
        <p:spPr>
          <a:xfrm>
            <a:off x="468000" y="6830593"/>
            <a:ext cx="6624000" cy="29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5 × 60 000 000 = 300 000 000 m</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10" name="Google Shape;210;p14"/>
          <p:cNvSpPr txBox="1"/>
          <p:nvPr/>
        </p:nvSpPr>
        <p:spPr>
          <a:xfrm>
            <a:off x="468050" y="8177787"/>
            <a:ext cx="3989700" cy="2928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Lexend"/>
                <a:ea typeface="Lexend"/>
                <a:cs typeface="Lexend"/>
                <a:sym typeface="Lexend"/>
              </a:rPr>
              <a:t>e) Does the newspaper’s claim seem valid?</a:t>
            </a:r>
            <a:endParaRPr sz="1200">
              <a:solidFill>
                <a:srgbClr val="000000"/>
              </a:solidFill>
              <a:latin typeface="Lexend"/>
              <a:ea typeface="Lexend"/>
              <a:cs typeface="Lexend"/>
              <a:sym typeface="Lexend"/>
            </a:endParaRPr>
          </a:p>
        </p:txBody>
      </p:sp>
      <p:cxnSp>
        <p:nvCxnSpPr>
          <p:cNvPr id="211" name="Google Shape;211;p14"/>
          <p:cNvCxnSpPr/>
          <p:nvPr/>
        </p:nvCxnSpPr>
        <p:spPr>
          <a:xfrm flipH="1">
            <a:off x="5603236" y="7452289"/>
            <a:ext cx="282000" cy="8100"/>
          </a:xfrm>
          <a:prstGeom prst="straightConnector1">
            <a:avLst/>
          </a:prstGeom>
          <a:noFill/>
          <a:ln cap="flat" cmpd="sng" w="19050">
            <a:solidFill>
              <a:srgbClr val="037B7D"/>
            </a:solidFill>
            <a:prstDash val="solid"/>
            <a:round/>
            <a:headEnd len="med" w="med" type="none"/>
            <a:tailEnd len="med" w="med" type="none"/>
          </a:ln>
        </p:spPr>
      </p:cxnSp>
      <p:cxnSp>
        <p:nvCxnSpPr>
          <p:cNvPr id="212" name="Google Shape;212;p14"/>
          <p:cNvCxnSpPr/>
          <p:nvPr/>
        </p:nvCxnSpPr>
        <p:spPr>
          <a:xfrm flipH="1">
            <a:off x="5465153" y="7455733"/>
            <a:ext cx="140700" cy="349200"/>
          </a:xfrm>
          <a:prstGeom prst="straightConnector1">
            <a:avLst/>
          </a:prstGeom>
          <a:noFill/>
          <a:ln cap="flat" cmpd="sng" w="19050">
            <a:solidFill>
              <a:srgbClr val="037B7D"/>
            </a:solidFill>
            <a:prstDash val="solid"/>
            <a:round/>
            <a:headEnd len="med" w="med" type="none"/>
            <a:tailEnd len="med" w="med" type="none"/>
          </a:ln>
        </p:spPr>
      </p:cxnSp>
      <p:cxnSp>
        <p:nvCxnSpPr>
          <p:cNvPr id="213" name="Google Shape;213;p14"/>
          <p:cNvCxnSpPr/>
          <p:nvPr/>
        </p:nvCxnSpPr>
        <p:spPr>
          <a:xfrm>
            <a:off x="5464937" y="7799653"/>
            <a:ext cx="18300" cy="208200"/>
          </a:xfrm>
          <a:prstGeom prst="straightConnector1">
            <a:avLst/>
          </a:prstGeom>
          <a:noFill/>
          <a:ln cap="flat" cmpd="sng" w="19050">
            <a:solidFill>
              <a:srgbClr val="037B7D"/>
            </a:solidFill>
            <a:prstDash val="solid"/>
            <a:round/>
            <a:headEnd len="med" w="med" type="none"/>
            <a:tailEnd len="med" w="med" type="none"/>
          </a:ln>
        </p:spPr>
      </p:cxnSp>
      <p:cxnSp>
        <p:nvCxnSpPr>
          <p:cNvPr id="214" name="Google Shape;214;p14"/>
          <p:cNvCxnSpPr/>
          <p:nvPr/>
        </p:nvCxnSpPr>
        <p:spPr>
          <a:xfrm>
            <a:off x="5482323" y="8003945"/>
            <a:ext cx="10200" cy="320700"/>
          </a:xfrm>
          <a:prstGeom prst="straightConnector1">
            <a:avLst/>
          </a:prstGeom>
          <a:noFill/>
          <a:ln cap="flat" cmpd="sng" w="19050">
            <a:solidFill>
              <a:srgbClr val="037B7D"/>
            </a:solidFill>
            <a:prstDash val="solid"/>
            <a:round/>
            <a:headEnd len="med" w="med" type="none"/>
            <a:tailEnd len="med" w="med" type="none"/>
          </a:ln>
        </p:spPr>
      </p:cxnSp>
      <p:cxnSp>
        <p:nvCxnSpPr>
          <p:cNvPr id="215" name="Google Shape;215;p14"/>
          <p:cNvCxnSpPr/>
          <p:nvPr/>
        </p:nvCxnSpPr>
        <p:spPr>
          <a:xfrm flipH="1" rot="10800000">
            <a:off x="5493900" y="8124075"/>
            <a:ext cx="93900" cy="197400"/>
          </a:xfrm>
          <a:prstGeom prst="straightConnector1">
            <a:avLst/>
          </a:prstGeom>
          <a:noFill/>
          <a:ln cap="flat" cmpd="sng" w="19050">
            <a:solidFill>
              <a:srgbClr val="037B7D"/>
            </a:solidFill>
            <a:prstDash val="solid"/>
            <a:round/>
            <a:headEnd len="med" w="med" type="none"/>
            <a:tailEnd len="med" w="med" type="none"/>
          </a:ln>
        </p:spPr>
      </p:cxnSp>
      <p:cxnSp>
        <p:nvCxnSpPr>
          <p:cNvPr id="216" name="Google Shape;216;p14"/>
          <p:cNvCxnSpPr/>
          <p:nvPr/>
        </p:nvCxnSpPr>
        <p:spPr>
          <a:xfrm>
            <a:off x="5590126" y="8121554"/>
            <a:ext cx="8100" cy="358200"/>
          </a:xfrm>
          <a:prstGeom prst="straightConnector1">
            <a:avLst/>
          </a:prstGeom>
          <a:noFill/>
          <a:ln cap="flat" cmpd="sng" w="19050">
            <a:solidFill>
              <a:srgbClr val="037B7D"/>
            </a:solidFill>
            <a:prstDash val="solid"/>
            <a:round/>
            <a:headEnd len="med" w="med" type="none"/>
            <a:tailEnd len="med" w="med" type="none"/>
          </a:ln>
        </p:spPr>
      </p:cxnSp>
      <p:cxnSp>
        <p:nvCxnSpPr>
          <p:cNvPr id="217" name="Google Shape;217;p14"/>
          <p:cNvCxnSpPr/>
          <p:nvPr/>
        </p:nvCxnSpPr>
        <p:spPr>
          <a:xfrm flipH="1" rot="10800000">
            <a:off x="5595244" y="8441172"/>
            <a:ext cx="246000" cy="35700"/>
          </a:xfrm>
          <a:prstGeom prst="straightConnector1">
            <a:avLst/>
          </a:prstGeom>
          <a:noFill/>
          <a:ln cap="flat" cmpd="sng" w="19050">
            <a:solidFill>
              <a:srgbClr val="037B7D"/>
            </a:solidFill>
            <a:prstDash val="solid"/>
            <a:round/>
            <a:headEnd len="med" w="med" type="none"/>
            <a:tailEnd len="med" w="med" type="none"/>
          </a:ln>
        </p:spPr>
      </p:cxnSp>
      <p:cxnSp>
        <p:nvCxnSpPr>
          <p:cNvPr id="218" name="Google Shape;218;p14"/>
          <p:cNvCxnSpPr/>
          <p:nvPr/>
        </p:nvCxnSpPr>
        <p:spPr>
          <a:xfrm>
            <a:off x="5837807" y="8440371"/>
            <a:ext cx="10500" cy="348000"/>
          </a:xfrm>
          <a:prstGeom prst="straightConnector1">
            <a:avLst/>
          </a:prstGeom>
          <a:noFill/>
          <a:ln cap="flat" cmpd="sng" w="19050">
            <a:solidFill>
              <a:srgbClr val="037B7D"/>
            </a:solidFill>
            <a:prstDash val="solid"/>
            <a:round/>
            <a:headEnd len="med" w="med" type="none"/>
            <a:tailEnd len="med" w="med" type="none"/>
          </a:ln>
        </p:spPr>
      </p:cxnSp>
      <p:cxnSp>
        <p:nvCxnSpPr>
          <p:cNvPr id="219" name="Google Shape;219;p14"/>
          <p:cNvCxnSpPr/>
          <p:nvPr/>
        </p:nvCxnSpPr>
        <p:spPr>
          <a:xfrm rot="10800000">
            <a:off x="5664771" y="8781789"/>
            <a:ext cx="187200" cy="7800"/>
          </a:xfrm>
          <a:prstGeom prst="straightConnector1">
            <a:avLst/>
          </a:prstGeom>
          <a:noFill/>
          <a:ln cap="flat" cmpd="sng" w="19050">
            <a:solidFill>
              <a:srgbClr val="037B7D"/>
            </a:solidFill>
            <a:prstDash val="solid"/>
            <a:round/>
            <a:headEnd len="med" w="med" type="none"/>
            <a:tailEnd len="med" w="med" type="none"/>
          </a:ln>
        </p:spPr>
      </p:cxnSp>
      <p:cxnSp>
        <p:nvCxnSpPr>
          <p:cNvPr id="220" name="Google Shape;220;p14"/>
          <p:cNvCxnSpPr/>
          <p:nvPr/>
        </p:nvCxnSpPr>
        <p:spPr>
          <a:xfrm flipH="1">
            <a:off x="5595445" y="8780280"/>
            <a:ext cx="71100" cy="426900"/>
          </a:xfrm>
          <a:prstGeom prst="straightConnector1">
            <a:avLst/>
          </a:prstGeom>
          <a:noFill/>
          <a:ln cap="flat" cmpd="sng" w="19050">
            <a:solidFill>
              <a:srgbClr val="037B7D"/>
            </a:solidFill>
            <a:prstDash val="solid"/>
            <a:round/>
            <a:headEnd len="med" w="med" type="none"/>
            <a:tailEnd len="med" w="med" type="none"/>
          </a:ln>
        </p:spPr>
      </p:cxnSp>
      <p:cxnSp>
        <p:nvCxnSpPr>
          <p:cNvPr id="221" name="Google Shape;221;p14"/>
          <p:cNvCxnSpPr/>
          <p:nvPr/>
        </p:nvCxnSpPr>
        <p:spPr>
          <a:xfrm>
            <a:off x="5591385" y="9204604"/>
            <a:ext cx="343800" cy="10200"/>
          </a:xfrm>
          <a:prstGeom prst="straightConnector1">
            <a:avLst/>
          </a:prstGeom>
          <a:noFill/>
          <a:ln cap="flat" cmpd="sng" w="19050">
            <a:solidFill>
              <a:srgbClr val="037B7D"/>
            </a:solidFill>
            <a:prstDash val="solid"/>
            <a:round/>
            <a:headEnd len="med" w="med" type="none"/>
            <a:tailEnd len="med" w="med" type="none"/>
          </a:ln>
        </p:spPr>
      </p:cxnSp>
      <p:cxnSp>
        <p:nvCxnSpPr>
          <p:cNvPr id="222" name="Google Shape;222;p14"/>
          <p:cNvCxnSpPr/>
          <p:nvPr/>
        </p:nvCxnSpPr>
        <p:spPr>
          <a:xfrm flipH="1">
            <a:off x="5510910" y="9213290"/>
            <a:ext cx="426000" cy="325800"/>
          </a:xfrm>
          <a:prstGeom prst="straightConnector1">
            <a:avLst/>
          </a:prstGeom>
          <a:noFill/>
          <a:ln cap="flat" cmpd="sng" w="19050">
            <a:solidFill>
              <a:srgbClr val="037B7D"/>
            </a:solidFill>
            <a:prstDash val="solid"/>
            <a:round/>
            <a:headEnd len="med" w="med" type="none"/>
            <a:tailEnd len="med" w="med" type="none"/>
          </a:ln>
        </p:spPr>
      </p:cxnSp>
      <p:cxnSp>
        <p:nvCxnSpPr>
          <p:cNvPr id="223" name="Google Shape;223;p14"/>
          <p:cNvCxnSpPr/>
          <p:nvPr/>
        </p:nvCxnSpPr>
        <p:spPr>
          <a:xfrm flipH="1" rot="10800000">
            <a:off x="5515132" y="9341220"/>
            <a:ext cx="1010400" cy="198300"/>
          </a:xfrm>
          <a:prstGeom prst="straightConnector1">
            <a:avLst/>
          </a:prstGeom>
          <a:noFill/>
          <a:ln cap="flat" cmpd="sng" w="19050">
            <a:solidFill>
              <a:srgbClr val="037B7D"/>
            </a:solidFill>
            <a:prstDash val="solid"/>
            <a:round/>
            <a:headEnd len="med" w="med" type="none"/>
            <a:tailEnd len="med" w="med" type="none"/>
          </a:ln>
        </p:spPr>
      </p:cxnSp>
      <p:cxnSp>
        <p:nvCxnSpPr>
          <p:cNvPr id="224" name="Google Shape;224;p14"/>
          <p:cNvCxnSpPr/>
          <p:nvPr/>
        </p:nvCxnSpPr>
        <p:spPr>
          <a:xfrm rot="10800000">
            <a:off x="6425395" y="9222628"/>
            <a:ext cx="99300" cy="120000"/>
          </a:xfrm>
          <a:prstGeom prst="straightConnector1">
            <a:avLst/>
          </a:prstGeom>
          <a:noFill/>
          <a:ln cap="flat" cmpd="sng" w="19050">
            <a:solidFill>
              <a:srgbClr val="037B7D"/>
            </a:solidFill>
            <a:prstDash val="solid"/>
            <a:round/>
            <a:headEnd len="med" w="med" type="none"/>
            <a:tailEnd len="med" w="med" type="none"/>
          </a:ln>
        </p:spPr>
      </p:cxnSp>
      <p:cxnSp>
        <p:nvCxnSpPr>
          <p:cNvPr id="225" name="Google Shape;225;p14"/>
          <p:cNvCxnSpPr/>
          <p:nvPr/>
        </p:nvCxnSpPr>
        <p:spPr>
          <a:xfrm flipH="1" rot="10800000">
            <a:off x="6426256" y="8948840"/>
            <a:ext cx="133500" cy="279900"/>
          </a:xfrm>
          <a:prstGeom prst="straightConnector1">
            <a:avLst/>
          </a:prstGeom>
          <a:noFill/>
          <a:ln cap="flat" cmpd="sng" w="19050">
            <a:solidFill>
              <a:srgbClr val="037B7D"/>
            </a:solidFill>
            <a:prstDash val="solid"/>
            <a:round/>
            <a:headEnd len="med" w="med" type="none"/>
            <a:tailEnd len="med" w="med" type="none"/>
          </a:ln>
        </p:spPr>
      </p:cxnSp>
      <p:cxnSp>
        <p:nvCxnSpPr>
          <p:cNvPr id="226" name="Google Shape;226;p14"/>
          <p:cNvCxnSpPr/>
          <p:nvPr/>
        </p:nvCxnSpPr>
        <p:spPr>
          <a:xfrm rot="10800000">
            <a:off x="6354376" y="8875004"/>
            <a:ext cx="207000" cy="77700"/>
          </a:xfrm>
          <a:prstGeom prst="straightConnector1">
            <a:avLst/>
          </a:prstGeom>
          <a:noFill/>
          <a:ln cap="flat" cmpd="sng" w="19050">
            <a:solidFill>
              <a:srgbClr val="037B7D"/>
            </a:solidFill>
            <a:prstDash val="solid"/>
            <a:round/>
            <a:headEnd len="med" w="med" type="none"/>
            <a:tailEnd len="med" w="med" type="none"/>
          </a:ln>
        </p:spPr>
      </p:cxnSp>
      <p:cxnSp>
        <p:nvCxnSpPr>
          <p:cNvPr id="227" name="Google Shape;227;p14"/>
          <p:cNvCxnSpPr/>
          <p:nvPr/>
        </p:nvCxnSpPr>
        <p:spPr>
          <a:xfrm rot="10800000">
            <a:off x="5953226" y="8142978"/>
            <a:ext cx="407400" cy="738300"/>
          </a:xfrm>
          <a:prstGeom prst="straightConnector1">
            <a:avLst/>
          </a:prstGeom>
          <a:noFill/>
          <a:ln cap="flat" cmpd="sng" w="19050">
            <a:solidFill>
              <a:srgbClr val="037B7D"/>
            </a:solidFill>
            <a:prstDash val="solid"/>
            <a:round/>
            <a:headEnd len="med" w="med" type="none"/>
            <a:tailEnd len="med" w="med" type="none"/>
          </a:ln>
        </p:spPr>
      </p:cxnSp>
      <p:cxnSp>
        <p:nvCxnSpPr>
          <p:cNvPr id="228" name="Google Shape;228;p14"/>
          <p:cNvCxnSpPr/>
          <p:nvPr/>
        </p:nvCxnSpPr>
        <p:spPr>
          <a:xfrm flipH="1">
            <a:off x="5850955" y="8142633"/>
            <a:ext cx="110700" cy="15900"/>
          </a:xfrm>
          <a:prstGeom prst="straightConnector1">
            <a:avLst/>
          </a:prstGeom>
          <a:noFill/>
          <a:ln cap="flat" cmpd="sng" w="19050">
            <a:solidFill>
              <a:srgbClr val="037B7D"/>
            </a:solidFill>
            <a:prstDash val="solid"/>
            <a:round/>
            <a:headEnd len="med" w="med" type="none"/>
            <a:tailEnd len="med" w="med" type="none"/>
          </a:ln>
        </p:spPr>
      </p:cxnSp>
      <p:cxnSp>
        <p:nvCxnSpPr>
          <p:cNvPr id="229" name="Google Shape;229;p14"/>
          <p:cNvCxnSpPr/>
          <p:nvPr/>
        </p:nvCxnSpPr>
        <p:spPr>
          <a:xfrm flipH="1" rot="10800000">
            <a:off x="5856259" y="7752601"/>
            <a:ext cx="205500" cy="403200"/>
          </a:xfrm>
          <a:prstGeom prst="straightConnector1">
            <a:avLst/>
          </a:prstGeom>
          <a:noFill/>
          <a:ln cap="flat" cmpd="sng" w="19050">
            <a:solidFill>
              <a:srgbClr val="037B7D"/>
            </a:solidFill>
            <a:prstDash val="solid"/>
            <a:round/>
            <a:headEnd len="med" w="med" type="none"/>
            <a:tailEnd len="med" w="med" type="none"/>
          </a:ln>
        </p:spPr>
      </p:cxnSp>
      <p:cxnSp>
        <p:nvCxnSpPr>
          <p:cNvPr id="230" name="Google Shape;230;p14"/>
          <p:cNvCxnSpPr/>
          <p:nvPr/>
        </p:nvCxnSpPr>
        <p:spPr>
          <a:xfrm rot="10800000">
            <a:off x="5756444" y="7717422"/>
            <a:ext cx="306900" cy="37500"/>
          </a:xfrm>
          <a:prstGeom prst="straightConnector1">
            <a:avLst/>
          </a:prstGeom>
          <a:noFill/>
          <a:ln cap="flat" cmpd="sng" w="19050">
            <a:solidFill>
              <a:srgbClr val="037B7D"/>
            </a:solidFill>
            <a:prstDash val="solid"/>
            <a:round/>
            <a:headEnd len="med" w="med" type="none"/>
            <a:tailEnd len="med" w="med" type="none"/>
          </a:ln>
        </p:spPr>
      </p:cxnSp>
      <p:cxnSp>
        <p:nvCxnSpPr>
          <p:cNvPr id="231" name="Google Shape;231;p14"/>
          <p:cNvCxnSpPr/>
          <p:nvPr/>
        </p:nvCxnSpPr>
        <p:spPr>
          <a:xfrm flipH="1" rot="10800000">
            <a:off x="5756132" y="7448949"/>
            <a:ext cx="129600" cy="272100"/>
          </a:xfrm>
          <a:prstGeom prst="straightConnector1">
            <a:avLst/>
          </a:prstGeom>
          <a:noFill/>
          <a:ln cap="flat" cmpd="sng" w="19050">
            <a:solidFill>
              <a:srgbClr val="037B7D"/>
            </a:solidFill>
            <a:prstDash val="solid"/>
            <a:round/>
            <a:headEnd len="med" w="med" type="none"/>
            <a:tailEnd len="med" w="med" type="none"/>
          </a:ln>
        </p:spPr>
      </p:cxnSp>
      <p:cxnSp>
        <p:nvCxnSpPr>
          <p:cNvPr id="232" name="Google Shape;232;p14"/>
          <p:cNvCxnSpPr/>
          <p:nvPr/>
        </p:nvCxnSpPr>
        <p:spPr>
          <a:xfrm flipH="1" rot="10800000">
            <a:off x="5271309" y="8350596"/>
            <a:ext cx="179100" cy="8100"/>
          </a:xfrm>
          <a:prstGeom prst="straightConnector1">
            <a:avLst/>
          </a:prstGeom>
          <a:noFill/>
          <a:ln cap="flat" cmpd="sng" w="19050">
            <a:solidFill>
              <a:srgbClr val="037B7D"/>
            </a:solidFill>
            <a:prstDash val="solid"/>
            <a:round/>
            <a:headEnd len="med" w="med" type="none"/>
            <a:tailEnd len="med" w="med" type="none"/>
          </a:ln>
        </p:spPr>
      </p:cxnSp>
      <p:cxnSp>
        <p:nvCxnSpPr>
          <p:cNvPr id="233" name="Google Shape;233;p14"/>
          <p:cNvCxnSpPr/>
          <p:nvPr/>
        </p:nvCxnSpPr>
        <p:spPr>
          <a:xfrm flipH="1">
            <a:off x="5148696" y="8357423"/>
            <a:ext cx="123900" cy="186900"/>
          </a:xfrm>
          <a:prstGeom prst="straightConnector1">
            <a:avLst/>
          </a:prstGeom>
          <a:noFill/>
          <a:ln cap="flat" cmpd="sng" w="19050">
            <a:solidFill>
              <a:srgbClr val="037B7D"/>
            </a:solidFill>
            <a:prstDash val="solid"/>
            <a:round/>
            <a:headEnd len="med" w="med" type="none"/>
            <a:tailEnd len="med" w="med" type="none"/>
          </a:ln>
        </p:spPr>
      </p:cxnSp>
      <p:cxnSp>
        <p:nvCxnSpPr>
          <p:cNvPr id="234" name="Google Shape;234;p14"/>
          <p:cNvCxnSpPr/>
          <p:nvPr/>
        </p:nvCxnSpPr>
        <p:spPr>
          <a:xfrm>
            <a:off x="5148776" y="8538575"/>
            <a:ext cx="97200" cy="115800"/>
          </a:xfrm>
          <a:prstGeom prst="straightConnector1">
            <a:avLst/>
          </a:prstGeom>
          <a:noFill/>
          <a:ln cap="flat" cmpd="sng" w="19050">
            <a:solidFill>
              <a:srgbClr val="037B7D"/>
            </a:solidFill>
            <a:prstDash val="solid"/>
            <a:round/>
            <a:headEnd len="med" w="med" type="none"/>
            <a:tailEnd len="med" w="med" type="none"/>
          </a:ln>
        </p:spPr>
      </p:cxnSp>
      <p:cxnSp>
        <p:nvCxnSpPr>
          <p:cNvPr id="235" name="Google Shape;235;p14"/>
          <p:cNvCxnSpPr/>
          <p:nvPr/>
        </p:nvCxnSpPr>
        <p:spPr>
          <a:xfrm flipH="1" rot="10800000">
            <a:off x="5241987" y="8567332"/>
            <a:ext cx="77100" cy="85200"/>
          </a:xfrm>
          <a:prstGeom prst="straightConnector1">
            <a:avLst/>
          </a:prstGeom>
          <a:noFill/>
          <a:ln cap="flat" cmpd="sng" w="19050">
            <a:solidFill>
              <a:srgbClr val="037B7D"/>
            </a:solidFill>
            <a:prstDash val="solid"/>
            <a:round/>
            <a:headEnd len="med" w="med" type="none"/>
            <a:tailEnd len="med" w="med" type="none"/>
          </a:ln>
        </p:spPr>
      </p:cxnSp>
      <p:cxnSp>
        <p:nvCxnSpPr>
          <p:cNvPr id="236" name="Google Shape;236;p14"/>
          <p:cNvCxnSpPr/>
          <p:nvPr/>
        </p:nvCxnSpPr>
        <p:spPr>
          <a:xfrm>
            <a:off x="5316303" y="8568561"/>
            <a:ext cx="117900" cy="124500"/>
          </a:xfrm>
          <a:prstGeom prst="straightConnector1">
            <a:avLst/>
          </a:prstGeom>
          <a:noFill/>
          <a:ln cap="flat" cmpd="sng" w="19050">
            <a:solidFill>
              <a:srgbClr val="037B7D"/>
            </a:solidFill>
            <a:prstDash val="solid"/>
            <a:round/>
            <a:headEnd len="med" w="med" type="none"/>
            <a:tailEnd len="med" w="med" type="none"/>
          </a:ln>
        </p:spPr>
      </p:cxnSp>
      <p:cxnSp>
        <p:nvCxnSpPr>
          <p:cNvPr id="237" name="Google Shape;237;p14"/>
          <p:cNvCxnSpPr/>
          <p:nvPr/>
        </p:nvCxnSpPr>
        <p:spPr>
          <a:xfrm flipH="1" rot="10800000">
            <a:off x="5429404" y="8544463"/>
            <a:ext cx="127200" cy="151500"/>
          </a:xfrm>
          <a:prstGeom prst="straightConnector1">
            <a:avLst/>
          </a:prstGeom>
          <a:noFill/>
          <a:ln cap="flat" cmpd="sng" w="19050">
            <a:solidFill>
              <a:srgbClr val="037B7D"/>
            </a:solidFill>
            <a:prstDash val="solid"/>
            <a:round/>
            <a:headEnd len="med" w="med" type="none"/>
            <a:tailEnd len="med" w="med" type="none"/>
          </a:ln>
        </p:spPr>
      </p:cxnSp>
      <p:cxnSp>
        <p:nvCxnSpPr>
          <p:cNvPr id="238" name="Google Shape;238;p14"/>
          <p:cNvCxnSpPr/>
          <p:nvPr/>
        </p:nvCxnSpPr>
        <p:spPr>
          <a:xfrm rot="10800000">
            <a:off x="5448479" y="8348537"/>
            <a:ext cx="107400" cy="202500"/>
          </a:xfrm>
          <a:prstGeom prst="straightConnector1">
            <a:avLst/>
          </a:prstGeom>
          <a:noFill/>
          <a:ln cap="flat" cmpd="sng" w="19050">
            <a:solidFill>
              <a:srgbClr val="037B7D"/>
            </a:solidFill>
            <a:prstDash val="solid"/>
            <a:round/>
            <a:headEnd len="med" w="med" type="none"/>
            <a:tailEnd len="med" w="med" type="none"/>
          </a:ln>
        </p:spPr>
      </p:cxnSp>
      <p:cxnSp>
        <p:nvCxnSpPr>
          <p:cNvPr id="239" name="Google Shape;239;p14"/>
          <p:cNvCxnSpPr/>
          <p:nvPr/>
        </p:nvCxnSpPr>
        <p:spPr>
          <a:xfrm flipH="1" rot="10800000">
            <a:off x="5364285" y="7308519"/>
            <a:ext cx="660000" cy="108900"/>
          </a:xfrm>
          <a:prstGeom prst="straightConnector1">
            <a:avLst/>
          </a:prstGeom>
          <a:noFill/>
          <a:ln cap="flat" cmpd="sng" w="28575">
            <a:solidFill>
              <a:srgbClr val="000000"/>
            </a:solidFill>
            <a:prstDash val="solid"/>
            <a:round/>
            <a:headEnd len="med" w="med" type="stealth"/>
            <a:tailEnd len="med" w="med" type="stealth"/>
          </a:ln>
        </p:spPr>
      </p:cxnSp>
      <p:cxnSp>
        <p:nvCxnSpPr>
          <p:cNvPr id="240" name="Google Shape;240;p14"/>
          <p:cNvCxnSpPr/>
          <p:nvPr/>
        </p:nvCxnSpPr>
        <p:spPr>
          <a:xfrm>
            <a:off x="6128422" y="7397516"/>
            <a:ext cx="316800" cy="1983600"/>
          </a:xfrm>
          <a:prstGeom prst="straightConnector1">
            <a:avLst/>
          </a:prstGeom>
          <a:noFill/>
          <a:ln cap="flat" cmpd="sng" w="28575">
            <a:solidFill>
              <a:srgbClr val="000000"/>
            </a:solidFill>
            <a:prstDash val="solid"/>
            <a:round/>
            <a:headEnd len="med" w="med" type="stealth"/>
            <a:tailEnd len="med" w="med" type="stealth"/>
          </a:ln>
        </p:spPr>
      </p:cxnSp>
      <p:cxnSp>
        <p:nvCxnSpPr>
          <p:cNvPr id="241" name="Google Shape;241;p14"/>
          <p:cNvCxnSpPr/>
          <p:nvPr/>
        </p:nvCxnSpPr>
        <p:spPr>
          <a:xfrm>
            <a:off x="5161805" y="8728709"/>
            <a:ext cx="303000" cy="0"/>
          </a:xfrm>
          <a:prstGeom prst="straightConnector1">
            <a:avLst/>
          </a:prstGeom>
          <a:noFill/>
          <a:ln cap="flat" cmpd="sng" w="28575">
            <a:solidFill>
              <a:srgbClr val="000000"/>
            </a:solidFill>
            <a:prstDash val="solid"/>
            <a:round/>
            <a:headEnd len="med" w="med" type="stealth"/>
            <a:tailEnd len="med" w="med" type="stealth"/>
          </a:ln>
        </p:spPr>
      </p:cxnSp>
      <p:cxnSp>
        <p:nvCxnSpPr>
          <p:cNvPr id="242" name="Google Shape;242;p14"/>
          <p:cNvCxnSpPr/>
          <p:nvPr/>
        </p:nvCxnSpPr>
        <p:spPr>
          <a:xfrm rot="10800000">
            <a:off x="5080543" y="8362480"/>
            <a:ext cx="0" cy="284700"/>
          </a:xfrm>
          <a:prstGeom prst="straightConnector1">
            <a:avLst/>
          </a:prstGeom>
          <a:noFill/>
          <a:ln cap="flat" cmpd="sng" w="28575">
            <a:solidFill>
              <a:srgbClr val="000000"/>
            </a:solidFill>
            <a:prstDash val="solid"/>
            <a:round/>
            <a:headEnd len="med" w="med" type="stealth"/>
            <a:tailEnd len="med" w="med" type="stealth"/>
          </a:ln>
        </p:spPr>
      </p:cxnSp>
      <p:sp>
        <p:nvSpPr>
          <p:cNvPr id="243" name="Google Shape;243;p14"/>
          <p:cNvSpPr txBox="1"/>
          <p:nvPr/>
        </p:nvSpPr>
        <p:spPr>
          <a:xfrm>
            <a:off x="5401472" y="7116694"/>
            <a:ext cx="633900" cy="245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220 km</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44" name="Google Shape;244;p14"/>
          <p:cNvSpPr txBox="1"/>
          <p:nvPr/>
        </p:nvSpPr>
        <p:spPr>
          <a:xfrm>
            <a:off x="6302630" y="8079161"/>
            <a:ext cx="789300" cy="245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1000 km</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45" name="Google Shape;245;p14"/>
          <p:cNvSpPr txBox="1"/>
          <p:nvPr/>
        </p:nvSpPr>
        <p:spPr>
          <a:xfrm>
            <a:off x="5188945" y="8759402"/>
            <a:ext cx="343800" cy="2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200">
                <a:latin typeface="Lexend"/>
                <a:ea typeface="Lexend"/>
                <a:cs typeface="Lexend"/>
                <a:sym typeface="Lexend"/>
              </a:rPr>
              <a:t>150 km</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46" name="Google Shape;246;p14"/>
          <p:cNvSpPr txBox="1"/>
          <p:nvPr/>
        </p:nvSpPr>
        <p:spPr>
          <a:xfrm>
            <a:off x="4665559" y="8361852"/>
            <a:ext cx="368700" cy="2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200">
                <a:latin typeface="Lexend"/>
                <a:ea typeface="Lexend"/>
                <a:cs typeface="Lexend"/>
                <a:sym typeface="Lexend"/>
              </a:rPr>
              <a:t>100 km</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47" name="Google Shape;247;p14"/>
          <p:cNvSpPr/>
          <p:nvPr/>
        </p:nvSpPr>
        <p:spPr>
          <a:xfrm rot="-539228">
            <a:off x="5533754" y="7430948"/>
            <a:ext cx="677923" cy="2037713"/>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8" name="Google Shape;248;p14"/>
          <p:cNvSpPr/>
          <p:nvPr/>
        </p:nvSpPr>
        <p:spPr>
          <a:xfrm>
            <a:off x="5154129" y="8363025"/>
            <a:ext cx="343800" cy="283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9" name="Google Shape;249;p14"/>
          <p:cNvSpPr txBox="1"/>
          <p:nvPr/>
        </p:nvSpPr>
        <p:spPr>
          <a:xfrm>
            <a:off x="468050" y="7874350"/>
            <a:ext cx="3822900" cy="30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220 × 1000 + 150 × 100 = 235 000 km</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50" name="Google Shape;250;p14"/>
          <p:cNvSpPr txBox="1"/>
          <p:nvPr/>
        </p:nvSpPr>
        <p:spPr>
          <a:xfrm>
            <a:off x="468050" y="8399591"/>
            <a:ext cx="3852900" cy="30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The tricky bit is changing m</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to km</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51" name="Google Shape;251;p14"/>
          <p:cNvSpPr txBox="1"/>
          <p:nvPr/>
        </p:nvSpPr>
        <p:spPr>
          <a:xfrm>
            <a:off x="472575" y="8670645"/>
            <a:ext cx="3822900" cy="30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1 km</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1000 × 1000 = 1 000 000 m</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252" name="Google Shape;252;p14"/>
          <p:cNvSpPr txBox="1"/>
          <p:nvPr/>
        </p:nvSpPr>
        <p:spPr>
          <a:xfrm>
            <a:off x="472575" y="8942404"/>
            <a:ext cx="3822900" cy="30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So cars take up 300 km</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300}{235000}=0.00127...\ =\ 0.13\%&quot;&gt;&lt;mfrac&gt;&lt;mn&gt;300&lt;/mn&gt;&lt;mn&gt;235000&lt;/mn&gt;&lt;/mfrac&gt;&lt;mo&gt;=&lt;/mo&gt;&lt;mn&gt;0.00127&lt;/mn&gt;&lt;mo&gt;.&lt;/mo&gt;&lt;mo&gt;.&lt;/mo&gt;&lt;mo&gt;.&lt;/mo&gt;&lt;mtext&gt;&lt;/mtext&gt;&lt;mo&gt;=&lt;/mo&gt;&lt;mtext&gt;&lt;/mtext&gt;&lt;mn&gt;0.13&lt;/mn&gt;&lt;mi mathvariant=&quot;normal&quot;&gt;%&lt;/mi&gt;&lt;/math&gt;" id="253" name="Google Shape;253;p14" title="300 over 235000 equals 0.00127 period period period equals 0.13 percent sign"/>
          <p:cNvPicPr preferRelativeResize="0"/>
          <p:nvPr/>
        </p:nvPicPr>
        <p:blipFill>
          <a:blip r:embed="rId3">
            <a:alphaModFix/>
          </a:blip>
          <a:stretch>
            <a:fillRect/>
          </a:stretch>
        </p:blipFill>
        <p:spPr>
          <a:xfrm>
            <a:off x="472575" y="9233794"/>
            <a:ext cx="2181487" cy="358271"/>
          </a:xfrm>
          <a:prstGeom prst="rect">
            <a:avLst/>
          </a:prstGeom>
          <a:noFill/>
          <a:ln>
            <a:noFill/>
          </a:ln>
        </p:spPr>
      </p:pic>
      <p:sp>
        <p:nvSpPr>
          <p:cNvPr id="254" name="Google Shape;254;p14"/>
          <p:cNvSpPr txBox="1"/>
          <p:nvPr/>
        </p:nvSpPr>
        <p:spPr>
          <a:xfrm>
            <a:off x="482978" y="9643509"/>
            <a:ext cx="5871300" cy="300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200">
                <a:solidFill>
                  <a:srgbClr val="000000"/>
                </a:solidFill>
                <a:latin typeface="Kalam"/>
                <a:ea typeface="Kalam"/>
                <a:cs typeface="Kalam"/>
                <a:sym typeface="Kalam"/>
              </a:rPr>
              <a:t>The article’s claim seems to be a massive over exaggeration.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Answers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