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2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AFA74E-A8D8-4ED3-82F3-7211547E49B6}">
  <a:tblStyle styleId="{10AFA74E-A8D8-4ED3-82F3-7211547E49B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 name="Google Shape;85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2f4b0266b0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2f4b0266b0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f4b0266b08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f4b0266b08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f4b0266b08_0_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2f4b0266b08_0_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f4b0266b08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2f4b0266b08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2f4b0266b08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2f4b0266b08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2f4b0266b08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2f4b0266b08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2f4b0266b08_0_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2f4b0266b08_0_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2f4b0266b08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2f4b0266b08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2f4b0266b08_0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2f4b0266b08_0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f4b0266b08_0_1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2f4b0266b08_0_1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2f4b0266b08_0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2f4b0266b08_0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f4b0266b08_0_10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f4b0266b08_0_10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f4b0266b08_0_1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2f4b0266b08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f4b0266b08_0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2f4b0266b08_0_1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2f4b0266b08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2f4b0266b08_0_1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2f4b0266b08_0_1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2f4b0266b08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2f4b0266b08_0_1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2f4b0266b08_0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2f4b0266b08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2f4b0266b08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f4b0266b08_0_1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f4b0266b08_0_1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2f4b0266b08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2f4b0266b08_0_1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2f4b0266b08_0_1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2f4b0266b08_0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2f4b0266b08_0_1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2f4b0266b08_0_1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2f4b0266b08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2f4b0266b08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2f4b0266b08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2f4b0266b08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g2f4b0266b08_0_1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6" name="Google Shape;1336;g2f4b0266b08_0_1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g2f4b0266b08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7" name="Google Shape;1357;g2f4b0266b08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2f4b0266b08_0_1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2f4b0266b08_0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2f4b0266b08_0_1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2f4b0266b08_0_1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2f4b0266b08_0_1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2f4b0266b08_0_1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2f4b0266b08_0_1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2f4b0266b08_0_1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2f4b0266b08_0_1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2f4b0266b08_0_1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2f4b0266b08_0_1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2f4b0266b08_0_1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2f4b0266b08_0_1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2f4b0266b08_0_1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2f4b0266b08_0_1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2f4b0266b08_0_1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4" name="Shape 1514"/>
        <p:cNvGrpSpPr/>
        <p:nvPr/>
      </p:nvGrpSpPr>
      <p:grpSpPr>
        <a:xfrm>
          <a:off x="0" y="0"/>
          <a:ext cx="0" cy="0"/>
          <a:chOff x="0" y="0"/>
          <a:chExt cx="0" cy="0"/>
        </a:xfrm>
      </p:grpSpPr>
      <p:sp>
        <p:nvSpPr>
          <p:cNvPr id="1515" name="Google Shape;1515;g2f4b0266b08_0_1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6" name="Google Shape;1516;g2f4b0266b08_0_1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2f4b0266b08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2f4b0266b08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2f4b0266b08_0_1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9" name="Google Shape;1539;g2f4b0266b08_0_1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2" name="Shape 1562"/>
        <p:cNvGrpSpPr/>
        <p:nvPr/>
      </p:nvGrpSpPr>
      <p:grpSpPr>
        <a:xfrm>
          <a:off x="0" y="0"/>
          <a:ext cx="0" cy="0"/>
          <a:chOff x="0" y="0"/>
          <a:chExt cx="0" cy="0"/>
        </a:xfrm>
      </p:grpSpPr>
      <p:sp>
        <p:nvSpPr>
          <p:cNvPr id="1563" name="Google Shape;1563;g2f4b0266b08_0_1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4" name="Google Shape;1564;g2f4b0266b08_0_1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2f4b0266b08_0_1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2f4b0266b08_0_1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2f4b0266b08_0_1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2f4b0266b08_0_1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2f4b0266b08_0_1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2f4b0266b08_0_1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2f4b0266b08_0_1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2f4b0266b08_0_1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2f4b0266b08_0_1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6" name="Google Shape;1626;g2f4b0266b08_0_1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2f4b0266b08_0_1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2f4b0266b08_0_1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g2f4b0266b08_0_1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7" name="Google Shape;1657;g2f4b0266b08_0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8" name="Shape 1678"/>
        <p:cNvGrpSpPr/>
        <p:nvPr/>
      </p:nvGrpSpPr>
      <p:grpSpPr>
        <a:xfrm>
          <a:off x="0" y="0"/>
          <a:ext cx="0" cy="0"/>
          <a:chOff x="0" y="0"/>
          <a:chExt cx="0" cy="0"/>
        </a:xfrm>
      </p:grpSpPr>
      <p:sp>
        <p:nvSpPr>
          <p:cNvPr id="1679" name="Google Shape;1679;g2f4b0266b08_0_1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0" name="Google Shape;1680;g2f4b0266b08_0_1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2f4b0266b08_0_1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2f4b0266b08_0_1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2f4b0266b08_0_1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6" name="Google Shape;1706;g2f4b0266b08_0_1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g2f4b0266b08_0_2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6" name="Google Shape;1716;g2f4b0266b08_0_2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2f4b0266b08_0_1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7" name="Google Shape;1727;g2f4b0266b08_0_1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g2f4b0266b08_0_2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6" name="Google Shape;1766;g2f4b0266b08_0_2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2f4b0266b08_0_1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0" name="Google Shape;1780;g2f4b0266b08_0_1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2f4b0266b08_0_2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3" name="Google Shape;1823;g2f4b0266b08_0_2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9" name="Shape 1859"/>
        <p:cNvGrpSpPr/>
        <p:nvPr/>
      </p:nvGrpSpPr>
      <p:grpSpPr>
        <a:xfrm>
          <a:off x="0" y="0"/>
          <a:ext cx="0" cy="0"/>
          <a:chOff x="0" y="0"/>
          <a:chExt cx="0" cy="0"/>
        </a:xfrm>
      </p:grpSpPr>
      <p:sp>
        <p:nvSpPr>
          <p:cNvPr id="1860" name="Google Shape;1860;g2f4b0266b08_0_2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1" name="Google Shape;1861;g2f4b0266b08_0_2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g2f4b0266b08_0_2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2" name="Google Shape;1872;g2f4b0266b08_0_2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6" name="Shape 1886"/>
        <p:cNvGrpSpPr/>
        <p:nvPr/>
      </p:nvGrpSpPr>
      <p:grpSpPr>
        <a:xfrm>
          <a:off x="0" y="0"/>
          <a:ext cx="0" cy="0"/>
          <a:chOff x="0" y="0"/>
          <a:chExt cx="0" cy="0"/>
        </a:xfrm>
      </p:grpSpPr>
      <p:sp>
        <p:nvSpPr>
          <p:cNvPr id="1887" name="Google Shape;1887;g2f4b0266b08_0_2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8" name="Google Shape;1888;g2f4b0266b08_0_2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4" name="Google Shape;190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8" name="Shape 1908"/>
        <p:cNvGrpSpPr/>
        <p:nvPr/>
      </p:nvGrpSpPr>
      <p:grpSpPr>
        <a:xfrm>
          <a:off x="0" y="0"/>
          <a:ext cx="0" cy="0"/>
          <a:chOff x="0" y="0"/>
          <a:chExt cx="0" cy="0"/>
        </a:xfrm>
      </p:grpSpPr>
      <p:sp>
        <p:nvSpPr>
          <p:cNvPr id="1909" name="Google Shape;1909;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0" name="Google Shape;1910;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7.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png"/><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2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40.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43.png"/><Relationship Id="rId7" Type="http://schemas.openxmlformats.org/officeDocument/2006/relationships/image" Target="../media/image3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8.png"/><Relationship Id="rId4" Type="http://schemas.openxmlformats.org/officeDocument/2006/relationships/image" Target="../media/image82.png"/><Relationship Id="rId5" Type="http://schemas.openxmlformats.org/officeDocument/2006/relationships/image" Target="../media/image41.png"/><Relationship Id="rId6" Type="http://schemas.openxmlformats.org/officeDocument/2006/relationships/image" Target="../media/image37.png"/><Relationship Id="rId7" Type="http://schemas.openxmlformats.org/officeDocument/2006/relationships/image" Target="../media/image3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82.png"/><Relationship Id="rId4" Type="http://schemas.openxmlformats.org/officeDocument/2006/relationships/image" Target="../media/image42.png"/><Relationship Id="rId9" Type="http://schemas.openxmlformats.org/officeDocument/2006/relationships/image" Target="../media/image32.png"/><Relationship Id="rId5" Type="http://schemas.openxmlformats.org/officeDocument/2006/relationships/image" Target="../media/image38.png"/><Relationship Id="rId6" Type="http://schemas.openxmlformats.org/officeDocument/2006/relationships/image" Target="../media/image47.png"/><Relationship Id="rId7" Type="http://schemas.openxmlformats.org/officeDocument/2006/relationships/image" Target="../media/image41.png"/><Relationship Id="rId8" Type="http://schemas.openxmlformats.org/officeDocument/2006/relationships/image" Target="../media/image3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82.png"/><Relationship Id="rId4" Type="http://schemas.openxmlformats.org/officeDocument/2006/relationships/image" Target="../media/image51.png"/><Relationship Id="rId11" Type="http://schemas.openxmlformats.org/officeDocument/2006/relationships/image" Target="../media/image32.png"/><Relationship Id="rId10" Type="http://schemas.openxmlformats.org/officeDocument/2006/relationships/image" Target="../media/image50.png"/><Relationship Id="rId9" Type="http://schemas.openxmlformats.org/officeDocument/2006/relationships/image" Target="../media/image37.png"/><Relationship Id="rId5" Type="http://schemas.openxmlformats.org/officeDocument/2006/relationships/image" Target="../media/image42.png"/><Relationship Id="rId6" Type="http://schemas.openxmlformats.org/officeDocument/2006/relationships/image" Target="../media/image38.png"/><Relationship Id="rId7" Type="http://schemas.openxmlformats.org/officeDocument/2006/relationships/image" Target="../media/image47.png"/><Relationship Id="rId8" Type="http://schemas.openxmlformats.org/officeDocument/2006/relationships/image" Target="../media/image4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4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8.png"/><Relationship Id="rId4" Type="http://schemas.openxmlformats.org/officeDocument/2006/relationships/image" Target="../media/image56.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9.png"/><Relationship Id="rId4" Type="http://schemas.openxmlformats.org/officeDocument/2006/relationships/image" Target="../media/image5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5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 Id="rId4" Type="http://schemas.openxmlformats.org/officeDocument/2006/relationships/image" Target="../media/image6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5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5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5.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5.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9.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6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69.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69.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 name="Google Shape;11;p2"/>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2" name="Google Shape;12;p2"/>
          <p:cNvGrpSpPr/>
          <p:nvPr/>
        </p:nvGrpSpPr>
        <p:grpSpPr>
          <a:xfrm>
            <a:off x="6156975" y="0"/>
            <a:ext cx="2987025" cy="3854074"/>
            <a:chOff x="6156975" y="0"/>
            <a:chExt cx="2987025" cy="3854074"/>
          </a:xfrm>
        </p:grpSpPr>
        <p:pic>
          <p:nvPicPr>
            <p:cNvPr id="13" name="Google Shape;13;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4" name="Google Shape;14;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5" name="Google Shape;15;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6" name="Google Shape;16;p2"/>
          <p:cNvPicPr preferRelativeResize="0"/>
          <p:nvPr/>
        </p:nvPicPr>
        <p:blipFill rotWithShape="1">
          <a:blip r:embed="rId5">
            <a:alphaModFix/>
          </a:blip>
          <a:srcRect b="0" l="6209" r="6209" t="0"/>
          <a:stretch/>
        </p:blipFill>
        <p:spPr>
          <a:xfrm>
            <a:off x="324000" y="4008600"/>
            <a:ext cx="1705150" cy="128000"/>
          </a:xfrm>
          <a:prstGeom prst="rect">
            <a:avLst/>
          </a:prstGeom>
          <a:noFill/>
          <a:ln>
            <a:noFill/>
          </a:ln>
        </p:spPr>
      </p:pic>
      <p:sp>
        <p:nvSpPr>
          <p:cNvPr id="17" name="Google Shape;17;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Art and design</a:t>
            </a:r>
            <a:endParaRPr b="1" sz="1700">
              <a:latin typeface="Lexend"/>
              <a:ea typeface="Lexend"/>
              <a:cs typeface="Lexend"/>
              <a:sym typeface="Lexend"/>
            </a:endParaRPr>
          </a:p>
        </p:txBody>
      </p:sp>
      <p:sp>
        <p:nvSpPr>
          <p:cNvPr id="18" name="Google Shape;18;p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 name="Google Shape;19;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Citizenship</a:t>
            </a:r>
            <a:endParaRPr b="1" sz="1700">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Computing</a:t>
            </a:r>
            <a:endParaRPr b="1" sz="1700">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55" name="Google Shape;55;p6"/>
          <p:cNvPicPr preferRelativeResize="0"/>
          <p:nvPr/>
        </p:nvPicPr>
        <p:blipFill>
          <a:blip r:embed="rId5">
            <a:alphaModFix/>
          </a:blip>
          <a:stretch>
            <a:fillRect/>
          </a:stretch>
        </p:blipFill>
        <p:spPr>
          <a:xfrm rot="-359982">
            <a:off x="6923956" y="1273792"/>
            <a:ext cx="1784155" cy="1404547"/>
          </a:xfrm>
          <a:prstGeom prst="rect">
            <a:avLst/>
          </a:prstGeom>
          <a:noFill/>
          <a:ln>
            <a:noFill/>
          </a:ln>
        </p:spPr>
      </p:pic>
      <p:sp>
        <p:nvSpPr>
          <p:cNvPr id="56" name="Google Shape;56;p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57" name="Google Shape;57;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 name="Google Shape;61;p7"/>
          <p:cNvSpPr txBox="1"/>
          <p:nvPr/>
        </p:nvSpPr>
        <p:spPr>
          <a:xfrm>
            <a:off x="323850" y="3781525"/>
            <a:ext cx="27060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Design and technology</a:t>
            </a:r>
            <a:endParaRPr b="1" sz="1700">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66" name="Google Shape;66;p7"/>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67" name="Google Shape;67;p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68" name="Google Shape;68;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1" name="Google Shape;71;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72" name="Google Shape;72;p8"/>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74" name="Google Shape;74;p8"/>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75" name="Google Shape;75;p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76" name="Google Shape;76;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77" name="Shape 77"/>
        <p:cNvGrpSpPr/>
        <p:nvPr/>
      </p:nvGrpSpPr>
      <p:grpSpPr>
        <a:xfrm>
          <a:off x="0" y="0"/>
          <a:ext cx="0" cy="0"/>
          <a:chOff x="0" y="0"/>
          <a:chExt cx="0" cy="0"/>
        </a:xfrm>
      </p:grpSpPr>
      <p:pic>
        <p:nvPicPr>
          <p:cNvPr id="78" name="Google Shape;78;p9"/>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79" name="Google Shape;79;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0" name="Google Shape;80;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French</a:t>
            </a:r>
            <a:endParaRPr b="1" sz="1700">
              <a:latin typeface="Lexend"/>
              <a:ea typeface="Lexend"/>
              <a:cs typeface="Lexend"/>
              <a:sym typeface="Lexend"/>
            </a:endParaRPr>
          </a:p>
        </p:txBody>
      </p:sp>
      <p:pic>
        <p:nvPicPr>
          <p:cNvPr id="81" name="Google Shape;81;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82" name="Google Shape;82;p9"/>
          <p:cNvGrpSpPr/>
          <p:nvPr/>
        </p:nvGrpSpPr>
        <p:grpSpPr>
          <a:xfrm>
            <a:off x="6156975" y="0"/>
            <a:ext cx="2987025" cy="3854074"/>
            <a:chOff x="6156975" y="0"/>
            <a:chExt cx="2987025" cy="3854074"/>
          </a:xfrm>
        </p:grpSpPr>
        <p:pic>
          <p:nvPicPr>
            <p:cNvPr id="83" name="Google Shape;83;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4" name="Google Shape;84;p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85" name="Google Shape;85;p9"/>
          <p:cNvPicPr preferRelativeResize="0"/>
          <p:nvPr/>
        </p:nvPicPr>
        <p:blipFill>
          <a:blip r:embed="rId5">
            <a:alphaModFix/>
          </a:blip>
          <a:stretch>
            <a:fillRect/>
          </a:stretch>
        </p:blipFill>
        <p:spPr>
          <a:xfrm rot="-388119">
            <a:off x="6742284" y="969390"/>
            <a:ext cx="2161157" cy="1915295"/>
          </a:xfrm>
          <a:prstGeom prst="rect">
            <a:avLst/>
          </a:prstGeom>
          <a:noFill/>
          <a:ln>
            <a:noFill/>
          </a:ln>
        </p:spPr>
      </p:pic>
      <p:sp>
        <p:nvSpPr>
          <p:cNvPr id="86" name="Google Shape;86;p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0" name="Google Shape;90;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1" name="Google Shape;91;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pic>
        <p:nvPicPr>
          <p:cNvPr id="93" name="Google Shape;93;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4" name="Google Shape;94;p1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95" name="Google Shape;95;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96" name="Shape 96"/>
        <p:cNvGrpSpPr/>
        <p:nvPr/>
      </p:nvGrpSpPr>
      <p:grpSpPr>
        <a:xfrm>
          <a:off x="0" y="0"/>
          <a:ext cx="0" cy="0"/>
          <a:chOff x="0" y="0"/>
          <a:chExt cx="0" cy="0"/>
        </a:xfrm>
      </p:grpSpPr>
      <p:pic>
        <p:nvPicPr>
          <p:cNvPr id="97" name="Google Shape;97;p11"/>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98" name="Google Shape;98;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9" name="Google Shape;99;p1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German</a:t>
            </a:r>
            <a:endParaRPr b="1" sz="1700">
              <a:latin typeface="Lexend"/>
              <a:ea typeface="Lexend"/>
              <a:cs typeface="Lexend"/>
              <a:sym typeface="Lexend"/>
            </a:endParaRPr>
          </a:p>
        </p:txBody>
      </p:sp>
      <p:pic>
        <p:nvPicPr>
          <p:cNvPr id="100" name="Google Shape;100;p1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01" name="Google Shape;101;p11"/>
          <p:cNvGrpSpPr/>
          <p:nvPr/>
        </p:nvGrpSpPr>
        <p:grpSpPr>
          <a:xfrm>
            <a:off x="6156975" y="0"/>
            <a:ext cx="2987025" cy="3854074"/>
            <a:chOff x="6156975" y="0"/>
            <a:chExt cx="2987025" cy="3854074"/>
          </a:xfrm>
        </p:grpSpPr>
        <p:pic>
          <p:nvPicPr>
            <p:cNvPr id="102" name="Google Shape;102;p1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03" name="Google Shape;103;p1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04" name="Google Shape;104;p11"/>
          <p:cNvPicPr preferRelativeResize="0"/>
          <p:nvPr/>
        </p:nvPicPr>
        <p:blipFill>
          <a:blip r:embed="rId5">
            <a:alphaModFix/>
          </a:blip>
          <a:stretch>
            <a:fillRect/>
          </a:stretch>
        </p:blipFill>
        <p:spPr>
          <a:xfrm rot="-366027">
            <a:off x="6626180" y="831797"/>
            <a:ext cx="2331091" cy="2089577"/>
          </a:xfrm>
          <a:prstGeom prst="rect">
            <a:avLst/>
          </a:prstGeom>
          <a:noFill/>
          <a:ln>
            <a:noFill/>
          </a:ln>
        </p:spPr>
      </p:pic>
      <p:sp>
        <p:nvSpPr>
          <p:cNvPr id="105" name="Google Shape;105;p1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 name="Google Shape;115;p12"/>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16" name="Google Shape;116;p12"/>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17" name="Google Shape;117;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23" name="Google Shape;123;p1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24" name="Google Shape;124;p1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25" name="Google Shape;125;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26" name="Shape 126"/>
        <p:cNvGrpSpPr/>
        <p:nvPr/>
      </p:nvGrpSpPr>
      <p:grpSpPr>
        <a:xfrm>
          <a:off x="0" y="0"/>
          <a:ext cx="0" cy="0"/>
          <a:chOff x="0" y="0"/>
          <a:chExt cx="0" cy="0"/>
        </a:xfrm>
      </p:grpSpPr>
      <p:pic>
        <p:nvPicPr>
          <p:cNvPr id="127" name="Google Shape;127;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28" name="Google Shape;128;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pic>
        <p:nvPicPr>
          <p:cNvPr id="130" name="Google Shape;130;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1" name="Google Shape;131;p14"/>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32" name="Google Shape;132;p14"/>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33" name="Google Shape;133;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34" name="Shape 134"/>
        <p:cNvGrpSpPr/>
        <p:nvPr/>
      </p:nvGrpSpPr>
      <p:grpSpPr>
        <a:xfrm>
          <a:off x="0" y="0"/>
          <a:ext cx="0" cy="0"/>
          <a:chOff x="0" y="0"/>
          <a:chExt cx="0" cy="0"/>
        </a:xfrm>
      </p:grpSpPr>
      <p:pic>
        <p:nvPicPr>
          <p:cNvPr id="135" name="Google Shape;135;p15"/>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36" name="Google Shape;136;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7" name="Google Shape;137;p1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Physical education</a:t>
            </a:r>
            <a:endParaRPr b="1" sz="1700">
              <a:latin typeface="Lexend"/>
              <a:ea typeface="Lexend"/>
              <a:cs typeface="Lexend"/>
              <a:sym typeface="Lexend"/>
            </a:endParaRPr>
          </a:p>
        </p:txBody>
      </p:sp>
      <p:pic>
        <p:nvPicPr>
          <p:cNvPr id="138" name="Google Shape;138;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39" name="Google Shape;139;p15"/>
          <p:cNvGrpSpPr/>
          <p:nvPr/>
        </p:nvGrpSpPr>
        <p:grpSpPr>
          <a:xfrm>
            <a:off x="6156975" y="0"/>
            <a:ext cx="2987025" cy="3854074"/>
            <a:chOff x="6156975" y="0"/>
            <a:chExt cx="2987025" cy="3854074"/>
          </a:xfrm>
        </p:grpSpPr>
        <p:pic>
          <p:nvPicPr>
            <p:cNvPr id="140" name="Google Shape;140;p1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41" name="Google Shape;141;p1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42" name="Google Shape;142;p15"/>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43" name="Google Shape;143;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4" name="Google Shape;144;p15"/>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6"/>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54" name="Google Shape;154;p16"/>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55" name="Google Shape;155;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56" name="Shape 156"/>
        <p:cNvGrpSpPr/>
        <p:nvPr/>
      </p:nvGrpSpPr>
      <p:grpSpPr>
        <a:xfrm>
          <a:off x="0" y="0"/>
          <a:ext cx="0" cy="0"/>
          <a:chOff x="0" y="0"/>
          <a:chExt cx="0" cy="0"/>
        </a:xfrm>
      </p:grpSpPr>
      <p:sp>
        <p:nvSpPr>
          <p:cNvPr id="157" name="Google Shape;157;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58" name="Google Shape;158;p1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59" name="Google Shape;159;p17"/>
          <p:cNvGrpSpPr/>
          <p:nvPr/>
        </p:nvGrpSpPr>
        <p:grpSpPr>
          <a:xfrm>
            <a:off x="6156975" y="0"/>
            <a:ext cx="2987025" cy="3854074"/>
            <a:chOff x="6156975" y="0"/>
            <a:chExt cx="2987025" cy="3854074"/>
          </a:xfrm>
        </p:grpSpPr>
        <p:pic>
          <p:nvPicPr>
            <p:cNvPr id="160" name="Google Shape;160;p1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61" name="Google Shape;161;p1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62" name="Google Shape;162;p17"/>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63" name="Google Shape;163;p17"/>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64" name="Google Shape;164;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65" name="Google Shape;165;p17"/>
          <p:cNvPicPr preferRelativeResize="0"/>
          <p:nvPr/>
        </p:nvPicPr>
        <p:blipFill rotWithShape="1">
          <a:blip r:embed="rId5">
            <a:alphaModFix/>
          </a:blip>
          <a:srcRect b="0" l="6209" r="6209" t="0"/>
          <a:stretch/>
        </p:blipFill>
        <p:spPr>
          <a:xfrm>
            <a:off x="324000" y="4008600"/>
            <a:ext cx="1360800" cy="128000"/>
          </a:xfrm>
          <a:prstGeom prst="rect">
            <a:avLst/>
          </a:prstGeom>
          <a:noFill/>
          <a:ln>
            <a:noFill/>
          </a:ln>
        </p:spPr>
      </p:pic>
      <p:sp>
        <p:nvSpPr>
          <p:cNvPr id="166" name="Google Shape;166;p17"/>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RHE (PSHE)</a:t>
            </a:r>
            <a:endParaRPr b="1" sz="1700">
              <a:latin typeface="Lexend"/>
              <a:ea typeface="Lexend"/>
              <a:cs typeface="Lexend"/>
              <a:sym typeface="Lexen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67" name="Shape 167"/>
        <p:cNvGrpSpPr/>
        <p:nvPr/>
      </p:nvGrpSpPr>
      <p:grpSpPr>
        <a:xfrm>
          <a:off x="0" y="0"/>
          <a:ext cx="0" cy="0"/>
          <a:chOff x="0" y="0"/>
          <a:chExt cx="0" cy="0"/>
        </a:xfrm>
      </p:grpSpPr>
      <p:sp>
        <p:nvSpPr>
          <p:cNvPr id="168" name="Google Shape;168;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9" name="Google Shape;169;p18"/>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grpSp>
        <p:nvGrpSpPr>
          <p:cNvPr id="170" name="Google Shape;170;p18"/>
          <p:cNvGrpSpPr/>
          <p:nvPr/>
        </p:nvGrpSpPr>
        <p:grpSpPr>
          <a:xfrm>
            <a:off x="6156975" y="0"/>
            <a:ext cx="2987025" cy="3854074"/>
            <a:chOff x="6156975" y="0"/>
            <a:chExt cx="2987025" cy="3854074"/>
          </a:xfrm>
        </p:grpSpPr>
        <p:pic>
          <p:nvPicPr>
            <p:cNvPr id="171" name="Google Shape;171;p1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2" name="Google Shape;172;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3" name="Google Shape;173;p18"/>
          <p:cNvPicPr preferRelativeResize="0"/>
          <p:nvPr/>
        </p:nvPicPr>
        <p:blipFill>
          <a:blip r:embed="rId4">
            <a:alphaModFix/>
          </a:blip>
          <a:stretch>
            <a:fillRect/>
          </a:stretch>
        </p:blipFill>
        <p:spPr>
          <a:xfrm rot="-360033">
            <a:off x="6814806" y="1250542"/>
            <a:ext cx="1965462" cy="1393693"/>
          </a:xfrm>
          <a:prstGeom prst="rect">
            <a:avLst/>
          </a:prstGeom>
          <a:noFill/>
          <a:ln>
            <a:noFill/>
          </a:ln>
        </p:spPr>
      </p:pic>
      <p:sp>
        <p:nvSpPr>
          <p:cNvPr id="174" name="Google Shape;174;p18"/>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75" name="Google Shape;175;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76" name="Google Shape;176;p18"/>
          <p:cNvPicPr preferRelativeResize="0"/>
          <p:nvPr/>
        </p:nvPicPr>
        <p:blipFill rotWithShape="1">
          <a:blip r:embed="rId5">
            <a:alphaModFix/>
          </a:blip>
          <a:srcRect b="0" l="6209" r="6209" t="0"/>
          <a:stretch/>
        </p:blipFill>
        <p:spPr>
          <a:xfrm>
            <a:off x="324000" y="4008600"/>
            <a:ext cx="1511900" cy="128000"/>
          </a:xfrm>
          <a:prstGeom prst="rect">
            <a:avLst/>
          </a:prstGeom>
          <a:noFill/>
          <a:ln>
            <a:noFill/>
          </a:ln>
        </p:spPr>
      </p:pic>
      <p:sp>
        <p:nvSpPr>
          <p:cNvPr id="177" name="Google Shape;177;p18"/>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RSHE (PSHE)</a:t>
            </a:r>
            <a:endParaRPr b="1" sz="1700">
              <a:latin typeface="Lexend"/>
              <a:ea typeface="Lexend"/>
              <a:cs typeface="Lexend"/>
              <a:sym typeface="Lexen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Religious education</a:t>
            </a:r>
            <a:endParaRPr b="1" sz="1700">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87" name="Google Shape;187;p19"/>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189" name="Shape 189"/>
        <p:cNvGrpSpPr/>
        <p:nvPr/>
      </p:nvGrpSpPr>
      <p:grpSpPr>
        <a:xfrm>
          <a:off x="0" y="0"/>
          <a:ext cx="0" cy="0"/>
          <a:chOff x="0" y="0"/>
          <a:chExt cx="0" cy="0"/>
        </a:xfrm>
      </p:grpSpPr>
      <p:sp>
        <p:nvSpPr>
          <p:cNvPr id="190" name="Google Shape;190;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pic>
        <p:nvPicPr>
          <p:cNvPr id="192" name="Google Shape;192;p2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193" name="Google Shape;193;p2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 name="Google Shape;197;p2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198" name="Google Shape;198;p20"/>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00" name="Shape 200"/>
        <p:cNvGrpSpPr/>
        <p:nvPr/>
      </p:nvGrpSpPr>
      <p:grpSpPr>
        <a:xfrm>
          <a:off x="0" y="0"/>
          <a:ext cx="0" cy="0"/>
          <a:chOff x="0" y="0"/>
          <a:chExt cx="0" cy="0"/>
        </a:xfrm>
      </p:grpSpPr>
      <p:pic>
        <p:nvPicPr>
          <p:cNvPr id="201" name="Google Shape;201;p21"/>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02" name="Google Shape;202;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3" name="Google Shape;203;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Spanish</a:t>
            </a:r>
            <a:endParaRPr b="1" sz="1700">
              <a:latin typeface="Lexend"/>
              <a:ea typeface="Lexend"/>
              <a:cs typeface="Lexend"/>
              <a:sym typeface="Lexend"/>
            </a:endParaRPr>
          </a:p>
        </p:txBody>
      </p:sp>
      <p:pic>
        <p:nvPicPr>
          <p:cNvPr id="204" name="Google Shape;204;p21"/>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208" name="Google Shape;208;p21"/>
          <p:cNvPicPr preferRelativeResize="0"/>
          <p:nvPr/>
        </p:nvPicPr>
        <p:blipFill>
          <a:blip r:embed="rId5">
            <a:alphaModFix/>
          </a:blip>
          <a:stretch>
            <a:fillRect/>
          </a:stretch>
        </p:blipFill>
        <p:spPr>
          <a:xfrm rot="-360339">
            <a:off x="6714634" y="840073"/>
            <a:ext cx="2165107" cy="2173929"/>
          </a:xfrm>
          <a:prstGeom prst="rect">
            <a:avLst/>
          </a:prstGeom>
          <a:noFill/>
          <a:ln>
            <a:noFill/>
          </a:ln>
        </p:spPr>
      </p:pic>
      <p:sp>
        <p:nvSpPr>
          <p:cNvPr id="209" name="Google Shape;209;p21"/>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latin typeface="Lexend"/>
                <a:ea typeface="Lexend"/>
                <a:cs typeface="Lexend"/>
                <a:sym typeface="Lexend"/>
              </a:rPr>
              <a:t>Unit</a:t>
            </a:r>
            <a:endParaRPr b="1" sz="1800">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13" name="Google Shape;213;p22"/>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214" name="Google Shape;214;p22"/>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215" name="Shape 215"/>
        <p:cNvGrpSpPr/>
        <p:nvPr/>
      </p:nvGrpSpPr>
      <p:grpSpPr>
        <a:xfrm>
          <a:off x="0" y="0"/>
          <a:ext cx="0" cy="0"/>
          <a:chOff x="0" y="0"/>
          <a:chExt cx="0" cy="0"/>
        </a:xfrm>
      </p:grpSpPr>
      <p:sp>
        <p:nvSpPr>
          <p:cNvPr id="216" name="Google Shape;216;p23"/>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217" name="Google Shape;217;p23"/>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218" name="Google Shape;218;p23"/>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219" name="Google Shape;219;p23"/>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220" name="Google Shape;220;p23"/>
          <p:cNvGrpSpPr/>
          <p:nvPr/>
        </p:nvGrpSpPr>
        <p:grpSpPr>
          <a:xfrm>
            <a:off x="2650916" y="1644417"/>
            <a:ext cx="1745270" cy="1430724"/>
            <a:chOff x="2642961" y="1644312"/>
            <a:chExt cx="1454634" cy="1195657"/>
          </a:xfrm>
        </p:grpSpPr>
        <p:pic>
          <p:nvPicPr>
            <p:cNvPr id="221" name="Google Shape;221;p23"/>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222" name="Google Shape;222;p23"/>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223" name="Google Shape;223;p23"/>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224" name="Google Shape;224;p23"/>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225" name="Google Shape;225;p23"/>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226" name="Google Shape;226;p23"/>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227" name="Google Shape;227;p2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28" name="Shape 228"/>
        <p:cNvGrpSpPr/>
        <p:nvPr/>
      </p:nvGrpSpPr>
      <p:grpSpPr>
        <a:xfrm>
          <a:off x="0" y="0"/>
          <a:ext cx="0" cy="0"/>
          <a:chOff x="0" y="0"/>
          <a:chExt cx="0" cy="0"/>
        </a:xfrm>
      </p:grpSpPr>
      <p:sp>
        <p:nvSpPr>
          <p:cNvPr id="229" name="Google Shape;229;p2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 name="Google Shape;230;p2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31" name="Google Shape;231;p2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32" name="Google Shape;232;p2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3" name="Google Shape;233;p2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4" name="Google Shape;234;p24"/>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5" name="Google Shape;235;p24"/>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36" name="Google Shape;236;p24"/>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37" name="Google Shape;237;p24"/>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38" name="Shape 238"/>
        <p:cNvGrpSpPr/>
        <p:nvPr/>
      </p:nvGrpSpPr>
      <p:grpSpPr>
        <a:xfrm>
          <a:off x="0" y="0"/>
          <a:ext cx="0" cy="0"/>
          <a:chOff x="0" y="0"/>
          <a:chExt cx="0" cy="0"/>
        </a:xfrm>
      </p:grpSpPr>
      <p:sp>
        <p:nvSpPr>
          <p:cNvPr id="239" name="Google Shape;239;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41" name="Google Shape;241;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42" name="Google Shape;242;p2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3" name="Google Shape;243;p2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4" name="Google Shape;244;p25"/>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5" name="Google Shape;245;p25"/>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6" name="Google Shape;246;p25"/>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7" name="Google Shape;247;p25"/>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48" name="Google Shape;248;p25"/>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49" name="Google Shape;249;p25"/>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50" name="Shape 250"/>
        <p:cNvGrpSpPr/>
        <p:nvPr/>
      </p:nvGrpSpPr>
      <p:grpSpPr>
        <a:xfrm>
          <a:off x="0" y="0"/>
          <a:ext cx="0" cy="0"/>
          <a:chOff x="0" y="0"/>
          <a:chExt cx="0" cy="0"/>
        </a:xfrm>
      </p:grpSpPr>
      <p:sp>
        <p:nvSpPr>
          <p:cNvPr id="251" name="Google Shape;251;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2" name="Google Shape;252;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53" name="Google Shape;253;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54" name="Google Shape;254;p2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5" name="Google Shape;255;p2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6" name="Google Shape;256;p26"/>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7" name="Google Shape;257;p26"/>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58" name="Google Shape;258;p26"/>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59" name="Google Shape;259;p26"/>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0" name="Google Shape;260;p26"/>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1" name="Google Shape;261;p26"/>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62" name="Google Shape;262;p26"/>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3" name="Google Shape;263;p26"/>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64" name="Shape 264"/>
        <p:cNvGrpSpPr/>
        <p:nvPr/>
      </p:nvGrpSpPr>
      <p:grpSpPr>
        <a:xfrm>
          <a:off x="0" y="0"/>
          <a:ext cx="0" cy="0"/>
          <a:chOff x="0" y="0"/>
          <a:chExt cx="0" cy="0"/>
        </a:xfrm>
      </p:grpSpPr>
      <p:sp>
        <p:nvSpPr>
          <p:cNvPr id="265" name="Google Shape;265;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 name="Google Shape;266;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267" name="Google Shape;267;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268" name="Google Shape;268;p2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69" name="Google Shape;269;p2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270" name="Google Shape;270;p27"/>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271" name="Google Shape;271;p27"/>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72" name="Shape 272"/>
        <p:cNvGrpSpPr/>
        <p:nvPr/>
      </p:nvGrpSpPr>
      <p:grpSpPr>
        <a:xfrm>
          <a:off x="0" y="0"/>
          <a:ext cx="0" cy="0"/>
          <a:chOff x="0" y="0"/>
          <a:chExt cx="0" cy="0"/>
        </a:xfrm>
      </p:grpSpPr>
      <p:sp>
        <p:nvSpPr>
          <p:cNvPr id="273" name="Google Shape;273;p2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8"/>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75" name="Google Shape;275;p28"/>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76" name="Google Shape;276;p28"/>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77" name="Google Shape;277;p28"/>
          <p:cNvCxnSpPr>
            <a:endCxn id="27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79" name="Google Shape;279;p28"/>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280" name="Google Shape;280;p28"/>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81" name="Google Shape;281;p2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78" name="Google Shape;278;p28"/>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282" name="Google Shape;282;p28"/>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283" name="Google Shape;283;p2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84" name="Google Shape;284;p2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285" name="Shape 285"/>
        <p:cNvGrpSpPr/>
        <p:nvPr/>
      </p:nvGrpSpPr>
      <p:grpSpPr>
        <a:xfrm>
          <a:off x="0" y="0"/>
          <a:ext cx="0" cy="0"/>
          <a:chOff x="0" y="0"/>
          <a:chExt cx="0" cy="0"/>
        </a:xfrm>
      </p:grpSpPr>
      <p:pic>
        <p:nvPicPr>
          <p:cNvPr id="286" name="Google Shape;286;p29"/>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287" name="Google Shape;287;p29"/>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288" name="Google Shape;288;p29"/>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289" name="Google Shape;289;p29"/>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290" name="Google Shape;290;p29"/>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291" name="Google Shape;291;p29"/>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292" name="Google Shape;292;p29"/>
          <p:cNvCxnSpPr>
            <a:endCxn id="29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293" name="Google Shape;293;p29"/>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294" name="Google Shape;294;p29"/>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295" name="Google Shape;295;p29"/>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6" name="Google Shape;296;p29"/>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97" name="Google Shape;297;p29"/>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299" name="Google Shape;299;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0" name="Google Shape;300;p29"/>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301" name="Google Shape;301;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2" name="Google Shape;302;p29"/>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03" name="Shape 303"/>
        <p:cNvGrpSpPr/>
        <p:nvPr/>
      </p:nvGrpSpPr>
      <p:grpSpPr>
        <a:xfrm>
          <a:off x="0" y="0"/>
          <a:ext cx="0" cy="0"/>
          <a:chOff x="0" y="0"/>
          <a:chExt cx="0" cy="0"/>
        </a:xfrm>
      </p:grpSpPr>
      <p:pic>
        <p:nvPicPr>
          <p:cNvPr id="304" name="Google Shape;304;p30"/>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05" name="Google Shape;305;p30"/>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06" name="Google Shape;306;p30"/>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07" name="Google Shape;307;p30"/>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08" name="Google Shape;308;p30"/>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10" name="Google Shape;310;p30"/>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12" name="Google Shape;312;p30"/>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13" name="Google Shape;313;p30"/>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14" name="Google Shape;314;p30"/>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15" name="Google Shape;315;p30"/>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316" name="Google Shape;316;p30"/>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7" name="Google Shape;317;p30"/>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8" name="Google Shape;318;p30"/>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19" name="Google Shape;319;p30"/>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320" name="Google Shape;320;p30"/>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321" name="Google Shape;321;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2" name="Google Shape;322;p30"/>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323" name="Google Shape;323;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4" name="Google Shape;324;p30"/>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25" name="Shape 325"/>
        <p:cNvGrpSpPr/>
        <p:nvPr/>
      </p:nvGrpSpPr>
      <p:grpSpPr>
        <a:xfrm>
          <a:off x="0" y="0"/>
          <a:ext cx="0" cy="0"/>
          <a:chOff x="0" y="0"/>
          <a:chExt cx="0" cy="0"/>
        </a:xfrm>
      </p:grpSpPr>
      <p:pic>
        <p:nvPicPr>
          <p:cNvPr id="326" name="Google Shape;326;p31"/>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27" name="Google Shape;327;p31"/>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29" name="Google Shape;329;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0" name="Google Shape;330;p3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31" name="Google Shape;331;p3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32" name="Shape 332"/>
        <p:cNvGrpSpPr/>
        <p:nvPr/>
      </p:nvGrpSpPr>
      <p:grpSpPr>
        <a:xfrm>
          <a:off x="0" y="0"/>
          <a:ext cx="0" cy="0"/>
          <a:chOff x="0" y="0"/>
          <a:chExt cx="0" cy="0"/>
        </a:xfrm>
      </p:grpSpPr>
      <p:pic>
        <p:nvPicPr>
          <p:cNvPr id="333" name="Google Shape;333;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4" name="Google Shape;334;p3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36" name="Google Shape;336;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337" name="Google Shape;337;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8" name="Google Shape;338;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39" name="Shape 339"/>
        <p:cNvGrpSpPr/>
        <p:nvPr/>
      </p:nvGrpSpPr>
      <p:grpSpPr>
        <a:xfrm>
          <a:off x="0" y="0"/>
          <a:ext cx="0" cy="0"/>
          <a:chOff x="0" y="0"/>
          <a:chExt cx="0" cy="0"/>
        </a:xfrm>
      </p:grpSpPr>
      <p:pic>
        <p:nvPicPr>
          <p:cNvPr id="340" name="Google Shape;34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1" name="Google Shape;341;p3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43" name="Google Shape;343;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344" name="Google Shape;344;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45" name="Google Shape;345;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46" name="Shape 346"/>
        <p:cNvGrpSpPr/>
        <p:nvPr/>
      </p:nvGrpSpPr>
      <p:grpSpPr>
        <a:xfrm>
          <a:off x="0" y="0"/>
          <a:ext cx="0" cy="0"/>
          <a:chOff x="0" y="0"/>
          <a:chExt cx="0" cy="0"/>
        </a:xfrm>
      </p:grpSpPr>
      <p:pic>
        <p:nvPicPr>
          <p:cNvPr id="347" name="Google Shape;347;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48" name="Google Shape;348;p3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50" name="Google Shape;35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351" name="Google Shape;351;p3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2" name="Google Shape;352;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53" name="Shape 353"/>
        <p:cNvGrpSpPr/>
        <p:nvPr/>
      </p:nvGrpSpPr>
      <p:grpSpPr>
        <a:xfrm>
          <a:off x="0" y="0"/>
          <a:ext cx="0" cy="0"/>
          <a:chOff x="0" y="0"/>
          <a:chExt cx="0" cy="0"/>
        </a:xfrm>
      </p:grpSpPr>
      <p:sp>
        <p:nvSpPr>
          <p:cNvPr id="354" name="Google Shape;354;p3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5" name="Google Shape;355;p35"/>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6" name="Google Shape;356;p3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8" name="Google Shape;358;p3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59" name="Google Shape;359;p35"/>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60" name="Google Shape;360;p35"/>
          <p:cNvGrpSpPr/>
          <p:nvPr/>
        </p:nvGrpSpPr>
        <p:grpSpPr>
          <a:xfrm>
            <a:off x="7834231" y="1285"/>
            <a:ext cx="828900" cy="576065"/>
            <a:chOff x="7801496" y="1285"/>
            <a:chExt cx="828900" cy="576065"/>
          </a:xfrm>
        </p:grpSpPr>
        <p:pic>
          <p:nvPicPr>
            <p:cNvPr id="361" name="Google Shape;361;p3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62" name="Google Shape;362;p3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63" name="Google Shape;363;p35"/>
          <p:cNvGrpSpPr/>
          <p:nvPr/>
        </p:nvGrpSpPr>
        <p:grpSpPr>
          <a:xfrm>
            <a:off x="8635663" y="1285"/>
            <a:ext cx="499700" cy="576065"/>
            <a:chOff x="8635663" y="1285"/>
            <a:chExt cx="499700" cy="576065"/>
          </a:xfrm>
        </p:grpSpPr>
        <p:pic>
          <p:nvPicPr>
            <p:cNvPr id="364" name="Google Shape;364;p3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65" name="Google Shape;365;p3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66" name="Shape 366"/>
        <p:cNvGrpSpPr/>
        <p:nvPr/>
      </p:nvGrpSpPr>
      <p:grpSpPr>
        <a:xfrm>
          <a:off x="0" y="0"/>
          <a:ext cx="0" cy="0"/>
          <a:chOff x="0" y="0"/>
          <a:chExt cx="0" cy="0"/>
        </a:xfrm>
      </p:grpSpPr>
      <p:sp>
        <p:nvSpPr>
          <p:cNvPr id="367" name="Google Shape;367;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1" name="Google Shape;371;p3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72" name="Google Shape;372;p3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73" name="Google Shape;373;p36"/>
          <p:cNvGrpSpPr/>
          <p:nvPr/>
        </p:nvGrpSpPr>
        <p:grpSpPr>
          <a:xfrm>
            <a:off x="7834231" y="1285"/>
            <a:ext cx="828900" cy="576065"/>
            <a:chOff x="7801496" y="1285"/>
            <a:chExt cx="828900" cy="576065"/>
          </a:xfrm>
        </p:grpSpPr>
        <p:pic>
          <p:nvPicPr>
            <p:cNvPr id="374" name="Google Shape;374;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75" name="Google Shape;375;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76" name="Google Shape;376;p36"/>
          <p:cNvGrpSpPr/>
          <p:nvPr/>
        </p:nvGrpSpPr>
        <p:grpSpPr>
          <a:xfrm>
            <a:off x="8635663" y="1285"/>
            <a:ext cx="499700" cy="576065"/>
            <a:chOff x="8635663" y="1285"/>
            <a:chExt cx="499700" cy="576065"/>
          </a:xfrm>
        </p:grpSpPr>
        <p:pic>
          <p:nvPicPr>
            <p:cNvPr id="377" name="Google Shape;377;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78" name="Google Shape;378;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379" name="Shape 379"/>
        <p:cNvGrpSpPr/>
        <p:nvPr/>
      </p:nvGrpSpPr>
      <p:grpSpPr>
        <a:xfrm>
          <a:off x="0" y="0"/>
          <a:ext cx="0" cy="0"/>
          <a:chOff x="0" y="0"/>
          <a:chExt cx="0" cy="0"/>
        </a:xfrm>
      </p:grpSpPr>
      <p:sp>
        <p:nvSpPr>
          <p:cNvPr id="380" name="Google Shape;380;p37"/>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82" name="Google Shape;382;p3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86" name="Google Shape;386;p37"/>
          <p:cNvGrpSpPr/>
          <p:nvPr/>
        </p:nvGrpSpPr>
        <p:grpSpPr>
          <a:xfrm>
            <a:off x="7834231" y="1285"/>
            <a:ext cx="828900" cy="576065"/>
            <a:chOff x="7801496" y="1285"/>
            <a:chExt cx="828900" cy="576065"/>
          </a:xfrm>
        </p:grpSpPr>
        <p:pic>
          <p:nvPicPr>
            <p:cNvPr id="387" name="Google Shape;387;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88" name="Google Shape;388;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389" name="Google Shape;389;p37"/>
          <p:cNvGrpSpPr/>
          <p:nvPr/>
        </p:nvGrpSpPr>
        <p:grpSpPr>
          <a:xfrm>
            <a:off x="8635663" y="1285"/>
            <a:ext cx="499700" cy="576065"/>
            <a:chOff x="8635663" y="1285"/>
            <a:chExt cx="499700" cy="576065"/>
          </a:xfrm>
        </p:grpSpPr>
        <p:pic>
          <p:nvPicPr>
            <p:cNvPr id="390" name="Google Shape;390;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1" name="Google Shape;391;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392" name="Shape 392"/>
        <p:cNvGrpSpPr/>
        <p:nvPr/>
      </p:nvGrpSpPr>
      <p:grpSpPr>
        <a:xfrm>
          <a:off x="0" y="0"/>
          <a:ext cx="0" cy="0"/>
          <a:chOff x="0" y="0"/>
          <a:chExt cx="0" cy="0"/>
        </a:xfrm>
      </p:grpSpPr>
      <p:sp>
        <p:nvSpPr>
          <p:cNvPr id="393" name="Google Shape;393;p3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5" name="Google Shape;395;p3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7" name="Google Shape;397;p3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98" name="Google Shape;398;p3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99" name="Google Shape;399;p38"/>
          <p:cNvGrpSpPr/>
          <p:nvPr/>
        </p:nvGrpSpPr>
        <p:grpSpPr>
          <a:xfrm>
            <a:off x="7834231" y="1285"/>
            <a:ext cx="828900" cy="576065"/>
            <a:chOff x="7801496" y="1285"/>
            <a:chExt cx="828900" cy="576065"/>
          </a:xfrm>
        </p:grpSpPr>
        <p:pic>
          <p:nvPicPr>
            <p:cNvPr id="400" name="Google Shape;400;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1" name="Google Shape;401;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02" name="Google Shape;402;p38"/>
          <p:cNvGrpSpPr/>
          <p:nvPr/>
        </p:nvGrpSpPr>
        <p:grpSpPr>
          <a:xfrm>
            <a:off x="8635663" y="1285"/>
            <a:ext cx="499700" cy="576065"/>
            <a:chOff x="8635663" y="1285"/>
            <a:chExt cx="499700" cy="576065"/>
          </a:xfrm>
        </p:grpSpPr>
        <p:pic>
          <p:nvPicPr>
            <p:cNvPr id="403" name="Google Shape;403;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4" name="Google Shape;404;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05" name="Shape 405"/>
        <p:cNvGrpSpPr/>
        <p:nvPr/>
      </p:nvGrpSpPr>
      <p:grpSpPr>
        <a:xfrm>
          <a:off x="0" y="0"/>
          <a:ext cx="0" cy="0"/>
          <a:chOff x="0" y="0"/>
          <a:chExt cx="0" cy="0"/>
        </a:xfrm>
      </p:grpSpPr>
      <p:pic>
        <p:nvPicPr>
          <p:cNvPr id="406" name="Google Shape;406;p39"/>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07" name="Google Shape;407;p39"/>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08" name="Google Shape;408;p39"/>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09" name="Google Shape;409;p3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9"/>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11" name="Google Shape;411;p39"/>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12" name="Google Shape;412;p39"/>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13" name="Google Shape;413;p39"/>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4" name="Google Shape;414;p3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15" name="Google Shape;415;p39"/>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16" name="Google Shape;416;p39"/>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17" name="Google Shape;417;p39"/>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18" name="Google Shape;418;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19" name="Google Shape;419;p3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20" name="Shape 420"/>
        <p:cNvGrpSpPr/>
        <p:nvPr/>
      </p:nvGrpSpPr>
      <p:grpSpPr>
        <a:xfrm>
          <a:off x="0" y="0"/>
          <a:ext cx="0" cy="0"/>
          <a:chOff x="0" y="0"/>
          <a:chExt cx="0" cy="0"/>
        </a:xfrm>
      </p:grpSpPr>
      <p:pic>
        <p:nvPicPr>
          <p:cNvPr id="421" name="Google Shape;421;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2" name="Google Shape;422;p4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4" name="Google Shape;424;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25" name="Google Shape;425;p4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6" name="Google Shape;426;p40"/>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27" name="Google Shape;427;p40"/>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28" name="Google Shape;42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29" name="Google Shape;42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30" name="Google Shape;430;p40"/>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31" name="Google Shape;431;p4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32" name="Google Shape;43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33" name="Google Shape;43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34" name="Google Shape;43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35" name="Shape 435"/>
        <p:cNvGrpSpPr/>
        <p:nvPr/>
      </p:nvGrpSpPr>
      <p:grpSpPr>
        <a:xfrm>
          <a:off x="0" y="0"/>
          <a:ext cx="0" cy="0"/>
          <a:chOff x="0" y="0"/>
          <a:chExt cx="0" cy="0"/>
        </a:xfrm>
      </p:grpSpPr>
      <p:pic>
        <p:nvPicPr>
          <p:cNvPr id="436" name="Google Shape;43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7" name="Google Shape;437;p4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8" name="Google Shape;43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40" name="Google Shape;440;p4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42" name="Google Shape;442;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43" name="Google Shape;443;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4" name="Google Shape;444;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45" name="Google Shape;445;p41"/>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46" name="Google Shape;446;p4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7" name="Google Shape;447;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48" name="Google Shape;448;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49" name="Google Shape;449;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50" name="Shape 450"/>
        <p:cNvGrpSpPr/>
        <p:nvPr/>
      </p:nvGrpSpPr>
      <p:grpSpPr>
        <a:xfrm>
          <a:off x="0" y="0"/>
          <a:ext cx="0" cy="0"/>
          <a:chOff x="0" y="0"/>
          <a:chExt cx="0" cy="0"/>
        </a:xfrm>
      </p:grpSpPr>
      <p:pic>
        <p:nvPicPr>
          <p:cNvPr id="451" name="Google Shape;451;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52" name="Google Shape;452;p4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3" name="Google Shape;453;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4" name="Google Shape;454;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55" name="Google Shape;455;p4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57" name="Google Shape;457;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58" name="Google Shape;458;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59" name="Google Shape;459;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0" name="Google Shape;460;p42"/>
          <p:cNvSpPr txBox="1"/>
          <p:nvPr>
            <p:ph idx="1" type="subTitle"/>
          </p:nvPr>
        </p:nvSpPr>
        <p:spPr>
          <a:xfrm>
            <a:off x="324000" y="3577125"/>
            <a:ext cx="81093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1" name="Google Shape;461;p42"/>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63" name="Google Shape;463;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64" name="Google Shape;464;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465" name="Shape 465"/>
        <p:cNvGrpSpPr/>
        <p:nvPr/>
      </p:nvGrpSpPr>
      <p:grpSpPr>
        <a:xfrm>
          <a:off x="0" y="0"/>
          <a:ext cx="0" cy="0"/>
          <a:chOff x="0" y="0"/>
          <a:chExt cx="0" cy="0"/>
        </a:xfrm>
      </p:grpSpPr>
      <p:pic>
        <p:nvPicPr>
          <p:cNvPr id="466" name="Google Shape;466;p4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67" name="Google Shape;467;p4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9" name="Google Shape;469;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0" name="Google Shape;470;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71" name="Google Shape;471;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2" name="Google Shape;472;p4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3" name="Google Shape;473;p4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4" name="Google Shape;474;p4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75" name="Google Shape;475;p43"/>
          <p:cNvGrpSpPr/>
          <p:nvPr/>
        </p:nvGrpSpPr>
        <p:grpSpPr>
          <a:xfrm>
            <a:off x="323653" y="1804438"/>
            <a:ext cx="457200" cy="457200"/>
            <a:chOff x="1020916" y="1442088"/>
            <a:chExt cx="457200" cy="457200"/>
          </a:xfrm>
        </p:grpSpPr>
        <p:pic>
          <p:nvPicPr>
            <p:cNvPr id="476" name="Google Shape;47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7" name="Google Shape;47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8" name="Google Shape;478;p43"/>
          <p:cNvGrpSpPr/>
          <p:nvPr/>
        </p:nvGrpSpPr>
        <p:grpSpPr>
          <a:xfrm>
            <a:off x="323653" y="2766575"/>
            <a:ext cx="457200" cy="457200"/>
            <a:chOff x="1020916" y="1442088"/>
            <a:chExt cx="457200" cy="457200"/>
          </a:xfrm>
        </p:grpSpPr>
        <p:pic>
          <p:nvPicPr>
            <p:cNvPr id="479" name="Google Shape;47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0" name="Google Shape;48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81" name="Google Shape;481;p43"/>
          <p:cNvGrpSpPr/>
          <p:nvPr/>
        </p:nvGrpSpPr>
        <p:grpSpPr>
          <a:xfrm>
            <a:off x="323641" y="3729038"/>
            <a:ext cx="457200" cy="457200"/>
            <a:chOff x="1020916" y="1442088"/>
            <a:chExt cx="457200" cy="457200"/>
          </a:xfrm>
        </p:grpSpPr>
        <p:pic>
          <p:nvPicPr>
            <p:cNvPr id="482" name="Google Shape;48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3" name="Google Shape;48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484" name="Shape 484"/>
        <p:cNvGrpSpPr/>
        <p:nvPr/>
      </p:nvGrpSpPr>
      <p:grpSpPr>
        <a:xfrm>
          <a:off x="0" y="0"/>
          <a:ext cx="0" cy="0"/>
          <a:chOff x="0" y="0"/>
          <a:chExt cx="0" cy="0"/>
        </a:xfrm>
      </p:grpSpPr>
      <p:pic>
        <p:nvPicPr>
          <p:cNvPr id="485" name="Google Shape;485;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6" name="Google Shape;486;p4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8" name="Google Shape;488;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9" name="Google Shape;489;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90" name="Google Shape;490;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1" name="Google Shape;491;p4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2" name="Google Shape;492;p4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93" name="Google Shape;493;p4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4" name="Google Shape;494;p44"/>
          <p:cNvGrpSpPr/>
          <p:nvPr/>
        </p:nvGrpSpPr>
        <p:grpSpPr>
          <a:xfrm>
            <a:off x="323653" y="1804438"/>
            <a:ext cx="457200" cy="457200"/>
            <a:chOff x="1020916" y="1442088"/>
            <a:chExt cx="457200" cy="457200"/>
          </a:xfrm>
        </p:grpSpPr>
        <p:pic>
          <p:nvPicPr>
            <p:cNvPr id="495" name="Google Shape;495;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6" name="Google Shape;496;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7" name="Google Shape;497;p44"/>
          <p:cNvGrpSpPr/>
          <p:nvPr/>
        </p:nvGrpSpPr>
        <p:grpSpPr>
          <a:xfrm>
            <a:off x="323653" y="2766575"/>
            <a:ext cx="457200" cy="457200"/>
            <a:chOff x="1020916" y="1442088"/>
            <a:chExt cx="457200" cy="457200"/>
          </a:xfrm>
        </p:grpSpPr>
        <p:pic>
          <p:nvPicPr>
            <p:cNvPr id="498" name="Google Shape;498;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9" name="Google Shape;499;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00" name="Google Shape;500;p44"/>
          <p:cNvGrpSpPr/>
          <p:nvPr/>
        </p:nvGrpSpPr>
        <p:grpSpPr>
          <a:xfrm>
            <a:off x="323641" y="3729038"/>
            <a:ext cx="457200" cy="457200"/>
            <a:chOff x="1020916" y="1442088"/>
            <a:chExt cx="457200" cy="457200"/>
          </a:xfrm>
        </p:grpSpPr>
        <p:pic>
          <p:nvPicPr>
            <p:cNvPr id="501" name="Google Shape;501;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2" name="Google Shape;502;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03" name="Shape 503"/>
        <p:cNvGrpSpPr/>
        <p:nvPr/>
      </p:nvGrpSpPr>
      <p:grpSpPr>
        <a:xfrm>
          <a:off x="0" y="0"/>
          <a:ext cx="0" cy="0"/>
          <a:chOff x="0" y="0"/>
          <a:chExt cx="0" cy="0"/>
        </a:xfrm>
      </p:grpSpPr>
      <p:pic>
        <p:nvPicPr>
          <p:cNvPr id="504" name="Google Shape;504;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5" name="Google Shape;505;p4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7" name="Google Shape;507;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8" name="Google Shape;508;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09" name="Google Shape;509;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0" name="Google Shape;510;p4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5"/>
          <p:cNvGrpSpPr/>
          <p:nvPr/>
        </p:nvGrpSpPr>
        <p:grpSpPr>
          <a:xfrm>
            <a:off x="323653" y="1804438"/>
            <a:ext cx="457200" cy="457200"/>
            <a:chOff x="1020916" y="1442088"/>
            <a:chExt cx="457200" cy="457200"/>
          </a:xfrm>
        </p:grpSpPr>
        <p:pic>
          <p:nvPicPr>
            <p:cNvPr id="514" name="Google Shape;514;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5"/>
          <p:cNvGrpSpPr/>
          <p:nvPr/>
        </p:nvGrpSpPr>
        <p:grpSpPr>
          <a:xfrm>
            <a:off x="323653" y="2766575"/>
            <a:ext cx="457200" cy="457200"/>
            <a:chOff x="1020916" y="1442088"/>
            <a:chExt cx="457200" cy="457200"/>
          </a:xfrm>
        </p:grpSpPr>
        <p:pic>
          <p:nvPicPr>
            <p:cNvPr id="517" name="Google Shape;517;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5"/>
          <p:cNvGrpSpPr/>
          <p:nvPr/>
        </p:nvGrpSpPr>
        <p:grpSpPr>
          <a:xfrm>
            <a:off x="323641" y="3729038"/>
            <a:ext cx="457200" cy="457200"/>
            <a:chOff x="1020916" y="1442088"/>
            <a:chExt cx="457200" cy="457200"/>
          </a:xfrm>
        </p:grpSpPr>
        <p:pic>
          <p:nvPicPr>
            <p:cNvPr id="520" name="Google Shape;520;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22" name="Shape 522"/>
        <p:cNvGrpSpPr/>
        <p:nvPr/>
      </p:nvGrpSpPr>
      <p:grpSpPr>
        <a:xfrm>
          <a:off x="0" y="0"/>
          <a:ext cx="0" cy="0"/>
          <a:chOff x="0" y="0"/>
          <a:chExt cx="0" cy="0"/>
        </a:xfrm>
      </p:grpSpPr>
      <p:pic>
        <p:nvPicPr>
          <p:cNvPr id="523" name="Google Shape;523;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4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4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4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4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4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46"/>
          <p:cNvGrpSpPr/>
          <p:nvPr/>
        </p:nvGrpSpPr>
        <p:grpSpPr>
          <a:xfrm>
            <a:off x="323653" y="1804438"/>
            <a:ext cx="457200" cy="457200"/>
            <a:chOff x="1020916" y="1442088"/>
            <a:chExt cx="457200" cy="457200"/>
          </a:xfrm>
        </p:grpSpPr>
        <p:pic>
          <p:nvPicPr>
            <p:cNvPr id="533" name="Google Shape;533;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46"/>
          <p:cNvGrpSpPr/>
          <p:nvPr/>
        </p:nvGrpSpPr>
        <p:grpSpPr>
          <a:xfrm>
            <a:off x="323653" y="2766575"/>
            <a:ext cx="457200" cy="457200"/>
            <a:chOff x="1020916" y="1442088"/>
            <a:chExt cx="457200" cy="457200"/>
          </a:xfrm>
        </p:grpSpPr>
        <p:pic>
          <p:nvPicPr>
            <p:cNvPr id="536" name="Google Shape;53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46"/>
          <p:cNvGrpSpPr/>
          <p:nvPr/>
        </p:nvGrpSpPr>
        <p:grpSpPr>
          <a:xfrm>
            <a:off x="323641" y="3729038"/>
            <a:ext cx="457200" cy="457200"/>
            <a:chOff x="1020916" y="1442088"/>
            <a:chExt cx="457200" cy="457200"/>
          </a:xfrm>
        </p:grpSpPr>
        <p:pic>
          <p:nvPicPr>
            <p:cNvPr id="539" name="Google Shape;53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41" name="Shape 541"/>
        <p:cNvGrpSpPr/>
        <p:nvPr/>
      </p:nvGrpSpPr>
      <p:grpSpPr>
        <a:xfrm>
          <a:off x="0" y="0"/>
          <a:ext cx="0" cy="0"/>
          <a:chOff x="0" y="0"/>
          <a:chExt cx="0" cy="0"/>
        </a:xfrm>
      </p:grpSpPr>
      <p:pic>
        <p:nvPicPr>
          <p:cNvPr id="542" name="Google Shape;542;p4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3" name="Google Shape;543;p4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5" name="Google Shape;5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6" name="Google Shape;5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47" name="Google Shape;547;p4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8" name="Google Shape;548;p4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49" name="Google Shape;549;p4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0" name="Google Shape;550;p4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1" name="Google Shape;551;p4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2" name="Google Shape;552;p47"/>
          <p:cNvGrpSpPr/>
          <p:nvPr/>
        </p:nvGrpSpPr>
        <p:grpSpPr>
          <a:xfrm>
            <a:off x="323653" y="1652038"/>
            <a:ext cx="457200" cy="457200"/>
            <a:chOff x="1020916" y="1442088"/>
            <a:chExt cx="457200" cy="457200"/>
          </a:xfrm>
        </p:grpSpPr>
        <p:pic>
          <p:nvPicPr>
            <p:cNvPr id="553" name="Google Shape;553;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4" name="Google Shape;554;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5" name="Google Shape;555;p47"/>
          <p:cNvGrpSpPr/>
          <p:nvPr/>
        </p:nvGrpSpPr>
        <p:grpSpPr>
          <a:xfrm>
            <a:off x="323653" y="2461775"/>
            <a:ext cx="457200" cy="457200"/>
            <a:chOff x="1020916" y="1442088"/>
            <a:chExt cx="457200" cy="457200"/>
          </a:xfrm>
        </p:grpSpPr>
        <p:pic>
          <p:nvPicPr>
            <p:cNvPr id="556" name="Google Shape;55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58" name="Google Shape;558;p47"/>
          <p:cNvGrpSpPr/>
          <p:nvPr/>
        </p:nvGrpSpPr>
        <p:grpSpPr>
          <a:xfrm>
            <a:off x="323641" y="3271838"/>
            <a:ext cx="457200" cy="457200"/>
            <a:chOff x="1020916" y="1442088"/>
            <a:chExt cx="457200" cy="457200"/>
          </a:xfrm>
        </p:grpSpPr>
        <p:pic>
          <p:nvPicPr>
            <p:cNvPr id="559" name="Google Shape;55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61" name="Google Shape;561;p47"/>
          <p:cNvGrpSpPr/>
          <p:nvPr/>
        </p:nvGrpSpPr>
        <p:grpSpPr>
          <a:xfrm>
            <a:off x="323641" y="4081763"/>
            <a:ext cx="457200" cy="457200"/>
            <a:chOff x="1020916" y="1442088"/>
            <a:chExt cx="457200" cy="457200"/>
          </a:xfrm>
        </p:grpSpPr>
        <p:pic>
          <p:nvPicPr>
            <p:cNvPr id="562" name="Google Shape;56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564" name="Shape 564"/>
        <p:cNvGrpSpPr/>
        <p:nvPr/>
      </p:nvGrpSpPr>
      <p:grpSpPr>
        <a:xfrm>
          <a:off x="0" y="0"/>
          <a:ext cx="0" cy="0"/>
          <a:chOff x="0" y="0"/>
          <a:chExt cx="0" cy="0"/>
        </a:xfrm>
      </p:grpSpPr>
      <p:pic>
        <p:nvPicPr>
          <p:cNvPr id="565" name="Google Shape;565;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2" name="Google Shape;572;p4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8"/>
          <p:cNvGrpSpPr/>
          <p:nvPr/>
        </p:nvGrpSpPr>
        <p:grpSpPr>
          <a:xfrm>
            <a:off x="323653" y="1652038"/>
            <a:ext cx="457200" cy="457200"/>
            <a:chOff x="1020916" y="1442088"/>
            <a:chExt cx="457200" cy="457200"/>
          </a:xfrm>
        </p:grpSpPr>
        <p:pic>
          <p:nvPicPr>
            <p:cNvPr id="576" name="Google Shape;57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8"/>
          <p:cNvGrpSpPr/>
          <p:nvPr/>
        </p:nvGrpSpPr>
        <p:grpSpPr>
          <a:xfrm>
            <a:off x="323653" y="2461775"/>
            <a:ext cx="457200" cy="457200"/>
            <a:chOff x="1020916" y="1442088"/>
            <a:chExt cx="457200" cy="457200"/>
          </a:xfrm>
        </p:grpSpPr>
        <p:pic>
          <p:nvPicPr>
            <p:cNvPr id="579" name="Google Shape;579;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8"/>
          <p:cNvGrpSpPr/>
          <p:nvPr/>
        </p:nvGrpSpPr>
        <p:grpSpPr>
          <a:xfrm>
            <a:off x="323641" y="3271838"/>
            <a:ext cx="457200" cy="457200"/>
            <a:chOff x="1020916" y="1442088"/>
            <a:chExt cx="457200" cy="457200"/>
          </a:xfrm>
        </p:grpSpPr>
        <p:pic>
          <p:nvPicPr>
            <p:cNvPr id="582" name="Google Shape;582;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84" name="Google Shape;584;p48"/>
          <p:cNvGrpSpPr/>
          <p:nvPr/>
        </p:nvGrpSpPr>
        <p:grpSpPr>
          <a:xfrm>
            <a:off x="323641" y="4081763"/>
            <a:ext cx="457200" cy="457200"/>
            <a:chOff x="1020916" y="1442088"/>
            <a:chExt cx="457200" cy="457200"/>
          </a:xfrm>
        </p:grpSpPr>
        <p:pic>
          <p:nvPicPr>
            <p:cNvPr id="585" name="Google Shape;585;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6" name="Google Shape;586;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87" name="Shape 587"/>
        <p:cNvGrpSpPr/>
        <p:nvPr/>
      </p:nvGrpSpPr>
      <p:grpSpPr>
        <a:xfrm>
          <a:off x="0" y="0"/>
          <a:ext cx="0" cy="0"/>
          <a:chOff x="0" y="0"/>
          <a:chExt cx="0" cy="0"/>
        </a:xfrm>
      </p:grpSpPr>
      <p:pic>
        <p:nvPicPr>
          <p:cNvPr id="588" name="Google Shape;58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9" name="Google Shape;589;p4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1" name="Google Shape;591;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2" name="Google Shape;592;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93" name="Google Shape;593;p4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4" name="Google Shape;594;p4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6" name="Google Shape;596;p4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7" name="Google Shape;597;p4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8" name="Google Shape;598;p49"/>
          <p:cNvGrpSpPr/>
          <p:nvPr/>
        </p:nvGrpSpPr>
        <p:grpSpPr>
          <a:xfrm>
            <a:off x="323653" y="1652038"/>
            <a:ext cx="457200" cy="457200"/>
            <a:chOff x="1020916" y="1442088"/>
            <a:chExt cx="457200" cy="457200"/>
          </a:xfrm>
        </p:grpSpPr>
        <p:pic>
          <p:nvPicPr>
            <p:cNvPr id="599" name="Google Shape;599;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01" name="Google Shape;601;p49"/>
          <p:cNvGrpSpPr/>
          <p:nvPr/>
        </p:nvGrpSpPr>
        <p:grpSpPr>
          <a:xfrm>
            <a:off x="323653" y="2461775"/>
            <a:ext cx="457200" cy="457200"/>
            <a:chOff x="1020916" y="1442088"/>
            <a:chExt cx="457200" cy="457200"/>
          </a:xfrm>
        </p:grpSpPr>
        <p:pic>
          <p:nvPicPr>
            <p:cNvPr id="602" name="Google Shape;602;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3" name="Google Shape;603;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4" name="Google Shape;604;p49"/>
          <p:cNvGrpSpPr/>
          <p:nvPr/>
        </p:nvGrpSpPr>
        <p:grpSpPr>
          <a:xfrm>
            <a:off x="323641" y="3271838"/>
            <a:ext cx="457200" cy="457200"/>
            <a:chOff x="1020916" y="1442088"/>
            <a:chExt cx="457200" cy="457200"/>
          </a:xfrm>
        </p:grpSpPr>
        <p:pic>
          <p:nvPicPr>
            <p:cNvPr id="605" name="Google Shape;605;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6" name="Google Shape;606;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7" name="Google Shape;607;p49"/>
          <p:cNvGrpSpPr/>
          <p:nvPr/>
        </p:nvGrpSpPr>
        <p:grpSpPr>
          <a:xfrm>
            <a:off x="323641" y="4081763"/>
            <a:ext cx="457200" cy="457200"/>
            <a:chOff x="1020916" y="1442088"/>
            <a:chExt cx="457200" cy="457200"/>
          </a:xfrm>
        </p:grpSpPr>
        <p:pic>
          <p:nvPicPr>
            <p:cNvPr id="608" name="Google Shape;608;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9" name="Google Shape;609;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10" name="Shape 610"/>
        <p:cNvGrpSpPr/>
        <p:nvPr/>
      </p:nvGrpSpPr>
      <p:grpSpPr>
        <a:xfrm>
          <a:off x="0" y="0"/>
          <a:ext cx="0" cy="0"/>
          <a:chOff x="0" y="0"/>
          <a:chExt cx="0" cy="0"/>
        </a:xfrm>
      </p:grpSpPr>
      <p:pic>
        <p:nvPicPr>
          <p:cNvPr id="611" name="Google Shape;611;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2" name="Google Shape;612;p5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14" name="Google Shape;614;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6" name="Google Shape;616;p5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5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5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5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20" name="Google Shape;620;p5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1" name="Google Shape;621;p50"/>
          <p:cNvGrpSpPr/>
          <p:nvPr/>
        </p:nvGrpSpPr>
        <p:grpSpPr>
          <a:xfrm>
            <a:off x="323653" y="1652038"/>
            <a:ext cx="457200" cy="457200"/>
            <a:chOff x="1020916" y="1442088"/>
            <a:chExt cx="457200" cy="457200"/>
          </a:xfrm>
        </p:grpSpPr>
        <p:pic>
          <p:nvPicPr>
            <p:cNvPr id="622" name="Google Shape;62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4" name="Google Shape;624;p50"/>
          <p:cNvGrpSpPr/>
          <p:nvPr/>
        </p:nvGrpSpPr>
        <p:grpSpPr>
          <a:xfrm>
            <a:off x="323653" y="2461775"/>
            <a:ext cx="457200" cy="457200"/>
            <a:chOff x="1020916" y="1442088"/>
            <a:chExt cx="457200" cy="457200"/>
          </a:xfrm>
        </p:grpSpPr>
        <p:pic>
          <p:nvPicPr>
            <p:cNvPr id="625" name="Google Shape;62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6" name="Google Shape;62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7" name="Google Shape;627;p50"/>
          <p:cNvGrpSpPr/>
          <p:nvPr/>
        </p:nvGrpSpPr>
        <p:grpSpPr>
          <a:xfrm>
            <a:off x="323641" y="3271838"/>
            <a:ext cx="457200" cy="457200"/>
            <a:chOff x="1020916" y="1442088"/>
            <a:chExt cx="457200" cy="457200"/>
          </a:xfrm>
        </p:grpSpPr>
        <p:pic>
          <p:nvPicPr>
            <p:cNvPr id="628" name="Google Shape;628;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9" name="Google Shape;629;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30" name="Google Shape;630;p50"/>
          <p:cNvGrpSpPr/>
          <p:nvPr/>
        </p:nvGrpSpPr>
        <p:grpSpPr>
          <a:xfrm>
            <a:off x="323641" y="4081763"/>
            <a:ext cx="457200" cy="457200"/>
            <a:chOff x="1020916" y="1442088"/>
            <a:chExt cx="457200" cy="457200"/>
          </a:xfrm>
        </p:grpSpPr>
        <p:pic>
          <p:nvPicPr>
            <p:cNvPr id="631" name="Google Shape;631;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2" name="Google Shape;632;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33" name="Shape 633"/>
        <p:cNvGrpSpPr/>
        <p:nvPr/>
      </p:nvGrpSpPr>
      <p:grpSpPr>
        <a:xfrm>
          <a:off x="0" y="0"/>
          <a:ext cx="0" cy="0"/>
          <a:chOff x="0" y="0"/>
          <a:chExt cx="0" cy="0"/>
        </a:xfrm>
      </p:grpSpPr>
      <p:pic>
        <p:nvPicPr>
          <p:cNvPr id="634" name="Google Shape;634;p5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35" name="Google Shape;635;p5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7" name="Google Shape;637;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8" name="Google Shape;638;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9" name="Google Shape;639;p5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0" name="Google Shape;640;p51"/>
          <p:cNvSpPr/>
          <p:nvPr>
            <p:ph idx="3" type="pic"/>
          </p:nvPr>
        </p:nvSpPr>
        <p:spPr>
          <a:xfrm>
            <a:off x="324000" y="1893950"/>
            <a:ext cx="2555400" cy="1939500"/>
          </a:xfrm>
          <a:prstGeom prst="rect">
            <a:avLst/>
          </a:prstGeom>
          <a:noFill/>
          <a:ln>
            <a:noFill/>
          </a:ln>
        </p:spPr>
      </p:sp>
      <p:sp>
        <p:nvSpPr>
          <p:cNvPr id="641" name="Google Shape;641;p51"/>
          <p:cNvSpPr/>
          <p:nvPr>
            <p:ph idx="4" type="pic"/>
          </p:nvPr>
        </p:nvSpPr>
        <p:spPr>
          <a:xfrm>
            <a:off x="6256800" y="1893950"/>
            <a:ext cx="2555400" cy="1939500"/>
          </a:xfrm>
          <a:prstGeom prst="rect">
            <a:avLst/>
          </a:prstGeom>
          <a:noFill/>
          <a:ln>
            <a:noFill/>
          </a:ln>
        </p:spPr>
      </p:sp>
      <p:sp>
        <p:nvSpPr>
          <p:cNvPr id="642" name="Google Shape;642;p51"/>
          <p:cNvSpPr/>
          <p:nvPr>
            <p:ph idx="5" type="pic"/>
          </p:nvPr>
        </p:nvSpPr>
        <p:spPr>
          <a:xfrm>
            <a:off x="3294300" y="1893950"/>
            <a:ext cx="2555400" cy="1939500"/>
          </a:xfrm>
          <a:prstGeom prst="rect">
            <a:avLst/>
          </a:prstGeom>
          <a:noFill/>
          <a:ln>
            <a:noFill/>
          </a:ln>
        </p:spPr>
      </p:sp>
      <p:grpSp>
        <p:nvGrpSpPr>
          <p:cNvPr id="643" name="Google Shape;643;p51"/>
          <p:cNvGrpSpPr/>
          <p:nvPr/>
        </p:nvGrpSpPr>
        <p:grpSpPr>
          <a:xfrm>
            <a:off x="1381028" y="4148538"/>
            <a:ext cx="457200" cy="457200"/>
            <a:chOff x="1020916" y="1442088"/>
            <a:chExt cx="457200" cy="457200"/>
          </a:xfrm>
        </p:grpSpPr>
        <p:pic>
          <p:nvPicPr>
            <p:cNvPr id="644" name="Google Shape;644;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5" name="Google Shape;645;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6" name="Google Shape;646;p51"/>
          <p:cNvGrpSpPr/>
          <p:nvPr/>
        </p:nvGrpSpPr>
        <p:grpSpPr>
          <a:xfrm>
            <a:off x="4331066" y="4148550"/>
            <a:ext cx="457200" cy="457200"/>
            <a:chOff x="1020916" y="1442088"/>
            <a:chExt cx="457200" cy="457200"/>
          </a:xfrm>
        </p:grpSpPr>
        <p:pic>
          <p:nvPicPr>
            <p:cNvPr id="647" name="Google Shape;647;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8" name="Google Shape;648;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49" name="Google Shape;649;p51"/>
          <p:cNvGrpSpPr/>
          <p:nvPr/>
        </p:nvGrpSpPr>
        <p:grpSpPr>
          <a:xfrm>
            <a:off x="7305791" y="4148538"/>
            <a:ext cx="457200" cy="457200"/>
            <a:chOff x="1020916" y="1442088"/>
            <a:chExt cx="457200" cy="457200"/>
          </a:xfrm>
        </p:grpSpPr>
        <p:pic>
          <p:nvPicPr>
            <p:cNvPr id="650" name="Google Shape;65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1" name="Google Shape;65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652" name="Shape 652"/>
        <p:cNvGrpSpPr/>
        <p:nvPr/>
      </p:nvGrpSpPr>
      <p:grpSpPr>
        <a:xfrm>
          <a:off x="0" y="0"/>
          <a:ext cx="0" cy="0"/>
          <a:chOff x="0" y="0"/>
          <a:chExt cx="0" cy="0"/>
        </a:xfrm>
      </p:grpSpPr>
      <p:pic>
        <p:nvPicPr>
          <p:cNvPr id="653" name="Google Shape;653;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4" name="Google Shape;654;p5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56" name="Google Shape;65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7" name="Google Shape;65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58" name="Google Shape;658;p5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9" name="Google Shape;659;p52"/>
          <p:cNvSpPr/>
          <p:nvPr>
            <p:ph idx="3" type="pic"/>
          </p:nvPr>
        </p:nvSpPr>
        <p:spPr>
          <a:xfrm>
            <a:off x="324000" y="1893950"/>
            <a:ext cx="2555400" cy="1939500"/>
          </a:xfrm>
          <a:prstGeom prst="rect">
            <a:avLst/>
          </a:prstGeom>
          <a:noFill/>
          <a:ln>
            <a:noFill/>
          </a:ln>
        </p:spPr>
      </p:sp>
      <p:sp>
        <p:nvSpPr>
          <p:cNvPr id="660" name="Google Shape;660;p52"/>
          <p:cNvSpPr/>
          <p:nvPr>
            <p:ph idx="4" type="pic"/>
          </p:nvPr>
        </p:nvSpPr>
        <p:spPr>
          <a:xfrm>
            <a:off x="6256800" y="1893950"/>
            <a:ext cx="2555400" cy="1939500"/>
          </a:xfrm>
          <a:prstGeom prst="rect">
            <a:avLst/>
          </a:prstGeom>
          <a:noFill/>
          <a:ln>
            <a:noFill/>
          </a:ln>
        </p:spPr>
      </p:sp>
      <p:sp>
        <p:nvSpPr>
          <p:cNvPr id="661" name="Google Shape;661;p52"/>
          <p:cNvSpPr/>
          <p:nvPr>
            <p:ph idx="5" type="pic"/>
          </p:nvPr>
        </p:nvSpPr>
        <p:spPr>
          <a:xfrm>
            <a:off x="3294300" y="1893950"/>
            <a:ext cx="2555400" cy="1939500"/>
          </a:xfrm>
          <a:prstGeom prst="rect">
            <a:avLst/>
          </a:prstGeom>
          <a:noFill/>
          <a:ln>
            <a:noFill/>
          </a:ln>
        </p:spPr>
      </p:sp>
      <p:grpSp>
        <p:nvGrpSpPr>
          <p:cNvPr id="662" name="Google Shape;662;p52"/>
          <p:cNvGrpSpPr/>
          <p:nvPr/>
        </p:nvGrpSpPr>
        <p:grpSpPr>
          <a:xfrm>
            <a:off x="1381028" y="4148538"/>
            <a:ext cx="457200" cy="457200"/>
            <a:chOff x="1020916" y="1442088"/>
            <a:chExt cx="457200" cy="457200"/>
          </a:xfrm>
        </p:grpSpPr>
        <p:pic>
          <p:nvPicPr>
            <p:cNvPr id="663" name="Google Shape;663;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4" name="Google Shape;664;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65" name="Google Shape;665;p52"/>
          <p:cNvGrpSpPr/>
          <p:nvPr/>
        </p:nvGrpSpPr>
        <p:grpSpPr>
          <a:xfrm>
            <a:off x="4331066" y="4148550"/>
            <a:ext cx="457200" cy="457200"/>
            <a:chOff x="1020916" y="1442088"/>
            <a:chExt cx="457200" cy="457200"/>
          </a:xfrm>
        </p:grpSpPr>
        <p:pic>
          <p:nvPicPr>
            <p:cNvPr id="666" name="Google Shape;666;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67" name="Google Shape;667;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68" name="Google Shape;668;p52"/>
          <p:cNvGrpSpPr/>
          <p:nvPr/>
        </p:nvGrpSpPr>
        <p:grpSpPr>
          <a:xfrm>
            <a:off x="7305791" y="4148538"/>
            <a:ext cx="457200" cy="457200"/>
            <a:chOff x="1020916" y="1442088"/>
            <a:chExt cx="457200" cy="457200"/>
          </a:xfrm>
        </p:grpSpPr>
        <p:pic>
          <p:nvPicPr>
            <p:cNvPr id="669" name="Google Shape;669;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0" name="Google Shape;670;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671" name="Shape 671"/>
        <p:cNvGrpSpPr/>
        <p:nvPr/>
      </p:nvGrpSpPr>
      <p:grpSpPr>
        <a:xfrm>
          <a:off x="0" y="0"/>
          <a:ext cx="0" cy="0"/>
          <a:chOff x="0" y="0"/>
          <a:chExt cx="0" cy="0"/>
        </a:xfrm>
      </p:grpSpPr>
      <p:pic>
        <p:nvPicPr>
          <p:cNvPr id="672" name="Google Shape;672;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3" name="Google Shape;673;p5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75" name="Google Shape;675;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76" name="Google Shape;676;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77" name="Google Shape;677;p5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8" name="Google Shape;678;p53"/>
          <p:cNvSpPr/>
          <p:nvPr>
            <p:ph idx="3" type="pic"/>
          </p:nvPr>
        </p:nvSpPr>
        <p:spPr>
          <a:xfrm>
            <a:off x="324000" y="1893950"/>
            <a:ext cx="2555400" cy="1939500"/>
          </a:xfrm>
          <a:prstGeom prst="rect">
            <a:avLst/>
          </a:prstGeom>
          <a:noFill/>
          <a:ln>
            <a:noFill/>
          </a:ln>
        </p:spPr>
      </p:sp>
      <p:sp>
        <p:nvSpPr>
          <p:cNvPr id="679" name="Google Shape;679;p53"/>
          <p:cNvSpPr/>
          <p:nvPr>
            <p:ph idx="4" type="pic"/>
          </p:nvPr>
        </p:nvSpPr>
        <p:spPr>
          <a:xfrm>
            <a:off x="6256800" y="1893950"/>
            <a:ext cx="2555400" cy="1939500"/>
          </a:xfrm>
          <a:prstGeom prst="rect">
            <a:avLst/>
          </a:prstGeom>
          <a:noFill/>
          <a:ln>
            <a:noFill/>
          </a:ln>
        </p:spPr>
      </p:sp>
      <p:sp>
        <p:nvSpPr>
          <p:cNvPr id="680" name="Google Shape;680;p53"/>
          <p:cNvSpPr/>
          <p:nvPr>
            <p:ph idx="5" type="pic"/>
          </p:nvPr>
        </p:nvSpPr>
        <p:spPr>
          <a:xfrm>
            <a:off x="3294300" y="1893950"/>
            <a:ext cx="2555400" cy="1939500"/>
          </a:xfrm>
          <a:prstGeom prst="rect">
            <a:avLst/>
          </a:prstGeom>
          <a:noFill/>
          <a:ln>
            <a:noFill/>
          </a:ln>
        </p:spPr>
      </p:sp>
      <p:grpSp>
        <p:nvGrpSpPr>
          <p:cNvPr id="681" name="Google Shape;681;p53"/>
          <p:cNvGrpSpPr/>
          <p:nvPr/>
        </p:nvGrpSpPr>
        <p:grpSpPr>
          <a:xfrm>
            <a:off x="1381028" y="4148538"/>
            <a:ext cx="457200" cy="457200"/>
            <a:chOff x="1020916" y="1442088"/>
            <a:chExt cx="457200" cy="457200"/>
          </a:xfrm>
        </p:grpSpPr>
        <p:pic>
          <p:nvPicPr>
            <p:cNvPr id="682" name="Google Shape;68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3" name="Google Shape;68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84" name="Google Shape;684;p53"/>
          <p:cNvGrpSpPr/>
          <p:nvPr/>
        </p:nvGrpSpPr>
        <p:grpSpPr>
          <a:xfrm>
            <a:off x="4331066" y="4148550"/>
            <a:ext cx="457200" cy="457200"/>
            <a:chOff x="1020916" y="1442088"/>
            <a:chExt cx="457200" cy="457200"/>
          </a:xfrm>
        </p:grpSpPr>
        <p:pic>
          <p:nvPicPr>
            <p:cNvPr id="685" name="Google Shape;68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6" name="Google Shape;68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87" name="Google Shape;687;p53"/>
          <p:cNvGrpSpPr/>
          <p:nvPr/>
        </p:nvGrpSpPr>
        <p:grpSpPr>
          <a:xfrm>
            <a:off x="7305791" y="4148538"/>
            <a:ext cx="457200" cy="457200"/>
            <a:chOff x="1020916" y="1442088"/>
            <a:chExt cx="457200" cy="457200"/>
          </a:xfrm>
        </p:grpSpPr>
        <p:pic>
          <p:nvPicPr>
            <p:cNvPr id="688" name="Google Shape;68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9" name="Google Shape;68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90" name="Shape 690"/>
        <p:cNvGrpSpPr/>
        <p:nvPr/>
      </p:nvGrpSpPr>
      <p:grpSpPr>
        <a:xfrm>
          <a:off x="0" y="0"/>
          <a:ext cx="0" cy="0"/>
          <a:chOff x="0" y="0"/>
          <a:chExt cx="0" cy="0"/>
        </a:xfrm>
      </p:grpSpPr>
      <p:pic>
        <p:nvPicPr>
          <p:cNvPr id="691" name="Google Shape;691;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2" name="Google Shape;692;p5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5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94" name="Google Shape;69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96" name="Google Shape;696;p5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54"/>
          <p:cNvSpPr/>
          <p:nvPr>
            <p:ph idx="3" type="pic"/>
          </p:nvPr>
        </p:nvSpPr>
        <p:spPr>
          <a:xfrm>
            <a:off x="324000" y="1893950"/>
            <a:ext cx="2555400" cy="1939500"/>
          </a:xfrm>
          <a:prstGeom prst="rect">
            <a:avLst/>
          </a:prstGeom>
          <a:noFill/>
          <a:ln>
            <a:noFill/>
          </a:ln>
        </p:spPr>
      </p:sp>
      <p:sp>
        <p:nvSpPr>
          <p:cNvPr id="698" name="Google Shape;698;p54"/>
          <p:cNvSpPr/>
          <p:nvPr>
            <p:ph idx="4" type="pic"/>
          </p:nvPr>
        </p:nvSpPr>
        <p:spPr>
          <a:xfrm>
            <a:off x="6256800" y="1893950"/>
            <a:ext cx="2555400" cy="1939500"/>
          </a:xfrm>
          <a:prstGeom prst="rect">
            <a:avLst/>
          </a:prstGeom>
          <a:noFill/>
          <a:ln>
            <a:noFill/>
          </a:ln>
        </p:spPr>
      </p:sp>
      <p:sp>
        <p:nvSpPr>
          <p:cNvPr id="699" name="Google Shape;699;p54"/>
          <p:cNvSpPr/>
          <p:nvPr>
            <p:ph idx="5" type="pic"/>
          </p:nvPr>
        </p:nvSpPr>
        <p:spPr>
          <a:xfrm>
            <a:off x="3294300" y="1893950"/>
            <a:ext cx="2555400" cy="1939500"/>
          </a:xfrm>
          <a:prstGeom prst="rect">
            <a:avLst/>
          </a:prstGeom>
          <a:noFill/>
          <a:ln>
            <a:noFill/>
          </a:ln>
        </p:spPr>
      </p:sp>
      <p:grpSp>
        <p:nvGrpSpPr>
          <p:cNvPr id="700" name="Google Shape;700;p54"/>
          <p:cNvGrpSpPr/>
          <p:nvPr/>
        </p:nvGrpSpPr>
        <p:grpSpPr>
          <a:xfrm>
            <a:off x="1381028" y="4148538"/>
            <a:ext cx="457200" cy="457200"/>
            <a:chOff x="1020916" y="1442088"/>
            <a:chExt cx="457200" cy="457200"/>
          </a:xfrm>
        </p:grpSpPr>
        <p:pic>
          <p:nvPicPr>
            <p:cNvPr id="701" name="Google Shape;701;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2" name="Google Shape;702;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03" name="Google Shape;703;p54"/>
          <p:cNvGrpSpPr/>
          <p:nvPr/>
        </p:nvGrpSpPr>
        <p:grpSpPr>
          <a:xfrm>
            <a:off x="4331066" y="4148550"/>
            <a:ext cx="457200" cy="457200"/>
            <a:chOff x="1020916" y="1442088"/>
            <a:chExt cx="457200" cy="457200"/>
          </a:xfrm>
        </p:grpSpPr>
        <p:pic>
          <p:nvPicPr>
            <p:cNvPr id="704" name="Google Shape;704;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5" name="Google Shape;705;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06" name="Google Shape;706;p54"/>
          <p:cNvGrpSpPr/>
          <p:nvPr/>
        </p:nvGrpSpPr>
        <p:grpSpPr>
          <a:xfrm>
            <a:off x="7305791" y="4148538"/>
            <a:ext cx="457200" cy="457200"/>
            <a:chOff x="1020916" y="1442088"/>
            <a:chExt cx="457200" cy="457200"/>
          </a:xfrm>
        </p:grpSpPr>
        <p:pic>
          <p:nvPicPr>
            <p:cNvPr id="707" name="Google Shape;707;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08" name="Google Shape;708;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09" name="Shape 709"/>
        <p:cNvGrpSpPr/>
        <p:nvPr/>
      </p:nvGrpSpPr>
      <p:grpSpPr>
        <a:xfrm>
          <a:off x="0" y="0"/>
          <a:ext cx="0" cy="0"/>
          <a:chOff x="0" y="0"/>
          <a:chExt cx="0" cy="0"/>
        </a:xfrm>
      </p:grpSpPr>
      <p:pic>
        <p:nvPicPr>
          <p:cNvPr id="710" name="Google Shape;710;p5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11" name="Google Shape;711;p5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13" name="Google Shape;713;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4" name="Google Shape;714;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15" name="Google Shape;715;p5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16" name="Shape 716"/>
        <p:cNvGrpSpPr/>
        <p:nvPr/>
      </p:nvGrpSpPr>
      <p:grpSpPr>
        <a:xfrm>
          <a:off x="0" y="0"/>
          <a:ext cx="0" cy="0"/>
          <a:chOff x="0" y="0"/>
          <a:chExt cx="0" cy="0"/>
        </a:xfrm>
      </p:grpSpPr>
      <p:pic>
        <p:nvPicPr>
          <p:cNvPr id="717" name="Google Shape;717;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8" name="Google Shape;718;p5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0" name="Google Shape;720;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1" name="Google Shape;721;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22" name="Google Shape;722;p5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23" name="Shape 723"/>
        <p:cNvGrpSpPr/>
        <p:nvPr/>
      </p:nvGrpSpPr>
      <p:grpSpPr>
        <a:xfrm>
          <a:off x="0" y="0"/>
          <a:ext cx="0" cy="0"/>
          <a:chOff x="0" y="0"/>
          <a:chExt cx="0" cy="0"/>
        </a:xfrm>
      </p:grpSpPr>
      <p:pic>
        <p:nvPicPr>
          <p:cNvPr id="724" name="Google Shape;724;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27" name="Google Shape;727;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8" name="Google Shape;728;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9" name="Google Shape;729;p5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30" name="Shape 730"/>
        <p:cNvGrpSpPr/>
        <p:nvPr/>
      </p:nvGrpSpPr>
      <p:grpSpPr>
        <a:xfrm>
          <a:off x="0" y="0"/>
          <a:ext cx="0" cy="0"/>
          <a:chOff x="0" y="0"/>
          <a:chExt cx="0" cy="0"/>
        </a:xfrm>
      </p:grpSpPr>
      <p:pic>
        <p:nvPicPr>
          <p:cNvPr id="731" name="Google Shape;731;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32" name="Google Shape;732;p5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34" name="Google Shape;734;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35" name="Google Shape;735;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36" name="Google Shape;736;p5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37" name="Shape 737"/>
        <p:cNvGrpSpPr/>
        <p:nvPr/>
      </p:nvGrpSpPr>
      <p:grpSpPr>
        <a:xfrm>
          <a:off x="0" y="0"/>
          <a:ext cx="0" cy="0"/>
          <a:chOff x="0" y="0"/>
          <a:chExt cx="0" cy="0"/>
        </a:xfrm>
      </p:grpSpPr>
      <p:pic>
        <p:nvPicPr>
          <p:cNvPr id="738" name="Google Shape;738;p5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39" name="Google Shape;739;p5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41" name="Google Shape;741;p5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42" name="Google Shape;74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743" name="Google Shape;743;p5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44" name="Google Shape;744;p5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745" name="Shape 745"/>
        <p:cNvGrpSpPr/>
        <p:nvPr/>
      </p:nvGrpSpPr>
      <p:grpSpPr>
        <a:xfrm>
          <a:off x="0" y="0"/>
          <a:ext cx="0" cy="0"/>
          <a:chOff x="0" y="0"/>
          <a:chExt cx="0" cy="0"/>
        </a:xfrm>
      </p:grpSpPr>
      <p:pic>
        <p:nvPicPr>
          <p:cNvPr id="746" name="Google Shape;746;p6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7" name="Google Shape;747;p6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49" name="Google Shape;74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750" name="Google Shape;750;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1" name="Google Shape;751;p6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52" name="Google Shape;752;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753" name="Shape 753"/>
        <p:cNvGrpSpPr/>
        <p:nvPr/>
      </p:nvGrpSpPr>
      <p:grpSpPr>
        <a:xfrm>
          <a:off x="0" y="0"/>
          <a:ext cx="0" cy="0"/>
          <a:chOff x="0" y="0"/>
          <a:chExt cx="0" cy="0"/>
        </a:xfrm>
      </p:grpSpPr>
      <p:pic>
        <p:nvPicPr>
          <p:cNvPr id="754" name="Google Shape;754;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55" name="Google Shape;755;p6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57" name="Google Shape;75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758" name="Google Shape;75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59" name="Google Shape;759;p6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0" name="Google Shape;760;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761" name="Shape 761"/>
        <p:cNvGrpSpPr/>
        <p:nvPr/>
      </p:nvGrpSpPr>
      <p:grpSpPr>
        <a:xfrm>
          <a:off x="0" y="0"/>
          <a:ext cx="0" cy="0"/>
          <a:chOff x="0" y="0"/>
          <a:chExt cx="0" cy="0"/>
        </a:xfrm>
      </p:grpSpPr>
      <p:pic>
        <p:nvPicPr>
          <p:cNvPr id="762" name="Google Shape;762;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63" name="Google Shape;763;p6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6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65" name="Google Shape;765;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766" name="Google Shape;766;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67" name="Google Shape;767;p6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68" name="Google Shape;76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769" name="Shape 769"/>
        <p:cNvGrpSpPr/>
        <p:nvPr/>
      </p:nvGrpSpPr>
      <p:grpSpPr>
        <a:xfrm>
          <a:off x="0" y="0"/>
          <a:ext cx="0" cy="0"/>
          <a:chOff x="0" y="0"/>
          <a:chExt cx="0" cy="0"/>
        </a:xfrm>
      </p:grpSpPr>
      <p:pic>
        <p:nvPicPr>
          <p:cNvPr id="770" name="Google Shape;770;p6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71" name="Google Shape;771;p6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6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73" name="Google Shape;773;p6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4" name="Google Shape;774;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775" name="Google Shape;775;p6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76" name="Google Shape;776;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777" name="Shape 777"/>
        <p:cNvGrpSpPr/>
        <p:nvPr/>
      </p:nvGrpSpPr>
      <p:grpSpPr>
        <a:xfrm>
          <a:off x="0" y="0"/>
          <a:ext cx="0" cy="0"/>
          <a:chOff x="0" y="0"/>
          <a:chExt cx="0" cy="0"/>
        </a:xfrm>
      </p:grpSpPr>
      <p:pic>
        <p:nvPicPr>
          <p:cNvPr id="778" name="Google Shape;778;p6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9" name="Google Shape;779;p6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6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1" name="Google Shape;781;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82" name="Google Shape;782;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6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84" name="Google Shape;784;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85" name="Shape 785"/>
        <p:cNvGrpSpPr/>
        <p:nvPr/>
      </p:nvGrpSpPr>
      <p:grpSpPr>
        <a:xfrm>
          <a:off x="0" y="0"/>
          <a:ext cx="0" cy="0"/>
          <a:chOff x="0" y="0"/>
          <a:chExt cx="0" cy="0"/>
        </a:xfrm>
      </p:grpSpPr>
      <p:pic>
        <p:nvPicPr>
          <p:cNvPr id="786" name="Google Shape;786;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7" name="Google Shape;787;p6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6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9" name="Google Shape;789;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90" name="Google Shape;790;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1" name="Google Shape;791;p6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92" name="Google Shape;792;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93" name="Shape 793"/>
        <p:cNvGrpSpPr/>
        <p:nvPr/>
      </p:nvGrpSpPr>
      <p:grpSpPr>
        <a:xfrm>
          <a:off x="0" y="0"/>
          <a:ext cx="0" cy="0"/>
          <a:chOff x="0" y="0"/>
          <a:chExt cx="0" cy="0"/>
        </a:xfrm>
      </p:grpSpPr>
      <p:grpSp>
        <p:nvGrpSpPr>
          <p:cNvPr id="794" name="Google Shape;794;p66"/>
          <p:cNvGrpSpPr/>
          <p:nvPr/>
        </p:nvGrpSpPr>
        <p:grpSpPr>
          <a:xfrm>
            <a:off x="0" y="1"/>
            <a:ext cx="9151202" cy="649234"/>
            <a:chOff x="0" y="1"/>
            <a:chExt cx="9151202" cy="649234"/>
          </a:xfrm>
        </p:grpSpPr>
        <p:pic>
          <p:nvPicPr>
            <p:cNvPr id="795" name="Google Shape;795;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96" name="Google Shape;796;p6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 name="Google Shape;797;p6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98" name="Google Shape;798;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99" name="Google Shape;799;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00" name="Google Shape;800;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01" name="Google Shape;801;p6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02" name="Shape 802"/>
        <p:cNvGrpSpPr/>
        <p:nvPr/>
      </p:nvGrpSpPr>
      <p:grpSpPr>
        <a:xfrm>
          <a:off x="0" y="0"/>
          <a:ext cx="0" cy="0"/>
          <a:chOff x="0" y="0"/>
          <a:chExt cx="0" cy="0"/>
        </a:xfrm>
      </p:grpSpPr>
      <p:sp>
        <p:nvSpPr>
          <p:cNvPr id="803" name="Google Shape;803;p67"/>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4" name="Google Shape;804;p67"/>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805" name="Google Shape;805;p6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6" name="Google Shape;806;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07" name="Google Shape;807;p6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08" name="Shape 808"/>
        <p:cNvGrpSpPr/>
        <p:nvPr/>
      </p:nvGrpSpPr>
      <p:grpSpPr>
        <a:xfrm>
          <a:off x="0" y="0"/>
          <a:ext cx="0" cy="0"/>
          <a:chOff x="0" y="0"/>
          <a:chExt cx="0" cy="0"/>
        </a:xfrm>
      </p:grpSpPr>
      <p:sp>
        <p:nvSpPr>
          <p:cNvPr id="809" name="Google Shape;809;p68"/>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0" name="Google Shape;810;p68"/>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811" name="Google Shape;811;p6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13" name="Google Shape;813;p68"/>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816" name="Google Shape;816;p69"/>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17" name="Shape 817"/>
        <p:cNvGrpSpPr/>
        <p:nvPr/>
      </p:nvGrpSpPr>
      <p:grpSpPr>
        <a:xfrm>
          <a:off x="0" y="0"/>
          <a:ext cx="0" cy="0"/>
          <a:chOff x="0" y="0"/>
          <a:chExt cx="0" cy="0"/>
        </a:xfrm>
      </p:grpSpPr>
      <p:sp>
        <p:nvSpPr>
          <p:cNvPr id="818" name="Google Shape;818;p70"/>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19" name="Google Shape;819;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20" name="Google Shape;820;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21" name="Google Shape;821;p70"/>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822" name="Google Shape;822;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23" name="Google Shape;823;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824" name="Google Shape;824;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825" name="Google Shape;825;p70"/>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26" name="Google Shape;826;p70"/>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27" name="Shape 827"/>
        <p:cNvGrpSpPr/>
        <p:nvPr/>
      </p:nvGrpSpPr>
      <p:grpSpPr>
        <a:xfrm>
          <a:off x="0" y="0"/>
          <a:ext cx="0" cy="0"/>
          <a:chOff x="0" y="0"/>
          <a:chExt cx="0" cy="0"/>
        </a:xfrm>
      </p:grpSpPr>
      <p:pic>
        <p:nvPicPr>
          <p:cNvPr id="828" name="Google Shape;828;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29" name="Google Shape;829;p71"/>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30" name="Shape 830"/>
        <p:cNvGrpSpPr/>
        <p:nvPr/>
      </p:nvGrpSpPr>
      <p:grpSpPr>
        <a:xfrm>
          <a:off x="0" y="0"/>
          <a:ext cx="0" cy="0"/>
          <a:chOff x="0" y="0"/>
          <a:chExt cx="0" cy="0"/>
        </a:xfrm>
      </p:grpSpPr>
      <p:sp>
        <p:nvSpPr>
          <p:cNvPr id="831" name="Google Shape;831;p72"/>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832" name="Shape 832"/>
        <p:cNvGrpSpPr/>
        <p:nvPr/>
      </p:nvGrpSpPr>
      <p:grpSpPr>
        <a:xfrm>
          <a:off x="0" y="0"/>
          <a:ext cx="0" cy="0"/>
          <a:chOff x="0" y="0"/>
          <a:chExt cx="0" cy="0"/>
        </a:xfrm>
      </p:grpSpPr>
      <p:sp>
        <p:nvSpPr>
          <p:cNvPr id="833" name="Google Shape;833;p7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7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835" name="Google Shape;835;p7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836" name="Google Shape;836;p7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7" name="Google Shape;837;p7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838" name="Google Shape;838;p7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2.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7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image" Target="../media/image71.png"/><Relationship Id="rId4" Type="http://schemas.openxmlformats.org/officeDocument/2006/relationships/image" Target="../media/image7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image" Target="../media/image74.png"/><Relationship Id="rId6" Type="http://schemas.openxmlformats.org/officeDocument/2006/relationships/image" Target="../media/image7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75.png"/><Relationship Id="rId4" Type="http://schemas.openxmlformats.org/officeDocument/2006/relationships/image" Target="../media/image73.png"/><Relationship Id="rId5" Type="http://schemas.openxmlformats.org/officeDocument/2006/relationships/image" Target="../media/image7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1.xml"/><Relationship Id="rId3" Type="http://schemas.openxmlformats.org/officeDocument/2006/relationships/image" Target="../media/image75.png"/><Relationship Id="rId4" Type="http://schemas.openxmlformats.org/officeDocument/2006/relationships/image" Target="../media/image72.png"/><Relationship Id="rId5" Type="http://schemas.openxmlformats.org/officeDocument/2006/relationships/image" Target="../media/image7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2.xml"/><Relationship Id="rId3" Type="http://schemas.openxmlformats.org/officeDocument/2006/relationships/image" Target="../media/image6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3.xml"/><Relationship Id="rId3" Type="http://schemas.openxmlformats.org/officeDocument/2006/relationships/image" Target="../media/image6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 Id="rId3" Type="http://schemas.openxmlformats.org/officeDocument/2006/relationships/image" Target="../media/image72.png"/><Relationship Id="rId4" Type="http://schemas.openxmlformats.org/officeDocument/2006/relationships/image" Target="../media/image7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71.png"/><Relationship Id="rId4" Type="http://schemas.openxmlformats.org/officeDocument/2006/relationships/image" Target="../media/image7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4.xml"/><Relationship Id="rId3" Type="http://schemas.openxmlformats.org/officeDocument/2006/relationships/image" Target="../media/image72.png"/><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0.xml"/><Relationship Id="rId3" Type="http://schemas.openxmlformats.org/officeDocument/2006/relationships/image" Target="../media/image72.png"/><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1.xml"/><Relationship Id="rId3"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 Id="rId3" Type="http://schemas.openxmlformats.org/officeDocument/2006/relationships/image" Target="../media/image7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3.xml"/><Relationship Id="rId3"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 Id="rId3" Type="http://schemas.openxmlformats.org/officeDocument/2006/relationships/image" Target="../media/image71.png"/><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2.xml"/><Relationship Id="rId3" Type="http://schemas.openxmlformats.org/officeDocument/2006/relationships/image" Target="../media/image7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4.xml"/><Relationship Id="rId3" Type="http://schemas.openxmlformats.org/officeDocument/2006/relationships/image" Target="../media/image7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6.xml"/><Relationship Id="rId3"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7.xml"/><Relationship Id="rId3" Type="http://schemas.openxmlformats.org/officeDocument/2006/relationships/image" Target="../media/image81.png"/><Relationship Id="rId4" Type="http://schemas.openxmlformats.org/officeDocument/2006/relationships/image" Target="../media/image73.png"/><Relationship Id="rId5" Type="http://schemas.openxmlformats.org/officeDocument/2006/relationships/image" Target="../media/image7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8.xml"/><Relationship Id="rId3" Type="http://schemas.openxmlformats.org/officeDocument/2006/relationships/image" Target="../media/image7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9.xml"/><Relationship Id="rId3" Type="http://schemas.openxmlformats.org/officeDocument/2006/relationships/image" Target="../media/image7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5.xml"/><Relationship Id="rId3" Type="http://schemas.openxmlformats.org/officeDocument/2006/relationships/image" Target="../media/image7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1.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advertising</a:t>
            </a:r>
            <a:endParaRPr/>
          </a:p>
        </p:txBody>
      </p:sp>
      <p:sp>
        <p:nvSpPr>
          <p:cNvPr id="844" name="Google Shape;844;p74"/>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Thinking critically with maths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8" name="Shape 848"/>
        <p:cNvGrpSpPr/>
        <p:nvPr/>
      </p:nvGrpSpPr>
      <p:grpSpPr>
        <a:xfrm>
          <a:off x="0" y="0"/>
          <a:ext cx="0" cy="0"/>
          <a:chOff x="0" y="0"/>
          <a:chExt cx="0" cy="0"/>
        </a:xfrm>
      </p:grpSpPr>
      <p:sp>
        <p:nvSpPr>
          <p:cNvPr id="849" name="Google Shape;849;p75"/>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7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analyse promotions and marketing claims.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77"/>
          <p:cNvSpPr txBox="1"/>
          <p:nvPr>
            <p:ph idx="1" type="subTitle"/>
          </p:nvPr>
        </p:nvSpPr>
        <p:spPr>
          <a:xfrm>
            <a:off x="324000" y="1069850"/>
            <a:ext cx="8496000" cy="99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sz="2000">
                <a:solidFill>
                  <a:schemeClr val="dk1"/>
                </a:solidFill>
              </a:rPr>
              <a:t>Proportion is a part to whole (sometimes part to part) comparison. If two things are proportional then the ratio of part to whole is maintained and the multiplicative relationship between parts is also maintained. </a:t>
            </a:r>
            <a:endParaRPr b="0" sz="2000">
              <a:solidFill>
                <a:schemeClr val="dk1"/>
              </a:solidFill>
            </a:endParaRPr>
          </a:p>
        </p:txBody>
      </p:sp>
      <p:sp>
        <p:nvSpPr>
          <p:cNvPr id="860" name="Google Shape;860;p77"/>
          <p:cNvSpPr txBox="1"/>
          <p:nvPr>
            <p:ph idx="1" type="subTitle"/>
          </p:nvPr>
        </p:nvSpPr>
        <p:spPr>
          <a:xfrm>
            <a:off x="324000" y="2822450"/>
            <a:ext cx="8496000" cy="99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0" lang="en-GB" sz="2000">
                <a:solidFill>
                  <a:schemeClr val="dk1"/>
                </a:solidFill>
              </a:rPr>
              <a:t>A unit is one of something that defines the 'one' you are counting in. </a:t>
            </a:r>
            <a:r>
              <a:rPr b="0" lang="en-GB" sz="2000">
                <a:solidFill>
                  <a:schemeClr val="dk1"/>
                </a:solidFill>
              </a:rPr>
              <a:t> </a:t>
            </a:r>
            <a:endParaRPr b="0"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8"/>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866" name="Google Shape;866;p7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Unit pricing</a:t>
            </a:r>
            <a:endParaRPr/>
          </a:p>
        </p:txBody>
      </p:sp>
      <p:sp>
        <p:nvSpPr>
          <p:cNvPr id="867" name="Google Shape;867;p7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advertising</a:t>
            </a:r>
            <a:endParaRPr/>
          </a:p>
        </p:txBody>
      </p:sp>
      <p:pic>
        <p:nvPicPr>
          <p:cNvPr id="868" name="Google Shape;868;p78"/>
          <p:cNvPicPr preferRelativeResize="0"/>
          <p:nvPr/>
        </p:nvPicPr>
        <p:blipFill>
          <a:blip r:embed="rId3">
            <a:alphaModFix/>
          </a:blip>
          <a:stretch>
            <a:fillRect/>
          </a:stretch>
        </p:blipFill>
        <p:spPr>
          <a:xfrm>
            <a:off x="416575" y="1741000"/>
            <a:ext cx="450575" cy="446750"/>
          </a:xfrm>
          <a:prstGeom prst="rect">
            <a:avLst/>
          </a:prstGeom>
          <a:noFill/>
          <a:ln>
            <a:noFill/>
          </a:ln>
        </p:spPr>
      </p:pic>
      <p:sp>
        <p:nvSpPr>
          <p:cNvPr id="869" name="Google Shape;869;p7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adverts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875" name="Google Shape;875;p79"/>
          <p:cNvSpPr txBox="1"/>
          <p:nvPr>
            <p:ph idx="1" type="body"/>
          </p:nvPr>
        </p:nvSpPr>
        <p:spPr>
          <a:xfrm>
            <a:off x="324000" y="759300"/>
            <a:ext cx="8496000" cy="67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can use our proportion skills to help us make decisions about value for money.</a:t>
            </a:r>
            <a:endParaRPr sz="2000"/>
          </a:p>
        </p:txBody>
      </p:sp>
      <p:sp>
        <p:nvSpPr>
          <p:cNvPr id="876" name="Google Shape;876;p79"/>
          <p:cNvSpPr txBox="1"/>
          <p:nvPr>
            <p:ph idx="1" type="body"/>
          </p:nvPr>
        </p:nvSpPr>
        <p:spPr>
          <a:xfrm>
            <a:off x="324000" y="1620000"/>
            <a:ext cx="8496000" cy="67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supermarket offers 330 ml cans of lemonade in two different sized packs. </a:t>
            </a:r>
            <a:endParaRPr sz="2000"/>
          </a:p>
        </p:txBody>
      </p:sp>
      <p:sp>
        <p:nvSpPr>
          <p:cNvPr id="877" name="Google Shape;877;p79"/>
          <p:cNvSpPr/>
          <p:nvPr/>
        </p:nvSpPr>
        <p:spPr>
          <a:xfrm>
            <a:off x="514725" y="2661300"/>
            <a:ext cx="27522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8" name="Google Shape;878;p79"/>
          <p:cNvSpPr txBox="1"/>
          <p:nvPr>
            <p:ph idx="1" type="body"/>
          </p:nvPr>
        </p:nvSpPr>
        <p:spPr>
          <a:xfrm>
            <a:off x="603500" y="2723225"/>
            <a:ext cx="2566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Special offer:</a:t>
            </a:r>
            <a:endParaRPr sz="2000"/>
          </a:p>
          <a:p>
            <a:pPr indent="0" lvl="0" marL="0" rtl="0" algn="l">
              <a:lnSpc>
                <a:spcPct val="115000"/>
              </a:lnSpc>
              <a:spcBef>
                <a:spcPts val="0"/>
              </a:spcBef>
              <a:spcAft>
                <a:spcPts val="0"/>
              </a:spcAft>
              <a:buNone/>
            </a:pPr>
            <a:r>
              <a:rPr lang="en-GB" sz="2000"/>
              <a:t>8 pack of lemonade </a:t>
            </a:r>
            <a:r>
              <a:rPr lang="en-GB" sz="2000"/>
              <a:t> </a:t>
            </a:r>
            <a:endParaRPr sz="2000"/>
          </a:p>
          <a:p>
            <a:pPr indent="0" lvl="0" marL="0" rtl="0" algn="l">
              <a:lnSpc>
                <a:spcPct val="115000"/>
              </a:lnSpc>
              <a:spcBef>
                <a:spcPts val="0"/>
              </a:spcBef>
              <a:spcAft>
                <a:spcPts val="0"/>
              </a:spcAft>
              <a:buNone/>
            </a:pPr>
            <a:r>
              <a:rPr lang="en-GB" sz="2000"/>
              <a:t>£4.10</a:t>
            </a:r>
            <a:endParaRPr sz="2000"/>
          </a:p>
        </p:txBody>
      </p:sp>
      <p:sp>
        <p:nvSpPr>
          <p:cNvPr id="879" name="Google Shape;879;p79"/>
          <p:cNvSpPr/>
          <p:nvPr/>
        </p:nvSpPr>
        <p:spPr>
          <a:xfrm>
            <a:off x="5506500" y="2608975"/>
            <a:ext cx="17751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0" name="Google Shape;880;p79"/>
          <p:cNvSpPr txBox="1"/>
          <p:nvPr>
            <p:ph idx="1" type="body"/>
          </p:nvPr>
        </p:nvSpPr>
        <p:spPr>
          <a:xfrm>
            <a:off x="5595275" y="2670900"/>
            <a:ext cx="1977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a:t>
            </a:r>
            <a:r>
              <a:rPr lang="en-GB" sz="2000"/>
              <a:t> pack of lemonade  </a:t>
            </a:r>
            <a:endParaRPr sz="2000"/>
          </a:p>
          <a:p>
            <a:pPr indent="0" lvl="0" marL="0" rtl="0" algn="l">
              <a:lnSpc>
                <a:spcPct val="115000"/>
              </a:lnSpc>
              <a:spcBef>
                <a:spcPts val="0"/>
              </a:spcBef>
              <a:spcAft>
                <a:spcPts val="0"/>
              </a:spcAft>
              <a:buNone/>
            </a:pPr>
            <a:r>
              <a:rPr lang="en-GB" sz="2000"/>
              <a:t>£6.20</a:t>
            </a:r>
            <a:endParaRPr sz="2000"/>
          </a:p>
        </p:txBody>
      </p:sp>
      <p:sp>
        <p:nvSpPr>
          <p:cNvPr id="881" name="Google Shape;881;p79"/>
          <p:cNvSpPr txBox="1"/>
          <p:nvPr>
            <p:ph idx="1" type="body"/>
          </p:nvPr>
        </p:nvSpPr>
        <p:spPr>
          <a:xfrm>
            <a:off x="324000" y="4253850"/>
            <a:ext cx="8496000" cy="43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can we work out which is better value for money?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887" name="Google Shape;887;p80"/>
          <p:cNvSpPr/>
          <p:nvPr/>
        </p:nvSpPr>
        <p:spPr>
          <a:xfrm>
            <a:off x="384900" y="810000"/>
            <a:ext cx="27522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8" name="Google Shape;888;p80"/>
          <p:cNvSpPr txBox="1"/>
          <p:nvPr>
            <p:ph idx="1" type="body"/>
          </p:nvPr>
        </p:nvSpPr>
        <p:spPr>
          <a:xfrm>
            <a:off x="473675" y="871925"/>
            <a:ext cx="2566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Special offer:</a:t>
            </a:r>
            <a:endParaRPr sz="2000"/>
          </a:p>
          <a:p>
            <a:pPr indent="0" lvl="0" marL="0" rtl="0" algn="l">
              <a:lnSpc>
                <a:spcPct val="115000"/>
              </a:lnSpc>
              <a:spcBef>
                <a:spcPts val="0"/>
              </a:spcBef>
              <a:spcAft>
                <a:spcPts val="0"/>
              </a:spcAft>
              <a:buNone/>
            </a:pPr>
            <a:r>
              <a:rPr lang="en-GB" sz="2000"/>
              <a:t>8 pack of lemonade  </a:t>
            </a:r>
            <a:endParaRPr sz="2000"/>
          </a:p>
          <a:p>
            <a:pPr indent="0" lvl="0" marL="0" rtl="0" algn="l">
              <a:lnSpc>
                <a:spcPct val="115000"/>
              </a:lnSpc>
              <a:spcBef>
                <a:spcPts val="0"/>
              </a:spcBef>
              <a:spcAft>
                <a:spcPts val="0"/>
              </a:spcAft>
              <a:buNone/>
            </a:pPr>
            <a:r>
              <a:rPr lang="en-GB" sz="2000"/>
              <a:t>£4.10</a:t>
            </a:r>
            <a:endParaRPr sz="2000"/>
          </a:p>
        </p:txBody>
      </p:sp>
      <p:sp>
        <p:nvSpPr>
          <p:cNvPr id="889" name="Google Shape;889;p80"/>
          <p:cNvSpPr/>
          <p:nvPr/>
        </p:nvSpPr>
        <p:spPr>
          <a:xfrm>
            <a:off x="5315775" y="810000"/>
            <a:ext cx="17751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0" name="Google Shape;890;p80"/>
          <p:cNvSpPr txBox="1"/>
          <p:nvPr>
            <p:ph idx="1" type="body"/>
          </p:nvPr>
        </p:nvSpPr>
        <p:spPr>
          <a:xfrm>
            <a:off x="5404550" y="871925"/>
            <a:ext cx="1977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 pack of lemonade  </a:t>
            </a:r>
            <a:endParaRPr sz="2000"/>
          </a:p>
          <a:p>
            <a:pPr indent="0" lvl="0" marL="0" rtl="0" algn="l">
              <a:lnSpc>
                <a:spcPct val="115000"/>
              </a:lnSpc>
              <a:spcBef>
                <a:spcPts val="0"/>
              </a:spcBef>
              <a:spcAft>
                <a:spcPts val="0"/>
              </a:spcAft>
              <a:buNone/>
            </a:pPr>
            <a:r>
              <a:rPr lang="en-GB" sz="2000"/>
              <a:t>£6.20</a:t>
            </a:r>
            <a:endParaRPr sz="2000"/>
          </a:p>
        </p:txBody>
      </p:sp>
      <p:sp>
        <p:nvSpPr>
          <p:cNvPr id="891" name="Google Shape;891;p80"/>
          <p:cNvSpPr txBox="1"/>
          <p:nvPr>
            <p:ph idx="1" type="body"/>
          </p:nvPr>
        </p:nvSpPr>
        <p:spPr>
          <a:xfrm>
            <a:off x="324000" y="2160000"/>
            <a:ext cx="8496000" cy="43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need to compare the prices of the same number of cans. </a:t>
            </a:r>
            <a:r>
              <a:rPr lang="en-GB" sz="2000"/>
              <a:t> </a:t>
            </a:r>
            <a:endParaRPr sz="2000"/>
          </a:p>
        </p:txBody>
      </p:sp>
      <p:sp>
        <p:nvSpPr>
          <p:cNvPr id="892" name="Google Shape;892;p80"/>
          <p:cNvSpPr txBox="1"/>
          <p:nvPr>
            <p:ph idx="1" type="body"/>
          </p:nvPr>
        </p:nvSpPr>
        <p:spPr>
          <a:xfrm>
            <a:off x="3274875" y="2700000"/>
            <a:ext cx="5544900" cy="43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Why do you think Laura has chosen 24 cans? </a:t>
            </a:r>
            <a:r>
              <a:rPr lang="en-GB" sz="2000"/>
              <a:t>  </a:t>
            </a:r>
            <a:endParaRPr sz="2000"/>
          </a:p>
        </p:txBody>
      </p:sp>
      <p:sp>
        <p:nvSpPr>
          <p:cNvPr id="893" name="Google Shape;893;p80"/>
          <p:cNvSpPr txBox="1"/>
          <p:nvPr>
            <p:ph idx="1" type="body"/>
          </p:nvPr>
        </p:nvSpPr>
        <p:spPr>
          <a:xfrm>
            <a:off x="3369600" y="3347100"/>
            <a:ext cx="5450100" cy="43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24 is the lowest common multiple of 8 and 12. </a:t>
            </a:r>
            <a:r>
              <a:rPr lang="en-GB" sz="2000"/>
              <a:t> </a:t>
            </a:r>
            <a:endParaRPr sz="2000"/>
          </a:p>
        </p:txBody>
      </p:sp>
      <p:sp>
        <p:nvSpPr>
          <p:cNvPr id="894" name="Google Shape;894;p80"/>
          <p:cNvSpPr txBox="1"/>
          <p:nvPr/>
        </p:nvSpPr>
        <p:spPr>
          <a:xfrm>
            <a:off x="225253" y="4351124"/>
            <a:ext cx="1060200" cy="399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grpSp>
        <p:nvGrpSpPr>
          <p:cNvPr id="895" name="Google Shape;895;p80"/>
          <p:cNvGrpSpPr/>
          <p:nvPr/>
        </p:nvGrpSpPr>
        <p:grpSpPr>
          <a:xfrm>
            <a:off x="900466" y="2516349"/>
            <a:ext cx="2374418" cy="1447274"/>
            <a:chOff x="1902376" y="1608371"/>
            <a:chExt cx="1789043" cy="1553870"/>
          </a:xfrm>
        </p:grpSpPr>
        <p:pic>
          <p:nvPicPr>
            <p:cNvPr id="896" name="Google Shape;896;p80"/>
            <p:cNvPicPr preferRelativeResize="0"/>
            <p:nvPr/>
          </p:nvPicPr>
          <p:blipFill rotWithShape="1">
            <a:blip r:embed="rId3">
              <a:alphaModFix/>
            </a:blip>
            <a:srcRect b="0" l="0" r="69082" t="56280"/>
            <a:stretch/>
          </p:blipFill>
          <p:spPr>
            <a:xfrm flipH="1">
              <a:off x="1902376" y="1608371"/>
              <a:ext cx="1692396" cy="1553870"/>
            </a:xfrm>
            <a:prstGeom prst="rect">
              <a:avLst/>
            </a:prstGeom>
            <a:noFill/>
            <a:ln>
              <a:noFill/>
            </a:ln>
          </p:spPr>
        </p:pic>
        <p:sp>
          <p:nvSpPr>
            <p:cNvPr id="897" name="Google Shape;897;p80"/>
            <p:cNvSpPr txBox="1"/>
            <p:nvPr/>
          </p:nvSpPr>
          <p:spPr>
            <a:xfrm flipH="1">
              <a:off x="2027019" y="1783886"/>
              <a:ext cx="16644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I’m going to work out the cost of 24 cans for each.</a:t>
              </a:r>
              <a:endParaRPr sz="1800">
                <a:solidFill>
                  <a:srgbClr val="000000"/>
                </a:solidFill>
                <a:latin typeface="Lexend"/>
                <a:ea typeface="Lexend"/>
                <a:cs typeface="Lexend"/>
                <a:sym typeface="Lexend"/>
              </a:endParaRPr>
            </a:p>
          </p:txBody>
        </p:sp>
      </p:grpSp>
      <p:pic>
        <p:nvPicPr>
          <p:cNvPr id="898" name="Google Shape;898;p80"/>
          <p:cNvPicPr preferRelativeResize="0"/>
          <p:nvPr/>
        </p:nvPicPr>
        <p:blipFill>
          <a:blip r:embed="rId4">
            <a:alphaModFix/>
          </a:blip>
          <a:stretch>
            <a:fillRect/>
          </a:stretch>
        </p:blipFill>
        <p:spPr>
          <a:xfrm>
            <a:off x="481650" y="3634200"/>
            <a:ext cx="547399" cy="716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904" name="Google Shape;904;p81"/>
          <p:cNvSpPr/>
          <p:nvPr/>
        </p:nvSpPr>
        <p:spPr>
          <a:xfrm>
            <a:off x="384900" y="810000"/>
            <a:ext cx="27522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5" name="Google Shape;905;p81"/>
          <p:cNvSpPr txBox="1"/>
          <p:nvPr>
            <p:ph idx="1" type="body"/>
          </p:nvPr>
        </p:nvSpPr>
        <p:spPr>
          <a:xfrm>
            <a:off x="473675" y="871925"/>
            <a:ext cx="2566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Special offer:</a:t>
            </a:r>
            <a:endParaRPr sz="2000"/>
          </a:p>
          <a:p>
            <a:pPr indent="0" lvl="0" marL="0" rtl="0" algn="l">
              <a:lnSpc>
                <a:spcPct val="115000"/>
              </a:lnSpc>
              <a:spcBef>
                <a:spcPts val="0"/>
              </a:spcBef>
              <a:spcAft>
                <a:spcPts val="0"/>
              </a:spcAft>
              <a:buNone/>
            </a:pPr>
            <a:r>
              <a:rPr lang="en-GB" sz="2000"/>
              <a:t>8 pack of lemonade  </a:t>
            </a:r>
            <a:endParaRPr sz="2000"/>
          </a:p>
          <a:p>
            <a:pPr indent="0" lvl="0" marL="0" rtl="0" algn="l">
              <a:lnSpc>
                <a:spcPct val="115000"/>
              </a:lnSpc>
              <a:spcBef>
                <a:spcPts val="0"/>
              </a:spcBef>
              <a:spcAft>
                <a:spcPts val="0"/>
              </a:spcAft>
              <a:buNone/>
            </a:pPr>
            <a:r>
              <a:rPr lang="en-GB" sz="2000"/>
              <a:t>£4.10</a:t>
            </a:r>
            <a:endParaRPr sz="2000"/>
          </a:p>
        </p:txBody>
      </p:sp>
      <p:sp>
        <p:nvSpPr>
          <p:cNvPr id="906" name="Google Shape;906;p81"/>
          <p:cNvSpPr/>
          <p:nvPr/>
        </p:nvSpPr>
        <p:spPr>
          <a:xfrm>
            <a:off x="5315775" y="810000"/>
            <a:ext cx="17751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7" name="Google Shape;907;p81"/>
          <p:cNvSpPr txBox="1"/>
          <p:nvPr>
            <p:ph idx="1" type="body"/>
          </p:nvPr>
        </p:nvSpPr>
        <p:spPr>
          <a:xfrm>
            <a:off x="5404550" y="871925"/>
            <a:ext cx="1977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 pack of lemonade  </a:t>
            </a:r>
            <a:endParaRPr sz="2000"/>
          </a:p>
          <a:p>
            <a:pPr indent="0" lvl="0" marL="0" rtl="0" algn="l">
              <a:lnSpc>
                <a:spcPct val="115000"/>
              </a:lnSpc>
              <a:spcBef>
                <a:spcPts val="0"/>
              </a:spcBef>
              <a:spcAft>
                <a:spcPts val="0"/>
              </a:spcAft>
              <a:buNone/>
            </a:pPr>
            <a:r>
              <a:rPr lang="en-GB" sz="2000"/>
              <a:t>£6.20</a:t>
            </a:r>
            <a:endParaRPr sz="2000"/>
          </a:p>
        </p:txBody>
      </p:sp>
      <p:sp>
        <p:nvSpPr>
          <p:cNvPr id="908" name="Google Shape;908;p81"/>
          <p:cNvSpPr txBox="1"/>
          <p:nvPr>
            <p:ph idx="1" type="body"/>
          </p:nvPr>
        </p:nvSpPr>
        <p:spPr>
          <a:xfrm>
            <a:off x="324000" y="2160000"/>
            <a:ext cx="8496000" cy="43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need to compare the prices of the same number of cans.  </a:t>
            </a:r>
            <a:endParaRPr sz="2000"/>
          </a:p>
        </p:txBody>
      </p:sp>
      <p:pic>
        <p:nvPicPr>
          <p:cNvPr id="909" name="Google Shape;909;p81"/>
          <p:cNvPicPr preferRelativeResize="0"/>
          <p:nvPr/>
        </p:nvPicPr>
        <p:blipFill>
          <a:blip r:embed="rId3">
            <a:alphaModFix/>
          </a:blip>
          <a:stretch>
            <a:fillRect/>
          </a:stretch>
        </p:blipFill>
        <p:spPr>
          <a:xfrm>
            <a:off x="3173949" y="3634200"/>
            <a:ext cx="448587" cy="858997"/>
          </a:xfrm>
          <a:prstGeom prst="rect">
            <a:avLst/>
          </a:prstGeom>
          <a:noFill/>
          <a:ln>
            <a:noFill/>
          </a:ln>
        </p:spPr>
      </p:pic>
      <p:sp>
        <p:nvSpPr>
          <p:cNvPr id="910" name="Google Shape;910;p81"/>
          <p:cNvSpPr txBox="1"/>
          <p:nvPr/>
        </p:nvSpPr>
        <p:spPr>
          <a:xfrm>
            <a:off x="2852600" y="4398774"/>
            <a:ext cx="1091100" cy="467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grpSp>
        <p:nvGrpSpPr>
          <p:cNvPr id="911" name="Google Shape;911;p81"/>
          <p:cNvGrpSpPr/>
          <p:nvPr/>
        </p:nvGrpSpPr>
        <p:grpSpPr>
          <a:xfrm>
            <a:off x="3567477" y="2516349"/>
            <a:ext cx="2222078" cy="1447274"/>
            <a:chOff x="1902381" y="1608371"/>
            <a:chExt cx="1814979" cy="1553870"/>
          </a:xfrm>
        </p:grpSpPr>
        <p:pic>
          <p:nvPicPr>
            <p:cNvPr id="912" name="Google Shape;912;p81"/>
            <p:cNvPicPr preferRelativeResize="0"/>
            <p:nvPr/>
          </p:nvPicPr>
          <p:blipFill rotWithShape="1">
            <a:blip r:embed="rId4">
              <a:alphaModFix/>
            </a:blip>
            <a:srcRect b="0" l="0" r="69082" t="56280"/>
            <a:stretch/>
          </p:blipFill>
          <p:spPr>
            <a:xfrm flipH="1">
              <a:off x="1902381" y="1608371"/>
              <a:ext cx="1814979" cy="1553870"/>
            </a:xfrm>
            <a:prstGeom prst="rect">
              <a:avLst/>
            </a:prstGeom>
            <a:noFill/>
            <a:ln>
              <a:noFill/>
            </a:ln>
          </p:spPr>
        </p:pic>
        <p:sp>
          <p:nvSpPr>
            <p:cNvPr id="913" name="Google Shape;913;p81"/>
            <p:cNvSpPr txBox="1"/>
            <p:nvPr/>
          </p:nvSpPr>
          <p:spPr>
            <a:xfrm flipH="1">
              <a:off x="2025822" y="1783887"/>
              <a:ext cx="16656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I’m going to work out the cost of 4 cans for each.</a:t>
              </a:r>
              <a:endParaRPr sz="1800">
                <a:solidFill>
                  <a:srgbClr val="000000"/>
                </a:solidFill>
                <a:latin typeface="Lexend"/>
                <a:ea typeface="Lexend"/>
                <a:cs typeface="Lexend"/>
                <a:sym typeface="Lexend"/>
              </a:endParaRPr>
            </a:p>
          </p:txBody>
        </p:sp>
      </p:grpSp>
      <p:sp>
        <p:nvSpPr>
          <p:cNvPr id="914" name="Google Shape;914;p81"/>
          <p:cNvSpPr txBox="1"/>
          <p:nvPr/>
        </p:nvSpPr>
        <p:spPr>
          <a:xfrm>
            <a:off x="225253" y="4351124"/>
            <a:ext cx="1060200" cy="399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grpSp>
        <p:nvGrpSpPr>
          <p:cNvPr id="915" name="Google Shape;915;p81"/>
          <p:cNvGrpSpPr/>
          <p:nvPr/>
        </p:nvGrpSpPr>
        <p:grpSpPr>
          <a:xfrm>
            <a:off x="900466" y="2516349"/>
            <a:ext cx="2374418" cy="1447274"/>
            <a:chOff x="1902376" y="1608371"/>
            <a:chExt cx="1789043" cy="1553870"/>
          </a:xfrm>
        </p:grpSpPr>
        <p:pic>
          <p:nvPicPr>
            <p:cNvPr id="916" name="Google Shape;916;p81"/>
            <p:cNvPicPr preferRelativeResize="0"/>
            <p:nvPr/>
          </p:nvPicPr>
          <p:blipFill rotWithShape="1">
            <a:blip r:embed="rId4">
              <a:alphaModFix/>
            </a:blip>
            <a:srcRect b="0" l="0" r="69082" t="56280"/>
            <a:stretch/>
          </p:blipFill>
          <p:spPr>
            <a:xfrm flipH="1">
              <a:off x="1902376" y="1608371"/>
              <a:ext cx="1692396" cy="1553870"/>
            </a:xfrm>
            <a:prstGeom prst="rect">
              <a:avLst/>
            </a:prstGeom>
            <a:noFill/>
            <a:ln>
              <a:noFill/>
            </a:ln>
          </p:spPr>
        </p:pic>
        <p:sp>
          <p:nvSpPr>
            <p:cNvPr id="917" name="Google Shape;917;p81"/>
            <p:cNvSpPr txBox="1"/>
            <p:nvPr/>
          </p:nvSpPr>
          <p:spPr>
            <a:xfrm flipH="1">
              <a:off x="2027019" y="1783886"/>
              <a:ext cx="16644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I’m going to work out the cost of 24 cans for each.</a:t>
              </a:r>
              <a:endParaRPr sz="1800">
                <a:solidFill>
                  <a:srgbClr val="000000"/>
                </a:solidFill>
                <a:latin typeface="Lexend"/>
                <a:ea typeface="Lexend"/>
                <a:cs typeface="Lexend"/>
                <a:sym typeface="Lexend"/>
              </a:endParaRPr>
            </a:p>
          </p:txBody>
        </p:sp>
      </p:grpSp>
      <p:pic>
        <p:nvPicPr>
          <p:cNvPr id="918" name="Google Shape;918;p81"/>
          <p:cNvPicPr preferRelativeResize="0"/>
          <p:nvPr/>
        </p:nvPicPr>
        <p:blipFill>
          <a:blip r:embed="rId5">
            <a:alphaModFix/>
          </a:blip>
          <a:stretch>
            <a:fillRect/>
          </a:stretch>
        </p:blipFill>
        <p:spPr>
          <a:xfrm>
            <a:off x="481650" y="3634200"/>
            <a:ext cx="547399" cy="716926"/>
          </a:xfrm>
          <a:prstGeom prst="rect">
            <a:avLst/>
          </a:prstGeom>
          <a:noFill/>
          <a:ln>
            <a:noFill/>
          </a:ln>
        </p:spPr>
      </p:pic>
      <p:sp>
        <p:nvSpPr>
          <p:cNvPr id="919" name="Google Shape;919;p81"/>
          <p:cNvSpPr txBox="1"/>
          <p:nvPr/>
        </p:nvSpPr>
        <p:spPr>
          <a:xfrm>
            <a:off x="5454600" y="4396796"/>
            <a:ext cx="1147200" cy="42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920" name="Google Shape;920;p81"/>
          <p:cNvPicPr preferRelativeResize="0"/>
          <p:nvPr/>
        </p:nvPicPr>
        <p:blipFill>
          <a:blip r:embed="rId6">
            <a:alphaModFix/>
          </a:blip>
          <a:stretch>
            <a:fillRect/>
          </a:stretch>
        </p:blipFill>
        <p:spPr>
          <a:xfrm>
            <a:off x="5735592" y="3701700"/>
            <a:ext cx="585190" cy="647257"/>
          </a:xfrm>
          <a:prstGeom prst="rect">
            <a:avLst/>
          </a:prstGeom>
          <a:noFill/>
          <a:ln>
            <a:noFill/>
          </a:ln>
        </p:spPr>
      </p:pic>
      <p:grpSp>
        <p:nvGrpSpPr>
          <p:cNvPr id="921" name="Google Shape;921;p81"/>
          <p:cNvGrpSpPr/>
          <p:nvPr/>
        </p:nvGrpSpPr>
        <p:grpSpPr>
          <a:xfrm>
            <a:off x="6234477" y="2516349"/>
            <a:ext cx="2222078" cy="1447274"/>
            <a:chOff x="1902381" y="1608371"/>
            <a:chExt cx="1814979" cy="1553870"/>
          </a:xfrm>
        </p:grpSpPr>
        <p:pic>
          <p:nvPicPr>
            <p:cNvPr id="922" name="Google Shape;922;p81"/>
            <p:cNvPicPr preferRelativeResize="0"/>
            <p:nvPr/>
          </p:nvPicPr>
          <p:blipFill rotWithShape="1">
            <a:blip r:embed="rId4">
              <a:alphaModFix/>
            </a:blip>
            <a:srcRect b="0" l="0" r="69082" t="56280"/>
            <a:stretch/>
          </p:blipFill>
          <p:spPr>
            <a:xfrm flipH="1">
              <a:off x="1902381" y="1608371"/>
              <a:ext cx="1814979" cy="1553870"/>
            </a:xfrm>
            <a:prstGeom prst="rect">
              <a:avLst/>
            </a:prstGeom>
            <a:noFill/>
            <a:ln>
              <a:noFill/>
            </a:ln>
          </p:spPr>
        </p:pic>
        <p:sp>
          <p:nvSpPr>
            <p:cNvPr id="923" name="Google Shape;923;p81"/>
            <p:cNvSpPr txBox="1"/>
            <p:nvPr/>
          </p:nvSpPr>
          <p:spPr>
            <a:xfrm flipH="1">
              <a:off x="2025822" y="1783887"/>
              <a:ext cx="16656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I’m going to work out the price per can for each.</a:t>
              </a:r>
              <a:endParaRPr sz="1800">
                <a:solidFill>
                  <a:srgbClr val="000000"/>
                </a:solidFill>
                <a:latin typeface="Lexend"/>
                <a:ea typeface="Lexend"/>
                <a:cs typeface="Lexend"/>
                <a:sym typeface="Lexend"/>
              </a:endParaRPr>
            </a:p>
          </p:txBody>
        </p:sp>
      </p:grpSp>
      <p:sp>
        <p:nvSpPr>
          <p:cNvPr id="924" name="Google Shape;924;p81"/>
          <p:cNvSpPr txBox="1"/>
          <p:nvPr>
            <p:ph idx="1" type="body"/>
          </p:nvPr>
        </p:nvSpPr>
        <p:spPr>
          <a:xfrm>
            <a:off x="6736350" y="4060300"/>
            <a:ext cx="2145300" cy="43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method do you prefer?</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930" name="Google Shape;930;p82"/>
          <p:cNvSpPr/>
          <p:nvPr/>
        </p:nvSpPr>
        <p:spPr>
          <a:xfrm>
            <a:off x="384900" y="810000"/>
            <a:ext cx="27522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1" name="Google Shape;931;p82"/>
          <p:cNvSpPr txBox="1"/>
          <p:nvPr>
            <p:ph idx="1" type="body"/>
          </p:nvPr>
        </p:nvSpPr>
        <p:spPr>
          <a:xfrm>
            <a:off x="473675" y="871925"/>
            <a:ext cx="2566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Special offer:</a:t>
            </a:r>
            <a:endParaRPr sz="2000"/>
          </a:p>
          <a:p>
            <a:pPr indent="0" lvl="0" marL="0" rtl="0" algn="l">
              <a:lnSpc>
                <a:spcPct val="115000"/>
              </a:lnSpc>
              <a:spcBef>
                <a:spcPts val="0"/>
              </a:spcBef>
              <a:spcAft>
                <a:spcPts val="0"/>
              </a:spcAft>
              <a:buNone/>
            </a:pPr>
            <a:r>
              <a:rPr lang="en-GB" sz="2000"/>
              <a:t>8 pack of lemonade  </a:t>
            </a:r>
            <a:endParaRPr sz="2000"/>
          </a:p>
          <a:p>
            <a:pPr indent="0" lvl="0" marL="0" rtl="0" algn="l">
              <a:lnSpc>
                <a:spcPct val="115000"/>
              </a:lnSpc>
              <a:spcBef>
                <a:spcPts val="0"/>
              </a:spcBef>
              <a:spcAft>
                <a:spcPts val="0"/>
              </a:spcAft>
              <a:buNone/>
            </a:pPr>
            <a:r>
              <a:rPr lang="en-GB" sz="2000"/>
              <a:t>£4.10</a:t>
            </a:r>
            <a:endParaRPr sz="2000"/>
          </a:p>
        </p:txBody>
      </p:sp>
      <p:sp>
        <p:nvSpPr>
          <p:cNvPr id="932" name="Google Shape;932;p82"/>
          <p:cNvSpPr/>
          <p:nvPr/>
        </p:nvSpPr>
        <p:spPr>
          <a:xfrm>
            <a:off x="3369600" y="810000"/>
            <a:ext cx="17751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3" name="Google Shape;933;p82"/>
          <p:cNvSpPr txBox="1"/>
          <p:nvPr>
            <p:ph idx="1" type="body"/>
          </p:nvPr>
        </p:nvSpPr>
        <p:spPr>
          <a:xfrm>
            <a:off x="3458375" y="871925"/>
            <a:ext cx="1977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 pack of lemonade  </a:t>
            </a:r>
            <a:endParaRPr sz="2000"/>
          </a:p>
          <a:p>
            <a:pPr indent="0" lvl="0" marL="0" rtl="0" algn="l">
              <a:lnSpc>
                <a:spcPct val="115000"/>
              </a:lnSpc>
              <a:spcBef>
                <a:spcPts val="0"/>
              </a:spcBef>
              <a:spcAft>
                <a:spcPts val="0"/>
              </a:spcAft>
              <a:buNone/>
            </a:pPr>
            <a:r>
              <a:rPr lang="en-GB" sz="2000"/>
              <a:t>£6.20</a:t>
            </a:r>
            <a:endParaRPr sz="2000"/>
          </a:p>
        </p:txBody>
      </p:sp>
      <p:grpSp>
        <p:nvGrpSpPr>
          <p:cNvPr id="934" name="Google Shape;934;p82"/>
          <p:cNvGrpSpPr/>
          <p:nvPr/>
        </p:nvGrpSpPr>
        <p:grpSpPr>
          <a:xfrm flipH="1">
            <a:off x="5900774" y="539999"/>
            <a:ext cx="2246147" cy="1447274"/>
            <a:chOff x="1902376" y="1608371"/>
            <a:chExt cx="1692396" cy="1553870"/>
          </a:xfrm>
        </p:grpSpPr>
        <p:pic>
          <p:nvPicPr>
            <p:cNvPr id="935" name="Google Shape;935;p82"/>
            <p:cNvPicPr preferRelativeResize="0"/>
            <p:nvPr/>
          </p:nvPicPr>
          <p:blipFill rotWithShape="1">
            <a:blip r:embed="rId3">
              <a:alphaModFix/>
            </a:blip>
            <a:srcRect b="0" l="0" r="69082" t="56280"/>
            <a:stretch/>
          </p:blipFill>
          <p:spPr>
            <a:xfrm flipH="1">
              <a:off x="1902376" y="1608371"/>
              <a:ext cx="1692396" cy="1553870"/>
            </a:xfrm>
            <a:prstGeom prst="rect">
              <a:avLst/>
            </a:prstGeom>
            <a:noFill/>
            <a:ln>
              <a:noFill/>
            </a:ln>
          </p:spPr>
        </p:pic>
        <p:sp>
          <p:nvSpPr>
            <p:cNvPr id="936" name="Google Shape;936;p82"/>
            <p:cNvSpPr txBox="1"/>
            <p:nvPr/>
          </p:nvSpPr>
          <p:spPr>
            <a:xfrm flipH="1">
              <a:off x="2026896" y="1783887"/>
              <a:ext cx="14904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I’m going to work out the cost of 24 cans for each.</a:t>
              </a:r>
              <a:endParaRPr sz="1800">
                <a:solidFill>
                  <a:srgbClr val="000000"/>
                </a:solidFill>
                <a:latin typeface="Lexend"/>
                <a:ea typeface="Lexend"/>
                <a:cs typeface="Lexend"/>
                <a:sym typeface="Lexend"/>
              </a:endParaRPr>
            </a:p>
          </p:txBody>
        </p:sp>
      </p:grpSp>
      <p:pic>
        <p:nvPicPr>
          <p:cNvPr id="937" name="Google Shape;937;p82"/>
          <p:cNvPicPr preferRelativeResize="0"/>
          <p:nvPr/>
        </p:nvPicPr>
        <p:blipFill>
          <a:blip r:embed="rId4">
            <a:alphaModFix/>
          </a:blip>
          <a:stretch>
            <a:fillRect/>
          </a:stretch>
        </p:blipFill>
        <p:spPr>
          <a:xfrm flipH="1">
            <a:off x="8018337" y="1657850"/>
            <a:ext cx="547399" cy="716926"/>
          </a:xfrm>
          <a:prstGeom prst="rect">
            <a:avLst/>
          </a:prstGeom>
          <a:noFill/>
          <a:ln>
            <a:noFill/>
          </a:ln>
        </p:spPr>
      </p:pic>
      <p:graphicFrame>
        <p:nvGraphicFramePr>
          <p:cNvPr id="938" name="Google Shape;938;p82"/>
          <p:cNvGraphicFramePr/>
          <p:nvPr/>
        </p:nvGraphicFramePr>
        <p:xfrm>
          <a:off x="1012100" y="232418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8 cans</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£4.10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24 cans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939" name="Google Shape;939;p82"/>
          <p:cNvGrpSpPr/>
          <p:nvPr/>
        </p:nvGrpSpPr>
        <p:grpSpPr>
          <a:xfrm>
            <a:off x="308700" y="2451930"/>
            <a:ext cx="3924000" cy="658339"/>
            <a:chOff x="308700" y="2451930"/>
            <a:chExt cx="3924000" cy="658339"/>
          </a:xfrm>
        </p:grpSpPr>
        <p:pic>
          <p:nvPicPr>
            <p:cNvPr id="940" name="Google Shape;940;p82"/>
            <p:cNvPicPr preferRelativeResize="0"/>
            <p:nvPr/>
          </p:nvPicPr>
          <p:blipFill rotWithShape="1">
            <a:blip r:embed="rId5">
              <a:alphaModFix/>
            </a:blip>
            <a:srcRect b="84458" l="57225" r="18284" t="0"/>
            <a:stretch/>
          </p:blipFill>
          <p:spPr>
            <a:xfrm flipH="1" rot="-5400000">
              <a:off x="470374" y="2571457"/>
              <a:ext cx="657876" cy="418823"/>
            </a:xfrm>
            <a:prstGeom prst="rect">
              <a:avLst/>
            </a:prstGeom>
            <a:noFill/>
            <a:ln>
              <a:noFill/>
            </a:ln>
          </p:spPr>
        </p:pic>
        <p:sp>
          <p:nvSpPr>
            <p:cNvPr id="941" name="Google Shape;941;p82"/>
            <p:cNvSpPr txBox="1"/>
            <p:nvPr/>
          </p:nvSpPr>
          <p:spPr>
            <a:xfrm>
              <a:off x="3087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3</a:t>
              </a:r>
              <a:endParaRPr sz="1800">
                <a:solidFill>
                  <a:srgbClr val="000000"/>
                </a:solidFill>
                <a:latin typeface="Lexend"/>
                <a:ea typeface="Lexend"/>
                <a:cs typeface="Lexend"/>
                <a:sym typeface="Lexend"/>
              </a:endParaRPr>
            </a:p>
          </p:txBody>
        </p:sp>
        <p:pic>
          <p:nvPicPr>
            <p:cNvPr id="942" name="Google Shape;942;p82"/>
            <p:cNvPicPr preferRelativeResize="0"/>
            <p:nvPr/>
          </p:nvPicPr>
          <p:blipFill rotWithShape="1">
            <a:blip r:embed="rId5">
              <a:alphaModFix/>
            </a:blip>
            <a:srcRect b="84458" l="57225" r="18284" t="0"/>
            <a:stretch/>
          </p:blipFill>
          <p:spPr>
            <a:xfrm rot="5400000">
              <a:off x="3306674" y="2571919"/>
              <a:ext cx="657876" cy="418823"/>
            </a:xfrm>
            <a:prstGeom prst="rect">
              <a:avLst/>
            </a:prstGeom>
            <a:noFill/>
            <a:ln>
              <a:noFill/>
            </a:ln>
          </p:spPr>
        </p:pic>
        <p:sp>
          <p:nvSpPr>
            <p:cNvPr id="943" name="Google Shape;943;p82"/>
            <p:cNvSpPr txBox="1"/>
            <p:nvPr/>
          </p:nvSpPr>
          <p:spPr>
            <a:xfrm>
              <a:off x="38139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3</a:t>
              </a:r>
              <a:endParaRPr sz="1800">
                <a:solidFill>
                  <a:srgbClr val="000000"/>
                </a:solidFill>
                <a:latin typeface="Lexend"/>
                <a:ea typeface="Lexend"/>
                <a:cs typeface="Lexend"/>
                <a:sym typeface="Lexend"/>
              </a:endParaRPr>
            </a:p>
          </p:txBody>
        </p:sp>
      </p:grpSp>
      <p:graphicFrame>
        <p:nvGraphicFramePr>
          <p:cNvPr id="944" name="Google Shape;944;p82"/>
          <p:cNvGraphicFramePr/>
          <p:nvPr/>
        </p:nvGraphicFramePr>
        <p:xfrm>
          <a:off x="5198450" y="232570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12 cans</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£6.20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24 cans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945" name="Google Shape;945;p82"/>
          <p:cNvGrpSpPr/>
          <p:nvPr/>
        </p:nvGrpSpPr>
        <p:grpSpPr>
          <a:xfrm>
            <a:off x="4495050" y="2453450"/>
            <a:ext cx="3924000" cy="658339"/>
            <a:chOff x="4495050" y="2453450"/>
            <a:chExt cx="3924000" cy="658339"/>
          </a:xfrm>
        </p:grpSpPr>
        <p:pic>
          <p:nvPicPr>
            <p:cNvPr id="946" name="Google Shape;946;p82"/>
            <p:cNvPicPr preferRelativeResize="0"/>
            <p:nvPr/>
          </p:nvPicPr>
          <p:blipFill rotWithShape="1">
            <a:blip r:embed="rId5">
              <a:alphaModFix/>
            </a:blip>
            <a:srcRect b="84458" l="57225" r="18284" t="0"/>
            <a:stretch/>
          </p:blipFill>
          <p:spPr>
            <a:xfrm flipH="1" rot="-5400000">
              <a:off x="4656724" y="2572976"/>
              <a:ext cx="657876" cy="418823"/>
            </a:xfrm>
            <a:prstGeom prst="rect">
              <a:avLst/>
            </a:prstGeom>
            <a:noFill/>
            <a:ln>
              <a:noFill/>
            </a:ln>
          </p:spPr>
        </p:pic>
        <p:sp>
          <p:nvSpPr>
            <p:cNvPr id="947" name="Google Shape;947;p82"/>
            <p:cNvSpPr txBox="1"/>
            <p:nvPr/>
          </p:nvSpPr>
          <p:spPr>
            <a:xfrm>
              <a:off x="4495050" y="263401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2</a:t>
              </a:r>
              <a:endParaRPr sz="1800">
                <a:solidFill>
                  <a:srgbClr val="000000"/>
                </a:solidFill>
                <a:latin typeface="Lexend"/>
                <a:ea typeface="Lexend"/>
                <a:cs typeface="Lexend"/>
                <a:sym typeface="Lexend"/>
              </a:endParaRPr>
            </a:p>
          </p:txBody>
        </p:sp>
        <p:pic>
          <p:nvPicPr>
            <p:cNvPr id="948" name="Google Shape;948;p82"/>
            <p:cNvPicPr preferRelativeResize="0"/>
            <p:nvPr/>
          </p:nvPicPr>
          <p:blipFill rotWithShape="1">
            <a:blip r:embed="rId5">
              <a:alphaModFix/>
            </a:blip>
            <a:srcRect b="84458" l="57225" r="18284" t="0"/>
            <a:stretch/>
          </p:blipFill>
          <p:spPr>
            <a:xfrm rot="5400000">
              <a:off x="7493024" y="2573439"/>
              <a:ext cx="657876" cy="418823"/>
            </a:xfrm>
            <a:prstGeom prst="rect">
              <a:avLst/>
            </a:prstGeom>
            <a:noFill/>
            <a:ln>
              <a:noFill/>
            </a:ln>
          </p:spPr>
        </p:pic>
        <p:sp>
          <p:nvSpPr>
            <p:cNvPr id="949" name="Google Shape;949;p82"/>
            <p:cNvSpPr txBox="1"/>
            <p:nvPr/>
          </p:nvSpPr>
          <p:spPr>
            <a:xfrm>
              <a:off x="8000250" y="263401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2</a:t>
              </a:r>
              <a:endParaRPr sz="1800">
                <a:solidFill>
                  <a:srgbClr val="000000"/>
                </a:solidFill>
                <a:latin typeface="Lexend"/>
                <a:ea typeface="Lexend"/>
                <a:cs typeface="Lexend"/>
                <a:sym typeface="Lexend"/>
              </a:endParaRPr>
            </a:p>
          </p:txBody>
        </p:sp>
      </p:grpSp>
      <p:sp>
        <p:nvSpPr>
          <p:cNvPr id="950" name="Google Shape;950;p82"/>
          <p:cNvSpPr txBox="1"/>
          <p:nvPr>
            <p:ph idx="1" type="body"/>
          </p:nvPr>
        </p:nvSpPr>
        <p:spPr>
          <a:xfrm>
            <a:off x="324000" y="3490725"/>
            <a:ext cx="4767300" cy="405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one is better value for money?   </a:t>
            </a:r>
            <a:endParaRPr sz="2000"/>
          </a:p>
        </p:txBody>
      </p:sp>
      <p:sp>
        <p:nvSpPr>
          <p:cNvPr id="951" name="Google Shape;951;p82"/>
          <p:cNvSpPr/>
          <p:nvPr/>
        </p:nvSpPr>
        <p:spPr>
          <a:xfrm>
            <a:off x="2199300" y="278132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£12.30</a:t>
            </a:r>
            <a:endParaRPr>
              <a:latin typeface="Lexend"/>
              <a:ea typeface="Lexend"/>
              <a:cs typeface="Lexend"/>
              <a:sym typeface="Lexend"/>
            </a:endParaRPr>
          </a:p>
        </p:txBody>
      </p:sp>
      <p:sp>
        <p:nvSpPr>
          <p:cNvPr id="952" name="Google Shape;952;p82"/>
          <p:cNvSpPr/>
          <p:nvPr/>
        </p:nvSpPr>
        <p:spPr>
          <a:xfrm>
            <a:off x="6385650" y="278132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£12.40</a:t>
            </a:r>
            <a:endParaRPr>
              <a:latin typeface="Lexend"/>
              <a:ea typeface="Lexend"/>
              <a:cs typeface="Lexend"/>
              <a:sym typeface="Lexend"/>
            </a:endParaRPr>
          </a:p>
        </p:txBody>
      </p:sp>
      <p:sp>
        <p:nvSpPr>
          <p:cNvPr id="953" name="Google Shape;953;p82"/>
          <p:cNvSpPr txBox="1"/>
          <p:nvPr>
            <p:ph idx="1" type="body"/>
          </p:nvPr>
        </p:nvSpPr>
        <p:spPr>
          <a:xfrm>
            <a:off x="324000" y="3914100"/>
            <a:ext cx="8496000" cy="405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same number of cans is cheaper if you buy in packs of 8 so the packs of 8 are better value for money.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959" name="Google Shape;959;p83"/>
          <p:cNvSpPr/>
          <p:nvPr/>
        </p:nvSpPr>
        <p:spPr>
          <a:xfrm>
            <a:off x="384900" y="810000"/>
            <a:ext cx="27522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0" name="Google Shape;960;p83"/>
          <p:cNvSpPr txBox="1"/>
          <p:nvPr>
            <p:ph idx="1" type="body"/>
          </p:nvPr>
        </p:nvSpPr>
        <p:spPr>
          <a:xfrm>
            <a:off x="473675" y="871925"/>
            <a:ext cx="2566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Special offer:</a:t>
            </a:r>
            <a:endParaRPr sz="2000"/>
          </a:p>
          <a:p>
            <a:pPr indent="0" lvl="0" marL="0" rtl="0" algn="l">
              <a:lnSpc>
                <a:spcPct val="115000"/>
              </a:lnSpc>
              <a:spcBef>
                <a:spcPts val="0"/>
              </a:spcBef>
              <a:spcAft>
                <a:spcPts val="0"/>
              </a:spcAft>
              <a:buNone/>
            </a:pPr>
            <a:r>
              <a:rPr lang="en-GB" sz="2000"/>
              <a:t>8 pack of lemonade  </a:t>
            </a:r>
            <a:endParaRPr sz="2000"/>
          </a:p>
          <a:p>
            <a:pPr indent="0" lvl="0" marL="0" rtl="0" algn="l">
              <a:lnSpc>
                <a:spcPct val="115000"/>
              </a:lnSpc>
              <a:spcBef>
                <a:spcPts val="0"/>
              </a:spcBef>
              <a:spcAft>
                <a:spcPts val="0"/>
              </a:spcAft>
              <a:buNone/>
            </a:pPr>
            <a:r>
              <a:rPr lang="en-GB" sz="2000"/>
              <a:t>£4.10</a:t>
            </a:r>
            <a:endParaRPr sz="2000"/>
          </a:p>
        </p:txBody>
      </p:sp>
      <p:sp>
        <p:nvSpPr>
          <p:cNvPr id="961" name="Google Shape;961;p83"/>
          <p:cNvSpPr/>
          <p:nvPr/>
        </p:nvSpPr>
        <p:spPr>
          <a:xfrm>
            <a:off x="3369600" y="810000"/>
            <a:ext cx="17751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2" name="Google Shape;962;p83"/>
          <p:cNvSpPr txBox="1"/>
          <p:nvPr>
            <p:ph idx="1" type="body"/>
          </p:nvPr>
        </p:nvSpPr>
        <p:spPr>
          <a:xfrm>
            <a:off x="3458375" y="871925"/>
            <a:ext cx="1977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 pack of lemonade  </a:t>
            </a:r>
            <a:endParaRPr sz="2000"/>
          </a:p>
          <a:p>
            <a:pPr indent="0" lvl="0" marL="0" rtl="0" algn="l">
              <a:lnSpc>
                <a:spcPct val="115000"/>
              </a:lnSpc>
              <a:spcBef>
                <a:spcPts val="0"/>
              </a:spcBef>
              <a:spcAft>
                <a:spcPts val="0"/>
              </a:spcAft>
              <a:buNone/>
            </a:pPr>
            <a:r>
              <a:rPr lang="en-GB" sz="2000"/>
              <a:t>£6.20</a:t>
            </a:r>
            <a:endParaRPr sz="2000"/>
          </a:p>
        </p:txBody>
      </p:sp>
      <p:graphicFrame>
        <p:nvGraphicFramePr>
          <p:cNvPr id="963" name="Google Shape;963;p83"/>
          <p:cNvGraphicFramePr/>
          <p:nvPr/>
        </p:nvGraphicFramePr>
        <p:xfrm>
          <a:off x="1012100" y="232418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8 cans</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£4.10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4 cans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964" name="Google Shape;964;p83"/>
          <p:cNvGrpSpPr/>
          <p:nvPr/>
        </p:nvGrpSpPr>
        <p:grpSpPr>
          <a:xfrm>
            <a:off x="308700" y="2451930"/>
            <a:ext cx="3924000" cy="658339"/>
            <a:chOff x="308700" y="2451930"/>
            <a:chExt cx="3924000" cy="658339"/>
          </a:xfrm>
        </p:grpSpPr>
        <p:pic>
          <p:nvPicPr>
            <p:cNvPr id="965" name="Google Shape;965;p83"/>
            <p:cNvPicPr preferRelativeResize="0"/>
            <p:nvPr/>
          </p:nvPicPr>
          <p:blipFill rotWithShape="1">
            <a:blip r:embed="rId3">
              <a:alphaModFix/>
            </a:blip>
            <a:srcRect b="84458" l="57225" r="18284" t="0"/>
            <a:stretch/>
          </p:blipFill>
          <p:spPr>
            <a:xfrm flipH="1" rot="-5400000">
              <a:off x="470374" y="2571457"/>
              <a:ext cx="657876" cy="418823"/>
            </a:xfrm>
            <a:prstGeom prst="rect">
              <a:avLst/>
            </a:prstGeom>
            <a:noFill/>
            <a:ln>
              <a:noFill/>
            </a:ln>
          </p:spPr>
        </p:pic>
        <p:sp>
          <p:nvSpPr>
            <p:cNvPr id="966" name="Google Shape;966;p83"/>
            <p:cNvSpPr txBox="1"/>
            <p:nvPr/>
          </p:nvSpPr>
          <p:spPr>
            <a:xfrm>
              <a:off x="3087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2</a:t>
              </a:r>
              <a:endParaRPr sz="1800">
                <a:solidFill>
                  <a:srgbClr val="000000"/>
                </a:solidFill>
                <a:latin typeface="Lexend"/>
                <a:ea typeface="Lexend"/>
                <a:cs typeface="Lexend"/>
                <a:sym typeface="Lexend"/>
              </a:endParaRPr>
            </a:p>
          </p:txBody>
        </p:sp>
        <p:pic>
          <p:nvPicPr>
            <p:cNvPr id="967" name="Google Shape;967;p83"/>
            <p:cNvPicPr preferRelativeResize="0"/>
            <p:nvPr/>
          </p:nvPicPr>
          <p:blipFill rotWithShape="1">
            <a:blip r:embed="rId3">
              <a:alphaModFix/>
            </a:blip>
            <a:srcRect b="84458" l="57225" r="18284" t="0"/>
            <a:stretch/>
          </p:blipFill>
          <p:spPr>
            <a:xfrm rot="5400000">
              <a:off x="3306674" y="2571919"/>
              <a:ext cx="657876" cy="418823"/>
            </a:xfrm>
            <a:prstGeom prst="rect">
              <a:avLst/>
            </a:prstGeom>
            <a:noFill/>
            <a:ln>
              <a:noFill/>
            </a:ln>
          </p:spPr>
        </p:pic>
        <p:sp>
          <p:nvSpPr>
            <p:cNvPr id="968" name="Google Shape;968;p83"/>
            <p:cNvSpPr txBox="1"/>
            <p:nvPr/>
          </p:nvSpPr>
          <p:spPr>
            <a:xfrm>
              <a:off x="38139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a:t>
              </a:r>
              <a:r>
                <a:rPr lang="en-GB" sz="1800">
                  <a:latin typeface="Lexend"/>
                  <a:ea typeface="Lexend"/>
                  <a:cs typeface="Lexend"/>
                  <a:sym typeface="Lexend"/>
                </a:rPr>
                <a:t> 2</a:t>
              </a:r>
              <a:endParaRPr sz="1800">
                <a:solidFill>
                  <a:srgbClr val="000000"/>
                </a:solidFill>
                <a:latin typeface="Lexend"/>
                <a:ea typeface="Lexend"/>
                <a:cs typeface="Lexend"/>
                <a:sym typeface="Lexend"/>
              </a:endParaRPr>
            </a:p>
          </p:txBody>
        </p:sp>
      </p:grpSp>
      <p:graphicFrame>
        <p:nvGraphicFramePr>
          <p:cNvPr id="969" name="Google Shape;969;p83"/>
          <p:cNvGraphicFramePr/>
          <p:nvPr/>
        </p:nvGraphicFramePr>
        <p:xfrm>
          <a:off x="5198450" y="232570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12</a:t>
                      </a:r>
                      <a:r>
                        <a:rPr lang="en-GB" sz="1800">
                          <a:latin typeface="Lexend"/>
                          <a:ea typeface="Lexend"/>
                          <a:cs typeface="Lexend"/>
                          <a:sym typeface="Lexend"/>
                        </a:rPr>
                        <a:t> cans</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£6.20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4 cans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970" name="Google Shape;970;p83"/>
          <p:cNvGrpSpPr/>
          <p:nvPr/>
        </p:nvGrpSpPr>
        <p:grpSpPr>
          <a:xfrm>
            <a:off x="4495050" y="2453450"/>
            <a:ext cx="3924000" cy="658339"/>
            <a:chOff x="4495050" y="2453450"/>
            <a:chExt cx="3924000" cy="658339"/>
          </a:xfrm>
        </p:grpSpPr>
        <p:pic>
          <p:nvPicPr>
            <p:cNvPr id="971" name="Google Shape;971;p83"/>
            <p:cNvPicPr preferRelativeResize="0"/>
            <p:nvPr/>
          </p:nvPicPr>
          <p:blipFill rotWithShape="1">
            <a:blip r:embed="rId3">
              <a:alphaModFix/>
            </a:blip>
            <a:srcRect b="84458" l="57225" r="18284" t="0"/>
            <a:stretch/>
          </p:blipFill>
          <p:spPr>
            <a:xfrm flipH="1" rot="-5400000">
              <a:off x="4656724" y="2572976"/>
              <a:ext cx="657876" cy="418823"/>
            </a:xfrm>
            <a:prstGeom prst="rect">
              <a:avLst/>
            </a:prstGeom>
            <a:noFill/>
            <a:ln>
              <a:noFill/>
            </a:ln>
          </p:spPr>
        </p:pic>
        <p:sp>
          <p:nvSpPr>
            <p:cNvPr id="972" name="Google Shape;972;p83"/>
            <p:cNvSpPr txBox="1"/>
            <p:nvPr/>
          </p:nvSpPr>
          <p:spPr>
            <a:xfrm>
              <a:off x="4495050" y="263401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a:t>
              </a:r>
              <a:r>
                <a:rPr lang="en-GB" sz="1800">
                  <a:latin typeface="Lexend"/>
                  <a:ea typeface="Lexend"/>
                  <a:cs typeface="Lexend"/>
                  <a:sym typeface="Lexend"/>
                </a:rPr>
                <a:t> 3</a:t>
              </a:r>
              <a:endParaRPr sz="1800">
                <a:solidFill>
                  <a:srgbClr val="000000"/>
                </a:solidFill>
                <a:latin typeface="Lexend"/>
                <a:ea typeface="Lexend"/>
                <a:cs typeface="Lexend"/>
                <a:sym typeface="Lexend"/>
              </a:endParaRPr>
            </a:p>
          </p:txBody>
        </p:sp>
        <p:pic>
          <p:nvPicPr>
            <p:cNvPr id="973" name="Google Shape;973;p83"/>
            <p:cNvPicPr preferRelativeResize="0"/>
            <p:nvPr/>
          </p:nvPicPr>
          <p:blipFill rotWithShape="1">
            <a:blip r:embed="rId3">
              <a:alphaModFix/>
            </a:blip>
            <a:srcRect b="84458" l="57225" r="18284" t="0"/>
            <a:stretch/>
          </p:blipFill>
          <p:spPr>
            <a:xfrm rot="5400000">
              <a:off x="7493024" y="2573439"/>
              <a:ext cx="657876" cy="418823"/>
            </a:xfrm>
            <a:prstGeom prst="rect">
              <a:avLst/>
            </a:prstGeom>
            <a:noFill/>
            <a:ln>
              <a:noFill/>
            </a:ln>
          </p:spPr>
        </p:pic>
        <p:sp>
          <p:nvSpPr>
            <p:cNvPr id="974" name="Google Shape;974;p83"/>
            <p:cNvSpPr txBox="1"/>
            <p:nvPr/>
          </p:nvSpPr>
          <p:spPr>
            <a:xfrm>
              <a:off x="8000250" y="263401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a:t>
              </a:r>
              <a:r>
                <a:rPr lang="en-GB" sz="1800">
                  <a:latin typeface="Lexend"/>
                  <a:ea typeface="Lexend"/>
                  <a:cs typeface="Lexend"/>
                  <a:sym typeface="Lexend"/>
                </a:rPr>
                <a:t> 3</a:t>
              </a:r>
              <a:endParaRPr sz="1800">
                <a:solidFill>
                  <a:srgbClr val="000000"/>
                </a:solidFill>
                <a:latin typeface="Lexend"/>
                <a:ea typeface="Lexend"/>
                <a:cs typeface="Lexend"/>
                <a:sym typeface="Lexend"/>
              </a:endParaRPr>
            </a:p>
          </p:txBody>
        </p:sp>
      </p:grpSp>
      <p:sp>
        <p:nvSpPr>
          <p:cNvPr id="975" name="Google Shape;975;p83"/>
          <p:cNvSpPr txBox="1"/>
          <p:nvPr>
            <p:ph idx="1" type="body"/>
          </p:nvPr>
        </p:nvSpPr>
        <p:spPr>
          <a:xfrm>
            <a:off x="324000" y="3322800"/>
            <a:ext cx="8496000" cy="111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Using this method we can see that </a:t>
            </a:r>
            <a:r>
              <a:rPr lang="en-GB" sz="1800"/>
              <a:t>the</a:t>
            </a:r>
            <a:r>
              <a:rPr lang="en-GB" sz="1800"/>
              <a:t> value of 4 cans is cheaper with the first deal.</a:t>
            </a:r>
            <a:r>
              <a:rPr lang="en-GB" sz="1800"/>
              <a:t>  </a:t>
            </a:r>
            <a:endParaRPr sz="1800"/>
          </a:p>
          <a:p>
            <a:pPr indent="0" lvl="0" marL="0" rtl="0" algn="l">
              <a:lnSpc>
                <a:spcPct val="100000"/>
              </a:lnSpc>
              <a:spcBef>
                <a:spcPts val="0"/>
              </a:spcBef>
              <a:spcAft>
                <a:spcPts val="0"/>
              </a:spcAft>
              <a:buNone/>
            </a:pPr>
            <a:r>
              <a:rPr lang="en-GB" sz="1800"/>
              <a:t>We cannot buy 4 cans as they are in packs of 8 or 12 but we can compare the relative prices ‘per 4 cans’.</a:t>
            </a:r>
            <a:endParaRPr sz="1800"/>
          </a:p>
        </p:txBody>
      </p:sp>
      <p:sp>
        <p:nvSpPr>
          <p:cNvPr id="976" name="Google Shape;976;p83"/>
          <p:cNvSpPr/>
          <p:nvPr/>
        </p:nvSpPr>
        <p:spPr>
          <a:xfrm>
            <a:off x="2199300" y="278132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£2.05</a:t>
            </a:r>
            <a:endParaRPr>
              <a:latin typeface="Lexend"/>
              <a:ea typeface="Lexend"/>
              <a:cs typeface="Lexend"/>
              <a:sym typeface="Lexend"/>
            </a:endParaRPr>
          </a:p>
        </p:txBody>
      </p:sp>
      <p:sp>
        <p:nvSpPr>
          <p:cNvPr id="977" name="Google Shape;977;p83"/>
          <p:cNvSpPr/>
          <p:nvPr/>
        </p:nvSpPr>
        <p:spPr>
          <a:xfrm>
            <a:off x="6385650" y="278132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£2.066…</a:t>
            </a:r>
            <a:endParaRPr>
              <a:latin typeface="Lexend"/>
              <a:ea typeface="Lexend"/>
              <a:cs typeface="Lexend"/>
              <a:sym typeface="Lexend"/>
            </a:endParaRPr>
          </a:p>
        </p:txBody>
      </p:sp>
      <p:pic>
        <p:nvPicPr>
          <p:cNvPr id="978" name="Google Shape;978;p83"/>
          <p:cNvPicPr preferRelativeResize="0"/>
          <p:nvPr/>
        </p:nvPicPr>
        <p:blipFill>
          <a:blip r:embed="rId4">
            <a:alphaModFix/>
          </a:blip>
          <a:stretch>
            <a:fillRect/>
          </a:stretch>
        </p:blipFill>
        <p:spPr>
          <a:xfrm flipH="1">
            <a:off x="8081618" y="1594925"/>
            <a:ext cx="448587" cy="858997"/>
          </a:xfrm>
          <a:prstGeom prst="rect">
            <a:avLst/>
          </a:prstGeom>
          <a:noFill/>
          <a:ln>
            <a:noFill/>
          </a:ln>
        </p:spPr>
      </p:pic>
      <p:grpSp>
        <p:nvGrpSpPr>
          <p:cNvPr id="979" name="Google Shape;979;p83"/>
          <p:cNvGrpSpPr/>
          <p:nvPr/>
        </p:nvGrpSpPr>
        <p:grpSpPr>
          <a:xfrm flipH="1">
            <a:off x="5914600" y="553274"/>
            <a:ext cx="2222078" cy="1447274"/>
            <a:chOff x="1902381" y="1608371"/>
            <a:chExt cx="1814979" cy="1553870"/>
          </a:xfrm>
        </p:grpSpPr>
        <p:pic>
          <p:nvPicPr>
            <p:cNvPr id="980" name="Google Shape;980;p83"/>
            <p:cNvPicPr preferRelativeResize="0"/>
            <p:nvPr/>
          </p:nvPicPr>
          <p:blipFill rotWithShape="1">
            <a:blip r:embed="rId5">
              <a:alphaModFix/>
            </a:blip>
            <a:srcRect b="0" l="0" r="69082" t="56280"/>
            <a:stretch/>
          </p:blipFill>
          <p:spPr>
            <a:xfrm flipH="1">
              <a:off x="1902381" y="1608371"/>
              <a:ext cx="1814979" cy="1553870"/>
            </a:xfrm>
            <a:prstGeom prst="rect">
              <a:avLst/>
            </a:prstGeom>
            <a:noFill/>
            <a:ln>
              <a:noFill/>
            </a:ln>
          </p:spPr>
        </p:pic>
        <p:sp>
          <p:nvSpPr>
            <p:cNvPr id="981" name="Google Shape;981;p83"/>
            <p:cNvSpPr txBox="1"/>
            <p:nvPr/>
          </p:nvSpPr>
          <p:spPr>
            <a:xfrm flipH="1">
              <a:off x="1986640" y="1783887"/>
              <a:ext cx="16461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I’m going to work out the cost of 4 cans for each.</a:t>
              </a:r>
              <a:endParaRPr sz="1800">
                <a:solidFill>
                  <a:srgbClr val="000000"/>
                </a:solidFill>
                <a:latin typeface="Lexend"/>
                <a:ea typeface="Lexend"/>
                <a:cs typeface="Lexend"/>
                <a:sym typeface="Lexend"/>
              </a:endParaRPr>
            </a:p>
          </p:txBody>
        </p:sp>
      </p:grpSp>
      <p:sp>
        <p:nvSpPr>
          <p:cNvPr id="982" name="Google Shape;982;p83"/>
          <p:cNvSpPr txBox="1"/>
          <p:nvPr>
            <p:ph idx="1" type="body"/>
          </p:nvPr>
        </p:nvSpPr>
        <p:spPr>
          <a:xfrm>
            <a:off x="324000" y="4524300"/>
            <a:ext cx="8496000" cy="27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method would be trickier if not using a calculator.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988" name="Google Shape;988;p84"/>
          <p:cNvSpPr/>
          <p:nvPr/>
        </p:nvSpPr>
        <p:spPr>
          <a:xfrm>
            <a:off x="384900" y="810000"/>
            <a:ext cx="27522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9" name="Google Shape;989;p84"/>
          <p:cNvSpPr txBox="1"/>
          <p:nvPr>
            <p:ph idx="1" type="body"/>
          </p:nvPr>
        </p:nvSpPr>
        <p:spPr>
          <a:xfrm>
            <a:off x="473675" y="871925"/>
            <a:ext cx="2566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Special offer:</a:t>
            </a:r>
            <a:endParaRPr sz="2000"/>
          </a:p>
          <a:p>
            <a:pPr indent="0" lvl="0" marL="0" rtl="0" algn="l">
              <a:lnSpc>
                <a:spcPct val="115000"/>
              </a:lnSpc>
              <a:spcBef>
                <a:spcPts val="0"/>
              </a:spcBef>
              <a:spcAft>
                <a:spcPts val="0"/>
              </a:spcAft>
              <a:buNone/>
            </a:pPr>
            <a:r>
              <a:rPr lang="en-GB" sz="2000"/>
              <a:t>8 pack of lemonade  </a:t>
            </a:r>
            <a:endParaRPr sz="2000"/>
          </a:p>
          <a:p>
            <a:pPr indent="0" lvl="0" marL="0" rtl="0" algn="l">
              <a:lnSpc>
                <a:spcPct val="115000"/>
              </a:lnSpc>
              <a:spcBef>
                <a:spcPts val="0"/>
              </a:spcBef>
              <a:spcAft>
                <a:spcPts val="0"/>
              </a:spcAft>
              <a:buNone/>
            </a:pPr>
            <a:r>
              <a:rPr lang="en-GB" sz="2000"/>
              <a:t>£4.10</a:t>
            </a:r>
            <a:endParaRPr sz="2000"/>
          </a:p>
        </p:txBody>
      </p:sp>
      <p:sp>
        <p:nvSpPr>
          <p:cNvPr id="990" name="Google Shape;990;p84"/>
          <p:cNvSpPr/>
          <p:nvPr/>
        </p:nvSpPr>
        <p:spPr>
          <a:xfrm>
            <a:off x="3369600" y="810000"/>
            <a:ext cx="1775100" cy="11187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1" name="Google Shape;991;p84"/>
          <p:cNvSpPr txBox="1"/>
          <p:nvPr>
            <p:ph idx="1" type="body"/>
          </p:nvPr>
        </p:nvSpPr>
        <p:spPr>
          <a:xfrm>
            <a:off x="3458375" y="871925"/>
            <a:ext cx="1977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 pack of lemonade  </a:t>
            </a:r>
            <a:endParaRPr sz="2000"/>
          </a:p>
          <a:p>
            <a:pPr indent="0" lvl="0" marL="0" rtl="0" algn="l">
              <a:lnSpc>
                <a:spcPct val="115000"/>
              </a:lnSpc>
              <a:spcBef>
                <a:spcPts val="0"/>
              </a:spcBef>
              <a:spcAft>
                <a:spcPts val="0"/>
              </a:spcAft>
              <a:buNone/>
            </a:pPr>
            <a:r>
              <a:rPr lang="en-GB" sz="2000"/>
              <a:t>£6.20</a:t>
            </a:r>
            <a:endParaRPr sz="2000"/>
          </a:p>
        </p:txBody>
      </p:sp>
      <p:graphicFrame>
        <p:nvGraphicFramePr>
          <p:cNvPr id="992" name="Google Shape;992;p84"/>
          <p:cNvGraphicFramePr/>
          <p:nvPr/>
        </p:nvGraphicFramePr>
        <p:xfrm>
          <a:off x="1012100" y="217178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8 cans</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£4.10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1</a:t>
                      </a:r>
                      <a:r>
                        <a:rPr lang="en-GB" sz="1800">
                          <a:latin typeface="Lexend"/>
                          <a:ea typeface="Lexend"/>
                          <a:cs typeface="Lexend"/>
                          <a:sym typeface="Lexend"/>
                        </a:rPr>
                        <a:t> can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993" name="Google Shape;993;p84"/>
          <p:cNvGrpSpPr/>
          <p:nvPr/>
        </p:nvGrpSpPr>
        <p:grpSpPr>
          <a:xfrm>
            <a:off x="308700" y="2299530"/>
            <a:ext cx="3924000" cy="658339"/>
            <a:chOff x="308700" y="2451930"/>
            <a:chExt cx="3924000" cy="658339"/>
          </a:xfrm>
        </p:grpSpPr>
        <p:pic>
          <p:nvPicPr>
            <p:cNvPr id="994" name="Google Shape;994;p84"/>
            <p:cNvPicPr preferRelativeResize="0"/>
            <p:nvPr/>
          </p:nvPicPr>
          <p:blipFill rotWithShape="1">
            <a:blip r:embed="rId3">
              <a:alphaModFix/>
            </a:blip>
            <a:srcRect b="84458" l="57225" r="18284" t="0"/>
            <a:stretch/>
          </p:blipFill>
          <p:spPr>
            <a:xfrm flipH="1" rot="-5400000">
              <a:off x="470374" y="2571457"/>
              <a:ext cx="657876" cy="418823"/>
            </a:xfrm>
            <a:prstGeom prst="rect">
              <a:avLst/>
            </a:prstGeom>
            <a:noFill/>
            <a:ln>
              <a:noFill/>
            </a:ln>
          </p:spPr>
        </p:pic>
        <p:sp>
          <p:nvSpPr>
            <p:cNvPr id="995" name="Google Shape;995;p84"/>
            <p:cNvSpPr txBox="1"/>
            <p:nvPr/>
          </p:nvSpPr>
          <p:spPr>
            <a:xfrm>
              <a:off x="3087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8</a:t>
              </a:r>
              <a:endParaRPr sz="1800">
                <a:solidFill>
                  <a:srgbClr val="000000"/>
                </a:solidFill>
                <a:latin typeface="Lexend"/>
                <a:ea typeface="Lexend"/>
                <a:cs typeface="Lexend"/>
                <a:sym typeface="Lexend"/>
              </a:endParaRPr>
            </a:p>
          </p:txBody>
        </p:sp>
        <p:pic>
          <p:nvPicPr>
            <p:cNvPr id="996" name="Google Shape;996;p84"/>
            <p:cNvPicPr preferRelativeResize="0"/>
            <p:nvPr/>
          </p:nvPicPr>
          <p:blipFill rotWithShape="1">
            <a:blip r:embed="rId3">
              <a:alphaModFix/>
            </a:blip>
            <a:srcRect b="84458" l="57225" r="18284" t="0"/>
            <a:stretch/>
          </p:blipFill>
          <p:spPr>
            <a:xfrm rot="5400000">
              <a:off x="3306674" y="2571919"/>
              <a:ext cx="657876" cy="418823"/>
            </a:xfrm>
            <a:prstGeom prst="rect">
              <a:avLst/>
            </a:prstGeom>
            <a:noFill/>
            <a:ln>
              <a:noFill/>
            </a:ln>
          </p:spPr>
        </p:pic>
        <p:sp>
          <p:nvSpPr>
            <p:cNvPr id="997" name="Google Shape;997;p84"/>
            <p:cNvSpPr txBox="1"/>
            <p:nvPr/>
          </p:nvSpPr>
          <p:spPr>
            <a:xfrm>
              <a:off x="38139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8</a:t>
              </a:r>
              <a:endParaRPr sz="1800">
                <a:solidFill>
                  <a:srgbClr val="000000"/>
                </a:solidFill>
                <a:latin typeface="Lexend"/>
                <a:ea typeface="Lexend"/>
                <a:cs typeface="Lexend"/>
                <a:sym typeface="Lexend"/>
              </a:endParaRPr>
            </a:p>
          </p:txBody>
        </p:sp>
      </p:grpSp>
      <p:graphicFrame>
        <p:nvGraphicFramePr>
          <p:cNvPr id="998" name="Google Shape;998;p84"/>
          <p:cNvGraphicFramePr/>
          <p:nvPr/>
        </p:nvGraphicFramePr>
        <p:xfrm>
          <a:off x="5198450" y="217330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12 cans</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£6.20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1</a:t>
                      </a:r>
                      <a:r>
                        <a:rPr lang="en-GB" sz="1800">
                          <a:latin typeface="Lexend"/>
                          <a:ea typeface="Lexend"/>
                          <a:cs typeface="Lexend"/>
                          <a:sym typeface="Lexend"/>
                        </a:rPr>
                        <a:t> can</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999" name="Google Shape;999;p84"/>
          <p:cNvGrpSpPr/>
          <p:nvPr/>
        </p:nvGrpSpPr>
        <p:grpSpPr>
          <a:xfrm>
            <a:off x="4379505" y="2301050"/>
            <a:ext cx="4116345" cy="658339"/>
            <a:chOff x="4379505" y="2453450"/>
            <a:chExt cx="4116345" cy="658339"/>
          </a:xfrm>
        </p:grpSpPr>
        <p:pic>
          <p:nvPicPr>
            <p:cNvPr id="1000" name="Google Shape;1000;p84"/>
            <p:cNvPicPr preferRelativeResize="0"/>
            <p:nvPr/>
          </p:nvPicPr>
          <p:blipFill rotWithShape="1">
            <a:blip r:embed="rId3">
              <a:alphaModFix/>
            </a:blip>
            <a:srcRect b="84458" l="57225" r="18284" t="0"/>
            <a:stretch/>
          </p:blipFill>
          <p:spPr>
            <a:xfrm flipH="1" rot="-5400000">
              <a:off x="4656724" y="2572976"/>
              <a:ext cx="657876" cy="418823"/>
            </a:xfrm>
            <a:prstGeom prst="rect">
              <a:avLst/>
            </a:prstGeom>
            <a:noFill/>
            <a:ln>
              <a:noFill/>
            </a:ln>
          </p:spPr>
        </p:pic>
        <p:sp>
          <p:nvSpPr>
            <p:cNvPr id="1001" name="Google Shape;1001;p84"/>
            <p:cNvSpPr txBox="1"/>
            <p:nvPr/>
          </p:nvSpPr>
          <p:spPr>
            <a:xfrm>
              <a:off x="4379505" y="2634025"/>
              <a:ext cx="4956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12</a:t>
              </a:r>
              <a:endParaRPr sz="1800">
                <a:solidFill>
                  <a:srgbClr val="000000"/>
                </a:solidFill>
                <a:latin typeface="Lexend"/>
                <a:ea typeface="Lexend"/>
                <a:cs typeface="Lexend"/>
                <a:sym typeface="Lexend"/>
              </a:endParaRPr>
            </a:p>
          </p:txBody>
        </p:sp>
        <p:pic>
          <p:nvPicPr>
            <p:cNvPr id="1002" name="Google Shape;1002;p84"/>
            <p:cNvPicPr preferRelativeResize="0"/>
            <p:nvPr/>
          </p:nvPicPr>
          <p:blipFill rotWithShape="1">
            <a:blip r:embed="rId3">
              <a:alphaModFix/>
            </a:blip>
            <a:srcRect b="84458" l="57225" r="18284" t="0"/>
            <a:stretch/>
          </p:blipFill>
          <p:spPr>
            <a:xfrm rot="5400000">
              <a:off x="7493024" y="2573439"/>
              <a:ext cx="657876" cy="418823"/>
            </a:xfrm>
            <a:prstGeom prst="rect">
              <a:avLst/>
            </a:prstGeom>
            <a:noFill/>
            <a:ln>
              <a:noFill/>
            </a:ln>
          </p:spPr>
        </p:pic>
        <p:sp>
          <p:nvSpPr>
            <p:cNvPr id="1003" name="Google Shape;1003;p84"/>
            <p:cNvSpPr txBox="1"/>
            <p:nvPr/>
          </p:nvSpPr>
          <p:spPr>
            <a:xfrm>
              <a:off x="8000250" y="2634025"/>
              <a:ext cx="4956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12</a:t>
              </a:r>
              <a:endParaRPr sz="1800">
                <a:solidFill>
                  <a:srgbClr val="000000"/>
                </a:solidFill>
                <a:latin typeface="Lexend"/>
                <a:ea typeface="Lexend"/>
                <a:cs typeface="Lexend"/>
                <a:sym typeface="Lexend"/>
              </a:endParaRPr>
            </a:p>
          </p:txBody>
        </p:sp>
      </p:grpSp>
      <p:sp>
        <p:nvSpPr>
          <p:cNvPr id="1004" name="Google Shape;1004;p84"/>
          <p:cNvSpPr txBox="1"/>
          <p:nvPr>
            <p:ph idx="1" type="body"/>
          </p:nvPr>
        </p:nvSpPr>
        <p:spPr>
          <a:xfrm>
            <a:off x="324000" y="3170300"/>
            <a:ext cx="84960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This is often called the unitary method as you are finding the price per individual unit. </a:t>
            </a:r>
            <a:endParaRPr sz="1800"/>
          </a:p>
        </p:txBody>
      </p:sp>
      <p:sp>
        <p:nvSpPr>
          <p:cNvPr id="1005" name="Google Shape;1005;p84"/>
          <p:cNvSpPr/>
          <p:nvPr/>
        </p:nvSpPr>
        <p:spPr>
          <a:xfrm>
            <a:off x="2199300" y="262892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£0.5125</a:t>
            </a:r>
            <a:endParaRPr>
              <a:latin typeface="Lexend"/>
              <a:ea typeface="Lexend"/>
              <a:cs typeface="Lexend"/>
              <a:sym typeface="Lexend"/>
            </a:endParaRPr>
          </a:p>
        </p:txBody>
      </p:sp>
      <p:sp>
        <p:nvSpPr>
          <p:cNvPr id="1006" name="Google Shape;1006;p84"/>
          <p:cNvSpPr/>
          <p:nvPr/>
        </p:nvSpPr>
        <p:spPr>
          <a:xfrm>
            <a:off x="6385650" y="262892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£0.5166…</a:t>
            </a:r>
            <a:endParaRPr>
              <a:latin typeface="Lexend"/>
              <a:ea typeface="Lexend"/>
              <a:cs typeface="Lexend"/>
              <a:sym typeface="Lexend"/>
            </a:endParaRPr>
          </a:p>
        </p:txBody>
      </p:sp>
      <p:sp>
        <p:nvSpPr>
          <p:cNvPr id="1007" name="Google Shape;1007;p84"/>
          <p:cNvSpPr txBox="1"/>
          <p:nvPr>
            <p:ph idx="1" type="body"/>
          </p:nvPr>
        </p:nvSpPr>
        <p:spPr>
          <a:xfrm>
            <a:off x="324000" y="3828650"/>
            <a:ext cx="8496000" cy="27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Again t</a:t>
            </a:r>
            <a:r>
              <a:rPr lang="en-GB" sz="1800"/>
              <a:t>his method would be trickier if not using a calculator. </a:t>
            </a:r>
            <a:endParaRPr sz="1800"/>
          </a:p>
        </p:txBody>
      </p:sp>
      <p:pic>
        <p:nvPicPr>
          <p:cNvPr id="1008" name="Google Shape;1008;p84"/>
          <p:cNvPicPr preferRelativeResize="0"/>
          <p:nvPr/>
        </p:nvPicPr>
        <p:blipFill>
          <a:blip r:embed="rId4">
            <a:alphaModFix/>
          </a:blip>
          <a:stretch>
            <a:fillRect/>
          </a:stretch>
        </p:blipFill>
        <p:spPr>
          <a:xfrm flipH="1">
            <a:off x="7917048" y="1595675"/>
            <a:ext cx="585190" cy="647257"/>
          </a:xfrm>
          <a:prstGeom prst="rect">
            <a:avLst/>
          </a:prstGeom>
          <a:noFill/>
          <a:ln>
            <a:noFill/>
          </a:ln>
        </p:spPr>
      </p:pic>
      <p:grpSp>
        <p:nvGrpSpPr>
          <p:cNvPr id="1009" name="Google Shape;1009;p84"/>
          <p:cNvGrpSpPr/>
          <p:nvPr/>
        </p:nvGrpSpPr>
        <p:grpSpPr>
          <a:xfrm flipH="1">
            <a:off x="5757550" y="613499"/>
            <a:ext cx="2222078" cy="1447274"/>
            <a:chOff x="1902381" y="1608371"/>
            <a:chExt cx="1814979" cy="1553870"/>
          </a:xfrm>
        </p:grpSpPr>
        <p:pic>
          <p:nvPicPr>
            <p:cNvPr id="1010" name="Google Shape;1010;p84"/>
            <p:cNvPicPr preferRelativeResize="0"/>
            <p:nvPr/>
          </p:nvPicPr>
          <p:blipFill rotWithShape="1">
            <a:blip r:embed="rId5">
              <a:alphaModFix/>
            </a:blip>
            <a:srcRect b="0" l="0" r="69082" t="56280"/>
            <a:stretch/>
          </p:blipFill>
          <p:spPr>
            <a:xfrm flipH="1">
              <a:off x="1902381" y="1608371"/>
              <a:ext cx="1814979" cy="1553870"/>
            </a:xfrm>
            <a:prstGeom prst="rect">
              <a:avLst/>
            </a:prstGeom>
            <a:noFill/>
            <a:ln>
              <a:noFill/>
            </a:ln>
          </p:spPr>
        </p:pic>
        <p:sp>
          <p:nvSpPr>
            <p:cNvPr id="1011" name="Google Shape;1011;p84"/>
            <p:cNvSpPr txBox="1"/>
            <p:nvPr/>
          </p:nvSpPr>
          <p:spPr>
            <a:xfrm flipH="1">
              <a:off x="1986747" y="1783887"/>
              <a:ext cx="16512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I’m going to work out the price per can for each.</a:t>
              </a:r>
              <a:endParaRPr sz="1800">
                <a:solidFill>
                  <a:srgbClr val="000000"/>
                </a:solidFill>
                <a:latin typeface="Lexend"/>
                <a:ea typeface="Lexend"/>
                <a:cs typeface="Lexend"/>
                <a:sym typeface="Lexend"/>
              </a:endParaRPr>
            </a:p>
          </p:txBody>
        </p:sp>
      </p:grpSp>
      <p:sp>
        <p:nvSpPr>
          <p:cNvPr id="1012" name="Google Shape;1012;p84"/>
          <p:cNvSpPr txBox="1"/>
          <p:nvPr>
            <p:ph idx="1" type="body"/>
          </p:nvPr>
        </p:nvSpPr>
        <p:spPr>
          <a:xfrm>
            <a:off x="324000" y="4238900"/>
            <a:ext cx="8496000" cy="538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price per can looks very similar. We saw that, if buying 24 cans, you could save 10 pence in total.</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85"/>
          <p:cNvSpPr/>
          <p:nvPr/>
        </p:nvSpPr>
        <p:spPr>
          <a:xfrm>
            <a:off x="5172225" y="3522550"/>
            <a:ext cx="2040300" cy="457200"/>
          </a:xfrm>
          <a:prstGeom prst="roundRect">
            <a:avLst>
              <a:gd fmla="val 16667"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8" name="Google Shape;1018;p85"/>
          <p:cNvSpPr txBox="1"/>
          <p:nvPr>
            <p:ph idx="1" type="body"/>
          </p:nvPr>
        </p:nvSpPr>
        <p:spPr>
          <a:xfrm>
            <a:off x="324000" y="759300"/>
            <a:ext cx="8237700" cy="44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Put these in order, starting with the best value for money. </a:t>
            </a:r>
            <a:endParaRPr/>
          </a:p>
        </p:txBody>
      </p:sp>
      <p:sp>
        <p:nvSpPr>
          <p:cNvPr id="1019" name="Google Shape;1019;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020" name="Google Shape;1020;p85"/>
          <p:cNvSpPr/>
          <p:nvPr/>
        </p:nvSpPr>
        <p:spPr>
          <a:xfrm>
            <a:off x="857400" y="134940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1" name="Google Shape;1021;p85"/>
          <p:cNvSpPr txBox="1"/>
          <p:nvPr>
            <p:ph idx="1" type="body"/>
          </p:nvPr>
        </p:nvSpPr>
        <p:spPr>
          <a:xfrm>
            <a:off x="924849" y="148380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Pack of 4 doughnuts £1.40 </a:t>
            </a:r>
            <a:endParaRPr sz="2000"/>
          </a:p>
          <a:p>
            <a:pPr indent="0" lvl="0" marL="0" rtl="0" algn="l">
              <a:lnSpc>
                <a:spcPct val="115000"/>
              </a:lnSpc>
              <a:spcBef>
                <a:spcPts val="0"/>
              </a:spcBef>
              <a:spcAft>
                <a:spcPts val="0"/>
              </a:spcAft>
              <a:buNone/>
            </a:pPr>
            <a:r>
              <a:t/>
            </a:r>
            <a:endParaRPr sz="2000"/>
          </a:p>
        </p:txBody>
      </p:sp>
      <p:sp>
        <p:nvSpPr>
          <p:cNvPr id="1022" name="Google Shape;1022;p85"/>
          <p:cNvSpPr/>
          <p:nvPr/>
        </p:nvSpPr>
        <p:spPr>
          <a:xfrm>
            <a:off x="857400" y="211140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3" name="Google Shape;1023;p85"/>
          <p:cNvSpPr txBox="1"/>
          <p:nvPr>
            <p:ph idx="1" type="body"/>
          </p:nvPr>
        </p:nvSpPr>
        <p:spPr>
          <a:xfrm>
            <a:off x="924849" y="224580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Pack of 5 doughnuts £1.80 </a:t>
            </a:r>
            <a:endParaRPr sz="2000"/>
          </a:p>
          <a:p>
            <a:pPr indent="0" lvl="0" marL="0" rtl="0" algn="l">
              <a:lnSpc>
                <a:spcPct val="115000"/>
              </a:lnSpc>
              <a:spcBef>
                <a:spcPts val="0"/>
              </a:spcBef>
              <a:spcAft>
                <a:spcPts val="0"/>
              </a:spcAft>
              <a:buNone/>
            </a:pPr>
            <a:r>
              <a:t/>
            </a:r>
            <a:endParaRPr sz="2000"/>
          </a:p>
        </p:txBody>
      </p:sp>
      <p:sp>
        <p:nvSpPr>
          <p:cNvPr id="1024" name="Google Shape;1024;p85"/>
          <p:cNvSpPr/>
          <p:nvPr/>
        </p:nvSpPr>
        <p:spPr>
          <a:xfrm>
            <a:off x="857400" y="287340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5" name="Google Shape;1025;p85"/>
          <p:cNvSpPr txBox="1"/>
          <p:nvPr>
            <p:ph idx="1" type="body"/>
          </p:nvPr>
        </p:nvSpPr>
        <p:spPr>
          <a:xfrm>
            <a:off x="924849" y="300780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Pack of 8 doughnuts £2.50 </a:t>
            </a:r>
            <a:endParaRPr sz="2000"/>
          </a:p>
          <a:p>
            <a:pPr indent="0" lvl="0" marL="0" rtl="0" algn="l">
              <a:lnSpc>
                <a:spcPct val="115000"/>
              </a:lnSpc>
              <a:spcBef>
                <a:spcPts val="0"/>
              </a:spcBef>
              <a:spcAft>
                <a:spcPts val="0"/>
              </a:spcAft>
              <a:buNone/>
            </a:pPr>
            <a:r>
              <a:t/>
            </a:r>
            <a:endParaRPr sz="2000"/>
          </a:p>
        </p:txBody>
      </p:sp>
      <p:sp>
        <p:nvSpPr>
          <p:cNvPr id="1026" name="Google Shape;1026;p85"/>
          <p:cNvSpPr/>
          <p:nvPr/>
        </p:nvSpPr>
        <p:spPr>
          <a:xfrm>
            <a:off x="857400" y="363540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7" name="Google Shape;1027;p85"/>
          <p:cNvSpPr txBox="1"/>
          <p:nvPr>
            <p:ph idx="1" type="body"/>
          </p:nvPr>
        </p:nvSpPr>
        <p:spPr>
          <a:xfrm>
            <a:off x="924849" y="376980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Buy 2 get one free at 50p each  </a:t>
            </a:r>
            <a:endParaRPr sz="2000"/>
          </a:p>
          <a:p>
            <a:pPr indent="0" lvl="0" marL="0" rtl="0" algn="l">
              <a:lnSpc>
                <a:spcPct val="115000"/>
              </a:lnSpc>
              <a:spcBef>
                <a:spcPts val="0"/>
              </a:spcBef>
              <a:spcAft>
                <a:spcPts val="0"/>
              </a:spcAft>
              <a:buNone/>
            </a:pPr>
            <a:r>
              <a:t/>
            </a:r>
            <a:endParaRPr sz="2000"/>
          </a:p>
        </p:txBody>
      </p:sp>
      <p:grpSp>
        <p:nvGrpSpPr>
          <p:cNvPr id="1028" name="Google Shape;1028;p85"/>
          <p:cNvGrpSpPr/>
          <p:nvPr/>
        </p:nvGrpSpPr>
        <p:grpSpPr>
          <a:xfrm>
            <a:off x="323991" y="1391400"/>
            <a:ext cx="457200" cy="457200"/>
            <a:chOff x="1020916" y="1442088"/>
            <a:chExt cx="457200" cy="457200"/>
          </a:xfrm>
        </p:grpSpPr>
        <p:pic>
          <p:nvPicPr>
            <p:cNvPr id="1029" name="Google Shape;1029;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0" name="Google Shape;1030;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31" name="Google Shape;1031;p85"/>
          <p:cNvGrpSpPr/>
          <p:nvPr/>
        </p:nvGrpSpPr>
        <p:grpSpPr>
          <a:xfrm>
            <a:off x="323991" y="2142800"/>
            <a:ext cx="457200" cy="457200"/>
            <a:chOff x="1020916" y="1442088"/>
            <a:chExt cx="457200" cy="457200"/>
          </a:xfrm>
        </p:grpSpPr>
        <p:pic>
          <p:nvPicPr>
            <p:cNvPr id="1032" name="Google Shape;1032;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3" name="Google Shape;1033;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34" name="Google Shape;1034;p85"/>
          <p:cNvGrpSpPr/>
          <p:nvPr/>
        </p:nvGrpSpPr>
        <p:grpSpPr>
          <a:xfrm>
            <a:off x="323991" y="2894200"/>
            <a:ext cx="457200" cy="457200"/>
            <a:chOff x="1020916" y="1442088"/>
            <a:chExt cx="457200" cy="457200"/>
          </a:xfrm>
        </p:grpSpPr>
        <p:pic>
          <p:nvPicPr>
            <p:cNvPr id="1035" name="Google Shape;1035;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6" name="Google Shape;1036;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37" name="Google Shape;1037;p85"/>
          <p:cNvGrpSpPr/>
          <p:nvPr/>
        </p:nvGrpSpPr>
        <p:grpSpPr>
          <a:xfrm>
            <a:off x="323991" y="3645600"/>
            <a:ext cx="457200" cy="457200"/>
            <a:chOff x="1020916" y="1442088"/>
            <a:chExt cx="457200" cy="457200"/>
          </a:xfrm>
        </p:grpSpPr>
        <p:pic>
          <p:nvPicPr>
            <p:cNvPr id="1038" name="Google Shape;1038;p8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39" name="Google Shape;1039;p8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040" name="Google Shape;1040;p85"/>
          <p:cNvSpPr txBox="1"/>
          <p:nvPr>
            <p:ph idx="1" type="body"/>
          </p:nvPr>
        </p:nvSpPr>
        <p:spPr>
          <a:xfrm>
            <a:off x="5191950" y="1451550"/>
            <a:ext cx="19569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1.4</a:t>
            </a:r>
            <a:r>
              <a:rPr lang="en-GB" sz="2000">
                <a:latin typeface="Kalam"/>
                <a:ea typeface="Kalam"/>
                <a:cs typeface="Kalam"/>
                <a:sym typeface="Kalam"/>
              </a:rPr>
              <a:t> </a:t>
            </a:r>
            <a:r>
              <a:rPr lang="en-GB" sz="2000">
                <a:latin typeface="Kalam"/>
                <a:ea typeface="Kalam"/>
                <a:cs typeface="Kalam"/>
                <a:sym typeface="Kalam"/>
              </a:rPr>
              <a:t>÷ 4</a:t>
            </a:r>
            <a:r>
              <a:rPr lang="en-GB" sz="2000">
                <a:latin typeface="Kalam"/>
                <a:ea typeface="Kalam"/>
                <a:cs typeface="Kalam"/>
                <a:sym typeface="Kalam"/>
              </a:rPr>
              <a:t> = £0.35  </a:t>
            </a:r>
            <a:endParaRPr sz="2000">
              <a:latin typeface="Kalam"/>
              <a:ea typeface="Kalam"/>
              <a:cs typeface="Kalam"/>
              <a:sym typeface="Kalam"/>
            </a:endParaRPr>
          </a:p>
        </p:txBody>
      </p:sp>
      <p:sp>
        <p:nvSpPr>
          <p:cNvPr id="1041" name="Google Shape;1041;p85"/>
          <p:cNvSpPr txBox="1"/>
          <p:nvPr>
            <p:ph idx="1" type="body"/>
          </p:nvPr>
        </p:nvSpPr>
        <p:spPr>
          <a:xfrm>
            <a:off x="5191950" y="2213550"/>
            <a:ext cx="19569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1.8 ÷ 5 = £0.36  </a:t>
            </a:r>
            <a:endParaRPr sz="2000">
              <a:latin typeface="Kalam"/>
              <a:ea typeface="Kalam"/>
              <a:cs typeface="Kalam"/>
              <a:sym typeface="Kalam"/>
            </a:endParaRPr>
          </a:p>
        </p:txBody>
      </p:sp>
      <p:sp>
        <p:nvSpPr>
          <p:cNvPr id="1042" name="Google Shape;1042;p85"/>
          <p:cNvSpPr txBox="1"/>
          <p:nvPr>
            <p:ph idx="1" type="body"/>
          </p:nvPr>
        </p:nvSpPr>
        <p:spPr>
          <a:xfrm>
            <a:off x="5191950" y="2975550"/>
            <a:ext cx="22674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2.5</a:t>
            </a:r>
            <a:r>
              <a:rPr lang="en-GB" sz="2000">
                <a:latin typeface="Kalam"/>
                <a:ea typeface="Kalam"/>
                <a:cs typeface="Kalam"/>
                <a:sym typeface="Kalam"/>
              </a:rPr>
              <a:t> ÷ 8 = £0.3125  </a:t>
            </a:r>
            <a:endParaRPr sz="2000">
              <a:latin typeface="Kalam"/>
              <a:ea typeface="Kalam"/>
              <a:cs typeface="Kalam"/>
              <a:sym typeface="Kalam"/>
            </a:endParaRPr>
          </a:p>
        </p:txBody>
      </p:sp>
      <p:sp>
        <p:nvSpPr>
          <p:cNvPr id="1043" name="Google Shape;1043;p85"/>
          <p:cNvSpPr txBox="1"/>
          <p:nvPr>
            <p:ph idx="1" type="body"/>
          </p:nvPr>
        </p:nvSpPr>
        <p:spPr>
          <a:xfrm>
            <a:off x="5272825" y="4377425"/>
            <a:ext cx="22674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a:t>
            </a:r>
            <a:r>
              <a:rPr lang="en-GB" sz="2000">
                <a:latin typeface="Kalam"/>
                <a:ea typeface="Kalam"/>
                <a:cs typeface="Kalam"/>
                <a:sym typeface="Kalam"/>
              </a:rPr>
              <a:t> ÷ 3 = £0.333 ...  </a:t>
            </a:r>
            <a:endParaRPr sz="2000">
              <a:latin typeface="Kalam"/>
              <a:ea typeface="Kalam"/>
              <a:cs typeface="Kalam"/>
              <a:sym typeface="Kalam"/>
            </a:endParaRPr>
          </a:p>
        </p:txBody>
      </p:sp>
      <p:sp>
        <p:nvSpPr>
          <p:cNvPr id="1044" name="Google Shape;1044;p85"/>
          <p:cNvSpPr/>
          <p:nvPr/>
        </p:nvSpPr>
        <p:spPr>
          <a:xfrm>
            <a:off x="5323100" y="3601875"/>
            <a:ext cx="333000" cy="333000"/>
          </a:xfrm>
          <a:prstGeom prst="donut">
            <a:avLst>
              <a:gd fmla="val 31914" name="adj"/>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5" name="Google Shape;1045;p85"/>
          <p:cNvSpPr/>
          <p:nvPr/>
        </p:nvSpPr>
        <p:spPr>
          <a:xfrm>
            <a:off x="5922663" y="3601875"/>
            <a:ext cx="333000" cy="333000"/>
          </a:xfrm>
          <a:prstGeom prst="donut">
            <a:avLst>
              <a:gd fmla="val 31914" name="adj"/>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6" name="Google Shape;1046;p85"/>
          <p:cNvSpPr txBox="1"/>
          <p:nvPr>
            <p:ph idx="1" type="body"/>
          </p:nvPr>
        </p:nvSpPr>
        <p:spPr>
          <a:xfrm>
            <a:off x="5243750" y="3933825"/>
            <a:ext cx="6036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50 p</a:t>
            </a:r>
            <a:r>
              <a:rPr lang="en-GB" sz="2000">
                <a:latin typeface="Kalam"/>
                <a:ea typeface="Kalam"/>
                <a:cs typeface="Kalam"/>
                <a:sym typeface="Kalam"/>
              </a:rPr>
              <a:t>  </a:t>
            </a:r>
            <a:endParaRPr sz="2000">
              <a:latin typeface="Kalam"/>
              <a:ea typeface="Kalam"/>
              <a:cs typeface="Kalam"/>
              <a:sym typeface="Kalam"/>
            </a:endParaRPr>
          </a:p>
        </p:txBody>
      </p:sp>
      <p:sp>
        <p:nvSpPr>
          <p:cNvPr id="1047" name="Google Shape;1047;p85"/>
          <p:cNvSpPr txBox="1"/>
          <p:nvPr>
            <p:ph idx="1" type="body"/>
          </p:nvPr>
        </p:nvSpPr>
        <p:spPr>
          <a:xfrm>
            <a:off x="5911138" y="3933825"/>
            <a:ext cx="6036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50 p  </a:t>
            </a:r>
            <a:endParaRPr sz="2000">
              <a:latin typeface="Kalam"/>
              <a:ea typeface="Kalam"/>
              <a:cs typeface="Kalam"/>
              <a:sym typeface="Kalam"/>
            </a:endParaRPr>
          </a:p>
        </p:txBody>
      </p:sp>
      <p:sp>
        <p:nvSpPr>
          <p:cNvPr id="1048" name="Google Shape;1048;p85"/>
          <p:cNvSpPr/>
          <p:nvPr/>
        </p:nvSpPr>
        <p:spPr>
          <a:xfrm>
            <a:off x="6738988" y="3601875"/>
            <a:ext cx="333000" cy="333000"/>
          </a:xfrm>
          <a:prstGeom prst="donut">
            <a:avLst>
              <a:gd fmla="val 31914" name="adj"/>
            </a:avLst>
          </a:prstGeom>
          <a:solidFill>
            <a:srgbClr val="B45F06"/>
          </a:solidFill>
          <a:ln cap="flat" cmpd="sng" w="9525">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9" name="Google Shape;1049;p85"/>
          <p:cNvSpPr txBox="1"/>
          <p:nvPr>
            <p:ph idx="1" type="body"/>
          </p:nvPr>
        </p:nvSpPr>
        <p:spPr>
          <a:xfrm>
            <a:off x="6667138" y="3946500"/>
            <a:ext cx="6036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Free</a:t>
            </a:r>
            <a:r>
              <a:rPr lang="en-GB" sz="2000">
                <a:latin typeface="Kalam"/>
                <a:ea typeface="Kalam"/>
                <a:cs typeface="Kalam"/>
                <a:sym typeface="Kalam"/>
              </a:rPr>
              <a:t>  </a:t>
            </a:r>
            <a:endParaRPr sz="2000">
              <a:latin typeface="Kalam"/>
              <a:ea typeface="Kalam"/>
              <a:cs typeface="Kalam"/>
              <a:sym typeface="Kalam"/>
            </a:endParaRPr>
          </a:p>
        </p:txBody>
      </p:sp>
      <p:sp>
        <p:nvSpPr>
          <p:cNvPr id="1050" name="Google Shape;1050;p85"/>
          <p:cNvSpPr txBox="1"/>
          <p:nvPr>
            <p:ph idx="1" type="body"/>
          </p:nvPr>
        </p:nvSpPr>
        <p:spPr>
          <a:xfrm>
            <a:off x="7355550" y="3522550"/>
            <a:ext cx="8955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 for £1</a:t>
            </a: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86"/>
          <p:cNvSpPr txBox="1"/>
          <p:nvPr>
            <p:ph idx="1" type="body"/>
          </p:nvPr>
        </p:nvSpPr>
        <p:spPr>
          <a:xfrm>
            <a:off x="324000" y="759300"/>
            <a:ext cx="8237700" cy="444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Put these in order, starting with the best value for money. </a:t>
            </a:r>
            <a:endParaRPr/>
          </a:p>
        </p:txBody>
      </p:sp>
      <p:sp>
        <p:nvSpPr>
          <p:cNvPr id="1056" name="Google Shape;1056;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057" name="Google Shape;1057;p86"/>
          <p:cNvSpPr/>
          <p:nvPr/>
        </p:nvSpPr>
        <p:spPr>
          <a:xfrm>
            <a:off x="857400" y="154062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8" name="Google Shape;1058;p86"/>
          <p:cNvSpPr txBox="1"/>
          <p:nvPr>
            <p:ph idx="1" type="body"/>
          </p:nvPr>
        </p:nvSpPr>
        <p:spPr>
          <a:xfrm>
            <a:off x="924849" y="167502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Pack of 8 doughnuts £2.50 </a:t>
            </a:r>
            <a:endParaRPr sz="2000"/>
          </a:p>
          <a:p>
            <a:pPr indent="0" lvl="0" marL="0" rtl="0" algn="l">
              <a:lnSpc>
                <a:spcPct val="115000"/>
              </a:lnSpc>
              <a:spcBef>
                <a:spcPts val="0"/>
              </a:spcBef>
              <a:spcAft>
                <a:spcPts val="0"/>
              </a:spcAft>
              <a:buNone/>
            </a:pPr>
            <a:r>
              <a:t/>
            </a:r>
            <a:endParaRPr sz="2000"/>
          </a:p>
        </p:txBody>
      </p:sp>
      <p:sp>
        <p:nvSpPr>
          <p:cNvPr id="1059" name="Google Shape;1059;p86"/>
          <p:cNvSpPr/>
          <p:nvPr/>
        </p:nvSpPr>
        <p:spPr>
          <a:xfrm>
            <a:off x="857400" y="230262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0" name="Google Shape;1060;p86"/>
          <p:cNvSpPr txBox="1"/>
          <p:nvPr>
            <p:ph idx="1" type="body"/>
          </p:nvPr>
        </p:nvSpPr>
        <p:spPr>
          <a:xfrm>
            <a:off x="924849" y="243702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Buy 2 get one free at 50p each  </a:t>
            </a:r>
            <a:endParaRPr sz="2000"/>
          </a:p>
          <a:p>
            <a:pPr indent="0" lvl="0" marL="0" rtl="0" algn="l">
              <a:lnSpc>
                <a:spcPct val="115000"/>
              </a:lnSpc>
              <a:spcBef>
                <a:spcPts val="0"/>
              </a:spcBef>
              <a:spcAft>
                <a:spcPts val="0"/>
              </a:spcAft>
              <a:buNone/>
            </a:pPr>
            <a:r>
              <a:t/>
            </a:r>
            <a:endParaRPr sz="2000"/>
          </a:p>
        </p:txBody>
      </p:sp>
      <p:grpSp>
        <p:nvGrpSpPr>
          <p:cNvPr id="1061" name="Google Shape;1061;p86"/>
          <p:cNvGrpSpPr/>
          <p:nvPr/>
        </p:nvGrpSpPr>
        <p:grpSpPr>
          <a:xfrm>
            <a:off x="323991" y="1542570"/>
            <a:ext cx="457200" cy="457200"/>
            <a:chOff x="1020916" y="1442088"/>
            <a:chExt cx="457200" cy="457200"/>
          </a:xfrm>
        </p:grpSpPr>
        <p:pic>
          <p:nvPicPr>
            <p:cNvPr id="1062" name="Google Shape;1062;p8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63" name="Google Shape;1063;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64" name="Google Shape;1064;p86"/>
          <p:cNvGrpSpPr/>
          <p:nvPr/>
        </p:nvGrpSpPr>
        <p:grpSpPr>
          <a:xfrm>
            <a:off x="323991" y="2304570"/>
            <a:ext cx="457200" cy="457200"/>
            <a:chOff x="1020916" y="1442088"/>
            <a:chExt cx="457200" cy="457200"/>
          </a:xfrm>
        </p:grpSpPr>
        <p:pic>
          <p:nvPicPr>
            <p:cNvPr id="1065" name="Google Shape;1065;p8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66" name="Google Shape;1066;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067" name="Google Shape;1067;p86"/>
          <p:cNvSpPr txBox="1"/>
          <p:nvPr>
            <p:ph idx="1" type="body"/>
          </p:nvPr>
        </p:nvSpPr>
        <p:spPr>
          <a:xfrm>
            <a:off x="5191950" y="1642770"/>
            <a:ext cx="22674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2.5 ÷ 8 = £0.3125  </a:t>
            </a:r>
            <a:endParaRPr sz="2000">
              <a:latin typeface="Kalam"/>
              <a:ea typeface="Kalam"/>
              <a:cs typeface="Kalam"/>
              <a:sym typeface="Kalam"/>
            </a:endParaRPr>
          </a:p>
        </p:txBody>
      </p:sp>
      <p:sp>
        <p:nvSpPr>
          <p:cNvPr id="1068" name="Google Shape;1068;p86"/>
          <p:cNvSpPr txBox="1"/>
          <p:nvPr>
            <p:ph idx="1" type="body"/>
          </p:nvPr>
        </p:nvSpPr>
        <p:spPr>
          <a:xfrm>
            <a:off x="5191950" y="2404770"/>
            <a:ext cx="22674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 ÷ 3 = £0.333 ...  </a:t>
            </a:r>
            <a:endParaRPr sz="2000">
              <a:latin typeface="Kalam"/>
              <a:ea typeface="Kalam"/>
              <a:cs typeface="Kalam"/>
              <a:sym typeface="Kalam"/>
            </a:endParaRPr>
          </a:p>
        </p:txBody>
      </p:sp>
      <p:sp>
        <p:nvSpPr>
          <p:cNvPr id="1069" name="Google Shape;1069;p86"/>
          <p:cNvSpPr/>
          <p:nvPr/>
        </p:nvSpPr>
        <p:spPr>
          <a:xfrm>
            <a:off x="857400" y="306462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0" name="Google Shape;1070;p86"/>
          <p:cNvSpPr txBox="1"/>
          <p:nvPr>
            <p:ph idx="1" type="body"/>
          </p:nvPr>
        </p:nvSpPr>
        <p:spPr>
          <a:xfrm>
            <a:off x="924849" y="319902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Pack of 4 doughnuts £1.40 </a:t>
            </a:r>
            <a:endParaRPr sz="2000"/>
          </a:p>
          <a:p>
            <a:pPr indent="0" lvl="0" marL="0" rtl="0" algn="l">
              <a:lnSpc>
                <a:spcPct val="115000"/>
              </a:lnSpc>
              <a:spcBef>
                <a:spcPts val="0"/>
              </a:spcBef>
              <a:spcAft>
                <a:spcPts val="0"/>
              </a:spcAft>
              <a:buNone/>
            </a:pPr>
            <a:r>
              <a:t/>
            </a:r>
            <a:endParaRPr sz="2000"/>
          </a:p>
        </p:txBody>
      </p:sp>
      <p:sp>
        <p:nvSpPr>
          <p:cNvPr id="1071" name="Google Shape;1071;p86"/>
          <p:cNvSpPr/>
          <p:nvPr/>
        </p:nvSpPr>
        <p:spPr>
          <a:xfrm>
            <a:off x="857400" y="3826620"/>
            <a:ext cx="4171800" cy="6135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2" name="Google Shape;1072;p86"/>
          <p:cNvSpPr txBox="1"/>
          <p:nvPr>
            <p:ph idx="1" type="body"/>
          </p:nvPr>
        </p:nvSpPr>
        <p:spPr>
          <a:xfrm>
            <a:off x="924849" y="3961020"/>
            <a:ext cx="4047600" cy="3330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Pack of 5 doughnuts £1.80 </a:t>
            </a:r>
            <a:endParaRPr sz="2000"/>
          </a:p>
          <a:p>
            <a:pPr indent="0" lvl="0" marL="0" rtl="0" algn="l">
              <a:lnSpc>
                <a:spcPct val="115000"/>
              </a:lnSpc>
              <a:spcBef>
                <a:spcPts val="0"/>
              </a:spcBef>
              <a:spcAft>
                <a:spcPts val="0"/>
              </a:spcAft>
              <a:buNone/>
            </a:pPr>
            <a:r>
              <a:t/>
            </a:r>
            <a:endParaRPr sz="2000"/>
          </a:p>
        </p:txBody>
      </p:sp>
      <p:grpSp>
        <p:nvGrpSpPr>
          <p:cNvPr id="1073" name="Google Shape;1073;p86"/>
          <p:cNvGrpSpPr/>
          <p:nvPr/>
        </p:nvGrpSpPr>
        <p:grpSpPr>
          <a:xfrm>
            <a:off x="323991" y="3066570"/>
            <a:ext cx="457200" cy="457200"/>
            <a:chOff x="1020916" y="1442088"/>
            <a:chExt cx="457200" cy="457200"/>
          </a:xfrm>
        </p:grpSpPr>
        <p:pic>
          <p:nvPicPr>
            <p:cNvPr id="1074" name="Google Shape;1074;p8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75" name="Google Shape;1075;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76" name="Google Shape;1076;p86"/>
          <p:cNvGrpSpPr/>
          <p:nvPr/>
        </p:nvGrpSpPr>
        <p:grpSpPr>
          <a:xfrm>
            <a:off x="323991" y="3828570"/>
            <a:ext cx="457200" cy="457200"/>
            <a:chOff x="1020916" y="1442088"/>
            <a:chExt cx="457200" cy="457200"/>
          </a:xfrm>
        </p:grpSpPr>
        <p:pic>
          <p:nvPicPr>
            <p:cNvPr id="1077" name="Google Shape;1077;p8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78" name="Google Shape;1078;p8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079" name="Google Shape;1079;p86"/>
          <p:cNvSpPr txBox="1"/>
          <p:nvPr>
            <p:ph idx="1" type="body"/>
          </p:nvPr>
        </p:nvSpPr>
        <p:spPr>
          <a:xfrm>
            <a:off x="5191950" y="3166770"/>
            <a:ext cx="19569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1.4 ÷ 4 = £0.35  </a:t>
            </a:r>
            <a:endParaRPr sz="2000">
              <a:latin typeface="Kalam"/>
              <a:ea typeface="Kalam"/>
              <a:cs typeface="Kalam"/>
              <a:sym typeface="Kalam"/>
            </a:endParaRPr>
          </a:p>
        </p:txBody>
      </p:sp>
      <p:sp>
        <p:nvSpPr>
          <p:cNvPr id="1080" name="Google Shape;1080;p86"/>
          <p:cNvSpPr txBox="1"/>
          <p:nvPr>
            <p:ph idx="1" type="body"/>
          </p:nvPr>
        </p:nvSpPr>
        <p:spPr>
          <a:xfrm>
            <a:off x="5191950" y="3928770"/>
            <a:ext cx="19569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1.8 ÷ 5 = £0.36  </a:t>
            </a:r>
            <a:endParaRPr sz="2000">
              <a:latin typeface="Kalam"/>
              <a:ea typeface="Kalam"/>
              <a:cs typeface="Kalam"/>
              <a:sym typeface="Kalam"/>
            </a:endParaRPr>
          </a:p>
        </p:txBody>
      </p:sp>
      <p:sp>
        <p:nvSpPr>
          <p:cNvPr id="1081" name="Google Shape;1081;p86"/>
          <p:cNvSpPr txBox="1"/>
          <p:nvPr>
            <p:ph idx="1" type="body"/>
          </p:nvPr>
        </p:nvSpPr>
        <p:spPr>
          <a:xfrm>
            <a:off x="3361950" y="1154750"/>
            <a:ext cx="29241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Best value for money</a:t>
            </a:r>
            <a:r>
              <a:rPr lang="en-GB" sz="2000">
                <a:latin typeface="Kalam"/>
                <a:ea typeface="Kalam"/>
                <a:cs typeface="Kalam"/>
                <a:sym typeface="Kalam"/>
              </a:rPr>
              <a:t>  </a:t>
            </a:r>
            <a:endParaRPr sz="2000">
              <a:latin typeface="Kalam"/>
              <a:ea typeface="Kalam"/>
              <a:cs typeface="Kalam"/>
              <a:sym typeface="Kalam"/>
            </a:endParaRPr>
          </a:p>
        </p:txBody>
      </p:sp>
      <p:sp>
        <p:nvSpPr>
          <p:cNvPr id="1082" name="Google Shape;1082;p86"/>
          <p:cNvSpPr txBox="1"/>
          <p:nvPr>
            <p:ph idx="1" type="body"/>
          </p:nvPr>
        </p:nvSpPr>
        <p:spPr>
          <a:xfrm>
            <a:off x="3589125" y="4477500"/>
            <a:ext cx="29241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Worst</a:t>
            </a:r>
            <a:r>
              <a:rPr lang="en-GB" sz="2000">
                <a:latin typeface="Kalam"/>
                <a:ea typeface="Kalam"/>
                <a:cs typeface="Kalam"/>
                <a:sym typeface="Kalam"/>
              </a:rPr>
              <a:t> value for money  </a:t>
            </a:r>
            <a:endParaRPr sz="2000">
              <a:latin typeface="Kalam"/>
              <a:ea typeface="Kalam"/>
              <a:cs typeface="Kalam"/>
              <a:sym typeface="Kala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87"/>
          <p:cNvSpPr txBox="1"/>
          <p:nvPr>
            <p:ph idx="1" type="body"/>
          </p:nvPr>
        </p:nvSpPr>
        <p:spPr>
          <a:xfrm>
            <a:off x="324000" y="759300"/>
            <a:ext cx="8237700" cy="126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Lucas wants to buy crisps for his class’ end of term party. </a:t>
            </a:r>
            <a:endParaRPr sz="2000"/>
          </a:p>
          <a:p>
            <a:pPr indent="0" lvl="0" marL="0" rtl="0" algn="l">
              <a:spcBef>
                <a:spcPts val="1000"/>
              </a:spcBef>
              <a:spcAft>
                <a:spcPts val="1000"/>
              </a:spcAft>
              <a:buNone/>
            </a:pPr>
            <a:r>
              <a:rPr lang="en-GB" sz="2000"/>
              <a:t>There are 15 pupils in his class and he wants everyone to get one pack each. </a:t>
            </a:r>
            <a:r>
              <a:rPr lang="en-GB" sz="2000"/>
              <a:t>Which</a:t>
            </a:r>
            <a:r>
              <a:rPr lang="en-GB" sz="2000"/>
              <a:t> of these is better value for </a:t>
            </a:r>
            <a:r>
              <a:rPr lang="en-GB" sz="2000"/>
              <a:t>money</a:t>
            </a:r>
            <a:r>
              <a:rPr lang="en-GB" sz="2000"/>
              <a:t>? </a:t>
            </a:r>
            <a:endParaRPr sz="2000"/>
          </a:p>
        </p:txBody>
      </p:sp>
      <p:sp>
        <p:nvSpPr>
          <p:cNvPr id="1088" name="Google Shape;1088;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Comparing promotions</a:t>
            </a:r>
            <a:endParaRPr/>
          </a:p>
        </p:txBody>
      </p:sp>
      <p:sp>
        <p:nvSpPr>
          <p:cNvPr id="1089" name="Google Shape;1089;p87"/>
          <p:cNvSpPr/>
          <p:nvPr/>
        </p:nvSpPr>
        <p:spPr>
          <a:xfrm>
            <a:off x="1592738" y="20988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0" name="Google Shape;1090;p87"/>
          <p:cNvSpPr txBox="1"/>
          <p:nvPr>
            <p:ph idx="1" type="body"/>
          </p:nvPr>
        </p:nvSpPr>
        <p:spPr>
          <a:xfrm>
            <a:off x="1681513" y="21607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5</a:t>
            </a:r>
            <a:r>
              <a:rPr lang="en-GB" sz="2000"/>
              <a:t> pack  </a:t>
            </a:r>
            <a:endParaRPr sz="2000"/>
          </a:p>
          <a:p>
            <a:pPr indent="0" lvl="0" marL="0" rtl="0" algn="l">
              <a:lnSpc>
                <a:spcPct val="115000"/>
              </a:lnSpc>
              <a:spcBef>
                <a:spcPts val="0"/>
              </a:spcBef>
              <a:spcAft>
                <a:spcPts val="0"/>
              </a:spcAft>
              <a:buNone/>
            </a:pPr>
            <a:r>
              <a:rPr lang="en-GB" sz="2000"/>
              <a:t>£1.75</a:t>
            </a:r>
            <a:endParaRPr sz="2000"/>
          </a:p>
        </p:txBody>
      </p:sp>
      <p:sp>
        <p:nvSpPr>
          <p:cNvPr id="1091" name="Google Shape;1091;p87"/>
          <p:cNvSpPr/>
          <p:nvPr/>
        </p:nvSpPr>
        <p:spPr>
          <a:xfrm>
            <a:off x="3948650" y="20988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2" name="Google Shape;1092;p87"/>
          <p:cNvSpPr txBox="1"/>
          <p:nvPr>
            <p:ph idx="1" type="body"/>
          </p:nvPr>
        </p:nvSpPr>
        <p:spPr>
          <a:xfrm>
            <a:off x="4037425" y="21607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a:t>
            </a:r>
            <a:r>
              <a:rPr lang="en-GB" sz="2000"/>
              <a:t> pack  </a:t>
            </a:r>
            <a:endParaRPr sz="2000"/>
          </a:p>
          <a:p>
            <a:pPr indent="0" lvl="0" marL="0" rtl="0" algn="l">
              <a:lnSpc>
                <a:spcPct val="115000"/>
              </a:lnSpc>
              <a:spcBef>
                <a:spcPts val="0"/>
              </a:spcBef>
              <a:spcAft>
                <a:spcPts val="0"/>
              </a:spcAft>
              <a:buNone/>
            </a:pPr>
            <a:r>
              <a:rPr lang="en-GB" sz="2000"/>
              <a:t>£3.35</a:t>
            </a:r>
            <a:endParaRPr sz="2000"/>
          </a:p>
        </p:txBody>
      </p:sp>
      <p:sp>
        <p:nvSpPr>
          <p:cNvPr id="1093" name="Google Shape;1093;p87"/>
          <p:cNvSpPr/>
          <p:nvPr/>
        </p:nvSpPr>
        <p:spPr>
          <a:xfrm>
            <a:off x="6393338" y="20988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4" name="Google Shape;1094;p87"/>
          <p:cNvSpPr txBox="1"/>
          <p:nvPr>
            <p:ph idx="1" type="body"/>
          </p:nvPr>
        </p:nvSpPr>
        <p:spPr>
          <a:xfrm>
            <a:off x="6482113" y="21607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24</a:t>
            </a:r>
            <a:r>
              <a:rPr lang="en-GB" sz="2000"/>
              <a:t> pack  </a:t>
            </a:r>
            <a:endParaRPr sz="2000"/>
          </a:p>
          <a:p>
            <a:pPr indent="0" lvl="0" marL="0" rtl="0" algn="l">
              <a:lnSpc>
                <a:spcPct val="115000"/>
              </a:lnSpc>
              <a:spcBef>
                <a:spcPts val="0"/>
              </a:spcBef>
              <a:spcAft>
                <a:spcPts val="0"/>
              </a:spcAft>
              <a:buNone/>
            </a:pPr>
            <a:r>
              <a:rPr lang="en-GB" sz="2000"/>
              <a:t>£5.80</a:t>
            </a:r>
            <a:endParaRPr sz="2000"/>
          </a:p>
        </p:txBody>
      </p:sp>
      <p:sp>
        <p:nvSpPr>
          <p:cNvPr id="1095" name="Google Shape;1095;p87"/>
          <p:cNvSpPr txBox="1"/>
          <p:nvPr>
            <p:ph idx="1" type="body"/>
          </p:nvPr>
        </p:nvSpPr>
        <p:spPr>
          <a:xfrm>
            <a:off x="324000" y="3163800"/>
            <a:ext cx="8237700" cy="445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can start by finding the price per pack: </a:t>
            </a:r>
            <a:endParaRPr sz="2000"/>
          </a:p>
        </p:txBody>
      </p:sp>
      <p:graphicFrame>
        <p:nvGraphicFramePr>
          <p:cNvPr id="1096" name="Google Shape;1096;p87"/>
          <p:cNvGraphicFramePr/>
          <p:nvPr/>
        </p:nvGraphicFramePr>
        <p:xfrm>
          <a:off x="451400" y="3533405"/>
          <a:ext cx="3000000" cy="3000000"/>
        </p:xfrm>
        <a:graphic>
          <a:graphicData uri="http://schemas.openxmlformats.org/drawingml/2006/table">
            <a:tbl>
              <a:tblPr>
                <a:noFill/>
                <a:tableStyleId>{10AFA74E-A8D8-4ED3-82F3-7211547E49B6}</a:tableStyleId>
              </a:tblPr>
              <a:tblGrid>
                <a:gridCol w="1111275"/>
                <a:gridCol w="1111275"/>
              </a:tblGrid>
              <a:tr h="397350">
                <a:tc>
                  <a:txBody>
                    <a:bodyPr/>
                    <a:lstStyle/>
                    <a:p>
                      <a:pPr indent="0" lvl="0" marL="0" rtl="0" algn="l">
                        <a:spcBef>
                          <a:spcPts val="0"/>
                        </a:spcBef>
                        <a:spcAft>
                          <a:spcPts val="0"/>
                        </a:spcAft>
                        <a:buNone/>
                      </a:pPr>
                      <a:r>
                        <a:rPr lang="en-GB" sz="1800">
                          <a:latin typeface="Lexend"/>
                          <a:ea typeface="Lexend"/>
                          <a:cs typeface="Lexend"/>
                          <a:sym typeface="Lexend"/>
                        </a:rPr>
                        <a:t>5</a:t>
                      </a:r>
                      <a:r>
                        <a:rPr lang="en-GB" sz="1800">
                          <a:latin typeface="Lexend"/>
                          <a:ea typeface="Lexend"/>
                          <a:cs typeface="Lexend"/>
                          <a:sym typeface="Lexend"/>
                        </a:rPr>
                        <a:t> packs</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£1.75</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7350">
                <a:tc>
                  <a:txBody>
                    <a:bodyPr/>
                    <a:lstStyle/>
                    <a:p>
                      <a:pPr indent="0" lvl="0" marL="0" rtl="0" algn="l">
                        <a:spcBef>
                          <a:spcPts val="0"/>
                        </a:spcBef>
                        <a:spcAft>
                          <a:spcPts val="0"/>
                        </a:spcAft>
                        <a:buNone/>
                      </a:pPr>
                      <a:r>
                        <a:rPr lang="en-GB" sz="1800">
                          <a:latin typeface="Lexend"/>
                          <a:ea typeface="Lexend"/>
                          <a:cs typeface="Lexend"/>
                          <a:sym typeface="Lexend"/>
                        </a:rPr>
                        <a:t>1 pack </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£0.35</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097" name="Google Shape;1097;p87"/>
          <p:cNvGraphicFramePr/>
          <p:nvPr/>
        </p:nvGraphicFramePr>
        <p:xfrm>
          <a:off x="3369600" y="3533405"/>
          <a:ext cx="3000000" cy="3000000"/>
        </p:xfrm>
        <a:graphic>
          <a:graphicData uri="http://schemas.openxmlformats.org/drawingml/2006/table">
            <a:tbl>
              <a:tblPr>
                <a:noFill/>
                <a:tableStyleId>{10AFA74E-A8D8-4ED3-82F3-7211547E49B6}</a:tableStyleId>
              </a:tblPr>
              <a:tblGrid>
                <a:gridCol w="1176175"/>
                <a:gridCol w="1176175"/>
              </a:tblGrid>
              <a:tr h="397350">
                <a:tc>
                  <a:txBody>
                    <a:bodyPr/>
                    <a:lstStyle/>
                    <a:p>
                      <a:pPr indent="0" lvl="0" marL="0" rtl="0" algn="l">
                        <a:spcBef>
                          <a:spcPts val="0"/>
                        </a:spcBef>
                        <a:spcAft>
                          <a:spcPts val="0"/>
                        </a:spcAft>
                        <a:buNone/>
                      </a:pPr>
                      <a:r>
                        <a:rPr lang="en-GB" sz="1800">
                          <a:latin typeface="Lexend"/>
                          <a:ea typeface="Lexend"/>
                          <a:cs typeface="Lexend"/>
                          <a:sym typeface="Lexend"/>
                        </a:rPr>
                        <a:t>12</a:t>
                      </a:r>
                      <a:r>
                        <a:rPr lang="en-GB" sz="1800">
                          <a:latin typeface="Lexend"/>
                          <a:ea typeface="Lexend"/>
                          <a:cs typeface="Lexend"/>
                          <a:sym typeface="Lexend"/>
                        </a:rPr>
                        <a:t> packs</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£3.35</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7350">
                <a:tc>
                  <a:txBody>
                    <a:bodyPr/>
                    <a:lstStyle/>
                    <a:p>
                      <a:pPr indent="0" lvl="0" marL="0" rtl="0" algn="l">
                        <a:spcBef>
                          <a:spcPts val="0"/>
                        </a:spcBef>
                        <a:spcAft>
                          <a:spcPts val="0"/>
                        </a:spcAft>
                        <a:buNone/>
                      </a:pPr>
                      <a:r>
                        <a:rPr lang="en-GB" sz="1800">
                          <a:latin typeface="Lexend"/>
                          <a:ea typeface="Lexend"/>
                          <a:cs typeface="Lexend"/>
                          <a:sym typeface="Lexend"/>
                        </a:rPr>
                        <a:t>1 pack </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£0.279…</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098" name="Google Shape;1098;p87"/>
          <p:cNvGraphicFramePr/>
          <p:nvPr/>
        </p:nvGraphicFramePr>
        <p:xfrm>
          <a:off x="6112800" y="3533405"/>
          <a:ext cx="3000000" cy="3000000"/>
        </p:xfrm>
        <a:graphic>
          <a:graphicData uri="http://schemas.openxmlformats.org/drawingml/2006/table">
            <a:tbl>
              <a:tblPr>
                <a:noFill/>
                <a:tableStyleId>{10AFA74E-A8D8-4ED3-82F3-7211547E49B6}</a:tableStyleId>
              </a:tblPr>
              <a:tblGrid>
                <a:gridCol w="1176175"/>
                <a:gridCol w="1176175"/>
              </a:tblGrid>
              <a:tr h="397350">
                <a:tc>
                  <a:txBody>
                    <a:bodyPr/>
                    <a:lstStyle/>
                    <a:p>
                      <a:pPr indent="0" lvl="0" marL="0" rtl="0" algn="l">
                        <a:spcBef>
                          <a:spcPts val="0"/>
                        </a:spcBef>
                        <a:spcAft>
                          <a:spcPts val="0"/>
                        </a:spcAft>
                        <a:buNone/>
                      </a:pPr>
                      <a:r>
                        <a:rPr lang="en-GB" sz="1800">
                          <a:latin typeface="Lexend"/>
                          <a:ea typeface="Lexend"/>
                          <a:cs typeface="Lexend"/>
                          <a:sym typeface="Lexend"/>
                        </a:rPr>
                        <a:t>24</a:t>
                      </a:r>
                      <a:r>
                        <a:rPr lang="en-GB" sz="1800">
                          <a:latin typeface="Lexend"/>
                          <a:ea typeface="Lexend"/>
                          <a:cs typeface="Lexend"/>
                          <a:sym typeface="Lexend"/>
                        </a:rPr>
                        <a:t> packs</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£5.80</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7350">
                <a:tc>
                  <a:txBody>
                    <a:bodyPr/>
                    <a:lstStyle/>
                    <a:p>
                      <a:pPr indent="0" lvl="0" marL="0" rtl="0" algn="l">
                        <a:spcBef>
                          <a:spcPts val="0"/>
                        </a:spcBef>
                        <a:spcAft>
                          <a:spcPts val="0"/>
                        </a:spcAft>
                        <a:buNone/>
                      </a:pPr>
                      <a:r>
                        <a:rPr lang="en-GB" sz="1800">
                          <a:latin typeface="Lexend"/>
                          <a:ea typeface="Lexend"/>
                          <a:cs typeface="Lexend"/>
                          <a:sym typeface="Lexend"/>
                        </a:rPr>
                        <a:t>1 pack </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£0.241…</a:t>
                      </a:r>
                      <a:endParaRPr sz="1800">
                        <a:latin typeface="Lexend"/>
                        <a:ea typeface="Lexend"/>
                        <a:cs typeface="Lexend"/>
                        <a:sym typeface="Lexend"/>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099" name="Google Shape;1099;p87"/>
          <p:cNvSpPr txBox="1"/>
          <p:nvPr>
            <p:ph idx="1" type="body"/>
          </p:nvPr>
        </p:nvSpPr>
        <p:spPr>
          <a:xfrm>
            <a:off x="324000" y="4447750"/>
            <a:ext cx="5821200" cy="37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24 pack is better value for money. </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88"/>
          <p:cNvSpPr txBox="1"/>
          <p:nvPr>
            <p:ph idx="1" type="body"/>
          </p:nvPr>
        </p:nvSpPr>
        <p:spPr>
          <a:xfrm>
            <a:off x="324000" y="759300"/>
            <a:ext cx="8237700" cy="126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Lucas wants to buy crisps for his class’ end of term party. </a:t>
            </a:r>
            <a:endParaRPr sz="2000"/>
          </a:p>
          <a:p>
            <a:pPr indent="0" lvl="0" marL="0" rtl="0" algn="l">
              <a:spcBef>
                <a:spcPts val="1000"/>
              </a:spcBef>
              <a:spcAft>
                <a:spcPts val="1000"/>
              </a:spcAft>
              <a:buNone/>
            </a:pPr>
            <a:r>
              <a:rPr lang="en-GB" sz="2000"/>
              <a:t>There are 15 pupils in his class and he wants everyone to get one pack each. </a:t>
            </a:r>
            <a:endParaRPr sz="2000"/>
          </a:p>
        </p:txBody>
      </p:sp>
      <p:sp>
        <p:nvSpPr>
          <p:cNvPr id="1105" name="Google Shape;1105;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106" name="Google Shape;1106;p88"/>
          <p:cNvSpPr/>
          <p:nvPr/>
        </p:nvSpPr>
        <p:spPr>
          <a:xfrm>
            <a:off x="1592738" y="19464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7" name="Google Shape;1107;p88"/>
          <p:cNvSpPr txBox="1"/>
          <p:nvPr>
            <p:ph idx="1" type="body"/>
          </p:nvPr>
        </p:nvSpPr>
        <p:spPr>
          <a:xfrm>
            <a:off x="1681513" y="20083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5 pack  </a:t>
            </a:r>
            <a:endParaRPr sz="2000"/>
          </a:p>
          <a:p>
            <a:pPr indent="0" lvl="0" marL="0" rtl="0" algn="l">
              <a:lnSpc>
                <a:spcPct val="115000"/>
              </a:lnSpc>
              <a:spcBef>
                <a:spcPts val="0"/>
              </a:spcBef>
              <a:spcAft>
                <a:spcPts val="0"/>
              </a:spcAft>
              <a:buNone/>
            </a:pPr>
            <a:r>
              <a:rPr lang="en-GB" sz="2000"/>
              <a:t>£1.75</a:t>
            </a:r>
            <a:endParaRPr sz="2000"/>
          </a:p>
        </p:txBody>
      </p:sp>
      <p:sp>
        <p:nvSpPr>
          <p:cNvPr id="1108" name="Google Shape;1108;p88"/>
          <p:cNvSpPr/>
          <p:nvPr/>
        </p:nvSpPr>
        <p:spPr>
          <a:xfrm>
            <a:off x="3948650" y="19464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9" name="Google Shape;1109;p88"/>
          <p:cNvSpPr txBox="1"/>
          <p:nvPr>
            <p:ph idx="1" type="body"/>
          </p:nvPr>
        </p:nvSpPr>
        <p:spPr>
          <a:xfrm>
            <a:off x="4037425" y="20083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 pack  </a:t>
            </a:r>
            <a:endParaRPr sz="2000"/>
          </a:p>
          <a:p>
            <a:pPr indent="0" lvl="0" marL="0" rtl="0" algn="l">
              <a:lnSpc>
                <a:spcPct val="115000"/>
              </a:lnSpc>
              <a:spcBef>
                <a:spcPts val="0"/>
              </a:spcBef>
              <a:spcAft>
                <a:spcPts val="0"/>
              </a:spcAft>
              <a:buNone/>
            </a:pPr>
            <a:r>
              <a:rPr lang="en-GB" sz="2000"/>
              <a:t>£3.35</a:t>
            </a:r>
            <a:endParaRPr sz="2000"/>
          </a:p>
        </p:txBody>
      </p:sp>
      <p:sp>
        <p:nvSpPr>
          <p:cNvPr id="1110" name="Google Shape;1110;p88"/>
          <p:cNvSpPr/>
          <p:nvPr/>
        </p:nvSpPr>
        <p:spPr>
          <a:xfrm>
            <a:off x="6393338" y="19464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1" name="Google Shape;1111;p88"/>
          <p:cNvSpPr txBox="1"/>
          <p:nvPr>
            <p:ph idx="1" type="body"/>
          </p:nvPr>
        </p:nvSpPr>
        <p:spPr>
          <a:xfrm>
            <a:off x="6482113" y="20083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24 pack  </a:t>
            </a:r>
            <a:endParaRPr sz="2000"/>
          </a:p>
          <a:p>
            <a:pPr indent="0" lvl="0" marL="0" rtl="0" algn="l">
              <a:lnSpc>
                <a:spcPct val="115000"/>
              </a:lnSpc>
              <a:spcBef>
                <a:spcPts val="0"/>
              </a:spcBef>
              <a:spcAft>
                <a:spcPts val="0"/>
              </a:spcAft>
              <a:buNone/>
            </a:pPr>
            <a:r>
              <a:rPr lang="en-GB" sz="2000"/>
              <a:t>£5.80</a:t>
            </a:r>
            <a:endParaRPr sz="2000"/>
          </a:p>
        </p:txBody>
      </p:sp>
      <p:pic>
        <p:nvPicPr>
          <p:cNvPr id="1112" name="Google Shape;1112;p88"/>
          <p:cNvPicPr preferRelativeResize="0"/>
          <p:nvPr/>
        </p:nvPicPr>
        <p:blipFill>
          <a:blip r:embed="rId3">
            <a:alphaModFix/>
          </a:blip>
          <a:stretch>
            <a:fillRect/>
          </a:stretch>
        </p:blipFill>
        <p:spPr>
          <a:xfrm>
            <a:off x="359875" y="4173150"/>
            <a:ext cx="585190" cy="647257"/>
          </a:xfrm>
          <a:prstGeom prst="rect">
            <a:avLst/>
          </a:prstGeom>
          <a:noFill/>
          <a:ln>
            <a:noFill/>
          </a:ln>
        </p:spPr>
      </p:pic>
      <p:grpSp>
        <p:nvGrpSpPr>
          <p:cNvPr id="1113" name="Google Shape;1113;p88"/>
          <p:cNvGrpSpPr/>
          <p:nvPr/>
        </p:nvGrpSpPr>
        <p:grpSpPr>
          <a:xfrm>
            <a:off x="777510" y="3347832"/>
            <a:ext cx="3371686" cy="1266559"/>
            <a:chOff x="1902381" y="1608371"/>
            <a:chExt cx="1814979" cy="1553870"/>
          </a:xfrm>
        </p:grpSpPr>
        <p:pic>
          <p:nvPicPr>
            <p:cNvPr id="1114" name="Google Shape;1114;p88"/>
            <p:cNvPicPr preferRelativeResize="0"/>
            <p:nvPr/>
          </p:nvPicPr>
          <p:blipFill rotWithShape="1">
            <a:blip r:embed="rId4">
              <a:alphaModFix/>
            </a:blip>
            <a:srcRect b="0" l="0" r="69082" t="56280"/>
            <a:stretch/>
          </p:blipFill>
          <p:spPr>
            <a:xfrm flipH="1">
              <a:off x="1902381" y="1608371"/>
              <a:ext cx="1814979" cy="1553870"/>
            </a:xfrm>
            <a:prstGeom prst="rect">
              <a:avLst/>
            </a:prstGeom>
            <a:noFill/>
            <a:ln>
              <a:noFill/>
            </a:ln>
          </p:spPr>
        </p:pic>
        <p:sp>
          <p:nvSpPr>
            <p:cNvPr id="1115" name="Google Shape;1115;p88"/>
            <p:cNvSpPr txBox="1"/>
            <p:nvPr/>
          </p:nvSpPr>
          <p:spPr>
            <a:xfrm flipH="1">
              <a:off x="2059054" y="1858586"/>
              <a:ext cx="1578900" cy="980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But I don’t need any left over so can I get 15 packs cheaper another way?</a:t>
              </a:r>
              <a:endParaRPr sz="1800">
                <a:solidFill>
                  <a:srgbClr val="000000"/>
                </a:solidFill>
                <a:latin typeface="Lexend"/>
                <a:ea typeface="Lexend"/>
                <a:cs typeface="Lexend"/>
                <a:sym typeface="Lexend"/>
              </a:endParaRPr>
            </a:p>
          </p:txBody>
        </p:sp>
      </p:grpSp>
      <p:sp>
        <p:nvSpPr>
          <p:cNvPr id="1116" name="Google Shape;1116;p88"/>
          <p:cNvSpPr txBox="1"/>
          <p:nvPr>
            <p:ph idx="1" type="body"/>
          </p:nvPr>
        </p:nvSpPr>
        <p:spPr>
          <a:xfrm>
            <a:off x="1154900" y="2919150"/>
            <a:ext cx="1956900" cy="33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1.75 × 3 = £5.25</a:t>
            </a:r>
            <a:r>
              <a:rPr lang="en-GB" sz="2000"/>
              <a:t>  </a:t>
            </a:r>
            <a:endParaRPr sz="2000"/>
          </a:p>
        </p:txBody>
      </p:sp>
      <p:sp>
        <p:nvSpPr>
          <p:cNvPr id="1117" name="Google Shape;1117;p88"/>
          <p:cNvSpPr txBox="1"/>
          <p:nvPr>
            <p:ph idx="1" type="body"/>
          </p:nvPr>
        </p:nvSpPr>
        <p:spPr>
          <a:xfrm>
            <a:off x="4149200" y="3146450"/>
            <a:ext cx="4689600" cy="1606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Even though this is not as good value for money, buying 3 packs of 5 will cost Lucas less. </a:t>
            </a:r>
            <a:endParaRPr sz="2000"/>
          </a:p>
          <a:p>
            <a:pPr indent="0" lvl="0" marL="0" rtl="0" algn="l">
              <a:lnSpc>
                <a:spcPct val="100000"/>
              </a:lnSpc>
              <a:spcBef>
                <a:spcPts val="1000"/>
              </a:spcBef>
              <a:spcAft>
                <a:spcPts val="1000"/>
              </a:spcAft>
              <a:buNone/>
            </a:pPr>
            <a:r>
              <a:rPr lang="en-GB" sz="2000"/>
              <a:t>If the extra packets were going to go to waste, this would be cheaper.</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89"/>
          <p:cNvSpPr txBox="1"/>
          <p:nvPr>
            <p:ph idx="1" type="body"/>
          </p:nvPr>
        </p:nvSpPr>
        <p:spPr>
          <a:xfrm>
            <a:off x="324000" y="759300"/>
            <a:ext cx="8237700" cy="126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Lucas wants to buy crisps for his class’ end of term party. </a:t>
            </a:r>
            <a:endParaRPr sz="2000"/>
          </a:p>
          <a:p>
            <a:pPr indent="0" lvl="0" marL="0" rtl="0" algn="l">
              <a:spcBef>
                <a:spcPts val="1000"/>
              </a:spcBef>
              <a:spcAft>
                <a:spcPts val="1000"/>
              </a:spcAft>
              <a:buNone/>
            </a:pPr>
            <a:r>
              <a:rPr lang="en-GB" sz="2000"/>
              <a:t>There are 15 pupils in his class and he wants everyone to get one pack each. </a:t>
            </a:r>
            <a:endParaRPr sz="2000"/>
          </a:p>
        </p:txBody>
      </p:sp>
      <p:sp>
        <p:nvSpPr>
          <p:cNvPr id="1123" name="Google Shape;1123;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124" name="Google Shape;1124;p89"/>
          <p:cNvSpPr/>
          <p:nvPr/>
        </p:nvSpPr>
        <p:spPr>
          <a:xfrm>
            <a:off x="1592738" y="19464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5" name="Google Shape;1125;p89"/>
          <p:cNvSpPr txBox="1"/>
          <p:nvPr>
            <p:ph idx="1" type="body"/>
          </p:nvPr>
        </p:nvSpPr>
        <p:spPr>
          <a:xfrm>
            <a:off x="1681513" y="20083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5 pack  </a:t>
            </a:r>
            <a:endParaRPr sz="2000"/>
          </a:p>
          <a:p>
            <a:pPr indent="0" lvl="0" marL="0" rtl="0" algn="l">
              <a:lnSpc>
                <a:spcPct val="115000"/>
              </a:lnSpc>
              <a:spcBef>
                <a:spcPts val="0"/>
              </a:spcBef>
              <a:spcAft>
                <a:spcPts val="0"/>
              </a:spcAft>
              <a:buNone/>
            </a:pPr>
            <a:r>
              <a:rPr lang="en-GB" sz="2000"/>
              <a:t>£1.75</a:t>
            </a:r>
            <a:endParaRPr sz="2000"/>
          </a:p>
        </p:txBody>
      </p:sp>
      <p:sp>
        <p:nvSpPr>
          <p:cNvPr id="1126" name="Google Shape;1126;p89"/>
          <p:cNvSpPr/>
          <p:nvPr/>
        </p:nvSpPr>
        <p:spPr>
          <a:xfrm>
            <a:off x="3948650" y="19464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7" name="Google Shape;1127;p89"/>
          <p:cNvSpPr txBox="1"/>
          <p:nvPr>
            <p:ph idx="1" type="body"/>
          </p:nvPr>
        </p:nvSpPr>
        <p:spPr>
          <a:xfrm>
            <a:off x="4037425" y="20083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12 pack  </a:t>
            </a:r>
            <a:endParaRPr sz="2000"/>
          </a:p>
          <a:p>
            <a:pPr indent="0" lvl="0" marL="0" rtl="0" algn="l">
              <a:lnSpc>
                <a:spcPct val="115000"/>
              </a:lnSpc>
              <a:spcBef>
                <a:spcPts val="0"/>
              </a:spcBef>
              <a:spcAft>
                <a:spcPts val="0"/>
              </a:spcAft>
              <a:buNone/>
            </a:pPr>
            <a:r>
              <a:rPr lang="en-GB" sz="2000"/>
              <a:t>£3.35</a:t>
            </a:r>
            <a:endParaRPr sz="2000"/>
          </a:p>
        </p:txBody>
      </p:sp>
      <p:sp>
        <p:nvSpPr>
          <p:cNvPr id="1128" name="Google Shape;1128;p89"/>
          <p:cNvSpPr/>
          <p:nvPr/>
        </p:nvSpPr>
        <p:spPr>
          <a:xfrm>
            <a:off x="6393338" y="19464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9" name="Google Shape;1129;p89"/>
          <p:cNvSpPr txBox="1"/>
          <p:nvPr>
            <p:ph idx="1" type="body"/>
          </p:nvPr>
        </p:nvSpPr>
        <p:spPr>
          <a:xfrm>
            <a:off x="6482113" y="20083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24 pack  </a:t>
            </a:r>
            <a:endParaRPr sz="2000"/>
          </a:p>
          <a:p>
            <a:pPr indent="0" lvl="0" marL="0" rtl="0" algn="l">
              <a:lnSpc>
                <a:spcPct val="115000"/>
              </a:lnSpc>
              <a:spcBef>
                <a:spcPts val="0"/>
              </a:spcBef>
              <a:spcAft>
                <a:spcPts val="0"/>
              </a:spcAft>
              <a:buNone/>
            </a:pPr>
            <a:r>
              <a:rPr lang="en-GB" sz="2000"/>
              <a:t>£5.80</a:t>
            </a:r>
            <a:endParaRPr sz="2000"/>
          </a:p>
        </p:txBody>
      </p:sp>
      <p:sp>
        <p:nvSpPr>
          <p:cNvPr id="1130" name="Google Shape;1130;p89"/>
          <p:cNvSpPr txBox="1"/>
          <p:nvPr>
            <p:ph idx="1" type="body"/>
          </p:nvPr>
        </p:nvSpPr>
        <p:spPr>
          <a:xfrm>
            <a:off x="3203400" y="3240000"/>
            <a:ext cx="5616600" cy="676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How can Lucas buy at least 15 packs and spend the least amount of money? </a:t>
            </a:r>
            <a:endParaRPr sz="2000"/>
          </a:p>
        </p:txBody>
      </p:sp>
      <p:grpSp>
        <p:nvGrpSpPr>
          <p:cNvPr id="1131" name="Google Shape;1131;p89"/>
          <p:cNvGrpSpPr/>
          <p:nvPr/>
        </p:nvGrpSpPr>
        <p:grpSpPr>
          <a:xfrm>
            <a:off x="801075" y="3374163"/>
            <a:ext cx="2246147" cy="945840"/>
            <a:chOff x="1902376" y="1608371"/>
            <a:chExt cx="1692396" cy="1553870"/>
          </a:xfrm>
        </p:grpSpPr>
        <p:pic>
          <p:nvPicPr>
            <p:cNvPr id="1132" name="Google Shape;1132;p89"/>
            <p:cNvPicPr preferRelativeResize="0"/>
            <p:nvPr/>
          </p:nvPicPr>
          <p:blipFill rotWithShape="1">
            <a:blip r:embed="rId3">
              <a:alphaModFix/>
            </a:blip>
            <a:srcRect b="0" l="0" r="69082" t="56280"/>
            <a:stretch/>
          </p:blipFill>
          <p:spPr>
            <a:xfrm flipH="1">
              <a:off x="1902376" y="1608371"/>
              <a:ext cx="1692396" cy="1553870"/>
            </a:xfrm>
            <a:prstGeom prst="rect">
              <a:avLst/>
            </a:prstGeom>
            <a:noFill/>
            <a:ln>
              <a:noFill/>
            </a:ln>
          </p:spPr>
        </p:pic>
        <p:sp>
          <p:nvSpPr>
            <p:cNvPr id="1133" name="Google Shape;1133;p89"/>
            <p:cNvSpPr txBox="1"/>
            <p:nvPr/>
          </p:nvSpPr>
          <p:spPr>
            <a:xfrm flipH="1">
              <a:off x="2026896" y="1783887"/>
              <a:ext cx="1490400" cy="1054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 can see an even cheaper way.</a:t>
              </a:r>
              <a:endParaRPr sz="1800">
                <a:solidFill>
                  <a:srgbClr val="000000"/>
                </a:solidFill>
                <a:latin typeface="Lexend"/>
                <a:ea typeface="Lexend"/>
                <a:cs typeface="Lexend"/>
                <a:sym typeface="Lexend"/>
              </a:endParaRPr>
            </a:p>
          </p:txBody>
        </p:sp>
      </p:grpSp>
      <p:pic>
        <p:nvPicPr>
          <p:cNvPr id="1134" name="Google Shape;1134;p89"/>
          <p:cNvPicPr preferRelativeResize="0"/>
          <p:nvPr/>
        </p:nvPicPr>
        <p:blipFill>
          <a:blip r:embed="rId4">
            <a:alphaModFix/>
          </a:blip>
          <a:stretch>
            <a:fillRect/>
          </a:stretch>
        </p:blipFill>
        <p:spPr>
          <a:xfrm>
            <a:off x="352324" y="4089600"/>
            <a:ext cx="547399" cy="716926"/>
          </a:xfrm>
          <a:prstGeom prst="rect">
            <a:avLst/>
          </a:prstGeom>
          <a:noFill/>
          <a:ln>
            <a:noFill/>
          </a:ln>
        </p:spPr>
      </p:pic>
      <p:sp>
        <p:nvSpPr>
          <p:cNvPr id="1135" name="Google Shape;1135;p89"/>
          <p:cNvSpPr txBox="1"/>
          <p:nvPr>
            <p:ph idx="1" type="body"/>
          </p:nvPr>
        </p:nvSpPr>
        <p:spPr>
          <a:xfrm>
            <a:off x="3203400" y="3983025"/>
            <a:ext cx="5616600" cy="41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Buy a 12 pack and a 5 pack.</a:t>
            </a:r>
            <a:endParaRPr sz="2000">
              <a:latin typeface="Kalam"/>
              <a:ea typeface="Kalam"/>
              <a:cs typeface="Kalam"/>
              <a:sym typeface="Kalam"/>
            </a:endParaRPr>
          </a:p>
        </p:txBody>
      </p:sp>
      <p:sp>
        <p:nvSpPr>
          <p:cNvPr id="1136" name="Google Shape;1136;p89"/>
          <p:cNvSpPr txBox="1"/>
          <p:nvPr>
            <p:ph idx="1" type="body"/>
          </p:nvPr>
        </p:nvSpPr>
        <p:spPr>
          <a:xfrm>
            <a:off x="3203400" y="4395825"/>
            <a:ext cx="2500800" cy="357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3.35 + 1.75 = £5.10</a:t>
            </a:r>
            <a:endParaRPr sz="2000">
              <a:latin typeface="Kalam"/>
              <a:ea typeface="Kalam"/>
              <a:cs typeface="Kalam"/>
              <a:sym typeface="Kalam"/>
            </a:endParaRPr>
          </a:p>
        </p:txBody>
      </p:sp>
      <p:sp>
        <p:nvSpPr>
          <p:cNvPr id="1137" name="Google Shape;1137;p89"/>
          <p:cNvSpPr txBox="1"/>
          <p:nvPr/>
        </p:nvSpPr>
        <p:spPr>
          <a:xfrm>
            <a:off x="899725" y="443962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90"/>
          <p:cNvSpPr txBox="1"/>
          <p:nvPr>
            <p:ph idx="1" type="body"/>
          </p:nvPr>
        </p:nvSpPr>
        <p:spPr>
          <a:xfrm>
            <a:off x="324000" y="759300"/>
            <a:ext cx="8237700" cy="126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Shops use promotions to encourage customers to buy more.</a:t>
            </a:r>
            <a:endParaRPr sz="2000"/>
          </a:p>
          <a:p>
            <a:pPr indent="0" lvl="0" marL="0" rtl="0" algn="l">
              <a:spcBef>
                <a:spcPts val="1000"/>
              </a:spcBef>
              <a:spcAft>
                <a:spcPts val="0"/>
              </a:spcAft>
              <a:buNone/>
            </a:pPr>
            <a:r>
              <a:rPr lang="en-GB" sz="2000"/>
              <a:t>Most of the time, the promotions offer better value for money.</a:t>
            </a:r>
            <a:endParaRPr sz="2000"/>
          </a:p>
          <a:p>
            <a:pPr indent="0" lvl="0" marL="0" rtl="0" algn="l">
              <a:spcBef>
                <a:spcPts val="1000"/>
              </a:spcBef>
              <a:spcAft>
                <a:spcPts val="0"/>
              </a:spcAft>
              <a:buNone/>
            </a:pPr>
            <a:r>
              <a:rPr lang="en-GB" sz="2000"/>
              <a:t>However it is always good to check for yourself.</a:t>
            </a:r>
            <a:endParaRPr sz="2000"/>
          </a:p>
          <a:p>
            <a:pPr indent="0" lvl="0" marL="0" rtl="0" algn="l">
              <a:spcBef>
                <a:spcPts val="1000"/>
              </a:spcBef>
              <a:spcAft>
                <a:spcPts val="1000"/>
              </a:spcAft>
              <a:buNone/>
            </a:pPr>
            <a:r>
              <a:t/>
            </a:r>
            <a:endParaRPr sz="2000"/>
          </a:p>
        </p:txBody>
      </p:sp>
      <p:sp>
        <p:nvSpPr>
          <p:cNvPr id="1143" name="Google Shape;1143;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144" name="Google Shape;1144;p90"/>
          <p:cNvSpPr/>
          <p:nvPr/>
        </p:nvSpPr>
        <p:spPr>
          <a:xfrm>
            <a:off x="404075"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5" name="Google Shape;1145;p90"/>
          <p:cNvSpPr txBox="1"/>
          <p:nvPr>
            <p:ph idx="1" type="body"/>
          </p:nvPr>
        </p:nvSpPr>
        <p:spPr>
          <a:xfrm>
            <a:off x="465650" y="2230500"/>
            <a:ext cx="2571300" cy="56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Cereal</a:t>
            </a:r>
            <a:r>
              <a:rPr lang="en-GB" sz="1900"/>
              <a:t> 50% extra £5.40</a:t>
            </a:r>
            <a:endParaRPr sz="1900"/>
          </a:p>
        </p:txBody>
      </p:sp>
      <p:sp>
        <p:nvSpPr>
          <p:cNvPr id="1146" name="Google Shape;1146;p90"/>
          <p:cNvSpPr txBox="1"/>
          <p:nvPr>
            <p:ph idx="1" type="body"/>
          </p:nvPr>
        </p:nvSpPr>
        <p:spPr>
          <a:xfrm>
            <a:off x="465650" y="2856425"/>
            <a:ext cx="2571300" cy="372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Normal bag £3.60</a:t>
            </a:r>
            <a:endParaRPr sz="1800"/>
          </a:p>
        </p:txBody>
      </p:sp>
      <p:sp>
        <p:nvSpPr>
          <p:cNvPr id="1147" name="Google Shape;1147;p90"/>
          <p:cNvSpPr/>
          <p:nvPr/>
        </p:nvSpPr>
        <p:spPr>
          <a:xfrm>
            <a:off x="3203100"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8" name="Google Shape;1148;p90"/>
          <p:cNvSpPr txBox="1"/>
          <p:nvPr>
            <p:ph idx="1" type="body"/>
          </p:nvPr>
        </p:nvSpPr>
        <p:spPr>
          <a:xfrm>
            <a:off x="3292450" y="2266950"/>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Jam  </a:t>
            </a:r>
            <a:endParaRPr sz="2000"/>
          </a:p>
          <a:p>
            <a:pPr indent="0" lvl="0" marL="0" rtl="0" algn="l">
              <a:lnSpc>
                <a:spcPct val="115000"/>
              </a:lnSpc>
              <a:spcBef>
                <a:spcPts val="0"/>
              </a:spcBef>
              <a:spcAft>
                <a:spcPts val="0"/>
              </a:spcAft>
              <a:buNone/>
            </a:pPr>
            <a:r>
              <a:rPr lang="en-GB" sz="2000"/>
              <a:t>£1.60 each</a:t>
            </a:r>
            <a:endParaRPr sz="2000"/>
          </a:p>
        </p:txBody>
      </p:sp>
      <p:sp>
        <p:nvSpPr>
          <p:cNvPr id="1149" name="Google Shape;1149;p90"/>
          <p:cNvSpPr txBox="1"/>
          <p:nvPr>
            <p:ph idx="1" type="body"/>
          </p:nvPr>
        </p:nvSpPr>
        <p:spPr>
          <a:xfrm>
            <a:off x="4937175" y="2340025"/>
            <a:ext cx="749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3 for £5</a:t>
            </a:r>
            <a:endParaRPr sz="2000"/>
          </a:p>
        </p:txBody>
      </p:sp>
      <p:sp>
        <p:nvSpPr>
          <p:cNvPr id="1150" name="Google Shape;1150;p90"/>
          <p:cNvSpPr/>
          <p:nvPr/>
        </p:nvSpPr>
        <p:spPr>
          <a:xfrm>
            <a:off x="4821027" y="2205175"/>
            <a:ext cx="9402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1" name="Google Shape;1151;p90"/>
          <p:cNvSpPr/>
          <p:nvPr/>
        </p:nvSpPr>
        <p:spPr>
          <a:xfrm>
            <a:off x="6090250"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2" name="Google Shape;1152;p90"/>
          <p:cNvSpPr txBox="1"/>
          <p:nvPr>
            <p:ph idx="1" type="body"/>
          </p:nvPr>
        </p:nvSpPr>
        <p:spPr>
          <a:xfrm>
            <a:off x="6179600" y="2266950"/>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Shampoo</a:t>
            </a:r>
            <a:r>
              <a:rPr lang="en-GB" sz="2000"/>
              <a:t>  </a:t>
            </a:r>
            <a:endParaRPr sz="2000"/>
          </a:p>
          <a:p>
            <a:pPr indent="0" lvl="0" marL="0" rtl="0" algn="l">
              <a:lnSpc>
                <a:spcPct val="115000"/>
              </a:lnSpc>
              <a:spcBef>
                <a:spcPts val="0"/>
              </a:spcBef>
              <a:spcAft>
                <a:spcPts val="0"/>
              </a:spcAft>
              <a:buNone/>
            </a:pPr>
            <a:r>
              <a:rPr lang="en-GB" sz="2000"/>
              <a:t>£2.30 each</a:t>
            </a:r>
            <a:endParaRPr sz="2000"/>
          </a:p>
        </p:txBody>
      </p:sp>
      <p:sp>
        <p:nvSpPr>
          <p:cNvPr id="1153" name="Google Shape;1153;p90"/>
          <p:cNvSpPr txBox="1"/>
          <p:nvPr>
            <p:ph idx="1" type="body"/>
          </p:nvPr>
        </p:nvSpPr>
        <p:spPr>
          <a:xfrm>
            <a:off x="7729625" y="2340025"/>
            <a:ext cx="843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5 for £11</a:t>
            </a:r>
            <a:endParaRPr sz="2000"/>
          </a:p>
        </p:txBody>
      </p:sp>
      <p:sp>
        <p:nvSpPr>
          <p:cNvPr id="1154" name="Google Shape;1154;p90"/>
          <p:cNvSpPr/>
          <p:nvPr/>
        </p:nvSpPr>
        <p:spPr>
          <a:xfrm>
            <a:off x="7644800" y="2205175"/>
            <a:ext cx="10035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5" name="Google Shape;1155;p90"/>
          <p:cNvSpPr txBox="1"/>
          <p:nvPr>
            <p:ph idx="1" type="body"/>
          </p:nvPr>
        </p:nvSpPr>
        <p:spPr>
          <a:xfrm>
            <a:off x="324000" y="3581725"/>
            <a:ext cx="8496000" cy="676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t>What might be wrong with each of these promotions? </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91"/>
          <p:cNvSpPr txBox="1"/>
          <p:nvPr>
            <p:ph idx="1" type="body"/>
          </p:nvPr>
        </p:nvSpPr>
        <p:spPr>
          <a:xfrm>
            <a:off x="324000" y="759300"/>
            <a:ext cx="8237700" cy="126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Shops use promotions to encourage customers to buy more.</a:t>
            </a:r>
            <a:endParaRPr sz="2000"/>
          </a:p>
          <a:p>
            <a:pPr indent="0" lvl="0" marL="0" rtl="0" algn="l">
              <a:spcBef>
                <a:spcPts val="1000"/>
              </a:spcBef>
              <a:spcAft>
                <a:spcPts val="0"/>
              </a:spcAft>
              <a:buNone/>
            </a:pPr>
            <a:r>
              <a:rPr lang="en-GB" sz="2000"/>
              <a:t>Most of the time, the promotions offer better value for money.</a:t>
            </a:r>
            <a:endParaRPr sz="2000"/>
          </a:p>
          <a:p>
            <a:pPr indent="0" lvl="0" marL="0" rtl="0" algn="l">
              <a:spcBef>
                <a:spcPts val="1000"/>
              </a:spcBef>
              <a:spcAft>
                <a:spcPts val="0"/>
              </a:spcAft>
              <a:buNone/>
            </a:pPr>
            <a:r>
              <a:rPr lang="en-GB" sz="2000"/>
              <a:t>However it is always good to check for yourself.</a:t>
            </a:r>
            <a:endParaRPr sz="2000"/>
          </a:p>
          <a:p>
            <a:pPr indent="0" lvl="0" marL="0" rtl="0" algn="l">
              <a:spcBef>
                <a:spcPts val="1000"/>
              </a:spcBef>
              <a:spcAft>
                <a:spcPts val="1000"/>
              </a:spcAft>
              <a:buNone/>
            </a:pPr>
            <a:r>
              <a:t/>
            </a:r>
            <a:endParaRPr sz="2000"/>
          </a:p>
        </p:txBody>
      </p:sp>
      <p:sp>
        <p:nvSpPr>
          <p:cNvPr id="1161" name="Google Shape;1161;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162" name="Google Shape;1162;p91"/>
          <p:cNvSpPr/>
          <p:nvPr/>
        </p:nvSpPr>
        <p:spPr>
          <a:xfrm>
            <a:off x="404075"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91"/>
          <p:cNvSpPr txBox="1"/>
          <p:nvPr>
            <p:ph idx="1" type="body"/>
          </p:nvPr>
        </p:nvSpPr>
        <p:spPr>
          <a:xfrm>
            <a:off x="465650" y="2230500"/>
            <a:ext cx="2571300" cy="56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Cereal 50% extra £5.40</a:t>
            </a:r>
            <a:endParaRPr sz="1900"/>
          </a:p>
        </p:txBody>
      </p:sp>
      <p:sp>
        <p:nvSpPr>
          <p:cNvPr id="1164" name="Google Shape;1164;p91"/>
          <p:cNvSpPr txBox="1"/>
          <p:nvPr>
            <p:ph idx="1" type="body"/>
          </p:nvPr>
        </p:nvSpPr>
        <p:spPr>
          <a:xfrm>
            <a:off x="465650" y="2856425"/>
            <a:ext cx="2571300" cy="372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Normal bag £3.60</a:t>
            </a:r>
            <a:endParaRPr sz="1800"/>
          </a:p>
        </p:txBody>
      </p:sp>
      <p:sp>
        <p:nvSpPr>
          <p:cNvPr id="1165" name="Google Shape;1165;p91"/>
          <p:cNvSpPr/>
          <p:nvPr/>
        </p:nvSpPr>
        <p:spPr>
          <a:xfrm>
            <a:off x="3203100"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6" name="Google Shape;1166;p91"/>
          <p:cNvSpPr txBox="1"/>
          <p:nvPr>
            <p:ph idx="1" type="body"/>
          </p:nvPr>
        </p:nvSpPr>
        <p:spPr>
          <a:xfrm>
            <a:off x="3292450" y="2266950"/>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Jam  </a:t>
            </a:r>
            <a:endParaRPr sz="2000"/>
          </a:p>
          <a:p>
            <a:pPr indent="0" lvl="0" marL="0" rtl="0" algn="l">
              <a:lnSpc>
                <a:spcPct val="115000"/>
              </a:lnSpc>
              <a:spcBef>
                <a:spcPts val="0"/>
              </a:spcBef>
              <a:spcAft>
                <a:spcPts val="0"/>
              </a:spcAft>
              <a:buNone/>
            </a:pPr>
            <a:r>
              <a:rPr lang="en-GB" sz="2000"/>
              <a:t>£1.60 each</a:t>
            </a:r>
            <a:endParaRPr sz="2000"/>
          </a:p>
        </p:txBody>
      </p:sp>
      <p:sp>
        <p:nvSpPr>
          <p:cNvPr id="1167" name="Google Shape;1167;p91"/>
          <p:cNvSpPr txBox="1"/>
          <p:nvPr>
            <p:ph idx="1" type="body"/>
          </p:nvPr>
        </p:nvSpPr>
        <p:spPr>
          <a:xfrm>
            <a:off x="4937175" y="2340025"/>
            <a:ext cx="749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3 for £5</a:t>
            </a:r>
            <a:endParaRPr sz="2000"/>
          </a:p>
        </p:txBody>
      </p:sp>
      <p:sp>
        <p:nvSpPr>
          <p:cNvPr id="1168" name="Google Shape;1168;p91"/>
          <p:cNvSpPr/>
          <p:nvPr/>
        </p:nvSpPr>
        <p:spPr>
          <a:xfrm>
            <a:off x="4821027" y="2205175"/>
            <a:ext cx="9402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9" name="Google Shape;1169;p91"/>
          <p:cNvSpPr/>
          <p:nvPr/>
        </p:nvSpPr>
        <p:spPr>
          <a:xfrm>
            <a:off x="6090250"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0" name="Google Shape;1170;p91"/>
          <p:cNvSpPr txBox="1"/>
          <p:nvPr>
            <p:ph idx="1" type="body"/>
          </p:nvPr>
        </p:nvSpPr>
        <p:spPr>
          <a:xfrm>
            <a:off x="6179600" y="2266950"/>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Shampoo  </a:t>
            </a:r>
            <a:endParaRPr sz="2000"/>
          </a:p>
          <a:p>
            <a:pPr indent="0" lvl="0" marL="0" rtl="0" algn="l">
              <a:lnSpc>
                <a:spcPct val="115000"/>
              </a:lnSpc>
              <a:spcBef>
                <a:spcPts val="0"/>
              </a:spcBef>
              <a:spcAft>
                <a:spcPts val="0"/>
              </a:spcAft>
              <a:buNone/>
            </a:pPr>
            <a:r>
              <a:rPr lang="en-GB" sz="2000"/>
              <a:t>£2.30 each</a:t>
            </a:r>
            <a:endParaRPr sz="2000"/>
          </a:p>
        </p:txBody>
      </p:sp>
      <p:sp>
        <p:nvSpPr>
          <p:cNvPr id="1171" name="Google Shape;1171;p91"/>
          <p:cNvSpPr txBox="1"/>
          <p:nvPr>
            <p:ph idx="1" type="body"/>
          </p:nvPr>
        </p:nvSpPr>
        <p:spPr>
          <a:xfrm>
            <a:off x="7729625" y="2340025"/>
            <a:ext cx="843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5 for £11</a:t>
            </a:r>
            <a:endParaRPr sz="2000"/>
          </a:p>
        </p:txBody>
      </p:sp>
      <p:sp>
        <p:nvSpPr>
          <p:cNvPr id="1172" name="Google Shape;1172;p91"/>
          <p:cNvSpPr/>
          <p:nvPr/>
        </p:nvSpPr>
        <p:spPr>
          <a:xfrm>
            <a:off x="7644800" y="2205175"/>
            <a:ext cx="10035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3" name="Google Shape;1173;p91"/>
          <p:cNvSpPr txBox="1"/>
          <p:nvPr>
            <p:ph idx="1" type="body"/>
          </p:nvPr>
        </p:nvSpPr>
        <p:spPr>
          <a:xfrm>
            <a:off x="404075" y="3300600"/>
            <a:ext cx="2571300" cy="372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3.60 × 1.5 = 5.40 </a:t>
            </a:r>
            <a:endParaRPr sz="1800"/>
          </a:p>
        </p:txBody>
      </p:sp>
      <p:sp>
        <p:nvSpPr>
          <p:cNvPr id="1174" name="Google Shape;1174;p91"/>
          <p:cNvSpPr txBox="1"/>
          <p:nvPr>
            <p:ph idx="1" type="body"/>
          </p:nvPr>
        </p:nvSpPr>
        <p:spPr>
          <a:xfrm>
            <a:off x="404075" y="3681600"/>
            <a:ext cx="25713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This does not offer any savings, you get 50% more cereal for 50% more cost.</a:t>
            </a:r>
            <a:r>
              <a:rPr lang="en-GB" sz="1800"/>
              <a:t> </a:t>
            </a:r>
            <a:endParaRPr sz="1800"/>
          </a:p>
        </p:txBody>
      </p:sp>
      <p:sp>
        <p:nvSpPr>
          <p:cNvPr id="1175" name="Google Shape;1175;p91"/>
          <p:cNvSpPr txBox="1"/>
          <p:nvPr>
            <p:ph idx="1" type="body"/>
          </p:nvPr>
        </p:nvSpPr>
        <p:spPr>
          <a:xfrm>
            <a:off x="3254200" y="3330350"/>
            <a:ext cx="2520300" cy="372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3 × 1.6 = 4.80 </a:t>
            </a:r>
            <a:endParaRPr sz="1800"/>
          </a:p>
        </p:txBody>
      </p:sp>
      <p:sp>
        <p:nvSpPr>
          <p:cNvPr id="1176" name="Google Shape;1176;p91"/>
          <p:cNvSpPr txBox="1"/>
          <p:nvPr>
            <p:ph idx="1" type="body"/>
          </p:nvPr>
        </p:nvSpPr>
        <p:spPr>
          <a:xfrm>
            <a:off x="3299675" y="3681600"/>
            <a:ext cx="21456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It is actually cheaper without the promotion.</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92"/>
          <p:cNvSpPr txBox="1"/>
          <p:nvPr>
            <p:ph idx="1" type="body"/>
          </p:nvPr>
        </p:nvSpPr>
        <p:spPr>
          <a:xfrm>
            <a:off x="324000" y="759300"/>
            <a:ext cx="8237700" cy="126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Shops use promotions to encourage customers to buy more.</a:t>
            </a:r>
            <a:endParaRPr sz="2000"/>
          </a:p>
          <a:p>
            <a:pPr indent="0" lvl="0" marL="0" rtl="0" algn="l">
              <a:spcBef>
                <a:spcPts val="1000"/>
              </a:spcBef>
              <a:spcAft>
                <a:spcPts val="0"/>
              </a:spcAft>
              <a:buNone/>
            </a:pPr>
            <a:r>
              <a:rPr lang="en-GB" sz="2000"/>
              <a:t>Most of the time, the promotions offer better value for money.</a:t>
            </a:r>
            <a:endParaRPr sz="2000"/>
          </a:p>
          <a:p>
            <a:pPr indent="0" lvl="0" marL="0" rtl="0" algn="l">
              <a:spcBef>
                <a:spcPts val="1000"/>
              </a:spcBef>
              <a:spcAft>
                <a:spcPts val="0"/>
              </a:spcAft>
              <a:buNone/>
            </a:pPr>
            <a:r>
              <a:rPr lang="en-GB" sz="2000"/>
              <a:t>However it is always good to check for yourself.</a:t>
            </a:r>
            <a:endParaRPr sz="2000"/>
          </a:p>
          <a:p>
            <a:pPr indent="0" lvl="0" marL="0" rtl="0" algn="l">
              <a:spcBef>
                <a:spcPts val="1000"/>
              </a:spcBef>
              <a:spcAft>
                <a:spcPts val="1000"/>
              </a:spcAft>
              <a:buNone/>
            </a:pPr>
            <a:r>
              <a:t/>
            </a:r>
            <a:endParaRPr sz="2000"/>
          </a:p>
        </p:txBody>
      </p:sp>
      <p:sp>
        <p:nvSpPr>
          <p:cNvPr id="1182" name="Google Shape;1182;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183" name="Google Shape;1183;p92"/>
          <p:cNvSpPr/>
          <p:nvPr/>
        </p:nvSpPr>
        <p:spPr>
          <a:xfrm>
            <a:off x="404075"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4" name="Google Shape;1184;p92"/>
          <p:cNvSpPr txBox="1"/>
          <p:nvPr>
            <p:ph idx="1" type="body"/>
          </p:nvPr>
        </p:nvSpPr>
        <p:spPr>
          <a:xfrm>
            <a:off x="465650" y="2230500"/>
            <a:ext cx="2571300" cy="560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Cereal 50% extra £5.40</a:t>
            </a:r>
            <a:endParaRPr sz="1900"/>
          </a:p>
        </p:txBody>
      </p:sp>
      <p:sp>
        <p:nvSpPr>
          <p:cNvPr id="1185" name="Google Shape;1185;p92"/>
          <p:cNvSpPr txBox="1"/>
          <p:nvPr>
            <p:ph idx="1" type="body"/>
          </p:nvPr>
        </p:nvSpPr>
        <p:spPr>
          <a:xfrm>
            <a:off x="465650" y="2856425"/>
            <a:ext cx="2571300" cy="372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Normal bag £3.60</a:t>
            </a:r>
            <a:endParaRPr sz="1800"/>
          </a:p>
        </p:txBody>
      </p:sp>
      <p:sp>
        <p:nvSpPr>
          <p:cNvPr id="1186" name="Google Shape;1186;p92"/>
          <p:cNvSpPr/>
          <p:nvPr/>
        </p:nvSpPr>
        <p:spPr>
          <a:xfrm>
            <a:off x="3203100"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7" name="Google Shape;1187;p92"/>
          <p:cNvSpPr txBox="1"/>
          <p:nvPr>
            <p:ph idx="1" type="body"/>
          </p:nvPr>
        </p:nvSpPr>
        <p:spPr>
          <a:xfrm>
            <a:off x="3292450" y="2266950"/>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Jam  </a:t>
            </a:r>
            <a:endParaRPr sz="2000"/>
          </a:p>
          <a:p>
            <a:pPr indent="0" lvl="0" marL="0" rtl="0" algn="l">
              <a:lnSpc>
                <a:spcPct val="115000"/>
              </a:lnSpc>
              <a:spcBef>
                <a:spcPts val="0"/>
              </a:spcBef>
              <a:spcAft>
                <a:spcPts val="0"/>
              </a:spcAft>
              <a:buNone/>
            </a:pPr>
            <a:r>
              <a:rPr lang="en-GB" sz="2000"/>
              <a:t>£1.60 each</a:t>
            </a:r>
            <a:endParaRPr sz="2000"/>
          </a:p>
        </p:txBody>
      </p:sp>
      <p:sp>
        <p:nvSpPr>
          <p:cNvPr id="1188" name="Google Shape;1188;p92"/>
          <p:cNvSpPr txBox="1"/>
          <p:nvPr>
            <p:ph idx="1" type="body"/>
          </p:nvPr>
        </p:nvSpPr>
        <p:spPr>
          <a:xfrm>
            <a:off x="4937175" y="2340025"/>
            <a:ext cx="749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3 for £5</a:t>
            </a:r>
            <a:endParaRPr sz="2000"/>
          </a:p>
        </p:txBody>
      </p:sp>
      <p:sp>
        <p:nvSpPr>
          <p:cNvPr id="1189" name="Google Shape;1189;p92"/>
          <p:cNvSpPr/>
          <p:nvPr/>
        </p:nvSpPr>
        <p:spPr>
          <a:xfrm>
            <a:off x="4821027" y="2205175"/>
            <a:ext cx="9402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0" name="Google Shape;1190;p92"/>
          <p:cNvSpPr/>
          <p:nvPr/>
        </p:nvSpPr>
        <p:spPr>
          <a:xfrm>
            <a:off x="6090250" y="2205175"/>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1" name="Google Shape;1191;p92"/>
          <p:cNvSpPr txBox="1"/>
          <p:nvPr>
            <p:ph idx="1" type="body"/>
          </p:nvPr>
        </p:nvSpPr>
        <p:spPr>
          <a:xfrm>
            <a:off x="6179600" y="2266950"/>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Shampoo  </a:t>
            </a:r>
            <a:endParaRPr sz="2000"/>
          </a:p>
          <a:p>
            <a:pPr indent="0" lvl="0" marL="0" rtl="0" algn="l">
              <a:lnSpc>
                <a:spcPct val="115000"/>
              </a:lnSpc>
              <a:spcBef>
                <a:spcPts val="0"/>
              </a:spcBef>
              <a:spcAft>
                <a:spcPts val="0"/>
              </a:spcAft>
              <a:buNone/>
            </a:pPr>
            <a:r>
              <a:rPr lang="en-GB" sz="2000"/>
              <a:t>£2.30 each</a:t>
            </a:r>
            <a:endParaRPr sz="2000"/>
          </a:p>
        </p:txBody>
      </p:sp>
      <p:sp>
        <p:nvSpPr>
          <p:cNvPr id="1192" name="Google Shape;1192;p92"/>
          <p:cNvSpPr txBox="1"/>
          <p:nvPr>
            <p:ph idx="1" type="body"/>
          </p:nvPr>
        </p:nvSpPr>
        <p:spPr>
          <a:xfrm>
            <a:off x="7729625" y="2340025"/>
            <a:ext cx="8439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5 for £11</a:t>
            </a:r>
            <a:endParaRPr sz="2000"/>
          </a:p>
        </p:txBody>
      </p:sp>
      <p:sp>
        <p:nvSpPr>
          <p:cNvPr id="1193" name="Google Shape;1193;p92"/>
          <p:cNvSpPr/>
          <p:nvPr/>
        </p:nvSpPr>
        <p:spPr>
          <a:xfrm>
            <a:off x="7644800" y="2205175"/>
            <a:ext cx="10035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4" name="Google Shape;1194;p92"/>
          <p:cNvSpPr txBox="1"/>
          <p:nvPr>
            <p:ph idx="1" type="body"/>
          </p:nvPr>
        </p:nvSpPr>
        <p:spPr>
          <a:xfrm>
            <a:off x="6115750" y="3330350"/>
            <a:ext cx="2520300" cy="3723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t>5 × 2.30 = 11.50 </a:t>
            </a:r>
            <a:endParaRPr sz="1800"/>
          </a:p>
        </p:txBody>
      </p:sp>
      <p:sp>
        <p:nvSpPr>
          <p:cNvPr id="1195" name="Google Shape;1195;p92"/>
          <p:cNvSpPr txBox="1"/>
          <p:nvPr>
            <p:ph idx="1" type="body"/>
          </p:nvPr>
        </p:nvSpPr>
        <p:spPr>
          <a:xfrm>
            <a:off x="996725" y="3593850"/>
            <a:ext cx="72900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You save 50 p in total if you buy 5 bottles.</a:t>
            </a:r>
            <a:endParaRPr sz="1800"/>
          </a:p>
          <a:p>
            <a:pPr indent="0" lvl="0" marL="0" rtl="0" algn="l">
              <a:lnSpc>
                <a:spcPct val="100000"/>
              </a:lnSpc>
              <a:spcBef>
                <a:spcPts val="0"/>
              </a:spcBef>
              <a:spcAft>
                <a:spcPts val="0"/>
              </a:spcAft>
              <a:buNone/>
            </a:pPr>
            <a:r>
              <a:rPr lang="en-GB" sz="1800"/>
              <a:t>However you end up spending £11 on shampoo just to save 50 p.</a:t>
            </a:r>
            <a:endParaRPr sz="1800"/>
          </a:p>
          <a:p>
            <a:pPr indent="0" lvl="0" marL="0" rtl="0" algn="l">
              <a:lnSpc>
                <a:spcPct val="100000"/>
              </a:lnSpc>
              <a:spcBef>
                <a:spcPts val="0"/>
              </a:spcBef>
              <a:spcAft>
                <a:spcPts val="0"/>
              </a:spcAft>
              <a:buNone/>
            </a:pPr>
            <a:r>
              <a:rPr lang="en-GB" sz="1800"/>
              <a:t>It will depend how much </a:t>
            </a:r>
            <a:r>
              <a:rPr lang="en-GB" sz="1800"/>
              <a:t>shampoo</a:t>
            </a:r>
            <a:r>
              <a:rPr lang="en-GB" sz="1800"/>
              <a:t> you use as to whether saving 50 p is worth buying this much.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93"/>
          <p:cNvSpPr txBox="1"/>
          <p:nvPr>
            <p:ph idx="1" type="body"/>
          </p:nvPr>
        </p:nvSpPr>
        <p:spPr>
          <a:xfrm>
            <a:off x="324000" y="810000"/>
            <a:ext cx="8496000" cy="46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100"/>
              <a:t>Laura wants to buy 10 apples. What would be the cheapest way?</a:t>
            </a:r>
            <a:endParaRPr sz="2100"/>
          </a:p>
        </p:txBody>
      </p:sp>
      <p:sp>
        <p:nvSpPr>
          <p:cNvPr id="1201" name="Google Shape;1201;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202" name="Google Shape;1202;p93"/>
          <p:cNvSpPr/>
          <p:nvPr/>
        </p:nvSpPr>
        <p:spPr>
          <a:xfrm>
            <a:off x="2887200" y="1467900"/>
            <a:ext cx="10812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3" name="Google Shape;1203;p93"/>
          <p:cNvSpPr txBox="1"/>
          <p:nvPr>
            <p:ph idx="1" type="body"/>
          </p:nvPr>
        </p:nvSpPr>
        <p:spPr>
          <a:xfrm>
            <a:off x="2975975" y="1529825"/>
            <a:ext cx="1081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1 apple</a:t>
            </a:r>
            <a:r>
              <a:rPr lang="en-GB" sz="2000"/>
              <a:t>  </a:t>
            </a:r>
            <a:endParaRPr sz="2000"/>
          </a:p>
          <a:p>
            <a:pPr indent="0" lvl="0" marL="0" rtl="0" algn="l">
              <a:lnSpc>
                <a:spcPct val="115000"/>
              </a:lnSpc>
              <a:spcBef>
                <a:spcPts val="0"/>
              </a:spcBef>
              <a:spcAft>
                <a:spcPts val="0"/>
              </a:spcAft>
              <a:buNone/>
            </a:pPr>
            <a:r>
              <a:rPr lang="en-GB" sz="2000"/>
              <a:t>42 p</a:t>
            </a:r>
            <a:endParaRPr sz="2000"/>
          </a:p>
        </p:txBody>
      </p:sp>
      <p:sp>
        <p:nvSpPr>
          <p:cNvPr id="1204" name="Google Shape;1204;p93"/>
          <p:cNvSpPr/>
          <p:nvPr/>
        </p:nvSpPr>
        <p:spPr>
          <a:xfrm>
            <a:off x="5029494" y="1467900"/>
            <a:ext cx="16629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5" name="Google Shape;1205;p93"/>
          <p:cNvSpPr txBox="1"/>
          <p:nvPr>
            <p:ph idx="1" type="body"/>
          </p:nvPr>
        </p:nvSpPr>
        <p:spPr>
          <a:xfrm>
            <a:off x="5118268" y="1529825"/>
            <a:ext cx="1514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6 pk apples</a:t>
            </a:r>
            <a:endParaRPr sz="2000"/>
          </a:p>
          <a:p>
            <a:pPr indent="0" lvl="0" marL="0" rtl="0" algn="l">
              <a:lnSpc>
                <a:spcPct val="115000"/>
              </a:lnSpc>
              <a:spcBef>
                <a:spcPts val="0"/>
              </a:spcBef>
              <a:spcAft>
                <a:spcPts val="0"/>
              </a:spcAft>
              <a:buNone/>
            </a:pPr>
            <a:r>
              <a:rPr lang="en-GB" sz="2000"/>
              <a:t>£1.99</a:t>
            </a:r>
            <a:endParaRPr sz="2000"/>
          </a:p>
        </p:txBody>
      </p:sp>
      <p:sp>
        <p:nvSpPr>
          <p:cNvPr id="1206" name="Google Shape;1206;p93"/>
          <p:cNvSpPr txBox="1"/>
          <p:nvPr>
            <p:ph idx="1" type="body"/>
          </p:nvPr>
        </p:nvSpPr>
        <p:spPr>
          <a:xfrm>
            <a:off x="324000" y="2471400"/>
            <a:ext cx="84960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1.99</a:t>
            </a:r>
            <a:r>
              <a:rPr lang="en-GB" sz="2000">
                <a:latin typeface="Kalam"/>
                <a:ea typeface="Kalam"/>
                <a:cs typeface="Kalam"/>
                <a:sym typeface="Kalam"/>
              </a:rPr>
              <a:t> ÷ 6 = £0.3316…</a:t>
            </a:r>
            <a:r>
              <a:rPr lang="en-GB" sz="2000">
                <a:latin typeface="Kalam"/>
                <a:ea typeface="Kalam"/>
                <a:cs typeface="Kalam"/>
                <a:sym typeface="Kalam"/>
              </a:rPr>
              <a:t> </a:t>
            </a:r>
            <a:endParaRPr sz="2000">
              <a:latin typeface="Kalam"/>
              <a:ea typeface="Kalam"/>
              <a:cs typeface="Kalam"/>
              <a:sym typeface="Kalam"/>
            </a:endParaRPr>
          </a:p>
        </p:txBody>
      </p:sp>
      <p:sp>
        <p:nvSpPr>
          <p:cNvPr id="1207" name="Google Shape;1207;p93"/>
          <p:cNvSpPr txBox="1"/>
          <p:nvPr>
            <p:ph idx="1" type="body"/>
          </p:nvPr>
        </p:nvSpPr>
        <p:spPr>
          <a:xfrm>
            <a:off x="324000" y="2893750"/>
            <a:ext cx="84960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The pack of 6 is better value for money.</a:t>
            </a:r>
            <a:r>
              <a:rPr lang="en-GB" sz="2000">
                <a:latin typeface="Kalam"/>
                <a:ea typeface="Kalam"/>
                <a:cs typeface="Kalam"/>
                <a:sym typeface="Kalam"/>
              </a:rPr>
              <a:t> </a:t>
            </a:r>
            <a:endParaRPr sz="2000">
              <a:latin typeface="Kalam"/>
              <a:ea typeface="Kalam"/>
              <a:cs typeface="Kalam"/>
              <a:sym typeface="Kalam"/>
            </a:endParaRPr>
          </a:p>
        </p:txBody>
      </p:sp>
      <p:sp>
        <p:nvSpPr>
          <p:cNvPr id="1208" name="Google Shape;1208;p93"/>
          <p:cNvSpPr txBox="1"/>
          <p:nvPr>
            <p:ph idx="1" type="body"/>
          </p:nvPr>
        </p:nvSpPr>
        <p:spPr>
          <a:xfrm>
            <a:off x="324000" y="3398150"/>
            <a:ext cx="25632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1.99</a:t>
            </a:r>
            <a:r>
              <a:rPr lang="en-GB" sz="2000">
                <a:latin typeface="Kalam"/>
                <a:ea typeface="Kalam"/>
                <a:cs typeface="Kalam"/>
                <a:sym typeface="Kalam"/>
              </a:rPr>
              <a:t> × 2 = 3.98</a:t>
            </a:r>
            <a:endParaRPr sz="2000">
              <a:latin typeface="Kalam"/>
              <a:ea typeface="Kalam"/>
              <a:cs typeface="Kalam"/>
              <a:sym typeface="Kalam"/>
            </a:endParaRPr>
          </a:p>
        </p:txBody>
      </p:sp>
      <p:sp>
        <p:nvSpPr>
          <p:cNvPr id="1209" name="Google Shape;1209;p93"/>
          <p:cNvSpPr txBox="1"/>
          <p:nvPr>
            <p:ph idx="1" type="body"/>
          </p:nvPr>
        </p:nvSpPr>
        <p:spPr>
          <a:xfrm>
            <a:off x="324000" y="3902550"/>
            <a:ext cx="33108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1.99 + (4 × 0.42) = 3.67</a:t>
            </a:r>
            <a:endParaRPr sz="2000">
              <a:latin typeface="Kalam"/>
              <a:ea typeface="Kalam"/>
              <a:cs typeface="Kalam"/>
              <a:sym typeface="Kalam"/>
            </a:endParaRPr>
          </a:p>
        </p:txBody>
      </p:sp>
      <p:sp>
        <p:nvSpPr>
          <p:cNvPr id="1210" name="Google Shape;1210;p93"/>
          <p:cNvSpPr txBox="1"/>
          <p:nvPr>
            <p:ph idx="1" type="body"/>
          </p:nvPr>
        </p:nvSpPr>
        <p:spPr>
          <a:xfrm>
            <a:off x="324000" y="4324900"/>
            <a:ext cx="84960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It costs less to buy a pack of 6 and 4 individual apples than 2 packs of 6.</a:t>
            </a:r>
            <a:r>
              <a:rPr lang="en-GB" sz="2000">
                <a:latin typeface="Kalam"/>
                <a:ea typeface="Kalam"/>
                <a:cs typeface="Kalam"/>
                <a:sym typeface="Kalam"/>
              </a:rPr>
              <a:t> </a:t>
            </a:r>
            <a:endParaRPr sz="2000">
              <a:latin typeface="Kalam"/>
              <a:ea typeface="Kalam"/>
              <a:cs typeface="Kalam"/>
              <a:sym typeface="Kalam"/>
            </a:endParaRPr>
          </a:p>
        </p:txBody>
      </p:sp>
      <p:sp>
        <p:nvSpPr>
          <p:cNvPr id="1211" name="Google Shape;1211;p93"/>
          <p:cNvSpPr txBox="1"/>
          <p:nvPr>
            <p:ph idx="1" type="body"/>
          </p:nvPr>
        </p:nvSpPr>
        <p:spPr>
          <a:xfrm>
            <a:off x="2315500" y="3374550"/>
            <a:ext cx="4816500" cy="372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(buying 2 packs of 6 will cost £3.98)</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9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217" name="Google Shape;1217;p94"/>
          <p:cNvSpPr txBox="1"/>
          <p:nvPr>
            <p:ph idx="1" type="body"/>
          </p:nvPr>
        </p:nvSpPr>
        <p:spPr>
          <a:xfrm>
            <a:off x="324000" y="759300"/>
            <a:ext cx="8496000" cy="91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Use two different methods to show that packs of 6 rolls are better value for money than packs of 4 rolls.  </a:t>
            </a:r>
            <a:endParaRPr sz="2000"/>
          </a:p>
        </p:txBody>
      </p:sp>
      <p:sp>
        <p:nvSpPr>
          <p:cNvPr id="1218" name="Google Shape;1218;p94"/>
          <p:cNvSpPr/>
          <p:nvPr/>
        </p:nvSpPr>
        <p:spPr>
          <a:xfrm>
            <a:off x="1578375" y="1544125"/>
            <a:ext cx="25092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9" name="Google Shape;1219;p94"/>
          <p:cNvSpPr txBox="1"/>
          <p:nvPr>
            <p:ph idx="4294967295" type="body"/>
          </p:nvPr>
        </p:nvSpPr>
        <p:spPr>
          <a:xfrm>
            <a:off x="1667150" y="1606050"/>
            <a:ext cx="24204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4</a:t>
            </a:r>
            <a:r>
              <a:rPr lang="en-GB" sz="2000"/>
              <a:t> pack of soft rolls  </a:t>
            </a:r>
            <a:endParaRPr sz="2000"/>
          </a:p>
          <a:p>
            <a:pPr indent="0" lvl="0" marL="0" rtl="0" algn="l">
              <a:lnSpc>
                <a:spcPct val="115000"/>
              </a:lnSpc>
              <a:spcBef>
                <a:spcPts val="0"/>
              </a:spcBef>
              <a:spcAft>
                <a:spcPts val="0"/>
              </a:spcAft>
              <a:buNone/>
            </a:pPr>
            <a:r>
              <a:rPr lang="en-GB" sz="2000"/>
              <a:t>90 p </a:t>
            </a:r>
            <a:endParaRPr sz="2000"/>
          </a:p>
        </p:txBody>
      </p:sp>
      <p:sp>
        <p:nvSpPr>
          <p:cNvPr id="1220" name="Google Shape;1220;p94"/>
          <p:cNvSpPr/>
          <p:nvPr/>
        </p:nvSpPr>
        <p:spPr>
          <a:xfrm>
            <a:off x="4983750" y="1544125"/>
            <a:ext cx="25461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1" name="Google Shape;1221;p94"/>
          <p:cNvSpPr txBox="1"/>
          <p:nvPr>
            <p:ph idx="4294967295" type="body"/>
          </p:nvPr>
        </p:nvSpPr>
        <p:spPr>
          <a:xfrm>
            <a:off x="5072524" y="1606050"/>
            <a:ext cx="23736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6</a:t>
            </a:r>
            <a:r>
              <a:rPr lang="en-GB" sz="2000"/>
              <a:t> pack of soft rolls  </a:t>
            </a:r>
            <a:endParaRPr sz="2000"/>
          </a:p>
          <a:p>
            <a:pPr indent="0" lvl="0" marL="0" rtl="0" algn="l">
              <a:lnSpc>
                <a:spcPct val="115000"/>
              </a:lnSpc>
              <a:spcBef>
                <a:spcPts val="0"/>
              </a:spcBef>
              <a:spcAft>
                <a:spcPts val="0"/>
              </a:spcAft>
              <a:buNone/>
            </a:pPr>
            <a:r>
              <a:rPr lang="en-GB" sz="2000"/>
              <a:t>£1.20</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9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227" name="Google Shape;1227;p95"/>
          <p:cNvSpPr txBox="1"/>
          <p:nvPr>
            <p:ph idx="1" type="body"/>
          </p:nvPr>
        </p:nvSpPr>
        <p:spPr>
          <a:xfrm>
            <a:off x="324000" y="75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a:t>
            </a:r>
            <a:r>
              <a:rPr lang="en-GB" sz="1900"/>
              <a:t>) Aisha needs 500 g of mushrooms for a recipe which feeds 2 people. </a:t>
            </a:r>
            <a:endParaRPr sz="1900"/>
          </a:p>
        </p:txBody>
      </p:sp>
      <p:sp>
        <p:nvSpPr>
          <p:cNvPr id="1228" name="Google Shape;1228;p95"/>
          <p:cNvSpPr/>
          <p:nvPr/>
        </p:nvSpPr>
        <p:spPr>
          <a:xfrm>
            <a:off x="450525" y="1247250"/>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9" name="Google Shape;1229;p95"/>
          <p:cNvSpPr txBox="1"/>
          <p:nvPr>
            <p:ph idx="4294967295" type="body"/>
          </p:nvPr>
        </p:nvSpPr>
        <p:spPr>
          <a:xfrm>
            <a:off x="539300" y="1309175"/>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150 g</a:t>
            </a:r>
            <a:endParaRPr sz="2000"/>
          </a:p>
          <a:p>
            <a:pPr indent="0" lvl="0" marL="0" rtl="0" algn="l">
              <a:lnSpc>
                <a:spcPct val="115000"/>
              </a:lnSpc>
              <a:spcBef>
                <a:spcPts val="0"/>
              </a:spcBef>
              <a:spcAft>
                <a:spcPts val="0"/>
              </a:spcAft>
              <a:buNone/>
            </a:pPr>
            <a:r>
              <a:rPr lang="en-GB" sz="2000"/>
              <a:t>80 p </a:t>
            </a:r>
            <a:endParaRPr sz="2000"/>
          </a:p>
        </p:txBody>
      </p:sp>
      <p:sp>
        <p:nvSpPr>
          <p:cNvPr id="1230" name="Google Shape;1230;p95"/>
          <p:cNvSpPr/>
          <p:nvPr/>
        </p:nvSpPr>
        <p:spPr>
          <a:xfrm>
            <a:off x="3381800" y="1226825"/>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1" name="Google Shape;1231;p95"/>
          <p:cNvSpPr txBox="1"/>
          <p:nvPr>
            <p:ph idx="4294967295" type="body"/>
          </p:nvPr>
        </p:nvSpPr>
        <p:spPr>
          <a:xfrm>
            <a:off x="3470575" y="1288750"/>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400 g</a:t>
            </a:r>
            <a:endParaRPr sz="2000"/>
          </a:p>
          <a:p>
            <a:pPr indent="0" lvl="0" marL="0" rtl="0" algn="l">
              <a:lnSpc>
                <a:spcPct val="115000"/>
              </a:lnSpc>
              <a:spcBef>
                <a:spcPts val="0"/>
              </a:spcBef>
              <a:spcAft>
                <a:spcPts val="0"/>
              </a:spcAft>
              <a:buNone/>
            </a:pPr>
            <a:r>
              <a:rPr lang="en-GB" sz="2000"/>
              <a:t>£1.10 </a:t>
            </a:r>
            <a:endParaRPr sz="2000"/>
          </a:p>
        </p:txBody>
      </p:sp>
      <p:sp>
        <p:nvSpPr>
          <p:cNvPr id="1232" name="Google Shape;1232;p95"/>
          <p:cNvSpPr/>
          <p:nvPr/>
        </p:nvSpPr>
        <p:spPr>
          <a:xfrm>
            <a:off x="6201200" y="1226825"/>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3" name="Google Shape;1233;p95"/>
          <p:cNvSpPr txBox="1"/>
          <p:nvPr>
            <p:ph idx="4294967295" type="body"/>
          </p:nvPr>
        </p:nvSpPr>
        <p:spPr>
          <a:xfrm>
            <a:off x="6289975" y="1288750"/>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600 g</a:t>
            </a:r>
            <a:endParaRPr sz="2000"/>
          </a:p>
          <a:p>
            <a:pPr indent="0" lvl="0" marL="0" rtl="0" algn="l">
              <a:lnSpc>
                <a:spcPct val="115000"/>
              </a:lnSpc>
              <a:spcBef>
                <a:spcPts val="0"/>
              </a:spcBef>
              <a:spcAft>
                <a:spcPts val="0"/>
              </a:spcAft>
              <a:buNone/>
            </a:pPr>
            <a:r>
              <a:rPr lang="en-GB" sz="2000"/>
              <a:t>£1.80 </a:t>
            </a:r>
            <a:endParaRPr sz="2000"/>
          </a:p>
        </p:txBody>
      </p:sp>
      <p:sp>
        <p:nvSpPr>
          <p:cNvPr id="1234" name="Google Shape;1234;p95"/>
          <p:cNvSpPr txBox="1"/>
          <p:nvPr>
            <p:ph idx="1" type="body"/>
          </p:nvPr>
        </p:nvSpPr>
        <p:spPr>
          <a:xfrm>
            <a:off x="324000" y="2160000"/>
            <a:ext cx="8496000" cy="2566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a) For each pack, what is the price per 100 grams?</a:t>
            </a:r>
            <a:endParaRPr sz="1800"/>
          </a:p>
          <a:p>
            <a:pPr indent="0" lvl="0" marL="0" rtl="0" algn="l">
              <a:lnSpc>
                <a:spcPct val="100000"/>
              </a:lnSpc>
              <a:spcBef>
                <a:spcPts val="2000"/>
              </a:spcBef>
              <a:spcAft>
                <a:spcPts val="0"/>
              </a:spcAft>
              <a:buNone/>
            </a:pPr>
            <a:r>
              <a:rPr lang="en-GB" sz="1800"/>
              <a:t>b) What would be the cheapest way to buy enough mushrooms to feed 2 people?</a:t>
            </a:r>
            <a:endParaRPr sz="1800"/>
          </a:p>
          <a:p>
            <a:pPr indent="0" lvl="0" marL="0" rtl="0" algn="l">
              <a:lnSpc>
                <a:spcPct val="100000"/>
              </a:lnSpc>
              <a:spcBef>
                <a:spcPts val="2000"/>
              </a:spcBef>
              <a:spcAft>
                <a:spcPts val="0"/>
              </a:spcAft>
              <a:buNone/>
            </a:pPr>
            <a:r>
              <a:rPr lang="en-GB" sz="1800"/>
              <a:t>c) What would be the cheapest way to buy enough mushrooms to feed 4 people?</a:t>
            </a:r>
            <a:endParaRPr sz="1800"/>
          </a:p>
          <a:p>
            <a:pPr indent="0" lvl="0" marL="0" rtl="0" algn="l">
              <a:lnSpc>
                <a:spcPct val="100000"/>
              </a:lnSpc>
              <a:spcBef>
                <a:spcPts val="2000"/>
              </a:spcBef>
              <a:spcAft>
                <a:spcPts val="2000"/>
              </a:spcAft>
              <a:buNone/>
            </a:pPr>
            <a:r>
              <a:rPr lang="en-GB" sz="1800"/>
              <a:t>d) What would be the cheapest way to buy enough mushrooms to feed 8 people?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96"/>
          <p:cNvSpPr txBox="1"/>
          <p:nvPr>
            <p:ph idx="1" type="body"/>
          </p:nvPr>
        </p:nvSpPr>
        <p:spPr>
          <a:xfrm>
            <a:off x="324000" y="759300"/>
            <a:ext cx="7060800" cy="735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Which of these promotions are good value for money? Explain your answer.</a:t>
            </a:r>
            <a:endParaRPr sz="2000"/>
          </a:p>
        </p:txBody>
      </p:sp>
      <p:sp>
        <p:nvSpPr>
          <p:cNvPr id="1240" name="Google Shape;1240;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Comparing promotions</a:t>
            </a:r>
            <a:endParaRPr/>
          </a:p>
        </p:txBody>
      </p:sp>
      <p:sp>
        <p:nvSpPr>
          <p:cNvPr id="1241" name="Google Shape;1241;p96"/>
          <p:cNvSpPr/>
          <p:nvPr/>
        </p:nvSpPr>
        <p:spPr>
          <a:xfrm>
            <a:off x="399150" y="1620000"/>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2" name="Google Shape;1242;p96"/>
          <p:cNvSpPr txBox="1"/>
          <p:nvPr>
            <p:ph idx="4294967295" type="body"/>
          </p:nvPr>
        </p:nvSpPr>
        <p:spPr>
          <a:xfrm>
            <a:off x="488500" y="1681775"/>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Pears</a:t>
            </a:r>
            <a:r>
              <a:rPr lang="en-GB" sz="2000"/>
              <a:t>  </a:t>
            </a:r>
            <a:endParaRPr sz="2000"/>
          </a:p>
          <a:p>
            <a:pPr indent="0" lvl="0" marL="0" rtl="0" algn="l">
              <a:lnSpc>
                <a:spcPct val="115000"/>
              </a:lnSpc>
              <a:spcBef>
                <a:spcPts val="0"/>
              </a:spcBef>
              <a:spcAft>
                <a:spcPts val="0"/>
              </a:spcAft>
              <a:buNone/>
            </a:pPr>
            <a:r>
              <a:rPr lang="en-GB" sz="2000"/>
              <a:t>39 p each</a:t>
            </a:r>
            <a:endParaRPr sz="2000"/>
          </a:p>
        </p:txBody>
      </p:sp>
      <p:sp>
        <p:nvSpPr>
          <p:cNvPr id="1243" name="Google Shape;1243;p96"/>
          <p:cNvSpPr txBox="1"/>
          <p:nvPr>
            <p:ph idx="4294967295" type="body"/>
          </p:nvPr>
        </p:nvSpPr>
        <p:spPr>
          <a:xfrm>
            <a:off x="2133225" y="1754850"/>
            <a:ext cx="749100" cy="676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GB" sz="2000"/>
              <a:t>3</a:t>
            </a:r>
            <a:r>
              <a:rPr lang="en-GB" sz="2000"/>
              <a:t> for £1</a:t>
            </a:r>
            <a:endParaRPr sz="2000"/>
          </a:p>
        </p:txBody>
      </p:sp>
      <p:sp>
        <p:nvSpPr>
          <p:cNvPr id="1244" name="Google Shape;1244;p96"/>
          <p:cNvSpPr/>
          <p:nvPr/>
        </p:nvSpPr>
        <p:spPr>
          <a:xfrm>
            <a:off x="3354825" y="1482900"/>
            <a:ext cx="2571300" cy="11328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5" name="Google Shape;1245;p96"/>
          <p:cNvSpPr txBox="1"/>
          <p:nvPr>
            <p:ph idx="4294967295" type="body"/>
          </p:nvPr>
        </p:nvSpPr>
        <p:spPr>
          <a:xfrm>
            <a:off x="3444175" y="1544675"/>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Ice cream tubs</a:t>
            </a:r>
            <a:r>
              <a:rPr lang="en-GB" sz="2000"/>
              <a:t>  </a:t>
            </a:r>
            <a:endParaRPr sz="2000"/>
          </a:p>
          <a:p>
            <a:pPr indent="0" lvl="0" marL="0" rtl="0" algn="l">
              <a:lnSpc>
                <a:spcPct val="115000"/>
              </a:lnSpc>
              <a:spcBef>
                <a:spcPts val="0"/>
              </a:spcBef>
              <a:spcAft>
                <a:spcPts val="0"/>
              </a:spcAft>
              <a:buNone/>
            </a:pPr>
            <a:r>
              <a:rPr lang="en-GB" sz="2000"/>
              <a:t>£5.30 each</a:t>
            </a:r>
            <a:endParaRPr sz="2000"/>
          </a:p>
        </p:txBody>
      </p:sp>
      <p:sp>
        <p:nvSpPr>
          <p:cNvPr id="1246" name="Google Shape;1246;p96"/>
          <p:cNvSpPr txBox="1"/>
          <p:nvPr>
            <p:ph idx="4294967295" type="body"/>
          </p:nvPr>
        </p:nvSpPr>
        <p:spPr>
          <a:xfrm>
            <a:off x="4995775" y="1694050"/>
            <a:ext cx="966000" cy="620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4 for £21</a:t>
            </a:r>
            <a:endParaRPr sz="2000"/>
          </a:p>
        </p:txBody>
      </p:sp>
      <p:sp>
        <p:nvSpPr>
          <p:cNvPr id="1247" name="Google Shape;1247;p96"/>
          <p:cNvSpPr/>
          <p:nvPr/>
        </p:nvSpPr>
        <p:spPr>
          <a:xfrm>
            <a:off x="6256800" y="1500150"/>
            <a:ext cx="2571300" cy="11328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8" name="Google Shape;1248;p96"/>
          <p:cNvSpPr txBox="1"/>
          <p:nvPr>
            <p:ph idx="4294967295" type="body"/>
          </p:nvPr>
        </p:nvSpPr>
        <p:spPr>
          <a:xfrm>
            <a:off x="6346150" y="1561925"/>
            <a:ext cx="16047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Veggie sausages</a:t>
            </a:r>
            <a:r>
              <a:rPr lang="en-GB" sz="2000"/>
              <a:t>  </a:t>
            </a:r>
            <a:endParaRPr sz="2000"/>
          </a:p>
          <a:p>
            <a:pPr indent="0" lvl="0" marL="0" rtl="0" algn="l">
              <a:lnSpc>
                <a:spcPct val="115000"/>
              </a:lnSpc>
              <a:spcBef>
                <a:spcPts val="0"/>
              </a:spcBef>
              <a:spcAft>
                <a:spcPts val="0"/>
              </a:spcAft>
              <a:buNone/>
            </a:pPr>
            <a:r>
              <a:rPr lang="en-GB" sz="2000"/>
              <a:t>£2.30 each</a:t>
            </a:r>
            <a:endParaRPr sz="2000"/>
          </a:p>
        </p:txBody>
      </p:sp>
      <p:sp>
        <p:nvSpPr>
          <p:cNvPr id="1249" name="Google Shape;1249;p96"/>
          <p:cNvSpPr txBox="1"/>
          <p:nvPr>
            <p:ph idx="4294967295" type="body"/>
          </p:nvPr>
        </p:nvSpPr>
        <p:spPr>
          <a:xfrm>
            <a:off x="7950900" y="1711200"/>
            <a:ext cx="7890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3 for £7</a:t>
            </a:r>
            <a:endParaRPr sz="2000"/>
          </a:p>
        </p:txBody>
      </p:sp>
      <p:sp>
        <p:nvSpPr>
          <p:cNvPr id="1250" name="Google Shape;1250;p96"/>
          <p:cNvSpPr/>
          <p:nvPr/>
        </p:nvSpPr>
        <p:spPr>
          <a:xfrm>
            <a:off x="7875300" y="1494300"/>
            <a:ext cx="940200" cy="11328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1" name="Google Shape;1251;p96"/>
          <p:cNvSpPr/>
          <p:nvPr/>
        </p:nvSpPr>
        <p:spPr>
          <a:xfrm>
            <a:off x="2030252" y="1625850"/>
            <a:ext cx="9402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2" name="Google Shape;1252;p96"/>
          <p:cNvSpPr/>
          <p:nvPr/>
        </p:nvSpPr>
        <p:spPr>
          <a:xfrm>
            <a:off x="4909375" y="1482900"/>
            <a:ext cx="1003500" cy="11328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97"/>
          <p:cNvSpPr txBox="1"/>
          <p:nvPr>
            <p:ph idx="1" type="body"/>
          </p:nvPr>
        </p:nvSpPr>
        <p:spPr>
          <a:xfrm>
            <a:off x="324000" y="759300"/>
            <a:ext cx="8237700" cy="46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 Lucas sees this promotion in a supermarket. </a:t>
            </a:r>
            <a:endParaRPr/>
          </a:p>
        </p:txBody>
      </p:sp>
      <p:sp>
        <p:nvSpPr>
          <p:cNvPr id="1258" name="Google Shape;1258;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Comparing promotions</a:t>
            </a:r>
            <a:endParaRPr/>
          </a:p>
        </p:txBody>
      </p:sp>
      <p:sp>
        <p:nvSpPr>
          <p:cNvPr id="1259" name="Google Shape;1259;p97"/>
          <p:cNvSpPr/>
          <p:nvPr/>
        </p:nvSpPr>
        <p:spPr>
          <a:xfrm>
            <a:off x="636200" y="1483350"/>
            <a:ext cx="3221400" cy="10884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0" name="Google Shape;1260;p97"/>
          <p:cNvSpPr txBox="1"/>
          <p:nvPr>
            <p:ph idx="4294967295" type="body"/>
          </p:nvPr>
        </p:nvSpPr>
        <p:spPr>
          <a:xfrm>
            <a:off x="725550" y="1583925"/>
            <a:ext cx="1644600" cy="6762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sz="2000"/>
              <a:t>Fizzy orange</a:t>
            </a:r>
            <a:r>
              <a:rPr lang="en-GB" sz="2000"/>
              <a:t> </a:t>
            </a:r>
            <a:endParaRPr sz="2000"/>
          </a:p>
          <a:p>
            <a:pPr indent="0" lvl="0" marL="0" rtl="0" algn="l">
              <a:lnSpc>
                <a:spcPct val="150000"/>
              </a:lnSpc>
              <a:spcBef>
                <a:spcPts val="0"/>
              </a:spcBef>
              <a:spcAft>
                <a:spcPts val="0"/>
              </a:spcAft>
              <a:buNone/>
            </a:pPr>
            <a:r>
              <a:rPr lang="en-GB" sz="2000"/>
              <a:t>£1.80 each</a:t>
            </a:r>
            <a:endParaRPr sz="2000"/>
          </a:p>
        </p:txBody>
      </p:sp>
      <p:sp>
        <p:nvSpPr>
          <p:cNvPr id="1261" name="Google Shape;1261;p97"/>
          <p:cNvSpPr txBox="1"/>
          <p:nvPr>
            <p:ph idx="4294967295" type="body"/>
          </p:nvPr>
        </p:nvSpPr>
        <p:spPr>
          <a:xfrm>
            <a:off x="2585775" y="1545125"/>
            <a:ext cx="12288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Buy 1 get 1 half price</a:t>
            </a:r>
            <a:endParaRPr sz="2000"/>
          </a:p>
        </p:txBody>
      </p:sp>
      <p:sp>
        <p:nvSpPr>
          <p:cNvPr id="1262" name="Google Shape;1262;p97"/>
          <p:cNvSpPr/>
          <p:nvPr/>
        </p:nvSpPr>
        <p:spPr>
          <a:xfrm>
            <a:off x="2449600" y="1483350"/>
            <a:ext cx="1407900" cy="10884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263" name="Google Shape;1263;p97"/>
          <p:cNvPicPr preferRelativeResize="0"/>
          <p:nvPr/>
        </p:nvPicPr>
        <p:blipFill>
          <a:blip r:embed="rId3">
            <a:alphaModFix/>
          </a:blip>
          <a:stretch>
            <a:fillRect/>
          </a:stretch>
        </p:blipFill>
        <p:spPr>
          <a:xfrm flipH="1">
            <a:off x="8085606" y="2052750"/>
            <a:ext cx="585190" cy="647257"/>
          </a:xfrm>
          <a:prstGeom prst="rect">
            <a:avLst/>
          </a:prstGeom>
          <a:noFill/>
          <a:ln>
            <a:noFill/>
          </a:ln>
        </p:spPr>
      </p:pic>
      <p:grpSp>
        <p:nvGrpSpPr>
          <p:cNvPr id="1264" name="Google Shape;1264;p97"/>
          <p:cNvGrpSpPr/>
          <p:nvPr/>
        </p:nvGrpSpPr>
        <p:grpSpPr>
          <a:xfrm flipH="1">
            <a:off x="4532984" y="1336238"/>
            <a:ext cx="3662808" cy="1235637"/>
            <a:chOff x="1902381" y="1608371"/>
            <a:chExt cx="1814979" cy="1553870"/>
          </a:xfrm>
        </p:grpSpPr>
        <p:pic>
          <p:nvPicPr>
            <p:cNvPr id="1265" name="Google Shape;1265;p97"/>
            <p:cNvPicPr preferRelativeResize="0"/>
            <p:nvPr/>
          </p:nvPicPr>
          <p:blipFill rotWithShape="1">
            <a:blip r:embed="rId4">
              <a:alphaModFix/>
            </a:blip>
            <a:srcRect b="0" l="0" r="69082" t="56280"/>
            <a:stretch/>
          </p:blipFill>
          <p:spPr>
            <a:xfrm flipH="1">
              <a:off x="1902381" y="1608371"/>
              <a:ext cx="1814979" cy="1553870"/>
            </a:xfrm>
            <a:prstGeom prst="rect">
              <a:avLst/>
            </a:prstGeom>
            <a:noFill/>
            <a:ln>
              <a:noFill/>
            </a:ln>
          </p:spPr>
        </p:pic>
        <p:sp>
          <p:nvSpPr>
            <p:cNvPr id="1266" name="Google Shape;1266;p97"/>
            <p:cNvSpPr txBox="1"/>
            <p:nvPr/>
          </p:nvSpPr>
          <p:spPr>
            <a:xfrm flipH="1">
              <a:off x="2059054" y="1858586"/>
              <a:ext cx="1578900" cy="980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W</a:t>
              </a:r>
              <a:r>
                <a:rPr lang="en-GB" sz="1800">
                  <a:latin typeface="Lexend"/>
                  <a:ea typeface="Lexend"/>
                  <a:cs typeface="Lexend"/>
                  <a:sym typeface="Lexend"/>
                </a:rPr>
                <a:t>hen I was in here last week they cost £1.30 each but there was no promotion.</a:t>
              </a:r>
              <a:endParaRPr sz="1800">
                <a:solidFill>
                  <a:srgbClr val="000000"/>
                </a:solidFill>
                <a:latin typeface="Lexend"/>
                <a:ea typeface="Lexend"/>
                <a:cs typeface="Lexend"/>
                <a:sym typeface="Lexend"/>
              </a:endParaRPr>
            </a:p>
          </p:txBody>
        </p:sp>
      </p:grpSp>
      <p:sp>
        <p:nvSpPr>
          <p:cNvPr id="1267" name="Google Shape;1267;p97"/>
          <p:cNvSpPr txBox="1"/>
          <p:nvPr>
            <p:ph idx="1" type="body"/>
          </p:nvPr>
        </p:nvSpPr>
        <p:spPr>
          <a:xfrm>
            <a:off x="324000" y="2833800"/>
            <a:ext cx="8496000" cy="46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Does this promotion offer a better deal than the price Lucas saw last week?</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273" name="Google Shape;1273;p98"/>
          <p:cNvSpPr txBox="1"/>
          <p:nvPr>
            <p:ph idx="1" type="body"/>
          </p:nvPr>
        </p:nvSpPr>
        <p:spPr>
          <a:xfrm>
            <a:off x="324000" y="759300"/>
            <a:ext cx="8364900" cy="67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Use two different methods to show that packs of 6 rolls are better value for money than packs of 4 rolls.  </a:t>
            </a:r>
            <a:endParaRPr sz="2000"/>
          </a:p>
        </p:txBody>
      </p:sp>
      <p:sp>
        <p:nvSpPr>
          <p:cNvPr id="1274" name="Google Shape;1274;p98"/>
          <p:cNvSpPr/>
          <p:nvPr/>
        </p:nvSpPr>
        <p:spPr>
          <a:xfrm>
            <a:off x="1578375" y="1544125"/>
            <a:ext cx="25092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5" name="Google Shape;1275;p98"/>
          <p:cNvSpPr txBox="1"/>
          <p:nvPr>
            <p:ph idx="4294967295" type="body"/>
          </p:nvPr>
        </p:nvSpPr>
        <p:spPr>
          <a:xfrm>
            <a:off x="1667150" y="1606050"/>
            <a:ext cx="24204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4 pack of soft rolls  </a:t>
            </a:r>
            <a:endParaRPr sz="2000"/>
          </a:p>
          <a:p>
            <a:pPr indent="0" lvl="0" marL="0" rtl="0" algn="l">
              <a:lnSpc>
                <a:spcPct val="115000"/>
              </a:lnSpc>
              <a:spcBef>
                <a:spcPts val="0"/>
              </a:spcBef>
              <a:spcAft>
                <a:spcPts val="0"/>
              </a:spcAft>
              <a:buNone/>
            </a:pPr>
            <a:r>
              <a:rPr lang="en-GB" sz="2000"/>
              <a:t>90 p </a:t>
            </a:r>
            <a:endParaRPr sz="2000"/>
          </a:p>
        </p:txBody>
      </p:sp>
      <p:sp>
        <p:nvSpPr>
          <p:cNvPr id="1276" name="Google Shape;1276;p98"/>
          <p:cNvSpPr/>
          <p:nvPr/>
        </p:nvSpPr>
        <p:spPr>
          <a:xfrm>
            <a:off x="4983750" y="1544125"/>
            <a:ext cx="25461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7" name="Google Shape;1277;p98"/>
          <p:cNvSpPr txBox="1"/>
          <p:nvPr>
            <p:ph idx="4294967295" type="body"/>
          </p:nvPr>
        </p:nvSpPr>
        <p:spPr>
          <a:xfrm>
            <a:off x="5072524" y="1606050"/>
            <a:ext cx="23736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6 pack of soft rolls  </a:t>
            </a:r>
            <a:endParaRPr sz="2000"/>
          </a:p>
          <a:p>
            <a:pPr indent="0" lvl="0" marL="0" rtl="0" algn="l">
              <a:lnSpc>
                <a:spcPct val="115000"/>
              </a:lnSpc>
              <a:spcBef>
                <a:spcPts val="0"/>
              </a:spcBef>
              <a:spcAft>
                <a:spcPts val="0"/>
              </a:spcAft>
              <a:buNone/>
            </a:pPr>
            <a:r>
              <a:rPr lang="en-GB" sz="2000"/>
              <a:t>£1.20</a:t>
            </a:r>
            <a:endParaRPr sz="2000"/>
          </a:p>
        </p:txBody>
      </p:sp>
      <p:sp>
        <p:nvSpPr>
          <p:cNvPr id="1278" name="Google Shape;1278;p98"/>
          <p:cNvSpPr txBox="1"/>
          <p:nvPr>
            <p:ph idx="1" type="body"/>
          </p:nvPr>
        </p:nvSpPr>
        <p:spPr>
          <a:xfrm>
            <a:off x="324000" y="2493650"/>
            <a:ext cx="3117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E.g.</a:t>
            </a:r>
            <a:r>
              <a:rPr lang="en-GB" sz="2000"/>
              <a:t> </a:t>
            </a:r>
            <a:r>
              <a:rPr lang="en-GB" sz="2000">
                <a:latin typeface="Kalam"/>
                <a:ea typeface="Kalam"/>
                <a:cs typeface="Kalam"/>
                <a:sym typeface="Kalam"/>
              </a:rPr>
              <a:t>Finding the price of 12</a:t>
            </a:r>
            <a:r>
              <a:rPr lang="en-GB" sz="2000"/>
              <a:t> </a:t>
            </a:r>
            <a:endParaRPr sz="2000"/>
          </a:p>
        </p:txBody>
      </p:sp>
      <p:sp>
        <p:nvSpPr>
          <p:cNvPr id="1279" name="Google Shape;1279;p98"/>
          <p:cNvSpPr txBox="1"/>
          <p:nvPr>
            <p:ph idx="1" type="body"/>
          </p:nvPr>
        </p:nvSpPr>
        <p:spPr>
          <a:xfrm>
            <a:off x="324000" y="2844950"/>
            <a:ext cx="3117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0</a:t>
            </a:r>
            <a:r>
              <a:rPr lang="en-GB" sz="2000">
                <a:latin typeface="Kalam"/>
                <a:ea typeface="Kalam"/>
                <a:cs typeface="Kalam"/>
                <a:sym typeface="Kalam"/>
              </a:rPr>
              <a:t>.9 × 3 = 2.7</a:t>
            </a:r>
            <a:r>
              <a:rPr lang="en-GB" sz="2000"/>
              <a:t> </a:t>
            </a:r>
            <a:endParaRPr sz="2000"/>
          </a:p>
        </p:txBody>
      </p:sp>
      <p:sp>
        <p:nvSpPr>
          <p:cNvPr id="1280" name="Google Shape;1280;p98"/>
          <p:cNvSpPr txBox="1"/>
          <p:nvPr>
            <p:ph idx="1" type="body"/>
          </p:nvPr>
        </p:nvSpPr>
        <p:spPr>
          <a:xfrm>
            <a:off x="324000" y="3196250"/>
            <a:ext cx="31170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a:t>
            </a:r>
            <a:r>
              <a:rPr lang="en-GB" sz="2000">
                <a:latin typeface="Kalam"/>
                <a:ea typeface="Kalam"/>
                <a:cs typeface="Kalam"/>
                <a:sym typeface="Kalam"/>
              </a:rPr>
              <a:t> × 2 = 2.4</a:t>
            </a:r>
            <a:r>
              <a:rPr lang="en-GB" sz="2000"/>
              <a:t> </a:t>
            </a:r>
            <a:endParaRPr sz="2000"/>
          </a:p>
        </p:txBody>
      </p:sp>
      <p:sp>
        <p:nvSpPr>
          <p:cNvPr id="1281" name="Google Shape;1281;p98"/>
          <p:cNvSpPr txBox="1"/>
          <p:nvPr>
            <p:ph idx="1" type="body"/>
          </p:nvPr>
        </p:nvSpPr>
        <p:spPr>
          <a:xfrm>
            <a:off x="324000" y="3588600"/>
            <a:ext cx="40293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Packs of 6 are better value for money. 12 would cost £2.40 which is cheaper than buying in packs of 4 (£2.70)</a:t>
            </a:r>
            <a:endParaRPr sz="2000"/>
          </a:p>
        </p:txBody>
      </p:sp>
      <p:sp>
        <p:nvSpPr>
          <p:cNvPr id="1282" name="Google Shape;1282;p98"/>
          <p:cNvSpPr txBox="1"/>
          <p:nvPr>
            <p:ph idx="1" type="body"/>
          </p:nvPr>
        </p:nvSpPr>
        <p:spPr>
          <a:xfrm>
            <a:off x="4572000" y="2571750"/>
            <a:ext cx="3117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Finding the unit price</a:t>
            </a:r>
            <a:r>
              <a:rPr lang="en-GB" sz="2000"/>
              <a:t> </a:t>
            </a:r>
            <a:endParaRPr sz="2000"/>
          </a:p>
        </p:txBody>
      </p:sp>
      <p:sp>
        <p:nvSpPr>
          <p:cNvPr id="1283" name="Google Shape;1283;p98"/>
          <p:cNvSpPr txBox="1"/>
          <p:nvPr>
            <p:ph idx="1" type="body"/>
          </p:nvPr>
        </p:nvSpPr>
        <p:spPr>
          <a:xfrm>
            <a:off x="4572000" y="2923050"/>
            <a:ext cx="19938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0.9 ÷ 4 = 0.225</a:t>
            </a:r>
            <a:r>
              <a:rPr lang="en-GB" sz="2000"/>
              <a:t> </a:t>
            </a:r>
            <a:endParaRPr sz="2000"/>
          </a:p>
        </p:txBody>
      </p:sp>
      <p:sp>
        <p:nvSpPr>
          <p:cNvPr id="1284" name="Google Shape;1284;p98"/>
          <p:cNvSpPr txBox="1"/>
          <p:nvPr>
            <p:ph idx="1" type="body"/>
          </p:nvPr>
        </p:nvSpPr>
        <p:spPr>
          <a:xfrm>
            <a:off x="6695100" y="2923050"/>
            <a:ext cx="19938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(22.5 p per roll)</a:t>
            </a:r>
            <a:r>
              <a:rPr lang="en-GB" sz="2000"/>
              <a:t> </a:t>
            </a:r>
            <a:endParaRPr sz="2000"/>
          </a:p>
        </p:txBody>
      </p:sp>
      <p:sp>
        <p:nvSpPr>
          <p:cNvPr id="1285" name="Google Shape;1285;p98"/>
          <p:cNvSpPr txBox="1"/>
          <p:nvPr>
            <p:ph idx="1" type="body"/>
          </p:nvPr>
        </p:nvSpPr>
        <p:spPr>
          <a:xfrm>
            <a:off x="4572000" y="3304050"/>
            <a:ext cx="19938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a:t>
            </a:r>
            <a:r>
              <a:rPr lang="en-GB" sz="2000">
                <a:latin typeface="Kalam"/>
                <a:ea typeface="Kalam"/>
                <a:cs typeface="Kalam"/>
                <a:sym typeface="Kalam"/>
              </a:rPr>
              <a:t> ÷ 6 = 0.2</a:t>
            </a:r>
            <a:r>
              <a:rPr lang="en-GB" sz="2000"/>
              <a:t> </a:t>
            </a:r>
            <a:endParaRPr sz="2000"/>
          </a:p>
        </p:txBody>
      </p:sp>
      <p:sp>
        <p:nvSpPr>
          <p:cNvPr id="1286" name="Google Shape;1286;p98"/>
          <p:cNvSpPr txBox="1"/>
          <p:nvPr>
            <p:ph idx="1" type="body"/>
          </p:nvPr>
        </p:nvSpPr>
        <p:spPr>
          <a:xfrm>
            <a:off x="6695100" y="3304050"/>
            <a:ext cx="19938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(20 p per roll)</a:t>
            </a:r>
            <a:r>
              <a:rPr lang="en-GB" sz="2000"/>
              <a:t> </a:t>
            </a:r>
            <a:endParaRPr sz="2000"/>
          </a:p>
        </p:txBody>
      </p:sp>
      <p:sp>
        <p:nvSpPr>
          <p:cNvPr id="1287" name="Google Shape;1287;p98"/>
          <p:cNvSpPr txBox="1"/>
          <p:nvPr>
            <p:ph idx="1" type="body"/>
          </p:nvPr>
        </p:nvSpPr>
        <p:spPr>
          <a:xfrm>
            <a:off x="4572000" y="3736900"/>
            <a:ext cx="42480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The pack of 6 has a cheaper price per roll so is better </a:t>
            </a:r>
            <a:r>
              <a:rPr lang="en-GB" sz="2000">
                <a:latin typeface="Kalam"/>
                <a:ea typeface="Kalam"/>
                <a:cs typeface="Kalam"/>
                <a:sym typeface="Kalam"/>
              </a:rPr>
              <a:t>value</a:t>
            </a:r>
            <a:r>
              <a:rPr lang="en-GB" sz="2000">
                <a:latin typeface="Kalam"/>
                <a:ea typeface="Kalam"/>
                <a:cs typeface="Kalam"/>
                <a:sym typeface="Kalam"/>
              </a:rPr>
              <a:t> for money.</a:t>
            </a:r>
            <a:r>
              <a:rPr lang="en-GB" sz="2000"/>
              <a:t> </a:t>
            </a:r>
            <a:endParaRPr sz="2000"/>
          </a:p>
        </p:txBody>
      </p:sp>
      <p:sp>
        <p:nvSpPr>
          <p:cNvPr id="1288" name="Google Shape;1288;p98"/>
          <p:cNvSpPr txBox="1"/>
          <p:nvPr>
            <p:ph idx="1" type="body"/>
          </p:nvPr>
        </p:nvSpPr>
        <p:spPr>
          <a:xfrm>
            <a:off x="4476175" y="4469100"/>
            <a:ext cx="40293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(There are other valid methods.)</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294" name="Google Shape;1294;p99"/>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Aisha needs 500 g of mushrooms for a recipe which feeds 2 people. </a:t>
            </a:r>
            <a:endParaRPr sz="1900"/>
          </a:p>
        </p:txBody>
      </p:sp>
      <p:sp>
        <p:nvSpPr>
          <p:cNvPr id="1295" name="Google Shape;1295;p99"/>
          <p:cNvSpPr/>
          <p:nvPr/>
        </p:nvSpPr>
        <p:spPr>
          <a:xfrm>
            <a:off x="450525" y="1247250"/>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6" name="Google Shape;1296;p99"/>
          <p:cNvSpPr txBox="1"/>
          <p:nvPr>
            <p:ph idx="4294967295" type="body"/>
          </p:nvPr>
        </p:nvSpPr>
        <p:spPr>
          <a:xfrm>
            <a:off x="539300" y="1309175"/>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150 g</a:t>
            </a:r>
            <a:endParaRPr sz="2000"/>
          </a:p>
          <a:p>
            <a:pPr indent="0" lvl="0" marL="0" rtl="0" algn="l">
              <a:lnSpc>
                <a:spcPct val="115000"/>
              </a:lnSpc>
              <a:spcBef>
                <a:spcPts val="0"/>
              </a:spcBef>
              <a:spcAft>
                <a:spcPts val="0"/>
              </a:spcAft>
              <a:buNone/>
            </a:pPr>
            <a:r>
              <a:rPr lang="en-GB" sz="2000"/>
              <a:t>80 p </a:t>
            </a:r>
            <a:endParaRPr sz="2000"/>
          </a:p>
        </p:txBody>
      </p:sp>
      <p:sp>
        <p:nvSpPr>
          <p:cNvPr id="1297" name="Google Shape;1297;p99"/>
          <p:cNvSpPr/>
          <p:nvPr/>
        </p:nvSpPr>
        <p:spPr>
          <a:xfrm>
            <a:off x="3381800" y="1226825"/>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8" name="Google Shape;1298;p99"/>
          <p:cNvSpPr txBox="1"/>
          <p:nvPr>
            <p:ph idx="4294967295" type="body"/>
          </p:nvPr>
        </p:nvSpPr>
        <p:spPr>
          <a:xfrm>
            <a:off x="3470575" y="1288750"/>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400 g</a:t>
            </a:r>
            <a:endParaRPr sz="2000"/>
          </a:p>
          <a:p>
            <a:pPr indent="0" lvl="0" marL="0" rtl="0" algn="l">
              <a:lnSpc>
                <a:spcPct val="115000"/>
              </a:lnSpc>
              <a:spcBef>
                <a:spcPts val="0"/>
              </a:spcBef>
              <a:spcAft>
                <a:spcPts val="0"/>
              </a:spcAft>
              <a:buNone/>
            </a:pPr>
            <a:r>
              <a:rPr lang="en-GB" sz="2000"/>
              <a:t>£1.10 </a:t>
            </a:r>
            <a:endParaRPr sz="2000"/>
          </a:p>
        </p:txBody>
      </p:sp>
      <p:sp>
        <p:nvSpPr>
          <p:cNvPr id="1299" name="Google Shape;1299;p99"/>
          <p:cNvSpPr/>
          <p:nvPr/>
        </p:nvSpPr>
        <p:spPr>
          <a:xfrm>
            <a:off x="6201200" y="1226825"/>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0" name="Google Shape;1300;p99"/>
          <p:cNvSpPr txBox="1"/>
          <p:nvPr>
            <p:ph idx="4294967295" type="body"/>
          </p:nvPr>
        </p:nvSpPr>
        <p:spPr>
          <a:xfrm>
            <a:off x="6289975" y="1288750"/>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600 g</a:t>
            </a:r>
            <a:endParaRPr sz="2000"/>
          </a:p>
          <a:p>
            <a:pPr indent="0" lvl="0" marL="0" rtl="0" algn="l">
              <a:lnSpc>
                <a:spcPct val="115000"/>
              </a:lnSpc>
              <a:spcBef>
                <a:spcPts val="0"/>
              </a:spcBef>
              <a:spcAft>
                <a:spcPts val="0"/>
              </a:spcAft>
              <a:buNone/>
            </a:pPr>
            <a:r>
              <a:rPr lang="en-GB" sz="2000"/>
              <a:t>£1.80 </a:t>
            </a:r>
            <a:endParaRPr sz="2000"/>
          </a:p>
        </p:txBody>
      </p:sp>
      <p:sp>
        <p:nvSpPr>
          <p:cNvPr id="1301" name="Google Shape;1301;p99"/>
          <p:cNvSpPr txBox="1"/>
          <p:nvPr>
            <p:ph idx="1" type="body"/>
          </p:nvPr>
        </p:nvSpPr>
        <p:spPr>
          <a:xfrm>
            <a:off x="324000" y="2160000"/>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a) For each pack, what is the price per 100 grams?</a:t>
            </a:r>
            <a:endParaRPr sz="1800"/>
          </a:p>
          <a:p>
            <a:pPr indent="0" lvl="0" marL="0" rtl="0" algn="l">
              <a:lnSpc>
                <a:spcPct val="100000"/>
              </a:lnSpc>
              <a:spcBef>
                <a:spcPts val="2000"/>
              </a:spcBef>
              <a:spcAft>
                <a:spcPts val="2000"/>
              </a:spcAft>
              <a:buNone/>
            </a:pPr>
            <a:r>
              <a:t/>
            </a:r>
            <a:endParaRPr sz="1800"/>
          </a:p>
        </p:txBody>
      </p:sp>
      <p:sp>
        <p:nvSpPr>
          <p:cNvPr id="1302" name="Google Shape;1302;p99"/>
          <p:cNvSpPr txBox="1"/>
          <p:nvPr>
            <p:ph idx="1" type="body"/>
          </p:nvPr>
        </p:nvSpPr>
        <p:spPr>
          <a:xfrm>
            <a:off x="324000" y="2650050"/>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0.8 ÷ 1.5 = 0.533…</a:t>
            </a:r>
            <a:r>
              <a:rPr lang="en-GB" sz="2000"/>
              <a:t> </a:t>
            </a:r>
            <a:endParaRPr sz="2000"/>
          </a:p>
        </p:txBody>
      </p:sp>
      <p:sp>
        <p:nvSpPr>
          <p:cNvPr id="1303" name="Google Shape;1303;p99"/>
          <p:cNvSpPr txBox="1"/>
          <p:nvPr>
            <p:ph idx="1" type="body"/>
          </p:nvPr>
        </p:nvSpPr>
        <p:spPr>
          <a:xfrm>
            <a:off x="324000" y="3154450"/>
            <a:ext cx="34320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Approximately 53.3 p per 100 g</a:t>
            </a:r>
            <a:r>
              <a:rPr lang="en-GB" sz="2000"/>
              <a:t> </a:t>
            </a:r>
            <a:endParaRPr sz="2000"/>
          </a:p>
        </p:txBody>
      </p:sp>
      <p:sp>
        <p:nvSpPr>
          <p:cNvPr id="1304" name="Google Shape;1304;p99"/>
          <p:cNvSpPr txBox="1"/>
          <p:nvPr>
            <p:ph idx="1" type="body"/>
          </p:nvPr>
        </p:nvSpPr>
        <p:spPr>
          <a:xfrm>
            <a:off x="4044425" y="2635075"/>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1.1</a:t>
            </a:r>
            <a:r>
              <a:rPr lang="en-GB" sz="2000">
                <a:latin typeface="Kalam"/>
                <a:ea typeface="Kalam"/>
                <a:cs typeface="Kalam"/>
                <a:sym typeface="Kalam"/>
              </a:rPr>
              <a:t> ÷ 4 = 0.275</a:t>
            </a:r>
            <a:r>
              <a:rPr lang="en-GB" sz="2000"/>
              <a:t> </a:t>
            </a:r>
            <a:endParaRPr sz="2000"/>
          </a:p>
        </p:txBody>
      </p:sp>
      <p:sp>
        <p:nvSpPr>
          <p:cNvPr id="1305" name="Google Shape;1305;p99"/>
          <p:cNvSpPr txBox="1"/>
          <p:nvPr>
            <p:ph idx="1" type="body"/>
          </p:nvPr>
        </p:nvSpPr>
        <p:spPr>
          <a:xfrm>
            <a:off x="4044425" y="3139475"/>
            <a:ext cx="22263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27.5 </a:t>
            </a:r>
            <a:r>
              <a:rPr lang="en-GB" sz="2000">
                <a:latin typeface="Kalam"/>
                <a:ea typeface="Kalam"/>
                <a:cs typeface="Kalam"/>
                <a:sym typeface="Kalam"/>
              </a:rPr>
              <a:t>p per 100 g</a:t>
            </a:r>
            <a:r>
              <a:rPr lang="en-GB" sz="2000"/>
              <a:t> </a:t>
            </a:r>
            <a:endParaRPr sz="2000"/>
          </a:p>
        </p:txBody>
      </p:sp>
      <p:sp>
        <p:nvSpPr>
          <p:cNvPr id="1306" name="Google Shape;1306;p99"/>
          <p:cNvSpPr txBox="1"/>
          <p:nvPr>
            <p:ph idx="1" type="body"/>
          </p:nvPr>
        </p:nvSpPr>
        <p:spPr>
          <a:xfrm>
            <a:off x="6559025" y="2635075"/>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a:t>
            </a:r>
            <a:r>
              <a:rPr lang="en-GB" sz="2000">
                <a:latin typeface="Kalam"/>
                <a:ea typeface="Kalam"/>
                <a:cs typeface="Kalam"/>
                <a:sym typeface="Kalam"/>
              </a:rPr>
              <a:t>.8 ÷ 6 = 0.3</a:t>
            </a:r>
            <a:r>
              <a:rPr lang="en-GB" sz="2000"/>
              <a:t> </a:t>
            </a:r>
            <a:endParaRPr sz="2000"/>
          </a:p>
        </p:txBody>
      </p:sp>
      <p:sp>
        <p:nvSpPr>
          <p:cNvPr id="1307" name="Google Shape;1307;p99"/>
          <p:cNvSpPr txBox="1"/>
          <p:nvPr>
            <p:ph idx="1" type="body"/>
          </p:nvPr>
        </p:nvSpPr>
        <p:spPr>
          <a:xfrm>
            <a:off x="6559025" y="3139475"/>
            <a:ext cx="22263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30 </a:t>
            </a:r>
            <a:r>
              <a:rPr lang="en-GB" sz="2000">
                <a:latin typeface="Kalam"/>
                <a:ea typeface="Kalam"/>
                <a:cs typeface="Kalam"/>
                <a:sym typeface="Kalam"/>
              </a:rPr>
              <a:t>p per 100 g</a:t>
            </a:r>
            <a:r>
              <a:rPr lang="en-GB" sz="2000"/>
              <a:t> </a:t>
            </a:r>
            <a:endParaRPr sz="2000"/>
          </a:p>
        </p:txBody>
      </p:sp>
      <p:sp>
        <p:nvSpPr>
          <p:cNvPr id="1308" name="Google Shape;1308;p99"/>
          <p:cNvSpPr txBox="1"/>
          <p:nvPr>
            <p:ph idx="1" type="body"/>
          </p:nvPr>
        </p:nvSpPr>
        <p:spPr>
          <a:xfrm>
            <a:off x="324000" y="3563250"/>
            <a:ext cx="8496000" cy="382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1800"/>
              <a:t>b) What would be the cheapest way to buy enough mushrooms to feed 2 people?</a:t>
            </a:r>
            <a:endParaRPr sz="1800"/>
          </a:p>
          <a:p>
            <a:pPr indent="0" lvl="0" marL="0" rtl="0" algn="l">
              <a:lnSpc>
                <a:spcPct val="100000"/>
              </a:lnSpc>
              <a:spcBef>
                <a:spcPts val="2000"/>
              </a:spcBef>
              <a:spcAft>
                <a:spcPts val="2000"/>
              </a:spcAft>
              <a:buNone/>
            </a:pPr>
            <a:r>
              <a:t/>
            </a:r>
            <a:endParaRPr sz="1800"/>
          </a:p>
        </p:txBody>
      </p:sp>
      <p:sp>
        <p:nvSpPr>
          <p:cNvPr id="1309" name="Google Shape;1309;p99"/>
          <p:cNvSpPr txBox="1"/>
          <p:nvPr>
            <p:ph idx="1" type="body"/>
          </p:nvPr>
        </p:nvSpPr>
        <p:spPr>
          <a:xfrm>
            <a:off x="324000" y="4188875"/>
            <a:ext cx="82377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Even though the 400 g is better value for money, the cheapest way to get 500 g is buying one pack of 600 g at £1.80</a:t>
            </a:r>
            <a:r>
              <a:rPr lang="en-GB" sz="2000"/>
              <a:t>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315" name="Google Shape;1315;p10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2) Aisha needs 500 g of mushrooms for a recipe which feeds 2 people. </a:t>
            </a:r>
            <a:endParaRPr sz="1900"/>
          </a:p>
        </p:txBody>
      </p:sp>
      <p:sp>
        <p:nvSpPr>
          <p:cNvPr id="1316" name="Google Shape;1316;p100"/>
          <p:cNvSpPr/>
          <p:nvPr/>
        </p:nvSpPr>
        <p:spPr>
          <a:xfrm>
            <a:off x="450525" y="1247250"/>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7" name="Google Shape;1317;p100"/>
          <p:cNvSpPr txBox="1"/>
          <p:nvPr>
            <p:ph idx="4294967295" type="body"/>
          </p:nvPr>
        </p:nvSpPr>
        <p:spPr>
          <a:xfrm>
            <a:off x="539300" y="1309175"/>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150 g</a:t>
            </a:r>
            <a:endParaRPr sz="2000"/>
          </a:p>
          <a:p>
            <a:pPr indent="0" lvl="0" marL="0" rtl="0" algn="l">
              <a:lnSpc>
                <a:spcPct val="115000"/>
              </a:lnSpc>
              <a:spcBef>
                <a:spcPts val="0"/>
              </a:spcBef>
              <a:spcAft>
                <a:spcPts val="0"/>
              </a:spcAft>
              <a:buNone/>
            </a:pPr>
            <a:r>
              <a:rPr lang="en-GB" sz="2000"/>
              <a:t>80 p </a:t>
            </a:r>
            <a:endParaRPr sz="2000"/>
          </a:p>
        </p:txBody>
      </p:sp>
      <p:sp>
        <p:nvSpPr>
          <p:cNvPr id="1318" name="Google Shape;1318;p100"/>
          <p:cNvSpPr/>
          <p:nvPr/>
        </p:nvSpPr>
        <p:spPr>
          <a:xfrm>
            <a:off x="3381800" y="1226825"/>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9" name="Google Shape;1319;p100"/>
          <p:cNvSpPr txBox="1"/>
          <p:nvPr>
            <p:ph idx="4294967295" type="body"/>
          </p:nvPr>
        </p:nvSpPr>
        <p:spPr>
          <a:xfrm>
            <a:off x="3470575" y="1288750"/>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400 g</a:t>
            </a:r>
            <a:endParaRPr sz="2000"/>
          </a:p>
          <a:p>
            <a:pPr indent="0" lvl="0" marL="0" rtl="0" algn="l">
              <a:lnSpc>
                <a:spcPct val="115000"/>
              </a:lnSpc>
              <a:spcBef>
                <a:spcPts val="0"/>
              </a:spcBef>
              <a:spcAft>
                <a:spcPts val="0"/>
              </a:spcAft>
              <a:buNone/>
            </a:pPr>
            <a:r>
              <a:rPr lang="en-GB" sz="2000"/>
              <a:t>£1.10 </a:t>
            </a:r>
            <a:endParaRPr sz="2000"/>
          </a:p>
        </p:txBody>
      </p:sp>
      <p:sp>
        <p:nvSpPr>
          <p:cNvPr id="1320" name="Google Shape;1320;p100"/>
          <p:cNvSpPr/>
          <p:nvPr/>
        </p:nvSpPr>
        <p:spPr>
          <a:xfrm>
            <a:off x="6201200" y="1226825"/>
            <a:ext cx="2415900" cy="840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1" name="Google Shape;1321;p100"/>
          <p:cNvSpPr txBox="1"/>
          <p:nvPr>
            <p:ph idx="4294967295" type="body"/>
          </p:nvPr>
        </p:nvSpPr>
        <p:spPr>
          <a:xfrm>
            <a:off x="6289975" y="1288750"/>
            <a:ext cx="22551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Mushrooms 600 g</a:t>
            </a:r>
            <a:endParaRPr sz="2000"/>
          </a:p>
          <a:p>
            <a:pPr indent="0" lvl="0" marL="0" rtl="0" algn="l">
              <a:lnSpc>
                <a:spcPct val="115000"/>
              </a:lnSpc>
              <a:spcBef>
                <a:spcPts val="0"/>
              </a:spcBef>
              <a:spcAft>
                <a:spcPts val="0"/>
              </a:spcAft>
              <a:buNone/>
            </a:pPr>
            <a:r>
              <a:rPr lang="en-GB" sz="2000"/>
              <a:t>£1.80 </a:t>
            </a:r>
            <a:endParaRPr sz="2000"/>
          </a:p>
        </p:txBody>
      </p:sp>
      <p:sp>
        <p:nvSpPr>
          <p:cNvPr id="1322" name="Google Shape;1322;p100"/>
          <p:cNvSpPr txBox="1"/>
          <p:nvPr>
            <p:ph idx="1" type="body"/>
          </p:nvPr>
        </p:nvSpPr>
        <p:spPr>
          <a:xfrm>
            <a:off x="324000" y="2160000"/>
            <a:ext cx="8496000" cy="540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c) What would be the cheapest way to buy enough mushrooms to feed 4 people?</a:t>
            </a:r>
            <a:endParaRPr sz="1800"/>
          </a:p>
          <a:p>
            <a:pPr indent="0" lvl="0" marL="0" rtl="0" algn="l">
              <a:lnSpc>
                <a:spcPct val="100000"/>
              </a:lnSpc>
              <a:spcBef>
                <a:spcPts val="2000"/>
              </a:spcBef>
              <a:spcAft>
                <a:spcPts val="2000"/>
              </a:spcAft>
              <a:buNone/>
            </a:pPr>
            <a:r>
              <a:t/>
            </a:r>
            <a:endParaRPr sz="1800"/>
          </a:p>
        </p:txBody>
      </p:sp>
      <p:sp>
        <p:nvSpPr>
          <p:cNvPr id="1323" name="Google Shape;1323;p100"/>
          <p:cNvSpPr txBox="1"/>
          <p:nvPr>
            <p:ph idx="1" type="body"/>
          </p:nvPr>
        </p:nvSpPr>
        <p:spPr>
          <a:xfrm>
            <a:off x="324000" y="3572750"/>
            <a:ext cx="8496000" cy="676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GB" sz="1800"/>
              <a:t>d) What would be the cheapest way to buy enough mushrooms to feed 8 people? </a:t>
            </a:r>
            <a:endParaRPr sz="1800"/>
          </a:p>
          <a:p>
            <a:pPr indent="0" lvl="0" marL="0" rtl="0" algn="l">
              <a:lnSpc>
                <a:spcPct val="100000"/>
              </a:lnSpc>
              <a:spcBef>
                <a:spcPts val="2000"/>
              </a:spcBef>
              <a:spcAft>
                <a:spcPts val="2000"/>
              </a:spcAft>
              <a:buNone/>
            </a:pPr>
            <a:r>
              <a:t/>
            </a:r>
            <a:endParaRPr sz="1800"/>
          </a:p>
        </p:txBody>
      </p:sp>
      <p:sp>
        <p:nvSpPr>
          <p:cNvPr id="1324" name="Google Shape;1324;p100"/>
          <p:cNvSpPr txBox="1"/>
          <p:nvPr>
            <p:ph idx="1" type="body"/>
          </p:nvPr>
        </p:nvSpPr>
        <p:spPr>
          <a:xfrm>
            <a:off x="1354500" y="2443250"/>
            <a:ext cx="34212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Aisha would need 1000 grams.</a:t>
            </a:r>
            <a:endParaRPr sz="2000"/>
          </a:p>
        </p:txBody>
      </p:sp>
      <p:sp>
        <p:nvSpPr>
          <p:cNvPr id="1325" name="Google Shape;1325;p100"/>
          <p:cNvSpPr txBox="1"/>
          <p:nvPr>
            <p:ph idx="1" type="body"/>
          </p:nvPr>
        </p:nvSpPr>
        <p:spPr>
          <a:xfrm>
            <a:off x="324000" y="2819750"/>
            <a:ext cx="3117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1.1</a:t>
            </a:r>
            <a:r>
              <a:rPr lang="en-GB" sz="2000">
                <a:latin typeface="Kalam"/>
                <a:ea typeface="Kalam"/>
                <a:cs typeface="Kalam"/>
                <a:sym typeface="Kalam"/>
              </a:rPr>
              <a:t> × 3 = 3.3</a:t>
            </a:r>
            <a:r>
              <a:rPr lang="en-GB" sz="2000"/>
              <a:t> </a:t>
            </a:r>
            <a:endParaRPr sz="2000"/>
          </a:p>
        </p:txBody>
      </p:sp>
      <p:sp>
        <p:nvSpPr>
          <p:cNvPr id="1326" name="Google Shape;1326;p100"/>
          <p:cNvSpPr txBox="1"/>
          <p:nvPr>
            <p:ph idx="1" type="body"/>
          </p:nvPr>
        </p:nvSpPr>
        <p:spPr>
          <a:xfrm>
            <a:off x="324000" y="3196250"/>
            <a:ext cx="3117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1200 g for £3.30</a:t>
            </a:r>
            <a:r>
              <a:rPr lang="en-GB" sz="2000"/>
              <a:t> </a:t>
            </a:r>
            <a:endParaRPr sz="2000"/>
          </a:p>
        </p:txBody>
      </p:sp>
      <p:sp>
        <p:nvSpPr>
          <p:cNvPr id="1327" name="Google Shape;1327;p100"/>
          <p:cNvSpPr txBox="1"/>
          <p:nvPr>
            <p:ph idx="1" type="body"/>
          </p:nvPr>
        </p:nvSpPr>
        <p:spPr>
          <a:xfrm>
            <a:off x="2866425" y="2819750"/>
            <a:ext cx="1815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1.1 + 1.8 = 2.9</a:t>
            </a:r>
            <a:r>
              <a:rPr lang="en-GB" sz="2000"/>
              <a:t> </a:t>
            </a:r>
            <a:endParaRPr sz="2000"/>
          </a:p>
        </p:txBody>
      </p:sp>
      <p:sp>
        <p:nvSpPr>
          <p:cNvPr id="1328" name="Google Shape;1328;p100"/>
          <p:cNvSpPr txBox="1"/>
          <p:nvPr>
            <p:ph idx="1" type="body"/>
          </p:nvPr>
        </p:nvSpPr>
        <p:spPr>
          <a:xfrm>
            <a:off x="2884350" y="3231775"/>
            <a:ext cx="20148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1000 g for £2.90</a:t>
            </a:r>
            <a:r>
              <a:rPr lang="en-GB" sz="2000"/>
              <a:t> </a:t>
            </a:r>
            <a:endParaRPr sz="2000"/>
          </a:p>
        </p:txBody>
      </p:sp>
      <p:sp>
        <p:nvSpPr>
          <p:cNvPr id="1329" name="Google Shape;1329;p100"/>
          <p:cNvSpPr txBox="1"/>
          <p:nvPr>
            <p:ph idx="1" type="body"/>
          </p:nvPr>
        </p:nvSpPr>
        <p:spPr>
          <a:xfrm>
            <a:off x="5012250" y="2628725"/>
            <a:ext cx="38076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Buying one pack of 600 g and one pack of 400 g would be cheapest.</a:t>
            </a:r>
            <a:endParaRPr sz="2000"/>
          </a:p>
        </p:txBody>
      </p:sp>
      <p:sp>
        <p:nvSpPr>
          <p:cNvPr id="1330" name="Google Shape;1330;p100"/>
          <p:cNvSpPr txBox="1"/>
          <p:nvPr>
            <p:ph idx="1" type="body"/>
          </p:nvPr>
        </p:nvSpPr>
        <p:spPr>
          <a:xfrm>
            <a:off x="1241100" y="3838425"/>
            <a:ext cx="37371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Aisha</a:t>
            </a:r>
            <a:r>
              <a:rPr lang="en-GB" sz="2000">
                <a:latin typeface="Kalam"/>
                <a:ea typeface="Kalam"/>
                <a:cs typeface="Kalam"/>
                <a:sym typeface="Kalam"/>
              </a:rPr>
              <a:t> would need 2000 grams.</a:t>
            </a:r>
            <a:endParaRPr sz="2000"/>
          </a:p>
        </p:txBody>
      </p:sp>
      <p:sp>
        <p:nvSpPr>
          <p:cNvPr id="1331" name="Google Shape;1331;p100"/>
          <p:cNvSpPr txBox="1"/>
          <p:nvPr>
            <p:ph idx="1" type="body"/>
          </p:nvPr>
        </p:nvSpPr>
        <p:spPr>
          <a:xfrm>
            <a:off x="324000" y="4144350"/>
            <a:ext cx="84960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The 400 g pack is the best value for money and buying 5 would be exactly 2000 g so no wastage.</a:t>
            </a:r>
            <a:endParaRPr sz="2000"/>
          </a:p>
        </p:txBody>
      </p:sp>
      <p:sp>
        <p:nvSpPr>
          <p:cNvPr id="1332" name="Google Shape;1332;p100"/>
          <p:cNvSpPr txBox="1"/>
          <p:nvPr>
            <p:ph idx="1" type="body"/>
          </p:nvPr>
        </p:nvSpPr>
        <p:spPr>
          <a:xfrm>
            <a:off x="3021775" y="4480600"/>
            <a:ext cx="1584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1.1 × 5 = 5.5</a:t>
            </a:r>
            <a:r>
              <a:rPr lang="en-GB" sz="2000"/>
              <a:t> </a:t>
            </a:r>
            <a:endParaRPr sz="2000"/>
          </a:p>
        </p:txBody>
      </p:sp>
      <p:sp>
        <p:nvSpPr>
          <p:cNvPr id="1333" name="Google Shape;1333;p100"/>
          <p:cNvSpPr txBox="1"/>
          <p:nvPr>
            <p:ph idx="1" type="body"/>
          </p:nvPr>
        </p:nvSpPr>
        <p:spPr>
          <a:xfrm>
            <a:off x="4824000" y="4480600"/>
            <a:ext cx="3421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 packs of 400 g for £5.50</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101"/>
          <p:cNvSpPr txBox="1"/>
          <p:nvPr>
            <p:ph idx="1" type="body"/>
          </p:nvPr>
        </p:nvSpPr>
        <p:spPr>
          <a:xfrm>
            <a:off x="324000" y="759300"/>
            <a:ext cx="7889100" cy="72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Which of these promotions are good value for money? Explain your answer.</a:t>
            </a:r>
            <a:endParaRPr sz="2000"/>
          </a:p>
        </p:txBody>
      </p:sp>
      <p:sp>
        <p:nvSpPr>
          <p:cNvPr id="1339" name="Google Shape;1339;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340" name="Google Shape;1340;p101"/>
          <p:cNvSpPr/>
          <p:nvPr/>
        </p:nvSpPr>
        <p:spPr>
          <a:xfrm>
            <a:off x="399150" y="1620000"/>
            <a:ext cx="2571300" cy="9459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1" name="Google Shape;1341;p101"/>
          <p:cNvSpPr txBox="1"/>
          <p:nvPr>
            <p:ph idx="4294967295" type="body"/>
          </p:nvPr>
        </p:nvSpPr>
        <p:spPr>
          <a:xfrm>
            <a:off x="488500" y="1681775"/>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Pears  </a:t>
            </a:r>
            <a:endParaRPr sz="2000"/>
          </a:p>
          <a:p>
            <a:pPr indent="0" lvl="0" marL="0" rtl="0" algn="l">
              <a:lnSpc>
                <a:spcPct val="115000"/>
              </a:lnSpc>
              <a:spcBef>
                <a:spcPts val="0"/>
              </a:spcBef>
              <a:spcAft>
                <a:spcPts val="0"/>
              </a:spcAft>
              <a:buNone/>
            </a:pPr>
            <a:r>
              <a:rPr lang="en-GB" sz="2000"/>
              <a:t>39 p each</a:t>
            </a:r>
            <a:endParaRPr sz="2000"/>
          </a:p>
        </p:txBody>
      </p:sp>
      <p:sp>
        <p:nvSpPr>
          <p:cNvPr id="1342" name="Google Shape;1342;p101"/>
          <p:cNvSpPr txBox="1"/>
          <p:nvPr>
            <p:ph idx="4294967295" type="body"/>
          </p:nvPr>
        </p:nvSpPr>
        <p:spPr>
          <a:xfrm>
            <a:off x="2133225" y="1754850"/>
            <a:ext cx="749100" cy="6762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lang="en-GB" sz="2000"/>
              <a:t>3 for £1</a:t>
            </a:r>
            <a:endParaRPr sz="2000"/>
          </a:p>
        </p:txBody>
      </p:sp>
      <p:sp>
        <p:nvSpPr>
          <p:cNvPr id="1343" name="Google Shape;1343;p101"/>
          <p:cNvSpPr/>
          <p:nvPr/>
        </p:nvSpPr>
        <p:spPr>
          <a:xfrm>
            <a:off x="3354825" y="1482900"/>
            <a:ext cx="2571300" cy="11328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4" name="Google Shape;1344;p101"/>
          <p:cNvSpPr txBox="1"/>
          <p:nvPr>
            <p:ph idx="4294967295" type="body"/>
          </p:nvPr>
        </p:nvSpPr>
        <p:spPr>
          <a:xfrm>
            <a:off x="3444175" y="1544675"/>
            <a:ext cx="14652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Ice cream tubs  </a:t>
            </a:r>
            <a:endParaRPr sz="2000"/>
          </a:p>
          <a:p>
            <a:pPr indent="0" lvl="0" marL="0" rtl="0" algn="l">
              <a:lnSpc>
                <a:spcPct val="115000"/>
              </a:lnSpc>
              <a:spcBef>
                <a:spcPts val="0"/>
              </a:spcBef>
              <a:spcAft>
                <a:spcPts val="0"/>
              </a:spcAft>
              <a:buNone/>
            </a:pPr>
            <a:r>
              <a:rPr lang="en-GB" sz="2000"/>
              <a:t>£5.30 each</a:t>
            </a:r>
            <a:endParaRPr sz="2000"/>
          </a:p>
        </p:txBody>
      </p:sp>
      <p:sp>
        <p:nvSpPr>
          <p:cNvPr id="1345" name="Google Shape;1345;p101"/>
          <p:cNvSpPr txBox="1"/>
          <p:nvPr>
            <p:ph idx="4294967295" type="body"/>
          </p:nvPr>
        </p:nvSpPr>
        <p:spPr>
          <a:xfrm>
            <a:off x="4995775" y="1694050"/>
            <a:ext cx="966000" cy="620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4 for £21</a:t>
            </a:r>
            <a:endParaRPr sz="2000"/>
          </a:p>
        </p:txBody>
      </p:sp>
      <p:sp>
        <p:nvSpPr>
          <p:cNvPr id="1346" name="Google Shape;1346;p101"/>
          <p:cNvSpPr/>
          <p:nvPr/>
        </p:nvSpPr>
        <p:spPr>
          <a:xfrm>
            <a:off x="2030252" y="1625850"/>
            <a:ext cx="940200" cy="9459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7" name="Google Shape;1347;p101"/>
          <p:cNvSpPr/>
          <p:nvPr/>
        </p:nvSpPr>
        <p:spPr>
          <a:xfrm>
            <a:off x="4909375" y="1482900"/>
            <a:ext cx="1003500" cy="11328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8" name="Google Shape;1348;p101"/>
          <p:cNvSpPr txBox="1"/>
          <p:nvPr>
            <p:ph idx="1" type="body"/>
          </p:nvPr>
        </p:nvSpPr>
        <p:spPr>
          <a:xfrm>
            <a:off x="324000" y="2783850"/>
            <a:ext cx="3117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0.39 × 3 = 1.17</a:t>
            </a:r>
            <a:r>
              <a:rPr lang="en-GB" sz="2000"/>
              <a:t> </a:t>
            </a:r>
            <a:endParaRPr sz="2000"/>
          </a:p>
        </p:txBody>
      </p:sp>
      <p:sp>
        <p:nvSpPr>
          <p:cNvPr id="1349" name="Google Shape;1349;p101"/>
          <p:cNvSpPr txBox="1"/>
          <p:nvPr>
            <p:ph idx="1" type="body"/>
          </p:nvPr>
        </p:nvSpPr>
        <p:spPr>
          <a:xfrm>
            <a:off x="324000" y="3173300"/>
            <a:ext cx="3117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Save 17 p when buying 3</a:t>
            </a:r>
            <a:r>
              <a:rPr lang="en-GB" sz="2000"/>
              <a:t> </a:t>
            </a:r>
            <a:endParaRPr sz="2000"/>
          </a:p>
        </p:txBody>
      </p:sp>
      <p:sp>
        <p:nvSpPr>
          <p:cNvPr id="1350" name="Google Shape;1350;p101"/>
          <p:cNvSpPr txBox="1"/>
          <p:nvPr>
            <p:ph idx="1" type="body"/>
          </p:nvPr>
        </p:nvSpPr>
        <p:spPr>
          <a:xfrm>
            <a:off x="324000" y="3617300"/>
            <a:ext cx="28512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This seems like a reasonable saving if you will eat 3 pears before they go off. </a:t>
            </a:r>
            <a:endParaRPr sz="2000"/>
          </a:p>
        </p:txBody>
      </p:sp>
      <p:sp>
        <p:nvSpPr>
          <p:cNvPr id="1351" name="Google Shape;1351;p101"/>
          <p:cNvSpPr txBox="1"/>
          <p:nvPr>
            <p:ph idx="1" type="body"/>
          </p:nvPr>
        </p:nvSpPr>
        <p:spPr>
          <a:xfrm>
            <a:off x="6310500" y="1544675"/>
            <a:ext cx="1996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5.30 × 4 = 21.2</a:t>
            </a:r>
            <a:r>
              <a:rPr lang="en-GB" sz="2000"/>
              <a:t> </a:t>
            </a:r>
            <a:endParaRPr sz="2000"/>
          </a:p>
        </p:txBody>
      </p:sp>
      <p:sp>
        <p:nvSpPr>
          <p:cNvPr id="1352" name="Google Shape;1352;p101"/>
          <p:cNvSpPr txBox="1"/>
          <p:nvPr>
            <p:ph idx="1" type="body"/>
          </p:nvPr>
        </p:nvSpPr>
        <p:spPr>
          <a:xfrm>
            <a:off x="6310500" y="1873650"/>
            <a:ext cx="1871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Save 20 p when buying 4</a:t>
            </a:r>
            <a:r>
              <a:rPr lang="en-GB" sz="2000"/>
              <a:t> </a:t>
            </a:r>
            <a:endParaRPr sz="2000"/>
          </a:p>
        </p:txBody>
      </p:sp>
      <p:sp>
        <p:nvSpPr>
          <p:cNvPr id="1353" name="Google Shape;1353;p101"/>
          <p:cNvSpPr txBox="1"/>
          <p:nvPr>
            <p:ph idx="1" type="body"/>
          </p:nvPr>
        </p:nvSpPr>
        <p:spPr>
          <a:xfrm>
            <a:off x="3434400" y="2783850"/>
            <a:ext cx="5385600" cy="1295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Even though this is a higher saving than the pears it is on a much higher cost so as a percentage saving is less. You would also need to find space and a use for 4 tubs of ice cream. </a:t>
            </a:r>
            <a:endParaRPr sz="2000"/>
          </a:p>
        </p:txBody>
      </p:sp>
      <p:sp>
        <p:nvSpPr>
          <p:cNvPr id="1354" name="Google Shape;1354;p101"/>
          <p:cNvSpPr txBox="1"/>
          <p:nvPr>
            <p:ph idx="1" type="body"/>
          </p:nvPr>
        </p:nvSpPr>
        <p:spPr>
          <a:xfrm>
            <a:off x="3434400" y="4143100"/>
            <a:ext cx="5385600" cy="55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This does offer slightly better value for money but not necessarily a good promotion.</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102"/>
          <p:cNvSpPr txBox="1"/>
          <p:nvPr>
            <p:ph idx="1" type="body"/>
          </p:nvPr>
        </p:nvSpPr>
        <p:spPr>
          <a:xfrm>
            <a:off x="324000" y="759300"/>
            <a:ext cx="7496700" cy="67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3) Which of these promotions are good value for money? Explain your answer.</a:t>
            </a:r>
            <a:endParaRPr sz="2000"/>
          </a:p>
        </p:txBody>
      </p:sp>
      <p:sp>
        <p:nvSpPr>
          <p:cNvPr id="1360" name="Google Shape;1360;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361" name="Google Shape;1361;p102"/>
          <p:cNvSpPr/>
          <p:nvPr/>
        </p:nvSpPr>
        <p:spPr>
          <a:xfrm>
            <a:off x="6256800" y="1500150"/>
            <a:ext cx="2571300" cy="11328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2" name="Google Shape;1362;p102"/>
          <p:cNvSpPr txBox="1"/>
          <p:nvPr>
            <p:ph idx="4294967295" type="body"/>
          </p:nvPr>
        </p:nvSpPr>
        <p:spPr>
          <a:xfrm>
            <a:off x="6346150" y="1561925"/>
            <a:ext cx="16047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Veggie sausages  </a:t>
            </a:r>
            <a:endParaRPr sz="2000"/>
          </a:p>
          <a:p>
            <a:pPr indent="0" lvl="0" marL="0" rtl="0" algn="l">
              <a:lnSpc>
                <a:spcPct val="115000"/>
              </a:lnSpc>
              <a:spcBef>
                <a:spcPts val="0"/>
              </a:spcBef>
              <a:spcAft>
                <a:spcPts val="0"/>
              </a:spcAft>
              <a:buNone/>
            </a:pPr>
            <a:r>
              <a:rPr lang="en-GB" sz="2000"/>
              <a:t>£2.30 each</a:t>
            </a:r>
            <a:endParaRPr sz="2000"/>
          </a:p>
        </p:txBody>
      </p:sp>
      <p:sp>
        <p:nvSpPr>
          <p:cNvPr id="1363" name="Google Shape;1363;p102"/>
          <p:cNvSpPr txBox="1"/>
          <p:nvPr>
            <p:ph idx="4294967295" type="body"/>
          </p:nvPr>
        </p:nvSpPr>
        <p:spPr>
          <a:xfrm>
            <a:off x="7950900" y="1711200"/>
            <a:ext cx="7890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Any 3 for £7</a:t>
            </a:r>
            <a:endParaRPr sz="2000"/>
          </a:p>
        </p:txBody>
      </p:sp>
      <p:sp>
        <p:nvSpPr>
          <p:cNvPr id="1364" name="Google Shape;1364;p102"/>
          <p:cNvSpPr/>
          <p:nvPr/>
        </p:nvSpPr>
        <p:spPr>
          <a:xfrm>
            <a:off x="7875300" y="1494300"/>
            <a:ext cx="940200" cy="11328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5" name="Google Shape;1365;p102"/>
          <p:cNvSpPr txBox="1"/>
          <p:nvPr>
            <p:ph idx="1" type="body"/>
          </p:nvPr>
        </p:nvSpPr>
        <p:spPr>
          <a:xfrm>
            <a:off x="3348450" y="2783850"/>
            <a:ext cx="1996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2.30</a:t>
            </a:r>
            <a:r>
              <a:rPr lang="en-GB" sz="2000">
                <a:latin typeface="Kalam"/>
                <a:ea typeface="Kalam"/>
                <a:cs typeface="Kalam"/>
                <a:sym typeface="Kalam"/>
              </a:rPr>
              <a:t> × 3 = 6.90</a:t>
            </a:r>
            <a:r>
              <a:rPr lang="en-GB" sz="2000"/>
              <a:t> </a:t>
            </a:r>
            <a:endParaRPr sz="2000"/>
          </a:p>
        </p:txBody>
      </p:sp>
      <p:sp>
        <p:nvSpPr>
          <p:cNvPr id="1366" name="Google Shape;1366;p102"/>
          <p:cNvSpPr txBox="1"/>
          <p:nvPr>
            <p:ph idx="1" type="body"/>
          </p:nvPr>
        </p:nvSpPr>
        <p:spPr>
          <a:xfrm>
            <a:off x="3369600" y="3201325"/>
            <a:ext cx="5514300" cy="1295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The promotion is more expensive than the original price.</a:t>
            </a:r>
            <a:endParaRPr sz="2000">
              <a:latin typeface="Kalam"/>
              <a:ea typeface="Kalam"/>
              <a:cs typeface="Kalam"/>
              <a:sym typeface="Kalam"/>
            </a:endParaRPr>
          </a:p>
          <a:p>
            <a:pPr indent="0" lvl="0" marL="0" rtl="0" algn="l">
              <a:lnSpc>
                <a:spcPct val="100000"/>
              </a:lnSpc>
              <a:spcBef>
                <a:spcPts val="1000"/>
              </a:spcBef>
              <a:spcAft>
                <a:spcPts val="1000"/>
              </a:spcAft>
              <a:buNone/>
            </a:pPr>
            <a:r>
              <a:rPr lang="en-GB" sz="2000">
                <a:latin typeface="Kalam"/>
                <a:ea typeface="Kalam"/>
                <a:cs typeface="Kalam"/>
                <a:sym typeface="Kalam"/>
              </a:rPr>
              <a:t>This is </a:t>
            </a:r>
            <a:r>
              <a:rPr lang="en-GB" sz="2000">
                <a:latin typeface="Kalam"/>
                <a:ea typeface="Kalam"/>
                <a:cs typeface="Kalam"/>
                <a:sym typeface="Kalam"/>
              </a:rPr>
              <a:t>definitely</a:t>
            </a:r>
            <a:r>
              <a:rPr lang="en-GB" sz="2000">
                <a:latin typeface="Kalam"/>
                <a:ea typeface="Kalam"/>
                <a:cs typeface="Kalam"/>
                <a:sym typeface="Kalam"/>
              </a:rPr>
              <a:t> not good value for money.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 Lucas sees this promotion in a supermarket. </a:t>
            </a:r>
            <a:endParaRPr/>
          </a:p>
        </p:txBody>
      </p:sp>
      <p:sp>
        <p:nvSpPr>
          <p:cNvPr id="1372" name="Google Shape;1372;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373" name="Google Shape;1373;p103"/>
          <p:cNvSpPr/>
          <p:nvPr/>
        </p:nvSpPr>
        <p:spPr>
          <a:xfrm>
            <a:off x="636200" y="1483350"/>
            <a:ext cx="3221400" cy="1088400"/>
          </a:xfrm>
          <a:prstGeom prst="roundRect">
            <a:avLst>
              <a:gd fmla="val 16667" name="adj"/>
            </a:avLst>
          </a:prstGeom>
          <a:solidFill>
            <a:schemeClr val="lt1"/>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4" name="Google Shape;1374;p103"/>
          <p:cNvSpPr txBox="1"/>
          <p:nvPr>
            <p:ph idx="4294967295" type="body"/>
          </p:nvPr>
        </p:nvSpPr>
        <p:spPr>
          <a:xfrm>
            <a:off x="725550" y="1583925"/>
            <a:ext cx="1644600" cy="6762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GB" sz="2000"/>
              <a:t>Fizzy orange </a:t>
            </a:r>
            <a:endParaRPr sz="2000"/>
          </a:p>
          <a:p>
            <a:pPr indent="0" lvl="0" marL="0" rtl="0" algn="l">
              <a:lnSpc>
                <a:spcPct val="150000"/>
              </a:lnSpc>
              <a:spcBef>
                <a:spcPts val="0"/>
              </a:spcBef>
              <a:spcAft>
                <a:spcPts val="0"/>
              </a:spcAft>
              <a:buNone/>
            </a:pPr>
            <a:r>
              <a:rPr lang="en-GB" sz="2000"/>
              <a:t>£1.80 each</a:t>
            </a:r>
            <a:endParaRPr sz="2000"/>
          </a:p>
        </p:txBody>
      </p:sp>
      <p:sp>
        <p:nvSpPr>
          <p:cNvPr id="1375" name="Google Shape;1375;p103"/>
          <p:cNvSpPr txBox="1"/>
          <p:nvPr>
            <p:ph idx="4294967295" type="body"/>
          </p:nvPr>
        </p:nvSpPr>
        <p:spPr>
          <a:xfrm>
            <a:off x="2585775" y="1545125"/>
            <a:ext cx="1228800" cy="676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t>Buy 1 get 1 half price</a:t>
            </a:r>
            <a:endParaRPr sz="2000"/>
          </a:p>
        </p:txBody>
      </p:sp>
      <p:sp>
        <p:nvSpPr>
          <p:cNvPr id="1376" name="Google Shape;1376;p103"/>
          <p:cNvSpPr/>
          <p:nvPr/>
        </p:nvSpPr>
        <p:spPr>
          <a:xfrm>
            <a:off x="2449600" y="1483350"/>
            <a:ext cx="1407900" cy="1088400"/>
          </a:xfrm>
          <a:prstGeom prst="roundRect">
            <a:avLst>
              <a:gd fmla="val 16667" name="adj"/>
            </a:avLst>
          </a:prstGeom>
          <a:solidFill>
            <a:srgbClr val="845AD9">
              <a:alpha val="34180"/>
            </a:srgbClr>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377" name="Google Shape;1377;p103"/>
          <p:cNvPicPr preferRelativeResize="0"/>
          <p:nvPr/>
        </p:nvPicPr>
        <p:blipFill>
          <a:blip r:embed="rId3">
            <a:alphaModFix/>
          </a:blip>
          <a:stretch>
            <a:fillRect/>
          </a:stretch>
        </p:blipFill>
        <p:spPr>
          <a:xfrm flipH="1">
            <a:off x="8085606" y="2052750"/>
            <a:ext cx="585190" cy="647257"/>
          </a:xfrm>
          <a:prstGeom prst="rect">
            <a:avLst/>
          </a:prstGeom>
          <a:noFill/>
          <a:ln>
            <a:noFill/>
          </a:ln>
        </p:spPr>
      </p:pic>
      <p:grpSp>
        <p:nvGrpSpPr>
          <p:cNvPr id="1378" name="Google Shape;1378;p103"/>
          <p:cNvGrpSpPr/>
          <p:nvPr/>
        </p:nvGrpSpPr>
        <p:grpSpPr>
          <a:xfrm flipH="1">
            <a:off x="4532984" y="1336238"/>
            <a:ext cx="3662808" cy="1235637"/>
            <a:chOff x="1902381" y="1608371"/>
            <a:chExt cx="1814979" cy="1553870"/>
          </a:xfrm>
        </p:grpSpPr>
        <p:pic>
          <p:nvPicPr>
            <p:cNvPr id="1379" name="Google Shape;1379;p103"/>
            <p:cNvPicPr preferRelativeResize="0"/>
            <p:nvPr/>
          </p:nvPicPr>
          <p:blipFill rotWithShape="1">
            <a:blip r:embed="rId4">
              <a:alphaModFix/>
            </a:blip>
            <a:srcRect b="0" l="0" r="69082" t="56280"/>
            <a:stretch/>
          </p:blipFill>
          <p:spPr>
            <a:xfrm flipH="1">
              <a:off x="1902381" y="1608371"/>
              <a:ext cx="1814979" cy="1553870"/>
            </a:xfrm>
            <a:prstGeom prst="rect">
              <a:avLst/>
            </a:prstGeom>
            <a:noFill/>
            <a:ln>
              <a:noFill/>
            </a:ln>
          </p:spPr>
        </p:pic>
        <p:sp>
          <p:nvSpPr>
            <p:cNvPr id="1380" name="Google Shape;1380;p103"/>
            <p:cNvSpPr txBox="1"/>
            <p:nvPr/>
          </p:nvSpPr>
          <p:spPr>
            <a:xfrm flipH="1">
              <a:off x="2059054" y="1858586"/>
              <a:ext cx="1578900" cy="980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When I was in here last week they cost £1.30 each but there was no promotion.</a:t>
              </a:r>
              <a:endParaRPr sz="1800">
                <a:solidFill>
                  <a:srgbClr val="000000"/>
                </a:solidFill>
                <a:latin typeface="Lexend"/>
                <a:ea typeface="Lexend"/>
                <a:cs typeface="Lexend"/>
                <a:sym typeface="Lexend"/>
              </a:endParaRPr>
            </a:p>
          </p:txBody>
        </p:sp>
      </p:grpSp>
      <p:sp>
        <p:nvSpPr>
          <p:cNvPr id="1381" name="Google Shape;1381;p103"/>
          <p:cNvSpPr txBox="1"/>
          <p:nvPr>
            <p:ph idx="1" type="body"/>
          </p:nvPr>
        </p:nvSpPr>
        <p:spPr>
          <a:xfrm>
            <a:off x="324000" y="2833800"/>
            <a:ext cx="8496000" cy="462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Does this promotion offer a better deal than the price Lucas saw last week?</a:t>
            </a:r>
            <a:endParaRPr sz="2000"/>
          </a:p>
        </p:txBody>
      </p:sp>
      <p:sp>
        <p:nvSpPr>
          <p:cNvPr id="1382" name="Google Shape;1382;p103"/>
          <p:cNvSpPr txBox="1"/>
          <p:nvPr>
            <p:ph idx="1" type="body"/>
          </p:nvPr>
        </p:nvSpPr>
        <p:spPr>
          <a:xfrm>
            <a:off x="1373400" y="3166825"/>
            <a:ext cx="1996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a:t>
            </a:r>
            <a:r>
              <a:rPr lang="en-GB" sz="2000">
                <a:latin typeface="Kalam"/>
                <a:ea typeface="Kalam"/>
                <a:cs typeface="Kalam"/>
                <a:sym typeface="Kalam"/>
              </a:rPr>
              <a:t>.30 × 2 = 2.6</a:t>
            </a:r>
            <a:r>
              <a:rPr lang="en-GB" sz="2000"/>
              <a:t> </a:t>
            </a:r>
            <a:endParaRPr sz="2000"/>
          </a:p>
        </p:txBody>
      </p:sp>
      <p:sp>
        <p:nvSpPr>
          <p:cNvPr id="1383" name="Google Shape;1383;p103"/>
          <p:cNvSpPr txBox="1"/>
          <p:nvPr>
            <p:ph idx="1" type="body"/>
          </p:nvPr>
        </p:nvSpPr>
        <p:spPr>
          <a:xfrm>
            <a:off x="3139250" y="3180338"/>
            <a:ext cx="57669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At last week’s price 2 bottles would cost £2.60</a:t>
            </a:r>
            <a:r>
              <a:rPr lang="en-GB" sz="2000"/>
              <a:t> </a:t>
            </a:r>
            <a:endParaRPr sz="2000"/>
          </a:p>
        </p:txBody>
      </p:sp>
      <p:sp>
        <p:nvSpPr>
          <p:cNvPr id="1384" name="Google Shape;1384;p103"/>
          <p:cNvSpPr txBox="1"/>
          <p:nvPr>
            <p:ph idx="1" type="body"/>
          </p:nvPr>
        </p:nvSpPr>
        <p:spPr>
          <a:xfrm>
            <a:off x="324000" y="3632650"/>
            <a:ext cx="1996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1.80 + 0.9 = 2.7</a:t>
            </a:r>
            <a:r>
              <a:rPr lang="en-GB" sz="2000"/>
              <a:t> </a:t>
            </a:r>
            <a:endParaRPr sz="2000"/>
          </a:p>
        </p:txBody>
      </p:sp>
      <p:sp>
        <p:nvSpPr>
          <p:cNvPr id="1385" name="Google Shape;1385;p103"/>
          <p:cNvSpPr txBox="1"/>
          <p:nvPr>
            <p:ph idx="1" type="body"/>
          </p:nvPr>
        </p:nvSpPr>
        <p:spPr>
          <a:xfrm>
            <a:off x="2253825" y="3632650"/>
            <a:ext cx="65175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Buying one at full price and one at half price this week means 2 bottles cost £2.70</a:t>
            </a:r>
            <a:r>
              <a:rPr lang="en-GB" sz="2000"/>
              <a:t> </a:t>
            </a:r>
            <a:endParaRPr sz="2000"/>
          </a:p>
        </p:txBody>
      </p:sp>
      <p:sp>
        <p:nvSpPr>
          <p:cNvPr id="1386" name="Google Shape;1386;p103"/>
          <p:cNvSpPr txBox="1"/>
          <p:nvPr>
            <p:ph idx="1" type="body"/>
          </p:nvPr>
        </p:nvSpPr>
        <p:spPr>
          <a:xfrm>
            <a:off x="324000" y="4320000"/>
            <a:ext cx="8496000" cy="319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This promotion does not offer a saving compared to last week’s prices.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04"/>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392" name="Google Shape;1392;p104"/>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Unit pricing</a:t>
            </a:r>
            <a:endParaRPr/>
          </a:p>
        </p:txBody>
      </p:sp>
      <p:sp>
        <p:nvSpPr>
          <p:cNvPr id="1393" name="Google Shape;1393;p104"/>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advertising</a:t>
            </a:r>
            <a:endParaRPr/>
          </a:p>
        </p:txBody>
      </p:sp>
      <p:pic>
        <p:nvPicPr>
          <p:cNvPr id="1394" name="Google Shape;1394;p104"/>
          <p:cNvPicPr preferRelativeResize="0"/>
          <p:nvPr/>
        </p:nvPicPr>
        <p:blipFill>
          <a:blip r:embed="rId3">
            <a:alphaModFix/>
          </a:blip>
          <a:stretch>
            <a:fillRect/>
          </a:stretch>
        </p:blipFill>
        <p:spPr>
          <a:xfrm>
            <a:off x="416583" y="2766075"/>
            <a:ext cx="450575" cy="446750"/>
          </a:xfrm>
          <a:prstGeom prst="rect">
            <a:avLst/>
          </a:prstGeom>
          <a:noFill/>
          <a:ln>
            <a:noFill/>
          </a:ln>
        </p:spPr>
      </p:pic>
      <p:sp>
        <p:nvSpPr>
          <p:cNvPr id="1395" name="Google Shape;1395;p104"/>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adverts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10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Unit pricing</a:t>
            </a:r>
            <a:endParaRPr/>
          </a:p>
        </p:txBody>
      </p:sp>
      <p:sp>
        <p:nvSpPr>
          <p:cNvPr id="1401" name="Google Shape;1401;p105"/>
          <p:cNvSpPr txBox="1"/>
          <p:nvPr>
            <p:ph idx="1" type="body"/>
          </p:nvPr>
        </p:nvSpPr>
        <p:spPr>
          <a:xfrm>
            <a:off x="324000" y="810000"/>
            <a:ext cx="8237700" cy="40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Items in shops often have the </a:t>
            </a:r>
            <a:r>
              <a:rPr lang="en-GB" sz="1900">
                <a:solidFill>
                  <a:schemeClr val="accent5"/>
                </a:solidFill>
              </a:rPr>
              <a:t>unit pricing</a:t>
            </a:r>
            <a:r>
              <a:rPr lang="en-GB" sz="1900"/>
              <a:t> underneath. </a:t>
            </a:r>
            <a:endParaRPr sz="1900"/>
          </a:p>
        </p:txBody>
      </p:sp>
      <p:sp>
        <p:nvSpPr>
          <p:cNvPr id="1402" name="Google Shape;1402;p105"/>
          <p:cNvSpPr/>
          <p:nvPr/>
        </p:nvSpPr>
        <p:spPr>
          <a:xfrm>
            <a:off x="754275" y="1596000"/>
            <a:ext cx="2924700" cy="975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Strawberries </a:t>
            </a:r>
            <a:r>
              <a:rPr lang="en-GB" sz="1900">
                <a:solidFill>
                  <a:schemeClr val="dk1"/>
                </a:solidFill>
                <a:latin typeface="Lexend"/>
                <a:ea typeface="Lexend"/>
                <a:cs typeface="Lexend"/>
                <a:sym typeface="Lexend"/>
              </a:rPr>
              <a:t>600 g</a:t>
            </a:r>
            <a:endParaRPr sz="1900">
              <a:latin typeface="Lexend"/>
              <a:ea typeface="Lexend"/>
              <a:cs typeface="Lexend"/>
              <a:sym typeface="Lexend"/>
            </a:endParaRPr>
          </a:p>
          <a:p>
            <a:pPr indent="0" lvl="0" marL="0" rtl="0" algn="ctr">
              <a:spcBef>
                <a:spcPts val="0"/>
              </a:spcBef>
              <a:spcAft>
                <a:spcPts val="0"/>
              </a:spcAft>
              <a:buNone/>
            </a:pPr>
            <a:r>
              <a:rPr lang="en-GB" sz="2700">
                <a:latin typeface="Lexend"/>
                <a:ea typeface="Lexend"/>
                <a:cs typeface="Lexend"/>
                <a:sym typeface="Lexend"/>
              </a:rPr>
              <a:t>£3.40</a:t>
            </a:r>
            <a:endParaRPr sz="2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56.7 p per 100 g</a:t>
            </a:r>
            <a:endParaRPr sz="1700">
              <a:latin typeface="Lexend"/>
              <a:ea typeface="Lexend"/>
              <a:cs typeface="Lexend"/>
              <a:sym typeface="Lexend"/>
            </a:endParaRPr>
          </a:p>
        </p:txBody>
      </p:sp>
      <p:sp>
        <p:nvSpPr>
          <p:cNvPr id="1403" name="Google Shape;1403;p105"/>
          <p:cNvSpPr/>
          <p:nvPr/>
        </p:nvSpPr>
        <p:spPr>
          <a:xfrm>
            <a:off x="4802341" y="1596000"/>
            <a:ext cx="2924700" cy="975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Strawberries 400 g</a:t>
            </a:r>
            <a:endParaRPr sz="1900">
              <a:latin typeface="Lexend"/>
              <a:ea typeface="Lexend"/>
              <a:cs typeface="Lexend"/>
              <a:sym typeface="Lexend"/>
            </a:endParaRPr>
          </a:p>
          <a:p>
            <a:pPr indent="0" lvl="0" marL="0" rtl="0" algn="ctr">
              <a:spcBef>
                <a:spcPts val="0"/>
              </a:spcBef>
              <a:spcAft>
                <a:spcPts val="0"/>
              </a:spcAft>
              <a:buNone/>
            </a:pPr>
            <a:r>
              <a:rPr lang="en-GB" sz="2700">
                <a:latin typeface="Lexend"/>
                <a:ea typeface="Lexend"/>
                <a:cs typeface="Lexend"/>
                <a:sym typeface="Lexend"/>
              </a:rPr>
              <a:t>£2.50</a:t>
            </a:r>
            <a:endParaRPr sz="2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62.5 p per 100 g</a:t>
            </a:r>
            <a:endParaRPr sz="1700">
              <a:latin typeface="Lexend"/>
              <a:ea typeface="Lexend"/>
              <a:cs typeface="Lexend"/>
              <a:sym typeface="Lexend"/>
            </a:endParaRPr>
          </a:p>
        </p:txBody>
      </p:sp>
      <p:sp>
        <p:nvSpPr>
          <p:cNvPr id="1404" name="Google Shape;1404;p105"/>
          <p:cNvSpPr txBox="1"/>
          <p:nvPr>
            <p:ph idx="1" type="body"/>
          </p:nvPr>
        </p:nvSpPr>
        <p:spPr>
          <a:xfrm>
            <a:off x="324000" y="2695050"/>
            <a:ext cx="82377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of these is better value for money? </a:t>
            </a:r>
            <a:r>
              <a:rPr lang="en-GB" sz="1800"/>
              <a:t> </a:t>
            </a:r>
            <a:endParaRPr sz="1800"/>
          </a:p>
        </p:txBody>
      </p:sp>
      <p:sp>
        <p:nvSpPr>
          <p:cNvPr id="1405" name="Google Shape;1405;p105"/>
          <p:cNvSpPr txBox="1"/>
          <p:nvPr>
            <p:ph idx="1" type="body"/>
          </p:nvPr>
        </p:nvSpPr>
        <p:spPr>
          <a:xfrm>
            <a:off x="324000" y="3095625"/>
            <a:ext cx="8526300" cy="323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The unit pricing makes this easy, we can see the 600 g pack is cheaper per 100 g </a:t>
            </a:r>
            <a:r>
              <a:rPr lang="en-GB" sz="2000">
                <a:latin typeface="Kalam"/>
                <a:ea typeface="Kalam"/>
                <a:cs typeface="Kalam"/>
                <a:sym typeface="Kalam"/>
              </a:rPr>
              <a:t>  </a:t>
            </a:r>
            <a:endParaRPr sz="2000">
              <a:latin typeface="Kalam"/>
              <a:ea typeface="Kalam"/>
              <a:cs typeface="Kalam"/>
              <a:sym typeface="Kalam"/>
            </a:endParaRPr>
          </a:p>
        </p:txBody>
      </p:sp>
      <p:sp>
        <p:nvSpPr>
          <p:cNvPr id="1406" name="Google Shape;1406;p105"/>
          <p:cNvSpPr txBox="1"/>
          <p:nvPr>
            <p:ph idx="1" type="body"/>
          </p:nvPr>
        </p:nvSpPr>
        <p:spPr>
          <a:xfrm>
            <a:off x="324000" y="3796163"/>
            <a:ext cx="4248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Let’s check the unit pricing is correct:</a:t>
            </a:r>
            <a:r>
              <a:rPr lang="en-GB" sz="1800"/>
              <a:t>  </a:t>
            </a:r>
            <a:endParaRPr sz="1800"/>
          </a:p>
        </p:txBody>
      </p:sp>
      <p:sp>
        <p:nvSpPr>
          <p:cNvPr id="1407" name="Google Shape;1407;p105"/>
          <p:cNvSpPr txBox="1"/>
          <p:nvPr>
            <p:ph idx="1" type="body"/>
          </p:nvPr>
        </p:nvSpPr>
        <p:spPr>
          <a:xfrm>
            <a:off x="324000" y="1197500"/>
            <a:ext cx="8496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Sometimes this is a price per item or price per gram or price per 100 g </a:t>
            </a:r>
            <a:r>
              <a:rPr lang="en-GB" sz="1900"/>
              <a:t> </a:t>
            </a:r>
            <a:endParaRPr sz="1900"/>
          </a:p>
        </p:txBody>
      </p:sp>
      <p:graphicFrame>
        <p:nvGraphicFramePr>
          <p:cNvPr id="1408" name="Google Shape;1408;p105"/>
          <p:cNvGraphicFramePr/>
          <p:nvPr/>
        </p:nvGraphicFramePr>
        <p:xfrm>
          <a:off x="5275400" y="372193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600 g</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£3.40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100 g</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409" name="Google Shape;1409;p105"/>
          <p:cNvSpPr/>
          <p:nvPr/>
        </p:nvSpPr>
        <p:spPr>
          <a:xfrm>
            <a:off x="6462600" y="417907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£0.5666…</a:t>
            </a:r>
            <a:endParaRPr>
              <a:latin typeface="Lexend"/>
              <a:ea typeface="Lexend"/>
              <a:cs typeface="Lexend"/>
              <a:sym typeface="Lexend"/>
            </a:endParaRPr>
          </a:p>
        </p:txBody>
      </p:sp>
      <p:sp>
        <p:nvSpPr>
          <p:cNvPr id="1410" name="Google Shape;1410;p105"/>
          <p:cNvSpPr txBox="1"/>
          <p:nvPr>
            <p:ph idx="1" type="body"/>
          </p:nvPr>
        </p:nvSpPr>
        <p:spPr>
          <a:xfrm>
            <a:off x="324000" y="4192600"/>
            <a:ext cx="4248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has been rounded but is approximately correct.</a:t>
            </a:r>
            <a:r>
              <a:rPr lang="en-GB" sz="1800"/>
              <a:t>  </a:t>
            </a:r>
            <a:endParaRPr sz="1800"/>
          </a:p>
        </p:txBody>
      </p:sp>
      <p:grpSp>
        <p:nvGrpSpPr>
          <p:cNvPr id="1411" name="Google Shape;1411;p105"/>
          <p:cNvGrpSpPr/>
          <p:nvPr/>
        </p:nvGrpSpPr>
        <p:grpSpPr>
          <a:xfrm>
            <a:off x="4572000" y="3821575"/>
            <a:ext cx="3924000" cy="715024"/>
            <a:chOff x="4572000" y="3821575"/>
            <a:chExt cx="3924000" cy="715024"/>
          </a:xfrm>
        </p:grpSpPr>
        <p:grpSp>
          <p:nvGrpSpPr>
            <p:cNvPr id="1412" name="Google Shape;1412;p105"/>
            <p:cNvGrpSpPr/>
            <p:nvPr/>
          </p:nvGrpSpPr>
          <p:grpSpPr>
            <a:xfrm>
              <a:off x="4572000" y="4030243"/>
              <a:ext cx="3924000" cy="405900"/>
              <a:chOff x="308700" y="2632493"/>
              <a:chExt cx="3924000" cy="405900"/>
            </a:xfrm>
          </p:grpSpPr>
          <p:sp>
            <p:nvSpPr>
              <p:cNvPr id="1413" name="Google Shape;1413;p105"/>
              <p:cNvSpPr txBox="1"/>
              <p:nvPr/>
            </p:nvSpPr>
            <p:spPr>
              <a:xfrm>
                <a:off x="3087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6</a:t>
                </a:r>
                <a:endParaRPr sz="1800">
                  <a:solidFill>
                    <a:srgbClr val="000000"/>
                  </a:solidFill>
                  <a:latin typeface="Lexend"/>
                  <a:ea typeface="Lexend"/>
                  <a:cs typeface="Lexend"/>
                  <a:sym typeface="Lexend"/>
                </a:endParaRPr>
              </a:p>
            </p:txBody>
          </p:sp>
          <p:sp>
            <p:nvSpPr>
              <p:cNvPr id="1414" name="Google Shape;1414;p105"/>
              <p:cNvSpPr txBox="1"/>
              <p:nvPr/>
            </p:nvSpPr>
            <p:spPr>
              <a:xfrm>
                <a:off x="38139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6</a:t>
                </a:r>
                <a:endParaRPr sz="1800">
                  <a:solidFill>
                    <a:srgbClr val="000000"/>
                  </a:solidFill>
                  <a:latin typeface="Lexend"/>
                  <a:ea typeface="Lexend"/>
                  <a:cs typeface="Lexend"/>
                  <a:sym typeface="Lexend"/>
                </a:endParaRPr>
              </a:p>
            </p:txBody>
          </p:sp>
        </p:grpSp>
        <p:pic>
          <p:nvPicPr>
            <p:cNvPr id="1415" name="Google Shape;1415;p105"/>
            <p:cNvPicPr preferRelativeResize="0"/>
            <p:nvPr/>
          </p:nvPicPr>
          <p:blipFill rotWithShape="1">
            <a:blip r:embed="rId3">
              <a:alphaModFix/>
            </a:blip>
            <a:srcRect b="59597" l="61559" r="13951" t="27330"/>
            <a:stretch/>
          </p:blipFill>
          <p:spPr>
            <a:xfrm flipH="1" rot="-5400000">
              <a:off x="4768000" y="3986100"/>
              <a:ext cx="715024" cy="385974"/>
            </a:xfrm>
            <a:prstGeom prst="rect">
              <a:avLst/>
            </a:prstGeom>
            <a:noFill/>
            <a:ln>
              <a:noFill/>
            </a:ln>
          </p:spPr>
        </p:pic>
        <p:pic>
          <p:nvPicPr>
            <p:cNvPr id="1416" name="Google Shape;1416;p105"/>
            <p:cNvPicPr preferRelativeResize="0"/>
            <p:nvPr/>
          </p:nvPicPr>
          <p:blipFill rotWithShape="1">
            <a:blip r:embed="rId3">
              <a:alphaModFix/>
            </a:blip>
            <a:srcRect b="59597" l="61559" r="13951" t="27330"/>
            <a:stretch/>
          </p:blipFill>
          <p:spPr>
            <a:xfrm rot="5400000">
              <a:off x="7427800" y="3986100"/>
              <a:ext cx="715024" cy="38597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10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Unit pricing</a:t>
            </a:r>
            <a:endParaRPr/>
          </a:p>
        </p:txBody>
      </p:sp>
      <p:sp>
        <p:nvSpPr>
          <p:cNvPr id="1422" name="Google Shape;1422;p106"/>
          <p:cNvSpPr txBox="1"/>
          <p:nvPr>
            <p:ph idx="1" type="body"/>
          </p:nvPr>
        </p:nvSpPr>
        <p:spPr>
          <a:xfrm>
            <a:off x="324000" y="810000"/>
            <a:ext cx="8237700" cy="40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Items in shops often have the </a:t>
            </a:r>
            <a:r>
              <a:rPr lang="en-GB" sz="1900">
                <a:solidFill>
                  <a:schemeClr val="accent5"/>
                </a:solidFill>
              </a:rPr>
              <a:t>unit pricing</a:t>
            </a:r>
            <a:r>
              <a:rPr lang="en-GB" sz="1900"/>
              <a:t> underneath. </a:t>
            </a:r>
            <a:endParaRPr sz="1900"/>
          </a:p>
        </p:txBody>
      </p:sp>
      <p:sp>
        <p:nvSpPr>
          <p:cNvPr id="1423" name="Google Shape;1423;p106"/>
          <p:cNvSpPr/>
          <p:nvPr/>
        </p:nvSpPr>
        <p:spPr>
          <a:xfrm>
            <a:off x="754275" y="1596000"/>
            <a:ext cx="2924700" cy="975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Strawberries </a:t>
            </a:r>
            <a:r>
              <a:rPr lang="en-GB" sz="1900">
                <a:solidFill>
                  <a:schemeClr val="dk1"/>
                </a:solidFill>
                <a:latin typeface="Lexend"/>
                <a:ea typeface="Lexend"/>
                <a:cs typeface="Lexend"/>
                <a:sym typeface="Lexend"/>
              </a:rPr>
              <a:t>600 g</a:t>
            </a:r>
            <a:endParaRPr sz="1900">
              <a:latin typeface="Lexend"/>
              <a:ea typeface="Lexend"/>
              <a:cs typeface="Lexend"/>
              <a:sym typeface="Lexend"/>
            </a:endParaRPr>
          </a:p>
          <a:p>
            <a:pPr indent="0" lvl="0" marL="0" rtl="0" algn="ctr">
              <a:spcBef>
                <a:spcPts val="0"/>
              </a:spcBef>
              <a:spcAft>
                <a:spcPts val="0"/>
              </a:spcAft>
              <a:buNone/>
            </a:pPr>
            <a:r>
              <a:rPr lang="en-GB" sz="2700">
                <a:latin typeface="Lexend"/>
                <a:ea typeface="Lexend"/>
                <a:cs typeface="Lexend"/>
                <a:sym typeface="Lexend"/>
              </a:rPr>
              <a:t>£3.40</a:t>
            </a:r>
            <a:endParaRPr sz="2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56.7 p per 100 g</a:t>
            </a:r>
            <a:endParaRPr sz="1700">
              <a:latin typeface="Lexend"/>
              <a:ea typeface="Lexend"/>
              <a:cs typeface="Lexend"/>
              <a:sym typeface="Lexend"/>
            </a:endParaRPr>
          </a:p>
        </p:txBody>
      </p:sp>
      <p:sp>
        <p:nvSpPr>
          <p:cNvPr id="1424" name="Google Shape;1424;p106"/>
          <p:cNvSpPr/>
          <p:nvPr/>
        </p:nvSpPr>
        <p:spPr>
          <a:xfrm>
            <a:off x="4802341" y="1596000"/>
            <a:ext cx="2924700" cy="975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Strawberries 400 g</a:t>
            </a:r>
            <a:endParaRPr sz="1900">
              <a:latin typeface="Lexend"/>
              <a:ea typeface="Lexend"/>
              <a:cs typeface="Lexend"/>
              <a:sym typeface="Lexend"/>
            </a:endParaRPr>
          </a:p>
          <a:p>
            <a:pPr indent="0" lvl="0" marL="0" rtl="0" algn="ctr">
              <a:spcBef>
                <a:spcPts val="0"/>
              </a:spcBef>
              <a:spcAft>
                <a:spcPts val="0"/>
              </a:spcAft>
              <a:buNone/>
            </a:pPr>
            <a:r>
              <a:rPr lang="en-GB" sz="2700">
                <a:latin typeface="Lexend"/>
                <a:ea typeface="Lexend"/>
                <a:cs typeface="Lexend"/>
                <a:sym typeface="Lexend"/>
              </a:rPr>
              <a:t>£2.50</a:t>
            </a:r>
            <a:endParaRPr sz="2700">
              <a:latin typeface="Lexend"/>
              <a:ea typeface="Lexend"/>
              <a:cs typeface="Lexend"/>
              <a:sym typeface="Lexend"/>
            </a:endParaRPr>
          </a:p>
          <a:p>
            <a:pPr indent="0" lvl="0" marL="0" rtl="0" algn="l">
              <a:spcBef>
                <a:spcPts val="0"/>
              </a:spcBef>
              <a:spcAft>
                <a:spcPts val="0"/>
              </a:spcAft>
              <a:buNone/>
            </a:pPr>
            <a:r>
              <a:rPr lang="en-GB" sz="1700">
                <a:latin typeface="Lexend"/>
                <a:ea typeface="Lexend"/>
                <a:cs typeface="Lexend"/>
                <a:sym typeface="Lexend"/>
              </a:rPr>
              <a:t>62.5 p per 100 g</a:t>
            </a:r>
            <a:endParaRPr sz="1700">
              <a:latin typeface="Lexend"/>
              <a:ea typeface="Lexend"/>
              <a:cs typeface="Lexend"/>
              <a:sym typeface="Lexend"/>
            </a:endParaRPr>
          </a:p>
        </p:txBody>
      </p:sp>
      <p:sp>
        <p:nvSpPr>
          <p:cNvPr id="1425" name="Google Shape;1425;p106"/>
          <p:cNvSpPr txBox="1"/>
          <p:nvPr>
            <p:ph idx="1" type="body"/>
          </p:nvPr>
        </p:nvSpPr>
        <p:spPr>
          <a:xfrm>
            <a:off x="324000" y="2695050"/>
            <a:ext cx="82377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of these is better value for money?  </a:t>
            </a:r>
            <a:endParaRPr sz="1800"/>
          </a:p>
        </p:txBody>
      </p:sp>
      <p:sp>
        <p:nvSpPr>
          <p:cNvPr id="1426" name="Google Shape;1426;p106"/>
          <p:cNvSpPr txBox="1"/>
          <p:nvPr>
            <p:ph idx="1" type="body"/>
          </p:nvPr>
        </p:nvSpPr>
        <p:spPr>
          <a:xfrm>
            <a:off x="324000" y="3095625"/>
            <a:ext cx="8526300" cy="323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The unit pricing makes this easy, we can see the 600 g pack is cheaper per 100 g   </a:t>
            </a:r>
            <a:endParaRPr sz="2000">
              <a:latin typeface="Kalam"/>
              <a:ea typeface="Kalam"/>
              <a:cs typeface="Kalam"/>
              <a:sym typeface="Kalam"/>
            </a:endParaRPr>
          </a:p>
        </p:txBody>
      </p:sp>
      <p:sp>
        <p:nvSpPr>
          <p:cNvPr id="1427" name="Google Shape;1427;p106"/>
          <p:cNvSpPr txBox="1"/>
          <p:nvPr>
            <p:ph idx="1" type="body"/>
          </p:nvPr>
        </p:nvSpPr>
        <p:spPr>
          <a:xfrm>
            <a:off x="324000" y="3796163"/>
            <a:ext cx="4248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Let’s check the unit pricing is correct:  </a:t>
            </a:r>
            <a:endParaRPr sz="1800"/>
          </a:p>
        </p:txBody>
      </p:sp>
      <p:sp>
        <p:nvSpPr>
          <p:cNvPr id="1428" name="Google Shape;1428;p106"/>
          <p:cNvSpPr txBox="1"/>
          <p:nvPr>
            <p:ph idx="1" type="body"/>
          </p:nvPr>
        </p:nvSpPr>
        <p:spPr>
          <a:xfrm>
            <a:off x="324000" y="1197500"/>
            <a:ext cx="8496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Sometimes this is a price per item or price per gram or price per 100 g  </a:t>
            </a:r>
            <a:endParaRPr sz="1900"/>
          </a:p>
        </p:txBody>
      </p:sp>
      <p:graphicFrame>
        <p:nvGraphicFramePr>
          <p:cNvPr id="1429" name="Google Shape;1429;p106"/>
          <p:cNvGraphicFramePr/>
          <p:nvPr/>
        </p:nvGraphicFramePr>
        <p:xfrm>
          <a:off x="5275400" y="3721930"/>
          <a:ext cx="3000000" cy="3000000"/>
        </p:xfrm>
        <a:graphic>
          <a:graphicData uri="http://schemas.openxmlformats.org/drawingml/2006/table">
            <a:tbl>
              <a:tblPr>
                <a:noFill/>
                <a:tableStyleId>{10AFA74E-A8D8-4ED3-82F3-7211547E49B6}</a:tableStyleId>
              </a:tblPr>
              <a:tblGrid>
                <a:gridCol w="1187200"/>
                <a:gridCol w="1187200"/>
              </a:tblGrid>
              <a:tr h="381000">
                <a:tc>
                  <a:txBody>
                    <a:bodyPr/>
                    <a:lstStyle/>
                    <a:p>
                      <a:pPr indent="0" lvl="0" marL="0" rtl="0" algn="l">
                        <a:spcBef>
                          <a:spcPts val="0"/>
                        </a:spcBef>
                        <a:spcAft>
                          <a:spcPts val="0"/>
                        </a:spcAft>
                        <a:buNone/>
                      </a:pPr>
                      <a:r>
                        <a:rPr lang="en-GB" sz="1800">
                          <a:latin typeface="Lexend"/>
                          <a:ea typeface="Lexend"/>
                          <a:cs typeface="Lexend"/>
                          <a:sym typeface="Lexend"/>
                        </a:rPr>
                        <a:t>400 g</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GB" sz="1800">
                          <a:latin typeface="Lexend"/>
                          <a:ea typeface="Lexend"/>
                          <a:cs typeface="Lexend"/>
                          <a:sym typeface="Lexend"/>
                        </a:rPr>
                        <a:t>£2.50</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800">
                          <a:latin typeface="Lexend"/>
                          <a:ea typeface="Lexend"/>
                          <a:cs typeface="Lexend"/>
                          <a:sym typeface="Lexend"/>
                        </a:rPr>
                        <a:t>100 g</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430" name="Google Shape;1430;p106"/>
          <p:cNvSpPr/>
          <p:nvPr/>
        </p:nvSpPr>
        <p:spPr>
          <a:xfrm>
            <a:off x="6462600" y="4179075"/>
            <a:ext cx="11871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£0.625</a:t>
            </a:r>
            <a:endParaRPr>
              <a:latin typeface="Lexend"/>
              <a:ea typeface="Lexend"/>
              <a:cs typeface="Lexend"/>
              <a:sym typeface="Lexend"/>
            </a:endParaRPr>
          </a:p>
        </p:txBody>
      </p:sp>
      <p:sp>
        <p:nvSpPr>
          <p:cNvPr id="1431" name="Google Shape;1431;p106"/>
          <p:cNvSpPr txBox="1"/>
          <p:nvPr>
            <p:ph idx="1" type="body"/>
          </p:nvPr>
        </p:nvSpPr>
        <p:spPr>
          <a:xfrm>
            <a:off x="324000" y="4272450"/>
            <a:ext cx="4248000" cy="32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Unit pricing is correct.  </a:t>
            </a:r>
            <a:endParaRPr sz="1800"/>
          </a:p>
        </p:txBody>
      </p:sp>
      <p:grpSp>
        <p:nvGrpSpPr>
          <p:cNvPr id="1432" name="Google Shape;1432;p106"/>
          <p:cNvGrpSpPr/>
          <p:nvPr/>
        </p:nvGrpSpPr>
        <p:grpSpPr>
          <a:xfrm>
            <a:off x="4572000" y="3821575"/>
            <a:ext cx="3924000" cy="715024"/>
            <a:chOff x="4572000" y="3821575"/>
            <a:chExt cx="3924000" cy="715024"/>
          </a:xfrm>
        </p:grpSpPr>
        <p:grpSp>
          <p:nvGrpSpPr>
            <p:cNvPr id="1433" name="Google Shape;1433;p106"/>
            <p:cNvGrpSpPr/>
            <p:nvPr/>
          </p:nvGrpSpPr>
          <p:grpSpPr>
            <a:xfrm>
              <a:off x="4572000" y="4030243"/>
              <a:ext cx="3924000" cy="405900"/>
              <a:chOff x="308700" y="2632493"/>
              <a:chExt cx="3924000" cy="405900"/>
            </a:xfrm>
          </p:grpSpPr>
          <p:sp>
            <p:nvSpPr>
              <p:cNvPr id="1434" name="Google Shape;1434;p106"/>
              <p:cNvSpPr txBox="1"/>
              <p:nvPr/>
            </p:nvSpPr>
            <p:spPr>
              <a:xfrm>
                <a:off x="3087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4</a:t>
                </a:r>
                <a:endParaRPr sz="1800">
                  <a:solidFill>
                    <a:srgbClr val="000000"/>
                  </a:solidFill>
                  <a:latin typeface="Lexend"/>
                  <a:ea typeface="Lexend"/>
                  <a:cs typeface="Lexend"/>
                  <a:sym typeface="Lexend"/>
                </a:endParaRPr>
              </a:p>
            </p:txBody>
          </p:sp>
          <p:sp>
            <p:nvSpPr>
              <p:cNvPr id="1435" name="Google Shape;1435;p106"/>
              <p:cNvSpPr txBox="1"/>
              <p:nvPr/>
            </p:nvSpPr>
            <p:spPr>
              <a:xfrm>
                <a:off x="3813900" y="2632493"/>
                <a:ext cx="4188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4</a:t>
                </a:r>
                <a:endParaRPr sz="1800">
                  <a:solidFill>
                    <a:srgbClr val="000000"/>
                  </a:solidFill>
                  <a:latin typeface="Lexend"/>
                  <a:ea typeface="Lexend"/>
                  <a:cs typeface="Lexend"/>
                  <a:sym typeface="Lexend"/>
                </a:endParaRPr>
              </a:p>
            </p:txBody>
          </p:sp>
        </p:grpSp>
        <p:pic>
          <p:nvPicPr>
            <p:cNvPr id="1436" name="Google Shape;1436;p106"/>
            <p:cNvPicPr preferRelativeResize="0"/>
            <p:nvPr/>
          </p:nvPicPr>
          <p:blipFill rotWithShape="1">
            <a:blip r:embed="rId3">
              <a:alphaModFix/>
            </a:blip>
            <a:srcRect b="59597" l="61559" r="13951" t="27330"/>
            <a:stretch/>
          </p:blipFill>
          <p:spPr>
            <a:xfrm flipH="1" rot="-5400000">
              <a:off x="4768000" y="3986100"/>
              <a:ext cx="715024" cy="385974"/>
            </a:xfrm>
            <a:prstGeom prst="rect">
              <a:avLst/>
            </a:prstGeom>
            <a:noFill/>
            <a:ln>
              <a:noFill/>
            </a:ln>
          </p:spPr>
        </p:pic>
        <p:pic>
          <p:nvPicPr>
            <p:cNvPr id="1437" name="Google Shape;1437;p106"/>
            <p:cNvPicPr preferRelativeResize="0"/>
            <p:nvPr/>
          </p:nvPicPr>
          <p:blipFill rotWithShape="1">
            <a:blip r:embed="rId3">
              <a:alphaModFix/>
            </a:blip>
            <a:srcRect b="59597" l="61559" r="13951" t="27330"/>
            <a:stretch/>
          </p:blipFill>
          <p:spPr>
            <a:xfrm rot="5400000">
              <a:off x="7427800" y="3986100"/>
              <a:ext cx="715024" cy="385974"/>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0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Unit pricing</a:t>
            </a:r>
            <a:endParaRPr/>
          </a:p>
        </p:txBody>
      </p:sp>
      <p:sp>
        <p:nvSpPr>
          <p:cNvPr id="1443" name="Google Shape;1443;p107"/>
          <p:cNvSpPr/>
          <p:nvPr/>
        </p:nvSpPr>
        <p:spPr>
          <a:xfrm>
            <a:off x="558375" y="1217100"/>
            <a:ext cx="30279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5 pk of chocolate bars</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£2.15</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0.4 p each</a:t>
            </a:r>
            <a:endParaRPr sz="1600">
              <a:latin typeface="Lexend"/>
              <a:ea typeface="Lexend"/>
              <a:cs typeface="Lexend"/>
              <a:sym typeface="Lexend"/>
            </a:endParaRPr>
          </a:p>
        </p:txBody>
      </p:sp>
      <p:sp>
        <p:nvSpPr>
          <p:cNvPr id="1444" name="Google Shape;1444;p107"/>
          <p:cNvSpPr/>
          <p:nvPr/>
        </p:nvSpPr>
        <p:spPr>
          <a:xfrm>
            <a:off x="4749375" y="1217100"/>
            <a:ext cx="30279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4 pk of chocolate bars</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£1.75</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0.4 p each</a:t>
            </a:r>
            <a:endParaRPr sz="1600">
              <a:latin typeface="Lexend"/>
              <a:ea typeface="Lexend"/>
              <a:cs typeface="Lexend"/>
              <a:sym typeface="Lexend"/>
            </a:endParaRPr>
          </a:p>
        </p:txBody>
      </p:sp>
      <p:sp>
        <p:nvSpPr>
          <p:cNvPr id="1445" name="Google Shape;1445;p107"/>
          <p:cNvSpPr txBox="1"/>
          <p:nvPr>
            <p:ph idx="1" type="body"/>
          </p:nvPr>
        </p:nvSpPr>
        <p:spPr>
          <a:xfrm>
            <a:off x="324000" y="810000"/>
            <a:ext cx="8237700" cy="40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What is wrong with the unit pricing for these chocolate bars? </a:t>
            </a:r>
            <a:r>
              <a:rPr lang="en-GB" sz="1900"/>
              <a:t> </a:t>
            </a:r>
            <a:endParaRPr sz="1900"/>
          </a:p>
        </p:txBody>
      </p:sp>
      <p:sp>
        <p:nvSpPr>
          <p:cNvPr id="1446" name="Google Shape;1446;p107"/>
          <p:cNvSpPr txBox="1"/>
          <p:nvPr>
            <p:ph idx="1" type="body"/>
          </p:nvPr>
        </p:nvSpPr>
        <p:spPr>
          <a:xfrm>
            <a:off x="324000" y="2368200"/>
            <a:ext cx="8237700" cy="40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900"/>
              <a:t>Firstly, the units are wrong. Without doing any calculations we know that each chocolate bar cannot be less than half a pence!</a:t>
            </a:r>
            <a:r>
              <a:rPr lang="en-GB" sz="1900"/>
              <a:t>  </a:t>
            </a:r>
            <a:endParaRPr sz="1900"/>
          </a:p>
        </p:txBody>
      </p:sp>
      <p:sp>
        <p:nvSpPr>
          <p:cNvPr id="1447" name="Google Shape;1447;p107"/>
          <p:cNvSpPr txBox="1"/>
          <p:nvPr>
            <p:ph idx="4294967295" type="body"/>
          </p:nvPr>
        </p:nvSpPr>
        <p:spPr>
          <a:xfrm>
            <a:off x="324000" y="3047700"/>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2.15</a:t>
            </a:r>
            <a:r>
              <a:rPr lang="en-GB" sz="2000">
                <a:latin typeface="Kalam"/>
                <a:ea typeface="Kalam"/>
                <a:cs typeface="Kalam"/>
                <a:sym typeface="Kalam"/>
              </a:rPr>
              <a:t> ÷ 5 = 0.43</a:t>
            </a:r>
            <a:r>
              <a:rPr lang="en-GB" sz="2000"/>
              <a:t> </a:t>
            </a:r>
            <a:endParaRPr sz="2000"/>
          </a:p>
        </p:txBody>
      </p:sp>
      <p:sp>
        <p:nvSpPr>
          <p:cNvPr id="1448" name="Google Shape;1448;p107"/>
          <p:cNvSpPr txBox="1"/>
          <p:nvPr>
            <p:ph idx="4294967295" type="body"/>
          </p:nvPr>
        </p:nvSpPr>
        <p:spPr>
          <a:xfrm>
            <a:off x="2887200" y="3047700"/>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1.75</a:t>
            </a:r>
            <a:r>
              <a:rPr lang="en-GB" sz="2000">
                <a:latin typeface="Kalam"/>
                <a:ea typeface="Kalam"/>
                <a:cs typeface="Kalam"/>
                <a:sym typeface="Kalam"/>
              </a:rPr>
              <a:t> ÷ 4 = 0.4375</a:t>
            </a:r>
            <a:r>
              <a:rPr lang="en-GB" sz="2000"/>
              <a:t> </a:t>
            </a:r>
            <a:endParaRPr sz="2000"/>
          </a:p>
        </p:txBody>
      </p:sp>
      <p:sp>
        <p:nvSpPr>
          <p:cNvPr id="1449" name="Google Shape;1449;p107"/>
          <p:cNvSpPr txBox="1"/>
          <p:nvPr>
            <p:ph idx="4294967295" type="body"/>
          </p:nvPr>
        </p:nvSpPr>
        <p:spPr>
          <a:xfrm>
            <a:off x="324000" y="3549275"/>
            <a:ext cx="84960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The values have also been rounded. We can see the 5 pk is better value for money but when rounded to the nearest 10 pence they look the same.</a:t>
            </a:r>
            <a:endParaRPr sz="1800"/>
          </a:p>
        </p:txBody>
      </p:sp>
      <p:sp>
        <p:nvSpPr>
          <p:cNvPr id="1450" name="Google Shape;1450;p107"/>
          <p:cNvSpPr txBox="1"/>
          <p:nvPr>
            <p:ph idx="4294967295" type="body"/>
          </p:nvPr>
        </p:nvSpPr>
        <p:spPr>
          <a:xfrm>
            <a:off x="605725" y="1936386"/>
            <a:ext cx="2226300" cy="2595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1000"/>
              </a:spcAft>
              <a:buNone/>
            </a:pPr>
            <a:r>
              <a:rPr lang="en-GB" sz="1600"/>
              <a:t>43 p each</a:t>
            </a:r>
            <a:r>
              <a:rPr lang="en-GB" sz="1600"/>
              <a:t> </a:t>
            </a:r>
            <a:endParaRPr sz="1600"/>
          </a:p>
        </p:txBody>
      </p:sp>
      <p:sp>
        <p:nvSpPr>
          <p:cNvPr id="1451" name="Google Shape;1451;p107"/>
          <p:cNvSpPr txBox="1"/>
          <p:nvPr>
            <p:ph idx="4294967295" type="body"/>
          </p:nvPr>
        </p:nvSpPr>
        <p:spPr>
          <a:xfrm>
            <a:off x="4824000" y="1905606"/>
            <a:ext cx="2226300" cy="259500"/>
          </a:xfrm>
          <a:prstGeom prst="rect">
            <a:avLst/>
          </a:prstGeom>
          <a:solidFill>
            <a:schemeClr val="lt1"/>
          </a:solidFill>
          <a:ln>
            <a:noFill/>
          </a:ln>
        </p:spPr>
        <p:txBody>
          <a:bodyPr anchorCtr="0" anchor="t" bIns="0" lIns="0" spcFirstLastPara="1" rIns="0" wrap="square" tIns="0">
            <a:noAutofit/>
          </a:bodyPr>
          <a:lstStyle/>
          <a:p>
            <a:pPr indent="0" lvl="0" marL="0" rtl="0" algn="l">
              <a:spcBef>
                <a:spcPts val="0"/>
              </a:spcBef>
              <a:spcAft>
                <a:spcPts val="1000"/>
              </a:spcAft>
              <a:buNone/>
            </a:pPr>
            <a:r>
              <a:rPr lang="en-GB" sz="1600"/>
              <a:t>43.8 p each </a:t>
            </a:r>
            <a:endParaRPr sz="1600"/>
          </a:p>
        </p:txBody>
      </p:sp>
      <p:sp>
        <p:nvSpPr>
          <p:cNvPr id="1452" name="Google Shape;1452;p107"/>
          <p:cNvSpPr txBox="1"/>
          <p:nvPr>
            <p:ph idx="4294967295" type="body"/>
          </p:nvPr>
        </p:nvSpPr>
        <p:spPr>
          <a:xfrm>
            <a:off x="324000" y="4235075"/>
            <a:ext cx="8496000" cy="549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800"/>
              <a:t>Now these are easier to compare, although notice that the 5 pk saves you less that a pence per chocolate bar so may not be worth it.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10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Unit pricing</a:t>
            </a:r>
            <a:endParaRPr/>
          </a:p>
        </p:txBody>
      </p:sp>
      <p:sp>
        <p:nvSpPr>
          <p:cNvPr id="1458" name="Google Shape;1458;p108"/>
          <p:cNvSpPr/>
          <p:nvPr/>
        </p:nvSpPr>
        <p:spPr>
          <a:xfrm>
            <a:off x="558375" y="1217100"/>
            <a:ext cx="32562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Multipack crisps 6 pk × 30g</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£1.35</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0.8 p each</a:t>
            </a:r>
            <a:endParaRPr sz="1600">
              <a:latin typeface="Lexend"/>
              <a:ea typeface="Lexend"/>
              <a:cs typeface="Lexend"/>
              <a:sym typeface="Lexend"/>
            </a:endParaRPr>
          </a:p>
        </p:txBody>
      </p:sp>
      <p:sp>
        <p:nvSpPr>
          <p:cNvPr id="1459" name="Google Shape;1459;p108"/>
          <p:cNvSpPr txBox="1"/>
          <p:nvPr/>
        </p:nvSpPr>
        <p:spPr>
          <a:xfrm flipH="1">
            <a:off x="7800634" y="1426037"/>
            <a:ext cx="1060200" cy="399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grpSp>
        <p:nvGrpSpPr>
          <p:cNvPr id="1460" name="Google Shape;1460;p108"/>
          <p:cNvGrpSpPr/>
          <p:nvPr/>
        </p:nvGrpSpPr>
        <p:grpSpPr>
          <a:xfrm flipH="1">
            <a:off x="4705500" y="725450"/>
            <a:ext cx="3160601" cy="1767199"/>
            <a:chOff x="1819757" y="1608381"/>
            <a:chExt cx="2257894" cy="1553855"/>
          </a:xfrm>
        </p:grpSpPr>
        <p:pic>
          <p:nvPicPr>
            <p:cNvPr id="1461" name="Google Shape;1461;p108"/>
            <p:cNvPicPr preferRelativeResize="0"/>
            <p:nvPr/>
          </p:nvPicPr>
          <p:blipFill rotWithShape="1">
            <a:blip r:embed="rId3">
              <a:alphaModFix/>
            </a:blip>
            <a:srcRect b="0" l="0" r="69082" t="56280"/>
            <a:stretch/>
          </p:blipFill>
          <p:spPr>
            <a:xfrm flipH="1">
              <a:off x="1819757" y="1608381"/>
              <a:ext cx="2257894" cy="1553855"/>
            </a:xfrm>
            <a:prstGeom prst="rect">
              <a:avLst/>
            </a:prstGeom>
            <a:noFill/>
            <a:ln>
              <a:noFill/>
            </a:ln>
          </p:spPr>
        </p:pic>
        <p:sp>
          <p:nvSpPr>
            <p:cNvPr id="1462" name="Google Shape;1462;p108"/>
            <p:cNvSpPr txBox="1"/>
            <p:nvPr/>
          </p:nvSpPr>
          <p:spPr>
            <a:xfrm flipH="1">
              <a:off x="1994175" y="1783884"/>
              <a:ext cx="1969800" cy="1086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I saw this label the other day. I don’t understand what the ‘0.8 p each’ is </a:t>
              </a:r>
              <a:r>
                <a:rPr lang="en-GB" sz="1800">
                  <a:latin typeface="Lexend"/>
                  <a:ea typeface="Lexend"/>
                  <a:cs typeface="Lexend"/>
                  <a:sym typeface="Lexend"/>
                </a:rPr>
                <a:t>referring</a:t>
              </a:r>
              <a:r>
                <a:rPr lang="en-GB" sz="1800">
                  <a:latin typeface="Lexend"/>
                  <a:ea typeface="Lexend"/>
                  <a:cs typeface="Lexend"/>
                  <a:sym typeface="Lexend"/>
                </a:rPr>
                <a:t> to.</a:t>
              </a:r>
              <a:endParaRPr sz="1800">
                <a:solidFill>
                  <a:srgbClr val="000000"/>
                </a:solidFill>
                <a:latin typeface="Lexend"/>
                <a:ea typeface="Lexend"/>
                <a:cs typeface="Lexend"/>
                <a:sym typeface="Lexend"/>
              </a:endParaRPr>
            </a:p>
          </p:txBody>
        </p:sp>
      </p:grpSp>
      <p:pic>
        <p:nvPicPr>
          <p:cNvPr id="1463" name="Google Shape;1463;p108"/>
          <p:cNvPicPr preferRelativeResize="0"/>
          <p:nvPr/>
        </p:nvPicPr>
        <p:blipFill>
          <a:blip r:embed="rId4">
            <a:alphaModFix/>
          </a:blip>
          <a:stretch>
            <a:fillRect/>
          </a:stretch>
        </p:blipFill>
        <p:spPr>
          <a:xfrm flipH="1">
            <a:off x="7715137" y="1917275"/>
            <a:ext cx="547399" cy="716926"/>
          </a:xfrm>
          <a:prstGeom prst="rect">
            <a:avLst/>
          </a:prstGeom>
          <a:noFill/>
          <a:ln>
            <a:noFill/>
          </a:ln>
        </p:spPr>
      </p:pic>
      <p:grpSp>
        <p:nvGrpSpPr>
          <p:cNvPr id="1464" name="Google Shape;1464;p108"/>
          <p:cNvGrpSpPr/>
          <p:nvPr/>
        </p:nvGrpSpPr>
        <p:grpSpPr>
          <a:xfrm>
            <a:off x="238350" y="2394225"/>
            <a:ext cx="3094875" cy="2304046"/>
            <a:chOff x="238350" y="2394225"/>
            <a:chExt cx="3094875" cy="2304046"/>
          </a:xfrm>
        </p:grpSpPr>
        <p:sp>
          <p:nvSpPr>
            <p:cNvPr id="1465" name="Google Shape;1465;p108"/>
            <p:cNvSpPr txBox="1"/>
            <p:nvPr/>
          </p:nvSpPr>
          <p:spPr>
            <a:xfrm>
              <a:off x="238350" y="4274671"/>
              <a:ext cx="1147200" cy="4236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pic>
          <p:nvPicPr>
            <p:cNvPr id="1466" name="Google Shape;1466;p108"/>
            <p:cNvPicPr preferRelativeResize="0"/>
            <p:nvPr/>
          </p:nvPicPr>
          <p:blipFill>
            <a:blip r:embed="rId5">
              <a:alphaModFix/>
            </a:blip>
            <a:stretch>
              <a:fillRect/>
            </a:stretch>
          </p:blipFill>
          <p:spPr>
            <a:xfrm>
              <a:off x="519342" y="3579575"/>
              <a:ext cx="585190" cy="647257"/>
            </a:xfrm>
            <a:prstGeom prst="rect">
              <a:avLst/>
            </a:prstGeom>
            <a:noFill/>
            <a:ln>
              <a:noFill/>
            </a:ln>
          </p:spPr>
        </p:pic>
        <p:grpSp>
          <p:nvGrpSpPr>
            <p:cNvPr id="1467" name="Google Shape;1467;p108"/>
            <p:cNvGrpSpPr/>
            <p:nvPr/>
          </p:nvGrpSpPr>
          <p:grpSpPr>
            <a:xfrm>
              <a:off x="878651" y="2394225"/>
              <a:ext cx="2454574" cy="1447274"/>
              <a:chOff x="1788376" y="1608372"/>
              <a:chExt cx="2004879" cy="1553870"/>
            </a:xfrm>
          </p:grpSpPr>
          <p:pic>
            <p:nvPicPr>
              <p:cNvPr id="1468" name="Google Shape;1468;p108"/>
              <p:cNvPicPr preferRelativeResize="0"/>
              <p:nvPr/>
            </p:nvPicPr>
            <p:blipFill rotWithShape="1">
              <a:blip r:embed="rId3">
                <a:alphaModFix/>
              </a:blip>
              <a:srcRect b="0" l="0" r="69082" t="56280"/>
              <a:stretch/>
            </p:blipFill>
            <p:spPr>
              <a:xfrm flipH="1">
                <a:off x="1788376" y="1608372"/>
                <a:ext cx="2004879" cy="1553870"/>
              </a:xfrm>
              <a:prstGeom prst="rect">
                <a:avLst/>
              </a:prstGeom>
              <a:noFill/>
              <a:ln>
                <a:noFill/>
              </a:ln>
            </p:spPr>
          </p:pic>
          <p:sp>
            <p:nvSpPr>
              <p:cNvPr id="1469" name="Google Shape;1469;p108"/>
              <p:cNvSpPr txBox="1"/>
              <p:nvPr/>
            </p:nvSpPr>
            <p:spPr>
              <a:xfrm flipH="1">
                <a:off x="1963603" y="1853057"/>
                <a:ext cx="1722000" cy="1057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It’s probably price per bag as this is a 6 pk of crisps.</a:t>
                </a:r>
                <a:endParaRPr sz="1800">
                  <a:solidFill>
                    <a:srgbClr val="000000"/>
                  </a:solidFill>
                  <a:latin typeface="Lexend"/>
                  <a:ea typeface="Lexend"/>
                  <a:cs typeface="Lexend"/>
                  <a:sym typeface="Lexend"/>
                </a:endParaRPr>
              </a:p>
            </p:txBody>
          </p:sp>
        </p:grpSp>
      </p:grpSp>
      <p:sp>
        <p:nvSpPr>
          <p:cNvPr id="1470" name="Google Shape;1470;p108"/>
          <p:cNvSpPr txBox="1"/>
          <p:nvPr>
            <p:ph idx="1" type="body"/>
          </p:nvPr>
        </p:nvSpPr>
        <p:spPr>
          <a:xfrm>
            <a:off x="3369600" y="2571750"/>
            <a:ext cx="2829900" cy="40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900"/>
              <a:t>Is Lucas correct?</a:t>
            </a:r>
            <a:endParaRPr sz="1900"/>
          </a:p>
        </p:txBody>
      </p:sp>
      <p:sp>
        <p:nvSpPr>
          <p:cNvPr id="1471" name="Google Shape;1471;p108"/>
          <p:cNvSpPr txBox="1"/>
          <p:nvPr>
            <p:ph idx="1" type="body"/>
          </p:nvPr>
        </p:nvSpPr>
        <p:spPr>
          <a:xfrm>
            <a:off x="3369600" y="2978850"/>
            <a:ext cx="5450400" cy="40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Without calculating we can see this is not a sensible price for a bag of crisps. </a:t>
            </a:r>
            <a:endParaRPr sz="2000">
              <a:latin typeface="Kalam"/>
              <a:ea typeface="Kalam"/>
              <a:cs typeface="Kalam"/>
              <a:sym typeface="Kalam"/>
            </a:endParaRPr>
          </a:p>
        </p:txBody>
      </p:sp>
      <p:grpSp>
        <p:nvGrpSpPr>
          <p:cNvPr id="1472" name="Google Shape;1472;p108"/>
          <p:cNvGrpSpPr/>
          <p:nvPr/>
        </p:nvGrpSpPr>
        <p:grpSpPr>
          <a:xfrm flipH="1" rot="10800000">
            <a:off x="1104531" y="3945247"/>
            <a:ext cx="3572057" cy="918026"/>
            <a:chOff x="1902378" y="1608372"/>
            <a:chExt cx="1890877" cy="1553870"/>
          </a:xfrm>
        </p:grpSpPr>
        <p:pic>
          <p:nvPicPr>
            <p:cNvPr id="1473" name="Google Shape;1473;p108"/>
            <p:cNvPicPr preferRelativeResize="0"/>
            <p:nvPr/>
          </p:nvPicPr>
          <p:blipFill rotWithShape="1">
            <a:blip r:embed="rId3">
              <a:alphaModFix/>
            </a:blip>
            <a:srcRect b="0" l="0" r="69082" t="56280"/>
            <a:stretch/>
          </p:blipFill>
          <p:spPr>
            <a:xfrm flipH="1">
              <a:off x="1902378" y="1608372"/>
              <a:ext cx="1890877" cy="1553870"/>
            </a:xfrm>
            <a:prstGeom prst="rect">
              <a:avLst/>
            </a:prstGeom>
            <a:noFill/>
            <a:ln>
              <a:noFill/>
            </a:ln>
          </p:spPr>
        </p:pic>
        <p:sp>
          <p:nvSpPr>
            <p:cNvPr id="1474" name="Google Shape;1474;p108"/>
            <p:cNvSpPr txBox="1"/>
            <p:nvPr/>
          </p:nvSpPr>
          <p:spPr>
            <a:xfrm rot="10800000">
              <a:off x="2025828" y="1783843"/>
              <a:ext cx="1665600" cy="1095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Maybe they got the units wrong and it’s £0.8 per bag?</a:t>
              </a:r>
              <a:endParaRPr sz="1800">
                <a:solidFill>
                  <a:srgbClr val="000000"/>
                </a:solidFill>
                <a:latin typeface="Lexend"/>
                <a:ea typeface="Lexend"/>
                <a:cs typeface="Lexend"/>
                <a:sym typeface="Lexend"/>
              </a:endParaRPr>
            </a:p>
          </p:txBody>
        </p:sp>
      </p:grpSp>
      <p:sp>
        <p:nvSpPr>
          <p:cNvPr id="1475" name="Google Shape;1475;p108"/>
          <p:cNvSpPr txBox="1"/>
          <p:nvPr>
            <p:ph idx="4294967295" type="body"/>
          </p:nvPr>
        </p:nvSpPr>
        <p:spPr>
          <a:xfrm>
            <a:off x="4856875" y="3872150"/>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1.35</a:t>
            </a:r>
            <a:r>
              <a:rPr lang="en-GB" sz="2000">
                <a:latin typeface="Kalam"/>
                <a:ea typeface="Kalam"/>
                <a:cs typeface="Kalam"/>
                <a:sym typeface="Kalam"/>
              </a:rPr>
              <a:t> ÷ 6 = 0.225</a:t>
            </a:r>
            <a:r>
              <a:rPr lang="en-GB" sz="2000"/>
              <a:t> </a:t>
            </a:r>
            <a:endParaRPr sz="2000"/>
          </a:p>
        </p:txBody>
      </p:sp>
      <p:sp>
        <p:nvSpPr>
          <p:cNvPr id="1476" name="Google Shape;1476;p108"/>
          <p:cNvSpPr txBox="1"/>
          <p:nvPr>
            <p:ph idx="1" type="body"/>
          </p:nvPr>
        </p:nvSpPr>
        <p:spPr>
          <a:xfrm>
            <a:off x="4705500" y="4282625"/>
            <a:ext cx="42093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No, </a:t>
            </a:r>
            <a:r>
              <a:rPr lang="en-GB" sz="2000">
                <a:latin typeface="Kalam"/>
                <a:ea typeface="Kalam"/>
                <a:cs typeface="Kalam"/>
                <a:sym typeface="Kalam"/>
              </a:rPr>
              <a:t>it is</a:t>
            </a:r>
            <a:r>
              <a:rPr lang="en-GB" sz="2000">
                <a:latin typeface="Kalam"/>
                <a:ea typeface="Kalam"/>
                <a:cs typeface="Kalam"/>
                <a:sym typeface="Kalam"/>
              </a:rPr>
              <a:t> not £0.8 per bag.</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10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Unit pricing</a:t>
            </a:r>
            <a:endParaRPr/>
          </a:p>
        </p:txBody>
      </p:sp>
      <p:sp>
        <p:nvSpPr>
          <p:cNvPr id="1482" name="Google Shape;1482;p109"/>
          <p:cNvSpPr/>
          <p:nvPr/>
        </p:nvSpPr>
        <p:spPr>
          <a:xfrm>
            <a:off x="558375" y="1217100"/>
            <a:ext cx="32562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Multipack crisps 6 pk × 30g</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£1.35</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0.8 p each</a:t>
            </a:r>
            <a:endParaRPr sz="1600">
              <a:latin typeface="Lexend"/>
              <a:ea typeface="Lexend"/>
              <a:cs typeface="Lexend"/>
              <a:sym typeface="Lexend"/>
            </a:endParaRPr>
          </a:p>
        </p:txBody>
      </p:sp>
      <p:sp>
        <p:nvSpPr>
          <p:cNvPr id="1483" name="Google Shape;1483;p109"/>
          <p:cNvSpPr txBox="1"/>
          <p:nvPr>
            <p:ph idx="1" type="body"/>
          </p:nvPr>
        </p:nvSpPr>
        <p:spPr>
          <a:xfrm>
            <a:off x="3893550" y="1217100"/>
            <a:ext cx="4926300" cy="407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900"/>
              <a:t>Can you see what the 0.8 p is </a:t>
            </a:r>
            <a:r>
              <a:rPr lang="en-GB" sz="1900"/>
              <a:t>referring</a:t>
            </a:r>
            <a:r>
              <a:rPr lang="en-GB" sz="1900"/>
              <a:t> to</a:t>
            </a:r>
            <a:r>
              <a:rPr lang="en-GB" sz="1900"/>
              <a:t>?</a:t>
            </a:r>
            <a:endParaRPr sz="1900"/>
          </a:p>
        </p:txBody>
      </p:sp>
      <p:sp>
        <p:nvSpPr>
          <p:cNvPr id="1484" name="Google Shape;1484;p109"/>
          <p:cNvSpPr/>
          <p:nvPr/>
        </p:nvSpPr>
        <p:spPr>
          <a:xfrm>
            <a:off x="2535825" y="1228400"/>
            <a:ext cx="1221300" cy="344700"/>
          </a:xfrm>
          <a:prstGeom prst="roundRect">
            <a:avLst>
              <a:gd fmla="val 16667" name="adj"/>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85" name="Google Shape;1485;p109"/>
          <p:cNvGrpSpPr/>
          <p:nvPr/>
        </p:nvGrpSpPr>
        <p:grpSpPr>
          <a:xfrm>
            <a:off x="229900" y="2333013"/>
            <a:ext cx="4050826" cy="1813963"/>
            <a:chOff x="229900" y="2333013"/>
            <a:chExt cx="4050826" cy="1813963"/>
          </a:xfrm>
        </p:grpSpPr>
        <p:sp>
          <p:nvSpPr>
            <p:cNvPr id="1486" name="Google Shape;1486;p109"/>
            <p:cNvSpPr txBox="1"/>
            <p:nvPr/>
          </p:nvSpPr>
          <p:spPr>
            <a:xfrm>
              <a:off x="229900" y="2938812"/>
              <a:ext cx="1060200" cy="399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b="1" sz="1800">
                <a:latin typeface="Lexend"/>
                <a:ea typeface="Lexend"/>
                <a:cs typeface="Lexend"/>
                <a:sym typeface="Lexend"/>
              </a:endParaRPr>
            </a:p>
          </p:txBody>
        </p:sp>
        <p:grpSp>
          <p:nvGrpSpPr>
            <p:cNvPr id="1487" name="Google Shape;1487;p109"/>
            <p:cNvGrpSpPr/>
            <p:nvPr/>
          </p:nvGrpSpPr>
          <p:grpSpPr>
            <a:xfrm>
              <a:off x="1120125" y="2333013"/>
              <a:ext cx="3160601" cy="1343463"/>
              <a:chOff x="1819757" y="1608381"/>
              <a:chExt cx="2257894" cy="1553855"/>
            </a:xfrm>
          </p:grpSpPr>
          <p:pic>
            <p:nvPicPr>
              <p:cNvPr id="1488" name="Google Shape;1488;p109"/>
              <p:cNvPicPr preferRelativeResize="0"/>
              <p:nvPr/>
            </p:nvPicPr>
            <p:blipFill rotWithShape="1">
              <a:blip r:embed="rId3">
                <a:alphaModFix/>
              </a:blip>
              <a:srcRect b="0" l="0" r="69082" t="56280"/>
              <a:stretch/>
            </p:blipFill>
            <p:spPr>
              <a:xfrm flipH="1">
                <a:off x="1819757" y="1608381"/>
                <a:ext cx="2257894" cy="1553855"/>
              </a:xfrm>
              <a:prstGeom prst="rect">
                <a:avLst/>
              </a:prstGeom>
              <a:noFill/>
              <a:ln>
                <a:noFill/>
              </a:ln>
            </p:spPr>
          </p:pic>
          <p:sp>
            <p:nvSpPr>
              <p:cNvPr id="1489" name="Google Shape;1489;p109"/>
              <p:cNvSpPr txBox="1"/>
              <p:nvPr/>
            </p:nvSpPr>
            <p:spPr>
              <a:xfrm flipH="1">
                <a:off x="1994175" y="1783884"/>
                <a:ext cx="1969800" cy="1086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Sometimes the unit pricing is cost per gram or 100 g or 1 kg.</a:t>
                </a:r>
                <a:endParaRPr sz="1800">
                  <a:solidFill>
                    <a:srgbClr val="000000"/>
                  </a:solidFill>
                  <a:latin typeface="Lexend"/>
                  <a:ea typeface="Lexend"/>
                  <a:cs typeface="Lexend"/>
                  <a:sym typeface="Lexend"/>
                </a:endParaRPr>
              </a:p>
            </p:txBody>
          </p:sp>
        </p:grpSp>
        <p:pic>
          <p:nvPicPr>
            <p:cNvPr id="1490" name="Google Shape;1490;p109"/>
            <p:cNvPicPr preferRelativeResize="0"/>
            <p:nvPr/>
          </p:nvPicPr>
          <p:blipFill>
            <a:blip r:embed="rId4">
              <a:alphaModFix/>
            </a:blip>
            <a:stretch>
              <a:fillRect/>
            </a:stretch>
          </p:blipFill>
          <p:spPr>
            <a:xfrm>
              <a:off x="828197" y="3430050"/>
              <a:ext cx="547399" cy="716926"/>
            </a:xfrm>
            <a:prstGeom prst="rect">
              <a:avLst/>
            </a:prstGeom>
            <a:noFill/>
            <a:ln>
              <a:noFill/>
            </a:ln>
          </p:spPr>
        </p:pic>
      </p:grpSp>
      <p:sp>
        <p:nvSpPr>
          <p:cNvPr id="1491" name="Google Shape;1491;p109"/>
          <p:cNvSpPr txBox="1"/>
          <p:nvPr>
            <p:ph idx="4294967295" type="body"/>
          </p:nvPr>
        </p:nvSpPr>
        <p:spPr>
          <a:xfrm>
            <a:off x="4320000" y="1699125"/>
            <a:ext cx="1996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30</a:t>
            </a:r>
            <a:r>
              <a:rPr lang="en-GB" sz="2000">
                <a:latin typeface="Kalam"/>
                <a:ea typeface="Kalam"/>
                <a:cs typeface="Kalam"/>
                <a:sym typeface="Kalam"/>
              </a:rPr>
              <a:t> × 6 = 180</a:t>
            </a:r>
            <a:r>
              <a:rPr lang="en-GB" sz="2000"/>
              <a:t> </a:t>
            </a:r>
            <a:endParaRPr sz="2000"/>
          </a:p>
        </p:txBody>
      </p:sp>
      <p:sp>
        <p:nvSpPr>
          <p:cNvPr id="1492" name="Google Shape;1492;p109"/>
          <p:cNvSpPr txBox="1"/>
          <p:nvPr>
            <p:ph idx="4294967295" type="body"/>
          </p:nvPr>
        </p:nvSpPr>
        <p:spPr>
          <a:xfrm>
            <a:off x="4320000" y="2989800"/>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135 ÷ 180 = 0.75</a:t>
            </a:r>
            <a:r>
              <a:rPr lang="en-GB" sz="2000"/>
              <a:t> </a:t>
            </a:r>
            <a:endParaRPr sz="2000"/>
          </a:p>
        </p:txBody>
      </p:sp>
      <p:sp>
        <p:nvSpPr>
          <p:cNvPr id="1493" name="Google Shape;1493;p109"/>
          <p:cNvSpPr txBox="1"/>
          <p:nvPr>
            <p:ph idx="4294967295" type="body"/>
          </p:nvPr>
        </p:nvSpPr>
        <p:spPr>
          <a:xfrm>
            <a:off x="4320000" y="3462000"/>
            <a:ext cx="4500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Rounding to 1 decimal place give 0.8 p </a:t>
            </a:r>
            <a:r>
              <a:rPr lang="en-GB" sz="2000"/>
              <a:t> </a:t>
            </a:r>
            <a:endParaRPr sz="2000"/>
          </a:p>
        </p:txBody>
      </p:sp>
      <p:sp>
        <p:nvSpPr>
          <p:cNvPr id="1494" name="Google Shape;1494;p109"/>
          <p:cNvSpPr txBox="1"/>
          <p:nvPr>
            <p:ph idx="4294967295" type="body"/>
          </p:nvPr>
        </p:nvSpPr>
        <p:spPr>
          <a:xfrm>
            <a:off x="4320000" y="3893025"/>
            <a:ext cx="4500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So this is the price per gram of crisps. </a:t>
            </a:r>
            <a:r>
              <a:rPr lang="en-GB" sz="2000">
                <a:latin typeface="Kalam"/>
                <a:ea typeface="Kalam"/>
                <a:cs typeface="Kalam"/>
                <a:sym typeface="Kalam"/>
              </a:rPr>
              <a:t> </a:t>
            </a:r>
            <a:r>
              <a:rPr lang="en-GB" sz="2000"/>
              <a:t> </a:t>
            </a:r>
            <a:endParaRPr sz="2000"/>
          </a:p>
        </p:txBody>
      </p:sp>
      <p:sp>
        <p:nvSpPr>
          <p:cNvPr id="1495" name="Google Shape;1495;p109"/>
          <p:cNvSpPr txBox="1"/>
          <p:nvPr>
            <p:ph idx="1" type="body"/>
          </p:nvPr>
        </p:nvSpPr>
        <p:spPr>
          <a:xfrm>
            <a:off x="324000" y="4454025"/>
            <a:ext cx="8496000" cy="344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1900"/>
              <a:t>When comparing unit pricing it is really important to check the units. </a:t>
            </a:r>
            <a:endParaRPr sz="1900"/>
          </a:p>
        </p:txBody>
      </p:sp>
      <p:sp>
        <p:nvSpPr>
          <p:cNvPr id="1496" name="Google Shape;1496;p109"/>
          <p:cNvSpPr txBox="1"/>
          <p:nvPr>
            <p:ph idx="4294967295" type="body"/>
          </p:nvPr>
        </p:nvSpPr>
        <p:spPr>
          <a:xfrm>
            <a:off x="4312950" y="2115863"/>
            <a:ext cx="3135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180 grams of crisps in total.</a:t>
            </a:r>
            <a:r>
              <a:rPr lang="en-GB" sz="2000"/>
              <a:t> </a:t>
            </a:r>
            <a:endParaRPr sz="2000"/>
          </a:p>
        </p:txBody>
      </p:sp>
      <p:sp>
        <p:nvSpPr>
          <p:cNvPr id="1497" name="Google Shape;1497;p109"/>
          <p:cNvSpPr txBox="1"/>
          <p:nvPr>
            <p:ph idx="4294967295" type="body"/>
          </p:nvPr>
        </p:nvSpPr>
        <p:spPr>
          <a:xfrm>
            <a:off x="4320000" y="2514725"/>
            <a:ext cx="3135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£1.35 = 135 p</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110"/>
          <p:cNvSpPr txBox="1"/>
          <p:nvPr>
            <p:ph idx="1" type="body"/>
          </p:nvPr>
        </p:nvSpPr>
        <p:spPr>
          <a:xfrm>
            <a:off x="324000" y="759300"/>
            <a:ext cx="8237700" cy="44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Which of these is better value for money? </a:t>
            </a:r>
            <a:endParaRPr/>
          </a:p>
        </p:txBody>
      </p:sp>
      <p:sp>
        <p:nvSpPr>
          <p:cNvPr id="1503" name="Google Shape;1503;p11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Unit pricing</a:t>
            </a:r>
            <a:endParaRPr/>
          </a:p>
        </p:txBody>
      </p:sp>
      <p:sp>
        <p:nvSpPr>
          <p:cNvPr id="1504" name="Google Shape;1504;p110"/>
          <p:cNvSpPr/>
          <p:nvPr/>
        </p:nvSpPr>
        <p:spPr>
          <a:xfrm>
            <a:off x="374300" y="1317675"/>
            <a:ext cx="26043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2</a:t>
            </a:r>
            <a:r>
              <a:rPr lang="en-GB" sz="1800">
                <a:latin typeface="Lexend"/>
                <a:ea typeface="Lexend"/>
                <a:cs typeface="Lexend"/>
                <a:sym typeface="Lexend"/>
              </a:rPr>
              <a:t> pk of washing liquid </a:t>
            </a:r>
            <a:r>
              <a:rPr lang="en-GB" sz="1800">
                <a:solidFill>
                  <a:schemeClr val="dk1"/>
                </a:solidFill>
                <a:latin typeface="Lexend"/>
                <a:ea typeface="Lexend"/>
                <a:cs typeface="Lexend"/>
                <a:sym typeface="Lexend"/>
              </a:rPr>
              <a:t>(500 ml each)</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£1.70</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85</a:t>
            </a:r>
            <a:r>
              <a:rPr lang="en-GB" sz="1600">
                <a:latin typeface="Lexend"/>
                <a:ea typeface="Lexend"/>
                <a:cs typeface="Lexend"/>
                <a:sym typeface="Lexend"/>
              </a:rPr>
              <a:t> p each</a:t>
            </a:r>
            <a:endParaRPr sz="1600">
              <a:latin typeface="Lexend"/>
              <a:ea typeface="Lexend"/>
              <a:cs typeface="Lexend"/>
              <a:sym typeface="Lexend"/>
            </a:endParaRPr>
          </a:p>
        </p:txBody>
      </p:sp>
      <p:sp>
        <p:nvSpPr>
          <p:cNvPr id="1505" name="Google Shape;1505;p110"/>
          <p:cNvSpPr/>
          <p:nvPr/>
        </p:nvSpPr>
        <p:spPr>
          <a:xfrm>
            <a:off x="3175175" y="1317675"/>
            <a:ext cx="28377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W</a:t>
            </a:r>
            <a:r>
              <a:rPr lang="en-GB" sz="1800">
                <a:latin typeface="Lexend"/>
                <a:ea typeface="Lexend"/>
                <a:cs typeface="Lexend"/>
                <a:sym typeface="Lexend"/>
              </a:rPr>
              <a:t>ashing liquid </a:t>
            </a:r>
            <a:r>
              <a:rPr lang="en-GB" sz="1800">
                <a:solidFill>
                  <a:schemeClr val="dk1"/>
                </a:solidFill>
                <a:latin typeface="Lexend"/>
                <a:ea typeface="Lexend"/>
                <a:cs typeface="Lexend"/>
                <a:sym typeface="Lexend"/>
              </a:rPr>
              <a:t>(800 ml)</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600">
              <a:solidFill>
                <a:schemeClr val="dk1"/>
              </a:solidFill>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a:t>
            </a:r>
            <a:endParaRPr sz="2600">
              <a:latin typeface="Lexend"/>
              <a:ea typeface="Lexend"/>
              <a:cs typeface="Lexend"/>
              <a:sym typeface="Lexend"/>
            </a:endParaRPr>
          </a:p>
          <a:p>
            <a:pPr indent="0" lvl="0" marL="0" rtl="0" algn="ctr">
              <a:spcBef>
                <a:spcPts val="0"/>
              </a:spcBef>
              <a:spcAft>
                <a:spcPts val="0"/>
              </a:spcAft>
              <a:buNone/>
            </a:pPr>
            <a:r>
              <a:t/>
            </a:r>
            <a:endParaRPr sz="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12.5 p</a:t>
            </a:r>
            <a:r>
              <a:rPr lang="en-GB" sz="1600">
                <a:latin typeface="Lexend"/>
                <a:ea typeface="Lexend"/>
                <a:cs typeface="Lexend"/>
                <a:sym typeface="Lexend"/>
              </a:rPr>
              <a:t> per 100 ml</a:t>
            </a:r>
            <a:endParaRPr sz="1600">
              <a:latin typeface="Lexend"/>
              <a:ea typeface="Lexend"/>
              <a:cs typeface="Lexend"/>
              <a:sym typeface="Lexend"/>
            </a:endParaRPr>
          </a:p>
        </p:txBody>
      </p:sp>
      <p:sp>
        <p:nvSpPr>
          <p:cNvPr id="1506" name="Google Shape;1506;p110"/>
          <p:cNvSpPr/>
          <p:nvPr/>
        </p:nvSpPr>
        <p:spPr>
          <a:xfrm>
            <a:off x="6146975" y="1317675"/>
            <a:ext cx="26043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Washing liquid </a:t>
            </a:r>
            <a:r>
              <a:rPr lang="en-GB" sz="1800">
                <a:solidFill>
                  <a:schemeClr val="dk1"/>
                </a:solidFill>
                <a:latin typeface="Lexend"/>
                <a:ea typeface="Lexend"/>
                <a:cs typeface="Lexend"/>
                <a:sym typeface="Lexend"/>
              </a:rPr>
              <a:t>(1.2 l)</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600">
              <a:solidFill>
                <a:schemeClr val="dk1"/>
              </a:solidFill>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£1.80</a:t>
            </a:r>
            <a:endParaRPr sz="2600">
              <a:latin typeface="Lexend"/>
              <a:ea typeface="Lexend"/>
              <a:cs typeface="Lexend"/>
              <a:sym typeface="Lexend"/>
            </a:endParaRPr>
          </a:p>
          <a:p>
            <a:pPr indent="0" lvl="0" marL="0" rtl="0" algn="ctr">
              <a:spcBef>
                <a:spcPts val="0"/>
              </a:spcBef>
              <a:spcAft>
                <a:spcPts val="0"/>
              </a:spcAft>
              <a:buNone/>
            </a:pPr>
            <a:r>
              <a:t/>
            </a:r>
            <a:endParaRPr sz="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a:t>
            </a:r>
            <a:r>
              <a:rPr lang="en-GB" sz="1600">
                <a:latin typeface="Lexend"/>
                <a:ea typeface="Lexend"/>
                <a:cs typeface="Lexend"/>
                <a:sym typeface="Lexend"/>
              </a:rPr>
              <a:t>1.50 per litre</a:t>
            </a:r>
            <a:endParaRPr sz="1600">
              <a:latin typeface="Lexend"/>
              <a:ea typeface="Lexend"/>
              <a:cs typeface="Lexend"/>
              <a:sym typeface="Lexend"/>
            </a:endParaRPr>
          </a:p>
        </p:txBody>
      </p:sp>
      <p:sp>
        <p:nvSpPr>
          <p:cNvPr id="1507" name="Google Shape;1507;p110"/>
          <p:cNvSpPr txBox="1"/>
          <p:nvPr>
            <p:ph idx="4294967295" type="body"/>
          </p:nvPr>
        </p:nvSpPr>
        <p:spPr>
          <a:xfrm>
            <a:off x="374300" y="3176025"/>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85</a:t>
            </a:r>
            <a:r>
              <a:rPr lang="en-GB" sz="2000">
                <a:latin typeface="Kalam"/>
                <a:ea typeface="Kalam"/>
                <a:cs typeface="Kalam"/>
                <a:sym typeface="Kalam"/>
              </a:rPr>
              <a:t> ÷ 5 = 17</a:t>
            </a:r>
            <a:r>
              <a:rPr lang="en-GB" sz="2000"/>
              <a:t> </a:t>
            </a:r>
            <a:endParaRPr sz="2000"/>
          </a:p>
        </p:txBody>
      </p:sp>
      <p:sp>
        <p:nvSpPr>
          <p:cNvPr id="1508" name="Google Shape;1508;p110"/>
          <p:cNvSpPr txBox="1"/>
          <p:nvPr>
            <p:ph idx="4294967295" type="body"/>
          </p:nvPr>
        </p:nvSpPr>
        <p:spPr>
          <a:xfrm>
            <a:off x="374300" y="2700000"/>
            <a:ext cx="2714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Bottles are 500 ml each.</a:t>
            </a:r>
            <a:r>
              <a:rPr lang="en-GB" sz="2000"/>
              <a:t> </a:t>
            </a:r>
            <a:endParaRPr sz="2000"/>
          </a:p>
        </p:txBody>
      </p:sp>
      <p:sp>
        <p:nvSpPr>
          <p:cNvPr id="1509" name="Google Shape;1509;p110"/>
          <p:cNvSpPr txBox="1"/>
          <p:nvPr>
            <p:ph idx="4294967295" type="body"/>
          </p:nvPr>
        </p:nvSpPr>
        <p:spPr>
          <a:xfrm>
            <a:off x="374300" y="3604350"/>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17 p per 100 ml.</a:t>
            </a:r>
            <a:r>
              <a:rPr lang="en-GB" sz="2000"/>
              <a:t> </a:t>
            </a:r>
            <a:endParaRPr sz="2000"/>
          </a:p>
        </p:txBody>
      </p:sp>
      <p:sp>
        <p:nvSpPr>
          <p:cNvPr id="1510" name="Google Shape;1510;p110"/>
          <p:cNvSpPr txBox="1"/>
          <p:nvPr>
            <p:ph idx="4294967295" type="body"/>
          </p:nvPr>
        </p:nvSpPr>
        <p:spPr>
          <a:xfrm>
            <a:off x="5632000" y="2730275"/>
            <a:ext cx="31746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Changing to price per 100 ml.</a:t>
            </a:r>
            <a:r>
              <a:rPr lang="en-GB" sz="2000"/>
              <a:t> </a:t>
            </a:r>
            <a:endParaRPr sz="2000"/>
          </a:p>
        </p:txBody>
      </p:sp>
      <p:sp>
        <p:nvSpPr>
          <p:cNvPr id="1511" name="Google Shape;1511;p110"/>
          <p:cNvSpPr txBox="1"/>
          <p:nvPr>
            <p:ph idx="4294967295" type="body"/>
          </p:nvPr>
        </p:nvSpPr>
        <p:spPr>
          <a:xfrm>
            <a:off x="5703850" y="3176025"/>
            <a:ext cx="1996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150</a:t>
            </a:r>
            <a:r>
              <a:rPr lang="en-GB" sz="2000">
                <a:latin typeface="Kalam"/>
                <a:ea typeface="Kalam"/>
                <a:cs typeface="Kalam"/>
                <a:sym typeface="Kalam"/>
              </a:rPr>
              <a:t> ÷ 10 = 15</a:t>
            </a:r>
            <a:r>
              <a:rPr lang="en-GB" sz="2000"/>
              <a:t> </a:t>
            </a:r>
            <a:endParaRPr sz="2000"/>
          </a:p>
        </p:txBody>
      </p:sp>
      <p:sp>
        <p:nvSpPr>
          <p:cNvPr id="1512" name="Google Shape;1512;p110"/>
          <p:cNvSpPr txBox="1"/>
          <p:nvPr>
            <p:ph idx="4294967295" type="body"/>
          </p:nvPr>
        </p:nvSpPr>
        <p:spPr>
          <a:xfrm>
            <a:off x="5703850" y="3664875"/>
            <a:ext cx="1996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15 p per 100 ml.</a:t>
            </a:r>
            <a:r>
              <a:rPr lang="en-GB" sz="2000"/>
              <a:t> </a:t>
            </a:r>
            <a:endParaRPr sz="2000"/>
          </a:p>
        </p:txBody>
      </p:sp>
      <p:sp>
        <p:nvSpPr>
          <p:cNvPr id="1513" name="Google Shape;1513;p110"/>
          <p:cNvSpPr txBox="1"/>
          <p:nvPr>
            <p:ph idx="4294967295" type="body"/>
          </p:nvPr>
        </p:nvSpPr>
        <p:spPr>
          <a:xfrm>
            <a:off x="324000" y="43200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800 ml bottle for £1 is the best value for money.</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7" name="Shape 1517"/>
        <p:cNvGrpSpPr/>
        <p:nvPr/>
      </p:nvGrpSpPr>
      <p:grpSpPr>
        <a:xfrm>
          <a:off x="0" y="0"/>
          <a:ext cx="0" cy="0"/>
          <a:chOff x="0" y="0"/>
          <a:chExt cx="0" cy="0"/>
        </a:xfrm>
      </p:grpSpPr>
      <p:sp>
        <p:nvSpPr>
          <p:cNvPr id="1518" name="Google Shape;1518;p11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Unit pricing</a:t>
            </a:r>
            <a:endParaRPr/>
          </a:p>
        </p:txBody>
      </p:sp>
      <p:sp>
        <p:nvSpPr>
          <p:cNvPr id="1519" name="Google Shape;1519;p111"/>
          <p:cNvSpPr txBox="1"/>
          <p:nvPr>
            <p:ph idx="1" type="body"/>
          </p:nvPr>
        </p:nvSpPr>
        <p:spPr>
          <a:xfrm>
            <a:off x="324000" y="759300"/>
            <a:ext cx="8237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Which of these unit pricings are correct?</a:t>
            </a:r>
            <a:endParaRPr/>
          </a:p>
        </p:txBody>
      </p:sp>
      <p:sp>
        <p:nvSpPr>
          <p:cNvPr id="1520" name="Google Shape;1520;p111"/>
          <p:cNvSpPr/>
          <p:nvPr/>
        </p:nvSpPr>
        <p:spPr>
          <a:xfrm>
            <a:off x="634575" y="1346400"/>
            <a:ext cx="32562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Strawberries (400 g)</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£1.89</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£4.73 per kg</a:t>
            </a:r>
            <a:endParaRPr sz="1600">
              <a:latin typeface="Lexend"/>
              <a:ea typeface="Lexend"/>
              <a:cs typeface="Lexend"/>
              <a:sym typeface="Lexend"/>
            </a:endParaRPr>
          </a:p>
        </p:txBody>
      </p:sp>
      <p:sp>
        <p:nvSpPr>
          <p:cNvPr id="1521" name="Google Shape;1521;p111"/>
          <p:cNvSpPr/>
          <p:nvPr/>
        </p:nvSpPr>
        <p:spPr>
          <a:xfrm>
            <a:off x="4778100" y="3163150"/>
            <a:ext cx="32562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Wrapping foil (20 m)</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99 p</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4 p per metre</a:t>
            </a:r>
            <a:endParaRPr sz="1600">
              <a:latin typeface="Lexend"/>
              <a:ea typeface="Lexend"/>
              <a:cs typeface="Lexend"/>
              <a:sym typeface="Lexend"/>
            </a:endParaRPr>
          </a:p>
        </p:txBody>
      </p:sp>
      <p:sp>
        <p:nvSpPr>
          <p:cNvPr id="1522" name="Google Shape;1522;p111"/>
          <p:cNvSpPr/>
          <p:nvPr/>
        </p:nvSpPr>
        <p:spPr>
          <a:xfrm>
            <a:off x="634575" y="3163150"/>
            <a:ext cx="32562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Twin pack Mango</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£1.79</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89</a:t>
            </a:r>
            <a:r>
              <a:rPr lang="en-GB" sz="1600">
                <a:latin typeface="Lexend"/>
                <a:ea typeface="Lexend"/>
                <a:cs typeface="Lexend"/>
                <a:sym typeface="Lexend"/>
              </a:rPr>
              <a:t> p each</a:t>
            </a:r>
            <a:endParaRPr sz="1600">
              <a:latin typeface="Lexend"/>
              <a:ea typeface="Lexend"/>
              <a:cs typeface="Lexend"/>
              <a:sym typeface="Lexend"/>
            </a:endParaRPr>
          </a:p>
        </p:txBody>
      </p:sp>
      <p:sp>
        <p:nvSpPr>
          <p:cNvPr id="1523" name="Google Shape;1523;p111"/>
          <p:cNvSpPr/>
          <p:nvPr/>
        </p:nvSpPr>
        <p:spPr>
          <a:xfrm>
            <a:off x="4783975" y="1300200"/>
            <a:ext cx="3256200" cy="985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Silverskin onions (440 g)</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79 p</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31</a:t>
            </a:r>
            <a:r>
              <a:rPr lang="en-GB" sz="1600">
                <a:latin typeface="Lexend"/>
                <a:ea typeface="Lexend"/>
                <a:cs typeface="Lexend"/>
                <a:sym typeface="Lexend"/>
              </a:rPr>
              <a:t> p per 100 g</a:t>
            </a:r>
            <a:endParaRPr sz="1600">
              <a:latin typeface="Lexend"/>
              <a:ea typeface="Lexend"/>
              <a:cs typeface="Lexend"/>
              <a:sym typeface="Lexend"/>
            </a:endParaRPr>
          </a:p>
        </p:txBody>
      </p:sp>
      <p:sp>
        <p:nvSpPr>
          <p:cNvPr id="1524" name="Google Shape;1524;p111"/>
          <p:cNvSpPr txBox="1"/>
          <p:nvPr>
            <p:ph idx="1" type="body"/>
          </p:nvPr>
        </p:nvSpPr>
        <p:spPr>
          <a:xfrm>
            <a:off x="324000" y="134955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525" name="Google Shape;1525;p111"/>
          <p:cNvSpPr txBox="1"/>
          <p:nvPr>
            <p:ph idx="1" type="body"/>
          </p:nvPr>
        </p:nvSpPr>
        <p:spPr>
          <a:xfrm>
            <a:off x="324000" y="316315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a:t>
            </a:r>
            <a:endParaRPr sz="1800"/>
          </a:p>
        </p:txBody>
      </p:sp>
      <p:sp>
        <p:nvSpPr>
          <p:cNvPr id="1526" name="Google Shape;1526;p111"/>
          <p:cNvSpPr txBox="1"/>
          <p:nvPr>
            <p:ph idx="1" type="body"/>
          </p:nvPr>
        </p:nvSpPr>
        <p:spPr>
          <a:xfrm>
            <a:off x="4473400" y="130020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a:t>
            </a:r>
            <a:endParaRPr sz="1800"/>
          </a:p>
        </p:txBody>
      </p:sp>
      <p:sp>
        <p:nvSpPr>
          <p:cNvPr id="1527" name="Google Shape;1527;p111"/>
          <p:cNvSpPr txBox="1"/>
          <p:nvPr>
            <p:ph idx="1" type="body"/>
          </p:nvPr>
        </p:nvSpPr>
        <p:spPr>
          <a:xfrm>
            <a:off x="4404375" y="316630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11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Unit pricing</a:t>
            </a:r>
            <a:endParaRPr/>
          </a:p>
        </p:txBody>
      </p:sp>
      <p:sp>
        <p:nvSpPr>
          <p:cNvPr id="1533" name="Google Shape;1533;p112"/>
          <p:cNvSpPr txBox="1"/>
          <p:nvPr>
            <p:ph idx="1" type="body"/>
          </p:nvPr>
        </p:nvSpPr>
        <p:spPr>
          <a:xfrm>
            <a:off x="324000" y="759300"/>
            <a:ext cx="8237700" cy="51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a:t>
            </a:r>
            <a:r>
              <a:rPr lang="en-GB"/>
              <a:t>) Which of these is the best value for money?</a:t>
            </a:r>
            <a:endParaRPr/>
          </a:p>
        </p:txBody>
      </p:sp>
      <p:sp>
        <p:nvSpPr>
          <p:cNvPr id="1534" name="Google Shape;1534;p112"/>
          <p:cNvSpPr/>
          <p:nvPr/>
        </p:nvSpPr>
        <p:spPr>
          <a:xfrm>
            <a:off x="374300" y="1317675"/>
            <a:ext cx="26043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Crisps 6 pk </a:t>
            </a:r>
            <a:r>
              <a:rPr lang="en-GB" sz="1800">
                <a:solidFill>
                  <a:schemeClr val="dk1"/>
                </a:solidFill>
                <a:latin typeface="Lexend"/>
                <a:ea typeface="Lexend"/>
                <a:cs typeface="Lexend"/>
                <a:sym typeface="Lexend"/>
              </a:rPr>
              <a:t>× 25 g</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600">
                <a:latin typeface="Lexend"/>
                <a:ea typeface="Lexend"/>
                <a:cs typeface="Lexend"/>
                <a:sym typeface="Lexend"/>
              </a:rPr>
              <a:t> </a:t>
            </a:r>
            <a:endParaRPr sz="6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£1.25</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a:t>
            </a:r>
            <a:r>
              <a:rPr lang="en-GB" sz="1600">
                <a:latin typeface="Lexend"/>
                <a:ea typeface="Lexend"/>
                <a:cs typeface="Lexend"/>
                <a:sym typeface="Lexend"/>
              </a:rPr>
              <a:t>83 p per gram</a:t>
            </a:r>
            <a:endParaRPr sz="1600">
              <a:latin typeface="Lexend"/>
              <a:ea typeface="Lexend"/>
              <a:cs typeface="Lexend"/>
              <a:sym typeface="Lexend"/>
            </a:endParaRPr>
          </a:p>
        </p:txBody>
      </p:sp>
      <p:sp>
        <p:nvSpPr>
          <p:cNvPr id="1535" name="Google Shape;1535;p112"/>
          <p:cNvSpPr/>
          <p:nvPr/>
        </p:nvSpPr>
        <p:spPr>
          <a:xfrm>
            <a:off x="3175175" y="1317675"/>
            <a:ext cx="28377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Crisps 4 pk </a:t>
            </a:r>
            <a:r>
              <a:rPr lang="en-GB" sz="1800">
                <a:solidFill>
                  <a:schemeClr val="dk1"/>
                </a:solidFill>
                <a:latin typeface="Lexend"/>
                <a:ea typeface="Lexend"/>
                <a:cs typeface="Lexend"/>
                <a:sym typeface="Lexend"/>
              </a:rPr>
              <a:t>× 30 g</a:t>
            </a:r>
            <a:r>
              <a:rPr lang="en-GB" sz="1800">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600">
              <a:solidFill>
                <a:schemeClr val="dk1"/>
              </a:solidFill>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a:t>
            </a:r>
            <a:endParaRPr sz="2600">
              <a:latin typeface="Lexend"/>
              <a:ea typeface="Lexend"/>
              <a:cs typeface="Lexend"/>
              <a:sym typeface="Lexend"/>
            </a:endParaRPr>
          </a:p>
          <a:p>
            <a:pPr indent="0" lvl="0" marL="0" rtl="0" algn="ctr">
              <a:spcBef>
                <a:spcPts val="0"/>
              </a:spcBef>
              <a:spcAft>
                <a:spcPts val="0"/>
              </a:spcAft>
              <a:buNone/>
            </a:pPr>
            <a:r>
              <a:t/>
            </a:r>
            <a:endParaRPr sz="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25 p each</a:t>
            </a:r>
            <a:endParaRPr sz="1600">
              <a:latin typeface="Lexend"/>
              <a:ea typeface="Lexend"/>
              <a:cs typeface="Lexend"/>
              <a:sym typeface="Lexend"/>
            </a:endParaRPr>
          </a:p>
        </p:txBody>
      </p:sp>
      <p:sp>
        <p:nvSpPr>
          <p:cNvPr id="1536" name="Google Shape;1536;p112"/>
          <p:cNvSpPr/>
          <p:nvPr/>
        </p:nvSpPr>
        <p:spPr>
          <a:xfrm>
            <a:off x="6146975" y="1317675"/>
            <a:ext cx="26043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Crisps 15 pk </a:t>
            </a:r>
            <a:r>
              <a:rPr lang="en-GB" sz="1800">
                <a:solidFill>
                  <a:schemeClr val="dk1"/>
                </a:solidFill>
                <a:latin typeface="Lexend"/>
                <a:ea typeface="Lexend"/>
                <a:cs typeface="Lexend"/>
                <a:sym typeface="Lexend"/>
              </a:rPr>
              <a:t>× 30 g</a:t>
            </a:r>
            <a:r>
              <a:rPr lang="en-GB" sz="1800">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600">
              <a:solidFill>
                <a:schemeClr val="dk1"/>
              </a:solidFill>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£3.80</a:t>
            </a:r>
            <a:endParaRPr sz="2600">
              <a:latin typeface="Lexend"/>
              <a:ea typeface="Lexend"/>
              <a:cs typeface="Lexend"/>
              <a:sym typeface="Lexend"/>
            </a:endParaRPr>
          </a:p>
          <a:p>
            <a:pPr indent="0" lvl="0" marL="0" rtl="0" algn="ctr">
              <a:spcBef>
                <a:spcPts val="0"/>
              </a:spcBef>
              <a:spcAft>
                <a:spcPts val="0"/>
              </a:spcAft>
              <a:buNone/>
            </a:pPr>
            <a:r>
              <a:t/>
            </a:r>
            <a:endParaRPr sz="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£0.84 per 100 g</a:t>
            </a:r>
            <a:endParaRPr sz="1600">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11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Unit pricing</a:t>
            </a:r>
            <a:endParaRPr/>
          </a:p>
        </p:txBody>
      </p:sp>
      <p:sp>
        <p:nvSpPr>
          <p:cNvPr id="1542" name="Google Shape;1542;p113"/>
          <p:cNvSpPr txBox="1"/>
          <p:nvPr>
            <p:ph idx="1" type="body"/>
          </p:nvPr>
        </p:nvSpPr>
        <p:spPr>
          <a:xfrm>
            <a:off x="324000" y="759300"/>
            <a:ext cx="8237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1) Which of these unit pricings are correct?</a:t>
            </a:r>
            <a:endParaRPr/>
          </a:p>
        </p:txBody>
      </p:sp>
      <p:sp>
        <p:nvSpPr>
          <p:cNvPr id="1543" name="Google Shape;1543;p113"/>
          <p:cNvSpPr/>
          <p:nvPr/>
        </p:nvSpPr>
        <p:spPr>
          <a:xfrm>
            <a:off x="634575" y="1270200"/>
            <a:ext cx="3256200" cy="985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Strawberries (400 g)</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£1.89</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£4.73 per kg</a:t>
            </a:r>
            <a:endParaRPr sz="1600">
              <a:latin typeface="Lexend"/>
              <a:ea typeface="Lexend"/>
              <a:cs typeface="Lexend"/>
              <a:sym typeface="Lexend"/>
            </a:endParaRPr>
          </a:p>
        </p:txBody>
      </p:sp>
      <p:sp>
        <p:nvSpPr>
          <p:cNvPr id="1544" name="Google Shape;1544;p113"/>
          <p:cNvSpPr/>
          <p:nvPr/>
        </p:nvSpPr>
        <p:spPr>
          <a:xfrm>
            <a:off x="5006700" y="3163150"/>
            <a:ext cx="3256200" cy="985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Wrapping foil (20 m)</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99 p</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4 p per metre</a:t>
            </a:r>
            <a:endParaRPr sz="1600">
              <a:latin typeface="Lexend"/>
              <a:ea typeface="Lexend"/>
              <a:cs typeface="Lexend"/>
              <a:sym typeface="Lexend"/>
            </a:endParaRPr>
          </a:p>
        </p:txBody>
      </p:sp>
      <p:sp>
        <p:nvSpPr>
          <p:cNvPr id="1545" name="Google Shape;1545;p113"/>
          <p:cNvSpPr/>
          <p:nvPr/>
        </p:nvSpPr>
        <p:spPr>
          <a:xfrm>
            <a:off x="634575" y="3086950"/>
            <a:ext cx="3256200" cy="985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Twin pack Mango</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£1.79</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89</a:t>
            </a:r>
            <a:r>
              <a:rPr lang="en-GB" sz="1600">
                <a:latin typeface="Lexend"/>
                <a:ea typeface="Lexend"/>
                <a:cs typeface="Lexend"/>
                <a:sym typeface="Lexend"/>
              </a:rPr>
              <a:t> p each</a:t>
            </a:r>
            <a:endParaRPr sz="1600">
              <a:latin typeface="Lexend"/>
              <a:ea typeface="Lexend"/>
              <a:cs typeface="Lexend"/>
              <a:sym typeface="Lexend"/>
            </a:endParaRPr>
          </a:p>
        </p:txBody>
      </p:sp>
      <p:sp>
        <p:nvSpPr>
          <p:cNvPr id="1546" name="Google Shape;1546;p113"/>
          <p:cNvSpPr/>
          <p:nvPr/>
        </p:nvSpPr>
        <p:spPr>
          <a:xfrm>
            <a:off x="5012575" y="1300200"/>
            <a:ext cx="3256200" cy="985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Silverskin onions (440 g)</a:t>
            </a:r>
            <a:endParaRPr sz="18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79 p</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31 p per 100 g</a:t>
            </a:r>
            <a:endParaRPr sz="1600">
              <a:latin typeface="Lexend"/>
              <a:ea typeface="Lexend"/>
              <a:cs typeface="Lexend"/>
              <a:sym typeface="Lexend"/>
            </a:endParaRPr>
          </a:p>
        </p:txBody>
      </p:sp>
      <p:sp>
        <p:nvSpPr>
          <p:cNvPr id="1547" name="Google Shape;1547;p113"/>
          <p:cNvSpPr txBox="1"/>
          <p:nvPr>
            <p:ph idx="1" type="body"/>
          </p:nvPr>
        </p:nvSpPr>
        <p:spPr>
          <a:xfrm>
            <a:off x="324000" y="127335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548" name="Google Shape;1548;p113"/>
          <p:cNvSpPr txBox="1"/>
          <p:nvPr>
            <p:ph idx="1" type="body"/>
          </p:nvPr>
        </p:nvSpPr>
        <p:spPr>
          <a:xfrm>
            <a:off x="324000" y="308695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sp>
        <p:nvSpPr>
          <p:cNvPr id="1549" name="Google Shape;1549;p113"/>
          <p:cNvSpPr txBox="1"/>
          <p:nvPr>
            <p:ph idx="1" type="body"/>
          </p:nvPr>
        </p:nvSpPr>
        <p:spPr>
          <a:xfrm>
            <a:off x="4702000" y="130020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sp>
        <p:nvSpPr>
          <p:cNvPr id="1550" name="Google Shape;1550;p113"/>
          <p:cNvSpPr txBox="1"/>
          <p:nvPr>
            <p:ph idx="1" type="body"/>
          </p:nvPr>
        </p:nvSpPr>
        <p:spPr>
          <a:xfrm>
            <a:off x="4632975" y="3166300"/>
            <a:ext cx="392700" cy="54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endParaRPr sz="1800"/>
          </a:p>
        </p:txBody>
      </p:sp>
      <p:sp>
        <p:nvSpPr>
          <p:cNvPr id="1551" name="Google Shape;1551;p113"/>
          <p:cNvSpPr txBox="1"/>
          <p:nvPr>
            <p:ph idx="1" type="body"/>
          </p:nvPr>
        </p:nvSpPr>
        <p:spPr>
          <a:xfrm>
            <a:off x="356100" y="2291588"/>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1.89</a:t>
            </a:r>
            <a:r>
              <a:rPr lang="en-GB" sz="2000">
                <a:latin typeface="Kalam"/>
                <a:ea typeface="Kalam"/>
                <a:cs typeface="Kalam"/>
                <a:sym typeface="Kalam"/>
              </a:rPr>
              <a:t> ÷ 4 = 0.4725</a:t>
            </a:r>
            <a:r>
              <a:rPr lang="en-GB" sz="2000"/>
              <a:t> </a:t>
            </a:r>
            <a:endParaRPr sz="2000"/>
          </a:p>
        </p:txBody>
      </p:sp>
      <p:sp>
        <p:nvSpPr>
          <p:cNvPr id="1552" name="Google Shape;1552;p113"/>
          <p:cNvSpPr txBox="1"/>
          <p:nvPr>
            <p:ph idx="1" type="body"/>
          </p:nvPr>
        </p:nvSpPr>
        <p:spPr>
          <a:xfrm>
            <a:off x="356100" y="2679075"/>
            <a:ext cx="22989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0.4725</a:t>
            </a:r>
            <a:r>
              <a:rPr lang="en-GB" sz="2000">
                <a:latin typeface="Kalam"/>
                <a:ea typeface="Kalam"/>
                <a:cs typeface="Kalam"/>
                <a:sym typeface="Kalam"/>
              </a:rPr>
              <a:t> × 10 = 4.725 </a:t>
            </a:r>
            <a:endParaRPr sz="2000"/>
          </a:p>
        </p:txBody>
      </p:sp>
      <p:sp>
        <p:nvSpPr>
          <p:cNvPr id="1553" name="Google Shape;1553;p113"/>
          <p:cNvSpPr txBox="1"/>
          <p:nvPr>
            <p:ph idx="1" type="body"/>
          </p:nvPr>
        </p:nvSpPr>
        <p:spPr>
          <a:xfrm>
            <a:off x="2582400" y="2364550"/>
            <a:ext cx="22989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Correct to 2 </a:t>
            </a:r>
            <a:r>
              <a:rPr lang="en-GB" sz="2000">
                <a:latin typeface="Kalam"/>
                <a:ea typeface="Kalam"/>
                <a:cs typeface="Kalam"/>
                <a:sym typeface="Kalam"/>
              </a:rPr>
              <a:t>d.p.</a:t>
            </a:r>
            <a:r>
              <a:rPr lang="en-GB" sz="2000">
                <a:latin typeface="Kalam"/>
                <a:ea typeface="Kalam"/>
                <a:cs typeface="Kalam"/>
                <a:sym typeface="Kalam"/>
              </a:rPr>
              <a:t> </a:t>
            </a:r>
            <a:endParaRPr sz="2000"/>
          </a:p>
        </p:txBody>
      </p:sp>
      <p:sp>
        <p:nvSpPr>
          <p:cNvPr id="1554" name="Google Shape;1554;p113"/>
          <p:cNvSpPr txBox="1"/>
          <p:nvPr>
            <p:ph idx="1" type="body"/>
          </p:nvPr>
        </p:nvSpPr>
        <p:spPr>
          <a:xfrm>
            <a:off x="356100" y="4120388"/>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1.79 ÷ 2 = 0.895</a:t>
            </a:r>
            <a:r>
              <a:rPr lang="en-GB" sz="2000"/>
              <a:t> </a:t>
            </a:r>
            <a:endParaRPr sz="2000"/>
          </a:p>
        </p:txBody>
      </p:sp>
      <p:sp>
        <p:nvSpPr>
          <p:cNvPr id="1555" name="Google Shape;1555;p113"/>
          <p:cNvSpPr txBox="1"/>
          <p:nvPr>
            <p:ph idx="1" type="body"/>
          </p:nvPr>
        </p:nvSpPr>
        <p:spPr>
          <a:xfrm>
            <a:off x="1113225" y="4407325"/>
            <a:ext cx="2298900" cy="30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89.5 p</a:t>
            </a:r>
            <a:r>
              <a:rPr lang="en-GB" sz="2000">
                <a:latin typeface="Kalam"/>
                <a:ea typeface="Kalam"/>
                <a:cs typeface="Kalam"/>
                <a:sym typeface="Kalam"/>
              </a:rPr>
              <a:t> </a:t>
            </a:r>
            <a:endParaRPr sz="2000"/>
          </a:p>
        </p:txBody>
      </p:sp>
      <p:sp>
        <p:nvSpPr>
          <p:cNvPr id="1556" name="Google Shape;1556;p113"/>
          <p:cNvSpPr txBox="1"/>
          <p:nvPr>
            <p:ph idx="1" type="body"/>
          </p:nvPr>
        </p:nvSpPr>
        <p:spPr>
          <a:xfrm>
            <a:off x="2356900" y="3881625"/>
            <a:ext cx="2215200" cy="351300"/>
          </a:xfrm>
          <a:prstGeom prst="rect">
            <a:avLst/>
          </a:prstGeom>
          <a:solidFill>
            <a:srgbClr val="E6F2F2"/>
          </a:solidFill>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Rounding </a:t>
            </a:r>
            <a:r>
              <a:rPr lang="en-GB" sz="2000">
                <a:latin typeface="Kalam"/>
                <a:ea typeface="Kalam"/>
                <a:cs typeface="Kalam"/>
                <a:sym typeface="Kalam"/>
              </a:rPr>
              <a:t>conventions</a:t>
            </a:r>
            <a:r>
              <a:rPr lang="en-GB" sz="2000">
                <a:latin typeface="Kalam"/>
                <a:ea typeface="Kalam"/>
                <a:cs typeface="Kalam"/>
                <a:sym typeface="Kalam"/>
              </a:rPr>
              <a:t> mean this should be 90 p </a:t>
            </a:r>
            <a:endParaRPr sz="2000"/>
          </a:p>
        </p:txBody>
      </p:sp>
      <p:sp>
        <p:nvSpPr>
          <p:cNvPr id="1557" name="Google Shape;1557;p113"/>
          <p:cNvSpPr txBox="1"/>
          <p:nvPr>
            <p:ph idx="1" type="body"/>
          </p:nvPr>
        </p:nvSpPr>
        <p:spPr>
          <a:xfrm>
            <a:off x="4632975" y="2326463"/>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79</a:t>
            </a:r>
            <a:r>
              <a:rPr lang="en-GB" sz="2000">
                <a:latin typeface="Kalam"/>
                <a:ea typeface="Kalam"/>
                <a:cs typeface="Kalam"/>
                <a:sym typeface="Kalam"/>
              </a:rPr>
              <a:t> ÷ 4.4 = 17.95</a:t>
            </a:r>
            <a:r>
              <a:rPr lang="en-GB" sz="2000"/>
              <a:t> </a:t>
            </a:r>
            <a:endParaRPr sz="2000"/>
          </a:p>
        </p:txBody>
      </p:sp>
      <p:sp>
        <p:nvSpPr>
          <p:cNvPr id="1558" name="Google Shape;1558;p113"/>
          <p:cNvSpPr txBox="1"/>
          <p:nvPr>
            <p:ph idx="1" type="body"/>
          </p:nvPr>
        </p:nvSpPr>
        <p:spPr>
          <a:xfrm>
            <a:off x="6593700" y="2102000"/>
            <a:ext cx="2226300" cy="540900"/>
          </a:xfrm>
          <a:prstGeom prst="rect">
            <a:avLst/>
          </a:prstGeom>
          <a:solidFill>
            <a:srgbClr val="E6F2F2"/>
          </a:solidFill>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This is possibly a case where one is a mass when drained.</a:t>
            </a:r>
            <a:r>
              <a:rPr lang="en-GB" sz="2000"/>
              <a:t> </a:t>
            </a:r>
            <a:endParaRPr sz="2000"/>
          </a:p>
        </p:txBody>
      </p:sp>
      <p:sp>
        <p:nvSpPr>
          <p:cNvPr id="1559" name="Google Shape;1559;p113"/>
          <p:cNvSpPr txBox="1"/>
          <p:nvPr>
            <p:ph idx="1" type="body"/>
          </p:nvPr>
        </p:nvSpPr>
        <p:spPr>
          <a:xfrm>
            <a:off x="4661250" y="2727363"/>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Incorrect</a:t>
            </a:r>
            <a:r>
              <a:rPr lang="en-GB" sz="2000"/>
              <a:t> </a:t>
            </a:r>
            <a:endParaRPr sz="2000"/>
          </a:p>
        </p:txBody>
      </p:sp>
      <p:sp>
        <p:nvSpPr>
          <p:cNvPr id="1560" name="Google Shape;1560;p113"/>
          <p:cNvSpPr txBox="1"/>
          <p:nvPr>
            <p:ph idx="1" type="body"/>
          </p:nvPr>
        </p:nvSpPr>
        <p:spPr>
          <a:xfrm>
            <a:off x="4773700" y="4232813"/>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99</a:t>
            </a:r>
            <a:r>
              <a:rPr lang="en-GB" sz="2000">
                <a:latin typeface="Kalam"/>
                <a:ea typeface="Kalam"/>
                <a:cs typeface="Kalam"/>
                <a:sym typeface="Kalam"/>
              </a:rPr>
              <a:t> ÷ 20 = 4.95</a:t>
            </a:r>
            <a:r>
              <a:rPr lang="en-GB" sz="2000"/>
              <a:t> </a:t>
            </a:r>
            <a:endParaRPr sz="2000"/>
          </a:p>
        </p:txBody>
      </p:sp>
      <p:sp>
        <p:nvSpPr>
          <p:cNvPr id="1561" name="Google Shape;1561;p113"/>
          <p:cNvSpPr txBox="1"/>
          <p:nvPr>
            <p:ph idx="1" type="body"/>
          </p:nvPr>
        </p:nvSpPr>
        <p:spPr>
          <a:xfrm>
            <a:off x="6648000" y="3893650"/>
            <a:ext cx="2117700" cy="481200"/>
          </a:xfrm>
          <a:prstGeom prst="rect">
            <a:avLst/>
          </a:prstGeom>
          <a:solidFill>
            <a:srgbClr val="E6F2F2"/>
          </a:solidFill>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This is much closer to 5 p than 4 p so incorrect. </a:t>
            </a:r>
            <a:r>
              <a:rPr lang="en-GB" sz="2000"/>
              <a:t> </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5" name="Shape 1565"/>
        <p:cNvGrpSpPr/>
        <p:nvPr/>
      </p:nvGrpSpPr>
      <p:grpSpPr>
        <a:xfrm>
          <a:off x="0" y="0"/>
          <a:ext cx="0" cy="0"/>
          <a:chOff x="0" y="0"/>
          <a:chExt cx="0" cy="0"/>
        </a:xfrm>
      </p:grpSpPr>
      <p:sp>
        <p:nvSpPr>
          <p:cNvPr id="1566" name="Google Shape;1566;p11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Unit pricing</a:t>
            </a:r>
            <a:endParaRPr/>
          </a:p>
        </p:txBody>
      </p:sp>
      <p:sp>
        <p:nvSpPr>
          <p:cNvPr id="1567" name="Google Shape;1567;p114"/>
          <p:cNvSpPr txBox="1"/>
          <p:nvPr>
            <p:ph idx="1" type="body"/>
          </p:nvPr>
        </p:nvSpPr>
        <p:spPr>
          <a:xfrm>
            <a:off x="324000" y="759300"/>
            <a:ext cx="8237700" cy="512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 Which of these is the best value for money?</a:t>
            </a:r>
            <a:endParaRPr/>
          </a:p>
        </p:txBody>
      </p:sp>
      <p:sp>
        <p:nvSpPr>
          <p:cNvPr id="1568" name="Google Shape;1568;p114"/>
          <p:cNvSpPr/>
          <p:nvPr/>
        </p:nvSpPr>
        <p:spPr>
          <a:xfrm>
            <a:off x="374300" y="1317675"/>
            <a:ext cx="26043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Crisps 6 pk </a:t>
            </a:r>
            <a:r>
              <a:rPr lang="en-GB" sz="1800">
                <a:solidFill>
                  <a:schemeClr val="dk1"/>
                </a:solidFill>
                <a:latin typeface="Lexend"/>
                <a:ea typeface="Lexend"/>
                <a:cs typeface="Lexend"/>
                <a:sym typeface="Lexend"/>
              </a:rPr>
              <a:t>× 25 g</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600">
                <a:latin typeface="Lexend"/>
                <a:ea typeface="Lexend"/>
                <a:cs typeface="Lexend"/>
                <a:sym typeface="Lexend"/>
              </a:rPr>
              <a:t> </a:t>
            </a:r>
            <a:endParaRPr sz="600">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£1.25</a:t>
            </a:r>
            <a:endParaRPr sz="2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0.83 p per gram</a:t>
            </a:r>
            <a:endParaRPr sz="1600">
              <a:latin typeface="Lexend"/>
              <a:ea typeface="Lexend"/>
              <a:cs typeface="Lexend"/>
              <a:sym typeface="Lexend"/>
            </a:endParaRPr>
          </a:p>
        </p:txBody>
      </p:sp>
      <p:sp>
        <p:nvSpPr>
          <p:cNvPr id="1569" name="Google Shape;1569;p114"/>
          <p:cNvSpPr/>
          <p:nvPr/>
        </p:nvSpPr>
        <p:spPr>
          <a:xfrm>
            <a:off x="3175175" y="1317675"/>
            <a:ext cx="28377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Crisps 4 pk </a:t>
            </a:r>
            <a:r>
              <a:rPr lang="en-GB" sz="1800">
                <a:solidFill>
                  <a:schemeClr val="dk1"/>
                </a:solidFill>
                <a:latin typeface="Lexend"/>
                <a:ea typeface="Lexend"/>
                <a:cs typeface="Lexend"/>
                <a:sym typeface="Lexend"/>
              </a:rPr>
              <a:t>× 30 g</a:t>
            </a:r>
            <a:r>
              <a:rPr lang="en-GB" sz="1800">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600">
              <a:solidFill>
                <a:schemeClr val="dk1"/>
              </a:solidFill>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£1</a:t>
            </a:r>
            <a:endParaRPr sz="2600">
              <a:latin typeface="Lexend"/>
              <a:ea typeface="Lexend"/>
              <a:cs typeface="Lexend"/>
              <a:sym typeface="Lexend"/>
            </a:endParaRPr>
          </a:p>
          <a:p>
            <a:pPr indent="0" lvl="0" marL="0" rtl="0" algn="ctr">
              <a:spcBef>
                <a:spcPts val="0"/>
              </a:spcBef>
              <a:spcAft>
                <a:spcPts val="0"/>
              </a:spcAft>
              <a:buNone/>
            </a:pPr>
            <a:r>
              <a:t/>
            </a:r>
            <a:endParaRPr sz="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25 p each</a:t>
            </a:r>
            <a:endParaRPr sz="1600">
              <a:latin typeface="Lexend"/>
              <a:ea typeface="Lexend"/>
              <a:cs typeface="Lexend"/>
              <a:sym typeface="Lexend"/>
            </a:endParaRPr>
          </a:p>
        </p:txBody>
      </p:sp>
      <p:sp>
        <p:nvSpPr>
          <p:cNvPr id="1570" name="Google Shape;1570;p114"/>
          <p:cNvSpPr/>
          <p:nvPr/>
        </p:nvSpPr>
        <p:spPr>
          <a:xfrm>
            <a:off x="6146975" y="1317675"/>
            <a:ext cx="2604300" cy="1211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latin typeface="Lexend"/>
                <a:ea typeface="Lexend"/>
                <a:cs typeface="Lexend"/>
                <a:sym typeface="Lexend"/>
              </a:rPr>
              <a:t>Crisps 15 pk </a:t>
            </a:r>
            <a:r>
              <a:rPr lang="en-GB" sz="1800">
                <a:solidFill>
                  <a:schemeClr val="dk1"/>
                </a:solidFill>
                <a:latin typeface="Lexend"/>
                <a:ea typeface="Lexend"/>
                <a:cs typeface="Lexend"/>
                <a:sym typeface="Lexend"/>
              </a:rPr>
              <a:t>× 30 g</a:t>
            </a:r>
            <a:r>
              <a:rPr lang="en-GB" sz="1800">
                <a:latin typeface="Lexend"/>
                <a:ea typeface="Lexend"/>
                <a:cs typeface="Lexend"/>
                <a:sym typeface="Lexend"/>
              </a:rPr>
              <a:t> </a:t>
            </a:r>
            <a:endParaRPr sz="1800">
              <a:solidFill>
                <a:schemeClr val="dk1"/>
              </a:solidFill>
              <a:latin typeface="Lexend"/>
              <a:ea typeface="Lexend"/>
              <a:cs typeface="Lexend"/>
              <a:sym typeface="Lexend"/>
            </a:endParaRPr>
          </a:p>
          <a:p>
            <a:pPr indent="0" lvl="0" marL="0" rtl="0" algn="ctr">
              <a:spcBef>
                <a:spcPts val="0"/>
              </a:spcBef>
              <a:spcAft>
                <a:spcPts val="0"/>
              </a:spcAft>
              <a:buNone/>
            </a:pPr>
            <a:r>
              <a:t/>
            </a:r>
            <a:endParaRPr sz="600">
              <a:solidFill>
                <a:schemeClr val="dk1"/>
              </a:solidFill>
              <a:latin typeface="Lexend"/>
              <a:ea typeface="Lexend"/>
              <a:cs typeface="Lexend"/>
              <a:sym typeface="Lexend"/>
            </a:endParaRPr>
          </a:p>
          <a:p>
            <a:pPr indent="0" lvl="0" marL="0" rtl="0" algn="ctr">
              <a:spcBef>
                <a:spcPts val="0"/>
              </a:spcBef>
              <a:spcAft>
                <a:spcPts val="0"/>
              </a:spcAft>
              <a:buNone/>
            </a:pPr>
            <a:r>
              <a:rPr lang="en-GB" sz="2600">
                <a:latin typeface="Lexend"/>
                <a:ea typeface="Lexend"/>
                <a:cs typeface="Lexend"/>
                <a:sym typeface="Lexend"/>
              </a:rPr>
              <a:t>£3.80</a:t>
            </a:r>
            <a:endParaRPr sz="2600">
              <a:latin typeface="Lexend"/>
              <a:ea typeface="Lexend"/>
              <a:cs typeface="Lexend"/>
              <a:sym typeface="Lexend"/>
            </a:endParaRPr>
          </a:p>
          <a:p>
            <a:pPr indent="0" lvl="0" marL="0" rtl="0" algn="ctr">
              <a:spcBef>
                <a:spcPts val="0"/>
              </a:spcBef>
              <a:spcAft>
                <a:spcPts val="0"/>
              </a:spcAft>
              <a:buNone/>
            </a:pPr>
            <a:r>
              <a:t/>
            </a:r>
            <a:endParaRPr sz="600">
              <a:latin typeface="Lexend"/>
              <a:ea typeface="Lexend"/>
              <a:cs typeface="Lexend"/>
              <a:sym typeface="Lexend"/>
            </a:endParaRPr>
          </a:p>
          <a:p>
            <a:pPr indent="0" lvl="0" marL="0" rtl="0" algn="l">
              <a:spcBef>
                <a:spcPts val="0"/>
              </a:spcBef>
              <a:spcAft>
                <a:spcPts val="0"/>
              </a:spcAft>
              <a:buNone/>
            </a:pPr>
            <a:r>
              <a:rPr lang="en-GB" sz="1600">
                <a:latin typeface="Lexend"/>
                <a:ea typeface="Lexend"/>
                <a:cs typeface="Lexend"/>
                <a:sym typeface="Lexend"/>
              </a:rPr>
              <a:t>£0.84 per 100 g</a:t>
            </a:r>
            <a:endParaRPr sz="1600">
              <a:latin typeface="Lexend"/>
              <a:ea typeface="Lexend"/>
              <a:cs typeface="Lexend"/>
              <a:sym typeface="Lexend"/>
            </a:endParaRPr>
          </a:p>
        </p:txBody>
      </p:sp>
      <p:sp>
        <p:nvSpPr>
          <p:cNvPr id="1571" name="Google Shape;1571;p114"/>
          <p:cNvSpPr txBox="1"/>
          <p:nvPr>
            <p:ph idx="1" type="body"/>
          </p:nvPr>
        </p:nvSpPr>
        <p:spPr>
          <a:xfrm>
            <a:off x="374300" y="2830363"/>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83.33… p per 100 g</a:t>
            </a:r>
            <a:r>
              <a:rPr lang="en-GB" sz="2000"/>
              <a:t> </a:t>
            </a:r>
            <a:endParaRPr sz="2000"/>
          </a:p>
        </p:txBody>
      </p:sp>
      <p:sp>
        <p:nvSpPr>
          <p:cNvPr id="1572" name="Google Shape;1572;p114"/>
          <p:cNvSpPr txBox="1"/>
          <p:nvPr>
            <p:ph idx="1" type="body"/>
          </p:nvPr>
        </p:nvSpPr>
        <p:spPr>
          <a:xfrm>
            <a:off x="3206850" y="2830363"/>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25 p for 30 g</a:t>
            </a:r>
            <a:r>
              <a:rPr lang="en-GB" sz="2000"/>
              <a:t> </a:t>
            </a:r>
            <a:endParaRPr sz="2000"/>
          </a:p>
        </p:txBody>
      </p:sp>
      <p:sp>
        <p:nvSpPr>
          <p:cNvPr id="1573" name="Google Shape;1573;p114"/>
          <p:cNvSpPr txBox="1"/>
          <p:nvPr>
            <p:ph idx="1" type="body"/>
          </p:nvPr>
        </p:nvSpPr>
        <p:spPr>
          <a:xfrm>
            <a:off x="3206850" y="3240000"/>
            <a:ext cx="21615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8.333…</a:t>
            </a:r>
            <a:r>
              <a:rPr lang="en-GB" sz="2000">
                <a:latin typeface="Kalam"/>
                <a:ea typeface="Kalam"/>
                <a:cs typeface="Kalam"/>
                <a:sym typeface="Kalam"/>
              </a:rPr>
              <a:t> p for 10 g</a:t>
            </a:r>
            <a:r>
              <a:rPr lang="en-GB" sz="2000"/>
              <a:t> </a:t>
            </a:r>
            <a:endParaRPr sz="2000"/>
          </a:p>
        </p:txBody>
      </p:sp>
      <p:sp>
        <p:nvSpPr>
          <p:cNvPr id="1574" name="Google Shape;1574;p114"/>
          <p:cNvSpPr txBox="1"/>
          <p:nvPr>
            <p:ph idx="1" type="body"/>
          </p:nvPr>
        </p:nvSpPr>
        <p:spPr>
          <a:xfrm>
            <a:off x="3207000" y="3678475"/>
            <a:ext cx="21615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83.33… p for 100 g</a:t>
            </a:r>
            <a:r>
              <a:rPr lang="en-GB" sz="2000"/>
              <a:t> </a:t>
            </a:r>
            <a:endParaRPr sz="2000"/>
          </a:p>
        </p:txBody>
      </p:sp>
      <p:sp>
        <p:nvSpPr>
          <p:cNvPr id="1575" name="Google Shape;1575;p114"/>
          <p:cNvSpPr txBox="1"/>
          <p:nvPr>
            <p:ph idx="1" type="body"/>
          </p:nvPr>
        </p:nvSpPr>
        <p:spPr>
          <a:xfrm>
            <a:off x="6146975" y="2830363"/>
            <a:ext cx="22263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84.44…</a:t>
            </a:r>
            <a:r>
              <a:rPr lang="en-GB" sz="2000">
                <a:latin typeface="Kalam"/>
                <a:ea typeface="Kalam"/>
                <a:cs typeface="Kalam"/>
                <a:sym typeface="Kalam"/>
              </a:rPr>
              <a:t> p for 100 g</a:t>
            </a:r>
            <a:r>
              <a:rPr lang="en-GB" sz="2000"/>
              <a:t> </a:t>
            </a:r>
            <a:endParaRPr sz="2000"/>
          </a:p>
        </p:txBody>
      </p:sp>
      <p:sp>
        <p:nvSpPr>
          <p:cNvPr id="1576" name="Google Shape;1576;p114"/>
          <p:cNvSpPr txBox="1"/>
          <p:nvPr>
            <p:ph idx="1" type="body"/>
          </p:nvPr>
        </p:nvSpPr>
        <p:spPr>
          <a:xfrm>
            <a:off x="324000" y="4320000"/>
            <a:ext cx="81681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latin typeface="Kalam"/>
                <a:ea typeface="Kalam"/>
                <a:cs typeface="Kalam"/>
                <a:sym typeface="Kalam"/>
              </a:rPr>
              <a:t>Both the 6 pk of crisps and the 4 pk of crisps are the best value for money. </a:t>
            </a:r>
            <a:r>
              <a:rPr lang="en-GB" sz="1900"/>
              <a:t> </a:t>
            </a:r>
            <a:endParaRPr sz="19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115"/>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promotions</a:t>
            </a:r>
            <a:endParaRPr/>
          </a:p>
        </p:txBody>
      </p:sp>
      <p:sp>
        <p:nvSpPr>
          <p:cNvPr id="1582" name="Google Shape;1582;p115"/>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Unit pricing</a:t>
            </a:r>
            <a:endParaRPr/>
          </a:p>
        </p:txBody>
      </p:sp>
      <p:sp>
        <p:nvSpPr>
          <p:cNvPr id="1583" name="Google Shape;1583;p115"/>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advertising</a:t>
            </a:r>
            <a:endParaRPr/>
          </a:p>
        </p:txBody>
      </p:sp>
      <p:pic>
        <p:nvPicPr>
          <p:cNvPr id="1584" name="Google Shape;1584;p115"/>
          <p:cNvPicPr preferRelativeResize="0"/>
          <p:nvPr/>
        </p:nvPicPr>
        <p:blipFill>
          <a:blip r:embed="rId3">
            <a:alphaModFix/>
          </a:blip>
          <a:stretch>
            <a:fillRect/>
          </a:stretch>
        </p:blipFill>
        <p:spPr>
          <a:xfrm>
            <a:off x="416583" y="3700475"/>
            <a:ext cx="450575" cy="446750"/>
          </a:xfrm>
          <a:prstGeom prst="rect">
            <a:avLst/>
          </a:prstGeom>
          <a:noFill/>
          <a:ln>
            <a:noFill/>
          </a:ln>
        </p:spPr>
      </p:pic>
      <p:sp>
        <p:nvSpPr>
          <p:cNvPr id="1585" name="Google Shape;1585;p115"/>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adverts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11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591" name="Google Shape;1591;p116"/>
          <p:cNvSpPr txBox="1"/>
          <p:nvPr>
            <p:ph idx="1" type="body"/>
          </p:nvPr>
        </p:nvSpPr>
        <p:spPr>
          <a:xfrm>
            <a:off x="324000" y="759300"/>
            <a:ext cx="8496000" cy="173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Adverts are designed to persuade people to make a </a:t>
            </a:r>
            <a:r>
              <a:rPr lang="en-GB" sz="2000"/>
              <a:t>purchase</a:t>
            </a:r>
            <a:r>
              <a:rPr lang="en-GB" sz="2000"/>
              <a:t>.</a:t>
            </a:r>
            <a:endParaRPr sz="2000"/>
          </a:p>
          <a:p>
            <a:pPr indent="0" lvl="0" marL="0" rtl="0" algn="l">
              <a:spcBef>
                <a:spcPts val="1000"/>
              </a:spcBef>
              <a:spcAft>
                <a:spcPts val="0"/>
              </a:spcAft>
              <a:buNone/>
            </a:pPr>
            <a:r>
              <a:rPr lang="en-GB" sz="2000"/>
              <a:t>Statistics are a powerful tool in advertising.</a:t>
            </a:r>
            <a:endParaRPr sz="2000"/>
          </a:p>
          <a:p>
            <a:pPr indent="0" lvl="0" marL="0" rtl="0" algn="l">
              <a:spcBef>
                <a:spcPts val="1000"/>
              </a:spcBef>
              <a:spcAft>
                <a:spcPts val="1000"/>
              </a:spcAft>
              <a:buNone/>
            </a:pPr>
            <a:r>
              <a:rPr lang="en-GB" sz="2000"/>
              <a:t>It is important to </a:t>
            </a:r>
            <a:r>
              <a:rPr lang="en-GB" sz="2000"/>
              <a:t>understand</a:t>
            </a:r>
            <a:r>
              <a:rPr lang="en-GB" sz="2000"/>
              <a:t> some of the ways statistics can be manipulated.</a:t>
            </a:r>
            <a:endParaRPr sz="2000"/>
          </a:p>
        </p:txBody>
      </p:sp>
      <p:sp>
        <p:nvSpPr>
          <p:cNvPr id="1592" name="Google Shape;1592;p116"/>
          <p:cNvSpPr/>
          <p:nvPr/>
        </p:nvSpPr>
        <p:spPr>
          <a:xfrm>
            <a:off x="431025" y="2451725"/>
            <a:ext cx="2636400" cy="2296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93" name="Google Shape;1593;p116"/>
          <p:cNvSpPr/>
          <p:nvPr/>
        </p:nvSpPr>
        <p:spPr>
          <a:xfrm>
            <a:off x="992066" y="3228942"/>
            <a:ext cx="1399914" cy="1141662"/>
          </a:xfrm>
          <a:prstGeom prst="flowChartMagneticDisk">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594" name="Google Shape;1594;p116"/>
          <p:cNvSpPr/>
          <p:nvPr/>
        </p:nvSpPr>
        <p:spPr>
          <a:xfrm>
            <a:off x="955935" y="3183729"/>
            <a:ext cx="1472176" cy="428889"/>
          </a:xfrm>
          <a:prstGeom prst="flowChartMagneticDisk">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595" name="Google Shape;1595;p116"/>
          <p:cNvSpPr txBox="1"/>
          <p:nvPr>
            <p:ph idx="4294967295" type="body"/>
          </p:nvPr>
        </p:nvSpPr>
        <p:spPr>
          <a:xfrm>
            <a:off x="908850" y="3612613"/>
            <a:ext cx="15663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600"/>
              <a:t>Premium </a:t>
            </a:r>
            <a:endParaRPr sz="1600"/>
          </a:p>
          <a:p>
            <a:pPr indent="0" lvl="0" marL="0" rtl="0" algn="ctr">
              <a:lnSpc>
                <a:spcPct val="100000"/>
              </a:lnSpc>
              <a:spcBef>
                <a:spcPts val="0"/>
              </a:spcBef>
              <a:spcAft>
                <a:spcPts val="0"/>
              </a:spcAft>
              <a:buNone/>
            </a:pPr>
            <a:r>
              <a:rPr lang="en-GB" sz="1600"/>
              <a:t>anti-aging cream</a:t>
            </a:r>
            <a:r>
              <a:rPr lang="en-GB" sz="1600"/>
              <a:t> </a:t>
            </a:r>
            <a:endParaRPr sz="1600"/>
          </a:p>
        </p:txBody>
      </p:sp>
      <p:sp>
        <p:nvSpPr>
          <p:cNvPr id="1596" name="Google Shape;1596;p116"/>
          <p:cNvSpPr txBox="1"/>
          <p:nvPr>
            <p:ph idx="4294967295" type="body"/>
          </p:nvPr>
        </p:nvSpPr>
        <p:spPr>
          <a:xfrm>
            <a:off x="465025" y="2543025"/>
            <a:ext cx="25593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‘90% of customers saw fewer wrinkles.’*</a:t>
            </a:r>
            <a:endParaRPr sz="1900"/>
          </a:p>
        </p:txBody>
      </p:sp>
      <p:sp>
        <p:nvSpPr>
          <p:cNvPr id="1597" name="Google Shape;1597;p116"/>
          <p:cNvSpPr txBox="1"/>
          <p:nvPr>
            <p:ph idx="4294967295" type="body"/>
          </p:nvPr>
        </p:nvSpPr>
        <p:spPr>
          <a:xfrm>
            <a:off x="469575" y="4461675"/>
            <a:ext cx="2559300" cy="285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t>*</a:t>
            </a:r>
            <a:r>
              <a:rPr lang="en-GB" sz="1600"/>
              <a:t>of 48 surveyed</a:t>
            </a:r>
            <a:r>
              <a:rPr lang="en-GB" sz="1600"/>
              <a:t> </a:t>
            </a:r>
            <a:endParaRPr sz="1600"/>
          </a:p>
        </p:txBody>
      </p:sp>
      <p:sp>
        <p:nvSpPr>
          <p:cNvPr id="1598" name="Google Shape;1598;p116"/>
          <p:cNvSpPr txBox="1"/>
          <p:nvPr>
            <p:ph idx="4294967295" type="body"/>
          </p:nvPr>
        </p:nvSpPr>
        <p:spPr>
          <a:xfrm>
            <a:off x="3189550" y="2451725"/>
            <a:ext cx="5630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Why do you think this advert uses this statistic? </a:t>
            </a:r>
            <a:endParaRPr sz="1900"/>
          </a:p>
        </p:txBody>
      </p:sp>
      <p:sp>
        <p:nvSpPr>
          <p:cNvPr id="1599" name="Google Shape;1599;p116"/>
          <p:cNvSpPr txBox="1"/>
          <p:nvPr>
            <p:ph idx="4294967295" type="body"/>
          </p:nvPr>
        </p:nvSpPr>
        <p:spPr>
          <a:xfrm>
            <a:off x="3189550" y="2872200"/>
            <a:ext cx="5630400" cy="1498500"/>
          </a:xfrm>
          <a:prstGeom prst="rect">
            <a:avLst/>
          </a:prstGeom>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90% sounds like an impressive number.</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It makes it sound more scientific as if research has proven this works.</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People are more likely to buy if they think </a:t>
            </a:r>
            <a:r>
              <a:rPr lang="en-GB" sz="2000">
                <a:latin typeface="Kalam"/>
                <a:ea typeface="Kalam"/>
                <a:cs typeface="Kalam"/>
                <a:sym typeface="Kalam"/>
              </a:rPr>
              <a:t>it's</a:t>
            </a:r>
            <a:r>
              <a:rPr lang="en-GB" sz="2000">
                <a:latin typeface="Kalam"/>
                <a:ea typeface="Kalam"/>
                <a:cs typeface="Kalam"/>
                <a:sym typeface="Kalam"/>
              </a:rPr>
              <a:t> recommended by other people.  </a:t>
            </a: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11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605" name="Google Shape;1605;p117"/>
          <p:cNvSpPr txBox="1"/>
          <p:nvPr>
            <p:ph idx="1" type="body"/>
          </p:nvPr>
        </p:nvSpPr>
        <p:spPr>
          <a:xfrm>
            <a:off x="324000" y="759300"/>
            <a:ext cx="8496000" cy="36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are ways that this statistic can be misleading. </a:t>
            </a:r>
            <a:endParaRPr sz="2000"/>
          </a:p>
        </p:txBody>
      </p:sp>
      <p:sp>
        <p:nvSpPr>
          <p:cNvPr id="1606" name="Google Shape;1606;p117"/>
          <p:cNvSpPr/>
          <p:nvPr/>
        </p:nvSpPr>
        <p:spPr>
          <a:xfrm>
            <a:off x="431025" y="2451725"/>
            <a:ext cx="2636400" cy="2296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7" name="Google Shape;1607;p117"/>
          <p:cNvSpPr/>
          <p:nvPr/>
        </p:nvSpPr>
        <p:spPr>
          <a:xfrm>
            <a:off x="992066" y="3228942"/>
            <a:ext cx="1399914" cy="1141662"/>
          </a:xfrm>
          <a:prstGeom prst="flowChartMagneticDisk">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608" name="Google Shape;1608;p117"/>
          <p:cNvSpPr/>
          <p:nvPr/>
        </p:nvSpPr>
        <p:spPr>
          <a:xfrm>
            <a:off x="955935" y="3183729"/>
            <a:ext cx="1472176" cy="428889"/>
          </a:xfrm>
          <a:prstGeom prst="flowChartMagneticDisk">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exend"/>
              <a:ea typeface="Lexend"/>
              <a:cs typeface="Lexend"/>
              <a:sym typeface="Lexend"/>
            </a:endParaRPr>
          </a:p>
        </p:txBody>
      </p:sp>
      <p:sp>
        <p:nvSpPr>
          <p:cNvPr id="1609" name="Google Shape;1609;p117"/>
          <p:cNvSpPr txBox="1"/>
          <p:nvPr>
            <p:ph idx="4294967295" type="body"/>
          </p:nvPr>
        </p:nvSpPr>
        <p:spPr>
          <a:xfrm>
            <a:off x="908850" y="3612613"/>
            <a:ext cx="15663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600"/>
              <a:t>Premium </a:t>
            </a:r>
            <a:endParaRPr sz="1600"/>
          </a:p>
          <a:p>
            <a:pPr indent="0" lvl="0" marL="0" rtl="0" algn="ctr">
              <a:lnSpc>
                <a:spcPct val="100000"/>
              </a:lnSpc>
              <a:spcBef>
                <a:spcPts val="0"/>
              </a:spcBef>
              <a:spcAft>
                <a:spcPts val="0"/>
              </a:spcAft>
              <a:buNone/>
            </a:pPr>
            <a:r>
              <a:rPr lang="en-GB" sz="1600"/>
              <a:t>anti-aging cream </a:t>
            </a:r>
            <a:endParaRPr sz="1600"/>
          </a:p>
        </p:txBody>
      </p:sp>
      <p:sp>
        <p:nvSpPr>
          <p:cNvPr id="1610" name="Google Shape;1610;p117"/>
          <p:cNvSpPr txBox="1"/>
          <p:nvPr>
            <p:ph idx="4294967295" type="body"/>
          </p:nvPr>
        </p:nvSpPr>
        <p:spPr>
          <a:xfrm>
            <a:off x="465025" y="2543025"/>
            <a:ext cx="25593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‘90% of customers saw fewer wrinkles.’*</a:t>
            </a:r>
            <a:endParaRPr sz="1900"/>
          </a:p>
        </p:txBody>
      </p:sp>
      <p:sp>
        <p:nvSpPr>
          <p:cNvPr id="1611" name="Google Shape;1611;p117"/>
          <p:cNvSpPr txBox="1"/>
          <p:nvPr>
            <p:ph idx="4294967295" type="body"/>
          </p:nvPr>
        </p:nvSpPr>
        <p:spPr>
          <a:xfrm>
            <a:off x="469575" y="4461675"/>
            <a:ext cx="2559300" cy="285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600"/>
              <a:t>*of 48 surveyed </a:t>
            </a:r>
            <a:endParaRPr sz="1600"/>
          </a:p>
        </p:txBody>
      </p:sp>
      <p:sp>
        <p:nvSpPr>
          <p:cNvPr id="1612" name="Google Shape;1612;p117"/>
          <p:cNvSpPr txBox="1"/>
          <p:nvPr>
            <p:ph idx="4294967295" type="body"/>
          </p:nvPr>
        </p:nvSpPr>
        <p:spPr>
          <a:xfrm>
            <a:off x="324000" y="1272900"/>
            <a:ext cx="84960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Firstly, if 48 people were </a:t>
            </a:r>
            <a:r>
              <a:rPr lang="en-GB" sz="1800"/>
              <a:t>surveyed, how many is 90%?</a:t>
            </a:r>
            <a:r>
              <a:rPr lang="en-GB" sz="1800"/>
              <a:t> </a:t>
            </a:r>
            <a:endParaRPr sz="1800"/>
          </a:p>
        </p:txBody>
      </p:sp>
      <p:sp>
        <p:nvSpPr>
          <p:cNvPr id="1613" name="Google Shape;1613;p117"/>
          <p:cNvSpPr txBox="1"/>
          <p:nvPr>
            <p:ph idx="4294967295" type="body"/>
          </p:nvPr>
        </p:nvSpPr>
        <p:spPr>
          <a:xfrm>
            <a:off x="324000" y="1659425"/>
            <a:ext cx="18885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48</a:t>
            </a:r>
            <a:r>
              <a:rPr lang="en-GB" sz="2000">
                <a:latin typeface="Kalam"/>
                <a:ea typeface="Kalam"/>
                <a:cs typeface="Kalam"/>
                <a:sym typeface="Kalam"/>
              </a:rPr>
              <a:t> × 0.9 = 43.2</a:t>
            </a:r>
            <a:endParaRPr sz="2000"/>
          </a:p>
        </p:txBody>
      </p:sp>
      <p:sp>
        <p:nvSpPr>
          <p:cNvPr id="1614" name="Google Shape;1614;p117"/>
          <p:cNvSpPr txBox="1"/>
          <p:nvPr>
            <p:ph idx="4294967295" type="body"/>
          </p:nvPr>
        </p:nvSpPr>
        <p:spPr>
          <a:xfrm>
            <a:off x="3369600" y="1723000"/>
            <a:ext cx="5450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This is not an integer so it is impossible for exactly 90% to see fewer wrinkles. This is likely to be a rounded number.</a:t>
            </a:r>
            <a:r>
              <a:rPr lang="en-GB" sz="1800"/>
              <a:t> </a:t>
            </a:r>
            <a:endParaRPr sz="1800"/>
          </a:p>
        </p:txBody>
      </p:sp>
      <p:sp>
        <p:nvSpPr>
          <p:cNvPr id="1615" name="Google Shape;1615;p117"/>
          <p:cNvSpPr txBox="1"/>
          <p:nvPr>
            <p:ph idx="4294967295" type="body"/>
          </p:nvPr>
        </p:nvSpPr>
        <p:spPr>
          <a:xfrm>
            <a:off x="3369600" y="2753375"/>
            <a:ext cx="5450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For example if 41 out of 48 customers </a:t>
            </a:r>
            <a:r>
              <a:rPr lang="en-GB" sz="1800"/>
              <a:t>answered</a:t>
            </a:r>
            <a:r>
              <a:rPr lang="en-GB" sz="1800"/>
              <a:t> positively: </a:t>
            </a:r>
            <a:endParaRPr sz="1800"/>
          </a:p>
        </p:txBody>
      </p:sp>
      <p:pic>
        <p:nvPicPr>
          <p:cNvPr descr="&lt;math xmlns=&quot;http://www.w3.org/1998/Math/MathML&quot; display=&quot;block&quot; data-is-equatio=&quot;1&quot; data-latex=&quot;\frac{41}{48}=85.41...\%&quot;&gt;&lt;mfrac&gt;&lt;mn&gt;41&lt;/mn&gt;&lt;mn&gt;48&lt;/mn&gt;&lt;/mfrac&gt;&lt;mo&gt;=&lt;/mo&gt;&lt;mn&gt;85.41&lt;/mn&gt;&lt;mo&gt;.&lt;/mo&gt;&lt;mo&gt;.&lt;/mo&gt;&lt;mo&gt;.&lt;/mo&gt;&lt;mi mathvariant=&quot;normal&quot;&gt;%&lt;/mi&gt;&lt;/math&gt;" id="1616" name="Google Shape;1616;p117" title="41 over 48 equals 85.41 period period period percent sign"/>
          <p:cNvPicPr preferRelativeResize="0"/>
          <p:nvPr/>
        </p:nvPicPr>
        <p:blipFill>
          <a:blip r:embed="rId3">
            <a:alphaModFix/>
          </a:blip>
          <a:stretch>
            <a:fillRect/>
          </a:stretch>
        </p:blipFill>
        <p:spPr>
          <a:xfrm>
            <a:off x="3369600" y="3402513"/>
            <a:ext cx="1472175" cy="495425"/>
          </a:xfrm>
          <a:prstGeom prst="rect">
            <a:avLst/>
          </a:prstGeom>
          <a:noFill/>
          <a:ln>
            <a:noFill/>
          </a:ln>
        </p:spPr>
      </p:pic>
      <p:sp>
        <p:nvSpPr>
          <p:cNvPr id="1617" name="Google Shape;1617;p117"/>
          <p:cNvSpPr txBox="1"/>
          <p:nvPr>
            <p:ph idx="4294967295" type="body"/>
          </p:nvPr>
        </p:nvSpPr>
        <p:spPr>
          <a:xfrm>
            <a:off x="3369600" y="4093875"/>
            <a:ext cx="5450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This would round to 90% to 1 s.f. even though it’s closer to 85% to 2 s.f.</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11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623" name="Google Shape;1623;p118"/>
          <p:cNvSpPr txBox="1"/>
          <p:nvPr>
            <p:ph idx="1" type="body"/>
          </p:nvPr>
        </p:nvSpPr>
        <p:spPr>
          <a:xfrm>
            <a:off x="324000" y="883600"/>
            <a:ext cx="8496000" cy="38001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GB" sz="2000"/>
              <a:t>Here are some other things to consider:</a:t>
            </a:r>
            <a:endParaRPr sz="2000"/>
          </a:p>
          <a:p>
            <a:pPr indent="-355600" lvl="0" marL="457200" rtl="0" algn="l">
              <a:lnSpc>
                <a:spcPct val="100000"/>
              </a:lnSpc>
              <a:spcBef>
                <a:spcPts val="1000"/>
              </a:spcBef>
              <a:spcAft>
                <a:spcPts val="0"/>
              </a:spcAft>
              <a:buSzPts val="2000"/>
              <a:buChar char="-"/>
            </a:pPr>
            <a:r>
              <a:rPr lang="en-GB" sz="2000"/>
              <a:t>Sample size of 48 is quite small. Is this because not many people responded or because the company wanted to manipulate the data?</a:t>
            </a:r>
            <a:endParaRPr sz="2000"/>
          </a:p>
          <a:p>
            <a:pPr indent="-355600" lvl="0" marL="457200" rtl="0" algn="l">
              <a:lnSpc>
                <a:spcPct val="100000"/>
              </a:lnSpc>
              <a:spcBef>
                <a:spcPts val="1000"/>
              </a:spcBef>
              <a:spcAft>
                <a:spcPts val="0"/>
              </a:spcAft>
              <a:buSzPts val="2000"/>
              <a:buChar char="-"/>
            </a:pPr>
            <a:r>
              <a:rPr lang="en-GB" sz="2000"/>
              <a:t>We do not know who was surveyed. If it was young people who do not have many wrinkles this might be misleading.</a:t>
            </a:r>
            <a:endParaRPr sz="2000"/>
          </a:p>
          <a:p>
            <a:pPr indent="-355600" lvl="0" marL="457200" rtl="0" algn="l">
              <a:lnSpc>
                <a:spcPct val="100000"/>
              </a:lnSpc>
              <a:spcBef>
                <a:spcPts val="1000"/>
              </a:spcBef>
              <a:spcAft>
                <a:spcPts val="0"/>
              </a:spcAft>
              <a:buSzPts val="2000"/>
              <a:buChar char="-"/>
            </a:pPr>
            <a:r>
              <a:rPr lang="en-GB" sz="2000"/>
              <a:t>The people who are most likely to respond to this survey are people who regularly use and like the product. </a:t>
            </a:r>
            <a:endParaRPr sz="2000"/>
          </a:p>
          <a:p>
            <a:pPr indent="-355600" lvl="0" marL="457200" rtl="0" algn="l">
              <a:lnSpc>
                <a:spcPct val="100000"/>
              </a:lnSpc>
              <a:spcBef>
                <a:spcPts val="1000"/>
              </a:spcBef>
              <a:spcAft>
                <a:spcPts val="1000"/>
              </a:spcAft>
              <a:buSzPts val="2000"/>
              <a:buChar char="-"/>
            </a:pPr>
            <a:r>
              <a:rPr lang="en-GB" sz="2000"/>
              <a:t>We do not know how the question was phrased or the time period this was tested over.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119"/>
          <p:cNvSpPr/>
          <p:nvPr/>
        </p:nvSpPr>
        <p:spPr>
          <a:xfrm>
            <a:off x="402300" y="1423350"/>
            <a:ext cx="3139200" cy="2585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9" name="Google Shape;1629;p119"/>
          <p:cNvSpPr txBox="1"/>
          <p:nvPr>
            <p:ph idx="1" type="body"/>
          </p:nvPr>
        </p:nvSpPr>
        <p:spPr>
          <a:xfrm>
            <a:off x="324000" y="759300"/>
            <a:ext cx="8237700" cy="55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Let’s look at another advert. </a:t>
            </a:r>
            <a:endParaRPr/>
          </a:p>
        </p:txBody>
      </p:sp>
      <p:sp>
        <p:nvSpPr>
          <p:cNvPr id="1630" name="Google Shape;1630;p11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adverts</a:t>
            </a:r>
            <a:endParaRPr/>
          </a:p>
        </p:txBody>
      </p:sp>
      <p:pic>
        <p:nvPicPr>
          <p:cNvPr id="1631" name="Google Shape;1631;p119"/>
          <p:cNvPicPr preferRelativeResize="0"/>
          <p:nvPr/>
        </p:nvPicPr>
        <p:blipFill>
          <a:blip r:embed="rId3">
            <a:alphaModFix/>
          </a:blip>
          <a:stretch>
            <a:fillRect/>
          </a:stretch>
        </p:blipFill>
        <p:spPr>
          <a:xfrm>
            <a:off x="641650" y="2463434"/>
            <a:ext cx="2172475" cy="776566"/>
          </a:xfrm>
          <a:prstGeom prst="rect">
            <a:avLst/>
          </a:prstGeom>
          <a:noFill/>
          <a:ln>
            <a:noFill/>
          </a:ln>
        </p:spPr>
      </p:pic>
      <p:sp>
        <p:nvSpPr>
          <p:cNvPr id="1632" name="Google Shape;1632;p119"/>
          <p:cNvSpPr txBox="1"/>
          <p:nvPr>
            <p:ph idx="4294967295" type="body"/>
          </p:nvPr>
        </p:nvSpPr>
        <p:spPr>
          <a:xfrm>
            <a:off x="440850" y="1460400"/>
            <a:ext cx="3014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“Carl’s cars is the fastest growing car brand in the UK!”</a:t>
            </a:r>
            <a:endParaRPr sz="1900"/>
          </a:p>
        </p:txBody>
      </p:sp>
      <p:sp>
        <p:nvSpPr>
          <p:cNvPr id="1633" name="Google Shape;1633;p119"/>
          <p:cNvSpPr txBox="1"/>
          <p:nvPr>
            <p:ph idx="4294967295" type="body"/>
          </p:nvPr>
        </p:nvSpPr>
        <p:spPr>
          <a:xfrm>
            <a:off x="464700" y="3352350"/>
            <a:ext cx="3014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Join the new craze, buy a Carl’s car.</a:t>
            </a:r>
            <a:endParaRPr sz="1900"/>
          </a:p>
        </p:txBody>
      </p:sp>
      <p:sp>
        <p:nvSpPr>
          <p:cNvPr id="1634" name="Google Shape;1634;p119"/>
          <p:cNvSpPr txBox="1"/>
          <p:nvPr>
            <p:ph idx="1" type="body"/>
          </p:nvPr>
        </p:nvSpPr>
        <p:spPr>
          <a:xfrm>
            <a:off x="3742675" y="1460400"/>
            <a:ext cx="5077200" cy="55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Why do you think this advert used this claim?</a:t>
            </a:r>
            <a:endParaRPr sz="2000"/>
          </a:p>
        </p:txBody>
      </p:sp>
      <p:sp>
        <p:nvSpPr>
          <p:cNvPr id="1635" name="Google Shape;1635;p119"/>
          <p:cNvSpPr txBox="1"/>
          <p:nvPr>
            <p:ph idx="4294967295" type="body"/>
          </p:nvPr>
        </p:nvSpPr>
        <p:spPr>
          <a:xfrm>
            <a:off x="3742675" y="2235300"/>
            <a:ext cx="5077200" cy="2585100"/>
          </a:xfrm>
          <a:prstGeom prst="rect">
            <a:avLst/>
          </a:prstGeom>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If the brand is growing fast that suggests it is a good company which people like.</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It </a:t>
            </a:r>
            <a:r>
              <a:rPr lang="en-GB" sz="2000">
                <a:latin typeface="Kalam"/>
                <a:ea typeface="Kalam"/>
                <a:cs typeface="Kalam"/>
                <a:sym typeface="Kalam"/>
              </a:rPr>
              <a:t>appeals</a:t>
            </a:r>
            <a:r>
              <a:rPr lang="en-GB" sz="2000">
                <a:latin typeface="Kalam"/>
                <a:ea typeface="Kalam"/>
                <a:cs typeface="Kalam"/>
                <a:sym typeface="Kalam"/>
              </a:rPr>
              <a:t> to </a:t>
            </a:r>
            <a:r>
              <a:rPr lang="en-GB" sz="2000">
                <a:latin typeface="Kalam"/>
                <a:ea typeface="Kalam"/>
                <a:cs typeface="Kalam"/>
                <a:sym typeface="Kalam"/>
              </a:rPr>
              <a:t>people's</a:t>
            </a:r>
            <a:r>
              <a:rPr lang="en-GB" sz="2000">
                <a:latin typeface="Kalam"/>
                <a:ea typeface="Kalam"/>
                <a:cs typeface="Kalam"/>
                <a:sym typeface="Kalam"/>
              </a:rPr>
              <a:t> sense of not wanting to miss out on something everyone else has.</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It makes the brand sound like it is new and </a:t>
            </a:r>
            <a:r>
              <a:rPr lang="en-GB" sz="2000">
                <a:latin typeface="Kalam"/>
                <a:ea typeface="Kalam"/>
                <a:cs typeface="Kalam"/>
                <a:sym typeface="Kalam"/>
              </a:rPr>
              <a:t>innovative</a:t>
            </a:r>
            <a:r>
              <a:rPr lang="en-GB" sz="2000">
                <a:latin typeface="Kalam"/>
                <a:ea typeface="Kalam"/>
                <a:cs typeface="Kalam"/>
                <a:sym typeface="Kalam"/>
              </a:rPr>
              <a:t> and may have something that other brands </a:t>
            </a:r>
            <a:r>
              <a:rPr lang="en-GB" sz="2000">
                <a:latin typeface="Kalam"/>
                <a:ea typeface="Kalam"/>
                <a:cs typeface="Kalam"/>
                <a:sym typeface="Kalam"/>
              </a:rPr>
              <a:t>do not</a:t>
            </a:r>
            <a:r>
              <a:rPr lang="en-GB" sz="2000">
                <a:latin typeface="Kalam"/>
                <a:ea typeface="Kalam"/>
                <a:cs typeface="Kalam"/>
                <a:sym typeface="Kalam"/>
              </a:rPr>
              <a:t>. </a:t>
            </a: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120"/>
          <p:cNvSpPr/>
          <p:nvPr/>
        </p:nvSpPr>
        <p:spPr>
          <a:xfrm>
            <a:off x="402300" y="1423350"/>
            <a:ext cx="3139200" cy="2585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1" name="Google Shape;1641;p120"/>
          <p:cNvSpPr txBox="1"/>
          <p:nvPr>
            <p:ph idx="1" type="body"/>
          </p:nvPr>
        </p:nvSpPr>
        <p:spPr>
          <a:xfrm>
            <a:off x="324000" y="759300"/>
            <a:ext cx="8237700" cy="55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Let’s look at another advert. </a:t>
            </a:r>
            <a:endParaRPr/>
          </a:p>
        </p:txBody>
      </p:sp>
      <p:sp>
        <p:nvSpPr>
          <p:cNvPr id="1642" name="Google Shape;1642;p12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adverts</a:t>
            </a:r>
            <a:endParaRPr/>
          </a:p>
        </p:txBody>
      </p:sp>
      <p:pic>
        <p:nvPicPr>
          <p:cNvPr id="1643" name="Google Shape;1643;p120"/>
          <p:cNvPicPr preferRelativeResize="0"/>
          <p:nvPr/>
        </p:nvPicPr>
        <p:blipFill>
          <a:blip r:embed="rId3">
            <a:alphaModFix/>
          </a:blip>
          <a:stretch>
            <a:fillRect/>
          </a:stretch>
        </p:blipFill>
        <p:spPr>
          <a:xfrm>
            <a:off x="641650" y="2463434"/>
            <a:ext cx="2172475" cy="776566"/>
          </a:xfrm>
          <a:prstGeom prst="rect">
            <a:avLst/>
          </a:prstGeom>
          <a:noFill/>
          <a:ln>
            <a:noFill/>
          </a:ln>
        </p:spPr>
      </p:pic>
      <p:sp>
        <p:nvSpPr>
          <p:cNvPr id="1644" name="Google Shape;1644;p120"/>
          <p:cNvSpPr txBox="1"/>
          <p:nvPr>
            <p:ph idx="4294967295" type="body"/>
          </p:nvPr>
        </p:nvSpPr>
        <p:spPr>
          <a:xfrm>
            <a:off x="440850" y="1460400"/>
            <a:ext cx="3014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“Carl’s cars is the fastest growing car brand in the UK!”</a:t>
            </a:r>
            <a:endParaRPr sz="1900"/>
          </a:p>
        </p:txBody>
      </p:sp>
      <p:sp>
        <p:nvSpPr>
          <p:cNvPr id="1645" name="Google Shape;1645;p120"/>
          <p:cNvSpPr txBox="1"/>
          <p:nvPr>
            <p:ph idx="4294967295" type="body"/>
          </p:nvPr>
        </p:nvSpPr>
        <p:spPr>
          <a:xfrm>
            <a:off x="464700" y="3352350"/>
            <a:ext cx="3014400" cy="367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900"/>
              <a:t>Join the new craze, buy a Carl’s car.</a:t>
            </a:r>
            <a:endParaRPr sz="1900"/>
          </a:p>
        </p:txBody>
      </p:sp>
      <p:sp>
        <p:nvSpPr>
          <p:cNvPr id="1646" name="Google Shape;1646;p120"/>
          <p:cNvSpPr txBox="1"/>
          <p:nvPr>
            <p:ph idx="1" type="body"/>
          </p:nvPr>
        </p:nvSpPr>
        <p:spPr>
          <a:xfrm>
            <a:off x="3584700" y="1194750"/>
            <a:ext cx="5200800" cy="55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Carl’s cars used these figures to back up their claim: </a:t>
            </a:r>
            <a:endParaRPr sz="2000"/>
          </a:p>
        </p:txBody>
      </p:sp>
      <p:graphicFrame>
        <p:nvGraphicFramePr>
          <p:cNvPr id="1647" name="Google Shape;1647;p120"/>
          <p:cNvGraphicFramePr/>
          <p:nvPr/>
        </p:nvGraphicFramePr>
        <p:xfrm>
          <a:off x="5022232" y="1581999"/>
          <a:ext cx="3000000" cy="3000000"/>
        </p:xfrm>
        <a:graphic>
          <a:graphicData uri="http://schemas.openxmlformats.org/drawingml/2006/table">
            <a:tbl>
              <a:tblPr>
                <a:noFill/>
                <a:tableStyleId>{10AFA74E-A8D8-4ED3-82F3-7211547E49B6}</a:tableStyleId>
              </a:tblPr>
              <a:tblGrid>
                <a:gridCol w="912900"/>
                <a:gridCol w="2779500"/>
              </a:tblGrid>
              <a:tr h="315600">
                <a:tc>
                  <a:txBody>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Year</a:t>
                      </a:r>
                      <a:endParaRPr b="1" sz="18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Number of customers </a:t>
                      </a:r>
                      <a:endParaRPr b="1" sz="18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2850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8620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25 910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1648" name="Google Shape;1648;p120"/>
          <p:cNvGrpSpPr/>
          <p:nvPr/>
        </p:nvGrpSpPr>
        <p:grpSpPr>
          <a:xfrm>
            <a:off x="3515435" y="2794402"/>
            <a:ext cx="5126588" cy="1726495"/>
            <a:chOff x="3515435" y="2794402"/>
            <a:chExt cx="5126588" cy="1726495"/>
          </a:xfrm>
        </p:grpSpPr>
        <p:pic>
          <p:nvPicPr>
            <p:cNvPr id="1649" name="Google Shape;1649;p120"/>
            <p:cNvPicPr preferRelativeResize="0"/>
            <p:nvPr/>
          </p:nvPicPr>
          <p:blipFill>
            <a:blip r:embed="rId4">
              <a:alphaModFix/>
            </a:blip>
            <a:stretch>
              <a:fillRect/>
            </a:stretch>
          </p:blipFill>
          <p:spPr>
            <a:xfrm>
              <a:off x="3731699" y="3661900"/>
              <a:ext cx="448587" cy="858997"/>
            </a:xfrm>
            <a:prstGeom prst="rect">
              <a:avLst/>
            </a:prstGeom>
            <a:noFill/>
            <a:ln>
              <a:noFill/>
            </a:ln>
          </p:spPr>
        </p:pic>
        <p:sp>
          <p:nvSpPr>
            <p:cNvPr id="1650" name="Google Shape;1650;p120"/>
            <p:cNvSpPr txBox="1"/>
            <p:nvPr/>
          </p:nvSpPr>
          <p:spPr>
            <a:xfrm>
              <a:off x="3515435" y="3165750"/>
              <a:ext cx="881100" cy="467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grpSp>
          <p:nvGrpSpPr>
            <p:cNvPr id="1651" name="Google Shape;1651;p120"/>
            <p:cNvGrpSpPr/>
            <p:nvPr/>
          </p:nvGrpSpPr>
          <p:grpSpPr>
            <a:xfrm>
              <a:off x="4180261" y="2794402"/>
              <a:ext cx="4461762" cy="1657979"/>
              <a:chOff x="1902381" y="1608371"/>
              <a:chExt cx="1814979" cy="1553870"/>
            </a:xfrm>
          </p:grpSpPr>
          <p:pic>
            <p:nvPicPr>
              <p:cNvPr id="1652" name="Google Shape;1652;p120"/>
              <p:cNvPicPr preferRelativeResize="0"/>
              <p:nvPr/>
            </p:nvPicPr>
            <p:blipFill rotWithShape="1">
              <a:blip r:embed="rId5">
                <a:alphaModFix/>
              </a:blip>
              <a:srcRect b="0" l="0" r="69082" t="56280"/>
              <a:stretch/>
            </p:blipFill>
            <p:spPr>
              <a:xfrm flipH="1">
                <a:off x="1902381" y="1608371"/>
                <a:ext cx="1814979" cy="1553870"/>
              </a:xfrm>
              <a:prstGeom prst="rect">
                <a:avLst/>
              </a:prstGeom>
              <a:noFill/>
              <a:ln>
                <a:noFill/>
              </a:ln>
            </p:spPr>
          </p:pic>
          <p:sp>
            <p:nvSpPr>
              <p:cNvPr id="1653" name="Google Shape;1653;p120"/>
              <p:cNvSpPr txBox="1"/>
              <p:nvPr/>
            </p:nvSpPr>
            <p:spPr>
              <a:xfrm flipH="1">
                <a:off x="2025818" y="1783884"/>
                <a:ext cx="1665600" cy="1144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1000"/>
                  </a:spcAft>
                  <a:buNone/>
                </a:pPr>
                <a:r>
                  <a:rPr lang="en-GB" sz="1800">
                    <a:latin typeface="Lexend"/>
                    <a:ea typeface="Lexend"/>
                    <a:cs typeface="Lexend"/>
                    <a:sym typeface="Lexend"/>
                  </a:rPr>
                  <a:t>But I </a:t>
                </a:r>
                <a:r>
                  <a:rPr lang="en-GB" sz="1800">
                    <a:latin typeface="Lexend"/>
                    <a:ea typeface="Lexend"/>
                    <a:cs typeface="Lexend"/>
                    <a:sym typeface="Lexend"/>
                  </a:rPr>
                  <a:t>have</a:t>
                </a:r>
                <a:r>
                  <a:rPr lang="en-GB" sz="1800">
                    <a:latin typeface="Lexend"/>
                    <a:ea typeface="Lexend"/>
                    <a:cs typeface="Lexend"/>
                    <a:sym typeface="Lexend"/>
                  </a:rPr>
                  <a:t> just found another car company whose customers increased from 400 000 to 480 000 last year. </a:t>
                </a:r>
                <a:endParaRPr sz="1800">
                  <a:solidFill>
                    <a:srgbClr val="000000"/>
                  </a:solidFill>
                  <a:latin typeface="Lexend"/>
                  <a:ea typeface="Lexend"/>
                  <a:cs typeface="Lexend"/>
                  <a:sym typeface="Lexend"/>
                </a:endParaRPr>
              </a:p>
            </p:txBody>
          </p:sp>
        </p:grpSp>
      </p:grpSp>
      <p:sp>
        <p:nvSpPr>
          <p:cNvPr id="1654" name="Google Shape;1654;p120"/>
          <p:cNvSpPr txBox="1"/>
          <p:nvPr>
            <p:ph idx="1" type="body"/>
          </p:nvPr>
        </p:nvSpPr>
        <p:spPr>
          <a:xfrm>
            <a:off x="4572000" y="4452600"/>
            <a:ext cx="3692400" cy="36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So i</a:t>
            </a:r>
            <a:r>
              <a:rPr lang="en-GB" sz="2000"/>
              <a:t>s Carl’s cars’ claim false?</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121"/>
          <p:cNvSpPr/>
          <p:nvPr/>
        </p:nvSpPr>
        <p:spPr>
          <a:xfrm>
            <a:off x="6347575" y="1846575"/>
            <a:ext cx="1111500" cy="9768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0" name="Google Shape;1660;p121"/>
          <p:cNvSpPr txBox="1"/>
          <p:nvPr>
            <p:ph idx="1" type="body"/>
          </p:nvPr>
        </p:nvSpPr>
        <p:spPr>
          <a:xfrm>
            <a:off x="324000" y="759300"/>
            <a:ext cx="8237700" cy="55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issue here is with the difference between numerical increase and percentage increase. </a:t>
            </a:r>
            <a:r>
              <a:rPr lang="en-GB"/>
              <a:t> </a:t>
            </a:r>
            <a:endParaRPr/>
          </a:p>
        </p:txBody>
      </p:sp>
      <p:sp>
        <p:nvSpPr>
          <p:cNvPr id="1661" name="Google Shape;1661;p12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adverts</a:t>
            </a:r>
            <a:endParaRPr/>
          </a:p>
        </p:txBody>
      </p:sp>
      <p:pic>
        <p:nvPicPr>
          <p:cNvPr id="1662" name="Google Shape;1662;p121"/>
          <p:cNvPicPr preferRelativeResize="0"/>
          <p:nvPr/>
        </p:nvPicPr>
        <p:blipFill rotWithShape="1">
          <a:blip r:embed="rId3">
            <a:alphaModFix/>
          </a:blip>
          <a:srcRect b="12671" l="61925" r="14808" t="74256"/>
          <a:stretch/>
        </p:blipFill>
        <p:spPr>
          <a:xfrm rot="5400000">
            <a:off x="3955731" y="2134294"/>
            <a:ext cx="384588" cy="346199"/>
          </a:xfrm>
          <a:prstGeom prst="rect">
            <a:avLst/>
          </a:prstGeom>
          <a:noFill/>
          <a:ln>
            <a:noFill/>
          </a:ln>
        </p:spPr>
      </p:pic>
      <p:sp>
        <p:nvSpPr>
          <p:cNvPr id="1663" name="Google Shape;1663;p121"/>
          <p:cNvSpPr txBox="1"/>
          <p:nvPr/>
        </p:nvSpPr>
        <p:spPr>
          <a:xfrm>
            <a:off x="4297050" y="2154745"/>
            <a:ext cx="1053900" cy="34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a:t>
            </a:r>
            <a:r>
              <a:rPr lang="en-GB" sz="1800">
                <a:latin typeface="Lexend"/>
                <a:ea typeface="Lexend"/>
                <a:cs typeface="Lexend"/>
                <a:sym typeface="Lexend"/>
              </a:rPr>
              <a:t> 5770</a:t>
            </a:r>
            <a:endParaRPr sz="1800">
              <a:solidFill>
                <a:srgbClr val="000000"/>
              </a:solidFill>
              <a:latin typeface="Lexend"/>
              <a:ea typeface="Lexend"/>
              <a:cs typeface="Lexend"/>
              <a:sym typeface="Lexend"/>
            </a:endParaRPr>
          </a:p>
        </p:txBody>
      </p:sp>
      <p:pic>
        <p:nvPicPr>
          <p:cNvPr id="1664" name="Google Shape;1664;p121"/>
          <p:cNvPicPr preferRelativeResize="0"/>
          <p:nvPr/>
        </p:nvPicPr>
        <p:blipFill rotWithShape="1">
          <a:blip r:embed="rId3">
            <a:alphaModFix/>
          </a:blip>
          <a:srcRect b="12671" l="61925" r="14808" t="74256"/>
          <a:stretch/>
        </p:blipFill>
        <p:spPr>
          <a:xfrm rot="5400000">
            <a:off x="3955731" y="2458079"/>
            <a:ext cx="384588" cy="346199"/>
          </a:xfrm>
          <a:prstGeom prst="rect">
            <a:avLst/>
          </a:prstGeom>
          <a:noFill/>
          <a:ln>
            <a:noFill/>
          </a:ln>
        </p:spPr>
      </p:pic>
      <p:sp>
        <p:nvSpPr>
          <p:cNvPr id="1665" name="Google Shape;1665;p121"/>
          <p:cNvSpPr txBox="1"/>
          <p:nvPr/>
        </p:nvSpPr>
        <p:spPr>
          <a:xfrm>
            <a:off x="4297050" y="2478529"/>
            <a:ext cx="1053900" cy="34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+ 17 290</a:t>
            </a:r>
            <a:endParaRPr sz="1800">
              <a:solidFill>
                <a:srgbClr val="000000"/>
              </a:solidFill>
              <a:latin typeface="Lexend"/>
              <a:ea typeface="Lexend"/>
              <a:cs typeface="Lexend"/>
              <a:sym typeface="Lexend"/>
            </a:endParaRPr>
          </a:p>
        </p:txBody>
      </p:sp>
      <p:sp>
        <p:nvSpPr>
          <p:cNvPr id="1666" name="Google Shape;1666;p121"/>
          <p:cNvSpPr txBox="1"/>
          <p:nvPr/>
        </p:nvSpPr>
        <p:spPr>
          <a:xfrm>
            <a:off x="6433825" y="1988825"/>
            <a:ext cx="2402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400 000</a:t>
            </a:r>
            <a:endParaRPr sz="1800">
              <a:solidFill>
                <a:srgbClr val="000000"/>
              </a:solidFill>
              <a:latin typeface="Lexend"/>
              <a:ea typeface="Lexend"/>
              <a:cs typeface="Lexend"/>
              <a:sym typeface="Lexend"/>
            </a:endParaRPr>
          </a:p>
        </p:txBody>
      </p:sp>
      <p:sp>
        <p:nvSpPr>
          <p:cNvPr id="1667" name="Google Shape;1667;p121"/>
          <p:cNvSpPr txBox="1"/>
          <p:nvPr/>
        </p:nvSpPr>
        <p:spPr>
          <a:xfrm>
            <a:off x="6433825" y="2417575"/>
            <a:ext cx="2402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480 000</a:t>
            </a:r>
            <a:endParaRPr sz="1800">
              <a:solidFill>
                <a:srgbClr val="000000"/>
              </a:solidFill>
              <a:latin typeface="Lexend"/>
              <a:ea typeface="Lexend"/>
              <a:cs typeface="Lexend"/>
              <a:sym typeface="Lexend"/>
            </a:endParaRPr>
          </a:p>
        </p:txBody>
      </p:sp>
      <p:pic>
        <p:nvPicPr>
          <p:cNvPr id="1668" name="Google Shape;1668;p121"/>
          <p:cNvPicPr preferRelativeResize="0"/>
          <p:nvPr/>
        </p:nvPicPr>
        <p:blipFill rotWithShape="1">
          <a:blip r:embed="rId3">
            <a:alphaModFix/>
          </a:blip>
          <a:srcRect b="12671" l="61925" r="14808" t="74256"/>
          <a:stretch/>
        </p:blipFill>
        <p:spPr>
          <a:xfrm rot="5400000">
            <a:off x="7390801" y="2155149"/>
            <a:ext cx="452548" cy="346199"/>
          </a:xfrm>
          <a:prstGeom prst="rect">
            <a:avLst/>
          </a:prstGeom>
          <a:noFill/>
          <a:ln>
            <a:noFill/>
          </a:ln>
        </p:spPr>
      </p:pic>
      <p:sp>
        <p:nvSpPr>
          <p:cNvPr id="1669" name="Google Shape;1669;p121"/>
          <p:cNvSpPr txBox="1"/>
          <p:nvPr/>
        </p:nvSpPr>
        <p:spPr>
          <a:xfrm>
            <a:off x="7766100" y="2148625"/>
            <a:ext cx="10539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+ 80 000</a:t>
            </a:r>
            <a:endParaRPr sz="1800">
              <a:solidFill>
                <a:srgbClr val="000000"/>
              </a:solidFill>
              <a:latin typeface="Lexend"/>
              <a:ea typeface="Lexend"/>
              <a:cs typeface="Lexend"/>
              <a:sym typeface="Lexend"/>
            </a:endParaRPr>
          </a:p>
        </p:txBody>
      </p:sp>
      <p:sp>
        <p:nvSpPr>
          <p:cNvPr id="1670" name="Google Shape;1670;p121"/>
          <p:cNvSpPr txBox="1"/>
          <p:nvPr>
            <p:ph idx="1" type="body"/>
          </p:nvPr>
        </p:nvSpPr>
        <p:spPr>
          <a:xfrm>
            <a:off x="324000" y="3154825"/>
            <a:ext cx="8496000" cy="36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company Aisha found got more new customers last year than Carl’s cars. </a:t>
            </a:r>
            <a:endParaRPr sz="1800"/>
          </a:p>
        </p:txBody>
      </p:sp>
      <p:sp>
        <p:nvSpPr>
          <p:cNvPr id="1671" name="Google Shape;1671;p121"/>
          <p:cNvSpPr txBox="1"/>
          <p:nvPr>
            <p:ph idx="1" type="body"/>
          </p:nvPr>
        </p:nvSpPr>
        <p:spPr>
          <a:xfrm>
            <a:off x="324000" y="3770050"/>
            <a:ext cx="8496000" cy="36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is the percentage increase for both companies? </a:t>
            </a:r>
            <a:r>
              <a:rPr lang="en-GB" sz="1800"/>
              <a:t> </a:t>
            </a:r>
            <a:endParaRPr sz="1800"/>
          </a:p>
        </p:txBody>
      </p:sp>
      <p:sp>
        <p:nvSpPr>
          <p:cNvPr id="1672" name="Google Shape;1672;p121"/>
          <p:cNvSpPr txBox="1"/>
          <p:nvPr>
            <p:ph idx="4294967295" type="body"/>
          </p:nvPr>
        </p:nvSpPr>
        <p:spPr>
          <a:xfrm>
            <a:off x="324000" y="4144350"/>
            <a:ext cx="31674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5770</a:t>
            </a:r>
            <a:r>
              <a:rPr lang="en-GB" sz="2000">
                <a:latin typeface="Kalam"/>
                <a:ea typeface="Kalam"/>
                <a:cs typeface="Kalam"/>
                <a:sym typeface="Kalam"/>
              </a:rPr>
              <a:t> ÷ 2850 = 2.024…</a:t>
            </a:r>
            <a:r>
              <a:rPr lang="en-GB" sz="2000"/>
              <a:t> </a:t>
            </a:r>
            <a:endParaRPr sz="2000"/>
          </a:p>
        </p:txBody>
      </p:sp>
      <p:sp>
        <p:nvSpPr>
          <p:cNvPr id="1673" name="Google Shape;1673;p121"/>
          <p:cNvSpPr txBox="1"/>
          <p:nvPr>
            <p:ph idx="4294967295" type="body"/>
          </p:nvPr>
        </p:nvSpPr>
        <p:spPr>
          <a:xfrm>
            <a:off x="324000" y="4502150"/>
            <a:ext cx="17991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202% increase</a:t>
            </a:r>
            <a:r>
              <a:rPr lang="en-GB" sz="2000"/>
              <a:t> </a:t>
            </a:r>
            <a:endParaRPr sz="2000"/>
          </a:p>
        </p:txBody>
      </p:sp>
      <p:sp>
        <p:nvSpPr>
          <p:cNvPr id="1674" name="Google Shape;1674;p121"/>
          <p:cNvSpPr txBox="1"/>
          <p:nvPr>
            <p:ph idx="4294967295" type="body"/>
          </p:nvPr>
        </p:nvSpPr>
        <p:spPr>
          <a:xfrm>
            <a:off x="3306750" y="4150850"/>
            <a:ext cx="31674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17 290</a:t>
            </a:r>
            <a:r>
              <a:rPr lang="en-GB" sz="2000">
                <a:latin typeface="Kalam"/>
                <a:ea typeface="Kalam"/>
                <a:cs typeface="Kalam"/>
                <a:sym typeface="Kalam"/>
              </a:rPr>
              <a:t> ÷ 8620 = 2.005…</a:t>
            </a:r>
            <a:r>
              <a:rPr lang="en-GB" sz="2000"/>
              <a:t> </a:t>
            </a:r>
            <a:endParaRPr sz="2000"/>
          </a:p>
        </p:txBody>
      </p:sp>
      <p:sp>
        <p:nvSpPr>
          <p:cNvPr id="1675" name="Google Shape;1675;p121"/>
          <p:cNvSpPr txBox="1"/>
          <p:nvPr>
            <p:ph idx="4294967295" type="body"/>
          </p:nvPr>
        </p:nvSpPr>
        <p:spPr>
          <a:xfrm>
            <a:off x="3306750" y="4515150"/>
            <a:ext cx="1829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a:t>
            </a:r>
            <a:r>
              <a:rPr lang="en-GB" sz="2000">
                <a:latin typeface="Kalam"/>
                <a:ea typeface="Kalam"/>
                <a:cs typeface="Kalam"/>
                <a:sym typeface="Kalam"/>
              </a:rPr>
              <a:t>01% increase</a:t>
            </a:r>
            <a:r>
              <a:rPr lang="en-GB" sz="2000"/>
              <a:t> </a:t>
            </a:r>
            <a:endParaRPr sz="2000"/>
          </a:p>
        </p:txBody>
      </p:sp>
      <p:sp>
        <p:nvSpPr>
          <p:cNvPr id="1676" name="Google Shape;1676;p121"/>
          <p:cNvSpPr txBox="1"/>
          <p:nvPr>
            <p:ph idx="4294967295" type="body"/>
          </p:nvPr>
        </p:nvSpPr>
        <p:spPr>
          <a:xfrm>
            <a:off x="6347575" y="3770050"/>
            <a:ext cx="2574600" cy="35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None/>
            </a:pPr>
            <a:r>
              <a:rPr lang="en-GB" sz="2000">
                <a:latin typeface="Kalam"/>
                <a:ea typeface="Kalam"/>
                <a:cs typeface="Kalam"/>
                <a:sym typeface="Kalam"/>
              </a:rPr>
              <a:t>Carl’s cars is growing at a rate of 200% a year!</a:t>
            </a:r>
            <a:r>
              <a:rPr lang="en-GB" sz="2000"/>
              <a:t> </a:t>
            </a:r>
            <a:endParaRPr sz="2000"/>
          </a:p>
        </p:txBody>
      </p:sp>
      <p:graphicFrame>
        <p:nvGraphicFramePr>
          <p:cNvPr id="1677" name="Google Shape;1677;p121"/>
          <p:cNvGraphicFramePr/>
          <p:nvPr/>
        </p:nvGraphicFramePr>
        <p:xfrm>
          <a:off x="324007" y="1648762"/>
          <a:ext cx="3000000" cy="3000000"/>
        </p:xfrm>
        <a:graphic>
          <a:graphicData uri="http://schemas.openxmlformats.org/drawingml/2006/table">
            <a:tbl>
              <a:tblPr>
                <a:noFill/>
                <a:tableStyleId>{10AFA74E-A8D8-4ED3-82F3-7211547E49B6}</a:tableStyleId>
              </a:tblPr>
              <a:tblGrid>
                <a:gridCol w="912900"/>
                <a:gridCol w="2779500"/>
              </a:tblGrid>
              <a:tr h="315600">
                <a:tc>
                  <a:txBody>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Year</a:t>
                      </a:r>
                      <a:endParaRPr b="1" sz="18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Number of customers </a:t>
                      </a:r>
                      <a:endParaRPr b="1" sz="18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2850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8620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25 910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1" name="Shape 1681"/>
        <p:cNvGrpSpPr/>
        <p:nvPr/>
      </p:nvGrpSpPr>
      <p:grpSpPr>
        <a:xfrm>
          <a:off x="0" y="0"/>
          <a:ext cx="0" cy="0"/>
          <a:chOff x="0" y="0"/>
          <a:chExt cx="0" cy="0"/>
        </a:xfrm>
      </p:grpSpPr>
      <p:sp>
        <p:nvSpPr>
          <p:cNvPr id="1682" name="Google Shape;1682;p122"/>
          <p:cNvSpPr txBox="1"/>
          <p:nvPr>
            <p:ph idx="1" type="body"/>
          </p:nvPr>
        </p:nvSpPr>
        <p:spPr>
          <a:xfrm>
            <a:off x="324000" y="759300"/>
            <a:ext cx="8237700" cy="55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issue here is with the difference between numerical increase and percentage increase.  </a:t>
            </a:r>
            <a:endParaRPr/>
          </a:p>
        </p:txBody>
      </p:sp>
      <p:sp>
        <p:nvSpPr>
          <p:cNvPr id="1683" name="Google Shape;1683;p12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adverts</a:t>
            </a:r>
            <a:endParaRPr/>
          </a:p>
        </p:txBody>
      </p:sp>
      <p:sp>
        <p:nvSpPr>
          <p:cNvPr id="1684" name="Google Shape;1684;p122"/>
          <p:cNvSpPr txBox="1"/>
          <p:nvPr/>
        </p:nvSpPr>
        <p:spPr>
          <a:xfrm>
            <a:off x="6433825" y="1988825"/>
            <a:ext cx="2402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400 000</a:t>
            </a:r>
            <a:endParaRPr sz="1800">
              <a:solidFill>
                <a:srgbClr val="000000"/>
              </a:solidFill>
              <a:latin typeface="Lexend"/>
              <a:ea typeface="Lexend"/>
              <a:cs typeface="Lexend"/>
              <a:sym typeface="Lexend"/>
            </a:endParaRPr>
          </a:p>
        </p:txBody>
      </p:sp>
      <p:sp>
        <p:nvSpPr>
          <p:cNvPr id="1685" name="Google Shape;1685;p122"/>
          <p:cNvSpPr txBox="1"/>
          <p:nvPr/>
        </p:nvSpPr>
        <p:spPr>
          <a:xfrm>
            <a:off x="6433825" y="2417575"/>
            <a:ext cx="24021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480 000</a:t>
            </a:r>
            <a:endParaRPr sz="1800">
              <a:solidFill>
                <a:srgbClr val="000000"/>
              </a:solidFill>
              <a:latin typeface="Lexend"/>
              <a:ea typeface="Lexend"/>
              <a:cs typeface="Lexend"/>
              <a:sym typeface="Lexend"/>
            </a:endParaRPr>
          </a:p>
        </p:txBody>
      </p:sp>
      <p:pic>
        <p:nvPicPr>
          <p:cNvPr id="1686" name="Google Shape;1686;p122"/>
          <p:cNvPicPr preferRelativeResize="0"/>
          <p:nvPr/>
        </p:nvPicPr>
        <p:blipFill rotWithShape="1">
          <a:blip r:embed="rId3">
            <a:alphaModFix/>
          </a:blip>
          <a:srcRect b="12671" l="61925" r="14808" t="74256"/>
          <a:stretch/>
        </p:blipFill>
        <p:spPr>
          <a:xfrm rot="5400000">
            <a:off x="7390801" y="2155149"/>
            <a:ext cx="452548" cy="346199"/>
          </a:xfrm>
          <a:prstGeom prst="rect">
            <a:avLst/>
          </a:prstGeom>
          <a:noFill/>
          <a:ln>
            <a:noFill/>
          </a:ln>
        </p:spPr>
      </p:pic>
      <p:sp>
        <p:nvSpPr>
          <p:cNvPr id="1687" name="Google Shape;1687;p122"/>
          <p:cNvSpPr txBox="1"/>
          <p:nvPr/>
        </p:nvSpPr>
        <p:spPr>
          <a:xfrm>
            <a:off x="7766100" y="2148625"/>
            <a:ext cx="1053900" cy="40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+ 80 000</a:t>
            </a:r>
            <a:endParaRPr sz="1800">
              <a:solidFill>
                <a:srgbClr val="000000"/>
              </a:solidFill>
              <a:latin typeface="Lexend"/>
              <a:ea typeface="Lexend"/>
              <a:cs typeface="Lexend"/>
              <a:sym typeface="Lexend"/>
            </a:endParaRPr>
          </a:p>
        </p:txBody>
      </p:sp>
      <p:sp>
        <p:nvSpPr>
          <p:cNvPr id="1688" name="Google Shape;1688;p122"/>
          <p:cNvSpPr txBox="1"/>
          <p:nvPr>
            <p:ph idx="1" type="body"/>
          </p:nvPr>
        </p:nvSpPr>
        <p:spPr>
          <a:xfrm>
            <a:off x="324000" y="3154825"/>
            <a:ext cx="8496000" cy="36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company Aisha found got more new customers last year than Carl’s cars. </a:t>
            </a:r>
            <a:endParaRPr sz="1800"/>
          </a:p>
        </p:txBody>
      </p:sp>
      <p:sp>
        <p:nvSpPr>
          <p:cNvPr id="1689" name="Google Shape;1689;p122"/>
          <p:cNvSpPr txBox="1"/>
          <p:nvPr>
            <p:ph idx="1" type="body"/>
          </p:nvPr>
        </p:nvSpPr>
        <p:spPr>
          <a:xfrm>
            <a:off x="324000" y="3770050"/>
            <a:ext cx="8496000" cy="367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is the percentage increase for both companies?  </a:t>
            </a:r>
            <a:endParaRPr sz="1800"/>
          </a:p>
        </p:txBody>
      </p:sp>
      <p:sp>
        <p:nvSpPr>
          <p:cNvPr id="1690" name="Google Shape;1690;p122"/>
          <p:cNvSpPr txBox="1"/>
          <p:nvPr>
            <p:ph idx="4294967295" type="body"/>
          </p:nvPr>
        </p:nvSpPr>
        <p:spPr>
          <a:xfrm>
            <a:off x="324000" y="4144350"/>
            <a:ext cx="31674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80 000</a:t>
            </a:r>
            <a:r>
              <a:rPr lang="en-GB" sz="2000">
                <a:latin typeface="Kalam"/>
                <a:ea typeface="Kalam"/>
                <a:cs typeface="Kalam"/>
                <a:sym typeface="Kalam"/>
              </a:rPr>
              <a:t> ÷ 400 000 = 0.2</a:t>
            </a:r>
            <a:r>
              <a:rPr lang="en-GB" sz="2000"/>
              <a:t> </a:t>
            </a:r>
            <a:endParaRPr sz="2000"/>
          </a:p>
        </p:txBody>
      </p:sp>
      <p:sp>
        <p:nvSpPr>
          <p:cNvPr id="1691" name="Google Shape;1691;p122"/>
          <p:cNvSpPr txBox="1"/>
          <p:nvPr>
            <p:ph idx="4294967295" type="body"/>
          </p:nvPr>
        </p:nvSpPr>
        <p:spPr>
          <a:xfrm>
            <a:off x="3420150" y="4081225"/>
            <a:ext cx="50271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other company is only growing at a rate of 20% per year.</a:t>
            </a:r>
            <a:r>
              <a:rPr lang="en-GB" sz="2000"/>
              <a:t> </a:t>
            </a:r>
            <a:endParaRPr sz="2000"/>
          </a:p>
        </p:txBody>
      </p:sp>
      <p:graphicFrame>
        <p:nvGraphicFramePr>
          <p:cNvPr id="1692" name="Google Shape;1692;p122"/>
          <p:cNvGraphicFramePr/>
          <p:nvPr/>
        </p:nvGraphicFramePr>
        <p:xfrm>
          <a:off x="324007" y="1648762"/>
          <a:ext cx="3000000" cy="3000000"/>
        </p:xfrm>
        <a:graphic>
          <a:graphicData uri="http://schemas.openxmlformats.org/drawingml/2006/table">
            <a:tbl>
              <a:tblPr>
                <a:noFill/>
                <a:tableStyleId>{10AFA74E-A8D8-4ED3-82F3-7211547E49B6}</a:tableStyleId>
              </a:tblPr>
              <a:tblGrid>
                <a:gridCol w="912900"/>
                <a:gridCol w="2779500"/>
              </a:tblGrid>
              <a:tr h="315600">
                <a:tc>
                  <a:txBody>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Year</a:t>
                      </a:r>
                      <a:endParaRPr b="1" sz="18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Number of customers </a:t>
                      </a:r>
                      <a:endParaRPr b="1" sz="1800">
                        <a:solidFill>
                          <a:schemeClr val="lt1"/>
                        </a:solidFill>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2850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8620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25 910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1693" name="Google Shape;1693;p122"/>
          <p:cNvPicPr preferRelativeResize="0"/>
          <p:nvPr/>
        </p:nvPicPr>
        <p:blipFill rotWithShape="1">
          <a:blip r:embed="rId3">
            <a:alphaModFix/>
          </a:blip>
          <a:srcRect b="12671" l="61925" r="14808" t="74256"/>
          <a:stretch/>
        </p:blipFill>
        <p:spPr>
          <a:xfrm rot="5400000">
            <a:off x="3955731" y="2134294"/>
            <a:ext cx="384588" cy="346199"/>
          </a:xfrm>
          <a:prstGeom prst="rect">
            <a:avLst/>
          </a:prstGeom>
          <a:noFill/>
          <a:ln>
            <a:noFill/>
          </a:ln>
        </p:spPr>
      </p:pic>
      <p:sp>
        <p:nvSpPr>
          <p:cNvPr id="1694" name="Google Shape;1694;p122"/>
          <p:cNvSpPr txBox="1"/>
          <p:nvPr/>
        </p:nvSpPr>
        <p:spPr>
          <a:xfrm>
            <a:off x="4297050" y="2154745"/>
            <a:ext cx="1053900" cy="34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+ 5770</a:t>
            </a:r>
            <a:endParaRPr sz="1800">
              <a:solidFill>
                <a:srgbClr val="000000"/>
              </a:solidFill>
              <a:latin typeface="Lexend"/>
              <a:ea typeface="Lexend"/>
              <a:cs typeface="Lexend"/>
              <a:sym typeface="Lexend"/>
            </a:endParaRPr>
          </a:p>
        </p:txBody>
      </p:sp>
      <p:pic>
        <p:nvPicPr>
          <p:cNvPr id="1695" name="Google Shape;1695;p122"/>
          <p:cNvPicPr preferRelativeResize="0"/>
          <p:nvPr/>
        </p:nvPicPr>
        <p:blipFill rotWithShape="1">
          <a:blip r:embed="rId3">
            <a:alphaModFix/>
          </a:blip>
          <a:srcRect b="12671" l="61925" r="14808" t="74256"/>
          <a:stretch/>
        </p:blipFill>
        <p:spPr>
          <a:xfrm rot="5400000">
            <a:off x="3955731" y="2458079"/>
            <a:ext cx="384588" cy="346199"/>
          </a:xfrm>
          <a:prstGeom prst="rect">
            <a:avLst/>
          </a:prstGeom>
          <a:noFill/>
          <a:ln>
            <a:noFill/>
          </a:ln>
        </p:spPr>
      </p:pic>
      <p:sp>
        <p:nvSpPr>
          <p:cNvPr id="1696" name="Google Shape;1696;p122"/>
          <p:cNvSpPr txBox="1"/>
          <p:nvPr/>
        </p:nvSpPr>
        <p:spPr>
          <a:xfrm>
            <a:off x="4297050" y="2478529"/>
            <a:ext cx="1053900" cy="34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+ 17 290</a:t>
            </a:r>
            <a:endParaRPr sz="1800">
              <a:solidFill>
                <a:srgbClr val="000000"/>
              </a:solidFill>
              <a:latin typeface="Lexend"/>
              <a:ea typeface="Lexend"/>
              <a:cs typeface="Lexend"/>
              <a:sym typeface="Lexend"/>
            </a:endParaRPr>
          </a:p>
        </p:txBody>
      </p:sp>
      <p:sp>
        <p:nvSpPr>
          <p:cNvPr id="1697" name="Google Shape;1697;p122"/>
          <p:cNvSpPr/>
          <p:nvPr/>
        </p:nvSpPr>
        <p:spPr>
          <a:xfrm>
            <a:off x="6347575" y="1846575"/>
            <a:ext cx="1111500" cy="9768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12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703" name="Google Shape;1703;p123"/>
          <p:cNvSpPr txBox="1"/>
          <p:nvPr>
            <p:ph idx="1" type="body"/>
          </p:nvPr>
        </p:nvSpPr>
        <p:spPr>
          <a:xfrm>
            <a:off x="324000" y="883600"/>
            <a:ext cx="8496000" cy="38001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GB" sz="2000"/>
              <a:t>Here are some other things to consider:</a:t>
            </a:r>
            <a:endParaRPr sz="2000"/>
          </a:p>
          <a:p>
            <a:pPr indent="-355600" lvl="0" marL="457200" rtl="0" algn="l">
              <a:lnSpc>
                <a:spcPct val="100000"/>
              </a:lnSpc>
              <a:spcBef>
                <a:spcPts val="1000"/>
              </a:spcBef>
              <a:spcAft>
                <a:spcPts val="0"/>
              </a:spcAft>
              <a:buSzPts val="2000"/>
              <a:buChar char="-"/>
            </a:pPr>
            <a:r>
              <a:rPr lang="en-GB" sz="2000"/>
              <a:t>Carl’s cars looked to be a new company, it is easier to get a large percentage increase if you start on a very small number.</a:t>
            </a:r>
            <a:endParaRPr sz="2000"/>
          </a:p>
          <a:p>
            <a:pPr indent="-355600" lvl="0" marL="457200" rtl="0" algn="l">
              <a:lnSpc>
                <a:spcPct val="100000"/>
              </a:lnSpc>
              <a:spcBef>
                <a:spcPts val="1000"/>
              </a:spcBef>
              <a:spcAft>
                <a:spcPts val="0"/>
              </a:spcAft>
              <a:buSzPts val="2000"/>
              <a:buChar char="-"/>
            </a:pPr>
            <a:r>
              <a:rPr lang="en-GB" sz="2000"/>
              <a:t>It was only in its 3rd year, it is unlikely that this growth rate would continue.</a:t>
            </a:r>
            <a:endParaRPr sz="2000"/>
          </a:p>
          <a:p>
            <a:pPr indent="-355600" lvl="0" marL="457200" rtl="0" algn="l">
              <a:lnSpc>
                <a:spcPct val="100000"/>
              </a:lnSpc>
              <a:spcBef>
                <a:spcPts val="1000"/>
              </a:spcBef>
              <a:spcAft>
                <a:spcPts val="1000"/>
              </a:spcAft>
              <a:buSzPts val="2000"/>
              <a:buChar char="-"/>
            </a:pPr>
            <a:r>
              <a:rPr lang="en-GB" sz="2000"/>
              <a:t>Companies are likely to pick the statistic that looks the best; that may be a raw figure or it may be a percentage.</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sp>
        <p:nvSpPr>
          <p:cNvPr id="1708" name="Google Shape;1708;p124"/>
          <p:cNvSpPr txBox="1"/>
          <p:nvPr>
            <p:ph idx="1" type="body"/>
          </p:nvPr>
        </p:nvSpPr>
        <p:spPr>
          <a:xfrm>
            <a:off x="324000" y="810000"/>
            <a:ext cx="8237700" cy="9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company surveyed 40 people and claimed 95% of people would recommend them. How many people is this? </a:t>
            </a:r>
            <a:endParaRPr/>
          </a:p>
        </p:txBody>
      </p:sp>
      <p:sp>
        <p:nvSpPr>
          <p:cNvPr id="1709" name="Google Shape;1709;p12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adverts</a:t>
            </a:r>
            <a:endParaRPr/>
          </a:p>
        </p:txBody>
      </p:sp>
      <p:sp>
        <p:nvSpPr>
          <p:cNvPr id="1710" name="Google Shape;1710;p124"/>
          <p:cNvSpPr txBox="1"/>
          <p:nvPr>
            <p:ph idx="4294967295" type="body"/>
          </p:nvPr>
        </p:nvSpPr>
        <p:spPr>
          <a:xfrm>
            <a:off x="324000" y="1808700"/>
            <a:ext cx="2168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40 × 0.95 = 38</a:t>
            </a:r>
            <a:endParaRPr sz="2000"/>
          </a:p>
        </p:txBody>
      </p:sp>
      <p:sp>
        <p:nvSpPr>
          <p:cNvPr id="1711" name="Google Shape;1711;p124"/>
          <p:cNvSpPr txBox="1"/>
          <p:nvPr>
            <p:ph idx="4294967295" type="body"/>
          </p:nvPr>
        </p:nvSpPr>
        <p:spPr>
          <a:xfrm>
            <a:off x="324000" y="2291550"/>
            <a:ext cx="2168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38 people</a:t>
            </a:r>
            <a:endParaRPr sz="2000"/>
          </a:p>
        </p:txBody>
      </p:sp>
      <p:sp>
        <p:nvSpPr>
          <p:cNvPr id="1712" name="Google Shape;1712;p124"/>
          <p:cNvSpPr txBox="1"/>
          <p:nvPr>
            <p:ph idx="1" type="body"/>
          </p:nvPr>
        </p:nvSpPr>
        <p:spPr>
          <a:xfrm>
            <a:off x="324000" y="2700000"/>
            <a:ext cx="8461500" cy="906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Give a </a:t>
            </a:r>
            <a:r>
              <a:rPr lang="en-GB"/>
              <a:t>reason</a:t>
            </a:r>
            <a:r>
              <a:rPr lang="en-GB"/>
              <a:t> why this claim may not be as convincing as it sounds.</a:t>
            </a:r>
            <a:r>
              <a:rPr lang="en-GB"/>
              <a:t>  </a:t>
            </a:r>
            <a:endParaRPr/>
          </a:p>
        </p:txBody>
      </p:sp>
      <p:sp>
        <p:nvSpPr>
          <p:cNvPr id="1713" name="Google Shape;1713;p124"/>
          <p:cNvSpPr txBox="1"/>
          <p:nvPr>
            <p:ph idx="4294967295" type="body"/>
          </p:nvPr>
        </p:nvSpPr>
        <p:spPr>
          <a:xfrm>
            <a:off x="373550" y="3505625"/>
            <a:ext cx="8429100" cy="1192500"/>
          </a:xfrm>
          <a:prstGeom prst="rect">
            <a:avLst/>
          </a:prstGeom>
        </p:spPr>
        <p:txBody>
          <a:bodyPr anchorCtr="0" anchor="t" bIns="0" lIns="0" spcFirstLastPara="1" rIns="0" wrap="square" tIns="0">
            <a:noAutofit/>
          </a:bodyPr>
          <a:lstStyle/>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If this is a national or global product a sample size of 40 is small.</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We have no information about who was </a:t>
            </a:r>
            <a:r>
              <a:rPr lang="en-GB" sz="2000">
                <a:latin typeface="Kalam"/>
                <a:ea typeface="Kalam"/>
                <a:cs typeface="Kalam"/>
                <a:sym typeface="Kalam"/>
              </a:rPr>
              <a:t>surveyed.</a:t>
            </a:r>
            <a:endParaRPr sz="2000">
              <a:latin typeface="Kalam"/>
              <a:ea typeface="Kalam"/>
              <a:cs typeface="Kalam"/>
              <a:sym typeface="Kalam"/>
            </a:endParaRPr>
          </a:p>
          <a:p>
            <a:pPr indent="-355600" lvl="0" marL="457200" rtl="0" algn="l">
              <a:lnSpc>
                <a:spcPct val="100000"/>
              </a:lnSpc>
              <a:spcBef>
                <a:spcPts val="0"/>
              </a:spcBef>
              <a:spcAft>
                <a:spcPts val="0"/>
              </a:spcAft>
              <a:buSzPts val="2000"/>
              <a:buFont typeface="Kalam"/>
              <a:buChar char="-"/>
            </a:pPr>
            <a:r>
              <a:rPr lang="en-GB" sz="2000">
                <a:latin typeface="Kalam"/>
                <a:ea typeface="Kalam"/>
                <a:cs typeface="Kalam"/>
                <a:sym typeface="Kalam"/>
              </a:rPr>
              <a:t>We do not know how the question was asked; certain phrasing or asking people in person can lead to more positive answers.  </a:t>
            </a:r>
            <a:endParaRPr sz="2000">
              <a:latin typeface="Kalam"/>
              <a:ea typeface="Kalam"/>
              <a:cs typeface="Kalam"/>
              <a:sym typeface="Kalam"/>
            </a:endParaRPr>
          </a:p>
          <a:p>
            <a:pPr indent="0" lvl="0" marL="0" rtl="0" algn="l">
              <a:lnSpc>
                <a:spcPct val="100000"/>
              </a:lnSpc>
              <a:spcBef>
                <a:spcPts val="0"/>
              </a:spcBef>
              <a:spcAft>
                <a:spcPts val="0"/>
              </a:spcAft>
              <a:buNone/>
            </a:pP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7" name="Shape 1717"/>
        <p:cNvGrpSpPr/>
        <p:nvPr/>
      </p:nvGrpSpPr>
      <p:grpSpPr>
        <a:xfrm>
          <a:off x="0" y="0"/>
          <a:ext cx="0" cy="0"/>
          <a:chOff x="0" y="0"/>
          <a:chExt cx="0" cy="0"/>
        </a:xfrm>
      </p:grpSpPr>
      <p:sp>
        <p:nvSpPr>
          <p:cNvPr id="1718" name="Google Shape;1718;p12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719" name="Google Shape;1719;p125"/>
          <p:cNvSpPr txBox="1"/>
          <p:nvPr>
            <p:ph idx="1" type="body"/>
          </p:nvPr>
        </p:nvSpPr>
        <p:spPr>
          <a:xfrm>
            <a:off x="324000" y="810000"/>
            <a:ext cx="8237700" cy="9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company’s profits rose from £24 000 in year 1 to £28 000 in year 2. What is this as a percentage increase?  </a:t>
            </a:r>
            <a:endParaRPr/>
          </a:p>
        </p:txBody>
      </p:sp>
      <p:sp>
        <p:nvSpPr>
          <p:cNvPr id="1720" name="Google Shape;1720;p125"/>
          <p:cNvSpPr txBox="1"/>
          <p:nvPr>
            <p:ph idx="4294967295" type="body"/>
          </p:nvPr>
        </p:nvSpPr>
        <p:spPr>
          <a:xfrm>
            <a:off x="324000" y="1808700"/>
            <a:ext cx="31674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4000</a:t>
            </a:r>
            <a:r>
              <a:rPr lang="en-GB" sz="2000">
                <a:latin typeface="Kalam"/>
                <a:ea typeface="Kalam"/>
                <a:cs typeface="Kalam"/>
                <a:sym typeface="Kalam"/>
              </a:rPr>
              <a:t> ÷ 24 000 = 0.1666…</a:t>
            </a:r>
            <a:r>
              <a:rPr lang="en-GB" sz="2000"/>
              <a:t> </a:t>
            </a:r>
            <a:endParaRPr sz="2000"/>
          </a:p>
        </p:txBody>
      </p:sp>
      <p:sp>
        <p:nvSpPr>
          <p:cNvPr id="1721" name="Google Shape;1721;p125"/>
          <p:cNvSpPr txBox="1"/>
          <p:nvPr>
            <p:ph idx="4294967295" type="body"/>
          </p:nvPr>
        </p:nvSpPr>
        <p:spPr>
          <a:xfrm>
            <a:off x="324000" y="2348700"/>
            <a:ext cx="4043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Approximately 16.7% increase.</a:t>
            </a:r>
            <a:r>
              <a:rPr lang="en-GB" sz="2000"/>
              <a:t> </a:t>
            </a:r>
            <a:endParaRPr sz="2000"/>
          </a:p>
        </p:txBody>
      </p:sp>
      <p:sp>
        <p:nvSpPr>
          <p:cNvPr id="1722" name="Google Shape;1722;p125"/>
          <p:cNvSpPr txBox="1"/>
          <p:nvPr>
            <p:ph idx="1" type="body"/>
          </p:nvPr>
        </p:nvSpPr>
        <p:spPr>
          <a:xfrm>
            <a:off x="324000" y="3031300"/>
            <a:ext cx="8237700" cy="9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A company’s profits fell from £15 000 in year 1 to £13 500 in year 2. What is this as a percentage decrease?  </a:t>
            </a:r>
            <a:endParaRPr/>
          </a:p>
        </p:txBody>
      </p:sp>
      <p:sp>
        <p:nvSpPr>
          <p:cNvPr id="1723" name="Google Shape;1723;p125"/>
          <p:cNvSpPr txBox="1"/>
          <p:nvPr>
            <p:ph idx="4294967295" type="body"/>
          </p:nvPr>
        </p:nvSpPr>
        <p:spPr>
          <a:xfrm>
            <a:off x="324000" y="3938200"/>
            <a:ext cx="31674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1500</a:t>
            </a:r>
            <a:r>
              <a:rPr lang="en-GB" sz="2000">
                <a:latin typeface="Kalam"/>
                <a:ea typeface="Kalam"/>
                <a:cs typeface="Kalam"/>
                <a:sym typeface="Kalam"/>
              </a:rPr>
              <a:t> ÷ 15 000 = 0.1</a:t>
            </a:r>
            <a:r>
              <a:rPr lang="en-GB" sz="2000"/>
              <a:t> </a:t>
            </a:r>
            <a:endParaRPr sz="2000"/>
          </a:p>
        </p:txBody>
      </p:sp>
      <p:sp>
        <p:nvSpPr>
          <p:cNvPr id="1724" name="Google Shape;1724;p125"/>
          <p:cNvSpPr txBox="1"/>
          <p:nvPr>
            <p:ph idx="4294967295" type="body"/>
          </p:nvPr>
        </p:nvSpPr>
        <p:spPr>
          <a:xfrm>
            <a:off x="324000" y="4435200"/>
            <a:ext cx="31674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10% decrease.</a:t>
            </a:r>
            <a:r>
              <a:rPr lang="en-GB" sz="2000"/>
              <a:t>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126"/>
          <p:cNvSpPr/>
          <p:nvPr/>
        </p:nvSpPr>
        <p:spPr>
          <a:xfrm>
            <a:off x="328350" y="3126150"/>
            <a:ext cx="3607800" cy="14295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0" name="Google Shape;1730;p12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731" name="Google Shape;1731;p126"/>
          <p:cNvSpPr txBox="1"/>
          <p:nvPr>
            <p:ph idx="1" type="body"/>
          </p:nvPr>
        </p:nvSpPr>
        <p:spPr>
          <a:xfrm>
            <a:off x="324000" y="810000"/>
            <a:ext cx="8237700" cy="66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 ‘low sugar’ box of muesli advertises 20% less sugar. </a:t>
            </a:r>
            <a:endParaRPr sz="2000"/>
          </a:p>
        </p:txBody>
      </p:sp>
      <p:sp>
        <p:nvSpPr>
          <p:cNvPr id="1732" name="Google Shape;1732;p126"/>
          <p:cNvSpPr/>
          <p:nvPr/>
        </p:nvSpPr>
        <p:spPr>
          <a:xfrm>
            <a:off x="610625" y="1326750"/>
            <a:ext cx="1321800" cy="1628100"/>
          </a:xfrm>
          <a:prstGeom prst="cube">
            <a:avLst>
              <a:gd fmla="val 12500" name="adj"/>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3" name="Google Shape;1733;p126"/>
          <p:cNvSpPr txBox="1"/>
          <p:nvPr>
            <p:ph idx="1" type="body"/>
          </p:nvPr>
        </p:nvSpPr>
        <p:spPr>
          <a:xfrm>
            <a:off x="502875" y="1788750"/>
            <a:ext cx="12357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t>Normal </a:t>
            </a:r>
            <a:r>
              <a:rPr lang="en-GB" sz="1800"/>
              <a:t>muesli</a:t>
            </a:r>
            <a:endParaRPr sz="1800"/>
          </a:p>
        </p:txBody>
      </p:sp>
      <p:sp>
        <p:nvSpPr>
          <p:cNvPr id="1734" name="Google Shape;1734;p126"/>
          <p:cNvSpPr/>
          <p:nvPr/>
        </p:nvSpPr>
        <p:spPr>
          <a:xfrm>
            <a:off x="379225" y="3214675"/>
            <a:ext cx="805200" cy="10620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5" name="Google Shape;1735;p126"/>
          <p:cNvSpPr/>
          <p:nvPr/>
        </p:nvSpPr>
        <p:spPr>
          <a:xfrm>
            <a:off x="1281033" y="3214675"/>
            <a:ext cx="805200" cy="10620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6" name="Google Shape;1736;p126"/>
          <p:cNvSpPr/>
          <p:nvPr/>
        </p:nvSpPr>
        <p:spPr>
          <a:xfrm>
            <a:off x="2182841" y="3214675"/>
            <a:ext cx="805200" cy="10620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7" name="Google Shape;1737;p126"/>
          <p:cNvSpPr/>
          <p:nvPr/>
        </p:nvSpPr>
        <p:spPr>
          <a:xfrm>
            <a:off x="3084649" y="3214675"/>
            <a:ext cx="805200" cy="10620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8" name="Google Shape;1738;p126"/>
          <p:cNvSpPr/>
          <p:nvPr/>
        </p:nvSpPr>
        <p:spPr>
          <a:xfrm>
            <a:off x="651650" y="2660750"/>
            <a:ext cx="638400" cy="221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9" name="Google Shape;1739;p126"/>
          <p:cNvSpPr/>
          <p:nvPr/>
        </p:nvSpPr>
        <p:spPr>
          <a:xfrm>
            <a:off x="660653" y="2676415"/>
            <a:ext cx="132600" cy="1881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0" name="Google Shape;1740;p126"/>
          <p:cNvSpPr/>
          <p:nvPr/>
        </p:nvSpPr>
        <p:spPr>
          <a:xfrm>
            <a:off x="820254"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1" name="Google Shape;1741;p126"/>
          <p:cNvSpPr/>
          <p:nvPr/>
        </p:nvSpPr>
        <p:spPr>
          <a:xfrm>
            <a:off x="979856" y="2676415"/>
            <a:ext cx="132600" cy="1881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2" name="Google Shape;1742;p126"/>
          <p:cNvSpPr/>
          <p:nvPr/>
        </p:nvSpPr>
        <p:spPr>
          <a:xfrm>
            <a:off x="1139457"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3" name="Google Shape;1743;p126"/>
          <p:cNvSpPr txBox="1"/>
          <p:nvPr>
            <p:ph idx="1" type="body"/>
          </p:nvPr>
        </p:nvSpPr>
        <p:spPr>
          <a:xfrm>
            <a:off x="349286" y="3440518"/>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Energy</a:t>
            </a:r>
            <a:endParaRPr sz="1700"/>
          </a:p>
        </p:txBody>
      </p:sp>
      <p:sp>
        <p:nvSpPr>
          <p:cNvPr id="1744" name="Google Shape;1744;p126"/>
          <p:cNvSpPr txBox="1"/>
          <p:nvPr>
            <p:ph idx="1" type="body"/>
          </p:nvPr>
        </p:nvSpPr>
        <p:spPr>
          <a:xfrm>
            <a:off x="324000"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375 Kcal</a:t>
            </a:r>
            <a:endParaRPr sz="1700"/>
          </a:p>
        </p:txBody>
      </p:sp>
      <p:sp>
        <p:nvSpPr>
          <p:cNvPr id="1745" name="Google Shape;1745;p126"/>
          <p:cNvSpPr txBox="1"/>
          <p:nvPr>
            <p:ph idx="1" type="body"/>
          </p:nvPr>
        </p:nvSpPr>
        <p:spPr>
          <a:xfrm>
            <a:off x="1253293" y="3440518"/>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Fat</a:t>
            </a:r>
            <a:endParaRPr sz="1700"/>
          </a:p>
        </p:txBody>
      </p:sp>
      <p:sp>
        <p:nvSpPr>
          <p:cNvPr id="1746" name="Google Shape;1746;p126"/>
          <p:cNvSpPr txBox="1"/>
          <p:nvPr>
            <p:ph idx="1" type="body"/>
          </p:nvPr>
        </p:nvSpPr>
        <p:spPr>
          <a:xfrm>
            <a:off x="1235607"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6.2 g</a:t>
            </a:r>
            <a:endParaRPr sz="1700"/>
          </a:p>
        </p:txBody>
      </p:sp>
      <p:sp>
        <p:nvSpPr>
          <p:cNvPr id="1747" name="Google Shape;1747;p126"/>
          <p:cNvSpPr txBox="1"/>
          <p:nvPr>
            <p:ph idx="1" type="body"/>
          </p:nvPr>
        </p:nvSpPr>
        <p:spPr>
          <a:xfrm>
            <a:off x="2138987" y="3440525"/>
            <a:ext cx="8709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400"/>
              <a:t>Saturates</a:t>
            </a:r>
            <a:endParaRPr sz="1400"/>
          </a:p>
        </p:txBody>
      </p:sp>
      <p:sp>
        <p:nvSpPr>
          <p:cNvPr id="1748" name="Google Shape;1748;p126"/>
          <p:cNvSpPr txBox="1"/>
          <p:nvPr>
            <p:ph idx="1" type="body"/>
          </p:nvPr>
        </p:nvSpPr>
        <p:spPr>
          <a:xfrm>
            <a:off x="2204683"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0.9</a:t>
            </a:r>
            <a:r>
              <a:rPr lang="en-GB" sz="1700"/>
              <a:t> g</a:t>
            </a:r>
            <a:endParaRPr sz="1700"/>
          </a:p>
        </p:txBody>
      </p:sp>
      <p:sp>
        <p:nvSpPr>
          <p:cNvPr id="1749" name="Google Shape;1749;p126"/>
          <p:cNvSpPr txBox="1"/>
          <p:nvPr>
            <p:ph idx="1" type="body"/>
          </p:nvPr>
        </p:nvSpPr>
        <p:spPr>
          <a:xfrm>
            <a:off x="3084650" y="3466425"/>
            <a:ext cx="7497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Sugars</a:t>
            </a:r>
            <a:endParaRPr sz="1700"/>
          </a:p>
        </p:txBody>
      </p:sp>
      <p:sp>
        <p:nvSpPr>
          <p:cNvPr id="1750" name="Google Shape;1750;p126"/>
          <p:cNvSpPr txBox="1"/>
          <p:nvPr>
            <p:ph idx="1" type="body"/>
          </p:nvPr>
        </p:nvSpPr>
        <p:spPr>
          <a:xfrm>
            <a:off x="3087657" y="37456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20</a:t>
            </a:r>
            <a:r>
              <a:rPr lang="en-GB" sz="1700"/>
              <a:t> g</a:t>
            </a:r>
            <a:endParaRPr sz="1700"/>
          </a:p>
        </p:txBody>
      </p:sp>
      <p:sp>
        <p:nvSpPr>
          <p:cNvPr id="1751" name="Google Shape;1751;p126"/>
          <p:cNvSpPr txBox="1"/>
          <p:nvPr>
            <p:ph idx="1" type="body"/>
          </p:nvPr>
        </p:nvSpPr>
        <p:spPr>
          <a:xfrm>
            <a:off x="1738575" y="4298657"/>
            <a:ext cx="2095800" cy="221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Amounts Per 100 g</a:t>
            </a:r>
            <a:endParaRPr sz="1700"/>
          </a:p>
        </p:txBody>
      </p:sp>
      <p:sp>
        <p:nvSpPr>
          <p:cNvPr id="1752" name="Google Shape;1752;p126"/>
          <p:cNvSpPr/>
          <p:nvPr/>
        </p:nvSpPr>
        <p:spPr>
          <a:xfrm>
            <a:off x="2287025" y="1326750"/>
            <a:ext cx="1321800" cy="1628100"/>
          </a:xfrm>
          <a:prstGeom prst="cube">
            <a:avLst>
              <a:gd fmla="val 12500" name="adj"/>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3" name="Google Shape;1753;p126"/>
          <p:cNvSpPr txBox="1"/>
          <p:nvPr>
            <p:ph idx="1" type="body"/>
          </p:nvPr>
        </p:nvSpPr>
        <p:spPr>
          <a:xfrm>
            <a:off x="2179275" y="1941150"/>
            <a:ext cx="12357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t>muesli</a:t>
            </a:r>
            <a:endParaRPr sz="1800"/>
          </a:p>
        </p:txBody>
      </p:sp>
      <p:sp>
        <p:nvSpPr>
          <p:cNvPr id="1754" name="Google Shape;1754;p126"/>
          <p:cNvSpPr/>
          <p:nvPr/>
        </p:nvSpPr>
        <p:spPr>
          <a:xfrm>
            <a:off x="2328050" y="2660750"/>
            <a:ext cx="638400" cy="221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5" name="Google Shape;1755;p126"/>
          <p:cNvSpPr/>
          <p:nvPr/>
        </p:nvSpPr>
        <p:spPr>
          <a:xfrm>
            <a:off x="2337053" y="2676415"/>
            <a:ext cx="132600" cy="1881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6" name="Google Shape;1756;p126"/>
          <p:cNvSpPr/>
          <p:nvPr/>
        </p:nvSpPr>
        <p:spPr>
          <a:xfrm>
            <a:off x="2496654"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7" name="Google Shape;1757;p126"/>
          <p:cNvSpPr/>
          <p:nvPr/>
        </p:nvSpPr>
        <p:spPr>
          <a:xfrm>
            <a:off x="2656256" y="2676415"/>
            <a:ext cx="132600" cy="1881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8" name="Google Shape;1758;p126"/>
          <p:cNvSpPr/>
          <p:nvPr/>
        </p:nvSpPr>
        <p:spPr>
          <a:xfrm>
            <a:off x="2815857"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9" name="Google Shape;1759;p126"/>
          <p:cNvSpPr txBox="1"/>
          <p:nvPr>
            <p:ph idx="1" type="body"/>
          </p:nvPr>
        </p:nvSpPr>
        <p:spPr>
          <a:xfrm>
            <a:off x="2287025" y="1561625"/>
            <a:ext cx="1161300" cy="285300"/>
          </a:xfrm>
          <a:prstGeom prst="rect">
            <a:avLst/>
          </a:prstGeom>
          <a:solidFill>
            <a:schemeClr val="accent6"/>
          </a:solid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solidFill>
                  <a:schemeClr val="lt1"/>
                </a:solidFill>
              </a:rPr>
              <a:t>Low sugar</a:t>
            </a:r>
            <a:endParaRPr sz="1800">
              <a:solidFill>
                <a:schemeClr val="lt1"/>
              </a:solidFill>
            </a:endParaRPr>
          </a:p>
        </p:txBody>
      </p:sp>
      <p:cxnSp>
        <p:nvCxnSpPr>
          <p:cNvPr id="1760" name="Google Shape;1760;p126"/>
          <p:cNvCxnSpPr>
            <a:stCxn id="1741" idx="2"/>
          </p:cNvCxnSpPr>
          <p:nvPr/>
        </p:nvCxnSpPr>
        <p:spPr>
          <a:xfrm>
            <a:off x="1046156" y="2864515"/>
            <a:ext cx="182100" cy="290400"/>
          </a:xfrm>
          <a:prstGeom prst="straightConnector1">
            <a:avLst/>
          </a:prstGeom>
          <a:noFill/>
          <a:ln cap="flat" cmpd="sng" w="19050">
            <a:solidFill>
              <a:schemeClr val="dk1"/>
            </a:solidFill>
            <a:prstDash val="solid"/>
            <a:round/>
            <a:headEnd len="med" w="med" type="none"/>
            <a:tailEnd len="med" w="med" type="none"/>
          </a:ln>
        </p:spPr>
      </p:cxnSp>
      <p:sp>
        <p:nvSpPr>
          <p:cNvPr id="1761" name="Google Shape;1761;p126"/>
          <p:cNvSpPr txBox="1"/>
          <p:nvPr>
            <p:ph idx="1" type="body"/>
          </p:nvPr>
        </p:nvSpPr>
        <p:spPr>
          <a:xfrm>
            <a:off x="3834375" y="1288650"/>
            <a:ext cx="4985700" cy="66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How much sugar would be in 100 g of low sugar muesli?  </a:t>
            </a:r>
            <a:endParaRPr sz="1800"/>
          </a:p>
        </p:txBody>
      </p:sp>
      <p:sp>
        <p:nvSpPr>
          <p:cNvPr id="1762" name="Google Shape;1762;p126"/>
          <p:cNvSpPr txBox="1"/>
          <p:nvPr>
            <p:ph idx="1" type="body"/>
          </p:nvPr>
        </p:nvSpPr>
        <p:spPr>
          <a:xfrm>
            <a:off x="3831875" y="2207400"/>
            <a:ext cx="4985700" cy="66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 If a teaspoon is 4.2 grams how many teaspoons of sugar are in a 30 gram serving of low sugar </a:t>
            </a:r>
            <a:r>
              <a:rPr lang="en-GB" sz="1800"/>
              <a:t>muesli</a:t>
            </a:r>
            <a:r>
              <a:rPr lang="en-GB" sz="1800"/>
              <a:t>? </a:t>
            </a:r>
            <a:endParaRPr sz="1800"/>
          </a:p>
        </p:txBody>
      </p:sp>
      <p:sp>
        <p:nvSpPr>
          <p:cNvPr id="1763" name="Google Shape;1763;p126"/>
          <p:cNvSpPr txBox="1"/>
          <p:nvPr>
            <p:ph idx="1" type="body"/>
          </p:nvPr>
        </p:nvSpPr>
        <p:spPr>
          <a:xfrm>
            <a:off x="3970625" y="3528025"/>
            <a:ext cx="4849500" cy="66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 different brand of muesli advertises   5.5 g of sugar per 40 gram serving. Which </a:t>
            </a:r>
            <a:r>
              <a:rPr lang="en-GB" sz="1800"/>
              <a:t>muesli has the least sugar? </a:t>
            </a:r>
            <a:r>
              <a:rPr lang="en-GB" sz="1800"/>
              <a:t> </a:t>
            </a:r>
            <a:endParaRPr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127"/>
          <p:cNvSpPr/>
          <p:nvPr/>
        </p:nvSpPr>
        <p:spPr>
          <a:xfrm>
            <a:off x="344825" y="1154750"/>
            <a:ext cx="8404800" cy="4239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9" name="Google Shape;1769;p127"/>
          <p:cNvSpPr/>
          <p:nvPr/>
        </p:nvSpPr>
        <p:spPr>
          <a:xfrm>
            <a:off x="324000" y="2419350"/>
            <a:ext cx="8404800" cy="16887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0" name="Google Shape;1770;p127"/>
          <p:cNvSpPr txBox="1"/>
          <p:nvPr>
            <p:ph idx="1" type="body"/>
          </p:nvPr>
        </p:nvSpPr>
        <p:spPr>
          <a:xfrm>
            <a:off x="324000" y="759300"/>
            <a:ext cx="8237700" cy="28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Roy’s rides makes and sells motorbikes. Their advert claims:    </a:t>
            </a:r>
            <a:endParaRPr sz="2000"/>
          </a:p>
        </p:txBody>
      </p:sp>
      <p:sp>
        <p:nvSpPr>
          <p:cNvPr id="1771" name="Google Shape;1771;p12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Analysing adverts</a:t>
            </a:r>
            <a:endParaRPr/>
          </a:p>
        </p:txBody>
      </p:sp>
      <p:sp>
        <p:nvSpPr>
          <p:cNvPr id="1772" name="Google Shape;1772;p127"/>
          <p:cNvSpPr txBox="1"/>
          <p:nvPr>
            <p:ph idx="1" type="body"/>
          </p:nvPr>
        </p:nvSpPr>
        <p:spPr>
          <a:xfrm>
            <a:off x="324000" y="1214575"/>
            <a:ext cx="8496000" cy="28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 Our motorbikes hold their value much better than our competitors. </a:t>
            </a:r>
            <a:r>
              <a:rPr lang="en-GB" sz="2100"/>
              <a:t> </a:t>
            </a:r>
            <a:endParaRPr sz="2100"/>
          </a:p>
        </p:txBody>
      </p:sp>
      <p:sp>
        <p:nvSpPr>
          <p:cNvPr id="1773" name="Google Shape;1773;p127"/>
          <p:cNvSpPr txBox="1"/>
          <p:nvPr>
            <p:ph idx="1" type="body"/>
          </p:nvPr>
        </p:nvSpPr>
        <p:spPr>
          <a:xfrm>
            <a:off x="324000" y="1691800"/>
            <a:ext cx="8237700" cy="49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The average depreciation of the value of a motorbike in its first year is 20%. What would a motorbike worth £2500 new be worth after one year?</a:t>
            </a:r>
            <a:endParaRPr sz="1800"/>
          </a:p>
        </p:txBody>
      </p:sp>
      <p:sp>
        <p:nvSpPr>
          <p:cNvPr id="1774" name="Google Shape;1774;p127"/>
          <p:cNvSpPr txBox="1"/>
          <p:nvPr>
            <p:ph idx="1" type="body"/>
          </p:nvPr>
        </p:nvSpPr>
        <p:spPr>
          <a:xfrm>
            <a:off x="476400" y="2495550"/>
            <a:ext cx="8496000" cy="42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are the figures for the value of a motorbike from Roy’s rides and a motorbike from their nearest competitor. </a:t>
            </a:r>
            <a:endParaRPr sz="1800"/>
          </a:p>
        </p:txBody>
      </p:sp>
      <p:graphicFrame>
        <p:nvGraphicFramePr>
          <p:cNvPr id="1775" name="Google Shape;1775;p127"/>
          <p:cNvGraphicFramePr/>
          <p:nvPr/>
        </p:nvGraphicFramePr>
        <p:xfrm>
          <a:off x="566300" y="3073100"/>
          <a:ext cx="3000000" cy="3000000"/>
        </p:xfrm>
        <a:graphic>
          <a:graphicData uri="http://schemas.openxmlformats.org/drawingml/2006/table">
            <a:tbl>
              <a:tblPr>
                <a:noFill/>
                <a:tableStyleId>{10AFA74E-A8D8-4ED3-82F3-7211547E49B6}</a:tableStyleId>
              </a:tblPr>
              <a:tblGrid>
                <a:gridCol w="818250"/>
                <a:gridCol w="2491350"/>
              </a:tblGrid>
              <a:tr h="3156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Roy’s rides</a:t>
                      </a:r>
                      <a:r>
                        <a:rPr lang="en-GB" sz="1800">
                          <a:latin typeface="Lexend"/>
                          <a:ea typeface="Lexend"/>
                          <a:cs typeface="Lexend"/>
                          <a:sym typeface="Lexend"/>
                        </a:rPr>
                        <a:t>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New</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£1800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 yr old</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£1350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776" name="Google Shape;1776;p127"/>
          <p:cNvGraphicFramePr/>
          <p:nvPr/>
        </p:nvGraphicFramePr>
        <p:xfrm>
          <a:off x="4604900" y="3073100"/>
          <a:ext cx="3000000" cy="3000000"/>
        </p:xfrm>
        <a:graphic>
          <a:graphicData uri="http://schemas.openxmlformats.org/drawingml/2006/table">
            <a:tbl>
              <a:tblPr>
                <a:noFill/>
                <a:tableStyleId>{10AFA74E-A8D8-4ED3-82F3-7211547E49B6}</a:tableStyleId>
              </a:tblPr>
              <a:tblGrid>
                <a:gridCol w="818250"/>
                <a:gridCol w="2491350"/>
              </a:tblGrid>
              <a:tr h="3156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Competitor</a:t>
                      </a:r>
                      <a:r>
                        <a:rPr lang="en-GB" sz="1800">
                          <a:latin typeface="Lexend"/>
                          <a:ea typeface="Lexend"/>
                          <a:cs typeface="Lexend"/>
                          <a:sym typeface="Lexend"/>
                        </a:rPr>
                        <a:t>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New</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£5200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 yr old</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£4420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777" name="Google Shape;1777;p127"/>
          <p:cNvSpPr txBox="1"/>
          <p:nvPr>
            <p:ph idx="1" type="body"/>
          </p:nvPr>
        </p:nvSpPr>
        <p:spPr>
          <a:xfrm>
            <a:off x="324000" y="4108050"/>
            <a:ext cx="8496000" cy="712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b) Give a statistic to support the claim made by Roy’s rides</a:t>
            </a:r>
            <a:endParaRPr sz="1800"/>
          </a:p>
          <a:p>
            <a:pPr indent="0" lvl="0" marL="0" rtl="0" algn="l">
              <a:spcBef>
                <a:spcPts val="1000"/>
              </a:spcBef>
              <a:spcAft>
                <a:spcPts val="1000"/>
              </a:spcAft>
              <a:buNone/>
            </a:pPr>
            <a:r>
              <a:rPr lang="en-GB" sz="1800"/>
              <a:t>c) Give a statistic </a:t>
            </a:r>
            <a:r>
              <a:rPr lang="en-GB" sz="1800"/>
              <a:t>which</a:t>
            </a:r>
            <a:r>
              <a:rPr lang="en-GB" sz="1800"/>
              <a:t> does not support the claim.</a:t>
            </a:r>
            <a:endParaRPr sz="18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1" name="Shape 1781"/>
        <p:cNvGrpSpPr/>
        <p:nvPr/>
      </p:nvGrpSpPr>
      <p:grpSpPr>
        <a:xfrm>
          <a:off x="0" y="0"/>
          <a:ext cx="0" cy="0"/>
          <a:chOff x="0" y="0"/>
          <a:chExt cx="0" cy="0"/>
        </a:xfrm>
      </p:grpSpPr>
      <p:sp>
        <p:nvSpPr>
          <p:cNvPr id="1782" name="Google Shape;1782;p128"/>
          <p:cNvSpPr/>
          <p:nvPr/>
        </p:nvSpPr>
        <p:spPr>
          <a:xfrm>
            <a:off x="328350" y="3126150"/>
            <a:ext cx="3607800" cy="14295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3" name="Google Shape;1783;p12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784" name="Google Shape;1784;p128"/>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 ‘low sugar’ box of muesli advertises 20% less sugar. </a:t>
            </a:r>
            <a:endParaRPr sz="2000"/>
          </a:p>
        </p:txBody>
      </p:sp>
      <p:sp>
        <p:nvSpPr>
          <p:cNvPr id="1785" name="Google Shape;1785;p128"/>
          <p:cNvSpPr/>
          <p:nvPr/>
        </p:nvSpPr>
        <p:spPr>
          <a:xfrm>
            <a:off x="610625" y="1326750"/>
            <a:ext cx="1321800" cy="1628100"/>
          </a:xfrm>
          <a:prstGeom prst="cube">
            <a:avLst>
              <a:gd fmla="val 12500" name="adj"/>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6" name="Google Shape;1786;p128"/>
          <p:cNvSpPr txBox="1"/>
          <p:nvPr>
            <p:ph idx="1" type="body"/>
          </p:nvPr>
        </p:nvSpPr>
        <p:spPr>
          <a:xfrm>
            <a:off x="502875" y="1788750"/>
            <a:ext cx="12357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t>Normal muesli</a:t>
            </a:r>
            <a:endParaRPr sz="1800"/>
          </a:p>
        </p:txBody>
      </p:sp>
      <p:sp>
        <p:nvSpPr>
          <p:cNvPr id="1787" name="Google Shape;1787;p128"/>
          <p:cNvSpPr/>
          <p:nvPr/>
        </p:nvSpPr>
        <p:spPr>
          <a:xfrm>
            <a:off x="379225" y="3214675"/>
            <a:ext cx="805200" cy="10620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8" name="Google Shape;1788;p128"/>
          <p:cNvSpPr/>
          <p:nvPr/>
        </p:nvSpPr>
        <p:spPr>
          <a:xfrm>
            <a:off x="1281033" y="3214675"/>
            <a:ext cx="805200" cy="10620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9" name="Google Shape;1789;p128"/>
          <p:cNvSpPr/>
          <p:nvPr/>
        </p:nvSpPr>
        <p:spPr>
          <a:xfrm>
            <a:off x="2182841" y="3214675"/>
            <a:ext cx="805200" cy="10620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0" name="Google Shape;1790;p128"/>
          <p:cNvSpPr/>
          <p:nvPr/>
        </p:nvSpPr>
        <p:spPr>
          <a:xfrm>
            <a:off x="3084649" y="3214675"/>
            <a:ext cx="805200" cy="10620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1" name="Google Shape;1791;p128"/>
          <p:cNvSpPr/>
          <p:nvPr/>
        </p:nvSpPr>
        <p:spPr>
          <a:xfrm>
            <a:off x="651650" y="2660750"/>
            <a:ext cx="638400" cy="221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2" name="Google Shape;1792;p128"/>
          <p:cNvSpPr/>
          <p:nvPr/>
        </p:nvSpPr>
        <p:spPr>
          <a:xfrm>
            <a:off x="660653" y="2676415"/>
            <a:ext cx="132600" cy="1881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3" name="Google Shape;1793;p128"/>
          <p:cNvSpPr/>
          <p:nvPr/>
        </p:nvSpPr>
        <p:spPr>
          <a:xfrm>
            <a:off x="820254"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4" name="Google Shape;1794;p128"/>
          <p:cNvSpPr/>
          <p:nvPr/>
        </p:nvSpPr>
        <p:spPr>
          <a:xfrm>
            <a:off x="979856" y="2676415"/>
            <a:ext cx="132600" cy="1881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5" name="Google Shape;1795;p128"/>
          <p:cNvSpPr/>
          <p:nvPr/>
        </p:nvSpPr>
        <p:spPr>
          <a:xfrm>
            <a:off x="1139457"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6" name="Google Shape;1796;p128"/>
          <p:cNvSpPr txBox="1"/>
          <p:nvPr>
            <p:ph idx="1" type="body"/>
          </p:nvPr>
        </p:nvSpPr>
        <p:spPr>
          <a:xfrm>
            <a:off x="349286" y="3440518"/>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Energy</a:t>
            </a:r>
            <a:endParaRPr sz="1700"/>
          </a:p>
        </p:txBody>
      </p:sp>
      <p:sp>
        <p:nvSpPr>
          <p:cNvPr id="1797" name="Google Shape;1797;p128"/>
          <p:cNvSpPr txBox="1"/>
          <p:nvPr>
            <p:ph idx="1" type="body"/>
          </p:nvPr>
        </p:nvSpPr>
        <p:spPr>
          <a:xfrm>
            <a:off x="324000"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375 Kcal</a:t>
            </a:r>
            <a:endParaRPr sz="1700"/>
          </a:p>
        </p:txBody>
      </p:sp>
      <p:sp>
        <p:nvSpPr>
          <p:cNvPr id="1798" name="Google Shape;1798;p128"/>
          <p:cNvSpPr txBox="1"/>
          <p:nvPr>
            <p:ph idx="1" type="body"/>
          </p:nvPr>
        </p:nvSpPr>
        <p:spPr>
          <a:xfrm>
            <a:off x="1253293" y="3440518"/>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Fat</a:t>
            </a:r>
            <a:endParaRPr sz="1700"/>
          </a:p>
        </p:txBody>
      </p:sp>
      <p:sp>
        <p:nvSpPr>
          <p:cNvPr id="1799" name="Google Shape;1799;p128"/>
          <p:cNvSpPr txBox="1"/>
          <p:nvPr>
            <p:ph idx="1" type="body"/>
          </p:nvPr>
        </p:nvSpPr>
        <p:spPr>
          <a:xfrm>
            <a:off x="1235607"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6.2 g</a:t>
            </a:r>
            <a:endParaRPr sz="1700"/>
          </a:p>
        </p:txBody>
      </p:sp>
      <p:sp>
        <p:nvSpPr>
          <p:cNvPr id="1800" name="Google Shape;1800;p128"/>
          <p:cNvSpPr txBox="1"/>
          <p:nvPr>
            <p:ph idx="1" type="body"/>
          </p:nvPr>
        </p:nvSpPr>
        <p:spPr>
          <a:xfrm>
            <a:off x="2138987" y="3440525"/>
            <a:ext cx="8709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400"/>
              <a:t>Saturates</a:t>
            </a:r>
            <a:endParaRPr sz="1400"/>
          </a:p>
        </p:txBody>
      </p:sp>
      <p:sp>
        <p:nvSpPr>
          <p:cNvPr id="1801" name="Google Shape;1801;p128"/>
          <p:cNvSpPr txBox="1"/>
          <p:nvPr>
            <p:ph idx="1" type="body"/>
          </p:nvPr>
        </p:nvSpPr>
        <p:spPr>
          <a:xfrm>
            <a:off x="2204683"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0.9 g</a:t>
            </a:r>
            <a:endParaRPr sz="1700"/>
          </a:p>
        </p:txBody>
      </p:sp>
      <p:sp>
        <p:nvSpPr>
          <p:cNvPr id="1802" name="Google Shape;1802;p128"/>
          <p:cNvSpPr txBox="1"/>
          <p:nvPr>
            <p:ph idx="1" type="body"/>
          </p:nvPr>
        </p:nvSpPr>
        <p:spPr>
          <a:xfrm>
            <a:off x="3084650" y="3466425"/>
            <a:ext cx="7497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Sugars</a:t>
            </a:r>
            <a:endParaRPr sz="1700"/>
          </a:p>
        </p:txBody>
      </p:sp>
      <p:sp>
        <p:nvSpPr>
          <p:cNvPr id="1803" name="Google Shape;1803;p128"/>
          <p:cNvSpPr txBox="1"/>
          <p:nvPr>
            <p:ph idx="1" type="body"/>
          </p:nvPr>
        </p:nvSpPr>
        <p:spPr>
          <a:xfrm>
            <a:off x="3087657" y="37456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20 g</a:t>
            </a:r>
            <a:endParaRPr sz="1700"/>
          </a:p>
        </p:txBody>
      </p:sp>
      <p:sp>
        <p:nvSpPr>
          <p:cNvPr id="1804" name="Google Shape;1804;p128"/>
          <p:cNvSpPr txBox="1"/>
          <p:nvPr>
            <p:ph idx="1" type="body"/>
          </p:nvPr>
        </p:nvSpPr>
        <p:spPr>
          <a:xfrm>
            <a:off x="1738575" y="4298657"/>
            <a:ext cx="2095800" cy="221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Amounts Per 100 g</a:t>
            </a:r>
            <a:endParaRPr sz="1700"/>
          </a:p>
        </p:txBody>
      </p:sp>
      <p:sp>
        <p:nvSpPr>
          <p:cNvPr id="1805" name="Google Shape;1805;p128"/>
          <p:cNvSpPr/>
          <p:nvPr/>
        </p:nvSpPr>
        <p:spPr>
          <a:xfrm>
            <a:off x="2287025" y="1326750"/>
            <a:ext cx="1321800" cy="1628100"/>
          </a:xfrm>
          <a:prstGeom prst="cube">
            <a:avLst>
              <a:gd fmla="val 12500" name="adj"/>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6" name="Google Shape;1806;p128"/>
          <p:cNvSpPr txBox="1"/>
          <p:nvPr>
            <p:ph idx="1" type="body"/>
          </p:nvPr>
        </p:nvSpPr>
        <p:spPr>
          <a:xfrm>
            <a:off x="2179275" y="1941150"/>
            <a:ext cx="12357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t>muesli</a:t>
            </a:r>
            <a:endParaRPr sz="1800"/>
          </a:p>
        </p:txBody>
      </p:sp>
      <p:sp>
        <p:nvSpPr>
          <p:cNvPr id="1807" name="Google Shape;1807;p128"/>
          <p:cNvSpPr/>
          <p:nvPr/>
        </p:nvSpPr>
        <p:spPr>
          <a:xfrm>
            <a:off x="2328050" y="2660750"/>
            <a:ext cx="638400" cy="221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8" name="Google Shape;1808;p128"/>
          <p:cNvSpPr/>
          <p:nvPr/>
        </p:nvSpPr>
        <p:spPr>
          <a:xfrm>
            <a:off x="2337053" y="2676415"/>
            <a:ext cx="132600" cy="1881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9" name="Google Shape;1809;p128"/>
          <p:cNvSpPr/>
          <p:nvPr/>
        </p:nvSpPr>
        <p:spPr>
          <a:xfrm>
            <a:off x="2496654"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0" name="Google Shape;1810;p128"/>
          <p:cNvSpPr/>
          <p:nvPr/>
        </p:nvSpPr>
        <p:spPr>
          <a:xfrm>
            <a:off x="2656256" y="2676415"/>
            <a:ext cx="132600" cy="1881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1" name="Google Shape;1811;p128"/>
          <p:cNvSpPr/>
          <p:nvPr/>
        </p:nvSpPr>
        <p:spPr>
          <a:xfrm>
            <a:off x="2815857"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2" name="Google Shape;1812;p128"/>
          <p:cNvSpPr txBox="1"/>
          <p:nvPr>
            <p:ph idx="1" type="body"/>
          </p:nvPr>
        </p:nvSpPr>
        <p:spPr>
          <a:xfrm>
            <a:off x="2287025" y="1561625"/>
            <a:ext cx="1161300" cy="285300"/>
          </a:xfrm>
          <a:prstGeom prst="rect">
            <a:avLst/>
          </a:prstGeom>
          <a:solidFill>
            <a:schemeClr val="accent6"/>
          </a:solid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solidFill>
                  <a:schemeClr val="lt1"/>
                </a:solidFill>
              </a:rPr>
              <a:t>Low sugar</a:t>
            </a:r>
            <a:endParaRPr sz="1800">
              <a:solidFill>
                <a:schemeClr val="lt1"/>
              </a:solidFill>
            </a:endParaRPr>
          </a:p>
        </p:txBody>
      </p:sp>
      <p:cxnSp>
        <p:nvCxnSpPr>
          <p:cNvPr id="1813" name="Google Shape;1813;p128"/>
          <p:cNvCxnSpPr>
            <a:stCxn id="1794" idx="2"/>
          </p:cNvCxnSpPr>
          <p:nvPr/>
        </p:nvCxnSpPr>
        <p:spPr>
          <a:xfrm>
            <a:off x="1046156" y="2864515"/>
            <a:ext cx="182100" cy="290400"/>
          </a:xfrm>
          <a:prstGeom prst="straightConnector1">
            <a:avLst/>
          </a:prstGeom>
          <a:noFill/>
          <a:ln cap="flat" cmpd="sng" w="19050">
            <a:solidFill>
              <a:schemeClr val="dk1"/>
            </a:solidFill>
            <a:prstDash val="solid"/>
            <a:round/>
            <a:headEnd len="med" w="med" type="none"/>
            <a:tailEnd len="med" w="med" type="none"/>
          </a:ln>
        </p:spPr>
      </p:cxnSp>
      <p:sp>
        <p:nvSpPr>
          <p:cNvPr id="1814" name="Google Shape;1814;p128"/>
          <p:cNvSpPr txBox="1"/>
          <p:nvPr>
            <p:ph idx="1" type="body"/>
          </p:nvPr>
        </p:nvSpPr>
        <p:spPr>
          <a:xfrm>
            <a:off x="3834375" y="1288650"/>
            <a:ext cx="4985700" cy="66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How much sugar would be in 100 g of low sugar muesli?  </a:t>
            </a:r>
            <a:endParaRPr sz="1800"/>
          </a:p>
        </p:txBody>
      </p:sp>
      <p:sp>
        <p:nvSpPr>
          <p:cNvPr id="1815" name="Google Shape;1815;p128"/>
          <p:cNvSpPr txBox="1"/>
          <p:nvPr>
            <p:ph idx="1" type="body"/>
          </p:nvPr>
        </p:nvSpPr>
        <p:spPr>
          <a:xfrm>
            <a:off x="3831875" y="2166900"/>
            <a:ext cx="4985700" cy="74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 If a teaspoon is 4.2 grams how many teaspoons of sugar are in a 30 gram serving of low sugar muesli? </a:t>
            </a:r>
            <a:endParaRPr sz="1800"/>
          </a:p>
        </p:txBody>
      </p:sp>
      <p:sp>
        <p:nvSpPr>
          <p:cNvPr id="1816" name="Google Shape;1816;p128"/>
          <p:cNvSpPr txBox="1"/>
          <p:nvPr>
            <p:ph idx="1" type="body"/>
          </p:nvPr>
        </p:nvSpPr>
        <p:spPr>
          <a:xfrm>
            <a:off x="5467500" y="1655925"/>
            <a:ext cx="2168700" cy="29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16 grams</a:t>
            </a:r>
            <a:endParaRPr sz="2000"/>
          </a:p>
        </p:txBody>
      </p:sp>
      <p:sp>
        <p:nvSpPr>
          <p:cNvPr id="1817" name="Google Shape;1817;p128"/>
          <p:cNvSpPr txBox="1"/>
          <p:nvPr>
            <p:ph idx="1" type="body"/>
          </p:nvPr>
        </p:nvSpPr>
        <p:spPr>
          <a:xfrm>
            <a:off x="3970625" y="3179800"/>
            <a:ext cx="4276200" cy="29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30</a:t>
            </a:r>
            <a:r>
              <a:rPr lang="en-GB" sz="2000">
                <a:latin typeface="Kalam"/>
                <a:ea typeface="Kalam"/>
                <a:cs typeface="Kalam"/>
                <a:sym typeface="Kalam"/>
              </a:rPr>
              <a:t> gram serving has 4.8 g of sugar </a:t>
            </a:r>
            <a:endParaRPr sz="2000"/>
          </a:p>
        </p:txBody>
      </p:sp>
      <p:sp>
        <p:nvSpPr>
          <p:cNvPr id="1818" name="Google Shape;1818;p128"/>
          <p:cNvSpPr txBox="1"/>
          <p:nvPr>
            <p:ph idx="1" type="body"/>
          </p:nvPr>
        </p:nvSpPr>
        <p:spPr>
          <a:xfrm>
            <a:off x="3970625" y="3634800"/>
            <a:ext cx="4847100" cy="29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That is just over 1 teaspoon of sugar (1.14…) </a:t>
            </a:r>
            <a:r>
              <a:rPr lang="en-GB" sz="2000">
                <a:latin typeface="Kalam"/>
                <a:ea typeface="Kalam"/>
                <a:cs typeface="Kalam"/>
                <a:sym typeface="Kalam"/>
              </a:rPr>
              <a:t> </a:t>
            </a:r>
            <a:endParaRPr sz="2000"/>
          </a:p>
        </p:txBody>
      </p:sp>
      <p:pic>
        <p:nvPicPr>
          <p:cNvPr descr="&lt;math xmlns=&quot;http://www.w3.org/1998/Math/MathML&quot; display=&quot;block&quot; data-is-equatio=&quot;1&quot; data-latex=&quot;1\ \frac{1}{7}&quot;&gt;&lt;mn&gt;1&lt;/mn&gt;&lt;mtext&gt;&lt;/mtext&gt;&lt;mfrac&gt;&lt;mn&gt;1&lt;/mn&gt;&lt;mn&gt;7&lt;/mn&gt;&lt;/mfrac&gt;&lt;/math&gt;" id="1819" name="Google Shape;1819;p128" title="1 one seventh"/>
          <p:cNvPicPr preferRelativeResize="0"/>
          <p:nvPr/>
        </p:nvPicPr>
        <p:blipFill>
          <a:blip r:embed="rId3">
            <a:alphaModFix/>
          </a:blip>
          <a:stretch>
            <a:fillRect/>
          </a:stretch>
        </p:blipFill>
        <p:spPr>
          <a:xfrm>
            <a:off x="4057902" y="4089788"/>
            <a:ext cx="323323" cy="479775"/>
          </a:xfrm>
          <a:prstGeom prst="rect">
            <a:avLst/>
          </a:prstGeom>
          <a:noFill/>
          <a:ln>
            <a:noFill/>
          </a:ln>
        </p:spPr>
      </p:pic>
      <p:sp>
        <p:nvSpPr>
          <p:cNvPr id="1820" name="Google Shape;1820;p128"/>
          <p:cNvSpPr txBox="1"/>
          <p:nvPr>
            <p:ph idx="1" type="body"/>
          </p:nvPr>
        </p:nvSpPr>
        <p:spPr>
          <a:xfrm>
            <a:off x="4502400" y="4184475"/>
            <a:ext cx="1754400" cy="29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of a teaspoon.</a:t>
            </a:r>
            <a:r>
              <a:rPr lang="en-GB" sz="2000">
                <a:latin typeface="Kalam"/>
                <a:ea typeface="Kalam"/>
                <a:cs typeface="Kalam"/>
                <a:sym typeface="Kalam"/>
              </a:rPr>
              <a:t>  </a:t>
            </a:r>
            <a:endParaRPr sz="20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129"/>
          <p:cNvSpPr/>
          <p:nvPr/>
        </p:nvSpPr>
        <p:spPr>
          <a:xfrm>
            <a:off x="328350" y="3126150"/>
            <a:ext cx="3607800" cy="14295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6" name="Google Shape;1826;p12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827" name="Google Shape;1827;p129"/>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1) A ‘low sugar’ box of muesli advertises 20% less sugar. </a:t>
            </a:r>
            <a:endParaRPr sz="2000"/>
          </a:p>
        </p:txBody>
      </p:sp>
      <p:sp>
        <p:nvSpPr>
          <p:cNvPr id="1828" name="Google Shape;1828;p129"/>
          <p:cNvSpPr/>
          <p:nvPr/>
        </p:nvSpPr>
        <p:spPr>
          <a:xfrm>
            <a:off x="610625" y="1326750"/>
            <a:ext cx="1321800" cy="1628100"/>
          </a:xfrm>
          <a:prstGeom prst="cube">
            <a:avLst>
              <a:gd fmla="val 12500" name="adj"/>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9" name="Google Shape;1829;p129"/>
          <p:cNvSpPr txBox="1"/>
          <p:nvPr>
            <p:ph idx="1" type="body"/>
          </p:nvPr>
        </p:nvSpPr>
        <p:spPr>
          <a:xfrm>
            <a:off x="502875" y="1788750"/>
            <a:ext cx="12357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t>Normal muesli</a:t>
            </a:r>
            <a:endParaRPr sz="1800"/>
          </a:p>
        </p:txBody>
      </p:sp>
      <p:sp>
        <p:nvSpPr>
          <p:cNvPr id="1830" name="Google Shape;1830;p129"/>
          <p:cNvSpPr/>
          <p:nvPr/>
        </p:nvSpPr>
        <p:spPr>
          <a:xfrm>
            <a:off x="379225" y="3214675"/>
            <a:ext cx="805200" cy="10620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1" name="Google Shape;1831;p129"/>
          <p:cNvSpPr/>
          <p:nvPr/>
        </p:nvSpPr>
        <p:spPr>
          <a:xfrm>
            <a:off x="1281033" y="3214675"/>
            <a:ext cx="805200" cy="10620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2" name="Google Shape;1832;p129"/>
          <p:cNvSpPr/>
          <p:nvPr/>
        </p:nvSpPr>
        <p:spPr>
          <a:xfrm>
            <a:off x="2182841" y="3214675"/>
            <a:ext cx="805200" cy="10620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3" name="Google Shape;1833;p129"/>
          <p:cNvSpPr/>
          <p:nvPr/>
        </p:nvSpPr>
        <p:spPr>
          <a:xfrm>
            <a:off x="3084649" y="3214675"/>
            <a:ext cx="805200" cy="10620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4" name="Google Shape;1834;p129"/>
          <p:cNvSpPr/>
          <p:nvPr/>
        </p:nvSpPr>
        <p:spPr>
          <a:xfrm>
            <a:off x="651650" y="2660750"/>
            <a:ext cx="638400" cy="221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5" name="Google Shape;1835;p129"/>
          <p:cNvSpPr/>
          <p:nvPr/>
        </p:nvSpPr>
        <p:spPr>
          <a:xfrm>
            <a:off x="660653" y="2676415"/>
            <a:ext cx="132600" cy="1881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6" name="Google Shape;1836;p129"/>
          <p:cNvSpPr/>
          <p:nvPr/>
        </p:nvSpPr>
        <p:spPr>
          <a:xfrm>
            <a:off x="820254"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7" name="Google Shape;1837;p129"/>
          <p:cNvSpPr/>
          <p:nvPr/>
        </p:nvSpPr>
        <p:spPr>
          <a:xfrm>
            <a:off x="979856" y="2676415"/>
            <a:ext cx="132600" cy="1881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8" name="Google Shape;1838;p129"/>
          <p:cNvSpPr/>
          <p:nvPr/>
        </p:nvSpPr>
        <p:spPr>
          <a:xfrm>
            <a:off x="1139457"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9" name="Google Shape;1839;p129"/>
          <p:cNvSpPr txBox="1"/>
          <p:nvPr>
            <p:ph idx="1" type="body"/>
          </p:nvPr>
        </p:nvSpPr>
        <p:spPr>
          <a:xfrm>
            <a:off x="349286" y="3440518"/>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Energy</a:t>
            </a:r>
            <a:endParaRPr sz="1700"/>
          </a:p>
        </p:txBody>
      </p:sp>
      <p:sp>
        <p:nvSpPr>
          <p:cNvPr id="1840" name="Google Shape;1840;p129"/>
          <p:cNvSpPr txBox="1"/>
          <p:nvPr>
            <p:ph idx="1" type="body"/>
          </p:nvPr>
        </p:nvSpPr>
        <p:spPr>
          <a:xfrm>
            <a:off x="324000"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375 Kcal</a:t>
            </a:r>
            <a:endParaRPr sz="1700"/>
          </a:p>
        </p:txBody>
      </p:sp>
      <p:sp>
        <p:nvSpPr>
          <p:cNvPr id="1841" name="Google Shape;1841;p129"/>
          <p:cNvSpPr txBox="1"/>
          <p:nvPr>
            <p:ph idx="1" type="body"/>
          </p:nvPr>
        </p:nvSpPr>
        <p:spPr>
          <a:xfrm>
            <a:off x="1253293" y="3440518"/>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Fat</a:t>
            </a:r>
            <a:endParaRPr sz="1700"/>
          </a:p>
        </p:txBody>
      </p:sp>
      <p:sp>
        <p:nvSpPr>
          <p:cNvPr id="1842" name="Google Shape;1842;p129"/>
          <p:cNvSpPr txBox="1"/>
          <p:nvPr>
            <p:ph idx="1" type="body"/>
          </p:nvPr>
        </p:nvSpPr>
        <p:spPr>
          <a:xfrm>
            <a:off x="1235607"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6.2 g</a:t>
            </a:r>
            <a:endParaRPr sz="1700"/>
          </a:p>
        </p:txBody>
      </p:sp>
      <p:sp>
        <p:nvSpPr>
          <p:cNvPr id="1843" name="Google Shape;1843;p129"/>
          <p:cNvSpPr txBox="1"/>
          <p:nvPr>
            <p:ph idx="1" type="body"/>
          </p:nvPr>
        </p:nvSpPr>
        <p:spPr>
          <a:xfrm>
            <a:off x="2138987" y="3440525"/>
            <a:ext cx="8709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400"/>
              <a:t>Saturates</a:t>
            </a:r>
            <a:endParaRPr sz="1400"/>
          </a:p>
        </p:txBody>
      </p:sp>
      <p:sp>
        <p:nvSpPr>
          <p:cNvPr id="1844" name="Google Shape;1844;p129"/>
          <p:cNvSpPr txBox="1"/>
          <p:nvPr>
            <p:ph idx="1" type="body"/>
          </p:nvPr>
        </p:nvSpPr>
        <p:spPr>
          <a:xfrm>
            <a:off x="2204683" y="37197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0.9 g</a:t>
            </a:r>
            <a:endParaRPr sz="1700"/>
          </a:p>
        </p:txBody>
      </p:sp>
      <p:sp>
        <p:nvSpPr>
          <p:cNvPr id="1845" name="Google Shape;1845;p129"/>
          <p:cNvSpPr txBox="1"/>
          <p:nvPr>
            <p:ph idx="1" type="body"/>
          </p:nvPr>
        </p:nvSpPr>
        <p:spPr>
          <a:xfrm>
            <a:off x="3084650" y="3466425"/>
            <a:ext cx="7497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Sugars</a:t>
            </a:r>
            <a:endParaRPr sz="1700"/>
          </a:p>
        </p:txBody>
      </p:sp>
      <p:sp>
        <p:nvSpPr>
          <p:cNvPr id="1846" name="Google Shape;1846;p129"/>
          <p:cNvSpPr txBox="1"/>
          <p:nvPr>
            <p:ph idx="1" type="body"/>
          </p:nvPr>
        </p:nvSpPr>
        <p:spPr>
          <a:xfrm>
            <a:off x="3087657" y="3745632"/>
            <a:ext cx="805200" cy="279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20 g</a:t>
            </a:r>
            <a:endParaRPr sz="1700"/>
          </a:p>
        </p:txBody>
      </p:sp>
      <p:sp>
        <p:nvSpPr>
          <p:cNvPr id="1847" name="Google Shape;1847;p129"/>
          <p:cNvSpPr txBox="1"/>
          <p:nvPr>
            <p:ph idx="1" type="body"/>
          </p:nvPr>
        </p:nvSpPr>
        <p:spPr>
          <a:xfrm>
            <a:off x="1738575" y="4298657"/>
            <a:ext cx="2095800" cy="2214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700"/>
              <a:t>Amounts Per 100 g</a:t>
            </a:r>
            <a:endParaRPr sz="1700"/>
          </a:p>
        </p:txBody>
      </p:sp>
      <p:sp>
        <p:nvSpPr>
          <p:cNvPr id="1848" name="Google Shape;1848;p129"/>
          <p:cNvSpPr/>
          <p:nvPr/>
        </p:nvSpPr>
        <p:spPr>
          <a:xfrm>
            <a:off x="2287025" y="1326750"/>
            <a:ext cx="1321800" cy="1628100"/>
          </a:xfrm>
          <a:prstGeom prst="cube">
            <a:avLst>
              <a:gd fmla="val 12500" name="adj"/>
            </a:avLst>
          </a:prstGeom>
          <a:solidFill>
            <a:srgbClr val="374CF1">
              <a:alpha val="47470"/>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9" name="Google Shape;1849;p129"/>
          <p:cNvSpPr txBox="1"/>
          <p:nvPr>
            <p:ph idx="1" type="body"/>
          </p:nvPr>
        </p:nvSpPr>
        <p:spPr>
          <a:xfrm>
            <a:off x="2179275" y="1941150"/>
            <a:ext cx="1235700" cy="2853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t>muesli</a:t>
            </a:r>
            <a:endParaRPr sz="1800"/>
          </a:p>
        </p:txBody>
      </p:sp>
      <p:sp>
        <p:nvSpPr>
          <p:cNvPr id="1850" name="Google Shape;1850;p129"/>
          <p:cNvSpPr/>
          <p:nvPr/>
        </p:nvSpPr>
        <p:spPr>
          <a:xfrm>
            <a:off x="2328050" y="2660750"/>
            <a:ext cx="638400" cy="221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1" name="Google Shape;1851;p129"/>
          <p:cNvSpPr/>
          <p:nvPr/>
        </p:nvSpPr>
        <p:spPr>
          <a:xfrm>
            <a:off x="2337053" y="2676415"/>
            <a:ext cx="132600" cy="188100"/>
          </a:xfrm>
          <a:prstGeom prst="roundRect">
            <a:avLst>
              <a:gd fmla="val 39268"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2" name="Google Shape;1852;p129"/>
          <p:cNvSpPr/>
          <p:nvPr/>
        </p:nvSpPr>
        <p:spPr>
          <a:xfrm>
            <a:off x="2496654"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3" name="Google Shape;1853;p129"/>
          <p:cNvSpPr/>
          <p:nvPr/>
        </p:nvSpPr>
        <p:spPr>
          <a:xfrm>
            <a:off x="2656256" y="2676415"/>
            <a:ext cx="132600" cy="188100"/>
          </a:xfrm>
          <a:prstGeom prst="roundRect">
            <a:avLst>
              <a:gd fmla="val 39268" name="adj"/>
            </a:avLst>
          </a:prstGeom>
          <a:solidFill>
            <a:srgbClr val="93C47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4" name="Google Shape;1854;p129"/>
          <p:cNvSpPr/>
          <p:nvPr/>
        </p:nvSpPr>
        <p:spPr>
          <a:xfrm>
            <a:off x="2815857" y="2676415"/>
            <a:ext cx="132600" cy="188100"/>
          </a:xfrm>
          <a:prstGeom prst="roundRect">
            <a:avLst>
              <a:gd fmla="val 39268" name="adj"/>
            </a:avLst>
          </a:prstGeom>
          <a:solidFill>
            <a:srgbClr val="FF99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5" name="Google Shape;1855;p129"/>
          <p:cNvSpPr txBox="1"/>
          <p:nvPr>
            <p:ph idx="1" type="body"/>
          </p:nvPr>
        </p:nvSpPr>
        <p:spPr>
          <a:xfrm>
            <a:off x="2287025" y="1561625"/>
            <a:ext cx="1161300" cy="285300"/>
          </a:xfrm>
          <a:prstGeom prst="rect">
            <a:avLst/>
          </a:prstGeom>
          <a:solidFill>
            <a:schemeClr val="accent6"/>
          </a:solidFill>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800">
                <a:solidFill>
                  <a:schemeClr val="lt1"/>
                </a:solidFill>
              </a:rPr>
              <a:t>Low sugar</a:t>
            </a:r>
            <a:endParaRPr sz="1800">
              <a:solidFill>
                <a:schemeClr val="lt1"/>
              </a:solidFill>
            </a:endParaRPr>
          </a:p>
        </p:txBody>
      </p:sp>
      <p:cxnSp>
        <p:nvCxnSpPr>
          <p:cNvPr id="1856" name="Google Shape;1856;p129"/>
          <p:cNvCxnSpPr>
            <a:stCxn id="1837" idx="2"/>
          </p:cNvCxnSpPr>
          <p:nvPr/>
        </p:nvCxnSpPr>
        <p:spPr>
          <a:xfrm>
            <a:off x="1046156" y="2864515"/>
            <a:ext cx="182100" cy="290400"/>
          </a:xfrm>
          <a:prstGeom prst="straightConnector1">
            <a:avLst/>
          </a:prstGeom>
          <a:noFill/>
          <a:ln cap="flat" cmpd="sng" w="19050">
            <a:solidFill>
              <a:schemeClr val="dk1"/>
            </a:solidFill>
            <a:prstDash val="solid"/>
            <a:round/>
            <a:headEnd len="med" w="med" type="none"/>
            <a:tailEnd len="med" w="med" type="none"/>
          </a:ln>
        </p:spPr>
      </p:cxnSp>
      <p:sp>
        <p:nvSpPr>
          <p:cNvPr id="1857" name="Google Shape;1857;p129"/>
          <p:cNvSpPr txBox="1"/>
          <p:nvPr>
            <p:ph idx="1" type="body"/>
          </p:nvPr>
        </p:nvSpPr>
        <p:spPr>
          <a:xfrm>
            <a:off x="3855675" y="1326750"/>
            <a:ext cx="4849500" cy="66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 A different brand of muesli advertises   5.5 g of sugar per 40 gram serving. Which muesli has the least sugar?  </a:t>
            </a:r>
            <a:endParaRPr sz="1800"/>
          </a:p>
        </p:txBody>
      </p:sp>
      <p:sp>
        <p:nvSpPr>
          <p:cNvPr id="1858" name="Google Shape;1858;p129"/>
          <p:cNvSpPr txBox="1"/>
          <p:nvPr>
            <p:ph idx="1" type="body"/>
          </p:nvPr>
        </p:nvSpPr>
        <p:spPr>
          <a:xfrm>
            <a:off x="4059525" y="2426550"/>
            <a:ext cx="4230300" cy="29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5.5 g of sugar per 40 g</a:t>
            </a:r>
            <a:r>
              <a:rPr lang="en-GB" sz="2000">
                <a:latin typeface="Kalam"/>
                <a:ea typeface="Kalam"/>
                <a:cs typeface="Kalam"/>
                <a:sym typeface="Kalam"/>
              </a:rPr>
              <a:t> is 13.75 g of sugar per 100 g.</a:t>
            </a:r>
            <a:endParaRPr sz="2000">
              <a:latin typeface="Kalam"/>
              <a:ea typeface="Kalam"/>
              <a:cs typeface="Kalam"/>
              <a:sym typeface="Kalam"/>
            </a:endParaRPr>
          </a:p>
          <a:p>
            <a:pPr indent="0" lvl="0" marL="0" rtl="0" algn="l">
              <a:spcBef>
                <a:spcPts val="1000"/>
              </a:spcBef>
              <a:spcAft>
                <a:spcPts val="1000"/>
              </a:spcAft>
              <a:buNone/>
            </a:pPr>
            <a:r>
              <a:rPr lang="en-GB" sz="2000">
                <a:latin typeface="Kalam"/>
                <a:ea typeface="Kalam"/>
                <a:cs typeface="Kalam"/>
                <a:sym typeface="Kalam"/>
              </a:rPr>
              <a:t>This is a lower sugar content than the ‘low sugar’ version of the original muesli. </a:t>
            </a:r>
            <a:endParaRPr sz="2000">
              <a:latin typeface="Kalam"/>
              <a:ea typeface="Kalam"/>
              <a:cs typeface="Kalam"/>
              <a:sym typeface="Kalam"/>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2" name="Shape 1862"/>
        <p:cNvGrpSpPr/>
        <p:nvPr/>
      </p:nvGrpSpPr>
      <p:grpSpPr>
        <a:xfrm>
          <a:off x="0" y="0"/>
          <a:ext cx="0" cy="0"/>
          <a:chOff x="0" y="0"/>
          <a:chExt cx="0" cy="0"/>
        </a:xfrm>
      </p:grpSpPr>
      <p:sp>
        <p:nvSpPr>
          <p:cNvPr id="1863" name="Google Shape;1863;p130"/>
          <p:cNvSpPr/>
          <p:nvPr/>
        </p:nvSpPr>
        <p:spPr>
          <a:xfrm>
            <a:off x="344825" y="1154750"/>
            <a:ext cx="8404800" cy="4239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4" name="Google Shape;1864;p130"/>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Roy’s rides makes and sells motorbikes. Their advert claims:    </a:t>
            </a:r>
            <a:endParaRPr sz="2000"/>
          </a:p>
        </p:txBody>
      </p:sp>
      <p:sp>
        <p:nvSpPr>
          <p:cNvPr id="1865" name="Google Shape;1865;p13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866" name="Google Shape;1866;p130"/>
          <p:cNvSpPr txBox="1"/>
          <p:nvPr>
            <p:ph idx="1" type="body"/>
          </p:nvPr>
        </p:nvSpPr>
        <p:spPr>
          <a:xfrm>
            <a:off x="324000" y="1214575"/>
            <a:ext cx="8496000" cy="28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 Our motorbikes hold their value much better than our competitors. </a:t>
            </a:r>
            <a:r>
              <a:rPr lang="en-GB" sz="2100"/>
              <a:t> </a:t>
            </a:r>
            <a:endParaRPr sz="2100"/>
          </a:p>
        </p:txBody>
      </p:sp>
      <p:sp>
        <p:nvSpPr>
          <p:cNvPr id="1867" name="Google Shape;1867;p130"/>
          <p:cNvSpPr txBox="1"/>
          <p:nvPr>
            <p:ph idx="1" type="body"/>
          </p:nvPr>
        </p:nvSpPr>
        <p:spPr>
          <a:xfrm>
            <a:off x="324000" y="1768000"/>
            <a:ext cx="8237700" cy="49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The average depreciation of the value of a motorbike in its first year is 20%. What would a motorbike worth £2500 new be worth after one year?</a:t>
            </a:r>
            <a:endParaRPr sz="1800"/>
          </a:p>
        </p:txBody>
      </p:sp>
      <p:sp>
        <p:nvSpPr>
          <p:cNvPr id="1868" name="Google Shape;1868;p130"/>
          <p:cNvSpPr txBox="1"/>
          <p:nvPr>
            <p:ph idx="1" type="body"/>
          </p:nvPr>
        </p:nvSpPr>
        <p:spPr>
          <a:xfrm>
            <a:off x="324000" y="2571750"/>
            <a:ext cx="2305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2500</a:t>
            </a:r>
            <a:r>
              <a:rPr lang="en-GB" sz="2000">
                <a:latin typeface="Kalam"/>
                <a:ea typeface="Kalam"/>
                <a:cs typeface="Kalam"/>
                <a:sym typeface="Kalam"/>
              </a:rPr>
              <a:t> × 0.8 = 2000</a:t>
            </a:r>
            <a:endParaRPr sz="2000"/>
          </a:p>
        </p:txBody>
      </p:sp>
      <p:sp>
        <p:nvSpPr>
          <p:cNvPr id="1869" name="Google Shape;1869;p130"/>
          <p:cNvSpPr txBox="1"/>
          <p:nvPr>
            <p:ph idx="1" type="body"/>
          </p:nvPr>
        </p:nvSpPr>
        <p:spPr>
          <a:xfrm>
            <a:off x="291525" y="3104400"/>
            <a:ext cx="60501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After 1 year the value would be £2000</a:t>
            </a:r>
            <a:endParaRPr sz="20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3" name="Shape 1873"/>
        <p:cNvGrpSpPr/>
        <p:nvPr/>
      </p:nvGrpSpPr>
      <p:grpSpPr>
        <a:xfrm>
          <a:off x="0" y="0"/>
          <a:ext cx="0" cy="0"/>
          <a:chOff x="0" y="0"/>
          <a:chExt cx="0" cy="0"/>
        </a:xfrm>
      </p:grpSpPr>
      <p:sp>
        <p:nvSpPr>
          <p:cNvPr id="1874" name="Google Shape;1874;p131"/>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Roy’s rides makes and sells motorbikes. Their advert claims:    </a:t>
            </a:r>
            <a:endParaRPr sz="2000"/>
          </a:p>
        </p:txBody>
      </p:sp>
      <p:sp>
        <p:nvSpPr>
          <p:cNvPr id="1875" name="Google Shape;1875;p13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876" name="Google Shape;1876;p131"/>
          <p:cNvSpPr txBox="1"/>
          <p:nvPr>
            <p:ph idx="1" type="body"/>
          </p:nvPr>
        </p:nvSpPr>
        <p:spPr>
          <a:xfrm>
            <a:off x="324000" y="3497425"/>
            <a:ext cx="8496000" cy="331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b) Give a statistic to support the claim made by Roy’s rides</a:t>
            </a:r>
            <a:endParaRPr sz="1800"/>
          </a:p>
          <a:p>
            <a:pPr indent="0" lvl="0" marL="0" rtl="0" algn="l">
              <a:spcBef>
                <a:spcPts val="1000"/>
              </a:spcBef>
              <a:spcAft>
                <a:spcPts val="1000"/>
              </a:spcAft>
              <a:buNone/>
            </a:pPr>
            <a:r>
              <a:t/>
            </a:r>
            <a:endParaRPr sz="1800"/>
          </a:p>
        </p:txBody>
      </p:sp>
      <p:sp>
        <p:nvSpPr>
          <p:cNvPr id="1877" name="Google Shape;1877;p131"/>
          <p:cNvSpPr txBox="1"/>
          <p:nvPr>
            <p:ph idx="1" type="body"/>
          </p:nvPr>
        </p:nvSpPr>
        <p:spPr>
          <a:xfrm>
            <a:off x="413900" y="3828925"/>
            <a:ext cx="2305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1800 − 1350 = 450</a:t>
            </a:r>
            <a:endParaRPr sz="2000"/>
          </a:p>
        </p:txBody>
      </p:sp>
      <p:sp>
        <p:nvSpPr>
          <p:cNvPr id="1878" name="Google Shape;1878;p131"/>
          <p:cNvSpPr txBox="1"/>
          <p:nvPr>
            <p:ph idx="1" type="body"/>
          </p:nvPr>
        </p:nvSpPr>
        <p:spPr>
          <a:xfrm>
            <a:off x="4600975" y="3828925"/>
            <a:ext cx="23052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5200 − 4420 = 780</a:t>
            </a:r>
            <a:endParaRPr sz="2000"/>
          </a:p>
        </p:txBody>
      </p:sp>
      <p:sp>
        <p:nvSpPr>
          <p:cNvPr id="1879" name="Google Shape;1879;p131"/>
          <p:cNvSpPr txBox="1"/>
          <p:nvPr>
            <p:ph idx="1" type="body"/>
          </p:nvPr>
        </p:nvSpPr>
        <p:spPr>
          <a:xfrm>
            <a:off x="324000" y="4180225"/>
            <a:ext cx="8496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There is a smaller decrease in value for the motorbike at Roy’s rides than their competitor. </a:t>
            </a:r>
            <a:endParaRPr sz="2000"/>
          </a:p>
        </p:txBody>
      </p:sp>
      <p:sp>
        <p:nvSpPr>
          <p:cNvPr id="1880" name="Google Shape;1880;p131"/>
          <p:cNvSpPr/>
          <p:nvPr/>
        </p:nvSpPr>
        <p:spPr>
          <a:xfrm>
            <a:off x="324000" y="1733550"/>
            <a:ext cx="8404800" cy="16887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1" name="Google Shape;1881;p131"/>
          <p:cNvSpPr txBox="1"/>
          <p:nvPr>
            <p:ph idx="1" type="body"/>
          </p:nvPr>
        </p:nvSpPr>
        <p:spPr>
          <a:xfrm>
            <a:off x="476400" y="1809750"/>
            <a:ext cx="8496000" cy="42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are the figures for the value of a motorbike from Roy’s rides and a motorbike from their nearest competitor. </a:t>
            </a:r>
            <a:endParaRPr sz="1800"/>
          </a:p>
        </p:txBody>
      </p:sp>
      <p:graphicFrame>
        <p:nvGraphicFramePr>
          <p:cNvPr id="1882" name="Google Shape;1882;p131"/>
          <p:cNvGraphicFramePr/>
          <p:nvPr/>
        </p:nvGraphicFramePr>
        <p:xfrm>
          <a:off x="566300" y="2387300"/>
          <a:ext cx="3000000" cy="3000000"/>
        </p:xfrm>
        <a:graphic>
          <a:graphicData uri="http://schemas.openxmlformats.org/drawingml/2006/table">
            <a:tbl>
              <a:tblPr>
                <a:noFill/>
                <a:tableStyleId>{10AFA74E-A8D8-4ED3-82F3-7211547E49B6}</a:tableStyleId>
              </a:tblPr>
              <a:tblGrid>
                <a:gridCol w="818250"/>
                <a:gridCol w="2491350"/>
              </a:tblGrid>
              <a:tr h="3156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Roy’s rides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New</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£1800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 yr old</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£1350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883" name="Google Shape;1883;p131"/>
          <p:cNvGraphicFramePr/>
          <p:nvPr/>
        </p:nvGraphicFramePr>
        <p:xfrm>
          <a:off x="4604900" y="2387300"/>
          <a:ext cx="3000000" cy="3000000"/>
        </p:xfrm>
        <a:graphic>
          <a:graphicData uri="http://schemas.openxmlformats.org/drawingml/2006/table">
            <a:tbl>
              <a:tblPr>
                <a:noFill/>
                <a:tableStyleId>{10AFA74E-A8D8-4ED3-82F3-7211547E49B6}</a:tableStyleId>
              </a:tblPr>
              <a:tblGrid>
                <a:gridCol w="818250"/>
                <a:gridCol w="2491350"/>
              </a:tblGrid>
              <a:tr h="3156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Competitor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New</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£5200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 yr old</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£4420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884" name="Google Shape;1884;p131"/>
          <p:cNvSpPr/>
          <p:nvPr/>
        </p:nvSpPr>
        <p:spPr>
          <a:xfrm>
            <a:off x="344825" y="1154750"/>
            <a:ext cx="8404800" cy="4239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5" name="Google Shape;1885;p131"/>
          <p:cNvSpPr txBox="1"/>
          <p:nvPr>
            <p:ph idx="1" type="body"/>
          </p:nvPr>
        </p:nvSpPr>
        <p:spPr>
          <a:xfrm>
            <a:off x="324000" y="1214575"/>
            <a:ext cx="8496000" cy="28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 Our motorbikes hold their value much better than our competitors. </a:t>
            </a:r>
            <a:r>
              <a:rPr lang="en-GB" sz="2100"/>
              <a:t> </a:t>
            </a:r>
            <a:endParaRPr sz="21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9" name="Shape 1889"/>
        <p:cNvGrpSpPr/>
        <p:nvPr/>
      </p:nvGrpSpPr>
      <p:grpSpPr>
        <a:xfrm>
          <a:off x="0" y="0"/>
          <a:ext cx="0" cy="0"/>
          <a:chOff x="0" y="0"/>
          <a:chExt cx="0" cy="0"/>
        </a:xfrm>
      </p:grpSpPr>
      <p:sp>
        <p:nvSpPr>
          <p:cNvPr id="1890" name="Google Shape;1890;p132"/>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Roy’s rides makes and sells motorbikes. Their advert claims:    </a:t>
            </a:r>
            <a:endParaRPr sz="2000"/>
          </a:p>
        </p:txBody>
      </p:sp>
      <p:sp>
        <p:nvSpPr>
          <p:cNvPr id="1891" name="Google Shape;1891;p13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Analysing adverts</a:t>
            </a:r>
            <a:endParaRPr/>
          </a:p>
        </p:txBody>
      </p:sp>
      <p:sp>
        <p:nvSpPr>
          <p:cNvPr id="1892" name="Google Shape;1892;p132"/>
          <p:cNvSpPr txBox="1"/>
          <p:nvPr>
            <p:ph idx="1" type="body"/>
          </p:nvPr>
        </p:nvSpPr>
        <p:spPr>
          <a:xfrm>
            <a:off x="324000" y="3497425"/>
            <a:ext cx="8496000" cy="331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c) Give a statistic which does not support the claim.</a:t>
            </a:r>
            <a:endParaRPr sz="1800"/>
          </a:p>
          <a:p>
            <a:pPr indent="0" lvl="0" marL="0" rtl="0" algn="l">
              <a:spcBef>
                <a:spcPts val="1000"/>
              </a:spcBef>
              <a:spcAft>
                <a:spcPts val="1000"/>
              </a:spcAft>
              <a:buNone/>
            </a:pPr>
            <a:r>
              <a:t/>
            </a:r>
            <a:endParaRPr sz="1800"/>
          </a:p>
        </p:txBody>
      </p:sp>
      <p:sp>
        <p:nvSpPr>
          <p:cNvPr id="1893" name="Google Shape;1893;p132"/>
          <p:cNvSpPr txBox="1"/>
          <p:nvPr>
            <p:ph idx="1" type="body"/>
          </p:nvPr>
        </p:nvSpPr>
        <p:spPr>
          <a:xfrm>
            <a:off x="413900" y="3828925"/>
            <a:ext cx="4226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1350 ÷ 1800 = 0.75 (25% decrease)</a:t>
            </a:r>
            <a:endParaRPr sz="2000"/>
          </a:p>
        </p:txBody>
      </p:sp>
      <p:sp>
        <p:nvSpPr>
          <p:cNvPr id="1894" name="Google Shape;1894;p132"/>
          <p:cNvSpPr txBox="1"/>
          <p:nvPr>
            <p:ph idx="1" type="body"/>
          </p:nvPr>
        </p:nvSpPr>
        <p:spPr>
          <a:xfrm>
            <a:off x="4604900" y="3780000"/>
            <a:ext cx="4226700" cy="3513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latin typeface="Kalam"/>
                <a:ea typeface="Kalam"/>
                <a:cs typeface="Kalam"/>
                <a:sym typeface="Kalam"/>
              </a:rPr>
              <a:t>4420</a:t>
            </a:r>
            <a:r>
              <a:rPr lang="en-GB" sz="2000">
                <a:latin typeface="Kalam"/>
                <a:ea typeface="Kalam"/>
                <a:cs typeface="Kalam"/>
                <a:sym typeface="Kalam"/>
              </a:rPr>
              <a:t> ÷ 5200 = 0.85 (15% decrease)</a:t>
            </a:r>
            <a:endParaRPr sz="2000"/>
          </a:p>
        </p:txBody>
      </p:sp>
      <p:sp>
        <p:nvSpPr>
          <p:cNvPr id="1895" name="Google Shape;1895;p132"/>
          <p:cNvSpPr txBox="1"/>
          <p:nvPr>
            <p:ph idx="1" type="body"/>
          </p:nvPr>
        </p:nvSpPr>
        <p:spPr>
          <a:xfrm>
            <a:off x="324000" y="4180225"/>
            <a:ext cx="8496000" cy="35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motorbike at Roy’s rides was cheaper initially. It depreciates by 25% whereas the competitor’s depreciates by 15%.</a:t>
            </a:r>
            <a:r>
              <a:rPr lang="en-GB" sz="2000">
                <a:latin typeface="Kalam"/>
                <a:ea typeface="Kalam"/>
                <a:cs typeface="Kalam"/>
                <a:sym typeface="Kalam"/>
              </a:rPr>
              <a:t> </a:t>
            </a:r>
            <a:endParaRPr sz="2000"/>
          </a:p>
        </p:txBody>
      </p:sp>
      <p:sp>
        <p:nvSpPr>
          <p:cNvPr id="1896" name="Google Shape;1896;p132"/>
          <p:cNvSpPr/>
          <p:nvPr/>
        </p:nvSpPr>
        <p:spPr>
          <a:xfrm>
            <a:off x="324000" y="1733550"/>
            <a:ext cx="8404800" cy="16887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97" name="Google Shape;1897;p132"/>
          <p:cNvSpPr txBox="1"/>
          <p:nvPr>
            <p:ph idx="1" type="body"/>
          </p:nvPr>
        </p:nvSpPr>
        <p:spPr>
          <a:xfrm>
            <a:off x="476400" y="1809750"/>
            <a:ext cx="8496000" cy="423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are the figures for the value of a motorbike from Roy’s rides and a motorbike from their nearest competitor. </a:t>
            </a:r>
            <a:endParaRPr sz="1800"/>
          </a:p>
        </p:txBody>
      </p:sp>
      <p:graphicFrame>
        <p:nvGraphicFramePr>
          <p:cNvPr id="1898" name="Google Shape;1898;p132"/>
          <p:cNvGraphicFramePr/>
          <p:nvPr/>
        </p:nvGraphicFramePr>
        <p:xfrm>
          <a:off x="566300" y="2387300"/>
          <a:ext cx="3000000" cy="3000000"/>
        </p:xfrm>
        <a:graphic>
          <a:graphicData uri="http://schemas.openxmlformats.org/drawingml/2006/table">
            <a:tbl>
              <a:tblPr>
                <a:noFill/>
                <a:tableStyleId>{10AFA74E-A8D8-4ED3-82F3-7211547E49B6}</a:tableStyleId>
              </a:tblPr>
              <a:tblGrid>
                <a:gridCol w="818250"/>
                <a:gridCol w="2491350"/>
              </a:tblGrid>
              <a:tr h="3156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Roy’s rides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New</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£1800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 yr old</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£1350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1899" name="Google Shape;1899;p132"/>
          <p:cNvGraphicFramePr/>
          <p:nvPr/>
        </p:nvGraphicFramePr>
        <p:xfrm>
          <a:off x="4604900" y="2387300"/>
          <a:ext cx="3000000" cy="3000000"/>
        </p:xfrm>
        <a:graphic>
          <a:graphicData uri="http://schemas.openxmlformats.org/drawingml/2006/table">
            <a:tbl>
              <a:tblPr>
                <a:noFill/>
                <a:tableStyleId>{10AFA74E-A8D8-4ED3-82F3-7211547E49B6}</a:tableStyleId>
              </a:tblPr>
              <a:tblGrid>
                <a:gridCol w="818250"/>
                <a:gridCol w="2491350"/>
              </a:tblGrid>
              <a:tr h="3156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Competitor </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New</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£5200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15600">
                <a:tc>
                  <a:txBody>
                    <a:bodyPr/>
                    <a:lstStyle/>
                    <a:p>
                      <a:pPr indent="0" lvl="0" marL="0" rtl="0" algn="ctr">
                        <a:spcBef>
                          <a:spcPts val="0"/>
                        </a:spcBef>
                        <a:spcAft>
                          <a:spcPts val="0"/>
                        </a:spcAft>
                        <a:buNone/>
                      </a:pPr>
                      <a:r>
                        <a:rPr lang="en-GB" sz="1800">
                          <a:latin typeface="Lexend"/>
                          <a:ea typeface="Lexend"/>
                          <a:cs typeface="Lexend"/>
                          <a:sym typeface="Lexend"/>
                        </a:rPr>
                        <a:t>1 yr old</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£4420</a:t>
                      </a:r>
                      <a:endParaRPr sz="1800">
                        <a:latin typeface="Lexend"/>
                        <a:ea typeface="Lexend"/>
                        <a:cs typeface="Lexend"/>
                        <a:sym typeface="Lexend"/>
                      </a:endParaRPr>
                    </a:p>
                  </a:txBody>
                  <a:tcPr marT="0" marB="0" marR="0" marL="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900" name="Google Shape;1900;p132"/>
          <p:cNvSpPr/>
          <p:nvPr/>
        </p:nvSpPr>
        <p:spPr>
          <a:xfrm>
            <a:off x="344825" y="1154750"/>
            <a:ext cx="8404800" cy="4239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1" name="Google Shape;1901;p132"/>
          <p:cNvSpPr txBox="1"/>
          <p:nvPr>
            <p:ph idx="1" type="body"/>
          </p:nvPr>
        </p:nvSpPr>
        <p:spPr>
          <a:xfrm>
            <a:off x="324000" y="1214575"/>
            <a:ext cx="8496000" cy="28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 Our motorbikes hold their value much better than our competitors. </a:t>
            </a:r>
            <a:r>
              <a:rPr lang="en-GB" sz="2100"/>
              <a:t> </a:t>
            </a:r>
            <a:endParaRPr sz="21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133"/>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Proportion skills can be used to compare prices. </a:t>
            </a:r>
            <a:endParaRPr/>
          </a:p>
          <a:p>
            <a:pPr indent="0" lvl="0" marL="0" rtl="0" algn="l">
              <a:spcBef>
                <a:spcPts val="1000"/>
              </a:spcBef>
              <a:spcAft>
                <a:spcPts val="0"/>
              </a:spcAft>
              <a:buNone/>
            </a:pPr>
            <a:r>
              <a:rPr lang="en-GB"/>
              <a:t>Promotions do not always offer the best value for money.</a:t>
            </a:r>
            <a:endParaRPr/>
          </a:p>
          <a:p>
            <a:pPr indent="0" lvl="0" marL="0" rtl="0" algn="l">
              <a:spcBef>
                <a:spcPts val="1000"/>
              </a:spcBef>
              <a:spcAft>
                <a:spcPts val="0"/>
              </a:spcAft>
              <a:buNone/>
            </a:pPr>
            <a:r>
              <a:rPr lang="en-GB"/>
              <a:t>Shops often display ‘unit prices’ to help you </a:t>
            </a:r>
            <a:r>
              <a:rPr lang="en-GB"/>
              <a:t>compare</a:t>
            </a:r>
            <a:r>
              <a:rPr lang="en-GB"/>
              <a:t> products but these are not always in the same units. </a:t>
            </a:r>
            <a:endParaRPr/>
          </a:p>
          <a:p>
            <a:pPr indent="0" lvl="0" marL="0" rtl="0" algn="l">
              <a:spcBef>
                <a:spcPts val="1000"/>
              </a:spcBef>
              <a:spcAft>
                <a:spcPts val="0"/>
              </a:spcAft>
              <a:buNone/>
            </a:pPr>
            <a:r>
              <a:rPr lang="en-GB"/>
              <a:t>Advertisements often make use of data.</a:t>
            </a:r>
            <a:endParaRPr/>
          </a:p>
          <a:p>
            <a:pPr indent="0" lvl="0" marL="0" rtl="0" algn="l">
              <a:spcBef>
                <a:spcPts val="1000"/>
              </a:spcBef>
              <a:spcAft>
                <a:spcPts val="1000"/>
              </a:spcAft>
              <a:buNone/>
            </a:pPr>
            <a:r>
              <a:rPr lang="en-GB"/>
              <a:t>The validity of the data and conclusions should not be assumed.</a:t>
            </a:r>
            <a:endParaRPr/>
          </a:p>
        </p:txBody>
      </p:sp>
      <p:sp>
        <p:nvSpPr>
          <p:cNvPr id="1907" name="Google Shape;1907;p133"/>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Understanding advertising</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id="1912" name="Google Shape;1912;p134"/>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913" name="Google Shape;1913;p134"/>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