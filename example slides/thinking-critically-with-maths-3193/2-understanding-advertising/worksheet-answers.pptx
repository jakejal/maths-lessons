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45CEB1B-2BA0-4F1E-B8B8-A1D8BE31B73B}">
  <a:tblStyle styleId="{345CEB1B-2BA0-4F1E-B8B8-A1D8BE31B73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0812a94e4b_0_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0812a94e4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0812a94e4b_0_8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0812a94e4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Relationship Id="rId7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Relationship Id="rId7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Relationship Id="rId7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" name="Google Shape;17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" name="Google Shape;26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2" name="Google Shape;32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7" name="Google Shape;37;p5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" name="Google Shape;38;p5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9" name="Google Shape;39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" name="Google Shape;41;p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2" name="Google Shape;42;p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3" name="Google Shape;43;p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4" name="Google Shape;44;p5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6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8" name="Google Shape;48;p6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6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" name="Google Shape;53;p6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4" name="Google Shape;54;p6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5" name="Google Shape;55;p6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6" name="Google Shape;56;p6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1" name="Google Shape;61;p7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2" name="Google Shape;62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7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4" name="Google Shape;64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7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" name="Google Shape;66;p7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7" name="Google Shape;67;p7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8" name="Google Shape;68;p7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9" name="Google Shape;69;p7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0" name="Google Shape;70;p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4" name="Google Shape;74;p8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5" name="Google Shape;75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8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7" name="Google Shape;77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" name="Google Shape;79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3" name="Google Shape;83;p9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4" name="Google Shape;84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" name="Google Shape;86;p9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0" name="Google Shape;90;p10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1" name="Google Shape;91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0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0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4" name="Google Shape;94;p10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5" name="Google Shape;95;p10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0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0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1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1" name="Google Shape;101;p11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2" name="Google Shape;10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1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4" name="Google Shape;104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1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1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7" name="Google Shape;107;p11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1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9" name="Google Shape;109;p11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0" name="Google Shape;110;p1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16" name="Google Shape;116;p12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advertising</a:t>
            </a:r>
            <a:endParaRPr/>
          </a:p>
        </p:txBody>
      </p:sp>
      <p:sp>
        <p:nvSpPr>
          <p:cNvPr id="117" name="Google Shape;117;p12"/>
          <p:cNvSpPr txBox="1"/>
          <p:nvPr/>
        </p:nvSpPr>
        <p:spPr>
          <a:xfrm>
            <a:off x="468001" y="1278175"/>
            <a:ext cx="62454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Comparing promotions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2"/>
          <p:cNvSpPr txBox="1"/>
          <p:nvPr/>
        </p:nvSpPr>
        <p:spPr>
          <a:xfrm>
            <a:off x="468000" y="1686858"/>
            <a:ext cx="65217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Use two different methods to show that packs of 6 rolls are better value for money than packs of 4 rolls.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" name="Google Shape;119;p12"/>
          <p:cNvSpPr/>
          <p:nvPr/>
        </p:nvSpPr>
        <p:spPr>
          <a:xfrm>
            <a:off x="1445987" y="2298756"/>
            <a:ext cx="1956300" cy="655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2"/>
          <p:cNvSpPr txBox="1"/>
          <p:nvPr/>
        </p:nvSpPr>
        <p:spPr>
          <a:xfrm>
            <a:off x="1515202" y="2347036"/>
            <a:ext cx="18870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pack of soft rolls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90 p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" name="Google Shape;121;p12"/>
          <p:cNvSpPr/>
          <p:nvPr/>
        </p:nvSpPr>
        <p:spPr>
          <a:xfrm>
            <a:off x="4101025" y="2298756"/>
            <a:ext cx="1985100" cy="655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" name="Google Shape;122;p12"/>
          <p:cNvSpPr txBox="1"/>
          <p:nvPr/>
        </p:nvSpPr>
        <p:spPr>
          <a:xfrm>
            <a:off x="4170239" y="2347036"/>
            <a:ext cx="18507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 pack of soft rolls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£1.20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2"/>
          <p:cNvSpPr txBox="1"/>
          <p:nvPr/>
        </p:nvSpPr>
        <p:spPr>
          <a:xfrm>
            <a:off x="468000" y="3039063"/>
            <a:ext cx="2430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Finding the price of 12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" name="Google Shape;124;p12"/>
          <p:cNvSpPr txBox="1"/>
          <p:nvPr/>
        </p:nvSpPr>
        <p:spPr>
          <a:xfrm>
            <a:off x="468000" y="3312958"/>
            <a:ext cx="2430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0.9 × 3 = 2.7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" name="Google Shape;125;p12"/>
          <p:cNvSpPr txBox="1"/>
          <p:nvPr/>
        </p:nvSpPr>
        <p:spPr>
          <a:xfrm>
            <a:off x="468000" y="3586853"/>
            <a:ext cx="24303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1.2 × 2 = 2.4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" name="Google Shape;126;p12"/>
          <p:cNvSpPr txBox="1"/>
          <p:nvPr/>
        </p:nvSpPr>
        <p:spPr>
          <a:xfrm>
            <a:off x="468000" y="3892753"/>
            <a:ext cx="31416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Packs of 6 are better value for money. 12 would cost £2.40 which is cheaper than buying in packs of 4 (£2.70)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" name="Google Shape;127;p12"/>
          <p:cNvSpPr txBox="1"/>
          <p:nvPr/>
        </p:nvSpPr>
        <p:spPr>
          <a:xfrm>
            <a:off x="3780000" y="3099955"/>
            <a:ext cx="2430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Finding the unit price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" name="Google Shape;128;p12"/>
          <p:cNvSpPr txBox="1"/>
          <p:nvPr/>
        </p:nvSpPr>
        <p:spPr>
          <a:xfrm>
            <a:off x="3780000" y="3373850"/>
            <a:ext cx="1554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0.9 ÷ 4 = 0.225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" name="Google Shape;129;p12"/>
          <p:cNvSpPr txBox="1"/>
          <p:nvPr/>
        </p:nvSpPr>
        <p:spPr>
          <a:xfrm>
            <a:off x="5435298" y="3373850"/>
            <a:ext cx="1554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(22.5 p per roll)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" name="Google Shape;130;p12"/>
          <p:cNvSpPr txBox="1"/>
          <p:nvPr/>
        </p:nvSpPr>
        <p:spPr>
          <a:xfrm>
            <a:off x="3780000" y="3670900"/>
            <a:ext cx="1554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1.2 ÷ 6 = 0.2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" name="Google Shape;131;p12"/>
          <p:cNvSpPr txBox="1"/>
          <p:nvPr/>
        </p:nvSpPr>
        <p:spPr>
          <a:xfrm>
            <a:off x="5435298" y="3670900"/>
            <a:ext cx="1554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(20 p per roll)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" name="Google Shape;132;p12"/>
          <p:cNvSpPr txBox="1"/>
          <p:nvPr/>
        </p:nvSpPr>
        <p:spPr>
          <a:xfrm>
            <a:off x="3780000" y="4008377"/>
            <a:ext cx="3312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pack of 6 has a cheaper price per roll so is better value for money.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" name="Google Shape;133;p12"/>
          <p:cNvSpPr txBox="1"/>
          <p:nvPr/>
        </p:nvSpPr>
        <p:spPr>
          <a:xfrm>
            <a:off x="3705289" y="4579244"/>
            <a:ext cx="3141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(There are other valid methods.)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2"/>
          <p:cNvSpPr txBox="1"/>
          <p:nvPr/>
        </p:nvSpPr>
        <p:spPr>
          <a:xfrm>
            <a:off x="468000" y="5038247"/>
            <a:ext cx="64227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Aisha needs 500 g of mushrooms for a recipe which feeds 2 people.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" name="Google Shape;135;p12"/>
          <p:cNvSpPr/>
          <p:nvPr/>
        </p:nvSpPr>
        <p:spPr>
          <a:xfrm>
            <a:off x="566647" y="5418683"/>
            <a:ext cx="1883700" cy="655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" name="Google Shape;136;p12"/>
          <p:cNvSpPr txBox="1"/>
          <p:nvPr/>
        </p:nvSpPr>
        <p:spPr>
          <a:xfrm>
            <a:off x="635861" y="5466963"/>
            <a:ext cx="17583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Mushrooms 150 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80 p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" name="Google Shape;137;p12"/>
          <p:cNvSpPr/>
          <p:nvPr/>
        </p:nvSpPr>
        <p:spPr>
          <a:xfrm>
            <a:off x="2852047" y="5402758"/>
            <a:ext cx="1883700" cy="655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" name="Google Shape;138;p12"/>
          <p:cNvSpPr txBox="1"/>
          <p:nvPr/>
        </p:nvSpPr>
        <p:spPr>
          <a:xfrm>
            <a:off x="2921262" y="5451039"/>
            <a:ext cx="17583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Mushrooms 400 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£1.10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2"/>
          <p:cNvSpPr/>
          <p:nvPr/>
        </p:nvSpPr>
        <p:spPr>
          <a:xfrm>
            <a:off x="5050224" y="5402758"/>
            <a:ext cx="1883700" cy="655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" name="Google Shape;140;p12"/>
          <p:cNvSpPr txBox="1"/>
          <p:nvPr/>
        </p:nvSpPr>
        <p:spPr>
          <a:xfrm>
            <a:off x="5119438" y="5451039"/>
            <a:ext cx="17583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Mushrooms 600 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£1.80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" name="Google Shape;141;p12"/>
          <p:cNvSpPr txBox="1"/>
          <p:nvPr/>
        </p:nvSpPr>
        <p:spPr>
          <a:xfrm>
            <a:off x="468000" y="6130318"/>
            <a:ext cx="66240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For each pack, what is the price per 100 grams?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2000"/>
              </a:spcBef>
              <a:spcAft>
                <a:spcPts val="2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2"/>
          <p:cNvSpPr txBox="1"/>
          <p:nvPr/>
        </p:nvSpPr>
        <p:spPr>
          <a:xfrm>
            <a:off x="468000" y="6512391"/>
            <a:ext cx="1735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0.8 ÷ 1.5 = 0.533…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" name="Google Shape;143;p12"/>
          <p:cNvSpPr txBox="1"/>
          <p:nvPr/>
        </p:nvSpPr>
        <p:spPr>
          <a:xfrm>
            <a:off x="468000" y="6905652"/>
            <a:ext cx="2675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Approximately 53.3 p per 100 g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" name="Google Shape;144;p12"/>
          <p:cNvSpPr txBox="1"/>
          <p:nvPr/>
        </p:nvSpPr>
        <p:spPr>
          <a:xfrm>
            <a:off x="3368670" y="6500716"/>
            <a:ext cx="1735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1.1 ÷ 4 = 0.275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" name="Google Shape;145;p12"/>
          <p:cNvSpPr txBox="1"/>
          <p:nvPr/>
        </p:nvSpPr>
        <p:spPr>
          <a:xfrm>
            <a:off x="3368670" y="6893977"/>
            <a:ext cx="1735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27.5 p per 100 g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" name="Google Shape;146;p12"/>
          <p:cNvSpPr txBox="1"/>
          <p:nvPr/>
        </p:nvSpPr>
        <p:spPr>
          <a:xfrm>
            <a:off x="5329206" y="6500716"/>
            <a:ext cx="1735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1.8 ÷ 6 = 0.3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" name="Google Shape;147;p12"/>
          <p:cNvSpPr txBox="1"/>
          <p:nvPr/>
        </p:nvSpPr>
        <p:spPr>
          <a:xfrm>
            <a:off x="5329206" y="6893977"/>
            <a:ext cx="1735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30 p per 100 g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" name="Google Shape;148;p12"/>
          <p:cNvSpPr txBox="1"/>
          <p:nvPr/>
        </p:nvSpPr>
        <p:spPr>
          <a:xfrm>
            <a:off x="468000" y="7224378"/>
            <a:ext cx="66240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What would be the cheapest way to buy enough mushrooms to feed 2 people?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2000"/>
              </a:spcBef>
              <a:spcAft>
                <a:spcPts val="2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2"/>
          <p:cNvSpPr txBox="1"/>
          <p:nvPr/>
        </p:nvSpPr>
        <p:spPr>
          <a:xfrm>
            <a:off x="468000" y="7483553"/>
            <a:ext cx="642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Even though the 400 g is better value for money, the cheapest way to get 500 g is buying one pack of 600 g at £1.80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" name="Google Shape;150;p12"/>
          <p:cNvSpPr txBox="1"/>
          <p:nvPr/>
        </p:nvSpPr>
        <p:spPr>
          <a:xfrm>
            <a:off x="468000" y="7946725"/>
            <a:ext cx="6624000" cy="4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What would be the cheapest way to buy enough mushrooms to feed 4 people?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2000"/>
              </a:spcBef>
              <a:spcAft>
                <a:spcPts val="2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" name="Google Shape;151;p12"/>
          <p:cNvSpPr txBox="1"/>
          <p:nvPr/>
        </p:nvSpPr>
        <p:spPr>
          <a:xfrm>
            <a:off x="468000" y="9048191"/>
            <a:ext cx="66240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What would be the cheapest way to buy enough mushrooms to feed 8 people?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2000"/>
              </a:spcBef>
              <a:spcAft>
                <a:spcPts val="2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2"/>
          <p:cNvSpPr txBox="1"/>
          <p:nvPr/>
        </p:nvSpPr>
        <p:spPr>
          <a:xfrm>
            <a:off x="1271441" y="8167564"/>
            <a:ext cx="2667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Aisha would need 1000 grams.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2"/>
          <p:cNvSpPr txBox="1"/>
          <p:nvPr/>
        </p:nvSpPr>
        <p:spPr>
          <a:xfrm>
            <a:off x="468000" y="8461106"/>
            <a:ext cx="2430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1.1 × 3 = 3.3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2"/>
          <p:cNvSpPr txBox="1"/>
          <p:nvPr/>
        </p:nvSpPr>
        <p:spPr>
          <a:xfrm>
            <a:off x="468000" y="8754649"/>
            <a:ext cx="2430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1200 g for £3.30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" name="Google Shape;155;p12"/>
          <p:cNvSpPr txBox="1"/>
          <p:nvPr/>
        </p:nvSpPr>
        <p:spPr>
          <a:xfrm>
            <a:off x="2450230" y="8461106"/>
            <a:ext cx="1415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1.1 + 1.8 = 2.9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" name="Google Shape;156;p12"/>
          <p:cNvSpPr txBox="1"/>
          <p:nvPr/>
        </p:nvSpPr>
        <p:spPr>
          <a:xfrm>
            <a:off x="2464205" y="8782346"/>
            <a:ext cx="1570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1000 g for £2.90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" name="Google Shape;157;p12"/>
          <p:cNvSpPr txBox="1"/>
          <p:nvPr/>
        </p:nvSpPr>
        <p:spPr>
          <a:xfrm>
            <a:off x="4123246" y="8312172"/>
            <a:ext cx="2968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Buying one pack of 600 g and one pack of 400 g would be cheapest.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" name="Google Shape;158;p12"/>
          <p:cNvSpPr txBox="1"/>
          <p:nvPr/>
        </p:nvSpPr>
        <p:spPr>
          <a:xfrm>
            <a:off x="1183027" y="9255328"/>
            <a:ext cx="291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Aisha would need 2000 grams.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" name="Google Shape;159;p12"/>
          <p:cNvSpPr txBox="1"/>
          <p:nvPr/>
        </p:nvSpPr>
        <p:spPr>
          <a:xfrm>
            <a:off x="468000" y="9493845"/>
            <a:ext cx="662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400 g pack is the best value for money and buying 5 would be exactly 2000 g so no wastage.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" name="Google Shape;160;p12"/>
          <p:cNvSpPr txBox="1"/>
          <p:nvPr/>
        </p:nvSpPr>
        <p:spPr>
          <a:xfrm>
            <a:off x="2571350" y="9756006"/>
            <a:ext cx="1235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1.1 × 5 = 5.5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" name="Google Shape;161;p12"/>
          <p:cNvSpPr txBox="1"/>
          <p:nvPr/>
        </p:nvSpPr>
        <p:spPr>
          <a:xfrm>
            <a:off x="3976475" y="9756006"/>
            <a:ext cx="2667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 packs of 400 g for £5.50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3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advertising</a:t>
            </a:r>
            <a:endParaRPr/>
          </a:p>
        </p:txBody>
      </p:sp>
      <p:sp>
        <p:nvSpPr>
          <p:cNvPr id="167" name="Google Shape;167;p13"/>
          <p:cNvSpPr txBox="1"/>
          <p:nvPr/>
        </p:nvSpPr>
        <p:spPr>
          <a:xfrm>
            <a:off x="468000" y="720000"/>
            <a:ext cx="61509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Which of these promotions are good value for money? Explain your answer.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13"/>
          <p:cNvSpPr/>
          <p:nvPr/>
        </p:nvSpPr>
        <p:spPr>
          <a:xfrm>
            <a:off x="463882" y="1010054"/>
            <a:ext cx="2004600" cy="73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13"/>
          <p:cNvSpPr txBox="1"/>
          <p:nvPr/>
        </p:nvSpPr>
        <p:spPr>
          <a:xfrm>
            <a:off x="533545" y="1058218"/>
            <a:ext cx="11424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Pears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39 p each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13"/>
          <p:cNvSpPr txBox="1"/>
          <p:nvPr/>
        </p:nvSpPr>
        <p:spPr>
          <a:xfrm>
            <a:off x="1815873" y="1115192"/>
            <a:ext cx="5841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for £1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13"/>
          <p:cNvSpPr/>
          <p:nvPr/>
        </p:nvSpPr>
        <p:spPr>
          <a:xfrm>
            <a:off x="460301" y="2241563"/>
            <a:ext cx="2004600" cy="88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13"/>
          <p:cNvSpPr txBox="1"/>
          <p:nvPr/>
        </p:nvSpPr>
        <p:spPr>
          <a:xfrm>
            <a:off x="529964" y="2289726"/>
            <a:ext cx="11424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Ice cream tubs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£5.30 each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13"/>
          <p:cNvSpPr txBox="1"/>
          <p:nvPr/>
        </p:nvSpPr>
        <p:spPr>
          <a:xfrm>
            <a:off x="1739686" y="2406188"/>
            <a:ext cx="7533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Any 4 for £21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13"/>
          <p:cNvSpPr/>
          <p:nvPr/>
        </p:nvSpPr>
        <p:spPr>
          <a:xfrm>
            <a:off x="1735588" y="1014615"/>
            <a:ext cx="732900" cy="737400"/>
          </a:xfrm>
          <a:prstGeom prst="roundRect">
            <a:avLst>
              <a:gd fmla="val 16667" name="adj"/>
            </a:avLst>
          </a:prstGeom>
          <a:solidFill>
            <a:srgbClr val="845AD9">
              <a:alpha val="34180"/>
            </a:srgbClr>
          </a:solidFill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13"/>
          <p:cNvSpPr/>
          <p:nvPr/>
        </p:nvSpPr>
        <p:spPr>
          <a:xfrm>
            <a:off x="1672323" y="2241563"/>
            <a:ext cx="782400" cy="883200"/>
          </a:xfrm>
          <a:prstGeom prst="roundRect">
            <a:avLst>
              <a:gd fmla="val 16667" name="adj"/>
            </a:avLst>
          </a:prstGeom>
          <a:solidFill>
            <a:srgbClr val="845AD9">
              <a:alpha val="34180"/>
            </a:srgbClr>
          </a:solidFill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13"/>
          <p:cNvSpPr txBox="1"/>
          <p:nvPr/>
        </p:nvSpPr>
        <p:spPr>
          <a:xfrm>
            <a:off x="2764725" y="1014625"/>
            <a:ext cx="4327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0.39 × 3 = 1.17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13"/>
          <p:cNvSpPr txBox="1"/>
          <p:nvPr/>
        </p:nvSpPr>
        <p:spPr>
          <a:xfrm>
            <a:off x="2764725" y="1318261"/>
            <a:ext cx="4327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Save 17 p when buying 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13"/>
          <p:cNvSpPr txBox="1"/>
          <p:nvPr/>
        </p:nvSpPr>
        <p:spPr>
          <a:xfrm>
            <a:off x="2764725" y="1664428"/>
            <a:ext cx="3958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This seems like a reasonable saving if you will eat 3 pears before they go off.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13"/>
          <p:cNvSpPr txBox="1"/>
          <p:nvPr/>
        </p:nvSpPr>
        <p:spPr>
          <a:xfrm>
            <a:off x="2764726" y="2289726"/>
            <a:ext cx="1556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5.30 × 4 = 21.2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13"/>
          <p:cNvSpPr txBox="1"/>
          <p:nvPr/>
        </p:nvSpPr>
        <p:spPr>
          <a:xfrm>
            <a:off x="2764725" y="2546225"/>
            <a:ext cx="2111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Save 20 p when buying 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13"/>
          <p:cNvSpPr txBox="1"/>
          <p:nvPr/>
        </p:nvSpPr>
        <p:spPr>
          <a:xfrm>
            <a:off x="2764725" y="2816825"/>
            <a:ext cx="4327200" cy="10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Even though this is a higher saving than the pears it is on a much higher cost so as a percentage saving is less. You would also need to find space and a use for 4 tubs of ice cream.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3"/>
          <p:cNvSpPr txBox="1"/>
          <p:nvPr/>
        </p:nvSpPr>
        <p:spPr>
          <a:xfrm>
            <a:off x="2764725" y="3419376"/>
            <a:ext cx="43272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This does offer slightly better value for money but not necessarily a good promotion.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13"/>
          <p:cNvSpPr/>
          <p:nvPr/>
        </p:nvSpPr>
        <p:spPr>
          <a:xfrm>
            <a:off x="457067" y="3993860"/>
            <a:ext cx="2004600" cy="88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13"/>
          <p:cNvSpPr txBox="1"/>
          <p:nvPr/>
        </p:nvSpPr>
        <p:spPr>
          <a:xfrm>
            <a:off x="526721" y="4042017"/>
            <a:ext cx="12510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Veggie sausages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£2.30 each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13"/>
          <p:cNvSpPr txBox="1"/>
          <p:nvPr/>
        </p:nvSpPr>
        <p:spPr>
          <a:xfrm>
            <a:off x="1777718" y="4158385"/>
            <a:ext cx="6153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Any 3 for £7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13"/>
          <p:cNvSpPr/>
          <p:nvPr/>
        </p:nvSpPr>
        <p:spPr>
          <a:xfrm>
            <a:off x="1718783" y="3989300"/>
            <a:ext cx="732900" cy="883200"/>
          </a:xfrm>
          <a:prstGeom prst="roundRect">
            <a:avLst>
              <a:gd fmla="val 16667" name="adj"/>
            </a:avLst>
          </a:prstGeom>
          <a:solidFill>
            <a:srgbClr val="845AD9">
              <a:alpha val="34180"/>
            </a:srgbClr>
          </a:solidFill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13"/>
          <p:cNvSpPr txBox="1"/>
          <p:nvPr/>
        </p:nvSpPr>
        <p:spPr>
          <a:xfrm>
            <a:off x="2769445" y="3989304"/>
            <a:ext cx="16065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2.30 × 3 = 6.90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13"/>
          <p:cNvSpPr txBox="1"/>
          <p:nvPr/>
        </p:nvSpPr>
        <p:spPr>
          <a:xfrm>
            <a:off x="2786466" y="4325272"/>
            <a:ext cx="4437600" cy="10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promotion is more expensive than the original price.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This is definitely not good value for money.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13"/>
          <p:cNvSpPr txBox="1"/>
          <p:nvPr/>
        </p:nvSpPr>
        <p:spPr>
          <a:xfrm>
            <a:off x="468426" y="5256525"/>
            <a:ext cx="6357600" cy="23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Lucas sees this promotion in a supermarket.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13"/>
          <p:cNvSpPr/>
          <p:nvPr/>
        </p:nvSpPr>
        <p:spPr>
          <a:xfrm>
            <a:off x="709377" y="5815336"/>
            <a:ext cx="2486100" cy="840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13"/>
          <p:cNvSpPr txBox="1"/>
          <p:nvPr/>
        </p:nvSpPr>
        <p:spPr>
          <a:xfrm>
            <a:off x="778336" y="5892958"/>
            <a:ext cx="1269300" cy="5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Fizzy orange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£1.80 each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13"/>
          <p:cNvSpPr txBox="1"/>
          <p:nvPr/>
        </p:nvSpPr>
        <p:spPr>
          <a:xfrm>
            <a:off x="2214030" y="5863013"/>
            <a:ext cx="948300" cy="5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Buy 1 get 1 half price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13"/>
          <p:cNvSpPr/>
          <p:nvPr/>
        </p:nvSpPr>
        <p:spPr>
          <a:xfrm>
            <a:off x="2108932" y="5815336"/>
            <a:ext cx="1086600" cy="840000"/>
          </a:xfrm>
          <a:prstGeom prst="roundRect">
            <a:avLst>
              <a:gd fmla="val 16667" name="adj"/>
            </a:avLst>
          </a:prstGeom>
          <a:solidFill>
            <a:srgbClr val="845AD9">
              <a:alpha val="34180"/>
            </a:srgbClr>
          </a:solidFill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4" name="Google Shape;19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6458717" y="6254790"/>
            <a:ext cx="451640" cy="49954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5" name="Google Shape;195;p13"/>
          <p:cNvGrpSpPr/>
          <p:nvPr/>
        </p:nvGrpSpPr>
        <p:grpSpPr>
          <a:xfrm flipH="1">
            <a:off x="3717003" y="5701760"/>
            <a:ext cx="2826829" cy="953610"/>
            <a:chOff x="1902381" y="1608371"/>
            <a:chExt cx="1814979" cy="1553870"/>
          </a:xfrm>
        </p:grpSpPr>
        <p:pic>
          <p:nvPicPr>
            <p:cNvPr id="196" name="Google Shape;196;p13"/>
            <p:cNvPicPr preferRelativeResize="0"/>
            <p:nvPr/>
          </p:nvPicPr>
          <p:blipFill rotWithShape="1">
            <a:blip r:embed="rId4">
              <a:alphaModFix/>
            </a:blip>
            <a:srcRect b="0" l="0" r="69082" t="56280"/>
            <a:stretch/>
          </p:blipFill>
          <p:spPr>
            <a:xfrm flipH="1">
              <a:off x="1902381" y="1608371"/>
              <a:ext cx="1814979" cy="15538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7" name="Google Shape;197;p13"/>
            <p:cNvSpPr txBox="1"/>
            <p:nvPr/>
          </p:nvSpPr>
          <p:spPr>
            <a:xfrm flipH="1">
              <a:off x="2059054" y="1858586"/>
              <a:ext cx="1578900" cy="98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When I was in here last week they cost £1.30 each but there was no promotion.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8" name="Google Shape;198;p13"/>
          <p:cNvSpPr txBox="1"/>
          <p:nvPr/>
        </p:nvSpPr>
        <p:spPr>
          <a:xfrm>
            <a:off x="468426" y="6857593"/>
            <a:ext cx="65571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Does this promotion offer a better deal than the price Lucas saw last week?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13"/>
          <p:cNvSpPr txBox="1"/>
          <p:nvPr/>
        </p:nvSpPr>
        <p:spPr>
          <a:xfrm>
            <a:off x="468422" y="7114625"/>
            <a:ext cx="13473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1.30 × 2 = 2.6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13"/>
          <p:cNvSpPr txBox="1"/>
          <p:nvPr/>
        </p:nvSpPr>
        <p:spPr>
          <a:xfrm>
            <a:off x="1957826" y="7125050"/>
            <a:ext cx="51342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At last week’s price 2 bottles would cost £2.60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13"/>
          <p:cNvSpPr txBox="1"/>
          <p:nvPr/>
        </p:nvSpPr>
        <p:spPr>
          <a:xfrm>
            <a:off x="468426" y="7474134"/>
            <a:ext cx="15405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1.80 + 0.9 = 2.7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13"/>
          <p:cNvSpPr txBox="1"/>
          <p:nvPr/>
        </p:nvSpPr>
        <p:spPr>
          <a:xfrm>
            <a:off x="1957836" y="7474134"/>
            <a:ext cx="50301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Buying one at full price and one at half price this week means 2 bottles cost £2.70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13"/>
          <p:cNvSpPr txBox="1"/>
          <p:nvPr/>
        </p:nvSpPr>
        <p:spPr>
          <a:xfrm>
            <a:off x="468426" y="8004620"/>
            <a:ext cx="6557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This promotion does not offer a saving compared to last week’s prices.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4" name="Google Shape;204;p13"/>
          <p:cNvCxnSpPr/>
          <p:nvPr/>
        </p:nvCxnSpPr>
        <p:spPr>
          <a:xfrm>
            <a:off x="515026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5" name="Google Shape;205;p13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222222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22222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4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advertising</a:t>
            </a:r>
            <a:endParaRPr/>
          </a:p>
        </p:txBody>
      </p:sp>
      <p:sp>
        <p:nvSpPr>
          <p:cNvPr id="211" name="Google Shape;211;p14"/>
          <p:cNvSpPr txBox="1"/>
          <p:nvPr/>
        </p:nvSpPr>
        <p:spPr>
          <a:xfrm>
            <a:off x="468001" y="707725"/>
            <a:ext cx="62457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 pricing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14"/>
          <p:cNvSpPr txBox="1"/>
          <p:nvPr/>
        </p:nvSpPr>
        <p:spPr>
          <a:xfrm>
            <a:off x="468000" y="1116405"/>
            <a:ext cx="642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Which of these unit pricings are correct?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14"/>
          <p:cNvSpPr/>
          <p:nvPr/>
        </p:nvSpPr>
        <p:spPr>
          <a:xfrm>
            <a:off x="710143" y="1514734"/>
            <a:ext cx="2538600" cy="768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Strawberries (400 g)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£1.89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£4.73 per kg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14"/>
          <p:cNvSpPr/>
          <p:nvPr/>
        </p:nvSpPr>
        <p:spPr>
          <a:xfrm>
            <a:off x="4118919" y="2990593"/>
            <a:ext cx="2538600" cy="768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Wrapping foil (20 m)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99 p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 p per metre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14"/>
          <p:cNvSpPr/>
          <p:nvPr/>
        </p:nvSpPr>
        <p:spPr>
          <a:xfrm>
            <a:off x="710143" y="2931183"/>
            <a:ext cx="2538600" cy="768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Twin pack Mango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£1.79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89 p each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14"/>
          <p:cNvSpPr/>
          <p:nvPr/>
        </p:nvSpPr>
        <p:spPr>
          <a:xfrm>
            <a:off x="4123499" y="1538124"/>
            <a:ext cx="2538600" cy="768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Silverskin onions (440 g)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79 p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31 p per 100 g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14"/>
          <p:cNvSpPr txBox="1"/>
          <p:nvPr/>
        </p:nvSpPr>
        <p:spPr>
          <a:xfrm>
            <a:off x="468000" y="1517190"/>
            <a:ext cx="3063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14"/>
          <p:cNvSpPr txBox="1"/>
          <p:nvPr/>
        </p:nvSpPr>
        <p:spPr>
          <a:xfrm>
            <a:off x="468000" y="2931183"/>
            <a:ext cx="3063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14"/>
          <p:cNvSpPr txBox="1"/>
          <p:nvPr/>
        </p:nvSpPr>
        <p:spPr>
          <a:xfrm>
            <a:off x="3881356" y="1538124"/>
            <a:ext cx="3063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14"/>
          <p:cNvSpPr txBox="1"/>
          <p:nvPr/>
        </p:nvSpPr>
        <p:spPr>
          <a:xfrm>
            <a:off x="3827540" y="2993049"/>
            <a:ext cx="3063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14"/>
          <p:cNvSpPr txBox="1"/>
          <p:nvPr/>
        </p:nvSpPr>
        <p:spPr>
          <a:xfrm>
            <a:off x="493027" y="2311070"/>
            <a:ext cx="1735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1.89 ÷ 4 = 0.4725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14"/>
          <p:cNvSpPr txBox="1"/>
          <p:nvPr/>
        </p:nvSpPr>
        <p:spPr>
          <a:xfrm>
            <a:off x="493027" y="2613179"/>
            <a:ext cx="1792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0.4725 × 10 = 4.725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14"/>
          <p:cNvSpPr txBox="1"/>
          <p:nvPr/>
        </p:nvSpPr>
        <p:spPr>
          <a:xfrm>
            <a:off x="2228786" y="2367956"/>
            <a:ext cx="1792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Correct to 2 d.p.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14"/>
          <p:cNvSpPr txBox="1"/>
          <p:nvPr/>
        </p:nvSpPr>
        <p:spPr>
          <a:xfrm>
            <a:off x="493027" y="3736914"/>
            <a:ext cx="1735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1.79 ÷ 2 = 0.895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14"/>
          <p:cNvSpPr txBox="1"/>
          <p:nvPr/>
        </p:nvSpPr>
        <p:spPr>
          <a:xfrm>
            <a:off x="1083328" y="3960628"/>
            <a:ext cx="1792500" cy="2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89.5 p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14"/>
          <p:cNvSpPr txBox="1"/>
          <p:nvPr/>
        </p:nvSpPr>
        <p:spPr>
          <a:xfrm>
            <a:off x="2052973" y="3550760"/>
            <a:ext cx="1727100" cy="27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Rounding conventions mean this should be 90 p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14"/>
          <p:cNvSpPr txBox="1"/>
          <p:nvPr/>
        </p:nvSpPr>
        <p:spPr>
          <a:xfrm>
            <a:off x="3827540" y="2338261"/>
            <a:ext cx="1735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79 ÷ 4.4 = 17.95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14"/>
          <p:cNvSpPr txBox="1"/>
          <p:nvPr/>
        </p:nvSpPr>
        <p:spPr>
          <a:xfrm>
            <a:off x="5356241" y="2163256"/>
            <a:ext cx="1735800" cy="421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This is possibly a case where one is a mass when drained.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14"/>
          <p:cNvSpPr txBox="1"/>
          <p:nvPr/>
        </p:nvSpPr>
        <p:spPr>
          <a:xfrm>
            <a:off x="3849585" y="2650827"/>
            <a:ext cx="1735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Incorrect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14"/>
          <p:cNvSpPr txBox="1"/>
          <p:nvPr/>
        </p:nvSpPr>
        <p:spPr>
          <a:xfrm>
            <a:off x="3937258" y="3824568"/>
            <a:ext cx="1735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99 ÷ 20 = 4.95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14"/>
          <p:cNvSpPr txBox="1"/>
          <p:nvPr/>
        </p:nvSpPr>
        <p:spPr>
          <a:xfrm>
            <a:off x="5398576" y="3560136"/>
            <a:ext cx="1651200" cy="375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This is much closer to 5 p than 4 p so incorrect.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14"/>
          <p:cNvSpPr txBox="1"/>
          <p:nvPr/>
        </p:nvSpPr>
        <p:spPr>
          <a:xfrm>
            <a:off x="481822" y="4352550"/>
            <a:ext cx="64614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Which of these is the best value for money?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14"/>
          <p:cNvSpPr/>
          <p:nvPr/>
        </p:nvSpPr>
        <p:spPr>
          <a:xfrm>
            <a:off x="521277" y="4790527"/>
            <a:ext cx="2042700" cy="950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Crisps 6 pk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25 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£1.25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0.83 p per gram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14"/>
          <p:cNvSpPr/>
          <p:nvPr/>
        </p:nvSpPr>
        <p:spPr>
          <a:xfrm>
            <a:off x="2718223" y="4790527"/>
            <a:ext cx="2225700" cy="950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Crisps 4 pk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30 g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£1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25 p each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14"/>
          <p:cNvSpPr/>
          <p:nvPr/>
        </p:nvSpPr>
        <p:spPr>
          <a:xfrm>
            <a:off x="5049240" y="4790527"/>
            <a:ext cx="2042700" cy="950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Crisps 15 pk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30 g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£3.80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£0.84 per 100 g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14"/>
          <p:cNvSpPr txBox="1"/>
          <p:nvPr/>
        </p:nvSpPr>
        <p:spPr>
          <a:xfrm>
            <a:off x="521277" y="5977047"/>
            <a:ext cx="17463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83.33… p per 100 g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14"/>
          <p:cNvSpPr txBox="1"/>
          <p:nvPr/>
        </p:nvSpPr>
        <p:spPr>
          <a:xfrm>
            <a:off x="2743068" y="5977047"/>
            <a:ext cx="17463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25 p for 30 g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14"/>
          <p:cNvSpPr txBox="1"/>
          <p:nvPr/>
        </p:nvSpPr>
        <p:spPr>
          <a:xfrm>
            <a:off x="2743068" y="6298358"/>
            <a:ext cx="16953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8.333… p for 10 g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14"/>
          <p:cNvSpPr txBox="1"/>
          <p:nvPr/>
        </p:nvSpPr>
        <p:spPr>
          <a:xfrm>
            <a:off x="2743186" y="6642289"/>
            <a:ext cx="16953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83.33… p for 100 g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14"/>
          <p:cNvSpPr txBox="1"/>
          <p:nvPr/>
        </p:nvSpPr>
        <p:spPr>
          <a:xfrm>
            <a:off x="5049240" y="5977047"/>
            <a:ext cx="17463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84.44… p for 100 g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14"/>
          <p:cNvSpPr txBox="1"/>
          <p:nvPr/>
        </p:nvSpPr>
        <p:spPr>
          <a:xfrm>
            <a:off x="481822" y="7145487"/>
            <a:ext cx="6406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Both the 6 pk of crisps and the 4 pk of crisps are the best value for money.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2" name="Google Shape;242;p14"/>
          <p:cNvCxnSpPr/>
          <p:nvPr/>
        </p:nvCxnSpPr>
        <p:spPr>
          <a:xfrm>
            <a:off x="515026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3" name="Google Shape;243;p14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222222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22222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249" name="Google Shape;249;p15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advertising</a:t>
            </a:r>
            <a:endParaRPr/>
          </a:p>
        </p:txBody>
      </p:sp>
      <p:sp>
        <p:nvSpPr>
          <p:cNvPr id="250" name="Google Shape;250;p15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51" name="Google Shape;251;p15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v2.4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15"/>
          <p:cNvSpPr/>
          <p:nvPr/>
        </p:nvSpPr>
        <p:spPr>
          <a:xfrm>
            <a:off x="471391" y="2725344"/>
            <a:ext cx="2812800" cy="1114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15"/>
          <p:cNvSpPr txBox="1"/>
          <p:nvPr/>
        </p:nvSpPr>
        <p:spPr>
          <a:xfrm>
            <a:off x="467998" y="610258"/>
            <a:ext cx="62454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C: Analysing adverts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15"/>
          <p:cNvSpPr txBox="1"/>
          <p:nvPr/>
        </p:nvSpPr>
        <p:spPr>
          <a:xfrm>
            <a:off x="468000" y="956225"/>
            <a:ext cx="64227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 ‘low sugar’ box of muesli advertises 20% less sugar.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p15"/>
          <p:cNvSpPr/>
          <p:nvPr/>
        </p:nvSpPr>
        <p:spPr>
          <a:xfrm>
            <a:off x="691468" y="1322438"/>
            <a:ext cx="1030500" cy="1269300"/>
          </a:xfrm>
          <a:prstGeom prst="cube">
            <a:avLst>
              <a:gd fmla="val 12500" name="adj"/>
            </a:avLst>
          </a:prstGeom>
          <a:solidFill>
            <a:srgbClr val="374CF1">
              <a:alpha val="47470"/>
            </a:srgbClr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15"/>
          <p:cNvSpPr txBox="1"/>
          <p:nvPr/>
        </p:nvSpPr>
        <p:spPr>
          <a:xfrm>
            <a:off x="607461" y="1682638"/>
            <a:ext cx="9633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Normal muesli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15"/>
          <p:cNvSpPr/>
          <p:nvPr/>
        </p:nvSpPr>
        <p:spPr>
          <a:xfrm>
            <a:off x="511057" y="2794363"/>
            <a:ext cx="627900" cy="828000"/>
          </a:xfrm>
          <a:prstGeom prst="roundRect">
            <a:avLst>
              <a:gd fmla="val 3926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15"/>
          <p:cNvSpPr/>
          <p:nvPr/>
        </p:nvSpPr>
        <p:spPr>
          <a:xfrm>
            <a:off x="1214155" y="2794363"/>
            <a:ext cx="627900" cy="828000"/>
          </a:xfrm>
          <a:prstGeom prst="roundRect">
            <a:avLst>
              <a:gd fmla="val 39268" name="adj"/>
            </a:avLst>
          </a:prstGeom>
          <a:solidFill>
            <a:srgbClr val="FF99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15"/>
          <p:cNvSpPr/>
          <p:nvPr/>
        </p:nvSpPr>
        <p:spPr>
          <a:xfrm>
            <a:off x="1917253" y="2794363"/>
            <a:ext cx="627900" cy="828000"/>
          </a:xfrm>
          <a:prstGeom prst="roundRect">
            <a:avLst>
              <a:gd fmla="val 39268" name="adj"/>
            </a:avLst>
          </a:prstGeom>
          <a:solidFill>
            <a:srgbClr val="93C47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15"/>
          <p:cNvSpPr/>
          <p:nvPr/>
        </p:nvSpPr>
        <p:spPr>
          <a:xfrm>
            <a:off x="2620352" y="2794363"/>
            <a:ext cx="627900" cy="828000"/>
          </a:xfrm>
          <a:prstGeom prst="roundRect">
            <a:avLst>
              <a:gd fmla="val 39268" name="adj"/>
            </a:avLst>
          </a:prstGeom>
          <a:solidFill>
            <a:srgbClr val="FF99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15"/>
          <p:cNvSpPr/>
          <p:nvPr/>
        </p:nvSpPr>
        <p:spPr>
          <a:xfrm>
            <a:off x="723454" y="2362494"/>
            <a:ext cx="497700" cy="172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15"/>
          <p:cNvSpPr/>
          <p:nvPr/>
        </p:nvSpPr>
        <p:spPr>
          <a:xfrm>
            <a:off x="730473" y="2374707"/>
            <a:ext cx="103500" cy="146700"/>
          </a:xfrm>
          <a:prstGeom prst="roundRect">
            <a:avLst>
              <a:gd fmla="val 3926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" name="Google Shape;263;p15"/>
          <p:cNvSpPr/>
          <p:nvPr/>
        </p:nvSpPr>
        <p:spPr>
          <a:xfrm>
            <a:off x="854907" y="2374707"/>
            <a:ext cx="103500" cy="146700"/>
          </a:xfrm>
          <a:prstGeom prst="roundRect">
            <a:avLst>
              <a:gd fmla="val 39268" name="adj"/>
            </a:avLst>
          </a:prstGeom>
          <a:solidFill>
            <a:srgbClr val="FF99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" name="Google Shape;264;p15"/>
          <p:cNvSpPr/>
          <p:nvPr/>
        </p:nvSpPr>
        <p:spPr>
          <a:xfrm>
            <a:off x="979341" y="2374707"/>
            <a:ext cx="103500" cy="146700"/>
          </a:xfrm>
          <a:prstGeom prst="roundRect">
            <a:avLst>
              <a:gd fmla="val 39268" name="adj"/>
            </a:avLst>
          </a:prstGeom>
          <a:solidFill>
            <a:srgbClr val="93C47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" name="Google Shape;265;p15"/>
          <p:cNvSpPr/>
          <p:nvPr/>
        </p:nvSpPr>
        <p:spPr>
          <a:xfrm>
            <a:off x="1103774" y="2374707"/>
            <a:ext cx="103500" cy="146700"/>
          </a:xfrm>
          <a:prstGeom prst="roundRect">
            <a:avLst>
              <a:gd fmla="val 39268" name="adj"/>
            </a:avLst>
          </a:prstGeom>
          <a:solidFill>
            <a:srgbClr val="FF99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" name="Google Shape;266;p15"/>
          <p:cNvSpPr txBox="1"/>
          <p:nvPr/>
        </p:nvSpPr>
        <p:spPr>
          <a:xfrm>
            <a:off x="487714" y="2970442"/>
            <a:ext cx="6279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Energy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15"/>
          <p:cNvSpPr txBox="1"/>
          <p:nvPr/>
        </p:nvSpPr>
        <p:spPr>
          <a:xfrm>
            <a:off x="598200" y="3188123"/>
            <a:ext cx="4977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375 Kcal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15"/>
          <p:cNvSpPr txBox="1"/>
          <p:nvPr/>
        </p:nvSpPr>
        <p:spPr>
          <a:xfrm>
            <a:off x="1192527" y="2970442"/>
            <a:ext cx="6279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Fat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" name="Google Shape;269;p15"/>
          <p:cNvSpPr txBox="1"/>
          <p:nvPr/>
        </p:nvSpPr>
        <p:spPr>
          <a:xfrm>
            <a:off x="1178738" y="3188132"/>
            <a:ext cx="6279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6.2 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" name="Google Shape;270;p15"/>
          <p:cNvSpPr txBox="1"/>
          <p:nvPr/>
        </p:nvSpPr>
        <p:spPr>
          <a:xfrm>
            <a:off x="1883062" y="2970447"/>
            <a:ext cx="6789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Saturates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" name="Google Shape;271;p15"/>
          <p:cNvSpPr txBox="1"/>
          <p:nvPr/>
        </p:nvSpPr>
        <p:spPr>
          <a:xfrm>
            <a:off x="1934283" y="3188132"/>
            <a:ext cx="6279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15"/>
          <p:cNvSpPr txBox="1"/>
          <p:nvPr/>
        </p:nvSpPr>
        <p:spPr>
          <a:xfrm>
            <a:off x="2620352" y="2990640"/>
            <a:ext cx="5844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Sugars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" name="Google Shape;273;p15"/>
          <p:cNvSpPr txBox="1"/>
          <p:nvPr/>
        </p:nvSpPr>
        <p:spPr>
          <a:xfrm>
            <a:off x="2622697" y="3208325"/>
            <a:ext cx="6279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 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" name="Google Shape;274;p15"/>
          <p:cNvSpPr txBox="1"/>
          <p:nvPr/>
        </p:nvSpPr>
        <p:spPr>
          <a:xfrm>
            <a:off x="1570879" y="3639491"/>
            <a:ext cx="16341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Amounts Per 100 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15"/>
          <p:cNvSpPr/>
          <p:nvPr/>
        </p:nvSpPr>
        <p:spPr>
          <a:xfrm>
            <a:off x="1998481" y="1322438"/>
            <a:ext cx="1030500" cy="1269300"/>
          </a:xfrm>
          <a:prstGeom prst="cube">
            <a:avLst>
              <a:gd fmla="val 12500" name="adj"/>
            </a:avLst>
          </a:prstGeom>
          <a:solidFill>
            <a:srgbClr val="374CF1">
              <a:alpha val="47470"/>
            </a:srgbClr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15"/>
          <p:cNvSpPr txBox="1"/>
          <p:nvPr/>
        </p:nvSpPr>
        <p:spPr>
          <a:xfrm>
            <a:off x="1914473" y="1801457"/>
            <a:ext cx="9633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muesli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15"/>
          <p:cNvSpPr/>
          <p:nvPr/>
        </p:nvSpPr>
        <p:spPr>
          <a:xfrm>
            <a:off x="2030466" y="2362494"/>
            <a:ext cx="497700" cy="172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" name="Google Shape;278;p15"/>
          <p:cNvSpPr/>
          <p:nvPr/>
        </p:nvSpPr>
        <p:spPr>
          <a:xfrm>
            <a:off x="2037485" y="2374707"/>
            <a:ext cx="103500" cy="146700"/>
          </a:xfrm>
          <a:prstGeom prst="roundRect">
            <a:avLst>
              <a:gd fmla="val 3926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" name="Google Shape;279;p15"/>
          <p:cNvSpPr/>
          <p:nvPr/>
        </p:nvSpPr>
        <p:spPr>
          <a:xfrm>
            <a:off x="2161919" y="2374707"/>
            <a:ext cx="103500" cy="146700"/>
          </a:xfrm>
          <a:prstGeom prst="roundRect">
            <a:avLst>
              <a:gd fmla="val 39268" name="adj"/>
            </a:avLst>
          </a:prstGeom>
          <a:solidFill>
            <a:srgbClr val="FF99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" name="Google Shape;280;p15"/>
          <p:cNvSpPr/>
          <p:nvPr/>
        </p:nvSpPr>
        <p:spPr>
          <a:xfrm>
            <a:off x="2286353" y="2374707"/>
            <a:ext cx="103500" cy="146700"/>
          </a:xfrm>
          <a:prstGeom prst="roundRect">
            <a:avLst>
              <a:gd fmla="val 39268" name="adj"/>
            </a:avLst>
          </a:prstGeom>
          <a:solidFill>
            <a:srgbClr val="93C47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15"/>
          <p:cNvSpPr/>
          <p:nvPr/>
        </p:nvSpPr>
        <p:spPr>
          <a:xfrm>
            <a:off x="2410787" y="2374707"/>
            <a:ext cx="103500" cy="146700"/>
          </a:xfrm>
          <a:prstGeom prst="roundRect">
            <a:avLst>
              <a:gd fmla="val 39268" name="adj"/>
            </a:avLst>
          </a:prstGeom>
          <a:solidFill>
            <a:srgbClr val="FF99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15"/>
          <p:cNvSpPr txBox="1"/>
          <p:nvPr/>
        </p:nvSpPr>
        <p:spPr>
          <a:xfrm>
            <a:off x="1998481" y="1505559"/>
            <a:ext cx="905400" cy="222300"/>
          </a:xfrm>
          <a:prstGeom prst="rect">
            <a:avLst/>
          </a:prstGeom>
          <a:solidFill>
            <a:srgbClr val="C63D0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Low sugar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83" name="Google Shape;283;p15"/>
          <p:cNvCxnSpPr>
            <a:stCxn id="264" idx="2"/>
          </p:cNvCxnSpPr>
          <p:nvPr/>
        </p:nvCxnSpPr>
        <p:spPr>
          <a:xfrm>
            <a:off x="1031091" y="2521407"/>
            <a:ext cx="141900" cy="226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4" name="Google Shape;284;p15"/>
          <p:cNvSpPr txBox="1"/>
          <p:nvPr/>
        </p:nvSpPr>
        <p:spPr>
          <a:xfrm>
            <a:off x="3204878" y="1292734"/>
            <a:ext cx="38871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How much sugar would be in 100 g of low sugar muesli?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" name="Google Shape;285;p15"/>
          <p:cNvSpPr txBox="1"/>
          <p:nvPr/>
        </p:nvSpPr>
        <p:spPr>
          <a:xfrm>
            <a:off x="3202929" y="1977463"/>
            <a:ext cx="3887100" cy="5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If a teaspoon is 4.2 grams how many teaspoons of sugar are in a 30 gram serving of low sugar muesli?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" name="Google Shape;286;p15"/>
          <p:cNvSpPr txBox="1"/>
          <p:nvPr/>
        </p:nvSpPr>
        <p:spPr>
          <a:xfrm>
            <a:off x="4478151" y="1579080"/>
            <a:ext cx="1690800" cy="2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16 grams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7" name="Google Shape;287;p15"/>
          <p:cNvSpPr txBox="1"/>
          <p:nvPr/>
        </p:nvSpPr>
        <p:spPr>
          <a:xfrm>
            <a:off x="3311106" y="2767173"/>
            <a:ext cx="3333900" cy="2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30 gram serving has 4.8 g of sugar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" name="Google Shape;288;p15"/>
          <p:cNvSpPr txBox="1"/>
          <p:nvPr/>
        </p:nvSpPr>
        <p:spPr>
          <a:xfrm>
            <a:off x="3311106" y="3121914"/>
            <a:ext cx="3779100" cy="2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That is just over 1 teaspoon of sugar (1.14…)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1\ \frac{1}{7}&quot;&gt;&lt;mn&gt;1&lt;/mn&gt;&lt;mtext&gt;&lt;/mtext&gt;&lt;mfrac&gt;&lt;mn&gt;1&lt;/mn&gt;&lt;mn&gt;7&lt;/mn&gt;&lt;/mfrac&gt;&lt;/math&gt;" id="289" name="Google Shape;289;p15" title="1 one seven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9152" y="3476646"/>
            <a:ext cx="252080" cy="374058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15"/>
          <p:cNvSpPr txBox="1"/>
          <p:nvPr/>
        </p:nvSpPr>
        <p:spPr>
          <a:xfrm>
            <a:off x="3725707" y="3550469"/>
            <a:ext cx="1367700" cy="2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of a teaspoon.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15"/>
          <p:cNvSpPr txBox="1"/>
          <p:nvPr/>
        </p:nvSpPr>
        <p:spPr>
          <a:xfrm>
            <a:off x="456452" y="3978923"/>
            <a:ext cx="6633600" cy="6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A different brand of muesli advertises   5.5 g of sugar per 40 gram serving. Which muesli has the least sugar?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15"/>
          <p:cNvSpPr txBox="1"/>
          <p:nvPr/>
        </p:nvSpPr>
        <p:spPr>
          <a:xfrm>
            <a:off x="456450" y="4469123"/>
            <a:ext cx="60657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5.5 g of sugar per 40 g is 13.75 g of sugar per 100 g.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This is a lower sugar content than the ‘low sugar’ version of the original muesli.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93" name="Google Shape;293;p15"/>
          <p:cNvSpPr/>
          <p:nvPr/>
        </p:nvSpPr>
        <p:spPr>
          <a:xfrm>
            <a:off x="536189" y="5449199"/>
            <a:ext cx="6499500" cy="3279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15"/>
          <p:cNvSpPr txBox="1"/>
          <p:nvPr/>
        </p:nvSpPr>
        <p:spPr>
          <a:xfrm>
            <a:off x="467575" y="5143398"/>
            <a:ext cx="64227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Roy’s rides makes and sells motorbikes. Their advert claims: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15"/>
          <p:cNvSpPr txBox="1"/>
          <p:nvPr/>
        </p:nvSpPr>
        <p:spPr>
          <a:xfrm>
            <a:off x="520085" y="5495461"/>
            <a:ext cx="65700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Our motorbikes hold their value much better than our competitors.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15"/>
          <p:cNvSpPr txBox="1"/>
          <p:nvPr/>
        </p:nvSpPr>
        <p:spPr>
          <a:xfrm>
            <a:off x="492795" y="5923423"/>
            <a:ext cx="6397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The average depreciation of the value of a motorbike in its first year is 20%. What would a motorbike worth £2500 new be worth after one year?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15"/>
          <p:cNvSpPr txBox="1"/>
          <p:nvPr/>
        </p:nvSpPr>
        <p:spPr>
          <a:xfrm>
            <a:off x="492795" y="6392557"/>
            <a:ext cx="1790100" cy="2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2500 × 0.8 = 2000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15"/>
          <p:cNvSpPr txBox="1"/>
          <p:nvPr/>
        </p:nvSpPr>
        <p:spPr>
          <a:xfrm>
            <a:off x="467575" y="6652050"/>
            <a:ext cx="4698600" cy="2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After 1 year the value would be £2000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" name="Google Shape;299;p15"/>
          <p:cNvSpPr txBox="1"/>
          <p:nvPr/>
        </p:nvSpPr>
        <p:spPr>
          <a:xfrm>
            <a:off x="466351" y="8276797"/>
            <a:ext cx="6516600" cy="2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Give a statistic to support the claim made by Roy’s rides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15"/>
          <p:cNvSpPr txBox="1"/>
          <p:nvPr/>
        </p:nvSpPr>
        <p:spPr>
          <a:xfrm>
            <a:off x="535307" y="8531068"/>
            <a:ext cx="17682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1800 − 1350 = 450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15"/>
          <p:cNvSpPr txBox="1"/>
          <p:nvPr/>
        </p:nvSpPr>
        <p:spPr>
          <a:xfrm>
            <a:off x="3746928" y="8531068"/>
            <a:ext cx="17682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5200 − 4420 = 780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" name="Google Shape;302;p15"/>
          <p:cNvSpPr txBox="1"/>
          <p:nvPr/>
        </p:nvSpPr>
        <p:spPr>
          <a:xfrm>
            <a:off x="466351" y="8800527"/>
            <a:ext cx="65166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There is a smaller decrease in value for the motorbike at Roy’s rides than their competitor.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3" name="Google Shape;303;p15"/>
          <p:cNvSpPr/>
          <p:nvPr/>
        </p:nvSpPr>
        <p:spPr>
          <a:xfrm>
            <a:off x="542551" y="6923848"/>
            <a:ext cx="6446700" cy="1295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15"/>
          <p:cNvSpPr txBox="1"/>
          <p:nvPr/>
        </p:nvSpPr>
        <p:spPr>
          <a:xfrm>
            <a:off x="659450" y="6982298"/>
            <a:ext cx="6245400" cy="3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Here are the figures for the value of a motorbike from Roy’s rides and a motorbike from their nearest competitor.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05" name="Google Shape;305;p15"/>
          <p:cNvGraphicFramePr/>
          <p:nvPr/>
        </p:nvGraphicFramePr>
        <p:xfrm>
          <a:off x="661623" y="74251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{345CEB1B-2BA0-4F1E-B8B8-A1D8BE31B73B}</a:tableStyleId>
              </a:tblPr>
              <a:tblGrid>
                <a:gridCol w="572725"/>
                <a:gridCol w="1743775"/>
              </a:tblGrid>
              <a:tr h="220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Roy’s rides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0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New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£1800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0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 yr old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£1350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06" name="Google Shape;306;p15"/>
          <p:cNvGraphicFramePr/>
          <p:nvPr/>
        </p:nvGraphicFramePr>
        <p:xfrm>
          <a:off x="4471623" y="74251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{345CEB1B-2BA0-4F1E-B8B8-A1D8BE31B73B}</a:tableStyleId>
              </a:tblPr>
              <a:tblGrid>
                <a:gridCol w="572725"/>
                <a:gridCol w="1743775"/>
              </a:tblGrid>
              <a:tr h="220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Competitor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0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New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£5200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0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 yr old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£4420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07" name="Google Shape;307;p15"/>
          <p:cNvSpPr txBox="1"/>
          <p:nvPr/>
        </p:nvSpPr>
        <p:spPr>
          <a:xfrm>
            <a:off x="464173" y="9023298"/>
            <a:ext cx="66336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Give a statistic which does not support the claim.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8" name="Google Shape;308;p15"/>
          <p:cNvSpPr txBox="1"/>
          <p:nvPr/>
        </p:nvSpPr>
        <p:spPr>
          <a:xfrm>
            <a:off x="534367" y="9282131"/>
            <a:ext cx="3300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1350 ÷ 1800 = 0.75 (25% decrease)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9" name="Google Shape;309;p15"/>
          <p:cNvSpPr txBox="1"/>
          <p:nvPr/>
        </p:nvSpPr>
        <p:spPr>
          <a:xfrm>
            <a:off x="464173" y="9556422"/>
            <a:ext cx="663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motorbike at Roy’s rides was cheaper initially. It depreciates by 25% whereas the competitor’s depreciates by 15%.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Answers Sep 2024 v2">
  <a:themeElements>
    <a:clrScheme name="Simple Light">
      <a:dk1>
        <a:srgbClr val="222222"/>
      </a:dk1>
      <a:lt1>
        <a:srgbClr val="FFFFFF"/>
      </a:lt1>
      <a:dk2>
        <a:srgbClr val="808080"/>
      </a:dk2>
      <a:lt2>
        <a:srgbClr val="F2F2F2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287C34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