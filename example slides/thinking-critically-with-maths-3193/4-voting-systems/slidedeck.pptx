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16AF26-0ECD-42D7-B624-AC0D9C54A601}">
  <a:tblStyle styleId="{6916AF26-0ECD-42D7-B624-AC0D9C54A6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020f04a8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020f04a8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fcdcf486b6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fcdcf486b6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020f04a86b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020f04a86b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020f04a86b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020f04a86b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02699d3c9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02699d3c9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02699d3c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02699d3c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02699d3c9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02699d3c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02699d3c9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02699d3c9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02699d3c9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02699d3c9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02699d3c9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02699d3c9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02cfab44a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02cfab44a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02cfab44a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02cfab44a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02cfab44a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02cfab44a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02cfab44a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02cfab44a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02cfab44a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02cfab44a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02cfab44a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02cfab44a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02cfab44a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02cfab44a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02cfab44a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02cfab44a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02cfab44a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302cfab44a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2cfab44a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02cfab44a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02cfab44a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02cfab44a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02cfab44a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02cfab44a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02cfab44a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02cfab44a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02cfab44a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02cfab44a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02cfab44a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02cfab44a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02cfab44a3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302cfab44a3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02cfab44a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302cfab44a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02cfab44a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302cfab44a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02cfab44a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02cfab44a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020f04a86b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020f04a86b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02cfab44a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02cfab44a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02cfab44a3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02cfab44a3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02cfab44a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02cfab44a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02cfab44a3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02cfab44a3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02cfab44a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02cfab44a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02cfab44a3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02cfab44a3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02cfab44a3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302cfab44a3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02cfab44a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302cfab44a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02cfab44a3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302cfab44a3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02cfab44a3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302cfab44a3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02cfab44a3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302cfab44a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02cfab44a3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02cfab44a3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02cfab44a3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302cfab44a3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fcdcf486b6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fcdcf486b6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fcdcf486b6_0_2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fcdcf486b6_0_2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88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3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88.png"/><Relationship Id="rId4" Type="http://schemas.openxmlformats.org/officeDocument/2006/relationships/image" Target="../media/image35.png"/><Relationship Id="rId9" Type="http://schemas.openxmlformats.org/officeDocument/2006/relationships/image" Target="../media/image33.png"/><Relationship Id="rId5" Type="http://schemas.openxmlformats.org/officeDocument/2006/relationships/image" Target="../media/image40.png"/><Relationship Id="rId6" Type="http://schemas.openxmlformats.org/officeDocument/2006/relationships/image" Target="../media/image42.png"/><Relationship Id="rId7" Type="http://schemas.openxmlformats.org/officeDocument/2006/relationships/image" Target="../media/image37.png"/><Relationship Id="rId8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88.png"/><Relationship Id="rId4" Type="http://schemas.openxmlformats.org/officeDocument/2006/relationships/image" Target="../media/image41.png"/><Relationship Id="rId11" Type="http://schemas.openxmlformats.org/officeDocument/2006/relationships/image" Target="../media/image33.png"/><Relationship Id="rId10" Type="http://schemas.openxmlformats.org/officeDocument/2006/relationships/image" Target="../media/image48.png"/><Relationship Id="rId9" Type="http://schemas.openxmlformats.org/officeDocument/2006/relationships/image" Target="../media/image39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42.png"/><Relationship Id="rId8" Type="http://schemas.openxmlformats.org/officeDocument/2006/relationships/image" Target="../media/image3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7.png"/><Relationship Id="rId4" Type="http://schemas.openxmlformats.org/officeDocument/2006/relationships/image" Target="../media/image5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88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" name="Google Shape;16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3"/>
          <p:cNvGrpSpPr/>
          <p:nvPr/>
        </p:nvGrpSpPr>
        <p:grpSpPr>
          <a:xfrm>
            <a:off x="2475040" y="1859748"/>
            <a:ext cx="1688103" cy="1373213"/>
            <a:chOff x="2642961" y="1644312"/>
            <a:chExt cx="1454634" cy="1195657"/>
          </a:xfrm>
        </p:grpSpPr>
        <p:pic>
          <p:nvPicPr>
            <p:cNvPr id="223" name="Google Shape;223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5" name="Google Shape;22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6" name="Google Shape;226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7" name="Google Shape;227;p23"/>
          <p:cNvPicPr preferRelativeResize="0"/>
          <p:nvPr/>
        </p:nvPicPr>
        <p:blipFill rotWithShape="1">
          <a:blip r:embed="rId6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5475" y="2016159"/>
            <a:ext cx="1976824" cy="111785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29" name="Google Shape;229;p23"/>
          <p:cNvPicPr preferRelativeResize="0"/>
          <p:nvPr/>
        </p:nvPicPr>
        <p:blipFill rotWithShape="1">
          <a:blip r:embed="rId6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/>
          <p:cNvPicPr preferRelativeResize="0"/>
          <p:nvPr/>
        </p:nvPicPr>
        <p:blipFill rotWithShape="1">
          <a:blip r:embed="rId6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/>
          <p:cNvPicPr preferRelativeResize="0"/>
          <p:nvPr/>
        </p:nvPicPr>
        <p:blipFill rotWithShape="1">
          <a:blip r:embed="rId6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6" name="Google Shape;236;p2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7" name="Google Shape;237;p2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7" name="Google Shape;247;p2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8" name="Google Shape;248;p2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60" name="Google Shape;260;p2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1" name="Google Shape;261;p2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" name="Google Shape;262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8" name="Google Shape;268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2" name="Google Shape;272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27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75" name="Google Shape;275;p27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6" name="Google Shape;276;p2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28"/>
          <p:cNvCxnSpPr>
            <a:endCxn id="28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8" name="Google Shape;28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87" name="Google Shape;28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2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91" name="Google Shape;291;p2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2" name="Google Shape;292;p28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8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95" name="Google Shape;295;p28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29"/>
          <p:cNvCxnSpPr>
            <a:endCxn id="30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2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08" name="Google Shape;308;p2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9" name="Google Shape;309;p29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12" name="Google Shape;312;p29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3" name="Google Shape;313;p29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4" name="Google Shape;314;p29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5" name="Google Shape;325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30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30" name="Google Shape;330;p30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1" name="Google Shape;331;p30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34" name="Google Shape;334;p30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5" name="Google Shape;335;p30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6" name="Google Shape;336;p30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7" name="Google Shape;337;p30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31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340" name="Google Shape;340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31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3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43" name="Google Shape;3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3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348" name="Google Shape;348;p32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8" name="Google Shape;3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3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5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3" name="Google Shape;373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4" name="Google Shape;374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5" name="Google Shape;37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7" name="Google Shape;377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8" name="Google Shape;378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80" name="Google Shape;380;p3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2" name="Google Shape;392;p3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3" name="Google Shape;393;p3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9" name="Google Shape;399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05" name="Google Shape;405;p3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8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2" name="Google Shape;412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13" name="Google Shape;413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16" name="Google Shape;41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18" name="Google Shape;418;p3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38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8" name="Google Shape;428;p3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9" name="Google Shape;429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0" name="Google Shape;430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2" name="Google Shape;43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40" name="Google Shape;44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4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7" name="Google Shape;447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4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2" name="Google Shape;462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0" name="Google Shape;47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5" name="Google Shape;475;p42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6" name="Google Shape;476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77" name="Google Shape;477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3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4" name="Google Shape;48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4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4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9" name="Google Shape;489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0" name="Google Shape;4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3" name="Google Shape;49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96" name="Google Shape;49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98" name="Google Shape;498;p43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5" name="Google Shape;505;p4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4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7" name="Google Shape;507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08" name="Google Shape;50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0" name="Google Shape;510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1" name="Google Shape;51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16" name="Google Shape;516;p4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4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1" name="Google Shape;5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4" name="Google Shape;524;p4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6" name="Google Shape;526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27" name="Google Shape;52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9" name="Google Shape;529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0" name="Google Shape;53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" name="Google Shape;53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2" name="Google Shape;532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3" name="Google Shape;533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35" name="Google Shape;535;p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6" name="Google Shape;536;p4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0" name="Google Shape;5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3" name="Google Shape;543;p46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4" name="Google Shape;544;p46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45" name="Google Shape;545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46" name="Google Shape;54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8" name="Google Shape;548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49" name="Google Shape;54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0" name="Google Shape;55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1" name="Google Shape;551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52" name="Google Shape;55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4" name="Google Shape;554;p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6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9" name="Google Shape;55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62" name="Google Shape;562;p4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63" name="Google Shape;563;p4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64" name="Google Shape;564;p4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65" name="Google Shape;565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66" name="Google Shape;56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8" name="Google Shape;568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69" name="Google Shape;56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1" name="Google Shape;571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72" name="Google Shape;57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4" name="Google Shape;574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75" name="Google Shape;575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77" name="Google Shape;577;p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8" name="Google Shape;578;p4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5" name="Google Shape;585;p4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6" name="Google Shape;586;p4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7" name="Google Shape;587;p4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88" name="Google Shape;588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89" name="Google Shape;58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1" name="Google Shape;591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92" name="Google Shape;59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3" name="Google Shape;59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4" name="Google Shape;594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95" name="Google Shape;59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7" name="Google Shape;597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98" name="Google Shape;598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00" name="Google Shape;600;p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1" name="Google Shape;601;p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09" name="Google Shape;609;p4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0" name="Google Shape;610;p4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1" name="Google Shape;611;p4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12" name="Google Shape;612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13" name="Google Shape;613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16" name="Google Shape;616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19" name="Google Shape;61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22" name="Google Shape;62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24" name="Google Shape;624;p49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29" name="Google Shape;62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2" name="Google Shape;632;p50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3" name="Google Shape;633;p50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4" name="Google Shape;634;p50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35" name="Google Shape;635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36" name="Google Shape;63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8" name="Google Shape;638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39" name="Google Shape;639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0" name="Google Shape;640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1" name="Google Shape;641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42" name="Google Shape;64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4" name="Google Shape;644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45" name="Google Shape;64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47" name="Google Shape;647;p50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1" name="Google Shape;65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5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55" name="Google Shape;655;p5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56" name="Google Shape;656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57" name="Google Shape;65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9" name="Google Shape;659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0" name="Google Shape;66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2" name="Google Shape;662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65" name="Google Shape;665;p5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6" name="Google Shape;666;p5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0" name="Google Shape;67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5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3" name="Google Shape;673;p5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4" name="Google Shape;674;p5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75" name="Google Shape;675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76" name="Google Shape;67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8" name="Google Shape;678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79" name="Google Shape;67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1" name="Google Shape;681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84" name="Google Shape;684;p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5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9" name="Google Shape;68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1" name="Google Shape;691;p5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2" name="Google Shape;692;p5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5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94" name="Google Shape;694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95" name="Google Shape;69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7" name="Google Shape;697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98" name="Google Shape;69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0" name="Google Shape;700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03" name="Google Shape;703;p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4" name="Google Shape;704;p5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8" name="Google Shape;70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4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1" name="Google Shape;711;p54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2" name="Google Shape;712;p54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13" name="Google Shape;713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14" name="Google Shape;71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5" name="Google Shape;71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6" name="Google Shape;716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17" name="Google Shape;71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9" name="Google Shape;719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20" name="Google Shape;720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1" name="Google Shape;721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22" name="Google Shape;722;p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3" name="Google Shape;723;p5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7" name="Google Shape;72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5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4" name="Google Shape;73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7" name="Google Shape;737;p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1" name="Google Shape;74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4" name="Google Shape;744;p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9" name="Google Shape;74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5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5" name="Google Shape;75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5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9" name="Google Shape;759;p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4" name="Google Shape;76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7" name="Google Shape;767;p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Google Shape;769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2" name="Google Shape;77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5" name="Google Shape;775;p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Google Shape;777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0" name="Google Shape;78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3" name="Google Shape;783;p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7" name="Google Shape;78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1" name="Google Shape;791;p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6" name="Google Shape;79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9" name="Google Shape;799;p6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4" name="Google Shape;80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7" name="Google Shape;807;p6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2" name="Google Shape;81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5" name="Google Shape;815;p6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oogle Shape;817;p67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818" name="Google Shape;818;p67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6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0" name="Google Shape;820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7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2" name="Google Shape;822;p6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4" name="Google Shape;824;p68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825" name="Google Shape;825;p68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6" name="Google Shape;826;p6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7" name="Google Shape;827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8" name="Google Shape;828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6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0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1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 1">
  <p:cSld name="CUSTOM_3_3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7" name="Google Shape;857;p73"/>
          <p:cNvCxnSpPr>
            <a:endCxn id="8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9" name="Google Shape;859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1" name="Google Shape;861;p7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58" name="Google Shape;858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73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systems</a:t>
            </a:r>
            <a:endParaRPr/>
          </a:p>
        </p:txBody>
      </p:sp>
      <p:sp>
        <p:nvSpPr>
          <p:cNvPr id="870" name="Google Shape;870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Thinking critically with maths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5"/>
          <p:cNvSpPr txBox="1"/>
          <p:nvPr>
            <p:ph idx="1" type="subTitle"/>
          </p:nvPr>
        </p:nvSpPr>
        <p:spPr>
          <a:xfrm>
            <a:off x="666000" y="1620000"/>
            <a:ext cx="73512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other existing voting systems.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6"/>
          <p:cNvSpPr txBox="1"/>
          <p:nvPr>
            <p:ph idx="1" type="subTitle"/>
          </p:nvPr>
        </p:nvSpPr>
        <p:spPr>
          <a:xfrm>
            <a:off x="324000" y="106985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solidFill>
                  <a:schemeClr val="dk1"/>
                </a:solidFill>
              </a:rPr>
              <a:t>With the </a:t>
            </a:r>
            <a:r>
              <a:rPr lang="en-GB">
                <a:solidFill>
                  <a:schemeClr val="dk1"/>
                </a:solidFill>
              </a:rPr>
              <a:t>Single Transferable Vote</a:t>
            </a:r>
            <a:r>
              <a:rPr b="0" lang="en-GB">
                <a:solidFill>
                  <a:schemeClr val="dk1"/>
                </a:solidFill>
              </a:rPr>
              <a:t> (</a:t>
            </a:r>
            <a:r>
              <a:rPr lang="en-GB">
                <a:solidFill>
                  <a:schemeClr val="dk1"/>
                </a:solidFill>
              </a:rPr>
              <a:t>STV</a:t>
            </a:r>
            <a:r>
              <a:rPr b="0" lang="en-GB">
                <a:solidFill>
                  <a:schemeClr val="dk1"/>
                </a:solidFill>
              </a:rPr>
              <a:t>), the opinions in parliament match the strength of support in the country.</a:t>
            </a:r>
            <a:r>
              <a:rPr b="0" lang="en-GB">
                <a:solidFill>
                  <a:schemeClr val="dk1"/>
                </a:solidFill>
              </a:rPr>
              <a:t> 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881" name="Google Shape;881;p76"/>
          <p:cNvSpPr txBox="1"/>
          <p:nvPr>
            <p:ph idx="1" type="subTitle"/>
          </p:nvPr>
        </p:nvSpPr>
        <p:spPr>
          <a:xfrm>
            <a:off x="324000" y="282245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solidFill>
                  <a:schemeClr val="dk1"/>
                </a:solidFill>
              </a:rPr>
              <a:t>With the </a:t>
            </a:r>
            <a:r>
              <a:rPr lang="en-GB">
                <a:solidFill>
                  <a:schemeClr val="dk1"/>
                </a:solidFill>
              </a:rPr>
              <a:t>Alternative Vote</a:t>
            </a:r>
            <a:r>
              <a:rPr b="0" lang="en-GB">
                <a:solidFill>
                  <a:schemeClr val="dk1"/>
                </a:solidFill>
              </a:rPr>
              <a:t> (</a:t>
            </a:r>
            <a:r>
              <a:rPr lang="en-GB">
                <a:solidFill>
                  <a:schemeClr val="dk1"/>
                </a:solidFill>
              </a:rPr>
              <a:t>AV</a:t>
            </a:r>
            <a:r>
              <a:rPr b="0" lang="en-GB">
                <a:solidFill>
                  <a:schemeClr val="dk1"/>
                </a:solidFill>
              </a:rPr>
              <a:t>), your constituency gets an MP the majority support.</a:t>
            </a:r>
            <a:r>
              <a:rPr b="0" lang="en-GB">
                <a:solidFill>
                  <a:schemeClr val="dk1"/>
                </a:solidFill>
              </a:rPr>
              <a:t>  </a:t>
            </a:r>
            <a:endParaRPr b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7"/>
          <p:cNvSpPr txBox="1"/>
          <p:nvPr>
            <p:ph type="title"/>
          </p:nvPr>
        </p:nvSpPr>
        <p:spPr>
          <a:xfrm>
            <a:off x="1225225" y="2090813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887" name="Google Shape;887;p77"/>
          <p:cNvSpPr txBox="1"/>
          <p:nvPr>
            <p:ph idx="2" type="title"/>
          </p:nvPr>
        </p:nvSpPr>
        <p:spPr>
          <a:xfrm>
            <a:off x="1225225" y="3027088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sp>
        <p:nvSpPr>
          <p:cNvPr id="888" name="Google Shape;888;p77"/>
          <p:cNvSpPr txBox="1"/>
          <p:nvPr>
            <p:ph idx="3" type="title"/>
          </p:nvPr>
        </p:nvSpPr>
        <p:spPr>
          <a:xfrm>
            <a:off x="324000" y="657600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systems</a:t>
            </a:r>
            <a:endParaRPr/>
          </a:p>
        </p:txBody>
      </p:sp>
      <p:pic>
        <p:nvPicPr>
          <p:cNvPr id="889" name="Google Shape;88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64" y="205897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895" name="Google Shape;895;p78"/>
          <p:cNvSpPr txBox="1"/>
          <p:nvPr>
            <p:ph idx="1" type="body"/>
          </p:nvPr>
        </p:nvSpPr>
        <p:spPr>
          <a:xfrm>
            <a:off x="324000" y="810000"/>
            <a:ext cx="8237700" cy="3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With the </a:t>
            </a:r>
            <a:r>
              <a:rPr b="1" lang="en-GB" sz="2000"/>
              <a:t>Single Transferable Vote</a:t>
            </a:r>
            <a:r>
              <a:rPr lang="en-GB" sz="2000"/>
              <a:t> (</a:t>
            </a:r>
            <a:r>
              <a:rPr b="1" lang="en-GB" sz="2000"/>
              <a:t>STV</a:t>
            </a:r>
            <a:r>
              <a:rPr lang="en-GB" sz="2000"/>
              <a:t>), the opinions in parliament match the strength of support in the country.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Rather than electing one candidate, bigger areas elect a small group of candidates.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V</a:t>
            </a:r>
            <a:r>
              <a:rPr lang="en-GB" sz="2000"/>
              <a:t>oters number the candidates on their ballot paper, starting with 1 for their favourite. Voters can put numbers next to as many or as few candidates as they like.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01" name="Google Shape;901;p79"/>
          <p:cNvSpPr txBox="1"/>
          <p:nvPr>
            <p:ph idx="1" type="body"/>
          </p:nvPr>
        </p:nvSpPr>
        <p:spPr>
          <a:xfrm>
            <a:off x="324000" y="810000"/>
            <a:ext cx="8237700" cy="32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To get elected, a candidate needs to receive enough votes to reach a set </a:t>
            </a:r>
            <a:r>
              <a:rPr lang="en-GB" sz="2000">
                <a:highlight>
                  <a:srgbClr val="FFFFFF"/>
                </a:highlight>
              </a:rPr>
              <a:t>value, known as the quota. The quota is based on the number of vacancies and the number of votes cast.</a:t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Each voter has one vote. If your first choice candidate reaches the quota of votes, then additional votes move to each voter’s second choice candidate. </a:t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07" name="Google Shape;907;p80"/>
          <p:cNvSpPr txBox="1"/>
          <p:nvPr>
            <p:ph idx="1" type="body"/>
          </p:nvPr>
        </p:nvSpPr>
        <p:spPr>
          <a:xfrm>
            <a:off x="324000" y="810000"/>
            <a:ext cx="8237700" cy="16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If no candidate reaches the quota, the least popular candidate is removed and their votes are assigned to the voter’s second choice.</a:t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This process is repeated until the number of vacancies are filled.</a:t>
            </a:r>
            <a:endParaRPr sz="20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13" name="Google Shape;913;p81"/>
          <p:cNvSpPr txBox="1"/>
          <p:nvPr>
            <p:ph idx="1" type="body"/>
          </p:nvPr>
        </p:nvSpPr>
        <p:spPr>
          <a:xfrm>
            <a:off x="324000" y="810000"/>
            <a:ext cx="8237700" cy="16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To decide the quota required to be elected, the following formula is used:</a:t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914" name="Google Shape;914;p81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575" y="1702800"/>
            <a:ext cx="2582550" cy="7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8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20" name="Google Shape;920;p82"/>
          <p:cNvSpPr txBox="1"/>
          <p:nvPr>
            <p:ph idx="1" type="subTitle"/>
          </p:nvPr>
        </p:nvSpPr>
        <p:spPr>
          <a:xfrm>
            <a:off x="324000" y="810000"/>
            <a:ext cx="3982200" cy="301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There were 109 525 votes cast and three seats to be filled. What is the quota for the number of votes required to earn a seat?</a:t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921" name="Google Shape;921;p82"/>
          <p:cNvSpPr txBox="1"/>
          <p:nvPr>
            <p:ph idx="2" type="subTitle"/>
          </p:nvPr>
        </p:nvSpPr>
        <p:spPr>
          <a:xfrm>
            <a:off x="4824000" y="810000"/>
            <a:ext cx="3982200" cy="150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/>
              <a:t>There were 89 862 votes cast and four seats to be filled. What is the quota for the number of votes required to earn a seat?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09\ 525}{3+1}+1=27\ 382.25&quot;&gt;&lt;mfrac&gt;&lt;mrow&gt;&lt;mn&gt;109&lt;/mn&gt;&lt;mtext&gt;&lt;/mtext&gt;&lt;mn&gt;525&lt;/mn&gt;&lt;/mrow&gt;&lt;mrow&gt;&lt;mn&gt;3&lt;/mn&gt;&lt;mo&gt;+&lt;/mo&gt;&lt;mn&gt;1&lt;/mn&gt;&lt;/mrow&gt;&lt;/mfrac&gt;&lt;mo&gt;+&lt;/mo&gt;&lt;mn&gt;1&lt;/mn&gt;&lt;mo&gt;=&lt;/mo&gt;&lt;mn&gt;27&lt;/mn&gt;&lt;mtext&gt;&lt;/mtext&gt;&lt;mn&gt;382.25&lt;/mn&gt;&lt;/math&gt;" id="922" name="Google Shape;922;p82" title="the fraction with numerator 109 525 and denominator 3 plus 1 plus 1 equals 27 382.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989425"/>
            <a:ext cx="3506258" cy="7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2"/>
          <p:cNvSpPr txBox="1"/>
          <p:nvPr/>
        </p:nvSpPr>
        <p:spPr>
          <a:xfrm>
            <a:off x="324000" y="4012875"/>
            <a:ext cx="32538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27 382 votes are needed.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9\ 862}{4+1}+1=17\ 973.4&quot;&gt;&lt;mfrac&gt;&lt;mrow&gt;&lt;mn&gt;89&lt;/mn&gt;&lt;mtext&gt;&lt;/mtext&gt;&lt;mn&gt;862&lt;/mn&gt;&lt;/mrow&gt;&lt;mrow&gt;&lt;mn&gt;4&lt;/mn&gt;&lt;mo&gt;+&lt;/mo&gt;&lt;mn&gt;1&lt;/mn&gt;&lt;/mrow&gt;&lt;/mfrac&gt;&lt;mo&gt;+&lt;/mo&gt;&lt;mn&gt;1&lt;/mn&gt;&lt;mo&gt;=&lt;/mo&gt;&lt;mn&gt;17&lt;/mn&gt;&lt;mtext&gt;&lt;/mtext&gt;&lt;mn&gt;973.4&lt;/mn&gt;&lt;/math&gt;" id="924" name="Google Shape;924;p82" title="the fraction with numerator 89 862 and denominator 4 plus 1 plus 1 equals 17 973.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2989425"/>
            <a:ext cx="3172653" cy="7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2"/>
          <p:cNvSpPr txBox="1"/>
          <p:nvPr/>
        </p:nvSpPr>
        <p:spPr>
          <a:xfrm>
            <a:off x="4819950" y="4012875"/>
            <a:ext cx="32538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17 973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votes are needed.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3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31" name="Google Shape;931;p83"/>
          <p:cNvSpPr txBox="1"/>
          <p:nvPr>
            <p:ph idx="1" type="body"/>
          </p:nvPr>
        </p:nvSpPr>
        <p:spPr>
          <a:xfrm>
            <a:off x="324000" y="810000"/>
            <a:ext cx="8237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17 973 votes are needed and there are four seats to fill. Here is a graph showing the votes each candidate received.</a:t>
            </a:r>
            <a:endParaRPr sz="2000">
              <a:solidFill>
                <a:srgbClr val="3D4346"/>
              </a:solidFill>
              <a:highlight>
                <a:srgbClr val="FFFFFF"/>
              </a:highlight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0-09-2024/1bfcb6e6-6959-4769-9770-1ea2166e7c31&quot; data-equatio-type=&quot;desmos&quot;&gt;&lt;mglyph src=&quot;https://equatio-api.texthelp.com/desmos/get/20-09-2024/1bfcb6e6-6959-4769-9770-1ea2166e7c31&quot; alt=&quot;Equatio Desmos Graph&quot;/&gt;&lt;/math&gt;" id="932" name="Google Shape;932;p8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41775"/>
            <a:ext cx="4371500" cy="327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3"/>
          <p:cNvSpPr txBox="1"/>
          <p:nvPr/>
        </p:nvSpPr>
        <p:spPr>
          <a:xfrm>
            <a:off x="4819200" y="1546075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Who, if anyone, has been elected?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3"/>
          <p:cNvSpPr txBox="1"/>
          <p:nvPr/>
        </p:nvSpPr>
        <p:spPr>
          <a:xfrm>
            <a:off x="4824000" y="25446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 A has been elected. They take the first seat.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35" name="Google Shape;935;p83"/>
          <p:cNvCxnSpPr/>
          <p:nvPr/>
        </p:nvCxnSpPr>
        <p:spPr>
          <a:xfrm>
            <a:off x="324000" y="3226338"/>
            <a:ext cx="4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0-09-2024/8310d793-f4ba-4760-bf76-cd46a421c386&quot; data-equatio-type=&quot;desmos&quot;&gt;&lt;mglyph src=&quot;https://equatio-api.texthelp.com/desmos/get/20-09-2024/8310d793-f4ba-4760-bf76-cd46a421c386&quot; alt=&quot;Equatio Desmos Graph&quot;/&gt;&lt;/math&gt;" id="940" name="Google Shape;940;p8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41775"/>
            <a:ext cx="4371500" cy="327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4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42" name="Google Shape;942;p84"/>
          <p:cNvSpPr txBox="1"/>
          <p:nvPr>
            <p:ph idx="1" type="body"/>
          </p:nvPr>
        </p:nvSpPr>
        <p:spPr>
          <a:xfrm>
            <a:off x="324000" y="810000"/>
            <a:ext cx="8237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17 973 votes are needed and there are four seats to fill. Here is a graph showing the votes each candidate received.</a:t>
            </a:r>
            <a:endParaRPr sz="2000">
              <a:solidFill>
                <a:srgbClr val="3D4346"/>
              </a:solidFill>
              <a:highlight>
                <a:srgbClr val="FFFFFF"/>
              </a:highlight>
            </a:endParaRPr>
          </a:p>
        </p:txBody>
      </p:sp>
      <p:sp>
        <p:nvSpPr>
          <p:cNvPr id="943" name="Google Shape;943;p84"/>
          <p:cNvSpPr txBox="1"/>
          <p:nvPr/>
        </p:nvSpPr>
        <p:spPr>
          <a:xfrm>
            <a:off x="4819200" y="1546075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After candidate A’s excess votes have been redistributed, who (if anyone) has been elected?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4"/>
          <p:cNvSpPr txBox="1"/>
          <p:nvPr/>
        </p:nvSpPr>
        <p:spPr>
          <a:xfrm>
            <a:off x="4824000" y="27732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 B has been elected. They take the second seat.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45" name="Google Shape;945;p84"/>
          <p:cNvCxnSpPr/>
          <p:nvPr/>
        </p:nvCxnSpPr>
        <p:spPr>
          <a:xfrm>
            <a:off x="324000" y="3226338"/>
            <a:ext cx="4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84"/>
          <p:cNvSpPr txBox="1"/>
          <p:nvPr/>
        </p:nvSpPr>
        <p:spPr>
          <a:xfrm>
            <a:off x="1151150" y="3226350"/>
            <a:ext cx="2214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0-09-2024/f8523c08-5089-4181-bbfe-246a148ef057&quot; data-equatio-type=&quot;desmos&quot;&gt;&lt;mglyph src=&quot;https://equatio-api.texthelp.com/desmos/get/20-09-2024/f8523c08-5089-4181-bbfe-246a148ef057&quot; alt=&quot;Equatio Desmos Graph&quot;/&gt;&lt;/math&gt;" id="951" name="Google Shape;951;p85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41700"/>
            <a:ext cx="4371600" cy="3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5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53" name="Google Shape;953;p85"/>
          <p:cNvSpPr txBox="1"/>
          <p:nvPr>
            <p:ph idx="1" type="body"/>
          </p:nvPr>
        </p:nvSpPr>
        <p:spPr>
          <a:xfrm>
            <a:off x="324000" y="810000"/>
            <a:ext cx="8237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17 973 votes are needed and there are four seats to fill. Here is a graph showing the votes each candidate received.</a:t>
            </a:r>
            <a:endParaRPr sz="2000">
              <a:solidFill>
                <a:srgbClr val="3D4346"/>
              </a:solidFill>
              <a:highlight>
                <a:srgbClr val="FFFFFF"/>
              </a:highlight>
            </a:endParaRPr>
          </a:p>
        </p:txBody>
      </p:sp>
      <p:sp>
        <p:nvSpPr>
          <p:cNvPr id="954" name="Google Shape;954;p85"/>
          <p:cNvSpPr txBox="1"/>
          <p:nvPr/>
        </p:nvSpPr>
        <p:spPr>
          <a:xfrm>
            <a:off x="4819200" y="1546075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After candidate B’s excess votes have been redistributed, who (if anyone) has been elected?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5"/>
          <p:cNvSpPr txBox="1"/>
          <p:nvPr/>
        </p:nvSpPr>
        <p:spPr>
          <a:xfrm>
            <a:off x="4824000" y="27732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one has been elected. 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with the least number of votes (F) is removed and their votes are reassigned.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56" name="Google Shape;956;p85"/>
          <p:cNvCxnSpPr/>
          <p:nvPr/>
        </p:nvCxnSpPr>
        <p:spPr>
          <a:xfrm>
            <a:off x="324000" y="3226338"/>
            <a:ext cx="4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7" name="Google Shape;957;p85"/>
          <p:cNvSpPr txBox="1"/>
          <p:nvPr/>
        </p:nvSpPr>
        <p:spPr>
          <a:xfrm>
            <a:off x="1151150" y="3226350"/>
            <a:ext cx="2214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8" name="Google Shape;958;p85"/>
          <p:cNvSpPr txBox="1"/>
          <p:nvPr/>
        </p:nvSpPr>
        <p:spPr>
          <a:xfrm>
            <a:off x="1585725" y="3226350"/>
            <a:ext cx="2214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0-09-2024/95a7266e-fbfe-47c6-bfe6-776cf4845377&quot; data-equatio-type=&quot;desmos&quot;&gt;&lt;mglyph src=&quot;https://equatio-api.texthelp.com/desmos/get/20-09-2024/95a7266e-fbfe-47c6-bfe6-776cf4845377&quot; alt=&quot;Equatio Desmos Graph&quot;/&gt;&lt;/math&gt;" id="963" name="Google Shape;963;p8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41700"/>
            <a:ext cx="4371600" cy="3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86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65" name="Google Shape;965;p86"/>
          <p:cNvSpPr txBox="1"/>
          <p:nvPr>
            <p:ph idx="1" type="body"/>
          </p:nvPr>
        </p:nvSpPr>
        <p:spPr>
          <a:xfrm>
            <a:off x="324000" y="810000"/>
            <a:ext cx="8237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17 973 votes are needed and there are four seats to fill. Here is a graph showing the votes each candidate received.</a:t>
            </a:r>
            <a:endParaRPr sz="2000">
              <a:solidFill>
                <a:srgbClr val="3D4346"/>
              </a:solidFill>
              <a:highlight>
                <a:srgbClr val="FFFFFF"/>
              </a:highlight>
            </a:endParaRPr>
          </a:p>
        </p:txBody>
      </p:sp>
      <p:sp>
        <p:nvSpPr>
          <p:cNvPr id="966" name="Google Shape;966;p86"/>
          <p:cNvSpPr txBox="1"/>
          <p:nvPr/>
        </p:nvSpPr>
        <p:spPr>
          <a:xfrm>
            <a:off x="4819200" y="1546075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now four candidates who are still in the running.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eliminated next?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6"/>
          <p:cNvSpPr txBox="1"/>
          <p:nvPr/>
        </p:nvSpPr>
        <p:spPr>
          <a:xfrm>
            <a:off x="4824000" y="26970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 G as they have the lowest number of votes and the other three candidates have not met the quota.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68" name="Google Shape;968;p86"/>
          <p:cNvCxnSpPr/>
          <p:nvPr/>
        </p:nvCxnSpPr>
        <p:spPr>
          <a:xfrm>
            <a:off x="324000" y="3226338"/>
            <a:ext cx="4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86"/>
          <p:cNvSpPr txBox="1"/>
          <p:nvPr/>
        </p:nvSpPr>
        <p:spPr>
          <a:xfrm>
            <a:off x="1151150" y="3226350"/>
            <a:ext cx="2214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86"/>
          <p:cNvSpPr txBox="1"/>
          <p:nvPr/>
        </p:nvSpPr>
        <p:spPr>
          <a:xfrm>
            <a:off x="1585725" y="3226350"/>
            <a:ext cx="2214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0-09-2024/131e6fb8-1c2c-4752-946e-9eb2c4f935a3&quot; data-equatio-type=&quot;desmos&quot;&gt;&lt;mglyph src=&quot;https://equatio-api.texthelp.com/desmos/get/20-09-2024/131e6fb8-1c2c-4752-946e-9eb2c4f935a3&quot; alt=&quot;Equatio Desmos Graph&quot;/&gt;&lt;/math&gt;" id="975" name="Google Shape;975;p8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41700"/>
            <a:ext cx="4371600" cy="3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977" name="Google Shape;977;p87"/>
          <p:cNvSpPr txBox="1"/>
          <p:nvPr>
            <p:ph idx="1" type="body"/>
          </p:nvPr>
        </p:nvSpPr>
        <p:spPr>
          <a:xfrm>
            <a:off x="324000" y="810000"/>
            <a:ext cx="8237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17 973 votes are needed and there are four seats to fill. Here is a graph showing the votes each candidate received.</a:t>
            </a:r>
            <a:endParaRPr sz="2000">
              <a:solidFill>
                <a:srgbClr val="3D4346"/>
              </a:solidFill>
              <a:highlight>
                <a:srgbClr val="FFFFFF"/>
              </a:highlight>
            </a:endParaRPr>
          </a:p>
        </p:txBody>
      </p:sp>
      <p:sp>
        <p:nvSpPr>
          <p:cNvPr id="978" name="Google Shape;978;p87"/>
          <p:cNvSpPr txBox="1"/>
          <p:nvPr/>
        </p:nvSpPr>
        <p:spPr>
          <a:xfrm>
            <a:off x="4819200" y="1546075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happens now?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7"/>
          <p:cNvSpPr txBox="1"/>
          <p:nvPr/>
        </p:nvSpPr>
        <p:spPr>
          <a:xfrm>
            <a:off x="4824000" y="2160000"/>
            <a:ext cx="40008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 E is eliminated. Candidates C and D are elected.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0" name="Google Shape;980;p87"/>
          <p:cNvCxnSpPr/>
          <p:nvPr/>
        </p:nvCxnSpPr>
        <p:spPr>
          <a:xfrm>
            <a:off x="324000" y="3226338"/>
            <a:ext cx="4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87"/>
          <p:cNvSpPr txBox="1"/>
          <p:nvPr/>
        </p:nvSpPr>
        <p:spPr>
          <a:xfrm>
            <a:off x="1151150" y="3226350"/>
            <a:ext cx="2214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87"/>
          <p:cNvSpPr txBox="1"/>
          <p:nvPr/>
        </p:nvSpPr>
        <p:spPr>
          <a:xfrm>
            <a:off x="1585725" y="3226350"/>
            <a:ext cx="2214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3990" y="2622038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 txBox="1"/>
          <p:nvPr/>
        </p:nvSpPr>
        <p:spPr>
          <a:xfrm>
            <a:off x="324000" y="3739125"/>
            <a:ext cx="807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0" name="Google Shape;990;p88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94050" y="1323850"/>
            <a:ext cx="2969160" cy="19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8"/>
          <p:cNvSpPr txBox="1"/>
          <p:nvPr/>
        </p:nvSpPr>
        <p:spPr>
          <a:xfrm>
            <a:off x="1217201" y="1528441"/>
            <a:ext cx="27723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decides which votes are ‘excess’ votes when a candidate reaches the quota?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8"/>
          <p:cNvSpPr txBox="1"/>
          <p:nvPr/>
        </p:nvSpPr>
        <p:spPr>
          <a:xfrm>
            <a:off x="4125350" y="1380150"/>
            <a:ext cx="46947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two main methods.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Random selection - the excess votes are selected randomly from all the votes a candidate received.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candidate who received 1000 votes, but only needed 600 to win, would have 400 of their votes selected at random and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reassigned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pic>
        <p:nvPicPr>
          <p:cNvPr id="998" name="Google Shape;99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3990" y="2622038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9"/>
          <p:cNvSpPr txBox="1"/>
          <p:nvPr/>
        </p:nvSpPr>
        <p:spPr>
          <a:xfrm>
            <a:off x="324000" y="3739125"/>
            <a:ext cx="807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0" name="Google Shape;1000;p89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94050" y="1323850"/>
            <a:ext cx="2969160" cy="19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9"/>
          <p:cNvSpPr txBox="1"/>
          <p:nvPr/>
        </p:nvSpPr>
        <p:spPr>
          <a:xfrm>
            <a:off x="1217201" y="1528441"/>
            <a:ext cx="27723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decides which votes are ‘excess’ votes when a candidate reaches the quota?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9"/>
          <p:cNvSpPr txBox="1"/>
          <p:nvPr/>
        </p:nvSpPr>
        <p:spPr>
          <a:xfrm>
            <a:off x="4125350" y="1380150"/>
            <a:ext cx="46947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candidate who received 1000 votes, but only needed 600 to win, would have all of their votes reassigned but each vote has a value of 400 ÷ 1000 = 0.4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9"/>
          <p:cNvSpPr txBox="1"/>
          <p:nvPr/>
        </p:nvSpPr>
        <p:spPr>
          <a:xfrm>
            <a:off x="4125350" y="1380150"/>
            <a:ext cx="46947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two main methods.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Fractional transfers - the excess number is calculated and divided by the number of votes a candidate received.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0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1009" name="Google Shape;1009;p90"/>
          <p:cNvSpPr txBox="1"/>
          <p:nvPr>
            <p:ph type="title"/>
          </p:nvPr>
        </p:nvSpPr>
        <p:spPr>
          <a:xfrm>
            <a:off x="324000" y="809913"/>
            <a:ext cx="81792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lang="en-GB" sz="2000"/>
              <a:t>quota is 18 000 votes and a candidate receives 21 000 votes. Under random selection, how many votes are reassigned?</a:t>
            </a:r>
            <a:endParaRPr sz="2000"/>
          </a:p>
        </p:txBody>
      </p:sp>
      <p:sp>
        <p:nvSpPr>
          <p:cNvPr id="1010" name="Google Shape;1010;p90"/>
          <p:cNvSpPr txBox="1"/>
          <p:nvPr>
            <p:ph idx="1" type="subTitle"/>
          </p:nvPr>
        </p:nvSpPr>
        <p:spPr>
          <a:xfrm>
            <a:off x="1034425" y="1837775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3000</a:t>
            </a:r>
            <a:endParaRPr/>
          </a:p>
        </p:txBody>
      </p:sp>
      <p:sp>
        <p:nvSpPr>
          <p:cNvPr id="1011" name="Google Shape;1011;p90"/>
          <p:cNvSpPr txBox="1"/>
          <p:nvPr>
            <p:ph idx="2" type="subTitle"/>
          </p:nvPr>
        </p:nvSpPr>
        <p:spPr>
          <a:xfrm>
            <a:off x="1034425" y="279424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18 000</a:t>
            </a:r>
            <a:endParaRPr/>
          </a:p>
        </p:txBody>
      </p:sp>
      <p:sp>
        <p:nvSpPr>
          <p:cNvPr id="1012" name="Google Shape;1012;p90"/>
          <p:cNvSpPr txBox="1"/>
          <p:nvPr>
            <p:ph idx="3" type="subTitle"/>
          </p:nvPr>
        </p:nvSpPr>
        <p:spPr>
          <a:xfrm>
            <a:off x="1034425" y="3766965"/>
            <a:ext cx="746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21 000</a:t>
            </a:r>
            <a:endParaRPr/>
          </a:p>
        </p:txBody>
      </p:sp>
      <p:pic>
        <p:nvPicPr>
          <p:cNvPr id="1013" name="Google Shape;101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008" y="1821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91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1019" name="Google Shape;1019;p91"/>
          <p:cNvSpPr txBox="1"/>
          <p:nvPr>
            <p:ph type="title"/>
          </p:nvPr>
        </p:nvSpPr>
        <p:spPr>
          <a:xfrm>
            <a:off x="324000" y="809913"/>
            <a:ext cx="81792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quota is 18 000 votes and a candidate receives 21 000 votes. Under fractional transfers, how much is a reassigned vote worth?</a:t>
            </a:r>
            <a:endParaRPr sz="2000"/>
          </a:p>
        </p:txBody>
      </p:sp>
      <p:sp>
        <p:nvSpPr>
          <p:cNvPr id="1020" name="Google Shape;1020;p91"/>
          <p:cNvSpPr txBox="1"/>
          <p:nvPr>
            <p:ph idx="1" type="subTitle"/>
          </p:nvPr>
        </p:nvSpPr>
        <p:spPr>
          <a:xfrm>
            <a:off x="1034425" y="1837775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0.14… </a:t>
            </a:r>
            <a:endParaRPr/>
          </a:p>
        </p:txBody>
      </p:sp>
      <p:sp>
        <p:nvSpPr>
          <p:cNvPr id="1021" name="Google Shape;1021;p91"/>
          <p:cNvSpPr txBox="1"/>
          <p:nvPr>
            <p:ph idx="2" type="subTitle"/>
          </p:nvPr>
        </p:nvSpPr>
        <p:spPr>
          <a:xfrm>
            <a:off x="1034425" y="279424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0.16… </a:t>
            </a:r>
            <a:endParaRPr/>
          </a:p>
        </p:txBody>
      </p:sp>
      <p:sp>
        <p:nvSpPr>
          <p:cNvPr id="1022" name="Google Shape;1022;p91"/>
          <p:cNvSpPr txBox="1"/>
          <p:nvPr>
            <p:ph idx="3" type="subTitle"/>
          </p:nvPr>
        </p:nvSpPr>
        <p:spPr>
          <a:xfrm>
            <a:off x="1034425" y="3766965"/>
            <a:ext cx="746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0.85… </a:t>
            </a:r>
            <a:endParaRPr/>
          </a:p>
        </p:txBody>
      </p:sp>
      <p:pic>
        <p:nvPicPr>
          <p:cNvPr id="1023" name="Google Shape;102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008" y="1821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92"/>
          <p:cNvSpPr txBox="1"/>
          <p:nvPr>
            <p:ph idx="1" type="body"/>
          </p:nvPr>
        </p:nvSpPr>
        <p:spPr>
          <a:xfrm>
            <a:off x="324000" y="810000"/>
            <a:ext cx="8237700" cy="36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To decide the quota required to be elected, the following formula is used: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Calculate the quota for the following elections: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12 574 votes cast and three seats to be filled.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12 574 votes cast and four seats to be filled.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12 574 votes cast and five seats to be filled.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2) What do you notice about the number of votes required?</a:t>
            </a:r>
            <a:endParaRPr sz="2000"/>
          </a:p>
        </p:txBody>
      </p:sp>
      <p:sp>
        <p:nvSpPr>
          <p:cNvPr id="1029" name="Google Shape;1029;p9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1030" name="Google Shape;1030;p92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500" y="1471800"/>
            <a:ext cx="2007000" cy="5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3"/>
          <p:cNvSpPr txBox="1"/>
          <p:nvPr>
            <p:ph idx="1" type="body"/>
          </p:nvPr>
        </p:nvSpPr>
        <p:spPr>
          <a:xfrm>
            <a:off x="324000" y="810000"/>
            <a:ext cx="82377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</a:t>
            </a:r>
            <a:r>
              <a:rPr lang="en-GB" sz="2000"/>
              <a:t>) 20 000 votes are cast in an election. There are three seats available.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 Calculate the quota required to win a seat.</a:t>
            </a:r>
            <a:endParaRPr sz="2000"/>
          </a:p>
        </p:txBody>
      </p:sp>
      <p:sp>
        <p:nvSpPr>
          <p:cNvPr id="1036" name="Google Shape;1036;p9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graphicFrame>
        <p:nvGraphicFramePr>
          <p:cNvPr id="1037" name="Google Shape;1037;p93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1038" name="Google Shape;1038;p93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8650" y="4096350"/>
            <a:ext cx="2007000" cy="5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4"/>
          <p:cNvSpPr txBox="1"/>
          <p:nvPr>
            <p:ph idx="1" type="body"/>
          </p:nvPr>
        </p:nvSpPr>
        <p:spPr>
          <a:xfrm>
            <a:off x="324000" y="810000"/>
            <a:ext cx="82377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20 000 votes are cast in an election. There are three seats available.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 Based on the first vote, who has already won a seat?</a:t>
            </a:r>
            <a:endParaRPr sz="2000"/>
          </a:p>
        </p:txBody>
      </p:sp>
      <p:sp>
        <p:nvSpPr>
          <p:cNvPr id="1044" name="Google Shape;1044;p9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graphicFrame>
        <p:nvGraphicFramePr>
          <p:cNvPr id="1045" name="Google Shape;1045;p94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95"/>
          <p:cNvSpPr txBox="1"/>
          <p:nvPr>
            <p:ph idx="1" type="body"/>
          </p:nvPr>
        </p:nvSpPr>
        <p:spPr>
          <a:xfrm>
            <a:off x="324000" y="810000"/>
            <a:ext cx="8237700" cy="39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20 000 votes are cast in an election. There are three seats available.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c) Assign all excess votes from any successful candidate(s) to the candidate(s) who were the most popular second vote. </a:t>
            </a:r>
            <a:endParaRPr sz="2000"/>
          </a:p>
        </p:txBody>
      </p:sp>
      <p:sp>
        <p:nvSpPr>
          <p:cNvPr id="1051" name="Google Shape;1051;p9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graphicFrame>
        <p:nvGraphicFramePr>
          <p:cNvPr id="1052" name="Google Shape;1052;p95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6"/>
          <p:cNvSpPr txBox="1"/>
          <p:nvPr>
            <p:ph idx="1" type="body"/>
          </p:nvPr>
        </p:nvSpPr>
        <p:spPr>
          <a:xfrm>
            <a:off x="324000" y="810000"/>
            <a:ext cx="82377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20 000 votes are cast in an election. There are three seats available.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d) Who has won the final seat?</a:t>
            </a:r>
            <a:endParaRPr sz="2000"/>
          </a:p>
        </p:txBody>
      </p:sp>
      <p:sp>
        <p:nvSpPr>
          <p:cNvPr id="1058" name="Google Shape;1058;p9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graphicFrame>
        <p:nvGraphicFramePr>
          <p:cNvPr id="1059" name="Google Shape;1059;p96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97"/>
          <p:cNvSpPr txBox="1"/>
          <p:nvPr>
            <p:ph idx="1" type="body"/>
          </p:nvPr>
        </p:nvSpPr>
        <p:spPr>
          <a:xfrm>
            <a:off x="324000" y="810000"/>
            <a:ext cx="8237700" cy="36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To decide the quota required to be elected, the following formula is used: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Calculate the quota for the following elections: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12 574 votes cast and three seats to be filled.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3145 votes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12 574 votes cast and four seats to be filled.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2516 votes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12 574 votes cast and five seats to be filled.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2097 votes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2) What do you notice about the number of votes required?</a:t>
            </a:r>
            <a:endParaRPr sz="2000"/>
          </a:p>
        </p:txBody>
      </p:sp>
      <p:sp>
        <p:nvSpPr>
          <p:cNvPr id="1065" name="Google Shape;1065;p9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1066" name="Google Shape;1066;p97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500" y="1471800"/>
            <a:ext cx="2007000" cy="5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98"/>
          <p:cNvSpPr txBox="1"/>
          <p:nvPr>
            <p:ph idx="1" type="body"/>
          </p:nvPr>
        </p:nvSpPr>
        <p:spPr>
          <a:xfrm>
            <a:off x="324000" y="810000"/>
            <a:ext cx="8237700" cy="30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12 574 votes cast and three seats to be filled.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3145 votes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12 574 votes cast and four seats to be filled.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2516 votes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12 574 votes cast and five seats to be filled.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2097 votes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2) What do you notice about the number of votes required?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 the number of seats available increases, the number of votes required to reach the quota (get elected) decreases.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9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99"/>
          <p:cNvSpPr txBox="1"/>
          <p:nvPr>
            <p:ph idx="1" type="body"/>
          </p:nvPr>
        </p:nvSpPr>
        <p:spPr>
          <a:xfrm>
            <a:off x="324000" y="810000"/>
            <a:ext cx="8237700" cy="4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20 000 votes are cast in an election. There are three seats available.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Calculate the quota required to win a seat.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5001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9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graphicFrame>
        <p:nvGraphicFramePr>
          <p:cNvPr id="1079" name="Google Shape;1079;p99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1080" name="Google Shape;1080;p99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8650" y="4096350"/>
            <a:ext cx="2007000" cy="5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00"/>
          <p:cNvSpPr txBox="1"/>
          <p:nvPr>
            <p:ph idx="1" type="body"/>
          </p:nvPr>
        </p:nvSpPr>
        <p:spPr>
          <a:xfrm>
            <a:off x="324000" y="810000"/>
            <a:ext cx="8237700" cy="4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20 000 votes are cast in an election. There are three seats available.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Based on the first vote, who has already won a seat?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Candidates A and B have both won seats as their vote total is over 5001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6" name="Google Shape;1086;p10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graphicFrame>
        <p:nvGraphicFramePr>
          <p:cNvPr id="1087" name="Google Shape;1087;p100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01"/>
          <p:cNvSpPr txBox="1"/>
          <p:nvPr>
            <p:ph idx="1" type="body"/>
          </p:nvPr>
        </p:nvSpPr>
        <p:spPr>
          <a:xfrm>
            <a:off x="324000" y="810000"/>
            <a:ext cx="8237700" cy="39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20 000 votes are cast in an election. There are three seats available.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c) Assign all excess votes from any successful candidate(s) to the candidate(s) who were the most popular second vote.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 = 4723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3" name="Google Shape;1093;p10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graphicFrame>
        <p:nvGraphicFramePr>
          <p:cNvPr id="1094" name="Google Shape;1094;p101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Excess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02"/>
          <p:cNvSpPr txBox="1"/>
          <p:nvPr>
            <p:ph idx="1" type="body"/>
          </p:nvPr>
        </p:nvSpPr>
        <p:spPr>
          <a:xfrm>
            <a:off x="324000" y="810000"/>
            <a:ext cx="8237700" cy="4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20 000 votes are cast in an election. There are three seats available.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Who has won the final seat?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Candidate E has won the final seat as C would now be eliminated.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10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graphicFrame>
        <p:nvGraphicFramePr>
          <p:cNvPr id="1101" name="Google Shape;1101;p102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</a:t>
                      </a: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5813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</a:t>
                      </a: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7820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</a:t>
                      </a: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1092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4723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pic>
        <p:nvPicPr>
          <p:cNvPr id="1102" name="Google Shape;110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001" y="2001000"/>
            <a:ext cx="360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001" y="2382000"/>
            <a:ext cx="360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001" y="3601200"/>
            <a:ext cx="360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03"/>
          <p:cNvSpPr txBox="1"/>
          <p:nvPr>
            <p:ph type="title"/>
          </p:nvPr>
        </p:nvSpPr>
        <p:spPr>
          <a:xfrm>
            <a:off x="1225225" y="2090813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Transferable Vote (STV)</a:t>
            </a:r>
            <a:endParaRPr/>
          </a:p>
        </p:txBody>
      </p:sp>
      <p:sp>
        <p:nvSpPr>
          <p:cNvPr id="1110" name="Google Shape;1110;p103"/>
          <p:cNvSpPr txBox="1"/>
          <p:nvPr>
            <p:ph idx="2" type="title"/>
          </p:nvPr>
        </p:nvSpPr>
        <p:spPr>
          <a:xfrm>
            <a:off x="1225225" y="3027088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 </a:t>
            </a:r>
            <a:endParaRPr/>
          </a:p>
        </p:txBody>
      </p:sp>
      <p:sp>
        <p:nvSpPr>
          <p:cNvPr id="1111" name="Google Shape;1111;p103"/>
          <p:cNvSpPr txBox="1"/>
          <p:nvPr>
            <p:ph idx="3" type="title"/>
          </p:nvPr>
        </p:nvSpPr>
        <p:spPr>
          <a:xfrm>
            <a:off x="324000" y="657600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systems</a:t>
            </a:r>
            <a:endParaRPr/>
          </a:p>
        </p:txBody>
      </p:sp>
      <p:pic>
        <p:nvPicPr>
          <p:cNvPr id="1112" name="Google Shape;111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64" y="298930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0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sp>
        <p:nvSpPr>
          <p:cNvPr id="1118" name="Google Shape;1118;p104"/>
          <p:cNvSpPr txBox="1"/>
          <p:nvPr>
            <p:ph idx="1" type="body"/>
          </p:nvPr>
        </p:nvSpPr>
        <p:spPr>
          <a:xfrm>
            <a:off x="324000" y="810000"/>
            <a:ext cx="8237700" cy="25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the </a:t>
            </a:r>
            <a:r>
              <a:rPr b="1" lang="en-GB"/>
              <a:t>Alternative Vote</a:t>
            </a:r>
            <a:r>
              <a:rPr lang="en-GB"/>
              <a:t> (</a:t>
            </a:r>
            <a:r>
              <a:rPr b="1" lang="en-GB"/>
              <a:t>AV</a:t>
            </a:r>
            <a:r>
              <a:rPr lang="en-GB"/>
              <a:t>), your constituency gets an MP the majority support.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Voters put a number by each candidate (one for their first choice, two for their second choice etc). They can assign a </a:t>
            </a:r>
            <a:r>
              <a:rPr lang="en-GB"/>
              <a:t>number</a:t>
            </a:r>
            <a:r>
              <a:rPr lang="en-GB"/>
              <a:t> to every candidate or just some.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0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sp>
        <p:nvSpPr>
          <p:cNvPr id="1124" name="Google Shape;1124;p105"/>
          <p:cNvSpPr txBox="1"/>
          <p:nvPr>
            <p:ph idx="1" type="body"/>
          </p:nvPr>
        </p:nvSpPr>
        <p:spPr>
          <a:xfrm>
            <a:off x="324000" y="810000"/>
            <a:ext cx="82377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more than half of the voters have the same favourite </a:t>
            </a:r>
            <a:r>
              <a:rPr lang="en-GB"/>
              <a:t>candidate, that person gets elected.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no candidate has more than half the vote, the candidate with the fewest votes is removed and their votes are reassigned, based on voters’ second choice.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This process is repeated until a candidate is elected.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06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sp>
        <p:nvSpPr>
          <p:cNvPr id="1130" name="Google Shape;1130;p106"/>
          <p:cNvSpPr txBox="1"/>
          <p:nvPr>
            <p:ph idx="1" type="subTitle"/>
          </p:nvPr>
        </p:nvSpPr>
        <p:spPr>
          <a:xfrm>
            <a:off x="1034425" y="1837775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36 672</a:t>
            </a:r>
            <a:endParaRPr/>
          </a:p>
        </p:txBody>
      </p:sp>
      <p:sp>
        <p:nvSpPr>
          <p:cNvPr id="1131" name="Google Shape;1131;p106"/>
          <p:cNvSpPr txBox="1"/>
          <p:nvPr>
            <p:ph idx="2" type="subTitle"/>
          </p:nvPr>
        </p:nvSpPr>
        <p:spPr>
          <a:xfrm>
            <a:off x="1034425" y="279424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36 673</a:t>
            </a:r>
            <a:endParaRPr/>
          </a:p>
        </p:txBody>
      </p:sp>
      <p:sp>
        <p:nvSpPr>
          <p:cNvPr id="1132" name="Google Shape;1132;p106"/>
          <p:cNvSpPr txBox="1"/>
          <p:nvPr>
            <p:ph idx="3" type="subTitle"/>
          </p:nvPr>
        </p:nvSpPr>
        <p:spPr>
          <a:xfrm>
            <a:off x="1034425" y="3766965"/>
            <a:ext cx="746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73 345</a:t>
            </a:r>
            <a:endParaRPr/>
          </a:p>
        </p:txBody>
      </p:sp>
      <p:sp>
        <p:nvSpPr>
          <p:cNvPr id="1133" name="Google Shape;1133;p106"/>
          <p:cNvSpPr txBox="1"/>
          <p:nvPr>
            <p:ph idx="4" type="title"/>
          </p:nvPr>
        </p:nvSpPr>
        <p:spPr>
          <a:xfrm>
            <a:off x="324000" y="809913"/>
            <a:ext cx="8179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73 345 votes are cast. Under the </a:t>
            </a:r>
            <a:r>
              <a:rPr b="1" lang="en-GB" sz="2000"/>
              <a:t>AV</a:t>
            </a:r>
            <a:r>
              <a:rPr lang="en-GB" sz="2000"/>
              <a:t> system, how many votes does a candidate need in order to win?</a:t>
            </a:r>
            <a:endParaRPr/>
          </a:p>
        </p:txBody>
      </p:sp>
      <p:pic>
        <p:nvPicPr>
          <p:cNvPr id="1134" name="Google Shape;113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808" y="27621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0-09-2024/3bba4c54-18e1-4c33-84f5-fc2489f75a45&quot; data-equatio-type=&quot;desmos&quot;&gt;&lt;mglyph src=&quot;https://equatio-api.texthelp.com/desmos/get/20-09-2024/3bba4c54-18e1-4c33-84f5-fc2489f75a45&quot; alt=&quot;Equatio Desmos Graph&quot;/&gt;&lt;/math&gt;" id="1139" name="Google Shape;1139;p10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41700"/>
            <a:ext cx="4371600" cy="3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107"/>
          <p:cNvSpPr txBox="1"/>
          <p:nvPr>
            <p:ph idx="1" type="body"/>
          </p:nvPr>
        </p:nvSpPr>
        <p:spPr>
          <a:xfrm>
            <a:off x="324000" y="810000"/>
            <a:ext cx="8237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73 345 votes are cast. The horizontal line shows the number of votes required to win.</a:t>
            </a:r>
            <a:endParaRPr sz="2000">
              <a:solidFill>
                <a:srgbClr val="3D4346"/>
              </a:solidFill>
              <a:highlight>
                <a:srgbClr val="FFFFFF"/>
              </a:highlight>
            </a:endParaRPr>
          </a:p>
        </p:txBody>
      </p:sp>
      <p:sp>
        <p:nvSpPr>
          <p:cNvPr id="1141" name="Google Shape;1141;p107"/>
          <p:cNvSpPr txBox="1"/>
          <p:nvPr/>
        </p:nvSpPr>
        <p:spPr>
          <a:xfrm>
            <a:off x="4819200" y="1546075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removed from the election and has their votes reassigned?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107"/>
          <p:cNvSpPr txBox="1"/>
          <p:nvPr/>
        </p:nvSpPr>
        <p:spPr>
          <a:xfrm>
            <a:off x="4824000" y="26970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 G is removed and their votes are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reassigned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43" name="Google Shape;1143;p107"/>
          <p:cNvCxnSpPr/>
          <p:nvPr/>
        </p:nvCxnSpPr>
        <p:spPr>
          <a:xfrm>
            <a:off x="323950" y="1893763"/>
            <a:ext cx="4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4" name="Google Shape;1144;p107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0-09-2024/13f383df-51bd-4ba3-b568-da095faccd34&quot; data-equatio-type=&quot;desmos&quot;&gt;&lt;mglyph src=&quot;https://equatio-api.texthelp.com/desmos/get/20-09-2024/13f383df-51bd-4ba3-b568-da095faccd34&quot; alt=&quot;Equatio Desmos Graph&quot;/&gt;&lt;/math&gt;" id="1149" name="Google Shape;1149;p10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50" y="1541700"/>
            <a:ext cx="4371600" cy="3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108"/>
          <p:cNvSpPr txBox="1"/>
          <p:nvPr>
            <p:ph idx="1" type="body"/>
          </p:nvPr>
        </p:nvSpPr>
        <p:spPr>
          <a:xfrm>
            <a:off x="324000" y="810000"/>
            <a:ext cx="8237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73 345 votes are cast. The horizontal line shows the number of votes required to win.</a:t>
            </a:r>
            <a:endParaRPr sz="2000">
              <a:solidFill>
                <a:srgbClr val="3D4346"/>
              </a:solidFill>
              <a:highlight>
                <a:srgbClr val="FFFFFF"/>
              </a:highlight>
            </a:endParaRPr>
          </a:p>
        </p:txBody>
      </p:sp>
      <p:sp>
        <p:nvSpPr>
          <p:cNvPr id="1151" name="Google Shape;1151;p108"/>
          <p:cNvSpPr txBox="1"/>
          <p:nvPr/>
        </p:nvSpPr>
        <p:spPr>
          <a:xfrm>
            <a:off x="4819200" y="1546075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we have a winner?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do you think will be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eliminated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next?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108"/>
          <p:cNvSpPr txBox="1"/>
          <p:nvPr/>
        </p:nvSpPr>
        <p:spPr>
          <a:xfrm>
            <a:off x="4824000" y="23160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- candidate F is now eliminated and their votes reassigned.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53" name="Google Shape;1153;p108"/>
          <p:cNvCxnSpPr/>
          <p:nvPr/>
        </p:nvCxnSpPr>
        <p:spPr>
          <a:xfrm>
            <a:off x="323950" y="1893763"/>
            <a:ext cx="4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4" name="Google Shape;1154;p108"/>
          <p:cNvSpPr txBox="1"/>
          <p:nvPr/>
        </p:nvSpPr>
        <p:spPr>
          <a:xfrm>
            <a:off x="4824000" y="41250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Either D or E depending on where F’s reassigned votes go.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5" name="Google Shape;1155;p108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0-09-2024/05d21d46-e45c-4d79-9263-993f90c9df1a&quot; data-equatio-type=&quot;desmos&quot;&gt;&lt;mglyph src=&quot;https://equatio-api.texthelp.com/desmos/get/20-09-2024/05d21d46-e45c-4d79-9263-993f90c9df1a&quot; alt=&quot;Equatio Desmos Graph&quot;/&gt;&lt;/math&gt;" id="1160" name="Google Shape;1160;p10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50" y="1541700"/>
            <a:ext cx="4371600" cy="3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09"/>
          <p:cNvSpPr txBox="1"/>
          <p:nvPr>
            <p:ph idx="1" type="body"/>
          </p:nvPr>
        </p:nvSpPr>
        <p:spPr>
          <a:xfrm>
            <a:off x="324000" y="810000"/>
            <a:ext cx="8237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73 345 votes are cast. The horizontal line shows the number of votes required to win.</a:t>
            </a:r>
            <a:endParaRPr sz="2000">
              <a:solidFill>
                <a:srgbClr val="3D4346"/>
              </a:solidFill>
              <a:highlight>
                <a:srgbClr val="FFFFFF"/>
              </a:highlight>
            </a:endParaRPr>
          </a:p>
        </p:txBody>
      </p:sp>
      <p:sp>
        <p:nvSpPr>
          <p:cNvPr id="1162" name="Google Shape;1162;p109"/>
          <p:cNvSpPr txBox="1"/>
          <p:nvPr/>
        </p:nvSpPr>
        <p:spPr>
          <a:xfrm>
            <a:off x="4819200" y="1546075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After F’s votes were reassigned, another candidate was eliminated. Which candidate was it?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has won the election?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109"/>
          <p:cNvSpPr txBox="1"/>
          <p:nvPr/>
        </p:nvSpPr>
        <p:spPr>
          <a:xfrm>
            <a:off x="4824000" y="29256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 - they have no votes so these must have been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reassigned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64" name="Google Shape;1164;p109"/>
          <p:cNvCxnSpPr/>
          <p:nvPr/>
        </p:nvCxnSpPr>
        <p:spPr>
          <a:xfrm>
            <a:off x="323950" y="1893763"/>
            <a:ext cx="4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5" name="Google Shape;1165;p109"/>
          <p:cNvSpPr txBox="1"/>
          <p:nvPr/>
        </p:nvSpPr>
        <p:spPr>
          <a:xfrm>
            <a:off x="4824000" y="4125000"/>
            <a:ext cx="4000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 A has won the election.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109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10"/>
          <p:cNvSpPr txBox="1"/>
          <p:nvPr>
            <p:ph idx="1" type="body"/>
          </p:nvPr>
        </p:nvSpPr>
        <p:spPr>
          <a:xfrm>
            <a:off x="324000" y="810000"/>
            <a:ext cx="8237700" cy="4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</a:t>
            </a:r>
            <a:r>
              <a:rPr lang="en-GB" sz="2000"/>
              <a:t>) 20 000 votes are cast in an election.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How many votes are required to win the seat?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2" name="Google Shape;1172;p11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graphicFrame>
        <p:nvGraphicFramePr>
          <p:cNvPr id="1173" name="Google Shape;1173;p110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11"/>
          <p:cNvSpPr txBox="1"/>
          <p:nvPr>
            <p:ph idx="1" type="body"/>
          </p:nvPr>
        </p:nvSpPr>
        <p:spPr>
          <a:xfrm>
            <a:off x="324000" y="810000"/>
            <a:ext cx="8237700" cy="39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</a:t>
            </a:r>
            <a:r>
              <a:rPr lang="en-GB" sz="2000"/>
              <a:t>) </a:t>
            </a:r>
            <a:r>
              <a:rPr lang="en-GB" sz="2000"/>
              <a:t>20 000 votes are cast in an election.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 Since no one has over half the vote, which candidate is eliminated?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11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graphicFrame>
        <p:nvGraphicFramePr>
          <p:cNvPr id="1180" name="Google Shape;1180;p111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12"/>
          <p:cNvSpPr txBox="1"/>
          <p:nvPr>
            <p:ph idx="1" type="body"/>
          </p:nvPr>
        </p:nvSpPr>
        <p:spPr>
          <a:xfrm>
            <a:off x="324000" y="810000"/>
            <a:ext cx="8237700" cy="4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20 000 votes are cast in an election.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Assign the votes accordingly and produce an updated table.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d) Which candidate(s) can win the election? Justify your answer.</a:t>
            </a:r>
            <a:endParaRPr sz="2000"/>
          </a:p>
        </p:txBody>
      </p:sp>
      <p:sp>
        <p:nvSpPr>
          <p:cNvPr id="1186" name="Google Shape;1186;p11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graphicFrame>
        <p:nvGraphicFramePr>
          <p:cNvPr id="1187" name="Google Shape;1187;p112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13"/>
          <p:cNvSpPr txBox="1"/>
          <p:nvPr>
            <p:ph idx="1" type="body"/>
          </p:nvPr>
        </p:nvSpPr>
        <p:spPr>
          <a:xfrm>
            <a:off x="324000" y="810000"/>
            <a:ext cx="8237700" cy="4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20 000 votes are cast in an election.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How many votes are required to win the seat?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Over 10 000 (10 001 or more votes.)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3" name="Google Shape;1193;p11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graphicFrame>
        <p:nvGraphicFramePr>
          <p:cNvPr id="1194" name="Google Shape;1194;p113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14"/>
          <p:cNvSpPr txBox="1"/>
          <p:nvPr>
            <p:ph idx="1" type="body"/>
          </p:nvPr>
        </p:nvSpPr>
        <p:spPr>
          <a:xfrm>
            <a:off x="324000" y="810000"/>
            <a:ext cx="8237700" cy="39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20 000 votes are cast in an election.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 Since no one has over half the vote, which candidate is eliminated?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Candidate 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11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graphicFrame>
        <p:nvGraphicFramePr>
          <p:cNvPr id="1201" name="Google Shape;1201;p114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15"/>
          <p:cNvSpPr txBox="1"/>
          <p:nvPr>
            <p:ph idx="1" type="body"/>
          </p:nvPr>
        </p:nvSpPr>
        <p:spPr>
          <a:xfrm>
            <a:off x="324000" y="810000"/>
            <a:ext cx="8237700" cy="11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20 000 votes are cast in an election.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c) Assign the votes accordingly and produce an updated table.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7" name="Google Shape;1207;p11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graphicFrame>
        <p:nvGraphicFramePr>
          <p:cNvPr id="1208" name="Google Shape;1208;p115"/>
          <p:cNvGraphicFramePr/>
          <p:nvPr/>
        </p:nvGraphicFramePr>
        <p:xfrm>
          <a:off x="324000" y="215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Vote count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6228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8137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1560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4075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16"/>
          <p:cNvSpPr txBox="1"/>
          <p:nvPr>
            <p:ph idx="1" type="body"/>
          </p:nvPr>
        </p:nvSpPr>
        <p:spPr>
          <a:xfrm>
            <a:off x="324000" y="810000"/>
            <a:ext cx="8237700" cy="11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20 000 votes are cast in an election. Here is a table showing the breakdown of the votes.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d) Which candidate(s) can win the election? Justify your answer.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4" name="Google Shape;1214;p11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Vote (AV)</a:t>
            </a:r>
            <a:endParaRPr/>
          </a:p>
        </p:txBody>
      </p:sp>
      <p:graphicFrame>
        <p:nvGraphicFramePr>
          <p:cNvPr id="1215" name="Google Shape;1215;p116"/>
          <p:cNvGraphicFramePr/>
          <p:nvPr/>
        </p:nvGraphicFramePr>
        <p:xfrm>
          <a:off x="324000" y="215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{6916AF26-0ECD-42D7-B624-AC0D9C54A601}</a:tableStyleId>
              </a:tblPr>
              <a:tblGrid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Vote count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6228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8137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1560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4075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216" name="Google Shape;1216;p116"/>
          <p:cNvSpPr txBox="1"/>
          <p:nvPr/>
        </p:nvSpPr>
        <p:spPr>
          <a:xfrm>
            <a:off x="1905325" y="2153400"/>
            <a:ext cx="69147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the next round, candidate C will be eliminated.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 if all their votes go to candidate D, candidate D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would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only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have 5635 votes, which means they would be eliminated next.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Depending on where the votes from eliminated candidates go, either A or B could still win.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17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systems</a:t>
            </a:r>
            <a:endParaRPr/>
          </a:p>
        </p:txBody>
      </p:sp>
      <p:sp>
        <p:nvSpPr>
          <p:cNvPr id="1222" name="Google Shape;1222;p117"/>
          <p:cNvSpPr txBox="1"/>
          <p:nvPr>
            <p:ph idx="1" type="body"/>
          </p:nvPr>
        </p:nvSpPr>
        <p:spPr>
          <a:xfrm>
            <a:off x="324000" y="810000"/>
            <a:ext cx="82377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the </a:t>
            </a:r>
            <a:r>
              <a:rPr b="1" lang="en-GB"/>
              <a:t>Single Transferable Vote</a:t>
            </a:r>
            <a:r>
              <a:rPr lang="en-GB"/>
              <a:t> (</a:t>
            </a:r>
            <a:r>
              <a:rPr b="1" lang="en-GB"/>
              <a:t>STV</a:t>
            </a:r>
            <a:r>
              <a:rPr lang="en-GB"/>
              <a:t>), the opinions in parliament match the strength of support in the country.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With the </a:t>
            </a:r>
            <a:r>
              <a:rPr b="1" lang="en-GB"/>
              <a:t>Alternative Vote</a:t>
            </a:r>
            <a:r>
              <a:rPr lang="en-GB"/>
              <a:t> (</a:t>
            </a:r>
            <a:r>
              <a:rPr b="1" lang="en-GB"/>
              <a:t>AV</a:t>
            </a:r>
            <a:r>
              <a:rPr lang="en-GB"/>
              <a:t>), your constituency gets an MP the majority support.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18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28" name="Google Shape;1228;p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