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8" r:id="rId4"/>
  </p:sldMasterIdLst>
  <p:notesMasterIdLst>
    <p:notesMasterId r:id="rId5"/>
  </p:notesMasterIdLst>
  <p:sldIdLst>
    <p:sldId id="256" r:id="rId6"/>
    <p:sldId id="257" r:id="rId7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25FD532-6FBE-48C0-AB63-90C8154A590F}">
  <a:tblStyle styleId="{125FD532-6FBE-48C0-AB63-90C8154A590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Relationship Id="rId7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Relationship Id="rId7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Relationship Id="rId7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" name="Google Shape;1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" name="Google Shape;17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" name="Google Shape;26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" name="Google Shape;30;p4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" name="Google Shape;31;p4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2" name="Google Shape;32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7" name="Google Shape;37;p5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" name="Google Shape;38;p5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9" name="Google Shape;39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" name="Google Shape;41;p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2" name="Google Shape;42;p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3" name="Google Shape;43;p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4" name="Google Shape;44;p5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6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8" name="Google Shape;48;p6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6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" name="Google Shape;53;p6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4" name="Google Shape;54;p6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5" name="Google Shape;55;p6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6" name="Google Shape;56;p6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7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1" name="Google Shape;61;p7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2" name="Google Shape;62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7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4" name="Google Shape;64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7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" name="Google Shape;66;p7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7" name="Google Shape;67;p7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8" name="Google Shape;68;p7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9" name="Google Shape;69;p7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0" name="Google Shape;70;p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4" name="Google Shape;74;p8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5" name="Google Shape;75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8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7" name="Google Shape;77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9" name="Google Shape;79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3" name="Google Shape;83;p9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4" name="Google Shape;84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" name="Google Shape;86;p9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0" name="Google Shape;90;p10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1" name="Google Shape;91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0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0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4" name="Google Shape;94;p10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5" name="Google Shape;95;p10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0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0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1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1" name="Google Shape;101;p11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2" name="Google Shape;10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1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4" name="Google Shape;104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1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1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7" name="Google Shape;107;p11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1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9" name="Google Shape;109;p11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0" name="Google Shape;110;p1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16" name="Google Shape;116;p12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Voting systems</a:t>
            </a:r>
            <a:endParaRPr/>
          </a:p>
        </p:txBody>
      </p:sp>
      <p:sp>
        <p:nvSpPr>
          <p:cNvPr id="117" name="Google Shape;117;p12"/>
          <p:cNvSpPr txBox="1"/>
          <p:nvPr/>
        </p:nvSpPr>
        <p:spPr>
          <a:xfrm>
            <a:off x="468000" y="1672110"/>
            <a:ext cx="6624000" cy="28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1) To decide the quota required to be elected, the following formula is used: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Calculate the quota for the following elections: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a) 12 574 votes cast and three seats to be filled.     </a:t>
            </a: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3145 votes</a:t>
            </a:r>
            <a:endParaRPr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b) 12 574 votes cast and four seats to be filled.       </a:t>
            </a: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2516 votes</a:t>
            </a:r>
            <a:endParaRPr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c) 12 574 votes cast and five seats to be filled.        </a:t>
            </a: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2097 votes</a:t>
            </a:r>
            <a:endParaRPr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2) What do you notice about the number of votes required?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As the number of seats available increases, the number of votes required to reach the quota (get elected) decreases.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2"/>
          <p:cNvSpPr txBox="1"/>
          <p:nvPr/>
        </p:nvSpPr>
        <p:spPr>
          <a:xfrm>
            <a:off x="468000" y="1367325"/>
            <a:ext cx="552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Single Transferable Vote (STV)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\text{total votes}}{\text{total seats}\ +1}+1&quot;&gt;&lt;mfrac&gt;&lt;mtext&gt;total votes&lt;/mtext&gt;&lt;mrow&gt;&lt;mtext&gt;total seats&lt;/mtext&gt;&lt;mtext&gt;&lt;/mtext&gt;&lt;mo&gt;+&lt;/mo&gt;&lt;mn&gt;1&lt;/mn&gt;&lt;/mrow&gt;&lt;/mfrac&gt;&lt;mo&gt;+&lt;/mo&gt;&lt;mn&gt;1&lt;/mn&gt;&lt;/math&gt;" id="119" name="Google Shape;119;p12" title="the fraction with numerator total votes and denominator total seats positive 1 plus 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58051" y="1897325"/>
            <a:ext cx="1347700" cy="375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2"/>
          <p:cNvSpPr txBox="1"/>
          <p:nvPr/>
        </p:nvSpPr>
        <p:spPr>
          <a:xfrm>
            <a:off x="468000" y="4597786"/>
            <a:ext cx="6624000" cy="53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3) 20 000 votes are cast in an election. There are three seats available. Here is a table showing the breakdown of the votes.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a) Calculate the quota required to win a seat.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   5001</a:t>
            </a:r>
            <a:endParaRPr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Based on the first vote, who has already won a seat?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Candidates A and B have both won seats as their vote total is over 5001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Assign all excess votes from any successful candidate(s) to the candidate(s) who were the most popular second vote.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 = 4723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 Who has won the final seat? 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Candidate E has won the final seat as C would now be eliminated.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21" name="Google Shape;121;p12"/>
          <p:cNvGraphicFramePr/>
          <p:nvPr/>
        </p:nvGraphicFramePr>
        <p:xfrm>
          <a:off x="468000" y="51791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{125FD532-6FBE-48C0-AB63-90C8154A590F}</a:tableStyleId>
              </a:tblPr>
              <a:tblGrid>
                <a:gridCol w="1324800"/>
                <a:gridCol w="1324800"/>
                <a:gridCol w="1324800"/>
                <a:gridCol w="1324800"/>
                <a:gridCol w="1324800"/>
              </a:tblGrid>
              <a:tr h="348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First vote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Second vote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 hMerge="1"/>
                <a:tc hMerge="1"/>
                <a:tc hMerge="1"/>
              </a:tr>
              <a:tr h="34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A: 5813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B: 462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C: 1068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D: 1767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E: 2516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4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B: 7820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A: 1564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C: 2737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D: 539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E: 2980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411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C: 1292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A: 259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B: 543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D: 87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E: 403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4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D: 3983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A: 112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B: 92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C: 2350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E: 1429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4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E: 1092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A: 415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B: 317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C: 268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D: 92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\text{total votes}}{\text{total seats}\ +1}+1&quot;&gt;&lt;mfrac&gt;&lt;mtext&gt;total votes&lt;/mtext&gt;&lt;mrow&gt;&lt;mtext&gt;total seats&lt;/mtext&gt;&lt;mtext&gt;&lt;/mtext&gt;&lt;mo&gt;+&lt;/mo&gt;&lt;mn&gt;1&lt;/mn&gt;&lt;/mrow&gt;&lt;/mfrac&gt;&lt;mo&gt;+&lt;/mo&gt;&lt;mn&gt;1&lt;/mn&gt;&lt;/math&gt;" id="122" name="Google Shape;122;p12" title="the fraction with numerator total votes and denominator total seats positive 1 plus 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0724" y="7466824"/>
            <a:ext cx="1347714" cy="375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3" name="Google Shape;123;p12"/>
          <p:cNvCxnSpPr/>
          <p:nvPr/>
        </p:nvCxnSpPr>
        <p:spPr>
          <a:xfrm>
            <a:off x="474751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Voting systems</a:t>
            </a:r>
            <a:endParaRPr/>
          </a:p>
        </p:txBody>
      </p:sp>
      <p:sp>
        <p:nvSpPr>
          <p:cNvPr id="130" name="Google Shape;13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31" name="Google Shape;131;p13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v2.4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" name="Google Shape;132;p13"/>
          <p:cNvSpPr txBox="1"/>
          <p:nvPr/>
        </p:nvSpPr>
        <p:spPr>
          <a:xfrm>
            <a:off x="468000" y="1024785"/>
            <a:ext cx="6624000" cy="77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1) 20 000 votes are cast in an election. Here is a table showing the breakdown of the votes.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a) How many votes are required to win the seat?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   Over 10 000 (10 001 or more votes.)</a:t>
            </a:r>
            <a:endParaRPr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Since no one has over half the vote, which candidate is eliminated? 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 Candidate E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Assign the votes accordingly and produce an updated table.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 Which candidate(s) can win the election? Justify your answer.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In the next round, candidate C will be eliminated.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Even if all their votes go to candidate D, candidate D would only have 5635 votes, which means they would be eliminated next.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Depending on where the votes from eliminated candidates go, either A or B could still win.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" name="Google Shape;133;p13"/>
          <p:cNvSpPr txBox="1"/>
          <p:nvPr/>
        </p:nvSpPr>
        <p:spPr>
          <a:xfrm>
            <a:off x="468002" y="720000"/>
            <a:ext cx="552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Alternative Vote (AV)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34" name="Google Shape;134;p13"/>
          <p:cNvGraphicFramePr/>
          <p:nvPr/>
        </p:nvGraphicFramePr>
        <p:xfrm>
          <a:off x="468000" y="1507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{125FD532-6FBE-48C0-AB63-90C8154A590F}</a:tableStyleId>
              </a:tblPr>
              <a:tblGrid>
                <a:gridCol w="1324800"/>
                <a:gridCol w="1324800"/>
                <a:gridCol w="1324800"/>
                <a:gridCol w="1324800"/>
                <a:gridCol w="1324800"/>
              </a:tblGrid>
              <a:tr h="348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First vote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Second vote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 hMerge="1"/>
                <a:tc hMerge="1"/>
                <a:tc hMerge="1"/>
              </a:tr>
              <a:tr h="34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A: 5813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B: 462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C: 1068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D: 1767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E: 2516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4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B: 7820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A: 1564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C: 2737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D: 539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E: 2980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411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C: 1292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A: 259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B: 543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D: 87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E: 403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4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D: 3983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A: 112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B: 92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C: 2350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E: 1429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4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E: 1092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A: 415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B: 317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C: 268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D: 92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</a:tbl>
          </a:graphicData>
        </a:graphic>
      </p:graphicFrame>
      <p:graphicFrame>
        <p:nvGraphicFramePr>
          <p:cNvPr id="135" name="Google Shape;135;p13"/>
          <p:cNvGraphicFramePr/>
          <p:nvPr/>
        </p:nvGraphicFramePr>
        <p:xfrm>
          <a:off x="468000" y="5599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{125FD532-6FBE-48C0-AB63-90C8154A590F}</a:tableStyleId>
              </a:tblPr>
              <a:tblGrid>
                <a:gridCol w="1068775"/>
              </a:tblGrid>
              <a:tr h="281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Vote count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81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A: 6228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81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B: 8137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32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C: 1560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81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D: 4075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Answers Sep 2024 v2">
  <a:themeElements>
    <a:clrScheme name="Simple Light">
      <a:dk1>
        <a:srgbClr val="222222"/>
      </a:dk1>
      <a:lt1>
        <a:srgbClr val="FFFFFF"/>
      </a:lt1>
      <a:dk2>
        <a:srgbClr val="808080"/>
      </a:dk2>
      <a:lt2>
        <a:srgbClr val="F2F2F2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287C34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