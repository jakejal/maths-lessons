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8" r:id="rId4"/>
  </p:sldMasterIdLst>
  <p:notesMasterIdLst>
    <p:notesMasterId r:id="rId5"/>
  </p:notesMasterIdLst>
  <p:sldIdLst>
    <p:sldId id="256" r:id="rId6"/>
    <p:sldId id="257" r:id="rId7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851D390-0192-4F24-BD38-9261CF580885}">
  <a:tblStyle styleId="{2851D390-0192-4F24-BD38-9261CF58088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Relationship Id="rId6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Relationship Id="rId6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Relationship Id="rId6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" name="Google Shape;12;p2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" name="Google Shape;13;p2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" name="Google Shape;14;p2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" name="Google Shape;1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" name="Google Shape;17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" name="Google Shape;21;p3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" name="Google Shape;24;p3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" name="Google Shape;25;p3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6" name="Google Shape;26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0" name="Google Shape;30;p4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" name="Google Shape;31;p4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5" name="Google Shape;35;p5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" name="Google Shape;36;p5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7" name="Google Shape;37;p5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38" name="Google Shape;38;p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" name="Google Shape;39;p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6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3" name="Google Shape;43;p6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44" name="Google Shape;44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6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6" name="Google Shape;46;p6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" name="Google Shape;47;p6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49" name="Google Shape;49;p6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" name="Google Shape;50;p6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5" name="Google Shape;55;p7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58" name="Google Shape;58;p7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" name="Google Shape;59;p7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" name="Google Shape;60;p7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61" name="Google Shape;61;p7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" name="Google Shape;62;p7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3" name="Google Shape;63;p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7" name="Google Shape;67;p8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8" name="Google Shape;68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8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0" name="Google Shape;70;p8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" name="Google Shape;71;p8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75" y="1225719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6" name="Google Shape;76;p9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" name="Google Shape;77;p9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0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1" name="Google Shape;81;p10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" name="Google Shape;82;p10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83" name="Google Shape;83;p10"/>
          <p:cNvSpPr txBox="1"/>
          <p:nvPr>
            <p:ph idx="2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84" name="Google Shape;84;p10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" name="Google Shape;85;p10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1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9" name="Google Shape;89;p11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0" name="Google Shape;90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1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2" name="Google Shape;92;p11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" name="Google Shape;93;p11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1"/>
          <p:cNvSpPr txBox="1"/>
          <p:nvPr>
            <p:ph idx="1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1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1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7" name="Google Shape;97;p1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5400000">
            <a:off x="319775" y="1225719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2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Voting systems</a:t>
            </a:r>
            <a:endParaRPr/>
          </a:p>
        </p:txBody>
      </p:sp>
      <p:sp>
        <p:nvSpPr>
          <p:cNvPr id="103" name="Google Shape;103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04" name="Google Shape;104;p12"/>
          <p:cNvSpPr txBox="1"/>
          <p:nvPr/>
        </p:nvSpPr>
        <p:spPr>
          <a:xfrm>
            <a:off x="468000" y="1672110"/>
            <a:ext cx="6624000" cy="26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1) To decide the quota required to be elected, the following formula is used: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Calculate the quota for the following elections: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a) 12 574 votes cast and three seats to be filled.     </a:t>
            </a:r>
            <a:endParaRPr sz="1200">
              <a:solidFill>
                <a:srgbClr val="222222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b) 12 574 votes cast and four seats to be filled.       </a:t>
            </a:r>
            <a:endParaRPr sz="1200">
              <a:solidFill>
                <a:srgbClr val="222222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c) 12 574 votes cast and five seats to be filled.        </a:t>
            </a:r>
            <a:endParaRPr sz="1200">
              <a:solidFill>
                <a:srgbClr val="222222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2) What do you notice about the number of votes required?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" name="Google Shape;105;p12"/>
          <p:cNvSpPr txBox="1"/>
          <p:nvPr/>
        </p:nvSpPr>
        <p:spPr>
          <a:xfrm>
            <a:off x="468000" y="1367325"/>
            <a:ext cx="552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Task A: Single Transferable Vote (STV)</a:t>
            </a:r>
            <a:endParaRPr b="1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\text{total votes}}{\text{total seats}\ +1}+1&quot;&gt;&lt;mfrac&gt;&lt;mtext&gt;total votes&lt;/mtext&gt;&lt;mrow&gt;&lt;mtext&gt;total seats&lt;/mtext&gt;&lt;mtext&gt;&lt;/mtext&gt;&lt;mo&gt;+&lt;/mo&gt;&lt;mn&gt;1&lt;/mn&gt;&lt;/mrow&gt;&lt;/mfrac&gt;&lt;mo&gt;+&lt;/mo&gt;&lt;mn&gt;1&lt;/mn&gt;&lt;/math&gt;" id="106" name="Google Shape;106;p12" title="the fraction with numerator total votes and denominator total seats positive 1 plus 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58051" y="1899475"/>
            <a:ext cx="1352550" cy="376375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2"/>
          <p:cNvSpPr txBox="1"/>
          <p:nvPr/>
        </p:nvSpPr>
        <p:spPr>
          <a:xfrm>
            <a:off x="468000" y="4597786"/>
            <a:ext cx="6624000" cy="53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3) 20 000 votes are cast in an election. There are three seats available. Here is a table showing the breakdown of the votes.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a) Calculate the quota required to win a seat.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  </a:t>
            </a:r>
            <a:endParaRPr sz="1200">
              <a:solidFill>
                <a:srgbClr val="222222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b) Based on the first vote, who has already won a seat?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22222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c) Assign all excess votes from any successful candidate(s) to the candidate(s) who were the most popular second vote. </a:t>
            </a:r>
            <a:endParaRPr sz="1200">
              <a:solidFill>
                <a:srgbClr val="222222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d) Who has won the final seat? 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222222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08" name="Google Shape;108;p12"/>
          <p:cNvGraphicFramePr/>
          <p:nvPr/>
        </p:nvGraphicFramePr>
        <p:xfrm>
          <a:off x="468000" y="51791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{2851D390-0192-4F24-BD38-9261CF580885}</a:tableStyleId>
              </a:tblPr>
              <a:tblGrid>
                <a:gridCol w="1324800"/>
                <a:gridCol w="1324800"/>
                <a:gridCol w="1324800"/>
                <a:gridCol w="1324800"/>
                <a:gridCol w="1324800"/>
              </a:tblGrid>
              <a:tr h="348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First vote</a:t>
                      </a:r>
                      <a:endParaRPr b="1" sz="12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Second vote</a:t>
                      </a:r>
                      <a:endParaRPr b="1" sz="12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 hMerge="1"/>
                <a:tc hMerge="1"/>
                <a:tc hMerge="1"/>
              </a:tr>
              <a:tr h="348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A: 5813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B: 462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C: 1068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D: 1767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E: 2516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348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B: 7820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A: 1564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C: 2737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D: 539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E: 2980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411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C: 1292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A: 259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B: 543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D: 87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E: 403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348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D: 3983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A: 112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B: 92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C: 2350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E: 1429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348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E: 1092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A: 415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B: 317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C: 268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D: 92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\text{total votes}}{\text{total seats}\ +1}+1&quot;&gt;&lt;mfrac&gt;&lt;mtext&gt;total votes&lt;/mtext&gt;&lt;mrow&gt;&lt;mtext&gt;total seats&lt;/mtext&gt;&lt;mtext&gt;&lt;/mtext&gt;&lt;mo&gt;+&lt;/mo&gt;&lt;mn&gt;1&lt;/mn&gt;&lt;/mrow&gt;&lt;/mfrac&gt;&lt;mo&gt;+&lt;/mo&gt;&lt;mn&gt;1&lt;/mn&gt;&lt;/math&gt;" id="109" name="Google Shape;109;p12" title="the fraction with numerator total votes and denominator total seats positive 1 plus 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60724" y="7465474"/>
            <a:ext cx="1352566" cy="3763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0" name="Google Shape;110;p12"/>
          <p:cNvCxnSpPr/>
          <p:nvPr/>
        </p:nvCxnSpPr>
        <p:spPr>
          <a:xfrm>
            <a:off x="474751" y="99719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16" name="Google Shape;116;p13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Voting systems</a:t>
            </a:r>
            <a:endParaRPr/>
          </a:p>
        </p:txBody>
      </p:sp>
      <p:sp>
        <p:nvSpPr>
          <p:cNvPr id="117" name="Google Shape;117;p13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18" name="Google Shape;118;p13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v2.4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" name="Google Shape;119;p13"/>
          <p:cNvSpPr txBox="1"/>
          <p:nvPr/>
        </p:nvSpPr>
        <p:spPr>
          <a:xfrm>
            <a:off x="468000" y="1024785"/>
            <a:ext cx="6624000" cy="68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1) 20 000 votes are cast in an election. Here is a table showing the breakdown of the votes.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a) How many votes are required to win the seat?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   </a:t>
            </a:r>
            <a:endParaRPr sz="1200">
              <a:solidFill>
                <a:srgbClr val="222222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b) Since no one has over half the vote, which candidate is eliminated? 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   </a:t>
            </a:r>
            <a:endParaRPr sz="1200">
              <a:solidFill>
                <a:srgbClr val="222222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c) Assign the votes accordingly and produce an updated table.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d) Which candidate(s) can win the election? Justify your answer.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3"/>
          <p:cNvSpPr txBox="1"/>
          <p:nvPr/>
        </p:nvSpPr>
        <p:spPr>
          <a:xfrm>
            <a:off x="468002" y="720000"/>
            <a:ext cx="552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Task B: Alternative Vote (AV)</a:t>
            </a:r>
            <a:endParaRPr b="1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21" name="Google Shape;121;p13"/>
          <p:cNvGraphicFramePr/>
          <p:nvPr/>
        </p:nvGraphicFramePr>
        <p:xfrm>
          <a:off x="468000" y="1507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{2851D390-0192-4F24-BD38-9261CF580885}</a:tableStyleId>
              </a:tblPr>
              <a:tblGrid>
                <a:gridCol w="1324800"/>
                <a:gridCol w="1324800"/>
                <a:gridCol w="1324800"/>
                <a:gridCol w="1324800"/>
                <a:gridCol w="1324800"/>
              </a:tblGrid>
              <a:tr h="348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First vote</a:t>
                      </a:r>
                      <a:endParaRPr b="1" sz="12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Second vote</a:t>
                      </a:r>
                      <a:endParaRPr b="1" sz="12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 hMerge="1"/>
                <a:tc hMerge="1"/>
                <a:tc hMerge="1"/>
              </a:tr>
              <a:tr h="348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A: 5813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B: 462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C: 1068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D: 1767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E: 2516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348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B: 7820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A: 1564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C: 2737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D: 539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E: 2980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411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C: 1292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A: 259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B: 543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D: 87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E: 403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348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D: 3983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A: 112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B: 92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C: 2350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E: 1429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348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E: 1092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A: 415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B: 317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C: 268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D: 92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orksheet Sep 2024 v2">
  <a:themeElements>
    <a:clrScheme name="Simple Light">
      <a:dk1>
        <a:srgbClr val="222222"/>
      </a:dk1>
      <a:lt1>
        <a:srgbClr val="FFFFFF"/>
      </a:lt1>
      <a:dk2>
        <a:srgbClr val="808080"/>
      </a:dk2>
      <a:lt2>
        <a:srgbClr val="F2F2F2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287C34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