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8" r:id="rId4"/>
  </p:sldMasterIdLst>
  <p:notesMasterIdLst>
    <p:notesMasterId r:id="rId5"/>
  </p:notesMasterIdLst>
  <p:sldIdLst>
    <p:sldId id="256" r:id="rId6"/>
    <p:sldId id="257" r:id="rId7"/>
    <p:sldId id="258" r:id="rId8"/>
  </p:sldIdLst>
  <p:sldSz cy="10692000" cx="7560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46291B73-D8D2-4A7F-9830-476A0FD53FE1}">
  <a:tblStyle styleId="{46291B73-D8D2-4A7F-9830-476A0FD53FE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27996905f60_0_125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27996905f60_0_1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g308146628e0_0_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1" name="Google Shape;111;g308146628e0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27996905f60_0_130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27996905f60_0_1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hyperlink" Target="https://www.nationalarchives.gov.uk/doc/open-government-licence/version/3/" TargetMode="External"/><Relationship Id="rId4" Type="http://schemas.openxmlformats.org/officeDocument/2006/relationships/hyperlink" Target="https://www.thenational.academy/legal/terms-and-conditions" TargetMode="Externa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hyperlink" Target="https://www.nationalarchives.gov.uk/doc/open-government-licence/version/3/" TargetMode="External"/><Relationship Id="rId5" Type="http://schemas.openxmlformats.org/officeDocument/2006/relationships/hyperlink" Target="https://www.thenational.academy/legal/terms-and-conditions" TargetMode="External"/><Relationship Id="rId6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0 Title page">
  <p:cSld name="SECTION_HEADER_1_1_1_1_1_1_1_1_1_1_1_2_1_1_1_1_1">
    <p:bg>
      <p:bgPr>
        <a:solidFill>
          <a:schemeClr val="lt1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2" name="Google Shape;12;p2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3" name="Google Shape;13;p2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4" name="Google Shape;14;p2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5" name="Google Shape;15;p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16" name="Google Shape;16;p2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17" name="Google Shape;17;p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.1 Title page with long title">
  <p:cSld name="SECTION_HEADER_1_1_1_1_1_1_1_1_1_1_1_2_1_1_1_1_1_1_2">
    <p:bg>
      <p:bgPr>
        <a:solidFill>
          <a:schemeClr val="lt1"/>
        </a:solidFill>
      </p:bgPr>
    </p:bg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Google Shape;19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1" name="Google Shape;21;p3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22" name="Google Shape;22;p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23" name="Google Shape;23;p3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24" name="Google Shape;24;p3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" name="Google Shape;25;p3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26" name="Google Shape;26;p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0 Middle page">
  <p:cSld name="SECTION_HEADER_1_1_1_1_1_1_1_1_1_1_1_2_1_1_1_1_1_1_1_1_2">
    <p:bg>
      <p:bgPr>
        <a:solidFill>
          <a:schemeClr val="lt1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Google Shape;28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0" name="Google Shape;30;p4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1" name="Google Shape;31;p4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2.1 Last page">
  <p:cSld name="SECTION_HEADER_1_1_1_1_1_1_1_1_1_1_1_2_1_1_1_1_1_1_1_1_1_3">
    <p:bg>
      <p:bgPr>
        <a:solidFill>
          <a:schemeClr val="lt1"/>
        </a:solidFill>
      </p:bgPr>
    </p:bg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Google Shape;33;p5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solidFill>
                  <a:schemeClr val="dk1"/>
                </a:solidFill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35" name="Google Shape;35;p5"/>
          <p:cNvSpPr txBox="1"/>
          <p:nvPr/>
        </p:nvSpPr>
        <p:spPr>
          <a:xfrm>
            <a:off x="6366900" y="360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6" name="Google Shape;36;p5"/>
          <p:cNvSpPr txBox="1"/>
          <p:nvPr>
            <p:ph idx="1" type="subTitle"/>
          </p:nvPr>
        </p:nvSpPr>
        <p:spPr>
          <a:xfrm>
            <a:off x="466825" y="360000"/>
            <a:ext cx="5779200" cy="2463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37" name="Google Shape;37;p5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38" name="Google Shape;38;p5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39" name="Google Shape;39;p5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0 Single page worksheet">
  <p:cSld name="SECTION_HEADER_1_1_1_1_1_1_1_1_1_1_1_2_1_1_1_1_1_2">
    <p:bg>
      <p:bgPr>
        <a:solidFill>
          <a:schemeClr val="lt1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1" name="Google Shape;41;p6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42" name="Google Shape;42;p6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3" name="Google Shape;43;p6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44" name="Google Shape;44;p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24200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45" name="Google Shape;45;p6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46" name="Google Shape;46;p6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7" name="Google Shape;47;p6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48" name="Google Shape;48;p6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49" name="Google Shape;49;p6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50" name="Google Shape;50;p6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51" name="Google Shape;51;p6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.1 Single page worksheet with long title">
  <p:cSld name="SECTION_HEADER_1_1_1_1_1_1_1_1_1_1_1_2_1_1_1_1_1_1_1">
    <p:bg>
      <p:bgPr>
        <a:solidFill>
          <a:schemeClr val="lt1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6910937" y="997201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5" name="Google Shape;55;p7"/>
          <p:cNvSpPr txBox="1"/>
          <p:nvPr>
            <p:ph type="title"/>
          </p:nvPr>
        </p:nvSpPr>
        <p:spPr>
          <a:xfrm>
            <a:off x="468000" y="864000"/>
            <a:ext cx="66240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56" name="Google Shape;56;p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68000" y="1543153"/>
            <a:ext cx="6624000" cy="66240"/>
          </a:xfrm>
          <a:prstGeom prst="rect">
            <a:avLst/>
          </a:prstGeom>
          <a:noFill/>
          <a:ln>
            <a:noFill/>
          </a:ln>
        </p:spPr>
      </p:pic>
      <p:sp>
        <p:nvSpPr>
          <p:cNvPr id="57" name="Google Shape;57;p7"/>
          <p:cNvSpPr txBox="1"/>
          <p:nvPr/>
        </p:nvSpPr>
        <p:spPr>
          <a:xfrm>
            <a:off x="466825" y="360000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58" name="Google Shape;58;p7"/>
          <p:cNvCxnSpPr/>
          <p:nvPr/>
        </p:nvCxnSpPr>
        <p:spPr>
          <a:xfrm>
            <a:off x="987525" y="610425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9" name="Google Shape;59;p7"/>
          <p:cNvSpPr txBox="1"/>
          <p:nvPr/>
        </p:nvSpPr>
        <p:spPr>
          <a:xfrm>
            <a:off x="6189000" y="360000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0" name="Google Shape;60;p7"/>
          <p:cNvSpPr txBox="1"/>
          <p:nvPr>
            <p:ph idx="1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61" name="Google Shape;61;p7"/>
          <p:cNvSpPr txBox="1"/>
          <p:nvPr/>
        </p:nvSpPr>
        <p:spPr>
          <a:xfrm>
            <a:off x="391800" y="10152000"/>
            <a:ext cx="63675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62" name="Google Shape;62;p7"/>
          <p:cNvSpPr txBox="1"/>
          <p:nvPr/>
        </p:nvSpPr>
        <p:spPr>
          <a:xfrm>
            <a:off x="394350" y="9972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63" name="Google Shape;63;p7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5722275" y="215694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0 Landscape title page">
  <p:cSld name="SECTION_HEADER_1_1_1_1_1_1_1_1_1_1_1_2_1_1_1_1_1_1_1_1_1_1">
    <p:bg>
      <p:bgPr>
        <a:solidFill>
          <a:schemeClr val="lt1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5" name="Google Shape;65;p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8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67" name="Google Shape;67;p8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68" name="Google Shape;68;p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69" name="Google Shape;69;p8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70" name="Google Shape;70;p8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71" name="Google Shape;71;p8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72" name="Google Shape;72;p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1 Landscape middle page">
  <p:cSld name="SECTION_HEADER_1_1_1_1_1_1_1_1_1_1_1_2_1_1_1_1_1_1_1_1_1_1_1">
    <p:bg>
      <p:bgPr>
        <a:solidFill>
          <a:schemeClr val="lt1"/>
        </a:solidFill>
      </p:bgPr>
    </p:bg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Google Shape;74;p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9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6" name="Google Shape;76;p9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77" name="Google Shape;77;p9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.2 Landscape last page">
  <p:cSld name="SECTION_HEADER_1_1_1_1_1_1_1_1_1_1_1_2_1_1_1_1_1_1_1_1_1_1_1_1">
    <p:bg>
      <p:bgPr>
        <a:solidFill>
          <a:schemeClr val="lt1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Google Shape;79;p1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0" name="Google Shape;80;p10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1" name="Google Shape;81;p10"/>
          <p:cNvSpPr txBox="1"/>
          <p:nvPr/>
        </p:nvSpPr>
        <p:spPr>
          <a:xfrm rot="-5400000">
            <a:off x="174000" y="654000"/>
            <a:ext cx="726600" cy="13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2" name="Google Shape;82;p10"/>
          <p:cNvSpPr txBox="1"/>
          <p:nvPr>
            <p:ph idx="1" type="subTitle"/>
          </p:nvPr>
        </p:nvSpPr>
        <p:spPr>
          <a:xfrm rot="-5400000">
            <a:off x="-3976225" y="5682150"/>
            <a:ext cx="9096900" cy="202800"/>
          </a:xfrm>
          <a:prstGeom prst="rect">
            <a:avLst/>
          </a:prstGeom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Font typeface="Lexend"/>
              <a:buNone/>
              <a:defRPr sz="900">
                <a:latin typeface="Lexend"/>
                <a:ea typeface="Lexend"/>
                <a:cs typeface="Lexend"/>
                <a:sym typeface="Lexend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2pPr>
            <a:lvl3pPr lvl="2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3pPr>
            <a:lvl4pPr lvl="3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4pPr>
            <a:lvl5pPr lvl="4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5pPr>
            <a:lvl6pPr lvl="5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6pPr>
            <a:lvl7pPr lvl="6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7pPr>
            <a:lvl8pPr lvl="7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8pPr>
            <a:lvl9pPr lvl="8" rtl="0">
              <a:spcBef>
                <a:spcPts val="0"/>
              </a:spcBef>
              <a:spcAft>
                <a:spcPts val="0"/>
              </a:spcAft>
              <a:buSzPts val="1200"/>
              <a:buNone/>
              <a:defRPr sz="1200"/>
            </a:lvl9pPr>
          </a:lstStyle>
          <a:p/>
        </p:txBody>
      </p:sp>
      <p:sp>
        <p:nvSpPr>
          <p:cNvPr id="83" name="Google Shape;83;p10"/>
          <p:cNvSpPr txBox="1"/>
          <p:nvPr>
            <p:ph idx="2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84" name="Google Shape;84;p10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85" name="Google Shape;85;p10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5.0 Landscape single page worksheet">
  <p:cSld name="SECTION_HEADER_1_1_1_1_1_1_1_1_1_1_1_2_1_1_1_1_1_1_1_1_1_1_2">
    <p:bg>
      <p:bgPr>
        <a:solidFill>
          <a:schemeClr val="lt1"/>
        </a:soli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7" name="Google Shape;87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 rot="-5400000">
            <a:off x="6801934" y="327400"/>
            <a:ext cx="181075" cy="246288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1"/>
          <p:cNvSpPr txBox="1"/>
          <p:nvPr>
            <p:ph idx="12" type="sldNum"/>
          </p:nvPr>
        </p:nvSpPr>
        <p:spPr>
          <a:xfrm rot="-5400000">
            <a:off x="6666268" y="719443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1pPr>
            <a:lvl2pPr lvl="1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2pPr>
            <a:lvl3pPr lvl="2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3pPr>
            <a:lvl4pPr lvl="3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4pPr>
            <a:lvl5pPr lvl="4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5pPr>
            <a:lvl6pPr lvl="5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6pPr>
            <a:lvl7pPr lvl="6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7pPr>
            <a:lvl8pPr lvl="7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8pPr>
            <a:lvl9pPr lvl="8" rtl="0">
              <a:buNone/>
              <a:defRPr sz="1200">
                <a:latin typeface="Lexend Medium"/>
                <a:ea typeface="Lexend Medium"/>
                <a:cs typeface="Lexend Medium"/>
                <a:sym typeface="Lexend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89" name="Google Shape;89;p11"/>
          <p:cNvSpPr txBox="1"/>
          <p:nvPr>
            <p:ph type="title"/>
          </p:nvPr>
        </p:nvSpPr>
        <p:spPr>
          <a:xfrm rot="-5400000">
            <a:off x="-3842125" y="5162095"/>
            <a:ext cx="9983700" cy="36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pic>
        <p:nvPicPr>
          <p:cNvPr id="90" name="Google Shape;90;p1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rot="-5400000">
            <a:off x="-3612750" y="5310727"/>
            <a:ext cx="9987174" cy="66225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1"/>
          <p:cNvSpPr txBox="1"/>
          <p:nvPr/>
        </p:nvSpPr>
        <p:spPr>
          <a:xfrm rot="-5400000">
            <a:off x="-595236" y="9057311"/>
            <a:ext cx="2334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Name</a:t>
            </a:r>
            <a:r>
              <a:rPr b="1" lang="en-GB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: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92" name="Google Shape;92;p11"/>
          <p:cNvCxnSpPr/>
          <p:nvPr/>
        </p:nvCxnSpPr>
        <p:spPr>
          <a:xfrm rot="-5400000">
            <a:off x="-192111" y="8904711"/>
            <a:ext cx="18132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93" name="Google Shape;93;p11"/>
          <p:cNvSpPr txBox="1"/>
          <p:nvPr/>
        </p:nvSpPr>
        <p:spPr>
          <a:xfrm rot="-5400000">
            <a:off x="104964" y="719111"/>
            <a:ext cx="903000" cy="1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2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Worksheet</a:t>
            </a:r>
            <a:endParaRPr b="1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4" name="Google Shape;94;p11"/>
          <p:cNvSpPr txBox="1"/>
          <p:nvPr>
            <p:ph idx="1" type="subTitle"/>
          </p:nvPr>
        </p:nvSpPr>
        <p:spPr>
          <a:xfrm rot="-5400000">
            <a:off x="5488475" y="5406175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900"/>
              <a:buNone/>
              <a:defRPr sz="900"/>
            </a:lvl1pPr>
            <a:lvl2pPr lvl="1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SzPts val="900"/>
              <a:buFont typeface="Lexend Light"/>
              <a:buNone/>
              <a:defRPr sz="900">
                <a:latin typeface="Lexend Light"/>
                <a:ea typeface="Lexend Light"/>
                <a:cs typeface="Lexend Light"/>
                <a:sym typeface="Lexend Light"/>
              </a:defRPr>
            </a:lvl9pPr>
          </a:lstStyle>
          <a:p/>
        </p:txBody>
      </p:sp>
      <p:sp>
        <p:nvSpPr>
          <p:cNvPr id="95" name="Google Shape;95;p11"/>
          <p:cNvSpPr txBox="1"/>
          <p:nvPr/>
        </p:nvSpPr>
        <p:spPr>
          <a:xfrm rot="-5400000">
            <a:off x="3494675" y="6716250"/>
            <a:ext cx="70704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Licensed on the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Open Government Licence v3.0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, except where otherwise stated. See </a:t>
            </a:r>
            <a:r>
              <a:rPr lang="en-GB" sz="900" u="sng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Oak terms &amp; conditions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96" name="Google Shape;96;p11"/>
          <p:cNvSpPr txBox="1"/>
          <p:nvPr/>
        </p:nvSpPr>
        <p:spPr>
          <a:xfrm rot="-5400000">
            <a:off x="4814975" y="8214000"/>
            <a:ext cx="4069800" cy="161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© Oak National Academy 2024</a:t>
            </a:r>
            <a:r>
              <a:rPr lang="en-GB" sz="900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rPr>
              <a:t>. Produced in partnership with</a:t>
            </a:r>
            <a:endParaRPr sz="900">
              <a:solidFill>
                <a:schemeClr val="dk1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pic>
        <p:nvPicPr>
          <p:cNvPr id="97" name="Google Shape;97;p11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 rot="-5400000">
            <a:off x="319775" y="1225719"/>
            <a:ext cx="504000" cy="504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extLst>
    <p:ext uri="{DCECCB84-F9BA-43D5-87BE-67443E8EF086}">
      <p15:sldGuideLst>
        <p15:guide id="1" orient="horz" pos="454">
          <p15:clr>
            <a:srgbClr val="D9D9D9"/>
          </p15:clr>
        </p15:guide>
        <p15:guide id="2" orient="horz" pos="544">
          <p15:clr>
            <a:srgbClr val="D9D9D9"/>
          </p15:clr>
        </p15:guide>
        <p15:guide id="3" orient="horz" pos="1916">
          <p15:clr>
            <a:srgbClr val="D9D9D9"/>
          </p15:clr>
        </p15:guide>
        <p15:guide id="4" orient="horz" pos="3368">
          <p15:clr>
            <a:srgbClr val="D9D9D9"/>
          </p15:clr>
        </p15:guide>
        <p15:guide id="5" orient="horz" pos="4762">
          <p15:clr>
            <a:srgbClr val="D9D9D9"/>
          </p15:clr>
        </p15:guide>
        <p15:guide id="6" orient="horz" pos="6282">
          <p15:clr>
            <a:srgbClr val="D9D9D9"/>
          </p15:clr>
        </p15:guide>
        <p15:guide id="7" pos="295">
          <p15:clr>
            <a:srgbClr val="FF0000"/>
          </p15:clr>
        </p15:guide>
        <p15:guide id="8" pos="4467">
          <p15:clr>
            <a:srgbClr val="FF0000"/>
          </p15:clr>
        </p15:guide>
        <p15:guide id="9" pos="1519">
          <p15:clr>
            <a:srgbClr val="D9D9D9"/>
          </p15:clr>
        </p15:guide>
        <p15:guide id="10" pos="1764">
          <p15:clr>
            <a:srgbClr val="D9D9D9"/>
          </p15:clr>
        </p15:guide>
        <p15:guide id="11" pos="3243">
          <p15:clr>
            <a:srgbClr val="D9D9D9"/>
          </p15:clr>
        </p15:guide>
        <p15:guide id="12" pos="2998">
          <p15:clr>
            <a:srgbClr val="D9D9D9"/>
          </p15:clr>
        </p15:guide>
        <p15:guide id="13" pos="3120">
          <p15:clr>
            <a:srgbClr val="D9D9D9"/>
          </p15:clr>
        </p15:guide>
        <p15:guide id="14" pos="1642">
          <p15:clr>
            <a:srgbClr val="D9D9D9"/>
          </p15:clr>
        </p15:guide>
        <p15:guide id="15" pos="2381">
          <p15:clr>
            <a:srgbClr val="D9D9D9"/>
          </p15:clr>
        </p15:guide>
        <p15:guide id="16" pos="2154">
          <p15:clr>
            <a:srgbClr val="FF0000"/>
          </p15:clr>
        </p15:guide>
        <p15:guide id="17" pos="2608">
          <p15:clr>
            <a:srgbClr val="FF0000"/>
          </p15:clr>
        </p15:guide>
        <p15:guide id="18" orient="horz" pos="227">
          <p15:clr>
            <a:srgbClr val="FF0000"/>
          </p15:clr>
        </p15:guide>
        <p15:guide id="19" orient="horz" pos="6508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257705" y="925091"/>
            <a:ext cx="7044600" cy="1190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Lexend"/>
              <a:buNone/>
              <a:defRPr b="1" i="0" sz="22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Lexend"/>
              <a:buNone/>
              <a:defRPr i="0" sz="2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257705" y="2395696"/>
            <a:ext cx="7044600" cy="7101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Lexend"/>
              <a:buChar char="●"/>
              <a:defRPr i="0" sz="18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■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●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Lexend"/>
              <a:buChar char="○"/>
              <a:defRPr i="0" sz="14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Kalam"/>
              <a:buChar char="■"/>
              <a:defRPr i="0" sz="1400" u="none" cap="none" strike="noStrike">
                <a:solidFill>
                  <a:schemeClr val="dk1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7004788" y="9693616"/>
            <a:ext cx="453600" cy="818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i="0" sz="1000" u="none" cap="none" strike="noStrike">
                <a:solidFill>
                  <a:schemeClr val="dk1"/>
                </a:solidFill>
                <a:latin typeface="Lexend"/>
                <a:ea typeface="Lexend"/>
                <a:cs typeface="Lexend"/>
                <a:sym typeface="Lexen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12"/>
          <p:cNvSpPr txBox="1"/>
          <p:nvPr>
            <p:ph type="title"/>
          </p:nvPr>
        </p:nvSpPr>
        <p:spPr>
          <a:xfrm>
            <a:off x="468000" y="864000"/>
            <a:ext cx="6624000" cy="277200"/>
          </a:xfrm>
          <a:prstGeom prst="rect">
            <a:avLst/>
          </a:prstGeom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03" name="Google Shape;103;p12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04" name="Google Shape;104;p12"/>
          <p:cNvSpPr txBox="1"/>
          <p:nvPr/>
        </p:nvSpPr>
        <p:spPr>
          <a:xfrm>
            <a:off x="468000" y="1720100"/>
            <a:ext cx="6624000" cy="163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200 people are voting in an election. There are four candidates (A, B, C, D) standing in the election.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Given that candidate B won the election, suggest a possible number of votes that each candidate received.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Given that candidate B won the election, what is the smallest number of votes candidate B could have received? 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5" name="Google Shape;105;p12"/>
          <p:cNvSpPr txBox="1"/>
          <p:nvPr/>
        </p:nvSpPr>
        <p:spPr>
          <a:xfrm>
            <a:off x="467998" y="1293825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A: Understanding First Past the Post (FPTP)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06" name="Google Shape;106;p12"/>
          <p:cNvSpPr txBox="1"/>
          <p:nvPr/>
        </p:nvSpPr>
        <p:spPr>
          <a:xfrm>
            <a:off x="468000" y="4647300"/>
            <a:ext cx="6624000" cy="28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400 people are voting in an election. There are four candidates (A, B, C, D) standing in the election.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Given that candidate D won the election, suggest a possible number of votes that each candidate received.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Given that candidate D won the election, what is the smallest number of votes candidate D could have received?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</p:txBody>
      </p:sp>
      <p:sp>
        <p:nvSpPr>
          <p:cNvPr id="107" name="Google Shape;107;p12"/>
          <p:cNvSpPr txBox="1"/>
          <p:nvPr/>
        </p:nvSpPr>
        <p:spPr>
          <a:xfrm>
            <a:off x="468000" y="7493700"/>
            <a:ext cx="6624000" cy="2429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(where </a:t>
            </a:r>
            <a:r>
              <a:rPr i="1" lang="en-GB" sz="1200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n</a:t>
            </a: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 is a multiple of four) people are voting in an election. There are four candidates (A, B, C, D) standing in the election.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Given that candidate A won the election, write a general rule for the smallest number of votes candidate A could have received.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Write an expression for the proportion of the total vote that candidate A received.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cxnSp>
        <p:nvCxnSpPr>
          <p:cNvPr id="108" name="Google Shape;108;p12"/>
          <p:cNvCxnSpPr/>
          <p:nvPr/>
        </p:nvCxnSpPr>
        <p:spPr>
          <a:xfrm>
            <a:off x="474751" y="9971988"/>
            <a:ext cx="6610500" cy="0"/>
          </a:xfrm>
          <a:prstGeom prst="straightConnector1">
            <a:avLst/>
          </a:prstGeom>
          <a:noFill/>
          <a:ln cap="flat" cmpd="sng" w="38100">
            <a:solidFill>
              <a:srgbClr val="000000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3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467998" y="596768"/>
            <a:ext cx="64416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rgbClr val="222222"/>
                </a:solidFill>
                <a:latin typeface="Lexend"/>
                <a:ea typeface="Lexend"/>
                <a:cs typeface="Lexend"/>
                <a:sym typeface="Lexend"/>
              </a:rPr>
              <a:t>Task B: Limitations of FPTP</a:t>
            </a:r>
            <a:endParaRPr b="1">
              <a:solidFill>
                <a:srgbClr val="222222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15" name="Google Shape;115;p13"/>
          <p:cNvSpPr txBox="1"/>
          <p:nvPr/>
        </p:nvSpPr>
        <p:spPr>
          <a:xfrm>
            <a:off x="468000" y="960340"/>
            <a:ext cx="4680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1) Constituency 1 - this is the breakdown of the vote.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this constituency?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percentage of the total vote did each party receive? (Round to the nearest percent.)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6" name="Google Shape;116;p13"/>
          <p:cNvGraphicFramePr/>
          <p:nvPr/>
        </p:nvGraphicFramePr>
        <p:xfrm>
          <a:off x="468000" y="118430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{46291B73-D8D2-4A7F-9830-476A0FD53FE1}</a:tableStyleId>
              </a:tblPr>
              <a:tblGrid>
                <a:gridCol w="1225650"/>
                <a:gridCol w="1225650"/>
                <a:gridCol w="1225650"/>
                <a:gridCol w="1225650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5772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6889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3424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789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17" name="Google Shape;117;p13"/>
          <p:cNvSpPr txBox="1"/>
          <p:nvPr/>
        </p:nvSpPr>
        <p:spPr>
          <a:xfrm>
            <a:off x="468000" y="3708485"/>
            <a:ext cx="4680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2) Constituency 2 - this is the breakdown of the vote.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this constituency?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percentage of the total vote did each party receive? (Round to the nearest percent.)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18" name="Google Shape;118;p13"/>
          <p:cNvGraphicFramePr/>
          <p:nvPr/>
        </p:nvGraphicFramePr>
        <p:xfrm>
          <a:off x="468000" y="392601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{46291B73-D8D2-4A7F-9830-476A0FD53FE1}</a:tableStyleId>
              </a:tblPr>
              <a:tblGrid>
                <a:gridCol w="1225625"/>
                <a:gridCol w="1225625"/>
                <a:gridCol w="1225625"/>
                <a:gridCol w="1225625"/>
              </a:tblGrid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802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4930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5381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4729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1291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19" name="Google Shape;119;p13"/>
          <p:cNvSpPr txBox="1"/>
          <p:nvPr/>
        </p:nvSpPr>
        <p:spPr>
          <a:xfrm>
            <a:off x="468000" y="6443975"/>
            <a:ext cx="4680000" cy="35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3) Constituency 3 - this is the breakdown of the vote.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this constituency?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What percentage of the total vote did each party receive? (Round to the nearest percent.)</a:t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graphicFrame>
        <p:nvGraphicFramePr>
          <p:cNvPr id="120" name="Google Shape;120;p13"/>
          <p:cNvGraphicFramePr/>
          <p:nvPr/>
        </p:nvGraphicFramePr>
        <p:xfrm>
          <a:off x="468000" y="66771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{46291B73-D8D2-4A7F-9830-476A0FD53FE1}</a:tableStyleId>
              </a:tblPr>
              <a:tblGrid>
                <a:gridCol w="1225675"/>
                <a:gridCol w="1225675"/>
                <a:gridCol w="1225675"/>
                <a:gridCol w="1225675"/>
              </a:tblGrid>
              <a:tr h="25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A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B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C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>
                          <a:solidFill>
                            <a:srgbClr val="222222"/>
                          </a:solidFill>
                          <a:latin typeface="Lexend"/>
                          <a:ea typeface="Lexend"/>
                          <a:cs typeface="Lexend"/>
                          <a:sym typeface="Lexend"/>
                        </a:rPr>
                        <a:t>Party D</a:t>
                      </a:r>
                      <a:endParaRPr b="1" sz="1200">
                        <a:solidFill>
                          <a:srgbClr val="222222"/>
                        </a:solidFill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  <a:tr h="257975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21 953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7116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4581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>
                          <a:latin typeface="Lexend"/>
                          <a:ea typeface="Lexend"/>
                          <a:cs typeface="Lexend"/>
                          <a:sym typeface="Lexend"/>
                        </a:rPr>
                        <a:t>2093</a:t>
                      </a:r>
                      <a:endParaRPr sz="1200">
                        <a:latin typeface="Lexend"/>
                        <a:ea typeface="Lexend"/>
                        <a:cs typeface="Lexend"/>
                        <a:sym typeface="Lexend"/>
                      </a:endParaRPr>
                    </a:p>
                  </a:txBody>
                  <a:tcPr marT="0" marB="0" marR="0" marL="0"/>
                </a:tc>
              </a:tr>
            </a:tbl>
          </a:graphicData>
        </a:graphic>
      </p:graphicFrame>
      <p:sp>
        <p:nvSpPr>
          <p:cNvPr id="121" name="Google Shape;121;p13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4"/>
          <p:cNvSpPr txBox="1"/>
          <p:nvPr>
            <p:ph idx="12" type="sldNum"/>
          </p:nvPr>
        </p:nvSpPr>
        <p:spPr>
          <a:xfrm>
            <a:off x="6352325" y="9972000"/>
            <a:ext cx="483300" cy="277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>
                <a:solidFill>
                  <a:schemeClr val="dk1"/>
                </a:solidFill>
              </a:rPr>
              <a:t>‹#›</a:t>
            </a:fld>
            <a:endParaRPr>
              <a:solidFill>
                <a:schemeClr val="dk1"/>
              </a:solidFill>
            </a:endParaRPr>
          </a:p>
        </p:txBody>
      </p:sp>
      <p:sp>
        <p:nvSpPr>
          <p:cNvPr id="127" name="Google Shape;127;p14"/>
          <p:cNvSpPr txBox="1"/>
          <p:nvPr>
            <p:ph idx="1" type="subTitle"/>
          </p:nvPr>
        </p:nvSpPr>
        <p:spPr>
          <a:xfrm>
            <a:off x="466825" y="360000"/>
            <a:ext cx="5779200" cy="1386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Elections</a:t>
            </a:r>
            <a:endParaRPr/>
          </a:p>
        </p:txBody>
      </p:sp>
      <p:sp>
        <p:nvSpPr>
          <p:cNvPr id="128" name="Google Shape;128;p14"/>
          <p:cNvSpPr txBox="1"/>
          <p:nvPr>
            <p:ph idx="2" type="subTitle"/>
          </p:nvPr>
        </p:nvSpPr>
        <p:spPr>
          <a:xfrm>
            <a:off x="3875675" y="9972000"/>
            <a:ext cx="2722800" cy="161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Mathematics in Education and Industry</a:t>
            </a:r>
            <a:endParaRPr/>
          </a:p>
        </p:txBody>
      </p:sp>
      <p:sp>
        <p:nvSpPr>
          <p:cNvPr id="129" name="Google Shape;129;p14"/>
          <p:cNvSpPr txBox="1"/>
          <p:nvPr/>
        </p:nvSpPr>
        <p:spPr>
          <a:xfrm>
            <a:off x="6744600" y="10447800"/>
            <a:ext cx="815400" cy="244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000">
                <a:solidFill>
                  <a:srgbClr val="FFFFFF"/>
                </a:solidFill>
                <a:latin typeface="Lexend"/>
                <a:ea typeface="Lexend"/>
                <a:cs typeface="Lexend"/>
                <a:sym typeface="Lexend"/>
              </a:rPr>
              <a:t>v2.4</a:t>
            </a:r>
            <a:endParaRPr sz="1000">
              <a:solidFill>
                <a:srgbClr val="FFFFFF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  <p:sp>
        <p:nvSpPr>
          <p:cNvPr id="130" name="Google Shape;130;p14"/>
          <p:cNvSpPr txBox="1"/>
          <p:nvPr/>
        </p:nvSpPr>
        <p:spPr>
          <a:xfrm>
            <a:off x="468000" y="720000"/>
            <a:ext cx="6624000" cy="392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4) By considering your answers to questions 1-3, answer the following: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rgbClr val="000000"/>
                </a:solidFill>
                <a:latin typeface="Lexend"/>
                <a:ea typeface="Lexend"/>
                <a:cs typeface="Lexend"/>
                <a:sym typeface="Lexend"/>
              </a:rPr>
              <a:t>a) Which party won the election in the most constituencies?</a:t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rPr lang="en-GB" sz="1200">
                <a:latin typeface="Lexend"/>
                <a:ea typeface="Lexend"/>
                <a:cs typeface="Lexend"/>
                <a:sym typeface="Lexend"/>
              </a:rPr>
              <a:t>b) By considering the total number of votes cast across the three constituencies, what percentage of the vote did each party win? Write a paragraph explaining what this means.</a:t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Kalam"/>
              <a:ea typeface="Kalam"/>
              <a:cs typeface="Kalam"/>
              <a:sym typeface="Kalam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200">
              <a:latin typeface="Lexend"/>
              <a:ea typeface="Lexend"/>
              <a:cs typeface="Lexend"/>
              <a:sym typeface="Lexend"/>
            </a:endParaRPr>
          </a:p>
          <a:p>
            <a:pPr indent="0" lvl="0" marL="0" rtl="0" algn="l">
              <a:lnSpc>
                <a:spcPct val="130000"/>
              </a:lnSpc>
              <a:spcBef>
                <a:spcPts val="1000"/>
              </a:spcBef>
              <a:spcAft>
                <a:spcPts val="1000"/>
              </a:spcAft>
              <a:buNone/>
            </a:pPr>
            <a:r>
              <a:t/>
            </a:r>
            <a:endParaRPr sz="1200">
              <a:solidFill>
                <a:srgbClr val="000000"/>
              </a:solidFill>
              <a:latin typeface="Lexend"/>
              <a:ea typeface="Lexend"/>
              <a:cs typeface="Lexend"/>
              <a:sym typeface="Lexend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Worksheet Sep 2024 v2">
  <a:themeElements>
    <a:clrScheme name="Simple Light">
      <a:dk1>
        <a:srgbClr val="222222"/>
      </a:dk1>
      <a:lt1>
        <a:srgbClr val="FFFFFF"/>
      </a:lt1>
      <a:dk2>
        <a:srgbClr val="808080"/>
      </a:dk2>
      <a:lt2>
        <a:srgbClr val="F2F2F2"/>
      </a:lt2>
      <a:accent1>
        <a:srgbClr val="BEF2BD"/>
      </a:accent1>
      <a:accent2>
        <a:srgbClr val="374CF1"/>
      </a:accent2>
      <a:accent3>
        <a:srgbClr val="D02AA7"/>
      </a:accent3>
      <a:accent4>
        <a:srgbClr val="845AD9"/>
      </a:accent4>
      <a:accent5>
        <a:srgbClr val="037B7D"/>
      </a:accent5>
      <a:accent6>
        <a:srgbClr val="287C34"/>
      </a:accent6>
      <a:hlink>
        <a:srgbClr val="374CF1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