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D05EE50-966D-4F0B-915A-ACB30DCD5E08}">
  <a:tblStyle styleId="{7D05EE50-966D-4F0B-915A-ACB30DCD5E0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0814a8186e_0_2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0814a8186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" name="Google Shape;53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6" name="Google Shape;56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2" name="Google Shape;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4" name="Google Shape;64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7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" name="Google Shape;66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9" name="Google Shape;69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0" name="Google Shape;70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5" name="Google Shape;7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7" name="Google Shape;7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" name="Google Shape;79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" name="Google Shape;83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" name="Google Shape;8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9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" name="Google Shape;9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4" name="Google Shape;94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5" name="Google Shape;95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2" name="Google Shape;10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" name="Google Shape;10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7" name="Google Shape;107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9" name="Google Shape;109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0" name="Google Shape;110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Elections</a:t>
            </a:r>
            <a:endParaRPr/>
          </a:p>
        </p:txBody>
      </p:sp>
      <p:sp>
        <p:nvSpPr>
          <p:cNvPr id="117" name="Google Shape;117;p12"/>
          <p:cNvSpPr txBox="1"/>
          <p:nvPr/>
        </p:nvSpPr>
        <p:spPr>
          <a:xfrm>
            <a:off x="468000" y="1720100"/>
            <a:ext cx="6624000" cy="16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200 people are voting in an election. There are four candidates (A, B, C, D) standing in the election.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Given that candidate B won the election, suggest a possible number of votes that each candidate received.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 are many possibilities however your solution should have candidate B with the highest number of votes and the number of votes cast should sum to 200.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Given that candidate B won the election, what is the smallest number of votes candidate B could have received?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51 votes. 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(The other candidates could have received 50, 50 and 49 votes.)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2"/>
          <p:cNvSpPr txBox="1"/>
          <p:nvPr/>
        </p:nvSpPr>
        <p:spPr>
          <a:xfrm>
            <a:off x="467998" y="1293825"/>
            <a:ext cx="644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Understanding First Past the Post (FPTP)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" name="Google Shape;119;p12"/>
          <p:cNvSpPr txBox="1"/>
          <p:nvPr/>
        </p:nvSpPr>
        <p:spPr>
          <a:xfrm>
            <a:off x="468000" y="4647300"/>
            <a:ext cx="6624000" cy="28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400 people are voting in an election. There are four candidates (A, B, C, D) standing in the election.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Given that candidate D won the election, suggest a possible number of votes that each candidate received.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 are many possibilities however your solution should have candidate D with the highest number of votes and the number of votes cast should sum to 400.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Given that candidate D won the election, what is the smallest number of votes candidate D could have received?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101 votes. 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(The other candidates could have received 100, 100 and 99 votes.)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" name="Google Shape;120;p12"/>
          <p:cNvSpPr txBox="1"/>
          <p:nvPr/>
        </p:nvSpPr>
        <p:spPr>
          <a:xfrm>
            <a:off x="468000" y="7493700"/>
            <a:ext cx="6624000" cy="24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(where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a multiple of four) people are voting in an election. There are four candidates (A, B, C, D) standing in the election.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Given that candidate A won the election, write a general rule for the smallest number of votes candidate A could have received.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Write an expression for the proportion of the total vote that candidate A received.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n}{4}+1&quot;&gt;&lt;mfrac&gt;&lt;mi&gt;n&lt;/mi&gt;&lt;mn&gt;4&lt;/mn&gt;&lt;/mfrac&gt;&lt;mo&gt;+&lt;/mo&gt;&lt;mn&gt;1&lt;/mn&gt;&lt;/math&gt;" id="121" name="Google Shape;121;p12" title="n over 4 plus 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9991" y="8345691"/>
            <a:ext cx="549825" cy="44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\frac{n}{4}+1}{n}&quot;&gt;&lt;mfrac&gt;&lt;mrow&gt;&lt;mfrac&gt;&lt;mi&gt;n&lt;/mi&gt;&lt;mn&gt;4&lt;/mn&gt;&lt;/mfrac&gt;&lt;mo&gt;+&lt;/mo&gt;&lt;mn&gt;1&lt;/mn&gt;&lt;/mrow&gt;&lt;mi&gt;n&lt;/mi&gt;&lt;/mfrac&gt;&lt;/math&gt;" id="122" name="Google Shape;122;p12" title="the fraction with numerator n over 4 plus 1 and denominator 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9999" y="9255000"/>
            <a:ext cx="549825" cy="53904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" name="Google Shape;123;p12"/>
          <p:cNvCxnSpPr/>
          <p:nvPr/>
        </p:nvCxnSpPr>
        <p:spPr>
          <a:xfrm>
            <a:off x="474751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Elections</a:t>
            </a:r>
            <a:endParaRPr/>
          </a:p>
        </p:txBody>
      </p:sp>
      <p:sp>
        <p:nvSpPr>
          <p:cNvPr id="129" name="Google Shape;129;p13"/>
          <p:cNvSpPr txBox="1"/>
          <p:nvPr/>
        </p:nvSpPr>
        <p:spPr>
          <a:xfrm>
            <a:off x="467998" y="596768"/>
            <a:ext cx="644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Limitations of FPTP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" name="Google Shape;130;p13"/>
          <p:cNvSpPr txBox="1"/>
          <p:nvPr/>
        </p:nvSpPr>
        <p:spPr>
          <a:xfrm>
            <a:off x="468000" y="960340"/>
            <a:ext cx="46800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Constituency 1 - this is the breakdown of the vote.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Which party won the election in this constituency?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Party B as they received more votes than any other party.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What percentage of the total vote did each party receive? (Round to the nearest percent.)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1" name="Google Shape;131;p13"/>
          <p:cNvGraphicFramePr/>
          <p:nvPr/>
        </p:nvGraphicFramePr>
        <p:xfrm>
          <a:off x="468000" y="11843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{7D05EE50-966D-4F0B-915A-ACB30DCD5E08}</a:tableStyleId>
              </a:tblPr>
              <a:tblGrid>
                <a:gridCol w="1225650"/>
                <a:gridCol w="1225650"/>
                <a:gridCol w="1225650"/>
                <a:gridCol w="1225650"/>
              </a:tblGrid>
              <a:tr h="258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A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B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C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D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58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5772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6889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3424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789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graphicFrame>
        <p:nvGraphicFramePr>
          <p:cNvPr id="132" name="Google Shape;132;p13"/>
          <p:cNvGraphicFramePr/>
          <p:nvPr/>
        </p:nvGraphicFramePr>
        <p:xfrm>
          <a:off x="468000" y="29580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{7D05EE50-966D-4F0B-915A-ACB30DCD5E08}</a:tableStyleId>
              </a:tblPr>
              <a:tblGrid>
                <a:gridCol w="1225625"/>
                <a:gridCol w="1225625"/>
                <a:gridCol w="1225625"/>
                <a:gridCol w="1225625"/>
              </a:tblGrid>
              <a:tr h="258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A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B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C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D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58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34%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41%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20%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5%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133" name="Google Shape;133;p13"/>
          <p:cNvSpPr txBox="1"/>
          <p:nvPr/>
        </p:nvSpPr>
        <p:spPr>
          <a:xfrm>
            <a:off x="468000" y="3708485"/>
            <a:ext cx="46800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Constituency 2 - this is the breakdown of the vote.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Which party won the election in this constituency?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Party B as they received more votes than any other party.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What percentage of the total vote did each party receive? (Round to the nearest percent.)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4" name="Google Shape;134;p13"/>
          <p:cNvGraphicFramePr/>
          <p:nvPr/>
        </p:nvGraphicFramePr>
        <p:xfrm>
          <a:off x="468000" y="39260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{7D05EE50-966D-4F0B-915A-ACB30DCD5E08}</a:tableStyleId>
              </a:tblPr>
              <a:tblGrid>
                <a:gridCol w="1225625"/>
                <a:gridCol w="1225625"/>
                <a:gridCol w="1225625"/>
                <a:gridCol w="1225625"/>
              </a:tblGrid>
              <a:tr h="258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A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B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C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D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58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5381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4729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1291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graphicFrame>
        <p:nvGraphicFramePr>
          <p:cNvPr id="135" name="Google Shape;135;p13"/>
          <p:cNvGraphicFramePr/>
          <p:nvPr/>
        </p:nvGraphicFramePr>
        <p:xfrm>
          <a:off x="468000" y="56855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{7D05EE50-966D-4F0B-915A-ACB30DCD5E08}</a:tableStyleId>
              </a:tblPr>
              <a:tblGrid>
                <a:gridCol w="1225675"/>
                <a:gridCol w="1225675"/>
                <a:gridCol w="1225675"/>
                <a:gridCol w="1225675"/>
              </a:tblGrid>
              <a:tr h="258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A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B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C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D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58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30%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33%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29%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8%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136" name="Google Shape;136;p13"/>
          <p:cNvSpPr txBox="1"/>
          <p:nvPr/>
        </p:nvSpPr>
        <p:spPr>
          <a:xfrm>
            <a:off x="468000" y="6443975"/>
            <a:ext cx="46800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Constituency 3 - this is the breakdown of the vote.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Which party won the election in this constituency?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Party A as they received more votes than any other party.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What percentage of the total vote did each party receive? (Round to the nearest percent.)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7" name="Google Shape;137;p13"/>
          <p:cNvGraphicFramePr/>
          <p:nvPr/>
        </p:nvGraphicFramePr>
        <p:xfrm>
          <a:off x="468000" y="66771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{7D05EE50-966D-4F0B-915A-ACB30DCD5E08}</a:tableStyleId>
              </a:tblPr>
              <a:tblGrid>
                <a:gridCol w="1225675"/>
                <a:gridCol w="1225675"/>
                <a:gridCol w="1225675"/>
                <a:gridCol w="1225675"/>
              </a:tblGrid>
              <a:tr h="257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A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B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C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D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57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21 953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7116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4581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2093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graphicFrame>
        <p:nvGraphicFramePr>
          <p:cNvPr id="138" name="Google Shape;138;p13"/>
          <p:cNvGraphicFramePr/>
          <p:nvPr/>
        </p:nvGraphicFramePr>
        <p:xfrm>
          <a:off x="468100" y="8413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{7D05EE50-966D-4F0B-915A-ACB30DCD5E08}</a:tableStyleId>
              </a:tblPr>
              <a:tblGrid>
                <a:gridCol w="1225625"/>
                <a:gridCol w="1225625"/>
                <a:gridCol w="1225625"/>
                <a:gridCol w="1225625"/>
              </a:tblGrid>
              <a:tr h="258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A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B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C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D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58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61%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20%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13%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6%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139" name="Google Shape;139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45" name="Google Shape;145;p14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Elections</a:t>
            </a:r>
            <a:endParaRPr/>
          </a:p>
        </p:txBody>
      </p:sp>
      <p:sp>
        <p:nvSpPr>
          <p:cNvPr id="146" name="Google Shape;146;p14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" name="Google Shape;148;p14"/>
          <p:cNvSpPr txBox="1"/>
          <p:nvPr/>
        </p:nvSpPr>
        <p:spPr>
          <a:xfrm>
            <a:off x="468000" y="720000"/>
            <a:ext cx="66240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By considering your answers to questions 1-3, answer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Which party won the election in the most constituencies?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Party B as they won two out of three constituencies.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By considering the total number of votes cast across the three constituencies, what percentage of the vote did each party win? Write a paragraph explaining what this means.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68 948 votes cast in total. (Approximate percentages below.)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Despite Party A receiving the most votes across the constituencies, Party B still won more individual constituencies. Party A may be more popular but it does not have as many elected members as Party B does.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49" name="Google Shape;149;p14"/>
          <p:cNvGraphicFramePr/>
          <p:nvPr/>
        </p:nvGraphicFramePr>
        <p:xfrm>
          <a:off x="468000" y="2954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{7D05EE50-966D-4F0B-915A-ACB30DCD5E08}</a:tableStyleId>
              </a:tblPr>
              <a:tblGrid>
                <a:gridCol w="1195650"/>
                <a:gridCol w="1195650"/>
                <a:gridCol w="1195650"/>
                <a:gridCol w="1195650"/>
              </a:tblGrid>
              <a:tr h="25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A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B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C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D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5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47%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28%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18%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6%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