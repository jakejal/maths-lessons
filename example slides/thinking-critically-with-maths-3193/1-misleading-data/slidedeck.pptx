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2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E64912-5923-42BA-8A9D-717A7A022C39}">
  <a:tblStyle styleId="{D4E64912-5923-42BA-8A9D-717A7A022C3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2f4033e3a1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2f4033e3a1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2f4bbedcec9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" name="Google Shape;867;g2f4bbedcec9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2f4033e3a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2f4033e3a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2f4033e3a1f_0_8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2f4033e3a1f_0_8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2f4033e3a1f_0_8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2f4033e3a1f_0_8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2f4033e3a1f_0_8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2f4033e3a1f_0_8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2f4033e3a1f_0_9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2f4033e3a1f_0_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2f4033e3a1f_0_9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2f4033e3a1f_0_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2f4033e3a1f_0_10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0" name="Google Shape;990;g2f4033e3a1f_0_10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2f4033e3a1f_0_10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0" name="Google Shape;1030;g2f4033e3a1f_0_10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2f4033e3a1f_0_10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2f4033e3a1f_0_10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2f4033e3a1f_0_10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2f4033e3a1f_0_10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2f4033e3a1f_0_1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2f4033e3a1f_0_1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2f4033e3a1f_0_1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0" name="Google Shape;1100;g2f4033e3a1f_0_1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2f4033e3a1f_0_1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6" name="Google Shape;1136;g2f4033e3a1f_0_1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2f4033e3a1f_0_1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2f4033e3a1f_0_1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2f4033e3a1f_0_1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2f4033e3a1f_0_1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2f4033e3a1f_0_1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2f4033e3a1f_0_1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2f4033e3a1f_0_1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3" name="Google Shape;1213;g2f4033e3a1f_0_1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g2f4033e3a1f_0_1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2" name="Google Shape;1222;g2f4033e3a1f_0_1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2f4033e3a1f_0_1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7" name="Google Shape;1237;g2f4033e3a1f_0_1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g2f4033e3a1f_0_1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0" name="Google Shape;1250;g2f4033e3a1f_0_1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g2f4033e3a1f_0_1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g2f4033e3a1f_0_1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2f4033e3a1f_0_8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6" name="Google Shape;1306;g2f4033e3a1f_0_8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2f4033e3a1f_0_1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2f4033e3a1f_0_1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2f4033e3a1f_0_1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7" name="Google Shape;1327;g2f4033e3a1f_0_1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g2f4033e3a1f_0_1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9" name="Google Shape;1339;g2f4033e3a1f_0_1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g2f4033e3a1f_0_1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g2f4033e3a1f_0_1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g2f4033e3a1f_0_1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0" name="Google Shape;1470;g2f4033e3a1f_0_1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g2f4033e3a1f_0_1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0" name="Google Shape;1530;g2f4033e3a1f_0_1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g2f4033e3a1f_0_1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0" name="Google Shape;1540;g2f4033e3a1f_0_1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g2f4033e3a1f_0_1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8" name="Google Shape;1548;g2f4033e3a1f_0_1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g2f4033e3a1f_0_18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9" name="Google Shape;1579;g2f4033e3a1f_0_18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g2f4bbedcec9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8" name="Google Shape;1648;g2f4bbedcec9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6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g2f4bbedcec9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8" name="Google Shape;1678;g2f4bbedcec9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g2f4bbedcec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7" name="Google Shape;1717;g2f4bbedce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6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g2f4bbedcec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8" name="Google Shape;1748;g2f4bbedcec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g2f4bbedcec9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9" name="Google Shape;1779;g2f4bbedcec9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7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Google Shape;1848;g2f4bbedcec9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9" name="Google Shape;1849;g2f4bbedcec9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g2f4bbedcec9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3" name="Google Shape;1913;g2f4bbedcec9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1" name="Shape 1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Google Shape;1942;g2f4bbedcec9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3" name="Google Shape;1943;g2f4bbedcec9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g2f4bbedcec9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3" name="Google Shape;1973;g2f4bbedcec9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5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g2f4bbedcec9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7" name="Google Shape;2027;g2f4bbedcec9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5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6" name="Google Shape;2096;g2f4bbedcec9_0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7" name="Google Shape;2097;g2f4bbedcec9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4" name="Shape 2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" name="Google Shape;2135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6" name="Google Shape;2136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0" name="Shape 2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" name="Google Shape;2141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2" name="Google Shape;2142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2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25.png"/><Relationship Id="rId5" Type="http://schemas.openxmlformats.org/officeDocument/2006/relationships/image" Target="../media/image1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23.png"/><Relationship Id="rId5" Type="http://schemas.openxmlformats.org/officeDocument/2006/relationships/image" Target="../media/image1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24.png"/><Relationship Id="rId5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24.png"/><Relationship Id="rId5" Type="http://schemas.openxmlformats.org/officeDocument/2006/relationships/image" Target="../media/image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32.png"/><Relationship Id="rId5" Type="http://schemas.openxmlformats.org/officeDocument/2006/relationships/image" Target="../media/image31.png"/><Relationship Id="rId6" Type="http://schemas.openxmlformats.org/officeDocument/2006/relationships/image" Target="../media/image33.png"/><Relationship Id="rId7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88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3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88.png"/><Relationship Id="rId4" Type="http://schemas.openxmlformats.org/officeDocument/2006/relationships/image" Target="../media/image37.png"/><Relationship Id="rId9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45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88.png"/><Relationship Id="rId4" Type="http://schemas.openxmlformats.org/officeDocument/2006/relationships/image" Target="../media/image46.png"/><Relationship Id="rId11" Type="http://schemas.openxmlformats.org/officeDocument/2006/relationships/image" Target="../media/image34.png"/><Relationship Id="rId10" Type="http://schemas.openxmlformats.org/officeDocument/2006/relationships/image" Target="../media/image50.png"/><Relationship Id="rId9" Type="http://schemas.openxmlformats.org/officeDocument/2006/relationships/image" Target="../media/image41.png"/><Relationship Id="rId5" Type="http://schemas.openxmlformats.org/officeDocument/2006/relationships/image" Target="../media/image37.png"/><Relationship Id="rId6" Type="http://schemas.openxmlformats.org/officeDocument/2006/relationships/image" Target="../media/image35.png"/><Relationship Id="rId7" Type="http://schemas.openxmlformats.org/officeDocument/2006/relationships/image" Target="../media/image45.png"/><Relationship Id="rId8" Type="http://schemas.openxmlformats.org/officeDocument/2006/relationships/image" Target="../media/image40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1.png"/><Relationship Id="rId4" Type="http://schemas.openxmlformats.org/officeDocument/2006/relationships/image" Target="../media/image56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1.png"/><Relationship Id="rId4" Type="http://schemas.openxmlformats.org/officeDocument/2006/relationships/image" Target="../media/image56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1.png"/><Relationship Id="rId4" Type="http://schemas.openxmlformats.org/officeDocument/2006/relationships/image" Target="../media/image56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1.png"/><Relationship Id="rId4" Type="http://schemas.openxmlformats.org/officeDocument/2006/relationships/image" Target="../media/image56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png"/><Relationship Id="rId3" Type="http://schemas.openxmlformats.org/officeDocument/2006/relationships/image" Target="../media/image48.png"/><Relationship Id="rId4" Type="http://schemas.openxmlformats.org/officeDocument/2006/relationships/image" Target="../media/image56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67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67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67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67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65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65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65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65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12;p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3" name="Google Shape;13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Google Shape;14;p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" name="Google Shape;27;p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2" name="Google Shape;42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" name="Google Shape;43;p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4" name="Google Shape;44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" name="Google Shape;46;p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53" name="Google Shape;53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" name="Google Shape;54;p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5" name="Google Shape;55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82">
            <a:off x="6923956" y="1273792"/>
            <a:ext cx="1784155" cy="140454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" name="Google Shape;57;p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" name="Google Shape;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4" name="Google Shape;64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66" name="Google Shape;66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" name="Google Shape;72;p8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" name="Google Shape;76;p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" name="Google Shape;82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3" name="Google Shape;83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5" name="Google Shape;85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88119">
            <a:off x="6742284" y="969390"/>
            <a:ext cx="2161157" cy="191529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" name="Google Shape;9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" name="Google Shape;10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02" name="Google Shape;102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4" name="Google Shape;104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6027">
            <a:off x="6626180" y="831797"/>
            <a:ext cx="2331091" cy="208957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13" name="Google Shape;11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12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5" name="Google Shape;115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" name="Google Shape;116;p1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" name="Google Shape;1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1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" name="Google Shape;1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" name="Google Shape;137;p15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" name="Google Shape;1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1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40" name="Google Shape;14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2" name="Google Shape;142;p1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4" name="Google Shape;14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5628">
            <a:off x="6551506" y="729991"/>
            <a:ext cx="2546513" cy="254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1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1" name="Google Shape;151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16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3" name="Google Shape;153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" name="Google Shape;159;p1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0" name="Google Shape;160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1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2" name="Google Shape;16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65" name="Google Shape;165;p17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360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RHE (PSHE)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9" name="Google Shape;16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71" name="Google Shape;171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1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3" name="Google Shape;17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1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76" name="Google Shape;176;p18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5119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RSHE (PSHE)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1" name="Google Shape;181;p19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84" name="Google Shape;184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6" name="Google Shape;18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1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" name="Google Shape;191;p2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" name="Google Shape;194;p2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95" name="Google Shape;195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20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7" name="Google Shape;197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2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2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2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06" name="Google Shape;20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08" name="Google Shape;20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339">
            <a:off x="6714634" y="840073"/>
            <a:ext cx="2165107" cy="217392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0" name="Google Shape;220;p23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221" name="Google Shape;221;p2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2" name="Google Shape;222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3" name="Google Shape;223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4" name="Google Shape;224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225" name="Google Shape;225;p2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27" name="Google Shape;227;p2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p2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5" name="Google Shape;235;p24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6" name="Google Shape;236;p24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7" name="Google Shape;237;p24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2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3" name="Google Shape;243;p2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4" name="Google Shape;244;p25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5" name="Google Shape;245;p25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6" name="Google Shape;246;p25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7" name="Google Shape;247;p25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8" name="Google Shape;248;p25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9" name="Google Shape;249;p25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2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2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7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9" name="Google Shape;269;p27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0" name="Google Shape;270;p27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8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8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8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p28"/>
          <p:cNvCxnSpPr>
            <a:endCxn id="27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79" name="Google Shape;27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1" name="Google Shape;281;p2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78" name="Google Shape;278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8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9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2" name="Google Shape;292;p29"/>
          <p:cNvCxnSpPr>
            <a:endCxn id="29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93" name="Google Shape;293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6" name="Google Shape;296;p29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7" name="Google Shape;297;p29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98" name="Google Shape;298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29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3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0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0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2" name="Google Shape;312;p30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13" name="Google Shape;313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0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7" name="Google Shape;317;p30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8" name="Google Shape;318;p30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9" name="Google Shape;319;p30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320" name="Google Shape;320;p3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2" name="Google Shape;322;p30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30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1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29" name="Google Shape;329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0" name="Google Shape;33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36" name="Google Shape;336;p3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8" name="Google Shape;33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43" name="Google Shape;343;p3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45" name="Google Shape;34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0" name="Google Shape;350;p3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52" name="Google Shape;35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5" name="Google Shape;355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8" name="Google Shape;358;p3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9" name="Google Shape;359;p3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60" name="Google Shape;360;p3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61" name="Google Shape;361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" name="Google Shape;362;p3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3" name="Google Shape;363;p3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64" name="Google Shape;364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5" name="Google Shape;365;p3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8" name="Google Shape;368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2" name="Google Shape;372;p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73" name="Google Shape;373;p3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74" name="Google Shape;374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6" name="Google Shape;376;p3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77" name="Google Shape;377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8" name="Google Shape;378;p3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1" name="Google Shape;381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86" name="Google Shape;386;p3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87" name="Google Shape;387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90" name="Google Shape;39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4" name="Google Shape;394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7" name="Google Shape;397;p3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8" name="Google Shape;398;p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99" name="Google Shape;399;p3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400" name="Google Shape;400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1" name="Google Shape;401;p3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2" name="Google Shape;402;p3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403" name="Google Shape;403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3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/why - purple">
  <p:cSld name="TITLE_AND_TWO_COLUMNS_1_1_9_1_3_1">
    <p:bg>
      <p:bgPr>
        <a:solidFill>
          <a:srgbClr val="F3EEFB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9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39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39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3" name="Google Shape;413;p39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4" name="Google Shape;414;p3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15" name="Google Shape;415;p39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39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7" name="Google Shape;41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/why - jade">
  <p:cSld name="TITLE_AND_TWO_COLUMNS_1_1_9_1_3_1_1_1">
    <p:bg>
      <p:bgPr>
        <a:solidFill>
          <a:srgbClr val="E6F2F2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3" name="Google Shape;42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6" name="Google Shape;42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40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9" name="Google Shape;429;p40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0" name="Google Shape;430;p40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1" name="Google Shape;431;p4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2" name="Google Shape;432;p4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33" name="Google Shape;433;p40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40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/why - blue">
  <p:cSld name="TITLE_AND_TWO_COLUMNS_1_1_9_1_3_2">
    <p:bg>
      <p:bgPr>
        <a:solidFill>
          <a:srgbClr val="EBEDFE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8" name="Google Shape;43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1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4" name="Google Shape;444;p41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5" name="Google Shape;445;p41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4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7" name="Google Shape;447;p4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48" name="Google Shape;448;p41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41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/why - pink">
  <p:cSld name="TITLE_AND_TWO_COLUMNS_1_1_9_1_3_1_1_1_1">
    <p:bg>
      <p:bgPr>
        <a:solidFill>
          <a:srgbClr val="FAEAF6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3" name="Google Shape;45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5" name="Google Shape;455;p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42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42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0" name="Google Shape;460;p42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4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4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63" name="Google Shape;463;p42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42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9" name="Google Shape;46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1" name="Google Shape;471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2" name="Google Shape;472;p4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3" name="Google Shape;473;p4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4" name="Google Shape;474;p4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75" name="Google Shape;475;p4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76" name="Google Shape;47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7" name="Google Shape;47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8" name="Google Shape;478;p4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79" name="Google Shape;47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0" name="Google Shape;48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1" name="Google Shape;481;p4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82" name="Google Shape;48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3" name="Google Shape;48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8" name="Google Shape;48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0" name="Google Shape;490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1" name="Google Shape;491;p4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2" name="Google Shape;492;p4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3" name="Google Shape;493;p4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4" name="Google Shape;494;p4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95" name="Google Shape;495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6" name="Google Shape;496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7" name="Google Shape;497;p4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98" name="Google Shape;498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9" name="Google Shape;499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00" name="Google Shape;500;p4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01" name="Google Shape;501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2" name="Google Shape;502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7" name="Google Shape;50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9" name="Google Shape;509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0" name="Google Shape;510;p4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14" name="Google Shape;514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17" name="Google Shape;517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20" name="Google Shape;520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4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4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4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4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4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4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33" name="Google Shape;533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4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36" name="Google Shape;536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4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39" name="Google Shape;539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5" name="Google Shape;5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7" name="Google Shape;547;p4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8" name="Google Shape;548;p4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49" name="Google Shape;549;p4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0" name="Google Shape;550;p4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1" name="Google Shape;551;p4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52" name="Google Shape;552;p4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53" name="Google Shape;553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4" name="Google Shape;554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5" name="Google Shape;555;p4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56" name="Google Shape;556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59" name="Google Shape;559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62" name="Google Shape;562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2" name="Google Shape;572;p4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3" name="Google Shape;573;p4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4" name="Google Shape;574;p4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75" name="Google Shape;575;p4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76" name="Google Shape;576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7" name="Google Shape;577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8" name="Google Shape;578;p4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79" name="Google Shape;579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0" name="Google Shape;580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1" name="Google Shape;581;p4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82" name="Google Shape;582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" name="Google Shape;583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4" name="Google Shape;584;p4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85" name="Google Shape;585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6" name="Google Shape;586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4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1" name="Google Shape;59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3" name="Google Shape;593;p4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4" name="Google Shape;594;p4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5" name="Google Shape;595;p4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6" name="Google Shape;596;p4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7" name="Google Shape;597;p4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98" name="Google Shape;598;p4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99" name="Google Shape;599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1" name="Google Shape;601;p4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02" name="Google Shape;602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3" name="Google Shape;603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4" name="Google Shape;604;p4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05" name="Google Shape;605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6" name="Google Shape;606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7" name="Google Shape;607;p4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08" name="Google Shape;608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9" name="Google Shape;609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5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5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14" name="Google Shape;61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6" name="Google Shape;616;p5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7" name="Google Shape;617;p5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8" name="Google Shape;618;p5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9" name="Google Shape;619;p5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20" name="Google Shape;620;p5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21" name="Google Shape;621;p5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22" name="Google Shape;622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4" name="Google Shape;624;p5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25" name="Google Shape;625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6" name="Google Shape;626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7" name="Google Shape;627;p5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28" name="Google Shape;628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9" name="Google Shape;629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0" name="Google Shape;630;p5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31" name="Google Shape;631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2" name="Google Shape;632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634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5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37" name="Google Shape;63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9" name="Google Shape;639;p5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0" name="Google Shape;640;p5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41" name="Google Shape;641;p5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42" name="Google Shape;642;p5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43" name="Google Shape;643;p5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44" name="Google Shape;644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5" name="Google Shape;645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6" name="Google Shape;646;p5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47" name="Google Shape;647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8" name="Google Shape;648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9" name="Google Shape;649;p5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50" name="Google Shape;650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1" name="Google Shape;651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56" name="Google Shape;65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8" name="Google Shape;658;p5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9" name="Google Shape;659;p5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60" name="Google Shape;660;p5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61" name="Google Shape;661;p5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62" name="Google Shape;662;p5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63" name="Google Shape;663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4" name="Google Shape;664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65" name="Google Shape;665;p5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66" name="Google Shape;666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7" name="Google Shape;667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68" name="Google Shape;668;p5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69" name="Google Shape;669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0" name="Google Shape;670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5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75" name="Google Shape;67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7" name="Google Shape;677;p5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8" name="Google Shape;678;p5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79" name="Google Shape;679;p5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80" name="Google Shape;680;p5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81" name="Google Shape;681;p5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82" name="Google Shape;682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3" name="Google Shape;683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4" name="Google Shape;684;p5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85" name="Google Shape;685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6" name="Google Shape;686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7" name="Google Shape;687;p5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88" name="Google Shape;688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9" name="Google Shape;689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" name="Google Shape;691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5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5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94" name="Google Shape;69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6" name="Google Shape;696;p5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7" name="Google Shape;697;p5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8" name="Google Shape;698;p5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9" name="Google Shape;699;p5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00" name="Google Shape;700;p5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701" name="Google Shape;701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2" name="Google Shape;702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3" name="Google Shape;703;p5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04" name="Google Shape;704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5" name="Google Shape;705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6" name="Google Shape;706;p5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07" name="Google Shape;707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8" name="Google Shape;708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13" name="Google Shape;71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5" name="Google Shape;715;p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" name="Google Shape;717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20" name="Google Shape;72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2" name="Google Shape;722;p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27" name="Google Shape;72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1" name="Google Shape;731;p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5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5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34" name="Google Shape;73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5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5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41" name="Google Shape;741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3" name="Google Shape;743;p5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4" name="Google Shape;744;p5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6" name="Google Shape;746;p6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6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6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0" name="Google Shape;75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6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2" name="Google Shape;752;p6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6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6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7" name="Google Shape;757;p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8" name="Google Shape;75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6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0" name="Google Shape;760;p6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2" name="Google Shape;762;p6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6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5" name="Google Shape;765;p6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66" name="Google Shape;76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6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8" name="Google Shape;768;p6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0" name="Google Shape;770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6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6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73" name="Google Shape;77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6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6" name="Google Shape;776;p6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" name="Google Shape;778;p6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6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1" name="Google Shape;781;p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2" name="Google Shape;78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4" name="Google Shape;784;p6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6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9" name="Google Shape;789;p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0" name="Google Shape;790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2" name="Google Shape;792;p6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4" name="Google Shape;794;p66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pic>
          <p:nvPicPr>
            <p:cNvPr id="795" name="Google Shape;795;p66"/>
            <p:cNvPicPr preferRelativeResize="0"/>
            <p:nvPr/>
          </p:nvPicPr>
          <p:blipFill rotWithShape="1">
            <a:blip r:embed="rId2">
              <a:alphaModFix/>
            </a:blip>
            <a:srcRect b="1672" l="0" r="0" t="1662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6" name="Google Shape;796;p66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7" name="Google Shape;797;p6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98" name="Google Shape;798;p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9" name="Google Shape;799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6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67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4" name="Google Shape;804;p6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6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06" name="Google Shape;806;p6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6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68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0" name="Google Shape;810;p6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6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12" name="Google Shape;812;p6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68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Google Shape;815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69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70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0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70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70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0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0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0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0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0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1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7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4" name="Google Shape;834;p7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7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7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7" name="Google Shape;837;p7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8" name="Google Shape;838;p7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73" Type="http://schemas.openxmlformats.org/officeDocument/2006/relationships/slideLayout" Target="../slideLayouts/slideLayout72.xml"/><Relationship Id="rId72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74" Type="http://schemas.openxmlformats.org/officeDocument/2006/relationships/theme" Target="../theme/theme2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71" Type="http://schemas.openxmlformats.org/officeDocument/2006/relationships/slideLayout" Target="../slideLayouts/slideLayout70.xml"/><Relationship Id="rId70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68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22.xml"/><Relationship Id="rId67" Type="http://schemas.openxmlformats.org/officeDocument/2006/relationships/slideLayout" Target="../slideLayouts/slideLayout66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69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  <p:sldLayoutId id="2147483712" r:id="rId66"/>
    <p:sldLayoutId id="2147483713" r:id="rId67"/>
    <p:sldLayoutId id="2147483714" r:id="rId68"/>
    <p:sldLayoutId id="2147483715" r:id="rId69"/>
    <p:sldLayoutId id="2147483716" r:id="rId70"/>
    <p:sldLayoutId id="2147483717" r:id="rId71"/>
    <p:sldLayoutId id="2147483718" r:id="rId72"/>
    <p:sldLayoutId id="2147483719" r:id="rId7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8.png"/><Relationship Id="rId4" Type="http://schemas.openxmlformats.org/officeDocument/2006/relationships/image" Target="../media/image7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1.png"/><Relationship Id="rId4" Type="http://schemas.openxmlformats.org/officeDocument/2006/relationships/image" Target="../media/image7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7.png"/><Relationship Id="rId4" Type="http://schemas.openxmlformats.org/officeDocument/2006/relationships/image" Target="../media/image73.png"/><Relationship Id="rId5" Type="http://schemas.openxmlformats.org/officeDocument/2006/relationships/image" Target="../media/image7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7.png"/><Relationship Id="rId4" Type="http://schemas.openxmlformats.org/officeDocument/2006/relationships/image" Target="../media/image73.png"/><Relationship Id="rId5" Type="http://schemas.openxmlformats.org/officeDocument/2006/relationships/image" Target="../media/image7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6.png"/><Relationship Id="rId4" Type="http://schemas.openxmlformats.org/officeDocument/2006/relationships/image" Target="../media/image8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2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2.png"/><Relationship Id="rId4" Type="http://schemas.openxmlformats.org/officeDocument/2006/relationships/image" Target="../media/image87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4.png"/><Relationship Id="rId4" Type="http://schemas.openxmlformats.org/officeDocument/2006/relationships/image" Target="../media/image89.png"/><Relationship Id="rId5" Type="http://schemas.openxmlformats.org/officeDocument/2006/relationships/image" Target="../media/image72.png"/><Relationship Id="rId6" Type="http://schemas.openxmlformats.org/officeDocument/2006/relationships/image" Target="../media/image7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2.png"/><Relationship Id="rId4" Type="http://schemas.openxmlformats.org/officeDocument/2006/relationships/image" Target="../media/image73.png"/><Relationship Id="rId5" Type="http://schemas.openxmlformats.org/officeDocument/2006/relationships/image" Target="../media/image7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1.png"/><Relationship Id="rId4" Type="http://schemas.openxmlformats.org/officeDocument/2006/relationships/image" Target="../media/image7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9.png"/><Relationship Id="rId4" Type="http://schemas.openxmlformats.org/officeDocument/2006/relationships/image" Target="../media/image72.png"/><Relationship Id="rId5" Type="http://schemas.openxmlformats.org/officeDocument/2006/relationships/image" Target="../media/image7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2.png"/><Relationship Id="rId4" Type="http://schemas.openxmlformats.org/officeDocument/2006/relationships/image" Target="../media/image73.png"/><Relationship Id="rId5" Type="http://schemas.openxmlformats.org/officeDocument/2006/relationships/image" Target="../media/image7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9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1.png"/><Relationship Id="rId4" Type="http://schemas.openxmlformats.org/officeDocument/2006/relationships/image" Target="../media/image7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71.png"/><Relationship Id="rId4" Type="http://schemas.openxmlformats.org/officeDocument/2006/relationships/image" Target="../media/image7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9.png"/><Relationship Id="rId4" Type="http://schemas.openxmlformats.org/officeDocument/2006/relationships/image" Target="../media/image72.png"/><Relationship Id="rId5" Type="http://schemas.openxmlformats.org/officeDocument/2006/relationships/image" Target="../media/image7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89.png"/><Relationship Id="rId4" Type="http://schemas.openxmlformats.org/officeDocument/2006/relationships/image" Target="../media/image72.png"/><Relationship Id="rId5" Type="http://schemas.openxmlformats.org/officeDocument/2006/relationships/image" Target="../media/image7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89.png"/><Relationship Id="rId4" Type="http://schemas.openxmlformats.org/officeDocument/2006/relationships/image" Target="../media/image72.png"/><Relationship Id="rId5" Type="http://schemas.openxmlformats.org/officeDocument/2006/relationships/image" Target="../media/image7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7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Misleading data</a:t>
            </a:r>
            <a:endParaRPr/>
          </a:p>
        </p:txBody>
      </p:sp>
      <p:sp>
        <p:nvSpPr>
          <p:cNvPr id="844" name="Google Shape;844;p7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Thinking critically with maths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75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7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critically analyse a graph.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77"/>
          <p:cNvSpPr txBox="1"/>
          <p:nvPr>
            <p:ph idx="1" type="subTitle"/>
          </p:nvPr>
        </p:nvSpPr>
        <p:spPr>
          <a:xfrm>
            <a:off x="324000" y="1069850"/>
            <a:ext cx="6575400" cy="99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solidFill>
                  <a:schemeClr val="dk1"/>
                </a:solidFill>
              </a:rPr>
              <a:t>A pie chart (pie graph) is a circular graph where sectors represent different groups proportionally.</a:t>
            </a:r>
            <a:endParaRPr b="0" sz="2000">
              <a:solidFill>
                <a:schemeClr val="dk1"/>
              </a:solidFill>
            </a:endParaRPr>
          </a:p>
        </p:txBody>
      </p:sp>
      <p:pic>
        <p:nvPicPr>
          <p:cNvPr id="860" name="Google Shape;860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975" y="932038"/>
            <a:ext cx="1375450" cy="1375925"/>
          </a:xfrm>
          <a:prstGeom prst="rect">
            <a:avLst/>
          </a:prstGeom>
          <a:noFill/>
          <a:ln cap="flat" cmpd="sng" w="9525">
            <a:solidFill>
              <a:srgbClr val="918F8E"/>
            </a:solidFill>
            <a:prstDash val="dash"/>
            <a:miter lim="8000"/>
            <a:headEnd len="sm" w="sm" type="none"/>
            <a:tailEnd len="sm" w="sm" type="none"/>
          </a:ln>
        </p:spPr>
      </p:pic>
      <p:sp>
        <p:nvSpPr>
          <p:cNvPr id="861" name="Google Shape;861;p77"/>
          <p:cNvSpPr txBox="1"/>
          <p:nvPr>
            <p:ph idx="1" type="subTitle"/>
          </p:nvPr>
        </p:nvSpPr>
        <p:spPr>
          <a:xfrm>
            <a:off x="324000" y="3040450"/>
            <a:ext cx="6242700" cy="99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solidFill>
                  <a:schemeClr val="dk1"/>
                </a:solidFill>
              </a:rPr>
              <a:t>Time series graphs show data over a time period. The time period is always shown on the </a:t>
            </a:r>
            <a:r>
              <a:rPr b="0"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lang="en-GB" sz="2000">
                <a:solidFill>
                  <a:schemeClr val="dk1"/>
                </a:solidFill>
              </a:rPr>
              <a:t>-axis. Data points are joined chronologically by line segments. </a:t>
            </a:r>
            <a:endParaRPr b="0" sz="2000">
              <a:solidFill>
                <a:schemeClr val="dk1"/>
              </a:solidFill>
            </a:endParaRPr>
          </a:p>
        </p:txBody>
      </p:sp>
      <p:grpSp>
        <p:nvGrpSpPr>
          <p:cNvPr id="862" name="Google Shape;862;p77"/>
          <p:cNvGrpSpPr/>
          <p:nvPr/>
        </p:nvGrpSpPr>
        <p:grpSpPr>
          <a:xfrm>
            <a:off x="6566550" y="2854999"/>
            <a:ext cx="2012876" cy="1555699"/>
            <a:chOff x="5362575" y="2017124"/>
            <a:chExt cx="2012876" cy="1555699"/>
          </a:xfrm>
        </p:grpSpPr>
        <p:pic>
          <p:nvPicPr>
            <p:cNvPr id="863" name="Google Shape;863;p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425351" y="2017124"/>
              <a:ext cx="1950100" cy="1555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4" name="Google Shape;864;p77"/>
            <p:cNvSpPr/>
            <p:nvPr/>
          </p:nvSpPr>
          <p:spPr>
            <a:xfrm>
              <a:off x="5362575" y="2354575"/>
              <a:ext cx="276300" cy="885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78"/>
          <p:cNvSpPr txBox="1"/>
          <p:nvPr>
            <p:ph idx="1" type="subTitle"/>
          </p:nvPr>
        </p:nvSpPr>
        <p:spPr>
          <a:xfrm>
            <a:off x="324000" y="1069850"/>
            <a:ext cx="6105300" cy="99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solidFill>
                  <a:schemeClr val="dk1"/>
                </a:solidFill>
              </a:rPr>
              <a:t>A scatter graph is a visual representation for bivariate data. It can be useful when determining the nature of the relationship between the two variables.  </a:t>
            </a:r>
            <a:endParaRPr b="0" sz="2000">
              <a:solidFill>
                <a:schemeClr val="dk1"/>
              </a:solidFill>
            </a:endParaRPr>
          </a:p>
        </p:txBody>
      </p:sp>
      <p:pic>
        <p:nvPicPr>
          <p:cNvPr id="870" name="Google Shape;870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5174" y="850125"/>
            <a:ext cx="1704451" cy="177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7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Misleading graphs</a:t>
            </a:r>
            <a:endParaRPr/>
          </a:p>
        </p:txBody>
      </p:sp>
      <p:sp>
        <p:nvSpPr>
          <p:cNvPr id="876" name="Google Shape;876;p7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Misinterpreting</a:t>
            </a:r>
            <a:r>
              <a:rPr lang="en-GB"/>
              <a:t> graphs</a:t>
            </a:r>
            <a:endParaRPr/>
          </a:p>
        </p:txBody>
      </p:sp>
      <p:sp>
        <p:nvSpPr>
          <p:cNvPr id="877" name="Google Shape;877;p7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Misleading data</a:t>
            </a:r>
            <a:endParaRPr/>
          </a:p>
        </p:txBody>
      </p:sp>
      <p:pic>
        <p:nvPicPr>
          <p:cNvPr id="878" name="Google Shape;878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625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Misleading graphs</a:t>
            </a:r>
            <a:endParaRPr/>
          </a:p>
        </p:txBody>
      </p:sp>
      <p:sp>
        <p:nvSpPr>
          <p:cNvPr id="884" name="Google Shape;884;p80"/>
          <p:cNvSpPr txBox="1"/>
          <p:nvPr>
            <p:ph idx="1" type="body"/>
          </p:nvPr>
        </p:nvSpPr>
        <p:spPr>
          <a:xfrm>
            <a:off x="324000" y="810000"/>
            <a:ext cx="8237700" cy="13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Graphs are used regularly in all sorts of industries.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What industries can you think of which use graphs?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Where do you see </a:t>
            </a:r>
            <a:r>
              <a:rPr lang="en-GB" sz="2000"/>
              <a:t>graphs</a:t>
            </a:r>
            <a:r>
              <a:rPr lang="en-GB" sz="2000"/>
              <a:t> in your life? </a:t>
            </a:r>
            <a:endParaRPr sz="2000"/>
          </a:p>
        </p:txBody>
      </p:sp>
      <p:sp>
        <p:nvSpPr>
          <p:cNvPr id="885" name="Google Shape;885;p80"/>
          <p:cNvSpPr txBox="1"/>
          <p:nvPr>
            <p:ph idx="1" type="body"/>
          </p:nvPr>
        </p:nvSpPr>
        <p:spPr>
          <a:xfrm>
            <a:off x="324000" y="1708975"/>
            <a:ext cx="8496000" cy="10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-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Any company will use graphs to track trends/ profits.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-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Many companies use graphs for advertising.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-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Public services, journalists and politicians use graphs to convey information to the public.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86" name="Google Shape;886;p80"/>
          <p:cNvSpPr txBox="1"/>
          <p:nvPr>
            <p:ph idx="1" type="body"/>
          </p:nvPr>
        </p:nvSpPr>
        <p:spPr>
          <a:xfrm>
            <a:off x="324000" y="3657150"/>
            <a:ext cx="4248000" cy="11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-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On the news.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-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On packaging of products.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-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On adverts.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887" name="Google Shape;887;p80"/>
          <p:cNvGrpSpPr/>
          <p:nvPr/>
        </p:nvGrpSpPr>
        <p:grpSpPr>
          <a:xfrm>
            <a:off x="5422725" y="2894150"/>
            <a:ext cx="3237565" cy="1197014"/>
            <a:chOff x="5422725" y="2894150"/>
            <a:chExt cx="3237565" cy="1197014"/>
          </a:xfrm>
        </p:grpSpPr>
        <p:sp>
          <p:nvSpPr>
            <p:cNvPr id="888" name="Google Shape;888;p80"/>
            <p:cNvSpPr txBox="1"/>
            <p:nvPr/>
          </p:nvSpPr>
          <p:spPr>
            <a:xfrm>
              <a:off x="7682290" y="3091930"/>
              <a:ext cx="978000" cy="40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Sofia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889" name="Google Shape;889;p8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863474" y="3468824"/>
              <a:ext cx="560997" cy="6223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0" name="Google Shape;890;p80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>
              <a:off x="5422725" y="2894150"/>
              <a:ext cx="2440750" cy="10464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1" name="Google Shape;891;p80"/>
            <p:cNvSpPr/>
            <p:nvPr/>
          </p:nvSpPr>
          <p:spPr>
            <a:xfrm flipH="1">
              <a:off x="5496200" y="2933475"/>
              <a:ext cx="2186100" cy="77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My smart watch creates graphs out of my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fitness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data. </a:t>
              </a:r>
              <a:endParaRPr sz="21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92" name="Google Shape;892;p80"/>
          <p:cNvGrpSpPr/>
          <p:nvPr/>
        </p:nvGrpSpPr>
        <p:grpSpPr>
          <a:xfrm>
            <a:off x="4583525" y="3975150"/>
            <a:ext cx="3352950" cy="808850"/>
            <a:chOff x="4583525" y="3975150"/>
            <a:chExt cx="3352950" cy="808850"/>
          </a:xfrm>
        </p:grpSpPr>
        <p:pic>
          <p:nvPicPr>
            <p:cNvPr id="893" name="Google Shape;893;p80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 flipH="1" rot="10800000">
              <a:off x="4583525" y="3975150"/>
              <a:ext cx="3352950" cy="808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4" name="Google Shape;894;p80"/>
            <p:cNvSpPr/>
            <p:nvPr/>
          </p:nvSpPr>
          <p:spPr>
            <a:xfrm flipH="1">
              <a:off x="4645950" y="4175500"/>
              <a:ext cx="3069300" cy="56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And my phone uses graphs to track my data usage.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1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Misleading graphs</a:t>
            </a:r>
            <a:endParaRPr/>
          </a:p>
        </p:txBody>
      </p:sp>
      <p:sp>
        <p:nvSpPr>
          <p:cNvPr id="900" name="Google Shape;900;p81"/>
          <p:cNvSpPr txBox="1"/>
          <p:nvPr>
            <p:ph idx="1" type="body"/>
          </p:nvPr>
        </p:nvSpPr>
        <p:spPr>
          <a:xfrm>
            <a:off x="324000" y="810000"/>
            <a:ext cx="8237700" cy="35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Why are graphs useful? </a:t>
            </a:r>
            <a:endParaRPr sz="1900"/>
          </a:p>
        </p:txBody>
      </p:sp>
      <p:sp>
        <p:nvSpPr>
          <p:cNvPr id="901" name="Google Shape;901;p81"/>
          <p:cNvSpPr txBox="1"/>
          <p:nvPr>
            <p:ph idx="1" type="body"/>
          </p:nvPr>
        </p:nvSpPr>
        <p:spPr>
          <a:xfrm>
            <a:off x="324000" y="1230475"/>
            <a:ext cx="8496000" cy="166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Kalam"/>
              <a:buChar char="-"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They can be easier to read than lines of data.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Kalam"/>
              <a:buChar char="-"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They can sort data into an order.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Kalam"/>
              <a:buChar char="-"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They can be easy to interpret and draw conclusions from.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Kalam"/>
              <a:buChar char="-"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They can compare sets of data or show trends over time.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Kalam"/>
              <a:buChar char="-"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They can help predict future events.  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02" name="Google Shape;902;p81"/>
          <p:cNvSpPr txBox="1"/>
          <p:nvPr>
            <p:ph idx="1" type="body"/>
          </p:nvPr>
        </p:nvSpPr>
        <p:spPr>
          <a:xfrm>
            <a:off x="324000" y="3030725"/>
            <a:ext cx="8496000" cy="35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Graphs are often used because they are visually appealing.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This means people can draw </a:t>
            </a:r>
            <a:r>
              <a:rPr lang="en-GB" sz="1900"/>
              <a:t>conclusions</a:t>
            </a:r>
            <a:r>
              <a:rPr lang="en-GB" sz="1900"/>
              <a:t> without needing to analyse the data thoroughly.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However this can lead to the misuse or misinterpretation of graphs. </a:t>
            </a:r>
            <a:r>
              <a:rPr lang="en-GB" sz="1900"/>
              <a:t> 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82"/>
          <p:cNvSpPr txBox="1"/>
          <p:nvPr>
            <p:ph idx="1" type="body"/>
          </p:nvPr>
        </p:nvSpPr>
        <p:spPr>
          <a:xfrm>
            <a:off x="2414650" y="2854825"/>
            <a:ext cx="2253300" cy="25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Is Jacob correct?</a:t>
            </a:r>
            <a:endParaRPr sz="2000"/>
          </a:p>
        </p:txBody>
      </p:sp>
      <p:sp>
        <p:nvSpPr>
          <p:cNvPr id="908" name="Google Shape;908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Misleading graphs</a:t>
            </a:r>
            <a:endParaRPr/>
          </a:p>
        </p:txBody>
      </p:sp>
      <p:pic>
        <p:nvPicPr>
          <p:cNvPr id="909" name="Google Shape;90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125" y="1079987"/>
            <a:ext cx="3239075" cy="19818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10" name="Google Shape;910;p82"/>
          <p:cNvSpPr/>
          <p:nvPr/>
        </p:nvSpPr>
        <p:spPr>
          <a:xfrm>
            <a:off x="5301625" y="966500"/>
            <a:ext cx="3259800" cy="2535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Average daily ice cream sales.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82"/>
          <p:cNvSpPr/>
          <p:nvPr/>
        </p:nvSpPr>
        <p:spPr>
          <a:xfrm>
            <a:off x="8003900" y="2935325"/>
            <a:ext cx="475200" cy="25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year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2" name="Google Shape;912;p82"/>
          <p:cNvSpPr/>
          <p:nvPr/>
        </p:nvSpPr>
        <p:spPr>
          <a:xfrm rot="-5400000">
            <a:off x="4693350" y="1944175"/>
            <a:ext cx="1122300" cy="25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Frequency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13" name="Google Shape;913;p82"/>
          <p:cNvCxnSpPr/>
          <p:nvPr/>
        </p:nvCxnSpPr>
        <p:spPr>
          <a:xfrm rot="10800000">
            <a:off x="5536825" y="1305525"/>
            <a:ext cx="0" cy="160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4" name="Google Shape;914;p82"/>
          <p:cNvCxnSpPr/>
          <p:nvPr/>
        </p:nvCxnSpPr>
        <p:spPr>
          <a:xfrm>
            <a:off x="5536825" y="2912325"/>
            <a:ext cx="2960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5" name="Google Shape;915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87961" y="2386925"/>
            <a:ext cx="622840" cy="769199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82"/>
          <p:cNvSpPr txBox="1"/>
          <p:nvPr/>
        </p:nvSpPr>
        <p:spPr>
          <a:xfrm flipH="1">
            <a:off x="241738" y="1975351"/>
            <a:ext cx="10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17" name="Google Shape;917;p82"/>
          <p:cNvGrpSpPr/>
          <p:nvPr/>
        </p:nvGrpSpPr>
        <p:grpSpPr>
          <a:xfrm>
            <a:off x="1110758" y="837007"/>
            <a:ext cx="3461156" cy="2075290"/>
            <a:chOff x="1807240" y="1612125"/>
            <a:chExt cx="1901629" cy="931500"/>
          </a:xfrm>
        </p:grpSpPr>
        <p:pic>
          <p:nvPicPr>
            <p:cNvPr id="918" name="Google Shape;918;p82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807240" y="1612125"/>
              <a:ext cx="1901629" cy="93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9" name="Google Shape;919;p82"/>
            <p:cNvSpPr txBox="1"/>
            <p:nvPr/>
          </p:nvSpPr>
          <p:spPr>
            <a:xfrm flipH="1">
              <a:off x="1963448" y="1734886"/>
              <a:ext cx="1660800" cy="65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This graph shows that average daily ice cream sales for my local ice cream shop more than doubled from 2022 to 2023.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20" name="Google Shape;920;p82"/>
          <p:cNvSpPr txBox="1"/>
          <p:nvPr>
            <p:ph idx="1" type="body"/>
          </p:nvPr>
        </p:nvSpPr>
        <p:spPr>
          <a:xfrm>
            <a:off x="324000" y="3379913"/>
            <a:ext cx="8496000" cy="25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double 55 is 110 and the 2023 figure is between 60 and 65.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921" name="Google Shape;921;p82"/>
          <p:cNvGrpSpPr/>
          <p:nvPr/>
        </p:nvGrpSpPr>
        <p:grpSpPr>
          <a:xfrm>
            <a:off x="5380850" y="2262000"/>
            <a:ext cx="1419000" cy="124800"/>
            <a:chOff x="5380850" y="2262000"/>
            <a:chExt cx="1419000" cy="124800"/>
          </a:xfrm>
        </p:grpSpPr>
        <p:sp>
          <p:nvSpPr>
            <p:cNvPr id="922" name="Google Shape;922;p82"/>
            <p:cNvSpPr/>
            <p:nvPr/>
          </p:nvSpPr>
          <p:spPr>
            <a:xfrm>
              <a:off x="5380850" y="2262000"/>
              <a:ext cx="156000" cy="124800"/>
            </a:xfrm>
            <a:prstGeom prst="ellipse">
              <a:avLst/>
            </a:prstGeom>
            <a:noFill/>
            <a:ln cap="flat" cmpd="sng" w="2857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23" name="Google Shape;923;p82"/>
            <p:cNvCxnSpPr>
              <a:stCxn id="922" idx="6"/>
            </p:cNvCxnSpPr>
            <p:nvPr/>
          </p:nvCxnSpPr>
          <p:spPr>
            <a:xfrm>
              <a:off x="5536850" y="2324400"/>
              <a:ext cx="12630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24" name="Google Shape;924;p82"/>
          <p:cNvGrpSpPr/>
          <p:nvPr/>
        </p:nvGrpSpPr>
        <p:grpSpPr>
          <a:xfrm>
            <a:off x="5380850" y="1481275"/>
            <a:ext cx="2643600" cy="124800"/>
            <a:chOff x="5380850" y="1481275"/>
            <a:chExt cx="2643600" cy="124800"/>
          </a:xfrm>
        </p:grpSpPr>
        <p:sp>
          <p:nvSpPr>
            <p:cNvPr id="925" name="Google Shape;925;p82"/>
            <p:cNvSpPr/>
            <p:nvPr/>
          </p:nvSpPr>
          <p:spPr>
            <a:xfrm>
              <a:off x="5380850" y="1481275"/>
              <a:ext cx="156000" cy="124800"/>
            </a:xfrm>
            <a:prstGeom prst="ellipse">
              <a:avLst/>
            </a:prstGeom>
            <a:noFill/>
            <a:ln cap="flat" cmpd="sng" w="2857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26" name="Google Shape;926;p82"/>
            <p:cNvCxnSpPr>
              <a:stCxn id="925" idx="6"/>
            </p:cNvCxnSpPr>
            <p:nvPr/>
          </p:nvCxnSpPr>
          <p:spPr>
            <a:xfrm>
              <a:off x="5536850" y="1543675"/>
              <a:ext cx="24876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27" name="Google Shape;927;p82"/>
          <p:cNvSpPr txBox="1"/>
          <p:nvPr>
            <p:ph idx="1" type="body"/>
          </p:nvPr>
        </p:nvSpPr>
        <p:spPr>
          <a:xfrm>
            <a:off x="324000" y="3786588"/>
            <a:ext cx="8496000" cy="25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Why do you think Jacob said this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928" name="Google Shape;928;p82"/>
          <p:cNvSpPr txBox="1"/>
          <p:nvPr>
            <p:ph idx="1" type="body"/>
          </p:nvPr>
        </p:nvSpPr>
        <p:spPr>
          <a:xfrm>
            <a:off x="324000" y="4193250"/>
            <a:ext cx="84960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second bar is more than double the height of the first bar.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At a glance it looks like the sales have jumped considerably in 2023.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Misleading graphs</a:t>
            </a:r>
            <a:endParaRPr/>
          </a:p>
        </p:txBody>
      </p:sp>
      <p:pic>
        <p:nvPicPr>
          <p:cNvPr id="934" name="Google Shape;934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125" y="1079987"/>
            <a:ext cx="3239075" cy="19818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35" name="Google Shape;935;p83"/>
          <p:cNvSpPr/>
          <p:nvPr/>
        </p:nvSpPr>
        <p:spPr>
          <a:xfrm>
            <a:off x="5301625" y="966500"/>
            <a:ext cx="3259800" cy="2535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Average daily ice cream sales.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83"/>
          <p:cNvSpPr/>
          <p:nvPr/>
        </p:nvSpPr>
        <p:spPr>
          <a:xfrm>
            <a:off x="8003900" y="2935325"/>
            <a:ext cx="475200" cy="25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year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83"/>
          <p:cNvSpPr/>
          <p:nvPr/>
        </p:nvSpPr>
        <p:spPr>
          <a:xfrm rot="-5400000">
            <a:off x="4693350" y="1944175"/>
            <a:ext cx="1122300" cy="25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Frequency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38" name="Google Shape;938;p83"/>
          <p:cNvCxnSpPr/>
          <p:nvPr/>
        </p:nvCxnSpPr>
        <p:spPr>
          <a:xfrm rot="10800000">
            <a:off x="5536825" y="1305525"/>
            <a:ext cx="0" cy="160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9" name="Google Shape;939;p83"/>
          <p:cNvCxnSpPr/>
          <p:nvPr/>
        </p:nvCxnSpPr>
        <p:spPr>
          <a:xfrm>
            <a:off x="5536825" y="2912325"/>
            <a:ext cx="2960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40" name="Google Shape;940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87961" y="2386925"/>
            <a:ext cx="622840" cy="769199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83"/>
          <p:cNvSpPr txBox="1"/>
          <p:nvPr/>
        </p:nvSpPr>
        <p:spPr>
          <a:xfrm flipH="1">
            <a:off x="241738" y="1975351"/>
            <a:ext cx="10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2" name="Google Shape;942;p83"/>
          <p:cNvGrpSpPr/>
          <p:nvPr/>
        </p:nvGrpSpPr>
        <p:grpSpPr>
          <a:xfrm>
            <a:off x="1110856" y="836982"/>
            <a:ext cx="3461156" cy="2075290"/>
            <a:chOff x="1807240" y="1612125"/>
            <a:chExt cx="1901629" cy="931500"/>
          </a:xfrm>
        </p:grpSpPr>
        <p:pic>
          <p:nvPicPr>
            <p:cNvPr id="943" name="Google Shape;943;p83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807240" y="1612125"/>
              <a:ext cx="1901629" cy="93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4" name="Google Shape;944;p83"/>
            <p:cNvSpPr txBox="1"/>
            <p:nvPr/>
          </p:nvSpPr>
          <p:spPr>
            <a:xfrm flipH="1">
              <a:off x="1963448" y="1734886"/>
              <a:ext cx="1660800" cy="65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This graph shows that average daily ice cream sales for my local ice cream shop more than doubled from 2022 to 2023.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45" name="Google Shape;945;p83"/>
          <p:cNvSpPr/>
          <p:nvPr/>
        </p:nvSpPr>
        <p:spPr>
          <a:xfrm>
            <a:off x="5381250" y="2787525"/>
            <a:ext cx="156000" cy="207900"/>
          </a:xfrm>
          <a:prstGeom prst="ellipse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6" name="Google Shape;946;p83"/>
          <p:cNvSpPr txBox="1"/>
          <p:nvPr>
            <p:ph idx="1" type="body"/>
          </p:nvPr>
        </p:nvSpPr>
        <p:spPr>
          <a:xfrm>
            <a:off x="324000" y="3360278"/>
            <a:ext cx="8496000" cy="13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scale on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axis starts at 50 not at 0.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This skews the scale and can make small differences look more significant than they are. 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84"/>
          <p:cNvSpPr txBox="1"/>
          <p:nvPr>
            <p:ph idx="1" type="body"/>
          </p:nvPr>
        </p:nvSpPr>
        <p:spPr>
          <a:xfrm>
            <a:off x="324000" y="759300"/>
            <a:ext cx="8237700" cy="12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local newspaper writes this headline.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‘Local school sees devastating drop in number of pupils studying History at GCSE.’ </a:t>
            </a:r>
            <a:endParaRPr/>
          </a:p>
        </p:txBody>
      </p:sp>
      <p:sp>
        <p:nvSpPr>
          <p:cNvPr id="952" name="Google Shape;952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Misleading graphs</a:t>
            </a:r>
            <a:endParaRPr/>
          </a:p>
        </p:txBody>
      </p:sp>
      <p:pic>
        <p:nvPicPr>
          <p:cNvPr id="953" name="Google Shape;953;p84"/>
          <p:cNvPicPr preferRelativeResize="0"/>
          <p:nvPr/>
        </p:nvPicPr>
        <p:blipFill rotWithShape="1">
          <a:blip r:embed="rId3">
            <a:alphaModFix/>
          </a:blip>
          <a:srcRect b="0" l="0" r="12564" t="0"/>
          <a:stretch/>
        </p:blipFill>
        <p:spPr>
          <a:xfrm>
            <a:off x="1081450" y="2394325"/>
            <a:ext cx="3267025" cy="1956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4" name="Google Shape;954;p84"/>
          <p:cNvCxnSpPr/>
          <p:nvPr/>
        </p:nvCxnSpPr>
        <p:spPr>
          <a:xfrm rot="10800000">
            <a:off x="1094242" y="2196282"/>
            <a:ext cx="0" cy="224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5" name="Google Shape;955;p84"/>
          <p:cNvCxnSpPr/>
          <p:nvPr/>
        </p:nvCxnSpPr>
        <p:spPr>
          <a:xfrm>
            <a:off x="956433" y="4350197"/>
            <a:ext cx="3519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6" name="Google Shape;956;p84"/>
          <p:cNvSpPr txBox="1"/>
          <p:nvPr/>
        </p:nvSpPr>
        <p:spPr>
          <a:xfrm>
            <a:off x="4215417" y="4257547"/>
            <a:ext cx="8118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year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57" name="Google Shape;957;p84"/>
          <p:cNvCxnSpPr/>
          <p:nvPr/>
        </p:nvCxnSpPr>
        <p:spPr>
          <a:xfrm>
            <a:off x="2019702" y="4350054"/>
            <a:ext cx="0" cy="80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8" name="Google Shape;958;p84"/>
          <p:cNvSpPr txBox="1"/>
          <p:nvPr/>
        </p:nvSpPr>
        <p:spPr>
          <a:xfrm>
            <a:off x="827875" y="4325200"/>
            <a:ext cx="7758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59" name="Google Shape;959;p84"/>
          <p:cNvCxnSpPr/>
          <p:nvPr/>
        </p:nvCxnSpPr>
        <p:spPr>
          <a:xfrm>
            <a:off x="2935940" y="4350054"/>
            <a:ext cx="0" cy="80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0" name="Google Shape;960;p84"/>
          <p:cNvCxnSpPr/>
          <p:nvPr/>
        </p:nvCxnSpPr>
        <p:spPr>
          <a:xfrm>
            <a:off x="3848101" y="4350054"/>
            <a:ext cx="0" cy="80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1" name="Google Shape;961;p84"/>
          <p:cNvSpPr txBox="1"/>
          <p:nvPr/>
        </p:nvSpPr>
        <p:spPr>
          <a:xfrm>
            <a:off x="1752224" y="4325200"/>
            <a:ext cx="6858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84"/>
          <p:cNvSpPr txBox="1"/>
          <p:nvPr/>
        </p:nvSpPr>
        <p:spPr>
          <a:xfrm>
            <a:off x="2676630" y="4325190"/>
            <a:ext cx="6573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22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84"/>
          <p:cNvSpPr txBox="1"/>
          <p:nvPr/>
        </p:nvSpPr>
        <p:spPr>
          <a:xfrm>
            <a:off x="3572482" y="4325190"/>
            <a:ext cx="6573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23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64" name="Google Shape;964;p84"/>
          <p:cNvCxnSpPr/>
          <p:nvPr/>
        </p:nvCxnSpPr>
        <p:spPr>
          <a:xfrm flipH="1" rot="10800000">
            <a:off x="991716" y="2406793"/>
            <a:ext cx="102600" cy="3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5" name="Google Shape;965;p84"/>
          <p:cNvSpPr txBox="1"/>
          <p:nvPr/>
        </p:nvSpPr>
        <p:spPr>
          <a:xfrm>
            <a:off x="549122" y="3762600"/>
            <a:ext cx="5664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84"/>
          <p:cNvSpPr txBox="1"/>
          <p:nvPr/>
        </p:nvSpPr>
        <p:spPr>
          <a:xfrm>
            <a:off x="643049" y="3379671"/>
            <a:ext cx="4767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7" name="Google Shape;967;p84"/>
          <p:cNvSpPr txBox="1"/>
          <p:nvPr/>
        </p:nvSpPr>
        <p:spPr>
          <a:xfrm>
            <a:off x="569673" y="2982650"/>
            <a:ext cx="5457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110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84"/>
          <p:cNvSpPr txBox="1"/>
          <p:nvPr/>
        </p:nvSpPr>
        <p:spPr>
          <a:xfrm>
            <a:off x="643049" y="2571575"/>
            <a:ext cx="4767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84"/>
          <p:cNvSpPr txBox="1"/>
          <p:nvPr/>
        </p:nvSpPr>
        <p:spPr>
          <a:xfrm>
            <a:off x="549125" y="2181600"/>
            <a:ext cx="5457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70" name="Google Shape;970;p84"/>
          <p:cNvCxnSpPr/>
          <p:nvPr/>
        </p:nvCxnSpPr>
        <p:spPr>
          <a:xfrm flipH="1" rot="10800000">
            <a:off x="1001403" y="2796410"/>
            <a:ext cx="102600" cy="3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1" name="Google Shape;971;p84"/>
          <p:cNvCxnSpPr/>
          <p:nvPr/>
        </p:nvCxnSpPr>
        <p:spPr>
          <a:xfrm flipH="1" rot="10800000">
            <a:off x="1001403" y="3181618"/>
            <a:ext cx="102600" cy="3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2" name="Google Shape;972;p84"/>
          <p:cNvCxnSpPr/>
          <p:nvPr/>
        </p:nvCxnSpPr>
        <p:spPr>
          <a:xfrm flipH="1" rot="10800000">
            <a:off x="995702" y="3566828"/>
            <a:ext cx="102600" cy="3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3" name="Google Shape;973;p84"/>
          <p:cNvCxnSpPr/>
          <p:nvPr/>
        </p:nvCxnSpPr>
        <p:spPr>
          <a:xfrm flipH="1" rot="10800000">
            <a:off x="995702" y="3967829"/>
            <a:ext cx="102600" cy="3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74" name="Google Shape;974;p84"/>
          <p:cNvGrpSpPr/>
          <p:nvPr/>
        </p:nvGrpSpPr>
        <p:grpSpPr>
          <a:xfrm rot="119204">
            <a:off x="1006779" y="4108294"/>
            <a:ext cx="181968" cy="140005"/>
            <a:chOff x="4801213" y="3827588"/>
            <a:chExt cx="265062" cy="145183"/>
          </a:xfrm>
        </p:grpSpPr>
        <p:cxnSp>
          <p:nvCxnSpPr>
            <p:cNvPr id="975" name="Google Shape;975;p84"/>
            <p:cNvCxnSpPr/>
            <p:nvPr/>
          </p:nvCxnSpPr>
          <p:spPr>
            <a:xfrm flipH="1" rot="10800000">
              <a:off x="4801213" y="3827588"/>
              <a:ext cx="240000" cy="801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6" name="Google Shape;976;p84"/>
            <p:cNvCxnSpPr/>
            <p:nvPr/>
          </p:nvCxnSpPr>
          <p:spPr>
            <a:xfrm flipH="1" rot="10800000">
              <a:off x="4814108" y="3860654"/>
              <a:ext cx="240000" cy="801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7" name="Google Shape;977;p84"/>
            <p:cNvCxnSpPr/>
            <p:nvPr/>
          </p:nvCxnSpPr>
          <p:spPr>
            <a:xfrm flipH="1" rot="10800000">
              <a:off x="4826275" y="3892671"/>
              <a:ext cx="240000" cy="801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78" name="Google Shape;978;p84"/>
          <p:cNvSpPr/>
          <p:nvPr/>
        </p:nvSpPr>
        <p:spPr>
          <a:xfrm>
            <a:off x="1025518" y="2897932"/>
            <a:ext cx="1923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84"/>
          <p:cNvSpPr/>
          <p:nvPr/>
        </p:nvSpPr>
        <p:spPr>
          <a:xfrm>
            <a:off x="1944136" y="2819047"/>
            <a:ext cx="1923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84"/>
          <p:cNvSpPr/>
          <p:nvPr/>
        </p:nvSpPr>
        <p:spPr>
          <a:xfrm>
            <a:off x="2868027" y="2599986"/>
            <a:ext cx="1923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84"/>
          <p:cNvSpPr/>
          <p:nvPr/>
        </p:nvSpPr>
        <p:spPr>
          <a:xfrm>
            <a:off x="3775573" y="3223295"/>
            <a:ext cx="1923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82" name="Google Shape;982;p84"/>
          <p:cNvCxnSpPr/>
          <p:nvPr/>
        </p:nvCxnSpPr>
        <p:spPr>
          <a:xfrm flipH="1" rot="10800000">
            <a:off x="1103993" y="3015382"/>
            <a:ext cx="918600" cy="78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3" name="Google Shape;983;p84"/>
          <p:cNvCxnSpPr/>
          <p:nvPr/>
        </p:nvCxnSpPr>
        <p:spPr>
          <a:xfrm flipH="1" rot="10800000">
            <a:off x="2022627" y="2794536"/>
            <a:ext cx="912300" cy="2208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4" name="Google Shape;984;p84"/>
          <p:cNvCxnSpPr/>
          <p:nvPr/>
        </p:nvCxnSpPr>
        <p:spPr>
          <a:xfrm>
            <a:off x="2939750" y="2794475"/>
            <a:ext cx="912000" cy="6288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5" name="Google Shape;985;p84"/>
          <p:cNvSpPr/>
          <p:nvPr/>
        </p:nvSpPr>
        <p:spPr>
          <a:xfrm rot="-5400000">
            <a:off x="-482550" y="3192850"/>
            <a:ext cx="18501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Number of pupils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84"/>
          <p:cNvSpPr txBox="1"/>
          <p:nvPr>
            <p:ph idx="1" type="body"/>
          </p:nvPr>
        </p:nvSpPr>
        <p:spPr>
          <a:xfrm>
            <a:off x="4812975" y="2828975"/>
            <a:ext cx="4011300" cy="12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axis has a broken scale.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Although the graph seems to drop this is only 8 fewer pupils than 2022 and 4 less than 2020.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7" name="Google Shape;987;p84"/>
          <p:cNvSpPr txBox="1"/>
          <p:nvPr>
            <p:ph idx="1" type="body"/>
          </p:nvPr>
        </p:nvSpPr>
        <p:spPr>
          <a:xfrm>
            <a:off x="4768900" y="2013300"/>
            <a:ext cx="4011300" cy="80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Give a reason why the graph may not support this headline.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85"/>
          <p:cNvSpPr txBox="1"/>
          <p:nvPr>
            <p:ph idx="1" type="body"/>
          </p:nvPr>
        </p:nvSpPr>
        <p:spPr>
          <a:xfrm>
            <a:off x="324000" y="759300"/>
            <a:ext cx="8237700" cy="12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local newspaper writes this headline.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‘Local school sees devastating drop in number of pupils studying History at GCSE.’ </a:t>
            </a:r>
            <a:endParaRPr/>
          </a:p>
        </p:txBody>
      </p:sp>
      <p:sp>
        <p:nvSpPr>
          <p:cNvPr id="993" name="Google Shape;993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Misleading graphs</a:t>
            </a:r>
            <a:endParaRPr/>
          </a:p>
        </p:txBody>
      </p:sp>
      <p:pic>
        <p:nvPicPr>
          <p:cNvPr id="994" name="Google Shape;994;p85"/>
          <p:cNvPicPr preferRelativeResize="0"/>
          <p:nvPr/>
        </p:nvPicPr>
        <p:blipFill rotWithShape="1">
          <a:blip r:embed="rId3">
            <a:alphaModFix/>
          </a:blip>
          <a:srcRect b="0" l="0" r="12564" t="0"/>
          <a:stretch/>
        </p:blipFill>
        <p:spPr>
          <a:xfrm>
            <a:off x="1081450" y="2394325"/>
            <a:ext cx="3267025" cy="1956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95" name="Google Shape;995;p85"/>
          <p:cNvCxnSpPr/>
          <p:nvPr/>
        </p:nvCxnSpPr>
        <p:spPr>
          <a:xfrm rot="10800000">
            <a:off x="1094242" y="2196282"/>
            <a:ext cx="0" cy="224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6" name="Google Shape;996;p85"/>
          <p:cNvCxnSpPr/>
          <p:nvPr/>
        </p:nvCxnSpPr>
        <p:spPr>
          <a:xfrm>
            <a:off x="956433" y="4350197"/>
            <a:ext cx="3519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7" name="Google Shape;997;p85"/>
          <p:cNvSpPr txBox="1"/>
          <p:nvPr/>
        </p:nvSpPr>
        <p:spPr>
          <a:xfrm>
            <a:off x="4215417" y="4257547"/>
            <a:ext cx="8118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year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98" name="Google Shape;998;p85"/>
          <p:cNvCxnSpPr/>
          <p:nvPr/>
        </p:nvCxnSpPr>
        <p:spPr>
          <a:xfrm>
            <a:off x="2019702" y="4350054"/>
            <a:ext cx="0" cy="80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9" name="Google Shape;999;p85"/>
          <p:cNvSpPr txBox="1"/>
          <p:nvPr/>
        </p:nvSpPr>
        <p:spPr>
          <a:xfrm>
            <a:off x="827875" y="4325200"/>
            <a:ext cx="7758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00" name="Google Shape;1000;p85"/>
          <p:cNvCxnSpPr/>
          <p:nvPr/>
        </p:nvCxnSpPr>
        <p:spPr>
          <a:xfrm>
            <a:off x="2935940" y="4350054"/>
            <a:ext cx="0" cy="80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1" name="Google Shape;1001;p85"/>
          <p:cNvCxnSpPr/>
          <p:nvPr/>
        </p:nvCxnSpPr>
        <p:spPr>
          <a:xfrm>
            <a:off x="3848101" y="4350054"/>
            <a:ext cx="0" cy="80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2" name="Google Shape;1002;p85"/>
          <p:cNvSpPr txBox="1"/>
          <p:nvPr/>
        </p:nvSpPr>
        <p:spPr>
          <a:xfrm>
            <a:off x="1752224" y="4325200"/>
            <a:ext cx="6858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3" name="Google Shape;1003;p85"/>
          <p:cNvSpPr txBox="1"/>
          <p:nvPr/>
        </p:nvSpPr>
        <p:spPr>
          <a:xfrm>
            <a:off x="2676630" y="4325190"/>
            <a:ext cx="6573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22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4" name="Google Shape;1004;p85"/>
          <p:cNvSpPr txBox="1"/>
          <p:nvPr/>
        </p:nvSpPr>
        <p:spPr>
          <a:xfrm>
            <a:off x="3572482" y="4325190"/>
            <a:ext cx="6573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23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05" name="Google Shape;1005;p85"/>
          <p:cNvCxnSpPr/>
          <p:nvPr/>
        </p:nvCxnSpPr>
        <p:spPr>
          <a:xfrm flipH="1" rot="10800000">
            <a:off x="991716" y="2406793"/>
            <a:ext cx="102600" cy="3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6" name="Google Shape;1006;p85"/>
          <p:cNvSpPr txBox="1"/>
          <p:nvPr/>
        </p:nvSpPr>
        <p:spPr>
          <a:xfrm>
            <a:off x="549122" y="3762600"/>
            <a:ext cx="5664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7" name="Google Shape;1007;p85"/>
          <p:cNvSpPr txBox="1"/>
          <p:nvPr/>
        </p:nvSpPr>
        <p:spPr>
          <a:xfrm>
            <a:off x="643049" y="3379671"/>
            <a:ext cx="4767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p85"/>
          <p:cNvSpPr txBox="1"/>
          <p:nvPr/>
        </p:nvSpPr>
        <p:spPr>
          <a:xfrm>
            <a:off x="569673" y="2982650"/>
            <a:ext cx="5457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110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85"/>
          <p:cNvSpPr txBox="1"/>
          <p:nvPr/>
        </p:nvSpPr>
        <p:spPr>
          <a:xfrm>
            <a:off x="643049" y="2571575"/>
            <a:ext cx="4767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85"/>
          <p:cNvSpPr txBox="1"/>
          <p:nvPr/>
        </p:nvSpPr>
        <p:spPr>
          <a:xfrm>
            <a:off x="549125" y="2181600"/>
            <a:ext cx="5457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11" name="Google Shape;1011;p85"/>
          <p:cNvCxnSpPr/>
          <p:nvPr/>
        </p:nvCxnSpPr>
        <p:spPr>
          <a:xfrm flipH="1" rot="10800000">
            <a:off x="1001403" y="2796410"/>
            <a:ext cx="102600" cy="3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2" name="Google Shape;1012;p85"/>
          <p:cNvCxnSpPr/>
          <p:nvPr/>
        </p:nvCxnSpPr>
        <p:spPr>
          <a:xfrm flipH="1" rot="10800000">
            <a:off x="1001403" y="3181618"/>
            <a:ext cx="102600" cy="3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3" name="Google Shape;1013;p85"/>
          <p:cNvCxnSpPr/>
          <p:nvPr/>
        </p:nvCxnSpPr>
        <p:spPr>
          <a:xfrm flipH="1" rot="10800000">
            <a:off x="995702" y="3566828"/>
            <a:ext cx="102600" cy="3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4" name="Google Shape;1014;p85"/>
          <p:cNvCxnSpPr/>
          <p:nvPr/>
        </p:nvCxnSpPr>
        <p:spPr>
          <a:xfrm flipH="1" rot="10800000">
            <a:off x="995702" y="3967829"/>
            <a:ext cx="102600" cy="3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15" name="Google Shape;1015;p85"/>
          <p:cNvGrpSpPr/>
          <p:nvPr/>
        </p:nvGrpSpPr>
        <p:grpSpPr>
          <a:xfrm rot="119204">
            <a:off x="1006779" y="4108294"/>
            <a:ext cx="181968" cy="140005"/>
            <a:chOff x="4801213" y="3827588"/>
            <a:chExt cx="265062" cy="145183"/>
          </a:xfrm>
        </p:grpSpPr>
        <p:cxnSp>
          <p:nvCxnSpPr>
            <p:cNvPr id="1016" name="Google Shape;1016;p85"/>
            <p:cNvCxnSpPr/>
            <p:nvPr/>
          </p:nvCxnSpPr>
          <p:spPr>
            <a:xfrm flipH="1" rot="10800000">
              <a:off x="4801213" y="3827588"/>
              <a:ext cx="240000" cy="801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7" name="Google Shape;1017;p85"/>
            <p:cNvCxnSpPr/>
            <p:nvPr/>
          </p:nvCxnSpPr>
          <p:spPr>
            <a:xfrm flipH="1" rot="10800000">
              <a:off x="4814108" y="3860654"/>
              <a:ext cx="240000" cy="801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8" name="Google Shape;1018;p85"/>
            <p:cNvCxnSpPr/>
            <p:nvPr/>
          </p:nvCxnSpPr>
          <p:spPr>
            <a:xfrm flipH="1" rot="10800000">
              <a:off x="4826275" y="3892671"/>
              <a:ext cx="240000" cy="801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19" name="Google Shape;1019;p85"/>
          <p:cNvSpPr/>
          <p:nvPr/>
        </p:nvSpPr>
        <p:spPr>
          <a:xfrm>
            <a:off x="1025518" y="2897932"/>
            <a:ext cx="1923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85"/>
          <p:cNvSpPr/>
          <p:nvPr/>
        </p:nvSpPr>
        <p:spPr>
          <a:xfrm>
            <a:off x="1944136" y="2819047"/>
            <a:ext cx="1923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85"/>
          <p:cNvSpPr/>
          <p:nvPr/>
        </p:nvSpPr>
        <p:spPr>
          <a:xfrm>
            <a:off x="2868027" y="2599986"/>
            <a:ext cx="1923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85"/>
          <p:cNvSpPr/>
          <p:nvPr/>
        </p:nvSpPr>
        <p:spPr>
          <a:xfrm>
            <a:off x="3775573" y="3223295"/>
            <a:ext cx="1923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3" name="Google Shape;1023;p85"/>
          <p:cNvCxnSpPr/>
          <p:nvPr/>
        </p:nvCxnSpPr>
        <p:spPr>
          <a:xfrm flipH="1" rot="10800000">
            <a:off x="1103993" y="3015382"/>
            <a:ext cx="918600" cy="78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4" name="Google Shape;1024;p85"/>
          <p:cNvCxnSpPr/>
          <p:nvPr/>
        </p:nvCxnSpPr>
        <p:spPr>
          <a:xfrm flipH="1" rot="10800000">
            <a:off x="2022627" y="2794536"/>
            <a:ext cx="912300" cy="2208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5" name="Google Shape;1025;p85"/>
          <p:cNvCxnSpPr/>
          <p:nvPr/>
        </p:nvCxnSpPr>
        <p:spPr>
          <a:xfrm>
            <a:off x="2939750" y="2794475"/>
            <a:ext cx="912000" cy="6288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6" name="Google Shape;1026;p85"/>
          <p:cNvSpPr/>
          <p:nvPr/>
        </p:nvSpPr>
        <p:spPr>
          <a:xfrm rot="-5400000">
            <a:off x="-482550" y="3192850"/>
            <a:ext cx="18501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Number of pupils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85"/>
          <p:cNvSpPr txBox="1"/>
          <p:nvPr>
            <p:ph idx="1" type="body"/>
          </p:nvPr>
        </p:nvSpPr>
        <p:spPr>
          <a:xfrm>
            <a:off x="4768900" y="1908350"/>
            <a:ext cx="4011300" cy="24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may have also considered: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Char char="-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Some year groups may have fewer students anyway.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-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word ‘devastating’ is used to create emotion and is not related to data.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86"/>
          <p:cNvSpPr txBox="1"/>
          <p:nvPr>
            <p:ph idx="1" type="body"/>
          </p:nvPr>
        </p:nvSpPr>
        <p:spPr>
          <a:xfrm>
            <a:off x="324000" y="865300"/>
            <a:ext cx="81864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Using a broken scale, </a:t>
            </a:r>
            <a:r>
              <a:rPr lang="en-GB" sz="2000"/>
              <a:t>inconsistent</a:t>
            </a:r>
            <a:r>
              <a:rPr lang="en-GB" sz="2000"/>
              <a:t> scale or even no scale at all on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axis can be misleading when comparing values on a graph. </a:t>
            </a:r>
            <a:endParaRPr sz="2000"/>
          </a:p>
        </p:txBody>
      </p:sp>
      <p:sp>
        <p:nvSpPr>
          <p:cNvPr id="1033" name="Google Shape;1033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Misleading graphs</a:t>
            </a:r>
            <a:endParaRPr/>
          </a:p>
        </p:txBody>
      </p:sp>
      <p:sp>
        <p:nvSpPr>
          <p:cNvPr id="1034" name="Google Shape;1034;p86"/>
          <p:cNvSpPr txBox="1"/>
          <p:nvPr>
            <p:ph idx="1" type="body"/>
          </p:nvPr>
        </p:nvSpPr>
        <p:spPr>
          <a:xfrm>
            <a:off x="324000" y="1793400"/>
            <a:ext cx="8186400" cy="274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There are times when using a broken scale may be necessary to analyse trends and variation in data, especially when the data takes large values.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However it is important not to make conclusions based on proportion if the graph does not start at 0 with a consistent scale.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Keep an eye out for information or adverts which use a broken scale to influence your interpretation of data. </a:t>
            </a:r>
            <a:r>
              <a:rPr lang="en-GB" sz="2000"/>
              <a:t> 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Misleading graphs</a:t>
            </a:r>
            <a:endParaRPr/>
          </a:p>
        </p:txBody>
      </p:sp>
      <p:grpSp>
        <p:nvGrpSpPr>
          <p:cNvPr id="1040" name="Google Shape;1040;p87"/>
          <p:cNvGrpSpPr/>
          <p:nvPr/>
        </p:nvGrpSpPr>
        <p:grpSpPr>
          <a:xfrm>
            <a:off x="440958" y="2362735"/>
            <a:ext cx="2234717" cy="1875288"/>
            <a:chOff x="410150" y="1630362"/>
            <a:chExt cx="2549300" cy="2139275"/>
          </a:xfrm>
        </p:grpSpPr>
        <p:pic>
          <p:nvPicPr>
            <p:cNvPr id="1041" name="Google Shape;1041;p8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0150" y="1630362"/>
              <a:ext cx="2549300" cy="213927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042" name="Google Shape;1042;p87"/>
            <p:cNvSpPr txBox="1"/>
            <p:nvPr/>
          </p:nvSpPr>
          <p:spPr>
            <a:xfrm>
              <a:off x="820950" y="2222088"/>
              <a:ext cx="852000" cy="89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Pink party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45%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3" name="Google Shape;1043;p87"/>
            <p:cNvSpPr txBox="1"/>
            <p:nvPr/>
          </p:nvSpPr>
          <p:spPr>
            <a:xfrm>
              <a:off x="1768400" y="2222088"/>
              <a:ext cx="852000" cy="89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Blue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 party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38%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44" name="Google Shape;1044;p87"/>
          <p:cNvSpPr txBox="1"/>
          <p:nvPr>
            <p:ph idx="1" type="body"/>
          </p:nvPr>
        </p:nvSpPr>
        <p:spPr>
          <a:xfrm>
            <a:off x="324000" y="1569563"/>
            <a:ext cx="8248800" cy="6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This pie chart shows the percentage of votes for two main parties in an election. What is the problem with this graph?  </a:t>
            </a:r>
            <a:endParaRPr sz="1900"/>
          </a:p>
        </p:txBody>
      </p:sp>
      <p:sp>
        <p:nvSpPr>
          <p:cNvPr id="1045" name="Google Shape;1045;p87"/>
          <p:cNvSpPr txBox="1"/>
          <p:nvPr>
            <p:ph idx="1" type="body"/>
          </p:nvPr>
        </p:nvSpPr>
        <p:spPr>
          <a:xfrm>
            <a:off x="324000" y="4321800"/>
            <a:ext cx="34851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Pie charts should add to 100%. </a:t>
            </a:r>
            <a:r>
              <a:rPr lang="en-GB" sz="2000"/>
              <a:t>  </a:t>
            </a:r>
            <a:endParaRPr sz="2000"/>
          </a:p>
        </p:txBody>
      </p:sp>
      <p:grpSp>
        <p:nvGrpSpPr>
          <p:cNvPr id="1046" name="Google Shape;1046;p87"/>
          <p:cNvGrpSpPr/>
          <p:nvPr/>
        </p:nvGrpSpPr>
        <p:grpSpPr>
          <a:xfrm>
            <a:off x="3976049" y="2425926"/>
            <a:ext cx="2310719" cy="1942488"/>
            <a:chOff x="3197550" y="2303775"/>
            <a:chExt cx="2569464" cy="2160000"/>
          </a:xfrm>
        </p:grpSpPr>
        <p:pic>
          <p:nvPicPr>
            <p:cNvPr id="1047" name="Google Shape;1047;p8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197550" y="2303775"/>
              <a:ext cx="2569464" cy="21600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048" name="Google Shape;1048;p87"/>
            <p:cNvSpPr txBox="1"/>
            <p:nvPr/>
          </p:nvSpPr>
          <p:spPr>
            <a:xfrm>
              <a:off x="3789475" y="3331788"/>
              <a:ext cx="852000" cy="89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Pink party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45%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9" name="Google Shape;1049;p87"/>
            <p:cNvSpPr txBox="1"/>
            <p:nvPr/>
          </p:nvSpPr>
          <p:spPr>
            <a:xfrm>
              <a:off x="4695425" y="2699988"/>
              <a:ext cx="852000" cy="89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Blue party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38%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0" name="Google Shape;1050;p87"/>
            <p:cNvSpPr txBox="1"/>
            <p:nvPr/>
          </p:nvSpPr>
          <p:spPr>
            <a:xfrm>
              <a:off x="3789475" y="2479901"/>
              <a:ext cx="852000" cy="69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Other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17%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51" name="Google Shape;1051;p87"/>
          <p:cNvSpPr txBox="1"/>
          <p:nvPr>
            <p:ph idx="1" type="body"/>
          </p:nvPr>
        </p:nvSpPr>
        <p:spPr>
          <a:xfrm>
            <a:off x="6447300" y="2632700"/>
            <a:ext cx="2372700" cy="14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Adding in the remaining votes makes the difference between the two parties look less. </a:t>
            </a:r>
            <a:r>
              <a:rPr lang="en-GB" sz="1800"/>
              <a:t>   </a:t>
            </a:r>
            <a:endParaRPr sz="1800"/>
          </a:p>
        </p:txBody>
      </p:sp>
      <p:sp>
        <p:nvSpPr>
          <p:cNvPr id="1052" name="Google Shape;1052;p87"/>
          <p:cNvSpPr txBox="1"/>
          <p:nvPr>
            <p:ph idx="1" type="body"/>
          </p:nvPr>
        </p:nvSpPr>
        <p:spPr>
          <a:xfrm>
            <a:off x="324000" y="810000"/>
            <a:ext cx="8496000" cy="6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Sometimes we see graphs which are not just misleading but actually drawn incorrectly to try and influence opinion. 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88"/>
          <p:cNvSpPr txBox="1"/>
          <p:nvPr>
            <p:ph idx="1" type="body"/>
          </p:nvPr>
        </p:nvSpPr>
        <p:spPr>
          <a:xfrm>
            <a:off x="324000" y="810000"/>
            <a:ext cx="8237700" cy="70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Jacob has created this pie chart about how long he spends on each activity on a Monday. </a:t>
            </a:r>
            <a:endParaRPr sz="2000"/>
          </a:p>
        </p:txBody>
      </p:sp>
      <p:sp>
        <p:nvSpPr>
          <p:cNvPr id="1058" name="Google Shape;1058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Misleading graphs</a:t>
            </a:r>
            <a:endParaRPr/>
          </a:p>
        </p:txBody>
      </p:sp>
      <p:grpSp>
        <p:nvGrpSpPr>
          <p:cNvPr id="1059" name="Google Shape;1059;p88"/>
          <p:cNvGrpSpPr/>
          <p:nvPr/>
        </p:nvGrpSpPr>
        <p:grpSpPr>
          <a:xfrm>
            <a:off x="474725" y="1596788"/>
            <a:ext cx="3391900" cy="1686400"/>
            <a:chOff x="855725" y="1672988"/>
            <a:chExt cx="3391900" cy="1686400"/>
          </a:xfrm>
        </p:grpSpPr>
        <p:pic>
          <p:nvPicPr>
            <p:cNvPr id="1060" name="Google Shape;1060;p8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13075" y="1672988"/>
              <a:ext cx="2734550" cy="16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1" name="Google Shape;1061;p88"/>
            <p:cNvSpPr txBox="1"/>
            <p:nvPr/>
          </p:nvSpPr>
          <p:spPr>
            <a:xfrm>
              <a:off x="2260825" y="1756438"/>
              <a:ext cx="1050600" cy="40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School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2" name="Google Shape;1062;p88"/>
            <p:cNvSpPr txBox="1"/>
            <p:nvPr/>
          </p:nvSpPr>
          <p:spPr>
            <a:xfrm>
              <a:off x="3090725" y="2028388"/>
              <a:ext cx="1050600" cy="40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Sleep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3" name="Google Shape;1063;p88"/>
            <p:cNvSpPr txBox="1"/>
            <p:nvPr/>
          </p:nvSpPr>
          <p:spPr>
            <a:xfrm>
              <a:off x="2627825" y="2481613"/>
              <a:ext cx="1050600" cy="40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TV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4" name="Google Shape;1064;p88"/>
            <p:cNvSpPr txBox="1"/>
            <p:nvPr/>
          </p:nvSpPr>
          <p:spPr>
            <a:xfrm>
              <a:off x="1629725" y="2129813"/>
              <a:ext cx="1050600" cy="40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Gaming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5" name="Google Shape;1065;p88"/>
            <p:cNvSpPr txBox="1"/>
            <p:nvPr/>
          </p:nvSpPr>
          <p:spPr>
            <a:xfrm>
              <a:off x="855725" y="2888713"/>
              <a:ext cx="1050600" cy="40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Travel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66" name="Google Shape;1066;p88"/>
            <p:cNvCxnSpPr/>
            <p:nvPr/>
          </p:nvCxnSpPr>
          <p:spPr>
            <a:xfrm flipH="1" rot="10800000">
              <a:off x="1376400" y="2728638"/>
              <a:ext cx="616800" cy="222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67" name="Google Shape;1067;p88"/>
          <p:cNvGrpSpPr/>
          <p:nvPr/>
        </p:nvGrpSpPr>
        <p:grpSpPr>
          <a:xfrm>
            <a:off x="5455475" y="1426938"/>
            <a:ext cx="3237565" cy="1197014"/>
            <a:chOff x="5422725" y="2894150"/>
            <a:chExt cx="3237565" cy="1197014"/>
          </a:xfrm>
        </p:grpSpPr>
        <p:sp>
          <p:nvSpPr>
            <p:cNvPr id="1068" name="Google Shape;1068;p88"/>
            <p:cNvSpPr txBox="1"/>
            <p:nvPr/>
          </p:nvSpPr>
          <p:spPr>
            <a:xfrm>
              <a:off x="7682290" y="3091930"/>
              <a:ext cx="978000" cy="40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Sofia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069" name="Google Shape;1069;p8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63474" y="3468824"/>
              <a:ext cx="560997" cy="6223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0" name="Google Shape;1070;p88"/>
            <p:cNvPicPr preferRelativeResize="0"/>
            <p:nvPr/>
          </p:nvPicPr>
          <p:blipFill rotWithShape="1">
            <a:blip r:embed="rId5">
              <a:alphaModFix/>
            </a:blip>
            <a:srcRect b="43690" l="0" r="57905" t="0"/>
            <a:stretch/>
          </p:blipFill>
          <p:spPr>
            <a:xfrm>
              <a:off x="5422725" y="2894150"/>
              <a:ext cx="2440750" cy="10464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1" name="Google Shape;1071;p88"/>
            <p:cNvSpPr/>
            <p:nvPr/>
          </p:nvSpPr>
          <p:spPr>
            <a:xfrm flipH="1">
              <a:off x="5496200" y="2933475"/>
              <a:ext cx="2186100" cy="77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Wow Jacob you watch far too much TV on a Monday!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1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72" name="Google Shape;1072;p88"/>
          <p:cNvSpPr txBox="1"/>
          <p:nvPr>
            <p:ph idx="1" type="body"/>
          </p:nvPr>
        </p:nvSpPr>
        <p:spPr>
          <a:xfrm>
            <a:off x="4141325" y="2700000"/>
            <a:ext cx="4532400" cy="70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is misleading about the way this chart is drawn? </a:t>
            </a:r>
            <a:endParaRPr sz="1800"/>
          </a:p>
        </p:txBody>
      </p:sp>
      <p:sp>
        <p:nvSpPr>
          <p:cNvPr id="1073" name="Google Shape;1073;p88"/>
          <p:cNvSpPr txBox="1"/>
          <p:nvPr>
            <p:ph idx="1" type="body"/>
          </p:nvPr>
        </p:nvSpPr>
        <p:spPr>
          <a:xfrm>
            <a:off x="324000" y="3480150"/>
            <a:ext cx="8496000" cy="12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pie chart is at an angle with TV at the front. This makes it look bigger than it is.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is really difficult to compare the different proportions in a 3D pie chart. This means they can be used to mislead the reader.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89"/>
          <p:cNvSpPr txBox="1"/>
          <p:nvPr>
            <p:ph idx="1" type="body"/>
          </p:nvPr>
        </p:nvSpPr>
        <p:spPr>
          <a:xfrm>
            <a:off x="324000" y="810000"/>
            <a:ext cx="8237700" cy="70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If we use a 2D pie chart the data would look like this: 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079" name="Google Shape;1079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Misleading graphs</a:t>
            </a:r>
            <a:endParaRPr/>
          </a:p>
        </p:txBody>
      </p:sp>
      <p:grpSp>
        <p:nvGrpSpPr>
          <p:cNvPr id="1080" name="Google Shape;1080;p89"/>
          <p:cNvGrpSpPr/>
          <p:nvPr/>
        </p:nvGrpSpPr>
        <p:grpSpPr>
          <a:xfrm>
            <a:off x="474725" y="1596788"/>
            <a:ext cx="3391900" cy="1686400"/>
            <a:chOff x="855725" y="1672988"/>
            <a:chExt cx="3391900" cy="1686400"/>
          </a:xfrm>
        </p:grpSpPr>
        <p:pic>
          <p:nvPicPr>
            <p:cNvPr id="1081" name="Google Shape;1081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13075" y="1672988"/>
              <a:ext cx="2734550" cy="16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2" name="Google Shape;1082;p89"/>
            <p:cNvSpPr txBox="1"/>
            <p:nvPr/>
          </p:nvSpPr>
          <p:spPr>
            <a:xfrm>
              <a:off x="2260825" y="1756438"/>
              <a:ext cx="1050600" cy="40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School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3" name="Google Shape;1083;p89"/>
            <p:cNvSpPr txBox="1"/>
            <p:nvPr/>
          </p:nvSpPr>
          <p:spPr>
            <a:xfrm>
              <a:off x="3090725" y="2028388"/>
              <a:ext cx="1050600" cy="40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Sleep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4" name="Google Shape;1084;p89"/>
            <p:cNvSpPr txBox="1"/>
            <p:nvPr/>
          </p:nvSpPr>
          <p:spPr>
            <a:xfrm>
              <a:off x="2627825" y="2481613"/>
              <a:ext cx="1050600" cy="40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TV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5" name="Google Shape;1085;p89"/>
            <p:cNvSpPr txBox="1"/>
            <p:nvPr/>
          </p:nvSpPr>
          <p:spPr>
            <a:xfrm>
              <a:off x="1629725" y="2129813"/>
              <a:ext cx="1050600" cy="40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Gaming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6" name="Google Shape;1086;p89"/>
            <p:cNvSpPr txBox="1"/>
            <p:nvPr/>
          </p:nvSpPr>
          <p:spPr>
            <a:xfrm>
              <a:off x="855725" y="2888713"/>
              <a:ext cx="1050600" cy="40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Travel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87" name="Google Shape;1087;p89"/>
            <p:cNvCxnSpPr/>
            <p:nvPr/>
          </p:nvCxnSpPr>
          <p:spPr>
            <a:xfrm flipH="1" rot="10800000">
              <a:off x="1376400" y="2728638"/>
              <a:ext cx="616800" cy="222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088" name="Google Shape;1088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1125" y="1407938"/>
            <a:ext cx="2998075" cy="2064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89"/>
          <p:cNvSpPr txBox="1"/>
          <p:nvPr/>
        </p:nvSpPr>
        <p:spPr>
          <a:xfrm>
            <a:off x="5249100" y="1752888"/>
            <a:ext cx="10506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School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89"/>
          <p:cNvSpPr txBox="1"/>
          <p:nvPr/>
        </p:nvSpPr>
        <p:spPr>
          <a:xfrm>
            <a:off x="6111375" y="2159988"/>
            <a:ext cx="10506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Sleep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1" name="Google Shape;1091;p89"/>
          <p:cNvSpPr txBox="1"/>
          <p:nvPr/>
        </p:nvSpPr>
        <p:spPr>
          <a:xfrm>
            <a:off x="5731500" y="2736088"/>
            <a:ext cx="10506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TV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2" name="Google Shape;1092;p89"/>
          <p:cNvSpPr txBox="1"/>
          <p:nvPr/>
        </p:nvSpPr>
        <p:spPr>
          <a:xfrm>
            <a:off x="4885425" y="2292888"/>
            <a:ext cx="10506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Gaming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89"/>
          <p:cNvSpPr txBox="1"/>
          <p:nvPr/>
        </p:nvSpPr>
        <p:spPr>
          <a:xfrm>
            <a:off x="4498575" y="3036438"/>
            <a:ext cx="10506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Travel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94" name="Google Shape;1094;p89"/>
          <p:cNvCxnSpPr/>
          <p:nvPr/>
        </p:nvCxnSpPr>
        <p:spPr>
          <a:xfrm flipH="1" rot="10800000">
            <a:off x="4932375" y="3027988"/>
            <a:ext cx="370200" cy="115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95" name="Google Shape;1095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559819" y="4115886"/>
            <a:ext cx="560997" cy="622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6" name="Google Shape;1096;p89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>
            <a:off x="967878" y="3541225"/>
            <a:ext cx="3917548" cy="1046426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89"/>
          <p:cNvSpPr/>
          <p:nvPr/>
        </p:nvSpPr>
        <p:spPr>
          <a:xfrm>
            <a:off x="1251300" y="3580550"/>
            <a:ext cx="3572700" cy="7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still think you watch too much TV Jacob but it does not look quite so bad from this angle. 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90"/>
          <p:cNvSpPr txBox="1"/>
          <p:nvPr>
            <p:ph idx="1" type="body"/>
          </p:nvPr>
        </p:nvSpPr>
        <p:spPr>
          <a:xfrm>
            <a:off x="324000" y="810000"/>
            <a:ext cx="8237700" cy="3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Sofia has collected data about </a:t>
            </a:r>
            <a:r>
              <a:rPr lang="en-GB"/>
              <a:t>people's</a:t>
            </a:r>
            <a:r>
              <a:rPr lang="en-GB"/>
              <a:t> favourite colour. </a:t>
            </a:r>
            <a:endParaRPr/>
          </a:p>
        </p:txBody>
      </p:sp>
      <p:sp>
        <p:nvSpPr>
          <p:cNvPr id="1103" name="Google Shape;1103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Misleading graphs</a:t>
            </a:r>
            <a:endParaRPr/>
          </a:p>
        </p:txBody>
      </p:sp>
      <p:pic>
        <p:nvPicPr>
          <p:cNvPr id="1104" name="Google Shape;1104;p90"/>
          <p:cNvPicPr preferRelativeResize="0"/>
          <p:nvPr/>
        </p:nvPicPr>
        <p:blipFill rotWithShape="1">
          <a:blip r:embed="rId3">
            <a:alphaModFix/>
          </a:blip>
          <a:srcRect b="0" l="0" r="16163" t="0"/>
          <a:stretch/>
        </p:blipFill>
        <p:spPr>
          <a:xfrm>
            <a:off x="798579" y="1364940"/>
            <a:ext cx="4070418" cy="24940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5" name="Google Shape;1105;p90"/>
          <p:cNvCxnSpPr/>
          <p:nvPr/>
        </p:nvCxnSpPr>
        <p:spPr>
          <a:xfrm>
            <a:off x="889800" y="1918800"/>
            <a:ext cx="108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6" name="Google Shape;1106;p90"/>
          <p:cNvCxnSpPr/>
          <p:nvPr/>
        </p:nvCxnSpPr>
        <p:spPr>
          <a:xfrm>
            <a:off x="895775" y="2369700"/>
            <a:ext cx="102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7" name="Google Shape;1107;p90"/>
          <p:cNvCxnSpPr/>
          <p:nvPr/>
        </p:nvCxnSpPr>
        <p:spPr>
          <a:xfrm>
            <a:off x="885000" y="2818302"/>
            <a:ext cx="1077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8" name="Google Shape;1108;p90"/>
          <p:cNvCxnSpPr/>
          <p:nvPr/>
        </p:nvCxnSpPr>
        <p:spPr>
          <a:xfrm>
            <a:off x="885000" y="3262605"/>
            <a:ext cx="1077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9" name="Google Shape;1109;p90"/>
          <p:cNvCxnSpPr/>
          <p:nvPr/>
        </p:nvCxnSpPr>
        <p:spPr>
          <a:xfrm rot="10800000">
            <a:off x="988256" y="1217936"/>
            <a:ext cx="0" cy="2564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0" name="Google Shape;1110;p90"/>
          <p:cNvCxnSpPr/>
          <p:nvPr/>
        </p:nvCxnSpPr>
        <p:spPr>
          <a:xfrm>
            <a:off x="880225" y="1463025"/>
            <a:ext cx="108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1" name="Google Shape;1111;p90"/>
          <p:cNvSpPr txBox="1"/>
          <p:nvPr/>
        </p:nvSpPr>
        <p:spPr>
          <a:xfrm>
            <a:off x="608475" y="3478907"/>
            <a:ext cx="2958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90"/>
          <p:cNvSpPr txBox="1"/>
          <p:nvPr/>
        </p:nvSpPr>
        <p:spPr>
          <a:xfrm>
            <a:off x="595725" y="2614250"/>
            <a:ext cx="2424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90"/>
          <p:cNvSpPr txBox="1"/>
          <p:nvPr/>
        </p:nvSpPr>
        <p:spPr>
          <a:xfrm>
            <a:off x="595725" y="2148525"/>
            <a:ext cx="2703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6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4" name="Google Shape;1114;p90"/>
          <p:cNvSpPr txBox="1"/>
          <p:nvPr/>
        </p:nvSpPr>
        <p:spPr>
          <a:xfrm>
            <a:off x="524400" y="1258100"/>
            <a:ext cx="4515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5" name="Google Shape;1115;p90"/>
          <p:cNvSpPr txBox="1"/>
          <p:nvPr/>
        </p:nvSpPr>
        <p:spPr>
          <a:xfrm>
            <a:off x="622106" y="3047925"/>
            <a:ext cx="2319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90"/>
          <p:cNvSpPr txBox="1"/>
          <p:nvPr/>
        </p:nvSpPr>
        <p:spPr>
          <a:xfrm>
            <a:off x="595706" y="1706625"/>
            <a:ext cx="2319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8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90"/>
          <p:cNvSpPr txBox="1"/>
          <p:nvPr/>
        </p:nvSpPr>
        <p:spPr>
          <a:xfrm>
            <a:off x="1820510" y="3819097"/>
            <a:ext cx="18828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Favourite colour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8" name="Google Shape;1118;p90"/>
          <p:cNvSpPr/>
          <p:nvPr/>
        </p:nvSpPr>
        <p:spPr>
          <a:xfrm>
            <a:off x="1223700" y="1919350"/>
            <a:ext cx="358800" cy="1778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9" name="Google Shape;1119;p90"/>
          <p:cNvSpPr/>
          <p:nvPr/>
        </p:nvSpPr>
        <p:spPr>
          <a:xfrm>
            <a:off x="1836775" y="3040408"/>
            <a:ext cx="406800" cy="6495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90"/>
          <p:cNvSpPr/>
          <p:nvPr/>
        </p:nvSpPr>
        <p:spPr>
          <a:xfrm>
            <a:off x="2484075" y="2587192"/>
            <a:ext cx="420600" cy="11178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1" name="Google Shape;1121;p90"/>
          <p:cNvSpPr/>
          <p:nvPr/>
        </p:nvSpPr>
        <p:spPr>
          <a:xfrm>
            <a:off x="3166725" y="3040408"/>
            <a:ext cx="587400" cy="6495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2" name="Google Shape;1122;p90"/>
          <p:cNvSpPr/>
          <p:nvPr/>
        </p:nvSpPr>
        <p:spPr>
          <a:xfrm>
            <a:off x="3980200" y="2149150"/>
            <a:ext cx="632700" cy="1548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90"/>
          <p:cNvSpPr txBox="1"/>
          <p:nvPr/>
        </p:nvSpPr>
        <p:spPr>
          <a:xfrm rot="-5400000">
            <a:off x="-121200" y="2378756"/>
            <a:ext cx="11328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Frequency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90"/>
          <p:cNvSpPr txBox="1"/>
          <p:nvPr>
            <p:ph idx="1" type="body"/>
          </p:nvPr>
        </p:nvSpPr>
        <p:spPr>
          <a:xfrm>
            <a:off x="5257600" y="1399500"/>
            <a:ext cx="3562500" cy="70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is the problem with how this chart is drawn? </a:t>
            </a:r>
            <a:endParaRPr sz="1800"/>
          </a:p>
        </p:txBody>
      </p:sp>
      <p:sp>
        <p:nvSpPr>
          <p:cNvPr id="1125" name="Google Shape;1125;p90"/>
          <p:cNvSpPr txBox="1"/>
          <p:nvPr>
            <p:ph idx="1" type="body"/>
          </p:nvPr>
        </p:nvSpPr>
        <p:spPr>
          <a:xfrm>
            <a:off x="5209225" y="2066425"/>
            <a:ext cx="3610800" cy="70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All the bars are different widths.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have been drawn so they are the same width as the colour name.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6" name="Google Shape;1126;p90"/>
          <p:cNvSpPr txBox="1"/>
          <p:nvPr>
            <p:ph idx="1" type="body"/>
          </p:nvPr>
        </p:nvSpPr>
        <p:spPr>
          <a:xfrm>
            <a:off x="5257600" y="3633950"/>
            <a:ext cx="3562500" cy="3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Why might this be misleading?  </a:t>
            </a:r>
            <a:endParaRPr sz="1800"/>
          </a:p>
        </p:txBody>
      </p:sp>
      <p:sp>
        <p:nvSpPr>
          <p:cNvPr id="1127" name="Google Shape;1127;p90"/>
          <p:cNvSpPr txBox="1"/>
          <p:nvPr>
            <p:ph idx="1" type="body"/>
          </p:nvPr>
        </p:nvSpPr>
        <p:spPr>
          <a:xfrm>
            <a:off x="3864550" y="4117550"/>
            <a:ext cx="49434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Your eyes are drawn to the wider bars which makes them look bigger than they are.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8" name="Google Shape;1128;p90"/>
          <p:cNvSpPr txBox="1"/>
          <p:nvPr/>
        </p:nvSpPr>
        <p:spPr>
          <a:xfrm>
            <a:off x="1204091" y="3468625"/>
            <a:ext cx="632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Red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9" name="Google Shape;1129;p90"/>
          <p:cNvSpPr txBox="1"/>
          <p:nvPr/>
        </p:nvSpPr>
        <p:spPr>
          <a:xfrm>
            <a:off x="1820508" y="3468625"/>
            <a:ext cx="632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Blue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0" name="Google Shape;1130;p90"/>
          <p:cNvSpPr txBox="1"/>
          <p:nvPr/>
        </p:nvSpPr>
        <p:spPr>
          <a:xfrm>
            <a:off x="2484075" y="3468625"/>
            <a:ext cx="6030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Pink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90"/>
          <p:cNvSpPr txBox="1"/>
          <p:nvPr/>
        </p:nvSpPr>
        <p:spPr>
          <a:xfrm>
            <a:off x="3163975" y="3459672"/>
            <a:ext cx="632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Green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90"/>
          <p:cNvSpPr txBox="1"/>
          <p:nvPr/>
        </p:nvSpPr>
        <p:spPr>
          <a:xfrm>
            <a:off x="3965301" y="3459672"/>
            <a:ext cx="7758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Purple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33" name="Google Shape;1133;p90"/>
          <p:cNvCxnSpPr/>
          <p:nvPr/>
        </p:nvCxnSpPr>
        <p:spPr>
          <a:xfrm>
            <a:off x="845660" y="3697235"/>
            <a:ext cx="4152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9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Draw a bar chart where the bars are equal width.</a:t>
            </a:r>
            <a:endParaRPr/>
          </a:p>
        </p:txBody>
      </p:sp>
      <p:sp>
        <p:nvSpPr>
          <p:cNvPr id="1139" name="Google Shape;1139;p9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Misleading graphs</a:t>
            </a:r>
            <a:endParaRPr/>
          </a:p>
        </p:txBody>
      </p:sp>
      <p:sp>
        <p:nvSpPr>
          <p:cNvPr id="1140" name="Google Shape;1140;p9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these could be ways to draw misleading graphs?</a:t>
            </a:r>
            <a:endParaRPr/>
          </a:p>
        </p:txBody>
      </p:sp>
      <p:sp>
        <p:nvSpPr>
          <p:cNvPr id="1141" name="Google Shape;1141;p9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Draw a 3D pie chart and tilt the angle.</a:t>
            </a:r>
            <a:endParaRPr/>
          </a:p>
        </p:txBody>
      </p:sp>
      <p:sp>
        <p:nvSpPr>
          <p:cNvPr id="1142" name="Google Shape;1142;p91"/>
          <p:cNvSpPr txBox="1"/>
          <p:nvPr>
            <p:ph idx="4" type="subTitle"/>
          </p:nvPr>
        </p:nvSpPr>
        <p:spPr>
          <a:xfrm>
            <a:off x="1055425" y="4133140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Use a broken scale on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axis.</a:t>
            </a:r>
            <a:endParaRPr/>
          </a:p>
        </p:txBody>
      </p:sp>
      <p:sp>
        <p:nvSpPr>
          <p:cNvPr id="1143" name="Google Shape;1143;p91"/>
          <p:cNvSpPr txBox="1"/>
          <p:nvPr>
            <p:ph idx="5" type="subTitle"/>
          </p:nvPr>
        </p:nvSpPr>
        <p:spPr>
          <a:xfrm>
            <a:off x="1070700" y="3325712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Label the axes.</a:t>
            </a:r>
            <a:endParaRPr/>
          </a:p>
        </p:txBody>
      </p:sp>
      <p:pic>
        <p:nvPicPr>
          <p:cNvPr id="1144" name="Google Shape;1144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6808" y="2458288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5" name="Google Shape;1145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6808" y="4133138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91"/>
          <p:cNvSpPr txBox="1"/>
          <p:nvPr>
            <p:ph idx="4294967295" type="body"/>
          </p:nvPr>
        </p:nvSpPr>
        <p:spPr>
          <a:xfrm>
            <a:off x="3581100" y="3081850"/>
            <a:ext cx="5238900" cy="9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Sometimes labels are deliberately left off of a chart to make it harder for people to interpret them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correctly.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9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Misleading graphs</a:t>
            </a:r>
            <a:endParaRPr/>
          </a:p>
        </p:txBody>
      </p:sp>
      <p:sp>
        <p:nvSpPr>
          <p:cNvPr id="1152" name="Google Shape;1152;p92"/>
          <p:cNvSpPr txBox="1"/>
          <p:nvPr>
            <p:ph idx="1" type="body"/>
          </p:nvPr>
        </p:nvSpPr>
        <p:spPr>
          <a:xfrm>
            <a:off x="324000" y="759300"/>
            <a:ext cx="8496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Why might the graph in this advert be misleading?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153" name="Google Shape;1153;p92"/>
          <p:cNvSpPr/>
          <p:nvPr/>
        </p:nvSpPr>
        <p:spPr>
          <a:xfrm>
            <a:off x="353400" y="1275775"/>
            <a:ext cx="4133400" cy="3515100"/>
          </a:xfrm>
          <a:prstGeom prst="roundRect">
            <a:avLst>
              <a:gd fmla="val 6008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4" name="Google Shape;1154;p92"/>
          <p:cNvCxnSpPr/>
          <p:nvPr/>
        </p:nvCxnSpPr>
        <p:spPr>
          <a:xfrm rot="10800000">
            <a:off x="1088125" y="2604700"/>
            <a:ext cx="0" cy="152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5" name="Google Shape;1155;p92"/>
          <p:cNvCxnSpPr/>
          <p:nvPr/>
        </p:nvCxnSpPr>
        <p:spPr>
          <a:xfrm>
            <a:off x="1088125" y="4125700"/>
            <a:ext cx="2208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6" name="Google Shape;1156;p92"/>
          <p:cNvSpPr/>
          <p:nvPr/>
        </p:nvSpPr>
        <p:spPr>
          <a:xfrm>
            <a:off x="1212575" y="3782992"/>
            <a:ext cx="620700" cy="338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7" name="Google Shape;1157;p92"/>
          <p:cNvSpPr/>
          <p:nvPr/>
        </p:nvSpPr>
        <p:spPr>
          <a:xfrm>
            <a:off x="1986700" y="2925025"/>
            <a:ext cx="1168200" cy="11892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92"/>
          <p:cNvSpPr txBox="1"/>
          <p:nvPr/>
        </p:nvSpPr>
        <p:spPr>
          <a:xfrm>
            <a:off x="1136525" y="4202650"/>
            <a:ext cx="12444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Regular toothpaste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9" name="Google Shape;1159;p92"/>
          <p:cNvSpPr txBox="1"/>
          <p:nvPr/>
        </p:nvSpPr>
        <p:spPr>
          <a:xfrm>
            <a:off x="2058500" y="2994025"/>
            <a:ext cx="12444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Premium toothpaste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92"/>
          <p:cNvSpPr txBox="1"/>
          <p:nvPr/>
        </p:nvSpPr>
        <p:spPr>
          <a:xfrm>
            <a:off x="400875" y="1391925"/>
            <a:ext cx="40029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“Studies show our toothpaste is much more effective at promoting healthy teeth and gums than regular toothpaste.”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9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Misleading graphs</a:t>
            </a:r>
            <a:endParaRPr/>
          </a:p>
        </p:txBody>
      </p:sp>
      <p:sp>
        <p:nvSpPr>
          <p:cNvPr id="1166" name="Google Shape;1166;p93"/>
          <p:cNvSpPr txBox="1"/>
          <p:nvPr>
            <p:ph idx="1" type="body"/>
          </p:nvPr>
        </p:nvSpPr>
        <p:spPr>
          <a:xfrm>
            <a:off x="324000" y="759300"/>
            <a:ext cx="52068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2) This chart shows the profit of a company (in thousands) over a 5 year period.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167" name="Google Shape;1167;p93"/>
          <p:cNvSpPr txBox="1"/>
          <p:nvPr>
            <p:ph idx="1" type="body"/>
          </p:nvPr>
        </p:nvSpPr>
        <p:spPr>
          <a:xfrm>
            <a:off x="344850" y="1627288"/>
            <a:ext cx="5165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What elements of this chart might make it misleading?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68" name="Google Shape;1168;p93"/>
          <p:cNvSpPr txBox="1"/>
          <p:nvPr>
            <p:ph idx="1" type="body"/>
          </p:nvPr>
        </p:nvSpPr>
        <p:spPr>
          <a:xfrm>
            <a:off x="324000" y="3627900"/>
            <a:ext cx="8496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Why do you think the company chose to draw it this way?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169" name="Google Shape;1169;p93"/>
          <p:cNvPicPr preferRelativeResize="0"/>
          <p:nvPr/>
        </p:nvPicPr>
        <p:blipFill rotWithShape="1">
          <a:blip r:embed="rId3">
            <a:alphaModFix/>
          </a:blip>
          <a:srcRect b="0" l="7952" r="0" t="0"/>
          <a:stretch/>
        </p:blipFill>
        <p:spPr>
          <a:xfrm>
            <a:off x="5641400" y="685400"/>
            <a:ext cx="3109600" cy="226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0" name="Google Shape;1170;p93"/>
          <p:cNvSpPr txBox="1"/>
          <p:nvPr/>
        </p:nvSpPr>
        <p:spPr>
          <a:xfrm rot="-5402219">
            <a:off x="4913544" y="1599051"/>
            <a:ext cx="13944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Profit (1000s)</a:t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5" name="Google Shape;1175;p94"/>
          <p:cNvPicPr preferRelativeResize="0"/>
          <p:nvPr/>
        </p:nvPicPr>
        <p:blipFill rotWithShape="1">
          <a:blip r:embed="rId3">
            <a:alphaModFix/>
          </a:blip>
          <a:srcRect b="0" l="0" r="7338" t="0"/>
          <a:stretch/>
        </p:blipFill>
        <p:spPr>
          <a:xfrm>
            <a:off x="5632601" y="1369450"/>
            <a:ext cx="2927600" cy="246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9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Misleading graphs</a:t>
            </a:r>
            <a:endParaRPr/>
          </a:p>
        </p:txBody>
      </p:sp>
      <p:sp>
        <p:nvSpPr>
          <p:cNvPr id="1177" name="Google Shape;1177;p94"/>
          <p:cNvSpPr txBox="1"/>
          <p:nvPr>
            <p:ph idx="1" type="body"/>
          </p:nvPr>
        </p:nvSpPr>
        <p:spPr>
          <a:xfrm>
            <a:off x="324000" y="759300"/>
            <a:ext cx="8496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Jacob records the average temperature in one of his classrooms each month and draws this graph. </a:t>
            </a: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178" name="Google Shape;1178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6550" y="1369450"/>
            <a:ext cx="3159375" cy="2469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9" name="Google Shape;1179;p94"/>
          <p:cNvGrpSpPr/>
          <p:nvPr/>
        </p:nvGrpSpPr>
        <p:grpSpPr>
          <a:xfrm>
            <a:off x="4556650" y="1307296"/>
            <a:ext cx="4196959" cy="2529254"/>
            <a:chOff x="4667503" y="2040830"/>
            <a:chExt cx="2977200" cy="2465400"/>
          </a:xfrm>
        </p:grpSpPr>
        <p:cxnSp>
          <p:nvCxnSpPr>
            <p:cNvPr id="1180" name="Google Shape;1180;p94"/>
            <p:cNvCxnSpPr/>
            <p:nvPr/>
          </p:nvCxnSpPr>
          <p:spPr>
            <a:xfrm rot="10800000">
              <a:off x="4820745" y="2040830"/>
              <a:ext cx="0" cy="2465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81" name="Google Shape;1181;p94"/>
            <p:cNvCxnSpPr/>
            <p:nvPr/>
          </p:nvCxnSpPr>
          <p:spPr>
            <a:xfrm>
              <a:off x="4667503" y="4321393"/>
              <a:ext cx="297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182" name="Google Shape;1182;p94"/>
          <p:cNvSpPr txBox="1"/>
          <p:nvPr/>
        </p:nvSpPr>
        <p:spPr>
          <a:xfrm>
            <a:off x="8087850" y="3238850"/>
            <a:ext cx="8088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Month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3" name="Google Shape;1183;p94"/>
          <p:cNvSpPr txBox="1"/>
          <p:nvPr/>
        </p:nvSpPr>
        <p:spPr>
          <a:xfrm>
            <a:off x="4448225" y="3656875"/>
            <a:ext cx="80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March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4" name="Google Shape;1184;p94"/>
          <p:cNvSpPr txBox="1"/>
          <p:nvPr/>
        </p:nvSpPr>
        <p:spPr>
          <a:xfrm>
            <a:off x="5198023" y="3656886"/>
            <a:ext cx="6534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April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5" name="Google Shape;1185;p94"/>
          <p:cNvSpPr txBox="1"/>
          <p:nvPr/>
        </p:nvSpPr>
        <p:spPr>
          <a:xfrm>
            <a:off x="5938375" y="3656886"/>
            <a:ext cx="6972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May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6" name="Google Shape;1186;p94"/>
          <p:cNvSpPr txBox="1"/>
          <p:nvPr/>
        </p:nvSpPr>
        <p:spPr>
          <a:xfrm>
            <a:off x="6625649" y="3656886"/>
            <a:ext cx="6972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June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7" name="Google Shape;1187;p94"/>
          <p:cNvSpPr txBox="1"/>
          <p:nvPr/>
        </p:nvSpPr>
        <p:spPr>
          <a:xfrm>
            <a:off x="7375646" y="3656886"/>
            <a:ext cx="6594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July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94"/>
          <p:cNvSpPr txBox="1"/>
          <p:nvPr/>
        </p:nvSpPr>
        <p:spPr>
          <a:xfrm rot="-5400000">
            <a:off x="2634125" y="2314350"/>
            <a:ext cx="32937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Classroom temperature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(°C)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89" name="Google Shape;1189;p94"/>
          <p:cNvGrpSpPr/>
          <p:nvPr/>
        </p:nvGrpSpPr>
        <p:grpSpPr>
          <a:xfrm>
            <a:off x="4373306" y="1738735"/>
            <a:ext cx="375600" cy="1691340"/>
            <a:chOff x="5206856" y="2170985"/>
            <a:chExt cx="375600" cy="1691340"/>
          </a:xfrm>
        </p:grpSpPr>
        <p:sp>
          <p:nvSpPr>
            <p:cNvPr id="1190" name="Google Shape;1190;p94"/>
            <p:cNvSpPr/>
            <p:nvPr/>
          </p:nvSpPr>
          <p:spPr>
            <a:xfrm>
              <a:off x="5206856" y="3544025"/>
              <a:ext cx="3756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1" name="Google Shape;1191;p94"/>
            <p:cNvSpPr/>
            <p:nvPr/>
          </p:nvSpPr>
          <p:spPr>
            <a:xfrm>
              <a:off x="5206856" y="2873177"/>
              <a:ext cx="3756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2" name="Google Shape;1192;p94"/>
            <p:cNvSpPr/>
            <p:nvPr/>
          </p:nvSpPr>
          <p:spPr>
            <a:xfrm>
              <a:off x="5206856" y="2170985"/>
              <a:ext cx="3756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26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3" name="Google Shape;1193;p94"/>
          <p:cNvGrpSpPr/>
          <p:nvPr/>
        </p:nvGrpSpPr>
        <p:grpSpPr>
          <a:xfrm rot="118984">
            <a:off x="4677810" y="3410772"/>
            <a:ext cx="193028" cy="148495"/>
            <a:chOff x="4801213" y="3827588"/>
            <a:chExt cx="265062" cy="145183"/>
          </a:xfrm>
        </p:grpSpPr>
        <p:cxnSp>
          <p:nvCxnSpPr>
            <p:cNvPr id="1194" name="Google Shape;1194;p94"/>
            <p:cNvCxnSpPr/>
            <p:nvPr/>
          </p:nvCxnSpPr>
          <p:spPr>
            <a:xfrm flipH="1" rot="10800000">
              <a:off x="4801213" y="3827588"/>
              <a:ext cx="240000" cy="801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5" name="Google Shape;1195;p94"/>
            <p:cNvCxnSpPr/>
            <p:nvPr/>
          </p:nvCxnSpPr>
          <p:spPr>
            <a:xfrm flipH="1" rot="10800000">
              <a:off x="4814108" y="3860654"/>
              <a:ext cx="240000" cy="801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6" name="Google Shape;1196;p94"/>
            <p:cNvCxnSpPr/>
            <p:nvPr/>
          </p:nvCxnSpPr>
          <p:spPr>
            <a:xfrm flipH="1" rot="10800000">
              <a:off x="4826275" y="3892671"/>
              <a:ext cx="240000" cy="801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97" name="Google Shape;1197;p94"/>
          <p:cNvSpPr txBox="1"/>
          <p:nvPr/>
        </p:nvSpPr>
        <p:spPr>
          <a:xfrm>
            <a:off x="4688899" y="2986840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845AD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98" name="Google Shape;1198;p94"/>
          <p:cNvCxnSpPr/>
          <p:nvPr/>
        </p:nvCxnSpPr>
        <p:spPr>
          <a:xfrm>
            <a:off x="4781875" y="3103775"/>
            <a:ext cx="706800" cy="17850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9" name="Google Shape;1199;p94"/>
          <p:cNvSpPr txBox="1"/>
          <p:nvPr/>
        </p:nvSpPr>
        <p:spPr>
          <a:xfrm>
            <a:off x="5405792" y="3158266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845AD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94"/>
          <p:cNvSpPr txBox="1"/>
          <p:nvPr/>
        </p:nvSpPr>
        <p:spPr>
          <a:xfrm>
            <a:off x="6091745" y="2811986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845AD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94"/>
          <p:cNvSpPr txBox="1"/>
          <p:nvPr/>
        </p:nvSpPr>
        <p:spPr>
          <a:xfrm>
            <a:off x="6798285" y="2652672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845AD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2" name="Google Shape;1202;p94"/>
          <p:cNvSpPr txBox="1"/>
          <p:nvPr/>
        </p:nvSpPr>
        <p:spPr>
          <a:xfrm>
            <a:off x="7490869" y="160377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845AD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03" name="Google Shape;1203;p94"/>
          <p:cNvCxnSpPr/>
          <p:nvPr/>
        </p:nvCxnSpPr>
        <p:spPr>
          <a:xfrm flipH="1">
            <a:off x="5488700" y="2932025"/>
            <a:ext cx="686700" cy="35370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4" name="Google Shape;1204;p94"/>
          <p:cNvCxnSpPr/>
          <p:nvPr/>
        </p:nvCxnSpPr>
        <p:spPr>
          <a:xfrm flipH="1">
            <a:off x="6175475" y="2778450"/>
            <a:ext cx="707400" cy="16020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5" name="Google Shape;1205;p94"/>
          <p:cNvCxnSpPr/>
          <p:nvPr/>
        </p:nvCxnSpPr>
        <p:spPr>
          <a:xfrm flipH="1">
            <a:off x="6882875" y="1723475"/>
            <a:ext cx="688800" cy="104850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6" name="Google Shape;1206;p94"/>
          <p:cNvSpPr txBox="1"/>
          <p:nvPr/>
        </p:nvSpPr>
        <p:spPr>
          <a:xfrm>
            <a:off x="7959000" y="3647100"/>
            <a:ext cx="8610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Sept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94"/>
          <p:cNvSpPr txBox="1"/>
          <p:nvPr/>
        </p:nvSpPr>
        <p:spPr>
          <a:xfrm>
            <a:off x="8182639" y="2812933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845AD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08" name="Google Shape;1208;p94"/>
          <p:cNvCxnSpPr/>
          <p:nvPr/>
        </p:nvCxnSpPr>
        <p:spPr>
          <a:xfrm rot="10800000">
            <a:off x="7571600" y="1723400"/>
            <a:ext cx="704100" cy="121830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9" name="Google Shape;1209;p94"/>
          <p:cNvSpPr txBox="1"/>
          <p:nvPr>
            <p:ph idx="1" type="body"/>
          </p:nvPr>
        </p:nvSpPr>
        <p:spPr>
          <a:xfrm>
            <a:off x="324000" y="1510150"/>
            <a:ext cx="37479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What conclusion might he be trying to convey with this graph? </a:t>
            </a:r>
            <a:r>
              <a:rPr lang="en-GB" sz="1800"/>
              <a:t> 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10" name="Google Shape;1210;p94"/>
          <p:cNvSpPr txBox="1"/>
          <p:nvPr>
            <p:ph idx="1" type="body"/>
          </p:nvPr>
        </p:nvSpPr>
        <p:spPr>
          <a:xfrm>
            <a:off x="324000" y="2980650"/>
            <a:ext cx="3641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Why is his graph misleading? </a:t>
            </a:r>
            <a:r>
              <a:rPr lang="en-GB" sz="1800"/>
              <a:t> 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95"/>
          <p:cNvSpPr txBox="1"/>
          <p:nvPr>
            <p:ph idx="1" type="body"/>
          </p:nvPr>
        </p:nvSpPr>
        <p:spPr>
          <a:xfrm>
            <a:off x="324000" y="759300"/>
            <a:ext cx="8496000" cy="9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4) Sofia collects this data on how long she spends on different activities on a Saturday. </a:t>
            </a:r>
            <a:endParaRPr sz="2000"/>
          </a:p>
        </p:txBody>
      </p:sp>
      <p:sp>
        <p:nvSpPr>
          <p:cNvPr id="1216" name="Google Shape;1216;p9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Misleading graphs</a:t>
            </a:r>
            <a:endParaRPr/>
          </a:p>
        </p:txBody>
      </p:sp>
      <p:graphicFrame>
        <p:nvGraphicFramePr>
          <p:cNvPr id="1217" name="Google Shape;1217;p95"/>
          <p:cNvGraphicFramePr/>
          <p:nvPr/>
        </p:nvGraphicFramePr>
        <p:xfrm>
          <a:off x="324000" y="153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{D4E64912-5923-42BA-8A9D-717A7A022C39}</a:tableStyleId>
              </a:tblPr>
              <a:tblGrid>
                <a:gridCol w="1462475"/>
                <a:gridCol w="1024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Activity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Sleeping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 hrs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Exercising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hrs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Seeing friends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hrs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Screen time 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 hrs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Family time 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hrs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18" name="Google Shape;1218;p95"/>
          <p:cNvSpPr txBox="1"/>
          <p:nvPr>
            <p:ph idx="4294967295" type="body"/>
          </p:nvPr>
        </p:nvSpPr>
        <p:spPr>
          <a:xfrm>
            <a:off x="2887200" y="1536275"/>
            <a:ext cx="5875800" cy="70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What type of chart could Sofia draw to display this data?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219" name="Google Shape;1219;p95"/>
          <p:cNvSpPr txBox="1"/>
          <p:nvPr>
            <p:ph idx="4294967295" type="body"/>
          </p:nvPr>
        </p:nvSpPr>
        <p:spPr>
          <a:xfrm>
            <a:off x="2887200" y="2679275"/>
            <a:ext cx="5932800" cy="70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Sofia wants to make it look like she spends lots of time exercising, how could she manipulate her chart to imply this?</a:t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96"/>
          <p:cNvSpPr/>
          <p:nvPr/>
        </p:nvSpPr>
        <p:spPr>
          <a:xfrm>
            <a:off x="353400" y="1275775"/>
            <a:ext cx="4133400" cy="3515100"/>
          </a:xfrm>
          <a:prstGeom prst="roundRect">
            <a:avLst>
              <a:gd fmla="val 6008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5" name="Google Shape;1225;p9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Misleading graphs</a:t>
            </a:r>
            <a:endParaRPr/>
          </a:p>
        </p:txBody>
      </p:sp>
      <p:sp>
        <p:nvSpPr>
          <p:cNvPr id="1226" name="Google Shape;1226;p96"/>
          <p:cNvSpPr txBox="1"/>
          <p:nvPr>
            <p:ph idx="1" type="body"/>
          </p:nvPr>
        </p:nvSpPr>
        <p:spPr>
          <a:xfrm>
            <a:off x="324000" y="759300"/>
            <a:ext cx="8237700" cy="2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</a:t>
            </a:r>
            <a:r>
              <a:rPr lang="en-GB" sz="2000"/>
              <a:t>Why might the graph in this advert be misleading?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cxnSp>
        <p:nvCxnSpPr>
          <p:cNvPr id="1227" name="Google Shape;1227;p96"/>
          <p:cNvCxnSpPr/>
          <p:nvPr/>
        </p:nvCxnSpPr>
        <p:spPr>
          <a:xfrm rot="10800000">
            <a:off x="1088125" y="2604700"/>
            <a:ext cx="0" cy="152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8" name="Google Shape;1228;p96"/>
          <p:cNvCxnSpPr/>
          <p:nvPr/>
        </p:nvCxnSpPr>
        <p:spPr>
          <a:xfrm>
            <a:off x="1088125" y="4125700"/>
            <a:ext cx="2208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9" name="Google Shape;1229;p96"/>
          <p:cNvSpPr/>
          <p:nvPr/>
        </p:nvSpPr>
        <p:spPr>
          <a:xfrm>
            <a:off x="1212575" y="3782992"/>
            <a:ext cx="620700" cy="338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0" name="Google Shape;1230;p96"/>
          <p:cNvSpPr/>
          <p:nvPr/>
        </p:nvSpPr>
        <p:spPr>
          <a:xfrm>
            <a:off x="1986700" y="2925025"/>
            <a:ext cx="1168200" cy="11892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1" name="Google Shape;1231;p96"/>
          <p:cNvSpPr txBox="1"/>
          <p:nvPr/>
        </p:nvSpPr>
        <p:spPr>
          <a:xfrm>
            <a:off x="1136525" y="4202650"/>
            <a:ext cx="12444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Regular toothpaste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2" name="Google Shape;1232;p96"/>
          <p:cNvSpPr txBox="1"/>
          <p:nvPr/>
        </p:nvSpPr>
        <p:spPr>
          <a:xfrm>
            <a:off x="2058500" y="2994025"/>
            <a:ext cx="12444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Premium toothpaste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3" name="Google Shape;1233;p96"/>
          <p:cNvSpPr txBox="1"/>
          <p:nvPr/>
        </p:nvSpPr>
        <p:spPr>
          <a:xfrm>
            <a:off x="400875" y="1391925"/>
            <a:ext cx="40029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“Studies show our toothpaste is much more effective at promoting healthy teeth and gums than regular toothpaste.”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96"/>
          <p:cNvSpPr txBox="1"/>
          <p:nvPr/>
        </p:nvSpPr>
        <p:spPr>
          <a:xfrm>
            <a:off x="4572000" y="1149525"/>
            <a:ext cx="42480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may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have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said: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-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No scale on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axis so the difference in height could be anything.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- The premium toothpaste bar is wider which makes it look like it represents a bigger number.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- No label on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axis so we do not know what is being measured.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- Use of colour highlights the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Premium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toothpaste.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Misleading graphs</a:t>
            </a:r>
            <a:endParaRPr/>
          </a:p>
        </p:txBody>
      </p:sp>
      <p:sp>
        <p:nvSpPr>
          <p:cNvPr id="1240" name="Google Shape;1240;p97"/>
          <p:cNvSpPr txBox="1"/>
          <p:nvPr>
            <p:ph idx="1" type="body"/>
          </p:nvPr>
        </p:nvSpPr>
        <p:spPr>
          <a:xfrm>
            <a:off x="324000" y="759300"/>
            <a:ext cx="51651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2) This chart shows the profit of a company (in thousands) over a 5 year period.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241" name="Google Shape;1241;p97"/>
          <p:cNvSpPr txBox="1"/>
          <p:nvPr>
            <p:ph idx="1" type="body"/>
          </p:nvPr>
        </p:nvSpPr>
        <p:spPr>
          <a:xfrm>
            <a:off x="324000" y="1627288"/>
            <a:ext cx="5165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What elements of this chart might make it misleading?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42" name="Google Shape;1242;p97"/>
          <p:cNvSpPr txBox="1"/>
          <p:nvPr>
            <p:ph idx="1" type="body"/>
          </p:nvPr>
        </p:nvSpPr>
        <p:spPr>
          <a:xfrm>
            <a:off x="324000" y="3662475"/>
            <a:ext cx="8496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Why do you think the company chose to draw it this way?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243" name="Google Shape;1243;p97"/>
          <p:cNvPicPr preferRelativeResize="0"/>
          <p:nvPr/>
        </p:nvPicPr>
        <p:blipFill rotWithShape="1">
          <a:blip r:embed="rId3">
            <a:alphaModFix/>
          </a:blip>
          <a:srcRect b="0" l="7952" r="0" t="0"/>
          <a:stretch/>
        </p:blipFill>
        <p:spPr>
          <a:xfrm>
            <a:off x="5641400" y="685400"/>
            <a:ext cx="3109600" cy="226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4" name="Google Shape;1244;p97"/>
          <p:cNvSpPr txBox="1"/>
          <p:nvPr/>
        </p:nvSpPr>
        <p:spPr>
          <a:xfrm rot="-5402219">
            <a:off x="4913544" y="1599051"/>
            <a:ext cx="13944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Profit (1000s)</a:t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97"/>
          <p:cNvSpPr txBox="1"/>
          <p:nvPr>
            <p:ph idx="1" type="body"/>
          </p:nvPr>
        </p:nvSpPr>
        <p:spPr>
          <a:xfrm>
            <a:off x="324000" y="2380338"/>
            <a:ext cx="5165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3D bar chart can make bars in the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foreground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look like they are bigger.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6" name="Google Shape;1246;p97"/>
          <p:cNvSpPr txBox="1"/>
          <p:nvPr>
            <p:ph idx="1" type="body"/>
          </p:nvPr>
        </p:nvSpPr>
        <p:spPr>
          <a:xfrm>
            <a:off x="324000" y="3133400"/>
            <a:ext cx="562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is hard to read the exact numbers off the axis.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7" name="Google Shape;1247;p97"/>
          <p:cNvSpPr txBox="1"/>
          <p:nvPr>
            <p:ph idx="1" type="body"/>
          </p:nvPr>
        </p:nvSpPr>
        <p:spPr>
          <a:xfrm>
            <a:off x="324000" y="4045275"/>
            <a:ext cx="8496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To make the yearly profit increase look more impressive.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Misleading graphs</a:t>
            </a:r>
            <a:endParaRPr/>
          </a:p>
        </p:txBody>
      </p:sp>
      <p:sp>
        <p:nvSpPr>
          <p:cNvPr id="1253" name="Google Shape;1253;p98"/>
          <p:cNvSpPr txBox="1"/>
          <p:nvPr>
            <p:ph idx="1" type="body"/>
          </p:nvPr>
        </p:nvSpPr>
        <p:spPr>
          <a:xfrm>
            <a:off x="324000" y="2188950"/>
            <a:ext cx="33123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is significantly hotter in the classroom in July.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4" name="Google Shape;1254;p98"/>
          <p:cNvSpPr txBox="1"/>
          <p:nvPr>
            <p:ph idx="1" type="body"/>
          </p:nvPr>
        </p:nvSpPr>
        <p:spPr>
          <a:xfrm>
            <a:off x="324100" y="3321975"/>
            <a:ext cx="36513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has a broken scale so cannot use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proportions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255" name="Google Shape;1255;p98"/>
          <p:cNvPicPr preferRelativeResize="0"/>
          <p:nvPr/>
        </p:nvPicPr>
        <p:blipFill rotWithShape="1">
          <a:blip r:embed="rId3">
            <a:alphaModFix/>
          </a:blip>
          <a:srcRect b="0" l="0" r="7338" t="0"/>
          <a:stretch/>
        </p:blipFill>
        <p:spPr>
          <a:xfrm>
            <a:off x="5632601" y="1369450"/>
            <a:ext cx="2927600" cy="246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Google Shape;1256;p98"/>
          <p:cNvSpPr txBox="1"/>
          <p:nvPr>
            <p:ph idx="1" type="body"/>
          </p:nvPr>
        </p:nvSpPr>
        <p:spPr>
          <a:xfrm>
            <a:off x="324000" y="759300"/>
            <a:ext cx="8496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Jacob records the average temperature in one of his classrooms each month and draws this graph. 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257" name="Google Shape;1257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6550" y="1369450"/>
            <a:ext cx="3159375" cy="2469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8" name="Google Shape;1258;p98"/>
          <p:cNvGrpSpPr/>
          <p:nvPr/>
        </p:nvGrpSpPr>
        <p:grpSpPr>
          <a:xfrm>
            <a:off x="4556650" y="1307296"/>
            <a:ext cx="4196959" cy="2529254"/>
            <a:chOff x="4667503" y="2040830"/>
            <a:chExt cx="2977200" cy="2465400"/>
          </a:xfrm>
        </p:grpSpPr>
        <p:cxnSp>
          <p:nvCxnSpPr>
            <p:cNvPr id="1259" name="Google Shape;1259;p98"/>
            <p:cNvCxnSpPr/>
            <p:nvPr/>
          </p:nvCxnSpPr>
          <p:spPr>
            <a:xfrm rot="10800000">
              <a:off x="4820745" y="2040830"/>
              <a:ext cx="0" cy="2465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60" name="Google Shape;1260;p98"/>
            <p:cNvCxnSpPr/>
            <p:nvPr/>
          </p:nvCxnSpPr>
          <p:spPr>
            <a:xfrm>
              <a:off x="4667503" y="4321393"/>
              <a:ext cx="297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261" name="Google Shape;1261;p98"/>
          <p:cNvSpPr txBox="1"/>
          <p:nvPr/>
        </p:nvSpPr>
        <p:spPr>
          <a:xfrm>
            <a:off x="8087850" y="3238850"/>
            <a:ext cx="8088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Month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2" name="Google Shape;1262;p98"/>
          <p:cNvSpPr txBox="1"/>
          <p:nvPr/>
        </p:nvSpPr>
        <p:spPr>
          <a:xfrm>
            <a:off x="4448225" y="3656875"/>
            <a:ext cx="80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March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3" name="Google Shape;1263;p98"/>
          <p:cNvSpPr txBox="1"/>
          <p:nvPr/>
        </p:nvSpPr>
        <p:spPr>
          <a:xfrm>
            <a:off x="5198023" y="3656886"/>
            <a:ext cx="6534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April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98"/>
          <p:cNvSpPr txBox="1"/>
          <p:nvPr/>
        </p:nvSpPr>
        <p:spPr>
          <a:xfrm>
            <a:off x="5938375" y="3656886"/>
            <a:ext cx="6972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May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98"/>
          <p:cNvSpPr txBox="1"/>
          <p:nvPr/>
        </p:nvSpPr>
        <p:spPr>
          <a:xfrm>
            <a:off x="6625649" y="3656886"/>
            <a:ext cx="6972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June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6" name="Google Shape;1266;p98"/>
          <p:cNvSpPr txBox="1"/>
          <p:nvPr/>
        </p:nvSpPr>
        <p:spPr>
          <a:xfrm>
            <a:off x="7375646" y="3656886"/>
            <a:ext cx="6594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July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7" name="Google Shape;1267;p98"/>
          <p:cNvSpPr txBox="1"/>
          <p:nvPr/>
        </p:nvSpPr>
        <p:spPr>
          <a:xfrm rot="-5400000">
            <a:off x="2634125" y="2314350"/>
            <a:ext cx="32937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Classroom temperature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(°C)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68" name="Google Shape;1268;p98"/>
          <p:cNvGrpSpPr/>
          <p:nvPr/>
        </p:nvGrpSpPr>
        <p:grpSpPr>
          <a:xfrm>
            <a:off x="4373306" y="1738735"/>
            <a:ext cx="375600" cy="1691340"/>
            <a:chOff x="5206856" y="2170985"/>
            <a:chExt cx="375600" cy="1691340"/>
          </a:xfrm>
        </p:grpSpPr>
        <p:sp>
          <p:nvSpPr>
            <p:cNvPr id="1269" name="Google Shape;1269;p98"/>
            <p:cNvSpPr/>
            <p:nvPr/>
          </p:nvSpPr>
          <p:spPr>
            <a:xfrm>
              <a:off x="5206856" y="3544025"/>
              <a:ext cx="3756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0" name="Google Shape;1270;p98"/>
            <p:cNvSpPr/>
            <p:nvPr/>
          </p:nvSpPr>
          <p:spPr>
            <a:xfrm>
              <a:off x="5206856" y="2873177"/>
              <a:ext cx="3756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1" name="Google Shape;1271;p98"/>
            <p:cNvSpPr/>
            <p:nvPr/>
          </p:nvSpPr>
          <p:spPr>
            <a:xfrm>
              <a:off x="5206856" y="2170985"/>
              <a:ext cx="3756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26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2" name="Google Shape;1272;p98"/>
          <p:cNvGrpSpPr/>
          <p:nvPr/>
        </p:nvGrpSpPr>
        <p:grpSpPr>
          <a:xfrm rot="118984">
            <a:off x="4677810" y="3410772"/>
            <a:ext cx="193028" cy="148495"/>
            <a:chOff x="4801213" y="3827588"/>
            <a:chExt cx="265062" cy="145183"/>
          </a:xfrm>
        </p:grpSpPr>
        <p:cxnSp>
          <p:nvCxnSpPr>
            <p:cNvPr id="1273" name="Google Shape;1273;p98"/>
            <p:cNvCxnSpPr/>
            <p:nvPr/>
          </p:nvCxnSpPr>
          <p:spPr>
            <a:xfrm flipH="1" rot="10800000">
              <a:off x="4801213" y="3827588"/>
              <a:ext cx="240000" cy="801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4" name="Google Shape;1274;p98"/>
            <p:cNvCxnSpPr/>
            <p:nvPr/>
          </p:nvCxnSpPr>
          <p:spPr>
            <a:xfrm flipH="1" rot="10800000">
              <a:off x="4814108" y="3860654"/>
              <a:ext cx="240000" cy="801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5" name="Google Shape;1275;p98"/>
            <p:cNvCxnSpPr/>
            <p:nvPr/>
          </p:nvCxnSpPr>
          <p:spPr>
            <a:xfrm flipH="1" rot="10800000">
              <a:off x="4826275" y="3892671"/>
              <a:ext cx="240000" cy="801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76" name="Google Shape;1276;p98"/>
          <p:cNvSpPr txBox="1"/>
          <p:nvPr/>
        </p:nvSpPr>
        <p:spPr>
          <a:xfrm>
            <a:off x="4688899" y="2986840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845AD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7" name="Google Shape;1277;p98"/>
          <p:cNvCxnSpPr/>
          <p:nvPr/>
        </p:nvCxnSpPr>
        <p:spPr>
          <a:xfrm>
            <a:off x="4781875" y="3103775"/>
            <a:ext cx="706800" cy="17850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8" name="Google Shape;1278;p98"/>
          <p:cNvSpPr txBox="1"/>
          <p:nvPr/>
        </p:nvSpPr>
        <p:spPr>
          <a:xfrm>
            <a:off x="5405792" y="3158266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845AD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9" name="Google Shape;1279;p98"/>
          <p:cNvSpPr txBox="1"/>
          <p:nvPr/>
        </p:nvSpPr>
        <p:spPr>
          <a:xfrm>
            <a:off x="6091745" y="2811986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845AD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0" name="Google Shape;1280;p98"/>
          <p:cNvSpPr txBox="1"/>
          <p:nvPr/>
        </p:nvSpPr>
        <p:spPr>
          <a:xfrm>
            <a:off x="6798285" y="2652672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845AD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1" name="Google Shape;1281;p98"/>
          <p:cNvSpPr txBox="1"/>
          <p:nvPr/>
        </p:nvSpPr>
        <p:spPr>
          <a:xfrm>
            <a:off x="7490869" y="160377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845AD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82" name="Google Shape;1282;p98"/>
          <p:cNvCxnSpPr/>
          <p:nvPr/>
        </p:nvCxnSpPr>
        <p:spPr>
          <a:xfrm flipH="1">
            <a:off x="5488700" y="2932025"/>
            <a:ext cx="686700" cy="35370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3" name="Google Shape;1283;p98"/>
          <p:cNvCxnSpPr/>
          <p:nvPr/>
        </p:nvCxnSpPr>
        <p:spPr>
          <a:xfrm flipH="1">
            <a:off x="6175475" y="2778450"/>
            <a:ext cx="707400" cy="16020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4" name="Google Shape;1284;p98"/>
          <p:cNvCxnSpPr/>
          <p:nvPr/>
        </p:nvCxnSpPr>
        <p:spPr>
          <a:xfrm flipH="1">
            <a:off x="6882875" y="1723475"/>
            <a:ext cx="688800" cy="104850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5" name="Google Shape;1285;p98"/>
          <p:cNvSpPr txBox="1"/>
          <p:nvPr/>
        </p:nvSpPr>
        <p:spPr>
          <a:xfrm>
            <a:off x="7959000" y="3647100"/>
            <a:ext cx="8610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Sept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6" name="Google Shape;1286;p98"/>
          <p:cNvSpPr txBox="1"/>
          <p:nvPr/>
        </p:nvSpPr>
        <p:spPr>
          <a:xfrm>
            <a:off x="8182639" y="2812933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845AD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87" name="Google Shape;1287;p98"/>
          <p:cNvCxnSpPr/>
          <p:nvPr/>
        </p:nvCxnSpPr>
        <p:spPr>
          <a:xfrm rot="10800000">
            <a:off x="7571600" y="1723400"/>
            <a:ext cx="704100" cy="121830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8" name="Google Shape;1288;p98"/>
          <p:cNvSpPr txBox="1"/>
          <p:nvPr>
            <p:ph idx="1" type="body"/>
          </p:nvPr>
        </p:nvSpPr>
        <p:spPr>
          <a:xfrm>
            <a:off x="324000" y="1510150"/>
            <a:ext cx="37479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What conclusion might he be trying to convey with this graph?  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89" name="Google Shape;1289;p98"/>
          <p:cNvSpPr txBox="1"/>
          <p:nvPr>
            <p:ph idx="1" type="body"/>
          </p:nvPr>
        </p:nvSpPr>
        <p:spPr>
          <a:xfrm>
            <a:off x="333700" y="2980650"/>
            <a:ext cx="3641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Why is his graph misleading?  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90" name="Google Shape;1290;p98"/>
          <p:cNvSpPr txBox="1"/>
          <p:nvPr>
            <p:ph idx="1" type="body"/>
          </p:nvPr>
        </p:nvSpPr>
        <p:spPr>
          <a:xfrm>
            <a:off x="324100" y="4048175"/>
            <a:ext cx="8496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scale is stretched, the actual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difference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in temperatures is only 2.25°C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1" name="Google Shape;1291;p98"/>
          <p:cNvSpPr txBox="1"/>
          <p:nvPr>
            <p:ph idx="1" type="body"/>
          </p:nvPr>
        </p:nvSpPr>
        <p:spPr>
          <a:xfrm>
            <a:off x="324100" y="4455000"/>
            <a:ext cx="8496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 misses out August which makes the peak in July look more significant.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 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9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4) Sofia collects this data on how long she spends on different activities on a Saturday. </a:t>
            </a:r>
            <a:endParaRPr sz="2000"/>
          </a:p>
        </p:txBody>
      </p:sp>
      <p:sp>
        <p:nvSpPr>
          <p:cNvPr id="1297" name="Google Shape;1297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Misleading graphs</a:t>
            </a:r>
            <a:endParaRPr/>
          </a:p>
        </p:txBody>
      </p:sp>
      <p:sp>
        <p:nvSpPr>
          <p:cNvPr id="1298" name="Google Shape;1298;p99"/>
          <p:cNvSpPr txBox="1"/>
          <p:nvPr>
            <p:ph idx="1" type="body"/>
          </p:nvPr>
        </p:nvSpPr>
        <p:spPr>
          <a:xfrm>
            <a:off x="4320000" y="1857575"/>
            <a:ext cx="41733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Bar chart, Pie chart, Pictogram…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  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9" name="Google Shape;1299;p99"/>
          <p:cNvSpPr txBox="1"/>
          <p:nvPr>
            <p:ph idx="1" type="body"/>
          </p:nvPr>
        </p:nvSpPr>
        <p:spPr>
          <a:xfrm>
            <a:off x="2865750" y="3397200"/>
            <a:ext cx="5975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will depend on the type of graph but some ideas: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 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300" name="Google Shape;1300;p99"/>
          <p:cNvGraphicFramePr/>
          <p:nvPr/>
        </p:nvGraphicFramePr>
        <p:xfrm>
          <a:off x="324000" y="153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{D4E64912-5923-42BA-8A9D-717A7A022C39}</a:tableStyleId>
              </a:tblPr>
              <a:tblGrid>
                <a:gridCol w="1462475"/>
                <a:gridCol w="1024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Activity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Sleeping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 hrs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Exercising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hrs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Seeing friends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hrs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Screen time 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 hrs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Family time 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hrs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01" name="Google Shape;1301;p99"/>
          <p:cNvSpPr txBox="1"/>
          <p:nvPr>
            <p:ph idx="4294967295" type="body"/>
          </p:nvPr>
        </p:nvSpPr>
        <p:spPr>
          <a:xfrm>
            <a:off x="2887200" y="1536275"/>
            <a:ext cx="5875800" cy="70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What type of chart could Sofia draw to display this data? </a:t>
            </a:r>
            <a:endParaRPr sz="1800"/>
          </a:p>
        </p:txBody>
      </p:sp>
      <p:sp>
        <p:nvSpPr>
          <p:cNvPr id="1302" name="Google Shape;1302;p99"/>
          <p:cNvSpPr txBox="1"/>
          <p:nvPr>
            <p:ph idx="4294967295" type="body"/>
          </p:nvPr>
        </p:nvSpPr>
        <p:spPr>
          <a:xfrm>
            <a:off x="2887200" y="2347950"/>
            <a:ext cx="5932800" cy="70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Sofia wants to make it look like she spends lots of time exercising, how could she manipulate her chart to imply this?</a:t>
            </a:r>
            <a:endParaRPr sz="1800"/>
          </a:p>
        </p:txBody>
      </p:sp>
      <p:sp>
        <p:nvSpPr>
          <p:cNvPr id="1303" name="Google Shape;1303;p99"/>
          <p:cNvSpPr txBox="1"/>
          <p:nvPr>
            <p:ph idx="1" type="body"/>
          </p:nvPr>
        </p:nvSpPr>
        <p:spPr>
          <a:xfrm>
            <a:off x="324000" y="3888800"/>
            <a:ext cx="8496000" cy="93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Use a 3D pie chart with exercise at the front and the pie chart at an angle.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On a bar chart leave the numbers off the axis.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Draw a 3D bar chart with exercise in the foreground.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  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10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Misleading graphs</a:t>
            </a:r>
            <a:endParaRPr/>
          </a:p>
        </p:txBody>
      </p:sp>
      <p:sp>
        <p:nvSpPr>
          <p:cNvPr id="1309" name="Google Shape;1309;p10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Misinterpreting graphs</a:t>
            </a:r>
            <a:endParaRPr/>
          </a:p>
        </p:txBody>
      </p:sp>
      <p:sp>
        <p:nvSpPr>
          <p:cNvPr id="1310" name="Google Shape;1310;p10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Misleading data</a:t>
            </a:r>
            <a:endParaRPr/>
          </a:p>
        </p:txBody>
      </p:sp>
      <p:pic>
        <p:nvPicPr>
          <p:cNvPr id="1311" name="Google Shape;1311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625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Misinterpreting graphs</a:t>
            </a:r>
            <a:endParaRPr/>
          </a:p>
        </p:txBody>
      </p:sp>
      <p:sp>
        <p:nvSpPr>
          <p:cNvPr id="1317" name="Google Shape;1317;p101"/>
          <p:cNvSpPr txBox="1"/>
          <p:nvPr>
            <p:ph idx="1" type="body"/>
          </p:nvPr>
        </p:nvSpPr>
        <p:spPr>
          <a:xfrm>
            <a:off x="324000" y="810000"/>
            <a:ext cx="8496000" cy="30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have seen how graphs can be drawn to be misleading. </a:t>
            </a:r>
            <a:endParaRPr sz="1800"/>
          </a:p>
        </p:txBody>
      </p:sp>
      <p:sp>
        <p:nvSpPr>
          <p:cNvPr id="1318" name="Google Shape;1318;p101"/>
          <p:cNvSpPr txBox="1"/>
          <p:nvPr>
            <p:ph idx="1" type="body"/>
          </p:nvPr>
        </p:nvSpPr>
        <p:spPr>
          <a:xfrm>
            <a:off x="4572000" y="2007825"/>
            <a:ext cx="4248000" cy="103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time series graph shows the number of passengers at ‘Oakfield Station’.  </a:t>
            </a:r>
            <a:endParaRPr sz="1800"/>
          </a:p>
        </p:txBody>
      </p:sp>
      <p:sp>
        <p:nvSpPr>
          <p:cNvPr id="1319" name="Google Shape;1319;p101"/>
          <p:cNvSpPr txBox="1"/>
          <p:nvPr>
            <p:ph idx="1" type="body"/>
          </p:nvPr>
        </p:nvSpPr>
        <p:spPr>
          <a:xfrm>
            <a:off x="4572000" y="3086625"/>
            <a:ext cx="4248000" cy="103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local newspaper article states, “The number of people using the station is at an all time low.”</a:t>
            </a:r>
            <a:endParaRPr sz="1800"/>
          </a:p>
        </p:txBody>
      </p:sp>
      <p:pic>
        <p:nvPicPr>
          <p:cNvPr id="1320" name="Google Shape;1320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138" y="2042396"/>
            <a:ext cx="4046475" cy="24443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21" name="Google Shape;1321;p101"/>
          <p:cNvSpPr txBox="1"/>
          <p:nvPr>
            <p:ph idx="1" type="body"/>
          </p:nvPr>
        </p:nvSpPr>
        <p:spPr>
          <a:xfrm>
            <a:off x="324000" y="1176450"/>
            <a:ext cx="8496000" cy="30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It can also be very easy to misinterpret graphs or make incorrect conclusions based on a lack of understanding about data. </a:t>
            </a:r>
            <a:endParaRPr sz="1800"/>
          </a:p>
        </p:txBody>
      </p:sp>
      <p:sp>
        <p:nvSpPr>
          <p:cNvPr id="1322" name="Google Shape;1322;p101"/>
          <p:cNvSpPr txBox="1"/>
          <p:nvPr>
            <p:ph idx="1" type="body"/>
          </p:nvPr>
        </p:nvSpPr>
        <p:spPr>
          <a:xfrm>
            <a:off x="4572000" y="4165425"/>
            <a:ext cx="42480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Does the graph support this headline?</a:t>
            </a:r>
            <a:endParaRPr sz="1800"/>
          </a:p>
        </p:txBody>
      </p:sp>
      <p:sp>
        <p:nvSpPr>
          <p:cNvPr id="1323" name="Google Shape;1323;p101"/>
          <p:cNvSpPr/>
          <p:nvPr/>
        </p:nvSpPr>
        <p:spPr>
          <a:xfrm rot="-5400000">
            <a:off x="-970950" y="3174325"/>
            <a:ext cx="2772300" cy="25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number of passengers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4" name="Google Shape;1324;p101"/>
          <p:cNvSpPr/>
          <p:nvPr/>
        </p:nvSpPr>
        <p:spPr>
          <a:xfrm>
            <a:off x="3592525" y="4433725"/>
            <a:ext cx="562500" cy="25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time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9" name="Google Shape;1329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138" y="2042396"/>
            <a:ext cx="4046475" cy="24443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30" name="Google Shape;1330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Misinterpreting graphs</a:t>
            </a:r>
            <a:endParaRPr/>
          </a:p>
        </p:txBody>
      </p:sp>
      <p:sp>
        <p:nvSpPr>
          <p:cNvPr id="1331" name="Google Shape;1331;p102"/>
          <p:cNvSpPr/>
          <p:nvPr/>
        </p:nvSpPr>
        <p:spPr>
          <a:xfrm>
            <a:off x="3592525" y="4433725"/>
            <a:ext cx="569400" cy="25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time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2" name="Google Shape;1332;p102"/>
          <p:cNvSpPr/>
          <p:nvPr/>
        </p:nvSpPr>
        <p:spPr>
          <a:xfrm rot="-5400000">
            <a:off x="-970950" y="3174325"/>
            <a:ext cx="2772300" cy="25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number of passengers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3" name="Google Shape;1333;p102"/>
          <p:cNvSpPr txBox="1"/>
          <p:nvPr>
            <p:ph idx="1" type="body"/>
          </p:nvPr>
        </p:nvSpPr>
        <p:spPr>
          <a:xfrm>
            <a:off x="324000" y="810000"/>
            <a:ext cx="8496000" cy="4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local newspaper article states ‘The number of people using the station is at an all time low.”</a:t>
            </a:r>
            <a:endParaRPr sz="1800"/>
          </a:p>
        </p:txBody>
      </p:sp>
      <p:sp>
        <p:nvSpPr>
          <p:cNvPr id="1334" name="Google Shape;1334;p102"/>
          <p:cNvSpPr txBox="1"/>
          <p:nvPr>
            <p:ph idx="1" type="body"/>
          </p:nvPr>
        </p:nvSpPr>
        <p:spPr>
          <a:xfrm>
            <a:off x="3369600" y="1348925"/>
            <a:ext cx="51768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graph only has data for the last year.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5" name="Google Shape;1335;p102"/>
          <p:cNvSpPr txBox="1"/>
          <p:nvPr>
            <p:ph idx="1" type="body"/>
          </p:nvPr>
        </p:nvSpPr>
        <p:spPr>
          <a:xfrm>
            <a:off x="4824000" y="1823700"/>
            <a:ext cx="39960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would be incorrect to use this to state passengers are at an all-time low.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6" name="Google Shape;1336;p102"/>
          <p:cNvSpPr txBox="1"/>
          <p:nvPr>
            <p:ph idx="1" type="body"/>
          </p:nvPr>
        </p:nvSpPr>
        <p:spPr>
          <a:xfrm>
            <a:off x="4824000" y="3010725"/>
            <a:ext cx="3485400" cy="115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may be the case that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winter months always have fewer passengers.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10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Misinterpreting graphs</a:t>
            </a:r>
            <a:endParaRPr/>
          </a:p>
        </p:txBody>
      </p:sp>
      <p:pic>
        <p:nvPicPr>
          <p:cNvPr id="1342" name="Google Shape;1342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2950" y="945300"/>
            <a:ext cx="3159375" cy="2469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3" name="Google Shape;1343;p103"/>
          <p:cNvGrpSpPr/>
          <p:nvPr/>
        </p:nvGrpSpPr>
        <p:grpSpPr>
          <a:xfrm>
            <a:off x="4193050" y="883146"/>
            <a:ext cx="3365941" cy="2529254"/>
            <a:chOff x="4667503" y="2040830"/>
            <a:chExt cx="2387700" cy="2465400"/>
          </a:xfrm>
        </p:grpSpPr>
        <p:cxnSp>
          <p:nvCxnSpPr>
            <p:cNvPr id="1344" name="Google Shape;1344;p103"/>
            <p:cNvCxnSpPr/>
            <p:nvPr/>
          </p:nvCxnSpPr>
          <p:spPr>
            <a:xfrm rot="10800000">
              <a:off x="4820745" y="2040830"/>
              <a:ext cx="0" cy="2465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45" name="Google Shape;1345;p103"/>
            <p:cNvCxnSpPr/>
            <p:nvPr/>
          </p:nvCxnSpPr>
          <p:spPr>
            <a:xfrm>
              <a:off x="4667503" y="4321393"/>
              <a:ext cx="23877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346" name="Google Shape;1346;p103"/>
          <p:cNvSpPr txBox="1"/>
          <p:nvPr/>
        </p:nvSpPr>
        <p:spPr>
          <a:xfrm>
            <a:off x="7121600" y="3240000"/>
            <a:ext cx="8088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days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7" name="Google Shape;1347;p103"/>
          <p:cNvSpPr/>
          <p:nvPr/>
        </p:nvSpPr>
        <p:spPr>
          <a:xfrm>
            <a:off x="4018779" y="2687625"/>
            <a:ext cx="375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8" name="Google Shape;1348;p103"/>
          <p:cNvSpPr/>
          <p:nvPr/>
        </p:nvSpPr>
        <p:spPr>
          <a:xfrm>
            <a:off x="4018779" y="2345827"/>
            <a:ext cx="375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9" name="Google Shape;1349;p103"/>
          <p:cNvSpPr/>
          <p:nvPr/>
        </p:nvSpPr>
        <p:spPr>
          <a:xfrm>
            <a:off x="4018779" y="1662231"/>
            <a:ext cx="375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0" name="Google Shape;1350;p103"/>
          <p:cNvSpPr txBox="1"/>
          <p:nvPr/>
        </p:nvSpPr>
        <p:spPr>
          <a:xfrm>
            <a:off x="4329409" y="2037165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51" name="Google Shape;1351;p103"/>
          <p:cNvCxnSpPr/>
          <p:nvPr/>
        </p:nvCxnSpPr>
        <p:spPr>
          <a:xfrm flipH="1" rot="10800000">
            <a:off x="4407925" y="1995000"/>
            <a:ext cx="355200" cy="1635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2" name="Google Shape;1352;p103"/>
          <p:cNvSpPr txBox="1"/>
          <p:nvPr/>
        </p:nvSpPr>
        <p:spPr>
          <a:xfrm>
            <a:off x="4681932" y="1875176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3" name="Google Shape;1353;p103"/>
          <p:cNvSpPr txBox="1"/>
          <p:nvPr/>
        </p:nvSpPr>
        <p:spPr>
          <a:xfrm>
            <a:off x="6434685" y="2228522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4" name="Google Shape;1354;p103"/>
          <p:cNvSpPr txBox="1"/>
          <p:nvPr/>
        </p:nvSpPr>
        <p:spPr>
          <a:xfrm>
            <a:off x="6780027" y="2053898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55" name="Google Shape;1355;p103"/>
          <p:cNvCxnSpPr/>
          <p:nvPr/>
        </p:nvCxnSpPr>
        <p:spPr>
          <a:xfrm>
            <a:off x="6165550" y="1907450"/>
            <a:ext cx="354000" cy="444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6" name="Google Shape;1356;p103"/>
          <p:cNvSpPr txBox="1"/>
          <p:nvPr/>
        </p:nvSpPr>
        <p:spPr>
          <a:xfrm>
            <a:off x="4329389" y="2733530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7" name="Google Shape;1357;p103"/>
          <p:cNvSpPr/>
          <p:nvPr/>
        </p:nvSpPr>
        <p:spPr>
          <a:xfrm>
            <a:off x="4018779" y="2004029"/>
            <a:ext cx="375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8" name="Google Shape;1358;p103"/>
          <p:cNvSpPr/>
          <p:nvPr/>
        </p:nvSpPr>
        <p:spPr>
          <a:xfrm>
            <a:off x="4018779" y="1320433"/>
            <a:ext cx="375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9" name="Google Shape;1359;p103"/>
          <p:cNvSpPr/>
          <p:nvPr/>
        </p:nvSpPr>
        <p:spPr>
          <a:xfrm>
            <a:off x="4018779" y="978635"/>
            <a:ext cx="375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0" name="Google Shape;1360;p103"/>
          <p:cNvSpPr txBox="1"/>
          <p:nvPr/>
        </p:nvSpPr>
        <p:spPr>
          <a:xfrm>
            <a:off x="5028365" y="1958289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1" name="Google Shape;1361;p103"/>
          <p:cNvSpPr txBox="1"/>
          <p:nvPr/>
        </p:nvSpPr>
        <p:spPr>
          <a:xfrm>
            <a:off x="5381558" y="1355602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2" name="Google Shape;1362;p103"/>
          <p:cNvSpPr txBox="1"/>
          <p:nvPr/>
        </p:nvSpPr>
        <p:spPr>
          <a:xfrm>
            <a:off x="5734751" y="1099195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3" name="Google Shape;1363;p103"/>
          <p:cNvSpPr txBox="1"/>
          <p:nvPr/>
        </p:nvSpPr>
        <p:spPr>
          <a:xfrm>
            <a:off x="6088098" y="1784995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4" name="Google Shape;1364;p103"/>
          <p:cNvSpPr txBox="1"/>
          <p:nvPr/>
        </p:nvSpPr>
        <p:spPr>
          <a:xfrm>
            <a:off x="7128199" y="1686867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65" name="Google Shape;1365;p103"/>
          <p:cNvCxnSpPr/>
          <p:nvPr/>
        </p:nvCxnSpPr>
        <p:spPr>
          <a:xfrm>
            <a:off x="4769900" y="1992750"/>
            <a:ext cx="345000" cy="90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6" name="Google Shape;1366;p103"/>
          <p:cNvCxnSpPr/>
          <p:nvPr/>
        </p:nvCxnSpPr>
        <p:spPr>
          <a:xfrm flipH="1" rot="10800000">
            <a:off x="5114900" y="1480775"/>
            <a:ext cx="350400" cy="601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7" name="Google Shape;1367;p103"/>
          <p:cNvCxnSpPr/>
          <p:nvPr/>
        </p:nvCxnSpPr>
        <p:spPr>
          <a:xfrm flipH="1" rot="10800000">
            <a:off x="5465300" y="1223675"/>
            <a:ext cx="355500" cy="257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8" name="Google Shape;1368;p103"/>
          <p:cNvCxnSpPr/>
          <p:nvPr/>
        </p:nvCxnSpPr>
        <p:spPr>
          <a:xfrm>
            <a:off x="5820750" y="1225475"/>
            <a:ext cx="353700" cy="684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9" name="Google Shape;1369;p103"/>
          <p:cNvCxnSpPr/>
          <p:nvPr/>
        </p:nvCxnSpPr>
        <p:spPr>
          <a:xfrm flipH="1" rot="10800000">
            <a:off x="6519550" y="2181350"/>
            <a:ext cx="348600" cy="1710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0" name="Google Shape;1370;p103"/>
          <p:cNvCxnSpPr/>
          <p:nvPr/>
        </p:nvCxnSpPr>
        <p:spPr>
          <a:xfrm flipH="1" rot="10800000">
            <a:off x="6868150" y="1806925"/>
            <a:ext cx="346800" cy="368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1" name="Google Shape;1371;p103"/>
          <p:cNvSpPr txBox="1"/>
          <p:nvPr/>
        </p:nvSpPr>
        <p:spPr>
          <a:xfrm>
            <a:off x="4682735" y="2553323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2" name="Google Shape;1372;p103"/>
          <p:cNvSpPr txBox="1"/>
          <p:nvPr/>
        </p:nvSpPr>
        <p:spPr>
          <a:xfrm>
            <a:off x="5029169" y="2719396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3" name="Google Shape;1373;p103"/>
          <p:cNvSpPr txBox="1"/>
          <p:nvPr/>
        </p:nvSpPr>
        <p:spPr>
          <a:xfrm>
            <a:off x="5382516" y="1694230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4" name="Google Shape;1374;p103"/>
          <p:cNvSpPr txBox="1"/>
          <p:nvPr/>
        </p:nvSpPr>
        <p:spPr>
          <a:xfrm>
            <a:off x="5722036" y="1521090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103"/>
          <p:cNvSpPr txBox="1"/>
          <p:nvPr/>
        </p:nvSpPr>
        <p:spPr>
          <a:xfrm>
            <a:off x="6082296" y="2047576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6" name="Google Shape;1376;p103"/>
          <p:cNvSpPr txBox="1"/>
          <p:nvPr/>
        </p:nvSpPr>
        <p:spPr>
          <a:xfrm>
            <a:off x="6428729" y="2553170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7" name="Google Shape;1377;p103"/>
          <p:cNvSpPr txBox="1"/>
          <p:nvPr/>
        </p:nvSpPr>
        <p:spPr>
          <a:xfrm>
            <a:off x="6780013" y="2480535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8" name="Google Shape;1378;p103"/>
          <p:cNvSpPr txBox="1"/>
          <p:nvPr/>
        </p:nvSpPr>
        <p:spPr>
          <a:xfrm>
            <a:off x="7121596" y="2213957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79" name="Google Shape;1379;p103"/>
          <p:cNvCxnSpPr/>
          <p:nvPr/>
        </p:nvCxnSpPr>
        <p:spPr>
          <a:xfrm flipH="1" rot="10800000">
            <a:off x="4407925" y="2668125"/>
            <a:ext cx="358500" cy="183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0" name="Google Shape;1380;p103"/>
          <p:cNvCxnSpPr/>
          <p:nvPr/>
        </p:nvCxnSpPr>
        <p:spPr>
          <a:xfrm>
            <a:off x="4763150" y="2668125"/>
            <a:ext cx="348300" cy="170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1" name="Google Shape;1381;p103"/>
          <p:cNvCxnSpPr/>
          <p:nvPr/>
        </p:nvCxnSpPr>
        <p:spPr>
          <a:xfrm flipH="1" rot="10800000">
            <a:off x="5111550" y="1815475"/>
            <a:ext cx="360900" cy="1032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2" name="Google Shape;1382;p103"/>
          <p:cNvCxnSpPr/>
          <p:nvPr/>
        </p:nvCxnSpPr>
        <p:spPr>
          <a:xfrm flipH="1" rot="10800000">
            <a:off x="5462600" y="1641475"/>
            <a:ext cx="340800" cy="174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3" name="Google Shape;1383;p103"/>
          <p:cNvCxnSpPr/>
          <p:nvPr/>
        </p:nvCxnSpPr>
        <p:spPr>
          <a:xfrm rot="10800000">
            <a:off x="5803300" y="1657625"/>
            <a:ext cx="366000" cy="510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4" name="Google Shape;1384;p103"/>
          <p:cNvCxnSpPr/>
          <p:nvPr/>
        </p:nvCxnSpPr>
        <p:spPr>
          <a:xfrm rot="10800000">
            <a:off x="6167650" y="2171100"/>
            <a:ext cx="351900" cy="497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5" name="Google Shape;1385;p103"/>
          <p:cNvCxnSpPr/>
          <p:nvPr/>
        </p:nvCxnSpPr>
        <p:spPr>
          <a:xfrm flipH="1" rot="10800000">
            <a:off x="6517875" y="2607575"/>
            <a:ext cx="346800" cy="70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6" name="Google Shape;1386;p103"/>
          <p:cNvCxnSpPr/>
          <p:nvPr/>
        </p:nvCxnSpPr>
        <p:spPr>
          <a:xfrm flipH="1" rot="10800000">
            <a:off x="6866425" y="2335000"/>
            <a:ext cx="339900" cy="270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7" name="Google Shape;1387;p103"/>
          <p:cNvSpPr txBox="1"/>
          <p:nvPr/>
        </p:nvSpPr>
        <p:spPr>
          <a:xfrm rot="-5400000">
            <a:off x="3180125" y="2115500"/>
            <a:ext cx="1294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8" name="Google Shape;1388;p103"/>
          <p:cNvSpPr txBox="1"/>
          <p:nvPr/>
        </p:nvSpPr>
        <p:spPr>
          <a:xfrm>
            <a:off x="7541940" y="1218770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89" name="Google Shape;1389;p103"/>
          <p:cNvCxnSpPr/>
          <p:nvPr/>
        </p:nvCxnSpPr>
        <p:spPr>
          <a:xfrm>
            <a:off x="7452067" y="1344770"/>
            <a:ext cx="3936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0" name="Google Shape;1390;p103"/>
          <p:cNvSpPr txBox="1"/>
          <p:nvPr/>
        </p:nvSpPr>
        <p:spPr>
          <a:xfrm>
            <a:off x="7601015" y="2037170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91" name="Google Shape;1391;p103"/>
          <p:cNvCxnSpPr/>
          <p:nvPr/>
        </p:nvCxnSpPr>
        <p:spPr>
          <a:xfrm>
            <a:off x="7476422" y="2163170"/>
            <a:ext cx="406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2" name="Google Shape;1392;p103"/>
          <p:cNvSpPr txBox="1"/>
          <p:nvPr/>
        </p:nvSpPr>
        <p:spPr>
          <a:xfrm>
            <a:off x="7287525" y="1444150"/>
            <a:ext cx="12357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Ice cream sales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3" name="Google Shape;1393;p103"/>
          <p:cNvSpPr txBox="1"/>
          <p:nvPr/>
        </p:nvSpPr>
        <p:spPr>
          <a:xfrm>
            <a:off x="7199450" y="2302025"/>
            <a:ext cx="16455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Skateboarding accidents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4" name="Google Shape;1394;p103"/>
          <p:cNvSpPr txBox="1"/>
          <p:nvPr>
            <p:ph idx="1" type="body"/>
          </p:nvPr>
        </p:nvSpPr>
        <p:spPr>
          <a:xfrm>
            <a:off x="324000" y="759300"/>
            <a:ext cx="3633000" cy="12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graph shows the number of ice creams sold and the number of skateboarding accidents over a series of days.</a:t>
            </a:r>
            <a:endParaRPr sz="1800"/>
          </a:p>
        </p:txBody>
      </p:sp>
      <p:grpSp>
        <p:nvGrpSpPr>
          <p:cNvPr id="1395" name="Google Shape;1395;p103"/>
          <p:cNvGrpSpPr/>
          <p:nvPr/>
        </p:nvGrpSpPr>
        <p:grpSpPr>
          <a:xfrm>
            <a:off x="324011" y="2035375"/>
            <a:ext cx="3443739" cy="2409250"/>
            <a:chOff x="324011" y="2035375"/>
            <a:chExt cx="3443739" cy="2409250"/>
          </a:xfrm>
        </p:grpSpPr>
        <p:sp>
          <p:nvSpPr>
            <p:cNvPr id="1396" name="Google Shape;1396;p103"/>
            <p:cNvSpPr txBox="1"/>
            <p:nvPr/>
          </p:nvSpPr>
          <p:spPr>
            <a:xfrm flipH="1">
              <a:off x="324125" y="4037825"/>
              <a:ext cx="671400" cy="40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Alex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397" name="Google Shape;1397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324011" y="3415864"/>
              <a:ext cx="539310" cy="62196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98" name="Google Shape;1398;p103"/>
            <p:cNvGrpSpPr/>
            <p:nvPr/>
          </p:nvGrpSpPr>
          <p:grpSpPr>
            <a:xfrm>
              <a:off x="567997" y="2035375"/>
              <a:ext cx="3199753" cy="1534876"/>
              <a:chOff x="1902382" y="1608377"/>
              <a:chExt cx="2242294" cy="1173274"/>
            </a:xfrm>
          </p:grpSpPr>
          <p:pic>
            <p:nvPicPr>
              <p:cNvPr id="1399" name="Google Shape;1399;p10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69082" t="56280"/>
              <a:stretch/>
            </p:blipFill>
            <p:spPr>
              <a:xfrm flipH="1">
                <a:off x="1902382" y="1608377"/>
                <a:ext cx="2242294" cy="117327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00" name="Google Shape;1400;p103"/>
              <p:cNvSpPr txBox="1"/>
              <p:nvPr/>
            </p:nvSpPr>
            <p:spPr>
              <a:xfrm flipH="1">
                <a:off x="2068961" y="1749373"/>
                <a:ext cx="2010000" cy="98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That’s crazy, the number of skateboarding accidents increase when ice cream sales increase.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401" name="Google Shape;1401;p103"/>
          <p:cNvGrpSpPr/>
          <p:nvPr/>
        </p:nvGrpSpPr>
        <p:grpSpPr>
          <a:xfrm>
            <a:off x="1848850" y="3404375"/>
            <a:ext cx="4074118" cy="1416037"/>
            <a:chOff x="1848850" y="3404375"/>
            <a:chExt cx="4074118" cy="1416037"/>
          </a:xfrm>
        </p:grpSpPr>
        <p:sp>
          <p:nvSpPr>
            <p:cNvPr id="1402" name="Google Shape;1402;p103"/>
            <p:cNvSpPr txBox="1"/>
            <p:nvPr/>
          </p:nvSpPr>
          <p:spPr>
            <a:xfrm>
              <a:off x="5062568" y="3878724"/>
              <a:ext cx="860400" cy="3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Sofia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403" name="Google Shape;1403;p10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228505" y="4272939"/>
              <a:ext cx="493509" cy="5474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4" name="Google Shape;1404;p103"/>
            <p:cNvPicPr preferRelativeResize="0"/>
            <p:nvPr/>
          </p:nvPicPr>
          <p:blipFill rotWithShape="1">
            <a:blip r:embed="rId5">
              <a:alphaModFix/>
            </a:blip>
            <a:srcRect b="43690" l="0" r="57905" t="0"/>
            <a:stretch/>
          </p:blipFill>
          <p:spPr>
            <a:xfrm>
              <a:off x="1848850" y="3404375"/>
              <a:ext cx="3453527" cy="13874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5" name="Google Shape;1405;p103"/>
            <p:cNvSpPr/>
            <p:nvPr/>
          </p:nvSpPr>
          <p:spPr>
            <a:xfrm flipH="1">
              <a:off x="1932600" y="3434850"/>
              <a:ext cx="3117300" cy="6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People must be so distracted eating their ice creams that it causes them to fall off their skateboards. </a:t>
              </a:r>
              <a:endParaRPr sz="21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06" name="Google Shape;1406;p103"/>
          <p:cNvSpPr txBox="1"/>
          <p:nvPr>
            <p:ph idx="1" type="body"/>
          </p:nvPr>
        </p:nvSpPr>
        <p:spPr>
          <a:xfrm>
            <a:off x="6287900" y="4057175"/>
            <a:ext cx="23958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Is Sofia’s conclusion sensible?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104"/>
          <p:cNvSpPr txBox="1"/>
          <p:nvPr>
            <p:ph idx="1" type="body"/>
          </p:nvPr>
        </p:nvSpPr>
        <p:spPr>
          <a:xfrm>
            <a:off x="324000" y="759300"/>
            <a:ext cx="3633000" cy="12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graph shows the number of ice creams sold and the number of skateboarding accidents over a series of days.</a:t>
            </a:r>
            <a:endParaRPr sz="1800"/>
          </a:p>
        </p:txBody>
      </p:sp>
      <p:sp>
        <p:nvSpPr>
          <p:cNvPr id="1412" name="Google Shape;1412;p10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Misinterpreting graphs</a:t>
            </a:r>
            <a:endParaRPr/>
          </a:p>
        </p:txBody>
      </p:sp>
      <p:pic>
        <p:nvPicPr>
          <p:cNvPr id="1413" name="Google Shape;1413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2950" y="945300"/>
            <a:ext cx="3159375" cy="2469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4" name="Google Shape;1414;p104"/>
          <p:cNvGrpSpPr/>
          <p:nvPr/>
        </p:nvGrpSpPr>
        <p:grpSpPr>
          <a:xfrm>
            <a:off x="4193050" y="883146"/>
            <a:ext cx="3365941" cy="2529254"/>
            <a:chOff x="4667503" y="2040830"/>
            <a:chExt cx="2387700" cy="2465400"/>
          </a:xfrm>
        </p:grpSpPr>
        <p:cxnSp>
          <p:nvCxnSpPr>
            <p:cNvPr id="1415" name="Google Shape;1415;p104"/>
            <p:cNvCxnSpPr/>
            <p:nvPr/>
          </p:nvCxnSpPr>
          <p:spPr>
            <a:xfrm rot="10800000">
              <a:off x="4820745" y="2040830"/>
              <a:ext cx="0" cy="2465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16" name="Google Shape;1416;p104"/>
            <p:cNvCxnSpPr/>
            <p:nvPr/>
          </p:nvCxnSpPr>
          <p:spPr>
            <a:xfrm>
              <a:off x="4667503" y="4321393"/>
              <a:ext cx="23877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417" name="Google Shape;1417;p104"/>
          <p:cNvSpPr txBox="1"/>
          <p:nvPr/>
        </p:nvSpPr>
        <p:spPr>
          <a:xfrm>
            <a:off x="7121600" y="3240000"/>
            <a:ext cx="8088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days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8" name="Google Shape;1418;p104"/>
          <p:cNvSpPr/>
          <p:nvPr/>
        </p:nvSpPr>
        <p:spPr>
          <a:xfrm>
            <a:off x="4018779" y="2687625"/>
            <a:ext cx="375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104"/>
          <p:cNvSpPr/>
          <p:nvPr/>
        </p:nvSpPr>
        <p:spPr>
          <a:xfrm>
            <a:off x="4018779" y="2345827"/>
            <a:ext cx="375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0" name="Google Shape;1420;p104"/>
          <p:cNvSpPr/>
          <p:nvPr/>
        </p:nvSpPr>
        <p:spPr>
          <a:xfrm>
            <a:off x="4018779" y="1662231"/>
            <a:ext cx="375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1" name="Google Shape;1421;p104"/>
          <p:cNvSpPr txBox="1"/>
          <p:nvPr/>
        </p:nvSpPr>
        <p:spPr>
          <a:xfrm>
            <a:off x="4329409" y="2037165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22" name="Google Shape;1422;p104"/>
          <p:cNvCxnSpPr/>
          <p:nvPr/>
        </p:nvCxnSpPr>
        <p:spPr>
          <a:xfrm flipH="1" rot="10800000">
            <a:off x="4407925" y="1995000"/>
            <a:ext cx="355200" cy="1635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3" name="Google Shape;1423;p104"/>
          <p:cNvSpPr txBox="1"/>
          <p:nvPr/>
        </p:nvSpPr>
        <p:spPr>
          <a:xfrm>
            <a:off x="4681932" y="1875176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4" name="Google Shape;1424;p104"/>
          <p:cNvSpPr txBox="1"/>
          <p:nvPr/>
        </p:nvSpPr>
        <p:spPr>
          <a:xfrm>
            <a:off x="6434685" y="2228522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5" name="Google Shape;1425;p104"/>
          <p:cNvSpPr txBox="1"/>
          <p:nvPr/>
        </p:nvSpPr>
        <p:spPr>
          <a:xfrm>
            <a:off x="6780027" y="2053898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26" name="Google Shape;1426;p104"/>
          <p:cNvCxnSpPr/>
          <p:nvPr/>
        </p:nvCxnSpPr>
        <p:spPr>
          <a:xfrm>
            <a:off x="6165550" y="1907450"/>
            <a:ext cx="354000" cy="444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7" name="Google Shape;1427;p104"/>
          <p:cNvSpPr txBox="1"/>
          <p:nvPr/>
        </p:nvSpPr>
        <p:spPr>
          <a:xfrm>
            <a:off x="4329389" y="2733530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8" name="Google Shape;1428;p104"/>
          <p:cNvSpPr/>
          <p:nvPr/>
        </p:nvSpPr>
        <p:spPr>
          <a:xfrm>
            <a:off x="4018779" y="2004029"/>
            <a:ext cx="375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9" name="Google Shape;1429;p104"/>
          <p:cNvSpPr/>
          <p:nvPr/>
        </p:nvSpPr>
        <p:spPr>
          <a:xfrm>
            <a:off x="4018779" y="1320433"/>
            <a:ext cx="375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0" name="Google Shape;1430;p104"/>
          <p:cNvSpPr/>
          <p:nvPr/>
        </p:nvSpPr>
        <p:spPr>
          <a:xfrm>
            <a:off x="4018779" y="978635"/>
            <a:ext cx="375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104"/>
          <p:cNvSpPr txBox="1"/>
          <p:nvPr/>
        </p:nvSpPr>
        <p:spPr>
          <a:xfrm>
            <a:off x="5028365" y="1958289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2" name="Google Shape;1432;p104"/>
          <p:cNvSpPr txBox="1"/>
          <p:nvPr/>
        </p:nvSpPr>
        <p:spPr>
          <a:xfrm>
            <a:off x="5381558" y="1355602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3" name="Google Shape;1433;p104"/>
          <p:cNvSpPr txBox="1"/>
          <p:nvPr/>
        </p:nvSpPr>
        <p:spPr>
          <a:xfrm>
            <a:off x="5734751" y="1099195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104"/>
          <p:cNvSpPr txBox="1"/>
          <p:nvPr/>
        </p:nvSpPr>
        <p:spPr>
          <a:xfrm>
            <a:off x="6088098" y="1784995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5" name="Google Shape;1435;p104"/>
          <p:cNvSpPr txBox="1"/>
          <p:nvPr/>
        </p:nvSpPr>
        <p:spPr>
          <a:xfrm>
            <a:off x="7128199" y="1686867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36" name="Google Shape;1436;p104"/>
          <p:cNvCxnSpPr/>
          <p:nvPr/>
        </p:nvCxnSpPr>
        <p:spPr>
          <a:xfrm>
            <a:off x="4769900" y="1992750"/>
            <a:ext cx="345000" cy="90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7" name="Google Shape;1437;p104"/>
          <p:cNvCxnSpPr/>
          <p:nvPr/>
        </p:nvCxnSpPr>
        <p:spPr>
          <a:xfrm flipH="1" rot="10800000">
            <a:off x="5114900" y="1480775"/>
            <a:ext cx="350400" cy="601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8" name="Google Shape;1438;p104"/>
          <p:cNvCxnSpPr/>
          <p:nvPr/>
        </p:nvCxnSpPr>
        <p:spPr>
          <a:xfrm flipH="1" rot="10800000">
            <a:off x="5465300" y="1223675"/>
            <a:ext cx="355500" cy="257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9" name="Google Shape;1439;p104"/>
          <p:cNvCxnSpPr/>
          <p:nvPr/>
        </p:nvCxnSpPr>
        <p:spPr>
          <a:xfrm>
            <a:off x="5820750" y="1225475"/>
            <a:ext cx="353700" cy="684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0" name="Google Shape;1440;p104"/>
          <p:cNvCxnSpPr/>
          <p:nvPr/>
        </p:nvCxnSpPr>
        <p:spPr>
          <a:xfrm flipH="1" rot="10800000">
            <a:off x="6519550" y="2181350"/>
            <a:ext cx="348600" cy="1710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1" name="Google Shape;1441;p104"/>
          <p:cNvCxnSpPr/>
          <p:nvPr/>
        </p:nvCxnSpPr>
        <p:spPr>
          <a:xfrm flipH="1" rot="10800000">
            <a:off x="6868150" y="1806925"/>
            <a:ext cx="346800" cy="368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2" name="Google Shape;1442;p104"/>
          <p:cNvSpPr txBox="1"/>
          <p:nvPr/>
        </p:nvSpPr>
        <p:spPr>
          <a:xfrm>
            <a:off x="4682735" y="2553323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3" name="Google Shape;1443;p104"/>
          <p:cNvSpPr txBox="1"/>
          <p:nvPr/>
        </p:nvSpPr>
        <p:spPr>
          <a:xfrm>
            <a:off x="5029169" y="2719396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4" name="Google Shape;1444;p104"/>
          <p:cNvSpPr txBox="1"/>
          <p:nvPr/>
        </p:nvSpPr>
        <p:spPr>
          <a:xfrm>
            <a:off x="5382516" y="1694230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5" name="Google Shape;1445;p104"/>
          <p:cNvSpPr txBox="1"/>
          <p:nvPr/>
        </p:nvSpPr>
        <p:spPr>
          <a:xfrm>
            <a:off x="5722036" y="1521090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6" name="Google Shape;1446;p104"/>
          <p:cNvSpPr txBox="1"/>
          <p:nvPr/>
        </p:nvSpPr>
        <p:spPr>
          <a:xfrm>
            <a:off x="6082296" y="2047576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7" name="Google Shape;1447;p104"/>
          <p:cNvSpPr txBox="1"/>
          <p:nvPr/>
        </p:nvSpPr>
        <p:spPr>
          <a:xfrm>
            <a:off x="6428729" y="2553170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8" name="Google Shape;1448;p104"/>
          <p:cNvSpPr txBox="1"/>
          <p:nvPr/>
        </p:nvSpPr>
        <p:spPr>
          <a:xfrm>
            <a:off x="6780013" y="2480535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9" name="Google Shape;1449;p104"/>
          <p:cNvSpPr txBox="1"/>
          <p:nvPr/>
        </p:nvSpPr>
        <p:spPr>
          <a:xfrm>
            <a:off x="7121596" y="2213957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50" name="Google Shape;1450;p104"/>
          <p:cNvCxnSpPr/>
          <p:nvPr/>
        </p:nvCxnSpPr>
        <p:spPr>
          <a:xfrm flipH="1" rot="10800000">
            <a:off x="4407925" y="2668125"/>
            <a:ext cx="358500" cy="183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1" name="Google Shape;1451;p104"/>
          <p:cNvCxnSpPr/>
          <p:nvPr/>
        </p:nvCxnSpPr>
        <p:spPr>
          <a:xfrm>
            <a:off x="4763150" y="2668125"/>
            <a:ext cx="348300" cy="170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2" name="Google Shape;1452;p104"/>
          <p:cNvCxnSpPr/>
          <p:nvPr/>
        </p:nvCxnSpPr>
        <p:spPr>
          <a:xfrm flipH="1" rot="10800000">
            <a:off x="5111550" y="1815475"/>
            <a:ext cx="360900" cy="1032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3" name="Google Shape;1453;p104"/>
          <p:cNvCxnSpPr/>
          <p:nvPr/>
        </p:nvCxnSpPr>
        <p:spPr>
          <a:xfrm flipH="1" rot="10800000">
            <a:off x="5462600" y="1641475"/>
            <a:ext cx="340800" cy="174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4" name="Google Shape;1454;p104"/>
          <p:cNvCxnSpPr/>
          <p:nvPr/>
        </p:nvCxnSpPr>
        <p:spPr>
          <a:xfrm rot="10800000">
            <a:off x="5803300" y="1657625"/>
            <a:ext cx="366000" cy="510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5" name="Google Shape;1455;p104"/>
          <p:cNvCxnSpPr/>
          <p:nvPr/>
        </p:nvCxnSpPr>
        <p:spPr>
          <a:xfrm rot="10800000">
            <a:off x="6167650" y="2171100"/>
            <a:ext cx="351900" cy="497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6" name="Google Shape;1456;p104"/>
          <p:cNvCxnSpPr/>
          <p:nvPr/>
        </p:nvCxnSpPr>
        <p:spPr>
          <a:xfrm flipH="1" rot="10800000">
            <a:off x="6517875" y="2607575"/>
            <a:ext cx="346800" cy="70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7" name="Google Shape;1457;p104"/>
          <p:cNvCxnSpPr/>
          <p:nvPr/>
        </p:nvCxnSpPr>
        <p:spPr>
          <a:xfrm flipH="1" rot="10800000">
            <a:off x="6866425" y="2335000"/>
            <a:ext cx="339900" cy="270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8" name="Google Shape;1458;p104"/>
          <p:cNvSpPr txBox="1"/>
          <p:nvPr/>
        </p:nvSpPr>
        <p:spPr>
          <a:xfrm rot="-5400000">
            <a:off x="3180125" y="2115500"/>
            <a:ext cx="1294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9" name="Google Shape;1459;p104"/>
          <p:cNvSpPr txBox="1"/>
          <p:nvPr/>
        </p:nvSpPr>
        <p:spPr>
          <a:xfrm>
            <a:off x="7541940" y="1218770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60" name="Google Shape;1460;p104"/>
          <p:cNvCxnSpPr/>
          <p:nvPr/>
        </p:nvCxnSpPr>
        <p:spPr>
          <a:xfrm>
            <a:off x="7452067" y="1344770"/>
            <a:ext cx="3936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1" name="Google Shape;1461;p104"/>
          <p:cNvSpPr txBox="1"/>
          <p:nvPr/>
        </p:nvSpPr>
        <p:spPr>
          <a:xfrm>
            <a:off x="7601015" y="2037170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62" name="Google Shape;1462;p104"/>
          <p:cNvCxnSpPr/>
          <p:nvPr/>
        </p:nvCxnSpPr>
        <p:spPr>
          <a:xfrm>
            <a:off x="7476422" y="2163170"/>
            <a:ext cx="406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3" name="Google Shape;1463;p104"/>
          <p:cNvSpPr txBox="1"/>
          <p:nvPr/>
        </p:nvSpPr>
        <p:spPr>
          <a:xfrm>
            <a:off x="7287525" y="1444150"/>
            <a:ext cx="12357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Ice cream sales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4" name="Google Shape;1464;p104"/>
          <p:cNvSpPr txBox="1"/>
          <p:nvPr/>
        </p:nvSpPr>
        <p:spPr>
          <a:xfrm>
            <a:off x="7199450" y="2302025"/>
            <a:ext cx="16455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Skateboarding accidents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5" name="Google Shape;1465;p104"/>
          <p:cNvSpPr txBox="1"/>
          <p:nvPr>
            <p:ph idx="1" type="body"/>
          </p:nvPr>
        </p:nvSpPr>
        <p:spPr>
          <a:xfrm>
            <a:off x="337925" y="2147425"/>
            <a:ext cx="3222300" cy="9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is unlikely that the ice creams are </a:t>
            </a:r>
            <a:r>
              <a:rPr lang="en-GB" sz="20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causing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the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skateboarding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accidents.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66" name="Google Shape;1466;p104"/>
          <p:cNvSpPr txBox="1"/>
          <p:nvPr>
            <p:ph idx="1" type="body"/>
          </p:nvPr>
        </p:nvSpPr>
        <p:spPr>
          <a:xfrm>
            <a:off x="324000" y="3240000"/>
            <a:ext cx="3633000" cy="9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is also unlikely that skateboarding accidents are </a:t>
            </a:r>
            <a:r>
              <a:rPr lang="en-GB" sz="20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causing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people to buy ice creams.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67" name="Google Shape;1467;p104"/>
          <p:cNvSpPr txBox="1"/>
          <p:nvPr>
            <p:ph idx="1" type="body"/>
          </p:nvPr>
        </p:nvSpPr>
        <p:spPr>
          <a:xfrm>
            <a:off x="324000" y="4414500"/>
            <a:ext cx="8359200" cy="4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Can you think of a reason why these things may follow a similar pattern?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p105"/>
          <p:cNvSpPr txBox="1"/>
          <p:nvPr>
            <p:ph idx="1" type="body"/>
          </p:nvPr>
        </p:nvSpPr>
        <p:spPr>
          <a:xfrm>
            <a:off x="324000" y="759300"/>
            <a:ext cx="3633000" cy="12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graph shows the number of ice creams sold and the number of skateboarding accidents over a series of days.</a:t>
            </a:r>
            <a:endParaRPr sz="1800"/>
          </a:p>
        </p:txBody>
      </p:sp>
      <p:sp>
        <p:nvSpPr>
          <p:cNvPr id="1473" name="Google Shape;1473;p10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Misinterpreting graphs</a:t>
            </a:r>
            <a:endParaRPr/>
          </a:p>
        </p:txBody>
      </p:sp>
      <p:pic>
        <p:nvPicPr>
          <p:cNvPr id="1474" name="Google Shape;1474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2950" y="945300"/>
            <a:ext cx="3159375" cy="2469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5" name="Google Shape;1475;p105"/>
          <p:cNvGrpSpPr/>
          <p:nvPr/>
        </p:nvGrpSpPr>
        <p:grpSpPr>
          <a:xfrm>
            <a:off x="4193050" y="883146"/>
            <a:ext cx="3365941" cy="2529254"/>
            <a:chOff x="4667503" y="2040830"/>
            <a:chExt cx="2387700" cy="2465400"/>
          </a:xfrm>
        </p:grpSpPr>
        <p:cxnSp>
          <p:nvCxnSpPr>
            <p:cNvPr id="1476" name="Google Shape;1476;p105"/>
            <p:cNvCxnSpPr/>
            <p:nvPr/>
          </p:nvCxnSpPr>
          <p:spPr>
            <a:xfrm rot="10800000">
              <a:off x="4820745" y="2040830"/>
              <a:ext cx="0" cy="2465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77" name="Google Shape;1477;p105"/>
            <p:cNvCxnSpPr/>
            <p:nvPr/>
          </p:nvCxnSpPr>
          <p:spPr>
            <a:xfrm>
              <a:off x="4667503" y="4321393"/>
              <a:ext cx="23877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478" name="Google Shape;1478;p105"/>
          <p:cNvSpPr txBox="1"/>
          <p:nvPr/>
        </p:nvSpPr>
        <p:spPr>
          <a:xfrm>
            <a:off x="7121600" y="3240000"/>
            <a:ext cx="8088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days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9" name="Google Shape;1479;p105"/>
          <p:cNvSpPr/>
          <p:nvPr/>
        </p:nvSpPr>
        <p:spPr>
          <a:xfrm>
            <a:off x="4018779" y="2687625"/>
            <a:ext cx="375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0" name="Google Shape;1480;p105"/>
          <p:cNvSpPr/>
          <p:nvPr/>
        </p:nvSpPr>
        <p:spPr>
          <a:xfrm>
            <a:off x="4018779" y="2345827"/>
            <a:ext cx="375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1" name="Google Shape;1481;p105"/>
          <p:cNvSpPr/>
          <p:nvPr/>
        </p:nvSpPr>
        <p:spPr>
          <a:xfrm>
            <a:off x="4018779" y="1662231"/>
            <a:ext cx="375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2" name="Google Shape;1482;p105"/>
          <p:cNvSpPr txBox="1"/>
          <p:nvPr/>
        </p:nvSpPr>
        <p:spPr>
          <a:xfrm>
            <a:off x="4329409" y="2037165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83" name="Google Shape;1483;p105"/>
          <p:cNvCxnSpPr/>
          <p:nvPr/>
        </p:nvCxnSpPr>
        <p:spPr>
          <a:xfrm flipH="1" rot="10800000">
            <a:off x="4407925" y="1995000"/>
            <a:ext cx="355200" cy="1635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4" name="Google Shape;1484;p105"/>
          <p:cNvSpPr txBox="1"/>
          <p:nvPr/>
        </p:nvSpPr>
        <p:spPr>
          <a:xfrm>
            <a:off x="4681932" y="1875176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5" name="Google Shape;1485;p105"/>
          <p:cNvSpPr txBox="1"/>
          <p:nvPr/>
        </p:nvSpPr>
        <p:spPr>
          <a:xfrm>
            <a:off x="6434685" y="2228522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6" name="Google Shape;1486;p105"/>
          <p:cNvSpPr txBox="1"/>
          <p:nvPr/>
        </p:nvSpPr>
        <p:spPr>
          <a:xfrm>
            <a:off x="6780027" y="2053898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87" name="Google Shape;1487;p105"/>
          <p:cNvCxnSpPr/>
          <p:nvPr/>
        </p:nvCxnSpPr>
        <p:spPr>
          <a:xfrm>
            <a:off x="6165550" y="1907450"/>
            <a:ext cx="354000" cy="444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8" name="Google Shape;1488;p105"/>
          <p:cNvSpPr txBox="1"/>
          <p:nvPr/>
        </p:nvSpPr>
        <p:spPr>
          <a:xfrm>
            <a:off x="4329389" y="2733530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9" name="Google Shape;1489;p105"/>
          <p:cNvSpPr/>
          <p:nvPr/>
        </p:nvSpPr>
        <p:spPr>
          <a:xfrm>
            <a:off x="4018779" y="2004029"/>
            <a:ext cx="375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0" name="Google Shape;1490;p105"/>
          <p:cNvSpPr/>
          <p:nvPr/>
        </p:nvSpPr>
        <p:spPr>
          <a:xfrm>
            <a:off x="4018779" y="1320433"/>
            <a:ext cx="375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1" name="Google Shape;1491;p105"/>
          <p:cNvSpPr/>
          <p:nvPr/>
        </p:nvSpPr>
        <p:spPr>
          <a:xfrm>
            <a:off x="4018779" y="978635"/>
            <a:ext cx="375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2" name="Google Shape;1492;p105"/>
          <p:cNvSpPr txBox="1"/>
          <p:nvPr/>
        </p:nvSpPr>
        <p:spPr>
          <a:xfrm>
            <a:off x="5028365" y="1958289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3" name="Google Shape;1493;p105"/>
          <p:cNvSpPr txBox="1"/>
          <p:nvPr/>
        </p:nvSpPr>
        <p:spPr>
          <a:xfrm>
            <a:off x="5381558" y="1355602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4" name="Google Shape;1494;p105"/>
          <p:cNvSpPr txBox="1"/>
          <p:nvPr/>
        </p:nvSpPr>
        <p:spPr>
          <a:xfrm>
            <a:off x="5734751" y="1099195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5" name="Google Shape;1495;p105"/>
          <p:cNvSpPr txBox="1"/>
          <p:nvPr/>
        </p:nvSpPr>
        <p:spPr>
          <a:xfrm>
            <a:off x="6088098" y="1784995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6" name="Google Shape;1496;p105"/>
          <p:cNvSpPr txBox="1"/>
          <p:nvPr/>
        </p:nvSpPr>
        <p:spPr>
          <a:xfrm>
            <a:off x="7128199" y="1686867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7" name="Google Shape;1497;p105"/>
          <p:cNvCxnSpPr/>
          <p:nvPr/>
        </p:nvCxnSpPr>
        <p:spPr>
          <a:xfrm>
            <a:off x="4769900" y="1992750"/>
            <a:ext cx="345000" cy="90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8" name="Google Shape;1498;p105"/>
          <p:cNvCxnSpPr/>
          <p:nvPr/>
        </p:nvCxnSpPr>
        <p:spPr>
          <a:xfrm flipH="1" rot="10800000">
            <a:off x="5114900" y="1480775"/>
            <a:ext cx="350400" cy="601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9" name="Google Shape;1499;p105"/>
          <p:cNvCxnSpPr/>
          <p:nvPr/>
        </p:nvCxnSpPr>
        <p:spPr>
          <a:xfrm flipH="1" rot="10800000">
            <a:off x="5465300" y="1223675"/>
            <a:ext cx="355500" cy="257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0" name="Google Shape;1500;p105"/>
          <p:cNvCxnSpPr/>
          <p:nvPr/>
        </p:nvCxnSpPr>
        <p:spPr>
          <a:xfrm>
            <a:off x="5820750" y="1225475"/>
            <a:ext cx="353700" cy="684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1" name="Google Shape;1501;p105"/>
          <p:cNvCxnSpPr/>
          <p:nvPr/>
        </p:nvCxnSpPr>
        <p:spPr>
          <a:xfrm flipH="1" rot="10800000">
            <a:off x="6519550" y="2181350"/>
            <a:ext cx="348600" cy="1710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2" name="Google Shape;1502;p105"/>
          <p:cNvCxnSpPr/>
          <p:nvPr/>
        </p:nvCxnSpPr>
        <p:spPr>
          <a:xfrm flipH="1" rot="10800000">
            <a:off x="6868150" y="1806925"/>
            <a:ext cx="346800" cy="368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3" name="Google Shape;1503;p105"/>
          <p:cNvSpPr txBox="1"/>
          <p:nvPr/>
        </p:nvSpPr>
        <p:spPr>
          <a:xfrm>
            <a:off x="4682735" y="2553323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4" name="Google Shape;1504;p105"/>
          <p:cNvSpPr txBox="1"/>
          <p:nvPr/>
        </p:nvSpPr>
        <p:spPr>
          <a:xfrm>
            <a:off x="5029169" y="2719396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5" name="Google Shape;1505;p105"/>
          <p:cNvSpPr txBox="1"/>
          <p:nvPr/>
        </p:nvSpPr>
        <p:spPr>
          <a:xfrm>
            <a:off x="5382516" y="1694230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6" name="Google Shape;1506;p105"/>
          <p:cNvSpPr txBox="1"/>
          <p:nvPr/>
        </p:nvSpPr>
        <p:spPr>
          <a:xfrm>
            <a:off x="5722036" y="1521090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7" name="Google Shape;1507;p105"/>
          <p:cNvSpPr txBox="1"/>
          <p:nvPr/>
        </p:nvSpPr>
        <p:spPr>
          <a:xfrm>
            <a:off x="6082296" y="2047576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8" name="Google Shape;1508;p105"/>
          <p:cNvSpPr txBox="1"/>
          <p:nvPr/>
        </p:nvSpPr>
        <p:spPr>
          <a:xfrm>
            <a:off x="6428729" y="2553170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9" name="Google Shape;1509;p105"/>
          <p:cNvSpPr txBox="1"/>
          <p:nvPr/>
        </p:nvSpPr>
        <p:spPr>
          <a:xfrm>
            <a:off x="6780013" y="2480535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0" name="Google Shape;1510;p105"/>
          <p:cNvSpPr txBox="1"/>
          <p:nvPr/>
        </p:nvSpPr>
        <p:spPr>
          <a:xfrm>
            <a:off x="7121596" y="2213957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11" name="Google Shape;1511;p105"/>
          <p:cNvCxnSpPr/>
          <p:nvPr/>
        </p:nvCxnSpPr>
        <p:spPr>
          <a:xfrm flipH="1" rot="10800000">
            <a:off x="4407925" y="2668125"/>
            <a:ext cx="358500" cy="183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2" name="Google Shape;1512;p105"/>
          <p:cNvCxnSpPr/>
          <p:nvPr/>
        </p:nvCxnSpPr>
        <p:spPr>
          <a:xfrm>
            <a:off x="4763150" y="2668125"/>
            <a:ext cx="348300" cy="170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3" name="Google Shape;1513;p105"/>
          <p:cNvCxnSpPr/>
          <p:nvPr/>
        </p:nvCxnSpPr>
        <p:spPr>
          <a:xfrm flipH="1" rot="10800000">
            <a:off x="5111550" y="1815475"/>
            <a:ext cx="360900" cy="1032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4" name="Google Shape;1514;p105"/>
          <p:cNvCxnSpPr/>
          <p:nvPr/>
        </p:nvCxnSpPr>
        <p:spPr>
          <a:xfrm flipH="1" rot="10800000">
            <a:off x="5462600" y="1641475"/>
            <a:ext cx="340800" cy="174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5" name="Google Shape;1515;p105"/>
          <p:cNvCxnSpPr/>
          <p:nvPr/>
        </p:nvCxnSpPr>
        <p:spPr>
          <a:xfrm rot="10800000">
            <a:off x="5803300" y="1657625"/>
            <a:ext cx="366000" cy="510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6" name="Google Shape;1516;p105"/>
          <p:cNvCxnSpPr/>
          <p:nvPr/>
        </p:nvCxnSpPr>
        <p:spPr>
          <a:xfrm rot="10800000">
            <a:off x="6167650" y="2171100"/>
            <a:ext cx="351900" cy="497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7" name="Google Shape;1517;p105"/>
          <p:cNvCxnSpPr/>
          <p:nvPr/>
        </p:nvCxnSpPr>
        <p:spPr>
          <a:xfrm flipH="1" rot="10800000">
            <a:off x="6517875" y="2607575"/>
            <a:ext cx="346800" cy="70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8" name="Google Shape;1518;p105"/>
          <p:cNvCxnSpPr/>
          <p:nvPr/>
        </p:nvCxnSpPr>
        <p:spPr>
          <a:xfrm flipH="1" rot="10800000">
            <a:off x="6866425" y="2335000"/>
            <a:ext cx="339900" cy="270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9" name="Google Shape;1519;p105"/>
          <p:cNvSpPr txBox="1"/>
          <p:nvPr/>
        </p:nvSpPr>
        <p:spPr>
          <a:xfrm rot="-5400000">
            <a:off x="3180125" y="2115500"/>
            <a:ext cx="1294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0" name="Google Shape;1520;p105"/>
          <p:cNvSpPr txBox="1"/>
          <p:nvPr/>
        </p:nvSpPr>
        <p:spPr>
          <a:xfrm>
            <a:off x="7541940" y="1218770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21" name="Google Shape;1521;p105"/>
          <p:cNvCxnSpPr/>
          <p:nvPr/>
        </p:nvCxnSpPr>
        <p:spPr>
          <a:xfrm>
            <a:off x="7452067" y="1344770"/>
            <a:ext cx="3936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2" name="Google Shape;1522;p105"/>
          <p:cNvSpPr txBox="1"/>
          <p:nvPr/>
        </p:nvSpPr>
        <p:spPr>
          <a:xfrm>
            <a:off x="7601015" y="2037170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23" name="Google Shape;1523;p105"/>
          <p:cNvCxnSpPr/>
          <p:nvPr/>
        </p:nvCxnSpPr>
        <p:spPr>
          <a:xfrm>
            <a:off x="7476422" y="2163170"/>
            <a:ext cx="406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4" name="Google Shape;1524;p105"/>
          <p:cNvSpPr txBox="1"/>
          <p:nvPr/>
        </p:nvSpPr>
        <p:spPr>
          <a:xfrm>
            <a:off x="7287525" y="1444150"/>
            <a:ext cx="12357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Ice cream sales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5" name="Google Shape;1525;p105"/>
          <p:cNvSpPr txBox="1"/>
          <p:nvPr/>
        </p:nvSpPr>
        <p:spPr>
          <a:xfrm>
            <a:off x="7199450" y="2302025"/>
            <a:ext cx="16455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Skateboarding accidents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6" name="Google Shape;1526;p105"/>
          <p:cNvSpPr txBox="1"/>
          <p:nvPr>
            <p:ph idx="1" type="body"/>
          </p:nvPr>
        </p:nvSpPr>
        <p:spPr>
          <a:xfrm>
            <a:off x="337925" y="2147425"/>
            <a:ext cx="3222300" cy="9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Weather could be a factor. On sunny days more people buy ice creams and more people are likely to be out on their skateboards.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27" name="Google Shape;1527;p105"/>
          <p:cNvSpPr txBox="1"/>
          <p:nvPr>
            <p:ph idx="1" type="body"/>
          </p:nvPr>
        </p:nvSpPr>
        <p:spPr>
          <a:xfrm>
            <a:off x="324000" y="3816150"/>
            <a:ext cx="8496000" cy="10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day of the week may be a factor as well. More people are likely to buy ice creams on a weekend and they are more likely to be out. The more people out on their skateboards, the higher the chance of accidents.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106"/>
          <p:cNvSpPr txBox="1"/>
          <p:nvPr>
            <p:ph idx="1" type="body"/>
          </p:nvPr>
        </p:nvSpPr>
        <p:spPr>
          <a:xfrm>
            <a:off x="324000" y="987900"/>
            <a:ext cx="8496000" cy="10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is an example where two things are correlated but one does not cause the other. </a:t>
            </a:r>
            <a:endParaRPr sz="1800"/>
          </a:p>
        </p:txBody>
      </p:sp>
      <p:sp>
        <p:nvSpPr>
          <p:cNvPr id="1533" name="Google Shape;1533;p10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Misinterpreting graphs</a:t>
            </a:r>
            <a:endParaRPr/>
          </a:p>
        </p:txBody>
      </p:sp>
      <p:sp>
        <p:nvSpPr>
          <p:cNvPr id="1534" name="Google Shape;1534;p106"/>
          <p:cNvSpPr txBox="1"/>
          <p:nvPr>
            <p:ph idx="1" type="body"/>
          </p:nvPr>
        </p:nvSpPr>
        <p:spPr>
          <a:xfrm>
            <a:off x="324000" y="1768350"/>
            <a:ext cx="8496000" cy="6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In this case there is likely to be a third factor which affects both in the same way.  </a:t>
            </a:r>
            <a:endParaRPr sz="1800"/>
          </a:p>
        </p:txBody>
      </p:sp>
      <p:sp>
        <p:nvSpPr>
          <p:cNvPr id="1535" name="Google Shape;1535;p106"/>
          <p:cNvSpPr txBox="1"/>
          <p:nvPr>
            <p:ph idx="1" type="body"/>
          </p:nvPr>
        </p:nvSpPr>
        <p:spPr>
          <a:xfrm>
            <a:off x="324000" y="2525750"/>
            <a:ext cx="84960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It is possible for things to be correlated without there being any connection between them.   </a:t>
            </a:r>
            <a:endParaRPr sz="1800"/>
          </a:p>
        </p:txBody>
      </p:sp>
      <p:sp>
        <p:nvSpPr>
          <p:cNvPr id="1536" name="Google Shape;1536;p106"/>
          <p:cNvSpPr txBox="1"/>
          <p:nvPr>
            <p:ph idx="1" type="body"/>
          </p:nvPr>
        </p:nvSpPr>
        <p:spPr>
          <a:xfrm>
            <a:off x="324000" y="3271400"/>
            <a:ext cx="8462700" cy="6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It is often possible to manipulate data to show a correlation between two completely unrelated variables. </a:t>
            </a:r>
            <a:endParaRPr sz="1800"/>
          </a:p>
        </p:txBody>
      </p:sp>
      <p:sp>
        <p:nvSpPr>
          <p:cNvPr id="1537" name="Google Shape;1537;p106"/>
          <p:cNvSpPr txBox="1"/>
          <p:nvPr>
            <p:ph idx="1" type="body"/>
          </p:nvPr>
        </p:nvSpPr>
        <p:spPr>
          <a:xfrm>
            <a:off x="324000" y="4120350"/>
            <a:ext cx="8462700" cy="39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can be a particularly tricky idea for scientists to navigate when testing chemicals/ </a:t>
            </a:r>
            <a:r>
              <a:rPr lang="en-GB" sz="1800"/>
              <a:t>procedures</a:t>
            </a:r>
            <a:r>
              <a:rPr lang="en-GB" sz="1800"/>
              <a:t> or the effectiveness of medical treatments.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107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There may be a third factor affecting both or it may be a coincidence or a result of manipulating data in a certain way. </a:t>
            </a:r>
            <a:endParaRPr/>
          </a:p>
        </p:txBody>
      </p:sp>
      <p:sp>
        <p:nvSpPr>
          <p:cNvPr id="1543" name="Google Shape;1543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Misinterpreting graphs</a:t>
            </a:r>
            <a:endParaRPr/>
          </a:p>
        </p:txBody>
      </p:sp>
      <p:sp>
        <p:nvSpPr>
          <p:cNvPr id="1544" name="Google Shape;1544;p107"/>
          <p:cNvSpPr txBox="1"/>
          <p:nvPr>
            <p:ph idx="2" type="subTitle"/>
          </p:nvPr>
        </p:nvSpPr>
        <p:spPr>
          <a:xfrm>
            <a:off x="324000" y="1080000"/>
            <a:ext cx="84960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If two things are correlated then one must cause the other.</a:t>
            </a:r>
            <a:endParaRPr/>
          </a:p>
        </p:txBody>
      </p:sp>
      <p:pic>
        <p:nvPicPr>
          <p:cNvPr id="1545" name="Google Shape;1545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8" y="20780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10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Misinterpreting graphs</a:t>
            </a:r>
            <a:endParaRPr/>
          </a:p>
        </p:txBody>
      </p:sp>
      <p:sp>
        <p:nvSpPr>
          <p:cNvPr id="1551" name="Google Shape;1551;p108"/>
          <p:cNvSpPr txBox="1"/>
          <p:nvPr>
            <p:ph idx="1" type="body"/>
          </p:nvPr>
        </p:nvSpPr>
        <p:spPr>
          <a:xfrm>
            <a:off x="324000" y="810000"/>
            <a:ext cx="8496000" cy="8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Alex drew this chart from data he collected about how pupils travel to school.</a:t>
            </a:r>
            <a:r>
              <a:rPr lang="en-GB" sz="2000"/>
              <a:t>  </a:t>
            </a:r>
            <a:endParaRPr sz="2000"/>
          </a:p>
        </p:txBody>
      </p:sp>
      <p:pic>
        <p:nvPicPr>
          <p:cNvPr id="1552" name="Google Shape;1552;p108"/>
          <p:cNvPicPr preferRelativeResize="0"/>
          <p:nvPr/>
        </p:nvPicPr>
        <p:blipFill rotWithShape="1">
          <a:blip r:embed="rId3">
            <a:alphaModFix/>
          </a:blip>
          <a:srcRect b="0" l="0" r="7097" t="2733"/>
          <a:stretch/>
        </p:blipFill>
        <p:spPr>
          <a:xfrm>
            <a:off x="1104550" y="1971050"/>
            <a:ext cx="2935125" cy="240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3" name="Google Shape;1553;p108"/>
          <p:cNvSpPr txBox="1"/>
          <p:nvPr/>
        </p:nvSpPr>
        <p:spPr>
          <a:xfrm>
            <a:off x="2292675" y="4384150"/>
            <a:ext cx="8088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year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4" name="Google Shape;1554;p108"/>
          <p:cNvSpPr/>
          <p:nvPr/>
        </p:nvSpPr>
        <p:spPr>
          <a:xfrm>
            <a:off x="900367" y="3645900"/>
            <a:ext cx="375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55" name="Google Shape;1555;p108"/>
          <p:cNvGrpSpPr/>
          <p:nvPr/>
        </p:nvGrpSpPr>
        <p:grpSpPr>
          <a:xfrm>
            <a:off x="1074637" y="1841421"/>
            <a:ext cx="3080476" cy="2529254"/>
            <a:chOff x="4667503" y="2040830"/>
            <a:chExt cx="2185200" cy="2465400"/>
          </a:xfrm>
        </p:grpSpPr>
        <p:cxnSp>
          <p:nvCxnSpPr>
            <p:cNvPr id="1556" name="Google Shape;1556;p108"/>
            <p:cNvCxnSpPr/>
            <p:nvPr/>
          </p:nvCxnSpPr>
          <p:spPr>
            <a:xfrm rot="10800000">
              <a:off x="4820745" y="2040830"/>
              <a:ext cx="0" cy="2465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57" name="Google Shape;1557;p108"/>
            <p:cNvCxnSpPr/>
            <p:nvPr/>
          </p:nvCxnSpPr>
          <p:spPr>
            <a:xfrm>
              <a:off x="4667503" y="4321393"/>
              <a:ext cx="2185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558" name="Google Shape;1558;p108"/>
          <p:cNvSpPr/>
          <p:nvPr/>
        </p:nvSpPr>
        <p:spPr>
          <a:xfrm>
            <a:off x="900367" y="3304102"/>
            <a:ext cx="375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9" name="Google Shape;1559;p108"/>
          <p:cNvSpPr/>
          <p:nvPr/>
        </p:nvSpPr>
        <p:spPr>
          <a:xfrm>
            <a:off x="900367" y="2620506"/>
            <a:ext cx="375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0" name="Google Shape;1560;p108"/>
          <p:cNvSpPr txBox="1"/>
          <p:nvPr/>
        </p:nvSpPr>
        <p:spPr>
          <a:xfrm>
            <a:off x="1560729" y="2653639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1" name="Google Shape;1561;p108"/>
          <p:cNvSpPr/>
          <p:nvPr/>
        </p:nvSpPr>
        <p:spPr>
          <a:xfrm>
            <a:off x="900367" y="2962304"/>
            <a:ext cx="375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2" name="Google Shape;1562;p108"/>
          <p:cNvSpPr/>
          <p:nvPr/>
        </p:nvSpPr>
        <p:spPr>
          <a:xfrm>
            <a:off x="900427" y="2278700"/>
            <a:ext cx="375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3" name="Google Shape;1563;p108"/>
          <p:cNvSpPr txBox="1"/>
          <p:nvPr/>
        </p:nvSpPr>
        <p:spPr>
          <a:xfrm rot="-5400000">
            <a:off x="-497700" y="2740825"/>
            <a:ext cx="21153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Percentage of pupils who walk to school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4" name="Google Shape;1564;p108"/>
          <p:cNvSpPr txBox="1"/>
          <p:nvPr/>
        </p:nvSpPr>
        <p:spPr>
          <a:xfrm>
            <a:off x="2268202" y="213187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5" name="Google Shape;1565;p108"/>
          <p:cNvSpPr txBox="1"/>
          <p:nvPr/>
        </p:nvSpPr>
        <p:spPr>
          <a:xfrm>
            <a:off x="2960916" y="2318841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6" name="Google Shape;1566;p108"/>
          <p:cNvSpPr txBox="1"/>
          <p:nvPr/>
        </p:nvSpPr>
        <p:spPr>
          <a:xfrm>
            <a:off x="3660534" y="2825046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67" name="Google Shape;1567;p108"/>
          <p:cNvCxnSpPr/>
          <p:nvPr/>
        </p:nvCxnSpPr>
        <p:spPr>
          <a:xfrm flipH="1" rot="10800000">
            <a:off x="1644842" y="2260301"/>
            <a:ext cx="702000" cy="505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8" name="Google Shape;1568;p108"/>
          <p:cNvCxnSpPr/>
          <p:nvPr/>
        </p:nvCxnSpPr>
        <p:spPr>
          <a:xfrm>
            <a:off x="2346816" y="2240241"/>
            <a:ext cx="700500" cy="199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9" name="Google Shape;1569;p108"/>
          <p:cNvCxnSpPr/>
          <p:nvPr/>
        </p:nvCxnSpPr>
        <p:spPr>
          <a:xfrm>
            <a:off x="3047314" y="2434211"/>
            <a:ext cx="697200" cy="519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0" name="Google Shape;1570;p108"/>
          <p:cNvSpPr txBox="1"/>
          <p:nvPr/>
        </p:nvSpPr>
        <p:spPr>
          <a:xfrm>
            <a:off x="3366375" y="4119475"/>
            <a:ext cx="8088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23/24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1" name="Google Shape;1571;p108"/>
          <p:cNvSpPr txBox="1"/>
          <p:nvPr/>
        </p:nvSpPr>
        <p:spPr>
          <a:xfrm>
            <a:off x="2666775" y="4105820"/>
            <a:ext cx="8088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22/23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2" name="Google Shape;1572;p108"/>
          <p:cNvSpPr txBox="1"/>
          <p:nvPr/>
        </p:nvSpPr>
        <p:spPr>
          <a:xfrm>
            <a:off x="1980975" y="4112733"/>
            <a:ext cx="8088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21/22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3" name="Google Shape;1573;p108"/>
          <p:cNvSpPr txBox="1"/>
          <p:nvPr/>
        </p:nvSpPr>
        <p:spPr>
          <a:xfrm>
            <a:off x="1295175" y="4112733"/>
            <a:ext cx="8088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20/21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4" name="Google Shape;1574;p108"/>
          <p:cNvSpPr txBox="1"/>
          <p:nvPr>
            <p:ph idx="1" type="body"/>
          </p:nvPr>
        </p:nvSpPr>
        <p:spPr>
          <a:xfrm>
            <a:off x="4320000" y="1424200"/>
            <a:ext cx="4500000" cy="8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The school newspaper reports, ‘Only 50 pupils walked to school in the 2022/23 academic year’. </a:t>
            </a:r>
            <a:r>
              <a:rPr lang="en-GB" sz="1800"/>
              <a:t> Is this supported by Alex’s chart? </a:t>
            </a:r>
            <a:endParaRPr sz="1800"/>
          </a:p>
        </p:txBody>
      </p:sp>
      <p:sp>
        <p:nvSpPr>
          <p:cNvPr id="1575" name="Google Shape;1575;p108"/>
          <p:cNvSpPr txBox="1"/>
          <p:nvPr>
            <p:ph idx="1" type="body"/>
          </p:nvPr>
        </p:nvSpPr>
        <p:spPr>
          <a:xfrm>
            <a:off x="4320000" y="3049250"/>
            <a:ext cx="4500000" cy="8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r>
              <a:rPr lang="en-GB" sz="1800"/>
              <a:t>) The headline of the article states, ‘Fewer young people choose to walk to school now than in the past’. Is this supported by Alex’s chart?</a:t>
            </a:r>
            <a:endParaRPr sz="1800"/>
          </a:p>
        </p:txBody>
      </p:sp>
      <p:sp>
        <p:nvSpPr>
          <p:cNvPr id="1576" name="Google Shape;1576;p108"/>
          <p:cNvSpPr/>
          <p:nvPr/>
        </p:nvSpPr>
        <p:spPr>
          <a:xfrm>
            <a:off x="900427" y="1973900"/>
            <a:ext cx="375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109"/>
          <p:cNvSpPr txBox="1"/>
          <p:nvPr>
            <p:ph idx="1" type="body"/>
          </p:nvPr>
        </p:nvSpPr>
        <p:spPr>
          <a:xfrm>
            <a:off x="324000" y="759300"/>
            <a:ext cx="3624600" cy="5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This time series graph shows the number of shark attacks and the number of </a:t>
            </a:r>
            <a:r>
              <a:rPr lang="en-GB" sz="1800"/>
              <a:t>heat stroke</a:t>
            </a:r>
            <a:r>
              <a:rPr lang="en-GB" sz="1800"/>
              <a:t> </a:t>
            </a:r>
            <a:r>
              <a:rPr lang="en-GB" sz="1800"/>
              <a:t>sufferers</a:t>
            </a:r>
            <a:r>
              <a:rPr lang="en-GB" sz="1800"/>
              <a:t> throughout the year. </a:t>
            </a:r>
            <a:endParaRPr sz="1800"/>
          </a:p>
        </p:txBody>
      </p:sp>
      <p:sp>
        <p:nvSpPr>
          <p:cNvPr id="1582" name="Google Shape;1582;p10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Misinterpreting graphs</a:t>
            </a:r>
            <a:endParaRPr/>
          </a:p>
        </p:txBody>
      </p:sp>
      <p:pic>
        <p:nvPicPr>
          <p:cNvPr id="1583" name="Google Shape;1583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0300" y="886250"/>
            <a:ext cx="4079026" cy="2467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4" name="Google Shape;1584;p109"/>
          <p:cNvCxnSpPr/>
          <p:nvPr/>
        </p:nvCxnSpPr>
        <p:spPr>
          <a:xfrm>
            <a:off x="4375537" y="2909025"/>
            <a:ext cx="3882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5" name="Google Shape;1585;p109"/>
          <p:cNvCxnSpPr/>
          <p:nvPr/>
        </p:nvCxnSpPr>
        <p:spPr>
          <a:xfrm rot="10800000">
            <a:off x="4375537" y="755300"/>
            <a:ext cx="0" cy="2165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6" name="Google Shape;1586;p109"/>
          <p:cNvSpPr/>
          <p:nvPr/>
        </p:nvSpPr>
        <p:spPr>
          <a:xfrm>
            <a:off x="4070925" y="917300"/>
            <a:ext cx="279000" cy="2097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7" name="Google Shape;1587;p109"/>
          <p:cNvSpPr txBox="1"/>
          <p:nvPr/>
        </p:nvSpPr>
        <p:spPr>
          <a:xfrm>
            <a:off x="4434755" y="2380239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8" name="Google Shape;1588;p109"/>
          <p:cNvSpPr txBox="1"/>
          <p:nvPr/>
        </p:nvSpPr>
        <p:spPr>
          <a:xfrm>
            <a:off x="4755991" y="2227839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9" name="Google Shape;1589;p109"/>
          <p:cNvSpPr txBox="1"/>
          <p:nvPr/>
        </p:nvSpPr>
        <p:spPr>
          <a:xfrm>
            <a:off x="5057055" y="2006710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0" name="Google Shape;1590;p109"/>
          <p:cNvSpPr txBox="1"/>
          <p:nvPr/>
        </p:nvSpPr>
        <p:spPr>
          <a:xfrm>
            <a:off x="5373061" y="1625710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1" name="Google Shape;1591;p109"/>
          <p:cNvSpPr txBox="1"/>
          <p:nvPr/>
        </p:nvSpPr>
        <p:spPr>
          <a:xfrm>
            <a:off x="5696538" y="1545775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2" name="Google Shape;1592;p109"/>
          <p:cNvSpPr txBox="1"/>
          <p:nvPr/>
        </p:nvSpPr>
        <p:spPr>
          <a:xfrm>
            <a:off x="6001338" y="1012375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3" name="Google Shape;1593;p109"/>
          <p:cNvSpPr txBox="1"/>
          <p:nvPr/>
        </p:nvSpPr>
        <p:spPr>
          <a:xfrm>
            <a:off x="6382338" y="856239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4" name="Google Shape;1594;p109"/>
          <p:cNvSpPr txBox="1"/>
          <p:nvPr/>
        </p:nvSpPr>
        <p:spPr>
          <a:xfrm>
            <a:off x="6618408" y="780039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5" name="Google Shape;1595;p109"/>
          <p:cNvSpPr txBox="1"/>
          <p:nvPr/>
        </p:nvSpPr>
        <p:spPr>
          <a:xfrm>
            <a:off x="6923208" y="1237239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6" name="Google Shape;1596;p109"/>
          <p:cNvSpPr txBox="1"/>
          <p:nvPr/>
        </p:nvSpPr>
        <p:spPr>
          <a:xfrm>
            <a:off x="7228008" y="1846839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7" name="Google Shape;1597;p109"/>
          <p:cNvSpPr txBox="1"/>
          <p:nvPr/>
        </p:nvSpPr>
        <p:spPr>
          <a:xfrm>
            <a:off x="7609008" y="2304039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8" name="Google Shape;1598;p109"/>
          <p:cNvSpPr txBox="1"/>
          <p:nvPr/>
        </p:nvSpPr>
        <p:spPr>
          <a:xfrm>
            <a:off x="7895132" y="2398916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99" name="Google Shape;1599;p109"/>
          <p:cNvCxnSpPr/>
          <p:nvPr/>
        </p:nvCxnSpPr>
        <p:spPr>
          <a:xfrm flipH="1" rot="10800000">
            <a:off x="4515242" y="2359201"/>
            <a:ext cx="321300" cy="1527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0" name="Google Shape;1600;p109"/>
          <p:cNvCxnSpPr/>
          <p:nvPr/>
        </p:nvCxnSpPr>
        <p:spPr>
          <a:xfrm flipH="1" rot="10800000">
            <a:off x="4855117" y="2131201"/>
            <a:ext cx="283800" cy="2280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1" name="Google Shape;1601;p109"/>
          <p:cNvCxnSpPr/>
          <p:nvPr/>
        </p:nvCxnSpPr>
        <p:spPr>
          <a:xfrm flipH="1" rot="10800000">
            <a:off x="5138917" y="1750201"/>
            <a:ext cx="317400" cy="3810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2" name="Google Shape;1602;p109"/>
          <p:cNvCxnSpPr/>
          <p:nvPr/>
        </p:nvCxnSpPr>
        <p:spPr>
          <a:xfrm flipH="1" rot="10800000">
            <a:off x="5456317" y="1664401"/>
            <a:ext cx="328800" cy="85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3" name="Google Shape;1603;p109"/>
          <p:cNvCxnSpPr/>
          <p:nvPr/>
        </p:nvCxnSpPr>
        <p:spPr>
          <a:xfrm flipH="1" rot="10800000">
            <a:off x="5785117" y="1134001"/>
            <a:ext cx="306300" cy="530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4" name="Google Shape;1604;p109"/>
          <p:cNvCxnSpPr/>
          <p:nvPr/>
        </p:nvCxnSpPr>
        <p:spPr>
          <a:xfrm flipH="1" rot="10800000">
            <a:off x="6091417" y="980751"/>
            <a:ext cx="384900" cy="1707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5" name="Google Shape;1605;p109"/>
          <p:cNvCxnSpPr/>
          <p:nvPr/>
        </p:nvCxnSpPr>
        <p:spPr>
          <a:xfrm flipH="1" rot="10800000">
            <a:off x="6476317" y="902301"/>
            <a:ext cx="235200" cy="69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6" name="Google Shape;1606;p109"/>
          <p:cNvCxnSpPr/>
          <p:nvPr/>
        </p:nvCxnSpPr>
        <p:spPr>
          <a:xfrm>
            <a:off x="6711517" y="902301"/>
            <a:ext cx="291300" cy="459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7" name="Google Shape;1607;p109"/>
          <p:cNvCxnSpPr/>
          <p:nvPr/>
        </p:nvCxnSpPr>
        <p:spPr>
          <a:xfrm>
            <a:off x="7002817" y="1361601"/>
            <a:ext cx="310200" cy="6126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8" name="Google Shape;1608;p109"/>
          <p:cNvCxnSpPr/>
          <p:nvPr/>
        </p:nvCxnSpPr>
        <p:spPr>
          <a:xfrm>
            <a:off x="7298792" y="1966251"/>
            <a:ext cx="395100" cy="467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9" name="Google Shape;1609;p109"/>
          <p:cNvCxnSpPr/>
          <p:nvPr/>
        </p:nvCxnSpPr>
        <p:spPr>
          <a:xfrm>
            <a:off x="7693892" y="2433651"/>
            <a:ext cx="298800" cy="101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0" name="Google Shape;1610;p109"/>
          <p:cNvSpPr txBox="1"/>
          <p:nvPr/>
        </p:nvSpPr>
        <p:spPr>
          <a:xfrm>
            <a:off x="4434755" y="2532639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1" name="Google Shape;1611;p109"/>
          <p:cNvSpPr txBox="1"/>
          <p:nvPr/>
        </p:nvSpPr>
        <p:spPr>
          <a:xfrm>
            <a:off x="4743291" y="2532639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2" name="Google Shape;1612;p109"/>
          <p:cNvSpPr txBox="1"/>
          <p:nvPr/>
        </p:nvSpPr>
        <p:spPr>
          <a:xfrm>
            <a:off x="5048091" y="2380239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3" name="Google Shape;1613;p109"/>
          <p:cNvSpPr txBox="1"/>
          <p:nvPr/>
        </p:nvSpPr>
        <p:spPr>
          <a:xfrm>
            <a:off x="5352891" y="1923039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4" name="Google Shape;1614;p109"/>
          <p:cNvSpPr txBox="1"/>
          <p:nvPr/>
        </p:nvSpPr>
        <p:spPr>
          <a:xfrm>
            <a:off x="5657691" y="1389639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5" name="Google Shape;1615;p109"/>
          <p:cNvSpPr txBox="1"/>
          <p:nvPr/>
        </p:nvSpPr>
        <p:spPr>
          <a:xfrm>
            <a:off x="6038691" y="1088575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6" name="Google Shape;1616;p109"/>
          <p:cNvSpPr txBox="1"/>
          <p:nvPr/>
        </p:nvSpPr>
        <p:spPr>
          <a:xfrm>
            <a:off x="6382338" y="707575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7" name="Google Shape;1617;p109"/>
          <p:cNvSpPr txBox="1"/>
          <p:nvPr/>
        </p:nvSpPr>
        <p:spPr>
          <a:xfrm>
            <a:off x="6625879" y="631375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8" name="Google Shape;1618;p109"/>
          <p:cNvSpPr txBox="1"/>
          <p:nvPr/>
        </p:nvSpPr>
        <p:spPr>
          <a:xfrm>
            <a:off x="6935908" y="1031051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9" name="Google Shape;1619;p109"/>
          <p:cNvSpPr txBox="1"/>
          <p:nvPr/>
        </p:nvSpPr>
        <p:spPr>
          <a:xfrm>
            <a:off x="7240708" y="1564451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0" name="Google Shape;1620;p109"/>
          <p:cNvSpPr txBox="1"/>
          <p:nvPr/>
        </p:nvSpPr>
        <p:spPr>
          <a:xfrm>
            <a:off x="7621708" y="2543845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1" name="Google Shape;1621;p109"/>
          <p:cNvSpPr txBox="1"/>
          <p:nvPr/>
        </p:nvSpPr>
        <p:spPr>
          <a:xfrm>
            <a:off x="7904096" y="2555051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22" name="Google Shape;1622;p109"/>
          <p:cNvCxnSpPr/>
          <p:nvPr/>
        </p:nvCxnSpPr>
        <p:spPr>
          <a:xfrm>
            <a:off x="4515242" y="2658951"/>
            <a:ext cx="317400" cy="2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3" name="Google Shape;1623;p109"/>
          <p:cNvCxnSpPr/>
          <p:nvPr/>
        </p:nvCxnSpPr>
        <p:spPr>
          <a:xfrm flipH="1" rot="10800000">
            <a:off x="4821517" y="2504801"/>
            <a:ext cx="317400" cy="148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4" name="Google Shape;1624;p109"/>
          <p:cNvCxnSpPr/>
          <p:nvPr/>
        </p:nvCxnSpPr>
        <p:spPr>
          <a:xfrm flipH="1" rot="10800000">
            <a:off x="5112117" y="2045401"/>
            <a:ext cx="325800" cy="464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5" name="Google Shape;1625;p109"/>
          <p:cNvCxnSpPr/>
          <p:nvPr/>
        </p:nvCxnSpPr>
        <p:spPr>
          <a:xfrm flipH="1" rot="10800000">
            <a:off x="5437917" y="1518551"/>
            <a:ext cx="298800" cy="510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6" name="Google Shape;1626;p109"/>
          <p:cNvCxnSpPr/>
          <p:nvPr/>
        </p:nvCxnSpPr>
        <p:spPr>
          <a:xfrm flipH="1" rot="10800000">
            <a:off x="5736717" y="1201251"/>
            <a:ext cx="399600" cy="289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7" name="Google Shape;1627;p109"/>
          <p:cNvCxnSpPr/>
          <p:nvPr/>
        </p:nvCxnSpPr>
        <p:spPr>
          <a:xfrm flipH="1" rot="10800000">
            <a:off x="6121792" y="842601"/>
            <a:ext cx="343200" cy="368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8" name="Google Shape;1628;p109"/>
          <p:cNvCxnSpPr/>
          <p:nvPr/>
        </p:nvCxnSpPr>
        <p:spPr>
          <a:xfrm flipH="1" rot="10800000">
            <a:off x="6470625" y="738996"/>
            <a:ext cx="246600" cy="861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9" name="Google Shape;1629;p109"/>
          <p:cNvCxnSpPr/>
          <p:nvPr/>
        </p:nvCxnSpPr>
        <p:spPr>
          <a:xfrm>
            <a:off x="6704025" y="767850"/>
            <a:ext cx="313800" cy="3921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0" name="Google Shape;1630;p109"/>
          <p:cNvCxnSpPr/>
          <p:nvPr/>
        </p:nvCxnSpPr>
        <p:spPr>
          <a:xfrm>
            <a:off x="7021525" y="1156300"/>
            <a:ext cx="306300" cy="545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1" name="Google Shape;1631;p109"/>
          <p:cNvCxnSpPr/>
          <p:nvPr/>
        </p:nvCxnSpPr>
        <p:spPr>
          <a:xfrm>
            <a:off x="7327825" y="1693550"/>
            <a:ext cx="377400" cy="975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2" name="Google Shape;1632;p109"/>
          <p:cNvCxnSpPr/>
          <p:nvPr/>
        </p:nvCxnSpPr>
        <p:spPr>
          <a:xfrm>
            <a:off x="7691650" y="2658950"/>
            <a:ext cx="308400" cy="13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3" name="Google Shape;1633;p109"/>
          <p:cNvSpPr txBox="1"/>
          <p:nvPr/>
        </p:nvSpPr>
        <p:spPr>
          <a:xfrm>
            <a:off x="7947365" y="754658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4" name="Google Shape;1634;p1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35829" y="3754725"/>
            <a:ext cx="653349" cy="8069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5" name="Google Shape;1635;p109"/>
          <p:cNvSpPr txBox="1"/>
          <p:nvPr/>
        </p:nvSpPr>
        <p:spPr>
          <a:xfrm>
            <a:off x="8006440" y="1496858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36" name="Google Shape;1636;p109"/>
          <p:cNvCxnSpPr/>
          <p:nvPr/>
        </p:nvCxnSpPr>
        <p:spPr>
          <a:xfrm>
            <a:off x="7881847" y="1622858"/>
            <a:ext cx="406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7" name="Google Shape;1637;p109"/>
          <p:cNvSpPr txBox="1"/>
          <p:nvPr/>
        </p:nvSpPr>
        <p:spPr>
          <a:xfrm>
            <a:off x="7694150" y="868325"/>
            <a:ext cx="12357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Shark attacks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8" name="Google Shape;1638;p109"/>
          <p:cNvSpPr txBox="1"/>
          <p:nvPr/>
        </p:nvSpPr>
        <p:spPr>
          <a:xfrm>
            <a:off x="7621820" y="1573425"/>
            <a:ext cx="15213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Cases of heat stroke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39" name="Google Shape;1639;p109"/>
          <p:cNvCxnSpPr/>
          <p:nvPr/>
        </p:nvCxnSpPr>
        <p:spPr>
          <a:xfrm>
            <a:off x="7857492" y="880658"/>
            <a:ext cx="3936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0" name="Google Shape;1640;p109"/>
          <p:cNvSpPr txBox="1"/>
          <p:nvPr/>
        </p:nvSpPr>
        <p:spPr>
          <a:xfrm flipH="1">
            <a:off x="292350" y="4498726"/>
            <a:ext cx="10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41" name="Google Shape;1641;p109"/>
          <p:cNvGrpSpPr/>
          <p:nvPr/>
        </p:nvGrpSpPr>
        <p:grpSpPr>
          <a:xfrm>
            <a:off x="840653" y="1877700"/>
            <a:ext cx="3331175" cy="2308698"/>
            <a:chOff x="1622589" y="1504158"/>
            <a:chExt cx="2086287" cy="1182492"/>
          </a:xfrm>
        </p:grpSpPr>
        <p:pic>
          <p:nvPicPr>
            <p:cNvPr id="1642" name="Google Shape;1642;p109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622589" y="1504158"/>
              <a:ext cx="2086287" cy="11824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3" name="Google Shape;1643;p109"/>
            <p:cNvSpPr txBox="1"/>
            <p:nvPr/>
          </p:nvSpPr>
          <p:spPr>
            <a:xfrm flipH="1">
              <a:off x="1760949" y="1734886"/>
              <a:ext cx="1863300" cy="65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more shark attacks there are the less likely people are to go in the sea so they are more likely to get heat stroke. Shark attacks cause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heat stroke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!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44" name="Google Shape;1644;p109"/>
          <p:cNvSpPr txBox="1"/>
          <p:nvPr>
            <p:ph idx="1" type="body"/>
          </p:nvPr>
        </p:nvSpPr>
        <p:spPr>
          <a:xfrm>
            <a:off x="4130300" y="3356175"/>
            <a:ext cx="4500000" cy="36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Does the graph support the claim that shark attacks </a:t>
            </a:r>
            <a:r>
              <a:rPr lang="en-GB" sz="1800"/>
              <a:t>cause</a:t>
            </a:r>
            <a:r>
              <a:rPr lang="en-GB" sz="1800"/>
              <a:t> heat stroke? </a:t>
            </a:r>
            <a:endParaRPr sz="1800"/>
          </a:p>
        </p:txBody>
      </p:sp>
      <p:sp>
        <p:nvSpPr>
          <p:cNvPr id="1645" name="Google Shape;1645;p109"/>
          <p:cNvSpPr txBox="1"/>
          <p:nvPr>
            <p:ph idx="1" type="body"/>
          </p:nvPr>
        </p:nvSpPr>
        <p:spPr>
          <a:xfrm>
            <a:off x="1775000" y="4160050"/>
            <a:ext cx="6855300" cy="36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r>
              <a:rPr lang="en-GB" sz="1800"/>
              <a:t>) Suggest a possible reason why there is a similar pattern between these variables.  </a:t>
            </a:r>
            <a:endParaRPr sz="18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p110"/>
          <p:cNvSpPr txBox="1"/>
          <p:nvPr>
            <p:ph idx="1" type="body"/>
          </p:nvPr>
        </p:nvSpPr>
        <p:spPr>
          <a:xfrm>
            <a:off x="324000" y="810000"/>
            <a:ext cx="8496000" cy="6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3) Here is a sketch of a scatter graph showing the number of times  people visit </a:t>
            </a:r>
            <a:r>
              <a:rPr lang="en-GB" sz="2000"/>
              <a:t>restaurants</a:t>
            </a:r>
            <a:r>
              <a:rPr lang="en-GB" sz="2000"/>
              <a:t> and the value of their car. </a:t>
            </a:r>
            <a:endParaRPr sz="2000"/>
          </a:p>
        </p:txBody>
      </p:sp>
      <p:sp>
        <p:nvSpPr>
          <p:cNvPr id="1651" name="Google Shape;1651;p11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Misinterpreting graphs</a:t>
            </a:r>
            <a:endParaRPr/>
          </a:p>
        </p:txBody>
      </p:sp>
      <p:grpSp>
        <p:nvGrpSpPr>
          <p:cNvPr id="1652" name="Google Shape;1652;p110"/>
          <p:cNvGrpSpPr/>
          <p:nvPr/>
        </p:nvGrpSpPr>
        <p:grpSpPr>
          <a:xfrm>
            <a:off x="683287" y="1750571"/>
            <a:ext cx="3080476" cy="2529254"/>
            <a:chOff x="4667503" y="2040830"/>
            <a:chExt cx="2185200" cy="2465400"/>
          </a:xfrm>
        </p:grpSpPr>
        <p:cxnSp>
          <p:nvCxnSpPr>
            <p:cNvPr id="1653" name="Google Shape;1653;p110"/>
            <p:cNvCxnSpPr/>
            <p:nvPr/>
          </p:nvCxnSpPr>
          <p:spPr>
            <a:xfrm rot="10800000">
              <a:off x="4820745" y="2040830"/>
              <a:ext cx="0" cy="2465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54" name="Google Shape;1654;p110"/>
            <p:cNvCxnSpPr/>
            <p:nvPr/>
          </p:nvCxnSpPr>
          <p:spPr>
            <a:xfrm>
              <a:off x="4667503" y="4321393"/>
              <a:ext cx="2185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655" name="Google Shape;1655;p110"/>
          <p:cNvSpPr txBox="1"/>
          <p:nvPr/>
        </p:nvSpPr>
        <p:spPr>
          <a:xfrm>
            <a:off x="990104" y="348626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6" name="Google Shape;1656;p110"/>
          <p:cNvSpPr txBox="1"/>
          <p:nvPr/>
        </p:nvSpPr>
        <p:spPr>
          <a:xfrm>
            <a:off x="1218704" y="341006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7" name="Google Shape;1657;p110"/>
          <p:cNvSpPr txBox="1"/>
          <p:nvPr/>
        </p:nvSpPr>
        <p:spPr>
          <a:xfrm>
            <a:off x="1218704" y="318146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8" name="Google Shape;1658;p110"/>
          <p:cNvSpPr txBox="1"/>
          <p:nvPr/>
        </p:nvSpPr>
        <p:spPr>
          <a:xfrm>
            <a:off x="1447304" y="325766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9" name="Google Shape;1659;p110"/>
          <p:cNvSpPr txBox="1"/>
          <p:nvPr/>
        </p:nvSpPr>
        <p:spPr>
          <a:xfrm>
            <a:off x="1447304" y="287666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0" name="Google Shape;1660;p110"/>
          <p:cNvSpPr txBox="1"/>
          <p:nvPr/>
        </p:nvSpPr>
        <p:spPr>
          <a:xfrm>
            <a:off x="1752104" y="295286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1" name="Google Shape;1661;p110"/>
          <p:cNvSpPr txBox="1"/>
          <p:nvPr/>
        </p:nvSpPr>
        <p:spPr>
          <a:xfrm>
            <a:off x="1828304" y="272426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2" name="Google Shape;1662;p110"/>
          <p:cNvSpPr txBox="1"/>
          <p:nvPr/>
        </p:nvSpPr>
        <p:spPr>
          <a:xfrm>
            <a:off x="2056904" y="257186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3" name="Google Shape;1663;p110"/>
          <p:cNvSpPr txBox="1"/>
          <p:nvPr/>
        </p:nvSpPr>
        <p:spPr>
          <a:xfrm>
            <a:off x="2666504" y="196226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4" name="Google Shape;1664;p110"/>
          <p:cNvSpPr txBox="1"/>
          <p:nvPr/>
        </p:nvSpPr>
        <p:spPr>
          <a:xfrm>
            <a:off x="2437904" y="226706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5" name="Google Shape;1665;p110"/>
          <p:cNvSpPr txBox="1"/>
          <p:nvPr/>
        </p:nvSpPr>
        <p:spPr>
          <a:xfrm>
            <a:off x="2133104" y="219086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6" name="Google Shape;1666;p110"/>
          <p:cNvSpPr txBox="1"/>
          <p:nvPr/>
        </p:nvSpPr>
        <p:spPr>
          <a:xfrm>
            <a:off x="1675904" y="241946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7" name="Google Shape;1667;p110"/>
          <p:cNvSpPr txBox="1"/>
          <p:nvPr/>
        </p:nvSpPr>
        <p:spPr>
          <a:xfrm>
            <a:off x="1131675" y="4166250"/>
            <a:ext cx="21837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Number of times at a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restaurant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8" name="Google Shape;1668;p110"/>
          <p:cNvSpPr txBox="1"/>
          <p:nvPr/>
        </p:nvSpPr>
        <p:spPr>
          <a:xfrm rot="-5400000">
            <a:off x="-115725" y="2604125"/>
            <a:ext cx="14052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Value of car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69" name="Google Shape;1669;p110"/>
          <p:cNvGrpSpPr/>
          <p:nvPr/>
        </p:nvGrpSpPr>
        <p:grpSpPr>
          <a:xfrm>
            <a:off x="3941475" y="1620000"/>
            <a:ext cx="4786515" cy="1197001"/>
            <a:chOff x="3873775" y="2894163"/>
            <a:chExt cx="4786515" cy="1197001"/>
          </a:xfrm>
        </p:grpSpPr>
        <p:sp>
          <p:nvSpPr>
            <p:cNvPr id="1670" name="Google Shape;1670;p110"/>
            <p:cNvSpPr txBox="1"/>
            <p:nvPr/>
          </p:nvSpPr>
          <p:spPr>
            <a:xfrm>
              <a:off x="7682290" y="3091930"/>
              <a:ext cx="978000" cy="40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Sofia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671" name="Google Shape;1671;p1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863474" y="3468824"/>
              <a:ext cx="560997" cy="6223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2" name="Google Shape;1672;p110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>
              <a:off x="3873775" y="2894162"/>
              <a:ext cx="3989699" cy="10464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3" name="Google Shape;1673;p110"/>
            <p:cNvSpPr/>
            <p:nvPr/>
          </p:nvSpPr>
          <p:spPr>
            <a:xfrm flipH="1">
              <a:off x="3978500" y="2933488"/>
              <a:ext cx="3703800" cy="77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So all I need to do is eat out more then I will be able to get a fancy car!</a:t>
              </a:r>
              <a:endParaRPr sz="21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74" name="Google Shape;1674;p110"/>
          <p:cNvSpPr txBox="1"/>
          <p:nvPr>
            <p:ph idx="1" type="body"/>
          </p:nvPr>
        </p:nvSpPr>
        <p:spPr>
          <a:xfrm>
            <a:off x="3731975" y="2839175"/>
            <a:ext cx="5059500" cy="89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</a:t>
            </a:r>
            <a:r>
              <a:rPr lang="en-GB" sz="1800"/>
              <a:t>Does this graph show correlation between the number of times people visit restaurants and the value of their car? How do you know? 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675" name="Google Shape;1675;p110"/>
          <p:cNvSpPr txBox="1"/>
          <p:nvPr>
            <p:ph idx="1" type="body"/>
          </p:nvPr>
        </p:nvSpPr>
        <p:spPr>
          <a:xfrm>
            <a:off x="3731975" y="4248275"/>
            <a:ext cx="5059500" cy="36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Explain why Sofia’s statement is incorrect. </a:t>
            </a:r>
            <a:r>
              <a:rPr lang="en-GB" sz="1800"/>
              <a:t>  </a:t>
            </a:r>
            <a:endParaRPr sz="18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p111"/>
          <p:cNvSpPr txBox="1"/>
          <p:nvPr>
            <p:ph idx="1" type="body"/>
          </p:nvPr>
        </p:nvSpPr>
        <p:spPr>
          <a:xfrm>
            <a:off x="324000" y="810000"/>
            <a:ext cx="8496000" cy="6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4) This chart shows the number of people who live in rural areas compared to urban areas. </a:t>
            </a:r>
            <a:endParaRPr sz="2000"/>
          </a:p>
        </p:txBody>
      </p:sp>
      <p:sp>
        <p:nvSpPr>
          <p:cNvPr id="1681" name="Google Shape;1681;p11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Misinterpreting graphs</a:t>
            </a:r>
            <a:endParaRPr/>
          </a:p>
        </p:txBody>
      </p:sp>
      <p:cxnSp>
        <p:nvCxnSpPr>
          <p:cNvPr id="1682" name="Google Shape;1682;p111"/>
          <p:cNvCxnSpPr/>
          <p:nvPr/>
        </p:nvCxnSpPr>
        <p:spPr>
          <a:xfrm rot="10800000">
            <a:off x="636975" y="1526375"/>
            <a:ext cx="0" cy="196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3" name="Google Shape;1683;p111"/>
          <p:cNvCxnSpPr/>
          <p:nvPr/>
        </p:nvCxnSpPr>
        <p:spPr>
          <a:xfrm>
            <a:off x="636975" y="3491975"/>
            <a:ext cx="2208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84" name="Google Shape;1684;p111"/>
          <p:cNvGrpSpPr/>
          <p:nvPr/>
        </p:nvGrpSpPr>
        <p:grpSpPr>
          <a:xfrm>
            <a:off x="852591" y="2537235"/>
            <a:ext cx="370428" cy="928938"/>
            <a:chOff x="3291525" y="2055200"/>
            <a:chExt cx="749400" cy="1879300"/>
          </a:xfrm>
        </p:grpSpPr>
        <p:sp>
          <p:nvSpPr>
            <p:cNvPr id="1685" name="Google Shape;1685;p111"/>
            <p:cNvSpPr/>
            <p:nvPr/>
          </p:nvSpPr>
          <p:spPr>
            <a:xfrm>
              <a:off x="3480125" y="2055200"/>
              <a:ext cx="370500" cy="370500"/>
            </a:xfrm>
            <a:prstGeom prst="ellipse">
              <a:avLst/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6" name="Google Shape;1686;p111"/>
            <p:cNvSpPr/>
            <p:nvPr/>
          </p:nvSpPr>
          <p:spPr>
            <a:xfrm>
              <a:off x="3291550" y="2487900"/>
              <a:ext cx="747900" cy="2565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7" name="Google Shape;1687;p111"/>
            <p:cNvSpPr/>
            <p:nvPr/>
          </p:nvSpPr>
          <p:spPr>
            <a:xfrm rot="5400000">
              <a:off x="2989575" y="2798300"/>
              <a:ext cx="743700" cy="1398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8" name="Google Shape;1688;p111"/>
            <p:cNvSpPr/>
            <p:nvPr/>
          </p:nvSpPr>
          <p:spPr>
            <a:xfrm rot="5400000">
              <a:off x="3599175" y="2798300"/>
              <a:ext cx="743700" cy="1398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9" name="Google Shape;1689;p111"/>
            <p:cNvSpPr/>
            <p:nvPr/>
          </p:nvSpPr>
          <p:spPr>
            <a:xfrm rot="5400000">
              <a:off x="3293537" y="2682964"/>
              <a:ext cx="743700" cy="3705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0" name="Google Shape;1690;p111"/>
            <p:cNvSpPr/>
            <p:nvPr/>
          </p:nvSpPr>
          <p:spPr>
            <a:xfrm rot="5400000">
              <a:off x="3130775" y="3445350"/>
              <a:ext cx="838500" cy="1398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1" name="Google Shape;1691;p111"/>
            <p:cNvSpPr/>
            <p:nvPr/>
          </p:nvSpPr>
          <p:spPr>
            <a:xfrm rot="5400000">
              <a:off x="3359375" y="3445350"/>
              <a:ext cx="838500" cy="1398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92" name="Google Shape;1692;p111"/>
          <p:cNvGrpSpPr/>
          <p:nvPr/>
        </p:nvGrpSpPr>
        <p:grpSpPr>
          <a:xfrm>
            <a:off x="1545058" y="1500606"/>
            <a:ext cx="783797" cy="1965560"/>
            <a:chOff x="3291525" y="2055200"/>
            <a:chExt cx="749400" cy="1879300"/>
          </a:xfrm>
        </p:grpSpPr>
        <p:sp>
          <p:nvSpPr>
            <p:cNvPr id="1693" name="Google Shape;1693;p111"/>
            <p:cNvSpPr/>
            <p:nvPr/>
          </p:nvSpPr>
          <p:spPr>
            <a:xfrm>
              <a:off x="3480125" y="2055200"/>
              <a:ext cx="370500" cy="370500"/>
            </a:xfrm>
            <a:prstGeom prst="ellipse">
              <a:avLst/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4" name="Google Shape;1694;p111"/>
            <p:cNvSpPr/>
            <p:nvPr/>
          </p:nvSpPr>
          <p:spPr>
            <a:xfrm>
              <a:off x="3291550" y="2487900"/>
              <a:ext cx="747900" cy="2565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5" name="Google Shape;1695;p111"/>
            <p:cNvSpPr/>
            <p:nvPr/>
          </p:nvSpPr>
          <p:spPr>
            <a:xfrm rot="5400000">
              <a:off x="2989575" y="2798300"/>
              <a:ext cx="743700" cy="1398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6" name="Google Shape;1696;p111"/>
            <p:cNvSpPr/>
            <p:nvPr/>
          </p:nvSpPr>
          <p:spPr>
            <a:xfrm rot="5400000">
              <a:off x="3599175" y="2798300"/>
              <a:ext cx="743700" cy="1398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7" name="Google Shape;1697;p111"/>
            <p:cNvSpPr/>
            <p:nvPr/>
          </p:nvSpPr>
          <p:spPr>
            <a:xfrm rot="5400000">
              <a:off x="3293537" y="2682964"/>
              <a:ext cx="743700" cy="3705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8" name="Google Shape;1698;p111"/>
            <p:cNvSpPr/>
            <p:nvPr/>
          </p:nvSpPr>
          <p:spPr>
            <a:xfrm rot="5400000">
              <a:off x="3130775" y="3445350"/>
              <a:ext cx="838500" cy="1398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9" name="Google Shape;1699;p111"/>
            <p:cNvSpPr/>
            <p:nvPr/>
          </p:nvSpPr>
          <p:spPr>
            <a:xfrm rot="5400000">
              <a:off x="3359375" y="3445350"/>
              <a:ext cx="838500" cy="1398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00" name="Google Shape;1700;p111"/>
          <p:cNvSpPr txBox="1"/>
          <p:nvPr/>
        </p:nvSpPr>
        <p:spPr>
          <a:xfrm>
            <a:off x="636975" y="3572450"/>
            <a:ext cx="908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1" name="Google Shape;1701;p111"/>
          <p:cNvSpPr txBox="1"/>
          <p:nvPr/>
        </p:nvSpPr>
        <p:spPr>
          <a:xfrm>
            <a:off x="7940425" y="1293006"/>
            <a:ext cx="7836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2" name="Google Shape;1702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17486" y="1796997"/>
            <a:ext cx="629489" cy="7259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3" name="Google Shape;1703;p111"/>
          <p:cNvGrpSpPr/>
          <p:nvPr/>
        </p:nvGrpSpPr>
        <p:grpSpPr>
          <a:xfrm flipH="1">
            <a:off x="3935909" y="1293010"/>
            <a:ext cx="4110797" cy="993052"/>
            <a:chOff x="1902376" y="1608382"/>
            <a:chExt cx="2242294" cy="1130395"/>
          </a:xfrm>
        </p:grpSpPr>
        <p:pic>
          <p:nvPicPr>
            <p:cNvPr id="1704" name="Google Shape;1704;p111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902376" y="1608382"/>
              <a:ext cx="2242294" cy="10883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5" name="Google Shape;1705;p111"/>
            <p:cNvSpPr txBox="1"/>
            <p:nvPr/>
          </p:nvSpPr>
          <p:spPr>
            <a:xfrm flipH="1">
              <a:off x="2027144" y="1749378"/>
              <a:ext cx="2021400" cy="98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This shows twice as many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people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live in urban areas than rural.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06" name="Google Shape;1706;p111"/>
          <p:cNvSpPr txBox="1"/>
          <p:nvPr/>
        </p:nvSpPr>
        <p:spPr>
          <a:xfrm flipH="1">
            <a:off x="3174025" y="2466943"/>
            <a:ext cx="9780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7" name="Google Shape;1707;p1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409844" y="2843836"/>
            <a:ext cx="560997" cy="622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8" name="Google Shape;1708;p111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3955451" y="2286050"/>
            <a:ext cx="3536148" cy="1046426"/>
          </a:xfrm>
          <a:prstGeom prst="rect">
            <a:avLst/>
          </a:prstGeom>
          <a:noFill/>
          <a:ln>
            <a:noFill/>
          </a:ln>
        </p:spPr>
      </p:pic>
      <p:sp>
        <p:nvSpPr>
          <p:cNvPr id="1709" name="Google Shape;1709;p111"/>
          <p:cNvSpPr/>
          <p:nvPr/>
        </p:nvSpPr>
        <p:spPr>
          <a:xfrm>
            <a:off x="4207025" y="2325375"/>
            <a:ext cx="3199800" cy="7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think it shows that 4 times as many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people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live in urban areas than rural areas.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0" name="Google Shape;1710;p111"/>
          <p:cNvSpPr txBox="1"/>
          <p:nvPr/>
        </p:nvSpPr>
        <p:spPr>
          <a:xfrm>
            <a:off x="703500" y="3577050"/>
            <a:ext cx="561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Rural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1" name="Google Shape;1711;p111"/>
          <p:cNvSpPr txBox="1"/>
          <p:nvPr/>
        </p:nvSpPr>
        <p:spPr>
          <a:xfrm>
            <a:off x="1656450" y="3618750"/>
            <a:ext cx="6294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Urban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2" name="Google Shape;1712;p111"/>
          <p:cNvSpPr txBox="1"/>
          <p:nvPr>
            <p:ph idx="1" type="body"/>
          </p:nvPr>
        </p:nvSpPr>
        <p:spPr>
          <a:xfrm>
            <a:off x="2887200" y="3538025"/>
            <a:ext cx="59328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Give a reason why Alex may be correct. </a:t>
            </a:r>
            <a:endParaRPr sz="1800"/>
          </a:p>
        </p:txBody>
      </p:sp>
      <p:sp>
        <p:nvSpPr>
          <p:cNvPr id="1713" name="Google Shape;1713;p111"/>
          <p:cNvSpPr txBox="1"/>
          <p:nvPr>
            <p:ph idx="1" type="body"/>
          </p:nvPr>
        </p:nvSpPr>
        <p:spPr>
          <a:xfrm>
            <a:off x="2887200" y="4007588"/>
            <a:ext cx="59328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r>
              <a:rPr lang="en-GB" sz="1800"/>
              <a:t>) Give a reason why Sofia may be correct. </a:t>
            </a:r>
            <a:endParaRPr sz="1800"/>
          </a:p>
        </p:txBody>
      </p:sp>
      <p:sp>
        <p:nvSpPr>
          <p:cNvPr id="1714" name="Google Shape;1714;p111"/>
          <p:cNvSpPr txBox="1"/>
          <p:nvPr>
            <p:ph idx="1" type="body"/>
          </p:nvPr>
        </p:nvSpPr>
        <p:spPr>
          <a:xfrm>
            <a:off x="2887200" y="4477150"/>
            <a:ext cx="59328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r>
              <a:rPr lang="en-GB" sz="1800"/>
              <a:t>) Give a reason why both may be incorrect. </a:t>
            </a:r>
            <a:endParaRPr sz="18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1719;p11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Misinterpreting graphs</a:t>
            </a:r>
            <a:endParaRPr/>
          </a:p>
        </p:txBody>
      </p:sp>
      <p:sp>
        <p:nvSpPr>
          <p:cNvPr id="1720" name="Google Shape;1720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Alex drew this chart from data he collected about how pupils travel to school.  </a:t>
            </a:r>
            <a:endParaRPr sz="2000"/>
          </a:p>
        </p:txBody>
      </p:sp>
      <p:pic>
        <p:nvPicPr>
          <p:cNvPr id="1721" name="Google Shape;1721;p112"/>
          <p:cNvPicPr preferRelativeResize="0"/>
          <p:nvPr/>
        </p:nvPicPr>
        <p:blipFill rotWithShape="1">
          <a:blip r:embed="rId3">
            <a:alphaModFix/>
          </a:blip>
          <a:srcRect b="0" l="0" r="7097" t="2733"/>
          <a:stretch/>
        </p:blipFill>
        <p:spPr>
          <a:xfrm>
            <a:off x="1104550" y="1971050"/>
            <a:ext cx="2935125" cy="240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2" name="Google Shape;1722;p112"/>
          <p:cNvSpPr txBox="1"/>
          <p:nvPr/>
        </p:nvSpPr>
        <p:spPr>
          <a:xfrm>
            <a:off x="2292675" y="4384150"/>
            <a:ext cx="8088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year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3" name="Google Shape;1723;p112"/>
          <p:cNvSpPr/>
          <p:nvPr/>
        </p:nvSpPr>
        <p:spPr>
          <a:xfrm>
            <a:off x="900367" y="3645900"/>
            <a:ext cx="375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24" name="Google Shape;1724;p112"/>
          <p:cNvGrpSpPr/>
          <p:nvPr/>
        </p:nvGrpSpPr>
        <p:grpSpPr>
          <a:xfrm>
            <a:off x="1074637" y="1841421"/>
            <a:ext cx="3080476" cy="2529254"/>
            <a:chOff x="4667503" y="2040830"/>
            <a:chExt cx="2185200" cy="2465400"/>
          </a:xfrm>
        </p:grpSpPr>
        <p:cxnSp>
          <p:nvCxnSpPr>
            <p:cNvPr id="1725" name="Google Shape;1725;p112"/>
            <p:cNvCxnSpPr/>
            <p:nvPr/>
          </p:nvCxnSpPr>
          <p:spPr>
            <a:xfrm rot="10800000">
              <a:off x="4820745" y="2040830"/>
              <a:ext cx="0" cy="2465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26" name="Google Shape;1726;p112"/>
            <p:cNvCxnSpPr/>
            <p:nvPr/>
          </p:nvCxnSpPr>
          <p:spPr>
            <a:xfrm>
              <a:off x="4667503" y="4321393"/>
              <a:ext cx="2185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727" name="Google Shape;1727;p112"/>
          <p:cNvSpPr/>
          <p:nvPr/>
        </p:nvSpPr>
        <p:spPr>
          <a:xfrm>
            <a:off x="900367" y="3304102"/>
            <a:ext cx="375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8" name="Google Shape;1728;p112"/>
          <p:cNvSpPr/>
          <p:nvPr/>
        </p:nvSpPr>
        <p:spPr>
          <a:xfrm>
            <a:off x="900367" y="2620506"/>
            <a:ext cx="375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9" name="Google Shape;1729;p112"/>
          <p:cNvSpPr txBox="1"/>
          <p:nvPr/>
        </p:nvSpPr>
        <p:spPr>
          <a:xfrm>
            <a:off x="1560729" y="2653639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0" name="Google Shape;1730;p112"/>
          <p:cNvSpPr/>
          <p:nvPr/>
        </p:nvSpPr>
        <p:spPr>
          <a:xfrm>
            <a:off x="900367" y="2962304"/>
            <a:ext cx="375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1" name="Google Shape;1731;p112"/>
          <p:cNvSpPr/>
          <p:nvPr/>
        </p:nvSpPr>
        <p:spPr>
          <a:xfrm>
            <a:off x="900427" y="2278700"/>
            <a:ext cx="375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2" name="Google Shape;1732;p112"/>
          <p:cNvSpPr txBox="1"/>
          <p:nvPr/>
        </p:nvSpPr>
        <p:spPr>
          <a:xfrm rot="-5400000">
            <a:off x="-497700" y="2740825"/>
            <a:ext cx="21153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Percentage of pupils who walk to school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3" name="Google Shape;1733;p112"/>
          <p:cNvSpPr txBox="1"/>
          <p:nvPr/>
        </p:nvSpPr>
        <p:spPr>
          <a:xfrm>
            <a:off x="2268202" y="213187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4" name="Google Shape;1734;p112"/>
          <p:cNvSpPr txBox="1"/>
          <p:nvPr/>
        </p:nvSpPr>
        <p:spPr>
          <a:xfrm>
            <a:off x="2960916" y="2318841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5" name="Google Shape;1735;p112"/>
          <p:cNvSpPr txBox="1"/>
          <p:nvPr/>
        </p:nvSpPr>
        <p:spPr>
          <a:xfrm>
            <a:off x="3660534" y="2825046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36" name="Google Shape;1736;p112"/>
          <p:cNvCxnSpPr/>
          <p:nvPr/>
        </p:nvCxnSpPr>
        <p:spPr>
          <a:xfrm flipH="1" rot="10800000">
            <a:off x="1644842" y="2260301"/>
            <a:ext cx="702000" cy="505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7" name="Google Shape;1737;p112"/>
          <p:cNvCxnSpPr/>
          <p:nvPr/>
        </p:nvCxnSpPr>
        <p:spPr>
          <a:xfrm>
            <a:off x="2346816" y="2240241"/>
            <a:ext cx="700500" cy="199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8" name="Google Shape;1738;p112"/>
          <p:cNvCxnSpPr/>
          <p:nvPr/>
        </p:nvCxnSpPr>
        <p:spPr>
          <a:xfrm>
            <a:off x="3047314" y="2434211"/>
            <a:ext cx="697200" cy="519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9" name="Google Shape;1739;p112"/>
          <p:cNvSpPr txBox="1"/>
          <p:nvPr/>
        </p:nvSpPr>
        <p:spPr>
          <a:xfrm>
            <a:off x="3366375" y="4119475"/>
            <a:ext cx="8088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23/24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0" name="Google Shape;1740;p112"/>
          <p:cNvSpPr txBox="1"/>
          <p:nvPr/>
        </p:nvSpPr>
        <p:spPr>
          <a:xfrm>
            <a:off x="2666775" y="4105820"/>
            <a:ext cx="8088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22/23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1" name="Google Shape;1741;p112"/>
          <p:cNvSpPr txBox="1"/>
          <p:nvPr/>
        </p:nvSpPr>
        <p:spPr>
          <a:xfrm>
            <a:off x="1980975" y="4112733"/>
            <a:ext cx="8088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21/22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2" name="Google Shape;1742;p112"/>
          <p:cNvSpPr txBox="1"/>
          <p:nvPr/>
        </p:nvSpPr>
        <p:spPr>
          <a:xfrm>
            <a:off x="1295175" y="4112733"/>
            <a:ext cx="8088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20/21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3" name="Google Shape;1743;p112"/>
          <p:cNvSpPr txBox="1"/>
          <p:nvPr>
            <p:ph idx="1" type="body"/>
          </p:nvPr>
        </p:nvSpPr>
        <p:spPr>
          <a:xfrm>
            <a:off x="4320000" y="1424200"/>
            <a:ext cx="4500000" cy="8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The school newspaper reports, ‘Only 50 pupils walked to school in the 2022/23 academic year’.  Is this supported by Alex’s chart? </a:t>
            </a:r>
            <a:endParaRPr sz="1800"/>
          </a:p>
        </p:txBody>
      </p:sp>
      <p:sp>
        <p:nvSpPr>
          <p:cNvPr id="1744" name="Google Shape;1744;p112"/>
          <p:cNvSpPr txBox="1"/>
          <p:nvPr>
            <p:ph idx="1" type="body"/>
          </p:nvPr>
        </p:nvSpPr>
        <p:spPr>
          <a:xfrm>
            <a:off x="4320000" y="3049250"/>
            <a:ext cx="4500000" cy="8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No.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axis is percentage of pupils who walk to school. 50% of pupils walk to school but we do not know how many pupils this is.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5" name="Google Shape;1745;p112"/>
          <p:cNvSpPr/>
          <p:nvPr/>
        </p:nvSpPr>
        <p:spPr>
          <a:xfrm>
            <a:off x="900427" y="1973900"/>
            <a:ext cx="375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p11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Misinterpreting graphs</a:t>
            </a:r>
            <a:endParaRPr/>
          </a:p>
        </p:txBody>
      </p:sp>
      <p:sp>
        <p:nvSpPr>
          <p:cNvPr id="1751" name="Google Shape;1751;p113"/>
          <p:cNvSpPr txBox="1"/>
          <p:nvPr>
            <p:ph idx="1" type="body"/>
          </p:nvPr>
        </p:nvSpPr>
        <p:spPr>
          <a:xfrm>
            <a:off x="324000" y="757240"/>
            <a:ext cx="8237700" cy="6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Alex drew this chart from data he collected about how pupils travel to school.  </a:t>
            </a:r>
            <a:endParaRPr sz="2000"/>
          </a:p>
        </p:txBody>
      </p:sp>
      <p:pic>
        <p:nvPicPr>
          <p:cNvPr id="1752" name="Google Shape;1752;p113"/>
          <p:cNvPicPr preferRelativeResize="0"/>
          <p:nvPr/>
        </p:nvPicPr>
        <p:blipFill rotWithShape="1">
          <a:blip r:embed="rId3">
            <a:alphaModFix/>
          </a:blip>
          <a:srcRect b="0" l="0" r="7097" t="2733"/>
          <a:stretch/>
        </p:blipFill>
        <p:spPr>
          <a:xfrm>
            <a:off x="1104550" y="1971050"/>
            <a:ext cx="2935125" cy="240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3" name="Google Shape;1753;p113"/>
          <p:cNvSpPr txBox="1"/>
          <p:nvPr/>
        </p:nvSpPr>
        <p:spPr>
          <a:xfrm>
            <a:off x="2292675" y="4384150"/>
            <a:ext cx="8088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year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4" name="Google Shape;1754;p113"/>
          <p:cNvSpPr/>
          <p:nvPr/>
        </p:nvSpPr>
        <p:spPr>
          <a:xfrm>
            <a:off x="900367" y="3645900"/>
            <a:ext cx="375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5" name="Google Shape;1755;p113"/>
          <p:cNvGrpSpPr/>
          <p:nvPr/>
        </p:nvGrpSpPr>
        <p:grpSpPr>
          <a:xfrm>
            <a:off x="1074637" y="1841421"/>
            <a:ext cx="3080476" cy="2529254"/>
            <a:chOff x="4667503" y="2040830"/>
            <a:chExt cx="2185200" cy="2465400"/>
          </a:xfrm>
        </p:grpSpPr>
        <p:cxnSp>
          <p:nvCxnSpPr>
            <p:cNvPr id="1756" name="Google Shape;1756;p113"/>
            <p:cNvCxnSpPr/>
            <p:nvPr/>
          </p:nvCxnSpPr>
          <p:spPr>
            <a:xfrm rot="10800000">
              <a:off x="4820745" y="2040830"/>
              <a:ext cx="0" cy="2465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57" name="Google Shape;1757;p113"/>
            <p:cNvCxnSpPr/>
            <p:nvPr/>
          </p:nvCxnSpPr>
          <p:spPr>
            <a:xfrm>
              <a:off x="4667503" y="4321393"/>
              <a:ext cx="2185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758" name="Google Shape;1758;p113"/>
          <p:cNvSpPr/>
          <p:nvPr/>
        </p:nvSpPr>
        <p:spPr>
          <a:xfrm>
            <a:off x="900367" y="3304102"/>
            <a:ext cx="375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9" name="Google Shape;1759;p113"/>
          <p:cNvSpPr/>
          <p:nvPr/>
        </p:nvSpPr>
        <p:spPr>
          <a:xfrm>
            <a:off x="900367" y="2620506"/>
            <a:ext cx="375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0" name="Google Shape;1760;p113"/>
          <p:cNvSpPr txBox="1"/>
          <p:nvPr/>
        </p:nvSpPr>
        <p:spPr>
          <a:xfrm>
            <a:off x="1560729" y="2653639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1" name="Google Shape;1761;p113"/>
          <p:cNvSpPr/>
          <p:nvPr/>
        </p:nvSpPr>
        <p:spPr>
          <a:xfrm>
            <a:off x="900367" y="2962304"/>
            <a:ext cx="375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2" name="Google Shape;1762;p113"/>
          <p:cNvSpPr/>
          <p:nvPr/>
        </p:nvSpPr>
        <p:spPr>
          <a:xfrm>
            <a:off x="900427" y="2278700"/>
            <a:ext cx="375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3" name="Google Shape;1763;p113"/>
          <p:cNvSpPr txBox="1"/>
          <p:nvPr/>
        </p:nvSpPr>
        <p:spPr>
          <a:xfrm rot="-5400000">
            <a:off x="-497700" y="2740825"/>
            <a:ext cx="21153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Percentage of pupils who walk to school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4" name="Google Shape;1764;p113"/>
          <p:cNvSpPr txBox="1"/>
          <p:nvPr/>
        </p:nvSpPr>
        <p:spPr>
          <a:xfrm>
            <a:off x="2268202" y="213187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5" name="Google Shape;1765;p113"/>
          <p:cNvSpPr txBox="1"/>
          <p:nvPr/>
        </p:nvSpPr>
        <p:spPr>
          <a:xfrm>
            <a:off x="2960916" y="2318841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6" name="Google Shape;1766;p113"/>
          <p:cNvSpPr txBox="1"/>
          <p:nvPr/>
        </p:nvSpPr>
        <p:spPr>
          <a:xfrm>
            <a:off x="3660534" y="2825046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67" name="Google Shape;1767;p113"/>
          <p:cNvCxnSpPr/>
          <p:nvPr/>
        </p:nvCxnSpPr>
        <p:spPr>
          <a:xfrm flipH="1" rot="10800000">
            <a:off x="1644842" y="2260301"/>
            <a:ext cx="702000" cy="505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8" name="Google Shape;1768;p113"/>
          <p:cNvCxnSpPr/>
          <p:nvPr/>
        </p:nvCxnSpPr>
        <p:spPr>
          <a:xfrm>
            <a:off x="2346816" y="2240241"/>
            <a:ext cx="700500" cy="199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9" name="Google Shape;1769;p113"/>
          <p:cNvCxnSpPr/>
          <p:nvPr/>
        </p:nvCxnSpPr>
        <p:spPr>
          <a:xfrm>
            <a:off x="3047314" y="2434211"/>
            <a:ext cx="697200" cy="519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0" name="Google Shape;1770;p113"/>
          <p:cNvSpPr txBox="1"/>
          <p:nvPr/>
        </p:nvSpPr>
        <p:spPr>
          <a:xfrm>
            <a:off x="3366375" y="4119475"/>
            <a:ext cx="8088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23/24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1" name="Google Shape;1771;p113"/>
          <p:cNvSpPr txBox="1"/>
          <p:nvPr/>
        </p:nvSpPr>
        <p:spPr>
          <a:xfrm>
            <a:off x="2666775" y="4105820"/>
            <a:ext cx="8088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22/23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2" name="Google Shape;1772;p113"/>
          <p:cNvSpPr txBox="1"/>
          <p:nvPr/>
        </p:nvSpPr>
        <p:spPr>
          <a:xfrm>
            <a:off x="1980975" y="4112733"/>
            <a:ext cx="8088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21/22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3" name="Google Shape;1773;p113"/>
          <p:cNvSpPr txBox="1"/>
          <p:nvPr/>
        </p:nvSpPr>
        <p:spPr>
          <a:xfrm>
            <a:off x="1295175" y="4112733"/>
            <a:ext cx="8088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20/21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4" name="Google Shape;1774;p113"/>
          <p:cNvSpPr txBox="1"/>
          <p:nvPr>
            <p:ph idx="1" type="body"/>
          </p:nvPr>
        </p:nvSpPr>
        <p:spPr>
          <a:xfrm>
            <a:off x="4175175" y="2825050"/>
            <a:ext cx="4500000" cy="180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chart does seem to show a decrease in the percentage of pupils walking to school, however this chart only goes back as far as 2020 so it is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inaccurate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to claim that fewer people walk now than ‘in the past’.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5" name="Google Shape;1775;p113"/>
          <p:cNvSpPr txBox="1"/>
          <p:nvPr>
            <p:ph idx="1" type="body"/>
          </p:nvPr>
        </p:nvSpPr>
        <p:spPr>
          <a:xfrm>
            <a:off x="4175175" y="1388000"/>
            <a:ext cx="4500000" cy="8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The headline of the article states, ‘Fewer young people choose to walk to school now than in the past’. Is this supported by Alex’s chart?</a:t>
            </a:r>
            <a:endParaRPr sz="1800"/>
          </a:p>
        </p:txBody>
      </p:sp>
      <p:sp>
        <p:nvSpPr>
          <p:cNvPr id="1776" name="Google Shape;1776;p113"/>
          <p:cNvSpPr/>
          <p:nvPr/>
        </p:nvSpPr>
        <p:spPr>
          <a:xfrm>
            <a:off x="900427" y="1973900"/>
            <a:ext cx="375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0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p114"/>
          <p:cNvSpPr txBox="1"/>
          <p:nvPr>
            <p:ph idx="1" type="body"/>
          </p:nvPr>
        </p:nvSpPr>
        <p:spPr>
          <a:xfrm>
            <a:off x="324000" y="759300"/>
            <a:ext cx="3747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This time series graph shows the number of shark attacks and the number of heat stroke sufferers throughout the year. </a:t>
            </a:r>
            <a:endParaRPr sz="1800"/>
          </a:p>
        </p:txBody>
      </p:sp>
      <p:sp>
        <p:nvSpPr>
          <p:cNvPr id="1782" name="Google Shape;1782;p11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Misinterpreting graphs</a:t>
            </a:r>
            <a:endParaRPr/>
          </a:p>
        </p:txBody>
      </p:sp>
      <p:grpSp>
        <p:nvGrpSpPr>
          <p:cNvPr id="1783" name="Google Shape;1783;p114"/>
          <p:cNvGrpSpPr/>
          <p:nvPr/>
        </p:nvGrpSpPr>
        <p:grpSpPr>
          <a:xfrm>
            <a:off x="4129425" y="631375"/>
            <a:ext cx="5175275" cy="2721925"/>
            <a:chOff x="4129425" y="631375"/>
            <a:chExt cx="5175275" cy="2721925"/>
          </a:xfrm>
        </p:grpSpPr>
        <p:pic>
          <p:nvPicPr>
            <p:cNvPr id="1784" name="Google Shape;1784;p1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30300" y="886250"/>
              <a:ext cx="4079026" cy="24670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785" name="Google Shape;1785;p114"/>
            <p:cNvCxnSpPr/>
            <p:nvPr/>
          </p:nvCxnSpPr>
          <p:spPr>
            <a:xfrm>
              <a:off x="4375537" y="2909025"/>
              <a:ext cx="38820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86" name="Google Shape;1786;p114"/>
            <p:cNvCxnSpPr/>
            <p:nvPr/>
          </p:nvCxnSpPr>
          <p:spPr>
            <a:xfrm rot="10800000">
              <a:off x="4375537" y="755300"/>
              <a:ext cx="0" cy="21654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87" name="Google Shape;1787;p114"/>
            <p:cNvSpPr/>
            <p:nvPr/>
          </p:nvSpPr>
          <p:spPr>
            <a:xfrm>
              <a:off x="4129425" y="917300"/>
              <a:ext cx="220500" cy="20979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8" name="Google Shape;1788;p114"/>
            <p:cNvSpPr txBox="1"/>
            <p:nvPr/>
          </p:nvSpPr>
          <p:spPr>
            <a:xfrm>
              <a:off x="4434755" y="2380239"/>
              <a:ext cx="2205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✖</a:t>
              </a:r>
              <a:endParaRPr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9" name="Google Shape;1789;p114"/>
            <p:cNvSpPr txBox="1"/>
            <p:nvPr/>
          </p:nvSpPr>
          <p:spPr>
            <a:xfrm>
              <a:off x="4755991" y="2227839"/>
              <a:ext cx="2205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✖</a:t>
              </a:r>
              <a:endParaRPr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0" name="Google Shape;1790;p114"/>
            <p:cNvSpPr txBox="1"/>
            <p:nvPr/>
          </p:nvSpPr>
          <p:spPr>
            <a:xfrm>
              <a:off x="5057055" y="2006710"/>
              <a:ext cx="2205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✖</a:t>
              </a:r>
              <a:endParaRPr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1" name="Google Shape;1791;p114"/>
            <p:cNvSpPr txBox="1"/>
            <p:nvPr/>
          </p:nvSpPr>
          <p:spPr>
            <a:xfrm>
              <a:off x="5373061" y="1625710"/>
              <a:ext cx="2205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✖</a:t>
              </a:r>
              <a:endParaRPr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2" name="Google Shape;1792;p114"/>
            <p:cNvSpPr txBox="1"/>
            <p:nvPr/>
          </p:nvSpPr>
          <p:spPr>
            <a:xfrm>
              <a:off x="5696538" y="1545775"/>
              <a:ext cx="2205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✖</a:t>
              </a:r>
              <a:endParaRPr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3" name="Google Shape;1793;p114"/>
            <p:cNvSpPr txBox="1"/>
            <p:nvPr/>
          </p:nvSpPr>
          <p:spPr>
            <a:xfrm>
              <a:off x="6001338" y="1012375"/>
              <a:ext cx="2205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✖</a:t>
              </a:r>
              <a:endParaRPr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4" name="Google Shape;1794;p114"/>
            <p:cNvSpPr txBox="1"/>
            <p:nvPr/>
          </p:nvSpPr>
          <p:spPr>
            <a:xfrm>
              <a:off x="6382338" y="856239"/>
              <a:ext cx="2205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✖</a:t>
              </a:r>
              <a:endParaRPr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5" name="Google Shape;1795;p114"/>
            <p:cNvSpPr txBox="1"/>
            <p:nvPr/>
          </p:nvSpPr>
          <p:spPr>
            <a:xfrm>
              <a:off x="6618408" y="780039"/>
              <a:ext cx="2205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✖</a:t>
              </a:r>
              <a:endParaRPr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6" name="Google Shape;1796;p114"/>
            <p:cNvSpPr txBox="1"/>
            <p:nvPr/>
          </p:nvSpPr>
          <p:spPr>
            <a:xfrm>
              <a:off x="6923208" y="1237239"/>
              <a:ext cx="2205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✖</a:t>
              </a:r>
              <a:endParaRPr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7" name="Google Shape;1797;p114"/>
            <p:cNvSpPr txBox="1"/>
            <p:nvPr/>
          </p:nvSpPr>
          <p:spPr>
            <a:xfrm>
              <a:off x="7228008" y="1846839"/>
              <a:ext cx="2205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✖</a:t>
              </a:r>
              <a:endParaRPr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8" name="Google Shape;1798;p114"/>
            <p:cNvSpPr txBox="1"/>
            <p:nvPr/>
          </p:nvSpPr>
          <p:spPr>
            <a:xfrm>
              <a:off x="7609008" y="2304039"/>
              <a:ext cx="2205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✖</a:t>
              </a:r>
              <a:endParaRPr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9" name="Google Shape;1799;p114"/>
            <p:cNvSpPr txBox="1"/>
            <p:nvPr/>
          </p:nvSpPr>
          <p:spPr>
            <a:xfrm>
              <a:off x="7895132" y="2398916"/>
              <a:ext cx="2205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✖</a:t>
              </a:r>
              <a:endParaRPr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00" name="Google Shape;1800;p114"/>
            <p:cNvCxnSpPr/>
            <p:nvPr/>
          </p:nvCxnSpPr>
          <p:spPr>
            <a:xfrm flipH="1" rot="10800000">
              <a:off x="4515242" y="2359201"/>
              <a:ext cx="321300" cy="1527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1" name="Google Shape;1801;p114"/>
            <p:cNvCxnSpPr/>
            <p:nvPr/>
          </p:nvCxnSpPr>
          <p:spPr>
            <a:xfrm flipH="1" rot="10800000">
              <a:off x="4855117" y="2131201"/>
              <a:ext cx="283800" cy="2280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2" name="Google Shape;1802;p114"/>
            <p:cNvCxnSpPr/>
            <p:nvPr/>
          </p:nvCxnSpPr>
          <p:spPr>
            <a:xfrm flipH="1" rot="10800000">
              <a:off x="5138917" y="1750201"/>
              <a:ext cx="317400" cy="3810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3" name="Google Shape;1803;p114"/>
            <p:cNvCxnSpPr/>
            <p:nvPr/>
          </p:nvCxnSpPr>
          <p:spPr>
            <a:xfrm flipH="1" rot="10800000">
              <a:off x="5456317" y="1664401"/>
              <a:ext cx="328800" cy="858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4" name="Google Shape;1804;p114"/>
            <p:cNvCxnSpPr/>
            <p:nvPr/>
          </p:nvCxnSpPr>
          <p:spPr>
            <a:xfrm flipH="1" rot="10800000">
              <a:off x="5785117" y="1134001"/>
              <a:ext cx="306300" cy="5304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5" name="Google Shape;1805;p114"/>
            <p:cNvCxnSpPr/>
            <p:nvPr/>
          </p:nvCxnSpPr>
          <p:spPr>
            <a:xfrm flipH="1" rot="10800000">
              <a:off x="6091417" y="980751"/>
              <a:ext cx="384900" cy="1707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6" name="Google Shape;1806;p114"/>
            <p:cNvCxnSpPr/>
            <p:nvPr/>
          </p:nvCxnSpPr>
          <p:spPr>
            <a:xfrm flipH="1" rot="10800000">
              <a:off x="6476317" y="902301"/>
              <a:ext cx="235200" cy="693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7" name="Google Shape;1807;p114"/>
            <p:cNvCxnSpPr/>
            <p:nvPr/>
          </p:nvCxnSpPr>
          <p:spPr>
            <a:xfrm>
              <a:off x="6711517" y="902301"/>
              <a:ext cx="291300" cy="4593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8" name="Google Shape;1808;p114"/>
            <p:cNvCxnSpPr/>
            <p:nvPr/>
          </p:nvCxnSpPr>
          <p:spPr>
            <a:xfrm>
              <a:off x="7002817" y="1361601"/>
              <a:ext cx="310200" cy="6126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9" name="Google Shape;1809;p114"/>
            <p:cNvCxnSpPr/>
            <p:nvPr/>
          </p:nvCxnSpPr>
          <p:spPr>
            <a:xfrm>
              <a:off x="7298792" y="1966251"/>
              <a:ext cx="395100" cy="4674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0" name="Google Shape;1810;p114"/>
            <p:cNvCxnSpPr/>
            <p:nvPr/>
          </p:nvCxnSpPr>
          <p:spPr>
            <a:xfrm>
              <a:off x="7693892" y="2433651"/>
              <a:ext cx="298800" cy="1011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11" name="Google Shape;1811;p114"/>
            <p:cNvSpPr txBox="1"/>
            <p:nvPr/>
          </p:nvSpPr>
          <p:spPr>
            <a:xfrm>
              <a:off x="4434755" y="2532639"/>
              <a:ext cx="2205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accent2"/>
                  </a:solidFill>
                  <a:latin typeface="Lexend"/>
                  <a:ea typeface="Lexend"/>
                  <a:cs typeface="Lexend"/>
                  <a:sym typeface="Lexend"/>
                </a:rPr>
                <a:t>✖</a:t>
              </a:r>
              <a:endParaRPr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2" name="Google Shape;1812;p114"/>
            <p:cNvSpPr txBox="1"/>
            <p:nvPr/>
          </p:nvSpPr>
          <p:spPr>
            <a:xfrm>
              <a:off x="4743291" y="2532639"/>
              <a:ext cx="2205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accent2"/>
                  </a:solidFill>
                  <a:latin typeface="Lexend"/>
                  <a:ea typeface="Lexend"/>
                  <a:cs typeface="Lexend"/>
                  <a:sym typeface="Lexend"/>
                </a:rPr>
                <a:t>✖</a:t>
              </a:r>
              <a:endParaRPr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3" name="Google Shape;1813;p114"/>
            <p:cNvSpPr txBox="1"/>
            <p:nvPr/>
          </p:nvSpPr>
          <p:spPr>
            <a:xfrm>
              <a:off x="5048091" y="2380239"/>
              <a:ext cx="2205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accent2"/>
                  </a:solidFill>
                  <a:latin typeface="Lexend"/>
                  <a:ea typeface="Lexend"/>
                  <a:cs typeface="Lexend"/>
                  <a:sym typeface="Lexend"/>
                </a:rPr>
                <a:t>✖</a:t>
              </a:r>
              <a:endParaRPr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4" name="Google Shape;1814;p114"/>
            <p:cNvSpPr txBox="1"/>
            <p:nvPr/>
          </p:nvSpPr>
          <p:spPr>
            <a:xfrm>
              <a:off x="5352891" y="1923039"/>
              <a:ext cx="2205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accent2"/>
                  </a:solidFill>
                  <a:latin typeface="Lexend"/>
                  <a:ea typeface="Lexend"/>
                  <a:cs typeface="Lexend"/>
                  <a:sym typeface="Lexend"/>
                </a:rPr>
                <a:t>✖</a:t>
              </a:r>
              <a:endParaRPr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5" name="Google Shape;1815;p114"/>
            <p:cNvSpPr txBox="1"/>
            <p:nvPr/>
          </p:nvSpPr>
          <p:spPr>
            <a:xfrm>
              <a:off x="5657691" y="1389639"/>
              <a:ext cx="2205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accent2"/>
                  </a:solidFill>
                  <a:latin typeface="Lexend"/>
                  <a:ea typeface="Lexend"/>
                  <a:cs typeface="Lexend"/>
                  <a:sym typeface="Lexend"/>
                </a:rPr>
                <a:t>✖</a:t>
              </a:r>
              <a:endParaRPr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6" name="Google Shape;1816;p114"/>
            <p:cNvSpPr txBox="1"/>
            <p:nvPr/>
          </p:nvSpPr>
          <p:spPr>
            <a:xfrm>
              <a:off x="6038691" y="1088575"/>
              <a:ext cx="2205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accent2"/>
                  </a:solidFill>
                  <a:latin typeface="Lexend"/>
                  <a:ea typeface="Lexend"/>
                  <a:cs typeface="Lexend"/>
                  <a:sym typeface="Lexend"/>
                </a:rPr>
                <a:t>✖</a:t>
              </a:r>
              <a:endParaRPr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7" name="Google Shape;1817;p114"/>
            <p:cNvSpPr txBox="1"/>
            <p:nvPr/>
          </p:nvSpPr>
          <p:spPr>
            <a:xfrm>
              <a:off x="6382338" y="707575"/>
              <a:ext cx="2205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accent2"/>
                  </a:solidFill>
                  <a:latin typeface="Lexend"/>
                  <a:ea typeface="Lexend"/>
                  <a:cs typeface="Lexend"/>
                  <a:sym typeface="Lexend"/>
                </a:rPr>
                <a:t>✖</a:t>
              </a:r>
              <a:endParaRPr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8" name="Google Shape;1818;p114"/>
            <p:cNvSpPr txBox="1"/>
            <p:nvPr/>
          </p:nvSpPr>
          <p:spPr>
            <a:xfrm>
              <a:off x="6625879" y="631375"/>
              <a:ext cx="2205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accent2"/>
                  </a:solidFill>
                  <a:latin typeface="Lexend"/>
                  <a:ea typeface="Lexend"/>
                  <a:cs typeface="Lexend"/>
                  <a:sym typeface="Lexend"/>
                </a:rPr>
                <a:t>✖</a:t>
              </a:r>
              <a:endParaRPr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9" name="Google Shape;1819;p114"/>
            <p:cNvSpPr txBox="1"/>
            <p:nvPr/>
          </p:nvSpPr>
          <p:spPr>
            <a:xfrm>
              <a:off x="6935908" y="1031051"/>
              <a:ext cx="2205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accent2"/>
                  </a:solidFill>
                  <a:latin typeface="Lexend"/>
                  <a:ea typeface="Lexend"/>
                  <a:cs typeface="Lexend"/>
                  <a:sym typeface="Lexend"/>
                </a:rPr>
                <a:t>✖</a:t>
              </a:r>
              <a:endParaRPr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0" name="Google Shape;1820;p114"/>
            <p:cNvSpPr txBox="1"/>
            <p:nvPr/>
          </p:nvSpPr>
          <p:spPr>
            <a:xfrm>
              <a:off x="7240708" y="1564451"/>
              <a:ext cx="2205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accent2"/>
                  </a:solidFill>
                  <a:latin typeface="Lexend"/>
                  <a:ea typeface="Lexend"/>
                  <a:cs typeface="Lexend"/>
                  <a:sym typeface="Lexend"/>
                </a:rPr>
                <a:t>✖</a:t>
              </a:r>
              <a:endParaRPr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1" name="Google Shape;1821;p114"/>
            <p:cNvSpPr txBox="1"/>
            <p:nvPr/>
          </p:nvSpPr>
          <p:spPr>
            <a:xfrm>
              <a:off x="7621708" y="2543845"/>
              <a:ext cx="2205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accent2"/>
                  </a:solidFill>
                  <a:latin typeface="Lexend"/>
                  <a:ea typeface="Lexend"/>
                  <a:cs typeface="Lexend"/>
                  <a:sym typeface="Lexend"/>
                </a:rPr>
                <a:t>✖</a:t>
              </a:r>
              <a:endParaRPr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2" name="Google Shape;1822;p114"/>
            <p:cNvSpPr txBox="1"/>
            <p:nvPr/>
          </p:nvSpPr>
          <p:spPr>
            <a:xfrm>
              <a:off x="7904096" y="2555051"/>
              <a:ext cx="2205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accent2"/>
                  </a:solidFill>
                  <a:latin typeface="Lexend"/>
                  <a:ea typeface="Lexend"/>
                  <a:cs typeface="Lexend"/>
                  <a:sym typeface="Lexend"/>
                </a:rPr>
                <a:t>✖</a:t>
              </a:r>
              <a:endParaRPr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23" name="Google Shape;1823;p114"/>
            <p:cNvCxnSpPr/>
            <p:nvPr/>
          </p:nvCxnSpPr>
          <p:spPr>
            <a:xfrm>
              <a:off x="4515242" y="2658951"/>
              <a:ext cx="317400" cy="27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4" name="Google Shape;1824;p114"/>
            <p:cNvCxnSpPr/>
            <p:nvPr/>
          </p:nvCxnSpPr>
          <p:spPr>
            <a:xfrm flipH="1" rot="10800000">
              <a:off x="4821517" y="2504801"/>
              <a:ext cx="317400" cy="148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5" name="Google Shape;1825;p114"/>
            <p:cNvCxnSpPr/>
            <p:nvPr/>
          </p:nvCxnSpPr>
          <p:spPr>
            <a:xfrm flipH="1" rot="10800000">
              <a:off x="5112117" y="2045401"/>
              <a:ext cx="325800" cy="4644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6" name="Google Shape;1826;p114"/>
            <p:cNvCxnSpPr/>
            <p:nvPr/>
          </p:nvCxnSpPr>
          <p:spPr>
            <a:xfrm flipH="1" rot="10800000">
              <a:off x="5437917" y="1518551"/>
              <a:ext cx="298800" cy="510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7" name="Google Shape;1827;p114"/>
            <p:cNvCxnSpPr/>
            <p:nvPr/>
          </p:nvCxnSpPr>
          <p:spPr>
            <a:xfrm flipH="1" rot="10800000">
              <a:off x="5736717" y="1201251"/>
              <a:ext cx="399600" cy="2898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8" name="Google Shape;1828;p114"/>
            <p:cNvCxnSpPr/>
            <p:nvPr/>
          </p:nvCxnSpPr>
          <p:spPr>
            <a:xfrm flipH="1" rot="10800000">
              <a:off x="6121792" y="842601"/>
              <a:ext cx="343200" cy="3684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9" name="Google Shape;1829;p114"/>
            <p:cNvCxnSpPr/>
            <p:nvPr/>
          </p:nvCxnSpPr>
          <p:spPr>
            <a:xfrm flipH="1" rot="10800000">
              <a:off x="6470625" y="738996"/>
              <a:ext cx="246600" cy="861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0" name="Google Shape;1830;p114"/>
            <p:cNvCxnSpPr/>
            <p:nvPr/>
          </p:nvCxnSpPr>
          <p:spPr>
            <a:xfrm>
              <a:off x="6704025" y="767850"/>
              <a:ext cx="313800" cy="3921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1" name="Google Shape;1831;p114"/>
            <p:cNvCxnSpPr/>
            <p:nvPr/>
          </p:nvCxnSpPr>
          <p:spPr>
            <a:xfrm>
              <a:off x="7021525" y="1156300"/>
              <a:ext cx="306300" cy="5454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2" name="Google Shape;1832;p114"/>
            <p:cNvCxnSpPr/>
            <p:nvPr/>
          </p:nvCxnSpPr>
          <p:spPr>
            <a:xfrm>
              <a:off x="7327825" y="1693550"/>
              <a:ext cx="377400" cy="9756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3" name="Google Shape;1833;p114"/>
            <p:cNvCxnSpPr/>
            <p:nvPr/>
          </p:nvCxnSpPr>
          <p:spPr>
            <a:xfrm>
              <a:off x="7691650" y="2658950"/>
              <a:ext cx="308400" cy="138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34" name="Google Shape;1834;p114"/>
            <p:cNvSpPr txBox="1"/>
            <p:nvPr/>
          </p:nvSpPr>
          <p:spPr>
            <a:xfrm>
              <a:off x="7947365" y="754658"/>
              <a:ext cx="2205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✖</a:t>
              </a:r>
              <a:endParaRPr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35" name="Google Shape;1835;p114"/>
            <p:cNvCxnSpPr/>
            <p:nvPr/>
          </p:nvCxnSpPr>
          <p:spPr>
            <a:xfrm>
              <a:off x="7857492" y="880658"/>
              <a:ext cx="3936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36" name="Google Shape;1836;p114"/>
            <p:cNvSpPr txBox="1"/>
            <p:nvPr/>
          </p:nvSpPr>
          <p:spPr>
            <a:xfrm>
              <a:off x="8006440" y="1496858"/>
              <a:ext cx="2205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accent2"/>
                  </a:solidFill>
                  <a:latin typeface="Lexend"/>
                  <a:ea typeface="Lexend"/>
                  <a:cs typeface="Lexend"/>
                  <a:sym typeface="Lexend"/>
                </a:rPr>
                <a:t>✖</a:t>
              </a:r>
              <a:endParaRPr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37" name="Google Shape;1837;p114"/>
            <p:cNvCxnSpPr/>
            <p:nvPr/>
          </p:nvCxnSpPr>
          <p:spPr>
            <a:xfrm>
              <a:off x="7881847" y="1622858"/>
              <a:ext cx="406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38" name="Google Shape;1838;p114"/>
            <p:cNvSpPr txBox="1"/>
            <p:nvPr/>
          </p:nvSpPr>
          <p:spPr>
            <a:xfrm>
              <a:off x="7694150" y="868325"/>
              <a:ext cx="1235700" cy="40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Shark attacks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9" name="Google Shape;1839;p114"/>
            <p:cNvSpPr txBox="1"/>
            <p:nvPr/>
          </p:nvSpPr>
          <p:spPr>
            <a:xfrm>
              <a:off x="7659200" y="1573413"/>
              <a:ext cx="1645500" cy="40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Cases of heatstroke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40" name="Google Shape;1840;p1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35829" y="3754725"/>
            <a:ext cx="653349" cy="8069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1" name="Google Shape;1841;p114"/>
          <p:cNvSpPr txBox="1"/>
          <p:nvPr/>
        </p:nvSpPr>
        <p:spPr>
          <a:xfrm flipH="1">
            <a:off x="292350" y="4498726"/>
            <a:ext cx="10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42" name="Google Shape;1842;p114"/>
          <p:cNvGrpSpPr/>
          <p:nvPr/>
        </p:nvGrpSpPr>
        <p:grpSpPr>
          <a:xfrm>
            <a:off x="840653" y="1877700"/>
            <a:ext cx="3331175" cy="2308698"/>
            <a:chOff x="1622589" y="1504158"/>
            <a:chExt cx="2086287" cy="1182492"/>
          </a:xfrm>
        </p:grpSpPr>
        <p:pic>
          <p:nvPicPr>
            <p:cNvPr id="1843" name="Google Shape;1843;p114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622589" y="1504158"/>
              <a:ext cx="2086287" cy="11824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4" name="Google Shape;1844;p114"/>
            <p:cNvSpPr txBox="1"/>
            <p:nvPr/>
          </p:nvSpPr>
          <p:spPr>
            <a:xfrm flipH="1">
              <a:off x="1760949" y="1734886"/>
              <a:ext cx="1863300" cy="65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more shark attacks there are the less likely people are to go in the sea so they are more likely to get heat stroke. Shark attacks cause heat stroke!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45" name="Google Shape;1845;p114"/>
          <p:cNvSpPr txBox="1"/>
          <p:nvPr>
            <p:ph idx="1" type="body"/>
          </p:nvPr>
        </p:nvSpPr>
        <p:spPr>
          <a:xfrm>
            <a:off x="4130300" y="3356175"/>
            <a:ext cx="4500000" cy="36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Does the graph support the claim that shark attacks cause heat stroke? </a:t>
            </a:r>
            <a:endParaRPr sz="1800"/>
          </a:p>
        </p:txBody>
      </p:sp>
      <p:sp>
        <p:nvSpPr>
          <p:cNvPr id="1846" name="Google Shape;1846;p114"/>
          <p:cNvSpPr txBox="1"/>
          <p:nvPr>
            <p:ph idx="1" type="body"/>
          </p:nvPr>
        </p:nvSpPr>
        <p:spPr>
          <a:xfrm>
            <a:off x="1869975" y="3940350"/>
            <a:ext cx="6855300" cy="54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These variables follow a similar pattern but this does not mean that one causes the other. This could be a coincidence or both could be influenced by a third factor.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0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p115"/>
          <p:cNvSpPr txBox="1"/>
          <p:nvPr>
            <p:ph idx="1" type="body"/>
          </p:nvPr>
        </p:nvSpPr>
        <p:spPr>
          <a:xfrm>
            <a:off x="324000" y="759300"/>
            <a:ext cx="36621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This time series graph shows the number of shark attacks and the number of heat stroke sufferers throughout the year. </a:t>
            </a:r>
            <a:endParaRPr sz="1800"/>
          </a:p>
        </p:txBody>
      </p:sp>
      <p:sp>
        <p:nvSpPr>
          <p:cNvPr id="1852" name="Google Shape;1852;p11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Misinterpreting graphs</a:t>
            </a:r>
            <a:endParaRPr/>
          </a:p>
        </p:txBody>
      </p:sp>
      <p:pic>
        <p:nvPicPr>
          <p:cNvPr id="1853" name="Google Shape;1853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0300" y="886250"/>
            <a:ext cx="4079026" cy="2467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54" name="Google Shape;1854;p115"/>
          <p:cNvCxnSpPr/>
          <p:nvPr/>
        </p:nvCxnSpPr>
        <p:spPr>
          <a:xfrm>
            <a:off x="4375537" y="2909025"/>
            <a:ext cx="3882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5" name="Google Shape;1855;p115"/>
          <p:cNvCxnSpPr/>
          <p:nvPr/>
        </p:nvCxnSpPr>
        <p:spPr>
          <a:xfrm rot="10800000">
            <a:off x="4375537" y="755300"/>
            <a:ext cx="0" cy="2165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56" name="Google Shape;1856;p115"/>
          <p:cNvSpPr/>
          <p:nvPr/>
        </p:nvSpPr>
        <p:spPr>
          <a:xfrm>
            <a:off x="4158275" y="917300"/>
            <a:ext cx="191700" cy="2097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7" name="Google Shape;1857;p115"/>
          <p:cNvSpPr txBox="1"/>
          <p:nvPr/>
        </p:nvSpPr>
        <p:spPr>
          <a:xfrm>
            <a:off x="4434755" y="2380239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8" name="Google Shape;1858;p115"/>
          <p:cNvSpPr txBox="1"/>
          <p:nvPr/>
        </p:nvSpPr>
        <p:spPr>
          <a:xfrm>
            <a:off x="4755991" y="2227839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9" name="Google Shape;1859;p115"/>
          <p:cNvSpPr txBox="1"/>
          <p:nvPr/>
        </p:nvSpPr>
        <p:spPr>
          <a:xfrm>
            <a:off x="5057055" y="2006710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0" name="Google Shape;1860;p115"/>
          <p:cNvSpPr txBox="1"/>
          <p:nvPr/>
        </p:nvSpPr>
        <p:spPr>
          <a:xfrm>
            <a:off x="5373061" y="1625710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1" name="Google Shape;1861;p115"/>
          <p:cNvSpPr txBox="1"/>
          <p:nvPr/>
        </p:nvSpPr>
        <p:spPr>
          <a:xfrm>
            <a:off x="5696538" y="1545775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2" name="Google Shape;1862;p115"/>
          <p:cNvSpPr txBox="1"/>
          <p:nvPr/>
        </p:nvSpPr>
        <p:spPr>
          <a:xfrm>
            <a:off x="6001338" y="1012375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3" name="Google Shape;1863;p115"/>
          <p:cNvSpPr txBox="1"/>
          <p:nvPr/>
        </p:nvSpPr>
        <p:spPr>
          <a:xfrm>
            <a:off x="6382338" y="856239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4" name="Google Shape;1864;p115"/>
          <p:cNvSpPr txBox="1"/>
          <p:nvPr/>
        </p:nvSpPr>
        <p:spPr>
          <a:xfrm>
            <a:off x="6618408" y="780039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5" name="Google Shape;1865;p115"/>
          <p:cNvSpPr txBox="1"/>
          <p:nvPr/>
        </p:nvSpPr>
        <p:spPr>
          <a:xfrm>
            <a:off x="6923208" y="1237239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6" name="Google Shape;1866;p115"/>
          <p:cNvSpPr txBox="1"/>
          <p:nvPr/>
        </p:nvSpPr>
        <p:spPr>
          <a:xfrm>
            <a:off x="7228008" y="1846839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7" name="Google Shape;1867;p115"/>
          <p:cNvSpPr txBox="1"/>
          <p:nvPr/>
        </p:nvSpPr>
        <p:spPr>
          <a:xfrm>
            <a:off x="7609008" y="2304039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8" name="Google Shape;1868;p115"/>
          <p:cNvSpPr txBox="1"/>
          <p:nvPr/>
        </p:nvSpPr>
        <p:spPr>
          <a:xfrm>
            <a:off x="7895132" y="2398916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69" name="Google Shape;1869;p115"/>
          <p:cNvCxnSpPr/>
          <p:nvPr/>
        </p:nvCxnSpPr>
        <p:spPr>
          <a:xfrm flipH="1" rot="10800000">
            <a:off x="4515242" y="2359201"/>
            <a:ext cx="321300" cy="1527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0" name="Google Shape;1870;p115"/>
          <p:cNvCxnSpPr/>
          <p:nvPr/>
        </p:nvCxnSpPr>
        <p:spPr>
          <a:xfrm flipH="1" rot="10800000">
            <a:off x="4855117" y="2131201"/>
            <a:ext cx="283800" cy="2280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1" name="Google Shape;1871;p115"/>
          <p:cNvCxnSpPr/>
          <p:nvPr/>
        </p:nvCxnSpPr>
        <p:spPr>
          <a:xfrm flipH="1" rot="10800000">
            <a:off x="5138917" y="1750201"/>
            <a:ext cx="317400" cy="3810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2" name="Google Shape;1872;p115"/>
          <p:cNvCxnSpPr/>
          <p:nvPr/>
        </p:nvCxnSpPr>
        <p:spPr>
          <a:xfrm flipH="1" rot="10800000">
            <a:off x="5456317" y="1664401"/>
            <a:ext cx="328800" cy="85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3" name="Google Shape;1873;p115"/>
          <p:cNvCxnSpPr/>
          <p:nvPr/>
        </p:nvCxnSpPr>
        <p:spPr>
          <a:xfrm flipH="1" rot="10800000">
            <a:off x="5785117" y="1134001"/>
            <a:ext cx="306300" cy="530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4" name="Google Shape;1874;p115"/>
          <p:cNvCxnSpPr/>
          <p:nvPr/>
        </p:nvCxnSpPr>
        <p:spPr>
          <a:xfrm flipH="1" rot="10800000">
            <a:off x="6091417" y="980751"/>
            <a:ext cx="384900" cy="1707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5" name="Google Shape;1875;p115"/>
          <p:cNvCxnSpPr/>
          <p:nvPr/>
        </p:nvCxnSpPr>
        <p:spPr>
          <a:xfrm flipH="1" rot="10800000">
            <a:off x="6476317" y="902301"/>
            <a:ext cx="235200" cy="69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6" name="Google Shape;1876;p115"/>
          <p:cNvCxnSpPr/>
          <p:nvPr/>
        </p:nvCxnSpPr>
        <p:spPr>
          <a:xfrm>
            <a:off x="6711517" y="902301"/>
            <a:ext cx="291300" cy="459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7" name="Google Shape;1877;p115"/>
          <p:cNvCxnSpPr/>
          <p:nvPr/>
        </p:nvCxnSpPr>
        <p:spPr>
          <a:xfrm>
            <a:off x="7002817" y="1361601"/>
            <a:ext cx="310200" cy="6126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8" name="Google Shape;1878;p115"/>
          <p:cNvCxnSpPr/>
          <p:nvPr/>
        </p:nvCxnSpPr>
        <p:spPr>
          <a:xfrm>
            <a:off x="7298792" y="1966251"/>
            <a:ext cx="395100" cy="467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9" name="Google Shape;1879;p115"/>
          <p:cNvCxnSpPr/>
          <p:nvPr/>
        </p:nvCxnSpPr>
        <p:spPr>
          <a:xfrm>
            <a:off x="7693892" y="2433651"/>
            <a:ext cx="298800" cy="101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0" name="Google Shape;1880;p115"/>
          <p:cNvSpPr txBox="1"/>
          <p:nvPr/>
        </p:nvSpPr>
        <p:spPr>
          <a:xfrm>
            <a:off x="4434755" y="2532639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1" name="Google Shape;1881;p115"/>
          <p:cNvSpPr txBox="1"/>
          <p:nvPr/>
        </p:nvSpPr>
        <p:spPr>
          <a:xfrm>
            <a:off x="4743291" y="2532639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2" name="Google Shape;1882;p115"/>
          <p:cNvSpPr txBox="1"/>
          <p:nvPr/>
        </p:nvSpPr>
        <p:spPr>
          <a:xfrm>
            <a:off x="5048091" y="2380239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3" name="Google Shape;1883;p115"/>
          <p:cNvSpPr txBox="1"/>
          <p:nvPr/>
        </p:nvSpPr>
        <p:spPr>
          <a:xfrm>
            <a:off x="5352891" y="1923039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4" name="Google Shape;1884;p115"/>
          <p:cNvSpPr txBox="1"/>
          <p:nvPr/>
        </p:nvSpPr>
        <p:spPr>
          <a:xfrm>
            <a:off x="5657691" y="1389639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5" name="Google Shape;1885;p115"/>
          <p:cNvSpPr txBox="1"/>
          <p:nvPr/>
        </p:nvSpPr>
        <p:spPr>
          <a:xfrm>
            <a:off x="6038691" y="1088575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6" name="Google Shape;1886;p115"/>
          <p:cNvSpPr txBox="1"/>
          <p:nvPr/>
        </p:nvSpPr>
        <p:spPr>
          <a:xfrm>
            <a:off x="6382338" y="707575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7" name="Google Shape;1887;p115"/>
          <p:cNvSpPr txBox="1"/>
          <p:nvPr/>
        </p:nvSpPr>
        <p:spPr>
          <a:xfrm>
            <a:off x="6625879" y="631375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8" name="Google Shape;1888;p115"/>
          <p:cNvSpPr txBox="1"/>
          <p:nvPr/>
        </p:nvSpPr>
        <p:spPr>
          <a:xfrm>
            <a:off x="6935908" y="1031051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9" name="Google Shape;1889;p115"/>
          <p:cNvSpPr txBox="1"/>
          <p:nvPr/>
        </p:nvSpPr>
        <p:spPr>
          <a:xfrm>
            <a:off x="7240708" y="1564451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0" name="Google Shape;1890;p115"/>
          <p:cNvSpPr txBox="1"/>
          <p:nvPr/>
        </p:nvSpPr>
        <p:spPr>
          <a:xfrm>
            <a:off x="7621708" y="2543845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1" name="Google Shape;1891;p115"/>
          <p:cNvSpPr txBox="1"/>
          <p:nvPr/>
        </p:nvSpPr>
        <p:spPr>
          <a:xfrm>
            <a:off x="7904096" y="2555051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92" name="Google Shape;1892;p115"/>
          <p:cNvCxnSpPr/>
          <p:nvPr/>
        </p:nvCxnSpPr>
        <p:spPr>
          <a:xfrm>
            <a:off x="4515242" y="2658951"/>
            <a:ext cx="317400" cy="2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3" name="Google Shape;1893;p115"/>
          <p:cNvCxnSpPr/>
          <p:nvPr/>
        </p:nvCxnSpPr>
        <p:spPr>
          <a:xfrm flipH="1" rot="10800000">
            <a:off x="4821517" y="2504801"/>
            <a:ext cx="317400" cy="148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4" name="Google Shape;1894;p115"/>
          <p:cNvCxnSpPr/>
          <p:nvPr/>
        </p:nvCxnSpPr>
        <p:spPr>
          <a:xfrm flipH="1" rot="10800000">
            <a:off x="5112117" y="2045401"/>
            <a:ext cx="325800" cy="464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5" name="Google Shape;1895;p115"/>
          <p:cNvCxnSpPr/>
          <p:nvPr/>
        </p:nvCxnSpPr>
        <p:spPr>
          <a:xfrm flipH="1" rot="10800000">
            <a:off x="5437917" y="1518551"/>
            <a:ext cx="298800" cy="510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6" name="Google Shape;1896;p115"/>
          <p:cNvCxnSpPr/>
          <p:nvPr/>
        </p:nvCxnSpPr>
        <p:spPr>
          <a:xfrm flipH="1" rot="10800000">
            <a:off x="5736717" y="1201251"/>
            <a:ext cx="399600" cy="289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7" name="Google Shape;1897;p115"/>
          <p:cNvCxnSpPr/>
          <p:nvPr/>
        </p:nvCxnSpPr>
        <p:spPr>
          <a:xfrm flipH="1" rot="10800000">
            <a:off x="6121792" y="842601"/>
            <a:ext cx="343200" cy="368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8" name="Google Shape;1898;p115"/>
          <p:cNvCxnSpPr/>
          <p:nvPr/>
        </p:nvCxnSpPr>
        <p:spPr>
          <a:xfrm flipH="1" rot="10800000">
            <a:off x="6470625" y="738996"/>
            <a:ext cx="246600" cy="861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9" name="Google Shape;1899;p115"/>
          <p:cNvCxnSpPr/>
          <p:nvPr/>
        </p:nvCxnSpPr>
        <p:spPr>
          <a:xfrm>
            <a:off x="6704025" y="767850"/>
            <a:ext cx="313800" cy="3921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0" name="Google Shape;1900;p115"/>
          <p:cNvCxnSpPr/>
          <p:nvPr/>
        </p:nvCxnSpPr>
        <p:spPr>
          <a:xfrm>
            <a:off x="7021525" y="1156300"/>
            <a:ext cx="306300" cy="545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1" name="Google Shape;1901;p115"/>
          <p:cNvCxnSpPr/>
          <p:nvPr/>
        </p:nvCxnSpPr>
        <p:spPr>
          <a:xfrm>
            <a:off x="7327825" y="1693550"/>
            <a:ext cx="377400" cy="975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2" name="Google Shape;1902;p115"/>
          <p:cNvCxnSpPr/>
          <p:nvPr/>
        </p:nvCxnSpPr>
        <p:spPr>
          <a:xfrm>
            <a:off x="7691650" y="2658950"/>
            <a:ext cx="308400" cy="13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3" name="Google Shape;1903;p115"/>
          <p:cNvSpPr txBox="1"/>
          <p:nvPr/>
        </p:nvSpPr>
        <p:spPr>
          <a:xfrm>
            <a:off x="7947365" y="754658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04" name="Google Shape;1904;p115"/>
          <p:cNvCxnSpPr/>
          <p:nvPr/>
        </p:nvCxnSpPr>
        <p:spPr>
          <a:xfrm>
            <a:off x="7857492" y="880658"/>
            <a:ext cx="3936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5" name="Google Shape;1905;p115"/>
          <p:cNvSpPr txBox="1"/>
          <p:nvPr/>
        </p:nvSpPr>
        <p:spPr>
          <a:xfrm>
            <a:off x="8006440" y="1496858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06" name="Google Shape;1906;p115"/>
          <p:cNvCxnSpPr/>
          <p:nvPr/>
        </p:nvCxnSpPr>
        <p:spPr>
          <a:xfrm>
            <a:off x="7881847" y="1622858"/>
            <a:ext cx="406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7" name="Google Shape;1907;p115"/>
          <p:cNvSpPr txBox="1"/>
          <p:nvPr/>
        </p:nvSpPr>
        <p:spPr>
          <a:xfrm>
            <a:off x="7694150" y="868325"/>
            <a:ext cx="12357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Shark attacks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8" name="Google Shape;1908;p115"/>
          <p:cNvSpPr txBox="1"/>
          <p:nvPr/>
        </p:nvSpPr>
        <p:spPr>
          <a:xfrm>
            <a:off x="7659200" y="1573413"/>
            <a:ext cx="16455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Cases of heatstroke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9" name="Google Shape;1909;p115"/>
          <p:cNvSpPr txBox="1"/>
          <p:nvPr>
            <p:ph idx="1" type="body"/>
          </p:nvPr>
        </p:nvSpPr>
        <p:spPr>
          <a:xfrm>
            <a:off x="324000" y="2251350"/>
            <a:ext cx="3456900" cy="36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Suggest a possible reason why there is a similar pattern between these variables.  </a:t>
            </a:r>
            <a:endParaRPr sz="1800"/>
          </a:p>
        </p:txBody>
      </p:sp>
      <p:sp>
        <p:nvSpPr>
          <p:cNvPr id="1910" name="Google Shape;1910;p115"/>
          <p:cNvSpPr txBox="1"/>
          <p:nvPr>
            <p:ph idx="1" type="body"/>
          </p:nvPr>
        </p:nvSpPr>
        <p:spPr>
          <a:xfrm>
            <a:off x="324000" y="3414450"/>
            <a:ext cx="8496000" cy="8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Weather and holidays are likely to influence both variables in a similar way.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The warmer it is the higher the likelihood of heat stroke and more people will be swimming in the sea so higher chance of shark attacks.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4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Google Shape;1915;p11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Misinterpreting graphs</a:t>
            </a:r>
            <a:endParaRPr/>
          </a:p>
        </p:txBody>
      </p:sp>
      <p:sp>
        <p:nvSpPr>
          <p:cNvPr id="1916" name="Google Shape;1916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3) Here is a sketch of a scatter graph showing the number of times  people visit restaurants and the value of their car. </a:t>
            </a:r>
            <a:endParaRPr sz="2000"/>
          </a:p>
        </p:txBody>
      </p:sp>
      <p:grpSp>
        <p:nvGrpSpPr>
          <p:cNvPr id="1917" name="Google Shape;1917;p116"/>
          <p:cNvGrpSpPr/>
          <p:nvPr/>
        </p:nvGrpSpPr>
        <p:grpSpPr>
          <a:xfrm>
            <a:off x="683287" y="1750571"/>
            <a:ext cx="3080476" cy="2529254"/>
            <a:chOff x="4667503" y="2040830"/>
            <a:chExt cx="2185200" cy="2465400"/>
          </a:xfrm>
        </p:grpSpPr>
        <p:cxnSp>
          <p:nvCxnSpPr>
            <p:cNvPr id="1918" name="Google Shape;1918;p116"/>
            <p:cNvCxnSpPr/>
            <p:nvPr/>
          </p:nvCxnSpPr>
          <p:spPr>
            <a:xfrm rot="10800000">
              <a:off x="4820745" y="2040830"/>
              <a:ext cx="0" cy="2465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19" name="Google Shape;1919;p116"/>
            <p:cNvCxnSpPr/>
            <p:nvPr/>
          </p:nvCxnSpPr>
          <p:spPr>
            <a:xfrm>
              <a:off x="4667503" y="4321393"/>
              <a:ext cx="2185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920" name="Google Shape;1920;p116"/>
          <p:cNvSpPr txBox="1"/>
          <p:nvPr/>
        </p:nvSpPr>
        <p:spPr>
          <a:xfrm>
            <a:off x="990104" y="348626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1" name="Google Shape;1921;p116"/>
          <p:cNvSpPr txBox="1"/>
          <p:nvPr/>
        </p:nvSpPr>
        <p:spPr>
          <a:xfrm>
            <a:off x="1218704" y="341006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2" name="Google Shape;1922;p116"/>
          <p:cNvSpPr txBox="1"/>
          <p:nvPr/>
        </p:nvSpPr>
        <p:spPr>
          <a:xfrm>
            <a:off x="1218704" y="318146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3" name="Google Shape;1923;p116"/>
          <p:cNvSpPr txBox="1"/>
          <p:nvPr/>
        </p:nvSpPr>
        <p:spPr>
          <a:xfrm>
            <a:off x="1447304" y="325766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4" name="Google Shape;1924;p116"/>
          <p:cNvSpPr txBox="1"/>
          <p:nvPr/>
        </p:nvSpPr>
        <p:spPr>
          <a:xfrm>
            <a:off x="1447304" y="287666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5" name="Google Shape;1925;p116"/>
          <p:cNvSpPr txBox="1"/>
          <p:nvPr/>
        </p:nvSpPr>
        <p:spPr>
          <a:xfrm>
            <a:off x="1752104" y="295286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6" name="Google Shape;1926;p116"/>
          <p:cNvSpPr txBox="1"/>
          <p:nvPr/>
        </p:nvSpPr>
        <p:spPr>
          <a:xfrm>
            <a:off x="1828304" y="272426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7" name="Google Shape;1927;p116"/>
          <p:cNvSpPr txBox="1"/>
          <p:nvPr/>
        </p:nvSpPr>
        <p:spPr>
          <a:xfrm>
            <a:off x="2056904" y="257186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8" name="Google Shape;1928;p116"/>
          <p:cNvSpPr txBox="1"/>
          <p:nvPr/>
        </p:nvSpPr>
        <p:spPr>
          <a:xfrm>
            <a:off x="2666504" y="196226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9" name="Google Shape;1929;p116"/>
          <p:cNvSpPr txBox="1"/>
          <p:nvPr/>
        </p:nvSpPr>
        <p:spPr>
          <a:xfrm>
            <a:off x="2437904" y="226706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0" name="Google Shape;1930;p116"/>
          <p:cNvSpPr txBox="1"/>
          <p:nvPr/>
        </p:nvSpPr>
        <p:spPr>
          <a:xfrm>
            <a:off x="2133104" y="219086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1" name="Google Shape;1931;p116"/>
          <p:cNvSpPr txBox="1"/>
          <p:nvPr/>
        </p:nvSpPr>
        <p:spPr>
          <a:xfrm>
            <a:off x="1675904" y="241946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2" name="Google Shape;1932;p116"/>
          <p:cNvSpPr txBox="1"/>
          <p:nvPr/>
        </p:nvSpPr>
        <p:spPr>
          <a:xfrm>
            <a:off x="1131675" y="4166250"/>
            <a:ext cx="21837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Number of times at a restaurant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3" name="Google Shape;1933;p116"/>
          <p:cNvSpPr txBox="1"/>
          <p:nvPr/>
        </p:nvSpPr>
        <p:spPr>
          <a:xfrm rot="-5400000">
            <a:off x="-115725" y="2604125"/>
            <a:ext cx="14052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Value of car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34" name="Google Shape;1934;p116"/>
          <p:cNvGrpSpPr/>
          <p:nvPr/>
        </p:nvGrpSpPr>
        <p:grpSpPr>
          <a:xfrm>
            <a:off x="3941475" y="1620000"/>
            <a:ext cx="4786515" cy="1197001"/>
            <a:chOff x="3873775" y="2894163"/>
            <a:chExt cx="4786515" cy="1197001"/>
          </a:xfrm>
        </p:grpSpPr>
        <p:sp>
          <p:nvSpPr>
            <p:cNvPr id="1935" name="Google Shape;1935;p116"/>
            <p:cNvSpPr txBox="1"/>
            <p:nvPr/>
          </p:nvSpPr>
          <p:spPr>
            <a:xfrm>
              <a:off x="7682290" y="3091930"/>
              <a:ext cx="978000" cy="40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Sofia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936" name="Google Shape;1936;p1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863474" y="3468824"/>
              <a:ext cx="560997" cy="6223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7" name="Google Shape;1937;p116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>
              <a:off x="3873775" y="2894162"/>
              <a:ext cx="3989699" cy="10464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8" name="Google Shape;1938;p116"/>
            <p:cNvSpPr/>
            <p:nvPr/>
          </p:nvSpPr>
          <p:spPr>
            <a:xfrm flipH="1">
              <a:off x="3978500" y="2933488"/>
              <a:ext cx="3703800" cy="77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So all I need to do is eat out more then I will be able to get a fancy car!</a:t>
              </a:r>
              <a:endParaRPr sz="21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39" name="Google Shape;1939;p116"/>
          <p:cNvSpPr txBox="1"/>
          <p:nvPr>
            <p:ph idx="1" type="body"/>
          </p:nvPr>
        </p:nvSpPr>
        <p:spPr>
          <a:xfrm>
            <a:off x="3731975" y="2839175"/>
            <a:ext cx="5059500" cy="89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Does this graph show correlation between the number of times people visit restaurants and the value of their car? How do you know?  </a:t>
            </a:r>
            <a:endParaRPr sz="1800"/>
          </a:p>
        </p:txBody>
      </p:sp>
      <p:sp>
        <p:nvSpPr>
          <p:cNvPr id="1940" name="Google Shape;1940;p116"/>
          <p:cNvSpPr txBox="1"/>
          <p:nvPr>
            <p:ph idx="1" type="body"/>
          </p:nvPr>
        </p:nvSpPr>
        <p:spPr>
          <a:xfrm>
            <a:off x="3731975" y="4014550"/>
            <a:ext cx="4786500" cy="80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Yes, from the limited data there seems to be a positive correlation. The points lie reasonably close to a linear relationship.  </a:t>
            </a:r>
            <a:r>
              <a:rPr lang="en-GB" sz="1800"/>
              <a:t>   </a:t>
            </a:r>
            <a:endParaRPr sz="1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4" name="Shape 1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Google Shape;1945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3) </a:t>
            </a:r>
            <a:r>
              <a:rPr lang="en-GB" sz="2000"/>
              <a:t>Here is a sketch of a scatter graph showing the number of times  people visit restaurants and the value of their car. 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946" name="Google Shape;1946;p11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Misinterpreting graphs</a:t>
            </a:r>
            <a:endParaRPr/>
          </a:p>
        </p:txBody>
      </p:sp>
      <p:grpSp>
        <p:nvGrpSpPr>
          <p:cNvPr id="1947" name="Google Shape;1947;p117"/>
          <p:cNvGrpSpPr/>
          <p:nvPr/>
        </p:nvGrpSpPr>
        <p:grpSpPr>
          <a:xfrm>
            <a:off x="683287" y="1750571"/>
            <a:ext cx="3080476" cy="2529254"/>
            <a:chOff x="4667503" y="2040830"/>
            <a:chExt cx="2185200" cy="2465400"/>
          </a:xfrm>
        </p:grpSpPr>
        <p:cxnSp>
          <p:nvCxnSpPr>
            <p:cNvPr id="1948" name="Google Shape;1948;p117"/>
            <p:cNvCxnSpPr/>
            <p:nvPr/>
          </p:nvCxnSpPr>
          <p:spPr>
            <a:xfrm rot="10800000">
              <a:off x="4820745" y="2040830"/>
              <a:ext cx="0" cy="2465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49" name="Google Shape;1949;p117"/>
            <p:cNvCxnSpPr/>
            <p:nvPr/>
          </p:nvCxnSpPr>
          <p:spPr>
            <a:xfrm>
              <a:off x="4667503" y="4321393"/>
              <a:ext cx="2185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950" name="Google Shape;1950;p117"/>
          <p:cNvSpPr txBox="1"/>
          <p:nvPr/>
        </p:nvSpPr>
        <p:spPr>
          <a:xfrm>
            <a:off x="990104" y="348626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1" name="Google Shape;1951;p117"/>
          <p:cNvSpPr txBox="1"/>
          <p:nvPr/>
        </p:nvSpPr>
        <p:spPr>
          <a:xfrm>
            <a:off x="1218704" y="341006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2" name="Google Shape;1952;p117"/>
          <p:cNvSpPr txBox="1"/>
          <p:nvPr/>
        </p:nvSpPr>
        <p:spPr>
          <a:xfrm>
            <a:off x="1218704" y="318146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3" name="Google Shape;1953;p117"/>
          <p:cNvSpPr txBox="1"/>
          <p:nvPr/>
        </p:nvSpPr>
        <p:spPr>
          <a:xfrm>
            <a:off x="1447304" y="325766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4" name="Google Shape;1954;p117"/>
          <p:cNvSpPr txBox="1"/>
          <p:nvPr/>
        </p:nvSpPr>
        <p:spPr>
          <a:xfrm>
            <a:off x="1447304" y="287666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5" name="Google Shape;1955;p117"/>
          <p:cNvSpPr txBox="1"/>
          <p:nvPr/>
        </p:nvSpPr>
        <p:spPr>
          <a:xfrm>
            <a:off x="1752104" y="295286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6" name="Google Shape;1956;p117"/>
          <p:cNvSpPr txBox="1"/>
          <p:nvPr/>
        </p:nvSpPr>
        <p:spPr>
          <a:xfrm>
            <a:off x="1828304" y="272426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7" name="Google Shape;1957;p117"/>
          <p:cNvSpPr txBox="1"/>
          <p:nvPr/>
        </p:nvSpPr>
        <p:spPr>
          <a:xfrm>
            <a:off x="2056904" y="257186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8" name="Google Shape;1958;p117"/>
          <p:cNvSpPr txBox="1"/>
          <p:nvPr/>
        </p:nvSpPr>
        <p:spPr>
          <a:xfrm>
            <a:off x="2666504" y="196226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9" name="Google Shape;1959;p117"/>
          <p:cNvSpPr txBox="1"/>
          <p:nvPr/>
        </p:nvSpPr>
        <p:spPr>
          <a:xfrm>
            <a:off x="2437904" y="226706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0" name="Google Shape;1960;p117"/>
          <p:cNvSpPr txBox="1"/>
          <p:nvPr/>
        </p:nvSpPr>
        <p:spPr>
          <a:xfrm>
            <a:off x="2133104" y="219086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1" name="Google Shape;1961;p117"/>
          <p:cNvSpPr txBox="1"/>
          <p:nvPr/>
        </p:nvSpPr>
        <p:spPr>
          <a:xfrm>
            <a:off x="1675904" y="2419464"/>
            <a:ext cx="220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2" name="Google Shape;1962;p117"/>
          <p:cNvSpPr txBox="1"/>
          <p:nvPr/>
        </p:nvSpPr>
        <p:spPr>
          <a:xfrm>
            <a:off x="1131675" y="4166250"/>
            <a:ext cx="21837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Number of times at a restaurant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3" name="Google Shape;1963;p117"/>
          <p:cNvSpPr txBox="1"/>
          <p:nvPr/>
        </p:nvSpPr>
        <p:spPr>
          <a:xfrm rot="-5400000">
            <a:off x="-115725" y="2604125"/>
            <a:ext cx="14052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Value of car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64" name="Google Shape;1964;p117"/>
          <p:cNvGrpSpPr/>
          <p:nvPr/>
        </p:nvGrpSpPr>
        <p:grpSpPr>
          <a:xfrm>
            <a:off x="3941475" y="1620000"/>
            <a:ext cx="4786515" cy="1197001"/>
            <a:chOff x="3873775" y="2894163"/>
            <a:chExt cx="4786515" cy="1197001"/>
          </a:xfrm>
        </p:grpSpPr>
        <p:sp>
          <p:nvSpPr>
            <p:cNvPr id="1965" name="Google Shape;1965;p117"/>
            <p:cNvSpPr txBox="1"/>
            <p:nvPr/>
          </p:nvSpPr>
          <p:spPr>
            <a:xfrm>
              <a:off x="7682290" y="3091930"/>
              <a:ext cx="978000" cy="40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Sofia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966" name="Google Shape;1966;p1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863474" y="3468824"/>
              <a:ext cx="560997" cy="6223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7" name="Google Shape;1967;p117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>
              <a:off x="3873775" y="2894162"/>
              <a:ext cx="3989699" cy="10464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8" name="Google Shape;1968;p117"/>
            <p:cNvSpPr/>
            <p:nvPr/>
          </p:nvSpPr>
          <p:spPr>
            <a:xfrm flipH="1">
              <a:off x="3978500" y="2933488"/>
              <a:ext cx="3703800" cy="77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So all I need to do is eat out more then I will be able to get a fancy car!</a:t>
              </a:r>
              <a:endParaRPr sz="21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69" name="Google Shape;1969;p117"/>
          <p:cNvSpPr txBox="1"/>
          <p:nvPr>
            <p:ph idx="1" type="body"/>
          </p:nvPr>
        </p:nvSpPr>
        <p:spPr>
          <a:xfrm>
            <a:off x="3763775" y="2894675"/>
            <a:ext cx="5059500" cy="36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Explain why Sofia’s statement is incorrect.   </a:t>
            </a:r>
            <a:endParaRPr sz="1800"/>
          </a:p>
        </p:txBody>
      </p:sp>
      <p:sp>
        <p:nvSpPr>
          <p:cNvPr id="1970" name="Google Shape;1970;p117"/>
          <p:cNvSpPr txBox="1"/>
          <p:nvPr>
            <p:ph idx="1" type="body"/>
          </p:nvPr>
        </p:nvSpPr>
        <p:spPr>
          <a:xfrm>
            <a:off x="3727050" y="3263075"/>
            <a:ext cx="5059500" cy="44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Just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because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there is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correlation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does not mean one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variable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causes the other. In this case, people with more money are likely to be able to eat out more and buy more expensive cars.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800"/>
              <a:t>   </a:t>
            </a:r>
            <a:endParaRPr sz="18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4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5" name="Google Shape;1975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4) This chart shows the number of people who live in rural areas compared to urban areas. </a:t>
            </a:r>
            <a:endParaRPr sz="2000"/>
          </a:p>
        </p:txBody>
      </p:sp>
      <p:sp>
        <p:nvSpPr>
          <p:cNvPr id="1976" name="Google Shape;1976;p11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Misinterpreting graphs</a:t>
            </a:r>
            <a:endParaRPr/>
          </a:p>
        </p:txBody>
      </p:sp>
      <p:cxnSp>
        <p:nvCxnSpPr>
          <p:cNvPr id="1977" name="Google Shape;1977;p118"/>
          <p:cNvCxnSpPr/>
          <p:nvPr/>
        </p:nvCxnSpPr>
        <p:spPr>
          <a:xfrm rot="10800000">
            <a:off x="636975" y="1526375"/>
            <a:ext cx="0" cy="196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8" name="Google Shape;1978;p118"/>
          <p:cNvCxnSpPr/>
          <p:nvPr/>
        </p:nvCxnSpPr>
        <p:spPr>
          <a:xfrm>
            <a:off x="636975" y="3491975"/>
            <a:ext cx="2208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79" name="Google Shape;1979;p118"/>
          <p:cNvGrpSpPr/>
          <p:nvPr/>
        </p:nvGrpSpPr>
        <p:grpSpPr>
          <a:xfrm>
            <a:off x="852591" y="2537235"/>
            <a:ext cx="370428" cy="928938"/>
            <a:chOff x="3291525" y="2055200"/>
            <a:chExt cx="749400" cy="1879300"/>
          </a:xfrm>
        </p:grpSpPr>
        <p:sp>
          <p:nvSpPr>
            <p:cNvPr id="1980" name="Google Shape;1980;p118"/>
            <p:cNvSpPr/>
            <p:nvPr/>
          </p:nvSpPr>
          <p:spPr>
            <a:xfrm>
              <a:off x="3480125" y="2055200"/>
              <a:ext cx="370500" cy="370500"/>
            </a:xfrm>
            <a:prstGeom prst="ellipse">
              <a:avLst/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81" name="Google Shape;1981;p118"/>
            <p:cNvSpPr/>
            <p:nvPr/>
          </p:nvSpPr>
          <p:spPr>
            <a:xfrm>
              <a:off x="3291550" y="2487900"/>
              <a:ext cx="747900" cy="2565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82" name="Google Shape;1982;p118"/>
            <p:cNvSpPr/>
            <p:nvPr/>
          </p:nvSpPr>
          <p:spPr>
            <a:xfrm rot="5400000">
              <a:off x="2989575" y="2798300"/>
              <a:ext cx="743700" cy="1398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83" name="Google Shape;1983;p118"/>
            <p:cNvSpPr/>
            <p:nvPr/>
          </p:nvSpPr>
          <p:spPr>
            <a:xfrm rot="5400000">
              <a:off x="3599175" y="2798300"/>
              <a:ext cx="743700" cy="1398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84" name="Google Shape;1984;p118"/>
            <p:cNvSpPr/>
            <p:nvPr/>
          </p:nvSpPr>
          <p:spPr>
            <a:xfrm rot="5400000">
              <a:off x="3293537" y="2682964"/>
              <a:ext cx="743700" cy="3705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85" name="Google Shape;1985;p118"/>
            <p:cNvSpPr/>
            <p:nvPr/>
          </p:nvSpPr>
          <p:spPr>
            <a:xfrm rot="5400000">
              <a:off x="3130775" y="3445350"/>
              <a:ext cx="838500" cy="1398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86" name="Google Shape;1986;p118"/>
            <p:cNvSpPr/>
            <p:nvPr/>
          </p:nvSpPr>
          <p:spPr>
            <a:xfrm rot="5400000">
              <a:off x="3359375" y="3445350"/>
              <a:ext cx="838500" cy="1398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87" name="Google Shape;1987;p118"/>
          <p:cNvGrpSpPr/>
          <p:nvPr/>
        </p:nvGrpSpPr>
        <p:grpSpPr>
          <a:xfrm>
            <a:off x="1545058" y="1500606"/>
            <a:ext cx="783797" cy="1965560"/>
            <a:chOff x="3291525" y="2055200"/>
            <a:chExt cx="749400" cy="1879300"/>
          </a:xfrm>
        </p:grpSpPr>
        <p:sp>
          <p:nvSpPr>
            <p:cNvPr id="1988" name="Google Shape;1988;p118"/>
            <p:cNvSpPr/>
            <p:nvPr/>
          </p:nvSpPr>
          <p:spPr>
            <a:xfrm>
              <a:off x="3480125" y="2055200"/>
              <a:ext cx="370500" cy="370500"/>
            </a:xfrm>
            <a:prstGeom prst="ellipse">
              <a:avLst/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89" name="Google Shape;1989;p118"/>
            <p:cNvSpPr/>
            <p:nvPr/>
          </p:nvSpPr>
          <p:spPr>
            <a:xfrm>
              <a:off x="3291550" y="2487900"/>
              <a:ext cx="747900" cy="2565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90" name="Google Shape;1990;p118"/>
            <p:cNvSpPr/>
            <p:nvPr/>
          </p:nvSpPr>
          <p:spPr>
            <a:xfrm rot="5400000">
              <a:off x="2989575" y="2798300"/>
              <a:ext cx="743700" cy="1398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91" name="Google Shape;1991;p118"/>
            <p:cNvSpPr/>
            <p:nvPr/>
          </p:nvSpPr>
          <p:spPr>
            <a:xfrm rot="5400000">
              <a:off x="3599175" y="2798300"/>
              <a:ext cx="743700" cy="1398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92" name="Google Shape;1992;p118"/>
            <p:cNvSpPr/>
            <p:nvPr/>
          </p:nvSpPr>
          <p:spPr>
            <a:xfrm rot="5400000">
              <a:off x="3293537" y="2682964"/>
              <a:ext cx="743700" cy="3705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93" name="Google Shape;1993;p118"/>
            <p:cNvSpPr/>
            <p:nvPr/>
          </p:nvSpPr>
          <p:spPr>
            <a:xfrm rot="5400000">
              <a:off x="3130775" y="3445350"/>
              <a:ext cx="838500" cy="1398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94" name="Google Shape;1994;p118"/>
            <p:cNvSpPr/>
            <p:nvPr/>
          </p:nvSpPr>
          <p:spPr>
            <a:xfrm rot="5400000">
              <a:off x="3359375" y="3445350"/>
              <a:ext cx="838500" cy="1398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95" name="Google Shape;1995;p118"/>
          <p:cNvSpPr txBox="1"/>
          <p:nvPr/>
        </p:nvSpPr>
        <p:spPr>
          <a:xfrm>
            <a:off x="636975" y="3572450"/>
            <a:ext cx="908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6" name="Google Shape;1996;p118"/>
          <p:cNvSpPr txBox="1"/>
          <p:nvPr/>
        </p:nvSpPr>
        <p:spPr>
          <a:xfrm>
            <a:off x="7940425" y="1293006"/>
            <a:ext cx="7836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97" name="Google Shape;1997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17486" y="1796997"/>
            <a:ext cx="629489" cy="7259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98" name="Google Shape;1998;p118"/>
          <p:cNvGrpSpPr/>
          <p:nvPr/>
        </p:nvGrpSpPr>
        <p:grpSpPr>
          <a:xfrm flipH="1">
            <a:off x="3935909" y="1293010"/>
            <a:ext cx="4110797" cy="993052"/>
            <a:chOff x="1902376" y="1608382"/>
            <a:chExt cx="2242294" cy="1130395"/>
          </a:xfrm>
        </p:grpSpPr>
        <p:pic>
          <p:nvPicPr>
            <p:cNvPr id="1999" name="Google Shape;1999;p118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902376" y="1608382"/>
              <a:ext cx="2242294" cy="10883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0" name="Google Shape;2000;p118"/>
            <p:cNvSpPr txBox="1"/>
            <p:nvPr/>
          </p:nvSpPr>
          <p:spPr>
            <a:xfrm flipH="1">
              <a:off x="2027144" y="1749378"/>
              <a:ext cx="2021400" cy="98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This shows twice as many people live in urban areas than rural.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01" name="Google Shape;2001;p118"/>
          <p:cNvSpPr txBox="1"/>
          <p:nvPr/>
        </p:nvSpPr>
        <p:spPr>
          <a:xfrm flipH="1">
            <a:off x="3174025" y="2466943"/>
            <a:ext cx="9780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02" name="Google Shape;2002;p1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409844" y="2843836"/>
            <a:ext cx="560997" cy="622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3" name="Google Shape;2003;p118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3955451" y="2286050"/>
            <a:ext cx="3536148" cy="1046426"/>
          </a:xfrm>
          <a:prstGeom prst="rect">
            <a:avLst/>
          </a:prstGeom>
          <a:noFill/>
          <a:ln>
            <a:noFill/>
          </a:ln>
        </p:spPr>
      </p:pic>
      <p:sp>
        <p:nvSpPr>
          <p:cNvPr id="2004" name="Google Shape;2004;p118"/>
          <p:cNvSpPr/>
          <p:nvPr/>
        </p:nvSpPr>
        <p:spPr>
          <a:xfrm>
            <a:off x="4207025" y="2325375"/>
            <a:ext cx="3199800" cy="7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think it shows that 4 times as many people live in urban areas than rural areas.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5" name="Google Shape;2005;p118"/>
          <p:cNvSpPr txBox="1"/>
          <p:nvPr/>
        </p:nvSpPr>
        <p:spPr>
          <a:xfrm>
            <a:off x="703500" y="3577050"/>
            <a:ext cx="561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Rural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6" name="Google Shape;2006;p118"/>
          <p:cNvSpPr txBox="1"/>
          <p:nvPr/>
        </p:nvSpPr>
        <p:spPr>
          <a:xfrm>
            <a:off x="1656450" y="3618750"/>
            <a:ext cx="6294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Urban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7" name="Google Shape;2007;p118"/>
          <p:cNvSpPr txBox="1"/>
          <p:nvPr>
            <p:ph idx="1" type="body"/>
          </p:nvPr>
        </p:nvSpPr>
        <p:spPr>
          <a:xfrm>
            <a:off x="2887200" y="3538025"/>
            <a:ext cx="59328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Give a reason why Alex may be correct. </a:t>
            </a:r>
            <a:endParaRPr sz="1800"/>
          </a:p>
        </p:txBody>
      </p:sp>
      <p:sp>
        <p:nvSpPr>
          <p:cNvPr id="2008" name="Google Shape;2008;p118"/>
          <p:cNvSpPr txBox="1"/>
          <p:nvPr>
            <p:ph idx="1" type="body"/>
          </p:nvPr>
        </p:nvSpPr>
        <p:spPr>
          <a:xfrm>
            <a:off x="2887200" y="4007588"/>
            <a:ext cx="59328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height of the picture for urban areas is twice that of the picture for rural areas. </a:t>
            </a:r>
            <a:r>
              <a:rPr lang="en-GB" sz="1800"/>
              <a:t> </a:t>
            </a:r>
            <a:endParaRPr sz="1800"/>
          </a:p>
        </p:txBody>
      </p:sp>
      <p:grpSp>
        <p:nvGrpSpPr>
          <p:cNvPr id="2009" name="Google Shape;2009;p118"/>
          <p:cNvGrpSpPr/>
          <p:nvPr/>
        </p:nvGrpSpPr>
        <p:grpSpPr>
          <a:xfrm>
            <a:off x="1365001" y="2554060"/>
            <a:ext cx="370428" cy="928938"/>
            <a:chOff x="3291525" y="2055200"/>
            <a:chExt cx="749400" cy="1879300"/>
          </a:xfrm>
        </p:grpSpPr>
        <p:sp>
          <p:nvSpPr>
            <p:cNvPr id="2010" name="Google Shape;2010;p118"/>
            <p:cNvSpPr/>
            <p:nvPr/>
          </p:nvSpPr>
          <p:spPr>
            <a:xfrm>
              <a:off x="3480125" y="2055200"/>
              <a:ext cx="370500" cy="370500"/>
            </a:xfrm>
            <a:prstGeom prst="ellipse">
              <a:avLst/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11" name="Google Shape;2011;p118"/>
            <p:cNvSpPr/>
            <p:nvPr/>
          </p:nvSpPr>
          <p:spPr>
            <a:xfrm>
              <a:off x="3291550" y="2487900"/>
              <a:ext cx="747900" cy="2565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12" name="Google Shape;2012;p118"/>
            <p:cNvSpPr/>
            <p:nvPr/>
          </p:nvSpPr>
          <p:spPr>
            <a:xfrm rot="5400000">
              <a:off x="2989575" y="2798300"/>
              <a:ext cx="743700" cy="1398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13" name="Google Shape;2013;p118"/>
            <p:cNvSpPr/>
            <p:nvPr/>
          </p:nvSpPr>
          <p:spPr>
            <a:xfrm rot="5400000">
              <a:off x="3599175" y="2798300"/>
              <a:ext cx="743700" cy="1398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14" name="Google Shape;2014;p118"/>
            <p:cNvSpPr/>
            <p:nvPr/>
          </p:nvSpPr>
          <p:spPr>
            <a:xfrm rot="5400000">
              <a:off x="3293537" y="2682964"/>
              <a:ext cx="743700" cy="3705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15" name="Google Shape;2015;p118"/>
            <p:cNvSpPr/>
            <p:nvPr/>
          </p:nvSpPr>
          <p:spPr>
            <a:xfrm rot="5400000">
              <a:off x="3130775" y="3445350"/>
              <a:ext cx="838500" cy="1398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16" name="Google Shape;2016;p118"/>
            <p:cNvSpPr/>
            <p:nvPr/>
          </p:nvSpPr>
          <p:spPr>
            <a:xfrm rot="5400000">
              <a:off x="3359375" y="3445350"/>
              <a:ext cx="838500" cy="1398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17" name="Google Shape;2017;p118"/>
          <p:cNvGrpSpPr/>
          <p:nvPr/>
        </p:nvGrpSpPr>
        <p:grpSpPr>
          <a:xfrm>
            <a:off x="1365014" y="1483773"/>
            <a:ext cx="370428" cy="928938"/>
            <a:chOff x="3291525" y="2055200"/>
            <a:chExt cx="749400" cy="1879300"/>
          </a:xfrm>
        </p:grpSpPr>
        <p:sp>
          <p:nvSpPr>
            <p:cNvPr id="2018" name="Google Shape;2018;p118"/>
            <p:cNvSpPr/>
            <p:nvPr/>
          </p:nvSpPr>
          <p:spPr>
            <a:xfrm>
              <a:off x="3480125" y="2055200"/>
              <a:ext cx="370500" cy="370500"/>
            </a:xfrm>
            <a:prstGeom prst="ellipse">
              <a:avLst/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19" name="Google Shape;2019;p118"/>
            <p:cNvSpPr/>
            <p:nvPr/>
          </p:nvSpPr>
          <p:spPr>
            <a:xfrm>
              <a:off x="3291550" y="2487900"/>
              <a:ext cx="747900" cy="2565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0" name="Google Shape;2020;p118"/>
            <p:cNvSpPr/>
            <p:nvPr/>
          </p:nvSpPr>
          <p:spPr>
            <a:xfrm rot="5400000">
              <a:off x="2989575" y="2798300"/>
              <a:ext cx="743700" cy="1398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1" name="Google Shape;2021;p118"/>
            <p:cNvSpPr/>
            <p:nvPr/>
          </p:nvSpPr>
          <p:spPr>
            <a:xfrm rot="5400000">
              <a:off x="3599175" y="2798300"/>
              <a:ext cx="743700" cy="1398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2" name="Google Shape;2022;p118"/>
            <p:cNvSpPr/>
            <p:nvPr/>
          </p:nvSpPr>
          <p:spPr>
            <a:xfrm rot="5400000">
              <a:off x="3293537" y="2682964"/>
              <a:ext cx="743700" cy="3705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3" name="Google Shape;2023;p118"/>
            <p:cNvSpPr/>
            <p:nvPr/>
          </p:nvSpPr>
          <p:spPr>
            <a:xfrm rot="5400000">
              <a:off x="3130775" y="3445350"/>
              <a:ext cx="838500" cy="1398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4" name="Google Shape;2024;p118"/>
            <p:cNvSpPr/>
            <p:nvPr/>
          </p:nvSpPr>
          <p:spPr>
            <a:xfrm rot="5400000">
              <a:off x="3359375" y="3445350"/>
              <a:ext cx="838500" cy="1398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8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p11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4) This chart shows the number of people who live in rural areas compared to urban areas. </a:t>
            </a:r>
            <a:endParaRPr sz="2000"/>
          </a:p>
        </p:txBody>
      </p:sp>
      <p:sp>
        <p:nvSpPr>
          <p:cNvPr id="2030" name="Google Shape;2030;p11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Misinterpreting graphs</a:t>
            </a:r>
            <a:endParaRPr/>
          </a:p>
        </p:txBody>
      </p:sp>
      <p:cxnSp>
        <p:nvCxnSpPr>
          <p:cNvPr id="2031" name="Google Shape;2031;p119"/>
          <p:cNvCxnSpPr/>
          <p:nvPr/>
        </p:nvCxnSpPr>
        <p:spPr>
          <a:xfrm rot="10800000">
            <a:off x="636975" y="1526375"/>
            <a:ext cx="0" cy="196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2" name="Google Shape;2032;p119"/>
          <p:cNvCxnSpPr/>
          <p:nvPr/>
        </p:nvCxnSpPr>
        <p:spPr>
          <a:xfrm>
            <a:off x="636975" y="3491975"/>
            <a:ext cx="2208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33" name="Google Shape;2033;p119"/>
          <p:cNvGrpSpPr/>
          <p:nvPr/>
        </p:nvGrpSpPr>
        <p:grpSpPr>
          <a:xfrm>
            <a:off x="852591" y="2537235"/>
            <a:ext cx="370428" cy="928938"/>
            <a:chOff x="3291525" y="2055200"/>
            <a:chExt cx="749400" cy="1879300"/>
          </a:xfrm>
        </p:grpSpPr>
        <p:sp>
          <p:nvSpPr>
            <p:cNvPr id="2034" name="Google Shape;2034;p119"/>
            <p:cNvSpPr/>
            <p:nvPr/>
          </p:nvSpPr>
          <p:spPr>
            <a:xfrm>
              <a:off x="3480125" y="2055200"/>
              <a:ext cx="370500" cy="370500"/>
            </a:xfrm>
            <a:prstGeom prst="ellipse">
              <a:avLst/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5" name="Google Shape;2035;p119"/>
            <p:cNvSpPr/>
            <p:nvPr/>
          </p:nvSpPr>
          <p:spPr>
            <a:xfrm>
              <a:off x="3291550" y="2487900"/>
              <a:ext cx="747900" cy="2565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6" name="Google Shape;2036;p119"/>
            <p:cNvSpPr/>
            <p:nvPr/>
          </p:nvSpPr>
          <p:spPr>
            <a:xfrm rot="5400000">
              <a:off x="2989575" y="2798300"/>
              <a:ext cx="743700" cy="1398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7" name="Google Shape;2037;p119"/>
            <p:cNvSpPr/>
            <p:nvPr/>
          </p:nvSpPr>
          <p:spPr>
            <a:xfrm rot="5400000">
              <a:off x="3599175" y="2798300"/>
              <a:ext cx="743700" cy="1398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8" name="Google Shape;2038;p119"/>
            <p:cNvSpPr/>
            <p:nvPr/>
          </p:nvSpPr>
          <p:spPr>
            <a:xfrm rot="5400000">
              <a:off x="3293537" y="2682964"/>
              <a:ext cx="743700" cy="3705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9" name="Google Shape;2039;p119"/>
            <p:cNvSpPr/>
            <p:nvPr/>
          </p:nvSpPr>
          <p:spPr>
            <a:xfrm rot="5400000">
              <a:off x="3130775" y="3445350"/>
              <a:ext cx="838500" cy="1398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0" name="Google Shape;2040;p119"/>
            <p:cNvSpPr/>
            <p:nvPr/>
          </p:nvSpPr>
          <p:spPr>
            <a:xfrm rot="5400000">
              <a:off x="3359375" y="3445350"/>
              <a:ext cx="838500" cy="1398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41" name="Google Shape;2041;p119"/>
          <p:cNvGrpSpPr/>
          <p:nvPr/>
        </p:nvGrpSpPr>
        <p:grpSpPr>
          <a:xfrm>
            <a:off x="1545058" y="1500606"/>
            <a:ext cx="783797" cy="1965560"/>
            <a:chOff x="3291525" y="2055200"/>
            <a:chExt cx="749400" cy="1879300"/>
          </a:xfrm>
        </p:grpSpPr>
        <p:sp>
          <p:nvSpPr>
            <p:cNvPr id="2042" name="Google Shape;2042;p119"/>
            <p:cNvSpPr/>
            <p:nvPr/>
          </p:nvSpPr>
          <p:spPr>
            <a:xfrm>
              <a:off x="3480125" y="2055200"/>
              <a:ext cx="370500" cy="370500"/>
            </a:xfrm>
            <a:prstGeom prst="ellipse">
              <a:avLst/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3" name="Google Shape;2043;p119"/>
            <p:cNvSpPr/>
            <p:nvPr/>
          </p:nvSpPr>
          <p:spPr>
            <a:xfrm>
              <a:off x="3291550" y="2487900"/>
              <a:ext cx="747900" cy="2565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4" name="Google Shape;2044;p119"/>
            <p:cNvSpPr/>
            <p:nvPr/>
          </p:nvSpPr>
          <p:spPr>
            <a:xfrm rot="5400000">
              <a:off x="2989575" y="2798300"/>
              <a:ext cx="743700" cy="1398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5" name="Google Shape;2045;p119"/>
            <p:cNvSpPr/>
            <p:nvPr/>
          </p:nvSpPr>
          <p:spPr>
            <a:xfrm rot="5400000">
              <a:off x="3599175" y="2798300"/>
              <a:ext cx="743700" cy="1398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6" name="Google Shape;2046;p119"/>
            <p:cNvSpPr/>
            <p:nvPr/>
          </p:nvSpPr>
          <p:spPr>
            <a:xfrm rot="5400000">
              <a:off x="3293537" y="2682964"/>
              <a:ext cx="743700" cy="3705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7" name="Google Shape;2047;p119"/>
            <p:cNvSpPr/>
            <p:nvPr/>
          </p:nvSpPr>
          <p:spPr>
            <a:xfrm rot="5400000">
              <a:off x="3130775" y="3445350"/>
              <a:ext cx="838500" cy="1398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8" name="Google Shape;2048;p119"/>
            <p:cNvSpPr/>
            <p:nvPr/>
          </p:nvSpPr>
          <p:spPr>
            <a:xfrm rot="5400000">
              <a:off x="3359375" y="3445350"/>
              <a:ext cx="838500" cy="1398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49" name="Google Shape;2049;p119"/>
          <p:cNvSpPr txBox="1"/>
          <p:nvPr/>
        </p:nvSpPr>
        <p:spPr>
          <a:xfrm>
            <a:off x="636975" y="3572450"/>
            <a:ext cx="908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0" name="Google Shape;2050;p119"/>
          <p:cNvSpPr txBox="1"/>
          <p:nvPr/>
        </p:nvSpPr>
        <p:spPr>
          <a:xfrm>
            <a:off x="7940425" y="1293006"/>
            <a:ext cx="7836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51" name="Google Shape;2051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17486" y="1796997"/>
            <a:ext cx="629489" cy="7259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2" name="Google Shape;2052;p119"/>
          <p:cNvGrpSpPr/>
          <p:nvPr/>
        </p:nvGrpSpPr>
        <p:grpSpPr>
          <a:xfrm flipH="1">
            <a:off x="3935909" y="1293010"/>
            <a:ext cx="4110797" cy="993052"/>
            <a:chOff x="1902376" y="1608382"/>
            <a:chExt cx="2242294" cy="1130395"/>
          </a:xfrm>
        </p:grpSpPr>
        <p:pic>
          <p:nvPicPr>
            <p:cNvPr id="2053" name="Google Shape;2053;p119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902376" y="1608382"/>
              <a:ext cx="2242294" cy="10883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4" name="Google Shape;2054;p119"/>
            <p:cNvSpPr txBox="1"/>
            <p:nvPr/>
          </p:nvSpPr>
          <p:spPr>
            <a:xfrm flipH="1">
              <a:off x="2027144" y="1749378"/>
              <a:ext cx="2021400" cy="98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This shows twice as many people live in urban areas than rural.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55" name="Google Shape;2055;p119"/>
          <p:cNvSpPr txBox="1"/>
          <p:nvPr/>
        </p:nvSpPr>
        <p:spPr>
          <a:xfrm flipH="1">
            <a:off x="3174025" y="2466943"/>
            <a:ext cx="9780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56" name="Google Shape;2056;p1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409844" y="2843836"/>
            <a:ext cx="560997" cy="622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7" name="Google Shape;2057;p119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3955451" y="2286050"/>
            <a:ext cx="3536148" cy="1046426"/>
          </a:xfrm>
          <a:prstGeom prst="rect">
            <a:avLst/>
          </a:prstGeom>
          <a:noFill/>
          <a:ln>
            <a:noFill/>
          </a:ln>
        </p:spPr>
      </p:pic>
      <p:sp>
        <p:nvSpPr>
          <p:cNvPr id="2058" name="Google Shape;2058;p119"/>
          <p:cNvSpPr/>
          <p:nvPr/>
        </p:nvSpPr>
        <p:spPr>
          <a:xfrm>
            <a:off x="4207025" y="2325375"/>
            <a:ext cx="3199800" cy="7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think it shows that 4 times as many people live in urban areas than rural areas.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9" name="Google Shape;2059;p119"/>
          <p:cNvSpPr txBox="1"/>
          <p:nvPr/>
        </p:nvSpPr>
        <p:spPr>
          <a:xfrm>
            <a:off x="703500" y="3577050"/>
            <a:ext cx="561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Rural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0" name="Google Shape;2060;p119"/>
          <p:cNvSpPr txBox="1"/>
          <p:nvPr/>
        </p:nvSpPr>
        <p:spPr>
          <a:xfrm>
            <a:off x="1656450" y="3618750"/>
            <a:ext cx="6294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Urban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1" name="Google Shape;2061;p119"/>
          <p:cNvSpPr txBox="1"/>
          <p:nvPr>
            <p:ph idx="1" type="body"/>
          </p:nvPr>
        </p:nvSpPr>
        <p:spPr>
          <a:xfrm>
            <a:off x="2887200" y="3538025"/>
            <a:ext cx="59328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Give a reason why Sofia may be correct.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2062" name="Google Shape;2062;p119"/>
          <p:cNvSpPr txBox="1"/>
          <p:nvPr>
            <p:ph idx="1" type="body"/>
          </p:nvPr>
        </p:nvSpPr>
        <p:spPr>
          <a:xfrm>
            <a:off x="2887200" y="4007588"/>
            <a:ext cx="59328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area of the picture for urban areas is four times that of the picture for rural areas. </a:t>
            </a:r>
            <a:r>
              <a:rPr lang="en-GB" sz="1800"/>
              <a:t> </a:t>
            </a:r>
            <a:endParaRPr sz="1800"/>
          </a:p>
        </p:txBody>
      </p:sp>
      <p:grpSp>
        <p:nvGrpSpPr>
          <p:cNvPr id="2063" name="Google Shape;2063;p119"/>
          <p:cNvGrpSpPr/>
          <p:nvPr/>
        </p:nvGrpSpPr>
        <p:grpSpPr>
          <a:xfrm>
            <a:off x="1555901" y="2541844"/>
            <a:ext cx="370428" cy="928938"/>
            <a:chOff x="3291525" y="2055200"/>
            <a:chExt cx="749400" cy="1879300"/>
          </a:xfrm>
        </p:grpSpPr>
        <p:sp>
          <p:nvSpPr>
            <p:cNvPr id="2064" name="Google Shape;2064;p119"/>
            <p:cNvSpPr/>
            <p:nvPr/>
          </p:nvSpPr>
          <p:spPr>
            <a:xfrm>
              <a:off x="3480125" y="2055200"/>
              <a:ext cx="370500" cy="370500"/>
            </a:xfrm>
            <a:prstGeom prst="ellipse">
              <a:avLst/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65" name="Google Shape;2065;p119"/>
            <p:cNvSpPr/>
            <p:nvPr/>
          </p:nvSpPr>
          <p:spPr>
            <a:xfrm>
              <a:off x="3291550" y="2487900"/>
              <a:ext cx="747900" cy="2565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66" name="Google Shape;2066;p119"/>
            <p:cNvSpPr/>
            <p:nvPr/>
          </p:nvSpPr>
          <p:spPr>
            <a:xfrm rot="5400000">
              <a:off x="2989575" y="2798300"/>
              <a:ext cx="743700" cy="1398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67" name="Google Shape;2067;p119"/>
            <p:cNvSpPr/>
            <p:nvPr/>
          </p:nvSpPr>
          <p:spPr>
            <a:xfrm rot="5400000">
              <a:off x="3599175" y="2798300"/>
              <a:ext cx="743700" cy="1398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68" name="Google Shape;2068;p119"/>
            <p:cNvSpPr/>
            <p:nvPr/>
          </p:nvSpPr>
          <p:spPr>
            <a:xfrm rot="5400000">
              <a:off x="3293537" y="2682964"/>
              <a:ext cx="743700" cy="3705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69" name="Google Shape;2069;p119"/>
            <p:cNvSpPr/>
            <p:nvPr/>
          </p:nvSpPr>
          <p:spPr>
            <a:xfrm rot="5400000">
              <a:off x="3130775" y="3445350"/>
              <a:ext cx="838500" cy="1398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0" name="Google Shape;2070;p119"/>
            <p:cNvSpPr/>
            <p:nvPr/>
          </p:nvSpPr>
          <p:spPr>
            <a:xfrm rot="5400000">
              <a:off x="3359375" y="3445350"/>
              <a:ext cx="838500" cy="1398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71" name="Google Shape;2071;p119"/>
          <p:cNvGrpSpPr/>
          <p:nvPr/>
        </p:nvGrpSpPr>
        <p:grpSpPr>
          <a:xfrm>
            <a:off x="1975721" y="2541844"/>
            <a:ext cx="370428" cy="928938"/>
            <a:chOff x="3291525" y="2055200"/>
            <a:chExt cx="749400" cy="1879300"/>
          </a:xfrm>
        </p:grpSpPr>
        <p:sp>
          <p:nvSpPr>
            <p:cNvPr id="2072" name="Google Shape;2072;p119"/>
            <p:cNvSpPr/>
            <p:nvPr/>
          </p:nvSpPr>
          <p:spPr>
            <a:xfrm>
              <a:off x="3480125" y="2055200"/>
              <a:ext cx="370500" cy="370500"/>
            </a:xfrm>
            <a:prstGeom prst="ellipse">
              <a:avLst/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3" name="Google Shape;2073;p119"/>
            <p:cNvSpPr/>
            <p:nvPr/>
          </p:nvSpPr>
          <p:spPr>
            <a:xfrm>
              <a:off x="3291550" y="2487900"/>
              <a:ext cx="747900" cy="2565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4" name="Google Shape;2074;p119"/>
            <p:cNvSpPr/>
            <p:nvPr/>
          </p:nvSpPr>
          <p:spPr>
            <a:xfrm rot="5400000">
              <a:off x="2989575" y="2798300"/>
              <a:ext cx="743700" cy="1398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5" name="Google Shape;2075;p119"/>
            <p:cNvSpPr/>
            <p:nvPr/>
          </p:nvSpPr>
          <p:spPr>
            <a:xfrm rot="5400000">
              <a:off x="3599175" y="2798300"/>
              <a:ext cx="743700" cy="1398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6" name="Google Shape;2076;p119"/>
            <p:cNvSpPr/>
            <p:nvPr/>
          </p:nvSpPr>
          <p:spPr>
            <a:xfrm rot="5400000">
              <a:off x="3293537" y="2682964"/>
              <a:ext cx="743700" cy="3705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7" name="Google Shape;2077;p119"/>
            <p:cNvSpPr/>
            <p:nvPr/>
          </p:nvSpPr>
          <p:spPr>
            <a:xfrm rot="5400000">
              <a:off x="3130775" y="3445350"/>
              <a:ext cx="838500" cy="1398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8" name="Google Shape;2078;p119"/>
            <p:cNvSpPr/>
            <p:nvPr/>
          </p:nvSpPr>
          <p:spPr>
            <a:xfrm rot="5400000">
              <a:off x="3359375" y="3445350"/>
              <a:ext cx="838500" cy="1398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79" name="Google Shape;2079;p119"/>
          <p:cNvGrpSpPr/>
          <p:nvPr/>
        </p:nvGrpSpPr>
        <p:grpSpPr>
          <a:xfrm>
            <a:off x="1555901" y="1512424"/>
            <a:ext cx="370428" cy="928938"/>
            <a:chOff x="3291525" y="2055200"/>
            <a:chExt cx="749400" cy="1879300"/>
          </a:xfrm>
        </p:grpSpPr>
        <p:sp>
          <p:nvSpPr>
            <p:cNvPr id="2080" name="Google Shape;2080;p119"/>
            <p:cNvSpPr/>
            <p:nvPr/>
          </p:nvSpPr>
          <p:spPr>
            <a:xfrm>
              <a:off x="3480125" y="2055200"/>
              <a:ext cx="370500" cy="370500"/>
            </a:xfrm>
            <a:prstGeom prst="ellipse">
              <a:avLst/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1" name="Google Shape;2081;p119"/>
            <p:cNvSpPr/>
            <p:nvPr/>
          </p:nvSpPr>
          <p:spPr>
            <a:xfrm>
              <a:off x="3291550" y="2487900"/>
              <a:ext cx="747900" cy="2565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2" name="Google Shape;2082;p119"/>
            <p:cNvSpPr/>
            <p:nvPr/>
          </p:nvSpPr>
          <p:spPr>
            <a:xfrm rot="5400000">
              <a:off x="2989575" y="2798300"/>
              <a:ext cx="743700" cy="1398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3" name="Google Shape;2083;p119"/>
            <p:cNvSpPr/>
            <p:nvPr/>
          </p:nvSpPr>
          <p:spPr>
            <a:xfrm rot="5400000">
              <a:off x="3599175" y="2798300"/>
              <a:ext cx="743700" cy="1398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4" name="Google Shape;2084;p119"/>
            <p:cNvSpPr/>
            <p:nvPr/>
          </p:nvSpPr>
          <p:spPr>
            <a:xfrm rot="5400000">
              <a:off x="3293537" y="2682964"/>
              <a:ext cx="743700" cy="3705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5" name="Google Shape;2085;p119"/>
            <p:cNvSpPr/>
            <p:nvPr/>
          </p:nvSpPr>
          <p:spPr>
            <a:xfrm rot="5400000">
              <a:off x="3130775" y="3445350"/>
              <a:ext cx="838500" cy="1398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6" name="Google Shape;2086;p119"/>
            <p:cNvSpPr/>
            <p:nvPr/>
          </p:nvSpPr>
          <p:spPr>
            <a:xfrm rot="5400000">
              <a:off x="3359375" y="3445350"/>
              <a:ext cx="838500" cy="1398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87" name="Google Shape;2087;p119"/>
          <p:cNvGrpSpPr/>
          <p:nvPr/>
        </p:nvGrpSpPr>
        <p:grpSpPr>
          <a:xfrm>
            <a:off x="1975721" y="1512424"/>
            <a:ext cx="370428" cy="928938"/>
            <a:chOff x="3291525" y="2055200"/>
            <a:chExt cx="749400" cy="1879300"/>
          </a:xfrm>
        </p:grpSpPr>
        <p:sp>
          <p:nvSpPr>
            <p:cNvPr id="2088" name="Google Shape;2088;p119"/>
            <p:cNvSpPr/>
            <p:nvPr/>
          </p:nvSpPr>
          <p:spPr>
            <a:xfrm>
              <a:off x="3480125" y="2055200"/>
              <a:ext cx="370500" cy="370500"/>
            </a:xfrm>
            <a:prstGeom prst="ellipse">
              <a:avLst/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9" name="Google Shape;2089;p119"/>
            <p:cNvSpPr/>
            <p:nvPr/>
          </p:nvSpPr>
          <p:spPr>
            <a:xfrm>
              <a:off x="3291550" y="2487900"/>
              <a:ext cx="747900" cy="2565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0" name="Google Shape;2090;p119"/>
            <p:cNvSpPr/>
            <p:nvPr/>
          </p:nvSpPr>
          <p:spPr>
            <a:xfrm rot="5400000">
              <a:off x="2989575" y="2798300"/>
              <a:ext cx="743700" cy="1398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1" name="Google Shape;2091;p119"/>
            <p:cNvSpPr/>
            <p:nvPr/>
          </p:nvSpPr>
          <p:spPr>
            <a:xfrm rot="5400000">
              <a:off x="3599175" y="2798300"/>
              <a:ext cx="743700" cy="1398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2" name="Google Shape;2092;p119"/>
            <p:cNvSpPr/>
            <p:nvPr/>
          </p:nvSpPr>
          <p:spPr>
            <a:xfrm rot="5400000">
              <a:off x="3293537" y="2682964"/>
              <a:ext cx="743700" cy="3705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3" name="Google Shape;2093;p119"/>
            <p:cNvSpPr/>
            <p:nvPr/>
          </p:nvSpPr>
          <p:spPr>
            <a:xfrm rot="5400000">
              <a:off x="3130775" y="3445350"/>
              <a:ext cx="838500" cy="1398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4" name="Google Shape;2094;p119"/>
            <p:cNvSpPr/>
            <p:nvPr/>
          </p:nvSpPr>
          <p:spPr>
            <a:xfrm rot="5400000">
              <a:off x="3359375" y="3445350"/>
              <a:ext cx="838500" cy="1398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8" name="Shape 2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" name="Google Shape;2099;p1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4) This chart shows the number of people who live in rural areas compared to urban areas. </a:t>
            </a:r>
            <a:endParaRPr sz="2000"/>
          </a:p>
        </p:txBody>
      </p:sp>
      <p:sp>
        <p:nvSpPr>
          <p:cNvPr id="2100" name="Google Shape;2100;p12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Misinterpreting graphs</a:t>
            </a:r>
            <a:endParaRPr/>
          </a:p>
        </p:txBody>
      </p:sp>
      <p:cxnSp>
        <p:nvCxnSpPr>
          <p:cNvPr id="2101" name="Google Shape;2101;p120"/>
          <p:cNvCxnSpPr/>
          <p:nvPr/>
        </p:nvCxnSpPr>
        <p:spPr>
          <a:xfrm rot="10800000">
            <a:off x="636975" y="1526375"/>
            <a:ext cx="0" cy="196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2" name="Google Shape;2102;p120"/>
          <p:cNvCxnSpPr/>
          <p:nvPr/>
        </p:nvCxnSpPr>
        <p:spPr>
          <a:xfrm>
            <a:off x="636975" y="3491975"/>
            <a:ext cx="2208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03" name="Google Shape;2103;p120"/>
          <p:cNvGrpSpPr/>
          <p:nvPr/>
        </p:nvGrpSpPr>
        <p:grpSpPr>
          <a:xfrm>
            <a:off x="852591" y="2537235"/>
            <a:ext cx="370428" cy="928938"/>
            <a:chOff x="3291525" y="2055200"/>
            <a:chExt cx="749400" cy="1879300"/>
          </a:xfrm>
        </p:grpSpPr>
        <p:sp>
          <p:nvSpPr>
            <p:cNvPr id="2104" name="Google Shape;2104;p120"/>
            <p:cNvSpPr/>
            <p:nvPr/>
          </p:nvSpPr>
          <p:spPr>
            <a:xfrm>
              <a:off x="3480125" y="2055200"/>
              <a:ext cx="370500" cy="370500"/>
            </a:xfrm>
            <a:prstGeom prst="ellipse">
              <a:avLst/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5" name="Google Shape;2105;p120"/>
            <p:cNvSpPr/>
            <p:nvPr/>
          </p:nvSpPr>
          <p:spPr>
            <a:xfrm>
              <a:off x="3291550" y="2487900"/>
              <a:ext cx="747900" cy="2565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6" name="Google Shape;2106;p120"/>
            <p:cNvSpPr/>
            <p:nvPr/>
          </p:nvSpPr>
          <p:spPr>
            <a:xfrm rot="5400000">
              <a:off x="2989575" y="2798300"/>
              <a:ext cx="743700" cy="1398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7" name="Google Shape;2107;p120"/>
            <p:cNvSpPr/>
            <p:nvPr/>
          </p:nvSpPr>
          <p:spPr>
            <a:xfrm rot="5400000">
              <a:off x="3599175" y="2798300"/>
              <a:ext cx="743700" cy="1398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8" name="Google Shape;2108;p120"/>
            <p:cNvSpPr/>
            <p:nvPr/>
          </p:nvSpPr>
          <p:spPr>
            <a:xfrm rot="5400000">
              <a:off x="3293537" y="2682964"/>
              <a:ext cx="743700" cy="3705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9" name="Google Shape;2109;p120"/>
            <p:cNvSpPr/>
            <p:nvPr/>
          </p:nvSpPr>
          <p:spPr>
            <a:xfrm rot="5400000">
              <a:off x="3130775" y="3445350"/>
              <a:ext cx="838500" cy="1398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0" name="Google Shape;2110;p120"/>
            <p:cNvSpPr/>
            <p:nvPr/>
          </p:nvSpPr>
          <p:spPr>
            <a:xfrm rot="5400000">
              <a:off x="3359375" y="3445350"/>
              <a:ext cx="838500" cy="1398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11" name="Google Shape;2111;p120"/>
          <p:cNvGrpSpPr/>
          <p:nvPr/>
        </p:nvGrpSpPr>
        <p:grpSpPr>
          <a:xfrm>
            <a:off x="1545058" y="1500606"/>
            <a:ext cx="783797" cy="1965560"/>
            <a:chOff x="3291525" y="2055200"/>
            <a:chExt cx="749400" cy="1879300"/>
          </a:xfrm>
        </p:grpSpPr>
        <p:sp>
          <p:nvSpPr>
            <p:cNvPr id="2112" name="Google Shape;2112;p120"/>
            <p:cNvSpPr/>
            <p:nvPr/>
          </p:nvSpPr>
          <p:spPr>
            <a:xfrm>
              <a:off x="3480125" y="2055200"/>
              <a:ext cx="370500" cy="370500"/>
            </a:xfrm>
            <a:prstGeom prst="ellipse">
              <a:avLst/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3" name="Google Shape;2113;p120"/>
            <p:cNvSpPr/>
            <p:nvPr/>
          </p:nvSpPr>
          <p:spPr>
            <a:xfrm>
              <a:off x="3291550" y="2487900"/>
              <a:ext cx="747900" cy="2565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4" name="Google Shape;2114;p120"/>
            <p:cNvSpPr/>
            <p:nvPr/>
          </p:nvSpPr>
          <p:spPr>
            <a:xfrm rot="5400000">
              <a:off x="2989575" y="2798300"/>
              <a:ext cx="743700" cy="1398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5" name="Google Shape;2115;p120"/>
            <p:cNvSpPr/>
            <p:nvPr/>
          </p:nvSpPr>
          <p:spPr>
            <a:xfrm rot="5400000">
              <a:off x="3599175" y="2798300"/>
              <a:ext cx="743700" cy="1398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6" name="Google Shape;2116;p120"/>
            <p:cNvSpPr/>
            <p:nvPr/>
          </p:nvSpPr>
          <p:spPr>
            <a:xfrm rot="5400000">
              <a:off x="3293537" y="2682964"/>
              <a:ext cx="743700" cy="3705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7" name="Google Shape;2117;p120"/>
            <p:cNvSpPr/>
            <p:nvPr/>
          </p:nvSpPr>
          <p:spPr>
            <a:xfrm rot="5400000">
              <a:off x="3130775" y="3445350"/>
              <a:ext cx="838500" cy="1398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8" name="Google Shape;2118;p120"/>
            <p:cNvSpPr/>
            <p:nvPr/>
          </p:nvSpPr>
          <p:spPr>
            <a:xfrm rot="5400000">
              <a:off x="3359375" y="3445350"/>
              <a:ext cx="838500" cy="1398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19" name="Google Shape;2119;p120"/>
          <p:cNvSpPr txBox="1"/>
          <p:nvPr/>
        </p:nvSpPr>
        <p:spPr>
          <a:xfrm>
            <a:off x="636975" y="3572450"/>
            <a:ext cx="908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0" name="Google Shape;2120;p120"/>
          <p:cNvSpPr txBox="1"/>
          <p:nvPr/>
        </p:nvSpPr>
        <p:spPr>
          <a:xfrm>
            <a:off x="7940425" y="1293006"/>
            <a:ext cx="7836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21" name="Google Shape;2121;p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17486" y="1796997"/>
            <a:ext cx="629489" cy="7259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22" name="Google Shape;2122;p120"/>
          <p:cNvGrpSpPr/>
          <p:nvPr/>
        </p:nvGrpSpPr>
        <p:grpSpPr>
          <a:xfrm flipH="1">
            <a:off x="3935909" y="1293010"/>
            <a:ext cx="4110797" cy="993052"/>
            <a:chOff x="1902376" y="1608382"/>
            <a:chExt cx="2242294" cy="1130395"/>
          </a:xfrm>
        </p:grpSpPr>
        <p:pic>
          <p:nvPicPr>
            <p:cNvPr id="2123" name="Google Shape;2123;p120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902376" y="1608382"/>
              <a:ext cx="2242294" cy="10883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4" name="Google Shape;2124;p120"/>
            <p:cNvSpPr txBox="1"/>
            <p:nvPr/>
          </p:nvSpPr>
          <p:spPr>
            <a:xfrm flipH="1">
              <a:off x="2027144" y="1749378"/>
              <a:ext cx="2021400" cy="98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This shows twice as many people live in urban areas than rural.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25" name="Google Shape;2125;p120"/>
          <p:cNvSpPr txBox="1"/>
          <p:nvPr/>
        </p:nvSpPr>
        <p:spPr>
          <a:xfrm flipH="1">
            <a:off x="3174025" y="2466943"/>
            <a:ext cx="9780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26" name="Google Shape;2126;p1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409844" y="2843836"/>
            <a:ext cx="560997" cy="622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7" name="Google Shape;2127;p120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3955451" y="2286050"/>
            <a:ext cx="3536148" cy="1046426"/>
          </a:xfrm>
          <a:prstGeom prst="rect">
            <a:avLst/>
          </a:prstGeom>
          <a:noFill/>
          <a:ln>
            <a:noFill/>
          </a:ln>
        </p:spPr>
      </p:pic>
      <p:sp>
        <p:nvSpPr>
          <p:cNvPr id="2128" name="Google Shape;2128;p120"/>
          <p:cNvSpPr/>
          <p:nvPr/>
        </p:nvSpPr>
        <p:spPr>
          <a:xfrm>
            <a:off x="4207025" y="2325375"/>
            <a:ext cx="3199800" cy="7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think it shows that 4 times as many people live in urban areas than rural areas.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9" name="Google Shape;2129;p120"/>
          <p:cNvSpPr txBox="1"/>
          <p:nvPr/>
        </p:nvSpPr>
        <p:spPr>
          <a:xfrm>
            <a:off x="703500" y="3577050"/>
            <a:ext cx="561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Rural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0" name="Google Shape;2130;p120"/>
          <p:cNvSpPr txBox="1"/>
          <p:nvPr/>
        </p:nvSpPr>
        <p:spPr>
          <a:xfrm>
            <a:off x="1656450" y="3618750"/>
            <a:ext cx="6294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Urban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1" name="Google Shape;2131;p120"/>
          <p:cNvSpPr txBox="1"/>
          <p:nvPr>
            <p:ph idx="1" type="body"/>
          </p:nvPr>
        </p:nvSpPr>
        <p:spPr>
          <a:xfrm>
            <a:off x="2887200" y="3472100"/>
            <a:ext cx="59328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Give a reason why both may be incorrect.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2132" name="Google Shape;2132;p120"/>
          <p:cNvSpPr txBox="1"/>
          <p:nvPr>
            <p:ph idx="1" type="body"/>
          </p:nvPr>
        </p:nvSpPr>
        <p:spPr>
          <a:xfrm>
            <a:off x="2887200" y="3792875"/>
            <a:ext cx="59328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is no scale on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axis, if the scale does not start at zero then comparing proportions is incorrect. 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2133" name="Google Shape;2133;p120"/>
          <p:cNvSpPr txBox="1"/>
          <p:nvPr>
            <p:ph idx="1" type="body"/>
          </p:nvPr>
        </p:nvSpPr>
        <p:spPr>
          <a:xfrm>
            <a:off x="324000" y="4502400"/>
            <a:ext cx="8496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is impossible to interpret what this graph is showing.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/>
              <a:t> </a:t>
            </a:r>
            <a:endParaRPr sz="18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7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p121"/>
          <p:cNvSpPr txBox="1"/>
          <p:nvPr>
            <p:ph idx="1" type="body"/>
          </p:nvPr>
        </p:nvSpPr>
        <p:spPr>
          <a:xfrm>
            <a:off x="324000" y="1080000"/>
            <a:ext cx="84960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Graphs are often used as they are visually </a:t>
            </a:r>
            <a:r>
              <a:rPr lang="en-GB"/>
              <a:t>appealing.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They are sometimes drawn to deliberately mislead the reader or influence their opinion.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Some graphs are drawn accurately but interpreted incorrectly.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Just because there appears to be a correlation between two variables does not mean that one variable causes the other. </a:t>
            </a:r>
            <a:endParaRPr/>
          </a:p>
        </p:txBody>
      </p:sp>
      <p:sp>
        <p:nvSpPr>
          <p:cNvPr id="2139" name="Google Shape;2139;p121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Misleading data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3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p122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145" name="Google Shape;2145;p1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