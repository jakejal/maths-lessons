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 id="259" r:id="rId9"/>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208783-7D88-4065-B3B1-4DF56202ABD0}">
  <a:tblStyle styleId="{48208783-7D88-4065-B3B1-4DF56202ABD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080224bc55_0_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080224bc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080224bc55_0_74: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080224bc5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14" name="Google Shape;14;p2"/>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15" name="Google Shape;15;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6" name="Google Shape;16;p2"/>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7" name="Google Shape;17;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23" name="Google Shape;23;p3"/>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24" name="Google Shape;24;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5" name="Google Shape;25;p3"/>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26" name="Google Shape;26;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50" name="Google Shape;50;p6"/>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51" name="Google Shape;51;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2" name="Google Shape;52;p6"/>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53" name="Google Shape;53;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4" name="Google Shape;54;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6" name="Google Shape;56;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57" name="Google Shape;57;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63" name="Google Shape;63;p7"/>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64" name="Google Shape;64;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5" name="Google Shape;65;p7"/>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66" name="Google Shape;66;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7" name="Google Shape;67;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9" name="Google Shape;69;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70" name="Google Shape;70;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76" name="Google Shape;76;p8"/>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77" name="Google Shape;77;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8" name="Google Shape;78;p8"/>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79" name="Google Shape;79;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03" name="Google Shape;103;p11"/>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04" name="Google Shape;104;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5" name="Google Shape;105;p11"/>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06" name="Google Shape;106;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7" name="Google Shape;107;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2023</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9" name="Google Shape;109;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110" name="Google Shape;110;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1"/>
              </a:buClr>
              <a:buSzPts val="1800"/>
              <a:buFont typeface="Lexend"/>
              <a:buChar char="●"/>
              <a:defRPr i="0" sz="18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Kalam"/>
              <a:buChar char="■"/>
              <a:defRPr i="0" sz="1400" u="none" cap="none" strike="noStrike">
                <a:solidFill>
                  <a:schemeClr val="dk1"/>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16" name="Google Shape;116;p12"/>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Misleading data</a:t>
            </a:r>
            <a:endParaRPr/>
          </a:p>
        </p:txBody>
      </p:sp>
      <p:sp>
        <p:nvSpPr>
          <p:cNvPr id="117" name="Google Shape;117;p12"/>
          <p:cNvSpPr/>
          <p:nvPr/>
        </p:nvSpPr>
        <p:spPr>
          <a:xfrm>
            <a:off x="490922" y="2078233"/>
            <a:ext cx="3222600" cy="2740500"/>
          </a:xfrm>
          <a:prstGeom prst="roundRect">
            <a:avLst>
              <a:gd fmla="val 6008" name="adj"/>
            </a:avLst>
          </a:prstGeom>
          <a:noFill/>
          <a:ln cap="flat" cmpd="sng" w="1905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 name="Google Shape;118;p12"/>
          <p:cNvSpPr txBox="1"/>
          <p:nvPr/>
        </p:nvSpPr>
        <p:spPr>
          <a:xfrm>
            <a:off x="468000" y="1266875"/>
            <a:ext cx="6624000" cy="298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Misleading graphs</a:t>
            </a:r>
            <a:endParaRPr b="1">
              <a:solidFill>
                <a:schemeClr val="dk1"/>
              </a:solidFill>
              <a:latin typeface="Lexend"/>
              <a:ea typeface="Lexend"/>
              <a:cs typeface="Lexend"/>
              <a:sym typeface="Lexend"/>
            </a:endParaRPr>
          </a:p>
        </p:txBody>
      </p:sp>
      <p:sp>
        <p:nvSpPr>
          <p:cNvPr id="119" name="Google Shape;119;p12"/>
          <p:cNvSpPr txBox="1"/>
          <p:nvPr/>
        </p:nvSpPr>
        <p:spPr>
          <a:xfrm>
            <a:off x="468000" y="1675558"/>
            <a:ext cx="6422700" cy="20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1) Why might the graph in this advert be misleading?</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cxnSp>
        <p:nvCxnSpPr>
          <p:cNvPr id="120" name="Google Shape;120;p12"/>
          <p:cNvCxnSpPr/>
          <p:nvPr/>
        </p:nvCxnSpPr>
        <p:spPr>
          <a:xfrm rot="10800000">
            <a:off x="1063758" y="3114309"/>
            <a:ext cx="0" cy="1185900"/>
          </a:xfrm>
          <a:prstGeom prst="straightConnector1">
            <a:avLst/>
          </a:prstGeom>
          <a:noFill/>
          <a:ln cap="flat" cmpd="sng" w="19050">
            <a:solidFill>
              <a:srgbClr val="000000"/>
            </a:solidFill>
            <a:prstDash val="solid"/>
            <a:round/>
            <a:headEnd len="med" w="med" type="none"/>
            <a:tailEnd len="med" w="med" type="triangle"/>
          </a:ln>
        </p:spPr>
      </p:cxnSp>
      <p:cxnSp>
        <p:nvCxnSpPr>
          <p:cNvPr id="121" name="Google Shape;121;p12"/>
          <p:cNvCxnSpPr/>
          <p:nvPr/>
        </p:nvCxnSpPr>
        <p:spPr>
          <a:xfrm>
            <a:off x="1063758" y="4300209"/>
            <a:ext cx="1721700" cy="0"/>
          </a:xfrm>
          <a:prstGeom prst="straightConnector1">
            <a:avLst/>
          </a:prstGeom>
          <a:noFill/>
          <a:ln cap="flat" cmpd="sng" w="19050">
            <a:solidFill>
              <a:srgbClr val="000000"/>
            </a:solidFill>
            <a:prstDash val="solid"/>
            <a:round/>
            <a:headEnd len="med" w="med" type="none"/>
            <a:tailEnd len="med" w="med" type="triangle"/>
          </a:ln>
        </p:spPr>
      </p:cxnSp>
      <p:sp>
        <p:nvSpPr>
          <p:cNvPr id="122" name="Google Shape;122;p12"/>
          <p:cNvSpPr/>
          <p:nvPr/>
        </p:nvSpPr>
        <p:spPr>
          <a:xfrm>
            <a:off x="1160787" y="4033013"/>
            <a:ext cx="483900" cy="264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 name="Google Shape;123;p12"/>
          <p:cNvSpPr/>
          <p:nvPr/>
        </p:nvSpPr>
        <p:spPr>
          <a:xfrm>
            <a:off x="1764342" y="3364089"/>
            <a:ext cx="910800" cy="927300"/>
          </a:xfrm>
          <a:prstGeom prst="rect">
            <a:avLst/>
          </a:prstGeom>
          <a:solidFill>
            <a:srgbClr val="845AD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 name="Google Shape;124;p12"/>
          <p:cNvSpPr txBox="1"/>
          <p:nvPr/>
        </p:nvSpPr>
        <p:spPr>
          <a:xfrm>
            <a:off x="1101494" y="4360204"/>
            <a:ext cx="970200" cy="18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Regular toothpaste</a:t>
            </a:r>
            <a:endParaRPr sz="1200">
              <a:solidFill>
                <a:srgbClr val="000000"/>
              </a:solidFill>
              <a:latin typeface="Lexend"/>
              <a:ea typeface="Lexend"/>
              <a:cs typeface="Lexend"/>
              <a:sym typeface="Lexend"/>
            </a:endParaRPr>
          </a:p>
        </p:txBody>
      </p:sp>
      <p:sp>
        <p:nvSpPr>
          <p:cNvPr id="125" name="Google Shape;125;p12"/>
          <p:cNvSpPr txBox="1"/>
          <p:nvPr/>
        </p:nvSpPr>
        <p:spPr>
          <a:xfrm>
            <a:off x="1820322" y="3417886"/>
            <a:ext cx="970200" cy="18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FFFFFF"/>
                </a:solidFill>
                <a:latin typeface="Lexend"/>
                <a:ea typeface="Lexend"/>
                <a:cs typeface="Lexend"/>
                <a:sym typeface="Lexend"/>
              </a:rPr>
              <a:t>Premium toothpaste</a:t>
            </a:r>
            <a:endParaRPr sz="1200">
              <a:solidFill>
                <a:srgbClr val="FFFFFF"/>
              </a:solidFill>
              <a:latin typeface="Lexend"/>
              <a:ea typeface="Lexend"/>
              <a:cs typeface="Lexend"/>
              <a:sym typeface="Lexend"/>
            </a:endParaRPr>
          </a:p>
        </p:txBody>
      </p:sp>
      <p:sp>
        <p:nvSpPr>
          <p:cNvPr id="126" name="Google Shape;126;p12"/>
          <p:cNvSpPr txBox="1"/>
          <p:nvPr/>
        </p:nvSpPr>
        <p:spPr>
          <a:xfrm>
            <a:off x="527936" y="2168791"/>
            <a:ext cx="3120900" cy="18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“Studies show our toothpaste is much more effective at promoting healthy teeth and gums than regular toothpaste.”</a:t>
            </a:r>
            <a:endParaRPr sz="1200">
              <a:solidFill>
                <a:srgbClr val="000000"/>
              </a:solidFill>
              <a:latin typeface="Lexend"/>
              <a:ea typeface="Lexend"/>
              <a:cs typeface="Lexend"/>
              <a:sym typeface="Lexend"/>
            </a:endParaRPr>
          </a:p>
        </p:txBody>
      </p:sp>
      <p:sp>
        <p:nvSpPr>
          <p:cNvPr id="127" name="Google Shape;127;p12"/>
          <p:cNvSpPr txBox="1"/>
          <p:nvPr/>
        </p:nvSpPr>
        <p:spPr>
          <a:xfrm>
            <a:off x="3780000" y="2132201"/>
            <a:ext cx="3312000" cy="189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lang="en-GB" sz="1200">
                <a:latin typeface="Kalam"/>
                <a:ea typeface="Kalam"/>
                <a:cs typeface="Kalam"/>
                <a:sym typeface="Kalam"/>
              </a:rPr>
              <a:t>You may have said:</a:t>
            </a:r>
            <a:endParaRPr sz="1200">
              <a:latin typeface="Kalam"/>
              <a:ea typeface="Kalam"/>
              <a:cs typeface="Kalam"/>
              <a:sym typeface="Kalam"/>
            </a:endParaRPr>
          </a:p>
          <a:p>
            <a:pPr indent="0" lvl="0" marL="0" rtl="0" algn="l">
              <a:spcBef>
                <a:spcPts val="1000"/>
              </a:spcBef>
              <a:spcAft>
                <a:spcPts val="0"/>
              </a:spcAft>
              <a:buNone/>
            </a:pPr>
            <a:r>
              <a:rPr lang="en-GB" sz="1200">
                <a:latin typeface="Kalam"/>
                <a:ea typeface="Kalam"/>
                <a:cs typeface="Kalam"/>
                <a:sym typeface="Kalam"/>
              </a:rPr>
              <a:t>- </a:t>
            </a:r>
            <a:r>
              <a:rPr lang="en-GB" sz="1200">
                <a:latin typeface="Kalam"/>
                <a:ea typeface="Kalam"/>
                <a:cs typeface="Kalam"/>
                <a:sym typeface="Kalam"/>
              </a:rPr>
              <a:t>No scale on the </a:t>
            </a:r>
            <a:r>
              <a:rPr i="1" lang="en-GB" sz="1200">
                <a:latin typeface="Times New Roman"/>
                <a:ea typeface="Times New Roman"/>
                <a:cs typeface="Times New Roman"/>
                <a:sym typeface="Times New Roman"/>
              </a:rPr>
              <a:t>y</a:t>
            </a:r>
            <a:r>
              <a:rPr lang="en-GB" sz="1200">
                <a:latin typeface="Kalam"/>
                <a:ea typeface="Kalam"/>
                <a:cs typeface="Kalam"/>
                <a:sym typeface="Kalam"/>
              </a:rPr>
              <a:t> axis so the difference in height could be anything.</a:t>
            </a:r>
            <a:endParaRPr sz="1200">
              <a:latin typeface="Kalam"/>
              <a:ea typeface="Kalam"/>
              <a:cs typeface="Kalam"/>
              <a:sym typeface="Kalam"/>
            </a:endParaRPr>
          </a:p>
          <a:p>
            <a:pPr indent="0" lvl="0" marL="0" rtl="0" algn="l">
              <a:spcBef>
                <a:spcPts val="1000"/>
              </a:spcBef>
              <a:spcAft>
                <a:spcPts val="0"/>
              </a:spcAft>
              <a:buNone/>
            </a:pPr>
            <a:r>
              <a:rPr lang="en-GB" sz="1200">
                <a:latin typeface="Kalam"/>
                <a:ea typeface="Kalam"/>
                <a:cs typeface="Kalam"/>
                <a:sym typeface="Kalam"/>
              </a:rPr>
              <a:t>- The premium toothpaste bar is wider which makes it look like it represents a bigger number.</a:t>
            </a:r>
            <a:endParaRPr sz="1200">
              <a:latin typeface="Kalam"/>
              <a:ea typeface="Kalam"/>
              <a:cs typeface="Kalam"/>
              <a:sym typeface="Kalam"/>
            </a:endParaRPr>
          </a:p>
          <a:p>
            <a:pPr indent="0" lvl="0" marL="0" rtl="0" algn="l">
              <a:spcBef>
                <a:spcPts val="1000"/>
              </a:spcBef>
              <a:spcAft>
                <a:spcPts val="0"/>
              </a:spcAft>
              <a:buNone/>
            </a:pPr>
            <a:r>
              <a:rPr lang="en-GB" sz="1200">
                <a:latin typeface="Kalam"/>
                <a:ea typeface="Kalam"/>
                <a:cs typeface="Kalam"/>
                <a:sym typeface="Kalam"/>
              </a:rPr>
              <a:t>- No label on the </a:t>
            </a:r>
            <a:r>
              <a:rPr i="1" lang="en-GB" sz="1200">
                <a:latin typeface="Times New Roman"/>
                <a:ea typeface="Times New Roman"/>
                <a:cs typeface="Times New Roman"/>
                <a:sym typeface="Times New Roman"/>
              </a:rPr>
              <a:t>y</a:t>
            </a:r>
            <a:r>
              <a:rPr lang="en-GB" sz="1200">
                <a:latin typeface="Kalam"/>
                <a:ea typeface="Kalam"/>
                <a:cs typeface="Kalam"/>
                <a:sym typeface="Kalam"/>
              </a:rPr>
              <a:t> axis so we do not know what is being measured.</a:t>
            </a:r>
            <a:endParaRPr sz="1200">
              <a:latin typeface="Kalam"/>
              <a:ea typeface="Kalam"/>
              <a:cs typeface="Kalam"/>
              <a:sym typeface="Kalam"/>
            </a:endParaRPr>
          </a:p>
          <a:p>
            <a:pPr indent="0" lvl="0" marL="0" rtl="0" algn="l">
              <a:spcBef>
                <a:spcPts val="1000"/>
              </a:spcBef>
              <a:spcAft>
                <a:spcPts val="0"/>
              </a:spcAft>
              <a:buNone/>
            </a:pPr>
            <a:r>
              <a:rPr lang="en-GB" sz="1200">
                <a:latin typeface="Kalam"/>
                <a:ea typeface="Kalam"/>
                <a:cs typeface="Kalam"/>
                <a:sym typeface="Kalam"/>
              </a:rPr>
              <a:t>- Use of colour highlights the Premium toothpaste. </a:t>
            </a:r>
            <a:endParaRPr sz="1200">
              <a:latin typeface="Kalam"/>
              <a:ea typeface="Kalam"/>
              <a:cs typeface="Kalam"/>
              <a:sym typeface="Kalam"/>
            </a:endParaRPr>
          </a:p>
        </p:txBody>
      </p:sp>
      <p:sp>
        <p:nvSpPr>
          <p:cNvPr id="128" name="Google Shape;128;p12"/>
          <p:cNvSpPr txBox="1"/>
          <p:nvPr/>
        </p:nvSpPr>
        <p:spPr>
          <a:xfrm>
            <a:off x="468000" y="5318000"/>
            <a:ext cx="3312000" cy="2355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2) This chart shows the profit of a company (in thousands) over a 5 year period.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29" name="Google Shape;129;p12"/>
          <p:cNvSpPr txBox="1"/>
          <p:nvPr/>
        </p:nvSpPr>
        <p:spPr>
          <a:xfrm>
            <a:off x="468000" y="5994725"/>
            <a:ext cx="4026900" cy="29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What elements of this chart might make it misleading?</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30" name="Google Shape;130;p12"/>
          <p:cNvSpPr txBox="1"/>
          <p:nvPr/>
        </p:nvSpPr>
        <p:spPr>
          <a:xfrm>
            <a:off x="468000" y="7581482"/>
            <a:ext cx="6624000" cy="29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b) Why do you think the company chose to draw it this way?</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pic>
        <p:nvPicPr>
          <p:cNvPr id="131" name="Google Shape;131;p12"/>
          <p:cNvPicPr preferRelativeResize="0"/>
          <p:nvPr/>
        </p:nvPicPr>
        <p:blipFill rotWithShape="1">
          <a:blip r:embed="rId3">
            <a:alphaModFix/>
          </a:blip>
          <a:srcRect b="0" l="7952" r="0" t="0"/>
          <a:stretch/>
        </p:blipFill>
        <p:spPr>
          <a:xfrm>
            <a:off x="4613769" y="5260372"/>
            <a:ext cx="2424434" cy="1767161"/>
          </a:xfrm>
          <a:prstGeom prst="rect">
            <a:avLst/>
          </a:prstGeom>
          <a:noFill/>
          <a:ln>
            <a:noFill/>
          </a:ln>
        </p:spPr>
      </p:pic>
      <p:sp>
        <p:nvSpPr>
          <p:cNvPr id="132" name="Google Shape;132;p12"/>
          <p:cNvSpPr txBox="1"/>
          <p:nvPr/>
        </p:nvSpPr>
        <p:spPr>
          <a:xfrm rot="-5401897">
            <a:off x="4046324" y="5972685"/>
            <a:ext cx="1087200" cy="18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808080"/>
                </a:solidFill>
                <a:latin typeface="Lexend"/>
                <a:ea typeface="Lexend"/>
                <a:cs typeface="Lexend"/>
                <a:sym typeface="Lexend"/>
              </a:rPr>
              <a:t>Profit (1000s)</a:t>
            </a:r>
            <a:endParaRPr sz="1200">
              <a:solidFill>
                <a:srgbClr val="808080"/>
              </a:solidFill>
              <a:latin typeface="Lexend"/>
              <a:ea typeface="Lexend"/>
              <a:cs typeface="Lexend"/>
              <a:sym typeface="Lexend"/>
            </a:endParaRPr>
          </a:p>
        </p:txBody>
      </p:sp>
      <p:sp>
        <p:nvSpPr>
          <p:cNvPr id="133" name="Google Shape;133;p12"/>
          <p:cNvSpPr txBox="1"/>
          <p:nvPr/>
        </p:nvSpPr>
        <p:spPr>
          <a:xfrm>
            <a:off x="468000" y="6581849"/>
            <a:ext cx="4026900" cy="29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A 3D bar chart can make bars in the foreground look like they are bigger.</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34" name="Google Shape;134;p12"/>
          <p:cNvSpPr txBox="1"/>
          <p:nvPr/>
        </p:nvSpPr>
        <p:spPr>
          <a:xfrm>
            <a:off x="468000" y="7168982"/>
            <a:ext cx="4382700" cy="29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It is hard to read the exact numbers off the axis.</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35" name="Google Shape;135;p12"/>
          <p:cNvSpPr txBox="1"/>
          <p:nvPr/>
        </p:nvSpPr>
        <p:spPr>
          <a:xfrm>
            <a:off x="468000" y="7879936"/>
            <a:ext cx="6624000" cy="29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To make the yearly profit increase look more impressive.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3"/>
          <p:cNvSpPr txBox="1"/>
          <p:nvPr/>
        </p:nvSpPr>
        <p:spPr>
          <a:xfrm>
            <a:off x="464707" y="2439213"/>
            <a:ext cx="2818500" cy="29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b) Why is his graph misleading?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41" name="Google Shape;141;p13"/>
          <p:cNvSpPr txBox="1"/>
          <p:nvPr/>
        </p:nvSpPr>
        <p:spPr>
          <a:xfrm>
            <a:off x="457199" y="1301120"/>
            <a:ext cx="2900700" cy="29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What conclusion might he be trying to convey with this graph?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42" name="Google Shape;142;p13"/>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Misleading data</a:t>
            </a:r>
            <a:endParaRPr/>
          </a:p>
        </p:txBody>
      </p:sp>
      <p:cxnSp>
        <p:nvCxnSpPr>
          <p:cNvPr id="143" name="Google Shape;143;p13"/>
          <p:cNvCxnSpPr/>
          <p:nvPr/>
        </p:nvCxnSpPr>
        <p:spPr>
          <a:xfrm>
            <a:off x="474751" y="9971988"/>
            <a:ext cx="6610500" cy="0"/>
          </a:xfrm>
          <a:prstGeom prst="straightConnector1">
            <a:avLst/>
          </a:prstGeom>
          <a:noFill/>
          <a:ln cap="flat" cmpd="sng" w="38100">
            <a:solidFill>
              <a:srgbClr val="000000"/>
            </a:solidFill>
            <a:prstDash val="solid"/>
            <a:round/>
            <a:headEnd len="med" w="med" type="none"/>
            <a:tailEnd len="med" w="med" type="none"/>
          </a:ln>
        </p:spPr>
      </p:cxnSp>
      <p:sp>
        <p:nvSpPr>
          <p:cNvPr id="144" name="Google Shape;144;p13"/>
          <p:cNvSpPr txBox="1"/>
          <p:nvPr/>
        </p:nvSpPr>
        <p:spPr>
          <a:xfrm>
            <a:off x="457199" y="1826477"/>
            <a:ext cx="2563500" cy="29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It is significantly hotter in the classroom in July.  </a:t>
            </a:r>
            <a:endParaRPr sz="1200">
              <a:solidFill>
                <a:srgbClr val="000000"/>
              </a:solidFill>
              <a:latin typeface="Kalam"/>
              <a:ea typeface="Kalam"/>
              <a:cs typeface="Kalam"/>
              <a:sym typeface="Kalam"/>
            </a:endParaRPr>
          </a:p>
          <a:p>
            <a:pPr indent="0" lvl="0" marL="0" rtl="0" algn="l">
              <a:spcBef>
                <a:spcPts val="1000"/>
              </a:spcBef>
              <a:spcAft>
                <a:spcPts val="0"/>
              </a:spcAft>
              <a:buNone/>
            </a:pPr>
            <a:r>
              <a:t/>
            </a:r>
            <a:endParaRPr sz="1200">
              <a:solidFill>
                <a:srgbClr val="000000"/>
              </a:solidFill>
              <a:latin typeface="Kalam"/>
              <a:ea typeface="Kalam"/>
              <a:cs typeface="Kalam"/>
              <a:sym typeface="Kalam"/>
            </a:endParaRPr>
          </a:p>
          <a:p>
            <a:pPr indent="0" lvl="0" marL="0" rtl="0" algn="l">
              <a:spcBef>
                <a:spcPts val="1000"/>
              </a:spcBef>
              <a:spcAft>
                <a:spcPts val="1000"/>
              </a:spcAft>
              <a:buNone/>
            </a:pPr>
            <a:r>
              <a:t/>
            </a:r>
            <a:endParaRPr sz="1200">
              <a:solidFill>
                <a:srgbClr val="000000"/>
              </a:solidFill>
              <a:latin typeface="Kalam"/>
              <a:ea typeface="Kalam"/>
              <a:cs typeface="Kalam"/>
              <a:sym typeface="Kalam"/>
            </a:endParaRPr>
          </a:p>
        </p:txBody>
      </p:sp>
      <p:sp>
        <p:nvSpPr>
          <p:cNvPr id="145" name="Google Shape;145;p13"/>
          <p:cNvSpPr txBox="1"/>
          <p:nvPr/>
        </p:nvSpPr>
        <p:spPr>
          <a:xfrm>
            <a:off x="457277" y="2703382"/>
            <a:ext cx="2826000" cy="29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It has a broken scale so cannot use proportions.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pic>
        <p:nvPicPr>
          <p:cNvPr id="146" name="Google Shape;146;p13"/>
          <p:cNvPicPr preferRelativeResize="0"/>
          <p:nvPr/>
        </p:nvPicPr>
        <p:blipFill rotWithShape="1">
          <a:blip r:embed="rId3">
            <a:alphaModFix/>
          </a:blip>
          <a:srcRect b="0" l="0" r="7338" t="0"/>
          <a:stretch/>
        </p:blipFill>
        <p:spPr>
          <a:xfrm>
            <a:off x="4565789" y="1192225"/>
            <a:ext cx="2265816" cy="1911018"/>
          </a:xfrm>
          <a:prstGeom prst="rect">
            <a:avLst/>
          </a:prstGeom>
          <a:noFill/>
          <a:ln>
            <a:noFill/>
          </a:ln>
        </p:spPr>
      </p:pic>
      <p:sp>
        <p:nvSpPr>
          <p:cNvPr id="147" name="Google Shape;147;p13"/>
          <p:cNvSpPr txBox="1"/>
          <p:nvPr/>
        </p:nvSpPr>
        <p:spPr>
          <a:xfrm>
            <a:off x="457199" y="720000"/>
            <a:ext cx="6575400" cy="29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3) Jacob records the average temperature in one of his classrooms each month and draws this graph.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pic>
        <p:nvPicPr>
          <p:cNvPr id="148" name="Google Shape;148;p13"/>
          <p:cNvPicPr preferRelativeResize="0"/>
          <p:nvPr/>
        </p:nvPicPr>
        <p:blipFill>
          <a:blip r:embed="rId3">
            <a:alphaModFix/>
          </a:blip>
          <a:stretch>
            <a:fillRect/>
          </a:stretch>
        </p:blipFill>
        <p:spPr>
          <a:xfrm>
            <a:off x="3756199" y="1192225"/>
            <a:ext cx="2445197" cy="1911018"/>
          </a:xfrm>
          <a:prstGeom prst="rect">
            <a:avLst/>
          </a:prstGeom>
          <a:noFill/>
          <a:ln>
            <a:noFill/>
          </a:ln>
        </p:spPr>
      </p:pic>
      <p:grpSp>
        <p:nvGrpSpPr>
          <p:cNvPr id="149" name="Google Shape;149;p13"/>
          <p:cNvGrpSpPr/>
          <p:nvPr/>
        </p:nvGrpSpPr>
        <p:grpSpPr>
          <a:xfrm>
            <a:off x="3732885" y="1144132"/>
            <a:ext cx="3248125" cy="1957528"/>
            <a:chOff x="4667503" y="2040830"/>
            <a:chExt cx="2977200" cy="2465400"/>
          </a:xfrm>
        </p:grpSpPr>
        <p:cxnSp>
          <p:nvCxnSpPr>
            <p:cNvPr id="150" name="Google Shape;150;p13"/>
            <p:cNvCxnSpPr/>
            <p:nvPr/>
          </p:nvCxnSpPr>
          <p:spPr>
            <a:xfrm rot="10800000">
              <a:off x="4820745" y="2040830"/>
              <a:ext cx="0" cy="2465400"/>
            </a:xfrm>
            <a:prstGeom prst="straightConnector1">
              <a:avLst/>
            </a:prstGeom>
            <a:noFill/>
            <a:ln cap="flat" cmpd="sng" w="38100">
              <a:solidFill>
                <a:srgbClr val="000000"/>
              </a:solidFill>
              <a:prstDash val="solid"/>
              <a:round/>
              <a:headEnd len="med" w="med" type="none"/>
              <a:tailEnd len="med" w="med" type="triangle"/>
            </a:ln>
          </p:spPr>
        </p:cxnSp>
        <p:cxnSp>
          <p:nvCxnSpPr>
            <p:cNvPr id="151" name="Google Shape;151;p13"/>
            <p:cNvCxnSpPr/>
            <p:nvPr/>
          </p:nvCxnSpPr>
          <p:spPr>
            <a:xfrm>
              <a:off x="4667503" y="4321393"/>
              <a:ext cx="2977200" cy="0"/>
            </a:xfrm>
            <a:prstGeom prst="straightConnector1">
              <a:avLst/>
            </a:prstGeom>
            <a:noFill/>
            <a:ln cap="flat" cmpd="sng" w="38100">
              <a:solidFill>
                <a:srgbClr val="000000"/>
              </a:solidFill>
              <a:prstDash val="solid"/>
              <a:round/>
              <a:headEnd len="med" w="med" type="none"/>
              <a:tailEnd len="med" w="med" type="triangle"/>
            </a:ln>
          </p:spPr>
        </p:cxnSp>
      </p:grpSp>
      <p:sp>
        <p:nvSpPr>
          <p:cNvPr id="152" name="Google Shape;152;p13"/>
          <p:cNvSpPr txBox="1"/>
          <p:nvPr/>
        </p:nvSpPr>
        <p:spPr>
          <a:xfrm>
            <a:off x="6366299" y="2639050"/>
            <a:ext cx="725700" cy="3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Month</a:t>
            </a:r>
            <a:endParaRPr sz="1200">
              <a:solidFill>
                <a:srgbClr val="000000"/>
              </a:solidFill>
              <a:latin typeface="Lexend"/>
              <a:ea typeface="Lexend"/>
              <a:cs typeface="Lexend"/>
              <a:sym typeface="Lexend"/>
            </a:endParaRPr>
          </a:p>
        </p:txBody>
      </p:sp>
      <p:sp>
        <p:nvSpPr>
          <p:cNvPr id="153" name="Google Shape;153;p13"/>
          <p:cNvSpPr txBox="1"/>
          <p:nvPr/>
        </p:nvSpPr>
        <p:spPr>
          <a:xfrm>
            <a:off x="3649151" y="2962575"/>
            <a:ext cx="725700" cy="2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March</a:t>
            </a:r>
            <a:endParaRPr sz="1200">
              <a:solidFill>
                <a:srgbClr val="000000"/>
              </a:solidFill>
              <a:latin typeface="Lexend"/>
              <a:ea typeface="Lexend"/>
              <a:cs typeface="Lexend"/>
              <a:sym typeface="Lexend"/>
            </a:endParaRPr>
          </a:p>
        </p:txBody>
      </p:sp>
      <p:sp>
        <p:nvSpPr>
          <p:cNvPr id="154" name="Google Shape;154;p13"/>
          <p:cNvSpPr txBox="1"/>
          <p:nvPr/>
        </p:nvSpPr>
        <p:spPr>
          <a:xfrm>
            <a:off x="4229450" y="2962575"/>
            <a:ext cx="547500" cy="2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April</a:t>
            </a:r>
            <a:endParaRPr sz="1200">
              <a:solidFill>
                <a:srgbClr val="000000"/>
              </a:solidFill>
              <a:latin typeface="Lexend"/>
              <a:ea typeface="Lexend"/>
              <a:cs typeface="Lexend"/>
              <a:sym typeface="Lexend"/>
            </a:endParaRPr>
          </a:p>
        </p:txBody>
      </p:sp>
      <p:sp>
        <p:nvSpPr>
          <p:cNvPr id="155" name="Google Shape;155;p13"/>
          <p:cNvSpPr txBox="1"/>
          <p:nvPr/>
        </p:nvSpPr>
        <p:spPr>
          <a:xfrm>
            <a:off x="4802443" y="2962586"/>
            <a:ext cx="539700" cy="2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May </a:t>
            </a:r>
            <a:endParaRPr sz="1200">
              <a:solidFill>
                <a:srgbClr val="000000"/>
              </a:solidFill>
              <a:latin typeface="Lexend"/>
              <a:ea typeface="Lexend"/>
              <a:cs typeface="Lexend"/>
              <a:sym typeface="Lexend"/>
            </a:endParaRPr>
          </a:p>
        </p:txBody>
      </p:sp>
      <p:sp>
        <p:nvSpPr>
          <p:cNvPr id="156" name="Google Shape;156;p13"/>
          <p:cNvSpPr txBox="1"/>
          <p:nvPr/>
        </p:nvSpPr>
        <p:spPr>
          <a:xfrm>
            <a:off x="5334347" y="2962575"/>
            <a:ext cx="725700" cy="2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June</a:t>
            </a:r>
            <a:endParaRPr sz="1200">
              <a:solidFill>
                <a:srgbClr val="000000"/>
              </a:solidFill>
              <a:latin typeface="Lexend"/>
              <a:ea typeface="Lexend"/>
              <a:cs typeface="Lexend"/>
              <a:sym typeface="Lexend"/>
            </a:endParaRPr>
          </a:p>
        </p:txBody>
      </p:sp>
      <p:sp>
        <p:nvSpPr>
          <p:cNvPr id="157" name="Google Shape;157;p13"/>
          <p:cNvSpPr txBox="1"/>
          <p:nvPr/>
        </p:nvSpPr>
        <p:spPr>
          <a:xfrm>
            <a:off x="5892025" y="2962575"/>
            <a:ext cx="533100" cy="2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July</a:t>
            </a:r>
            <a:endParaRPr sz="1200">
              <a:solidFill>
                <a:srgbClr val="000000"/>
              </a:solidFill>
              <a:latin typeface="Lexend"/>
              <a:ea typeface="Lexend"/>
              <a:cs typeface="Lexend"/>
              <a:sym typeface="Lexend"/>
            </a:endParaRPr>
          </a:p>
        </p:txBody>
      </p:sp>
      <p:sp>
        <p:nvSpPr>
          <p:cNvPr id="158" name="Google Shape;158;p13"/>
          <p:cNvSpPr txBox="1"/>
          <p:nvPr/>
        </p:nvSpPr>
        <p:spPr>
          <a:xfrm rot="-5400000">
            <a:off x="2245174" y="1923535"/>
            <a:ext cx="25491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 Classroom temperature </a:t>
            </a:r>
            <a:r>
              <a:rPr lang="en-GB" sz="1200">
                <a:solidFill>
                  <a:srgbClr val="000000"/>
                </a:solidFill>
                <a:latin typeface="Lexend"/>
                <a:ea typeface="Lexend"/>
                <a:cs typeface="Lexend"/>
                <a:sym typeface="Lexend"/>
              </a:rPr>
              <a:t> (°C)</a:t>
            </a:r>
            <a:r>
              <a:rPr lang="en-GB" sz="1200">
                <a:latin typeface="Lexend"/>
                <a:ea typeface="Lexend"/>
                <a:cs typeface="Lexend"/>
                <a:sym typeface="Lexend"/>
              </a:rPr>
              <a:t>  </a:t>
            </a:r>
            <a:endParaRPr sz="1200">
              <a:latin typeface="Lexend"/>
              <a:ea typeface="Lexend"/>
              <a:cs typeface="Lexend"/>
              <a:sym typeface="Lexend"/>
            </a:endParaRPr>
          </a:p>
        </p:txBody>
      </p:sp>
      <p:grpSp>
        <p:nvGrpSpPr>
          <p:cNvPr id="159" name="Google Shape;159;p13"/>
          <p:cNvGrpSpPr/>
          <p:nvPr/>
        </p:nvGrpSpPr>
        <p:grpSpPr>
          <a:xfrm>
            <a:off x="3590900" y="1477926"/>
            <a:ext cx="290677" cy="1308928"/>
            <a:chOff x="5206856" y="2170985"/>
            <a:chExt cx="375600" cy="1691340"/>
          </a:xfrm>
        </p:grpSpPr>
        <p:sp>
          <p:nvSpPr>
            <p:cNvPr id="160" name="Google Shape;160;p13"/>
            <p:cNvSpPr/>
            <p:nvPr/>
          </p:nvSpPr>
          <p:spPr>
            <a:xfrm>
              <a:off x="5206856" y="3544025"/>
              <a:ext cx="375600" cy="31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24</a:t>
              </a:r>
              <a:endParaRPr sz="1200">
                <a:latin typeface="Lexend"/>
                <a:ea typeface="Lexend"/>
                <a:cs typeface="Lexend"/>
                <a:sym typeface="Lexend"/>
              </a:endParaRPr>
            </a:p>
          </p:txBody>
        </p:sp>
        <p:sp>
          <p:nvSpPr>
            <p:cNvPr id="161" name="Google Shape;161;p13"/>
            <p:cNvSpPr/>
            <p:nvPr/>
          </p:nvSpPr>
          <p:spPr>
            <a:xfrm>
              <a:off x="5206856" y="2873177"/>
              <a:ext cx="375600" cy="31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p:txBody>
        </p:sp>
        <p:sp>
          <p:nvSpPr>
            <p:cNvPr id="162" name="Google Shape;162;p13"/>
            <p:cNvSpPr/>
            <p:nvPr/>
          </p:nvSpPr>
          <p:spPr>
            <a:xfrm>
              <a:off x="5206856" y="2170985"/>
              <a:ext cx="375600" cy="31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26</a:t>
              </a:r>
              <a:endParaRPr sz="1200">
                <a:latin typeface="Lexend"/>
                <a:ea typeface="Lexend"/>
                <a:cs typeface="Lexend"/>
                <a:sym typeface="Lexend"/>
              </a:endParaRPr>
            </a:p>
          </p:txBody>
        </p:sp>
      </p:grpSp>
      <p:grpSp>
        <p:nvGrpSpPr>
          <p:cNvPr id="163" name="Google Shape;163;p13"/>
          <p:cNvGrpSpPr/>
          <p:nvPr/>
        </p:nvGrpSpPr>
        <p:grpSpPr>
          <a:xfrm rot="118958">
            <a:off x="3826812" y="2772275"/>
            <a:ext cx="149399" cy="114935"/>
            <a:chOff x="4801213" y="3827588"/>
            <a:chExt cx="265062" cy="145183"/>
          </a:xfrm>
        </p:grpSpPr>
        <p:cxnSp>
          <p:nvCxnSpPr>
            <p:cNvPr id="164" name="Google Shape;164;p13"/>
            <p:cNvCxnSpPr/>
            <p:nvPr/>
          </p:nvCxnSpPr>
          <p:spPr>
            <a:xfrm flipH="1" rot="10800000">
              <a:off x="4801213" y="3827588"/>
              <a:ext cx="240000" cy="80100"/>
            </a:xfrm>
            <a:prstGeom prst="straightConnector1">
              <a:avLst/>
            </a:prstGeom>
            <a:noFill/>
            <a:ln cap="flat" cmpd="sng" w="38100">
              <a:solidFill>
                <a:srgbClr val="000000"/>
              </a:solidFill>
              <a:prstDash val="solid"/>
              <a:round/>
              <a:headEnd len="med" w="med" type="none"/>
              <a:tailEnd len="med" w="med" type="none"/>
            </a:ln>
          </p:spPr>
        </p:cxnSp>
        <p:cxnSp>
          <p:nvCxnSpPr>
            <p:cNvPr id="165" name="Google Shape;165;p13"/>
            <p:cNvCxnSpPr/>
            <p:nvPr/>
          </p:nvCxnSpPr>
          <p:spPr>
            <a:xfrm flipH="1" rot="10800000">
              <a:off x="4814108" y="3860654"/>
              <a:ext cx="240000" cy="80100"/>
            </a:xfrm>
            <a:prstGeom prst="straightConnector1">
              <a:avLst/>
            </a:prstGeom>
            <a:noFill/>
            <a:ln cap="flat" cmpd="sng" w="38100">
              <a:solidFill>
                <a:srgbClr val="FFFFFF"/>
              </a:solidFill>
              <a:prstDash val="solid"/>
              <a:round/>
              <a:headEnd len="med" w="med" type="none"/>
              <a:tailEnd len="med" w="med" type="none"/>
            </a:ln>
          </p:spPr>
        </p:cxnSp>
        <p:cxnSp>
          <p:nvCxnSpPr>
            <p:cNvPr id="166" name="Google Shape;166;p13"/>
            <p:cNvCxnSpPr/>
            <p:nvPr/>
          </p:nvCxnSpPr>
          <p:spPr>
            <a:xfrm flipH="1" rot="10800000">
              <a:off x="4826275" y="3892671"/>
              <a:ext cx="240000" cy="80100"/>
            </a:xfrm>
            <a:prstGeom prst="straightConnector1">
              <a:avLst/>
            </a:prstGeom>
            <a:noFill/>
            <a:ln cap="flat" cmpd="sng" w="38100">
              <a:solidFill>
                <a:srgbClr val="000000"/>
              </a:solidFill>
              <a:prstDash val="solid"/>
              <a:round/>
              <a:headEnd len="med" w="med" type="none"/>
              <a:tailEnd len="med" w="med" type="none"/>
            </a:ln>
          </p:spPr>
        </p:cxnSp>
      </p:grpSp>
      <p:sp>
        <p:nvSpPr>
          <p:cNvPr id="167" name="Google Shape;167;p13"/>
          <p:cNvSpPr txBox="1"/>
          <p:nvPr/>
        </p:nvSpPr>
        <p:spPr>
          <a:xfrm>
            <a:off x="3816637" y="2415842"/>
            <a:ext cx="170700" cy="195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845AD9"/>
                </a:solidFill>
                <a:latin typeface="Lexend"/>
                <a:ea typeface="Lexend"/>
                <a:cs typeface="Lexend"/>
                <a:sym typeface="Lexend"/>
              </a:rPr>
              <a:t>✖</a:t>
            </a:r>
            <a:endParaRPr sz="1600">
              <a:solidFill>
                <a:srgbClr val="845AD9"/>
              </a:solidFill>
              <a:latin typeface="Lexend"/>
              <a:ea typeface="Lexend"/>
              <a:cs typeface="Lexend"/>
              <a:sym typeface="Lexend"/>
            </a:endParaRPr>
          </a:p>
        </p:txBody>
      </p:sp>
      <p:cxnSp>
        <p:nvCxnSpPr>
          <p:cNvPr id="168" name="Google Shape;168;p13"/>
          <p:cNvCxnSpPr/>
          <p:nvPr/>
        </p:nvCxnSpPr>
        <p:spPr>
          <a:xfrm>
            <a:off x="3907371" y="2534506"/>
            <a:ext cx="546900" cy="138300"/>
          </a:xfrm>
          <a:prstGeom prst="straightConnector1">
            <a:avLst/>
          </a:prstGeom>
          <a:noFill/>
          <a:ln cap="flat" cmpd="sng" w="19050">
            <a:solidFill>
              <a:srgbClr val="845AD9"/>
            </a:solidFill>
            <a:prstDash val="solid"/>
            <a:round/>
            <a:headEnd len="med" w="med" type="none"/>
            <a:tailEnd len="med" w="med" type="none"/>
          </a:ln>
        </p:spPr>
      </p:cxnSp>
      <p:sp>
        <p:nvSpPr>
          <p:cNvPr id="169" name="Google Shape;169;p13"/>
          <p:cNvSpPr txBox="1"/>
          <p:nvPr/>
        </p:nvSpPr>
        <p:spPr>
          <a:xfrm>
            <a:off x="4371476" y="2548517"/>
            <a:ext cx="170700" cy="195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845AD9"/>
                </a:solidFill>
                <a:latin typeface="Lexend"/>
                <a:ea typeface="Lexend"/>
                <a:cs typeface="Lexend"/>
                <a:sym typeface="Lexend"/>
              </a:rPr>
              <a:t>✖</a:t>
            </a:r>
            <a:endParaRPr sz="1600">
              <a:solidFill>
                <a:srgbClr val="845AD9"/>
              </a:solidFill>
              <a:latin typeface="Lexend"/>
              <a:ea typeface="Lexend"/>
              <a:cs typeface="Lexend"/>
              <a:sym typeface="Lexend"/>
            </a:endParaRPr>
          </a:p>
        </p:txBody>
      </p:sp>
      <p:sp>
        <p:nvSpPr>
          <p:cNvPr id="170" name="Google Shape;170;p13"/>
          <p:cNvSpPr txBox="1"/>
          <p:nvPr/>
        </p:nvSpPr>
        <p:spPr>
          <a:xfrm>
            <a:off x="4902370" y="2280514"/>
            <a:ext cx="170700" cy="195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845AD9"/>
                </a:solidFill>
                <a:latin typeface="Lexend"/>
                <a:ea typeface="Lexend"/>
                <a:cs typeface="Lexend"/>
                <a:sym typeface="Lexend"/>
              </a:rPr>
              <a:t>✖</a:t>
            </a:r>
            <a:endParaRPr sz="1600">
              <a:solidFill>
                <a:srgbClr val="845AD9"/>
              </a:solidFill>
              <a:latin typeface="Lexend"/>
              <a:ea typeface="Lexend"/>
              <a:cs typeface="Lexend"/>
              <a:sym typeface="Lexend"/>
            </a:endParaRPr>
          </a:p>
        </p:txBody>
      </p:sp>
      <p:sp>
        <p:nvSpPr>
          <p:cNvPr id="171" name="Google Shape;171;p13"/>
          <p:cNvSpPr txBox="1"/>
          <p:nvPr/>
        </p:nvSpPr>
        <p:spPr>
          <a:xfrm>
            <a:off x="5449196" y="2157214"/>
            <a:ext cx="170700" cy="195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845AD9"/>
                </a:solidFill>
                <a:latin typeface="Lexend"/>
                <a:ea typeface="Lexend"/>
                <a:cs typeface="Lexend"/>
                <a:sym typeface="Lexend"/>
              </a:rPr>
              <a:t>✖</a:t>
            </a:r>
            <a:endParaRPr sz="1600">
              <a:solidFill>
                <a:srgbClr val="845AD9"/>
              </a:solidFill>
              <a:latin typeface="Lexend"/>
              <a:ea typeface="Lexend"/>
              <a:cs typeface="Lexend"/>
              <a:sym typeface="Lexend"/>
            </a:endParaRPr>
          </a:p>
        </p:txBody>
      </p:sp>
      <p:sp>
        <p:nvSpPr>
          <p:cNvPr id="172" name="Google Shape;172;p13"/>
          <p:cNvSpPr txBox="1"/>
          <p:nvPr/>
        </p:nvSpPr>
        <p:spPr>
          <a:xfrm>
            <a:off x="5985221" y="1345419"/>
            <a:ext cx="170700" cy="195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845AD9"/>
                </a:solidFill>
                <a:latin typeface="Lexend"/>
                <a:ea typeface="Lexend"/>
                <a:cs typeface="Lexend"/>
                <a:sym typeface="Lexend"/>
              </a:rPr>
              <a:t>✖</a:t>
            </a:r>
            <a:endParaRPr sz="1600">
              <a:solidFill>
                <a:srgbClr val="845AD9"/>
              </a:solidFill>
              <a:latin typeface="Lexend"/>
              <a:ea typeface="Lexend"/>
              <a:cs typeface="Lexend"/>
              <a:sym typeface="Lexend"/>
            </a:endParaRPr>
          </a:p>
        </p:txBody>
      </p:sp>
      <p:cxnSp>
        <p:nvCxnSpPr>
          <p:cNvPr id="173" name="Google Shape;173;p13"/>
          <p:cNvCxnSpPr/>
          <p:nvPr/>
        </p:nvCxnSpPr>
        <p:spPr>
          <a:xfrm flipH="1">
            <a:off x="4454289" y="2401580"/>
            <a:ext cx="531600" cy="273600"/>
          </a:xfrm>
          <a:prstGeom prst="straightConnector1">
            <a:avLst/>
          </a:prstGeom>
          <a:noFill/>
          <a:ln cap="flat" cmpd="sng" w="19050">
            <a:solidFill>
              <a:srgbClr val="845AD9"/>
            </a:solidFill>
            <a:prstDash val="solid"/>
            <a:round/>
            <a:headEnd len="med" w="med" type="none"/>
            <a:tailEnd len="med" w="med" type="none"/>
          </a:ln>
        </p:spPr>
      </p:cxnSp>
      <p:cxnSp>
        <p:nvCxnSpPr>
          <p:cNvPr id="174" name="Google Shape;174;p13"/>
          <p:cNvCxnSpPr/>
          <p:nvPr/>
        </p:nvCxnSpPr>
        <p:spPr>
          <a:xfrm flipH="1">
            <a:off x="4985939" y="2282721"/>
            <a:ext cx="547500" cy="123900"/>
          </a:xfrm>
          <a:prstGeom prst="straightConnector1">
            <a:avLst/>
          </a:prstGeom>
          <a:noFill/>
          <a:ln cap="flat" cmpd="sng" w="19050">
            <a:solidFill>
              <a:srgbClr val="845AD9"/>
            </a:solidFill>
            <a:prstDash val="solid"/>
            <a:round/>
            <a:headEnd len="med" w="med" type="none"/>
            <a:tailEnd len="med" w="med" type="none"/>
          </a:ln>
        </p:spPr>
      </p:cxnSp>
      <p:cxnSp>
        <p:nvCxnSpPr>
          <p:cNvPr id="175" name="Google Shape;175;p13"/>
          <p:cNvCxnSpPr/>
          <p:nvPr/>
        </p:nvCxnSpPr>
        <p:spPr>
          <a:xfrm flipH="1">
            <a:off x="5533435" y="1466223"/>
            <a:ext cx="533100" cy="811500"/>
          </a:xfrm>
          <a:prstGeom prst="straightConnector1">
            <a:avLst/>
          </a:prstGeom>
          <a:noFill/>
          <a:ln cap="flat" cmpd="sng" w="19050">
            <a:solidFill>
              <a:srgbClr val="845AD9"/>
            </a:solidFill>
            <a:prstDash val="solid"/>
            <a:round/>
            <a:headEnd len="med" w="med" type="none"/>
            <a:tailEnd len="med" w="med" type="none"/>
          </a:ln>
        </p:spPr>
      </p:cxnSp>
      <p:sp>
        <p:nvSpPr>
          <p:cNvPr id="176" name="Google Shape;176;p13"/>
          <p:cNvSpPr txBox="1"/>
          <p:nvPr/>
        </p:nvSpPr>
        <p:spPr>
          <a:xfrm>
            <a:off x="6366305" y="2955012"/>
            <a:ext cx="666300" cy="2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Sept</a:t>
            </a:r>
            <a:endParaRPr sz="1200">
              <a:latin typeface="Lexend"/>
              <a:ea typeface="Lexend"/>
              <a:cs typeface="Lexend"/>
              <a:sym typeface="Lexend"/>
            </a:endParaRPr>
          </a:p>
        </p:txBody>
      </p:sp>
      <p:sp>
        <p:nvSpPr>
          <p:cNvPr id="177" name="Google Shape;177;p13"/>
          <p:cNvSpPr txBox="1"/>
          <p:nvPr/>
        </p:nvSpPr>
        <p:spPr>
          <a:xfrm>
            <a:off x="6520616" y="2281247"/>
            <a:ext cx="170700" cy="195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845AD9"/>
                </a:solidFill>
                <a:latin typeface="Lexend"/>
                <a:ea typeface="Lexend"/>
                <a:cs typeface="Lexend"/>
                <a:sym typeface="Lexend"/>
              </a:rPr>
              <a:t>✖</a:t>
            </a:r>
            <a:endParaRPr sz="1600">
              <a:solidFill>
                <a:srgbClr val="845AD9"/>
              </a:solidFill>
              <a:latin typeface="Lexend"/>
              <a:ea typeface="Lexend"/>
              <a:cs typeface="Lexend"/>
              <a:sym typeface="Lexend"/>
            </a:endParaRPr>
          </a:p>
        </p:txBody>
      </p:sp>
      <p:cxnSp>
        <p:nvCxnSpPr>
          <p:cNvPr id="178" name="Google Shape;178;p13"/>
          <p:cNvCxnSpPr/>
          <p:nvPr/>
        </p:nvCxnSpPr>
        <p:spPr>
          <a:xfrm rot="10800000">
            <a:off x="6066615" y="1466168"/>
            <a:ext cx="544800" cy="942900"/>
          </a:xfrm>
          <a:prstGeom prst="straightConnector1">
            <a:avLst/>
          </a:prstGeom>
          <a:noFill/>
          <a:ln cap="flat" cmpd="sng" w="19050">
            <a:solidFill>
              <a:srgbClr val="845AD9"/>
            </a:solidFill>
            <a:prstDash val="solid"/>
            <a:round/>
            <a:headEnd len="med" w="med" type="none"/>
            <a:tailEnd len="med" w="med" type="none"/>
          </a:ln>
        </p:spPr>
      </p:cxnSp>
      <p:sp>
        <p:nvSpPr>
          <p:cNvPr id="179" name="Google Shape;179;p13"/>
          <p:cNvSpPr txBox="1"/>
          <p:nvPr/>
        </p:nvSpPr>
        <p:spPr>
          <a:xfrm>
            <a:off x="457277" y="3265424"/>
            <a:ext cx="6575400" cy="29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The scale is stretched, the actual difference in temperatures is only 2.25°C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80" name="Google Shape;180;p13"/>
          <p:cNvSpPr txBox="1"/>
          <p:nvPr/>
        </p:nvSpPr>
        <p:spPr>
          <a:xfrm>
            <a:off x="457277" y="3580286"/>
            <a:ext cx="6575400" cy="29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He misses out August which makes the peak in July look more significant.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81" name="Google Shape;181;p13"/>
          <p:cNvSpPr txBox="1"/>
          <p:nvPr/>
        </p:nvSpPr>
        <p:spPr>
          <a:xfrm>
            <a:off x="461375" y="4400322"/>
            <a:ext cx="6412800" cy="235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4) Sofia collects this data on how long she spends on different activities on a Saturday. </a:t>
            </a:r>
            <a:endParaRPr sz="1200">
              <a:solidFill>
                <a:srgbClr val="000000"/>
              </a:solidFill>
              <a:latin typeface="Lexend"/>
              <a:ea typeface="Lexend"/>
              <a:cs typeface="Lexend"/>
              <a:sym typeface="Lexend"/>
            </a:endParaRPr>
          </a:p>
        </p:txBody>
      </p:sp>
      <p:sp>
        <p:nvSpPr>
          <p:cNvPr id="182" name="Google Shape;182;p13"/>
          <p:cNvSpPr txBox="1"/>
          <p:nvPr/>
        </p:nvSpPr>
        <p:spPr>
          <a:xfrm>
            <a:off x="3572163" y="5026702"/>
            <a:ext cx="3248700" cy="29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E.g. Bar chart, Pie chart, Pictogram…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83" name="Google Shape;183;p13"/>
          <p:cNvSpPr txBox="1"/>
          <p:nvPr/>
        </p:nvSpPr>
        <p:spPr>
          <a:xfrm>
            <a:off x="2440065" y="5996662"/>
            <a:ext cx="4651800" cy="29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This will depend on the type of graph but some ideas: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graphicFrame>
        <p:nvGraphicFramePr>
          <p:cNvPr id="184" name="Google Shape;184;p13"/>
          <p:cNvGraphicFramePr/>
          <p:nvPr/>
        </p:nvGraphicFramePr>
        <p:xfrm>
          <a:off x="461375" y="4764933"/>
          <a:ext cx="3000000" cy="3000000"/>
        </p:xfrm>
        <a:graphic>
          <a:graphicData uri="http://schemas.openxmlformats.org/drawingml/2006/table">
            <a:tbl>
              <a:tblPr>
                <a:noFill/>
                <a:tableStyleId>{48208783-7D88-4065-B3B1-4DF56202ABD0}</a:tableStyleId>
              </a:tblPr>
              <a:tblGrid>
                <a:gridCol w="1146975"/>
                <a:gridCol w="803650"/>
              </a:tblGrid>
              <a:tr h="2988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Activity</a:t>
                      </a:r>
                      <a:endParaRPr b="1" sz="1200">
                        <a:solidFill>
                          <a:schemeClr val="dk1"/>
                        </a:solidFill>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Time </a:t>
                      </a:r>
                      <a:endParaRPr b="1" sz="1200">
                        <a:solidFill>
                          <a:schemeClr val="dk1"/>
                        </a:solidFill>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800">
                <a:tc>
                  <a:txBody>
                    <a:bodyPr/>
                    <a:lstStyle/>
                    <a:p>
                      <a:pPr indent="0" lvl="0" marL="0" rtl="0" algn="l">
                        <a:spcBef>
                          <a:spcPts val="0"/>
                        </a:spcBef>
                        <a:spcAft>
                          <a:spcPts val="0"/>
                        </a:spcAft>
                        <a:buNone/>
                      </a:pPr>
                      <a:r>
                        <a:rPr lang="en-GB" sz="1200">
                          <a:latin typeface="Lexend"/>
                          <a:ea typeface="Lexend"/>
                          <a:cs typeface="Lexend"/>
                          <a:sym typeface="Lexend"/>
                        </a:rPr>
                        <a:t>Sleeping</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 hrs</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800">
                <a:tc>
                  <a:txBody>
                    <a:bodyPr/>
                    <a:lstStyle/>
                    <a:p>
                      <a:pPr indent="0" lvl="0" marL="0" rtl="0" algn="l">
                        <a:spcBef>
                          <a:spcPts val="0"/>
                        </a:spcBef>
                        <a:spcAft>
                          <a:spcPts val="0"/>
                        </a:spcAft>
                        <a:buNone/>
                      </a:pPr>
                      <a:r>
                        <a:rPr lang="en-GB" sz="1200">
                          <a:latin typeface="Lexend"/>
                          <a:ea typeface="Lexend"/>
                          <a:cs typeface="Lexend"/>
                          <a:sym typeface="Lexend"/>
                        </a:rPr>
                        <a:t>Exercising</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 hrs</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800">
                <a:tc>
                  <a:txBody>
                    <a:bodyPr/>
                    <a:lstStyle/>
                    <a:p>
                      <a:pPr indent="0" lvl="0" marL="0" rtl="0" algn="l">
                        <a:spcBef>
                          <a:spcPts val="0"/>
                        </a:spcBef>
                        <a:spcAft>
                          <a:spcPts val="0"/>
                        </a:spcAft>
                        <a:buNone/>
                      </a:pPr>
                      <a:r>
                        <a:rPr lang="en-GB" sz="1200">
                          <a:latin typeface="Lexend"/>
                          <a:ea typeface="Lexend"/>
                          <a:cs typeface="Lexend"/>
                          <a:sym typeface="Lexend"/>
                        </a:rPr>
                        <a:t>Seeing friends</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 hrs</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800">
                <a:tc>
                  <a:txBody>
                    <a:bodyPr/>
                    <a:lstStyle/>
                    <a:p>
                      <a:pPr indent="0" lvl="0" marL="0" rtl="0" algn="l">
                        <a:spcBef>
                          <a:spcPts val="0"/>
                        </a:spcBef>
                        <a:spcAft>
                          <a:spcPts val="0"/>
                        </a:spcAft>
                        <a:buNone/>
                      </a:pPr>
                      <a:r>
                        <a:rPr lang="en-GB" sz="1200">
                          <a:latin typeface="Lexend"/>
                          <a:ea typeface="Lexend"/>
                          <a:cs typeface="Lexend"/>
                          <a:sym typeface="Lexend"/>
                        </a:rPr>
                        <a:t>Screen time </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5 hrs</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800">
                <a:tc>
                  <a:txBody>
                    <a:bodyPr/>
                    <a:lstStyle/>
                    <a:p>
                      <a:pPr indent="0" lvl="0" marL="0" rtl="0" algn="l">
                        <a:spcBef>
                          <a:spcPts val="0"/>
                        </a:spcBef>
                        <a:spcAft>
                          <a:spcPts val="0"/>
                        </a:spcAft>
                        <a:buNone/>
                      </a:pPr>
                      <a:r>
                        <a:rPr lang="en-GB" sz="1200">
                          <a:latin typeface="Lexend"/>
                          <a:ea typeface="Lexend"/>
                          <a:cs typeface="Lexend"/>
                          <a:sym typeface="Lexend"/>
                        </a:rPr>
                        <a:t>Family time </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 hrs</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85" name="Google Shape;185;p13"/>
          <p:cNvSpPr txBox="1"/>
          <p:nvPr/>
        </p:nvSpPr>
        <p:spPr>
          <a:xfrm>
            <a:off x="2456763" y="4776578"/>
            <a:ext cx="4574100" cy="5481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a) What type of chart could Sofia draw to display this data? </a:t>
            </a:r>
            <a:endParaRPr sz="1200">
              <a:solidFill>
                <a:srgbClr val="000000"/>
              </a:solidFill>
              <a:latin typeface="Lexend"/>
              <a:ea typeface="Lexend"/>
              <a:cs typeface="Lexend"/>
              <a:sym typeface="Lexend"/>
            </a:endParaRPr>
          </a:p>
        </p:txBody>
      </p:sp>
      <p:sp>
        <p:nvSpPr>
          <p:cNvPr id="186" name="Google Shape;186;p13"/>
          <p:cNvSpPr txBox="1"/>
          <p:nvPr/>
        </p:nvSpPr>
        <p:spPr>
          <a:xfrm>
            <a:off x="2456763" y="5408447"/>
            <a:ext cx="4618500" cy="5481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Sofia wants to make it look like she spends lots of time exercising, how could she manipulate her chart to imply this?</a:t>
            </a:r>
            <a:endParaRPr sz="1200">
              <a:solidFill>
                <a:srgbClr val="000000"/>
              </a:solidFill>
              <a:latin typeface="Lexend"/>
              <a:ea typeface="Lexend"/>
              <a:cs typeface="Lexend"/>
              <a:sym typeface="Lexend"/>
            </a:endParaRPr>
          </a:p>
        </p:txBody>
      </p:sp>
      <p:sp>
        <p:nvSpPr>
          <p:cNvPr id="187" name="Google Shape;187;p13"/>
          <p:cNvSpPr txBox="1"/>
          <p:nvPr/>
        </p:nvSpPr>
        <p:spPr>
          <a:xfrm>
            <a:off x="2456675" y="6303150"/>
            <a:ext cx="4618500" cy="725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Use a 3D pie chart with exercise at the front and the pie chart at an angle. </a:t>
            </a:r>
            <a:endParaRPr sz="1200">
              <a:solidFill>
                <a:srgbClr val="000000"/>
              </a:solidFill>
              <a:latin typeface="Kalam"/>
              <a:ea typeface="Kalam"/>
              <a:cs typeface="Kalam"/>
              <a:sym typeface="Kalam"/>
            </a:endParaRPr>
          </a:p>
          <a:p>
            <a:pPr indent="0" lvl="0" marL="0" rtl="0" algn="l">
              <a:spcBef>
                <a:spcPts val="0"/>
              </a:spcBef>
              <a:spcAft>
                <a:spcPts val="0"/>
              </a:spcAft>
              <a:buNone/>
            </a:pPr>
            <a:r>
              <a:rPr lang="en-GB" sz="1200">
                <a:solidFill>
                  <a:srgbClr val="000000"/>
                </a:solidFill>
                <a:latin typeface="Kalam"/>
                <a:ea typeface="Kalam"/>
                <a:cs typeface="Kalam"/>
                <a:sym typeface="Kalam"/>
              </a:rPr>
              <a:t>On a bar chart leave the numbers off the axis. </a:t>
            </a:r>
            <a:endParaRPr sz="1200">
              <a:solidFill>
                <a:srgbClr val="000000"/>
              </a:solidFill>
              <a:latin typeface="Kalam"/>
              <a:ea typeface="Kalam"/>
              <a:cs typeface="Kalam"/>
              <a:sym typeface="Kalam"/>
            </a:endParaRPr>
          </a:p>
          <a:p>
            <a:pPr indent="0" lvl="0" marL="0" rtl="0" algn="l">
              <a:spcBef>
                <a:spcPts val="0"/>
              </a:spcBef>
              <a:spcAft>
                <a:spcPts val="0"/>
              </a:spcAft>
              <a:buNone/>
            </a:pPr>
            <a:r>
              <a:rPr lang="en-GB" sz="1200">
                <a:solidFill>
                  <a:srgbClr val="000000"/>
                </a:solidFill>
                <a:latin typeface="Kalam"/>
                <a:ea typeface="Kalam"/>
                <a:cs typeface="Kalam"/>
                <a:sym typeface="Kalam"/>
              </a:rPr>
              <a:t>Draw a 3D bar chart with exercise in the foreground.     </a:t>
            </a:r>
            <a:endParaRPr sz="1200">
              <a:solidFill>
                <a:srgbClr val="000000"/>
              </a:solidFill>
              <a:latin typeface="Kalam"/>
              <a:ea typeface="Kalam"/>
              <a:cs typeface="Kalam"/>
              <a:sym typeface="Kalam"/>
            </a:endParaRPr>
          </a:p>
          <a:p>
            <a:pPr indent="0" lvl="0" marL="0" rtl="0" algn="l">
              <a:spcBef>
                <a:spcPts val="0"/>
              </a:spcBef>
              <a:spcAft>
                <a:spcPts val="0"/>
              </a:spcAft>
              <a:buNone/>
            </a:pPr>
            <a:r>
              <a:t/>
            </a:r>
            <a:endParaRPr sz="1200">
              <a:solidFill>
                <a:srgbClr val="000000"/>
              </a:solidFill>
              <a:latin typeface="Kalam"/>
              <a:ea typeface="Kalam"/>
              <a:cs typeface="Kalam"/>
              <a:sym typeface="Kalam"/>
            </a:endParaRPr>
          </a:p>
          <a:p>
            <a:pPr indent="0" lvl="0" marL="0" rtl="0" algn="l">
              <a:spcBef>
                <a:spcPts val="0"/>
              </a:spcBef>
              <a:spcAft>
                <a:spcPts val="0"/>
              </a:spcAft>
              <a:buNone/>
            </a:pPr>
            <a:r>
              <a:t/>
            </a:r>
            <a:endParaRPr sz="1200">
              <a:solidFill>
                <a:srgbClr val="000000"/>
              </a:solidFill>
              <a:latin typeface="Kalam"/>
              <a:ea typeface="Kalam"/>
              <a:cs typeface="Kalam"/>
              <a:sym typeface="Kalam"/>
            </a:endParaRPr>
          </a:p>
        </p:txBody>
      </p:sp>
      <p:sp>
        <p:nvSpPr>
          <p:cNvPr id="188" name="Google Shape;188;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nvSpPr>
        <p:spPr>
          <a:xfrm rot="-5400000">
            <a:off x="-146700" y="2132665"/>
            <a:ext cx="1643400" cy="41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Percentage of pupils who walk to school</a:t>
            </a:r>
            <a:endParaRPr sz="1200">
              <a:solidFill>
                <a:srgbClr val="000000"/>
              </a:solidFill>
              <a:latin typeface="Lexend"/>
              <a:ea typeface="Lexend"/>
              <a:cs typeface="Lexend"/>
              <a:sym typeface="Lexend"/>
            </a:endParaRPr>
          </a:p>
        </p:txBody>
      </p:sp>
      <p:sp>
        <p:nvSpPr>
          <p:cNvPr id="194" name="Google Shape;194;p14"/>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Misleading data</a:t>
            </a:r>
            <a:endParaRPr/>
          </a:p>
        </p:txBody>
      </p:sp>
      <p:sp>
        <p:nvSpPr>
          <p:cNvPr id="195" name="Google Shape;195;p14"/>
          <p:cNvSpPr txBox="1"/>
          <p:nvPr/>
        </p:nvSpPr>
        <p:spPr>
          <a:xfrm>
            <a:off x="467999" y="720000"/>
            <a:ext cx="6246900" cy="297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B: </a:t>
            </a:r>
            <a:r>
              <a:rPr b="1" lang="en-GB">
                <a:solidFill>
                  <a:schemeClr val="dk1"/>
                </a:solidFill>
                <a:latin typeface="Lexend"/>
                <a:ea typeface="Lexend"/>
                <a:cs typeface="Lexend"/>
                <a:sym typeface="Lexend"/>
              </a:rPr>
              <a:t>Misinterpreting graphs</a:t>
            </a:r>
            <a:endParaRPr b="1">
              <a:solidFill>
                <a:schemeClr val="dk1"/>
              </a:solidFill>
              <a:latin typeface="Lexend"/>
              <a:ea typeface="Lexend"/>
              <a:cs typeface="Lexend"/>
              <a:sym typeface="Lexend"/>
            </a:endParaRPr>
          </a:p>
        </p:txBody>
      </p:sp>
      <p:sp>
        <p:nvSpPr>
          <p:cNvPr id="196" name="Google Shape;196;p14"/>
          <p:cNvSpPr txBox="1"/>
          <p:nvPr/>
        </p:nvSpPr>
        <p:spPr>
          <a:xfrm>
            <a:off x="491775" y="1126670"/>
            <a:ext cx="6399600" cy="31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1) Alex drew this chart from data he collected about how pupils travel to school.  </a:t>
            </a:r>
            <a:endParaRPr sz="1200">
              <a:solidFill>
                <a:srgbClr val="000000"/>
              </a:solidFill>
              <a:latin typeface="Lexend"/>
              <a:ea typeface="Lexend"/>
              <a:cs typeface="Lexend"/>
              <a:sym typeface="Lexend"/>
            </a:endParaRPr>
          </a:p>
        </p:txBody>
      </p:sp>
      <p:pic>
        <p:nvPicPr>
          <p:cNvPr id="197" name="Google Shape;197;p14"/>
          <p:cNvPicPr preferRelativeResize="0"/>
          <p:nvPr/>
        </p:nvPicPr>
        <p:blipFill rotWithShape="1">
          <a:blip r:embed="rId3">
            <a:alphaModFix/>
          </a:blip>
          <a:srcRect b="0" l="0" r="7097" t="2733"/>
          <a:stretch/>
        </p:blipFill>
        <p:spPr>
          <a:xfrm>
            <a:off x="1098152" y="1534633"/>
            <a:ext cx="2280191" cy="1865791"/>
          </a:xfrm>
          <a:prstGeom prst="rect">
            <a:avLst/>
          </a:prstGeom>
          <a:noFill/>
          <a:ln>
            <a:noFill/>
          </a:ln>
        </p:spPr>
      </p:pic>
      <p:sp>
        <p:nvSpPr>
          <p:cNvPr id="198" name="Google Shape;198;p14"/>
          <p:cNvSpPr txBox="1"/>
          <p:nvPr/>
        </p:nvSpPr>
        <p:spPr>
          <a:xfrm>
            <a:off x="2021163" y="3409281"/>
            <a:ext cx="628200" cy="1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year</a:t>
            </a:r>
            <a:endParaRPr sz="1200">
              <a:solidFill>
                <a:srgbClr val="000000"/>
              </a:solidFill>
              <a:latin typeface="Lexend"/>
              <a:ea typeface="Lexend"/>
              <a:cs typeface="Lexend"/>
              <a:sym typeface="Lexend"/>
            </a:endParaRPr>
          </a:p>
        </p:txBody>
      </p:sp>
      <p:sp>
        <p:nvSpPr>
          <p:cNvPr id="199" name="Google Shape;199;p14"/>
          <p:cNvSpPr/>
          <p:nvPr/>
        </p:nvSpPr>
        <p:spPr>
          <a:xfrm>
            <a:off x="939530" y="2835762"/>
            <a:ext cx="291900" cy="24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p:txBody>
      </p:sp>
      <p:grpSp>
        <p:nvGrpSpPr>
          <p:cNvPr id="200" name="Google Shape;200;p14"/>
          <p:cNvGrpSpPr/>
          <p:nvPr/>
        </p:nvGrpSpPr>
        <p:grpSpPr>
          <a:xfrm>
            <a:off x="1074710" y="1433962"/>
            <a:ext cx="2393013" cy="1964924"/>
            <a:chOff x="4667503" y="2040830"/>
            <a:chExt cx="2185200" cy="2465400"/>
          </a:xfrm>
        </p:grpSpPr>
        <p:cxnSp>
          <p:nvCxnSpPr>
            <p:cNvPr id="201" name="Google Shape;201;p14"/>
            <p:cNvCxnSpPr/>
            <p:nvPr/>
          </p:nvCxnSpPr>
          <p:spPr>
            <a:xfrm rot="10800000">
              <a:off x="4820745" y="2040830"/>
              <a:ext cx="0" cy="2465400"/>
            </a:xfrm>
            <a:prstGeom prst="straightConnector1">
              <a:avLst/>
            </a:prstGeom>
            <a:noFill/>
            <a:ln cap="flat" cmpd="sng" w="38100">
              <a:solidFill>
                <a:srgbClr val="000000"/>
              </a:solidFill>
              <a:prstDash val="solid"/>
              <a:round/>
              <a:headEnd len="med" w="med" type="none"/>
              <a:tailEnd len="med" w="med" type="triangle"/>
            </a:ln>
          </p:spPr>
        </p:cxnSp>
        <p:cxnSp>
          <p:nvCxnSpPr>
            <p:cNvPr id="202" name="Google Shape;202;p14"/>
            <p:cNvCxnSpPr/>
            <p:nvPr/>
          </p:nvCxnSpPr>
          <p:spPr>
            <a:xfrm>
              <a:off x="4667503" y="4321393"/>
              <a:ext cx="2185200" cy="0"/>
            </a:xfrm>
            <a:prstGeom prst="straightConnector1">
              <a:avLst/>
            </a:prstGeom>
            <a:noFill/>
            <a:ln cap="flat" cmpd="sng" w="38100">
              <a:solidFill>
                <a:srgbClr val="000000"/>
              </a:solidFill>
              <a:prstDash val="solid"/>
              <a:round/>
              <a:headEnd len="med" w="med" type="none"/>
              <a:tailEnd len="med" w="med" type="triangle"/>
            </a:ln>
          </p:spPr>
        </p:cxnSp>
      </p:grpSp>
      <p:sp>
        <p:nvSpPr>
          <p:cNvPr id="203" name="Google Shape;203;p14"/>
          <p:cNvSpPr/>
          <p:nvPr/>
        </p:nvSpPr>
        <p:spPr>
          <a:xfrm>
            <a:off x="939530" y="2570232"/>
            <a:ext cx="291900" cy="24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p:txBody>
      </p:sp>
      <p:sp>
        <p:nvSpPr>
          <p:cNvPr id="204" name="Google Shape;204;p14"/>
          <p:cNvSpPr/>
          <p:nvPr/>
        </p:nvSpPr>
        <p:spPr>
          <a:xfrm>
            <a:off x="939530" y="2039172"/>
            <a:ext cx="291900" cy="24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p:txBody>
      </p:sp>
      <p:sp>
        <p:nvSpPr>
          <p:cNvPr id="205" name="Google Shape;205;p14"/>
          <p:cNvSpPr txBox="1"/>
          <p:nvPr/>
        </p:nvSpPr>
        <p:spPr>
          <a:xfrm>
            <a:off x="1436863" y="2033557"/>
            <a:ext cx="171300" cy="19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06" name="Google Shape;206;p14"/>
          <p:cNvSpPr/>
          <p:nvPr/>
        </p:nvSpPr>
        <p:spPr>
          <a:xfrm>
            <a:off x="939530" y="2304702"/>
            <a:ext cx="291900" cy="24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p:txBody>
      </p:sp>
      <p:sp>
        <p:nvSpPr>
          <p:cNvPr id="207" name="Google Shape;207;p14"/>
          <p:cNvSpPr/>
          <p:nvPr/>
        </p:nvSpPr>
        <p:spPr>
          <a:xfrm>
            <a:off x="939577" y="1773635"/>
            <a:ext cx="291900" cy="24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p:txBody>
      </p:sp>
      <p:sp>
        <p:nvSpPr>
          <p:cNvPr id="208" name="Google Shape;208;p14"/>
          <p:cNvSpPr txBox="1"/>
          <p:nvPr/>
        </p:nvSpPr>
        <p:spPr>
          <a:xfrm>
            <a:off x="1986473" y="1628217"/>
            <a:ext cx="171300" cy="19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09" name="Google Shape;209;p14"/>
          <p:cNvSpPr txBox="1"/>
          <p:nvPr/>
        </p:nvSpPr>
        <p:spPr>
          <a:xfrm>
            <a:off x="2524617" y="1773464"/>
            <a:ext cx="171300" cy="19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10" name="Google Shape;210;p14"/>
          <p:cNvSpPr txBox="1"/>
          <p:nvPr/>
        </p:nvSpPr>
        <p:spPr>
          <a:xfrm>
            <a:off x="3068124" y="2166716"/>
            <a:ext cx="171300" cy="195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cxnSp>
        <p:nvCxnSpPr>
          <p:cNvPr id="211" name="Google Shape;211;p14"/>
          <p:cNvCxnSpPr/>
          <p:nvPr/>
        </p:nvCxnSpPr>
        <p:spPr>
          <a:xfrm flipH="1" rot="10800000">
            <a:off x="1517885" y="1759413"/>
            <a:ext cx="545400" cy="392400"/>
          </a:xfrm>
          <a:prstGeom prst="straightConnector1">
            <a:avLst/>
          </a:prstGeom>
          <a:noFill/>
          <a:ln cap="flat" cmpd="sng" w="19050">
            <a:solidFill>
              <a:srgbClr val="037B7D"/>
            </a:solidFill>
            <a:prstDash val="solid"/>
            <a:round/>
            <a:headEnd len="med" w="med" type="none"/>
            <a:tailEnd len="med" w="med" type="none"/>
          </a:ln>
        </p:spPr>
      </p:cxnSp>
      <p:cxnSp>
        <p:nvCxnSpPr>
          <p:cNvPr id="212" name="Google Shape;212;p14"/>
          <p:cNvCxnSpPr/>
          <p:nvPr/>
        </p:nvCxnSpPr>
        <p:spPr>
          <a:xfrm>
            <a:off x="2063223" y="1743758"/>
            <a:ext cx="544200" cy="155100"/>
          </a:xfrm>
          <a:prstGeom prst="straightConnector1">
            <a:avLst/>
          </a:prstGeom>
          <a:noFill/>
          <a:ln cap="flat" cmpd="sng" w="19050">
            <a:solidFill>
              <a:srgbClr val="037B7D"/>
            </a:solidFill>
            <a:prstDash val="solid"/>
            <a:round/>
            <a:headEnd len="med" w="med" type="none"/>
            <a:tailEnd len="med" w="med" type="none"/>
          </a:ln>
        </p:spPr>
      </p:cxnSp>
      <p:cxnSp>
        <p:nvCxnSpPr>
          <p:cNvPr id="213" name="Google Shape;213;p14"/>
          <p:cNvCxnSpPr/>
          <p:nvPr/>
        </p:nvCxnSpPr>
        <p:spPr>
          <a:xfrm>
            <a:off x="2607414" y="1894446"/>
            <a:ext cx="541500" cy="403800"/>
          </a:xfrm>
          <a:prstGeom prst="straightConnector1">
            <a:avLst/>
          </a:prstGeom>
          <a:noFill/>
          <a:ln cap="flat" cmpd="sng" w="19050">
            <a:solidFill>
              <a:srgbClr val="037B7D"/>
            </a:solidFill>
            <a:prstDash val="solid"/>
            <a:round/>
            <a:headEnd len="med" w="med" type="none"/>
            <a:tailEnd len="med" w="med" type="none"/>
          </a:ln>
        </p:spPr>
      </p:cxnSp>
      <p:sp>
        <p:nvSpPr>
          <p:cNvPr id="214" name="Google Shape;214;p14"/>
          <p:cNvSpPr txBox="1"/>
          <p:nvPr/>
        </p:nvSpPr>
        <p:spPr>
          <a:xfrm>
            <a:off x="2855281" y="3203665"/>
            <a:ext cx="628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23/24</a:t>
            </a:r>
            <a:endParaRPr sz="1200">
              <a:solidFill>
                <a:srgbClr val="000000"/>
              </a:solidFill>
              <a:latin typeface="Lexend"/>
              <a:ea typeface="Lexend"/>
              <a:cs typeface="Lexend"/>
              <a:sym typeface="Lexend"/>
            </a:endParaRPr>
          </a:p>
        </p:txBody>
      </p:sp>
      <p:sp>
        <p:nvSpPr>
          <p:cNvPr id="215" name="Google Shape;215;p14"/>
          <p:cNvSpPr txBox="1"/>
          <p:nvPr/>
        </p:nvSpPr>
        <p:spPr>
          <a:xfrm>
            <a:off x="2311787" y="3193057"/>
            <a:ext cx="628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22/23</a:t>
            </a:r>
            <a:endParaRPr sz="1200">
              <a:solidFill>
                <a:srgbClr val="000000"/>
              </a:solidFill>
              <a:latin typeface="Lexend"/>
              <a:ea typeface="Lexend"/>
              <a:cs typeface="Lexend"/>
              <a:sym typeface="Lexend"/>
            </a:endParaRPr>
          </a:p>
        </p:txBody>
      </p:sp>
      <p:sp>
        <p:nvSpPr>
          <p:cNvPr id="216" name="Google Shape;216;p14"/>
          <p:cNvSpPr txBox="1"/>
          <p:nvPr/>
        </p:nvSpPr>
        <p:spPr>
          <a:xfrm>
            <a:off x="1779015" y="3198428"/>
            <a:ext cx="628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21/22</a:t>
            </a:r>
            <a:endParaRPr sz="1200">
              <a:solidFill>
                <a:srgbClr val="000000"/>
              </a:solidFill>
              <a:latin typeface="Lexend"/>
              <a:ea typeface="Lexend"/>
              <a:cs typeface="Lexend"/>
              <a:sym typeface="Lexend"/>
            </a:endParaRPr>
          </a:p>
        </p:txBody>
      </p:sp>
      <p:sp>
        <p:nvSpPr>
          <p:cNvPr id="217" name="Google Shape;217;p14"/>
          <p:cNvSpPr txBox="1"/>
          <p:nvPr/>
        </p:nvSpPr>
        <p:spPr>
          <a:xfrm>
            <a:off x="1246242" y="3198428"/>
            <a:ext cx="6282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20/21</a:t>
            </a:r>
            <a:endParaRPr sz="1200">
              <a:solidFill>
                <a:srgbClr val="000000"/>
              </a:solidFill>
              <a:latin typeface="Lexend"/>
              <a:ea typeface="Lexend"/>
              <a:cs typeface="Lexend"/>
              <a:sym typeface="Lexend"/>
            </a:endParaRPr>
          </a:p>
        </p:txBody>
      </p:sp>
      <p:sp>
        <p:nvSpPr>
          <p:cNvPr id="218" name="Google Shape;218;p14"/>
          <p:cNvSpPr txBox="1"/>
          <p:nvPr/>
        </p:nvSpPr>
        <p:spPr>
          <a:xfrm>
            <a:off x="3596117" y="1490806"/>
            <a:ext cx="3495900" cy="69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a) The school newspaper reports, ‘Only 50 pupils walked to school in the 2022/23 academic year’.  Is this supported by Alex’s chart? </a:t>
            </a:r>
            <a:endParaRPr sz="1200">
              <a:solidFill>
                <a:srgbClr val="000000"/>
              </a:solidFill>
              <a:latin typeface="Lexend"/>
              <a:ea typeface="Lexend"/>
              <a:cs typeface="Lexend"/>
              <a:sym typeface="Lexend"/>
            </a:endParaRPr>
          </a:p>
        </p:txBody>
      </p:sp>
      <p:sp>
        <p:nvSpPr>
          <p:cNvPr id="219" name="Google Shape;219;p14"/>
          <p:cNvSpPr txBox="1"/>
          <p:nvPr/>
        </p:nvSpPr>
        <p:spPr>
          <a:xfrm>
            <a:off x="3596117" y="2524647"/>
            <a:ext cx="3495900" cy="69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No. The </a:t>
            </a:r>
            <a:r>
              <a:rPr i="1" lang="en-GB" sz="1200">
                <a:solidFill>
                  <a:srgbClr val="000000"/>
                </a:solidFill>
                <a:latin typeface="Times New Roman"/>
                <a:ea typeface="Times New Roman"/>
                <a:cs typeface="Times New Roman"/>
                <a:sym typeface="Times New Roman"/>
              </a:rPr>
              <a:t>y</a:t>
            </a:r>
            <a:r>
              <a:rPr lang="en-GB" sz="1200">
                <a:solidFill>
                  <a:srgbClr val="000000"/>
                </a:solidFill>
                <a:latin typeface="Kalam"/>
                <a:ea typeface="Kalam"/>
                <a:cs typeface="Kalam"/>
                <a:sym typeface="Kalam"/>
              </a:rPr>
              <a:t> axis is percentage of pupils who walk to school. 50% of pupils walk to school but we do not know how many pupils this is.  </a:t>
            </a:r>
            <a:endParaRPr sz="1200">
              <a:solidFill>
                <a:srgbClr val="000000"/>
              </a:solidFill>
              <a:latin typeface="Kalam"/>
              <a:ea typeface="Kalam"/>
              <a:cs typeface="Kalam"/>
              <a:sym typeface="Kalam"/>
            </a:endParaRPr>
          </a:p>
        </p:txBody>
      </p:sp>
      <p:sp>
        <p:nvSpPr>
          <p:cNvPr id="220" name="Google Shape;220;p14"/>
          <p:cNvSpPr/>
          <p:nvPr/>
        </p:nvSpPr>
        <p:spPr>
          <a:xfrm>
            <a:off x="939577" y="1536847"/>
            <a:ext cx="291900" cy="24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p:txBody>
      </p:sp>
      <p:sp>
        <p:nvSpPr>
          <p:cNvPr id="221" name="Google Shape;221;p14"/>
          <p:cNvSpPr txBox="1"/>
          <p:nvPr/>
        </p:nvSpPr>
        <p:spPr>
          <a:xfrm>
            <a:off x="468000" y="4338175"/>
            <a:ext cx="6624000" cy="61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The chart does seem to show a decrease in the percentage of pupils walking to school, however this chart only goes back as far as 2020 so it is inaccurate to claim that fewer people walk now than ‘in the past’.  </a:t>
            </a:r>
            <a:endParaRPr sz="1200">
              <a:solidFill>
                <a:srgbClr val="000000"/>
              </a:solidFill>
              <a:latin typeface="Kalam"/>
              <a:ea typeface="Kalam"/>
              <a:cs typeface="Kalam"/>
              <a:sym typeface="Kalam"/>
            </a:endParaRPr>
          </a:p>
        </p:txBody>
      </p:sp>
      <p:sp>
        <p:nvSpPr>
          <p:cNvPr id="222" name="Google Shape;222;p14"/>
          <p:cNvSpPr txBox="1"/>
          <p:nvPr/>
        </p:nvSpPr>
        <p:spPr>
          <a:xfrm>
            <a:off x="468000" y="3815525"/>
            <a:ext cx="6624000" cy="89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b) The headline of the article states, ‘Fewer young people choose to walk to school now than in the past’. Is this supported by Alex’s chart?</a:t>
            </a:r>
            <a:endParaRPr sz="1200">
              <a:solidFill>
                <a:srgbClr val="000000"/>
              </a:solidFill>
              <a:latin typeface="Lexend"/>
              <a:ea typeface="Lexend"/>
              <a:cs typeface="Lexend"/>
              <a:sym typeface="Lexend"/>
            </a:endParaRPr>
          </a:p>
        </p:txBody>
      </p:sp>
      <p:sp>
        <p:nvSpPr>
          <p:cNvPr id="223" name="Google Shape;223;p14"/>
          <p:cNvSpPr txBox="1"/>
          <p:nvPr/>
        </p:nvSpPr>
        <p:spPr>
          <a:xfrm>
            <a:off x="483713" y="5063057"/>
            <a:ext cx="2757300" cy="222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2) This time series graph shows the number of shark attacks and the number of heat stroke sufferers throughout the year. </a:t>
            </a:r>
            <a:endParaRPr sz="1200">
              <a:solidFill>
                <a:srgbClr val="000000"/>
              </a:solidFill>
              <a:latin typeface="Lexend"/>
              <a:ea typeface="Lexend"/>
              <a:cs typeface="Lexend"/>
              <a:sym typeface="Lexend"/>
            </a:endParaRPr>
          </a:p>
        </p:txBody>
      </p:sp>
      <p:pic>
        <p:nvPicPr>
          <p:cNvPr id="224" name="Google Shape;224;p14"/>
          <p:cNvPicPr preferRelativeResize="0"/>
          <p:nvPr/>
        </p:nvPicPr>
        <p:blipFill>
          <a:blip r:embed="rId4">
            <a:alphaModFix/>
          </a:blip>
          <a:stretch>
            <a:fillRect/>
          </a:stretch>
        </p:blipFill>
        <p:spPr>
          <a:xfrm flipH="1">
            <a:off x="566001" y="7267194"/>
            <a:ext cx="480756" cy="593746"/>
          </a:xfrm>
          <a:prstGeom prst="rect">
            <a:avLst/>
          </a:prstGeom>
          <a:noFill/>
          <a:ln>
            <a:noFill/>
          </a:ln>
        </p:spPr>
      </p:pic>
      <p:sp>
        <p:nvSpPr>
          <p:cNvPr id="225" name="Google Shape;225;p14"/>
          <p:cNvSpPr txBox="1"/>
          <p:nvPr/>
        </p:nvSpPr>
        <p:spPr>
          <a:xfrm flipH="1">
            <a:off x="460335" y="7814655"/>
            <a:ext cx="768300" cy="271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200">
                <a:latin typeface="Lexend"/>
                <a:ea typeface="Lexend"/>
                <a:cs typeface="Lexend"/>
                <a:sym typeface="Lexend"/>
              </a:rPr>
              <a:t>Jacob</a:t>
            </a:r>
            <a:endParaRPr b="1" sz="1200">
              <a:latin typeface="Lexend"/>
              <a:ea typeface="Lexend"/>
              <a:cs typeface="Lexend"/>
              <a:sym typeface="Lexend"/>
            </a:endParaRPr>
          </a:p>
        </p:txBody>
      </p:sp>
      <p:grpSp>
        <p:nvGrpSpPr>
          <p:cNvPr id="226" name="Google Shape;226;p14"/>
          <p:cNvGrpSpPr/>
          <p:nvPr/>
        </p:nvGrpSpPr>
        <p:grpSpPr>
          <a:xfrm>
            <a:off x="863873" y="5885949"/>
            <a:ext cx="2451179" cy="1698768"/>
            <a:chOff x="1622589" y="1504158"/>
            <a:chExt cx="2086287" cy="1182492"/>
          </a:xfrm>
        </p:grpSpPr>
        <p:pic>
          <p:nvPicPr>
            <p:cNvPr id="227" name="Google Shape;227;p14"/>
            <p:cNvPicPr preferRelativeResize="0"/>
            <p:nvPr/>
          </p:nvPicPr>
          <p:blipFill rotWithShape="1">
            <a:blip r:embed="rId5">
              <a:alphaModFix/>
            </a:blip>
            <a:srcRect b="0" l="0" r="69082" t="56280"/>
            <a:stretch/>
          </p:blipFill>
          <p:spPr>
            <a:xfrm flipH="1">
              <a:off x="1622589" y="1504158"/>
              <a:ext cx="2086287" cy="1182492"/>
            </a:xfrm>
            <a:prstGeom prst="rect">
              <a:avLst/>
            </a:prstGeom>
            <a:noFill/>
            <a:ln>
              <a:noFill/>
            </a:ln>
          </p:spPr>
        </p:pic>
        <p:sp>
          <p:nvSpPr>
            <p:cNvPr id="228" name="Google Shape;228;p14"/>
            <p:cNvSpPr txBox="1"/>
            <p:nvPr/>
          </p:nvSpPr>
          <p:spPr>
            <a:xfrm flipH="1">
              <a:off x="1760949" y="1734886"/>
              <a:ext cx="1863300" cy="655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200">
                  <a:latin typeface="Lexend"/>
                  <a:ea typeface="Lexend"/>
                  <a:cs typeface="Lexend"/>
                  <a:sym typeface="Lexend"/>
                </a:rPr>
                <a:t>The more shark attacks there are the less likely people are to go in the sea so they are more likely to get heat stroke. Shark attacks cause heat stroke!</a:t>
              </a:r>
              <a:endParaRPr sz="1200">
                <a:solidFill>
                  <a:srgbClr val="000000"/>
                </a:solidFill>
                <a:latin typeface="Lexend"/>
                <a:ea typeface="Lexend"/>
                <a:cs typeface="Lexend"/>
                <a:sym typeface="Lexend"/>
              </a:endParaRPr>
            </a:p>
          </p:txBody>
        </p:sp>
      </p:grpSp>
      <p:sp>
        <p:nvSpPr>
          <p:cNvPr id="229" name="Google Shape;229;p14"/>
          <p:cNvSpPr txBox="1"/>
          <p:nvPr/>
        </p:nvSpPr>
        <p:spPr>
          <a:xfrm>
            <a:off x="3284521" y="6973927"/>
            <a:ext cx="3311400" cy="27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a) Does the graph support the claim that shark attacks cause heat stroke? </a:t>
            </a:r>
            <a:endParaRPr sz="1200">
              <a:solidFill>
                <a:srgbClr val="000000"/>
              </a:solidFill>
              <a:latin typeface="Lexend"/>
              <a:ea typeface="Lexend"/>
              <a:cs typeface="Lexend"/>
              <a:sym typeface="Lexend"/>
            </a:endParaRPr>
          </a:p>
        </p:txBody>
      </p:sp>
      <p:sp>
        <p:nvSpPr>
          <p:cNvPr id="230" name="Google Shape;230;p14"/>
          <p:cNvSpPr txBox="1"/>
          <p:nvPr/>
        </p:nvSpPr>
        <p:spPr>
          <a:xfrm>
            <a:off x="1621295" y="7403783"/>
            <a:ext cx="5044500" cy="40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These variables follow a similar pattern but this does not mean that one causes the other. This could be a coincidence or both could be influenced by a third factor.  </a:t>
            </a:r>
            <a:endParaRPr sz="1200">
              <a:solidFill>
                <a:srgbClr val="000000"/>
              </a:solidFill>
              <a:latin typeface="Kalam"/>
              <a:ea typeface="Kalam"/>
              <a:cs typeface="Kalam"/>
              <a:sym typeface="Kalam"/>
            </a:endParaRPr>
          </a:p>
        </p:txBody>
      </p:sp>
      <p:pic>
        <p:nvPicPr>
          <p:cNvPr id="231" name="Google Shape;231;p14"/>
          <p:cNvPicPr preferRelativeResize="0"/>
          <p:nvPr/>
        </p:nvPicPr>
        <p:blipFill>
          <a:blip r:embed="rId6">
            <a:alphaModFix/>
          </a:blip>
          <a:stretch>
            <a:fillRect/>
          </a:stretch>
        </p:blipFill>
        <p:spPr>
          <a:xfrm>
            <a:off x="3284525" y="5113966"/>
            <a:ext cx="2757300" cy="1827934"/>
          </a:xfrm>
          <a:prstGeom prst="rect">
            <a:avLst/>
          </a:prstGeom>
          <a:noFill/>
          <a:ln>
            <a:noFill/>
          </a:ln>
        </p:spPr>
      </p:pic>
      <p:sp>
        <p:nvSpPr>
          <p:cNvPr id="232" name="Google Shape;232;p14"/>
          <p:cNvSpPr txBox="1"/>
          <p:nvPr/>
        </p:nvSpPr>
        <p:spPr>
          <a:xfrm>
            <a:off x="6085951" y="4938399"/>
            <a:ext cx="182700" cy="208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33" name="Google Shape;233;p14"/>
          <p:cNvSpPr txBox="1"/>
          <p:nvPr/>
        </p:nvSpPr>
        <p:spPr>
          <a:xfrm>
            <a:off x="6119201" y="5537445"/>
            <a:ext cx="182700" cy="208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374CF1"/>
                </a:solidFill>
                <a:latin typeface="Lexend"/>
                <a:ea typeface="Lexend"/>
                <a:cs typeface="Lexend"/>
                <a:sym typeface="Lexend"/>
              </a:rPr>
              <a:t>✖</a:t>
            </a:r>
            <a:endParaRPr sz="1600">
              <a:solidFill>
                <a:srgbClr val="374CF1"/>
              </a:solidFill>
              <a:latin typeface="Lexend"/>
              <a:ea typeface="Lexend"/>
              <a:cs typeface="Lexend"/>
              <a:sym typeface="Lexend"/>
            </a:endParaRPr>
          </a:p>
        </p:txBody>
      </p:sp>
      <p:cxnSp>
        <p:nvCxnSpPr>
          <p:cNvPr id="234" name="Google Shape;234;p14"/>
          <p:cNvCxnSpPr/>
          <p:nvPr/>
        </p:nvCxnSpPr>
        <p:spPr>
          <a:xfrm>
            <a:off x="6047363" y="5673159"/>
            <a:ext cx="336900" cy="0"/>
          </a:xfrm>
          <a:prstGeom prst="straightConnector1">
            <a:avLst/>
          </a:prstGeom>
          <a:noFill/>
          <a:ln cap="flat" cmpd="sng" w="19050">
            <a:solidFill>
              <a:srgbClr val="374CF1"/>
            </a:solidFill>
            <a:prstDash val="solid"/>
            <a:round/>
            <a:headEnd len="med" w="med" type="none"/>
            <a:tailEnd len="med" w="med" type="none"/>
          </a:ln>
        </p:spPr>
      </p:cxnSp>
      <p:cxnSp>
        <p:nvCxnSpPr>
          <p:cNvPr id="235" name="Google Shape;235;p14"/>
          <p:cNvCxnSpPr/>
          <p:nvPr/>
        </p:nvCxnSpPr>
        <p:spPr>
          <a:xfrm>
            <a:off x="6027192" y="5058435"/>
            <a:ext cx="326100" cy="0"/>
          </a:xfrm>
          <a:prstGeom prst="straightConnector1">
            <a:avLst/>
          </a:prstGeom>
          <a:noFill/>
          <a:ln cap="flat" cmpd="sng" w="19050">
            <a:solidFill>
              <a:srgbClr val="037B7D"/>
            </a:solidFill>
            <a:prstDash val="solid"/>
            <a:round/>
            <a:headEnd len="med" w="med" type="none"/>
            <a:tailEnd len="med" w="med" type="none"/>
          </a:ln>
        </p:spPr>
      </p:cxnSp>
      <p:sp>
        <p:nvSpPr>
          <p:cNvPr id="236" name="Google Shape;236;p14"/>
          <p:cNvSpPr txBox="1"/>
          <p:nvPr/>
        </p:nvSpPr>
        <p:spPr>
          <a:xfrm>
            <a:off x="5891906" y="5048221"/>
            <a:ext cx="10236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Shark attacks</a:t>
            </a:r>
            <a:endParaRPr sz="1200">
              <a:solidFill>
                <a:srgbClr val="000000"/>
              </a:solidFill>
              <a:latin typeface="Lexend"/>
              <a:ea typeface="Lexend"/>
              <a:cs typeface="Lexend"/>
              <a:sym typeface="Lexend"/>
            </a:endParaRPr>
          </a:p>
        </p:txBody>
      </p:sp>
      <p:sp>
        <p:nvSpPr>
          <p:cNvPr id="237" name="Google Shape;237;p14"/>
          <p:cNvSpPr txBox="1"/>
          <p:nvPr/>
        </p:nvSpPr>
        <p:spPr>
          <a:xfrm>
            <a:off x="5831999" y="5632217"/>
            <a:ext cx="12600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exend"/>
                <a:ea typeface="Lexend"/>
                <a:cs typeface="Lexend"/>
                <a:sym typeface="Lexend"/>
              </a:rPr>
              <a:t>Cases of heat stroke</a:t>
            </a:r>
            <a:endParaRPr sz="1200">
              <a:solidFill>
                <a:srgbClr val="000000"/>
              </a:solidFill>
              <a:latin typeface="Lexend"/>
              <a:ea typeface="Lexend"/>
              <a:cs typeface="Lexend"/>
              <a:sym typeface="Lexend"/>
            </a:endParaRPr>
          </a:p>
        </p:txBody>
      </p:sp>
      <p:sp>
        <p:nvSpPr>
          <p:cNvPr id="238" name="Google Shape;238;p14"/>
          <p:cNvSpPr txBox="1"/>
          <p:nvPr/>
        </p:nvSpPr>
        <p:spPr>
          <a:xfrm>
            <a:off x="457200" y="8125050"/>
            <a:ext cx="6624000" cy="593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b) Suggest a possible reason why there is a similar pattern between these variables.</a:t>
            </a:r>
            <a:endParaRPr sz="1200">
              <a:solidFill>
                <a:srgbClr val="000000"/>
              </a:solidFill>
              <a:latin typeface="Lexend"/>
              <a:ea typeface="Lexend"/>
              <a:cs typeface="Lexend"/>
              <a:sym typeface="Lexend"/>
            </a:endParaRPr>
          </a:p>
        </p:txBody>
      </p:sp>
      <p:sp>
        <p:nvSpPr>
          <p:cNvPr id="239" name="Google Shape;239;p14"/>
          <p:cNvSpPr txBox="1"/>
          <p:nvPr/>
        </p:nvSpPr>
        <p:spPr>
          <a:xfrm>
            <a:off x="462202" y="8462950"/>
            <a:ext cx="6624000" cy="59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Weather and holidays are likely to influence both variables in a similar way. The warmer it is the higher the likelihood of heat stroke and more people will be swimming in the sea so higher chance of shark attacks.  </a:t>
            </a:r>
            <a:endParaRPr sz="1200">
              <a:solidFill>
                <a:srgbClr val="000000"/>
              </a:solidFill>
              <a:latin typeface="Kalam"/>
              <a:ea typeface="Kalam"/>
              <a:cs typeface="Kalam"/>
              <a:sym typeface="Kalam"/>
            </a:endParaRPr>
          </a:p>
        </p:txBody>
      </p:sp>
      <p:sp>
        <p:nvSpPr>
          <p:cNvPr id="240" name="Google Shape;240;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246" name="Google Shape;246;p15"/>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Misleading data</a:t>
            </a:r>
            <a:endParaRPr/>
          </a:p>
        </p:txBody>
      </p:sp>
      <p:sp>
        <p:nvSpPr>
          <p:cNvPr id="247" name="Google Shape;247;p1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248" name="Google Shape;248;p15"/>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v2.4</a:t>
            </a:r>
            <a:endParaRPr sz="1000">
              <a:solidFill>
                <a:srgbClr val="FFFFFF"/>
              </a:solidFill>
              <a:latin typeface="Lexend"/>
              <a:ea typeface="Lexend"/>
              <a:cs typeface="Lexend"/>
              <a:sym typeface="Lexend"/>
            </a:endParaRPr>
          </a:p>
        </p:txBody>
      </p:sp>
      <p:sp>
        <p:nvSpPr>
          <p:cNvPr id="249" name="Google Shape;249;p15"/>
          <p:cNvSpPr txBox="1"/>
          <p:nvPr/>
        </p:nvSpPr>
        <p:spPr>
          <a:xfrm>
            <a:off x="468000" y="720000"/>
            <a:ext cx="6444300" cy="236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3) Here is a sketch of a scatter graph showing the number of times  people visit restaurants and the value of their car. </a:t>
            </a:r>
            <a:endParaRPr sz="1200">
              <a:solidFill>
                <a:srgbClr val="000000"/>
              </a:solidFill>
              <a:latin typeface="Lexend"/>
              <a:ea typeface="Lexend"/>
              <a:cs typeface="Lexend"/>
              <a:sym typeface="Lexend"/>
            </a:endParaRPr>
          </a:p>
        </p:txBody>
      </p:sp>
      <p:grpSp>
        <p:nvGrpSpPr>
          <p:cNvPr id="250" name="Google Shape;250;p15"/>
          <p:cNvGrpSpPr/>
          <p:nvPr/>
        </p:nvGrpSpPr>
        <p:grpSpPr>
          <a:xfrm>
            <a:off x="749109" y="1495360"/>
            <a:ext cx="2409839" cy="1978484"/>
            <a:chOff x="4667503" y="2040830"/>
            <a:chExt cx="2185200" cy="2465400"/>
          </a:xfrm>
        </p:grpSpPr>
        <p:cxnSp>
          <p:nvCxnSpPr>
            <p:cNvPr id="251" name="Google Shape;251;p15"/>
            <p:cNvCxnSpPr/>
            <p:nvPr/>
          </p:nvCxnSpPr>
          <p:spPr>
            <a:xfrm rot="10800000">
              <a:off x="4820745" y="2040830"/>
              <a:ext cx="0" cy="2465400"/>
            </a:xfrm>
            <a:prstGeom prst="straightConnector1">
              <a:avLst/>
            </a:prstGeom>
            <a:noFill/>
            <a:ln cap="flat" cmpd="sng" w="38100">
              <a:solidFill>
                <a:srgbClr val="000000"/>
              </a:solidFill>
              <a:prstDash val="solid"/>
              <a:round/>
              <a:headEnd len="med" w="med" type="none"/>
              <a:tailEnd len="med" w="med" type="triangle"/>
            </a:ln>
          </p:spPr>
        </p:cxnSp>
        <p:cxnSp>
          <p:nvCxnSpPr>
            <p:cNvPr id="252" name="Google Shape;252;p15"/>
            <p:cNvCxnSpPr/>
            <p:nvPr/>
          </p:nvCxnSpPr>
          <p:spPr>
            <a:xfrm>
              <a:off x="4667503" y="4321393"/>
              <a:ext cx="2185200" cy="0"/>
            </a:xfrm>
            <a:prstGeom prst="straightConnector1">
              <a:avLst/>
            </a:prstGeom>
            <a:noFill/>
            <a:ln cap="flat" cmpd="sng" w="38100">
              <a:solidFill>
                <a:srgbClr val="000000"/>
              </a:solidFill>
              <a:prstDash val="solid"/>
              <a:round/>
              <a:headEnd len="med" w="med" type="none"/>
              <a:tailEnd len="med" w="med" type="triangle"/>
            </a:ln>
          </p:spPr>
        </p:cxnSp>
      </p:grpSp>
      <p:sp>
        <p:nvSpPr>
          <p:cNvPr id="253" name="Google Shape;253;p15"/>
          <p:cNvSpPr txBox="1"/>
          <p:nvPr/>
        </p:nvSpPr>
        <p:spPr>
          <a:xfrm>
            <a:off x="989085" y="2853270"/>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54" name="Google Shape;254;p15"/>
          <p:cNvSpPr txBox="1"/>
          <p:nvPr/>
        </p:nvSpPr>
        <p:spPr>
          <a:xfrm>
            <a:off x="1167916" y="2793660"/>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55" name="Google Shape;255;p15"/>
          <p:cNvSpPr txBox="1"/>
          <p:nvPr/>
        </p:nvSpPr>
        <p:spPr>
          <a:xfrm>
            <a:off x="1167916" y="2614829"/>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56" name="Google Shape;256;p15"/>
          <p:cNvSpPr txBox="1"/>
          <p:nvPr/>
        </p:nvSpPr>
        <p:spPr>
          <a:xfrm>
            <a:off x="1346747" y="2674439"/>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57" name="Google Shape;257;p15"/>
          <p:cNvSpPr txBox="1"/>
          <p:nvPr/>
        </p:nvSpPr>
        <p:spPr>
          <a:xfrm>
            <a:off x="1346747" y="2376388"/>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58" name="Google Shape;258;p15"/>
          <p:cNvSpPr txBox="1"/>
          <p:nvPr/>
        </p:nvSpPr>
        <p:spPr>
          <a:xfrm>
            <a:off x="1585188" y="2435998"/>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59" name="Google Shape;259;p15"/>
          <p:cNvSpPr txBox="1"/>
          <p:nvPr/>
        </p:nvSpPr>
        <p:spPr>
          <a:xfrm>
            <a:off x="1644798" y="2257167"/>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60" name="Google Shape;260;p15"/>
          <p:cNvSpPr txBox="1"/>
          <p:nvPr/>
        </p:nvSpPr>
        <p:spPr>
          <a:xfrm>
            <a:off x="1823629" y="2137946"/>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61" name="Google Shape;261;p15"/>
          <p:cNvSpPr txBox="1"/>
          <p:nvPr/>
        </p:nvSpPr>
        <p:spPr>
          <a:xfrm>
            <a:off x="2300512" y="1661064"/>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62" name="Google Shape;262;p15"/>
          <p:cNvSpPr txBox="1"/>
          <p:nvPr/>
        </p:nvSpPr>
        <p:spPr>
          <a:xfrm>
            <a:off x="2121681" y="1899505"/>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63" name="Google Shape;263;p15"/>
          <p:cNvSpPr txBox="1"/>
          <p:nvPr/>
        </p:nvSpPr>
        <p:spPr>
          <a:xfrm>
            <a:off x="1883239" y="1839895"/>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64" name="Google Shape;264;p15"/>
          <p:cNvSpPr txBox="1"/>
          <p:nvPr/>
        </p:nvSpPr>
        <p:spPr>
          <a:xfrm>
            <a:off x="1525578" y="2018726"/>
            <a:ext cx="172500" cy="19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solidFill>
                  <a:srgbClr val="037B7D"/>
                </a:solidFill>
                <a:latin typeface="Lexend"/>
                <a:ea typeface="Lexend"/>
                <a:cs typeface="Lexend"/>
                <a:sym typeface="Lexend"/>
              </a:rPr>
              <a:t>✖</a:t>
            </a:r>
            <a:endParaRPr sz="1600">
              <a:solidFill>
                <a:srgbClr val="037B7D"/>
              </a:solidFill>
              <a:latin typeface="Lexend"/>
              <a:ea typeface="Lexend"/>
              <a:cs typeface="Lexend"/>
              <a:sym typeface="Lexend"/>
            </a:endParaRPr>
          </a:p>
        </p:txBody>
      </p:sp>
      <p:sp>
        <p:nvSpPr>
          <p:cNvPr id="265" name="Google Shape;265;p15"/>
          <p:cNvSpPr txBox="1"/>
          <p:nvPr/>
        </p:nvSpPr>
        <p:spPr>
          <a:xfrm>
            <a:off x="1099834" y="3385214"/>
            <a:ext cx="1708200" cy="31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Number of times at a restaurant</a:t>
            </a:r>
            <a:endParaRPr sz="1200">
              <a:solidFill>
                <a:srgbClr val="000000"/>
              </a:solidFill>
              <a:latin typeface="Lexend"/>
              <a:ea typeface="Lexend"/>
              <a:cs typeface="Lexend"/>
              <a:sym typeface="Lexend"/>
            </a:endParaRPr>
          </a:p>
        </p:txBody>
      </p:sp>
      <p:sp>
        <p:nvSpPr>
          <p:cNvPr id="266" name="Google Shape;266;p15"/>
          <p:cNvSpPr txBox="1"/>
          <p:nvPr/>
        </p:nvSpPr>
        <p:spPr>
          <a:xfrm rot="-5400000">
            <a:off x="123979" y="2163284"/>
            <a:ext cx="1099200" cy="31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Value of car</a:t>
            </a:r>
            <a:endParaRPr sz="1200">
              <a:solidFill>
                <a:srgbClr val="000000"/>
              </a:solidFill>
              <a:latin typeface="Lexend"/>
              <a:ea typeface="Lexend"/>
              <a:cs typeface="Lexend"/>
              <a:sym typeface="Lexend"/>
            </a:endParaRPr>
          </a:p>
        </p:txBody>
      </p:sp>
      <p:grpSp>
        <p:nvGrpSpPr>
          <p:cNvPr id="267" name="Google Shape;267;p15"/>
          <p:cNvGrpSpPr/>
          <p:nvPr/>
        </p:nvGrpSpPr>
        <p:grpSpPr>
          <a:xfrm>
            <a:off x="3297954" y="1393351"/>
            <a:ext cx="3744491" cy="936414"/>
            <a:chOff x="3873775" y="2894163"/>
            <a:chExt cx="4786515" cy="1197001"/>
          </a:xfrm>
        </p:grpSpPr>
        <p:sp>
          <p:nvSpPr>
            <p:cNvPr id="268" name="Google Shape;268;p15"/>
            <p:cNvSpPr txBox="1"/>
            <p:nvPr/>
          </p:nvSpPr>
          <p:spPr>
            <a:xfrm>
              <a:off x="7682290" y="3091930"/>
              <a:ext cx="978000" cy="406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200">
                  <a:latin typeface="Lexend"/>
                  <a:ea typeface="Lexend"/>
                  <a:cs typeface="Lexend"/>
                  <a:sym typeface="Lexend"/>
                </a:rPr>
                <a:t>Sofia </a:t>
              </a:r>
              <a:endParaRPr sz="1200">
                <a:latin typeface="Lexend"/>
                <a:ea typeface="Lexend"/>
                <a:cs typeface="Lexend"/>
                <a:sym typeface="Lexend"/>
              </a:endParaRPr>
            </a:p>
          </p:txBody>
        </p:sp>
        <p:pic>
          <p:nvPicPr>
            <p:cNvPr id="269" name="Google Shape;269;p15"/>
            <p:cNvPicPr preferRelativeResize="0"/>
            <p:nvPr/>
          </p:nvPicPr>
          <p:blipFill>
            <a:blip r:embed="rId3">
              <a:alphaModFix/>
            </a:blip>
            <a:stretch>
              <a:fillRect/>
            </a:stretch>
          </p:blipFill>
          <p:spPr>
            <a:xfrm>
              <a:off x="7863474" y="3468824"/>
              <a:ext cx="560997" cy="622340"/>
            </a:xfrm>
            <a:prstGeom prst="rect">
              <a:avLst/>
            </a:prstGeom>
            <a:noFill/>
            <a:ln>
              <a:noFill/>
            </a:ln>
          </p:spPr>
        </p:pic>
        <p:pic>
          <p:nvPicPr>
            <p:cNvPr id="270" name="Google Shape;270;p15"/>
            <p:cNvPicPr preferRelativeResize="0"/>
            <p:nvPr/>
          </p:nvPicPr>
          <p:blipFill rotWithShape="1">
            <a:blip r:embed="rId4">
              <a:alphaModFix/>
            </a:blip>
            <a:srcRect b="43690" l="0" r="57905" t="0"/>
            <a:stretch/>
          </p:blipFill>
          <p:spPr>
            <a:xfrm>
              <a:off x="3873775" y="2894162"/>
              <a:ext cx="3989699" cy="1046426"/>
            </a:xfrm>
            <a:prstGeom prst="rect">
              <a:avLst/>
            </a:prstGeom>
            <a:noFill/>
            <a:ln>
              <a:noFill/>
            </a:ln>
          </p:spPr>
        </p:pic>
        <p:sp>
          <p:nvSpPr>
            <p:cNvPr id="271" name="Google Shape;271;p15"/>
            <p:cNvSpPr/>
            <p:nvPr/>
          </p:nvSpPr>
          <p:spPr>
            <a:xfrm flipH="1">
              <a:off x="3978400" y="2933500"/>
              <a:ext cx="3480600" cy="77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So all I need to do is eat out more then I will be able to get a fancy car!</a:t>
              </a:r>
              <a:endParaRPr sz="1200">
                <a:latin typeface="Lexend"/>
                <a:ea typeface="Lexend"/>
                <a:cs typeface="Lexend"/>
                <a:sym typeface="Lexend"/>
              </a:endParaRPr>
            </a:p>
          </p:txBody>
        </p:sp>
      </p:grpSp>
      <p:sp>
        <p:nvSpPr>
          <p:cNvPr id="272" name="Google Shape;272;p15"/>
          <p:cNvSpPr txBox="1"/>
          <p:nvPr/>
        </p:nvSpPr>
        <p:spPr>
          <a:xfrm>
            <a:off x="3229550" y="2347050"/>
            <a:ext cx="3862500" cy="70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a) Does this graph show correlation between the number of times people visit restaurants and the value of their car? How do you know?  </a:t>
            </a:r>
            <a:endParaRPr sz="1200">
              <a:solidFill>
                <a:srgbClr val="000000"/>
              </a:solidFill>
              <a:latin typeface="Lexend"/>
              <a:ea typeface="Lexend"/>
              <a:cs typeface="Lexend"/>
              <a:sym typeface="Lexend"/>
            </a:endParaRPr>
          </a:p>
        </p:txBody>
      </p:sp>
      <p:sp>
        <p:nvSpPr>
          <p:cNvPr id="273" name="Google Shape;273;p15"/>
          <p:cNvSpPr txBox="1"/>
          <p:nvPr/>
        </p:nvSpPr>
        <p:spPr>
          <a:xfrm>
            <a:off x="3229550" y="3266550"/>
            <a:ext cx="3648900" cy="63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Yes, from the limited data there seems to be a positive correlation. The points lie reasonably close to a linear relationship.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74" name="Google Shape;274;p15"/>
          <p:cNvSpPr txBox="1"/>
          <p:nvPr/>
        </p:nvSpPr>
        <p:spPr>
          <a:xfrm>
            <a:off x="504725" y="4004750"/>
            <a:ext cx="5059500" cy="36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b) Explain why Sofia’s statement is incorrect.   </a:t>
            </a:r>
            <a:endParaRPr sz="1200">
              <a:solidFill>
                <a:srgbClr val="000000"/>
              </a:solidFill>
              <a:latin typeface="Lexend"/>
              <a:ea typeface="Lexend"/>
              <a:cs typeface="Lexend"/>
              <a:sym typeface="Lexend"/>
            </a:endParaRPr>
          </a:p>
        </p:txBody>
      </p:sp>
      <p:sp>
        <p:nvSpPr>
          <p:cNvPr id="275" name="Google Shape;275;p15"/>
          <p:cNvSpPr txBox="1"/>
          <p:nvPr/>
        </p:nvSpPr>
        <p:spPr>
          <a:xfrm>
            <a:off x="468000" y="4373150"/>
            <a:ext cx="6624000" cy="4461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Just because there is correlation does not mean one variable causes the other. In this case, people with more money are likely to be able to eat out more and buy more expensive cars.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76" name="Google Shape;276;p15"/>
          <p:cNvSpPr txBox="1"/>
          <p:nvPr/>
        </p:nvSpPr>
        <p:spPr>
          <a:xfrm>
            <a:off x="465077" y="4890522"/>
            <a:ext cx="6422700" cy="2355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4) This chart shows the number of people who live in rural areas compared to urban areas. </a:t>
            </a:r>
            <a:endParaRPr sz="1200">
              <a:solidFill>
                <a:srgbClr val="000000"/>
              </a:solidFill>
              <a:latin typeface="Lexend"/>
              <a:ea typeface="Lexend"/>
              <a:cs typeface="Lexend"/>
              <a:sym typeface="Lexend"/>
            </a:endParaRPr>
          </a:p>
        </p:txBody>
      </p:sp>
      <p:cxnSp>
        <p:nvCxnSpPr>
          <p:cNvPr id="277" name="Google Shape;277;p15"/>
          <p:cNvCxnSpPr/>
          <p:nvPr/>
        </p:nvCxnSpPr>
        <p:spPr>
          <a:xfrm rot="10800000">
            <a:off x="709092" y="5488675"/>
            <a:ext cx="0" cy="1532400"/>
          </a:xfrm>
          <a:prstGeom prst="straightConnector1">
            <a:avLst/>
          </a:prstGeom>
          <a:noFill/>
          <a:ln cap="flat" cmpd="sng" w="19050">
            <a:solidFill>
              <a:srgbClr val="000000"/>
            </a:solidFill>
            <a:prstDash val="solid"/>
            <a:round/>
            <a:headEnd len="med" w="med" type="none"/>
            <a:tailEnd len="med" w="med" type="none"/>
          </a:ln>
        </p:spPr>
      </p:cxnSp>
      <p:cxnSp>
        <p:nvCxnSpPr>
          <p:cNvPr id="278" name="Google Shape;278;p15"/>
          <p:cNvCxnSpPr/>
          <p:nvPr/>
        </p:nvCxnSpPr>
        <p:spPr>
          <a:xfrm>
            <a:off x="709092" y="7021075"/>
            <a:ext cx="1721700" cy="0"/>
          </a:xfrm>
          <a:prstGeom prst="straightConnector1">
            <a:avLst/>
          </a:prstGeom>
          <a:noFill/>
          <a:ln cap="flat" cmpd="sng" w="19050">
            <a:solidFill>
              <a:srgbClr val="000000"/>
            </a:solidFill>
            <a:prstDash val="solid"/>
            <a:round/>
            <a:headEnd len="med" w="med" type="none"/>
            <a:tailEnd len="med" w="med" type="none"/>
          </a:ln>
        </p:spPr>
      </p:cxnSp>
      <p:grpSp>
        <p:nvGrpSpPr>
          <p:cNvPr id="279" name="Google Shape;279;p15"/>
          <p:cNvGrpSpPr/>
          <p:nvPr/>
        </p:nvGrpSpPr>
        <p:grpSpPr>
          <a:xfrm>
            <a:off x="877244" y="6276735"/>
            <a:ext cx="288819" cy="724282"/>
            <a:chOff x="3291525" y="2055200"/>
            <a:chExt cx="749400" cy="1879300"/>
          </a:xfrm>
        </p:grpSpPr>
        <p:sp>
          <p:nvSpPr>
            <p:cNvPr id="280" name="Google Shape;280;p15"/>
            <p:cNvSpPr/>
            <p:nvPr/>
          </p:nvSpPr>
          <p:spPr>
            <a:xfrm>
              <a:off x="3480125" y="2055200"/>
              <a:ext cx="370500" cy="3705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1" name="Google Shape;281;p15"/>
            <p:cNvSpPr/>
            <p:nvPr/>
          </p:nvSpPr>
          <p:spPr>
            <a:xfrm>
              <a:off x="3291550" y="2487900"/>
              <a:ext cx="747900" cy="2565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2" name="Google Shape;282;p15"/>
            <p:cNvSpPr/>
            <p:nvPr/>
          </p:nvSpPr>
          <p:spPr>
            <a:xfrm rot="5400000">
              <a:off x="2989575" y="2798300"/>
              <a:ext cx="743700" cy="1398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3" name="Google Shape;283;p15"/>
            <p:cNvSpPr/>
            <p:nvPr/>
          </p:nvSpPr>
          <p:spPr>
            <a:xfrm rot="5400000">
              <a:off x="3599175" y="2798300"/>
              <a:ext cx="743700" cy="1398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4" name="Google Shape;284;p15"/>
            <p:cNvSpPr/>
            <p:nvPr/>
          </p:nvSpPr>
          <p:spPr>
            <a:xfrm rot="5400000">
              <a:off x="3293537" y="2682964"/>
              <a:ext cx="743700" cy="3705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5" name="Google Shape;285;p15"/>
            <p:cNvSpPr/>
            <p:nvPr/>
          </p:nvSpPr>
          <p:spPr>
            <a:xfrm rot="5400000">
              <a:off x="3130775" y="3445350"/>
              <a:ext cx="838500" cy="1398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6" name="Google Shape;286;p15"/>
            <p:cNvSpPr/>
            <p:nvPr/>
          </p:nvSpPr>
          <p:spPr>
            <a:xfrm rot="5400000">
              <a:off x="3359375" y="3445350"/>
              <a:ext cx="838500" cy="1398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87" name="Google Shape;287;p15"/>
          <p:cNvGrpSpPr/>
          <p:nvPr/>
        </p:nvGrpSpPr>
        <p:grpSpPr>
          <a:xfrm>
            <a:off x="1416933" y="5468396"/>
            <a:ext cx="611061" cy="1532381"/>
            <a:chOff x="3291525" y="2055200"/>
            <a:chExt cx="749400" cy="1879300"/>
          </a:xfrm>
        </p:grpSpPr>
        <p:sp>
          <p:nvSpPr>
            <p:cNvPr id="288" name="Google Shape;288;p15"/>
            <p:cNvSpPr/>
            <p:nvPr/>
          </p:nvSpPr>
          <p:spPr>
            <a:xfrm>
              <a:off x="3480125" y="2055200"/>
              <a:ext cx="370500" cy="3705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89" name="Google Shape;289;p15"/>
            <p:cNvSpPr/>
            <p:nvPr/>
          </p:nvSpPr>
          <p:spPr>
            <a:xfrm>
              <a:off x="3291550" y="2487900"/>
              <a:ext cx="747900" cy="2565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0" name="Google Shape;290;p15"/>
            <p:cNvSpPr/>
            <p:nvPr/>
          </p:nvSpPr>
          <p:spPr>
            <a:xfrm rot="5400000">
              <a:off x="2989575" y="2798300"/>
              <a:ext cx="743700" cy="1398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1" name="Google Shape;291;p15"/>
            <p:cNvSpPr/>
            <p:nvPr/>
          </p:nvSpPr>
          <p:spPr>
            <a:xfrm rot="5400000">
              <a:off x="3599175" y="2798300"/>
              <a:ext cx="743700" cy="1398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2" name="Google Shape;292;p15"/>
            <p:cNvSpPr/>
            <p:nvPr/>
          </p:nvSpPr>
          <p:spPr>
            <a:xfrm rot="5400000">
              <a:off x="3293537" y="2682964"/>
              <a:ext cx="743700" cy="3705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3" name="Google Shape;293;p15"/>
            <p:cNvSpPr/>
            <p:nvPr/>
          </p:nvSpPr>
          <p:spPr>
            <a:xfrm rot="5400000">
              <a:off x="3130775" y="3445350"/>
              <a:ext cx="838500" cy="1398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94" name="Google Shape;294;p15"/>
            <p:cNvSpPr/>
            <p:nvPr/>
          </p:nvSpPr>
          <p:spPr>
            <a:xfrm rot="5400000">
              <a:off x="3359375" y="3445350"/>
              <a:ext cx="838500" cy="139800"/>
            </a:xfrm>
            <a:prstGeom prst="roundRect">
              <a:avLst>
                <a:gd fmla="val 16667" name="adj"/>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95" name="Google Shape;295;p15"/>
          <p:cNvSpPr txBox="1"/>
          <p:nvPr/>
        </p:nvSpPr>
        <p:spPr>
          <a:xfrm>
            <a:off x="709092" y="7083818"/>
            <a:ext cx="708000" cy="41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600">
              <a:solidFill>
                <a:srgbClr val="000000"/>
              </a:solidFill>
              <a:latin typeface="Lexend"/>
              <a:ea typeface="Lexend"/>
              <a:cs typeface="Lexend"/>
              <a:sym typeface="Lexend"/>
            </a:endParaRPr>
          </a:p>
        </p:txBody>
      </p:sp>
      <p:sp>
        <p:nvSpPr>
          <p:cNvPr id="296" name="Google Shape;296;p15"/>
          <p:cNvSpPr txBox="1"/>
          <p:nvPr/>
        </p:nvSpPr>
        <p:spPr>
          <a:xfrm>
            <a:off x="6403307" y="5306630"/>
            <a:ext cx="610800" cy="37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200">
                <a:latin typeface="Lexend"/>
                <a:ea typeface="Lexend"/>
                <a:cs typeface="Lexend"/>
                <a:sym typeface="Lexend"/>
              </a:rPr>
              <a:t>Alex</a:t>
            </a:r>
            <a:endParaRPr b="1" sz="1200">
              <a:latin typeface="Lexend"/>
              <a:ea typeface="Lexend"/>
              <a:cs typeface="Lexend"/>
              <a:sym typeface="Lexend"/>
            </a:endParaRPr>
          </a:p>
        </p:txBody>
      </p:sp>
      <p:pic>
        <p:nvPicPr>
          <p:cNvPr id="297" name="Google Shape;297;p15"/>
          <p:cNvPicPr preferRelativeResize="0"/>
          <p:nvPr/>
        </p:nvPicPr>
        <p:blipFill>
          <a:blip r:embed="rId5">
            <a:alphaModFix/>
          </a:blip>
          <a:stretch>
            <a:fillRect/>
          </a:stretch>
        </p:blipFill>
        <p:spPr>
          <a:xfrm>
            <a:off x="6463388" y="5699571"/>
            <a:ext cx="490787" cy="566002"/>
          </a:xfrm>
          <a:prstGeom prst="rect">
            <a:avLst/>
          </a:prstGeom>
          <a:noFill/>
          <a:ln>
            <a:noFill/>
          </a:ln>
        </p:spPr>
      </p:pic>
      <p:grpSp>
        <p:nvGrpSpPr>
          <p:cNvPr id="298" name="Google Shape;298;p15"/>
          <p:cNvGrpSpPr/>
          <p:nvPr/>
        </p:nvGrpSpPr>
        <p:grpSpPr>
          <a:xfrm flipH="1">
            <a:off x="3280945" y="5306586"/>
            <a:ext cx="3205135" cy="774208"/>
            <a:chOff x="1902376" y="1608382"/>
            <a:chExt cx="2242294" cy="1130395"/>
          </a:xfrm>
        </p:grpSpPr>
        <p:pic>
          <p:nvPicPr>
            <p:cNvPr id="299" name="Google Shape;299;p15"/>
            <p:cNvPicPr preferRelativeResize="0"/>
            <p:nvPr/>
          </p:nvPicPr>
          <p:blipFill rotWithShape="1">
            <a:blip r:embed="rId4">
              <a:alphaModFix/>
            </a:blip>
            <a:srcRect b="0" l="0" r="69082" t="56280"/>
            <a:stretch/>
          </p:blipFill>
          <p:spPr>
            <a:xfrm flipH="1">
              <a:off x="1902376" y="1608382"/>
              <a:ext cx="2242294" cy="1088319"/>
            </a:xfrm>
            <a:prstGeom prst="rect">
              <a:avLst/>
            </a:prstGeom>
            <a:noFill/>
            <a:ln>
              <a:noFill/>
            </a:ln>
          </p:spPr>
        </p:pic>
        <p:sp>
          <p:nvSpPr>
            <p:cNvPr id="300" name="Google Shape;300;p15"/>
            <p:cNvSpPr txBox="1"/>
            <p:nvPr/>
          </p:nvSpPr>
          <p:spPr>
            <a:xfrm flipH="1">
              <a:off x="2027144" y="1749378"/>
              <a:ext cx="2021400" cy="989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latin typeface="Lexend"/>
                  <a:ea typeface="Lexend"/>
                  <a:cs typeface="Lexend"/>
                  <a:sym typeface="Lexend"/>
                </a:rPr>
                <a:t>This shows twice as many people live in urban areas than rural.</a:t>
              </a:r>
              <a:endParaRPr sz="1200">
                <a:solidFill>
                  <a:srgbClr val="000000"/>
                </a:solidFill>
                <a:latin typeface="Lexend"/>
                <a:ea typeface="Lexend"/>
                <a:cs typeface="Lexend"/>
                <a:sym typeface="Lexend"/>
              </a:endParaRPr>
            </a:p>
          </p:txBody>
        </p:sp>
      </p:grpSp>
      <p:sp>
        <p:nvSpPr>
          <p:cNvPr id="301" name="Google Shape;301;p15"/>
          <p:cNvSpPr txBox="1"/>
          <p:nvPr/>
        </p:nvSpPr>
        <p:spPr>
          <a:xfrm flipH="1">
            <a:off x="2687039" y="6221900"/>
            <a:ext cx="762600" cy="317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200">
                <a:latin typeface="Lexend"/>
                <a:ea typeface="Lexend"/>
                <a:cs typeface="Lexend"/>
                <a:sym typeface="Lexend"/>
              </a:rPr>
              <a:t>Sofia </a:t>
            </a:r>
            <a:endParaRPr sz="1200">
              <a:latin typeface="Lexend"/>
              <a:ea typeface="Lexend"/>
              <a:cs typeface="Lexend"/>
              <a:sym typeface="Lexend"/>
            </a:endParaRPr>
          </a:p>
        </p:txBody>
      </p:sp>
      <p:pic>
        <p:nvPicPr>
          <p:cNvPr id="302" name="Google Shape;302;p15"/>
          <p:cNvPicPr preferRelativeResize="0"/>
          <p:nvPr/>
        </p:nvPicPr>
        <p:blipFill>
          <a:blip r:embed="rId3">
            <a:alphaModFix/>
          </a:blip>
          <a:stretch>
            <a:fillRect/>
          </a:stretch>
        </p:blipFill>
        <p:spPr>
          <a:xfrm flipH="1">
            <a:off x="2870990" y="6515748"/>
            <a:ext cx="437387" cy="485213"/>
          </a:xfrm>
          <a:prstGeom prst="rect">
            <a:avLst/>
          </a:prstGeom>
          <a:noFill/>
          <a:ln>
            <a:noFill/>
          </a:ln>
        </p:spPr>
      </p:pic>
      <p:pic>
        <p:nvPicPr>
          <p:cNvPr id="303" name="Google Shape;303;p15"/>
          <p:cNvPicPr preferRelativeResize="0"/>
          <p:nvPr/>
        </p:nvPicPr>
        <p:blipFill rotWithShape="1">
          <a:blip r:embed="rId4">
            <a:alphaModFix/>
          </a:blip>
          <a:srcRect b="43690" l="0" r="57905" t="0"/>
          <a:stretch/>
        </p:blipFill>
        <p:spPr>
          <a:xfrm flipH="1">
            <a:off x="3296378" y="6080866"/>
            <a:ext cx="2756997" cy="815856"/>
          </a:xfrm>
          <a:prstGeom prst="rect">
            <a:avLst/>
          </a:prstGeom>
          <a:noFill/>
          <a:ln>
            <a:noFill/>
          </a:ln>
        </p:spPr>
      </p:pic>
      <p:sp>
        <p:nvSpPr>
          <p:cNvPr id="304" name="Google Shape;304;p15"/>
          <p:cNvSpPr/>
          <p:nvPr/>
        </p:nvSpPr>
        <p:spPr>
          <a:xfrm>
            <a:off x="3492520" y="6111526"/>
            <a:ext cx="2494800" cy="60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I think it shows that 4 times as many people live in urban areas than rural areas.</a:t>
            </a:r>
            <a:endParaRPr sz="1200">
              <a:latin typeface="Lexend"/>
              <a:ea typeface="Lexend"/>
              <a:cs typeface="Lexend"/>
              <a:sym typeface="Lexend"/>
            </a:endParaRPr>
          </a:p>
        </p:txBody>
      </p:sp>
      <p:sp>
        <p:nvSpPr>
          <p:cNvPr id="305" name="Google Shape;305;p15"/>
          <p:cNvSpPr txBox="1"/>
          <p:nvPr/>
        </p:nvSpPr>
        <p:spPr>
          <a:xfrm>
            <a:off x="760958" y="7087405"/>
            <a:ext cx="437400" cy="25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Rural</a:t>
            </a:r>
            <a:endParaRPr sz="1200">
              <a:solidFill>
                <a:srgbClr val="000000"/>
              </a:solidFill>
              <a:latin typeface="Lexend"/>
              <a:ea typeface="Lexend"/>
              <a:cs typeface="Lexend"/>
              <a:sym typeface="Lexend"/>
            </a:endParaRPr>
          </a:p>
        </p:txBody>
      </p:sp>
      <p:sp>
        <p:nvSpPr>
          <p:cNvPr id="306" name="Google Shape;306;p15"/>
          <p:cNvSpPr txBox="1"/>
          <p:nvPr/>
        </p:nvSpPr>
        <p:spPr>
          <a:xfrm>
            <a:off x="1503936" y="7119916"/>
            <a:ext cx="490800" cy="25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Urban</a:t>
            </a:r>
            <a:endParaRPr sz="1200">
              <a:solidFill>
                <a:srgbClr val="000000"/>
              </a:solidFill>
              <a:latin typeface="Lexend"/>
              <a:ea typeface="Lexend"/>
              <a:cs typeface="Lexend"/>
              <a:sym typeface="Lexend"/>
            </a:endParaRPr>
          </a:p>
        </p:txBody>
      </p:sp>
      <p:sp>
        <p:nvSpPr>
          <p:cNvPr id="307" name="Google Shape;307;p15"/>
          <p:cNvSpPr txBox="1"/>
          <p:nvPr/>
        </p:nvSpPr>
        <p:spPr>
          <a:xfrm>
            <a:off x="466624" y="7437975"/>
            <a:ext cx="6624000" cy="29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a) Give a reason why Alex may be correct. </a:t>
            </a:r>
            <a:endParaRPr sz="1200">
              <a:solidFill>
                <a:srgbClr val="000000"/>
              </a:solidFill>
              <a:latin typeface="Lexend"/>
              <a:ea typeface="Lexend"/>
              <a:cs typeface="Lexend"/>
              <a:sym typeface="Lexend"/>
            </a:endParaRPr>
          </a:p>
        </p:txBody>
      </p:sp>
      <p:sp>
        <p:nvSpPr>
          <p:cNvPr id="308" name="Google Shape;308;p15"/>
          <p:cNvSpPr txBox="1"/>
          <p:nvPr/>
        </p:nvSpPr>
        <p:spPr>
          <a:xfrm>
            <a:off x="466624" y="7804074"/>
            <a:ext cx="6624000" cy="29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The height of the picture for urban areas is twice that of the picture for rural areas.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grpSp>
        <p:nvGrpSpPr>
          <p:cNvPr id="309" name="Google Shape;309;p15"/>
          <p:cNvGrpSpPr/>
          <p:nvPr/>
        </p:nvGrpSpPr>
        <p:grpSpPr>
          <a:xfrm>
            <a:off x="1276750" y="6289853"/>
            <a:ext cx="288819" cy="724282"/>
            <a:chOff x="3291525" y="2055200"/>
            <a:chExt cx="749400" cy="1879300"/>
          </a:xfrm>
        </p:grpSpPr>
        <p:sp>
          <p:nvSpPr>
            <p:cNvPr id="310" name="Google Shape;310;p15"/>
            <p:cNvSpPr/>
            <p:nvPr/>
          </p:nvSpPr>
          <p:spPr>
            <a:xfrm>
              <a:off x="3480125" y="2055200"/>
              <a:ext cx="370500" cy="370500"/>
            </a:xfrm>
            <a:prstGeom prst="ellipse">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1" name="Google Shape;311;p15"/>
            <p:cNvSpPr/>
            <p:nvPr/>
          </p:nvSpPr>
          <p:spPr>
            <a:xfrm>
              <a:off x="3291550" y="2487900"/>
              <a:ext cx="747900" cy="2565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2" name="Google Shape;312;p15"/>
            <p:cNvSpPr/>
            <p:nvPr/>
          </p:nvSpPr>
          <p:spPr>
            <a:xfrm rot="5400000">
              <a:off x="2989575" y="2798300"/>
              <a:ext cx="743700" cy="1398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3" name="Google Shape;313;p15"/>
            <p:cNvSpPr/>
            <p:nvPr/>
          </p:nvSpPr>
          <p:spPr>
            <a:xfrm rot="5400000">
              <a:off x="3599175" y="2798300"/>
              <a:ext cx="743700" cy="1398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4" name="Google Shape;314;p15"/>
            <p:cNvSpPr/>
            <p:nvPr/>
          </p:nvSpPr>
          <p:spPr>
            <a:xfrm rot="5400000">
              <a:off x="3293537" y="2682964"/>
              <a:ext cx="743700" cy="3705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5" name="Google Shape;315;p15"/>
            <p:cNvSpPr/>
            <p:nvPr/>
          </p:nvSpPr>
          <p:spPr>
            <a:xfrm rot="5400000">
              <a:off x="3130775" y="3445350"/>
              <a:ext cx="838500" cy="1398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6" name="Google Shape;316;p15"/>
            <p:cNvSpPr/>
            <p:nvPr/>
          </p:nvSpPr>
          <p:spPr>
            <a:xfrm rot="5400000">
              <a:off x="3359375" y="3445350"/>
              <a:ext cx="838500" cy="1398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317" name="Google Shape;317;p15"/>
          <p:cNvGrpSpPr/>
          <p:nvPr/>
        </p:nvGrpSpPr>
        <p:grpSpPr>
          <a:xfrm>
            <a:off x="1276760" y="5455394"/>
            <a:ext cx="288819" cy="724282"/>
            <a:chOff x="3291525" y="2055200"/>
            <a:chExt cx="749400" cy="1879300"/>
          </a:xfrm>
        </p:grpSpPr>
        <p:sp>
          <p:nvSpPr>
            <p:cNvPr id="318" name="Google Shape;318;p15"/>
            <p:cNvSpPr/>
            <p:nvPr/>
          </p:nvSpPr>
          <p:spPr>
            <a:xfrm>
              <a:off x="3480125" y="2055200"/>
              <a:ext cx="370500" cy="370500"/>
            </a:xfrm>
            <a:prstGeom prst="ellipse">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9" name="Google Shape;319;p15"/>
            <p:cNvSpPr/>
            <p:nvPr/>
          </p:nvSpPr>
          <p:spPr>
            <a:xfrm>
              <a:off x="3291550" y="2487900"/>
              <a:ext cx="747900" cy="2565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0" name="Google Shape;320;p15"/>
            <p:cNvSpPr/>
            <p:nvPr/>
          </p:nvSpPr>
          <p:spPr>
            <a:xfrm rot="5400000">
              <a:off x="2989575" y="2798300"/>
              <a:ext cx="743700" cy="1398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1" name="Google Shape;321;p15"/>
            <p:cNvSpPr/>
            <p:nvPr/>
          </p:nvSpPr>
          <p:spPr>
            <a:xfrm rot="5400000">
              <a:off x="3599175" y="2798300"/>
              <a:ext cx="743700" cy="1398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2" name="Google Shape;322;p15"/>
            <p:cNvSpPr/>
            <p:nvPr/>
          </p:nvSpPr>
          <p:spPr>
            <a:xfrm rot="5400000">
              <a:off x="3293537" y="2682964"/>
              <a:ext cx="743700" cy="3705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3" name="Google Shape;323;p15"/>
            <p:cNvSpPr/>
            <p:nvPr/>
          </p:nvSpPr>
          <p:spPr>
            <a:xfrm rot="5400000">
              <a:off x="3130775" y="3445350"/>
              <a:ext cx="838500" cy="1398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4" name="Google Shape;324;p15"/>
            <p:cNvSpPr/>
            <p:nvPr/>
          </p:nvSpPr>
          <p:spPr>
            <a:xfrm rot="5400000">
              <a:off x="3359375" y="3445350"/>
              <a:ext cx="838500" cy="139800"/>
            </a:xfrm>
            <a:prstGeom prst="roundRect">
              <a:avLst>
                <a:gd fmla="val 16667" name="adj"/>
              </a:avLst>
            </a:prstGeom>
            <a:solidFill>
              <a:srgbClr val="037B7D"/>
            </a:solidFill>
            <a:ln cap="flat" cmpd="sng" w="1905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325" name="Google Shape;325;p15"/>
          <p:cNvSpPr txBox="1"/>
          <p:nvPr/>
        </p:nvSpPr>
        <p:spPr>
          <a:xfrm>
            <a:off x="453600" y="8182575"/>
            <a:ext cx="6624000" cy="38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b) Give a reason why Sofia may be correct. </a:t>
            </a:r>
            <a:endParaRPr sz="1200">
              <a:solidFill>
                <a:srgbClr val="000000"/>
              </a:solidFill>
              <a:latin typeface="Lexend"/>
              <a:ea typeface="Lexend"/>
              <a:cs typeface="Lexend"/>
              <a:sym typeface="Lexend"/>
            </a:endParaRPr>
          </a:p>
        </p:txBody>
      </p:sp>
      <p:sp>
        <p:nvSpPr>
          <p:cNvPr id="326" name="Google Shape;326;p15"/>
          <p:cNvSpPr txBox="1"/>
          <p:nvPr/>
        </p:nvSpPr>
        <p:spPr>
          <a:xfrm>
            <a:off x="453600" y="8575944"/>
            <a:ext cx="6624000" cy="38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The area of the picture for urban areas is four times that of the picture for rural areas.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327" name="Google Shape;327;p15"/>
          <p:cNvSpPr txBox="1"/>
          <p:nvPr/>
        </p:nvSpPr>
        <p:spPr>
          <a:xfrm>
            <a:off x="468000" y="8948275"/>
            <a:ext cx="6624000" cy="38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 Give a reason why both may be incorrect. </a:t>
            </a:r>
            <a:endParaRPr sz="1200">
              <a:solidFill>
                <a:srgbClr val="000000"/>
              </a:solidFill>
              <a:latin typeface="Lexend"/>
              <a:ea typeface="Lexend"/>
              <a:cs typeface="Lexend"/>
              <a:sym typeface="Lexend"/>
            </a:endParaRPr>
          </a:p>
        </p:txBody>
      </p:sp>
      <p:sp>
        <p:nvSpPr>
          <p:cNvPr id="328" name="Google Shape;328;p15"/>
          <p:cNvSpPr txBox="1"/>
          <p:nvPr/>
        </p:nvSpPr>
        <p:spPr>
          <a:xfrm>
            <a:off x="468000" y="9269050"/>
            <a:ext cx="66240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There is no scale on the </a:t>
            </a:r>
            <a:r>
              <a:rPr i="1" lang="en-GB" sz="1200">
                <a:solidFill>
                  <a:srgbClr val="000000"/>
                </a:solidFill>
                <a:latin typeface="Times New Roman"/>
                <a:ea typeface="Times New Roman"/>
                <a:cs typeface="Times New Roman"/>
                <a:sym typeface="Times New Roman"/>
              </a:rPr>
              <a:t>y</a:t>
            </a:r>
            <a:r>
              <a:rPr lang="en-GB" sz="1200">
                <a:solidFill>
                  <a:srgbClr val="000000"/>
                </a:solidFill>
                <a:latin typeface="Kalam"/>
                <a:ea typeface="Kalam"/>
                <a:cs typeface="Kalam"/>
                <a:sym typeface="Kalam"/>
              </a:rPr>
              <a:t> axis, if the scale does not start at zero then comparing proportions is incorrect.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329" name="Google Shape;329;p15"/>
          <p:cNvSpPr txBox="1"/>
          <p:nvPr/>
        </p:nvSpPr>
        <p:spPr>
          <a:xfrm>
            <a:off x="468000" y="9717275"/>
            <a:ext cx="6624000" cy="19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It is impossible to interpret what this graph is showing.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Answers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