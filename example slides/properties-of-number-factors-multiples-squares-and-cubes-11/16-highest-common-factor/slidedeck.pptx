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5143500"/>
  <p:notesSz cx="6858000" cy="9144000"/>
  <p:embeddedFontLst>
    <p:embeddedFont>
      <p:font typeface="Lexend" panose="00000000000000000000"/>
      <p:regular r:id="rId35"/>
    </p:embeddedFont>
    <p:embeddedFont>
      <p:font typeface="Lexend Medium" panose="00000000000000000000"/>
      <p:regular r:id="rId36"/>
    </p:embeddedFont>
    <p:embeddedFont>
      <p:font typeface="Kalam" panose="02000000000000000000"/>
      <p:regular r:id="rId37"/>
    </p:embeddedFont>
    <p:embeddedFont>
      <p:font typeface="Lexend Light" panose="00000000000000000000"/>
      <p:regular r:id="rId38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659FC23-F952-4123-8FF8-0C1EDC85D73C}">
  <a:tblStyle styleId="{2659FC23-F952-4123-8FF8-0C1EDC85D7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tags" Target="tags/tag1.xml" /><Relationship Id="rId35" Type="http://schemas.openxmlformats.org/officeDocument/2006/relationships/font" Target="fonts/font1.fntdata" /><Relationship Id="rId36" Type="http://schemas.openxmlformats.org/officeDocument/2006/relationships/font" Target="fonts/font2.fntdata" /><Relationship Id="rId37" Type="http://schemas.openxmlformats.org/officeDocument/2006/relationships/font" Target="fonts/font3.fntdata" /><Relationship Id="rId38" Type="http://schemas.openxmlformats.org/officeDocument/2006/relationships/font" Target="fonts/font4.fntdata" /><Relationship Id="rId39" Type="http://schemas.openxmlformats.org/officeDocument/2006/relationships/presProps" Target="presProps.xml" /><Relationship Id="rId4" Type="http://schemas.openxmlformats.org/officeDocument/2006/relationships/slide" Target="slides/slide2.xml" /><Relationship Id="rId40" Type="http://schemas.openxmlformats.org/officeDocument/2006/relationships/viewProps" Target="viewProps.xml" /><Relationship Id="rId41" Type="http://schemas.openxmlformats.org/officeDocument/2006/relationships/theme" Target="theme/theme1.xml" /><Relationship Id="rId42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5164a2a8e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5164a2a8e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1e88789a3b7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88789a3b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g285164a2a8e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85164a2a8e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g285164a2a8e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85164a2a8e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g285164a2a8e_0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5164a2a8e_0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2" name="Shape 812"/>
        <p:cNvGrpSpPr/>
        <p:nvPr/>
      </p:nvGrpSpPr>
      <p:grpSpPr>
        <a:xfrm>
          <a:off x="0" y="0"/>
          <a:ext cx="0" cy="0"/>
        </a:xfrm>
      </p:grpSpPr>
      <p:sp>
        <p:nvSpPr>
          <p:cNvPr id="813" name="Google Shape;813;g285164a2a8e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85164a2a8e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sp>
        <p:nvSpPr>
          <p:cNvPr id="828" name="Google Shape;828;g285164a2a8e_0_1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85164a2a8e_0_1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2" name="Shape 842"/>
        <p:cNvGrpSpPr/>
        <p:nvPr/>
      </p:nvGrpSpPr>
      <p:grpSpPr>
        <a:xfrm>
          <a:off x="0" y="0"/>
          <a:ext cx="0" cy="0"/>
        </a:xfrm>
      </p:grpSpPr>
      <p:sp>
        <p:nvSpPr>
          <p:cNvPr id="843" name="Google Shape;843;g285164a2a8e_0_1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85164a2a8e_0_1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g285d6e2585f_0_1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85d6e2585f_0_1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g285164a2a8e_0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85164a2a8e_0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g285164a2a8e_0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85164a2a8e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sp>
        <p:nvSpPr>
          <p:cNvPr id="887" name="Google Shape;887;g285d6e2585f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85d6e2585f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g285164a2a8e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85164a2a8e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sp>
        <p:nvSpPr>
          <p:cNvPr id="943" name="Google Shape;943;g285164a2a8e_0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85164a2a8e_0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g285164a2a8e_0_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85164a2a8e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g285164a2a8e_0_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85164a2a8e_0_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1" name="Shape 1041"/>
        <p:cNvGrpSpPr/>
        <p:nvPr/>
      </p:nvGrpSpPr>
      <p:grpSpPr>
        <a:xfrm>
          <a:off x="0" y="0"/>
          <a:ext cx="0" cy="0"/>
        </a:xfrm>
      </p:grpSpPr>
      <p:sp>
        <p:nvSpPr>
          <p:cNvPr id="1042" name="Google Shape;1042;g285d6e2585f_0_2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85d6e2585f_0_2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5" name="Shape 1065"/>
        <p:cNvGrpSpPr/>
        <p:nvPr/>
      </p:nvGrpSpPr>
      <p:grpSpPr>
        <a:xfrm>
          <a:off x="0" y="0"/>
          <a:ext cx="0" cy="0"/>
        </a:xfrm>
      </p:grpSpPr>
      <p:sp>
        <p:nvSpPr>
          <p:cNvPr id="1066" name="Google Shape;1066;g28dcfff65cf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8dcfff65cf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9" name="Shape 1079"/>
        <p:cNvGrpSpPr/>
        <p:nvPr/>
      </p:nvGrpSpPr>
      <p:grpSpPr>
        <a:xfrm>
          <a:off x="0" y="0"/>
          <a:ext cx="0" cy="0"/>
        </a:xfrm>
      </p:grpSpPr>
      <p:sp>
        <p:nvSpPr>
          <p:cNvPr id="1080" name="Google Shape;1080;g285164a2a8e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85164a2a8e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g28dcfff65c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8dcfff65c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8" name="Shape 1138"/>
        <p:cNvGrpSpPr/>
        <p:nvPr/>
      </p:nvGrpSpPr>
      <p:grpSpPr>
        <a:xfrm>
          <a:off x="0" y="0"/>
          <a:ext cx="0" cy="0"/>
        </a:xfrm>
      </p:grpSpPr>
      <p:sp>
        <p:nvSpPr>
          <p:cNvPr id="1139" name="Google Shape;1139;g285164a2a8e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85164a2a8e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7" name="Shape 1147"/>
        <p:cNvGrpSpPr/>
        <p:nvPr/>
      </p:nvGrpSpPr>
      <p:grpSpPr>
        <a:xfrm>
          <a:off x="0" y="0"/>
          <a:ext cx="0" cy="0"/>
        </a:xfrm>
      </p:grpSpPr>
      <p:sp>
        <p:nvSpPr>
          <p:cNvPr id="1148" name="Google Shape;1148;g285d6e2585f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85d6e2585f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4" name="Shape 1164"/>
        <p:cNvGrpSpPr/>
        <p:nvPr/>
      </p:nvGrpSpPr>
      <p:grpSpPr>
        <a:xfrm>
          <a:off x="0" y="0"/>
          <a:ext cx="0" cy="0"/>
        </a:xfrm>
      </p:grpSpPr>
      <p:sp>
        <p:nvSpPr>
          <p:cNvPr id="1165" name="Google Shape;1165;g285d6e2585f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85d6e2585f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sp>
        <p:nvSpPr>
          <p:cNvPr id="1191" name="Google Shape;1191;g285d6e2585f_0_1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85d6e2585f_0_1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0" name="Shape 1210"/>
        <p:cNvGrpSpPr/>
        <p:nvPr/>
      </p:nvGrpSpPr>
      <p:grpSpPr>
        <a:xfrm>
          <a:off x="0" y="0"/>
          <a:ext cx="0" cy="0"/>
        </a:xfrm>
      </p:grpSpPr>
      <p:sp>
        <p:nvSpPr>
          <p:cNvPr id="1211" name="Google Shape;1211;g28dcfff65cf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8dcfff65cf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9" name="Shape 1229"/>
        <p:cNvGrpSpPr/>
        <p:nvPr/>
      </p:nvGrpSpPr>
      <p:grpSpPr>
        <a:xfrm>
          <a:off x="0" y="0"/>
          <a:ext cx="0" cy="0"/>
        </a:xfrm>
      </p:grpSpPr>
      <p:sp>
        <p:nvSpPr>
          <p:cNvPr id="1230" name="Google Shape;1230;g285d6e2585f_0_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85d6e2585f_0_1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5" name="Shape 1255"/>
        <p:cNvGrpSpPr/>
        <p:nvPr/>
      </p:nvGrpSpPr>
      <p:grpSpPr>
        <a:xfrm>
          <a:off x="0" y="0"/>
          <a:ext cx="0" cy="0"/>
        </a:xfrm>
      </p:grpSpPr>
      <p:sp>
        <p:nvSpPr>
          <p:cNvPr id="1256" name="Google Shape;125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3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9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0.png" /><Relationship Id="rId4" Type="http://schemas.openxmlformats.org/officeDocument/2006/relationships/image" Target="../media/image49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1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1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34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the prime factorisation of two or more positive integers to efficiently identify the highest common factor.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2"/>
          </p:nvPr>
        </p:nvSpPr>
        <p:spPr>
          <a:xfrm>
            <a:off x="324000" y="2017337"/>
            <a:ext cx="7215900" cy="11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The </a:t>
            </a:r>
            <a:r>
              <a:rPr lang="en-GB"/>
              <a:t>highest common factor</a:t>
            </a:r>
            <a:r>
              <a:rPr lang="en-GB" b="0"/>
              <a:t> of two or more integers  which can be divided by all other possible common factors.</a:t>
            </a:r>
            <a:endParaRPr b="0"/>
          </a:p>
        </p:txBody>
      </p:sp>
      <p:sp>
        <p:nvSpPr>
          <p:cNvPr id="767" name="Google Shape;767;p67"/>
          <p:cNvSpPr txBox="1"/>
          <p:nvPr>
            <p:ph type="subTitle" idx="1"/>
          </p:nvPr>
        </p:nvSpPr>
        <p:spPr>
          <a:xfrm>
            <a:off x="324000" y="993654"/>
            <a:ext cx="7215900" cy="70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Prime factorisation </a:t>
            </a:r>
            <a:r>
              <a:rPr lang="en-GB" b="0"/>
              <a:t>is a method to find the prime factors of a given integer.</a:t>
            </a:r>
            <a:endParaRPr b="0"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HCF </a:t>
            </a:r>
            <a:r>
              <a:rPr lang="en-GB" b="0"/>
              <a:t>is an abbreviation for </a:t>
            </a:r>
            <a:r>
              <a:rPr lang="en-GB"/>
              <a:t>highest common factor.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subTitle" idx="1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An exponent is a number positioned above and to the right of a base value. It indicates repeated multiplication. </a:t>
            </a:r>
            <a:endParaRPr b="0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p6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779" name="Google Shape;779;p69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780" name="Google Shape;780;p69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781" name="Google Shape;781;p69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5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6" name="Shape 786"/>
        <p:cNvGrpSpPr/>
        <p:nvPr/>
      </p:nvGrpSpPr>
      <p:grpSpPr>
        <a:xfrm>
          <a:off x="0" y="0"/>
          <a:ext cx="0" cy="0"/>
        </a:xfrm>
      </p:grpSpPr>
      <p:sp>
        <p:nvSpPr>
          <p:cNvPr id="787" name="Google Shape;787;p70"/>
          <p:cNvSpPr txBox="1"/>
          <p:nvPr>
            <p:ph type="body" idx="1"/>
          </p:nvPr>
        </p:nvSpPr>
        <p:spPr>
          <a:xfrm>
            <a:off x="2008800" y="812250"/>
            <a:ext cx="1511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× 3 × 5</a:t>
            </a:r>
            <a:r>
              <a:rPr lang="en-GB" baseline="30000"/>
              <a:t>3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789" name="Google Shape;789;p70"/>
          <p:cNvSpPr txBox="1"/>
          <p:nvPr>
            <p:ph type="body" idx="1"/>
          </p:nvPr>
        </p:nvSpPr>
        <p:spPr>
          <a:xfrm>
            <a:off x="5774400" y="810000"/>
            <a:ext cx="1619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4</a:t>
            </a:r>
            <a:r>
              <a:rPr lang="en-GB"/>
              <a:t> × 3</a:t>
            </a:r>
            <a:r>
              <a:rPr lang="en-GB" baseline="30000"/>
              <a:t>3</a:t>
            </a:r>
            <a:r>
              <a:rPr lang="en-GB"/>
              <a:t> × 5</a:t>
            </a:r>
            <a:r>
              <a:rPr lang="en-GB" baseline="30000"/>
              <a:t>3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790" name="Google Shape;790;p70"/>
          <p:cNvSpPr txBox="1"/>
          <p:nvPr>
            <p:ph type="body" idx="1"/>
          </p:nvPr>
        </p:nvSpPr>
        <p:spPr>
          <a:xfrm>
            <a:off x="324000" y="1620000"/>
            <a:ext cx="84960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these two products of prime factors?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791" name="Google Shape;791;p70"/>
          <p:cNvSpPr txBox="1"/>
          <p:nvPr>
            <p:ph type="body" idx="1"/>
          </p:nvPr>
        </p:nvSpPr>
        <p:spPr>
          <a:xfrm>
            <a:off x="324000" y="2571750"/>
            <a:ext cx="5932800" cy="35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may have said something like these: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2" name="Google Shape;792;p70"/>
          <p:cNvSpPr txBox="1"/>
          <p:nvPr>
            <p:ph type="body" idx="1"/>
          </p:nvPr>
        </p:nvSpPr>
        <p:spPr>
          <a:xfrm>
            <a:off x="324000" y="3060900"/>
            <a:ext cx="211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both products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3" name="Google Shape;793;p70"/>
          <p:cNvSpPr txBox="1"/>
          <p:nvPr>
            <p:ph type="body" idx="1"/>
          </p:nvPr>
        </p:nvSpPr>
        <p:spPr>
          <a:xfrm>
            <a:off x="324000" y="4029250"/>
            <a:ext cx="2204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use the integers 2, 3 and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4" name="Google Shape;794;p70"/>
          <p:cNvSpPr txBox="1"/>
          <p:nvPr>
            <p:ph type="body" idx="1"/>
          </p:nvPr>
        </p:nvSpPr>
        <p:spPr>
          <a:xfrm>
            <a:off x="2885450" y="3060900"/>
            <a:ext cx="2745600" cy="65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a common factor of 5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5" name="Google Shape;795;p70"/>
          <p:cNvSpPr txBox="1"/>
          <p:nvPr>
            <p:ph type="body" idx="1"/>
          </p:nvPr>
        </p:nvSpPr>
        <p:spPr>
          <a:xfrm>
            <a:off x="2852175" y="4029250"/>
            <a:ext cx="2745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a common factor of 2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× 5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6" name="Google Shape;796;p70"/>
          <p:cNvSpPr txBox="1"/>
          <p:nvPr>
            <p:ph type="body" idx="1"/>
          </p:nvPr>
        </p:nvSpPr>
        <p:spPr>
          <a:xfrm>
            <a:off x="6074500" y="3060900"/>
            <a:ext cx="2745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exponents of the twos are different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7" name="Google Shape;797;p70"/>
          <p:cNvSpPr txBox="1"/>
          <p:nvPr>
            <p:ph type="body" idx="1"/>
          </p:nvPr>
        </p:nvSpPr>
        <p:spPr>
          <a:xfrm>
            <a:off x="6074500" y="4067350"/>
            <a:ext cx="2745600" cy="5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exponents of the threes are different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p71"/>
          <p:cNvSpPr txBox="1"/>
          <p:nvPr>
            <p:ph type="body" idx="1"/>
          </p:nvPr>
        </p:nvSpPr>
        <p:spPr>
          <a:xfrm>
            <a:off x="2008800" y="1726875"/>
            <a:ext cx="1537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× 3 × 5</a:t>
            </a:r>
            <a:r>
              <a:rPr lang="en-GB" baseline="30000"/>
              <a:t>3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803" name="Google Shape;80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804" name="Google Shape;804;p71"/>
          <p:cNvSpPr txBox="1"/>
          <p:nvPr>
            <p:ph type="body" idx="1"/>
          </p:nvPr>
        </p:nvSpPr>
        <p:spPr>
          <a:xfrm>
            <a:off x="5774400" y="1726875"/>
            <a:ext cx="1594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4</a:t>
            </a:r>
            <a:r>
              <a:rPr lang="en-GB"/>
              <a:t> × 5</a:t>
            </a:r>
            <a:r>
              <a:rPr lang="en-GB" baseline="30000"/>
              <a:t>3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805" name="Google Shape;805;p71"/>
          <p:cNvSpPr txBox="1"/>
          <p:nvPr>
            <p:ph type="body" idx="1"/>
          </p:nvPr>
        </p:nvSpPr>
        <p:spPr>
          <a:xfrm>
            <a:off x="324000" y="819150"/>
            <a:ext cx="8496000" cy="7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We can use the </a:t>
            </a:r>
            <a:r>
              <a:rPr lang="en-GB" sz="2100" b="1"/>
              <a:t>prime factorisation</a:t>
            </a:r>
            <a:r>
              <a:rPr lang="en-GB" sz="2100"/>
              <a:t> of integers to identify common factors.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71"/>
          <p:cNvSpPr txBox="1"/>
          <p:nvPr>
            <p:ph type="body" idx="1"/>
          </p:nvPr>
        </p:nvSpPr>
        <p:spPr>
          <a:xfrm>
            <a:off x="324000" y="2241298"/>
            <a:ext cx="7135200" cy="7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It is useful to do this </a:t>
            </a:r>
            <a:r>
              <a:rPr lang="en-GB" sz="2100">
                <a:solidFill>
                  <a:schemeClr val="accent4"/>
                </a:solidFill>
              </a:rPr>
              <a:t>systematically</a:t>
            </a:r>
            <a:r>
              <a:rPr lang="en-GB" sz="2100"/>
              <a:t> and begin with the </a:t>
            </a:r>
            <a:r>
              <a:rPr lang="en-GB" sz="2100">
                <a:solidFill>
                  <a:schemeClr val="accent4"/>
                </a:solidFill>
              </a:rPr>
              <a:t>lowest exponent</a:t>
            </a:r>
            <a:r>
              <a:rPr lang="en-GB" sz="2100"/>
              <a:t> of each prime factor.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7" name="Google Shape;807;p71"/>
          <p:cNvSpPr txBox="1"/>
          <p:nvPr>
            <p:ph type="body" idx="1"/>
          </p:nvPr>
        </p:nvSpPr>
        <p:spPr>
          <a:xfrm>
            <a:off x="324000" y="3149023"/>
            <a:ext cx="2435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We’ll start with 2</a:t>
            </a:r>
            <a:r>
              <a:rPr lang="en-GB" sz="2100" baseline="30000"/>
              <a:t>2 </a:t>
            </a:r>
            <a:endParaRPr sz="21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8" name="Google Shape;808;p71"/>
          <p:cNvSpPr txBox="1"/>
          <p:nvPr>
            <p:ph type="body" idx="1"/>
          </p:nvPr>
        </p:nvSpPr>
        <p:spPr>
          <a:xfrm>
            <a:off x="324000" y="3663447"/>
            <a:ext cx="5932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2</a:t>
            </a:r>
            <a:r>
              <a:rPr lang="en-GB" sz="2100" baseline="30000"/>
              <a:t>2 </a:t>
            </a:r>
            <a:r>
              <a:rPr lang="en-GB" sz="2100"/>
              <a:t>is common to both products as 2</a:t>
            </a:r>
            <a:r>
              <a:rPr lang="en-GB" sz="2100" baseline="30000"/>
              <a:t>3</a:t>
            </a:r>
            <a:r>
              <a:rPr lang="en-GB" sz="2100"/>
              <a:t> = 2</a:t>
            </a:r>
            <a:r>
              <a:rPr lang="en-GB" sz="2100" baseline="30000"/>
              <a:t>2</a:t>
            </a:r>
            <a:r>
              <a:rPr lang="en-GB" sz="2100"/>
              <a:t> × 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9" name="Google Shape;809;p71"/>
          <p:cNvSpPr txBox="1"/>
          <p:nvPr>
            <p:ph type="body" idx="1"/>
          </p:nvPr>
        </p:nvSpPr>
        <p:spPr>
          <a:xfrm>
            <a:off x="324000" y="4177871"/>
            <a:ext cx="81153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As 2</a:t>
            </a:r>
            <a:r>
              <a:rPr lang="en-GB" sz="2100" baseline="30000"/>
              <a:t>2 </a:t>
            </a:r>
            <a:r>
              <a:rPr lang="en-GB" sz="2100"/>
              <a:t>is common to both products then 2 must also be a common factor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1987200" y="1692037"/>
            <a:ext cx="291300" cy="42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5774400" y="1692037"/>
            <a:ext cx="291300" cy="42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5" name="Shape 815"/>
        <p:cNvGrpSpPr/>
        <p:nvPr/>
      </p:nvGrpSpPr>
      <p:grpSpPr>
        <a:xfrm>
          <a:off x="0" y="0"/>
          <a:ext cx="0" cy="0"/>
        </a:xfrm>
      </p:grpSpPr>
      <p:sp>
        <p:nvSpPr>
          <p:cNvPr id="816" name="Google Shape;816;p72"/>
          <p:cNvSpPr txBox="1"/>
          <p:nvPr>
            <p:ph type="body" idx="1"/>
          </p:nvPr>
        </p:nvSpPr>
        <p:spPr>
          <a:xfrm>
            <a:off x="2008800" y="1117050"/>
            <a:ext cx="1587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× 3 × 5</a:t>
            </a:r>
            <a:r>
              <a:rPr lang="en-GB" baseline="30000"/>
              <a:t>3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817" name="Google Shape;81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818" name="Google Shape;818;p72"/>
          <p:cNvSpPr txBox="1"/>
          <p:nvPr>
            <p:ph type="body" idx="1"/>
          </p:nvPr>
        </p:nvSpPr>
        <p:spPr>
          <a:xfrm>
            <a:off x="5774400" y="1114800"/>
            <a:ext cx="1587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4</a:t>
            </a:r>
            <a:r>
              <a:rPr lang="en-GB"/>
              <a:t> × 5</a:t>
            </a:r>
            <a:r>
              <a:rPr lang="en-GB" baseline="30000"/>
              <a:t>5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819" name="Google Shape;819;p72"/>
          <p:cNvSpPr txBox="1"/>
          <p:nvPr>
            <p:ph type="body" idx="1"/>
          </p:nvPr>
        </p:nvSpPr>
        <p:spPr>
          <a:xfrm>
            <a:off x="324000" y="1968700"/>
            <a:ext cx="5250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Next we’ll look at the prime factor 3</a:t>
            </a:r>
            <a:endParaRPr sz="21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0" name="Google Shape;820;p72"/>
          <p:cNvSpPr txBox="1"/>
          <p:nvPr>
            <p:ph type="body" idx="1"/>
          </p:nvPr>
        </p:nvSpPr>
        <p:spPr>
          <a:xfrm>
            <a:off x="324000" y="2711625"/>
            <a:ext cx="4587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3</a:t>
            </a:r>
            <a:r>
              <a:rPr lang="en-GB" sz="2100" baseline="30000"/>
              <a:t> </a:t>
            </a:r>
            <a:r>
              <a:rPr lang="en-GB" sz="2100"/>
              <a:t>is common to both products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1" name="Google Shape;821;p72"/>
          <p:cNvSpPr txBox="1"/>
          <p:nvPr>
            <p:ph type="body" idx="1"/>
          </p:nvPr>
        </p:nvSpPr>
        <p:spPr>
          <a:xfrm>
            <a:off x="324000" y="3454525"/>
            <a:ext cx="1900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And now 5</a:t>
            </a:r>
            <a:r>
              <a:rPr lang="en-GB" sz="2100" baseline="30000"/>
              <a:t>3</a:t>
            </a:r>
            <a:endParaRPr sz="21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2" name="Google Shape;822;p72"/>
          <p:cNvSpPr txBox="1"/>
          <p:nvPr>
            <p:ph type="body" idx="1"/>
          </p:nvPr>
        </p:nvSpPr>
        <p:spPr>
          <a:xfrm>
            <a:off x="324000" y="4197450"/>
            <a:ext cx="4811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5, 5</a:t>
            </a:r>
            <a:r>
              <a:rPr lang="en-GB" sz="2100" baseline="30000"/>
              <a:t>2</a:t>
            </a:r>
            <a:r>
              <a:rPr lang="en-GB" sz="2100"/>
              <a:t> and 5</a:t>
            </a:r>
            <a:r>
              <a:rPr lang="en-GB" sz="2100" baseline="30000"/>
              <a:t>3</a:t>
            </a:r>
            <a:r>
              <a:rPr lang="en-GB" sz="2100"/>
              <a:t> are all common factors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2"/>
          <p:cNvSpPr/>
          <p:nvPr/>
        </p:nvSpPr>
        <p:spPr>
          <a:xfrm>
            <a:off x="2493442" y="1080350"/>
            <a:ext cx="248400" cy="42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4" name="Google Shape;824;p72"/>
          <p:cNvSpPr/>
          <p:nvPr/>
        </p:nvSpPr>
        <p:spPr>
          <a:xfrm>
            <a:off x="6287975" y="1064400"/>
            <a:ext cx="324300" cy="42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5" name="Google Shape;825;p72"/>
          <p:cNvSpPr/>
          <p:nvPr/>
        </p:nvSpPr>
        <p:spPr>
          <a:xfrm>
            <a:off x="2974643" y="1080350"/>
            <a:ext cx="324300" cy="42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6" name="Google Shape;826;p72"/>
          <p:cNvSpPr/>
          <p:nvPr/>
        </p:nvSpPr>
        <p:spPr>
          <a:xfrm>
            <a:off x="6830761" y="1064400"/>
            <a:ext cx="324300" cy="42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0" name="Shape 830"/>
        <p:cNvGrpSpPr/>
        <p:nvPr/>
      </p:nvGrpSpPr>
      <p:grpSpPr>
        <a:xfrm>
          <a:off x="0" y="0"/>
          <a:ext cx="0" cy="0"/>
        </a:xfrm>
      </p:grpSpPr>
      <p:sp>
        <p:nvSpPr>
          <p:cNvPr id="831" name="Google Shape;831;p73"/>
          <p:cNvSpPr txBox="1"/>
          <p:nvPr>
            <p:ph type="body" idx="1"/>
          </p:nvPr>
        </p:nvSpPr>
        <p:spPr>
          <a:xfrm>
            <a:off x="2008800" y="812250"/>
            <a:ext cx="1499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× 3 × 5</a:t>
            </a:r>
            <a:r>
              <a:rPr lang="en-GB" baseline="30000"/>
              <a:t>3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832" name="Google Shape;83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833" name="Google Shape;833;p73"/>
          <p:cNvSpPr txBox="1"/>
          <p:nvPr>
            <p:ph type="body" idx="1"/>
          </p:nvPr>
        </p:nvSpPr>
        <p:spPr>
          <a:xfrm>
            <a:off x="5774400" y="810000"/>
            <a:ext cx="1499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4</a:t>
            </a:r>
            <a:r>
              <a:rPr lang="en-GB"/>
              <a:t> × 5</a:t>
            </a:r>
            <a:r>
              <a:rPr lang="en-GB" baseline="30000"/>
              <a:t>5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aseline="30000"/>
          </a:p>
        </p:txBody>
      </p:sp>
      <p:sp>
        <p:nvSpPr>
          <p:cNvPr id="834" name="Google Shape;834;p73"/>
          <p:cNvSpPr txBox="1"/>
          <p:nvPr>
            <p:ph type="body" idx="1"/>
          </p:nvPr>
        </p:nvSpPr>
        <p:spPr>
          <a:xfrm>
            <a:off x="324000" y="1282900"/>
            <a:ext cx="7479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a list of the common factors we have identified: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5" name="Google Shape;835;p73"/>
          <p:cNvSpPr txBox="1"/>
          <p:nvPr>
            <p:ph type="body" idx="1"/>
          </p:nvPr>
        </p:nvSpPr>
        <p:spPr>
          <a:xfrm>
            <a:off x="324000" y="1870050"/>
            <a:ext cx="260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2, 2</a:t>
            </a:r>
            <a:r>
              <a:rPr lang="en-GB" baseline="30000"/>
              <a:t>2</a:t>
            </a:r>
            <a:r>
              <a:rPr lang="en-GB"/>
              <a:t>, 3, 5, 5</a:t>
            </a:r>
            <a:r>
              <a:rPr lang="en-GB" baseline="30000"/>
              <a:t>2</a:t>
            </a:r>
            <a:r>
              <a:rPr lang="en-GB"/>
              <a:t> and 5</a:t>
            </a:r>
            <a:r>
              <a:rPr lang="en-GB" baseline="30000"/>
              <a:t>3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36" name="Google Shape;8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0003" y="2610013"/>
            <a:ext cx="1281025" cy="15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3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4052950" y="1695150"/>
            <a:ext cx="3634852" cy="15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3"/>
          <p:cNvSpPr txBox="1"/>
          <p:nvPr/>
        </p:nvSpPr>
        <p:spPr>
          <a:xfrm>
            <a:off x="4052950" y="1695150"/>
            <a:ext cx="34356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have found all of the common factors of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 txBox="1"/>
          <p:nvPr>
            <p:ph type="body" idx="1"/>
          </p:nvPr>
        </p:nvSpPr>
        <p:spPr>
          <a:xfrm>
            <a:off x="7600700" y="4168425"/>
            <a:ext cx="954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0" name="Google Shape;840;p73"/>
          <p:cNvSpPr txBox="1"/>
          <p:nvPr>
            <p:ph type="body" idx="1"/>
          </p:nvPr>
        </p:nvSpPr>
        <p:spPr>
          <a:xfrm>
            <a:off x="324000" y="2867653"/>
            <a:ext cx="3607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 you agree with Jacob?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1" name="Google Shape;841;p73"/>
          <p:cNvSpPr txBox="1"/>
          <p:nvPr>
            <p:ph type="body" idx="1"/>
          </p:nvPr>
        </p:nvSpPr>
        <p:spPr>
          <a:xfrm>
            <a:off x="324000" y="3387723"/>
            <a:ext cx="6540000" cy="147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Jacob is not right because if 2 and 3 are both factors 2 × 3 must also be a common factor.  We need to include products of any combination of the factors we have identified. e.g. 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pic>
        <p:nvPicPr>
          <p:cNvPr id="846" name="Google Shape;846;p7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277552" y="2084175"/>
            <a:ext cx="1687373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848" name="Google Shape;848;p74"/>
          <p:cNvSpPr txBox="1"/>
          <p:nvPr/>
        </p:nvSpPr>
        <p:spPr>
          <a:xfrm>
            <a:off x="324000" y="657600"/>
            <a:ext cx="84960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Andeep, Laura and Jun are working out common factors of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 × 11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 baseline="30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has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correctly identified a common factor?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9" name="Google Shape;84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8170" y="3090154"/>
            <a:ext cx="971449" cy="1214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090154"/>
            <a:ext cx="942061" cy="1214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2953" y="2891501"/>
            <a:ext cx="923335" cy="12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6219275" y="1923750"/>
            <a:ext cx="1773327" cy="15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4"/>
          <p:cNvSpPr txBox="1"/>
          <p:nvPr/>
        </p:nvSpPr>
        <p:spPr>
          <a:xfrm>
            <a:off x="6285275" y="1914775"/>
            <a:ext cx="1687500" cy="1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common factor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4" name="Google Shape;854;p7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3388275" y="2160000"/>
            <a:ext cx="1773327" cy="15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4"/>
          <p:cNvSpPr txBox="1"/>
          <p:nvPr/>
        </p:nvSpPr>
        <p:spPr>
          <a:xfrm>
            <a:off x="3490825" y="2176475"/>
            <a:ext cx="1639200" cy="1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common factor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11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4"/>
          <p:cNvSpPr txBox="1"/>
          <p:nvPr/>
        </p:nvSpPr>
        <p:spPr>
          <a:xfrm>
            <a:off x="1448725" y="2176475"/>
            <a:ext cx="1687500" cy="1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common factor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4"/>
          <p:cNvSpPr txBox="1"/>
          <p:nvPr/>
        </p:nvSpPr>
        <p:spPr>
          <a:xfrm>
            <a:off x="1658550" y="4141000"/>
            <a:ext cx="58512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Jun has not identified a correct common factor.  The HCF of 11</a:t>
            </a:r>
            <a:r>
              <a:rPr lang="en-GB" sz="2200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and 11</a:t>
            </a:r>
            <a:r>
              <a:rPr lang="en-GB" sz="2200" baseline="30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sp>
        <p:nvSpPr>
          <p:cNvPr id="862" name="Google Shape;862;p7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 the </a:t>
            </a:r>
            <a:r>
              <a:rPr lang="en-GB">
                <a:solidFill>
                  <a:schemeClr val="accent4"/>
                </a:solidFill>
              </a:rPr>
              <a:t>incorrect</a:t>
            </a:r>
            <a:r>
              <a:rPr lang="en-GB"/>
              <a:t> common factor of the products given in the first column.  There is </a:t>
            </a:r>
            <a:r>
              <a:rPr lang="en-GB">
                <a:solidFill>
                  <a:schemeClr val="accent4"/>
                </a:solidFill>
              </a:rPr>
              <a:t>one</a:t>
            </a:r>
            <a:r>
              <a:rPr lang="en-GB"/>
              <a:t> in each row.</a:t>
            </a:r>
            <a:endParaRPr/>
          </a:p>
        </p:txBody>
      </p:sp>
      <p:sp>
        <p:nvSpPr>
          <p:cNvPr id="863" name="Google Shape;863;p7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factors using prime factorisation</a:t>
            </a:r>
            <a:endParaRPr/>
          </a:p>
        </p:txBody>
      </p:sp>
      <p:graphicFrame>
        <p:nvGraphicFramePr>
          <p:cNvPr id="864" name="Google Shape;864;p75"/>
          <p:cNvGraphicFramePr>
            <a:graphicFrameLocks noGrp="1"/>
          </p:cNvGraphicFramePr>
          <p:nvPr/>
        </p:nvGraphicFramePr>
        <p:xfrm>
          <a:off x="4524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{2659FC23-F952-4123-8FF8-0C1EDC85D73C}</a:tableStyleId>
              </a:tblPr>
              <a:tblGrid>
                <a:gridCol w="2415475"/>
                <a:gridCol w="1143475"/>
                <a:gridCol w="1235950"/>
                <a:gridCol w="1598275"/>
                <a:gridCol w="1598275"/>
              </a:tblGrid>
              <a:tr h="5813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 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 × 11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endParaRPr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 baseline="300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 baseline="30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p76"/>
          <p:cNvSpPr txBox="1"/>
          <p:nvPr>
            <p:ph type="body" idx="1"/>
          </p:nvPr>
        </p:nvSpPr>
        <p:spPr>
          <a:xfrm>
            <a:off x="324000" y="759300"/>
            <a:ext cx="8237700" cy="7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 the </a:t>
            </a:r>
            <a:r>
              <a:rPr lang="en-GB">
                <a:solidFill>
                  <a:schemeClr val="accent4"/>
                </a:solidFill>
              </a:rPr>
              <a:t>incorrect</a:t>
            </a:r>
            <a:r>
              <a:rPr lang="en-GB"/>
              <a:t> common factor of the products given in the first column.  There is </a:t>
            </a:r>
            <a:r>
              <a:rPr lang="en-GB">
                <a:solidFill>
                  <a:schemeClr val="accent4"/>
                </a:solidFill>
              </a:rPr>
              <a:t>one</a:t>
            </a:r>
            <a:r>
              <a:rPr lang="en-GB"/>
              <a:t> in each row.</a:t>
            </a:r>
            <a:endParaRPr/>
          </a:p>
        </p:txBody>
      </p:sp>
      <p:sp>
        <p:nvSpPr>
          <p:cNvPr id="870" name="Google Shape;870;p7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factors using prime factorisation</a:t>
            </a:r>
            <a:endParaRPr/>
          </a:p>
        </p:txBody>
      </p:sp>
      <p:graphicFrame>
        <p:nvGraphicFramePr>
          <p:cNvPr id="871" name="Google Shape;871;p76"/>
          <p:cNvGraphicFramePr>
            <a:graphicFrameLocks noGrp="1"/>
          </p:cNvGraphicFramePr>
          <p:nvPr/>
        </p:nvGraphicFramePr>
        <p:xfrm>
          <a:off x="4524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{2659FC23-F952-4123-8FF8-0C1EDC85D73C}</a:tableStyleId>
              </a:tblPr>
              <a:tblGrid>
                <a:gridCol w="2415475"/>
                <a:gridCol w="1143475"/>
                <a:gridCol w="1235950"/>
                <a:gridCol w="1598275"/>
                <a:gridCol w="1598275"/>
              </a:tblGrid>
              <a:tr h="5813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 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 × 11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endParaRPr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endParaRPr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× 13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 baseline="300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 baseline="30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</a:t>
                      </a:r>
                      <a:endParaRPr sz="16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600" baseline="30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/>
                    </a:p>
                  </a:txBody>
                  <a:tcPr marL="0" marR="0" marT="36000" marB="0" anchor="ctr"/>
                </a:tc>
              </a:tr>
            </a:tbl>
          </a:graphicData>
        </a:graphic>
      </p:graphicFrame>
      <p:sp>
        <p:nvSpPr>
          <p:cNvPr id="872" name="Google Shape;872;p76"/>
          <p:cNvSpPr/>
          <p:nvPr/>
        </p:nvSpPr>
        <p:spPr>
          <a:xfrm>
            <a:off x="5268625" y="1625800"/>
            <a:ext cx="1576800" cy="5748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3" name="Google Shape;873;p76"/>
          <p:cNvSpPr/>
          <p:nvPr/>
        </p:nvSpPr>
        <p:spPr>
          <a:xfrm>
            <a:off x="4011350" y="2200600"/>
            <a:ext cx="1257300" cy="5748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4" name="Google Shape;874;p76"/>
          <p:cNvSpPr/>
          <p:nvPr/>
        </p:nvSpPr>
        <p:spPr>
          <a:xfrm>
            <a:off x="6867050" y="2775400"/>
            <a:ext cx="1576800" cy="5457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5" name="Google Shape;875;p76"/>
          <p:cNvSpPr/>
          <p:nvPr/>
        </p:nvSpPr>
        <p:spPr>
          <a:xfrm>
            <a:off x="2887200" y="3321075"/>
            <a:ext cx="1124100" cy="5748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6" name="Google Shape;876;p76"/>
          <p:cNvSpPr/>
          <p:nvPr/>
        </p:nvSpPr>
        <p:spPr>
          <a:xfrm>
            <a:off x="5247300" y="3882075"/>
            <a:ext cx="1598400" cy="840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882" name="Google Shape;882;p77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883" name="Google Shape;883;p77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884" name="Google Shape;884;p77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pic>
        <p:nvPicPr>
          <p:cNvPr id="885" name="Google Shape;88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5" y="276994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891" name="Google Shape;891;p78"/>
          <p:cNvSpPr txBox="1"/>
          <p:nvPr>
            <p:ph type="body" idx="1"/>
          </p:nvPr>
        </p:nvSpPr>
        <p:spPr>
          <a:xfrm>
            <a:off x="324000" y="606900"/>
            <a:ext cx="6308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Find the </a:t>
            </a:r>
            <a:r>
              <a:rPr lang="en-GB" sz="2000" b="1"/>
              <a:t>highest common factor </a:t>
            </a:r>
            <a:r>
              <a:rPr lang="en-GB" sz="2000"/>
              <a:t>of 24 and 40</a:t>
            </a:r>
            <a:endParaRPr sz="2000"/>
          </a:p>
        </p:txBody>
      </p:sp>
      <p:sp>
        <p:nvSpPr>
          <p:cNvPr id="892" name="Google Shape;892;p78"/>
          <p:cNvSpPr txBox="1"/>
          <p:nvPr>
            <p:ph type="body" idx="1"/>
          </p:nvPr>
        </p:nvSpPr>
        <p:spPr>
          <a:xfrm>
            <a:off x="1141850" y="921000"/>
            <a:ext cx="1803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Factors of 24</a:t>
            </a:r>
            <a:endParaRPr/>
          </a:p>
        </p:txBody>
      </p:sp>
      <p:sp>
        <p:nvSpPr>
          <p:cNvPr id="893" name="Google Shape;893;p78"/>
          <p:cNvSpPr txBox="1"/>
          <p:nvPr>
            <p:ph type="body" idx="1"/>
          </p:nvPr>
        </p:nvSpPr>
        <p:spPr>
          <a:xfrm>
            <a:off x="6006675" y="921000"/>
            <a:ext cx="1803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Factors of 40</a:t>
            </a:r>
            <a:endParaRPr/>
          </a:p>
        </p:txBody>
      </p:sp>
      <p:sp>
        <p:nvSpPr>
          <p:cNvPr id="894" name="Google Shape;894;p78"/>
          <p:cNvSpPr txBox="1"/>
          <p:nvPr>
            <p:ph type="body" idx="1"/>
          </p:nvPr>
        </p:nvSpPr>
        <p:spPr>
          <a:xfrm>
            <a:off x="1479875" y="1316213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 × 24</a:t>
            </a:r>
            <a:endParaRPr/>
          </a:p>
        </p:txBody>
      </p:sp>
      <p:sp>
        <p:nvSpPr>
          <p:cNvPr id="895" name="Google Shape;895;p78"/>
          <p:cNvSpPr txBox="1"/>
          <p:nvPr>
            <p:ph type="body" idx="1"/>
          </p:nvPr>
        </p:nvSpPr>
        <p:spPr>
          <a:xfrm>
            <a:off x="1479875" y="1709088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 × 12</a:t>
            </a:r>
            <a:endParaRPr/>
          </a:p>
        </p:txBody>
      </p:sp>
      <p:sp>
        <p:nvSpPr>
          <p:cNvPr id="896" name="Google Shape;896;p78"/>
          <p:cNvSpPr txBox="1"/>
          <p:nvPr>
            <p:ph type="body" idx="1"/>
          </p:nvPr>
        </p:nvSpPr>
        <p:spPr>
          <a:xfrm>
            <a:off x="1479875" y="2101963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 × 8</a:t>
            </a:r>
            <a:endParaRPr/>
          </a:p>
        </p:txBody>
      </p:sp>
      <p:sp>
        <p:nvSpPr>
          <p:cNvPr id="897" name="Google Shape;897;p78"/>
          <p:cNvSpPr txBox="1"/>
          <p:nvPr>
            <p:ph type="body" idx="1"/>
          </p:nvPr>
        </p:nvSpPr>
        <p:spPr>
          <a:xfrm>
            <a:off x="1479875" y="2494838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 × 6</a:t>
            </a:r>
            <a:endParaRPr/>
          </a:p>
        </p:txBody>
      </p:sp>
      <p:sp>
        <p:nvSpPr>
          <p:cNvPr id="898" name="Google Shape;898;p78"/>
          <p:cNvSpPr txBox="1"/>
          <p:nvPr>
            <p:ph type="body" idx="1"/>
          </p:nvPr>
        </p:nvSpPr>
        <p:spPr>
          <a:xfrm>
            <a:off x="6374175" y="1308138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 × 40</a:t>
            </a:r>
            <a:endParaRPr/>
          </a:p>
        </p:txBody>
      </p:sp>
      <p:sp>
        <p:nvSpPr>
          <p:cNvPr id="899" name="Google Shape;899;p78"/>
          <p:cNvSpPr txBox="1"/>
          <p:nvPr>
            <p:ph type="body" idx="1"/>
          </p:nvPr>
        </p:nvSpPr>
        <p:spPr>
          <a:xfrm>
            <a:off x="6374175" y="1701013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 × 20</a:t>
            </a:r>
            <a:endParaRPr/>
          </a:p>
        </p:txBody>
      </p:sp>
      <p:sp>
        <p:nvSpPr>
          <p:cNvPr id="900" name="Google Shape;900;p78"/>
          <p:cNvSpPr txBox="1"/>
          <p:nvPr>
            <p:ph type="body" idx="1"/>
          </p:nvPr>
        </p:nvSpPr>
        <p:spPr>
          <a:xfrm>
            <a:off x="6374175" y="2093888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 × 10</a:t>
            </a:r>
            <a:endParaRPr/>
          </a:p>
        </p:txBody>
      </p:sp>
      <p:sp>
        <p:nvSpPr>
          <p:cNvPr id="901" name="Google Shape;901;p78"/>
          <p:cNvSpPr txBox="1"/>
          <p:nvPr>
            <p:ph type="body" idx="1"/>
          </p:nvPr>
        </p:nvSpPr>
        <p:spPr>
          <a:xfrm>
            <a:off x="6374175" y="2486763"/>
            <a:ext cx="1068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× 8</a:t>
            </a:r>
            <a:endParaRPr/>
          </a:p>
        </p:txBody>
      </p:sp>
      <p:sp>
        <p:nvSpPr>
          <p:cNvPr id="902" name="Google Shape;902;p78"/>
          <p:cNvSpPr txBox="1"/>
          <p:nvPr>
            <p:ph type="body" idx="1"/>
          </p:nvPr>
        </p:nvSpPr>
        <p:spPr>
          <a:xfrm>
            <a:off x="324157" y="2843475"/>
            <a:ext cx="8456100" cy="71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highest common factor</a:t>
            </a:r>
            <a:r>
              <a:rPr lang="en-GB" sz="2000"/>
              <a:t> is the highest number that appears in both lists.</a:t>
            </a:r>
            <a:endParaRPr sz="2000"/>
          </a:p>
        </p:txBody>
      </p:sp>
      <p:sp>
        <p:nvSpPr>
          <p:cNvPr id="903" name="Google Shape;903;p78"/>
          <p:cNvSpPr/>
          <p:nvPr/>
        </p:nvSpPr>
        <p:spPr>
          <a:xfrm>
            <a:off x="1868336" y="2094277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4" name="Google Shape;904;p78"/>
          <p:cNvSpPr txBox="1"/>
          <p:nvPr>
            <p:ph type="body" idx="1"/>
          </p:nvPr>
        </p:nvSpPr>
        <p:spPr>
          <a:xfrm>
            <a:off x="327400" y="3662675"/>
            <a:ext cx="63081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highest common factor</a:t>
            </a:r>
            <a:r>
              <a:rPr lang="en-GB" sz="2000"/>
              <a:t> of 24 and 40 is 8.</a:t>
            </a:r>
            <a:endParaRPr sz="2000"/>
          </a:p>
        </p:txBody>
      </p:sp>
      <p:sp>
        <p:nvSpPr>
          <p:cNvPr id="905" name="Google Shape;905;p78"/>
          <p:cNvSpPr txBox="1"/>
          <p:nvPr>
            <p:ph type="body" idx="1"/>
          </p:nvPr>
        </p:nvSpPr>
        <p:spPr>
          <a:xfrm>
            <a:off x="327400" y="4141350"/>
            <a:ext cx="7407000" cy="6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Would this be an efficient method if we wanted to find the </a:t>
            </a:r>
            <a:r>
              <a:rPr lang="en-GB" sz="2000" b="1"/>
              <a:t>HCF</a:t>
            </a:r>
            <a:r>
              <a:rPr lang="en-GB" sz="2000"/>
              <a:t> of 240 and 400?</a:t>
            </a:r>
            <a:endParaRPr sz="2000"/>
          </a:p>
        </p:txBody>
      </p:sp>
      <p:sp>
        <p:nvSpPr>
          <p:cNvPr id="906" name="Google Shape;906;p78"/>
          <p:cNvSpPr/>
          <p:nvPr/>
        </p:nvSpPr>
        <p:spPr>
          <a:xfrm>
            <a:off x="6775886" y="2486424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7" name="Google Shape;907;p78"/>
          <p:cNvSpPr txBox="1"/>
          <p:nvPr>
            <p:ph type="body" idx="1"/>
          </p:nvPr>
        </p:nvSpPr>
        <p:spPr>
          <a:xfrm>
            <a:off x="3369600" y="4486650"/>
            <a:ext cx="3785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this would not be efficient.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1" name="Shape 911"/>
        <p:cNvGrpSpPr/>
        <p:nvPr/>
      </p:nvGrpSpPr>
      <p:grpSpPr>
        <a:xfrm>
          <a:off x="0" y="0"/>
          <a:ext cx="0" cy="0"/>
        </a:xfrm>
      </p:grpSpPr>
      <p:sp>
        <p:nvSpPr>
          <p:cNvPr id="912" name="Google Shape;912;p79"/>
          <p:cNvSpPr txBox="1"/>
          <p:nvPr>
            <p:ph type="body" idx="1"/>
          </p:nvPr>
        </p:nvSpPr>
        <p:spPr>
          <a:xfrm>
            <a:off x="990100" y="211705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Prime factors of 240</a:t>
            </a:r>
            <a:endParaRPr sz="1800"/>
          </a:p>
        </p:txBody>
      </p:sp>
      <p:sp>
        <p:nvSpPr>
          <p:cNvPr id="913" name="Google Shape;91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914" name="Google Shape;914;p79"/>
          <p:cNvSpPr txBox="1"/>
          <p:nvPr>
            <p:ph type="body" idx="1"/>
          </p:nvPr>
        </p:nvSpPr>
        <p:spPr>
          <a:xfrm>
            <a:off x="324000" y="606900"/>
            <a:ext cx="8237700" cy="7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find the </a:t>
            </a:r>
            <a:r>
              <a:rPr lang="en-GB" sz="2000" b="1"/>
              <a:t>highest common factor</a:t>
            </a:r>
            <a:r>
              <a:rPr lang="en-GB" sz="2000"/>
              <a:t> of two numbers using </a:t>
            </a:r>
            <a:r>
              <a:rPr lang="en-GB" sz="2000" b="1"/>
              <a:t>prime factorisation </a:t>
            </a:r>
            <a:r>
              <a:rPr lang="en-GB" sz="2000"/>
              <a:t>and a Venn diagram.</a:t>
            </a:r>
            <a:endParaRPr sz="2000"/>
          </a:p>
        </p:txBody>
      </p:sp>
      <p:sp>
        <p:nvSpPr>
          <p:cNvPr id="915" name="Google Shape;915;p79"/>
          <p:cNvSpPr txBox="1"/>
          <p:nvPr>
            <p:ph type="body" idx="1"/>
          </p:nvPr>
        </p:nvSpPr>
        <p:spPr>
          <a:xfrm>
            <a:off x="502875" y="1463925"/>
            <a:ext cx="3525600" cy="3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240 = 2 × 2 × 2 × 2 × 3 × 5</a:t>
            </a:r>
            <a:endParaRPr/>
          </a:p>
        </p:txBody>
      </p:sp>
      <p:sp>
        <p:nvSpPr>
          <p:cNvPr id="916" name="Google Shape;916;p79"/>
          <p:cNvSpPr txBox="1"/>
          <p:nvPr>
            <p:ph type="body" idx="1"/>
          </p:nvPr>
        </p:nvSpPr>
        <p:spPr>
          <a:xfrm>
            <a:off x="5156675" y="1463925"/>
            <a:ext cx="3282900" cy="3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200 = 2 × 2 × 2 × 5 × 5</a:t>
            </a:r>
            <a:endParaRPr/>
          </a:p>
        </p:txBody>
      </p:sp>
      <p:grpSp>
        <p:nvGrpSpPr>
          <p:cNvPr id="917" name="Google Shape;917;p79"/>
          <p:cNvGrpSpPr/>
          <p:nvPr/>
        </p:nvGrpSpPr>
        <p:grpSpPr>
          <a:xfrm>
            <a:off x="2268325" y="2012525"/>
            <a:ext cx="4607350" cy="1629575"/>
            <a:chOff x="1761000" y="2008975"/>
            <a:chExt cx="4607350" cy="1629575"/>
          </a:xfrm>
        </p:grpSpPr>
        <p:sp>
          <p:nvSpPr>
            <p:cNvPr id="918" name="Google Shape;918;p79"/>
            <p:cNvSpPr/>
            <p:nvPr/>
          </p:nvSpPr>
          <p:spPr>
            <a:xfrm>
              <a:off x="1761000" y="2008975"/>
              <a:ext cx="3064800" cy="15954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9" name="Google Shape;919;p79"/>
            <p:cNvSpPr/>
            <p:nvPr/>
          </p:nvSpPr>
          <p:spPr>
            <a:xfrm>
              <a:off x="3303550" y="2043150"/>
              <a:ext cx="3064800" cy="15954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20" name="Google Shape;920;p79"/>
          <p:cNvSpPr txBox="1"/>
          <p:nvPr/>
        </p:nvSpPr>
        <p:spPr>
          <a:xfrm>
            <a:off x="4964663" y="253065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9"/>
          <p:cNvSpPr txBox="1"/>
          <p:nvPr/>
        </p:nvSpPr>
        <p:spPr>
          <a:xfrm>
            <a:off x="4476000" y="227570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9"/>
          <p:cNvSpPr txBox="1"/>
          <p:nvPr/>
        </p:nvSpPr>
        <p:spPr>
          <a:xfrm>
            <a:off x="4111138" y="2657963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9"/>
          <p:cNvSpPr txBox="1"/>
          <p:nvPr/>
        </p:nvSpPr>
        <p:spPr>
          <a:xfrm>
            <a:off x="3369600" y="227570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9"/>
          <p:cNvSpPr txBox="1"/>
          <p:nvPr/>
        </p:nvSpPr>
        <p:spPr>
          <a:xfrm>
            <a:off x="2771400" y="284865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9"/>
          <p:cNvSpPr txBox="1"/>
          <p:nvPr/>
        </p:nvSpPr>
        <p:spPr>
          <a:xfrm>
            <a:off x="4572000" y="303785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9"/>
          <p:cNvSpPr txBox="1"/>
          <p:nvPr/>
        </p:nvSpPr>
        <p:spPr>
          <a:xfrm>
            <a:off x="5929775" y="2657975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9"/>
          <p:cNvSpPr txBox="1"/>
          <p:nvPr>
            <p:ph type="body" idx="1"/>
          </p:nvPr>
        </p:nvSpPr>
        <p:spPr>
          <a:xfrm>
            <a:off x="324000" y="3720300"/>
            <a:ext cx="8352600" cy="68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We’ve put all of the </a:t>
            </a:r>
            <a:r>
              <a:rPr lang="en-GB" sz="2000">
                <a:solidFill>
                  <a:schemeClr val="accent5"/>
                </a:solidFill>
              </a:rPr>
              <a:t>common factors</a:t>
            </a:r>
            <a:r>
              <a:rPr lang="en-GB" sz="2000"/>
              <a:t> into the intersection of the Venn diagram therefore the product of these will give us the </a:t>
            </a:r>
            <a:r>
              <a:rPr lang="en-GB" sz="2000" b="1"/>
              <a:t>HCF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28" name="Google Shape;928;p79"/>
          <p:cNvSpPr txBox="1"/>
          <p:nvPr>
            <p:ph type="body" idx="1"/>
          </p:nvPr>
        </p:nvSpPr>
        <p:spPr>
          <a:xfrm>
            <a:off x="324000" y="4479800"/>
            <a:ext cx="4072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So, the </a:t>
            </a:r>
            <a:r>
              <a:rPr lang="en-GB" sz="2000" b="1"/>
              <a:t>HCF </a:t>
            </a:r>
            <a:r>
              <a:rPr lang="en-GB" sz="2000"/>
              <a:t>of 240 and 200 is:</a:t>
            </a:r>
            <a:endParaRPr sz="2000"/>
          </a:p>
        </p:txBody>
      </p:sp>
      <p:sp>
        <p:nvSpPr>
          <p:cNvPr id="929" name="Google Shape;929;p79"/>
          <p:cNvSpPr txBox="1"/>
          <p:nvPr>
            <p:ph type="body" idx="1"/>
          </p:nvPr>
        </p:nvSpPr>
        <p:spPr>
          <a:xfrm>
            <a:off x="4476000" y="4479800"/>
            <a:ext cx="2465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 × 2 × 2 × 5 = 40</a:t>
            </a:r>
            <a:endParaRPr sz="2000"/>
          </a:p>
        </p:txBody>
      </p:sp>
      <p:sp>
        <p:nvSpPr>
          <p:cNvPr id="930" name="Google Shape;930;p79"/>
          <p:cNvSpPr txBox="1"/>
          <p:nvPr>
            <p:ph type="body" idx="1"/>
          </p:nvPr>
        </p:nvSpPr>
        <p:spPr>
          <a:xfrm>
            <a:off x="6894875" y="211705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Prime factors of 200</a:t>
            </a:r>
            <a:endParaRPr sz="1800"/>
          </a:p>
        </p:txBody>
      </p:sp>
      <p:sp>
        <p:nvSpPr>
          <p:cNvPr id="931" name="Google Shape;931;p79"/>
          <p:cNvSpPr/>
          <p:nvPr/>
        </p:nvSpPr>
        <p:spPr>
          <a:xfrm>
            <a:off x="1265961" y="1455227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2" name="Google Shape;932;p79"/>
          <p:cNvSpPr/>
          <p:nvPr/>
        </p:nvSpPr>
        <p:spPr>
          <a:xfrm>
            <a:off x="5913125" y="1455227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3" name="Google Shape;933;p79"/>
          <p:cNvSpPr/>
          <p:nvPr/>
        </p:nvSpPr>
        <p:spPr>
          <a:xfrm>
            <a:off x="1704670" y="1446527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4" name="Google Shape;934;p79"/>
          <p:cNvSpPr/>
          <p:nvPr/>
        </p:nvSpPr>
        <p:spPr>
          <a:xfrm>
            <a:off x="6351834" y="1446527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5" name="Google Shape;935;p79"/>
          <p:cNvSpPr/>
          <p:nvPr/>
        </p:nvSpPr>
        <p:spPr>
          <a:xfrm>
            <a:off x="2156650" y="1448900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6" name="Google Shape;936;p79"/>
          <p:cNvSpPr/>
          <p:nvPr/>
        </p:nvSpPr>
        <p:spPr>
          <a:xfrm>
            <a:off x="6803814" y="1448900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7" name="Google Shape;937;p79"/>
          <p:cNvSpPr/>
          <p:nvPr/>
        </p:nvSpPr>
        <p:spPr>
          <a:xfrm>
            <a:off x="2588766" y="1446525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8" name="Google Shape;938;p79"/>
          <p:cNvSpPr/>
          <p:nvPr/>
        </p:nvSpPr>
        <p:spPr>
          <a:xfrm>
            <a:off x="3020891" y="1446525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9" name="Google Shape;939;p79"/>
          <p:cNvSpPr/>
          <p:nvPr/>
        </p:nvSpPr>
        <p:spPr>
          <a:xfrm>
            <a:off x="3472866" y="1446525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0" name="Google Shape;940;p79"/>
          <p:cNvSpPr/>
          <p:nvPr/>
        </p:nvSpPr>
        <p:spPr>
          <a:xfrm>
            <a:off x="7255834" y="1454039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1" name="Google Shape;941;p79"/>
          <p:cNvSpPr/>
          <p:nvPr/>
        </p:nvSpPr>
        <p:spPr>
          <a:xfrm>
            <a:off x="7707814" y="1456413"/>
            <a:ext cx="264900" cy="347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5" name="Shape 945"/>
        <p:cNvGrpSpPr/>
        <p:nvPr/>
      </p:nvGrpSpPr>
      <p:grpSpPr>
        <a:xfrm>
          <a:off x="0" y="0"/>
          <a:ext cx="0" cy="0"/>
        </a:xfrm>
      </p:grpSpPr>
      <p:sp>
        <p:nvSpPr>
          <p:cNvPr id="946" name="Google Shape;94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947" name="Google Shape;947;p80"/>
          <p:cNvSpPr txBox="1"/>
          <p:nvPr>
            <p:ph type="subTitle" idx="1"/>
          </p:nvPr>
        </p:nvSpPr>
        <p:spPr>
          <a:xfrm>
            <a:off x="337825" y="810000"/>
            <a:ext cx="3982200" cy="135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 the </a:t>
            </a:r>
            <a:r>
              <a:rPr lang="en-GB" b="1"/>
              <a:t>HCF</a:t>
            </a:r>
            <a:r>
              <a:rPr lang="en-GB"/>
              <a:t> of 840 and 2772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840 = 2 × 2 × 2 × 3 × 5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2772 = 2 × 2 × 3 × 3 × 7 × 11</a:t>
            </a:r>
            <a:endParaRPr/>
          </a:p>
        </p:txBody>
      </p:sp>
      <p:sp>
        <p:nvSpPr>
          <p:cNvPr id="948" name="Google Shape;948;p80"/>
          <p:cNvSpPr txBox="1"/>
          <p:nvPr>
            <p:ph type="subTitle" idx="2"/>
          </p:nvPr>
        </p:nvSpPr>
        <p:spPr>
          <a:xfrm>
            <a:off x="4824000" y="810000"/>
            <a:ext cx="3645000" cy="135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</a:t>
            </a:r>
            <a:r>
              <a:rPr lang="en-GB" b="1"/>
              <a:t>HCF</a:t>
            </a:r>
            <a:r>
              <a:rPr lang="en-GB"/>
              <a:t> of 1260 and 1638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1260 = 2 × 2 × 3 × 3 × 5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1638 = 2 × 3 × 3 × 7 × 13</a:t>
            </a:r>
            <a:endParaRPr/>
          </a:p>
        </p:txBody>
      </p:sp>
      <p:grpSp>
        <p:nvGrpSpPr>
          <p:cNvPr id="949" name="Google Shape;949;p80"/>
          <p:cNvGrpSpPr/>
          <p:nvPr/>
        </p:nvGrpSpPr>
        <p:grpSpPr>
          <a:xfrm>
            <a:off x="675175" y="2886950"/>
            <a:ext cx="3307500" cy="1171800"/>
            <a:chOff x="472500" y="2622150"/>
            <a:chExt cx="3307500" cy="1171800"/>
          </a:xfrm>
        </p:grpSpPr>
        <p:sp>
          <p:nvSpPr>
            <p:cNvPr id="950" name="Google Shape;950;p80"/>
            <p:cNvSpPr/>
            <p:nvPr/>
          </p:nvSpPr>
          <p:spPr>
            <a:xfrm>
              <a:off x="472500" y="2622150"/>
              <a:ext cx="2171400" cy="1171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>
              <a:off x="1608600" y="2622150"/>
              <a:ext cx="2171400" cy="1171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52" name="Google Shape;952;p80"/>
          <p:cNvSpPr txBox="1"/>
          <p:nvPr>
            <p:ph type="body" idx="4294967295"/>
          </p:nvPr>
        </p:nvSpPr>
        <p:spPr>
          <a:xfrm>
            <a:off x="566425" y="232135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840</a:t>
            </a:r>
            <a:endParaRPr sz="1600"/>
          </a:p>
        </p:txBody>
      </p:sp>
      <p:sp>
        <p:nvSpPr>
          <p:cNvPr id="953" name="Google Shape;953;p80"/>
          <p:cNvSpPr txBox="1"/>
          <p:nvPr>
            <p:ph type="body" idx="4294967295"/>
          </p:nvPr>
        </p:nvSpPr>
        <p:spPr>
          <a:xfrm>
            <a:off x="3227250" y="232135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2772</a:t>
            </a:r>
            <a:endParaRPr sz="1600"/>
          </a:p>
        </p:txBody>
      </p:sp>
      <p:sp>
        <p:nvSpPr>
          <p:cNvPr id="954" name="Google Shape;954;p80"/>
          <p:cNvSpPr txBox="1"/>
          <p:nvPr/>
        </p:nvSpPr>
        <p:spPr>
          <a:xfrm>
            <a:off x="2045650" y="3130225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0"/>
          <p:cNvSpPr/>
          <p:nvPr/>
        </p:nvSpPr>
        <p:spPr>
          <a:xfrm>
            <a:off x="981391" y="12987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6" name="Google Shape;956;p80"/>
          <p:cNvSpPr/>
          <p:nvPr/>
        </p:nvSpPr>
        <p:spPr>
          <a:xfrm>
            <a:off x="1060966" y="17821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7" name="Google Shape;957;p80"/>
          <p:cNvSpPr/>
          <p:nvPr/>
        </p:nvSpPr>
        <p:spPr>
          <a:xfrm>
            <a:off x="1349003" y="12987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8" name="Google Shape;958;p80"/>
          <p:cNvSpPr/>
          <p:nvPr/>
        </p:nvSpPr>
        <p:spPr>
          <a:xfrm>
            <a:off x="1428578" y="17821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9" name="Google Shape;959;p80"/>
          <p:cNvSpPr/>
          <p:nvPr/>
        </p:nvSpPr>
        <p:spPr>
          <a:xfrm>
            <a:off x="1706483" y="1302167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0" name="Google Shape;960;p80"/>
          <p:cNvSpPr/>
          <p:nvPr/>
        </p:nvSpPr>
        <p:spPr>
          <a:xfrm>
            <a:off x="1786058" y="1785567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1" name="Google Shape;961;p80"/>
          <p:cNvSpPr/>
          <p:nvPr/>
        </p:nvSpPr>
        <p:spPr>
          <a:xfrm>
            <a:off x="2074095" y="1302167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2" name="Google Shape;962;p80"/>
          <p:cNvSpPr/>
          <p:nvPr/>
        </p:nvSpPr>
        <p:spPr>
          <a:xfrm>
            <a:off x="2153670" y="1785567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3" name="Google Shape;963;p80"/>
          <p:cNvSpPr/>
          <p:nvPr/>
        </p:nvSpPr>
        <p:spPr>
          <a:xfrm>
            <a:off x="2435096" y="12987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4" name="Google Shape;964;p80"/>
          <p:cNvSpPr/>
          <p:nvPr/>
        </p:nvSpPr>
        <p:spPr>
          <a:xfrm>
            <a:off x="2514671" y="17821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5" name="Google Shape;965;p80"/>
          <p:cNvSpPr/>
          <p:nvPr/>
        </p:nvSpPr>
        <p:spPr>
          <a:xfrm>
            <a:off x="2802708" y="1298779"/>
            <a:ext cx="1920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6" name="Google Shape;966;p80"/>
          <p:cNvSpPr/>
          <p:nvPr/>
        </p:nvSpPr>
        <p:spPr>
          <a:xfrm>
            <a:off x="2882274" y="1782175"/>
            <a:ext cx="254700" cy="287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7" name="Google Shape;967;p80"/>
          <p:cNvSpPr txBox="1"/>
          <p:nvPr/>
        </p:nvSpPr>
        <p:spPr>
          <a:xfrm>
            <a:off x="2435100" y="3176700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0"/>
          <p:cNvSpPr txBox="1"/>
          <p:nvPr/>
        </p:nvSpPr>
        <p:spPr>
          <a:xfrm>
            <a:off x="1173400" y="3143675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0"/>
          <p:cNvSpPr txBox="1"/>
          <p:nvPr/>
        </p:nvSpPr>
        <p:spPr>
          <a:xfrm>
            <a:off x="2074100" y="3480525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0"/>
          <p:cNvSpPr txBox="1"/>
          <p:nvPr/>
        </p:nvSpPr>
        <p:spPr>
          <a:xfrm>
            <a:off x="1349000" y="3553500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0"/>
          <p:cNvSpPr txBox="1"/>
          <p:nvPr/>
        </p:nvSpPr>
        <p:spPr>
          <a:xfrm>
            <a:off x="3369600" y="3176700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2421875" y="3586725"/>
            <a:ext cx="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0"/>
          <p:cNvSpPr txBox="1"/>
          <p:nvPr/>
        </p:nvSpPr>
        <p:spPr>
          <a:xfrm>
            <a:off x="3086500" y="364140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0"/>
          <p:cNvSpPr txBox="1"/>
          <p:nvPr>
            <p:ph type="body" idx="4294967295"/>
          </p:nvPr>
        </p:nvSpPr>
        <p:spPr>
          <a:xfrm>
            <a:off x="389425" y="4134950"/>
            <a:ext cx="3065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HCF of 840 and 2772 is </a:t>
            </a:r>
            <a:endParaRPr sz="1800"/>
          </a:p>
        </p:txBody>
      </p:sp>
      <p:grpSp>
        <p:nvGrpSpPr>
          <p:cNvPr id="975" name="Google Shape;975;p80"/>
          <p:cNvGrpSpPr/>
          <p:nvPr/>
        </p:nvGrpSpPr>
        <p:grpSpPr>
          <a:xfrm>
            <a:off x="5161350" y="2886950"/>
            <a:ext cx="3307500" cy="1171800"/>
            <a:chOff x="472500" y="2622150"/>
            <a:chExt cx="3307500" cy="1171800"/>
          </a:xfrm>
        </p:grpSpPr>
        <p:sp>
          <p:nvSpPr>
            <p:cNvPr id="976" name="Google Shape;976;p80"/>
            <p:cNvSpPr/>
            <p:nvPr/>
          </p:nvSpPr>
          <p:spPr>
            <a:xfrm>
              <a:off x="472500" y="2622150"/>
              <a:ext cx="2171400" cy="1171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7" name="Google Shape;977;p80"/>
            <p:cNvSpPr/>
            <p:nvPr/>
          </p:nvSpPr>
          <p:spPr>
            <a:xfrm>
              <a:off x="1608600" y="2622150"/>
              <a:ext cx="2171400" cy="1171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78" name="Google Shape;978;p80"/>
          <p:cNvSpPr txBox="1"/>
          <p:nvPr>
            <p:ph type="body" idx="4294967295"/>
          </p:nvPr>
        </p:nvSpPr>
        <p:spPr>
          <a:xfrm>
            <a:off x="4876800" y="2235147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Prime factors of 1260</a:t>
            </a:r>
            <a:endParaRPr sz="1800"/>
          </a:p>
        </p:txBody>
      </p:sp>
      <p:sp>
        <p:nvSpPr>
          <p:cNvPr id="979" name="Google Shape;979;p80"/>
          <p:cNvSpPr txBox="1"/>
          <p:nvPr>
            <p:ph type="body" idx="4294967295"/>
          </p:nvPr>
        </p:nvSpPr>
        <p:spPr>
          <a:xfrm>
            <a:off x="7371986" y="2235147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Prime factors of 1638</a:t>
            </a:r>
            <a:endParaRPr sz="1800"/>
          </a:p>
        </p:txBody>
      </p:sp>
      <p:sp>
        <p:nvSpPr>
          <p:cNvPr id="980" name="Google Shape;980;p80"/>
          <p:cNvSpPr txBox="1"/>
          <p:nvPr>
            <p:ph type="body" idx="4294967295"/>
          </p:nvPr>
        </p:nvSpPr>
        <p:spPr>
          <a:xfrm>
            <a:off x="4623600" y="4181075"/>
            <a:ext cx="33852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HCF of 1260 and 1638 is 2 × 3 × 3 × 7 = 126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80"/>
          <p:cNvSpPr txBox="1"/>
          <p:nvPr/>
        </p:nvSpPr>
        <p:spPr>
          <a:xfrm>
            <a:off x="6565925" y="3143675"/>
            <a:ext cx="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80"/>
          <p:cNvSpPr txBox="1"/>
          <p:nvPr/>
        </p:nvSpPr>
        <p:spPr>
          <a:xfrm>
            <a:off x="5427500" y="3143675"/>
            <a:ext cx="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80"/>
          <p:cNvSpPr txBox="1"/>
          <p:nvPr/>
        </p:nvSpPr>
        <p:spPr>
          <a:xfrm>
            <a:off x="7059450" y="3288000"/>
            <a:ext cx="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0"/>
          <p:cNvSpPr txBox="1"/>
          <p:nvPr/>
        </p:nvSpPr>
        <p:spPr>
          <a:xfrm>
            <a:off x="6565925" y="3477300"/>
            <a:ext cx="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0"/>
          <p:cNvSpPr txBox="1"/>
          <p:nvPr/>
        </p:nvSpPr>
        <p:spPr>
          <a:xfrm>
            <a:off x="5745400" y="3553500"/>
            <a:ext cx="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80"/>
          <p:cNvSpPr txBox="1"/>
          <p:nvPr/>
        </p:nvSpPr>
        <p:spPr>
          <a:xfrm>
            <a:off x="6890725" y="3586725"/>
            <a:ext cx="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7741425" y="3364200"/>
            <a:ext cx="373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80"/>
          <p:cNvSpPr txBox="1"/>
          <p:nvPr>
            <p:ph type="body" idx="4294967295"/>
          </p:nvPr>
        </p:nvSpPr>
        <p:spPr>
          <a:xfrm>
            <a:off x="389425" y="4471727"/>
            <a:ext cx="1273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 × 2 × 3 × 7 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89" name="Google Shape;989;p80"/>
          <p:cNvSpPr txBox="1"/>
          <p:nvPr>
            <p:ph type="body" idx="4294967295"/>
          </p:nvPr>
        </p:nvSpPr>
        <p:spPr>
          <a:xfrm>
            <a:off x="1692325" y="4471725"/>
            <a:ext cx="5739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= 84 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3" name="Shape 993"/>
        <p:cNvGrpSpPr/>
        <p:nvPr/>
      </p:nvGrpSpPr>
      <p:grpSpPr>
        <a:xfrm>
          <a:off x="0" y="0"/>
          <a:ext cx="0" cy="0"/>
        </a:xfrm>
      </p:grpSpPr>
      <p:sp>
        <p:nvSpPr>
          <p:cNvPr id="994" name="Google Shape;99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995" name="Google Shape;995;p81"/>
          <p:cNvSpPr txBox="1"/>
          <p:nvPr>
            <p:ph type="body" idx="1"/>
          </p:nvPr>
        </p:nvSpPr>
        <p:spPr>
          <a:xfrm>
            <a:off x="324000" y="606900"/>
            <a:ext cx="26376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150 = 2 × 3 × 5 × 5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60 = 2 × 2 × 3 × 5</a:t>
            </a:r>
            <a:endParaRPr sz="2000"/>
          </a:p>
        </p:txBody>
      </p:sp>
      <p:pic>
        <p:nvPicPr>
          <p:cNvPr id="996" name="Google Shape;9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9994" y="653375"/>
            <a:ext cx="1654676" cy="160129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1"/>
          <p:cNvSpPr txBox="1"/>
          <p:nvPr>
            <p:ph type="body" idx="1"/>
          </p:nvPr>
        </p:nvSpPr>
        <p:spPr>
          <a:xfrm>
            <a:off x="324000" y="1467600"/>
            <a:ext cx="6993900" cy="70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Izzy is using a Venn diagram to find the </a:t>
            </a:r>
            <a:r>
              <a:rPr lang="en-GB" sz="1800" b="1"/>
              <a:t>HCF</a:t>
            </a:r>
            <a:r>
              <a:rPr lang="en-GB" sz="1800"/>
              <a:t> of 150 and 60.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mistake has Izzy made?</a:t>
            </a:r>
            <a:endParaRPr sz="1800"/>
          </a:p>
        </p:txBody>
      </p:sp>
      <p:sp>
        <p:nvSpPr>
          <p:cNvPr id="998" name="Google Shape;998;p81"/>
          <p:cNvSpPr/>
          <p:nvPr/>
        </p:nvSpPr>
        <p:spPr>
          <a:xfrm>
            <a:off x="1761000" y="2197851"/>
            <a:ext cx="3064800" cy="1403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9" name="Google Shape;999;p81"/>
          <p:cNvSpPr/>
          <p:nvPr/>
        </p:nvSpPr>
        <p:spPr>
          <a:xfrm>
            <a:off x="3303550" y="2227919"/>
            <a:ext cx="3064800" cy="1403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0" name="Google Shape;1000;p81"/>
          <p:cNvSpPr txBox="1"/>
          <p:nvPr/>
        </p:nvSpPr>
        <p:spPr>
          <a:xfrm>
            <a:off x="3915963" y="2367132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1"/>
          <p:cNvSpPr txBox="1"/>
          <p:nvPr>
            <p:ph type="body" idx="1"/>
          </p:nvPr>
        </p:nvSpPr>
        <p:spPr>
          <a:xfrm>
            <a:off x="761500" y="226945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150</a:t>
            </a:r>
            <a:endParaRPr sz="1600"/>
          </a:p>
        </p:txBody>
      </p:sp>
      <p:sp>
        <p:nvSpPr>
          <p:cNvPr id="1002" name="Google Shape;1002;p81"/>
          <p:cNvSpPr txBox="1"/>
          <p:nvPr>
            <p:ph type="body" idx="1"/>
          </p:nvPr>
        </p:nvSpPr>
        <p:spPr>
          <a:xfrm>
            <a:off x="6361475" y="226945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60</a:t>
            </a:r>
            <a:endParaRPr sz="1600"/>
          </a:p>
        </p:txBody>
      </p:sp>
      <p:sp>
        <p:nvSpPr>
          <p:cNvPr id="1003" name="Google Shape;1003;p81"/>
          <p:cNvSpPr txBox="1"/>
          <p:nvPr/>
        </p:nvSpPr>
        <p:spPr>
          <a:xfrm>
            <a:off x="4320000" y="2656532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1"/>
          <p:cNvSpPr txBox="1"/>
          <p:nvPr/>
        </p:nvSpPr>
        <p:spPr>
          <a:xfrm>
            <a:off x="3430800" y="2719732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1"/>
          <p:cNvSpPr txBox="1"/>
          <p:nvPr/>
        </p:nvSpPr>
        <p:spPr>
          <a:xfrm>
            <a:off x="3915963" y="2818494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1"/>
          <p:cNvSpPr txBox="1"/>
          <p:nvPr/>
        </p:nvSpPr>
        <p:spPr>
          <a:xfrm>
            <a:off x="3756400" y="3157207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1"/>
          <p:cNvSpPr txBox="1"/>
          <p:nvPr/>
        </p:nvSpPr>
        <p:spPr>
          <a:xfrm>
            <a:off x="4253175" y="3042232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1"/>
          <p:cNvSpPr txBox="1"/>
          <p:nvPr/>
        </p:nvSpPr>
        <p:spPr>
          <a:xfrm>
            <a:off x="2366575" y="2648882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1"/>
          <p:cNvSpPr txBox="1"/>
          <p:nvPr/>
        </p:nvSpPr>
        <p:spPr>
          <a:xfrm>
            <a:off x="5465350" y="2648882"/>
            <a:ext cx="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1"/>
          <p:cNvSpPr txBox="1"/>
          <p:nvPr>
            <p:ph type="body" idx="1"/>
          </p:nvPr>
        </p:nvSpPr>
        <p:spPr>
          <a:xfrm>
            <a:off x="324000" y="3710400"/>
            <a:ext cx="8201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has put the common prime factors into the intersection twice.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81"/>
          <p:cNvSpPr txBox="1"/>
          <p:nvPr>
            <p:ph type="body" idx="1"/>
          </p:nvPr>
        </p:nvSpPr>
        <p:spPr>
          <a:xfrm>
            <a:off x="324000" y="4151200"/>
            <a:ext cx="8632200" cy="2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Izzy find out what numbers are represented in her diagram?</a:t>
            </a:r>
            <a:endParaRPr sz="1800"/>
          </a:p>
        </p:txBody>
      </p:sp>
      <p:sp>
        <p:nvSpPr>
          <p:cNvPr id="1012" name="Google Shape;1012;p81"/>
          <p:cNvSpPr txBox="1"/>
          <p:nvPr>
            <p:ph type="body" idx="1"/>
          </p:nvPr>
        </p:nvSpPr>
        <p:spPr>
          <a:xfrm>
            <a:off x="324000" y="4541276"/>
            <a:ext cx="61413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 find this we would find the product of each set.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6" name="Shape 1016"/>
        <p:cNvGrpSpPr/>
        <p:nvPr/>
      </p:nvGrpSpPr>
      <p:grpSpPr>
        <a:xfrm>
          <a:off x="0" y="0"/>
          <a:ext cx="0" cy="0"/>
        </a:xfrm>
      </p:grpSpPr>
      <p:sp>
        <p:nvSpPr>
          <p:cNvPr id="1017" name="Google Shape;101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1018" name="Google Shape;1018;p82"/>
          <p:cNvSpPr txBox="1"/>
          <p:nvPr>
            <p:ph type="body" idx="1"/>
          </p:nvPr>
        </p:nvSpPr>
        <p:spPr>
          <a:xfrm>
            <a:off x="324000" y="759300"/>
            <a:ext cx="88200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>
                <a:solidFill>
                  <a:schemeClr val="accent5"/>
                </a:solidFill>
              </a:rPr>
              <a:t>same</a:t>
            </a:r>
            <a:r>
              <a:rPr lang="en-GB" sz="2000"/>
              <a:t> and what is </a:t>
            </a:r>
            <a:r>
              <a:rPr lang="en-GB" sz="2000">
                <a:solidFill>
                  <a:schemeClr val="accent5"/>
                </a:solidFill>
              </a:rPr>
              <a:t>different</a:t>
            </a:r>
            <a:r>
              <a:rPr lang="en-GB" sz="2000"/>
              <a:t> about these Venn diagrams? </a:t>
            </a:r>
            <a:endParaRPr sz="2000"/>
          </a:p>
        </p:txBody>
      </p:sp>
      <p:sp>
        <p:nvSpPr>
          <p:cNvPr id="1019" name="Google Shape;1019;p82"/>
          <p:cNvSpPr/>
          <p:nvPr/>
        </p:nvSpPr>
        <p:spPr>
          <a:xfrm>
            <a:off x="694200" y="1551775"/>
            <a:ext cx="2208000" cy="1433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0" name="Google Shape;1020;p82"/>
          <p:cNvSpPr/>
          <p:nvPr/>
        </p:nvSpPr>
        <p:spPr>
          <a:xfrm>
            <a:off x="1805495" y="1551775"/>
            <a:ext cx="2208000" cy="1433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1" name="Google Shape;1021;p82"/>
          <p:cNvSpPr txBox="1"/>
          <p:nvPr/>
        </p:nvSpPr>
        <p:spPr>
          <a:xfrm>
            <a:off x="2261775" y="181850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2"/>
          <p:cNvSpPr txBox="1"/>
          <p:nvPr/>
        </p:nvSpPr>
        <p:spPr>
          <a:xfrm>
            <a:off x="2069775" y="213595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2"/>
          <p:cNvSpPr txBox="1"/>
          <p:nvPr/>
        </p:nvSpPr>
        <p:spPr>
          <a:xfrm>
            <a:off x="1009525" y="202075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2"/>
          <p:cNvSpPr txBox="1"/>
          <p:nvPr/>
        </p:nvSpPr>
        <p:spPr>
          <a:xfrm>
            <a:off x="2380950" y="240840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2"/>
          <p:cNvSpPr txBox="1"/>
          <p:nvPr/>
        </p:nvSpPr>
        <p:spPr>
          <a:xfrm>
            <a:off x="3545875" y="236220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2"/>
          <p:cNvSpPr txBox="1"/>
          <p:nvPr>
            <p:ph type="body" idx="1"/>
          </p:nvPr>
        </p:nvSpPr>
        <p:spPr>
          <a:xfrm>
            <a:off x="324000" y="131520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450</a:t>
            </a:r>
            <a:endParaRPr sz="1600"/>
          </a:p>
        </p:txBody>
      </p:sp>
      <p:sp>
        <p:nvSpPr>
          <p:cNvPr id="1027" name="Google Shape;1027;p82"/>
          <p:cNvSpPr txBox="1"/>
          <p:nvPr>
            <p:ph type="body" idx="1"/>
          </p:nvPr>
        </p:nvSpPr>
        <p:spPr>
          <a:xfrm>
            <a:off x="3727650" y="1315200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1500</a:t>
            </a:r>
            <a:endParaRPr sz="1600"/>
          </a:p>
        </p:txBody>
      </p:sp>
      <p:sp>
        <p:nvSpPr>
          <p:cNvPr id="1028" name="Google Shape;1028;p82"/>
          <p:cNvSpPr txBox="1"/>
          <p:nvPr/>
        </p:nvSpPr>
        <p:spPr>
          <a:xfrm>
            <a:off x="3175150" y="1945200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2"/>
          <p:cNvSpPr/>
          <p:nvPr/>
        </p:nvSpPr>
        <p:spPr>
          <a:xfrm>
            <a:off x="4524350" y="3204200"/>
            <a:ext cx="2208000" cy="1433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0" name="Google Shape;1030;p82"/>
          <p:cNvSpPr/>
          <p:nvPr/>
        </p:nvSpPr>
        <p:spPr>
          <a:xfrm>
            <a:off x="5635645" y="3204200"/>
            <a:ext cx="2208000" cy="1433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1" name="Google Shape;1031;p82"/>
          <p:cNvSpPr txBox="1"/>
          <p:nvPr/>
        </p:nvSpPr>
        <p:spPr>
          <a:xfrm>
            <a:off x="6091925" y="3470925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2"/>
          <p:cNvSpPr txBox="1"/>
          <p:nvPr/>
        </p:nvSpPr>
        <p:spPr>
          <a:xfrm>
            <a:off x="5899925" y="3788375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2"/>
          <p:cNvSpPr txBox="1"/>
          <p:nvPr/>
        </p:nvSpPr>
        <p:spPr>
          <a:xfrm>
            <a:off x="4839675" y="3673175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2"/>
          <p:cNvSpPr txBox="1"/>
          <p:nvPr/>
        </p:nvSpPr>
        <p:spPr>
          <a:xfrm>
            <a:off x="6211100" y="4060825"/>
            <a:ext cx="25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2"/>
          <p:cNvSpPr txBox="1"/>
          <p:nvPr/>
        </p:nvSpPr>
        <p:spPr>
          <a:xfrm>
            <a:off x="7376025" y="4014625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2"/>
          <p:cNvSpPr txBox="1"/>
          <p:nvPr>
            <p:ph type="body" idx="1"/>
          </p:nvPr>
        </p:nvSpPr>
        <p:spPr>
          <a:xfrm>
            <a:off x="4154150" y="2967625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450</a:t>
            </a:r>
            <a:endParaRPr sz="1600"/>
          </a:p>
        </p:txBody>
      </p:sp>
      <p:sp>
        <p:nvSpPr>
          <p:cNvPr id="1037" name="Google Shape;1037;p82"/>
          <p:cNvSpPr txBox="1"/>
          <p:nvPr>
            <p:ph type="body" idx="1"/>
          </p:nvPr>
        </p:nvSpPr>
        <p:spPr>
          <a:xfrm>
            <a:off x="7494253" y="2891425"/>
            <a:ext cx="1535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factors of 1500</a:t>
            </a:r>
            <a:endParaRPr sz="1600"/>
          </a:p>
        </p:txBody>
      </p:sp>
      <p:sp>
        <p:nvSpPr>
          <p:cNvPr id="1038" name="Google Shape;1038;p82"/>
          <p:cNvSpPr txBox="1"/>
          <p:nvPr/>
        </p:nvSpPr>
        <p:spPr>
          <a:xfrm>
            <a:off x="7005300" y="3597625"/>
            <a:ext cx="19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2"/>
          <p:cNvSpPr txBox="1"/>
          <p:nvPr/>
        </p:nvSpPr>
        <p:spPr>
          <a:xfrm>
            <a:off x="2572938" y="2020750"/>
            <a:ext cx="1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2"/>
          <p:cNvSpPr txBox="1"/>
          <p:nvPr>
            <p:ph type="body" idx="1"/>
          </p:nvPr>
        </p:nvSpPr>
        <p:spPr>
          <a:xfrm>
            <a:off x="324000" y="3447999"/>
            <a:ext cx="3689400" cy="12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the same Venn diagram.  The only difference is the bottom one has written 5 × 5 in exponent form.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4" name="Shape 1044"/>
        <p:cNvGrpSpPr/>
        <p:nvPr/>
      </p:nvGrpSpPr>
      <p:grpSpPr>
        <a:xfrm>
          <a:off x="0" y="0"/>
          <a:ext cx="0" cy="0"/>
        </a:xfrm>
      </p:grpSpPr>
      <p:sp>
        <p:nvSpPr>
          <p:cNvPr id="1045" name="Google Shape;1045;p83"/>
          <p:cNvSpPr txBox="1"/>
          <p:nvPr>
            <p:ph type="body" idx="1"/>
          </p:nvPr>
        </p:nvSpPr>
        <p:spPr>
          <a:xfrm>
            <a:off x="287150" y="759300"/>
            <a:ext cx="6255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AutoNum type="arabicParenR"/>
            </a:pPr>
            <a:r>
              <a:rPr lang="en-GB" sz="1600"/>
              <a:t>Find the </a:t>
            </a:r>
            <a:r>
              <a:rPr lang="en-GB" sz="1600" b="1"/>
              <a:t>HCF</a:t>
            </a:r>
            <a:r>
              <a:rPr lang="en-GB" sz="1600"/>
              <a:t> of the following pairs of numbers:</a:t>
            </a:r>
            <a:endParaRPr sz="1600"/>
          </a:p>
        </p:txBody>
      </p:sp>
      <p:sp>
        <p:nvSpPr>
          <p:cNvPr id="1046" name="Google Shape;1046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1047" name="Google Shape;1047;p83"/>
          <p:cNvSpPr txBox="1"/>
          <p:nvPr>
            <p:ph type="body" idx="1"/>
          </p:nvPr>
        </p:nvSpPr>
        <p:spPr>
          <a:xfrm>
            <a:off x="592327" y="1080000"/>
            <a:ext cx="22422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56 = 2 × 2 × 2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140 = 2 × 2 × 5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48" name="Google Shape;1048;p83"/>
          <p:cNvSpPr txBox="1"/>
          <p:nvPr>
            <p:ph type="body" idx="1"/>
          </p:nvPr>
        </p:nvSpPr>
        <p:spPr>
          <a:xfrm>
            <a:off x="4871875" y="1080000"/>
            <a:ext cx="33984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2940 = 2 × 2 × 3 × 5 × 7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7546 = 2 × 7 × 7 × 7 × 11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49" name="Google Shape;1049;p83"/>
          <p:cNvSpPr txBox="1"/>
          <p:nvPr>
            <p:ph type="body" idx="1"/>
          </p:nvPr>
        </p:nvSpPr>
        <p:spPr>
          <a:xfrm>
            <a:off x="675125" y="3780000"/>
            <a:ext cx="20835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7056 = 2</a:t>
            </a:r>
            <a:r>
              <a:rPr lang="en-GB" sz="1600" baseline="30000"/>
              <a:t>4</a:t>
            </a:r>
            <a:r>
              <a:rPr lang="en-GB" sz="1600"/>
              <a:t> × 3</a:t>
            </a:r>
            <a:r>
              <a:rPr lang="en-GB" sz="1600" baseline="30000"/>
              <a:t>2 </a:t>
            </a:r>
            <a:r>
              <a:rPr lang="en-GB" sz="1600"/>
              <a:t>× 7</a:t>
            </a:r>
            <a:r>
              <a:rPr lang="en-GB" sz="1600" baseline="30000"/>
              <a:t>2</a:t>
            </a:r>
            <a:r>
              <a:rPr lang="en-GB" sz="1600"/>
              <a:t> 4536 = 2</a:t>
            </a:r>
            <a:r>
              <a:rPr lang="en-GB" sz="1600" baseline="30000"/>
              <a:t>3</a:t>
            </a:r>
            <a:r>
              <a:rPr lang="en-GB" sz="1600"/>
              <a:t> × 3</a:t>
            </a:r>
            <a:r>
              <a:rPr lang="en-GB" sz="1600" baseline="30000"/>
              <a:t>4</a:t>
            </a:r>
            <a:r>
              <a:rPr lang="en-GB" sz="1600"/>
              <a:t>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grpSp>
        <p:nvGrpSpPr>
          <p:cNvPr id="1050" name="Google Shape;1050;p83"/>
          <p:cNvGrpSpPr/>
          <p:nvPr/>
        </p:nvGrpSpPr>
        <p:grpSpPr>
          <a:xfrm>
            <a:off x="628800" y="1761100"/>
            <a:ext cx="2786578" cy="1148700"/>
            <a:chOff x="628800" y="1887021"/>
            <a:chExt cx="2786578" cy="1148700"/>
          </a:xfrm>
        </p:grpSpPr>
        <p:sp>
          <p:nvSpPr>
            <p:cNvPr id="1051" name="Google Shape;1051;p83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2" name="Google Shape;1052;p83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53" name="Google Shape;1053;p83"/>
          <p:cNvSpPr txBox="1"/>
          <p:nvPr/>
        </p:nvSpPr>
        <p:spPr>
          <a:xfrm>
            <a:off x="324000" y="1080000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3"/>
          <p:cNvSpPr txBox="1"/>
          <p:nvPr/>
        </p:nvSpPr>
        <p:spPr>
          <a:xfrm>
            <a:off x="4618800" y="1080000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5" name="Google Shape;1055;p83"/>
          <p:cNvGrpSpPr/>
          <p:nvPr/>
        </p:nvGrpSpPr>
        <p:grpSpPr>
          <a:xfrm>
            <a:off x="4863513" y="1761100"/>
            <a:ext cx="2786578" cy="1148700"/>
            <a:chOff x="4863513" y="1988621"/>
            <a:chExt cx="2786578" cy="1148700"/>
          </a:xfrm>
        </p:grpSpPr>
        <p:sp>
          <p:nvSpPr>
            <p:cNvPr id="1056" name="Google Shape;1056;p83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" name="Google Shape;1057;p83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58" name="Google Shape;1058;p83"/>
          <p:cNvSpPr txBox="1"/>
          <p:nvPr>
            <p:ph type="body" idx="1"/>
          </p:nvPr>
        </p:nvSpPr>
        <p:spPr>
          <a:xfrm>
            <a:off x="563550" y="2988475"/>
            <a:ext cx="3268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 </a:t>
            </a:r>
            <a:r>
              <a:rPr lang="en-GB" sz="1600" b="1"/>
              <a:t>HCF </a:t>
            </a:r>
            <a:r>
              <a:rPr lang="en-GB" sz="1600"/>
              <a:t>of 56 and 140 is </a:t>
            </a:r>
            <a:r>
              <a:rPr lang="en-GB" sz="1800" u="sng"/>
              <a:t>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6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59" name="Google Shape;1059;p83"/>
          <p:cNvSpPr txBox="1"/>
          <p:nvPr>
            <p:ph type="body" idx="1"/>
          </p:nvPr>
        </p:nvSpPr>
        <p:spPr>
          <a:xfrm>
            <a:off x="4830750" y="3027875"/>
            <a:ext cx="3594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 </a:t>
            </a:r>
            <a:r>
              <a:rPr lang="en-GB" sz="1600" b="1"/>
              <a:t>HCF </a:t>
            </a:r>
            <a:r>
              <a:rPr lang="en-GB" sz="1600"/>
              <a:t>of 2940 and 7546 is </a:t>
            </a:r>
            <a:r>
              <a:rPr lang="en-GB" sz="1800" u="sng"/>
              <a:t>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6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6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60" name="Google Shape;1060;p83"/>
          <p:cNvSpPr txBox="1"/>
          <p:nvPr/>
        </p:nvSpPr>
        <p:spPr>
          <a:xfrm>
            <a:off x="324000" y="3748025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1" name="Google Shape;1061;p83"/>
          <p:cNvGrpSpPr/>
          <p:nvPr/>
        </p:nvGrpSpPr>
        <p:grpSpPr>
          <a:xfrm>
            <a:off x="2502850" y="3551225"/>
            <a:ext cx="2786578" cy="1148700"/>
            <a:chOff x="628800" y="1887021"/>
            <a:chExt cx="2786578" cy="1148700"/>
          </a:xfrm>
        </p:grpSpPr>
        <p:sp>
          <p:nvSpPr>
            <p:cNvPr id="1062" name="Google Shape;1062;p83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" name="Google Shape;1063;p83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4" name="Google Shape;1064;p83"/>
          <p:cNvSpPr txBox="1"/>
          <p:nvPr>
            <p:ph type="body" idx="1"/>
          </p:nvPr>
        </p:nvSpPr>
        <p:spPr>
          <a:xfrm>
            <a:off x="5335050" y="3940950"/>
            <a:ext cx="3656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 </a:t>
            </a:r>
            <a:r>
              <a:rPr lang="en-GB" sz="1600" b="1"/>
              <a:t>HCF </a:t>
            </a:r>
            <a:r>
              <a:rPr lang="en-GB" sz="1600"/>
              <a:t>of 7056 and 4536 is </a:t>
            </a:r>
            <a:r>
              <a:rPr lang="en-GB" sz="1800" u="sng"/>
              <a:t>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6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1070" name="Google Shape;1070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 The </a:t>
            </a:r>
            <a:r>
              <a:rPr lang="en-GB" b="1"/>
              <a:t>HCF</a:t>
            </a:r>
            <a:r>
              <a:rPr lang="en-GB"/>
              <a:t> of the two numbers represented in the Venn diagram is 210.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What is the missing prime factor?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What are the two numbers?</a:t>
            </a:r>
            <a:endParaRPr/>
          </a:p>
        </p:txBody>
      </p:sp>
      <p:grpSp>
        <p:nvGrpSpPr>
          <p:cNvPr id="1071" name="Google Shape;1071;p84"/>
          <p:cNvGrpSpPr/>
          <p:nvPr/>
        </p:nvGrpSpPr>
        <p:grpSpPr>
          <a:xfrm>
            <a:off x="3178712" y="2536200"/>
            <a:ext cx="2786578" cy="1148700"/>
            <a:chOff x="628800" y="1887021"/>
            <a:chExt cx="2786578" cy="1148700"/>
          </a:xfrm>
        </p:grpSpPr>
        <p:sp>
          <p:nvSpPr>
            <p:cNvPr id="1072" name="Google Shape;1072;p84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" name="Google Shape;1073;p84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4" name="Google Shape;1074;p84"/>
          <p:cNvSpPr txBox="1"/>
          <p:nvPr/>
        </p:nvSpPr>
        <p:spPr>
          <a:xfrm>
            <a:off x="4334313" y="272839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4"/>
          <p:cNvSpPr txBox="1"/>
          <p:nvPr/>
        </p:nvSpPr>
        <p:spPr>
          <a:xfrm>
            <a:off x="4671813" y="29138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4"/>
          <p:cNvSpPr txBox="1"/>
          <p:nvPr/>
        </p:nvSpPr>
        <p:spPr>
          <a:xfrm>
            <a:off x="3493913" y="295699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4"/>
          <p:cNvSpPr txBox="1"/>
          <p:nvPr/>
        </p:nvSpPr>
        <p:spPr>
          <a:xfrm>
            <a:off x="4436913" y="31910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4"/>
          <p:cNvSpPr txBox="1"/>
          <p:nvPr/>
        </p:nvSpPr>
        <p:spPr>
          <a:xfrm>
            <a:off x="5228563" y="29454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2" name="Shape 1082"/>
        <p:cNvGrpSpPr/>
        <p:nvPr/>
      </p:nvGrpSpPr>
      <p:grpSpPr>
        <a:xfrm>
          <a:off x="0" y="0"/>
          <a:ext cx="0" cy="0"/>
        </a:xfrm>
      </p:grpSpPr>
      <p:sp>
        <p:nvSpPr>
          <p:cNvPr id="1083" name="Google Shape;1083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1084" name="Google Shape;1084;p85"/>
          <p:cNvSpPr txBox="1"/>
          <p:nvPr>
            <p:ph type="body" idx="1"/>
          </p:nvPr>
        </p:nvSpPr>
        <p:spPr>
          <a:xfrm>
            <a:off x="592328" y="1080000"/>
            <a:ext cx="24456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56 = 2 × 2 × 2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140 = 2 × 2 × 5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85" name="Google Shape;1085;p85"/>
          <p:cNvSpPr txBox="1"/>
          <p:nvPr>
            <p:ph type="body" idx="1"/>
          </p:nvPr>
        </p:nvSpPr>
        <p:spPr>
          <a:xfrm>
            <a:off x="4871875" y="1080000"/>
            <a:ext cx="31452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2940 = 2 × 2 × 3 × 5 × 7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7546 = 2 × 7 × 7 × 7 × 11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86" name="Google Shape;1086;p85"/>
          <p:cNvSpPr txBox="1"/>
          <p:nvPr>
            <p:ph type="body" idx="1"/>
          </p:nvPr>
        </p:nvSpPr>
        <p:spPr>
          <a:xfrm>
            <a:off x="675125" y="3780000"/>
            <a:ext cx="2083500" cy="6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7056 = 2</a:t>
            </a:r>
            <a:r>
              <a:rPr lang="en-GB" sz="1600" baseline="30000"/>
              <a:t>4</a:t>
            </a:r>
            <a:r>
              <a:rPr lang="en-GB" sz="1600"/>
              <a:t> × 3</a:t>
            </a:r>
            <a:r>
              <a:rPr lang="en-GB" sz="1600" baseline="30000"/>
              <a:t>2 </a:t>
            </a:r>
            <a:r>
              <a:rPr lang="en-GB" sz="1600"/>
              <a:t>× 7</a:t>
            </a:r>
            <a:r>
              <a:rPr lang="en-GB" sz="1600" baseline="30000"/>
              <a:t>2</a:t>
            </a:r>
            <a:r>
              <a:rPr lang="en-GB" sz="1600"/>
              <a:t> 4536 = 2</a:t>
            </a:r>
            <a:r>
              <a:rPr lang="en-GB" sz="1600" baseline="30000"/>
              <a:t>3</a:t>
            </a:r>
            <a:r>
              <a:rPr lang="en-GB" sz="1600"/>
              <a:t> × 3</a:t>
            </a:r>
            <a:r>
              <a:rPr lang="en-GB" sz="1600" baseline="30000"/>
              <a:t>4</a:t>
            </a:r>
            <a:r>
              <a:rPr lang="en-GB" sz="1600"/>
              <a:t> × 7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grpSp>
        <p:nvGrpSpPr>
          <p:cNvPr id="1087" name="Google Shape;1087;p85"/>
          <p:cNvGrpSpPr/>
          <p:nvPr/>
        </p:nvGrpSpPr>
        <p:grpSpPr>
          <a:xfrm>
            <a:off x="628800" y="1761100"/>
            <a:ext cx="2786578" cy="1148700"/>
            <a:chOff x="628800" y="1887021"/>
            <a:chExt cx="2786578" cy="1148700"/>
          </a:xfrm>
        </p:grpSpPr>
        <p:sp>
          <p:nvSpPr>
            <p:cNvPr id="1088" name="Google Shape;1088;p85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9" name="Google Shape;1089;p85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0" name="Google Shape;1090;p85"/>
          <p:cNvSpPr txBox="1"/>
          <p:nvPr/>
        </p:nvSpPr>
        <p:spPr>
          <a:xfrm>
            <a:off x="324000" y="1080000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5"/>
          <p:cNvSpPr txBox="1"/>
          <p:nvPr/>
        </p:nvSpPr>
        <p:spPr>
          <a:xfrm>
            <a:off x="4618800" y="1080000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2" name="Google Shape;1092;p85"/>
          <p:cNvGrpSpPr/>
          <p:nvPr/>
        </p:nvGrpSpPr>
        <p:grpSpPr>
          <a:xfrm>
            <a:off x="4863513" y="1761100"/>
            <a:ext cx="2786578" cy="1148700"/>
            <a:chOff x="4863513" y="1988621"/>
            <a:chExt cx="2786578" cy="1148700"/>
          </a:xfrm>
        </p:grpSpPr>
        <p:sp>
          <p:nvSpPr>
            <p:cNvPr id="1093" name="Google Shape;1093;p85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4" name="Google Shape;1094;p85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5" name="Google Shape;1095;p85"/>
          <p:cNvSpPr txBox="1"/>
          <p:nvPr>
            <p:ph type="body" idx="1"/>
          </p:nvPr>
        </p:nvSpPr>
        <p:spPr>
          <a:xfrm>
            <a:off x="563550" y="2988475"/>
            <a:ext cx="3490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 </a:t>
            </a:r>
            <a:r>
              <a:rPr lang="en-GB" sz="1600" b="1"/>
              <a:t>HCF </a:t>
            </a:r>
            <a:r>
              <a:rPr lang="en-GB" sz="1600"/>
              <a:t>of 56 and 140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16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96" name="Google Shape;1096;p85"/>
          <p:cNvSpPr txBox="1"/>
          <p:nvPr/>
        </p:nvSpPr>
        <p:spPr>
          <a:xfrm>
            <a:off x="1784400" y="195329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85"/>
          <p:cNvSpPr txBox="1"/>
          <p:nvPr/>
        </p:nvSpPr>
        <p:spPr>
          <a:xfrm>
            <a:off x="2045700" y="2138771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85"/>
          <p:cNvSpPr txBox="1"/>
          <p:nvPr/>
        </p:nvSpPr>
        <p:spPr>
          <a:xfrm>
            <a:off x="1003575" y="2201634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85"/>
          <p:cNvSpPr txBox="1"/>
          <p:nvPr/>
        </p:nvSpPr>
        <p:spPr>
          <a:xfrm>
            <a:off x="1887000" y="2415971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85"/>
          <p:cNvSpPr txBox="1"/>
          <p:nvPr/>
        </p:nvSpPr>
        <p:spPr>
          <a:xfrm>
            <a:off x="2678650" y="2170371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1" name="Google Shape;1101;p85"/>
          <p:cNvSpPr txBox="1"/>
          <p:nvPr>
            <p:ph type="body" idx="1"/>
          </p:nvPr>
        </p:nvSpPr>
        <p:spPr>
          <a:xfrm>
            <a:off x="4830750" y="3027875"/>
            <a:ext cx="3706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 </a:t>
            </a:r>
            <a:r>
              <a:rPr lang="en-GB" sz="1600" b="1"/>
              <a:t>HCF </a:t>
            </a:r>
            <a:r>
              <a:rPr lang="en-GB" sz="1600"/>
              <a:t>of 2940 and 7546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98</a:t>
            </a:r>
            <a:r>
              <a:rPr lang="en-GB" sz="2000"/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102" name="Google Shape;1102;p85"/>
          <p:cNvSpPr txBox="1"/>
          <p:nvPr/>
        </p:nvSpPr>
        <p:spPr>
          <a:xfrm>
            <a:off x="6019675" y="201624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3" name="Google Shape;1103;p85"/>
          <p:cNvSpPr txBox="1"/>
          <p:nvPr/>
        </p:nvSpPr>
        <p:spPr>
          <a:xfrm>
            <a:off x="5129400" y="216864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4" name="Google Shape;1104;p85"/>
          <p:cNvSpPr txBox="1"/>
          <p:nvPr/>
        </p:nvSpPr>
        <p:spPr>
          <a:xfrm>
            <a:off x="5410800" y="2548021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5" name="Google Shape;1105;p85"/>
          <p:cNvSpPr txBox="1"/>
          <p:nvPr/>
        </p:nvSpPr>
        <p:spPr>
          <a:xfrm>
            <a:off x="6952800" y="1963271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5"/>
          <p:cNvSpPr txBox="1"/>
          <p:nvPr/>
        </p:nvSpPr>
        <p:spPr>
          <a:xfrm>
            <a:off x="5535375" y="186084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5"/>
          <p:cNvSpPr txBox="1"/>
          <p:nvPr/>
        </p:nvSpPr>
        <p:spPr>
          <a:xfrm>
            <a:off x="6359400" y="2091709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5"/>
          <p:cNvSpPr txBox="1"/>
          <p:nvPr/>
        </p:nvSpPr>
        <p:spPr>
          <a:xfrm>
            <a:off x="6154200" y="244584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85"/>
          <p:cNvSpPr txBox="1"/>
          <p:nvPr/>
        </p:nvSpPr>
        <p:spPr>
          <a:xfrm>
            <a:off x="6897600" y="2495571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85"/>
          <p:cNvSpPr txBox="1"/>
          <p:nvPr/>
        </p:nvSpPr>
        <p:spPr>
          <a:xfrm>
            <a:off x="324000" y="3748025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1" name="Google Shape;1111;p85"/>
          <p:cNvGrpSpPr/>
          <p:nvPr/>
        </p:nvGrpSpPr>
        <p:grpSpPr>
          <a:xfrm>
            <a:off x="2502850" y="3551225"/>
            <a:ext cx="2786578" cy="1148700"/>
            <a:chOff x="628800" y="1887021"/>
            <a:chExt cx="2786578" cy="1148700"/>
          </a:xfrm>
        </p:grpSpPr>
        <p:sp>
          <p:nvSpPr>
            <p:cNvPr id="1112" name="Google Shape;1112;p85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" name="Google Shape;1113;p85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14" name="Google Shape;1114;p85"/>
          <p:cNvSpPr txBox="1"/>
          <p:nvPr/>
        </p:nvSpPr>
        <p:spPr>
          <a:xfrm>
            <a:off x="3658450" y="3743425"/>
            <a:ext cx="261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85"/>
          <p:cNvSpPr txBox="1"/>
          <p:nvPr/>
        </p:nvSpPr>
        <p:spPr>
          <a:xfrm>
            <a:off x="3966250" y="3960500"/>
            <a:ext cx="261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5"/>
          <p:cNvSpPr txBox="1"/>
          <p:nvPr/>
        </p:nvSpPr>
        <p:spPr>
          <a:xfrm>
            <a:off x="2915438" y="386119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5"/>
          <p:cNvSpPr txBox="1"/>
          <p:nvPr/>
        </p:nvSpPr>
        <p:spPr>
          <a:xfrm>
            <a:off x="3761050" y="428229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85"/>
          <p:cNvSpPr txBox="1"/>
          <p:nvPr/>
        </p:nvSpPr>
        <p:spPr>
          <a:xfrm>
            <a:off x="3120650" y="4319996"/>
            <a:ext cx="20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5"/>
          <p:cNvSpPr txBox="1"/>
          <p:nvPr/>
        </p:nvSpPr>
        <p:spPr>
          <a:xfrm>
            <a:off x="4813725" y="3861188"/>
            <a:ext cx="261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5"/>
          <p:cNvSpPr txBox="1"/>
          <p:nvPr>
            <p:ph type="body" idx="1"/>
          </p:nvPr>
        </p:nvSpPr>
        <p:spPr>
          <a:xfrm>
            <a:off x="5335050" y="3940950"/>
            <a:ext cx="3332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 </a:t>
            </a:r>
            <a:r>
              <a:rPr lang="en-GB" sz="1600" b="1"/>
              <a:t>HCF </a:t>
            </a:r>
            <a:r>
              <a:rPr lang="en-GB" sz="1600"/>
              <a:t>of 7056 and 4536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504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121" name="Google Shape;1121;p85"/>
          <p:cNvSpPr txBox="1"/>
          <p:nvPr>
            <p:ph type="body" idx="1"/>
          </p:nvPr>
        </p:nvSpPr>
        <p:spPr>
          <a:xfrm>
            <a:off x="287150" y="759300"/>
            <a:ext cx="6179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AutoNum type="arabicParenR"/>
            </a:pPr>
            <a:r>
              <a:rPr lang="en-GB" sz="1600"/>
              <a:t>Find the </a:t>
            </a:r>
            <a:r>
              <a:rPr lang="en-GB" sz="1600" b="1"/>
              <a:t>HCF</a:t>
            </a:r>
            <a:r>
              <a:rPr lang="en-GB" sz="1600"/>
              <a:t> of the following pairs of numbers:</a:t>
            </a:r>
            <a:endParaRPr sz="1600"/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1127" name="Google Shape;1127;p86"/>
          <p:cNvSpPr txBox="1"/>
          <p:nvPr>
            <p:ph type="body" idx="1"/>
          </p:nvPr>
        </p:nvSpPr>
        <p:spPr>
          <a:xfrm>
            <a:off x="363441" y="759300"/>
            <a:ext cx="8436600" cy="166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 The </a:t>
            </a:r>
            <a:r>
              <a:rPr lang="en-GB" b="1"/>
              <a:t>HCF</a:t>
            </a:r>
            <a:r>
              <a:rPr lang="en-GB"/>
              <a:t> of the two numbers represented in the Venn diagram is 210.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What is the missing prime factor?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What are the two numbers?</a:t>
            </a:r>
            <a:endParaRPr/>
          </a:p>
        </p:txBody>
      </p:sp>
      <p:grpSp>
        <p:nvGrpSpPr>
          <p:cNvPr id="1128" name="Google Shape;1128;p86"/>
          <p:cNvGrpSpPr/>
          <p:nvPr/>
        </p:nvGrpSpPr>
        <p:grpSpPr>
          <a:xfrm>
            <a:off x="3178712" y="2536200"/>
            <a:ext cx="2786578" cy="1148700"/>
            <a:chOff x="628800" y="1887021"/>
            <a:chExt cx="2786578" cy="1148700"/>
          </a:xfrm>
        </p:grpSpPr>
        <p:sp>
          <p:nvSpPr>
            <p:cNvPr id="1129" name="Google Shape;1129;p86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" name="Google Shape;1130;p86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31" name="Google Shape;1131;p86"/>
          <p:cNvSpPr txBox="1"/>
          <p:nvPr/>
        </p:nvSpPr>
        <p:spPr>
          <a:xfrm>
            <a:off x="4334313" y="272839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6"/>
          <p:cNvSpPr txBox="1"/>
          <p:nvPr/>
        </p:nvSpPr>
        <p:spPr>
          <a:xfrm>
            <a:off x="4671813" y="29138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6"/>
          <p:cNvSpPr txBox="1"/>
          <p:nvPr/>
        </p:nvSpPr>
        <p:spPr>
          <a:xfrm>
            <a:off x="3493913" y="295699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6"/>
          <p:cNvSpPr txBox="1"/>
          <p:nvPr/>
        </p:nvSpPr>
        <p:spPr>
          <a:xfrm>
            <a:off x="4436913" y="31910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6"/>
          <p:cNvSpPr txBox="1"/>
          <p:nvPr/>
        </p:nvSpPr>
        <p:spPr>
          <a:xfrm>
            <a:off x="5228563" y="29454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6"/>
          <p:cNvSpPr txBox="1"/>
          <p:nvPr/>
        </p:nvSpPr>
        <p:spPr>
          <a:xfrm>
            <a:off x="396550" y="3800400"/>
            <a:ext cx="5692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3 × 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 = 210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Kalam"/>
              <a:buAutoNum type="alphaLcParenR"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Left number is 2 × 3 × 3 × 5 × 7 = 630, right number is 2 × 3 × 5 × 5 × 7 = 1050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86"/>
          <p:cNvSpPr/>
          <p:nvPr/>
        </p:nvSpPr>
        <p:spPr>
          <a:xfrm>
            <a:off x="2349259" y="3797050"/>
            <a:ext cx="251400" cy="337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1" name="Shape 1141"/>
        <p:cNvGrpSpPr/>
        <p:nvPr/>
      </p:nvGrpSpPr>
      <p:grpSpPr>
        <a:xfrm>
          <a:off x="0" y="0"/>
          <a:ext cx="0" cy="0"/>
        </a:xfrm>
      </p:grpSpPr>
      <p:sp>
        <p:nvSpPr>
          <p:cNvPr id="1142" name="Google Shape;1142;p8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using prime factorisation</a:t>
            </a:r>
            <a:endParaRPr/>
          </a:p>
        </p:txBody>
      </p:sp>
      <p:sp>
        <p:nvSpPr>
          <p:cNvPr id="1143" name="Google Shape;1143;p87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using prime factorisation</a:t>
            </a:r>
            <a:endParaRPr/>
          </a:p>
        </p:txBody>
      </p:sp>
      <p:sp>
        <p:nvSpPr>
          <p:cNvPr id="1144" name="Google Shape;1144;p87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1145" name="Google Shape;1145;p87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pic>
        <p:nvPicPr>
          <p:cNvPr id="1146" name="Google Shape;114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36" y="37006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pic>
        <p:nvPicPr>
          <p:cNvPr id="1152" name="Google Shape;115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50" y="3324148"/>
            <a:ext cx="1225850" cy="142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6207" y="1333625"/>
            <a:ext cx="1467393" cy="1420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88"/>
          <p:cNvSpPr txBox="1"/>
          <p:nvPr>
            <p:ph type="body" idx="1"/>
          </p:nvPr>
        </p:nvSpPr>
        <p:spPr>
          <a:xfrm>
            <a:off x="324000" y="759300"/>
            <a:ext cx="8237700" cy="13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Alex &amp; Izzy draw a Venn diagram to find the </a:t>
            </a:r>
            <a:r>
              <a:rPr lang="en-GB" b="1"/>
              <a:t>HCF </a:t>
            </a:r>
            <a:r>
              <a:rPr lang="en-GB"/>
              <a:t>of  84, 180 and 63.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has drawn the correct Venn diagram?</a:t>
            </a:r>
            <a:endParaRPr/>
          </a:p>
        </p:txBody>
      </p:sp>
      <p:grpSp>
        <p:nvGrpSpPr>
          <p:cNvPr id="1155" name="Google Shape;1155;p88"/>
          <p:cNvGrpSpPr/>
          <p:nvPr/>
        </p:nvGrpSpPr>
        <p:grpSpPr>
          <a:xfrm>
            <a:off x="1227775" y="2464800"/>
            <a:ext cx="4354012" cy="915300"/>
            <a:chOff x="1370175" y="1345800"/>
            <a:chExt cx="4354012" cy="915300"/>
          </a:xfrm>
        </p:grpSpPr>
        <p:sp>
          <p:nvSpPr>
            <p:cNvPr id="1156" name="Google Shape;1156;p88"/>
            <p:cNvSpPr/>
            <p:nvPr/>
          </p:nvSpPr>
          <p:spPr>
            <a:xfrm>
              <a:off x="1370175" y="1345800"/>
              <a:ext cx="1976700" cy="9153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57" name="Google Shape;1157;p88"/>
            <p:cNvSpPr/>
            <p:nvPr/>
          </p:nvSpPr>
          <p:spPr>
            <a:xfrm>
              <a:off x="2548415" y="1345800"/>
              <a:ext cx="1976700" cy="9153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58" name="Google Shape;1158;p88"/>
            <p:cNvSpPr/>
            <p:nvPr/>
          </p:nvSpPr>
          <p:spPr>
            <a:xfrm>
              <a:off x="3747487" y="1345800"/>
              <a:ext cx="1976700" cy="9153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59" name="Google Shape;1159;p88"/>
          <p:cNvGrpSpPr/>
          <p:nvPr/>
        </p:nvGrpSpPr>
        <p:grpSpPr>
          <a:xfrm>
            <a:off x="5606150" y="2766475"/>
            <a:ext cx="2844575" cy="1977725"/>
            <a:chOff x="4858125" y="3082125"/>
            <a:chExt cx="2844575" cy="1977725"/>
          </a:xfrm>
        </p:grpSpPr>
        <p:sp>
          <p:nvSpPr>
            <p:cNvPr id="1160" name="Google Shape;1160;p88"/>
            <p:cNvSpPr/>
            <p:nvPr/>
          </p:nvSpPr>
          <p:spPr>
            <a:xfrm>
              <a:off x="4858125" y="3082125"/>
              <a:ext cx="1990500" cy="132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1" name="Google Shape;1161;p88"/>
            <p:cNvSpPr/>
            <p:nvPr/>
          </p:nvSpPr>
          <p:spPr>
            <a:xfrm>
              <a:off x="5712200" y="3115650"/>
              <a:ext cx="1990500" cy="132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2" name="Google Shape;1162;p88"/>
            <p:cNvSpPr/>
            <p:nvPr/>
          </p:nvSpPr>
          <p:spPr>
            <a:xfrm>
              <a:off x="5335050" y="3731150"/>
              <a:ext cx="1990500" cy="1328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63" name="Google Shape;1163;p88"/>
          <p:cNvSpPr txBox="1"/>
          <p:nvPr>
            <p:ph type="body" idx="1"/>
          </p:nvPr>
        </p:nvSpPr>
        <p:spPr>
          <a:xfrm>
            <a:off x="2085113" y="4006500"/>
            <a:ext cx="3256500" cy="73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Izzy has drawn the correct Venn diagram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7" name="Shape 1167"/>
        <p:cNvGrpSpPr/>
        <p:nvPr/>
      </p:nvGrpSpPr>
      <p:grpSpPr>
        <a:xfrm>
          <a:off x="0" y="0"/>
          <a:ext cx="0" cy="0"/>
        </a:xfrm>
      </p:grpSpPr>
      <p:sp>
        <p:nvSpPr>
          <p:cNvPr id="1168" name="Google Shape;116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1169" name="Google Shape;1169;p89"/>
          <p:cNvSpPr txBox="1"/>
          <p:nvPr>
            <p:ph type="body" idx="1"/>
          </p:nvPr>
        </p:nvSpPr>
        <p:spPr>
          <a:xfrm>
            <a:off x="324000" y="759300"/>
            <a:ext cx="23298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84 = 2</a:t>
            </a:r>
            <a:r>
              <a:rPr lang="en-GB" baseline="30000"/>
              <a:t>2</a:t>
            </a:r>
            <a:r>
              <a:rPr lang="en-GB"/>
              <a:t> × 3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180 = 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63 = 3</a:t>
            </a:r>
            <a:r>
              <a:rPr lang="en-GB" baseline="30000"/>
              <a:t>2</a:t>
            </a:r>
            <a:r>
              <a:rPr lang="en-GB"/>
              <a:t>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170" name="Google Shape;1170;p89"/>
          <p:cNvSpPr/>
          <p:nvPr/>
        </p:nvSpPr>
        <p:spPr>
          <a:xfrm>
            <a:off x="3778500" y="1268350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1" name="Google Shape;1171;p89"/>
          <p:cNvSpPr/>
          <p:nvPr/>
        </p:nvSpPr>
        <p:spPr>
          <a:xfrm>
            <a:off x="4977001" y="1321988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2" name="Google Shape;1172;p89"/>
          <p:cNvSpPr/>
          <p:nvPr/>
        </p:nvSpPr>
        <p:spPr>
          <a:xfrm>
            <a:off x="4447756" y="2306742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3" name="Google Shape;1173;p89"/>
          <p:cNvSpPr txBox="1"/>
          <p:nvPr/>
        </p:nvSpPr>
        <p:spPr>
          <a:xfrm>
            <a:off x="7094050" y="3821750"/>
            <a:ext cx="17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 factors of 63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9"/>
          <p:cNvSpPr txBox="1"/>
          <p:nvPr/>
        </p:nvSpPr>
        <p:spPr>
          <a:xfrm>
            <a:off x="3314800" y="1015275"/>
            <a:ext cx="178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 factors of 84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9"/>
          <p:cNvSpPr txBox="1"/>
          <p:nvPr/>
        </p:nvSpPr>
        <p:spPr>
          <a:xfrm>
            <a:off x="7279700" y="1015275"/>
            <a:ext cx="17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 factors of 180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9"/>
          <p:cNvSpPr txBox="1"/>
          <p:nvPr/>
        </p:nvSpPr>
        <p:spPr>
          <a:xfrm>
            <a:off x="5710986" y="1772400"/>
            <a:ext cx="35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9"/>
          <p:cNvSpPr txBox="1"/>
          <p:nvPr/>
        </p:nvSpPr>
        <p:spPr>
          <a:xfrm>
            <a:off x="5638325" y="2533675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9"/>
          <p:cNvSpPr txBox="1"/>
          <p:nvPr/>
        </p:nvSpPr>
        <p:spPr>
          <a:xfrm>
            <a:off x="4811008" y="2929702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9"/>
          <p:cNvSpPr txBox="1"/>
          <p:nvPr/>
        </p:nvSpPr>
        <p:spPr>
          <a:xfrm>
            <a:off x="6969175" y="202140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9"/>
          <p:cNvSpPr txBox="1"/>
          <p:nvPr/>
        </p:nvSpPr>
        <p:spPr>
          <a:xfrm>
            <a:off x="402725" y="4432550"/>
            <a:ext cx="4044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 b="1">
                <a:latin typeface="Lexend"/>
                <a:ea typeface="Lexend"/>
                <a:cs typeface="Lexend"/>
                <a:sym typeface="Lexend"/>
              </a:rPr>
              <a:t>HCF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84, 180 and 63 is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9"/>
          <p:cNvSpPr txBox="1"/>
          <p:nvPr/>
        </p:nvSpPr>
        <p:spPr>
          <a:xfrm>
            <a:off x="6571800" y="2872375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9"/>
          <p:cNvSpPr/>
          <p:nvPr/>
        </p:nvSpPr>
        <p:spPr>
          <a:xfrm>
            <a:off x="929325" y="759300"/>
            <a:ext cx="3585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3" name="Google Shape;1183;p89"/>
          <p:cNvSpPr/>
          <p:nvPr/>
        </p:nvSpPr>
        <p:spPr>
          <a:xfrm>
            <a:off x="1048625" y="1268350"/>
            <a:ext cx="3585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4" name="Google Shape;1184;p89"/>
          <p:cNvSpPr/>
          <p:nvPr/>
        </p:nvSpPr>
        <p:spPr>
          <a:xfrm>
            <a:off x="1472450" y="759300"/>
            <a:ext cx="2124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5" name="Google Shape;1185;p89"/>
          <p:cNvSpPr/>
          <p:nvPr/>
        </p:nvSpPr>
        <p:spPr>
          <a:xfrm>
            <a:off x="1598350" y="1268350"/>
            <a:ext cx="3585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6" name="Google Shape;1186;p89"/>
          <p:cNvSpPr/>
          <p:nvPr/>
        </p:nvSpPr>
        <p:spPr>
          <a:xfrm>
            <a:off x="876950" y="1777400"/>
            <a:ext cx="3585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7" name="Google Shape;1187;p89"/>
          <p:cNvSpPr/>
          <p:nvPr/>
        </p:nvSpPr>
        <p:spPr>
          <a:xfrm>
            <a:off x="1922750" y="759300"/>
            <a:ext cx="2124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8" name="Google Shape;1188;p89"/>
          <p:cNvSpPr/>
          <p:nvPr/>
        </p:nvSpPr>
        <p:spPr>
          <a:xfrm>
            <a:off x="1439352" y="1777400"/>
            <a:ext cx="2124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9" name="Google Shape;1189;p89"/>
          <p:cNvSpPr/>
          <p:nvPr/>
        </p:nvSpPr>
        <p:spPr>
          <a:xfrm>
            <a:off x="2154716" y="1268350"/>
            <a:ext cx="212400" cy="311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3" name="Shape 1193"/>
        <p:cNvGrpSpPr/>
        <p:nvPr/>
      </p:nvGrpSpPr>
      <p:grpSpPr>
        <a:xfrm>
          <a:off x="0" y="0"/>
          <a:ext cx="0" cy="0"/>
        </a:xfrm>
      </p:grpSpPr>
      <p:sp>
        <p:nvSpPr>
          <p:cNvPr id="1194" name="Google Shape;1194;p90"/>
          <p:cNvSpPr/>
          <p:nvPr/>
        </p:nvSpPr>
        <p:spPr>
          <a:xfrm>
            <a:off x="3778500" y="1649350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5" name="Google Shape;1195;p90"/>
          <p:cNvSpPr/>
          <p:nvPr/>
        </p:nvSpPr>
        <p:spPr>
          <a:xfrm>
            <a:off x="4977001" y="1702988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6" name="Google Shape;1196;p90"/>
          <p:cNvSpPr/>
          <p:nvPr/>
        </p:nvSpPr>
        <p:spPr>
          <a:xfrm>
            <a:off x="5575271" y="2110200"/>
            <a:ext cx="377400" cy="522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7" name="Google Shape;1197;p90"/>
          <p:cNvSpPr txBox="1"/>
          <p:nvPr>
            <p:ph type="body" idx="1"/>
          </p:nvPr>
        </p:nvSpPr>
        <p:spPr>
          <a:xfrm>
            <a:off x="324000" y="759300"/>
            <a:ext cx="6917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prime factor is in the wrong place?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Where should it go?</a:t>
            </a:r>
            <a:endParaRPr/>
          </a:p>
        </p:txBody>
      </p:sp>
      <p:sp>
        <p:nvSpPr>
          <p:cNvPr id="1198" name="Google Shape;119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1199" name="Google Shape;1199;p90"/>
          <p:cNvSpPr txBox="1"/>
          <p:nvPr>
            <p:ph type="body" idx="1"/>
          </p:nvPr>
        </p:nvSpPr>
        <p:spPr>
          <a:xfrm>
            <a:off x="324000" y="1749900"/>
            <a:ext cx="23034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252 = 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90 = 2 × 3</a:t>
            </a:r>
            <a:r>
              <a:rPr lang="en-GB" baseline="30000"/>
              <a:t>2</a:t>
            </a:r>
            <a:r>
              <a:rPr lang="en-GB"/>
              <a:t> × 5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126 = 2 × 3</a:t>
            </a:r>
            <a:r>
              <a:rPr lang="en-GB" baseline="30000"/>
              <a:t>2</a:t>
            </a:r>
            <a:r>
              <a:rPr lang="en-GB"/>
              <a:t>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00" name="Google Shape;1200;p90"/>
          <p:cNvSpPr/>
          <p:nvPr/>
        </p:nvSpPr>
        <p:spPr>
          <a:xfrm>
            <a:off x="4447756" y="2687742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1" name="Google Shape;1201;p90"/>
          <p:cNvSpPr txBox="1"/>
          <p:nvPr/>
        </p:nvSpPr>
        <p:spPr>
          <a:xfrm>
            <a:off x="7094050" y="4202750"/>
            <a:ext cx="172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 factors of 126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0"/>
          <p:cNvSpPr txBox="1"/>
          <p:nvPr/>
        </p:nvSpPr>
        <p:spPr>
          <a:xfrm>
            <a:off x="3391000" y="1396275"/>
            <a:ext cx="172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 factors of 252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0"/>
          <p:cNvSpPr txBox="1"/>
          <p:nvPr/>
        </p:nvSpPr>
        <p:spPr>
          <a:xfrm>
            <a:off x="7279700" y="1396275"/>
            <a:ext cx="172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 factors of 90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0"/>
          <p:cNvSpPr txBox="1"/>
          <p:nvPr/>
        </p:nvSpPr>
        <p:spPr>
          <a:xfrm>
            <a:off x="5902950" y="3099875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0"/>
          <p:cNvSpPr txBox="1"/>
          <p:nvPr/>
        </p:nvSpPr>
        <p:spPr>
          <a:xfrm>
            <a:off x="5578650" y="2794375"/>
            <a:ext cx="391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 baseline="300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0"/>
          <p:cNvSpPr txBox="1"/>
          <p:nvPr/>
        </p:nvSpPr>
        <p:spPr>
          <a:xfrm>
            <a:off x="4758050" y="334380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0"/>
          <p:cNvSpPr txBox="1"/>
          <p:nvPr/>
        </p:nvSpPr>
        <p:spPr>
          <a:xfrm>
            <a:off x="6969175" y="24024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0"/>
          <p:cNvSpPr txBox="1"/>
          <p:nvPr/>
        </p:nvSpPr>
        <p:spPr>
          <a:xfrm>
            <a:off x="5681250" y="220230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90"/>
          <p:cNvSpPr txBox="1"/>
          <p:nvPr/>
        </p:nvSpPr>
        <p:spPr>
          <a:xfrm>
            <a:off x="4372475" y="228090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sp>
        <p:nvSpPr>
          <p:cNvPr id="1214" name="Google Shape;1214;p9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Fill in the blanks</a:t>
            </a:r>
            <a:endParaRPr/>
          </a:p>
        </p:txBody>
      </p:sp>
      <p:sp>
        <p:nvSpPr>
          <p:cNvPr id="1215" name="Google Shape;1215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1216" name="Google Shape;1216;p91"/>
          <p:cNvSpPr txBox="1"/>
          <p:nvPr>
            <p:ph type="body" idx="4294967295"/>
          </p:nvPr>
        </p:nvSpPr>
        <p:spPr>
          <a:xfrm>
            <a:off x="324000" y="1299300"/>
            <a:ext cx="38985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u="sng"/>
              <a:t>           </a:t>
            </a:r>
            <a:r>
              <a:rPr lang="en-GB"/>
              <a:t> = 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</a:t>
            </a:r>
            <a:r>
              <a:rPr lang="en-GB" u="sng"/>
              <a:t>           </a:t>
            </a:r>
            <a:r>
              <a:rPr lang="en-GB" u="sng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84 = 2</a:t>
            </a:r>
            <a:r>
              <a:rPr lang="en-GB" baseline="30000"/>
              <a:t>2</a:t>
            </a:r>
            <a:r>
              <a:rPr lang="en-GB"/>
              <a:t> × </a:t>
            </a:r>
            <a:r>
              <a:rPr lang="en-GB" u="sng"/>
              <a:t>           </a:t>
            </a:r>
            <a:r>
              <a:rPr lang="en-GB"/>
              <a:t> × 7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u="sng"/>
              <a:t>           </a:t>
            </a:r>
            <a:r>
              <a:rPr lang="en-GB"/>
              <a:t> = 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5</a:t>
            </a:r>
            <a:r>
              <a:rPr lang="en-GB" u="sng" baseline="30000"/>
              <a:t>       </a:t>
            </a:r>
            <a:r>
              <a:rPr lang="en-GB" baseline="30000">
                <a:solidFill>
                  <a:schemeClr val="lt1"/>
                </a:solidFill>
              </a:rPr>
              <a:t>.</a:t>
            </a:r>
            <a:r>
              <a:rPr lang="en-GB"/>
              <a:t> × 11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17" name="Google Shape;1217;p91"/>
          <p:cNvSpPr txBox="1"/>
          <p:nvPr>
            <p:ph type="body" idx="1"/>
          </p:nvPr>
        </p:nvSpPr>
        <p:spPr>
          <a:xfrm>
            <a:off x="324000" y="4227900"/>
            <a:ext cx="5981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</a:t>
            </a:r>
            <a:r>
              <a:rPr lang="en-GB" b="1"/>
              <a:t>HCF </a:t>
            </a:r>
            <a:r>
              <a:rPr lang="en-GB"/>
              <a:t>of </a:t>
            </a:r>
            <a:r>
              <a:rPr lang="en-GB" u="sng"/>
              <a:t>           </a:t>
            </a:r>
            <a:r>
              <a:rPr lang="en-GB"/>
              <a:t>, 84 and </a:t>
            </a:r>
            <a:r>
              <a:rPr lang="en-GB" u="sng"/>
              <a:t>           </a:t>
            </a:r>
            <a:r>
              <a:rPr lang="en-GB"/>
              <a:t> is  </a:t>
            </a:r>
            <a:r>
              <a:rPr lang="en-GB" u="sng"/>
              <a:t>           </a:t>
            </a:r>
            <a:r>
              <a:rPr lang="en-GB" u="sng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1"/>
          <p:cNvSpPr/>
          <p:nvPr/>
        </p:nvSpPr>
        <p:spPr>
          <a:xfrm>
            <a:off x="4464300" y="963550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9" name="Google Shape;1219;p91"/>
          <p:cNvSpPr/>
          <p:nvPr/>
        </p:nvSpPr>
        <p:spPr>
          <a:xfrm>
            <a:off x="5662801" y="1017188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0" name="Google Shape;1220;p91"/>
          <p:cNvSpPr/>
          <p:nvPr/>
        </p:nvSpPr>
        <p:spPr>
          <a:xfrm>
            <a:off x="5133556" y="2001942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1" name="Google Shape;1221;p91"/>
          <p:cNvSpPr txBox="1"/>
          <p:nvPr/>
        </p:nvSpPr>
        <p:spPr>
          <a:xfrm>
            <a:off x="7654975" y="17166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1"/>
          <p:cNvSpPr txBox="1"/>
          <p:nvPr/>
        </p:nvSpPr>
        <p:spPr>
          <a:xfrm>
            <a:off x="4947300" y="166325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1"/>
          <p:cNvSpPr txBox="1"/>
          <p:nvPr/>
        </p:nvSpPr>
        <p:spPr>
          <a:xfrm>
            <a:off x="6187350" y="2481375"/>
            <a:ext cx="54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u="sng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 u="sng" baseline="30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1"/>
          <p:cNvSpPr txBox="1"/>
          <p:nvPr/>
        </p:nvSpPr>
        <p:spPr>
          <a:xfrm>
            <a:off x="5868100" y="32528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1"/>
          <p:cNvSpPr txBox="1"/>
          <p:nvPr/>
        </p:nvSpPr>
        <p:spPr>
          <a:xfrm>
            <a:off x="6904200" y="3411825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1"/>
          <p:cNvSpPr txBox="1"/>
          <p:nvPr/>
        </p:nvSpPr>
        <p:spPr>
          <a:xfrm>
            <a:off x="5739000" y="27797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1"/>
          <p:cNvSpPr txBox="1"/>
          <p:nvPr/>
        </p:nvSpPr>
        <p:spPr>
          <a:xfrm>
            <a:off x="6228650" y="2100300"/>
            <a:ext cx="81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 u="sng" baseline="300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 baseline="30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endParaRPr sz="2200" baseline="30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1"/>
          <p:cNvSpPr txBox="1"/>
          <p:nvPr/>
        </p:nvSpPr>
        <p:spPr>
          <a:xfrm>
            <a:off x="5461600" y="24024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2" name="Shape 1232"/>
        <p:cNvGrpSpPr/>
        <p:nvPr/>
      </p:nvGrpSpPr>
      <p:grpSpPr>
        <a:xfrm>
          <a:off x="0" y="0"/>
          <a:ext cx="0" cy="0"/>
        </a:xfrm>
      </p:grpSpPr>
      <p:sp>
        <p:nvSpPr>
          <p:cNvPr id="1233" name="Google Shape;1233;p92"/>
          <p:cNvSpPr txBox="1"/>
          <p:nvPr>
            <p:ph type="body" idx="1"/>
          </p:nvPr>
        </p:nvSpPr>
        <p:spPr>
          <a:xfrm>
            <a:off x="324000" y="759300"/>
            <a:ext cx="2866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Fill in the blanks</a:t>
            </a:r>
            <a:endParaRPr/>
          </a:p>
        </p:txBody>
      </p:sp>
      <p:sp>
        <p:nvSpPr>
          <p:cNvPr id="1234" name="Google Shape;1234;p9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Highest common factor of more than two numbers</a:t>
            </a:r>
            <a:endParaRPr/>
          </a:p>
        </p:txBody>
      </p:sp>
      <p:sp>
        <p:nvSpPr>
          <p:cNvPr id="1235" name="Google Shape;1235;p92"/>
          <p:cNvSpPr/>
          <p:nvPr/>
        </p:nvSpPr>
        <p:spPr>
          <a:xfrm>
            <a:off x="4464300" y="963550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6" name="Google Shape;1236;p92"/>
          <p:cNvSpPr/>
          <p:nvPr/>
        </p:nvSpPr>
        <p:spPr>
          <a:xfrm>
            <a:off x="5662801" y="1017188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7" name="Google Shape;1237;p92"/>
          <p:cNvSpPr/>
          <p:nvPr/>
        </p:nvSpPr>
        <p:spPr>
          <a:xfrm>
            <a:off x="5133556" y="2001942"/>
            <a:ext cx="2793300" cy="2125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8" name="Google Shape;1238;p92"/>
          <p:cNvSpPr txBox="1"/>
          <p:nvPr/>
        </p:nvSpPr>
        <p:spPr>
          <a:xfrm>
            <a:off x="7654975" y="17166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2"/>
          <p:cNvSpPr txBox="1"/>
          <p:nvPr>
            <p:ph type="body" idx="4294967295"/>
          </p:nvPr>
        </p:nvSpPr>
        <p:spPr>
          <a:xfrm>
            <a:off x="324000" y="1299300"/>
            <a:ext cx="35901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360</a:t>
            </a:r>
            <a:r>
              <a:rPr lang="en-GB"/>
              <a:t> = 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84 = 2</a:t>
            </a:r>
            <a:r>
              <a:rPr lang="en-GB" baseline="30000"/>
              <a:t>2</a:t>
            </a:r>
            <a:r>
              <a:rPr lang="en-GB"/>
              <a:t> 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/>
              <a:t> × 7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9900</a:t>
            </a:r>
            <a:r>
              <a:rPr lang="en-GB"/>
              <a:t> = 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/>
              <a:t> × 11</a:t>
            </a:r>
            <a:endParaRPr/>
          </a:p>
        </p:txBody>
      </p:sp>
      <p:sp>
        <p:nvSpPr>
          <p:cNvPr id="1240" name="Google Shape;1240;p92"/>
          <p:cNvSpPr txBox="1"/>
          <p:nvPr/>
        </p:nvSpPr>
        <p:spPr>
          <a:xfrm>
            <a:off x="4947300" y="166325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2"/>
          <p:cNvSpPr txBox="1"/>
          <p:nvPr/>
        </p:nvSpPr>
        <p:spPr>
          <a:xfrm>
            <a:off x="6304950" y="25542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2" name="Google Shape;1242;p92"/>
          <p:cNvSpPr txBox="1"/>
          <p:nvPr/>
        </p:nvSpPr>
        <p:spPr>
          <a:xfrm>
            <a:off x="5868100" y="32528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2"/>
          <p:cNvSpPr txBox="1"/>
          <p:nvPr/>
        </p:nvSpPr>
        <p:spPr>
          <a:xfrm>
            <a:off x="6904200" y="3411825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2"/>
          <p:cNvSpPr txBox="1"/>
          <p:nvPr/>
        </p:nvSpPr>
        <p:spPr>
          <a:xfrm>
            <a:off x="5739000" y="27797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2"/>
          <p:cNvSpPr txBox="1"/>
          <p:nvPr/>
        </p:nvSpPr>
        <p:spPr>
          <a:xfrm>
            <a:off x="6261750" y="2100175"/>
            <a:ext cx="39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2"/>
          <p:cNvSpPr txBox="1"/>
          <p:nvPr>
            <p:ph type="body" idx="1"/>
          </p:nvPr>
        </p:nvSpPr>
        <p:spPr>
          <a:xfrm>
            <a:off x="324000" y="4227900"/>
            <a:ext cx="5228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HCF </a:t>
            </a:r>
            <a:r>
              <a:rPr lang="en-GB"/>
              <a:t>of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360</a:t>
            </a:r>
            <a:r>
              <a:rPr lang="en-GB"/>
              <a:t>, 84 and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9900</a:t>
            </a:r>
            <a:r>
              <a:rPr lang="en-GB"/>
              <a:t> is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7" name="Google Shape;1247;p92"/>
          <p:cNvSpPr txBox="1"/>
          <p:nvPr/>
        </p:nvSpPr>
        <p:spPr>
          <a:xfrm>
            <a:off x="5461600" y="24024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1" name="Shape 1251"/>
        <p:cNvGrpSpPr/>
        <p:nvPr/>
      </p:nvGrpSpPr>
      <p:grpSpPr>
        <a:xfrm>
          <a:off x="0" y="0"/>
          <a:ext cx="0" cy="0"/>
        </a:xfrm>
      </p:grpSpPr>
      <p:sp>
        <p:nvSpPr>
          <p:cNvPr id="1252" name="Google Shape;1252;p93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Common factors can be found using </a:t>
            </a:r>
            <a:r>
              <a:rPr lang="en-GB" b="1"/>
              <a:t>prime factorisation.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</a:t>
            </a:r>
            <a:r>
              <a:rPr lang="en-GB" b="1"/>
              <a:t>highest common factor</a:t>
            </a:r>
            <a:r>
              <a:rPr lang="en-GB"/>
              <a:t> of numbers can be found using </a:t>
            </a:r>
            <a:r>
              <a:rPr lang="en-GB" b="1"/>
              <a:t>prime factorisation</a:t>
            </a:r>
            <a:r>
              <a:rPr lang="en-GB"/>
              <a:t> and maybe a Venn diagram.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</a:t>
            </a:r>
            <a:endParaRPr/>
          </a:p>
        </p:txBody>
      </p:sp>
      <p:sp>
        <p:nvSpPr>
          <p:cNvPr id="1253" name="Google Shape;1253;p9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pic>
        <p:nvPicPr>
          <p:cNvPr id="1254" name="Google Shape;125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651" y="3069125"/>
            <a:ext cx="3594349" cy="168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8" name="Shape 1258"/>
        <p:cNvGrpSpPr/>
        <p:nvPr/>
      </p:nvGrpSpPr>
      <p:grpSpPr>
        <a:xfrm>
          <a:off x="0" y="0"/>
          <a:ext cx="0" cy="0"/>
        </a:xfrm>
      </p:grpSpPr>
      <p:sp>
        <p:nvSpPr>
          <p:cNvPr id="1259" name="Google Shape;1259;p9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60" name="Google Shape;1260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303</Paragraphs>
  <Slides>31</Slides>
  <Notes>31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baseType="lpstr" size="39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Highest common factor</vt:lpstr>
      <vt:lpstr>PowerPoint Presentation</vt:lpstr>
      <vt:lpstr>PowerPoint Presentation</vt:lpstr>
      <vt:lpstr>PowerPoint Presentation</vt:lpstr>
      <vt:lpstr>PowerPoint Presentation</vt:lpstr>
      <vt:lpstr>Common factors using prime factorisation</vt:lpstr>
      <vt:lpstr>Common factors using prime factorisation</vt:lpstr>
      <vt:lpstr>Common factors using prime factorisation</vt:lpstr>
      <vt:lpstr>Common factors using prime factorisation</vt:lpstr>
      <vt:lpstr>Common factors using prime factorisation</vt:lpstr>
      <vt:lpstr>Common factors using prime factorisation</vt:lpstr>
      <vt:lpstr>PowerPoint Presentation</vt:lpstr>
      <vt:lpstr>PowerPoint Presentation</vt:lpstr>
      <vt:lpstr>Common factors using prime factorisation</vt:lpstr>
      <vt:lpstr>Highest common factor using prime factorisation</vt:lpstr>
      <vt:lpstr>Highest common factor using prime factorisation</vt:lpstr>
      <vt:lpstr>Highest common factor using prime factorisation</vt:lpstr>
      <vt:lpstr>Highest common factor using prime factorisation</vt:lpstr>
      <vt:lpstr>Highest common factor using prime factorisation</vt:lpstr>
      <vt:lpstr>PowerPoint Presentation</vt:lpstr>
      <vt:lpstr>PowerPoint Presentation</vt:lpstr>
      <vt:lpstr>PowerPoint Presentation</vt:lpstr>
      <vt:lpstr>PowerPoint Presentation</vt:lpstr>
      <vt:lpstr>Common factors using prime factorisation</vt:lpstr>
      <vt:lpstr>Highest common factor of more than two numbers</vt:lpstr>
      <vt:lpstr>Highest common factor of more than two numbers</vt:lpstr>
      <vt:lpstr>Highest common factor of more than two numbers</vt:lpstr>
      <vt:lpstr>PowerPoint Presentation</vt:lpstr>
      <vt:lpstr>PowerPoint Presentation</vt:lpstr>
      <vt:lpstr>Highest common factor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2023-11-21T23:38:38.472</cp:lastPrinted>
  <dcterms:created xsi:type="dcterms:W3CDTF">2023-11-21T23:38:38Z</dcterms:created>
  <dcterms:modified xsi:type="dcterms:W3CDTF">2023-11-21T23:38:05Z</dcterms:modified>
</cp:coreProperties>
</file>