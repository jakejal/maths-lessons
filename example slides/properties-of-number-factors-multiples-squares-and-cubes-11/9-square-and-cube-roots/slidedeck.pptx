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72" r:id="rId4"/>
    <p:sldMasterId id="21474837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D664D1D-DC9B-4A0C-A740-CCC3319F43DE}">
  <a:tblStyle styleId="{9D664D1D-DC9B-4A0C-A740-CCC3319F43D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g286b221395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g286b22139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0" name="Google Shape;1500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g286b221395a_0_2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5" name="Google Shape;1505;g286b221395a_0_2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g286b221395a_0_30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6" name="Google Shape;1546;g286b221395a_0_30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g286b221395a_0_30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4" name="Google Shape;1554;g286b221395a_0_3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0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Google Shape;1601;g286b221395a_0_3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2" name="Google Shape;1602;g286b221395a_0_3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g28703ec79a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2" name="Google Shape;1622;g28703ec79a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g28703ec79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5" name="Google Shape;1635;g28703ec79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g28703ec79aa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4" name="Google Shape;1654;g28703ec79aa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5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g286b3adb70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7" name="Google Shape;1667;g286b3adb70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7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g28703ec79aa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9" name="Google Shape;1679;g28703ec79aa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4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g28703ec79aa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6" name="Google Shape;1696;g28703ec79aa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0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g28703ec79aa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2" name="Google Shape;1712;g28703ec79aa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9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g28703ec79aa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1" name="Google Shape;1721;g28703ec79aa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6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Google Shape;1757;g28703ec79aa_1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8" name="Google Shape;1758;g28703ec79aa_1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8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9" name="Google Shape;1769;g28703ec79aa_1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0" name="Google Shape;1770;g28703ec79aa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g28703ec79aa_1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1" name="Google Shape;1791;g28703ec79aa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5" name="Shape 1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6" name="Google Shape;1806;g28703ec79aa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7" name="Google Shape;1807;g28703ec79aa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4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Google Shape;1845;g28703ec79aa_1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6" name="Google Shape;1846;g28703ec79aa_1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g28703ec79aa_1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1" name="Google Shape;1891;g28703ec79aa_1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4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Google Shape;1905;g28703ec79aa_1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6" name="Google Shape;1906;g28703ec79aa_1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2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g28703ec79aa_1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4" name="Google Shape;1914;g28703ec79aa_1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0" name="Shape 1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Google Shape;1931;g28703ec79aa_1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2" name="Google Shape;1932;g28703ec79aa_1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7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Google Shape;1948;g28703ec79aa_1_10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9" name="Google Shape;1949;g28703ec79aa_1_10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0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1" name="Google Shape;1961;g28703ec79aa_1_1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2" name="Google Shape;1962;g28703ec79aa_1_1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9" name="Shape 1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Google Shape;1980;g28703ec79aa_1_1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1" name="Google Shape;1981;g28703ec79aa_1_1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0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g28703ec79aa_1_1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2" name="Google Shape;2002;g28703ec79aa_1_1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1" name="Shape 2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Google Shape;2012;g28703ec79aa_1_1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3" name="Google Shape;2013;g28703ec79aa_1_1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4" name="Shape 2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5" name="Google Shape;2025;g28711c621a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6" name="Google Shape;2026;g28711c621a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1" name="Shape 2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2" name="Google Shape;2032;g28703ec79aa_1_1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3" name="Google Shape;2033;g28703ec79aa_1_1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1" name="Shape 2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" name="Google Shape;2042;g28703ec79aa_1_1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3" name="Google Shape;2043;g28703ec79aa_1_1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3" name="Shape 2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Google Shape;2054;g28711c621a2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5" name="Google Shape;2055;g28711c621a2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1" name="Shape 2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" name="Google Shape;2072;g28711c621a2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3" name="Google Shape;2073;g28711c621a2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g28711c621a2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3" name="Google Shape;2083;g28711c621a2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9" name="Shape 2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Google Shape;2100;g28711c621a2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1" name="Google Shape;2101;g28711c621a2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5" name="Shape 2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6" name="Google Shape;2116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7" name="Google Shape;2117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4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Google Shape;2125;g286b221395a_0_7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6" name="Google Shape;2126;g286b221395a_0_7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1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3.png"/><Relationship Id="rId4" Type="http://schemas.openxmlformats.org/officeDocument/2006/relationships/image" Target="../media/image19.png"/><Relationship Id="rId5" Type="http://schemas.openxmlformats.org/officeDocument/2006/relationships/image" Target="../media/image24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5.png"/><Relationship Id="rId4" Type="http://schemas.openxmlformats.org/officeDocument/2006/relationships/image" Target="../media/image79.png"/><Relationship Id="rId5" Type="http://schemas.openxmlformats.org/officeDocument/2006/relationships/image" Target="../media/image27.png"/><Relationship Id="rId6" Type="http://schemas.openxmlformats.org/officeDocument/2006/relationships/image" Target="../media/image33.png"/><Relationship Id="rId7" Type="http://schemas.openxmlformats.org/officeDocument/2006/relationships/image" Target="../media/image2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79.png"/><Relationship Id="rId4" Type="http://schemas.openxmlformats.org/officeDocument/2006/relationships/image" Target="../media/image22.png"/><Relationship Id="rId9" Type="http://schemas.openxmlformats.org/officeDocument/2006/relationships/image" Target="../media/image21.png"/><Relationship Id="rId5" Type="http://schemas.openxmlformats.org/officeDocument/2006/relationships/image" Target="../media/image25.png"/><Relationship Id="rId6" Type="http://schemas.openxmlformats.org/officeDocument/2006/relationships/image" Target="../media/image32.png"/><Relationship Id="rId7" Type="http://schemas.openxmlformats.org/officeDocument/2006/relationships/image" Target="../media/image27.png"/><Relationship Id="rId8" Type="http://schemas.openxmlformats.org/officeDocument/2006/relationships/image" Target="../media/image3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79.png"/><Relationship Id="rId4" Type="http://schemas.openxmlformats.org/officeDocument/2006/relationships/image" Target="../media/image29.png"/><Relationship Id="rId11" Type="http://schemas.openxmlformats.org/officeDocument/2006/relationships/image" Target="../media/image21.png"/><Relationship Id="rId10" Type="http://schemas.openxmlformats.org/officeDocument/2006/relationships/image" Target="../media/image37.png"/><Relationship Id="rId9" Type="http://schemas.openxmlformats.org/officeDocument/2006/relationships/image" Target="../media/image33.png"/><Relationship Id="rId5" Type="http://schemas.openxmlformats.org/officeDocument/2006/relationships/image" Target="../media/image22.png"/><Relationship Id="rId6" Type="http://schemas.openxmlformats.org/officeDocument/2006/relationships/image" Target="../media/image25.png"/><Relationship Id="rId7" Type="http://schemas.openxmlformats.org/officeDocument/2006/relationships/image" Target="../media/image32.png"/><Relationship Id="rId8" Type="http://schemas.openxmlformats.org/officeDocument/2006/relationships/image" Target="../media/image2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7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13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23.png"/><Relationship Id="rId4" Type="http://schemas.openxmlformats.org/officeDocument/2006/relationships/image" Target="../media/image19.png"/><Relationship Id="rId5" Type="http://schemas.openxmlformats.org/officeDocument/2006/relationships/image" Target="../media/image24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25.png"/><Relationship Id="rId4" Type="http://schemas.openxmlformats.org/officeDocument/2006/relationships/image" Target="../media/image79.png"/><Relationship Id="rId5" Type="http://schemas.openxmlformats.org/officeDocument/2006/relationships/image" Target="../media/image27.png"/><Relationship Id="rId6" Type="http://schemas.openxmlformats.org/officeDocument/2006/relationships/image" Target="../media/image33.png"/><Relationship Id="rId7" Type="http://schemas.openxmlformats.org/officeDocument/2006/relationships/image" Target="../media/image21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79.png"/><Relationship Id="rId4" Type="http://schemas.openxmlformats.org/officeDocument/2006/relationships/image" Target="../media/image22.png"/><Relationship Id="rId9" Type="http://schemas.openxmlformats.org/officeDocument/2006/relationships/image" Target="../media/image21.png"/><Relationship Id="rId5" Type="http://schemas.openxmlformats.org/officeDocument/2006/relationships/image" Target="../media/image25.png"/><Relationship Id="rId6" Type="http://schemas.openxmlformats.org/officeDocument/2006/relationships/image" Target="../media/image32.png"/><Relationship Id="rId7" Type="http://schemas.openxmlformats.org/officeDocument/2006/relationships/image" Target="../media/image27.png"/><Relationship Id="rId8" Type="http://schemas.openxmlformats.org/officeDocument/2006/relationships/image" Target="../media/image33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79.png"/><Relationship Id="rId4" Type="http://schemas.openxmlformats.org/officeDocument/2006/relationships/image" Target="../media/image29.png"/><Relationship Id="rId11" Type="http://schemas.openxmlformats.org/officeDocument/2006/relationships/image" Target="../media/image21.png"/><Relationship Id="rId10" Type="http://schemas.openxmlformats.org/officeDocument/2006/relationships/image" Target="../media/image37.png"/><Relationship Id="rId9" Type="http://schemas.openxmlformats.org/officeDocument/2006/relationships/image" Target="../media/image33.png"/><Relationship Id="rId5" Type="http://schemas.openxmlformats.org/officeDocument/2006/relationships/image" Target="../media/image22.png"/><Relationship Id="rId6" Type="http://schemas.openxmlformats.org/officeDocument/2006/relationships/image" Target="../media/image25.png"/><Relationship Id="rId7" Type="http://schemas.openxmlformats.org/officeDocument/2006/relationships/image" Target="../media/image32.png"/><Relationship Id="rId8" Type="http://schemas.openxmlformats.org/officeDocument/2006/relationships/image" Target="../media/image27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7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96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1" name="Google Shape;751;p6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3" name="Google Shape;753;p65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4" name="Google Shape;754;p65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5" name="Google Shape;75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6" name="Google Shape;756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9" name="Google Shape;759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1" name="Google Shape;761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2" name="Google Shape;762;p66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3" name="Google Shape;763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5" name="Google Shape;765;p6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7" name="Google Shape;767;p6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0" name="Google Shape;770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1" name="Google Shape;771;p67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2" name="Google Shape;772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5" name="Google Shape;775;p6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7" name="Google Shape;777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8" name="Google Shape;778;p68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9" name="Google Shape;779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1" name="Google Shape;781;p6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82" name="Google Shape;782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3" name="Google Shape;783;p68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4" name="Google Shape;784;p6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8" name="Google Shape;788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69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0" name="Google Shape;790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2" name="Google Shape;792;p69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5" name="Google Shape;795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70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7" name="Google Shape;797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9" name="Google Shape;799;p70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0" name="Google Shape;800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01" name="Google Shape;801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2" name="Google Shape;802;p70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3" name="Google Shape;803;p7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5" name="Google Shape;805;p7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8" name="Google Shape;808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9" name="Google Shape;809;p71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0" name="Google Shape;810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3" name="Google Shape;813;p7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7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5" name="Google Shape;815;p7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6" name="Google Shape;816;p72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7" name="Google Shape;817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7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19" name="Google Shape;819;p7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20" name="Google Shape;820;p7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1" name="Google Shape;821;p72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22" name="Google Shape;822;p7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4" name="Google Shape;824;p7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7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7" name="Google Shape;827;p7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73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9" name="Google Shape;829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2" name="Google Shape;832;p7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74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4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75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5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75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75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0" name="Google Shape;840;p75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1" name="Google Shape;841;p75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42" name="Google Shape;842;p7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3" name="Google Shape;843;p7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4" name="Google Shape;844;p7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5" name="Google Shape;845;p7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46" name="Google Shape;846;p75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7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0" name="Google Shape;850;p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76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3" name="Google Shape;853;p76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4" name="Google Shape;854;p76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7" name="Google Shape;857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77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0" name="Google Shape;860;p77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1" name="Google Shape;861;p77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4" name="Google Shape;864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78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6" name="Google Shape;866;p78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7" name="Google Shape;867;p78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8" name="Google Shape;868;p78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9" name="Google Shape;869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2" name="Google Shape;872;p7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79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4" name="Google Shape;874;p79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5" name="Google Shape;875;p79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6" name="Google Shape;876;p79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7" name="Google Shape;877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8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0" name="Google Shape;880;p8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80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2" name="Google Shape;882;p80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3" name="Google Shape;883;p80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4" name="Google Shape;884;p80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5" name="Google Shape;885;p80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6" name="Google Shape;886;p8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8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9" name="Google Shape;889;p8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81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1" name="Google Shape;891;p81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2" name="Google Shape;892;p81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3" name="Google Shape;893;p81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4" name="Google Shape;894;p81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5" name="Google Shape;895;p81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82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8" name="Google Shape;898;p82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82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82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1" name="Google Shape;901;p82"/>
          <p:cNvCxnSpPr>
            <a:endCxn id="902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03" name="Google Shape;903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82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5" name="Google Shape;905;p82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2" name="Google Shape;902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82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8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8" name="Google Shape;908;p82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0" name="Google Shape;910;p83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83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83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6" name="Google Shape;916;p83"/>
          <p:cNvCxnSpPr>
            <a:endCxn id="917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7" name="Google Shape;917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8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83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0" name="Google Shape;920;p83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1" name="Google Shape;921;p83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22" name="Google Shape;922;p8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83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4" name="Google Shape;924;p83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83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83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8" name="Google Shape;928;p84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84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84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84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6" name="Google Shape;936;p84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7" name="Google Shape;937;p8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8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8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84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1" name="Google Shape;941;p84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2" name="Google Shape;942;p84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3" name="Google Shape;943;p84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44" name="Google Shape;944;p8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84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6" name="Google Shape;946;p84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84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8" name="Google Shape;948;p84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0" name="Google Shape;950;p8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85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3" name="Google Shape;953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4" name="Google Shape;954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8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7" name="Google Shape;957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8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0" name="Google Shape;960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2" name="Google Shape;962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4" name="Google Shape;964;p8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8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7" name="Google Shape;967;p87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9" name="Google Shape;969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1" name="Google Shape;971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8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8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4" name="Google Shape;974;p88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6" name="Google Shape;976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8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9" name="Google Shape;979;p8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8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2" name="Google Shape;982;p8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3" name="Google Shape;983;p89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4" name="Google Shape;984;p8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5" name="Google Shape;985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6" name="Google Shape;986;p8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7" name="Google Shape;987;p8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8" name="Google Shape;988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9" name="Google Shape;989;p8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9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2" name="Google Shape;992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9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9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5" name="Google Shape;995;p9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6" name="Google Shape;996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7" name="Google Shape;997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8" name="Google Shape;998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9" name="Google Shape;999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0" name="Google Shape;1000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01" name="Google Shape;1001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2" name="Google Shape;1002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91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5" name="Google Shape;1005;p9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91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8" name="Google Shape;1008;p91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9" name="Google Shape;1009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10" name="Google Shape;1010;p91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11" name="Google Shape;1011;p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2" name="Google Shape;1012;p91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3" name="Google Shape;1013;p91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4" name="Google Shape;1014;p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5" name="Google Shape;1015;p91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92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8" name="Google Shape;1018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p9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92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1" name="Google Shape;1021;p92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2" name="Google Shape;1022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23" name="Google Shape;1023;p92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24" name="Google Shape;1024;p9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5" name="Google Shape;1025;p92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6" name="Google Shape;1026;p92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27" name="Google Shape;1027;p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8" name="Google Shape;1028;p92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Google Shape;1030;p9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1" name="Google Shape;1031;p9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Google Shape;1032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9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9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9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93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8" name="Google Shape;1038;p93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9" name="Google Shape;1039;p9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40" name="Google Shape;1040;p9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1" name="Google Shape;1041;p9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9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3" name="Google Shape;1043;p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46" name="Google Shape;1046;p9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47" name="Google Shape;1047;p9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8" name="Google Shape;1048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9" name="Google Shape;1049;p9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50" name="Google Shape;1050;p9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1" name="Google Shape;1051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3" name="Google Shape;1053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9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94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9" name="Google Shape;1059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60" name="Google Shape;1060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3" name="Google Shape;1063;p94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4" name="Google Shape;1064;p9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5" name="Google Shape;1065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66" name="Google Shape;1066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7" name="Google Shape;1067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8" name="Google Shape;1068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69" name="Google Shape;1069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0" name="Google Shape;1070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71" name="Google Shape;1071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2" name="Google Shape;1072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6" name="Google Shape;1076;p9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9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9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9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95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2" name="Google Shape;1082;p9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83" name="Google Shape;1083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6" name="Google Shape;1086;p95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7" name="Google Shape;1087;p95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8" name="Google Shape;1088;p95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89" name="Google Shape;1089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0" name="Google Shape;109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1" name="Google Shape;1091;p95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92" name="Google Shape;1092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3" name="Google Shape;1093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94" name="Google Shape;1094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5" name="Google Shape;1095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9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9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9" name="Google Shape;1099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9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96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96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96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96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5" name="Google Shape;1105;p96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06" name="Google Shape;1106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7" name="Google Shape;1107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9" name="Google Shape;1109;p96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10" name="Google Shape;1110;p96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11" name="Google Shape;1111;p96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12" name="Google Shape;1112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3" name="Google Shape;1113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4" name="Google Shape;1114;p96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15" name="Google Shape;1115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6" name="Google Shape;1116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7" name="Google Shape;1117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96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96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2" name="Google Shape;1122;p9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9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5" name="Google Shape;1125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7" name="Google Shape;1127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8" name="Google Shape;1128;p9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9" name="Google Shape;1129;p9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0" name="Google Shape;1130;p9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31" name="Google Shape;1131;p9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32" name="Google Shape;1132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3" name="Google Shape;1133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4" name="Google Shape;1134;p9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5" name="Google Shape;1135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6" name="Google Shape;1136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7" name="Google Shape;1137;p9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38" name="Google Shape;1138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9" name="Google Shape;1139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1" name="Google Shape;1141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p9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4" name="Google Shape;1144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6" name="Google Shape;1146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7" name="Google Shape;1147;p9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8" name="Google Shape;1148;p9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9" name="Google Shape;1149;p9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50" name="Google Shape;1150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51" name="Google Shape;1151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2" name="Google Shape;1152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3" name="Google Shape;1153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4" name="Google Shape;1154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5" name="Google Shape;1155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6" name="Google Shape;1156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57" name="Google Shape;1157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8" name="Google Shape;1158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0" name="Google Shape;1160;p9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9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63" name="Google Shape;1163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4" name="Google Shape;1164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5" name="Google Shape;1165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6" name="Google Shape;1166;p99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7" name="Google Shape;1167;p99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8" name="Google Shape;1168;p99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69" name="Google Shape;1169;p99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70" name="Google Shape;1170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1" name="Google Shape;1171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2" name="Google Shape;1172;p99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73" name="Google Shape;1173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4" name="Google Shape;1174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5" name="Google Shape;1175;p99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76" name="Google Shape;1176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7" name="Google Shape;1177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9" name="Google Shape;1179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10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10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82" name="Google Shape;1182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3" name="Google Shape;1183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4" name="Google Shape;1184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5" name="Google Shape;1185;p100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6" name="Google Shape;1186;p100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7" name="Google Shape;1187;p100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8" name="Google Shape;1188;p100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89" name="Google Shape;1189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0" name="Google Shape;1190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1" name="Google Shape;1191;p100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92" name="Google Shape;1192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3" name="Google Shape;1193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4" name="Google Shape;1194;p100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95" name="Google Shape;1195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6" name="Google Shape;1196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" name="Google Shape;1198;p10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9" name="Google Shape;1199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10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1" name="Google Shape;1201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2" name="Google Shape;1202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3" name="Google Shape;1203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4" name="Google Shape;1204;p10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5" name="Google Shape;1205;p10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6" name="Google Shape;1206;p10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7" name="Google Shape;1207;p10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8" name="Google Shape;1208;p10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09" name="Google Shape;1209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0" name="Google Shape;1210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1" name="Google Shape;1211;p10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12" name="Google Shape;1212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3" name="Google Shape;1213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4" name="Google Shape;1214;p10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15" name="Google Shape;1215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6" name="Google Shape;1216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7" name="Google Shape;1217;p10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18" name="Google Shape;1218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9" name="Google Shape;1219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1" name="Google Shape;1221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10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4" name="Google Shape;1224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5" name="Google Shape;1225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6" name="Google Shape;1226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7" name="Google Shape;1227;p10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8" name="Google Shape;1228;p10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9" name="Google Shape;1229;p10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0" name="Google Shape;1230;p10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31" name="Google Shape;1231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32" name="Google Shape;1232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3" name="Google Shape;1233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4" name="Google Shape;1234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35" name="Google Shape;1235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6" name="Google Shape;1236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7" name="Google Shape;1237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38" name="Google Shape;1238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9" name="Google Shape;1239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0" name="Google Shape;1240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41" name="Google Shape;1241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2" name="Google Shape;1242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4" name="Google Shape;1244;p10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10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7" name="Google Shape;1247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0" name="Google Shape;1250;p10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1" name="Google Shape;1251;p103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2" name="Google Shape;1252;p103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3" name="Google Shape;1253;p103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54" name="Google Shape;1254;p103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55" name="Google Shape;1255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6" name="Google Shape;1256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7" name="Google Shape;1257;p103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8" name="Google Shape;1258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9" name="Google Shape;1259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0" name="Google Shape;1260;p103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61" name="Google Shape;1261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2" name="Google Shape;1262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3" name="Google Shape;1263;p103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64" name="Google Shape;1264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5" name="Google Shape;1265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7" name="Google Shape;1267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p10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104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70" name="Google Shape;1270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1" name="Google Shape;1271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3" name="Google Shape;1273;p10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4" name="Google Shape;1274;p104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5" name="Google Shape;1275;p104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6" name="Google Shape;1276;p104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7" name="Google Shape;1277;p104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8" name="Google Shape;1278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9" name="Google Shape;1279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0" name="Google Shape;1280;p104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81" name="Google Shape;1281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2" name="Google Shape;1282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3" name="Google Shape;1283;p104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84" name="Google Shape;1284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5" name="Google Shape;1285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6" name="Google Shape;1286;p104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7" name="Google Shape;1287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8" name="Google Shape;1288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0" name="Google Shape;1290;p1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Google Shape;1291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10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93" name="Google Shape;1293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4" name="Google Shape;1294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6" name="Google Shape;1296;p10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7" name="Google Shape;1297;p10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8" name="Google Shape;1298;p10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99" name="Google Shape;1299;p10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00" name="Google Shape;1300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1" name="Google Shape;1301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2" name="Google Shape;1302;p10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03" name="Google Shape;1303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4" name="Google Shape;1304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5" name="Google Shape;1305;p10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06" name="Google Shape;1306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7" name="Google Shape;1307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9" name="Google Shape;1309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p10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12" name="Google Shape;1312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3" name="Google Shape;1313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10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5" name="Google Shape;1315;p10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6" name="Google Shape;1316;p10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7" name="Google Shape;1317;p10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18" name="Google Shape;1318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19" name="Google Shape;1319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0" name="Google Shape;1320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1" name="Google Shape;1321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22" name="Google Shape;1322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3" name="Google Shape;1323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4" name="Google Shape;1324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5" name="Google Shape;1325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6" name="Google Shape;1326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8" name="Google Shape;1328;p10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9" name="Google Shape;1329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10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31" name="Google Shape;1331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2" name="Google Shape;1332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3" name="Google Shape;1333;p10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4" name="Google Shape;1334;p107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5" name="Google Shape;1335;p107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6" name="Google Shape;1336;p107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37" name="Google Shape;1337;p107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38" name="Google Shape;1338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9" name="Google Shape;1339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0" name="Google Shape;1340;p107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41" name="Google Shape;1341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2" name="Google Shape;1342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3" name="Google Shape;1343;p107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44" name="Google Shape;1344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5" name="Google Shape;1345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7" name="Google Shape;1347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8" name="Google Shape;1348;p10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10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50" name="Google Shape;1350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1" name="Google Shape;1351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2" name="Google Shape;1352;p10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3" name="Google Shape;1353;p108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4" name="Google Shape;1354;p108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5" name="Google Shape;1355;p108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56" name="Google Shape;1356;p108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57" name="Google Shape;1357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9" name="Google Shape;1359;p108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60" name="Google Shape;1360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1" name="Google Shape;1361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2" name="Google Shape;1362;p108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63" name="Google Shape;1363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4" name="Google Shape;1364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6" name="Google Shape;1366;p10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9" name="Google Shape;1369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0" name="Google Shape;1370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1" name="Google Shape;1371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3" name="Google Shape;1373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11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6" name="Google Shape;1376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8" name="Google Shape;1378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0" name="Google Shape;1380;p11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3" name="Google Shape;1383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11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7" name="Google Shape;1387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1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90" name="Google Shape;1390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1" name="Google Shape;1391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2" name="Google Shape;1392;p11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4" name="Google Shape;1394;p1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7" name="Google Shape;1397;p113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8" name="Google Shape;1398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99" name="Google Shape;1399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2" name="Google Shape;1402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3" name="Google Shape;1403;p11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5" name="Google Shape;1405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6" name="Google Shape;1406;p114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7" name="Google Shape;1407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8" name="Google Shape;1408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0" name="Google Shape;1410;p11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1" name="Google Shape;1411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3" name="Google Shape;1413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4" name="Google Shape;1414;p115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6" name="Google Shape;1416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8" name="Google Shape;1418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9" name="Google Shape;1419;p1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1" name="Google Shape;1421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2" name="Google Shape;1422;p116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4" name="Google Shape;1424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6" name="Google Shape;1426;p1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7" name="Google Shape;1427;p1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9" name="Google Shape;1429;p117"/>
          <p:cNvSpPr txBox="1"/>
          <p:nvPr/>
        </p:nvSpPr>
        <p:spPr>
          <a:xfrm>
            <a:off x="324000" y="45525"/>
            <a:ext cx="17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0" name="Google Shape;1430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31" name="Google Shape;1431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2" name="Google Shape;1432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" name="Google Shape;1434;p11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5" name="Google Shape;1435;p11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7" name="Google Shape;1437;p118"/>
          <p:cNvSpPr txBox="1"/>
          <p:nvPr/>
        </p:nvSpPr>
        <p:spPr>
          <a:xfrm>
            <a:off x="324000" y="45525"/>
            <a:ext cx="141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8" name="Google Shape;1438;p11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9" name="Google Shape;1439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0" name="Google Shape;1440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2" name="Google Shape;1442;p11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3" name="Google Shape;1443;p11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11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5" name="Google Shape;1445;p119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6" name="Google Shape;1446;p11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7" name="Google Shape;1447;p11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8" name="Google Shape;1448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0" name="Google Shape;1450;p12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1" name="Google Shape;1451;p12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1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3" name="Google Shape;1453;p120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4" name="Google Shape;1454;p12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5" name="Google Shape;1455;p12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6" name="Google Shape;1456;p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121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9" name="Google Shape;1459;p12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Google Shape;1460;p121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1" name="Google Shape;1461;p121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121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122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5" name="Google Shape;1465;p12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6" name="Google Shape;1466;p122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7" name="Google Shape;1467;p122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8" name="Google Shape;1468;p122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0" name="Google Shape;1470;p1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71" name="Google Shape;1471;p123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124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124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5" name="Google Shape;1475;p124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6" name="Google Shape;1476;p124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124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8" name="Google Shape;1478;p124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9" name="Google Shape;1479;p124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0" name="Google Shape;1480;p124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1" name="Google Shape;1481;p124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3" name="Google Shape;1483;p1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4" name="Google Shape;1484;p125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126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01.xml"/><Relationship Id="rId42" Type="http://schemas.openxmlformats.org/officeDocument/2006/relationships/slideLayout" Target="../slideLayouts/slideLayout103.xml"/><Relationship Id="rId41" Type="http://schemas.openxmlformats.org/officeDocument/2006/relationships/slideLayout" Target="../slideLayouts/slideLayout102.xml"/><Relationship Id="rId44" Type="http://schemas.openxmlformats.org/officeDocument/2006/relationships/slideLayout" Target="../slideLayouts/slideLayout105.xml"/><Relationship Id="rId43" Type="http://schemas.openxmlformats.org/officeDocument/2006/relationships/slideLayout" Target="../slideLayouts/slideLayout104.xml"/><Relationship Id="rId46" Type="http://schemas.openxmlformats.org/officeDocument/2006/relationships/slideLayout" Target="../slideLayouts/slideLayout107.xml"/><Relationship Id="rId45" Type="http://schemas.openxmlformats.org/officeDocument/2006/relationships/slideLayout" Target="../slideLayouts/slideLayout106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63.xml"/><Relationship Id="rId3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Relationship Id="rId48" Type="http://schemas.openxmlformats.org/officeDocument/2006/relationships/slideLayout" Target="../slideLayouts/slideLayout109.xml"/><Relationship Id="rId47" Type="http://schemas.openxmlformats.org/officeDocument/2006/relationships/slideLayout" Target="../slideLayouts/slideLayout108.xml"/><Relationship Id="rId49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66.xml"/><Relationship Id="rId6" Type="http://schemas.openxmlformats.org/officeDocument/2006/relationships/slideLayout" Target="../slideLayouts/slideLayout67.xml"/><Relationship Id="rId7" Type="http://schemas.openxmlformats.org/officeDocument/2006/relationships/slideLayout" Target="../slideLayouts/slideLayout68.xml"/><Relationship Id="rId8" Type="http://schemas.openxmlformats.org/officeDocument/2006/relationships/slideLayout" Target="../slideLayouts/slideLayout69.xml"/><Relationship Id="rId31" Type="http://schemas.openxmlformats.org/officeDocument/2006/relationships/slideLayout" Target="../slideLayouts/slideLayout92.xml"/><Relationship Id="rId30" Type="http://schemas.openxmlformats.org/officeDocument/2006/relationships/slideLayout" Target="../slideLayouts/slideLayout91.xml"/><Relationship Id="rId33" Type="http://schemas.openxmlformats.org/officeDocument/2006/relationships/slideLayout" Target="../slideLayouts/slideLayout94.xml"/><Relationship Id="rId32" Type="http://schemas.openxmlformats.org/officeDocument/2006/relationships/slideLayout" Target="../slideLayouts/slideLayout93.xml"/><Relationship Id="rId35" Type="http://schemas.openxmlformats.org/officeDocument/2006/relationships/slideLayout" Target="../slideLayouts/slideLayout96.xml"/><Relationship Id="rId34" Type="http://schemas.openxmlformats.org/officeDocument/2006/relationships/slideLayout" Target="../slideLayouts/slideLayout95.xml"/><Relationship Id="rId37" Type="http://schemas.openxmlformats.org/officeDocument/2006/relationships/slideLayout" Target="../slideLayouts/slideLayout98.xml"/><Relationship Id="rId36" Type="http://schemas.openxmlformats.org/officeDocument/2006/relationships/slideLayout" Target="../slideLayouts/slideLayout97.xml"/><Relationship Id="rId39" Type="http://schemas.openxmlformats.org/officeDocument/2006/relationships/slideLayout" Target="../slideLayouts/slideLayout100.xml"/><Relationship Id="rId38" Type="http://schemas.openxmlformats.org/officeDocument/2006/relationships/slideLayout" Target="../slideLayouts/slideLayout99.xml"/><Relationship Id="rId62" Type="http://schemas.openxmlformats.org/officeDocument/2006/relationships/slideLayout" Target="../slideLayouts/slideLayout123.xml"/><Relationship Id="rId61" Type="http://schemas.openxmlformats.org/officeDocument/2006/relationships/slideLayout" Target="../slideLayouts/slideLayout122.xml"/><Relationship Id="rId20" Type="http://schemas.openxmlformats.org/officeDocument/2006/relationships/slideLayout" Target="../slideLayouts/slideLayout81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124.xml"/><Relationship Id="rId22" Type="http://schemas.openxmlformats.org/officeDocument/2006/relationships/slideLayout" Target="../slideLayouts/slideLayout83.xml"/><Relationship Id="rId21" Type="http://schemas.openxmlformats.org/officeDocument/2006/relationships/slideLayout" Target="../slideLayouts/slideLayout82.xml"/><Relationship Id="rId24" Type="http://schemas.openxmlformats.org/officeDocument/2006/relationships/slideLayout" Target="../slideLayouts/slideLayout85.xml"/><Relationship Id="rId23" Type="http://schemas.openxmlformats.org/officeDocument/2006/relationships/slideLayout" Target="../slideLayouts/slideLayout84.xml"/><Relationship Id="rId60" Type="http://schemas.openxmlformats.org/officeDocument/2006/relationships/slideLayout" Target="../slideLayouts/slideLayout121.xml"/><Relationship Id="rId26" Type="http://schemas.openxmlformats.org/officeDocument/2006/relationships/slideLayout" Target="../slideLayouts/slideLayout87.xml"/><Relationship Id="rId25" Type="http://schemas.openxmlformats.org/officeDocument/2006/relationships/slideLayout" Target="../slideLayouts/slideLayout86.xml"/><Relationship Id="rId28" Type="http://schemas.openxmlformats.org/officeDocument/2006/relationships/slideLayout" Target="../slideLayouts/slideLayout89.xml"/><Relationship Id="rId27" Type="http://schemas.openxmlformats.org/officeDocument/2006/relationships/slideLayout" Target="../slideLayouts/slideLayout88.xml"/><Relationship Id="rId29" Type="http://schemas.openxmlformats.org/officeDocument/2006/relationships/slideLayout" Target="../slideLayouts/slideLayout90.xml"/><Relationship Id="rId51" Type="http://schemas.openxmlformats.org/officeDocument/2006/relationships/slideLayout" Target="../slideLayouts/slideLayout112.xml"/><Relationship Id="rId50" Type="http://schemas.openxmlformats.org/officeDocument/2006/relationships/slideLayout" Target="../slideLayouts/slideLayout111.xml"/><Relationship Id="rId53" Type="http://schemas.openxmlformats.org/officeDocument/2006/relationships/slideLayout" Target="../slideLayouts/slideLayout114.xml"/><Relationship Id="rId52" Type="http://schemas.openxmlformats.org/officeDocument/2006/relationships/slideLayout" Target="../slideLayouts/slideLayout113.xml"/><Relationship Id="rId11" Type="http://schemas.openxmlformats.org/officeDocument/2006/relationships/slideLayout" Target="../slideLayouts/slideLayout72.xml"/><Relationship Id="rId55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71.xml"/><Relationship Id="rId54" Type="http://schemas.openxmlformats.org/officeDocument/2006/relationships/slideLayout" Target="../slideLayouts/slideLayout115.xml"/><Relationship Id="rId13" Type="http://schemas.openxmlformats.org/officeDocument/2006/relationships/slideLayout" Target="../slideLayouts/slideLayout74.xml"/><Relationship Id="rId57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73.xml"/><Relationship Id="rId56" Type="http://schemas.openxmlformats.org/officeDocument/2006/relationships/slideLayout" Target="../slideLayouts/slideLayout117.xml"/><Relationship Id="rId15" Type="http://schemas.openxmlformats.org/officeDocument/2006/relationships/slideLayout" Target="../slideLayouts/slideLayout76.xml"/><Relationship Id="rId59" Type="http://schemas.openxmlformats.org/officeDocument/2006/relationships/slideLayout" Target="../slideLayouts/slideLayout120.xml"/><Relationship Id="rId14" Type="http://schemas.openxmlformats.org/officeDocument/2006/relationships/slideLayout" Target="../slideLayouts/slideLayout75.xml"/><Relationship Id="rId58" Type="http://schemas.openxmlformats.org/officeDocument/2006/relationships/slideLayout" Target="../slideLayouts/slideLayout119.xml"/><Relationship Id="rId17" Type="http://schemas.openxmlformats.org/officeDocument/2006/relationships/slideLayout" Target="../slideLayouts/slideLayout78.xml"/><Relationship Id="rId16" Type="http://schemas.openxmlformats.org/officeDocument/2006/relationships/slideLayout" Target="../slideLayouts/slideLayout77.xml"/><Relationship Id="rId19" Type="http://schemas.openxmlformats.org/officeDocument/2006/relationships/slideLayout" Target="../slideLayouts/slideLayout80.xml"/><Relationship Id="rId18" Type="http://schemas.openxmlformats.org/officeDocument/2006/relationships/slideLayout" Target="../slideLayouts/slideLayout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64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48" name="Google Shape;748;p64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49" name="Google Shape;749;p6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  <p:sldLayoutId id="2147483734" r:id="rId26"/>
    <p:sldLayoutId id="2147483735" r:id="rId27"/>
    <p:sldLayoutId id="2147483736" r:id="rId28"/>
    <p:sldLayoutId id="2147483737" r:id="rId29"/>
    <p:sldLayoutId id="2147483738" r:id="rId30"/>
    <p:sldLayoutId id="2147483739" r:id="rId31"/>
    <p:sldLayoutId id="2147483740" r:id="rId32"/>
    <p:sldLayoutId id="2147483741" r:id="rId33"/>
    <p:sldLayoutId id="2147483742" r:id="rId34"/>
    <p:sldLayoutId id="2147483743" r:id="rId35"/>
    <p:sldLayoutId id="2147483744" r:id="rId36"/>
    <p:sldLayoutId id="2147483745" r:id="rId37"/>
    <p:sldLayoutId id="2147483746" r:id="rId38"/>
    <p:sldLayoutId id="2147483747" r:id="rId39"/>
    <p:sldLayoutId id="2147483748" r:id="rId40"/>
    <p:sldLayoutId id="2147483749" r:id="rId41"/>
    <p:sldLayoutId id="2147483750" r:id="rId42"/>
    <p:sldLayoutId id="2147483751" r:id="rId43"/>
    <p:sldLayoutId id="2147483752" r:id="rId44"/>
    <p:sldLayoutId id="2147483753" r:id="rId45"/>
    <p:sldLayoutId id="2147483754" r:id="rId46"/>
    <p:sldLayoutId id="2147483755" r:id="rId47"/>
    <p:sldLayoutId id="2147483756" r:id="rId48"/>
    <p:sldLayoutId id="2147483757" r:id="rId49"/>
    <p:sldLayoutId id="2147483758" r:id="rId50"/>
    <p:sldLayoutId id="2147483759" r:id="rId51"/>
    <p:sldLayoutId id="2147483760" r:id="rId52"/>
    <p:sldLayoutId id="2147483761" r:id="rId53"/>
    <p:sldLayoutId id="2147483762" r:id="rId54"/>
    <p:sldLayoutId id="2147483763" r:id="rId55"/>
    <p:sldLayoutId id="2147483764" r:id="rId56"/>
    <p:sldLayoutId id="2147483765" r:id="rId57"/>
    <p:sldLayoutId id="2147483766" r:id="rId58"/>
    <p:sldLayoutId id="2147483767" r:id="rId59"/>
    <p:sldLayoutId id="2147483768" r:id="rId60"/>
    <p:sldLayoutId id="2147483769" r:id="rId61"/>
    <p:sldLayoutId id="2147483770" r:id="rId62"/>
    <p:sldLayoutId id="2147483771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3.png"/><Relationship Id="rId4" Type="http://schemas.openxmlformats.org/officeDocument/2006/relationships/image" Target="../media/image95.png"/><Relationship Id="rId5" Type="http://schemas.openxmlformats.org/officeDocument/2006/relationships/image" Target="../media/image10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2.png"/><Relationship Id="rId4" Type="http://schemas.openxmlformats.org/officeDocument/2006/relationships/image" Target="../media/image101.png"/><Relationship Id="rId5" Type="http://schemas.openxmlformats.org/officeDocument/2006/relationships/image" Target="../media/image9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5.png"/><Relationship Id="rId4" Type="http://schemas.openxmlformats.org/officeDocument/2006/relationships/image" Target="../media/image106.png"/><Relationship Id="rId5" Type="http://schemas.openxmlformats.org/officeDocument/2006/relationships/image" Target="../media/image100.png"/><Relationship Id="rId6" Type="http://schemas.openxmlformats.org/officeDocument/2006/relationships/image" Target="../media/image103.png"/><Relationship Id="rId7" Type="http://schemas.openxmlformats.org/officeDocument/2006/relationships/image" Target="../media/image10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8.png"/><Relationship Id="rId4" Type="http://schemas.openxmlformats.org/officeDocument/2006/relationships/image" Target="../media/image111.png"/><Relationship Id="rId5" Type="http://schemas.openxmlformats.org/officeDocument/2006/relationships/image" Target="../media/image1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9.png"/><Relationship Id="rId4" Type="http://schemas.openxmlformats.org/officeDocument/2006/relationships/image" Target="../media/image110.png"/><Relationship Id="rId5" Type="http://schemas.openxmlformats.org/officeDocument/2006/relationships/image" Target="../media/image118.png"/><Relationship Id="rId6" Type="http://schemas.openxmlformats.org/officeDocument/2006/relationships/image" Target="../media/image1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5.png"/><Relationship Id="rId4" Type="http://schemas.openxmlformats.org/officeDocument/2006/relationships/image" Target="../media/image106.png"/><Relationship Id="rId5" Type="http://schemas.openxmlformats.org/officeDocument/2006/relationships/image" Target="../media/image100.png"/><Relationship Id="rId6" Type="http://schemas.openxmlformats.org/officeDocument/2006/relationships/image" Target="../media/image103.png"/><Relationship Id="rId7" Type="http://schemas.openxmlformats.org/officeDocument/2006/relationships/image" Target="../media/image10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8.png"/><Relationship Id="rId4" Type="http://schemas.openxmlformats.org/officeDocument/2006/relationships/image" Target="../media/image111.png"/><Relationship Id="rId5" Type="http://schemas.openxmlformats.org/officeDocument/2006/relationships/image" Target="../media/image1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4.png"/><Relationship Id="rId4" Type="http://schemas.openxmlformats.org/officeDocument/2006/relationships/image" Target="../media/image1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4.png"/><Relationship Id="rId4" Type="http://schemas.openxmlformats.org/officeDocument/2006/relationships/image" Target="../media/image1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9.png"/><Relationship Id="rId4" Type="http://schemas.openxmlformats.org/officeDocument/2006/relationships/image" Target="../media/image110.png"/><Relationship Id="rId5" Type="http://schemas.openxmlformats.org/officeDocument/2006/relationships/image" Target="../media/image118.png"/><Relationship Id="rId6" Type="http://schemas.openxmlformats.org/officeDocument/2006/relationships/image" Target="../media/image1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3.png"/><Relationship Id="rId4" Type="http://schemas.openxmlformats.org/officeDocument/2006/relationships/image" Target="../media/image121.png"/><Relationship Id="rId5" Type="http://schemas.openxmlformats.org/officeDocument/2006/relationships/image" Target="../media/image119.png"/><Relationship Id="rId6" Type="http://schemas.openxmlformats.org/officeDocument/2006/relationships/image" Target="../media/image1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9.png"/><Relationship Id="rId4" Type="http://schemas.openxmlformats.org/officeDocument/2006/relationships/image" Target="../media/image122.png"/><Relationship Id="rId5" Type="http://schemas.openxmlformats.org/officeDocument/2006/relationships/image" Target="../media/image123.png"/><Relationship Id="rId6" Type="http://schemas.openxmlformats.org/officeDocument/2006/relationships/image" Target="../media/image133.png"/><Relationship Id="rId7" Type="http://schemas.openxmlformats.org/officeDocument/2006/relationships/image" Target="../media/image12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3.png"/><Relationship Id="rId4" Type="http://schemas.openxmlformats.org/officeDocument/2006/relationships/image" Target="../media/image125.png"/><Relationship Id="rId9" Type="http://schemas.openxmlformats.org/officeDocument/2006/relationships/image" Target="../media/image135.png"/><Relationship Id="rId5" Type="http://schemas.openxmlformats.org/officeDocument/2006/relationships/image" Target="../media/image128.png"/><Relationship Id="rId6" Type="http://schemas.openxmlformats.org/officeDocument/2006/relationships/image" Target="../media/image133.png"/><Relationship Id="rId7" Type="http://schemas.openxmlformats.org/officeDocument/2006/relationships/image" Target="../media/image131.png"/><Relationship Id="rId8" Type="http://schemas.openxmlformats.org/officeDocument/2006/relationships/image" Target="../media/image13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6.png"/><Relationship Id="rId4" Type="http://schemas.openxmlformats.org/officeDocument/2006/relationships/image" Target="../media/image139.png"/><Relationship Id="rId5" Type="http://schemas.openxmlformats.org/officeDocument/2006/relationships/image" Target="../media/image134.png"/><Relationship Id="rId6" Type="http://schemas.openxmlformats.org/officeDocument/2006/relationships/image" Target="../media/image13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3.png"/><Relationship Id="rId4" Type="http://schemas.openxmlformats.org/officeDocument/2006/relationships/image" Target="../media/image125.png"/><Relationship Id="rId9" Type="http://schemas.openxmlformats.org/officeDocument/2006/relationships/image" Target="../media/image135.png"/><Relationship Id="rId5" Type="http://schemas.openxmlformats.org/officeDocument/2006/relationships/image" Target="../media/image128.png"/><Relationship Id="rId6" Type="http://schemas.openxmlformats.org/officeDocument/2006/relationships/image" Target="../media/image133.png"/><Relationship Id="rId7" Type="http://schemas.openxmlformats.org/officeDocument/2006/relationships/image" Target="../media/image131.png"/><Relationship Id="rId8" Type="http://schemas.openxmlformats.org/officeDocument/2006/relationships/image" Target="../media/image13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3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36.png"/><Relationship Id="rId4" Type="http://schemas.openxmlformats.org/officeDocument/2006/relationships/image" Target="../media/image139.png"/><Relationship Id="rId5" Type="http://schemas.openxmlformats.org/officeDocument/2006/relationships/image" Target="../media/image134.png"/><Relationship Id="rId6" Type="http://schemas.openxmlformats.org/officeDocument/2006/relationships/image" Target="../media/image13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46.png"/><Relationship Id="rId4" Type="http://schemas.openxmlformats.org/officeDocument/2006/relationships/image" Target="../media/image9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21.png"/><Relationship Id="rId4" Type="http://schemas.openxmlformats.org/officeDocument/2006/relationships/image" Target="../media/image14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4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127"/>
          <p:cNvSpPr txBox="1"/>
          <p:nvPr>
            <p:ph type="ctrTitle"/>
          </p:nvPr>
        </p:nvSpPr>
        <p:spPr>
          <a:xfrm>
            <a:off x="323850" y="1251850"/>
            <a:ext cx="5502000" cy="23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 and cube roots</a:t>
            </a:r>
            <a:endParaRPr/>
          </a:p>
        </p:txBody>
      </p:sp>
      <p:sp>
        <p:nvSpPr>
          <p:cNvPr id="1492" name="Google Shape;1492;p127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Properties of number: factors, multiples, squares and cubes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128"/>
          <p:cNvSpPr txBox="1"/>
          <p:nvPr/>
        </p:nvSpPr>
        <p:spPr>
          <a:xfrm>
            <a:off x="5590850" y="725950"/>
            <a:ext cx="235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129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explain the concept of square root and cube root and calculate them.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p130"/>
          <p:cNvSpPr txBox="1"/>
          <p:nvPr/>
        </p:nvSpPr>
        <p:spPr>
          <a:xfrm>
            <a:off x="-831500" y="33634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130"/>
          <p:cNvSpPr txBox="1"/>
          <p:nvPr/>
        </p:nvSpPr>
        <p:spPr>
          <a:xfrm>
            <a:off x="463900" y="732743"/>
            <a:ext cx="8496000" cy="8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perfect square</a:t>
            </a: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a number that is the second exponent of an integer. It is usually shortened to square number.</a:t>
            </a:r>
            <a:r>
              <a:rPr lang="en-GB" sz="20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9" name="Google Shape;1509;p130"/>
          <p:cNvSpPr txBox="1"/>
          <p:nvPr/>
        </p:nvSpPr>
        <p:spPr>
          <a:xfrm>
            <a:off x="601671" y="1560045"/>
            <a:ext cx="9960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✕ 1 =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0" name="Google Shape;1510;p130"/>
          <p:cNvSpPr txBox="1"/>
          <p:nvPr/>
        </p:nvSpPr>
        <p:spPr>
          <a:xfrm>
            <a:off x="1597671" y="1560045"/>
            <a:ext cx="2412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1" name="Google Shape;1511;p130"/>
          <p:cNvSpPr txBox="1"/>
          <p:nvPr/>
        </p:nvSpPr>
        <p:spPr>
          <a:xfrm>
            <a:off x="602221" y="1975145"/>
            <a:ext cx="9960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✕ 2 =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2" name="Google Shape;1512;p130"/>
          <p:cNvSpPr txBox="1"/>
          <p:nvPr/>
        </p:nvSpPr>
        <p:spPr>
          <a:xfrm>
            <a:off x="1603671" y="1970495"/>
            <a:ext cx="2412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3" name="Google Shape;1513;p130"/>
          <p:cNvSpPr txBox="1"/>
          <p:nvPr/>
        </p:nvSpPr>
        <p:spPr>
          <a:xfrm>
            <a:off x="601671" y="2422095"/>
            <a:ext cx="9960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✕ 3 =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4" name="Google Shape;1514;p130"/>
          <p:cNvSpPr txBox="1"/>
          <p:nvPr/>
        </p:nvSpPr>
        <p:spPr>
          <a:xfrm>
            <a:off x="1597671" y="2422095"/>
            <a:ext cx="2412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5" name="Google Shape;1515;p130"/>
          <p:cNvSpPr txBox="1"/>
          <p:nvPr/>
        </p:nvSpPr>
        <p:spPr>
          <a:xfrm>
            <a:off x="611721" y="2892770"/>
            <a:ext cx="9960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✕ 4 =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6" name="Google Shape;1516;p130"/>
          <p:cNvSpPr txBox="1"/>
          <p:nvPr/>
        </p:nvSpPr>
        <p:spPr>
          <a:xfrm>
            <a:off x="1607721" y="2892770"/>
            <a:ext cx="4614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7" name="Google Shape;1517;p130"/>
          <p:cNvSpPr txBox="1"/>
          <p:nvPr/>
        </p:nvSpPr>
        <p:spPr>
          <a:xfrm>
            <a:off x="2163225" y="1701000"/>
            <a:ext cx="4991100" cy="9990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Square numbers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8" name="Google Shape;1518;p130"/>
          <p:cNvSpPr txBox="1"/>
          <p:nvPr/>
        </p:nvSpPr>
        <p:spPr>
          <a:xfrm>
            <a:off x="2273300" y="2275300"/>
            <a:ext cx="2412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9" name="Google Shape;1519;p130"/>
          <p:cNvSpPr txBox="1"/>
          <p:nvPr/>
        </p:nvSpPr>
        <p:spPr>
          <a:xfrm>
            <a:off x="2413000" y="2275300"/>
            <a:ext cx="4614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0" name="Google Shape;1520;p130"/>
          <p:cNvSpPr txBox="1"/>
          <p:nvPr/>
        </p:nvSpPr>
        <p:spPr>
          <a:xfrm>
            <a:off x="2717800" y="2275300"/>
            <a:ext cx="4614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9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1" name="Google Shape;1521;p130"/>
          <p:cNvSpPr txBox="1"/>
          <p:nvPr/>
        </p:nvSpPr>
        <p:spPr>
          <a:xfrm>
            <a:off x="3022600" y="2275300"/>
            <a:ext cx="5883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16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2" name="Google Shape;1522;p130"/>
          <p:cNvSpPr txBox="1"/>
          <p:nvPr/>
        </p:nvSpPr>
        <p:spPr>
          <a:xfrm>
            <a:off x="3503640" y="2275300"/>
            <a:ext cx="5883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25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3" name="Google Shape;1523;p130"/>
          <p:cNvSpPr txBox="1"/>
          <p:nvPr/>
        </p:nvSpPr>
        <p:spPr>
          <a:xfrm>
            <a:off x="3963960" y="2275300"/>
            <a:ext cx="5883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36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4" name="Google Shape;1524;p130"/>
          <p:cNvSpPr txBox="1"/>
          <p:nvPr/>
        </p:nvSpPr>
        <p:spPr>
          <a:xfrm>
            <a:off x="4415500" y="2275300"/>
            <a:ext cx="5883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49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5" name="Google Shape;1525;p130"/>
          <p:cNvSpPr txBox="1"/>
          <p:nvPr/>
        </p:nvSpPr>
        <p:spPr>
          <a:xfrm>
            <a:off x="4857460" y="2275300"/>
            <a:ext cx="5883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64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6" name="Google Shape;1526;p130"/>
          <p:cNvSpPr txBox="1"/>
          <p:nvPr/>
        </p:nvSpPr>
        <p:spPr>
          <a:xfrm>
            <a:off x="5761173" y="2275295"/>
            <a:ext cx="7920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100,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7" name="Google Shape;1527;p130"/>
          <p:cNvSpPr txBox="1"/>
          <p:nvPr/>
        </p:nvSpPr>
        <p:spPr>
          <a:xfrm>
            <a:off x="6446198" y="2275295"/>
            <a:ext cx="7920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121…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8" name="Google Shape;1528;p130"/>
          <p:cNvSpPr txBox="1"/>
          <p:nvPr/>
        </p:nvSpPr>
        <p:spPr>
          <a:xfrm>
            <a:off x="5309060" y="2275300"/>
            <a:ext cx="5883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81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29" name="Google Shape;1529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900" y="1512000"/>
            <a:ext cx="1469150" cy="185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0" name="Google Shape;1530;p130"/>
          <p:cNvSpPr txBox="1"/>
          <p:nvPr/>
        </p:nvSpPr>
        <p:spPr>
          <a:xfrm>
            <a:off x="3498250" y="1752596"/>
            <a:ext cx="2628900" cy="516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Perfect squares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1" name="Google Shape;1531;p130"/>
          <p:cNvSpPr txBox="1"/>
          <p:nvPr/>
        </p:nvSpPr>
        <p:spPr>
          <a:xfrm>
            <a:off x="3022600" y="3784625"/>
            <a:ext cx="3234300" cy="8874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Cube numbers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2" name="Google Shape;1532;p130"/>
          <p:cNvSpPr txBox="1"/>
          <p:nvPr/>
        </p:nvSpPr>
        <p:spPr>
          <a:xfrm>
            <a:off x="476399" y="3784625"/>
            <a:ext cx="17058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✕ 1 ✕ 1 =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3" name="Google Shape;1533;p130"/>
          <p:cNvSpPr txBox="1"/>
          <p:nvPr/>
        </p:nvSpPr>
        <p:spPr>
          <a:xfrm>
            <a:off x="2046189" y="3784613"/>
            <a:ext cx="4614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4" name="Google Shape;1534;p130"/>
          <p:cNvSpPr txBox="1"/>
          <p:nvPr/>
        </p:nvSpPr>
        <p:spPr>
          <a:xfrm>
            <a:off x="491482" y="4225811"/>
            <a:ext cx="17058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✕ 2 ✕ 2 =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5" name="Google Shape;1535;p130"/>
          <p:cNvSpPr txBox="1"/>
          <p:nvPr/>
        </p:nvSpPr>
        <p:spPr>
          <a:xfrm>
            <a:off x="2061271" y="4225798"/>
            <a:ext cx="4614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6" name="Google Shape;1536;p130"/>
          <p:cNvSpPr txBox="1"/>
          <p:nvPr/>
        </p:nvSpPr>
        <p:spPr>
          <a:xfrm>
            <a:off x="3616784" y="4262102"/>
            <a:ext cx="2412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7" name="Google Shape;1537;p130"/>
          <p:cNvSpPr txBox="1"/>
          <p:nvPr/>
        </p:nvSpPr>
        <p:spPr>
          <a:xfrm>
            <a:off x="3756484" y="4262102"/>
            <a:ext cx="4614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8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8" name="Google Shape;1538;p130"/>
          <p:cNvSpPr txBox="1"/>
          <p:nvPr/>
        </p:nvSpPr>
        <p:spPr>
          <a:xfrm>
            <a:off x="4061284" y="4262102"/>
            <a:ext cx="4614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27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39" name="Google Shape;1539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3818300"/>
            <a:ext cx="2198675" cy="88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0" name="Google Shape;1540;p130"/>
          <p:cNvSpPr txBox="1"/>
          <p:nvPr/>
        </p:nvSpPr>
        <p:spPr>
          <a:xfrm>
            <a:off x="3734650" y="3840700"/>
            <a:ext cx="2328900" cy="40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Perfect cubes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1" name="Google Shape;1541;p130"/>
          <p:cNvSpPr txBox="1"/>
          <p:nvPr/>
        </p:nvSpPr>
        <p:spPr>
          <a:xfrm>
            <a:off x="4530453" y="4263132"/>
            <a:ext cx="6285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2" name="Google Shape;1542;p130"/>
          <p:cNvSpPr txBox="1"/>
          <p:nvPr/>
        </p:nvSpPr>
        <p:spPr>
          <a:xfrm>
            <a:off x="4978769" y="4268357"/>
            <a:ext cx="13314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125 …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3" name="Google Shape;1543;p130"/>
          <p:cNvSpPr txBox="1"/>
          <p:nvPr/>
        </p:nvSpPr>
        <p:spPr>
          <a:xfrm>
            <a:off x="491475" y="2854505"/>
            <a:ext cx="8496000" cy="8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perfect cube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a number that is the third exponent of an integer. It is usually shortened to cube number.</a:t>
            </a:r>
            <a:r>
              <a:rPr lang="en-GB" sz="20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p131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</a:t>
            </a:r>
            <a:r>
              <a:rPr lang="en-GB"/>
              <a:t> root</a:t>
            </a:r>
            <a:endParaRPr/>
          </a:p>
        </p:txBody>
      </p:sp>
      <p:sp>
        <p:nvSpPr>
          <p:cNvPr id="1549" name="Google Shape;1549;p131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Cube root</a:t>
            </a:r>
            <a:endParaRPr/>
          </a:p>
        </p:txBody>
      </p:sp>
      <p:sp>
        <p:nvSpPr>
          <p:cNvPr id="1550" name="Google Shape;1550;p131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 and cube roots</a:t>
            </a:r>
            <a:endParaRPr/>
          </a:p>
        </p:txBody>
      </p:sp>
      <p:pic>
        <p:nvPicPr>
          <p:cNvPr id="1551" name="Google Shape;1551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431" y="20594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56" name="Google Shape;1556;p132"/>
          <p:cNvGraphicFramePr/>
          <p:nvPr/>
        </p:nvGraphicFramePr>
        <p:xfrm>
          <a:off x="474438" y="1360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{9D664D1D-DC9B-4A0C-A740-CCC3319F43DE}</a:tableStyleId>
              </a:tblPr>
              <a:tblGrid>
                <a:gridCol w="1167125"/>
                <a:gridCol w="2510700"/>
                <a:gridCol w="2113775"/>
                <a:gridCol w="2174300"/>
              </a:tblGrid>
              <a:tr h="71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Integer</a:t>
                      </a:r>
                      <a:endParaRPr sz="19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Array</a:t>
                      </a:r>
                      <a:endParaRPr sz="19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Calculation</a:t>
                      </a:r>
                      <a:endParaRPr sz="19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Perfect s</a:t>
                      </a:r>
                      <a:r>
                        <a:rPr lang="en-GB" sz="19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quare number</a:t>
                      </a:r>
                      <a:endParaRPr sz="19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845AD9"/>
                    </a:solidFill>
                  </a:tcPr>
                </a:tc>
              </a:tr>
              <a:tr h="427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54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71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71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57" name="Google Shape;1557;p132"/>
          <p:cNvSpPr txBox="1"/>
          <p:nvPr>
            <p:ph idx="1" type="body"/>
          </p:nvPr>
        </p:nvSpPr>
        <p:spPr>
          <a:xfrm>
            <a:off x="550650" y="799250"/>
            <a:ext cx="8237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Here is a table to help us see how</a:t>
            </a:r>
            <a:r>
              <a:rPr b="1" lang="en-GB" sz="1800"/>
              <a:t> perfect square</a:t>
            </a:r>
            <a:r>
              <a:rPr lang="en-GB" sz="1800"/>
              <a:t> numbers are formed</a:t>
            </a:r>
            <a:endParaRPr sz="1800"/>
          </a:p>
        </p:txBody>
      </p:sp>
      <p:sp>
        <p:nvSpPr>
          <p:cNvPr id="1558" name="Google Shape;1558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 root</a:t>
            </a:r>
            <a:endParaRPr/>
          </a:p>
        </p:txBody>
      </p:sp>
      <p:sp>
        <p:nvSpPr>
          <p:cNvPr id="1559" name="Google Shape;1559;p132"/>
          <p:cNvSpPr txBox="1"/>
          <p:nvPr/>
        </p:nvSpPr>
        <p:spPr>
          <a:xfrm>
            <a:off x="4724400" y="3219376"/>
            <a:ext cx="11301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3 ✕ 3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0" name="Google Shape;1560;p132"/>
          <p:cNvSpPr/>
          <p:nvPr/>
        </p:nvSpPr>
        <p:spPr>
          <a:xfrm>
            <a:off x="2468926" y="2284308"/>
            <a:ext cx="128100" cy="126000"/>
          </a:xfrm>
          <a:prstGeom prst="ellipse">
            <a:avLst/>
          </a:prstGeom>
          <a:solidFill>
            <a:srgbClr val="845AD9"/>
          </a:solidFill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1" name="Google Shape;1561;p132"/>
          <p:cNvSpPr txBox="1"/>
          <p:nvPr/>
        </p:nvSpPr>
        <p:spPr>
          <a:xfrm>
            <a:off x="4724400" y="4009144"/>
            <a:ext cx="11301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4 ✕ 4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2" name="Google Shape;1562;p132"/>
          <p:cNvSpPr txBox="1"/>
          <p:nvPr/>
        </p:nvSpPr>
        <p:spPr>
          <a:xfrm>
            <a:off x="7101675" y="3221957"/>
            <a:ext cx="8103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9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63" name="Google Shape;1563;p132"/>
          <p:cNvGrpSpPr/>
          <p:nvPr/>
        </p:nvGrpSpPr>
        <p:grpSpPr>
          <a:xfrm>
            <a:off x="2473399" y="2676842"/>
            <a:ext cx="327334" cy="334151"/>
            <a:chOff x="2659067" y="2473054"/>
            <a:chExt cx="327334" cy="334151"/>
          </a:xfrm>
        </p:grpSpPr>
        <p:sp>
          <p:nvSpPr>
            <p:cNvPr id="1564" name="Google Shape;1564;p132"/>
            <p:cNvSpPr/>
            <p:nvPr/>
          </p:nvSpPr>
          <p:spPr>
            <a:xfrm>
              <a:off x="2659067" y="2681205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132"/>
            <p:cNvSpPr/>
            <p:nvPr/>
          </p:nvSpPr>
          <p:spPr>
            <a:xfrm>
              <a:off x="2858300" y="2681205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132"/>
            <p:cNvSpPr/>
            <p:nvPr/>
          </p:nvSpPr>
          <p:spPr>
            <a:xfrm>
              <a:off x="2659067" y="2473054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132"/>
            <p:cNvSpPr/>
            <p:nvPr/>
          </p:nvSpPr>
          <p:spPr>
            <a:xfrm>
              <a:off x="2858300" y="2473054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68" name="Google Shape;1568;p132"/>
          <p:cNvSpPr txBox="1"/>
          <p:nvPr/>
        </p:nvSpPr>
        <p:spPr>
          <a:xfrm>
            <a:off x="7025475" y="4011725"/>
            <a:ext cx="8103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16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9" name="Google Shape;1569;p132"/>
          <p:cNvSpPr txBox="1"/>
          <p:nvPr/>
        </p:nvSpPr>
        <p:spPr>
          <a:xfrm>
            <a:off x="4724400" y="2104144"/>
            <a:ext cx="11301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1 ✕ 1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0" name="Google Shape;1570;p132"/>
          <p:cNvSpPr txBox="1"/>
          <p:nvPr/>
        </p:nvSpPr>
        <p:spPr>
          <a:xfrm>
            <a:off x="4712776" y="2637544"/>
            <a:ext cx="11301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2 ✕ 2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1" name="Google Shape;1571;p132"/>
          <p:cNvSpPr txBox="1"/>
          <p:nvPr/>
        </p:nvSpPr>
        <p:spPr>
          <a:xfrm>
            <a:off x="7101675" y="2106725"/>
            <a:ext cx="8103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1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2" name="Google Shape;1572;p132"/>
          <p:cNvSpPr txBox="1"/>
          <p:nvPr/>
        </p:nvSpPr>
        <p:spPr>
          <a:xfrm>
            <a:off x="7090051" y="2640125"/>
            <a:ext cx="8103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4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73" name="Google Shape;1573;p132"/>
          <p:cNvGrpSpPr/>
          <p:nvPr/>
        </p:nvGrpSpPr>
        <p:grpSpPr>
          <a:xfrm>
            <a:off x="2458323" y="3929068"/>
            <a:ext cx="725801" cy="750454"/>
            <a:chOff x="2510100" y="3950561"/>
            <a:chExt cx="725801" cy="750454"/>
          </a:xfrm>
        </p:grpSpPr>
        <p:sp>
          <p:nvSpPr>
            <p:cNvPr id="1574" name="Google Shape;1574;p132"/>
            <p:cNvSpPr/>
            <p:nvPr/>
          </p:nvSpPr>
          <p:spPr>
            <a:xfrm>
              <a:off x="2510100" y="4158712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132"/>
            <p:cNvSpPr/>
            <p:nvPr/>
          </p:nvSpPr>
          <p:spPr>
            <a:xfrm>
              <a:off x="2709334" y="4158712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132"/>
            <p:cNvSpPr/>
            <p:nvPr/>
          </p:nvSpPr>
          <p:spPr>
            <a:xfrm>
              <a:off x="2510100" y="3950561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132"/>
            <p:cNvSpPr/>
            <p:nvPr/>
          </p:nvSpPr>
          <p:spPr>
            <a:xfrm>
              <a:off x="2709334" y="3950561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132"/>
            <p:cNvSpPr/>
            <p:nvPr/>
          </p:nvSpPr>
          <p:spPr>
            <a:xfrm>
              <a:off x="2510100" y="4366863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132"/>
            <p:cNvSpPr/>
            <p:nvPr/>
          </p:nvSpPr>
          <p:spPr>
            <a:xfrm>
              <a:off x="2709334" y="4366863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132"/>
            <p:cNvSpPr/>
            <p:nvPr/>
          </p:nvSpPr>
          <p:spPr>
            <a:xfrm>
              <a:off x="2908568" y="4158712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132"/>
            <p:cNvSpPr/>
            <p:nvPr/>
          </p:nvSpPr>
          <p:spPr>
            <a:xfrm>
              <a:off x="2908568" y="3950561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132"/>
            <p:cNvSpPr/>
            <p:nvPr/>
          </p:nvSpPr>
          <p:spPr>
            <a:xfrm>
              <a:off x="2908568" y="4366863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132"/>
            <p:cNvSpPr/>
            <p:nvPr/>
          </p:nvSpPr>
          <p:spPr>
            <a:xfrm>
              <a:off x="3107801" y="4158712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132"/>
            <p:cNvSpPr/>
            <p:nvPr/>
          </p:nvSpPr>
          <p:spPr>
            <a:xfrm>
              <a:off x="3107801" y="3950561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132"/>
            <p:cNvSpPr/>
            <p:nvPr/>
          </p:nvSpPr>
          <p:spPr>
            <a:xfrm>
              <a:off x="3107801" y="4366863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132"/>
            <p:cNvSpPr/>
            <p:nvPr/>
          </p:nvSpPr>
          <p:spPr>
            <a:xfrm>
              <a:off x="2510100" y="4575014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132"/>
            <p:cNvSpPr/>
            <p:nvPr/>
          </p:nvSpPr>
          <p:spPr>
            <a:xfrm>
              <a:off x="2709334" y="4575014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132"/>
            <p:cNvSpPr/>
            <p:nvPr/>
          </p:nvSpPr>
          <p:spPr>
            <a:xfrm>
              <a:off x="2908568" y="4575014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132"/>
            <p:cNvSpPr/>
            <p:nvPr/>
          </p:nvSpPr>
          <p:spPr>
            <a:xfrm>
              <a:off x="3107801" y="4575014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90" name="Google Shape;1590;p132"/>
          <p:cNvGrpSpPr/>
          <p:nvPr/>
        </p:nvGrpSpPr>
        <p:grpSpPr>
          <a:xfrm>
            <a:off x="2473393" y="3175175"/>
            <a:ext cx="526568" cy="542302"/>
            <a:chOff x="2586300" y="3196667"/>
            <a:chExt cx="526568" cy="542302"/>
          </a:xfrm>
        </p:grpSpPr>
        <p:sp>
          <p:nvSpPr>
            <p:cNvPr id="1591" name="Google Shape;1591;p132"/>
            <p:cNvSpPr/>
            <p:nvPr/>
          </p:nvSpPr>
          <p:spPr>
            <a:xfrm>
              <a:off x="2586300" y="3404819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132"/>
            <p:cNvSpPr/>
            <p:nvPr/>
          </p:nvSpPr>
          <p:spPr>
            <a:xfrm>
              <a:off x="2785534" y="3404819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132"/>
            <p:cNvSpPr/>
            <p:nvPr/>
          </p:nvSpPr>
          <p:spPr>
            <a:xfrm>
              <a:off x="2586300" y="3196667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132"/>
            <p:cNvSpPr/>
            <p:nvPr/>
          </p:nvSpPr>
          <p:spPr>
            <a:xfrm>
              <a:off x="2785534" y="3196667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132"/>
            <p:cNvSpPr/>
            <p:nvPr/>
          </p:nvSpPr>
          <p:spPr>
            <a:xfrm>
              <a:off x="2586300" y="3612970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132"/>
            <p:cNvSpPr/>
            <p:nvPr/>
          </p:nvSpPr>
          <p:spPr>
            <a:xfrm>
              <a:off x="2785534" y="3612970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132"/>
            <p:cNvSpPr/>
            <p:nvPr/>
          </p:nvSpPr>
          <p:spPr>
            <a:xfrm>
              <a:off x="2984768" y="3404819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132"/>
            <p:cNvSpPr/>
            <p:nvPr/>
          </p:nvSpPr>
          <p:spPr>
            <a:xfrm>
              <a:off x="2984768" y="3196667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132"/>
            <p:cNvSpPr/>
            <p:nvPr/>
          </p:nvSpPr>
          <p:spPr>
            <a:xfrm>
              <a:off x="2984768" y="3612970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3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04" name="Google Shape;1604;p133"/>
          <p:cNvGraphicFramePr/>
          <p:nvPr/>
        </p:nvGraphicFramePr>
        <p:xfrm>
          <a:off x="550638" y="1308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{9D664D1D-DC9B-4A0C-A740-CCC3319F43DE}</a:tableStyleId>
              </a:tblPr>
              <a:tblGrid>
                <a:gridCol w="1654825"/>
                <a:gridCol w="2997050"/>
                <a:gridCol w="3082875"/>
              </a:tblGrid>
              <a:tr h="392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Integer</a:t>
                      </a:r>
                      <a:endParaRPr sz="19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Calculation</a:t>
                      </a:r>
                      <a:endParaRPr sz="19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Perfect square number</a:t>
                      </a:r>
                      <a:endParaRPr sz="19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845AD9"/>
                    </a:solidFill>
                  </a:tcPr>
                </a:tc>
              </a:tr>
              <a:tr h="392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92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9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9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9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05" name="Google Shape;1605;p133"/>
          <p:cNvSpPr txBox="1"/>
          <p:nvPr>
            <p:ph idx="1" type="body"/>
          </p:nvPr>
        </p:nvSpPr>
        <p:spPr>
          <a:xfrm>
            <a:off x="550650" y="723050"/>
            <a:ext cx="8237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Let’s remove the array. Can you work out the missing information?</a:t>
            </a:r>
            <a:endParaRPr sz="1800"/>
          </a:p>
        </p:txBody>
      </p:sp>
      <p:sp>
        <p:nvSpPr>
          <p:cNvPr id="1606" name="Google Shape;1606;p1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 root</a:t>
            </a:r>
            <a:endParaRPr/>
          </a:p>
        </p:txBody>
      </p:sp>
      <p:sp>
        <p:nvSpPr>
          <p:cNvPr id="1607" name="Google Shape;1607;p133"/>
          <p:cNvSpPr txBox="1"/>
          <p:nvPr/>
        </p:nvSpPr>
        <p:spPr>
          <a:xfrm>
            <a:off x="3194425" y="2773282"/>
            <a:ext cx="11301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✕ 8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8" name="Google Shape;1608;p133"/>
          <p:cNvSpPr txBox="1"/>
          <p:nvPr/>
        </p:nvSpPr>
        <p:spPr>
          <a:xfrm>
            <a:off x="3075416" y="3250660"/>
            <a:ext cx="11301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✕ 10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9" name="Google Shape;1609;p133"/>
          <p:cNvSpPr txBox="1"/>
          <p:nvPr/>
        </p:nvSpPr>
        <p:spPr>
          <a:xfrm>
            <a:off x="6648900" y="2781495"/>
            <a:ext cx="8103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64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0" name="Google Shape;1610;p133"/>
          <p:cNvSpPr txBox="1"/>
          <p:nvPr/>
        </p:nvSpPr>
        <p:spPr>
          <a:xfrm>
            <a:off x="6591000" y="3725800"/>
            <a:ext cx="8103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144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1" name="Google Shape;1611;p133"/>
          <p:cNvSpPr txBox="1"/>
          <p:nvPr/>
        </p:nvSpPr>
        <p:spPr>
          <a:xfrm>
            <a:off x="3189900" y="1790569"/>
            <a:ext cx="11301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✕ 5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2" name="Google Shape;1612;p133"/>
          <p:cNvSpPr txBox="1"/>
          <p:nvPr/>
        </p:nvSpPr>
        <p:spPr>
          <a:xfrm>
            <a:off x="3194426" y="2241119"/>
            <a:ext cx="11301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✕ 6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3" name="Google Shape;1613;p133"/>
          <p:cNvSpPr txBox="1"/>
          <p:nvPr/>
        </p:nvSpPr>
        <p:spPr>
          <a:xfrm>
            <a:off x="6648900" y="1837200"/>
            <a:ext cx="8103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25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4" name="Google Shape;1614;p133"/>
          <p:cNvSpPr txBox="1"/>
          <p:nvPr/>
        </p:nvSpPr>
        <p:spPr>
          <a:xfrm>
            <a:off x="6648901" y="2283100"/>
            <a:ext cx="8103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36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5" name="Google Shape;1615;p133"/>
          <p:cNvSpPr txBox="1"/>
          <p:nvPr/>
        </p:nvSpPr>
        <p:spPr>
          <a:xfrm>
            <a:off x="3091560" y="3717641"/>
            <a:ext cx="11301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12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✕ 12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6" name="Google Shape;1616;p133"/>
          <p:cNvSpPr txBox="1"/>
          <p:nvPr/>
        </p:nvSpPr>
        <p:spPr>
          <a:xfrm>
            <a:off x="6591000" y="3253650"/>
            <a:ext cx="8103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100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7" name="Google Shape;1617;p133"/>
          <p:cNvSpPr txBox="1"/>
          <p:nvPr/>
        </p:nvSpPr>
        <p:spPr>
          <a:xfrm>
            <a:off x="1205775" y="2781500"/>
            <a:ext cx="58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8" name="Google Shape;1618;p133"/>
          <p:cNvSpPr txBox="1"/>
          <p:nvPr/>
        </p:nvSpPr>
        <p:spPr>
          <a:xfrm>
            <a:off x="1129575" y="3184200"/>
            <a:ext cx="58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9" name="Google Shape;1619;p133"/>
          <p:cNvSpPr txBox="1"/>
          <p:nvPr/>
        </p:nvSpPr>
        <p:spPr>
          <a:xfrm>
            <a:off x="1129575" y="3656350"/>
            <a:ext cx="58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 root</a:t>
            </a:r>
            <a:endParaRPr/>
          </a:p>
        </p:txBody>
      </p:sp>
      <p:sp>
        <p:nvSpPr>
          <p:cNvPr id="1625" name="Google Shape;1625;p134"/>
          <p:cNvSpPr txBox="1"/>
          <p:nvPr/>
        </p:nvSpPr>
        <p:spPr>
          <a:xfrm>
            <a:off x="3189900" y="1790569"/>
            <a:ext cx="11301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5 ✕ 5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6" name="Google Shape;1626;p134"/>
          <p:cNvSpPr txBox="1"/>
          <p:nvPr/>
        </p:nvSpPr>
        <p:spPr>
          <a:xfrm>
            <a:off x="3194426" y="2241119"/>
            <a:ext cx="11301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6 ✕ 6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7" name="Google Shape;1627;p134"/>
          <p:cNvSpPr txBox="1"/>
          <p:nvPr/>
        </p:nvSpPr>
        <p:spPr>
          <a:xfrm>
            <a:off x="6648900" y="1837200"/>
            <a:ext cx="8103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25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8" name="Google Shape;1628;p134"/>
          <p:cNvSpPr txBox="1"/>
          <p:nvPr/>
        </p:nvSpPr>
        <p:spPr>
          <a:xfrm>
            <a:off x="6648901" y="2283100"/>
            <a:ext cx="8103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36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9" name="Google Shape;1629;p134"/>
          <p:cNvSpPr txBox="1"/>
          <p:nvPr>
            <p:ph idx="1" type="body"/>
          </p:nvPr>
        </p:nvSpPr>
        <p:spPr>
          <a:xfrm>
            <a:off x="529350" y="2857050"/>
            <a:ext cx="8011500" cy="8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square root of the </a:t>
            </a:r>
            <a:r>
              <a:rPr b="1" lang="en-GB" sz="2000"/>
              <a:t>perfect square</a:t>
            </a:r>
            <a:r>
              <a:rPr lang="en-GB" sz="2000"/>
              <a:t> is the integer that has been multiplied by itself to give that </a:t>
            </a:r>
            <a:r>
              <a:rPr b="1" lang="en-GB" sz="2000"/>
              <a:t>perfect square</a:t>
            </a:r>
            <a:r>
              <a:rPr lang="en-GB" sz="2000"/>
              <a:t> number.</a:t>
            </a:r>
            <a:endParaRPr sz="2000"/>
          </a:p>
        </p:txBody>
      </p:sp>
      <p:sp>
        <p:nvSpPr>
          <p:cNvPr id="1630" name="Google Shape;1630;p134"/>
          <p:cNvSpPr txBox="1"/>
          <p:nvPr>
            <p:ph idx="1" type="body"/>
          </p:nvPr>
        </p:nvSpPr>
        <p:spPr>
          <a:xfrm>
            <a:off x="3420600" y="3780000"/>
            <a:ext cx="2887200" cy="42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Square root of 25 is 5</a:t>
            </a:r>
            <a:endParaRPr sz="2000"/>
          </a:p>
        </p:txBody>
      </p:sp>
      <p:sp>
        <p:nvSpPr>
          <p:cNvPr id="1631" name="Google Shape;1631;p134"/>
          <p:cNvSpPr txBox="1"/>
          <p:nvPr>
            <p:ph idx="1" type="body"/>
          </p:nvPr>
        </p:nvSpPr>
        <p:spPr>
          <a:xfrm>
            <a:off x="3420600" y="4191550"/>
            <a:ext cx="2887200" cy="42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Square root of 36 is 6</a:t>
            </a:r>
            <a:endParaRPr sz="2000"/>
          </a:p>
        </p:txBody>
      </p:sp>
      <p:graphicFrame>
        <p:nvGraphicFramePr>
          <p:cNvPr id="1632" name="Google Shape;1632;p134"/>
          <p:cNvGraphicFramePr/>
          <p:nvPr/>
        </p:nvGraphicFramePr>
        <p:xfrm>
          <a:off x="550638" y="1308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{9D664D1D-DC9B-4A0C-A740-CCC3319F43DE}</a:tableStyleId>
              </a:tblPr>
              <a:tblGrid>
                <a:gridCol w="1654825"/>
                <a:gridCol w="2997050"/>
                <a:gridCol w="3082875"/>
              </a:tblGrid>
              <a:tr h="392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Integer</a:t>
                      </a:r>
                      <a:endParaRPr sz="19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Calculation</a:t>
                      </a:r>
                      <a:endParaRPr sz="19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Perfect square number</a:t>
                      </a:r>
                      <a:endParaRPr sz="19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845AD9"/>
                    </a:solidFill>
                  </a:tcPr>
                </a:tc>
              </a:tr>
              <a:tr h="392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92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6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 root</a:t>
            </a:r>
            <a:endParaRPr/>
          </a:p>
        </p:txBody>
      </p:sp>
      <p:sp>
        <p:nvSpPr>
          <p:cNvPr id="1638" name="Google Shape;1638;p135"/>
          <p:cNvSpPr txBox="1"/>
          <p:nvPr>
            <p:ph idx="1" type="body"/>
          </p:nvPr>
        </p:nvSpPr>
        <p:spPr>
          <a:xfrm>
            <a:off x="1957150" y="3085500"/>
            <a:ext cx="5886000" cy="8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use               to represent the square root.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sqrt{25}&quot;&gt;&lt;msqrt&gt;&lt;mn&gt;25&lt;/mn&gt;&lt;/msqrt&gt;&lt;/math&gt;" id="1639" name="Google Shape;1639;p135" title="the square root of 25"/>
          <p:cNvPicPr preferRelativeResize="0"/>
          <p:nvPr/>
        </p:nvPicPr>
        <p:blipFill rotWithShape="1">
          <a:blip r:embed="rId3">
            <a:alphaModFix/>
          </a:blip>
          <a:srcRect b="280310" l="0" r="0" t="-280310"/>
          <a:stretch/>
        </p:blipFill>
        <p:spPr>
          <a:xfrm>
            <a:off x="2699907" y="2933100"/>
            <a:ext cx="423286" cy="390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\ \ \ \ }&quot;&gt;&lt;msqrt&gt;&lt;mtext&gt;&lt;/mtext&gt;&lt;mtext&gt;&lt;/mtext&gt;&lt;mtext&gt;&lt;/mtext&gt;&lt;mtext&gt;&lt;/mtext&gt;&lt;/msqrt&gt;&lt;/math&gt;" id="1640" name="Google Shape;1640;p135" title="the square root o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2877" y="3085500"/>
            <a:ext cx="413442" cy="390287"/>
          </a:xfrm>
          <a:prstGeom prst="rect">
            <a:avLst/>
          </a:prstGeom>
          <a:noFill/>
          <a:ln>
            <a:noFill/>
          </a:ln>
        </p:spPr>
      </p:pic>
      <p:sp>
        <p:nvSpPr>
          <p:cNvPr id="1641" name="Google Shape;1641;p135"/>
          <p:cNvSpPr txBox="1"/>
          <p:nvPr/>
        </p:nvSpPr>
        <p:spPr>
          <a:xfrm>
            <a:off x="3189900" y="1790569"/>
            <a:ext cx="11301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5 ✕ 5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2" name="Google Shape;1642;p135"/>
          <p:cNvSpPr txBox="1"/>
          <p:nvPr/>
        </p:nvSpPr>
        <p:spPr>
          <a:xfrm>
            <a:off x="3194426" y="2241119"/>
            <a:ext cx="11301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6 ✕ 6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3" name="Google Shape;1643;p135"/>
          <p:cNvSpPr txBox="1"/>
          <p:nvPr/>
        </p:nvSpPr>
        <p:spPr>
          <a:xfrm>
            <a:off x="6648900" y="1837200"/>
            <a:ext cx="8103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25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4" name="Google Shape;1644;p135"/>
          <p:cNvSpPr txBox="1"/>
          <p:nvPr/>
        </p:nvSpPr>
        <p:spPr>
          <a:xfrm>
            <a:off x="6648901" y="2283100"/>
            <a:ext cx="8103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36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5" name="Google Shape;1645;p135"/>
          <p:cNvSpPr txBox="1"/>
          <p:nvPr>
            <p:ph idx="1" type="body"/>
          </p:nvPr>
        </p:nvSpPr>
        <p:spPr>
          <a:xfrm>
            <a:off x="3420600" y="3780000"/>
            <a:ext cx="2887200" cy="42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Square root of 25 is 5</a:t>
            </a:r>
            <a:endParaRPr sz="2000"/>
          </a:p>
        </p:txBody>
      </p:sp>
      <p:sp>
        <p:nvSpPr>
          <p:cNvPr id="1646" name="Google Shape;1646;p135"/>
          <p:cNvSpPr txBox="1"/>
          <p:nvPr>
            <p:ph idx="1" type="body"/>
          </p:nvPr>
        </p:nvSpPr>
        <p:spPr>
          <a:xfrm>
            <a:off x="3420600" y="4191550"/>
            <a:ext cx="2887200" cy="42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Square root of 36 is 6</a:t>
            </a:r>
            <a:endParaRPr sz="2000"/>
          </a:p>
        </p:txBody>
      </p:sp>
      <p:sp>
        <p:nvSpPr>
          <p:cNvPr id="1647" name="Google Shape;1647;p135"/>
          <p:cNvSpPr txBox="1"/>
          <p:nvPr>
            <p:ph idx="1" type="body"/>
          </p:nvPr>
        </p:nvSpPr>
        <p:spPr>
          <a:xfrm>
            <a:off x="3287475" y="3780000"/>
            <a:ext cx="3521100" cy="4236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                                 = 5      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sqrt{25}&quot;&gt;&lt;msqrt&gt;&lt;mn&gt;25&lt;/mn&gt;&lt;/msqrt&gt;&lt;/math&gt;" id="1648" name="Google Shape;1648;p135" title="the square root of 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5151" y="3731899"/>
            <a:ext cx="526550" cy="35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9" name="Google Shape;1649;p135"/>
          <p:cNvSpPr txBox="1"/>
          <p:nvPr>
            <p:ph idx="1" type="body"/>
          </p:nvPr>
        </p:nvSpPr>
        <p:spPr>
          <a:xfrm>
            <a:off x="3287958" y="4191550"/>
            <a:ext cx="3521100" cy="4236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                                 = 6      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sqrt{36}&quot;&gt;&lt;msqrt&gt;&lt;mn&gt;36&lt;/mn&gt;&lt;/msqrt&gt;&lt;/math&gt;" id="1650" name="Google Shape;1650;p135" title="the square root of 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25149" y="4141650"/>
            <a:ext cx="526550" cy="3567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51" name="Google Shape;1651;p135"/>
          <p:cNvGraphicFramePr/>
          <p:nvPr/>
        </p:nvGraphicFramePr>
        <p:xfrm>
          <a:off x="550638" y="1308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{9D664D1D-DC9B-4A0C-A740-CCC3319F43DE}</a:tableStyleId>
              </a:tblPr>
              <a:tblGrid>
                <a:gridCol w="1654825"/>
                <a:gridCol w="2997050"/>
                <a:gridCol w="3082875"/>
              </a:tblGrid>
              <a:tr h="392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Integer</a:t>
                      </a:r>
                      <a:endParaRPr sz="19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Calculation</a:t>
                      </a:r>
                      <a:endParaRPr sz="19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Perfect square number</a:t>
                      </a:r>
                      <a:endParaRPr sz="19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845AD9"/>
                    </a:solidFill>
                  </a:tcPr>
                </a:tc>
              </a:tr>
              <a:tr h="392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92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1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169 is a </a:t>
            </a:r>
            <a:r>
              <a:rPr b="1" lang="en-GB"/>
              <a:t>perfect square</a:t>
            </a:r>
            <a:r>
              <a:rPr lang="en-GB"/>
              <a:t>. What is           ? </a:t>
            </a:r>
            <a:r>
              <a:rPr lang="en-GB"/>
              <a:t>Justify your answer.</a:t>
            </a:r>
            <a:endParaRPr/>
          </a:p>
        </p:txBody>
      </p:sp>
      <p:sp>
        <p:nvSpPr>
          <p:cNvPr id="1657" name="Google Shape;1657;p1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 root</a:t>
            </a:r>
            <a:endParaRPr/>
          </a:p>
        </p:txBody>
      </p:sp>
      <p:sp>
        <p:nvSpPr>
          <p:cNvPr id="1658" name="Google Shape;1658;p1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84.5</a:t>
            </a:r>
            <a:endParaRPr/>
          </a:p>
        </p:txBody>
      </p:sp>
      <p:sp>
        <p:nvSpPr>
          <p:cNvPr id="1659" name="Google Shape;1659;p1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12</a:t>
            </a:r>
            <a:endParaRPr/>
          </a:p>
        </p:txBody>
      </p:sp>
      <p:sp>
        <p:nvSpPr>
          <p:cNvPr id="1660" name="Google Shape;1660;p1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13</a:t>
            </a:r>
            <a:endParaRPr/>
          </a:p>
        </p:txBody>
      </p:sp>
      <p:sp>
        <p:nvSpPr>
          <p:cNvPr id="1661" name="Google Shape;1661;p1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14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sqrt{169}&quot;&gt;&lt;msqrt&gt;&lt;mn&gt;169&lt;/mn&gt;&lt;/msqrt&gt;&lt;/math&gt;" id="1662" name="Google Shape;1662;p136" title="the square root of 1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9100" y="765137"/>
            <a:ext cx="685726" cy="364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3" name="Google Shape;1663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6808" y="3286638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4" name="Google Shape;1664;p136"/>
          <p:cNvSpPr txBox="1"/>
          <p:nvPr>
            <p:ph type="title"/>
          </p:nvPr>
        </p:nvSpPr>
        <p:spPr>
          <a:xfrm>
            <a:off x="2085000" y="3327600"/>
            <a:ext cx="43539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This is because </a:t>
            </a:r>
            <a:r>
              <a:rPr lang="en-GB" sz="2400">
                <a:latin typeface="Kalam"/>
                <a:ea typeface="Kalam"/>
                <a:cs typeface="Kalam"/>
                <a:sym typeface="Kalam"/>
              </a:rPr>
              <a:t>13 ✕ 13 = 169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p137"/>
          <p:cNvSpPr txBox="1"/>
          <p:nvPr>
            <p:ph type="title"/>
          </p:nvPr>
        </p:nvSpPr>
        <p:spPr>
          <a:xfrm>
            <a:off x="324000" y="733800"/>
            <a:ext cx="75066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</a:t>
            </a:r>
            <a:r>
              <a:rPr lang="en-GB"/>
              <a:t>the following is the square root of the </a:t>
            </a:r>
            <a:r>
              <a:rPr b="1" lang="en-GB"/>
              <a:t>perfect square</a:t>
            </a:r>
            <a:r>
              <a:rPr lang="en-GB"/>
              <a:t> 121? Justify your answer.</a:t>
            </a:r>
            <a:endParaRPr/>
          </a:p>
        </p:txBody>
      </p:sp>
      <p:sp>
        <p:nvSpPr>
          <p:cNvPr id="1670" name="Google Shape;1670;p1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</a:t>
            </a:r>
            <a:r>
              <a:rPr lang="en-GB"/>
              <a:t> root</a:t>
            </a:r>
            <a:endParaRPr/>
          </a:p>
        </p:txBody>
      </p:sp>
      <p:sp>
        <p:nvSpPr>
          <p:cNvPr id="1671" name="Google Shape;1671;p1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60.5</a:t>
            </a:r>
            <a:endParaRPr/>
          </a:p>
        </p:txBody>
      </p:sp>
      <p:sp>
        <p:nvSpPr>
          <p:cNvPr id="1672" name="Google Shape;1672;p1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12</a:t>
            </a:r>
            <a:endParaRPr/>
          </a:p>
        </p:txBody>
      </p:sp>
      <p:sp>
        <p:nvSpPr>
          <p:cNvPr id="1673" name="Google Shape;1673;p137"/>
          <p:cNvSpPr txBox="1"/>
          <p:nvPr>
            <p:ph idx="4" type="subTitle"/>
          </p:nvPr>
        </p:nvSpPr>
        <p:spPr>
          <a:xfrm>
            <a:off x="1034425" y="3309775"/>
            <a:ext cx="650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11</a:t>
            </a:r>
            <a:endParaRPr/>
          </a:p>
        </p:txBody>
      </p:sp>
      <p:sp>
        <p:nvSpPr>
          <p:cNvPr id="1674" name="Google Shape;1674;p1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40.3</a:t>
            </a:r>
            <a:endParaRPr/>
          </a:p>
        </p:txBody>
      </p:sp>
      <p:pic>
        <p:nvPicPr>
          <p:cNvPr id="1675" name="Google Shape;1675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6808" y="3286638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6" name="Google Shape;1676;p137"/>
          <p:cNvSpPr txBox="1"/>
          <p:nvPr>
            <p:ph type="title"/>
          </p:nvPr>
        </p:nvSpPr>
        <p:spPr>
          <a:xfrm>
            <a:off x="2085000" y="3327600"/>
            <a:ext cx="4321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This is because  </a:t>
            </a:r>
            <a:r>
              <a:rPr lang="en-GB" sz="2400">
                <a:latin typeface="Kalam"/>
                <a:ea typeface="Kalam"/>
                <a:cs typeface="Kalam"/>
                <a:sym typeface="Kalam"/>
              </a:rPr>
              <a:t>11 ✕ 11 = 121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0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p138"/>
          <p:cNvSpPr txBox="1"/>
          <p:nvPr>
            <p:ph idx="1" type="body"/>
          </p:nvPr>
        </p:nvSpPr>
        <p:spPr>
          <a:xfrm>
            <a:off x="324000" y="759300"/>
            <a:ext cx="8237700" cy="26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A shop only sells square base tents with integer lengths. 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A family campsite has a campsite area for each family of a maximum of 20 m</a:t>
            </a:r>
            <a:r>
              <a:rPr baseline="30000" lang="en-GB" sz="1900">
                <a:solidFill>
                  <a:srgbClr val="000000"/>
                </a:solidFill>
              </a:rPr>
              <a:t>2</a:t>
            </a:r>
            <a:r>
              <a:rPr lang="en-GB" sz="1900">
                <a:solidFill>
                  <a:srgbClr val="000000"/>
                </a:solidFill>
              </a:rPr>
              <a:t>. What is the biggest tent a family can pitch at the campsite?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682" name="Google Shape;1682;p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500" y="1702725"/>
            <a:ext cx="907199" cy="6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3" name="Google Shape;1683;p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0200" y="1191650"/>
            <a:ext cx="1677601" cy="11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4" name="Google Shape;1684;p1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 root</a:t>
            </a:r>
            <a:endParaRPr/>
          </a:p>
        </p:txBody>
      </p:sp>
      <p:sp>
        <p:nvSpPr>
          <p:cNvPr id="1685" name="Google Shape;1685;p138"/>
          <p:cNvSpPr txBox="1"/>
          <p:nvPr>
            <p:ph idx="4294967295" type="title"/>
          </p:nvPr>
        </p:nvSpPr>
        <p:spPr>
          <a:xfrm>
            <a:off x="324000" y="3544113"/>
            <a:ext cx="85209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100">
                <a:latin typeface="Kalam"/>
                <a:ea typeface="Kalam"/>
                <a:cs typeface="Kalam"/>
                <a:sym typeface="Kalam"/>
              </a:rPr>
              <a:t>20 is not a perfect square so we do not get an integer when we       . The closest perfect square to 20 is 16 The biggest tent we can get is Tent C, 4 m by 4 m tent because </a:t>
            </a:r>
            <a:endParaRPr b="0" sz="21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20}&quot;&gt;&lt;msqrt&gt;&lt;mn&gt;20&lt;/mn&gt;&lt;/msqrt&gt;&lt;/math&gt;" id="1686" name="Google Shape;1686;p138" title="the square root of 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1600" y="3573299"/>
            <a:ext cx="462512" cy="31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16}=4&quot;&gt;&lt;msqrt&gt;&lt;mn&gt;16&lt;/mn&gt;&lt;/msqrt&gt;&lt;mo&gt;=&lt;/mo&gt;&lt;mn&gt;4&lt;/mn&gt;&lt;/math&gt;" id="1687" name="Google Shape;1687;p138" title="the square root of 16 equals 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8303" y="4274244"/>
            <a:ext cx="905859" cy="318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8" name="Google Shape;1688;p138"/>
          <p:cNvSpPr txBox="1"/>
          <p:nvPr/>
        </p:nvSpPr>
        <p:spPr>
          <a:xfrm>
            <a:off x="324000" y="2210100"/>
            <a:ext cx="18501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Tent A: 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m by 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m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89" name="Google Shape;1689;p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8663" y="1537388"/>
            <a:ext cx="1152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0" name="Google Shape;1690;p138"/>
          <p:cNvSpPr txBox="1"/>
          <p:nvPr/>
        </p:nvSpPr>
        <p:spPr>
          <a:xfrm>
            <a:off x="2174100" y="2221100"/>
            <a:ext cx="1909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Tent B: 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m by 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m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91" name="Google Shape;1691;p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7613" y="1330975"/>
            <a:ext cx="1465200" cy="97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2" name="Google Shape;1692;p138"/>
          <p:cNvSpPr txBox="1"/>
          <p:nvPr/>
        </p:nvSpPr>
        <p:spPr>
          <a:xfrm>
            <a:off x="4461700" y="2221100"/>
            <a:ext cx="18501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Tent C: 4 m by 4 m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3" name="Google Shape;1693;p138"/>
          <p:cNvSpPr txBox="1"/>
          <p:nvPr/>
        </p:nvSpPr>
        <p:spPr>
          <a:xfrm>
            <a:off x="6610574" y="2225175"/>
            <a:ext cx="1909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Tent D: 5 m by 5 m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p139"/>
          <p:cNvSpPr txBox="1"/>
          <p:nvPr>
            <p:ph idx="1" type="body"/>
          </p:nvPr>
        </p:nvSpPr>
        <p:spPr>
          <a:xfrm>
            <a:off x="324000" y="759300"/>
            <a:ext cx="8237700" cy="5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</a:t>
            </a:r>
            <a:r>
              <a:rPr lang="en-GB" sz="1800"/>
              <a:t>Match the square root of the </a:t>
            </a:r>
            <a:r>
              <a:rPr b="1" lang="en-GB" sz="1800"/>
              <a:t>perfect square</a:t>
            </a:r>
            <a:r>
              <a:rPr lang="en-GB" sz="1800"/>
              <a:t> with the correct answer.</a:t>
            </a:r>
            <a:endParaRPr sz="1800"/>
          </a:p>
        </p:txBody>
      </p:sp>
      <p:sp>
        <p:nvSpPr>
          <p:cNvPr id="1699" name="Google Shape;1699;p13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Square root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sqrt{49}&quot;&gt;&lt;msqrt&gt;&lt;mn&gt;49&lt;/mn&gt;&lt;/msqrt&gt;&lt;/math&gt;" id="1700" name="Google Shape;1700;p139" title="the square root of 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2844" y="1150350"/>
            <a:ext cx="710147" cy="5034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225}&quot;&gt;&lt;msqrt&gt;&lt;mn&gt;225&lt;/mn&gt;&lt;/msqrt&gt;&lt;/math&gt;" id="1701" name="Google Shape;1701;p139" title="the square root of 2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2844" y="1879354"/>
            <a:ext cx="904881" cy="5034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36}&quot;&gt;&lt;msqrt&gt;&lt;mn&gt;36&lt;/mn&gt;&lt;/msqrt&gt;&lt;/math&gt;" id="1702" name="Google Shape;1702;p139" title="the square root of 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92844" y="2686440"/>
            <a:ext cx="710147" cy="5034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4}&quot;&gt;&lt;msqrt&gt;&lt;mn&gt;4&lt;/mn&gt;&lt;/msqrt&gt;&lt;/math&gt;" id="1703" name="Google Shape;1703;p139" title="the square root of 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92844" y="3441798"/>
            <a:ext cx="503454" cy="5034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81}&quot;&gt;&lt;msqrt&gt;&lt;mn&gt;81&lt;/mn&gt;&lt;/msqrt&gt;&lt;/math&gt;" id="1704" name="Google Shape;1704;p139" title="the square root of 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65900" y="4171970"/>
            <a:ext cx="710160" cy="503455"/>
          </a:xfrm>
          <a:prstGeom prst="rect">
            <a:avLst/>
          </a:prstGeom>
          <a:noFill/>
          <a:ln>
            <a:noFill/>
          </a:ln>
        </p:spPr>
      </p:pic>
      <p:sp>
        <p:nvSpPr>
          <p:cNvPr id="1705" name="Google Shape;1705;p139"/>
          <p:cNvSpPr txBox="1"/>
          <p:nvPr/>
        </p:nvSpPr>
        <p:spPr>
          <a:xfrm>
            <a:off x="5306775" y="3516288"/>
            <a:ext cx="7101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7</a:t>
            </a:r>
            <a:endParaRPr sz="2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6" name="Google Shape;1706;p139"/>
          <p:cNvSpPr txBox="1"/>
          <p:nvPr/>
        </p:nvSpPr>
        <p:spPr>
          <a:xfrm>
            <a:off x="5306775" y="4222575"/>
            <a:ext cx="7101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15</a:t>
            </a:r>
            <a:endParaRPr sz="2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7" name="Google Shape;1707;p139"/>
          <p:cNvSpPr txBox="1"/>
          <p:nvPr/>
        </p:nvSpPr>
        <p:spPr>
          <a:xfrm>
            <a:off x="5306775" y="1150375"/>
            <a:ext cx="7101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6</a:t>
            </a:r>
            <a:endParaRPr sz="2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8" name="Google Shape;1708;p139"/>
          <p:cNvSpPr txBox="1"/>
          <p:nvPr/>
        </p:nvSpPr>
        <p:spPr>
          <a:xfrm>
            <a:off x="5306775" y="1874388"/>
            <a:ext cx="7101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2</a:t>
            </a:r>
            <a:endParaRPr sz="2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9" name="Google Shape;1709;p139"/>
          <p:cNvSpPr txBox="1"/>
          <p:nvPr/>
        </p:nvSpPr>
        <p:spPr>
          <a:xfrm>
            <a:off x="5306775" y="2686463"/>
            <a:ext cx="7101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9</a:t>
            </a:r>
            <a:endParaRPr sz="2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p140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Work out the missing numbers using your knowledge of </a:t>
            </a:r>
            <a:r>
              <a:rPr b="1" lang="en-GB"/>
              <a:t>perfect squares</a:t>
            </a:r>
            <a:r>
              <a:rPr lang="en-GB"/>
              <a:t> and square roots.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sp>
        <p:nvSpPr>
          <p:cNvPr id="1715" name="Google Shape;1715;p14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Square root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5\ +\ \sqrt{\ \ \ \ \ }\ =\ 15&quot;&gt;&lt;mn&gt;5&lt;/mn&gt;&lt;mtext&gt;&lt;/mtext&gt;&lt;mo&gt;+&lt;/mo&gt;&lt;mtext&gt;&lt;/mtext&gt;&lt;msqrt&gt;&lt;mtext&gt;&lt;/mtext&gt;&lt;mtext&gt;&lt;/mtext&gt;&lt;mtext&gt;&lt;/mtext&gt;&lt;mtext&gt;&lt;/mtext&gt;&lt;mtext&gt;&lt;/mtext&gt;&lt;/msqrt&gt;&lt;mtext&gt;&lt;/mtext&gt;&lt;mo&gt;=&lt;/mo&gt;&lt;mtext&gt;&lt;/mtext&gt;&lt;mn&gt;15&lt;/mn&gt;&lt;/math&gt;" id="1716" name="Google Shape;1716;p140" title="5 plus the square root of equals 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825" y="2016275"/>
            <a:ext cx="22383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0\ -\ \sqrt{\ \ \ \ \ }\ =\ 28&quot;&gt;&lt;mn&gt;30&lt;/mn&gt;&lt;mtext&gt;&lt;/mtext&gt;&lt;mo&gt;−&lt;/mo&gt;&lt;mtext&gt;&lt;/mtext&gt;&lt;msqrt&gt;&lt;mtext&gt;&lt;/mtext&gt;&lt;mtext&gt;&lt;/mtext&gt;&lt;mtext&gt;&lt;/mtext&gt;&lt;mtext&gt;&lt;/mtext&gt;&lt;mtext&gt;&lt;/mtext&gt;&lt;/msqrt&gt;&lt;mtext&gt;&lt;/mtext&gt;&lt;mo&gt;=&lt;/mo&gt;&lt;mtext&gt;&lt;/mtext&gt;&lt;mn&gt;28&lt;/mn&gt;&lt;/math&gt;" id="1717" name="Google Shape;1717;p140" title="30 minus the square root of equals 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9825" y="3020925"/>
            <a:ext cx="240982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\ \ \ \ }\ +\ \sqrt{\ \ \ \ \ }\ =\ 10&quot;&gt;&lt;msqrt&gt;&lt;mtext&gt;&lt;/mtext&gt;&lt;mtext&gt;&lt;/mtext&gt;&lt;mtext&gt;&lt;/mtext&gt;&lt;mtext&gt;&lt;/mtext&gt;&lt;/msqrt&gt;&lt;mtext&gt;&lt;/mtext&gt;&lt;mo&gt;+&lt;/mo&gt;&lt;mtext&gt;&lt;/mtext&gt;&lt;msqrt&gt;&lt;mtext&gt;&lt;/mtext&gt;&lt;mtext&gt;&lt;/mtext&gt;&lt;mtext&gt;&lt;/mtext&gt;&lt;mtext&gt;&lt;/mtext&gt;&lt;mtext&gt;&lt;/mtext&gt;&lt;/msqrt&gt;&lt;mtext&gt;&lt;/mtext&gt;&lt;mo&gt;=&lt;/mo&gt;&lt;mtext&gt;&lt;/mtext&gt;&lt;mn&gt;10&lt;/mn&gt;&lt;/math&gt;" id="1718" name="Google Shape;1718;p140" title="the square root of plus the square root of equals 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9825" y="3998525"/>
            <a:ext cx="2686050" cy="4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p141"/>
          <p:cNvSpPr txBox="1"/>
          <p:nvPr/>
        </p:nvSpPr>
        <p:spPr>
          <a:xfrm>
            <a:off x="880700" y="4513550"/>
            <a:ext cx="689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4" name="Google Shape;1724;p141"/>
          <p:cNvSpPr txBox="1"/>
          <p:nvPr>
            <p:ph idx="1" type="body"/>
          </p:nvPr>
        </p:nvSpPr>
        <p:spPr>
          <a:xfrm>
            <a:off x="3369600" y="657600"/>
            <a:ext cx="5450400" cy="21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An outdoor party has plot allocation of </a:t>
            </a:r>
            <a:r>
              <a:rPr lang="en-GB" sz="1800"/>
              <a:t>100 m</a:t>
            </a:r>
            <a:r>
              <a:rPr baseline="30000" lang="en-GB" sz="1800"/>
              <a:t>2</a:t>
            </a:r>
            <a:r>
              <a:rPr lang="en-GB" sz="1800"/>
              <a:t> for all the guests. The party will have a kitchen/dining area, cake table, square bouncy castle and a car to power the bouncy castle.</a:t>
            </a:r>
            <a:r>
              <a:rPr lang="en-GB" sz="1800"/>
              <a:t>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Insert all items onto the plot. What is the largest bouncy castle you can put on your plot so there is at least one </a:t>
            </a:r>
            <a:r>
              <a:rPr lang="en-GB" sz="1800"/>
              <a:t>square</a:t>
            </a:r>
            <a:r>
              <a:rPr lang="en-GB" sz="1800"/>
              <a:t> gap </a:t>
            </a:r>
            <a:r>
              <a:rPr lang="en-GB" sz="1800"/>
              <a:t>between</a:t>
            </a:r>
            <a:r>
              <a:rPr lang="en-GB" sz="1800"/>
              <a:t> each item.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Each </a:t>
            </a:r>
            <a:r>
              <a:rPr lang="en-GB" sz="1800"/>
              <a:t>square</a:t>
            </a:r>
            <a:r>
              <a:rPr lang="en-GB" sz="1800"/>
              <a:t> is 1 </a:t>
            </a:r>
            <a:r>
              <a:rPr lang="en-GB" sz="1800"/>
              <a:t>m</a:t>
            </a:r>
            <a:r>
              <a:rPr baseline="30000" lang="en-GB" sz="1800"/>
              <a:t>2 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725" name="Google Shape;1725;p14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Square root</a:t>
            </a:r>
            <a:endParaRPr/>
          </a:p>
        </p:txBody>
      </p:sp>
      <p:pic>
        <p:nvPicPr>
          <p:cNvPr id="1726" name="Google Shape;1726;p141"/>
          <p:cNvPicPr preferRelativeResize="0"/>
          <p:nvPr/>
        </p:nvPicPr>
        <p:blipFill rotWithShape="1">
          <a:blip r:embed="rId3">
            <a:alphaModFix/>
          </a:blip>
          <a:srcRect b="33222" l="0" r="33395" t="0"/>
          <a:stretch/>
        </p:blipFill>
        <p:spPr>
          <a:xfrm>
            <a:off x="475550" y="733051"/>
            <a:ext cx="2727400" cy="2524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7" name="Google Shape;1727;p1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5081616" y="3463716"/>
            <a:ext cx="689100" cy="14035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28" name="Google Shape;1728;p141"/>
          <p:cNvGrpSpPr/>
          <p:nvPr/>
        </p:nvGrpSpPr>
        <p:grpSpPr>
          <a:xfrm>
            <a:off x="861650" y="3958950"/>
            <a:ext cx="570600" cy="489150"/>
            <a:chOff x="5868250" y="3119450"/>
            <a:chExt cx="570600" cy="489150"/>
          </a:xfrm>
        </p:grpSpPr>
        <p:sp>
          <p:nvSpPr>
            <p:cNvPr id="1729" name="Google Shape;1729;p141"/>
            <p:cNvSpPr/>
            <p:nvPr/>
          </p:nvSpPr>
          <p:spPr>
            <a:xfrm>
              <a:off x="5868250" y="3119500"/>
              <a:ext cx="569100" cy="4878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30" name="Google Shape;1730;p141"/>
            <p:cNvCxnSpPr/>
            <p:nvPr/>
          </p:nvCxnSpPr>
          <p:spPr>
            <a:xfrm>
              <a:off x="5873375" y="3122900"/>
              <a:ext cx="561900" cy="4857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1" name="Google Shape;1731;p141"/>
            <p:cNvCxnSpPr/>
            <p:nvPr/>
          </p:nvCxnSpPr>
          <p:spPr>
            <a:xfrm flipH="1" rot="10800000">
              <a:off x="5875750" y="3119450"/>
              <a:ext cx="563100" cy="4809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32" name="Google Shape;1732;p141"/>
          <p:cNvSpPr/>
          <p:nvPr/>
        </p:nvSpPr>
        <p:spPr>
          <a:xfrm>
            <a:off x="2564400" y="3805775"/>
            <a:ext cx="1570200" cy="7194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33" name="Google Shape;1733;p141"/>
          <p:cNvCxnSpPr/>
          <p:nvPr/>
        </p:nvCxnSpPr>
        <p:spPr>
          <a:xfrm flipH="1" rot="10800000">
            <a:off x="2575325" y="3819450"/>
            <a:ext cx="1556100" cy="694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4" name="Google Shape;1734;p141"/>
          <p:cNvCxnSpPr/>
          <p:nvPr/>
        </p:nvCxnSpPr>
        <p:spPr>
          <a:xfrm>
            <a:off x="2580075" y="3813575"/>
            <a:ext cx="1553700" cy="703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5" name="Google Shape;1735;p141"/>
          <p:cNvSpPr txBox="1"/>
          <p:nvPr/>
        </p:nvSpPr>
        <p:spPr>
          <a:xfrm>
            <a:off x="441275" y="3519000"/>
            <a:ext cx="1453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Cake table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6" name="Google Shape;1736;p141"/>
          <p:cNvSpPr txBox="1"/>
          <p:nvPr/>
        </p:nvSpPr>
        <p:spPr>
          <a:xfrm>
            <a:off x="209094" y="3949600"/>
            <a:ext cx="689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7" name="Google Shape;1737;p141"/>
          <p:cNvSpPr txBox="1"/>
          <p:nvPr/>
        </p:nvSpPr>
        <p:spPr>
          <a:xfrm>
            <a:off x="3079000" y="4507200"/>
            <a:ext cx="689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8" name="Google Shape;1738;p141"/>
          <p:cNvSpPr txBox="1"/>
          <p:nvPr/>
        </p:nvSpPr>
        <p:spPr>
          <a:xfrm>
            <a:off x="1848125" y="3920675"/>
            <a:ext cx="689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9" name="Google Shape;1739;p141"/>
          <p:cNvSpPr txBox="1"/>
          <p:nvPr/>
        </p:nvSpPr>
        <p:spPr>
          <a:xfrm>
            <a:off x="2564400" y="3366600"/>
            <a:ext cx="1755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kitchen/diner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0" name="Google Shape;1740;p141"/>
          <p:cNvSpPr txBox="1"/>
          <p:nvPr/>
        </p:nvSpPr>
        <p:spPr>
          <a:xfrm>
            <a:off x="5041513" y="3468575"/>
            <a:ext cx="689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Car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1" name="Google Shape;1741;p141"/>
          <p:cNvSpPr txBox="1"/>
          <p:nvPr/>
        </p:nvSpPr>
        <p:spPr>
          <a:xfrm>
            <a:off x="5218638" y="4507200"/>
            <a:ext cx="689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2" name="Google Shape;1742;p141"/>
          <p:cNvSpPr txBox="1"/>
          <p:nvPr/>
        </p:nvSpPr>
        <p:spPr>
          <a:xfrm>
            <a:off x="6229019" y="3920681"/>
            <a:ext cx="689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3" name="Google Shape;1743;p141"/>
          <p:cNvSpPr txBox="1"/>
          <p:nvPr/>
        </p:nvSpPr>
        <p:spPr>
          <a:xfrm>
            <a:off x="7832408" y="4385497"/>
            <a:ext cx="987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4" name="Google Shape;1744;p141"/>
          <p:cNvSpPr txBox="1"/>
          <p:nvPr/>
        </p:nvSpPr>
        <p:spPr>
          <a:xfrm>
            <a:off x="7216600" y="3813000"/>
            <a:ext cx="765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5" name="Google Shape;1745;p141"/>
          <p:cNvSpPr txBox="1"/>
          <p:nvPr/>
        </p:nvSpPr>
        <p:spPr>
          <a:xfrm>
            <a:off x="7463850" y="3007775"/>
            <a:ext cx="112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Bouncy castle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46" name="Google Shape;1746;p141"/>
          <p:cNvGrpSpPr/>
          <p:nvPr/>
        </p:nvGrpSpPr>
        <p:grpSpPr>
          <a:xfrm>
            <a:off x="7544949" y="3713086"/>
            <a:ext cx="815577" cy="699066"/>
            <a:chOff x="5868250" y="3119500"/>
            <a:chExt cx="569100" cy="487800"/>
          </a:xfrm>
        </p:grpSpPr>
        <p:sp>
          <p:nvSpPr>
            <p:cNvPr id="1747" name="Google Shape;1747;p141"/>
            <p:cNvSpPr/>
            <p:nvPr/>
          </p:nvSpPr>
          <p:spPr>
            <a:xfrm>
              <a:off x="5868250" y="3119500"/>
              <a:ext cx="569100" cy="4878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48" name="Google Shape;1748;p141"/>
            <p:cNvCxnSpPr/>
            <p:nvPr/>
          </p:nvCxnSpPr>
          <p:spPr>
            <a:xfrm>
              <a:off x="5869105" y="3125651"/>
              <a:ext cx="564900" cy="4734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9" name="Google Shape;1749;p141"/>
            <p:cNvCxnSpPr/>
            <p:nvPr/>
          </p:nvCxnSpPr>
          <p:spPr>
            <a:xfrm flipH="1" rot="10800000">
              <a:off x="5871600" y="3119756"/>
              <a:ext cx="562800" cy="4836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750" name="Google Shape;1750;p141"/>
          <p:cNvCxnSpPr/>
          <p:nvPr/>
        </p:nvCxnSpPr>
        <p:spPr>
          <a:xfrm rot="10800000">
            <a:off x="709000" y="3933650"/>
            <a:ext cx="8400" cy="52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51" name="Google Shape;1751;p141"/>
          <p:cNvCxnSpPr/>
          <p:nvPr/>
        </p:nvCxnSpPr>
        <p:spPr>
          <a:xfrm rot="10800000">
            <a:off x="903900" y="4584450"/>
            <a:ext cx="505800" cy="6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52" name="Google Shape;1752;p141"/>
          <p:cNvCxnSpPr/>
          <p:nvPr/>
        </p:nvCxnSpPr>
        <p:spPr>
          <a:xfrm rot="10800000">
            <a:off x="2564450" y="4627150"/>
            <a:ext cx="1570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53" name="Google Shape;1753;p141"/>
          <p:cNvCxnSpPr/>
          <p:nvPr/>
        </p:nvCxnSpPr>
        <p:spPr>
          <a:xfrm rot="10800000">
            <a:off x="2436200" y="3790950"/>
            <a:ext cx="0" cy="7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54" name="Google Shape;1754;p141"/>
          <p:cNvCxnSpPr/>
          <p:nvPr/>
        </p:nvCxnSpPr>
        <p:spPr>
          <a:xfrm rot="10800000">
            <a:off x="4823850" y="4517150"/>
            <a:ext cx="1215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55" name="Google Shape;1755;p141"/>
          <p:cNvCxnSpPr/>
          <p:nvPr/>
        </p:nvCxnSpPr>
        <p:spPr>
          <a:xfrm rot="10800000">
            <a:off x="6127950" y="3920800"/>
            <a:ext cx="0" cy="47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9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p142"/>
          <p:cNvSpPr txBox="1"/>
          <p:nvPr>
            <p:ph idx="1" type="body"/>
          </p:nvPr>
        </p:nvSpPr>
        <p:spPr>
          <a:xfrm>
            <a:off x="324000" y="845388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</a:t>
            </a:r>
            <a:r>
              <a:rPr lang="en-GB"/>
              <a:t>) Only inserting </a:t>
            </a:r>
            <a:r>
              <a:rPr b="1" lang="en-GB"/>
              <a:t>perfect square</a:t>
            </a:r>
            <a:r>
              <a:rPr lang="en-GB"/>
              <a:t> numbers</a:t>
            </a:r>
            <a:r>
              <a:rPr lang="en-GB"/>
              <a:t>, fill in the missing gaps.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       is closest to       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r>
              <a:rPr lang="en-GB"/>
              <a:t>             is closest to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 </a:t>
            </a:r>
            <a:r>
              <a:rPr lang="en-GB"/>
              <a:t>            is closest to</a:t>
            </a:r>
            <a:endParaRPr/>
          </a:p>
        </p:txBody>
      </p:sp>
      <p:sp>
        <p:nvSpPr>
          <p:cNvPr id="1761" name="Google Shape;1761;p14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Square root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sqrt{\ \ \ \ \ }\ &quot;&gt;&lt;msqrt&gt;&lt;mtext&gt;&lt;/mtext&gt;&lt;mtext&gt;&lt;/mtext&gt;&lt;mtext&gt;&lt;/mtext&gt;&lt;mtext&gt;&lt;/mtext&gt;&lt;mtext&gt;&lt;/mtext&gt;&lt;/msqrt&gt;&lt;mtext&gt;&lt;/mtext&gt;&lt;/math&gt;" id="1762" name="Google Shape;1762;p142" title="the square root o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600" y="1985038"/>
            <a:ext cx="676275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65}\ &quot;&gt;&lt;msqrt&gt;&lt;mn&gt;65&lt;/mn&gt;&lt;/msqrt&gt;&lt;mtext&gt;&lt;/mtext&gt;&lt;/math&gt;" id="1763" name="Google Shape;1763;p142" title="the square root of 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9600" y="1989824"/>
            <a:ext cx="5905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\ \ \ \ \ }\ &quot;&gt;&lt;msqrt&gt;&lt;mtext&gt;&lt;/mtext&gt;&lt;mtext&gt;&lt;/mtext&gt;&lt;mtext&gt;&lt;/mtext&gt;&lt;mtext&gt;&lt;/mtext&gt;&lt;mtext&gt;&lt;/mtext&gt;&lt;/msqrt&gt;&lt;mtext&gt;&lt;/mtext&gt;&lt;/math&gt;" id="1764" name="Google Shape;1764;p142" title="the square root o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600" y="3013550"/>
            <a:ext cx="676275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\ \ \ \ \ }\ &quot;&gt;&lt;msqrt&gt;&lt;mtext&gt;&lt;/mtext&gt;&lt;mtext&gt;&lt;/mtext&gt;&lt;mtext&gt;&lt;/mtext&gt;&lt;mtext&gt;&lt;/mtext&gt;&lt;mtext&gt;&lt;/mtext&gt;&lt;/msqrt&gt;&lt;mtext&gt;&lt;/mtext&gt;&lt;/math&gt;" id="1765" name="Google Shape;1765;p142" title="the square root o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600" y="4102475"/>
            <a:ext cx="676275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90}\ &quot;&gt;&lt;msqrt&gt;&lt;mn&gt;90&lt;/mn&gt;&lt;/msqrt&gt;&lt;mtext&gt;&lt;/mtext&gt;&lt;/math&gt;" id="1766" name="Google Shape;1766;p142" title="the square root of 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16963" y="2981325"/>
            <a:ext cx="5905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152}\ &quot;&gt;&lt;msqrt&gt;&lt;mn&gt;152&lt;/mn&gt;&lt;/msqrt&gt;&lt;mtext&gt;&lt;/mtext&gt;&lt;/math&gt;" id="1767" name="Google Shape;1767;p142" title="the square root of 1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35988" y="4119975"/>
            <a:ext cx="752475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p14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Square root</a:t>
            </a:r>
            <a:endParaRPr/>
          </a:p>
        </p:txBody>
      </p:sp>
      <p:sp>
        <p:nvSpPr>
          <p:cNvPr id="1773" name="Google Shape;1773;p143"/>
          <p:cNvSpPr txBox="1"/>
          <p:nvPr>
            <p:ph idx="1" type="body"/>
          </p:nvPr>
        </p:nvSpPr>
        <p:spPr>
          <a:xfrm>
            <a:off x="324000" y="759300"/>
            <a:ext cx="8237700" cy="5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Match the square root of the </a:t>
            </a:r>
            <a:r>
              <a:rPr b="1" lang="en-GB" sz="1800"/>
              <a:t>perfect square</a:t>
            </a:r>
            <a:r>
              <a:rPr lang="en-GB" sz="1800"/>
              <a:t> with the correct answer.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sqrt{49}&quot;&gt;&lt;msqrt&gt;&lt;mn&gt;49&lt;/mn&gt;&lt;/msqrt&gt;&lt;/math&gt;" id="1774" name="Google Shape;1774;p143" title="the square root of 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2844" y="1150350"/>
            <a:ext cx="710147" cy="5034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225}&quot;&gt;&lt;msqrt&gt;&lt;mn&gt;225&lt;/mn&gt;&lt;/msqrt&gt;&lt;/math&gt;" id="1775" name="Google Shape;1775;p143" title="the square root of 2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2844" y="1879354"/>
            <a:ext cx="904881" cy="5034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36}&quot;&gt;&lt;msqrt&gt;&lt;mn&gt;36&lt;/mn&gt;&lt;/msqrt&gt;&lt;/math&gt;" id="1776" name="Google Shape;1776;p143" title="the square root of 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92844" y="2686440"/>
            <a:ext cx="710147" cy="5034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4}&quot;&gt;&lt;msqrt&gt;&lt;mn&gt;4&lt;/mn&gt;&lt;/msqrt&gt;&lt;/math&gt;" id="1777" name="Google Shape;1777;p143" title="the square root of 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92844" y="3441798"/>
            <a:ext cx="503454" cy="5034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81}&quot;&gt;&lt;msqrt&gt;&lt;mn&gt;81&lt;/mn&gt;&lt;/msqrt&gt;&lt;/math&gt;" id="1778" name="Google Shape;1778;p143" title="the square root of 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65900" y="4171970"/>
            <a:ext cx="710160" cy="503455"/>
          </a:xfrm>
          <a:prstGeom prst="rect">
            <a:avLst/>
          </a:prstGeom>
          <a:noFill/>
          <a:ln>
            <a:noFill/>
          </a:ln>
        </p:spPr>
      </p:pic>
      <p:sp>
        <p:nvSpPr>
          <p:cNvPr id="1779" name="Google Shape;1779;p143"/>
          <p:cNvSpPr txBox="1"/>
          <p:nvPr/>
        </p:nvSpPr>
        <p:spPr>
          <a:xfrm>
            <a:off x="5382975" y="3516288"/>
            <a:ext cx="7101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7</a:t>
            </a:r>
            <a:endParaRPr sz="2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0" name="Google Shape;1780;p143"/>
          <p:cNvSpPr txBox="1"/>
          <p:nvPr/>
        </p:nvSpPr>
        <p:spPr>
          <a:xfrm>
            <a:off x="5382975" y="4222575"/>
            <a:ext cx="7101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15</a:t>
            </a:r>
            <a:endParaRPr sz="2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1" name="Google Shape;1781;p143"/>
          <p:cNvSpPr txBox="1"/>
          <p:nvPr/>
        </p:nvSpPr>
        <p:spPr>
          <a:xfrm>
            <a:off x="5382975" y="1150375"/>
            <a:ext cx="7101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6</a:t>
            </a:r>
            <a:endParaRPr sz="2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2" name="Google Shape;1782;p143"/>
          <p:cNvSpPr txBox="1"/>
          <p:nvPr/>
        </p:nvSpPr>
        <p:spPr>
          <a:xfrm>
            <a:off x="5382975" y="1874388"/>
            <a:ext cx="7101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2</a:t>
            </a:r>
            <a:endParaRPr sz="2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3" name="Google Shape;1783;p143"/>
          <p:cNvSpPr txBox="1"/>
          <p:nvPr/>
        </p:nvSpPr>
        <p:spPr>
          <a:xfrm>
            <a:off x="5382975" y="2686463"/>
            <a:ext cx="7101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9</a:t>
            </a:r>
            <a:endParaRPr sz="2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84" name="Google Shape;1784;p143"/>
          <p:cNvCxnSpPr/>
          <p:nvPr/>
        </p:nvCxnSpPr>
        <p:spPr>
          <a:xfrm>
            <a:off x="3537075" y="1348500"/>
            <a:ext cx="2043300" cy="2444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5" name="Google Shape;1785;p143"/>
          <p:cNvCxnSpPr>
            <a:stCxn id="1775" idx="3"/>
          </p:cNvCxnSpPr>
          <p:nvPr/>
        </p:nvCxnSpPr>
        <p:spPr>
          <a:xfrm>
            <a:off x="3597725" y="2131081"/>
            <a:ext cx="1914300" cy="2372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6" name="Google Shape;1786;p143"/>
          <p:cNvCxnSpPr>
            <a:stCxn id="1776" idx="3"/>
          </p:cNvCxnSpPr>
          <p:nvPr/>
        </p:nvCxnSpPr>
        <p:spPr>
          <a:xfrm flipH="1" rot="10800000">
            <a:off x="3402991" y="1532963"/>
            <a:ext cx="2109000" cy="1405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7" name="Google Shape;1787;p143"/>
          <p:cNvCxnSpPr>
            <a:stCxn id="1777" idx="3"/>
          </p:cNvCxnSpPr>
          <p:nvPr/>
        </p:nvCxnSpPr>
        <p:spPr>
          <a:xfrm flipH="1" rot="10800000">
            <a:off x="3196299" y="2255025"/>
            <a:ext cx="2394600" cy="1438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8" name="Google Shape;1788;p143"/>
          <p:cNvCxnSpPr>
            <a:stCxn id="1778" idx="3"/>
          </p:cNvCxnSpPr>
          <p:nvPr/>
        </p:nvCxnSpPr>
        <p:spPr>
          <a:xfrm flipH="1" rot="10800000">
            <a:off x="3376060" y="3069498"/>
            <a:ext cx="2311800" cy="1354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2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Google Shape;1793;p14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Square root</a:t>
            </a:r>
            <a:endParaRPr/>
          </a:p>
        </p:txBody>
      </p:sp>
      <p:sp>
        <p:nvSpPr>
          <p:cNvPr id="1794" name="Google Shape;1794;p144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Work out the missing numbers using your knowledge of </a:t>
            </a:r>
            <a:r>
              <a:rPr b="1" lang="en-GB"/>
              <a:t>perfect squares</a:t>
            </a:r>
            <a:r>
              <a:rPr lang="en-GB"/>
              <a:t> and square roots.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5\ +\ \sqrt{\ \ \ \ \ }\ =\ 15&quot;&gt;&lt;mn&gt;5&lt;/mn&gt;&lt;mtext&gt;&lt;/mtext&gt;&lt;mo&gt;+&lt;/mo&gt;&lt;mtext&gt;&lt;/mtext&gt;&lt;msqrt&gt;&lt;mtext&gt;&lt;/mtext&gt;&lt;mtext&gt;&lt;/mtext&gt;&lt;mtext&gt;&lt;/mtext&gt;&lt;mtext&gt;&lt;/mtext&gt;&lt;mtext&gt;&lt;/mtext&gt;&lt;/msqrt&gt;&lt;mtext&gt;&lt;/mtext&gt;&lt;mo&gt;=&lt;/mo&gt;&lt;mtext&gt;&lt;/mtext&gt;&lt;mn&gt;15&lt;/mn&gt;&lt;/math&gt;" id="1795" name="Google Shape;1795;p144" title="5 plus the square root of equals 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575" y="2068863"/>
            <a:ext cx="22383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0\ -\ \sqrt{\ \ \ \ \ }\ =\ 28&quot;&gt;&lt;mn&gt;30&lt;/mn&gt;&lt;mtext&gt;&lt;/mtext&gt;&lt;mo&gt;−&lt;/mo&gt;&lt;mtext&gt;&lt;/mtext&gt;&lt;msqrt&gt;&lt;mtext&gt;&lt;/mtext&gt;&lt;mtext&gt;&lt;/mtext&gt;&lt;mtext&gt;&lt;/mtext&gt;&lt;mtext&gt;&lt;/mtext&gt;&lt;mtext&gt;&lt;/mtext&gt;&lt;/msqrt&gt;&lt;mtext&gt;&lt;/mtext&gt;&lt;mo&gt;=&lt;/mo&gt;&lt;mtext&gt;&lt;/mtext&gt;&lt;mn&gt;28&lt;/mn&gt;&lt;/math&gt;" id="1796" name="Google Shape;1796;p144" title="30 minus the square root of equals 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000" y="3021050"/>
            <a:ext cx="240982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\ \ \ \ }\ +\ \sqrt{\ \ \ \ \ }\ =\ 10&quot;&gt;&lt;msqrt&gt;&lt;mtext&gt;&lt;/mtext&gt;&lt;mtext&gt;&lt;/mtext&gt;&lt;mtext&gt;&lt;/mtext&gt;&lt;mtext&gt;&lt;/mtext&gt;&lt;/msqrt&gt;&lt;mtext&gt;&lt;/mtext&gt;&lt;mo&gt;+&lt;/mo&gt;&lt;mtext&gt;&lt;/mtext&gt;&lt;msqrt&gt;&lt;mtext&gt;&lt;/mtext&gt;&lt;mtext&gt;&lt;/mtext&gt;&lt;mtext&gt;&lt;/mtext&gt;&lt;mtext&gt;&lt;/mtext&gt;&lt;mtext&gt;&lt;/mtext&gt;&lt;/msqrt&gt;&lt;mtext&gt;&lt;/mtext&gt;&lt;mo&gt;=&lt;/mo&gt;&lt;mtext&gt;&lt;/mtext&gt;&lt;mn&gt;10&lt;/mn&gt;&lt;/math&gt;" id="1797" name="Google Shape;1797;p144" title="the square root of plus the square root of equals 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4000" y="4038450"/>
            <a:ext cx="2686050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8" name="Google Shape;1798;p144"/>
          <p:cNvSpPr txBox="1"/>
          <p:nvPr/>
        </p:nvSpPr>
        <p:spPr>
          <a:xfrm>
            <a:off x="1669713" y="2036263"/>
            <a:ext cx="7584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100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9" name="Google Shape;1799;p144"/>
          <p:cNvSpPr txBox="1"/>
          <p:nvPr/>
        </p:nvSpPr>
        <p:spPr>
          <a:xfrm>
            <a:off x="1909325" y="2955888"/>
            <a:ext cx="7584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4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0" name="Google Shape;1800;p144"/>
          <p:cNvSpPr txBox="1"/>
          <p:nvPr/>
        </p:nvSpPr>
        <p:spPr>
          <a:xfrm>
            <a:off x="1019150" y="4069800"/>
            <a:ext cx="7584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16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1" name="Google Shape;1801;p144"/>
          <p:cNvSpPr txBox="1"/>
          <p:nvPr/>
        </p:nvSpPr>
        <p:spPr>
          <a:xfrm>
            <a:off x="2128800" y="4038450"/>
            <a:ext cx="7584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36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\ \ \ \ }\ +\ \sqrt{\ \ \ \ \ }\ =\ 10&quot;&gt;&lt;msqrt&gt;&lt;mtext&gt;&lt;/mtext&gt;&lt;mtext&gt;&lt;/mtext&gt;&lt;mtext&gt;&lt;/mtext&gt;&lt;mtext&gt;&lt;/mtext&gt;&lt;/msqrt&gt;&lt;mtext&gt;&lt;/mtext&gt;&lt;mo&gt;+&lt;/mo&gt;&lt;mtext&gt;&lt;/mtext&gt;&lt;msqrt&gt;&lt;mtext&gt;&lt;/mtext&gt;&lt;mtext&gt;&lt;/mtext&gt;&lt;mtext&gt;&lt;/mtext&gt;&lt;mtext&gt;&lt;/mtext&gt;&lt;mtext&gt;&lt;/mtext&gt;&lt;/msqrt&gt;&lt;mtext&gt;&lt;/mtext&gt;&lt;mo&gt;=&lt;/mo&gt;&lt;mtext&gt;&lt;/mtext&gt;&lt;mn&gt;10&lt;/mn&gt;&lt;/math&gt;" id="1802" name="Google Shape;1802;p144" title="the square root of plus the square root of equals 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73150" y="3876750"/>
            <a:ext cx="2686050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3" name="Google Shape;1803;p144"/>
          <p:cNvSpPr txBox="1"/>
          <p:nvPr/>
        </p:nvSpPr>
        <p:spPr>
          <a:xfrm>
            <a:off x="4948300" y="3908100"/>
            <a:ext cx="7584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1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4" name="Google Shape;1804;p144"/>
          <p:cNvSpPr txBox="1"/>
          <p:nvPr/>
        </p:nvSpPr>
        <p:spPr>
          <a:xfrm>
            <a:off x="6057950" y="3876750"/>
            <a:ext cx="7584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81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p14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Square root</a:t>
            </a:r>
            <a:endParaRPr/>
          </a:p>
        </p:txBody>
      </p:sp>
      <p:sp>
        <p:nvSpPr>
          <p:cNvPr id="1810" name="Google Shape;1810;p145"/>
          <p:cNvSpPr txBox="1"/>
          <p:nvPr>
            <p:ph idx="1" type="body"/>
          </p:nvPr>
        </p:nvSpPr>
        <p:spPr>
          <a:xfrm>
            <a:off x="3739501" y="657600"/>
            <a:ext cx="4902900" cy="85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) There are lots of different ways you can position your items.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811" name="Google Shape;1811;p145"/>
          <p:cNvPicPr preferRelativeResize="0"/>
          <p:nvPr/>
        </p:nvPicPr>
        <p:blipFill rotWithShape="1">
          <a:blip r:embed="rId3">
            <a:alphaModFix/>
          </a:blip>
          <a:srcRect b="33691" l="179" r="33393" t="0"/>
          <a:stretch/>
        </p:blipFill>
        <p:spPr>
          <a:xfrm>
            <a:off x="863800" y="733050"/>
            <a:ext cx="2720150" cy="250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2" name="Google Shape;1812;p145"/>
          <p:cNvSpPr txBox="1"/>
          <p:nvPr/>
        </p:nvSpPr>
        <p:spPr>
          <a:xfrm>
            <a:off x="3625050" y="1359600"/>
            <a:ext cx="5072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Calculating the largest bouncy castle can be done by:</a:t>
            </a:r>
            <a:endParaRPr/>
          </a:p>
        </p:txBody>
      </p:sp>
      <p:sp>
        <p:nvSpPr>
          <p:cNvPr id="1813" name="Google Shape;1813;p145"/>
          <p:cNvSpPr txBox="1"/>
          <p:nvPr/>
        </p:nvSpPr>
        <p:spPr>
          <a:xfrm>
            <a:off x="4768050" y="203942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100 - 4 - 18 - 10 = 68</a:t>
            </a:r>
            <a:endParaRPr/>
          </a:p>
        </p:txBody>
      </p:sp>
      <p:sp>
        <p:nvSpPr>
          <p:cNvPr id="1814" name="Google Shape;1814;p145"/>
          <p:cNvSpPr txBox="1"/>
          <p:nvPr/>
        </p:nvSpPr>
        <p:spPr>
          <a:xfrm>
            <a:off x="3777300" y="2504250"/>
            <a:ext cx="5072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Closest perfect square to 68 is 64. The largest is an 8 m by 8 m bouncy castle.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815" name="Google Shape;1815;p145"/>
          <p:cNvGrpSpPr/>
          <p:nvPr/>
        </p:nvGrpSpPr>
        <p:grpSpPr>
          <a:xfrm>
            <a:off x="1435140" y="759273"/>
            <a:ext cx="2148819" cy="1968710"/>
            <a:chOff x="2564400" y="3805775"/>
            <a:chExt cx="1570200" cy="719400"/>
          </a:xfrm>
        </p:grpSpPr>
        <p:sp>
          <p:nvSpPr>
            <p:cNvPr id="1816" name="Google Shape;1816;p145"/>
            <p:cNvSpPr/>
            <p:nvPr/>
          </p:nvSpPr>
          <p:spPr>
            <a:xfrm>
              <a:off x="2564400" y="3805775"/>
              <a:ext cx="1570200" cy="7194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17" name="Google Shape;1817;p145"/>
            <p:cNvCxnSpPr/>
            <p:nvPr/>
          </p:nvCxnSpPr>
          <p:spPr>
            <a:xfrm flipH="1" rot="10800000">
              <a:off x="2566673" y="3808817"/>
              <a:ext cx="1566000" cy="7143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8" name="Google Shape;1818;p145"/>
            <p:cNvCxnSpPr/>
            <p:nvPr/>
          </p:nvCxnSpPr>
          <p:spPr>
            <a:xfrm>
              <a:off x="2577122" y="3806982"/>
              <a:ext cx="1552200" cy="7134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19" name="Google Shape;1819;p145"/>
          <p:cNvSpPr txBox="1"/>
          <p:nvPr/>
        </p:nvSpPr>
        <p:spPr>
          <a:xfrm>
            <a:off x="7294600" y="3578650"/>
            <a:ext cx="1403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is not practical.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820" name="Google Shape;1820;p145"/>
          <p:cNvGrpSpPr/>
          <p:nvPr/>
        </p:nvGrpSpPr>
        <p:grpSpPr>
          <a:xfrm>
            <a:off x="2961100" y="3691150"/>
            <a:ext cx="1570200" cy="719400"/>
            <a:chOff x="2564400" y="3805775"/>
            <a:chExt cx="1570200" cy="719400"/>
          </a:xfrm>
        </p:grpSpPr>
        <p:sp>
          <p:nvSpPr>
            <p:cNvPr id="1821" name="Google Shape;1821;p145"/>
            <p:cNvSpPr/>
            <p:nvPr/>
          </p:nvSpPr>
          <p:spPr>
            <a:xfrm>
              <a:off x="2564400" y="3805775"/>
              <a:ext cx="1570200" cy="7194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22" name="Google Shape;1822;p145"/>
            <p:cNvCxnSpPr/>
            <p:nvPr/>
          </p:nvCxnSpPr>
          <p:spPr>
            <a:xfrm flipH="1" rot="10800000">
              <a:off x="2567950" y="3821625"/>
              <a:ext cx="1563000" cy="6864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3" name="Google Shape;1823;p145"/>
            <p:cNvCxnSpPr/>
            <p:nvPr/>
          </p:nvCxnSpPr>
          <p:spPr>
            <a:xfrm>
              <a:off x="2565575" y="3810325"/>
              <a:ext cx="1566900" cy="6978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24" name="Google Shape;1824;p145"/>
          <p:cNvGrpSpPr/>
          <p:nvPr/>
        </p:nvGrpSpPr>
        <p:grpSpPr>
          <a:xfrm>
            <a:off x="1258350" y="3844375"/>
            <a:ext cx="569100" cy="487800"/>
            <a:chOff x="5868250" y="3119500"/>
            <a:chExt cx="569100" cy="487800"/>
          </a:xfrm>
        </p:grpSpPr>
        <p:sp>
          <p:nvSpPr>
            <p:cNvPr id="1825" name="Google Shape;1825;p145"/>
            <p:cNvSpPr/>
            <p:nvPr/>
          </p:nvSpPr>
          <p:spPr>
            <a:xfrm>
              <a:off x="5868250" y="3119500"/>
              <a:ext cx="569100" cy="4878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26" name="Google Shape;1826;p145"/>
            <p:cNvCxnSpPr/>
            <p:nvPr/>
          </p:nvCxnSpPr>
          <p:spPr>
            <a:xfrm>
              <a:off x="5876725" y="3132750"/>
              <a:ext cx="554700" cy="4716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7" name="Google Shape;1827;p145"/>
            <p:cNvCxnSpPr/>
            <p:nvPr/>
          </p:nvCxnSpPr>
          <p:spPr>
            <a:xfrm flipH="1" rot="10800000">
              <a:off x="5881500" y="3132725"/>
              <a:ext cx="545400" cy="4620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28" name="Google Shape;1828;p145"/>
          <p:cNvSpPr txBox="1"/>
          <p:nvPr/>
        </p:nvSpPr>
        <p:spPr>
          <a:xfrm>
            <a:off x="1258350" y="4417975"/>
            <a:ext cx="689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9" name="Google Shape;1829;p145"/>
          <p:cNvSpPr txBox="1"/>
          <p:nvPr/>
        </p:nvSpPr>
        <p:spPr>
          <a:xfrm>
            <a:off x="603923" y="3834975"/>
            <a:ext cx="689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0" name="Google Shape;1830;p145"/>
          <p:cNvSpPr txBox="1"/>
          <p:nvPr/>
        </p:nvSpPr>
        <p:spPr>
          <a:xfrm>
            <a:off x="3443950" y="4417975"/>
            <a:ext cx="689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1" name="Google Shape;1831;p145"/>
          <p:cNvSpPr txBox="1"/>
          <p:nvPr/>
        </p:nvSpPr>
        <p:spPr>
          <a:xfrm>
            <a:off x="2321025" y="3806050"/>
            <a:ext cx="689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2" name="Google Shape;1832;p145"/>
          <p:cNvSpPr txBox="1"/>
          <p:nvPr/>
        </p:nvSpPr>
        <p:spPr>
          <a:xfrm>
            <a:off x="5374713" y="3387825"/>
            <a:ext cx="689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Car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3" name="Google Shape;1833;p145"/>
          <p:cNvSpPr txBox="1"/>
          <p:nvPr/>
        </p:nvSpPr>
        <p:spPr>
          <a:xfrm>
            <a:off x="5634388" y="4341775"/>
            <a:ext cx="689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4" name="Google Shape;1834;p145"/>
          <p:cNvSpPr txBox="1"/>
          <p:nvPr/>
        </p:nvSpPr>
        <p:spPr>
          <a:xfrm>
            <a:off x="6475894" y="3834981"/>
            <a:ext cx="689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5" name="Google Shape;1835;p145"/>
          <p:cNvSpPr txBox="1"/>
          <p:nvPr/>
        </p:nvSpPr>
        <p:spPr>
          <a:xfrm>
            <a:off x="837975" y="3404375"/>
            <a:ext cx="1453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Cake table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6" name="Google Shape;1836;p145"/>
          <p:cNvSpPr txBox="1"/>
          <p:nvPr/>
        </p:nvSpPr>
        <p:spPr>
          <a:xfrm>
            <a:off x="2961100" y="3251975"/>
            <a:ext cx="1755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kitchen/diner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37" name="Google Shape;1837;p145"/>
          <p:cNvCxnSpPr/>
          <p:nvPr/>
        </p:nvCxnSpPr>
        <p:spPr>
          <a:xfrm rot="10800000">
            <a:off x="1105700" y="3819025"/>
            <a:ext cx="8400" cy="52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38" name="Google Shape;1838;p145"/>
          <p:cNvCxnSpPr/>
          <p:nvPr/>
        </p:nvCxnSpPr>
        <p:spPr>
          <a:xfrm rot="10800000">
            <a:off x="1300600" y="4469825"/>
            <a:ext cx="505800" cy="6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39" name="Google Shape;1839;p145"/>
          <p:cNvCxnSpPr/>
          <p:nvPr/>
        </p:nvCxnSpPr>
        <p:spPr>
          <a:xfrm rot="10800000">
            <a:off x="2961150" y="4512525"/>
            <a:ext cx="1570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40" name="Google Shape;1840;p145"/>
          <p:cNvCxnSpPr/>
          <p:nvPr/>
        </p:nvCxnSpPr>
        <p:spPr>
          <a:xfrm rot="10800000">
            <a:off x="2832900" y="3676325"/>
            <a:ext cx="0" cy="7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41" name="Google Shape;1841;p145"/>
          <p:cNvCxnSpPr/>
          <p:nvPr/>
        </p:nvCxnSpPr>
        <p:spPr>
          <a:xfrm rot="10800000">
            <a:off x="5220550" y="4402525"/>
            <a:ext cx="1215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42" name="Google Shape;1842;p145"/>
          <p:cNvCxnSpPr/>
          <p:nvPr/>
        </p:nvCxnSpPr>
        <p:spPr>
          <a:xfrm rot="10800000">
            <a:off x="6524650" y="3806175"/>
            <a:ext cx="0" cy="47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1843" name="Google Shape;1843;p1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5572951" y="3425131"/>
            <a:ext cx="499825" cy="121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7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Google Shape;1848;p14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Square root</a:t>
            </a:r>
            <a:endParaRPr/>
          </a:p>
        </p:txBody>
      </p:sp>
      <p:sp>
        <p:nvSpPr>
          <p:cNvPr id="1849" name="Google Shape;1849;p146"/>
          <p:cNvSpPr txBox="1"/>
          <p:nvPr>
            <p:ph idx="1" type="body"/>
          </p:nvPr>
        </p:nvSpPr>
        <p:spPr>
          <a:xfrm>
            <a:off x="4041400" y="810000"/>
            <a:ext cx="4778700" cy="85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) There are lots of different ways you can position your items.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850" name="Google Shape;1850;p146"/>
          <p:cNvPicPr preferRelativeResize="0"/>
          <p:nvPr/>
        </p:nvPicPr>
        <p:blipFill rotWithShape="1">
          <a:blip r:embed="rId3">
            <a:alphaModFix/>
          </a:blip>
          <a:srcRect b="33479" l="219" r="33397" t="0"/>
          <a:stretch/>
        </p:blipFill>
        <p:spPr>
          <a:xfrm>
            <a:off x="865575" y="733050"/>
            <a:ext cx="2718375" cy="251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1" name="Google Shape;1851;p146"/>
          <p:cNvSpPr txBox="1"/>
          <p:nvPr/>
        </p:nvSpPr>
        <p:spPr>
          <a:xfrm>
            <a:off x="1258350" y="4417975"/>
            <a:ext cx="689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2" name="Google Shape;1852;p146"/>
          <p:cNvSpPr txBox="1"/>
          <p:nvPr/>
        </p:nvSpPr>
        <p:spPr>
          <a:xfrm>
            <a:off x="3443950" y="4417975"/>
            <a:ext cx="689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3" name="Google Shape;1853;p146"/>
          <p:cNvSpPr txBox="1"/>
          <p:nvPr/>
        </p:nvSpPr>
        <p:spPr>
          <a:xfrm>
            <a:off x="2321025" y="3806050"/>
            <a:ext cx="689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4" name="Google Shape;1854;p146"/>
          <p:cNvSpPr txBox="1"/>
          <p:nvPr/>
        </p:nvSpPr>
        <p:spPr>
          <a:xfrm>
            <a:off x="5374713" y="3387825"/>
            <a:ext cx="689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Car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5" name="Google Shape;1855;p146"/>
          <p:cNvSpPr txBox="1"/>
          <p:nvPr/>
        </p:nvSpPr>
        <p:spPr>
          <a:xfrm>
            <a:off x="5634388" y="4341775"/>
            <a:ext cx="689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6" name="Google Shape;1856;p146"/>
          <p:cNvSpPr txBox="1"/>
          <p:nvPr/>
        </p:nvSpPr>
        <p:spPr>
          <a:xfrm>
            <a:off x="6475894" y="3834981"/>
            <a:ext cx="689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7" name="Google Shape;1857;p146"/>
          <p:cNvSpPr txBox="1"/>
          <p:nvPr/>
        </p:nvSpPr>
        <p:spPr>
          <a:xfrm>
            <a:off x="4572000" y="1825900"/>
            <a:ext cx="3763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most practical with at least one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square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gap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between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items is the 6m by 6m bouncy castle.</a:t>
            </a:r>
            <a:endParaRPr/>
          </a:p>
        </p:txBody>
      </p:sp>
      <p:grpSp>
        <p:nvGrpSpPr>
          <p:cNvPr id="1858" name="Google Shape;1858;p146"/>
          <p:cNvGrpSpPr/>
          <p:nvPr/>
        </p:nvGrpSpPr>
        <p:grpSpPr>
          <a:xfrm>
            <a:off x="1959603" y="759460"/>
            <a:ext cx="1602075" cy="1467367"/>
            <a:chOff x="2564400" y="3805444"/>
            <a:chExt cx="1570200" cy="738930"/>
          </a:xfrm>
        </p:grpSpPr>
        <p:sp>
          <p:nvSpPr>
            <p:cNvPr id="1859" name="Google Shape;1859;p146"/>
            <p:cNvSpPr/>
            <p:nvPr/>
          </p:nvSpPr>
          <p:spPr>
            <a:xfrm>
              <a:off x="2564400" y="3805774"/>
              <a:ext cx="1570200" cy="7386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60" name="Google Shape;1860;p146"/>
            <p:cNvCxnSpPr/>
            <p:nvPr/>
          </p:nvCxnSpPr>
          <p:spPr>
            <a:xfrm flipH="1" rot="10800000">
              <a:off x="2576203" y="3821262"/>
              <a:ext cx="1554600" cy="7215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61" name="Google Shape;1861;p146"/>
            <p:cNvCxnSpPr/>
            <p:nvPr/>
          </p:nvCxnSpPr>
          <p:spPr>
            <a:xfrm>
              <a:off x="2569278" y="3805444"/>
              <a:ext cx="1561500" cy="7332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62" name="Google Shape;1862;p146"/>
          <p:cNvGrpSpPr/>
          <p:nvPr/>
        </p:nvGrpSpPr>
        <p:grpSpPr>
          <a:xfrm>
            <a:off x="1940636" y="2505075"/>
            <a:ext cx="1621231" cy="719400"/>
            <a:chOff x="2564400" y="3805775"/>
            <a:chExt cx="1570200" cy="719400"/>
          </a:xfrm>
        </p:grpSpPr>
        <p:sp>
          <p:nvSpPr>
            <p:cNvPr id="1863" name="Google Shape;1863;p146"/>
            <p:cNvSpPr/>
            <p:nvPr/>
          </p:nvSpPr>
          <p:spPr>
            <a:xfrm>
              <a:off x="2564400" y="3805775"/>
              <a:ext cx="1570200" cy="7194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64" name="Google Shape;1864;p146"/>
            <p:cNvCxnSpPr/>
            <p:nvPr/>
          </p:nvCxnSpPr>
          <p:spPr>
            <a:xfrm flipH="1" rot="10800000">
              <a:off x="2577907" y="3810650"/>
              <a:ext cx="1543200" cy="7017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65" name="Google Shape;1865;p146"/>
            <p:cNvCxnSpPr/>
            <p:nvPr/>
          </p:nvCxnSpPr>
          <p:spPr>
            <a:xfrm>
              <a:off x="2564486" y="3810550"/>
              <a:ext cx="1568400" cy="7095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866" name="Google Shape;1866;p1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3938" y="766869"/>
            <a:ext cx="499825" cy="1216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7" name="Google Shape;1867;p146"/>
          <p:cNvGrpSpPr/>
          <p:nvPr/>
        </p:nvGrpSpPr>
        <p:grpSpPr>
          <a:xfrm>
            <a:off x="883450" y="2505175"/>
            <a:ext cx="532562" cy="487791"/>
            <a:chOff x="5867197" y="3106238"/>
            <a:chExt cx="579312" cy="518100"/>
          </a:xfrm>
        </p:grpSpPr>
        <p:sp>
          <p:nvSpPr>
            <p:cNvPr id="1868" name="Google Shape;1868;p146"/>
            <p:cNvSpPr/>
            <p:nvPr/>
          </p:nvSpPr>
          <p:spPr>
            <a:xfrm>
              <a:off x="5872309" y="3106238"/>
              <a:ext cx="574200" cy="5181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69" name="Google Shape;1869;p146"/>
            <p:cNvCxnSpPr/>
            <p:nvPr/>
          </p:nvCxnSpPr>
          <p:spPr>
            <a:xfrm>
              <a:off x="5867197" y="3113726"/>
              <a:ext cx="570000" cy="4728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70" name="Google Shape;1870;p146"/>
            <p:cNvCxnSpPr/>
            <p:nvPr/>
          </p:nvCxnSpPr>
          <p:spPr>
            <a:xfrm flipH="1" rot="10800000">
              <a:off x="5869780" y="3123834"/>
              <a:ext cx="561900" cy="4755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71" name="Google Shape;1871;p146"/>
          <p:cNvSpPr txBox="1"/>
          <p:nvPr/>
        </p:nvSpPr>
        <p:spPr>
          <a:xfrm>
            <a:off x="837975" y="3404375"/>
            <a:ext cx="1453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Cake table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2" name="Google Shape;1872;p146"/>
          <p:cNvSpPr txBox="1"/>
          <p:nvPr/>
        </p:nvSpPr>
        <p:spPr>
          <a:xfrm>
            <a:off x="2961100" y="3251975"/>
            <a:ext cx="1755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kitchen/diner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73" name="Google Shape;1873;p146"/>
          <p:cNvCxnSpPr/>
          <p:nvPr/>
        </p:nvCxnSpPr>
        <p:spPr>
          <a:xfrm rot="10800000">
            <a:off x="1105700" y="3819025"/>
            <a:ext cx="8400" cy="52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74" name="Google Shape;1874;p146"/>
          <p:cNvCxnSpPr/>
          <p:nvPr/>
        </p:nvCxnSpPr>
        <p:spPr>
          <a:xfrm rot="10800000">
            <a:off x="1300600" y="4469825"/>
            <a:ext cx="505800" cy="6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75" name="Google Shape;1875;p146"/>
          <p:cNvCxnSpPr/>
          <p:nvPr/>
        </p:nvCxnSpPr>
        <p:spPr>
          <a:xfrm rot="10800000">
            <a:off x="2961150" y="4512525"/>
            <a:ext cx="1570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76" name="Google Shape;1876;p146"/>
          <p:cNvCxnSpPr/>
          <p:nvPr/>
        </p:nvCxnSpPr>
        <p:spPr>
          <a:xfrm rot="10800000">
            <a:off x="2832900" y="3676325"/>
            <a:ext cx="0" cy="7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77" name="Google Shape;1877;p146"/>
          <p:cNvCxnSpPr/>
          <p:nvPr/>
        </p:nvCxnSpPr>
        <p:spPr>
          <a:xfrm rot="10800000">
            <a:off x="5220550" y="4402525"/>
            <a:ext cx="1215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78" name="Google Shape;1878;p146"/>
          <p:cNvCxnSpPr/>
          <p:nvPr/>
        </p:nvCxnSpPr>
        <p:spPr>
          <a:xfrm rot="10800000">
            <a:off x="6524650" y="3806175"/>
            <a:ext cx="0" cy="47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879" name="Google Shape;1879;p146"/>
          <p:cNvGrpSpPr/>
          <p:nvPr/>
        </p:nvGrpSpPr>
        <p:grpSpPr>
          <a:xfrm>
            <a:off x="2961100" y="3691150"/>
            <a:ext cx="1570200" cy="719400"/>
            <a:chOff x="2564400" y="3805775"/>
            <a:chExt cx="1570200" cy="719400"/>
          </a:xfrm>
        </p:grpSpPr>
        <p:sp>
          <p:nvSpPr>
            <p:cNvPr id="1880" name="Google Shape;1880;p146"/>
            <p:cNvSpPr/>
            <p:nvPr/>
          </p:nvSpPr>
          <p:spPr>
            <a:xfrm>
              <a:off x="2564400" y="3805775"/>
              <a:ext cx="1570200" cy="7194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81" name="Google Shape;1881;p146"/>
            <p:cNvCxnSpPr/>
            <p:nvPr/>
          </p:nvCxnSpPr>
          <p:spPr>
            <a:xfrm flipH="1" rot="10800000">
              <a:off x="2567950" y="3821625"/>
              <a:ext cx="1563000" cy="6864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2" name="Google Shape;1882;p146"/>
            <p:cNvCxnSpPr/>
            <p:nvPr/>
          </p:nvCxnSpPr>
          <p:spPr>
            <a:xfrm>
              <a:off x="2565575" y="3810325"/>
              <a:ext cx="1566900" cy="6978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83" name="Google Shape;1883;p146"/>
          <p:cNvGrpSpPr/>
          <p:nvPr/>
        </p:nvGrpSpPr>
        <p:grpSpPr>
          <a:xfrm>
            <a:off x="1258350" y="3844375"/>
            <a:ext cx="569100" cy="487800"/>
            <a:chOff x="5868250" y="3119500"/>
            <a:chExt cx="569100" cy="487800"/>
          </a:xfrm>
        </p:grpSpPr>
        <p:sp>
          <p:nvSpPr>
            <p:cNvPr id="1884" name="Google Shape;1884;p146"/>
            <p:cNvSpPr/>
            <p:nvPr/>
          </p:nvSpPr>
          <p:spPr>
            <a:xfrm>
              <a:off x="5868250" y="3119500"/>
              <a:ext cx="569100" cy="487800"/>
            </a:xfrm>
            <a:prstGeom prst="rect">
              <a:avLst/>
            </a:prstGeom>
            <a:solidFill>
              <a:schemeClr val="lt2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85" name="Google Shape;1885;p146"/>
            <p:cNvCxnSpPr/>
            <p:nvPr/>
          </p:nvCxnSpPr>
          <p:spPr>
            <a:xfrm>
              <a:off x="5876725" y="3132750"/>
              <a:ext cx="554700" cy="4716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6" name="Google Shape;1886;p146"/>
            <p:cNvCxnSpPr/>
            <p:nvPr/>
          </p:nvCxnSpPr>
          <p:spPr>
            <a:xfrm flipH="1" rot="10800000">
              <a:off x="5881500" y="3132725"/>
              <a:ext cx="545400" cy="4620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87" name="Google Shape;1887;p146"/>
          <p:cNvSpPr txBox="1"/>
          <p:nvPr/>
        </p:nvSpPr>
        <p:spPr>
          <a:xfrm>
            <a:off x="603923" y="3834975"/>
            <a:ext cx="689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88" name="Google Shape;1888;p1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5572951" y="3425131"/>
            <a:ext cx="499825" cy="121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2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p14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Square root</a:t>
            </a:r>
            <a:endParaRPr/>
          </a:p>
        </p:txBody>
      </p:sp>
      <p:sp>
        <p:nvSpPr>
          <p:cNvPr id="1894" name="Google Shape;1894;p147"/>
          <p:cNvSpPr txBox="1"/>
          <p:nvPr>
            <p:ph idx="1" type="body"/>
          </p:nvPr>
        </p:nvSpPr>
        <p:spPr>
          <a:xfrm>
            <a:off x="324000" y="759300"/>
            <a:ext cx="80118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4) Only inserting </a:t>
            </a:r>
            <a:r>
              <a:rPr b="1" lang="en-GB"/>
              <a:t>perfect square</a:t>
            </a:r>
            <a:r>
              <a:rPr lang="en-GB"/>
              <a:t> numbers, fill in the missing gaps.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       is closest to      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            is closest to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             is closest to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sqrt{\ \ \ \ \ }\ &quot;&gt;&lt;msqrt&gt;&lt;mtext&gt;&lt;/mtext&gt;&lt;mtext&gt;&lt;/mtext&gt;&lt;mtext&gt;&lt;/mtext&gt;&lt;mtext&gt;&lt;/mtext&gt;&lt;mtext&gt;&lt;/mtext&gt;&lt;/msqrt&gt;&lt;mtext&gt;&lt;/mtext&gt;&lt;/math&gt;" id="1895" name="Google Shape;1895;p147" title="the square root o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600" y="1898950"/>
            <a:ext cx="676275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65}\ &quot;&gt;&lt;msqrt&gt;&lt;mn&gt;65&lt;/mn&gt;&lt;/msqrt&gt;&lt;mtext&gt;&lt;/mtext&gt;&lt;/math&gt;" id="1896" name="Google Shape;1896;p147" title="the square root of 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9600" y="1926837"/>
            <a:ext cx="5905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\ \ \ \ \ }\ &quot;&gt;&lt;msqrt&gt;&lt;mtext&gt;&lt;/mtext&gt;&lt;mtext&gt;&lt;/mtext&gt;&lt;mtext&gt;&lt;/mtext&gt;&lt;mtext&gt;&lt;/mtext&gt;&lt;mtext&gt;&lt;/mtext&gt;&lt;/msqrt&gt;&lt;mtext&gt;&lt;/mtext&gt;&lt;/math&gt;" id="1897" name="Google Shape;1897;p147" title="the square root o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600" y="2986775"/>
            <a:ext cx="676275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\ \ \ \ \ }\ &quot;&gt;&lt;msqrt&gt;&lt;mtext&gt;&lt;/mtext&gt;&lt;mtext&gt;&lt;/mtext&gt;&lt;mtext&gt;&lt;/mtext&gt;&lt;mtext&gt;&lt;/mtext&gt;&lt;mtext&gt;&lt;/mtext&gt;&lt;/msqrt&gt;&lt;mtext&gt;&lt;/mtext&gt;&lt;/math&gt;" id="1898" name="Google Shape;1898;p147" title="the square root o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600" y="4102475"/>
            <a:ext cx="676275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90}\ &quot;&gt;&lt;msqrt&gt;&lt;mn&gt;90&lt;/mn&gt;&lt;/msqrt&gt;&lt;mtext&gt;&lt;/mtext&gt;&lt;/math&gt;" id="1899" name="Google Shape;1899;p147" title="the square root of 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16950" y="2940750"/>
            <a:ext cx="5905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152}\ &quot;&gt;&lt;msqrt&gt;&lt;mn&gt;152&lt;/mn&gt;&lt;/msqrt&gt;&lt;mtext&gt;&lt;/mtext&gt;&lt;/math&gt;" id="1900" name="Google Shape;1900;p147" title="the square root of 1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35988" y="4119975"/>
            <a:ext cx="75247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1" name="Google Shape;1901;p147"/>
          <p:cNvSpPr txBox="1"/>
          <p:nvPr/>
        </p:nvSpPr>
        <p:spPr>
          <a:xfrm>
            <a:off x="945000" y="1875750"/>
            <a:ext cx="7584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64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2" name="Google Shape;1902;p147"/>
          <p:cNvSpPr txBox="1"/>
          <p:nvPr/>
        </p:nvSpPr>
        <p:spPr>
          <a:xfrm>
            <a:off x="963600" y="2971650"/>
            <a:ext cx="7212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81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3" name="Google Shape;1903;p147"/>
          <p:cNvSpPr txBox="1"/>
          <p:nvPr/>
        </p:nvSpPr>
        <p:spPr>
          <a:xfrm>
            <a:off x="882625" y="4074600"/>
            <a:ext cx="7584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144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7" name="Shape 1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8" name="Google Shape;1908;p148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 root</a:t>
            </a:r>
            <a:endParaRPr/>
          </a:p>
        </p:txBody>
      </p:sp>
      <p:sp>
        <p:nvSpPr>
          <p:cNvPr id="1909" name="Google Shape;1909;p148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Cube root</a:t>
            </a:r>
            <a:endParaRPr/>
          </a:p>
        </p:txBody>
      </p:sp>
      <p:sp>
        <p:nvSpPr>
          <p:cNvPr id="1910" name="Google Shape;1910;p14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 and cube roots</a:t>
            </a:r>
            <a:endParaRPr/>
          </a:p>
        </p:txBody>
      </p:sp>
      <p:pic>
        <p:nvPicPr>
          <p:cNvPr id="1911" name="Google Shape;1911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431" y="298994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p1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Cube root</a:t>
            </a:r>
            <a:endParaRPr/>
          </a:p>
        </p:txBody>
      </p:sp>
      <p:sp>
        <p:nvSpPr>
          <p:cNvPr id="1917" name="Google Shape;1917;p149"/>
          <p:cNvSpPr txBox="1"/>
          <p:nvPr/>
        </p:nvSpPr>
        <p:spPr>
          <a:xfrm>
            <a:off x="-750775" y="1184213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8" name="Google Shape;1918;p149"/>
          <p:cNvSpPr txBox="1"/>
          <p:nvPr/>
        </p:nvSpPr>
        <p:spPr>
          <a:xfrm>
            <a:off x="480925" y="1031813"/>
            <a:ext cx="824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perfect cube</a:t>
            </a: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is the same as a cube number. </a:t>
            </a:r>
            <a:endParaRPr sz="20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9" name="Google Shape;1919;p149"/>
          <p:cNvSpPr txBox="1"/>
          <p:nvPr/>
        </p:nvSpPr>
        <p:spPr>
          <a:xfrm>
            <a:off x="3103325" y="1757788"/>
            <a:ext cx="3234300" cy="8874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Perfect cubes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0" name="Google Shape;1920;p149"/>
          <p:cNvSpPr txBox="1"/>
          <p:nvPr/>
        </p:nvSpPr>
        <p:spPr>
          <a:xfrm>
            <a:off x="557124" y="1757788"/>
            <a:ext cx="17058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✕ 1 ✕ 1 =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1" name="Google Shape;1921;p149"/>
          <p:cNvSpPr txBox="1"/>
          <p:nvPr/>
        </p:nvSpPr>
        <p:spPr>
          <a:xfrm>
            <a:off x="2126914" y="1757775"/>
            <a:ext cx="4614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2" name="Google Shape;1922;p149"/>
          <p:cNvSpPr txBox="1"/>
          <p:nvPr/>
        </p:nvSpPr>
        <p:spPr>
          <a:xfrm>
            <a:off x="572207" y="2198973"/>
            <a:ext cx="17058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✕ 2 ✕ 2 =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3" name="Google Shape;1923;p149"/>
          <p:cNvSpPr txBox="1"/>
          <p:nvPr/>
        </p:nvSpPr>
        <p:spPr>
          <a:xfrm>
            <a:off x="2141996" y="2198961"/>
            <a:ext cx="4614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4" name="Google Shape;1924;p149"/>
          <p:cNvSpPr txBox="1"/>
          <p:nvPr/>
        </p:nvSpPr>
        <p:spPr>
          <a:xfrm>
            <a:off x="3697509" y="2235264"/>
            <a:ext cx="2412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5" name="Google Shape;1925;p149"/>
          <p:cNvSpPr txBox="1"/>
          <p:nvPr/>
        </p:nvSpPr>
        <p:spPr>
          <a:xfrm>
            <a:off x="3837209" y="2235264"/>
            <a:ext cx="4614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8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6" name="Google Shape;1926;p149"/>
          <p:cNvSpPr txBox="1"/>
          <p:nvPr/>
        </p:nvSpPr>
        <p:spPr>
          <a:xfrm>
            <a:off x="4142009" y="2235264"/>
            <a:ext cx="4614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27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7" name="Google Shape;1927;p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025" y="1676813"/>
            <a:ext cx="2198675" cy="88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8" name="Google Shape;1928;p149"/>
          <p:cNvSpPr txBox="1"/>
          <p:nvPr/>
        </p:nvSpPr>
        <p:spPr>
          <a:xfrm>
            <a:off x="4611173" y="2236300"/>
            <a:ext cx="11631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64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…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9" name="Google Shape;1929;p149"/>
          <p:cNvSpPr txBox="1"/>
          <p:nvPr/>
        </p:nvSpPr>
        <p:spPr>
          <a:xfrm>
            <a:off x="557125" y="772545"/>
            <a:ext cx="76497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cube number is the product of three repeated integers.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3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Google Shape;1934;p1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Cube root</a:t>
            </a:r>
            <a:endParaRPr/>
          </a:p>
        </p:txBody>
      </p:sp>
      <p:sp>
        <p:nvSpPr>
          <p:cNvPr id="1935" name="Google Shape;1935;p150"/>
          <p:cNvSpPr txBox="1"/>
          <p:nvPr>
            <p:ph idx="4294967295" type="subTitle"/>
          </p:nvPr>
        </p:nvSpPr>
        <p:spPr>
          <a:xfrm>
            <a:off x="505850" y="863075"/>
            <a:ext cx="7620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Putting this in a table, can you work out the missing information?</a:t>
            </a:r>
            <a:endParaRPr sz="1800"/>
          </a:p>
        </p:txBody>
      </p:sp>
      <p:graphicFrame>
        <p:nvGraphicFramePr>
          <p:cNvPr id="1936" name="Google Shape;1936;p150"/>
          <p:cNvGraphicFramePr/>
          <p:nvPr/>
        </p:nvGraphicFramePr>
        <p:xfrm>
          <a:off x="434688" y="1377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{9D664D1D-DC9B-4A0C-A740-CCC3319F43DE}</a:tableStyleId>
              </a:tblPr>
              <a:tblGrid>
                <a:gridCol w="1687000"/>
                <a:gridCol w="3055375"/>
                <a:gridCol w="3142850"/>
              </a:tblGrid>
              <a:tr h="37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Integer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Calculation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Perfect c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ube number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37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 ✕ 1 ✕ 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7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✕ 2 ✕ 2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7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7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7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7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37" name="Google Shape;1937;p150"/>
          <p:cNvSpPr txBox="1"/>
          <p:nvPr/>
        </p:nvSpPr>
        <p:spPr>
          <a:xfrm>
            <a:off x="2135724" y="27470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✕ 3 ✕ 3</a:t>
            </a:r>
            <a:endParaRPr/>
          </a:p>
        </p:txBody>
      </p:sp>
      <p:sp>
        <p:nvSpPr>
          <p:cNvPr id="1938" name="Google Shape;1938;p150"/>
          <p:cNvSpPr txBox="1"/>
          <p:nvPr/>
        </p:nvSpPr>
        <p:spPr>
          <a:xfrm>
            <a:off x="2135724" y="32042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✕ 4 ✕ 4</a:t>
            </a:r>
            <a:endParaRPr/>
          </a:p>
        </p:txBody>
      </p:sp>
      <p:sp>
        <p:nvSpPr>
          <p:cNvPr id="1939" name="Google Shape;1939;p150"/>
          <p:cNvSpPr txBox="1"/>
          <p:nvPr/>
        </p:nvSpPr>
        <p:spPr>
          <a:xfrm>
            <a:off x="2135724" y="36614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✕ 5 ✕ 5</a:t>
            </a:r>
            <a:endParaRPr/>
          </a:p>
        </p:txBody>
      </p:sp>
      <p:sp>
        <p:nvSpPr>
          <p:cNvPr id="1940" name="Google Shape;1940;p150"/>
          <p:cNvSpPr txBox="1"/>
          <p:nvPr/>
        </p:nvSpPr>
        <p:spPr>
          <a:xfrm>
            <a:off x="2135724" y="41186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 10 ✕ 10</a:t>
            </a:r>
            <a:endParaRPr/>
          </a:p>
        </p:txBody>
      </p:sp>
      <p:sp>
        <p:nvSpPr>
          <p:cNvPr id="1941" name="Google Shape;1941;p150"/>
          <p:cNvSpPr txBox="1"/>
          <p:nvPr/>
        </p:nvSpPr>
        <p:spPr>
          <a:xfrm>
            <a:off x="5177074" y="27470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27</a:t>
            </a:r>
            <a:endParaRPr/>
          </a:p>
        </p:txBody>
      </p:sp>
      <p:sp>
        <p:nvSpPr>
          <p:cNvPr id="1942" name="Google Shape;1942;p150"/>
          <p:cNvSpPr txBox="1"/>
          <p:nvPr/>
        </p:nvSpPr>
        <p:spPr>
          <a:xfrm>
            <a:off x="5177074" y="32042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64</a:t>
            </a:r>
            <a:endParaRPr/>
          </a:p>
        </p:txBody>
      </p:sp>
      <p:sp>
        <p:nvSpPr>
          <p:cNvPr id="1943" name="Google Shape;1943;p150"/>
          <p:cNvSpPr txBox="1"/>
          <p:nvPr/>
        </p:nvSpPr>
        <p:spPr>
          <a:xfrm>
            <a:off x="822250" y="4118625"/>
            <a:ext cx="92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/>
          </a:p>
        </p:txBody>
      </p:sp>
      <p:sp>
        <p:nvSpPr>
          <p:cNvPr id="1944" name="Google Shape;1944;p150"/>
          <p:cNvSpPr txBox="1"/>
          <p:nvPr/>
        </p:nvSpPr>
        <p:spPr>
          <a:xfrm>
            <a:off x="822250" y="3661425"/>
            <a:ext cx="92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/>
          </a:p>
        </p:txBody>
      </p:sp>
      <p:sp>
        <p:nvSpPr>
          <p:cNvPr id="1945" name="Google Shape;1945;p150"/>
          <p:cNvSpPr txBox="1"/>
          <p:nvPr/>
        </p:nvSpPr>
        <p:spPr>
          <a:xfrm>
            <a:off x="5177074" y="36614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125</a:t>
            </a:r>
            <a:endParaRPr/>
          </a:p>
        </p:txBody>
      </p:sp>
      <p:sp>
        <p:nvSpPr>
          <p:cNvPr id="1946" name="Google Shape;1946;p150"/>
          <p:cNvSpPr txBox="1"/>
          <p:nvPr/>
        </p:nvSpPr>
        <p:spPr>
          <a:xfrm>
            <a:off x="5209199" y="41186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0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p1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Cube root</a:t>
            </a:r>
            <a:endParaRPr/>
          </a:p>
        </p:txBody>
      </p:sp>
      <p:graphicFrame>
        <p:nvGraphicFramePr>
          <p:cNvPr id="1952" name="Google Shape;1952;p151"/>
          <p:cNvGraphicFramePr/>
          <p:nvPr/>
        </p:nvGraphicFramePr>
        <p:xfrm>
          <a:off x="434688" y="1377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{9D664D1D-DC9B-4A0C-A740-CCC3319F43DE}</a:tableStyleId>
              </a:tblPr>
              <a:tblGrid>
                <a:gridCol w="1687000"/>
                <a:gridCol w="3055375"/>
                <a:gridCol w="3142850"/>
              </a:tblGrid>
              <a:tr h="37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Integer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Calculation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Perfect cube number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37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7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53" name="Google Shape;1953;p151"/>
          <p:cNvSpPr txBox="1"/>
          <p:nvPr/>
        </p:nvSpPr>
        <p:spPr>
          <a:xfrm>
            <a:off x="2121699" y="18350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✕ 5 ✕ 5</a:t>
            </a:r>
            <a:endParaRPr/>
          </a:p>
        </p:txBody>
      </p:sp>
      <p:sp>
        <p:nvSpPr>
          <p:cNvPr id="1954" name="Google Shape;1954;p151"/>
          <p:cNvSpPr txBox="1"/>
          <p:nvPr/>
        </p:nvSpPr>
        <p:spPr>
          <a:xfrm>
            <a:off x="2121699" y="22922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✕ 10 ✕ 10</a:t>
            </a:r>
            <a:endParaRPr/>
          </a:p>
        </p:txBody>
      </p:sp>
      <p:sp>
        <p:nvSpPr>
          <p:cNvPr id="1955" name="Google Shape;1955;p151"/>
          <p:cNvSpPr txBox="1"/>
          <p:nvPr/>
        </p:nvSpPr>
        <p:spPr>
          <a:xfrm>
            <a:off x="5163049" y="18350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125</a:t>
            </a:r>
            <a:endParaRPr/>
          </a:p>
        </p:txBody>
      </p:sp>
      <p:sp>
        <p:nvSpPr>
          <p:cNvPr id="1956" name="Google Shape;1956;p151"/>
          <p:cNvSpPr txBox="1"/>
          <p:nvPr/>
        </p:nvSpPr>
        <p:spPr>
          <a:xfrm>
            <a:off x="5195174" y="22922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1000</a:t>
            </a:r>
            <a:endParaRPr/>
          </a:p>
        </p:txBody>
      </p:sp>
      <p:sp>
        <p:nvSpPr>
          <p:cNvPr id="1957" name="Google Shape;1957;p151"/>
          <p:cNvSpPr txBox="1"/>
          <p:nvPr>
            <p:ph idx="1" type="body"/>
          </p:nvPr>
        </p:nvSpPr>
        <p:spPr>
          <a:xfrm>
            <a:off x="529350" y="2857050"/>
            <a:ext cx="8011500" cy="8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cube root of the </a:t>
            </a:r>
            <a:r>
              <a:rPr b="1" lang="en-GB" sz="2000"/>
              <a:t>perfect cube</a:t>
            </a:r>
            <a:r>
              <a:rPr lang="en-GB" sz="2000"/>
              <a:t> is the integer that has been multiplied by itself and then </a:t>
            </a:r>
            <a:r>
              <a:rPr lang="en-GB" sz="2000"/>
              <a:t>itself</a:t>
            </a:r>
            <a:r>
              <a:rPr lang="en-GB" sz="2000"/>
              <a:t> again to give that </a:t>
            </a:r>
            <a:r>
              <a:rPr b="1" lang="en-GB" sz="2000"/>
              <a:t>perfect cube</a:t>
            </a:r>
            <a:r>
              <a:rPr lang="en-GB" sz="2000"/>
              <a:t> number.</a:t>
            </a:r>
            <a:endParaRPr sz="2000"/>
          </a:p>
        </p:txBody>
      </p:sp>
      <p:sp>
        <p:nvSpPr>
          <p:cNvPr id="1958" name="Google Shape;1958;p151"/>
          <p:cNvSpPr txBox="1"/>
          <p:nvPr>
            <p:ph idx="1" type="body"/>
          </p:nvPr>
        </p:nvSpPr>
        <p:spPr>
          <a:xfrm>
            <a:off x="3039600" y="3932400"/>
            <a:ext cx="2887200" cy="42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Cube root</a:t>
            </a:r>
            <a:r>
              <a:rPr lang="en-GB" sz="2000"/>
              <a:t> of 125 is 5</a:t>
            </a:r>
            <a:endParaRPr sz="2000"/>
          </a:p>
        </p:txBody>
      </p:sp>
      <p:sp>
        <p:nvSpPr>
          <p:cNvPr id="1959" name="Google Shape;1959;p151"/>
          <p:cNvSpPr txBox="1"/>
          <p:nvPr>
            <p:ph idx="1" type="body"/>
          </p:nvPr>
        </p:nvSpPr>
        <p:spPr>
          <a:xfrm>
            <a:off x="3039600" y="4343950"/>
            <a:ext cx="2887200" cy="42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Cube root of 1000 is 10</a:t>
            </a:r>
            <a:endParaRPr sz="2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3" name="Shape 1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4" name="Google Shape;1964;p15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Cube root</a:t>
            </a:r>
            <a:endParaRPr/>
          </a:p>
        </p:txBody>
      </p:sp>
      <p:graphicFrame>
        <p:nvGraphicFramePr>
          <p:cNvPr id="1965" name="Google Shape;1965;p152"/>
          <p:cNvGraphicFramePr/>
          <p:nvPr/>
        </p:nvGraphicFramePr>
        <p:xfrm>
          <a:off x="434688" y="1377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{9D664D1D-DC9B-4A0C-A740-CCC3319F43DE}</a:tableStyleId>
              </a:tblPr>
              <a:tblGrid>
                <a:gridCol w="1687000"/>
                <a:gridCol w="3055375"/>
                <a:gridCol w="3142850"/>
              </a:tblGrid>
              <a:tr h="37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Integer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Calculation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Perfect cube number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37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7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66" name="Google Shape;1966;p152"/>
          <p:cNvSpPr txBox="1"/>
          <p:nvPr/>
        </p:nvSpPr>
        <p:spPr>
          <a:xfrm>
            <a:off x="2121699" y="18350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✕ 5 ✕ 5</a:t>
            </a:r>
            <a:endParaRPr/>
          </a:p>
        </p:txBody>
      </p:sp>
      <p:sp>
        <p:nvSpPr>
          <p:cNvPr id="1967" name="Google Shape;1967;p152"/>
          <p:cNvSpPr txBox="1"/>
          <p:nvPr/>
        </p:nvSpPr>
        <p:spPr>
          <a:xfrm>
            <a:off x="2121699" y="22922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✕ 10  ✕ 10</a:t>
            </a:r>
            <a:endParaRPr/>
          </a:p>
        </p:txBody>
      </p:sp>
      <p:sp>
        <p:nvSpPr>
          <p:cNvPr id="1968" name="Google Shape;1968;p152"/>
          <p:cNvSpPr txBox="1"/>
          <p:nvPr/>
        </p:nvSpPr>
        <p:spPr>
          <a:xfrm>
            <a:off x="5163049" y="18350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125</a:t>
            </a:r>
            <a:endParaRPr/>
          </a:p>
        </p:txBody>
      </p:sp>
      <p:sp>
        <p:nvSpPr>
          <p:cNvPr id="1969" name="Google Shape;1969;p152"/>
          <p:cNvSpPr txBox="1"/>
          <p:nvPr/>
        </p:nvSpPr>
        <p:spPr>
          <a:xfrm>
            <a:off x="5195174" y="22922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1000</a:t>
            </a:r>
            <a:endParaRPr/>
          </a:p>
        </p:txBody>
      </p:sp>
      <p:sp>
        <p:nvSpPr>
          <p:cNvPr id="1970" name="Google Shape;1970;p152"/>
          <p:cNvSpPr txBox="1"/>
          <p:nvPr>
            <p:ph idx="1" type="body"/>
          </p:nvPr>
        </p:nvSpPr>
        <p:spPr>
          <a:xfrm>
            <a:off x="3039600" y="3932400"/>
            <a:ext cx="2887200" cy="42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Cube root of 125 is 5</a:t>
            </a:r>
            <a:endParaRPr sz="2000"/>
          </a:p>
        </p:txBody>
      </p:sp>
      <p:sp>
        <p:nvSpPr>
          <p:cNvPr id="1971" name="Google Shape;1971;p152"/>
          <p:cNvSpPr txBox="1"/>
          <p:nvPr>
            <p:ph idx="1" type="body"/>
          </p:nvPr>
        </p:nvSpPr>
        <p:spPr>
          <a:xfrm>
            <a:off x="3039600" y="4343950"/>
            <a:ext cx="2887200" cy="42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Cube root of 1000 is 10</a:t>
            </a:r>
            <a:endParaRPr sz="2000"/>
          </a:p>
        </p:txBody>
      </p:sp>
      <p:sp>
        <p:nvSpPr>
          <p:cNvPr id="1972" name="Google Shape;1972;p152"/>
          <p:cNvSpPr txBox="1"/>
          <p:nvPr>
            <p:ph idx="1" type="body"/>
          </p:nvPr>
        </p:nvSpPr>
        <p:spPr>
          <a:xfrm>
            <a:off x="1957150" y="3085500"/>
            <a:ext cx="5886000" cy="8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use               to represent the cube root.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sqrt{25}&quot;&gt;&lt;msqrt&gt;&lt;mn&gt;25&lt;/mn&gt;&lt;/msqrt&gt;&lt;/math&gt;" id="1973" name="Google Shape;1973;p152" title="the square root of 25"/>
          <p:cNvPicPr preferRelativeResize="0"/>
          <p:nvPr/>
        </p:nvPicPr>
        <p:blipFill rotWithShape="1">
          <a:blip r:embed="rId3">
            <a:alphaModFix/>
          </a:blip>
          <a:srcRect b="280310" l="0" r="0" t="-280310"/>
          <a:stretch/>
        </p:blipFill>
        <p:spPr>
          <a:xfrm>
            <a:off x="2699907" y="2933100"/>
            <a:ext cx="423286" cy="390288"/>
          </a:xfrm>
          <a:prstGeom prst="rect">
            <a:avLst/>
          </a:prstGeom>
          <a:noFill/>
          <a:ln>
            <a:noFill/>
          </a:ln>
        </p:spPr>
      </p:pic>
      <p:sp>
        <p:nvSpPr>
          <p:cNvPr id="1974" name="Google Shape;1974;p152"/>
          <p:cNvSpPr txBox="1"/>
          <p:nvPr>
            <p:ph idx="1" type="body"/>
          </p:nvPr>
        </p:nvSpPr>
        <p:spPr>
          <a:xfrm>
            <a:off x="2842762" y="3915111"/>
            <a:ext cx="3521100" cy="4236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                                 = 5      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sqrt[3]{\ \ \ \ \ }&quot;&gt;&lt;mroot&gt;&lt;mrow&gt;&lt;mtext&gt;&lt;/mtext&gt;&lt;mtext&gt;&lt;/mtext&gt;&lt;mtext&gt;&lt;/mtext&gt;&lt;mtext&gt;&lt;/mtext&gt;&lt;mtext&gt;&lt;/mtext&gt;&lt;/mrow&gt;&lt;mn&gt;3&lt;/mn&gt;&lt;/mroot&gt;&lt;/math&gt;" id="1975" name="Google Shape;1975;p152" title="the cube root o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3200" y="3039338"/>
            <a:ext cx="666750" cy="4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6" name="Google Shape;1976;p152"/>
          <p:cNvSpPr txBox="1"/>
          <p:nvPr>
            <p:ph idx="1" type="body"/>
          </p:nvPr>
        </p:nvSpPr>
        <p:spPr>
          <a:xfrm>
            <a:off x="2929719" y="4317019"/>
            <a:ext cx="3521100" cy="4236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                                 = 10      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sqrt[3]{125}&quot;&gt;&lt;mroot&gt;&lt;mn&gt;125&lt;/mn&gt;&lt;mn&gt;3&lt;/mn&gt;&lt;/mroot&gt;&lt;/math&gt;" id="1977" name="Google Shape;1977;p152" title="the cube root of 1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0000" y="3856200"/>
            <a:ext cx="7524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[3]{1000}&quot;&gt;&lt;mroot&gt;&lt;mn&gt;1000&lt;/mn&gt;&lt;mn&gt;3&lt;/mn&gt;&lt;/mroot&gt;&lt;/math&gt;" id="1978" name="Google Shape;1978;p152" title="the cube root of 1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49225" y="4279525"/>
            <a:ext cx="914400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2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Google Shape;1983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Cube root</a:t>
            </a:r>
            <a:endParaRPr/>
          </a:p>
        </p:txBody>
      </p:sp>
      <p:sp>
        <p:nvSpPr>
          <p:cNvPr id="1984" name="Google Shape;1984;p153"/>
          <p:cNvSpPr txBox="1"/>
          <p:nvPr>
            <p:ph idx="4294967295" type="body"/>
          </p:nvPr>
        </p:nvSpPr>
        <p:spPr>
          <a:xfrm>
            <a:off x="324000" y="759300"/>
            <a:ext cx="8237700" cy="5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Match the cube root of the </a:t>
            </a:r>
            <a:r>
              <a:rPr b="1" lang="en-GB" sz="1800"/>
              <a:t>perfect cube</a:t>
            </a:r>
            <a:r>
              <a:rPr lang="en-GB" sz="1800"/>
              <a:t> with the correct answer.</a:t>
            </a:r>
            <a:endParaRPr sz="1800"/>
          </a:p>
        </p:txBody>
      </p:sp>
      <p:sp>
        <p:nvSpPr>
          <p:cNvPr id="1985" name="Google Shape;1985;p153"/>
          <p:cNvSpPr txBox="1"/>
          <p:nvPr/>
        </p:nvSpPr>
        <p:spPr>
          <a:xfrm>
            <a:off x="5382975" y="3516288"/>
            <a:ext cx="7101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5</a:t>
            </a:r>
            <a:endParaRPr sz="2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6" name="Google Shape;1986;p153"/>
          <p:cNvSpPr txBox="1"/>
          <p:nvPr/>
        </p:nvSpPr>
        <p:spPr>
          <a:xfrm>
            <a:off x="5382975" y="4222575"/>
            <a:ext cx="7101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1</a:t>
            </a:r>
            <a:endParaRPr sz="2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7" name="Google Shape;1987;p153"/>
          <p:cNvSpPr txBox="1"/>
          <p:nvPr/>
        </p:nvSpPr>
        <p:spPr>
          <a:xfrm>
            <a:off x="5382975" y="1150375"/>
            <a:ext cx="7101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6</a:t>
            </a:r>
            <a:endParaRPr sz="2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8" name="Google Shape;1988;p153"/>
          <p:cNvSpPr txBox="1"/>
          <p:nvPr/>
        </p:nvSpPr>
        <p:spPr>
          <a:xfrm>
            <a:off x="5382975" y="1874388"/>
            <a:ext cx="7101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2</a:t>
            </a:r>
            <a:endParaRPr sz="2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9" name="Google Shape;1989;p153"/>
          <p:cNvSpPr txBox="1"/>
          <p:nvPr/>
        </p:nvSpPr>
        <p:spPr>
          <a:xfrm>
            <a:off x="5382975" y="2686463"/>
            <a:ext cx="7101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10</a:t>
            </a:r>
            <a:endParaRPr sz="2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90" name="Google Shape;1990;p153"/>
          <p:cNvCxnSpPr/>
          <p:nvPr/>
        </p:nvCxnSpPr>
        <p:spPr>
          <a:xfrm>
            <a:off x="3676504" y="1426948"/>
            <a:ext cx="1903800" cy="23658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1" name="Google Shape;1991;p153"/>
          <p:cNvCxnSpPr/>
          <p:nvPr/>
        </p:nvCxnSpPr>
        <p:spPr>
          <a:xfrm>
            <a:off x="3707775" y="2057175"/>
            <a:ext cx="1857900" cy="23664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2" name="Google Shape;1992;p153"/>
          <p:cNvCxnSpPr>
            <a:stCxn id="1993" idx="3"/>
          </p:cNvCxnSpPr>
          <p:nvPr/>
        </p:nvCxnSpPr>
        <p:spPr>
          <a:xfrm flipH="1" rot="10800000">
            <a:off x="3548025" y="1503025"/>
            <a:ext cx="1971300" cy="13149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4" name="Google Shape;1994;p153"/>
          <p:cNvCxnSpPr/>
          <p:nvPr/>
        </p:nvCxnSpPr>
        <p:spPr>
          <a:xfrm flipH="1" rot="10800000">
            <a:off x="3523225" y="2300650"/>
            <a:ext cx="2045700" cy="13398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5" name="Google Shape;1995;p153"/>
          <p:cNvCxnSpPr/>
          <p:nvPr/>
        </p:nvCxnSpPr>
        <p:spPr>
          <a:xfrm flipH="1" rot="10800000">
            <a:off x="3471825" y="3040763"/>
            <a:ext cx="2091600" cy="1397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sqrt[3]{125}&quot;&gt;&lt;mroot&gt;&lt;mn&gt;125&lt;/mn&gt;&lt;mn&gt;3&lt;/mn&gt;&lt;/mroot&gt;&lt;/math&gt;" id="1996" name="Google Shape;1996;p153" title="the cube root of 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1225" y="1234238"/>
            <a:ext cx="7524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[3]{216}&quot;&gt;&lt;mroot&gt;&lt;mn&gt;216&lt;/mn&gt;&lt;mn&gt;3&lt;/mn&gt;&lt;/mroot&gt;&lt;/math&gt;" id="1993" name="Google Shape;1993;p153" title="the cube root of 2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5550" y="2617900"/>
            <a:ext cx="7524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[3]{1000}&quot;&gt;&lt;mroot&gt;&lt;mn&gt;1000&lt;/mn&gt;&lt;mn&gt;3&lt;/mn&gt;&lt;/mroot&gt;&lt;/math&gt;" id="1997" name="Google Shape;1997;p153" title="the cube root of 1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06200" y="4274250"/>
            <a:ext cx="9144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[3]{8}&quot;&gt;&lt;mroot&gt;&lt;mn&gt;8&lt;/mn&gt;&lt;mn&gt;3&lt;/mn&gt;&lt;/mroot&gt;&lt;/math&gt;" id="1998" name="Google Shape;1998;p153" title="the cube root of 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77688" y="3446075"/>
            <a:ext cx="4286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[3]{1}&quot;&gt;&lt;mroot&gt;&lt;mn&gt;1&lt;/mn&gt;&lt;mn&gt;3&lt;/mn&gt;&lt;/mroot&gt;&lt;/math&gt;" id="1999" name="Google Shape;1999;p153" title="the cube root of 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04750" y="1874400"/>
            <a:ext cx="526814" cy="50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&lt;math xmlns=&quot;http://www.w3.org/1998/Math/MathML&quot; display=&quot;block&quot; data-is-equatio=&quot;1&quot; data-latex=&quot;\sqrt[3]{90}&quot;&gt;&lt;mroot&gt;&lt;mn&gt;90&lt;/mn&gt;&lt;mn&gt;3&lt;/mn&gt;&lt;/mroot&gt;&lt;/math&gt;" id="2004" name="Google Shape;2004;p1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the closest integer to            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Alex says “It is 10”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Sofia says “It is 5”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Andeep says “It is 4”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Who is correct? Explain your answer.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005" name="Google Shape;2005;p15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Cube root</a:t>
            </a:r>
            <a:endParaRPr/>
          </a:p>
        </p:txBody>
      </p:sp>
      <p:pic>
        <p:nvPicPr>
          <p:cNvPr id="2006" name="Google Shape;2006;p154" title="the cube root of 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6725" y="759300"/>
            <a:ext cx="5905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descr="&lt;math xmlns=&quot;http://www.w3.org/1998/Math/MathML&quot; display=&quot;block&quot; data-is-equatio=&quot;1&quot; data-latex=&quot;\sqrt[3]{90}&quot;&gt;&lt;mroot&gt;&lt;mn&gt;90&lt;/mn&gt;&lt;mn&gt;3&lt;/mn&gt;&lt;/mroot&gt;&lt;/math&gt;" id="2007" name="Google Shape;2007;p154"/>
          <p:cNvSpPr txBox="1"/>
          <p:nvPr>
            <p:ph idx="1" type="body"/>
          </p:nvPr>
        </p:nvSpPr>
        <p:spPr>
          <a:xfrm>
            <a:off x="3709725" y="1533750"/>
            <a:ext cx="32745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10 ✕ 10 ✕ 10 = 1000</a:t>
            </a:r>
            <a:endParaRPr sz="25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sqrt[3]{90}&quot;&gt;&lt;mroot&gt;&lt;mn&gt;90&lt;/mn&gt;&lt;mn&gt;3&lt;/mn&gt;&lt;/mroot&gt;&lt;/math&gt;" id="2008" name="Google Shape;2008;p154"/>
          <p:cNvSpPr txBox="1"/>
          <p:nvPr>
            <p:ph idx="1" type="body"/>
          </p:nvPr>
        </p:nvSpPr>
        <p:spPr>
          <a:xfrm>
            <a:off x="4170557" y="2036100"/>
            <a:ext cx="37017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2500">
                <a:latin typeface="Kalam"/>
                <a:ea typeface="Kalam"/>
                <a:cs typeface="Kalam"/>
                <a:sym typeface="Kalam"/>
              </a:rPr>
              <a:t> ✕ 5 ✕ 5 = 125</a:t>
            </a:r>
            <a:endParaRPr sz="25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sqrt[3]{90}&quot;&gt;&lt;mroot&gt;&lt;mn&gt;90&lt;/mn&gt;&lt;mn&gt;3&lt;/mn&gt;&lt;/mroot&gt;&lt;/math&gt;" id="2009" name="Google Shape;2009;p154"/>
          <p:cNvSpPr txBox="1"/>
          <p:nvPr>
            <p:ph idx="1" type="body"/>
          </p:nvPr>
        </p:nvSpPr>
        <p:spPr>
          <a:xfrm>
            <a:off x="4170557" y="2569500"/>
            <a:ext cx="37017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2500">
                <a:latin typeface="Kalam"/>
                <a:ea typeface="Kalam"/>
                <a:cs typeface="Kalam"/>
                <a:sym typeface="Kalam"/>
              </a:rPr>
              <a:t> ✕ 4 ✕ 4 = 64</a:t>
            </a:r>
            <a:endParaRPr sz="25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sqrt[3]{90}&quot;&gt;&lt;mroot&gt;&lt;mn&gt;90&lt;/mn&gt;&lt;mn&gt;3&lt;/mn&gt;&lt;/mroot&gt;&lt;/math&gt;" id="2010" name="Google Shape;2010;p154"/>
          <p:cNvSpPr txBox="1"/>
          <p:nvPr>
            <p:ph idx="1" type="body"/>
          </p:nvPr>
        </p:nvSpPr>
        <p:spPr>
          <a:xfrm>
            <a:off x="392642" y="3780000"/>
            <a:ext cx="78852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64 is closer to 90 than 125 or 1000. Therefore Andeep is </a:t>
            </a:r>
            <a:r>
              <a:rPr lang="en-GB" sz="2500">
                <a:latin typeface="Kalam"/>
                <a:ea typeface="Kalam"/>
                <a:cs typeface="Kalam"/>
                <a:sym typeface="Kalam"/>
              </a:rPr>
              <a:t>closest.</a:t>
            </a:r>
            <a:endParaRPr sz="25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4" name="Shape 2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5" name="Google Shape;2015;p155"/>
          <p:cNvSpPr txBox="1"/>
          <p:nvPr>
            <p:ph idx="1" type="body"/>
          </p:nvPr>
        </p:nvSpPr>
        <p:spPr>
          <a:xfrm>
            <a:off x="324000" y="911700"/>
            <a:ext cx="82377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arenR"/>
            </a:pPr>
            <a:r>
              <a:rPr lang="en-GB" sz="2100"/>
              <a:t>Which of the following will give an integer answer?</a:t>
            </a:r>
            <a:endParaRPr sz="2100"/>
          </a:p>
        </p:txBody>
      </p:sp>
      <p:sp>
        <p:nvSpPr>
          <p:cNvPr id="2016" name="Google Shape;2016;p1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Cube root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sqrt[3]{1000}&quot;&gt;&lt;mroot&gt;&lt;mn&gt;1000&lt;/mn&gt;&lt;mn&gt;3&lt;/mn&gt;&lt;/mroot&gt;&lt;/math&gt;" id="2017" name="Google Shape;2017;p155" title="the cube root of 1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025" y="1779151"/>
            <a:ext cx="956494" cy="4422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[3]{1}&quot;&gt;&lt;mroot&gt;&lt;mn&gt;1&lt;/mn&gt;&lt;mn&gt;3&lt;/mn&gt;&lt;/mroot&gt;&lt;/math&gt;" id="2018" name="Google Shape;2018;p155" title="the cube root of 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8772" y="2031844"/>
            <a:ext cx="787115" cy="442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9" name="Google Shape;2019;p1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52118" y="3087882"/>
            <a:ext cx="448357" cy="4527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[3]{8}&quot;&gt;&lt;mroot&gt;&lt;mn&gt;8&lt;/mn&gt;&lt;mn&gt;3&lt;/mn&gt;&lt;/mroot&gt;&lt;/math&gt;" id="2020" name="Google Shape;2020;p155" title="the cube root of 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82619" y="2031858"/>
            <a:ext cx="448357" cy="4422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[3]{64}&quot;&gt;&lt;mroot&gt;&lt;mn&gt;64&lt;/mn&gt;&lt;mn&gt;3&lt;/mn&gt;&lt;/mroot&gt;&lt;/math&gt;" id="2021" name="Google Shape;2021;p155" title="the cube root of 6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49312" y="3093147"/>
            <a:ext cx="617736" cy="4422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[3]{50}&quot;&gt;&lt;mroot&gt;&lt;mn&gt;50&lt;/mn&gt;&lt;mn&gt;3&lt;/mn&gt;&lt;/mroot&gt;&lt;/math&gt;" id="2022" name="Google Shape;2022;p155" title="the cube root of 5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07064" y="1779151"/>
            <a:ext cx="617736" cy="4422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[3]{27}&quot;&gt;&lt;mroot&gt;&lt;mn&gt;27&lt;/mn&gt;&lt;mn&gt;3&lt;/mn&gt;&lt;/mroot&gt;&lt;/math&gt;" id="2023" name="Google Shape;2023;p155" title="the cube root of 2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989652" y="3242590"/>
            <a:ext cx="617736" cy="442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7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" name="Google Shape;2028;p1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Cube root</a:t>
            </a:r>
            <a:endParaRPr/>
          </a:p>
        </p:txBody>
      </p:sp>
      <p:sp>
        <p:nvSpPr>
          <p:cNvPr id="2029" name="Google Shape;2029;p156"/>
          <p:cNvSpPr txBox="1"/>
          <p:nvPr/>
        </p:nvSpPr>
        <p:spPr>
          <a:xfrm>
            <a:off x="335825" y="819150"/>
            <a:ext cx="8560500" cy="25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What is the closest integer to              ?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Laura says “It is 6”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Jun says “It is 5”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Who is correct? Explain your answer.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[3]{200}&quot;&gt;&lt;mroot&gt;&lt;mn&gt;200&lt;/mn&gt;&lt;mn&gt;3&lt;/mn&gt;&lt;/mroot&gt;&lt;/math&gt;" id="2030" name="Google Shape;2030;p156" title="the cube root of 2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8149" y="867612"/>
            <a:ext cx="799000" cy="424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4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p1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Cube root</a:t>
            </a:r>
            <a:endParaRPr/>
          </a:p>
        </p:txBody>
      </p:sp>
      <p:sp>
        <p:nvSpPr>
          <p:cNvPr id="2036" name="Google Shape;2036;p157"/>
          <p:cNvSpPr txBox="1"/>
          <p:nvPr>
            <p:ph idx="1" type="body"/>
          </p:nvPr>
        </p:nvSpPr>
        <p:spPr>
          <a:xfrm>
            <a:off x="324000" y="759300"/>
            <a:ext cx="8237700" cy="5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Work out the answers to the following using your knowledge of square and cube roots of </a:t>
            </a:r>
            <a:r>
              <a:rPr b="1" lang="en-GB" sz="1800"/>
              <a:t>perfect square</a:t>
            </a:r>
            <a:r>
              <a:rPr lang="en-GB" sz="1800"/>
              <a:t> and </a:t>
            </a:r>
            <a:r>
              <a:rPr b="1" lang="en-GB" sz="1800"/>
              <a:t>perfect cube</a:t>
            </a:r>
            <a:r>
              <a:rPr lang="en-GB" sz="1800"/>
              <a:t> numbers.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d)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sqrt[3]{1000}\ +\ 8&quot;&gt;&lt;mroot&gt;&lt;mn&gt;1000&lt;/mn&gt;&lt;mn&gt;3&lt;/mn&gt;&lt;/mroot&gt;&lt;mtext&gt;&lt;/mtext&gt;&lt;mo&gt;+&lt;/mo&gt;&lt;mtext&gt;&lt;/mtext&gt;&lt;mn&gt;8&lt;/mn&gt;&lt;/math&gt;" id="2037" name="Google Shape;2037;p157" title="the cube root of 1000 plus 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5175" y="2435413"/>
            <a:ext cx="161925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[3]{1000}\ +\sqrt[3]{8}&quot;&gt;&lt;mroot&gt;&lt;mn&gt;1000&lt;/mn&gt;&lt;mn&gt;3&lt;/mn&gt;&lt;/mroot&gt;&lt;mtext&gt;&lt;/mtext&gt;&lt;mo&gt;+&lt;/mo&gt;&lt;mroot&gt;&lt;mn&gt;8&lt;/mn&gt;&lt;mn&gt;3&lt;/mn&gt;&lt;/mroot&gt;&lt;/math&gt;" id="2038" name="Google Shape;2038;p157" title="the cube root of 1000 positive the cube root of 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3588" y="3370000"/>
            <a:ext cx="1857375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[3]{125}\ -\sqrt[3]{1}&quot;&gt;&lt;mroot&gt;&lt;mn&gt;125&lt;/mn&gt;&lt;mn&gt;3&lt;/mn&gt;&lt;/mroot&gt;&lt;mtext&gt;&lt;/mtext&gt;&lt;mo&gt;−&lt;/mo&gt;&lt;mroot&gt;&lt;mn&gt;1&lt;/mn&gt;&lt;mn&gt;3&lt;/mn&gt;&lt;/mroot&gt;&lt;/math&gt;" id="2039" name="Google Shape;2039;p157" title="the cube root of 125 negative the cube root of 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5038" y="1639513"/>
            <a:ext cx="17145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[3]{64}\ -\sqrt{64}&quot;&gt;&lt;mroot&gt;&lt;mn&gt;64&lt;/mn&gt;&lt;mn&gt;3&lt;/mn&gt;&lt;/mroot&gt;&lt;mtext&gt;&lt;/mtext&gt;&lt;mo&gt;−&lt;/mo&gt;&lt;msqrt&gt;&lt;mn&gt;64&lt;/mn&gt;&lt;/msqrt&gt;&lt;/math&gt;" id="2040" name="Google Shape;2040;p157" title="the cube root of 64 the negative square root of 6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5025" y="4218050"/>
            <a:ext cx="17145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4" name="Shape 2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Google Shape;2045;p158"/>
          <p:cNvSpPr txBox="1"/>
          <p:nvPr>
            <p:ph idx="1" type="body"/>
          </p:nvPr>
        </p:nvSpPr>
        <p:spPr>
          <a:xfrm>
            <a:off x="324000" y="759300"/>
            <a:ext cx="8237700" cy="14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4</a:t>
            </a:r>
            <a:r>
              <a:rPr lang="en-GB" sz="2000"/>
              <a:t>) Izzy has puzzle cube gift for Lucas. The puzzle cube has a length of 4.5 cm.  She needs to select the correct gift box. The gift boxes are also cubes. Which is the best choice for the puzzle cube?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Explain your answer.</a:t>
            </a:r>
            <a:endParaRPr sz="2000"/>
          </a:p>
        </p:txBody>
      </p:sp>
      <p:sp>
        <p:nvSpPr>
          <p:cNvPr id="2046" name="Google Shape;2046;p15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Cube root</a:t>
            </a:r>
            <a:endParaRPr/>
          </a:p>
        </p:txBody>
      </p:sp>
      <p:sp>
        <p:nvSpPr>
          <p:cNvPr id="2047" name="Google Shape;2047;p158"/>
          <p:cNvSpPr txBox="1"/>
          <p:nvPr>
            <p:ph idx="1" type="body"/>
          </p:nvPr>
        </p:nvSpPr>
        <p:spPr>
          <a:xfrm>
            <a:off x="440550" y="3912100"/>
            <a:ext cx="2488500" cy="46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Volume = 1000 cm</a:t>
            </a:r>
            <a:r>
              <a:rPr baseline="30000" lang="en-GB" sz="2000"/>
              <a:t>3</a:t>
            </a:r>
            <a:r>
              <a:rPr lang="en-GB" sz="2000"/>
              <a:t> 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048" name="Google Shape;2048;p158"/>
          <p:cNvSpPr txBox="1"/>
          <p:nvPr>
            <p:ph idx="1" type="body"/>
          </p:nvPr>
        </p:nvSpPr>
        <p:spPr>
          <a:xfrm>
            <a:off x="3299850" y="3928868"/>
            <a:ext cx="2488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Volume = 512 cm</a:t>
            </a:r>
            <a:r>
              <a:rPr baseline="30000" lang="en-GB" sz="2000"/>
              <a:t>3</a:t>
            </a:r>
            <a:endParaRPr sz="2000"/>
          </a:p>
        </p:txBody>
      </p:sp>
      <p:sp>
        <p:nvSpPr>
          <p:cNvPr id="2049" name="Google Shape;2049;p158"/>
          <p:cNvSpPr txBox="1"/>
          <p:nvPr>
            <p:ph idx="1" type="body"/>
          </p:nvPr>
        </p:nvSpPr>
        <p:spPr>
          <a:xfrm>
            <a:off x="6142825" y="3912100"/>
            <a:ext cx="2076000" cy="46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Volume = 64 cm</a:t>
            </a:r>
            <a:r>
              <a:rPr baseline="30000" lang="en-GB" sz="2000"/>
              <a:t>3</a:t>
            </a:r>
            <a:r>
              <a:rPr lang="en-GB" sz="2000"/>
              <a:t> </a:t>
            </a:r>
            <a:endParaRPr sz="2000"/>
          </a:p>
        </p:txBody>
      </p:sp>
      <p:pic>
        <p:nvPicPr>
          <p:cNvPr id="2050" name="Google Shape;2050;p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500" y="2541001"/>
            <a:ext cx="1159474" cy="128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1" name="Google Shape;2051;p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4928" y="2664863"/>
            <a:ext cx="935851" cy="10367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2" name="Google Shape;2052;p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2901" y="2752147"/>
            <a:ext cx="746300" cy="826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6" name="Shape 2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Google Shape;2057;p15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arenR"/>
            </a:pPr>
            <a:r>
              <a:rPr lang="en-GB" sz="2100"/>
              <a:t>Which of the following will give an integer answer?</a:t>
            </a:r>
            <a:endParaRPr sz="2100"/>
          </a:p>
        </p:txBody>
      </p:sp>
      <p:sp>
        <p:nvSpPr>
          <p:cNvPr id="2058" name="Google Shape;2058;p15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Cube root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sqrt[3]{1000}&quot;&gt;&lt;mroot&gt;&lt;mn&gt;1000&lt;/mn&gt;&lt;mn&gt;3&lt;/mn&gt;&lt;/mroot&gt;&lt;/math&gt;" id="2059" name="Google Shape;2059;p159" title="the cube root of 1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025" y="1779151"/>
            <a:ext cx="956494" cy="4422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[3]{1}&quot;&gt;&lt;mroot&gt;&lt;mn&gt;1&lt;/mn&gt;&lt;mn&gt;3&lt;/mn&gt;&lt;/mroot&gt;&lt;/math&gt;" id="2060" name="Google Shape;2060;p159" title="the cube root of 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8772" y="2031844"/>
            <a:ext cx="787115" cy="442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1" name="Google Shape;2061;p1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52118" y="3087882"/>
            <a:ext cx="448357" cy="4527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[3]{8}&quot;&gt;&lt;mroot&gt;&lt;mn&gt;8&lt;/mn&gt;&lt;mn&gt;3&lt;/mn&gt;&lt;/mroot&gt;&lt;/math&gt;" id="2062" name="Google Shape;2062;p159" title="the cube root of 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82619" y="2031858"/>
            <a:ext cx="448357" cy="4422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[3]{64}&quot;&gt;&lt;mroot&gt;&lt;mn&gt;64&lt;/mn&gt;&lt;mn&gt;3&lt;/mn&gt;&lt;/mroot&gt;&lt;/math&gt;" id="2063" name="Google Shape;2063;p159" title="the cube root of 6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49312" y="3093147"/>
            <a:ext cx="617736" cy="4422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[3]{50}&quot;&gt;&lt;mroot&gt;&lt;mn&gt;50&lt;/mn&gt;&lt;mn&gt;3&lt;/mn&gt;&lt;/mroot&gt;&lt;/math&gt;" id="2064" name="Google Shape;2064;p159" title="the cube root of 5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07064" y="1779151"/>
            <a:ext cx="617736" cy="4422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[3]{27}&quot;&gt;&lt;mroot&gt;&lt;mn&gt;27&lt;/mn&gt;&lt;mn&gt;3&lt;/mn&gt;&lt;/mroot&gt;&lt;/math&gt;" id="2065" name="Google Shape;2065;p159" title="the cube root of 2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989652" y="3242590"/>
            <a:ext cx="617736" cy="4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2066" name="Google Shape;2066;p159"/>
          <p:cNvSpPr/>
          <p:nvPr/>
        </p:nvSpPr>
        <p:spPr>
          <a:xfrm>
            <a:off x="544300" y="1528063"/>
            <a:ext cx="1616400" cy="9444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7" name="Google Shape;2067;p159"/>
          <p:cNvSpPr/>
          <p:nvPr/>
        </p:nvSpPr>
        <p:spPr>
          <a:xfrm>
            <a:off x="4520125" y="1687788"/>
            <a:ext cx="1616400" cy="9444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8" name="Google Shape;2068;p159"/>
          <p:cNvSpPr/>
          <p:nvPr/>
        </p:nvSpPr>
        <p:spPr>
          <a:xfrm>
            <a:off x="1387950" y="2910538"/>
            <a:ext cx="1616400" cy="9444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9" name="Google Shape;2069;p159"/>
          <p:cNvSpPr/>
          <p:nvPr/>
        </p:nvSpPr>
        <p:spPr>
          <a:xfrm>
            <a:off x="3520150" y="2842050"/>
            <a:ext cx="1616400" cy="9444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0" name="Google Shape;2070;p159"/>
          <p:cNvSpPr/>
          <p:nvPr/>
        </p:nvSpPr>
        <p:spPr>
          <a:xfrm>
            <a:off x="5652350" y="2842038"/>
            <a:ext cx="1616400" cy="9444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4" name="Shape 2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" name="Google Shape;2075;p16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Cube root</a:t>
            </a:r>
            <a:endParaRPr/>
          </a:p>
        </p:txBody>
      </p:sp>
      <p:sp>
        <p:nvSpPr>
          <p:cNvPr id="2076" name="Google Shape;2076;p160"/>
          <p:cNvSpPr txBox="1"/>
          <p:nvPr/>
        </p:nvSpPr>
        <p:spPr>
          <a:xfrm>
            <a:off x="335825" y="819150"/>
            <a:ext cx="8560500" cy="25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What is the closest integer to              ?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Laura says “It is 6”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Jun says “It is 5”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Who is correct? Explain your answer.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[3]{200}&quot;&gt;&lt;mroot&gt;&lt;mn&gt;200&lt;/mn&gt;&lt;mn&gt;3&lt;/mn&gt;&lt;/mroot&gt;&lt;/math&gt;" id="2077" name="Google Shape;2077;p160" title="the cube root of 2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8149" y="867612"/>
            <a:ext cx="799000" cy="424785"/>
          </a:xfrm>
          <a:prstGeom prst="rect">
            <a:avLst/>
          </a:prstGeom>
          <a:noFill/>
          <a:ln>
            <a:noFill/>
          </a:ln>
        </p:spPr>
      </p:pic>
      <p:sp>
        <p:nvSpPr>
          <p:cNvPr descr="&lt;math xmlns=&quot;http://www.w3.org/1998/Math/MathML&quot; display=&quot;block&quot; data-is-equatio=&quot;1&quot; data-latex=&quot;\sqrt[3]{90}&quot;&gt;&lt;mroot&gt;&lt;mn&gt;90&lt;/mn&gt;&lt;mn&gt;3&lt;/mn&gt;&lt;/mroot&gt;&lt;/math&gt;" id="2078" name="Google Shape;2078;p160"/>
          <p:cNvSpPr txBox="1"/>
          <p:nvPr>
            <p:ph idx="4294967295" type="body"/>
          </p:nvPr>
        </p:nvSpPr>
        <p:spPr>
          <a:xfrm>
            <a:off x="2926600" y="2839800"/>
            <a:ext cx="32745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6 ✕ 6 ✕ 6 = 216</a:t>
            </a:r>
            <a:endParaRPr sz="25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sqrt[3]{90}&quot;&gt;&lt;mroot&gt;&lt;mn&gt;90&lt;/mn&gt;&lt;mn&gt;3&lt;/mn&gt;&lt;/mroot&gt;&lt;/math&gt;" id="2079" name="Google Shape;2079;p160"/>
          <p:cNvSpPr txBox="1"/>
          <p:nvPr>
            <p:ph idx="4294967295" type="body"/>
          </p:nvPr>
        </p:nvSpPr>
        <p:spPr>
          <a:xfrm>
            <a:off x="2949757" y="3440113"/>
            <a:ext cx="37017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5 ✕ 5 ✕ 5 = 125</a:t>
            </a:r>
            <a:endParaRPr sz="25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sqrt[3]{90}&quot;&gt;&lt;mroot&gt;&lt;mn&gt;90&lt;/mn&gt;&lt;mn&gt;3&lt;/mn&gt;&lt;/mroot&gt;&lt;/math&gt;" id="2080" name="Google Shape;2080;p160"/>
          <p:cNvSpPr txBox="1"/>
          <p:nvPr>
            <p:ph idx="4294967295" type="body"/>
          </p:nvPr>
        </p:nvSpPr>
        <p:spPr>
          <a:xfrm>
            <a:off x="629392" y="4040425"/>
            <a:ext cx="78852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216 is closer to 200 than 125. Therefore Laura is correct.</a:t>
            </a:r>
            <a:endParaRPr sz="25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4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Google Shape;2085;p16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Cube root</a:t>
            </a:r>
            <a:endParaRPr/>
          </a:p>
        </p:txBody>
      </p:sp>
      <p:sp>
        <p:nvSpPr>
          <p:cNvPr id="2086" name="Google Shape;2086;p161"/>
          <p:cNvSpPr txBox="1"/>
          <p:nvPr>
            <p:ph idx="1" type="body"/>
          </p:nvPr>
        </p:nvSpPr>
        <p:spPr>
          <a:xfrm>
            <a:off x="324000" y="759300"/>
            <a:ext cx="8237700" cy="6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</a:t>
            </a:r>
            <a:r>
              <a:rPr lang="en-GB" sz="1800"/>
              <a:t>) Work out the answers to the following using your knowledge of square and cube roots of </a:t>
            </a:r>
            <a:r>
              <a:rPr b="1" lang="en-GB" sz="1800"/>
              <a:t>perfect square</a:t>
            </a:r>
            <a:r>
              <a:rPr lang="en-GB" sz="1800"/>
              <a:t> and </a:t>
            </a:r>
            <a:r>
              <a:rPr b="1" lang="en-GB" sz="1800"/>
              <a:t>perfect cube</a:t>
            </a:r>
            <a:r>
              <a:rPr lang="en-GB" sz="1800"/>
              <a:t> numbers.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d)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sqrt[3]{1000}\ +\ 8&quot;&gt;&lt;mroot&gt;&lt;mn&gt;1000&lt;/mn&gt;&lt;mn&gt;3&lt;/mn&gt;&lt;/mroot&gt;&lt;mtext&gt;&lt;/mtext&gt;&lt;mo&gt;+&lt;/mo&gt;&lt;mtext&gt;&lt;/mtext&gt;&lt;mn&gt;8&lt;/mn&gt;&lt;/math&gt;" id="2087" name="Google Shape;2087;p161" title="the cube root of 1000 plus 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5175" y="2435413"/>
            <a:ext cx="161925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[3]{1000}\ +\sqrt[3]{8}&quot;&gt;&lt;mroot&gt;&lt;mn&gt;1000&lt;/mn&gt;&lt;mn&gt;3&lt;/mn&gt;&lt;/mroot&gt;&lt;mtext&gt;&lt;/mtext&gt;&lt;mo&gt;+&lt;/mo&gt;&lt;mroot&gt;&lt;mn&gt;8&lt;/mn&gt;&lt;mn&gt;3&lt;/mn&gt;&lt;/mroot&gt;&lt;/math&gt;" id="2088" name="Google Shape;2088;p161" title="the cube root of 1000 positive the cube root of 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3588" y="3370000"/>
            <a:ext cx="1857375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[3]{125}\ -\sqrt[3]{1}&quot;&gt;&lt;mroot&gt;&lt;mn&gt;125&lt;/mn&gt;&lt;mn&gt;3&lt;/mn&gt;&lt;/mroot&gt;&lt;mtext&gt;&lt;/mtext&gt;&lt;mo&gt;−&lt;/mo&gt;&lt;mroot&gt;&lt;mn&gt;1&lt;/mn&gt;&lt;mn&gt;3&lt;/mn&gt;&lt;/mroot&gt;&lt;/math&gt;" id="2089" name="Google Shape;2089;p161" title="the cube root of 125 negative the cube root of 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5038" y="1639513"/>
            <a:ext cx="17145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[3]{64}\ -\sqrt{64}&quot;&gt;&lt;mroot&gt;&lt;mn&gt;64&lt;/mn&gt;&lt;mn&gt;3&lt;/mn&gt;&lt;/mroot&gt;&lt;mtext&gt;&lt;/mtext&gt;&lt;mo&gt;−&lt;/mo&gt;&lt;msqrt&gt;&lt;mn&gt;64&lt;/mn&gt;&lt;/msqrt&gt;&lt;/math&gt;" id="2090" name="Google Shape;2090;p161" title="the cube root of 64 the negative square root of 6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5025" y="4218050"/>
            <a:ext cx="17145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&lt;math xmlns=&quot;http://www.w3.org/1998/Math/MathML&quot; display=&quot;block&quot; data-is-equatio=&quot;1&quot; data-latex=&quot;\sqrt[3]{90}&quot;&gt;&lt;mroot&gt;&lt;mn&gt;90&lt;/mn&gt;&lt;mn&gt;3&lt;/mn&gt;&lt;/mroot&gt;&lt;/math&gt;" id="2091" name="Google Shape;2091;p161"/>
          <p:cNvSpPr txBox="1"/>
          <p:nvPr>
            <p:ph idx="4294967295" type="body"/>
          </p:nvPr>
        </p:nvSpPr>
        <p:spPr>
          <a:xfrm>
            <a:off x="2862451" y="1648975"/>
            <a:ext cx="13884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900">
                <a:latin typeface="Kalam"/>
                <a:ea typeface="Kalam"/>
                <a:cs typeface="Kalam"/>
                <a:sym typeface="Kalam"/>
              </a:rPr>
              <a:t>= 5 - 1</a:t>
            </a:r>
            <a:endParaRPr sz="2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sqrt[3]{90}&quot;&gt;&lt;mroot&gt;&lt;mn&gt;90&lt;/mn&gt;&lt;mn&gt;3&lt;/mn&gt;&lt;/mroot&gt;&lt;/math&gt;" id="2092" name="Google Shape;2092;p161"/>
          <p:cNvSpPr txBox="1"/>
          <p:nvPr>
            <p:ph idx="4294967295" type="body"/>
          </p:nvPr>
        </p:nvSpPr>
        <p:spPr>
          <a:xfrm>
            <a:off x="4462651" y="1648975"/>
            <a:ext cx="13884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900">
                <a:latin typeface="Kalam"/>
                <a:ea typeface="Kalam"/>
                <a:cs typeface="Kalam"/>
                <a:sym typeface="Kalam"/>
              </a:rPr>
              <a:t>= 4</a:t>
            </a:r>
            <a:endParaRPr sz="2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sqrt[3]{90}&quot;&gt;&lt;mroot&gt;&lt;mn&gt;90&lt;/mn&gt;&lt;mn&gt;3&lt;/mn&gt;&lt;/mroot&gt;&lt;/math&gt;" id="2093" name="Google Shape;2093;p161"/>
          <p:cNvSpPr txBox="1"/>
          <p:nvPr>
            <p:ph idx="4294967295" type="body"/>
          </p:nvPr>
        </p:nvSpPr>
        <p:spPr>
          <a:xfrm>
            <a:off x="2862450" y="2410975"/>
            <a:ext cx="16194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900">
                <a:latin typeface="Kalam"/>
                <a:ea typeface="Kalam"/>
                <a:cs typeface="Kalam"/>
                <a:sym typeface="Kalam"/>
              </a:rPr>
              <a:t>= 10 + 8</a:t>
            </a:r>
            <a:endParaRPr sz="2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sqrt[3]{90}&quot;&gt;&lt;mroot&gt;&lt;mn&gt;90&lt;/mn&gt;&lt;mn&gt;3&lt;/mn&gt;&lt;/mroot&gt;&lt;/math&gt;" id="2094" name="Google Shape;2094;p161"/>
          <p:cNvSpPr txBox="1"/>
          <p:nvPr>
            <p:ph idx="4294967295" type="body"/>
          </p:nvPr>
        </p:nvSpPr>
        <p:spPr>
          <a:xfrm>
            <a:off x="4462651" y="2410975"/>
            <a:ext cx="13884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900">
                <a:latin typeface="Kalam"/>
                <a:ea typeface="Kalam"/>
                <a:cs typeface="Kalam"/>
                <a:sym typeface="Kalam"/>
              </a:rPr>
              <a:t>= 18</a:t>
            </a:r>
            <a:endParaRPr sz="2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sqrt[3]{90}&quot;&gt;&lt;mroot&gt;&lt;mn&gt;90&lt;/mn&gt;&lt;mn&gt;3&lt;/mn&gt;&lt;/mroot&gt;&lt;/math&gt;" id="2095" name="Google Shape;2095;p161"/>
          <p:cNvSpPr txBox="1"/>
          <p:nvPr>
            <p:ph idx="4294967295" type="body"/>
          </p:nvPr>
        </p:nvSpPr>
        <p:spPr>
          <a:xfrm>
            <a:off x="2862450" y="3401575"/>
            <a:ext cx="16194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900">
                <a:latin typeface="Kalam"/>
                <a:ea typeface="Kalam"/>
                <a:cs typeface="Kalam"/>
                <a:sym typeface="Kalam"/>
              </a:rPr>
              <a:t>= 10 + 2</a:t>
            </a:r>
            <a:endParaRPr sz="2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sqrt[3]{90}&quot;&gt;&lt;mroot&gt;&lt;mn&gt;90&lt;/mn&gt;&lt;mn&gt;3&lt;/mn&gt;&lt;/mroot&gt;&lt;/math&gt;" id="2096" name="Google Shape;2096;p161"/>
          <p:cNvSpPr txBox="1"/>
          <p:nvPr>
            <p:ph idx="4294967295" type="body"/>
          </p:nvPr>
        </p:nvSpPr>
        <p:spPr>
          <a:xfrm>
            <a:off x="4462651" y="3401575"/>
            <a:ext cx="13884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900">
                <a:latin typeface="Kalam"/>
                <a:ea typeface="Kalam"/>
                <a:cs typeface="Kalam"/>
                <a:sym typeface="Kalam"/>
              </a:rPr>
              <a:t>= 12</a:t>
            </a:r>
            <a:endParaRPr sz="2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sqrt[3]{90}&quot;&gt;&lt;mroot&gt;&lt;mn&gt;90&lt;/mn&gt;&lt;mn&gt;3&lt;/mn&gt;&lt;/mroot&gt;&lt;/math&gt;" id="2097" name="Google Shape;2097;p161"/>
          <p:cNvSpPr txBox="1"/>
          <p:nvPr>
            <p:ph idx="4294967295" type="body"/>
          </p:nvPr>
        </p:nvSpPr>
        <p:spPr>
          <a:xfrm>
            <a:off x="2862450" y="4163575"/>
            <a:ext cx="16194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900">
                <a:latin typeface="Kalam"/>
                <a:ea typeface="Kalam"/>
                <a:cs typeface="Kalam"/>
                <a:sym typeface="Kalam"/>
              </a:rPr>
              <a:t>= 4 - 8</a:t>
            </a:r>
            <a:endParaRPr sz="2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sqrt[3]{90}&quot;&gt;&lt;mroot&gt;&lt;mn&gt;90&lt;/mn&gt;&lt;mn&gt;3&lt;/mn&gt;&lt;/mroot&gt;&lt;/math&gt;" id="2098" name="Google Shape;2098;p161"/>
          <p:cNvSpPr txBox="1"/>
          <p:nvPr>
            <p:ph idx="4294967295" type="body"/>
          </p:nvPr>
        </p:nvSpPr>
        <p:spPr>
          <a:xfrm>
            <a:off x="4462651" y="4163575"/>
            <a:ext cx="13884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900">
                <a:latin typeface="Kalam"/>
                <a:ea typeface="Kalam"/>
                <a:cs typeface="Kalam"/>
                <a:sym typeface="Kalam"/>
              </a:rPr>
              <a:t>= -4</a:t>
            </a:r>
            <a:endParaRPr sz="29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2" name="Shape 2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3" name="Google Shape;2103;p1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4858" y="2588625"/>
            <a:ext cx="936000" cy="103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4" name="Google Shape;2104;p162"/>
          <p:cNvSpPr txBox="1"/>
          <p:nvPr>
            <p:ph idx="1" type="body"/>
          </p:nvPr>
        </p:nvSpPr>
        <p:spPr>
          <a:xfrm>
            <a:off x="324000" y="759300"/>
            <a:ext cx="83892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4</a:t>
            </a:r>
            <a:r>
              <a:rPr lang="en-GB" sz="2000"/>
              <a:t>) </a:t>
            </a:r>
            <a:r>
              <a:rPr lang="en-GB" sz="2000"/>
              <a:t>Izzy has puzzle cube gift for Lucas. The puzzle cube has a length of 4.5 cm.  She needs to select the correct gift box. The gift boxes are also cubes. Which gift box is the best choice for the puzzle cube?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Explain your answer.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105" name="Google Shape;2105;p16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Cube root</a:t>
            </a:r>
            <a:endParaRPr/>
          </a:p>
        </p:txBody>
      </p:sp>
      <p:sp>
        <p:nvSpPr>
          <p:cNvPr id="2106" name="Google Shape;2106;p162"/>
          <p:cNvSpPr txBox="1"/>
          <p:nvPr>
            <p:ph idx="1" type="body"/>
          </p:nvPr>
        </p:nvSpPr>
        <p:spPr>
          <a:xfrm>
            <a:off x="440550" y="3835900"/>
            <a:ext cx="2488500" cy="46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Volume = 1000 cm</a:t>
            </a:r>
            <a:r>
              <a:rPr baseline="30000" lang="en-GB" sz="2000"/>
              <a:t>3</a:t>
            </a:r>
            <a:r>
              <a:rPr lang="en-GB" sz="2000"/>
              <a:t> 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107" name="Google Shape;2107;p162"/>
          <p:cNvSpPr txBox="1"/>
          <p:nvPr>
            <p:ph idx="1" type="body"/>
          </p:nvPr>
        </p:nvSpPr>
        <p:spPr>
          <a:xfrm>
            <a:off x="3299850" y="3852668"/>
            <a:ext cx="2488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Volume = 512 cm</a:t>
            </a:r>
            <a:r>
              <a:rPr baseline="30000" lang="en-GB" sz="2000"/>
              <a:t>3</a:t>
            </a:r>
            <a:endParaRPr sz="2000"/>
          </a:p>
        </p:txBody>
      </p:sp>
      <p:pic>
        <p:nvPicPr>
          <p:cNvPr id="2108" name="Google Shape;2108;p1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3458" y="2675313"/>
            <a:ext cx="7452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9" name="Google Shape;2109;p1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645" y="2464425"/>
            <a:ext cx="1159200" cy="128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0" name="Google Shape;2110;p162"/>
          <p:cNvSpPr txBox="1"/>
          <p:nvPr>
            <p:ph idx="1" type="body"/>
          </p:nvPr>
        </p:nvSpPr>
        <p:spPr>
          <a:xfrm>
            <a:off x="6142825" y="3835900"/>
            <a:ext cx="2076000" cy="46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Volume = 64 cm</a:t>
            </a:r>
            <a:r>
              <a:rPr baseline="30000" lang="en-GB" sz="2000"/>
              <a:t>3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2111" name="Google Shape;2111;p162"/>
          <p:cNvSpPr txBox="1"/>
          <p:nvPr>
            <p:ph idx="1" type="body"/>
          </p:nvPr>
        </p:nvSpPr>
        <p:spPr>
          <a:xfrm>
            <a:off x="324000" y="4189875"/>
            <a:ext cx="2832900" cy="46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Length of gift box is 10 cm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 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2" name="Google Shape;2112;p162"/>
          <p:cNvSpPr txBox="1"/>
          <p:nvPr>
            <p:ph idx="1" type="body"/>
          </p:nvPr>
        </p:nvSpPr>
        <p:spPr>
          <a:xfrm>
            <a:off x="3233413" y="4186350"/>
            <a:ext cx="2832900" cy="46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Length of gift box is 8 cm  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3" name="Google Shape;2113;p162"/>
          <p:cNvSpPr txBox="1"/>
          <p:nvPr>
            <p:ph idx="1" type="body"/>
          </p:nvPr>
        </p:nvSpPr>
        <p:spPr>
          <a:xfrm>
            <a:off x="6142824" y="4186350"/>
            <a:ext cx="2666700" cy="46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Length of gift box is 4 cm  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114" name="Google Shape;2114;p1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5733" y="2879763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8" name="Shape 2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" name="Google Shape;2119;p163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 and cube roots</a:t>
            </a:r>
            <a:endParaRPr/>
          </a:p>
        </p:txBody>
      </p:sp>
      <p:sp>
        <p:nvSpPr>
          <p:cNvPr id="2120" name="Google Shape;2120;p163"/>
          <p:cNvSpPr txBox="1"/>
          <p:nvPr>
            <p:ph idx="1" type="body"/>
          </p:nvPr>
        </p:nvSpPr>
        <p:spPr>
          <a:xfrm>
            <a:off x="540100" y="1279175"/>
            <a:ext cx="8427900" cy="8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            of the </a:t>
            </a:r>
            <a:r>
              <a:rPr b="1" lang="en-GB" sz="2000"/>
              <a:t>perfect square</a:t>
            </a:r>
            <a:r>
              <a:rPr lang="en-GB" sz="2000"/>
              <a:t> is the integer that has been multiplied by itself to give that </a:t>
            </a:r>
            <a:r>
              <a:rPr b="1" lang="en-GB" sz="2000"/>
              <a:t>perfect square</a:t>
            </a:r>
            <a:r>
              <a:rPr lang="en-GB" sz="2000"/>
              <a:t> number.</a:t>
            </a:r>
            <a:endParaRPr sz="2000"/>
          </a:p>
        </p:txBody>
      </p:sp>
      <p:sp>
        <p:nvSpPr>
          <p:cNvPr id="2121" name="Google Shape;2121;p163"/>
          <p:cNvSpPr txBox="1"/>
          <p:nvPr>
            <p:ph idx="1" type="body"/>
          </p:nvPr>
        </p:nvSpPr>
        <p:spPr>
          <a:xfrm>
            <a:off x="549750" y="2941125"/>
            <a:ext cx="8011500" cy="8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             of the </a:t>
            </a:r>
            <a:r>
              <a:rPr b="1" lang="en-GB" sz="2000"/>
              <a:t>perfect cube</a:t>
            </a:r>
            <a:r>
              <a:rPr lang="en-GB" sz="2000"/>
              <a:t> is the integer that has been multiplied by itself and then itself again to give that </a:t>
            </a:r>
            <a:r>
              <a:rPr b="1" lang="en-GB" sz="2000"/>
              <a:t>perfect cube</a:t>
            </a:r>
            <a:r>
              <a:rPr lang="en-GB" sz="2000"/>
              <a:t> number.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sqrt[3]{\ \ \ \ \ }&quot;&gt;&lt;mroot&gt;&lt;mrow&gt;&lt;mtext&gt;&lt;/mtext&gt;&lt;mtext&gt;&lt;/mtext&gt;&lt;mtext&gt;&lt;/mtext&gt;&lt;mtext&gt;&lt;/mtext&gt;&lt;mtext&gt;&lt;/mtext&gt;&lt;/mrow&gt;&lt;mn&gt;3&lt;/mn&gt;&lt;/mroot&gt;&lt;/math&gt;" id="2122" name="Google Shape;2122;p163" title="the cube root o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5625" y="2826500"/>
            <a:ext cx="66675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\ \ \ }&quot;&gt;&lt;msqrt&gt;&lt;mtext&gt;&lt;/mtext&gt;&lt;mtext&gt;&lt;/mtext&gt;&lt;mtext&gt;&lt;/mtext&gt;&lt;/msqrt&gt;&lt;/math&gt;" id="2123" name="Google Shape;2123;p163" title="the square root o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5625" y="1137198"/>
            <a:ext cx="514350" cy="38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7" name="Shape 2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8" name="Google Shape;2128;p164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129" name="Google Shape;2129;p1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