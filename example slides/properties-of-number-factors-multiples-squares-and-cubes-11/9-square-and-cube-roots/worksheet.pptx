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e96708a743_0_5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e96708a74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2" Type="http://schemas.openxmlformats.org/officeDocument/2006/relationships/image" Target="../media/image17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3" Type="http://schemas.openxmlformats.org/officeDocument/2006/relationships/image" Target="../media/image29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30\ -\ \sqrt{\ \ \ \ \ }\ =\ 28&quot;&gt;&lt;mn&gt;30&lt;/mn&gt;&lt;mtext&gt;&lt;/mtext&gt;&lt;mo&gt;−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28&lt;/mn&gt;&lt;/math&gt;" id="161" name="Google Shape;161;p20" title="30 minus the square root of equals 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25" y="6046452"/>
            <a:ext cx="1481283" cy="26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468000" y="4829747"/>
            <a:ext cx="6624000" cy="22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missing numbers using your knowledge of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perfect squares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square roots.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5\ +\ \sqrt{\ \ \ \ \ }\ =\ 15&quot;&gt;&lt;mn&gt;5&lt;/mn&gt;&lt;mtext&gt;&lt;/mtext&gt;&lt;mo&gt;+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15&lt;/mn&gt;&lt;/math&gt;" id="163" name="Google Shape;163;p20" title="5 plus the square root of equals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925" y="5392380"/>
            <a:ext cx="1375896" cy="26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}\ +\ \sqrt{\ \ \ \ \ }\ =\ 10&quot;&gt;&lt;msqrt&gt;&lt;mtext&gt;&lt;/mtext&gt;&lt;mtext&gt;&lt;/mtext&gt;&lt;mtext&gt;&lt;/mtext&gt;&lt;mtext&gt;&lt;/mtext&gt;&lt;/msqrt&gt;&lt;mtext&gt;&lt;/mtext&gt;&lt;mo&gt;+&lt;/mo&gt;&lt;mtext&gt;&lt;/mtext&gt;&lt;msqrt&gt;&lt;mtext&gt;&lt;/mtext&gt;&lt;mtext&gt;&lt;/mtext&gt;&lt;mtext&gt;&lt;/mtext&gt;&lt;mtext&gt;&lt;/mtext&gt;&lt;mtext&gt;&lt;/mtext&gt;&lt;/msqrt&gt;&lt;mtext&gt;&lt;/mtext&gt;&lt;mo&gt;=&lt;/mo&gt;&lt;mtext&gt;&lt;/mtext&gt;&lt;mn&gt;10&lt;/mn&gt;&lt;/math&gt;" id="164" name="Google Shape;164;p20" title="the square root of plus the square root of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925" y="6700523"/>
            <a:ext cx="1651075" cy="26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roots</a:t>
            </a:r>
            <a:endParaRPr/>
          </a:p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468000" y="1738975"/>
            <a:ext cx="66240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square root of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perfect square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the correct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14525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Square root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49}&quot;&gt;&lt;msqrt&gt;&lt;mn&gt;49&lt;/mn&gt;&lt;/msqrt&gt;&lt;/math&gt;" id="169" name="Google Shape;169;p20" title="the square root of 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87568" y="2032150"/>
            <a:ext cx="303908" cy="2693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225}&quot;&gt;&lt;msqrt&gt;&lt;mn&gt;225&lt;/mn&gt;&lt;/msqrt&gt;&lt;/math&gt;" id="170" name="Google Shape;170;p20" title="the square root of 2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5906" y="2603886"/>
            <a:ext cx="387244" cy="269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36}&quot;&gt;&lt;msqrt&gt;&lt;mn&gt;36&lt;/mn&gt;&lt;/msqrt&gt;&lt;/math&gt;" id="171" name="Google Shape;171;p20" title="the square root of 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99681" y="3136831"/>
            <a:ext cx="303908" cy="2693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4}&quot;&gt;&lt;msqrt&gt;&lt;mn&gt;4&lt;/mn&gt;&lt;/msqrt&gt;&lt;/math&gt;" id="172" name="Google Shape;172;p20" title="the square root of 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43918" y="3747341"/>
            <a:ext cx="215454" cy="269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81}&quot;&gt;&lt;msqrt&gt;&lt;mn&gt;81&lt;/mn&gt;&lt;/msqrt&gt;&lt;/math&gt;" id="173" name="Google Shape;173;p20" title="the square root of 8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99675" y="4288540"/>
            <a:ext cx="303913" cy="26933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140000" y="369101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140000" y="4255977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140000" y="1966788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140000" y="256111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140000" y="3126065"/>
            <a:ext cx="71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134352" y="9418497"/>
            <a:ext cx="541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5600" y="7116672"/>
            <a:ext cx="6624000" cy="21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An outdoor party has plot allocation of 100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all the guests. The party will have a kitchen/dining area, cake table, square bouncy castle and a car to power the bouncy castle.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Insert all items onto the plot. What is the largest bouncy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castle you can put on your plot so there is at least one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gap between each item.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square is 1m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 rotWithShape="1">
          <a:blip r:embed="rId11">
            <a:alphaModFix/>
          </a:blip>
          <a:srcRect b="33554" l="219" r="33393" t="0"/>
          <a:stretch/>
        </p:blipFill>
        <p:spPr>
          <a:xfrm>
            <a:off x="483400" y="7688500"/>
            <a:ext cx="2373900" cy="21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5400000">
            <a:off x="5264154" y="8905181"/>
            <a:ext cx="336941" cy="6862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20"/>
          <p:cNvGrpSpPr/>
          <p:nvPr/>
        </p:nvGrpSpPr>
        <p:grpSpPr>
          <a:xfrm>
            <a:off x="3201000" y="9142794"/>
            <a:ext cx="278357" cy="247923"/>
            <a:chOff x="5868250" y="3109900"/>
            <a:chExt cx="569238" cy="507000"/>
          </a:xfrm>
        </p:grpSpPr>
        <p:sp>
          <p:nvSpPr>
            <p:cNvPr id="184" name="Google Shape;184;p20"/>
            <p:cNvSpPr/>
            <p:nvPr/>
          </p:nvSpPr>
          <p:spPr>
            <a:xfrm>
              <a:off x="5868250" y="3119500"/>
              <a:ext cx="569100" cy="487800"/>
            </a:xfrm>
            <a:prstGeom prst="rect">
              <a:avLst/>
            </a:prstGeom>
            <a:solidFill>
              <a:srgbClr val="F0F0F0"/>
            </a:solidFill>
            <a:ln cap="flat" cmpd="sng" w="28575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5" name="Google Shape;185;p20"/>
            <p:cNvCxnSpPr/>
            <p:nvPr/>
          </p:nvCxnSpPr>
          <p:spPr>
            <a:xfrm>
              <a:off x="5876788" y="3139157"/>
              <a:ext cx="560700" cy="4473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20"/>
            <p:cNvCxnSpPr/>
            <p:nvPr/>
          </p:nvCxnSpPr>
          <p:spPr>
            <a:xfrm flipH="1" rot="10800000">
              <a:off x="5891525" y="3109900"/>
              <a:ext cx="530700" cy="5070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7" name="Google Shape;187;p20"/>
          <p:cNvSpPr/>
          <p:nvPr/>
        </p:nvSpPr>
        <p:spPr>
          <a:xfrm>
            <a:off x="4033337" y="9072435"/>
            <a:ext cx="767700" cy="351900"/>
          </a:xfrm>
          <a:prstGeom prst="rect">
            <a:avLst/>
          </a:prstGeom>
          <a:solidFill>
            <a:srgbClr val="F0F0F0"/>
          </a:solidFill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" name="Google Shape;188;p20"/>
          <p:cNvCxnSpPr/>
          <p:nvPr/>
        </p:nvCxnSpPr>
        <p:spPr>
          <a:xfrm flipH="1" rot="10800000">
            <a:off x="4045684" y="9080068"/>
            <a:ext cx="753600" cy="3402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4047334" y="9079635"/>
            <a:ext cx="750300" cy="341100"/>
          </a:xfrm>
          <a:prstGeom prst="straightConnector1">
            <a:avLst/>
          </a:prstGeom>
          <a:noFill/>
          <a:ln cap="flat" cmpd="sng" w="28575">
            <a:solidFill>
              <a:srgbClr val="57575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0"/>
          <p:cNvSpPr txBox="1"/>
          <p:nvPr/>
        </p:nvSpPr>
        <p:spPr>
          <a:xfrm>
            <a:off x="3060513" y="8653584"/>
            <a:ext cx="710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Cake table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745900" y="9142772"/>
            <a:ext cx="483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116051" y="9415397"/>
            <a:ext cx="710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568125" y="9128622"/>
            <a:ext cx="594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033337" y="8600241"/>
            <a:ext cx="85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kitchen/diner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192305" y="8846969"/>
            <a:ext cx="767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184749" y="9415397"/>
            <a:ext cx="483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825176" y="9128622"/>
            <a:ext cx="483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518312" y="9355895"/>
            <a:ext cx="4827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6232352" y="9030535"/>
            <a:ext cx="3744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255337" y="8570647"/>
            <a:ext cx="8250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Bouncy castle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6468461" y="9023803"/>
            <a:ext cx="398768" cy="345034"/>
            <a:chOff x="5868250" y="3114886"/>
            <a:chExt cx="569100" cy="492414"/>
          </a:xfrm>
        </p:grpSpPr>
        <p:sp>
          <p:nvSpPr>
            <p:cNvPr id="202" name="Google Shape;202;p20"/>
            <p:cNvSpPr/>
            <p:nvPr/>
          </p:nvSpPr>
          <p:spPr>
            <a:xfrm>
              <a:off x="5868250" y="3119500"/>
              <a:ext cx="569100" cy="487800"/>
            </a:xfrm>
            <a:prstGeom prst="rect">
              <a:avLst/>
            </a:prstGeom>
            <a:solidFill>
              <a:srgbClr val="F0F0F0"/>
            </a:solidFill>
            <a:ln cap="flat" cmpd="sng" w="28575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3" name="Google Shape;203;p20"/>
            <p:cNvCxnSpPr/>
            <p:nvPr/>
          </p:nvCxnSpPr>
          <p:spPr>
            <a:xfrm>
              <a:off x="5868555" y="3126692"/>
              <a:ext cx="561000" cy="4722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20"/>
            <p:cNvCxnSpPr/>
            <p:nvPr/>
          </p:nvCxnSpPr>
          <p:spPr>
            <a:xfrm flipH="1" rot="10800000">
              <a:off x="5887440" y="3114886"/>
              <a:ext cx="540300" cy="4800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05" name="Google Shape;205;p20"/>
          <p:cNvCxnSpPr/>
          <p:nvPr/>
        </p:nvCxnSpPr>
        <p:spPr>
          <a:xfrm rot="10800000">
            <a:off x="3126029" y="9134837"/>
            <a:ext cx="4200" cy="25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6" name="Google Shape;206;p20"/>
          <p:cNvCxnSpPr/>
          <p:nvPr/>
        </p:nvCxnSpPr>
        <p:spPr>
          <a:xfrm rot="10800000">
            <a:off x="3221536" y="9453102"/>
            <a:ext cx="2472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7" name="Google Shape;207;p20"/>
          <p:cNvCxnSpPr/>
          <p:nvPr/>
        </p:nvCxnSpPr>
        <p:spPr>
          <a:xfrm rot="10800000">
            <a:off x="4033172" y="9493103"/>
            <a:ext cx="768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" name="Google Shape;208;p20"/>
          <p:cNvCxnSpPr/>
          <p:nvPr/>
        </p:nvCxnSpPr>
        <p:spPr>
          <a:xfrm flipH="1" rot="10800000">
            <a:off x="3967750" y="9064600"/>
            <a:ext cx="300" cy="37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" name="Google Shape;209;p20"/>
          <p:cNvCxnSpPr/>
          <p:nvPr/>
        </p:nvCxnSpPr>
        <p:spPr>
          <a:xfrm rot="10800000">
            <a:off x="5122375" y="9420200"/>
            <a:ext cx="607500" cy="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" name="Google Shape;210;p20"/>
          <p:cNvCxnSpPr/>
          <p:nvPr/>
        </p:nvCxnSpPr>
        <p:spPr>
          <a:xfrm rot="10800000">
            <a:off x="5780450" y="9121725"/>
            <a:ext cx="3000" cy="25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roots</a:t>
            </a:r>
            <a:endParaRPr/>
          </a:p>
        </p:txBody>
      </p:sp>
      <p:sp>
        <p:nvSpPr>
          <p:cNvPr id="217" name="Google Shape;21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</a:t>
            </a:r>
            <a:r>
              <a:rPr lang="en-GB"/>
              <a:t>Education</a:t>
            </a:r>
            <a:r>
              <a:rPr lang="en-GB"/>
              <a:t> and Industry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000" y="709300"/>
            <a:ext cx="6624000" cy="19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Only inserting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perfect square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numbers, fill in the missing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closest to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          is closest 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          is closest 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220" name="Google Shape;220;p21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144" y="990683"/>
            <a:ext cx="451800" cy="27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65}\ &quot;&gt;&lt;msqrt&gt;&lt;mn&gt;65&lt;/mn&gt;&lt;/msqrt&gt;&lt;mtext&gt;&lt;/mtext&gt;&lt;/math&gt;" id="221" name="Google Shape;221;p21" title="the square root of 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2710" y="1038722"/>
            <a:ext cx="351942" cy="238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222" name="Google Shape;222;p21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375" y="2291681"/>
            <a:ext cx="451800" cy="27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 \ \ \ \ }\ &quot;&gt;&lt;msqrt&gt;&lt;mtext&gt;&lt;/mtext&gt;&lt;mtext&gt;&lt;/mtext&gt;&lt;mtext&gt;&lt;/mtext&gt;&lt;mtext&gt;&lt;/mtext&gt;&lt;mtext&gt;&lt;/mtext&gt;&lt;/msqrt&gt;&lt;mtext&gt;&lt;/mtext&gt;&lt;/math&gt;" id="223" name="Google Shape;223;p21" title="the square root o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375" y="1641185"/>
            <a:ext cx="451800" cy="27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90}\ &quot;&gt;&lt;msqrt&gt;&lt;mn&gt;90&lt;/mn&gt;&lt;/msqrt&gt;&lt;mtext&gt;&lt;/mtext&gt;&lt;/math&gt;" id="224" name="Google Shape;224;p21" title="the square root of 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4808" y="1677986"/>
            <a:ext cx="351942" cy="238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152}\ &quot;&gt;&lt;msqrt&gt;&lt;mn&gt;152&lt;/mn&gt;&lt;/msqrt&gt;&lt;mtext&gt;&lt;/mtext&gt;&lt;/math&gt;" id="225" name="Google Shape;225;p21" title="the square root of 1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4808" y="2317257"/>
            <a:ext cx="448443" cy="2384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21"/>
          <p:cNvCxnSpPr/>
          <p:nvPr/>
        </p:nvCxnSpPr>
        <p:spPr>
          <a:xfrm>
            <a:off x="468000" y="280927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1"/>
          <p:cNvSpPr txBox="1"/>
          <p:nvPr/>
        </p:nvSpPr>
        <p:spPr>
          <a:xfrm>
            <a:off x="468000" y="3333325"/>
            <a:ext cx="66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 following will give an integer answer?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[3]{1000}&quot;&gt;&lt;mroot&gt;&lt;mn&gt;1000&lt;/mn&gt;&lt;mn&gt;3&lt;/mn&gt;&lt;/mroot&gt;&lt;/math&gt;" id="228" name="Google Shape;228;p21" title="the cube root of 1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91852" y="3694742"/>
            <a:ext cx="519193" cy="240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}&quot;&gt;&lt;mroot&gt;&lt;mn&gt;1&lt;/mn&gt;&lt;mn&gt;3&lt;/mn&gt;&lt;/mroot&gt;&lt;/math&gt;" id="229" name="Google Shape;229;p21" title="the cube root of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5307" y="3831905"/>
            <a:ext cx="427253" cy="240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52775" y="4405126"/>
            <a:ext cx="243372" cy="24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8}&quot;&gt;&lt;mroot&gt;&lt;mn&gt;8&lt;/mn&gt;&lt;mn&gt;3&lt;/mn&gt;&lt;/mroot&gt;&lt;/math&gt;" id="231" name="Google Shape;231;p21" title="the cube root of 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12139" y="3831912"/>
            <a:ext cx="243372" cy="240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64}&quot;&gt;&lt;mroot&gt;&lt;mn&gt;64&lt;/mn&gt;&lt;mn&gt;3&lt;/mn&gt;&lt;/mroot&gt;&lt;/math&gt;" id="232" name="Google Shape;232;p21" title="the cube root of 6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36869" y="4407984"/>
            <a:ext cx="335312" cy="240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50}&quot;&gt;&lt;mroot&gt;&lt;mn&gt;50&lt;/mn&gt;&lt;mn&gt;3&lt;/mn&gt;&lt;/mroot&gt;&lt;/math&gt;" id="233" name="Google Shape;233;p21" title="the cube root of 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419588" y="3694742"/>
            <a:ext cx="335312" cy="240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27}&quot;&gt;&lt;mroot&gt;&lt;mn&gt;27&lt;/mn&gt;&lt;mn&gt;3&lt;/mn&gt;&lt;/mroot&gt;&lt;/math&gt;" id="234" name="Google Shape;234;p21" title="the cube root of 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3250" y="4489103"/>
            <a:ext cx="335312" cy="240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468000" y="2902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Cube root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1250" y="5631950"/>
            <a:ext cx="66105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is the closest integer to              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says “It is 6”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says “It is 5”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is correct?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[3]{200}&quot;&gt;&lt;mroot&gt;&lt;mn&gt;200&lt;/mn&gt;&lt;mn&gt;3&lt;/mn&gt;&lt;/mroot&gt;&lt;/math&gt;" id="237" name="Google Shape;237;p21" title="the cube root of 2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38550" y="5703424"/>
            <a:ext cx="451800" cy="240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Square and cube roots</a:t>
            </a:r>
            <a:endParaRPr/>
          </a:p>
        </p:txBody>
      </p:sp>
      <p:sp>
        <p:nvSpPr>
          <p:cNvPr id="243" name="Google Shape;243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68000" y="720000"/>
            <a:ext cx="6624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answers to the following using your knowledge of square and cube roots of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perfect square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perfect cube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[3]{1000}\ +\ 8&quot;&gt;&lt;mroot&gt;&lt;mn&gt;1000&lt;/mn&gt;&lt;mn&gt;3&lt;/mn&gt;&lt;/mroot&gt;&lt;mtext&gt;&lt;/mtext&gt;&lt;mo&gt;+&lt;/mo&gt;&lt;mtext&gt;&lt;/mtext&gt;&lt;mn&gt;8&lt;/mn&gt;&lt;/math&gt;" id="245" name="Google Shape;245;p22" title="the cube root of 1000 plus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34" y="1861968"/>
            <a:ext cx="1210400" cy="306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000}\ +\sqrt[3]{8}&quot;&gt;&lt;mroot&gt;&lt;mn&gt;1000&lt;/mn&gt;&lt;mn&gt;3&lt;/mn&gt;&lt;/mroot&gt;&lt;mtext&gt;&lt;/mtext&gt;&lt;mo&gt;+&lt;/mo&gt;&lt;mroot&gt;&lt;mn&gt;8&lt;/mn&gt;&lt;mn&gt;3&lt;/mn&gt;&lt;/mroot&gt;&lt;/math&gt;" id="246" name="Google Shape;246;p22" title="the cube root of 1000 positive the cube root of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872" y="2560576"/>
            <a:ext cx="1388400" cy="306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125}\ -\sqrt[3]{1}&quot;&gt;&lt;mroot&gt;&lt;mn&gt;125&lt;/mn&gt;&lt;mn&gt;3&lt;/mn&gt;&lt;/mroot&gt;&lt;mtext&gt;&lt;/mtext&gt;&lt;mo&gt;−&lt;/mo&gt;&lt;mroot&gt;&lt;mn&gt;1&lt;/mn&gt;&lt;mn&gt;3&lt;/mn&gt;&lt;/mroot&gt;&lt;/math&gt;" id="247" name="Google Shape;247;p22" title="the cube root of 125 negative the cube root of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281" y="1190830"/>
            <a:ext cx="1281600" cy="313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[3]{64}\ -\sqrt{64}&quot;&gt;&lt;mroot&gt;&lt;mn&gt;64&lt;/mn&gt;&lt;mn&gt;3&lt;/mn&gt;&lt;/mroot&gt;&lt;mtext&gt;&lt;/mtext&gt;&lt;mo&gt;−&lt;/mo&gt;&lt;msqrt&gt;&lt;mn&gt;64&lt;/mn&gt;&lt;/msqrt&gt;&lt;/math&gt;" id="248" name="Google Shape;248;p22" title="the cube root of 64 the negative square root of 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272" y="3194496"/>
            <a:ext cx="1281600" cy="31327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468000" y="3931550"/>
            <a:ext cx="66240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Izzy has puzzle cube gift for Lucas. The puzzle cube has a length of 4.5 cm.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She needs to select the correct gift box. The gift boxes are also cubes.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gift box is the best choice for the puzzle cube?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584538" y="6203675"/>
            <a:ext cx="2488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Volume = 1000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3443838" y="6220443"/>
            <a:ext cx="248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Volume = 512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5788071" y="6179725"/>
            <a:ext cx="1388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Volume = 64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650" y="4895263"/>
            <a:ext cx="1159474" cy="128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3078" y="5019125"/>
            <a:ext cx="935851" cy="1036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1051" y="5106410"/>
            <a:ext cx="746300" cy="82672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