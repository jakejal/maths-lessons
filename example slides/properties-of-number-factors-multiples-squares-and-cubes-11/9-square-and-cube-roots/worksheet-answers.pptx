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e96a4267e8_0_10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e96a4267e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7.png"/><Relationship Id="rId13" Type="http://schemas.openxmlformats.org/officeDocument/2006/relationships/image" Target="../media/image13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3" Type="http://schemas.openxmlformats.org/officeDocument/2006/relationships/image" Target="../media/image32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Relationship Id="rId14" Type="http://schemas.openxmlformats.org/officeDocument/2006/relationships/image" Target="../media/image35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Relationship Id="rId6" Type="http://schemas.openxmlformats.org/officeDocument/2006/relationships/image" Target="../media/image36.png"/><Relationship Id="rId7" Type="http://schemas.openxmlformats.org/officeDocument/2006/relationships/image" Target="../media/image28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1303677" y="5387247"/>
            <a:ext cx="4662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100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433360" y="6014111"/>
            <a:ext cx="4662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864361" y="6700523"/>
            <a:ext cx="4662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16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624419" y="6685003"/>
            <a:ext cx="4662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36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" name="Google Shape;175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roots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738975"/>
            <a:ext cx="66240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square root of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perfect square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the correct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14525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root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49}&quot;&gt;&lt;msqrt&gt;&lt;mn&gt;49&lt;/mn&gt;&lt;/msqrt&gt;&lt;/math&gt;" id="179" name="Google Shape;179;p20" title="the square root of 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708" y="2041100"/>
            <a:ext cx="541170" cy="383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225}&quot;&gt;&lt;msqrt&gt;&lt;mn&gt;225&lt;/mn&gt;&lt;/msqrt&gt;&lt;/math&gt;" id="180" name="Google Shape;180;p20" title="the square root of 2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8708" y="2596641"/>
            <a:ext cx="689567" cy="383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36}&quot;&gt;&lt;msqrt&gt;&lt;mn&gt;36&lt;/mn&gt;&lt;/msqrt&gt;&lt;/math&gt;" id="181" name="Google Shape;181;p20" title="the square root of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8708" y="3211684"/>
            <a:ext cx="541170" cy="383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4}&quot;&gt;&lt;msqrt&gt;&lt;mn&gt;4&lt;/mn&gt;&lt;/msqrt&gt;&lt;/math&gt;" id="182" name="Google Shape;182;p20" title="the square root of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8708" y="3787309"/>
            <a:ext cx="383659" cy="383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81}&quot;&gt;&lt;msqrt&gt;&lt;mn&gt;81&lt;/mn&gt;&lt;/msqrt&gt;&lt;/math&gt;" id="183" name="Google Shape;183;p20" title="the square root of 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88175" y="4343740"/>
            <a:ext cx="541179" cy="3836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4140000" y="369101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140000" y="4255977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140000" y="1966788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140000" y="256111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140000" y="312606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>
            <a:endCxn id="184" idx="1"/>
          </p:cNvCxnSpPr>
          <p:nvPr/>
        </p:nvCxnSpPr>
        <p:spPr>
          <a:xfrm>
            <a:off x="3188100" y="2160715"/>
            <a:ext cx="951900" cy="1782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0"/>
          <p:cNvCxnSpPr>
            <a:endCxn id="188" idx="1"/>
          </p:cNvCxnSpPr>
          <p:nvPr/>
        </p:nvCxnSpPr>
        <p:spPr>
          <a:xfrm flipH="1" rot="10800000">
            <a:off x="3163500" y="3377765"/>
            <a:ext cx="976500" cy="117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0"/>
          <p:cNvCxnSpPr>
            <a:endCxn id="185" idx="1"/>
          </p:cNvCxnSpPr>
          <p:nvPr/>
        </p:nvCxnSpPr>
        <p:spPr>
          <a:xfrm>
            <a:off x="3315000" y="2763177"/>
            <a:ext cx="825000" cy="174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0"/>
          <p:cNvCxnSpPr>
            <a:endCxn id="186" idx="1"/>
          </p:cNvCxnSpPr>
          <p:nvPr/>
        </p:nvCxnSpPr>
        <p:spPr>
          <a:xfrm flipH="1" rot="10800000">
            <a:off x="3163500" y="2218488"/>
            <a:ext cx="976500" cy="121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0"/>
          <p:cNvCxnSpPr>
            <a:endCxn id="187" idx="1"/>
          </p:cNvCxnSpPr>
          <p:nvPr/>
        </p:nvCxnSpPr>
        <p:spPr>
          <a:xfrm flipH="1" rot="10800000">
            <a:off x="3006900" y="2812815"/>
            <a:ext cx="1133100" cy="117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0"/>
          <p:cNvSpPr txBox="1"/>
          <p:nvPr/>
        </p:nvSpPr>
        <p:spPr>
          <a:xfrm>
            <a:off x="468000" y="4829747"/>
            <a:ext cx="6624000" cy="22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missing numbers using your knowledge of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perfect squares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square roots.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5\ +\ \sqrt{\ \ \ \ \ }\ =\ 15&quot;&gt;&lt;mn&gt;5&lt;/mn&gt;&lt;mtext&gt;&lt;/mtext&gt;&lt;mo&gt;+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15&lt;/mn&gt;&lt;/math&gt;" id="195" name="Google Shape;195;p20" title="5 plus the square root of equals 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0925" y="5392380"/>
            <a:ext cx="1375896" cy="26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0\ -\ \sqrt{\ \ \ \ \ }\ =\ 28&quot;&gt;&lt;mn&gt;30&lt;/mn&gt;&lt;mtext&gt;&lt;/mtext&gt;&lt;mo&gt;−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28&lt;/mn&gt;&lt;/math&gt;" id="196" name="Google Shape;196;p20" title="30 minus the square root of equals 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0925" y="6046452"/>
            <a:ext cx="1481283" cy="26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}\ +\ \sqrt{\ \ \ \ \ }\ =\ 10&quot;&gt;&lt;msqrt&gt;&lt;mtext&gt;&lt;/mtext&gt;&lt;mtext&gt;&lt;/mtext&gt;&lt;mtext&gt;&lt;/mtext&gt;&lt;mtext&gt;&lt;/mtext&gt;&lt;/msqrt&gt;&lt;mtext&gt;&lt;/mtext&gt;&lt;mo&gt;+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10&lt;/mn&gt;&lt;/math&gt;" id="197" name="Google Shape;197;p20" title="the square root of plus the square root of equals 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0925" y="6700523"/>
            <a:ext cx="1651075" cy="26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3134352" y="9418497"/>
            <a:ext cx="541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75600" y="7116672"/>
            <a:ext cx="6624000" cy="21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An outdoor party has plot allocation of 100m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all the guests. The party will have a kitchen/dining area, cake table, square bouncy castle and a car to power the bouncy castle. 			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multiple solutions. The largest the castle can be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                              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is 100 - 4 - 18 - 10 = 68 so the closest perfect square is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                    64. The largest castle is 8 m by 8 m. This doesn’t leave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                    enough space though so we need a 6 m by 6 m castle.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square is 1m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11">
            <a:alphaModFix/>
          </a:blip>
          <a:srcRect b="33222" l="0" r="33395" t="0"/>
          <a:stretch/>
        </p:blipFill>
        <p:spPr>
          <a:xfrm>
            <a:off x="475600" y="7688510"/>
            <a:ext cx="2381708" cy="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5400000">
            <a:off x="5264154" y="8905181"/>
            <a:ext cx="336941" cy="6862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20"/>
          <p:cNvGrpSpPr/>
          <p:nvPr/>
        </p:nvGrpSpPr>
        <p:grpSpPr>
          <a:xfrm>
            <a:off x="3201000" y="9137366"/>
            <a:ext cx="278290" cy="253351"/>
            <a:chOff x="5868250" y="3098800"/>
            <a:chExt cx="569100" cy="518100"/>
          </a:xfrm>
        </p:grpSpPr>
        <p:sp>
          <p:nvSpPr>
            <p:cNvPr id="203" name="Google Shape;203;p20"/>
            <p:cNvSpPr/>
            <p:nvPr/>
          </p:nvSpPr>
          <p:spPr>
            <a:xfrm>
              <a:off x="5868250" y="3119500"/>
              <a:ext cx="569100" cy="487800"/>
            </a:xfrm>
            <a:prstGeom prst="rect">
              <a:avLst/>
            </a:prstGeom>
            <a:solidFill>
              <a:srgbClr val="F0F0F0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4" name="Google Shape;204;p20"/>
            <p:cNvCxnSpPr/>
            <p:nvPr/>
          </p:nvCxnSpPr>
          <p:spPr>
            <a:xfrm>
              <a:off x="5868250" y="3098800"/>
              <a:ext cx="569100" cy="4878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20"/>
            <p:cNvCxnSpPr/>
            <p:nvPr/>
          </p:nvCxnSpPr>
          <p:spPr>
            <a:xfrm flipH="1" rot="10800000">
              <a:off x="5891525" y="3109900"/>
              <a:ext cx="530700" cy="5070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20"/>
          <p:cNvSpPr/>
          <p:nvPr/>
        </p:nvSpPr>
        <p:spPr>
          <a:xfrm>
            <a:off x="4033337" y="9072435"/>
            <a:ext cx="767700" cy="351900"/>
          </a:xfrm>
          <a:prstGeom prst="rect">
            <a:avLst/>
          </a:prstGeom>
          <a:solidFill>
            <a:srgbClr val="F0F0F0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20"/>
          <p:cNvCxnSpPr/>
          <p:nvPr/>
        </p:nvCxnSpPr>
        <p:spPr>
          <a:xfrm flipH="1" rot="10800000">
            <a:off x="4045684" y="9080068"/>
            <a:ext cx="753600" cy="3402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0"/>
          <p:cNvCxnSpPr/>
          <p:nvPr/>
        </p:nvCxnSpPr>
        <p:spPr>
          <a:xfrm>
            <a:off x="4045684" y="9069660"/>
            <a:ext cx="753600" cy="3612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0"/>
          <p:cNvSpPr txBox="1"/>
          <p:nvPr/>
        </p:nvSpPr>
        <p:spPr>
          <a:xfrm>
            <a:off x="3060513" y="8653584"/>
            <a:ext cx="710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Cake table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2745900" y="9142772"/>
            <a:ext cx="483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116051" y="9415397"/>
            <a:ext cx="710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568125" y="9128622"/>
            <a:ext cx="594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033337" y="8600241"/>
            <a:ext cx="85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kitchen/diner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192305" y="8846969"/>
            <a:ext cx="76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184749" y="9415397"/>
            <a:ext cx="483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825176" y="9128622"/>
            <a:ext cx="483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518312" y="9355895"/>
            <a:ext cx="4827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232352" y="9030535"/>
            <a:ext cx="3744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255337" y="8570647"/>
            <a:ext cx="8250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Bouncy castle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0"/>
          <p:cNvGrpSpPr/>
          <p:nvPr/>
        </p:nvGrpSpPr>
        <p:grpSpPr>
          <a:xfrm>
            <a:off x="6468461" y="9012531"/>
            <a:ext cx="398768" cy="363033"/>
            <a:chOff x="5868250" y="3098800"/>
            <a:chExt cx="569100" cy="518100"/>
          </a:xfrm>
        </p:grpSpPr>
        <p:sp>
          <p:nvSpPr>
            <p:cNvPr id="221" name="Google Shape;221;p20"/>
            <p:cNvSpPr/>
            <p:nvPr/>
          </p:nvSpPr>
          <p:spPr>
            <a:xfrm>
              <a:off x="5868250" y="3119500"/>
              <a:ext cx="569100" cy="487800"/>
            </a:xfrm>
            <a:prstGeom prst="rect">
              <a:avLst/>
            </a:prstGeom>
            <a:solidFill>
              <a:srgbClr val="F0F0F0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2" name="Google Shape;222;p20"/>
            <p:cNvCxnSpPr/>
            <p:nvPr/>
          </p:nvCxnSpPr>
          <p:spPr>
            <a:xfrm>
              <a:off x="5868250" y="3098800"/>
              <a:ext cx="569100" cy="4878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20"/>
            <p:cNvCxnSpPr/>
            <p:nvPr/>
          </p:nvCxnSpPr>
          <p:spPr>
            <a:xfrm flipH="1" rot="10800000">
              <a:off x="5891525" y="3109900"/>
              <a:ext cx="530700" cy="5070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24" name="Google Shape;224;p20"/>
          <p:cNvCxnSpPr/>
          <p:nvPr/>
        </p:nvCxnSpPr>
        <p:spPr>
          <a:xfrm rot="10800000">
            <a:off x="3126029" y="9134837"/>
            <a:ext cx="4200" cy="25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5" name="Google Shape;225;p20"/>
          <p:cNvCxnSpPr/>
          <p:nvPr/>
        </p:nvCxnSpPr>
        <p:spPr>
          <a:xfrm rot="10800000">
            <a:off x="3221536" y="9453102"/>
            <a:ext cx="2472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" name="Google Shape;226;p20"/>
          <p:cNvCxnSpPr/>
          <p:nvPr/>
        </p:nvCxnSpPr>
        <p:spPr>
          <a:xfrm rot="10800000">
            <a:off x="4033272" y="9474053"/>
            <a:ext cx="76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7" name="Google Shape;227;p20"/>
          <p:cNvCxnSpPr/>
          <p:nvPr/>
        </p:nvCxnSpPr>
        <p:spPr>
          <a:xfrm rot="10800000">
            <a:off x="3970653" y="9065143"/>
            <a:ext cx="0" cy="35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8" name="Google Shape;228;p20"/>
          <p:cNvCxnSpPr/>
          <p:nvPr/>
        </p:nvCxnSpPr>
        <p:spPr>
          <a:xfrm rot="10800000">
            <a:off x="5137902" y="9420268"/>
            <a:ext cx="594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9" name="Google Shape;229;p20"/>
          <p:cNvCxnSpPr/>
          <p:nvPr/>
        </p:nvCxnSpPr>
        <p:spPr>
          <a:xfrm rot="10800000">
            <a:off x="5775769" y="9128550"/>
            <a:ext cx="0" cy="23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30" name="Google Shape;230;p20"/>
          <p:cNvGrpSpPr/>
          <p:nvPr/>
        </p:nvGrpSpPr>
        <p:grpSpPr>
          <a:xfrm>
            <a:off x="1461264" y="7708233"/>
            <a:ext cx="1375966" cy="1294027"/>
            <a:chOff x="2564400" y="3800100"/>
            <a:chExt cx="1570200" cy="738600"/>
          </a:xfrm>
        </p:grpSpPr>
        <p:sp>
          <p:nvSpPr>
            <p:cNvPr id="231" name="Google Shape;231;p20"/>
            <p:cNvSpPr/>
            <p:nvPr/>
          </p:nvSpPr>
          <p:spPr>
            <a:xfrm>
              <a:off x="2564400" y="3805775"/>
              <a:ext cx="1570200" cy="719400"/>
            </a:xfrm>
            <a:prstGeom prst="rect">
              <a:avLst/>
            </a:prstGeom>
            <a:solidFill>
              <a:srgbClr val="F0F0F0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2" name="Google Shape;232;p20"/>
            <p:cNvCxnSpPr/>
            <p:nvPr/>
          </p:nvCxnSpPr>
          <p:spPr>
            <a:xfrm flipH="1" rot="10800000">
              <a:off x="2589650" y="3821450"/>
              <a:ext cx="1541100" cy="6957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" name="Google Shape;233;p20"/>
            <p:cNvCxnSpPr/>
            <p:nvPr/>
          </p:nvCxnSpPr>
          <p:spPr>
            <a:xfrm>
              <a:off x="2589650" y="3800100"/>
              <a:ext cx="1541100" cy="7386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4" name="Google Shape;234;p20"/>
          <p:cNvGrpSpPr/>
          <p:nvPr/>
        </p:nvGrpSpPr>
        <p:grpSpPr>
          <a:xfrm>
            <a:off x="1449173" y="9251482"/>
            <a:ext cx="1375966" cy="626850"/>
            <a:chOff x="2564400" y="3800100"/>
            <a:chExt cx="1570200" cy="738600"/>
          </a:xfrm>
        </p:grpSpPr>
        <p:sp>
          <p:nvSpPr>
            <p:cNvPr id="235" name="Google Shape;235;p20"/>
            <p:cNvSpPr/>
            <p:nvPr/>
          </p:nvSpPr>
          <p:spPr>
            <a:xfrm>
              <a:off x="2564400" y="3805775"/>
              <a:ext cx="1570200" cy="719400"/>
            </a:xfrm>
            <a:prstGeom prst="rect">
              <a:avLst/>
            </a:prstGeom>
            <a:solidFill>
              <a:srgbClr val="F0F0F0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6" name="Google Shape;236;p20"/>
            <p:cNvCxnSpPr/>
            <p:nvPr/>
          </p:nvCxnSpPr>
          <p:spPr>
            <a:xfrm flipH="1" rot="10800000">
              <a:off x="2589650" y="3821450"/>
              <a:ext cx="1541100" cy="6957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0"/>
            <p:cNvCxnSpPr/>
            <p:nvPr/>
          </p:nvCxnSpPr>
          <p:spPr>
            <a:xfrm>
              <a:off x="2589650" y="3800100"/>
              <a:ext cx="1541100" cy="7386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38" name="Google Shape;238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5599" y="7688500"/>
            <a:ext cx="466200" cy="11347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" name="Google Shape;239;p20"/>
          <p:cNvGrpSpPr/>
          <p:nvPr/>
        </p:nvGrpSpPr>
        <p:grpSpPr>
          <a:xfrm>
            <a:off x="489068" y="9234260"/>
            <a:ext cx="499841" cy="479398"/>
            <a:chOff x="5868250" y="3098800"/>
            <a:chExt cx="569100" cy="518100"/>
          </a:xfrm>
        </p:grpSpPr>
        <p:sp>
          <p:nvSpPr>
            <p:cNvPr id="240" name="Google Shape;240;p20"/>
            <p:cNvSpPr/>
            <p:nvPr/>
          </p:nvSpPr>
          <p:spPr>
            <a:xfrm>
              <a:off x="5868250" y="3119500"/>
              <a:ext cx="569100" cy="487800"/>
            </a:xfrm>
            <a:prstGeom prst="rect">
              <a:avLst/>
            </a:prstGeom>
            <a:solidFill>
              <a:srgbClr val="F0F0F0"/>
            </a:solidFill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1" name="Google Shape;241;p20"/>
            <p:cNvCxnSpPr/>
            <p:nvPr/>
          </p:nvCxnSpPr>
          <p:spPr>
            <a:xfrm>
              <a:off x="5868250" y="3098800"/>
              <a:ext cx="569100" cy="4878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20"/>
            <p:cNvCxnSpPr/>
            <p:nvPr/>
          </p:nvCxnSpPr>
          <p:spPr>
            <a:xfrm flipH="1" rot="10800000">
              <a:off x="5891525" y="3109900"/>
              <a:ext cx="530700" cy="5070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8" name="Google Shape;24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roots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468000" y="720000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Only inserting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perfect square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numbers, fill in the missing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closest to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          is closest 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          is closest 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252" name="Google Shape;252;p21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144" y="990683"/>
            <a:ext cx="451800" cy="27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65}\ &quot;&gt;&lt;msqrt&gt;&lt;mn&gt;65&lt;/mn&gt;&lt;/msqrt&gt;&lt;mtext&gt;&lt;/mtext&gt;&lt;/math&gt;" id="253" name="Google Shape;253;p21" title="the square root of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2710" y="1038722"/>
            <a:ext cx="351942" cy="238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254" name="Google Shape;254;p21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25" y="2320194"/>
            <a:ext cx="451800" cy="27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255" name="Google Shape;255;p21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50" y="1657510"/>
            <a:ext cx="451800" cy="27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90}\ &quot;&gt;&lt;msqrt&gt;&lt;mn&gt;90&lt;/mn&gt;&lt;/msqrt&gt;&lt;mtext&gt;&lt;/mtext&gt;&lt;/math&gt;" id="256" name="Google Shape;256;p21" title="the square root of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8933" y="1642974"/>
            <a:ext cx="351942" cy="238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152}\ &quot;&gt;&lt;msqrt&gt;&lt;mn&gt;152&lt;/mn&gt;&lt;/msqrt&gt;&lt;mtext&gt;&lt;/mtext&gt;&lt;/math&gt;" id="257" name="Google Shape;257;p21" title="the square root of 1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0683" y="2345745"/>
            <a:ext cx="448443" cy="23841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813029" y="951253"/>
            <a:ext cx="45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64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791217" y="1635733"/>
            <a:ext cx="45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81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700350" y="2298664"/>
            <a:ext cx="45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144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1" name="Google Shape;261;p21"/>
          <p:cNvCxnSpPr/>
          <p:nvPr/>
        </p:nvCxnSpPr>
        <p:spPr>
          <a:xfrm>
            <a:off x="468000" y="280927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1"/>
          <p:cNvSpPr txBox="1"/>
          <p:nvPr/>
        </p:nvSpPr>
        <p:spPr>
          <a:xfrm>
            <a:off x="468000" y="3333325"/>
            <a:ext cx="66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 following will give an integer answer?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[3]{1000}&quot;&gt;&lt;mroot&gt;&lt;mn&gt;1000&lt;/mn&gt;&lt;mn&gt;3&lt;/mn&gt;&lt;/mroot&gt;&lt;/math&gt;" id="263" name="Google Shape;263;p21" title="the cube root of 1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91852" y="3694742"/>
            <a:ext cx="519193" cy="240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}&quot;&gt;&lt;mroot&gt;&lt;mn&gt;1&lt;/mn&gt;&lt;mn&gt;3&lt;/mn&gt;&lt;/mroot&gt;&lt;/math&gt;" id="264" name="Google Shape;264;p21" title="the cube root of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5307" y="3831905"/>
            <a:ext cx="427253" cy="240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52775" y="4405126"/>
            <a:ext cx="243372" cy="24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8}&quot;&gt;&lt;mroot&gt;&lt;mn&gt;8&lt;/mn&gt;&lt;mn&gt;3&lt;/mn&gt;&lt;/mroot&gt;&lt;/math&gt;" id="266" name="Google Shape;266;p21" title="the cube root of 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12139" y="3831912"/>
            <a:ext cx="243372" cy="240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64}&quot;&gt;&lt;mroot&gt;&lt;mn&gt;64&lt;/mn&gt;&lt;mn&gt;3&lt;/mn&gt;&lt;/mroot&gt;&lt;/math&gt;" id="267" name="Google Shape;267;p21" title="the cube root of 6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36869" y="4407984"/>
            <a:ext cx="335312" cy="240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50}&quot;&gt;&lt;mroot&gt;&lt;mn&gt;50&lt;/mn&gt;&lt;mn&gt;3&lt;/mn&gt;&lt;/mroot&gt;&lt;/math&gt;" id="268" name="Google Shape;268;p21" title="the cube root of 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419588" y="3694742"/>
            <a:ext cx="335312" cy="240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27}&quot;&gt;&lt;mroot&gt;&lt;mn&gt;27&lt;/mn&gt;&lt;mn&gt;3&lt;/mn&gt;&lt;/mroot&gt;&lt;/math&gt;" id="269" name="Google Shape;269;p21" title="the cube root of 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3250" y="4489103"/>
            <a:ext cx="335312" cy="240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/>
          <p:nvPr/>
        </p:nvSpPr>
        <p:spPr>
          <a:xfrm>
            <a:off x="1748700" y="3558450"/>
            <a:ext cx="877500" cy="512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3906813" y="3645149"/>
            <a:ext cx="877500" cy="512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2206641" y="4308863"/>
            <a:ext cx="877500" cy="512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3364017" y="4271688"/>
            <a:ext cx="877500" cy="512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4521394" y="4271681"/>
            <a:ext cx="877500" cy="512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468000" y="2902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Cube root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61250" y="5631950"/>
            <a:ext cx="66105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is the closest integer to              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says “It is 6”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says “It is 5”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is correct?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[3]{200}&quot;&gt;&lt;mroot&gt;&lt;mn&gt;200&lt;/mn&gt;&lt;mn&gt;3&lt;/mn&gt;&lt;/mroot&gt;&lt;/math&gt;" id="277" name="Google Shape;277;p21" title="the cube root of 2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38550" y="5703424"/>
            <a:ext cx="451800" cy="240193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78" name="Google Shape;278;p21"/>
          <p:cNvSpPr txBox="1"/>
          <p:nvPr/>
        </p:nvSpPr>
        <p:spPr>
          <a:xfrm>
            <a:off x="542825" y="6942425"/>
            <a:ext cx="3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✕ 6 ✕ 6 = 216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79" name="Google Shape;279;p21"/>
          <p:cNvSpPr txBox="1"/>
          <p:nvPr/>
        </p:nvSpPr>
        <p:spPr>
          <a:xfrm>
            <a:off x="554407" y="7242575"/>
            <a:ext cx="370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✕ 5 ✕ 5 = 125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80" name="Google Shape;280;p21"/>
          <p:cNvSpPr txBox="1"/>
          <p:nvPr/>
        </p:nvSpPr>
        <p:spPr>
          <a:xfrm>
            <a:off x="461249" y="76118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216 is closer to 200 than 125. Therefore Laura is correct.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roots</a:t>
            </a:r>
            <a:endParaRPr/>
          </a:p>
        </p:txBody>
      </p:sp>
      <p:sp>
        <p:nvSpPr>
          <p:cNvPr id="286" name="Google Shape;286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468000" y="720000"/>
            <a:ext cx="662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answers to the following using your knowledge of square and cube roots of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perfect square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perfect cube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[3]{1000}\ +\ 8&quot;&gt;&lt;mroot&gt;&lt;mn&gt;1000&lt;/mn&gt;&lt;mn&gt;3&lt;/mn&gt;&lt;/mroot&gt;&lt;mtext&gt;&lt;/mtext&gt;&lt;mo&gt;+&lt;/mo&gt;&lt;mtext&gt;&lt;/mtext&gt;&lt;mn&gt;8&lt;/mn&gt;&lt;/math&gt;" id="288" name="Google Shape;288;p22" title="the cube root of 1000 plus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34" y="1861968"/>
            <a:ext cx="1210400" cy="306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000}\ +\sqrt[3]{8}&quot;&gt;&lt;mroot&gt;&lt;mn&gt;1000&lt;/mn&gt;&lt;mn&gt;3&lt;/mn&gt;&lt;/mroot&gt;&lt;mtext&gt;&lt;/mtext&gt;&lt;mo&gt;+&lt;/mo&gt;&lt;mroot&gt;&lt;mn&gt;8&lt;/mn&gt;&lt;mn&gt;3&lt;/mn&gt;&lt;/mroot&gt;&lt;/math&gt;" id="289" name="Google Shape;289;p22" title="the cube root of 1000 positive the cube root of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872" y="2560576"/>
            <a:ext cx="1388400" cy="306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25}\ -\sqrt[3]{1}&quot;&gt;&lt;mroot&gt;&lt;mn&gt;125&lt;/mn&gt;&lt;mn&gt;3&lt;/mn&gt;&lt;/mroot&gt;&lt;mtext&gt;&lt;/mtext&gt;&lt;mo&gt;−&lt;/mo&gt;&lt;mroot&gt;&lt;mn&gt;1&lt;/mn&gt;&lt;mn&gt;3&lt;/mn&gt;&lt;/mroot&gt;&lt;/math&gt;" id="290" name="Google Shape;290;p22" title="the cube root of 125 negative the cube root of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281" y="1190830"/>
            <a:ext cx="1281600" cy="313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64}\ -\sqrt{64}&quot;&gt;&lt;mroot&gt;&lt;mn&gt;64&lt;/mn&gt;&lt;mn&gt;3&lt;/mn&gt;&lt;/mroot&gt;&lt;mtext&gt;&lt;/mtext&gt;&lt;mo&gt;−&lt;/mo&gt;&lt;msqrt&gt;&lt;mn&gt;64&lt;/mn&gt;&lt;/msqrt&gt;&lt;/math&gt;" id="291" name="Google Shape;291;p22" title="the cube root of 64 the negative square root of 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272" y="3194496"/>
            <a:ext cx="1281600" cy="313279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92" name="Google Shape;292;p22"/>
          <p:cNvSpPr txBox="1"/>
          <p:nvPr/>
        </p:nvSpPr>
        <p:spPr>
          <a:xfrm>
            <a:off x="2199526" y="1190825"/>
            <a:ext cx="13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5 - 1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93" name="Google Shape;293;p22"/>
          <p:cNvSpPr txBox="1"/>
          <p:nvPr/>
        </p:nvSpPr>
        <p:spPr>
          <a:xfrm>
            <a:off x="2809126" y="1190825"/>
            <a:ext cx="13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94" name="Google Shape;294;p22"/>
          <p:cNvSpPr txBox="1"/>
          <p:nvPr/>
        </p:nvSpPr>
        <p:spPr>
          <a:xfrm>
            <a:off x="2199525" y="1952825"/>
            <a:ext cx="161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10 + 8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95" name="Google Shape;295;p22"/>
          <p:cNvSpPr txBox="1"/>
          <p:nvPr/>
        </p:nvSpPr>
        <p:spPr>
          <a:xfrm>
            <a:off x="2885326" y="1952825"/>
            <a:ext cx="13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96" name="Google Shape;296;p22"/>
          <p:cNvSpPr txBox="1"/>
          <p:nvPr/>
        </p:nvSpPr>
        <p:spPr>
          <a:xfrm>
            <a:off x="2199525" y="2638625"/>
            <a:ext cx="161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10 + 2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97" name="Google Shape;297;p22"/>
          <p:cNvSpPr txBox="1"/>
          <p:nvPr/>
        </p:nvSpPr>
        <p:spPr>
          <a:xfrm>
            <a:off x="2885326" y="2638625"/>
            <a:ext cx="13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98" name="Google Shape;298;p22"/>
          <p:cNvSpPr txBox="1"/>
          <p:nvPr/>
        </p:nvSpPr>
        <p:spPr>
          <a:xfrm>
            <a:off x="2199525" y="3248225"/>
            <a:ext cx="161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4 - 8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sqrt[3]{90}&quot;&gt;&lt;mroot&gt;&lt;mn&gt;90&lt;/mn&gt;&lt;mn&gt;3&lt;/mn&gt;&lt;/mroot&gt;&lt;/math&gt;" id="299" name="Google Shape;299;p22"/>
          <p:cNvSpPr txBox="1"/>
          <p:nvPr/>
        </p:nvSpPr>
        <p:spPr>
          <a:xfrm>
            <a:off x="2885326" y="3248225"/>
            <a:ext cx="13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-4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468000" y="3931550"/>
            <a:ext cx="6624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Izzy has puzzle cube gift for Lucas. The puzzle cube has a length of 4.5 cm.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She needs to select the correct gift box. The gift boxes are also cubes.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gift box is the best choice for the puzzle cube?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584538" y="6203675"/>
            <a:ext cx="2488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Volume = 1000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3443838" y="6220443"/>
            <a:ext cx="248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Volume = 512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5788071" y="6179725"/>
            <a:ext cx="1388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Volume = 64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4" name="Google Shape;30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650" y="4895263"/>
            <a:ext cx="1159474" cy="128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3078" y="5019125"/>
            <a:ext cx="935851" cy="1036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1051" y="5106410"/>
            <a:ext cx="746300" cy="82672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2"/>
          <p:cNvSpPr txBox="1"/>
          <p:nvPr/>
        </p:nvSpPr>
        <p:spPr>
          <a:xfrm>
            <a:off x="467988" y="6557650"/>
            <a:ext cx="28329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of gift box is 10 cm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3377400" y="6554125"/>
            <a:ext cx="1484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of gift box is 8 cm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5788075" y="6530175"/>
            <a:ext cx="1281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of gift box is 4 cm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10" name="Google Shape;31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53883" y="53102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