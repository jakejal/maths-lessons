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5B4582-4C01-4402-B7D6-BA46ABBC3857}">
  <a:tblStyle styleId="{275B4582-4C01-4402-B7D6-BA46ABBC38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AB15412-BA5D-430E-B6BF-916A92C3FED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 and 8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681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Divisibility tests for 4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863675"/>
            <a:ext cx="66240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Identify the multiples of 4 from the lists: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378,     8940,     93 424,     9288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32 980,     8 430 348,     3 490 085,      2 222 222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Identify the multiples of 4 and 5 from the list below: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92 980,     4 30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360,     3 490 085,      2 222 440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471968" y="5529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{275B4582-4C01-4402-B7D6-BA46ABBC3857}</a:tableStyleId>
              </a:tblPr>
              <a:tblGrid>
                <a:gridCol w="3482575"/>
                <a:gridCol w="1335000"/>
                <a:gridCol w="917725"/>
                <a:gridCol w="888725"/>
              </a:tblGrid>
              <a:tr h="37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Sometimes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Never 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4 is a multiple of 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2 is a multiple of 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10 is a multiple of 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9 is a multiple of 3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multiple of 8 is odd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1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Multiples of 40 are multiples of 5, 8 and 10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6" name="Google Shape;166;p20"/>
          <p:cNvSpPr txBox="1"/>
          <p:nvPr/>
        </p:nvSpPr>
        <p:spPr>
          <a:xfrm>
            <a:off x="464013" y="5096175"/>
            <a:ext cx="66240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Identify if the statements are sometimes, always or never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" name="Google Shape;167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/>
          <p:nvPr/>
        </p:nvSpPr>
        <p:spPr>
          <a:xfrm>
            <a:off x="3295799" y="5408024"/>
            <a:ext cx="2324400" cy="1316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3" name="Google Shape;173;p21"/>
          <p:cNvSpPr/>
          <p:nvPr/>
        </p:nvSpPr>
        <p:spPr>
          <a:xfrm>
            <a:off x="1613025" y="5139587"/>
            <a:ext cx="4284300" cy="18114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4" name="Google Shape;174;p21"/>
          <p:cNvSpPr/>
          <p:nvPr/>
        </p:nvSpPr>
        <p:spPr>
          <a:xfrm>
            <a:off x="1841440" y="5408024"/>
            <a:ext cx="2324400" cy="13167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5" name="Google Shape;17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6" name="Google Shape;17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4 and 8</a:t>
            </a:r>
            <a:endParaRPr/>
          </a:p>
        </p:txBody>
      </p:sp>
      <p:sp>
        <p:nvSpPr>
          <p:cNvPr id="177" name="Google Shape;17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4342708" y="5162989"/>
            <a:ext cx="181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68000" y="2797200"/>
            <a:ext cx="6624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All the multiples of 2 and 3 are multiples of 6.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the multiples of 3 and 5 are multiples of 15.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all the multiples of 2 and 8 are not all multiples of 16.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68000" y="1057200"/>
            <a:ext cx="6624000" cy="1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Circle all the multiples of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4839             38 409           3284       84 032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4384        11 902             20 484      56 870 888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80 000 000 000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Divisibility tests for 8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68000" y="4176500"/>
            <a:ext cx="81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missing information. Some have been done for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1          2         5      8         16        20         40         45       80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100          160          165        29 213         9000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3157626" y="5921694"/>
            <a:ext cx="99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160</a:t>
            </a:r>
            <a:endParaRPr sz="1200"/>
          </a:p>
        </p:txBody>
      </p:sp>
      <p:sp>
        <p:nvSpPr>
          <p:cNvPr id="185" name="Google Shape;185;p21"/>
          <p:cNvSpPr txBox="1"/>
          <p:nvPr/>
        </p:nvSpPr>
        <p:spPr>
          <a:xfrm>
            <a:off x="1283136" y="5173533"/>
            <a:ext cx="190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68000" y="7079400"/>
            <a:ext cx="33120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You are playing a board game.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multiple of 5 can move 2 right.                 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multiple of 3 can move 3 up.                      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multiple of 8 can move 4 left.            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multiple of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can move 1 left or right.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starting number do you choose?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Draw your path to win the game in as few moves as possible.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Design your own game using multiples of 2, 3, 4, 6, 8, 9 or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1"/>
          <p:cNvGraphicFramePr/>
          <p:nvPr/>
        </p:nvGraphicFramePr>
        <p:xfrm>
          <a:off x="3822303" y="71275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{5AB15412-BA5D-430E-B6BF-916A92C3FED5}</a:tableStyleId>
              </a:tblPr>
              <a:tblGrid>
                <a:gridCol w="500000"/>
                <a:gridCol w="509525"/>
                <a:gridCol w="538950"/>
                <a:gridCol w="496225"/>
                <a:gridCol w="564550"/>
                <a:gridCol w="641425"/>
              </a:tblGrid>
              <a:tr h="2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EXIT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455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639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333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440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21"/>
          <p:cNvSpPr/>
          <p:nvPr/>
        </p:nvSpPr>
        <p:spPr>
          <a:xfrm>
            <a:off x="4424276" y="9698125"/>
            <a:ext cx="203400" cy="244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9" name="Google Shape;189;p21"/>
          <p:cNvSpPr txBox="1"/>
          <p:nvPr/>
        </p:nvSpPr>
        <p:spPr>
          <a:xfrm>
            <a:off x="4251150" y="9711150"/>
            <a:ext cx="99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 1</a:t>
            </a:r>
            <a:endParaRPr sz="1200"/>
          </a:p>
        </p:txBody>
      </p:sp>
      <p:sp>
        <p:nvSpPr>
          <p:cNvPr id="190" name="Google Shape;190;p21"/>
          <p:cNvSpPr/>
          <p:nvPr/>
        </p:nvSpPr>
        <p:spPr>
          <a:xfrm>
            <a:off x="4939451" y="9682221"/>
            <a:ext cx="203400" cy="244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1" name="Google Shape;191;p21"/>
          <p:cNvSpPr txBox="1"/>
          <p:nvPr/>
        </p:nvSpPr>
        <p:spPr>
          <a:xfrm>
            <a:off x="4766325" y="9711146"/>
            <a:ext cx="99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/>
          </a:p>
        </p:txBody>
      </p:sp>
      <p:sp>
        <p:nvSpPr>
          <p:cNvPr id="192" name="Google Shape;192;p21"/>
          <p:cNvSpPr/>
          <p:nvPr/>
        </p:nvSpPr>
        <p:spPr>
          <a:xfrm>
            <a:off x="6001466" y="9682221"/>
            <a:ext cx="203400" cy="244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3" name="Google Shape;193;p21"/>
          <p:cNvSpPr txBox="1"/>
          <p:nvPr/>
        </p:nvSpPr>
        <p:spPr>
          <a:xfrm>
            <a:off x="5828340" y="9695246"/>
            <a:ext cx="99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