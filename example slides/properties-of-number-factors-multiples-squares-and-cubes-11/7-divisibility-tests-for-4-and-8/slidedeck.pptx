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F10050-F8D1-493B-AD18-23350FF758E5}">
  <a:tblStyle styleId="{E2F10050-F8D1-493B-AD18-23350FF758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C573FE4-27C2-4195-8FC4-6F037E0AFF34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1e83bf7b56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1e83bf7b56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83bf7b56e_0_2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83bf7b56e_0_2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e83bf7b56e_0_2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e83bf7b56e_0_2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1e83bf7b56e_0_3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1e83bf7b56e_0_3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1e83bf7b56e_0_3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1e83bf7b56e_0_3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1e83bf7b56e_0_3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1e83bf7b56e_0_3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1e83bf7b56e_0_3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1e83bf7b56e_0_3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1e83bf7b56e_0_3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1e83bf7b56e_0_3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1e83bf7b56e_0_3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1e83bf7b56e_0_3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1e83bf7b56e_0_3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1e83bf7b56e_0_3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1e83bf7b56e_0_3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1e83bf7b56e_0_3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1e83bf7b56e_0_3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1e83bf7b56e_0_3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1e83bf7b56e_0_3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1e83bf7b56e_0_3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1e83bf7b56e_0_3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1e83bf7b56e_0_3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1e83bf7b56e_0_3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1e83bf7b56e_0_3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1e83bf7b56e_0_3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1e83bf7b56e_0_3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1e83bf7b56e_0_3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1e83bf7b56e_0_3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28687251c9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28687251c9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28a0cafd7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28a0cafd7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1e83bf7b56e_0_3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1e83bf7b56e_0_3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1e83bf7b56e_0_3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1e83bf7b56e_0_3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1e83bf7b56e_0_3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1e83bf7b56e_0_3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1e83bf7b56e_0_3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1e83bf7b56e_0_3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1e83bf7b56e_0_3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1e83bf7b56e_0_3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1e83bf7b56e_0_3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1e83bf7b56e_0_3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1e83bf7b56e_0_3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1e83bf7b56e_0_3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1e83bf7b56e_0_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1e83bf7b56e_0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1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5.png"/><Relationship Id="rId4" Type="http://schemas.openxmlformats.org/officeDocument/2006/relationships/image" Target="../media/image54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1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4.png"/><Relationship Id="rId4" Type="http://schemas.openxmlformats.org/officeDocument/2006/relationships/image" Target="../media/image21.png"/><Relationship Id="rId9" Type="http://schemas.openxmlformats.org/officeDocument/2006/relationships/image" Target="../media/image18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4.png"/><Relationship Id="rId4" Type="http://schemas.openxmlformats.org/officeDocument/2006/relationships/image" Target="../media/image26.png"/><Relationship Id="rId11" Type="http://schemas.openxmlformats.org/officeDocument/2006/relationships/image" Target="../media/image18.png"/><Relationship Id="rId10" Type="http://schemas.openxmlformats.org/officeDocument/2006/relationships/image" Target="../media/image39.png"/><Relationship Id="rId9" Type="http://schemas.openxmlformats.org/officeDocument/2006/relationships/image" Target="../media/image32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image" Target="../media/image33.png"/><Relationship Id="rId8" Type="http://schemas.openxmlformats.org/officeDocument/2006/relationships/image" Target="../media/image3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36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6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49.png"/><Relationship Id="rId5" Type="http://schemas.openxmlformats.org/officeDocument/2006/relationships/image" Target="../media/image4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1170225"/>
            <a:ext cx="5502000" cy="238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4 and 8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number: factors, multiples, squares and cubes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21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identify and explain whether a number is or is not a multiple of a given integer.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3994" y="9174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Divisibility is a mathematical concept that refers to one number's ability to be exactly divided by another, leaving no remainder.</a:t>
            </a:r>
            <a:endParaRPr b="0" sz="2000"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25" y="2441450"/>
            <a:ext cx="5118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Divisibility test for 2 : The digit in the ones column is a 0, 2, 4, 6 or 8.</a:t>
            </a:r>
            <a:endParaRPr b="0" sz="2000"/>
          </a:p>
        </p:txBody>
      </p:sp>
      <p:sp>
        <p:nvSpPr>
          <p:cNvPr id="768" name="Google Shape;768;p67"/>
          <p:cNvSpPr txBox="1"/>
          <p:nvPr>
            <p:ph idx="1" type="subTitle"/>
          </p:nvPr>
        </p:nvSpPr>
        <p:spPr>
          <a:xfrm>
            <a:off x="5779425" y="2642725"/>
            <a:ext cx="730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794</a:t>
            </a:r>
            <a:endParaRPr b="0" sz="2000"/>
          </a:p>
        </p:txBody>
      </p:sp>
      <p:sp>
        <p:nvSpPr>
          <p:cNvPr id="769" name="Google Shape;769;p67"/>
          <p:cNvSpPr txBox="1"/>
          <p:nvPr>
            <p:ph idx="1" type="subTitle"/>
          </p:nvPr>
        </p:nvSpPr>
        <p:spPr>
          <a:xfrm>
            <a:off x="7149373" y="2270075"/>
            <a:ext cx="1804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Non example</a:t>
            </a:r>
            <a:endParaRPr b="0" sz="2000"/>
          </a:p>
        </p:txBody>
      </p:sp>
      <p:sp>
        <p:nvSpPr>
          <p:cNvPr id="770" name="Google Shape;770;p67"/>
          <p:cNvSpPr txBox="1"/>
          <p:nvPr>
            <p:ph idx="1" type="subTitle"/>
          </p:nvPr>
        </p:nvSpPr>
        <p:spPr>
          <a:xfrm>
            <a:off x="5458725" y="2270075"/>
            <a:ext cx="2337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Example</a:t>
            </a:r>
            <a:endParaRPr b="0" sz="2000"/>
          </a:p>
        </p:txBody>
      </p:sp>
      <p:sp>
        <p:nvSpPr>
          <p:cNvPr id="771" name="Google Shape;771;p67"/>
          <p:cNvSpPr txBox="1"/>
          <p:nvPr>
            <p:ph idx="1" type="subTitle"/>
          </p:nvPr>
        </p:nvSpPr>
        <p:spPr>
          <a:xfrm>
            <a:off x="7608225" y="2642725"/>
            <a:ext cx="730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9351</a:t>
            </a:r>
            <a:endParaRPr b="0"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4</a:t>
            </a:r>
            <a:endParaRPr/>
          </a:p>
        </p:txBody>
      </p:sp>
      <p:sp>
        <p:nvSpPr>
          <p:cNvPr id="777" name="Google Shape;777;p6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Divisibility tests for 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4 and 8</a:t>
            </a:r>
            <a:endParaRPr/>
          </a:p>
        </p:txBody>
      </p:sp>
      <p:pic>
        <p:nvPicPr>
          <p:cNvPr id="779" name="Google Shape;77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75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4</a:t>
            </a:r>
            <a:endParaRPr/>
          </a:p>
        </p:txBody>
      </p:sp>
      <p:sp>
        <p:nvSpPr>
          <p:cNvPr id="785" name="Google Shape;785;p69"/>
          <p:cNvSpPr txBox="1"/>
          <p:nvPr>
            <p:ph idx="4294967295" type="subTitle"/>
          </p:nvPr>
        </p:nvSpPr>
        <p:spPr>
          <a:xfrm>
            <a:off x="324025" y="1080000"/>
            <a:ext cx="8564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Divisibility test for 2 : The digit in the ones column is a 0, 2, 4, 6 or 8 </a:t>
            </a:r>
            <a:endParaRPr b="0" sz="2000"/>
          </a:p>
        </p:txBody>
      </p:sp>
      <p:sp>
        <p:nvSpPr>
          <p:cNvPr id="786" name="Google Shape;786;p69"/>
          <p:cNvSpPr txBox="1"/>
          <p:nvPr>
            <p:ph idx="4294967295" type="subTitle"/>
          </p:nvPr>
        </p:nvSpPr>
        <p:spPr>
          <a:xfrm>
            <a:off x="324025" y="1551150"/>
            <a:ext cx="8155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Given 4 is a multiple of 2, does this mean </a:t>
            </a:r>
            <a:r>
              <a:rPr lang="en-GB" sz="2000">
                <a:solidFill>
                  <a:schemeClr val="accent4"/>
                </a:solidFill>
              </a:rPr>
              <a:t>all multiples of 4</a:t>
            </a:r>
            <a:r>
              <a:rPr b="1" lang="en-GB" sz="2000"/>
              <a:t> </a:t>
            </a:r>
            <a:r>
              <a:rPr lang="en-GB" sz="2000"/>
              <a:t>are also </a:t>
            </a:r>
            <a:r>
              <a:rPr lang="en-GB" sz="2000">
                <a:solidFill>
                  <a:schemeClr val="accent4"/>
                </a:solidFill>
              </a:rPr>
              <a:t>all multiples of 2</a:t>
            </a:r>
            <a:r>
              <a:rPr lang="en-GB" sz="2000"/>
              <a:t>?</a:t>
            </a:r>
            <a:endParaRPr b="0" sz="2000"/>
          </a:p>
        </p:txBody>
      </p:sp>
      <p:sp>
        <p:nvSpPr>
          <p:cNvPr id="787" name="Google Shape;787;p69"/>
          <p:cNvSpPr txBox="1"/>
          <p:nvPr>
            <p:ph idx="4294967295" type="subTitle"/>
          </p:nvPr>
        </p:nvSpPr>
        <p:spPr>
          <a:xfrm>
            <a:off x="324025" y="2615400"/>
            <a:ext cx="39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List the first ten multiples of 4 :</a:t>
            </a:r>
            <a:endParaRPr b="0" sz="2000"/>
          </a:p>
        </p:txBody>
      </p:sp>
      <p:sp>
        <p:nvSpPr>
          <p:cNvPr id="788" name="Google Shape;788;p69"/>
          <p:cNvSpPr txBox="1"/>
          <p:nvPr>
            <p:ph idx="4294967295" type="subTitle"/>
          </p:nvPr>
        </p:nvSpPr>
        <p:spPr>
          <a:xfrm>
            <a:off x="593275" y="3102600"/>
            <a:ext cx="3540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4,   8,   12,  16,  20,  24,  28,   32,   36,  40</a:t>
            </a:r>
            <a:endParaRPr b="0" sz="2000"/>
          </a:p>
        </p:txBody>
      </p:sp>
      <p:sp>
        <p:nvSpPr>
          <p:cNvPr id="789" name="Google Shape;789;p69"/>
          <p:cNvSpPr txBox="1"/>
          <p:nvPr>
            <p:ph idx="4294967295" type="subTitle"/>
          </p:nvPr>
        </p:nvSpPr>
        <p:spPr>
          <a:xfrm>
            <a:off x="4591225" y="2615400"/>
            <a:ext cx="39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List the first ten multiples of 2 :</a:t>
            </a:r>
            <a:endParaRPr b="0" sz="2000"/>
          </a:p>
        </p:txBody>
      </p:sp>
      <p:sp>
        <p:nvSpPr>
          <p:cNvPr id="790" name="Google Shape;790;p69"/>
          <p:cNvSpPr txBox="1"/>
          <p:nvPr>
            <p:ph idx="4294967295" type="subTitle"/>
          </p:nvPr>
        </p:nvSpPr>
        <p:spPr>
          <a:xfrm>
            <a:off x="5200825" y="3102600"/>
            <a:ext cx="2563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2,   4,   6,   8,   10,  12,      14,   16,   18,   20,</a:t>
            </a:r>
            <a:endParaRPr b="0" sz="2000"/>
          </a:p>
        </p:txBody>
      </p:sp>
      <p:sp>
        <p:nvSpPr>
          <p:cNvPr id="791" name="Google Shape;791;p69"/>
          <p:cNvSpPr txBox="1"/>
          <p:nvPr>
            <p:ph idx="4294967295" type="subTitle"/>
          </p:nvPr>
        </p:nvSpPr>
        <p:spPr>
          <a:xfrm>
            <a:off x="2609871" y="4060591"/>
            <a:ext cx="5125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Yes, because 4 is a multiple of 2.</a:t>
            </a:r>
            <a:endParaRPr b="0" sz="2000"/>
          </a:p>
        </p:txBody>
      </p:sp>
      <p:grpSp>
        <p:nvGrpSpPr>
          <p:cNvPr id="792" name="Google Shape;792;p69"/>
          <p:cNvGrpSpPr/>
          <p:nvPr/>
        </p:nvGrpSpPr>
        <p:grpSpPr>
          <a:xfrm>
            <a:off x="5551248" y="3086400"/>
            <a:ext cx="2193120" cy="736440"/>
            <a:chOff x="5551248" y="3086400"/>
            <a:chExt cx="2193120" cy="736440"/>
          </a:xfrm>
        </p:grpSpPr>
        <p:sp>
          <p:nvSpPr>
            <p:cNvPr id="793" name="Google Shape;793;p69"/>
            <p:cNvSpPr/>
            <p:nvPr/>
          </p:nvSpPr>
          <p:spPr>
            <a:xfrm>
              <a:off x="5551248" y="3086400"/>
              <a:ext cx="3567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69"/>
            <p:cNvSpPr/>
            <p:nvPr/>
          </p:nvSpPr>
          <p:spPr>
            <a:xfrm>
              <a:off x="6397068" y="3086400"/>
              <a:ext cx="3567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69"/>
            <p:cNvSpPr/>
            <p:nvPr/>
          </p:nvSpPr>
          <p:spPr>
            <a:xfrm>
              <a:off x="7387668" y="3086400"/>
              <a:ext cx="3567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69"/>
            <p:cNvSpPr/>
            <p:nvPr/>
          </p:nvSpPr>
          <p:spPr>
            <a:xfrm>
              <a:off x="5726538" y="3482640"/>
              <a:ext cx="3567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69"/>
            <p:cNvSpPr/>
            <p:nvPr/>
          </p:nvSpPr>
          <p:spPr>
            <a:xfrm>
              <a:off x="6846688" y="3482640"/>
              <a:ext cx="3567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8" name="Google Shape;798;p69"/>
          <p:cNvGrpSpPr/>
          <p:nvPr/>
        </p:nvGrpSpPr>
        <p:grpSpPr>
          <a:xfrm>
            <a:off x="500400" y="3085496"/>
            <a:ext cx="3254700" cy="747685"/>
            <a:chOff x="500400" y="3085496"/>
            <a:chExt cx="3254700" cy="747685"/>
          </a:xfrm>
        </p:grpSpPr>
        <p:grpSp>
          <p:nvGrpSpPr>
            <p:cNvPr id="799" name="Google Shape;799;p69"/>
            <p:cNvGrpSpPr/>
            <p:nvPr/>
          </p:nvGrpSpPr>
          <p:grpSpPr>
            <a:xfrm>
              <a:off x="500400" y="3085496"/>
              <a:ext cx="3254700" cy="729724"/>
              <a:chOff x="500400" y="3085496"/>
              <a:chExt cx="3254700" cy="729724"/>
            </a:xfrm>
          </p:grpSpPr>
          <p:sp>
            <p:nvSpPr>
              <p:cNvPr id="800" name="Google Shape;800;p69"/>
              <p:cNvSpPr/>
              <p:nvPr/>
            </p:nvSpPr>
            <p:spPr>
              <a:xfrm>
                <a:off x="500400" y="3086400"/>
                <a:ext cx="356700" cy="340200"/>
              </a:xfrm>
              <a:prstGeom prst="ellipse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69"/>
              <p:cNvSpPr/>
              <p:nvPr/>
            </p:nvSpPr>
            <p:spPr>
              <a:xfrm>
                <a:off x="933528" y="3086400"/>
                <a:ext cx="356700" cy="340200"/>
              </a:xfrm>
              <a:prstGeom prst="ellipse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69"/>
              <p:cNvSpPr/>
              <p:nvPr/>
            </p:nvSpPr>
            <p:spPr>
              <a:xfrm>
                <a:off x="1444068" y="3086400"/>
                <a:ext cx="356700" cy="340200"/>
              </a:xfrm>
              <a:prstGeom prst="ellipse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69"/>
              <p:cNvSpPr/>
              <p:nvPr/>
            </p:nvSpPr>
            <p:spPr>
              <a:xfrm>
                <a:off x="1900800" y="3086405"/>
                <a:ext cx="356700" cy="340200"/>
              </a:xfrm>
              <a:prstGeom prst="ellipse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69"/>
              <p:cNvSpPr/>
              <p:nvPr/>
            </p:nvSpPr>
            <p:spPr>
              <a:xfrm>
                <a:off x="3398400" y="3085496"/>
                <a:ext cx="356700" cy="340200"/>
              </a:xfrm>
              <a:prstGeom prst="ellipse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69"/>
              <p:cNvSpPr/>
              <p:nvPr/>
            </p:nvSpPr>
            <p:spPr>
              <a:xfrm>
                <a:off x="1101600" y="3475020"/>
                <a:ext cx="363900" cy="340200"/>
              </a:xfrm>
              <a:prstGeom prst="ellipse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69"/>
              <p:cNvSpPr/>
              <p:nvPr/>
            </p:nvSpPr>
            <p:spPr>
              <a:xfrm>
                <a:off x="1621873" y="3475020"/>
                <a:ext cx="363900" cy="340200"/>
              </a:xfrm>
              <a:prstGeom prst="ellipse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69"/>
              <p:cNvSpPr/>
              <p:nvPr/>
            </p:nvSpPr>
            <p:spPr>
              <a:xfrm>
                <a:off x="2404800" y="3086395"/>
                <a:ext cx="363900" cy="340200"/>
              </a:xfrm>
              <a:prstGeom prst="ellipse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69"/>
              <p:cNvSpPr/>
              <p:nvPr/>
            </p:nvSpPr>
            <p:spPr>
              <a:xfrm>
                <a:off x="2901600" y="3086400"/>
                <a:ext cx="363900" cy="340200"/>
              </a:xfrm>
              <a:prstGeom prst="ellipse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09" name="Google Shape;809;p69"/>
            <p:cNvSpPr/>
            <p:nvPr/>
          </p:nvSpPr>
          <p:spPr>
            <a:xfrm>
              <a:off x="544186" y="3492981"/>
              <a:ext cx="3639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4</a:t>
            </a:r>
            <a:endParaRPr/>
          </a:p>
        </p:txBody>
      </p:sp>
      <p:sp>
        <p:nvSpPr>
          <p:cNvPr id="815" name="Google Shape;815;p70"/>
          <p:cNvSpPr txBox="1"/>
          <p:nvPr>
            <p:ph idx="4294967295" type="subTitle"/>
          </p:nvPr>
        </p:nvSpPr>
        <p:spPr>
          <a:xfrm>
            <a:off x="674925" y="4158275"/>
            <a:ext cx="7885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No, because 2 is not a multiple of 4.</a:t>
            </a:r>
            <a:endParaRPr b="0" sz="2000"/>
          </a:p>
        </p:txBody>
      </p:sp>
      <p:sp>
        <p:nvSpPr>
          <p:cNvPr id="816" name="Google Shape;816;p70"/>
          <p:cNvSpPr txBox="1"/>
          <p:nvPr>
            <p:ph idx="4294967295" type="subTitle"/>
          </p:nvPr>
        </p:nvSpPr>
        <p:spPr>
          <a:xfrm>
            <a:off x="324025" y="1551150"/>
            <a:ext cx="8155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Given 4 is a multiple of 2, does this mean </a:t>
            </a:r>
            <a:r>
              <a:rPr lang="en-GB" sz="2000">
                <a:solidFill>
                  <a:schemeClr val="accent4"/>
                </a:solidFill>
              </a:rPr>
              <a:t>all multiples of 2</a:t>
            </a:r>
            <a:r>
              <a:rPr b="1" lang="en-GB" sz="2000"/>
              <a:t> </a:t>
            </a:r>
            <a:r>
              <a:rPr lang="en-GB" sz="2000"/>
              <a:t>are also </a:t>
            </a:r>
            <a:r>
              <a:rPr lang="en-GB" sz="2000">
                <a:solidFill>
                  <a:schemeClr val="accent4"/>
                </a:solidFill>
              </a:rPr>
              <a:t>all multiples of 4</a:t>
            </a:r>
            <a:r>
              <a:rPr lang="en-GB" sz="2000"/>
              <a:t>?</a:t>
            </a:r>
            <a:endParaRPr b="0" sz="2000"/>
          </a:p>
        </p:txBody>
      </p:sp>
      <p:sp>
        <p:nvSpPr>
          <p:cNvPr id="817" name="Google Shape;817;p70"/>
          <p:cNvSpPr txBox="1"/>
          <p:nvPr>
            <p:ph idx="4294967295" type="subTitle"/>
          </p:nvPr>
        </p:nvSpPr>
        <p:spPr>
          <a:xfrm>
            <a:off x="324025" y="2615400"/>
            <a:ext cx="39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List the first ten multiples of 4 :</a:t>
            </a:r>
            <a:endParaRPr b="0" sz="2000"/>
          </a:p>
        </p:txBody>
      </p:sp>
      <p:sp>
        <p:nvSpPr>
          <p:cNvPr id="818" name="Google Shape;818;p70"/>
          <p:cNvSpPr txBox="1"/>
          <p:nvPr>
            <p:ph idx="4294967295" type="subTitle"/>
          </p:nvPr>
        </p:nvSpPr>
        <p:spPr>
          <a:xfrm>
            <a:off x="4591225" y="2615400"/>
            <a:ext cx="39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List the first ten multiples of 2 :</a:t>
            </a:r>
            <a:endParaRPr b="0" sz="2000"/>
          </a:p>
        </p:txBody>
      </p:sp>
      <p:sp>
        <p:nvSpPr>
          <p:cNvPr id="819" name="Google Shape;819;p70"/>
          <p:cNvSpPr txBox="1"/>
          <p:nvPr>
            <p:ph idx="4294967295" type="subTitle"/>
          </p:nvPr>
        </p:nvSpPr>
        <p:spPr>
          <a:xfrm>
            <a:off x="593275" y="3102600"/>
            <a:ext cx="3531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4,   8,   12,  16,  20,  24,  28,   32,   36,  40</a:t>
            </a:r>
            <a:endParaRPr b="0" sz="2000"/>
          </a:p>
        </p:txBody>
      </p:sp>
      <p:grpSp>
        <p:nvGrpSpPr>
          <p:cNvPr id="820" name="Google Shape;820;p70"/>
          <p:cNvGrpSpPr/>
          <p:nvPr/>
        </p:nvGrpSpPr>
        <p:grpSpPr>
          <a:xfrm>
            <a:off x="500400" y="3085496"/>
            <a:ext cx="3254700" cy="729724"/>
            <a:chOff x="500400" y="3085496"/>
            <a:chExt cx="3254700" cy="729724"/>
          </a:xfrm>
        </p:grpSpPr>
        <p:sp>
          <p:nvSpPr>
            <p:cNvPr id="821" name="Google Shape;821;p70"/>
            <p:cNvSpPr/>
            <p:nvPr/>
          </p:nvSpPr>
          <p:spPr>
            <a:xfrm>
              <a:off x="500400" y="3086400"/>
              <a:ext cx="3567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70"/>
            <p:cNvSpPr/>
            <p:nvPr/>
          </p:nvSpPr>
          <p:spPr>
            <a:xfrm>
              <a:off x="933528" y="3086400"/>
              <a:ext cx="3567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70"/>
            <p:cNvSpPr/>
            <p:nvPr/>
          </p:nvSpPr>
          <p:spPr>
            <a:xfrm>
              <a:off x="1444068" y="3086400"/>
              <a:ext cx="3567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70"/>
            <p:cNvSpPr/>
            <p:nvPr/>
          </p:nvSpPr>
          <p:spPr>
            <a:xfrm>
              <a:off x="1900800" y="3086405"/>
              <a:ext cx="3567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70"/>
            <p:cNvSpPr/>
            <p:nvPr/>
          </p:nvSpPr>
          <p:spPr>
            <a:xfrm>
              <a:off x="3398400" y="3085496"/>
              <a:ext cx="3567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70"/>
            <p:cNvSpPr/>
            <p:nvPr/>
          </p:nvSpPr>
          <p:spPr>
            <a:xfrm>
              <a:off x="1101600" y="3475020"/>
              <a:ext cx="3639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70"/>
            <p:cNvSpPr/>
            <p:nvPr/>
          </p:nvSpPr>
          <p:spPr>
            <a:xfrm>
              <a:off x="1621873" y="3475020"/>
              <a:ext cx="3639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70"/>
            <p:cNvSpPr/>
            <p:nvPr/>
          </p:nvSpPr>
          <p:spPr>
            <a:xfrm>
              <a:off x="2404800" y="3086395"/>
              <a:ext cx="3639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70"/>
            <p:cNvSpPr/>
            <p:nvPr/>
          </p:nvSpPr>
          <p:spPr>
            <a:xfrm>
              <a:off x="2901600" y="3086400"/>
              <a:ext cx="3639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0" name="Google Shape;830;p70"/>
          <p:cNvSpPr/>
          <p:nvPr/>
        </p:nvSpPr>
        <p:spPr>
          <a:xfrm>
            <a:off x="543600" y="3491320"/>
            <a:ext cx="363900" cy="340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1" name="Google Shape;831;p70"/>
          <p:cNvGrpSpPr/>
          <p:nvPr/>
        </p:nvGrpSpPr>
        <p:grpSpPr>
          <a:xfrm>
            <a:off x="5071571" y="3093918"/>
            <a:ext cx="2694356" cy="745124"/>
            <a:chOff x="5077713" y="3086400"/>
            <a:chExt cx="2694356" cy="745124"/>
          </a:xfrm>
        </p:grpSpPr>
        <p:sp>
          <p:nvSpPr>
            <p:cNvPr id="832" name="Google Shape;832;p70"/>
            <p:cNvSpPr/>
            <p:nvPr/>
          </p:nvSpPr>
          <p:spPr>
            <a:xfrm>
              <a:off x="6862601" y="3086400"/>
              <a:ext cx="4245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70"/>
            <p:cNvSpPr/>
            <p:nvPr/>
          </p:nvSpPr>
          <p:spPr>
            <a:xfrm>
              <a:off x="6256801" y="3491324"/>
              <a:ext cx="4245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70"/>
            <p:cNvSpPr/>
            <p:nvPr/>
          </p:nvSpPr>
          <p:spPr>
            <a:xfrm>
              <a:off x="5148229" y="3491324"/>
              <a:ext cx="4245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70"/>
            <p:cNvSpPr/>
            <p:nvPr/>
          </p:nvSpPr>
          <p:spPr>
            <a:xfrm>
              <a:off x="5077713" y="3086400"/>
              <a:ext cx="4245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70"/>
            <p:cNvSpPr/>
            <p:nvPr/>
          </p:nvSpPr>
          <p:spPr>
            <a:xfrm>
              <a:off x="5518769" y="3086400"/>
              <a:ext cx="4245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70"/>
            <p:cNvSpPr/>
            <p:nvPr/>
          </p:nvSpPr>
          <p:spPr>
            <a:xfrm>
              <a:off x="5975969" y="3086400"/>
              <a:ext cx="4245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70"/>
            <p:cNvSpPr/>
            <p:nvPr/>
          </p:nvSpPr>
          <p:spPr>
            <a:xfrm>
              <a:off x="6405401" y="3086400"/>
              <a:ext cx="4245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70"/>
            <p:cNvSpPr/>
            <p:nvPr/>
          </p:nvSpPr>
          <p:spPr>
            <a:xfrm>
              <a:off x="7347569" y="3086400"/>
              <a:ext cx="4245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70"/>
            <p:cNvSpPr/>
            <p:nvPr/>
          </p:nvSpPr>
          <p:spPr>
            <a:xfrm>
              <a:off x="5671169" y="3467400"/>
              <a:ext cx="4245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70"/>
            <p:cNvSpPr/>
            <p:nvPr/>
          </p:nvSpPr>
          <p:spPr>
            <a:xfrm>
              <a:off x="6814169" y="3467400"/>
              <a:ext cx="424500" cy="340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2" name="Google Shape;842;p70"/>
          <p:cNvGrpSpPr/>
          <p:nvPr/>
        </p:nvGrpSpPr>
        <p:grpSpPr>
          <a:xfrm>
            <a:off x="5119850" y="3113425"/>
            <a:ext cx="2138148" cy="680748"/>
            <a:chOff x="5119850" y="3113425"/>
            <a:chExt cx="2138148" cy="680748"/>
          </a:xfrm>
        </p:grpSpPr>
        <p:sp>
          <p:nvSpPr>
            <p:cNvPr id="843" name="Google Shape;843;p70"/>
            <p:cNvSpPr/>
            <p:nvPr/>
          </p:nvSpPr>
          <p:spPr>
            <a:xfrm>
              <a:off x="5979697" y="3113425"/>
              <a:ext cx="363900" cy="278100"/>
            </a:xfrm>
            <a:prstGeom prst="ellipse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70"/>
            <p:cNvSpPr/>
            <p:nvPr/>
          </p:nvSpPr>
          <p:spPr>
            <a:xfrm>
              <a:off x="5119850" y="3113425"/>
              <a:ext cx="363900" cy="278100"/>
            </a:xfrm>
            <a:prstGeom prst="ellipse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70"/>
            <p:cNvSpPr/>
            <p:nvPr/>
          </p:nvSpPr>
          <p:spPr>
            <a:xfrm>
              <a:off x="6273674" y="3516073"/>
              <a:ext cx="363900" cy="278100"/>
            </a:xfrm>
            <a:prstGeom prst="ellipse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70"/>
            <p:cNvSpPr/>
            <p:nvPr/>
          </p:nvSpPr>
          <p:spPr>
            <a:xfrm>
              <a:off x="6894097" y="3113425"/>
              <a:ext cx="363900" cy="278100"/>
            </a:xfrm>
            <a:prstGeom prst="ellipse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70"/>
            <p:cNvSpPr/>
            <p:nvPr/>
          </p:nvSpPr>
          <p:spPr>
            <a:xfrm>
              <a:off x="5152321" y="3516073"/>
              <a:ext cx="363900" cy="278100"/>
            </a:xfrm>
            <a:prstGeom prst="ellipse">
              <a:avLst/>
            </a:prstGeom>
            <a:noFill/>
            <a:ln cap="flat" cmpd="sng" w="762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8" name="Google Shape;848;p70"/>
          <p:cNvSpPr txBox="1"/>
          <p:nvPr>
            <p:ph idx="4294967295" type="subTitle"/>
          </p:nvPr>
        </p:nvSpPr>
        <p:spPr>
          <a:xfrm>
            <a:off x="5200825" y="3102600"/>
            <a:ext cx="2563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2,   4,   6,   8,   10,  12,      14,   16,   18,   20,</a:t>
            </a:r>
            <a:endParaRPr b="0"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4</a:t>
            </a:r>
            <a:endParaRPr/>
          </a:p>
        </p:txBody>
      </p:sp>
      <p:sp>
        <p:nvSpPr>
          <p:cNvPr id="854" name="Google Shape;854;p71"/>
          <p:cNvSpPr txBox="1"/>
          <p:nvPr>
            <p:ph idx="4294967295" type="subTitle"/>
          </p:nvPr>
        </p:nvSpPr>
        <p:spPr>
          <a:xfrm>
            <a:off x="324025" y="993650"/>
            <a:ext cx="27297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Divisibility test for </a:t>
            </a:r>
            <a:r>
              <a:rPr lang="en-GB" sz="2000"/>
              <a:t>4</a:t>
            </a:r>
            <a:endParaRPr b="0" sz="2000"/>
          </a:p>
        </p:txBody>
      </p:sp>
      <p:sp>
        <p:nvSpPr>
          <p:cNvPr id="855" name="Google Shape;855;p71"/>
          <p:cNvSpPr txBox="1"/>
          <p:nvPr/>
        </p:nvSpPr>
        <p:spPr>
          <a:xfrm>
            <a:off x="598050" y="1837200"/>
            <a:ext cx="7620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4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8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12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16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20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1"/>
          <p:cNvSpPr txBox="1"/>
          <p:nvPr/>
        </p:nvSpPr>
        <p:spPr>
          <a:xfrm>
            <a:off x="1436250" y="1837200"/>
            <a:ext cx="7620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24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28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32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36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40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1"/>
          <p:cNvSpPr txBox="1"/>
          <p:nvPr/>
        </p:nvSpPr>
        <p:spPr>
          <a:xfrm>
            <a:off x="2274450" y="1837200"/>
            <a:ext cx="7620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44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48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52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56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60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1"/>
          <p:cNvSpPr txBox="1"/>
          <p:nvPr/>
        </p:nvSpPr>
        <p:spPr>
          <a:xfrm>
            <a:off x="3036450" y="1837200"/>
            <a:ext cx="7620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64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68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72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76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80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1"/>
          <p:cNvSpPr txBox="1"/>
          <p:nvPr/>
        </p:nvSpPr>
        <p:spPr>
          <a:xfrm>
            <a:off x="3798450" y="1837200"/>
            <a:ext cx="7620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84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88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92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96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100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1"/>
          <p:cNvSpPr txBox="1"/>
          <p:nvPr>
            <p:ph idx="4294967295" type="subTitle"/>
          </p:nvPr>
        </p:nvSpPr>
        <p:spPr>
          <a:xfrm>
            <a:off x="5305200" y="1986000"/>
            <a:ext cx="2904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pattern do you notice?</a:t>
            </a:r>
            <a:endParaRPr b="0"/>
          </a:p>
        </p:txBody>
      </p:sp>
      <p:sp>
        <p:nvSpPr>
          <p:cNvPr id="861" name="Google Shape;861;p71"/>
          <p:cNvSpPr/>
          <p:nvPr/>
        </p:nvSpPr>
        <p:spPr>
          <a:xfrm>
            <a:off x="404100" y="1639450"/>
            <a:ext cx="4312200" cy="2493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2"/>
          <p:cNvSpPr/>
          <p:nvPr/>
        </p:nvSpPr>
        <p:spPr>
          <a:xfrm>
            <a:off x="404100" y="1639450"/>
            <a:ext cx="4312200" cy="2493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4</a:t>
            </a:r>
            <a:endParaRPr/>
          </a:p>
        </p:txBody>
      </p:sp>
      <p:sp>
        <p:nvSpPr>
          <p:cNvPr id="868" name="Google Shape;868;p72"/>
          <p:cNvSpPr txBox="1"/>
          <p:nvPr>
            <p:ph idx="4294967295" type="subTitle"/>
          </p:nvPr>
        </p:nvSpPr>
        <p:spPr>
          <a:xfrm>
            <a:off x="324025" y="993650"/>
            <a:ext cx="27297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Divisibility test for </a:t>
            </a:r>
            <a:r>
              <a:rPr lang="en-GB" sz="2000"/>
              <a:t>4</a:t>
            </a:r>
            <a:endParaRPr b="0" sz="2000"/>
          </a:p>
        </p:txBody>
      </p:sp>
      <p:sp>
        <p:nvSpPr>
          <p:cNvPr id="869" name="Google Shape;869;p72"/>
          <p:cNvSpPr txBox="1"/>
          <p:nvPr/>
        </p:nvSpPr>
        <p:spPr>
          <a:xfrm>
            <a:off x="598050" y="1837200"/>
            <a:ext cx="7620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4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8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12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16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20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2"/>
          <p:cNvSpPr txBox="1"/>
          <p:nvPr/>
        </p:nvSpPr>
        <p:spPr>
          <a:xfrm>
            <a:off x="1436250" y="1837200"/>
            <a:ext cx="7620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24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28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32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36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40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2"/>
          <p:cNvSpPr txBox="1"/>
          <p:nvPr/>
        </p:nvSpPr>
        <p:spPr>
          <a:xfrm>
            <a:off x="2274450" y="1837200"/>
            <a:ext cx="7620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44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48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52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56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60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2"/>
          <p:cNvSpPr txBox="1"/>
          <p:nvPr/>
        </p:nvSpPr>
        <p:spPr>
          <a:xfrm>
            <a:off x="3036450" y="1837200"/>
            <a:ext cx="7620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64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68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72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76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80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2"/>
          <p:cNvSpPr txBox="1"/>
          <p:nvPr/>
        </p:nvSpPr>
        <p:spPr>
          <a:xfrm>
            <a:off x="3798450" y="1837200"/>
            <a:ext cx="7620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84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88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92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96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2"/>
          <p:cNvSpPr txBox="1"/>
          <p:nvPr>
            <p:ph idx="4294967295" type="subTitle"/>
          </p:nvPr>
        </p:nvSpPr>
        <p:spPr>
          <a:xfrm>
            <a:off x="5114625" y="919200"/>
            <a:ext cx="3094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figure out a divisibility test for 4 using 38 834 864?</a:t>
            </a:r>
            <a:endParaRPr b="0"/>
          </a:p>
        </p:txBody>
      </p:sp>
      <p:sp>
        <p:nvSpPr>
          <p:cNvPr id="875" name="Google Shape;875;p72"/>
          <p:cNvSpPr txBox="1"/>
          <p:nvPr>
            <p:ph idx="4294967295" type="subTitle"/>
          </p:nvPr>
        </p:nvSpPr>
        <p:spPr>
          <a:xfrm>
            <a:off x="5114625" y="2367000"/>
            <a:ext cx="3094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Because 4 is a factor of 100, this means we know 4 is a factor of                 38 834 800, so we only need to look to see if the last two digits are a factor</a:t>
            </a:r>
            <a:endParaRPr b="0" sz="1900"/>
          </a:p>
        </p:txBody>
      </p:sp>
      <p:sp>
        <p:nvSpPr>
          <p:cNvPr id="876" name="Google Shape;876;p72"/>
          <p:cNvSpPr/>
          <p:nvPr/>
        </p:nvSpPr>
        <p:spPr>
          <a:xfrm>
            <a:off x="3071086" y="1861000"/>
            <a:ext cx="468600" cy="487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72"/>
          <p:cNvSpPr txBox="1"/>
          <p:nvPr>
            <p:ph idx="4294967295" type="subTitle"/>
          </p:nvPr>
        </p:nvSpPr>
        <p:spPr>
          <a:xfrm>
            <a:off x="596250" y="4305000"/>
            <a:ext cx="4118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Yes 38 834 864 is a multiple of 4 </a:t>
            </a:r>
            <a:endParaRPr b="0" sz="2000"/>
          </a:p>
        </p:txBody>
      </p:sp>
      <p:cxnSp>
        <p:nvCxnSpPr>
          <p:cNvPr id="878" name="Google Shape;878;p72"/>
          <p:cNvCxnSpPr/>
          <p:nvPr/>
        </p:nvCxnSpPr>
        <p:spPr>
          <a:xfrm flipH="1" rot="10800000">
            <a:off x="6998850" y="2156400"/>
            <a:ext cx="365400" cy="7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9" name="Google Shape;879;p72"/>
          <p:cNvSpPr txBox="1"/>
          <p:nvPr/>
        </p:nvSpPr>
        <p:spPr>
          <a:xfrm>
            <a:off x="3757736" y="3368800"/>
            <a:ext cx="916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 b="1">
              <a:solidFill>
                <a:schemeClr val="accent4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4</a:t>
            </a:r>
            <a:endParaRPr/>
          </a:p>
        </p:txBody>
      </p:sp>
      <p:sp>
        <p:nvSpPr>
          <p:cNvPr id="885" name="Google Shape;885;p73"/>
          <p:cNvSpPr txBox="1"/>
          <p:nvPr>
            <p:ph idx="4294967295" type="subTitle"/>
          </p:nvPr>
        </p:nvSpPr>
        <p:spPr>
          <a:xfrm>
            <a:off x="324025" y="993650"/>
            <a:ext cx="27297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Divisibility test for </a:t>
            </a:r>
            <a:r>
              <a:rPr lang="en-GB" sz="2000"/>
              <a:t>4</a:t>
            </a:r>
            <a:endParaRPr b="0" sz="2000"/>
          </a:p>
        </p:txBody>
      </p:sp>
      <p:sp>
        <p:nvSpPr>
          <p:cNvPr id="886" name="Google Shape;886;p73"/>
          <p:cNvSpPr txBox="1"/>
          <p:nvPr/>
        </p:nvSpPr>
        <p:spPr>
          <a:xfrm>
            <a:off x="598050" y="1837200"/>
            <a:ext cx="7620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4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8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12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16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20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3"/>
          <p:cNvSpPr txBox="1"/>
          <p:nvPr/>
        </p:nvSpPr>
        <p:spPr>
          <a:xfrm>
            <a:off x="1436250" y="1837200"/>
            <a:ext cx="7620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24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28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32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36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40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3"/>
          <p:cNvSpPr txBox="1"/>
          <p:nvPr/>
        </p:nvSpPr>
        <p:spPr>
          <a:xfrm>
            <a:off x="2274450" y="1837200"/>
            <a:ext cx="7620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44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48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52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56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60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3"/>
          <p:cNvSpPr txBox="1"/>
          <p:nvPr/>
        </p:nvSpPr>
        <p:spPr>
          <a:xfrm>
            <a:off x="3036450" y="1837200"/>
            <a:ext cx="7620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64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68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72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76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80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3"/>
          <p:cNvSpPr txBox="1"/>
          <p:nvPr/>
        </p:nvSpPr>
        <p:spPr>
          <a:xfrm>
            <a:off x="3798450" y="1837200"/>
            <a:ext cx="7620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84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88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92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96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100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3"/>
          <p:cNvSpPr txBox="1"/>
          <p:nvPr>
            <p:ph idx="4294967295" type="subTitle"/>
          </p:nvPr>
        </p:nvSpPr>
        <p:spPr>
          <a:xfrm>
            <a:off x="5322450" y="1639450"/>
            <a:ext cx="27297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divisibility test for 4 states that a number is a </a:t>
            </a:r>
            <a:r>
              <a:rPr lang="en-GB"/>
              <a:t>multiple of 4 if the last two digits are a multiple of 4.</a:t>
            </a:r>
            <a:endParaRPr b="0"/>
          </a:p>
        </p:txBody>
      </p:sp>
      <p:sp>
        <p:nvSpPr>
          <p:cNvPr id="892" name="Google Shape;892;p73"/>
          <p:cNvSpPr/>
          <p:nvPr/>
        </p:nvSpPr>
        <p:spPr>
          <a:xfrm>
            <a:off x="404100" y="1639450"/>
            <a:ext cx="4312200" cy="2493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74"/>
          <p:cNvSpPr txBox="1"/>
          <p:nvPr>
            <p:ph type="title"/>
          </p:nvPr>
        </p:nvSpPr>
        <p:spPr>
          <a:xfrm>
            <a:off x="324000" y="810000"/>
            <a:ext cx="7000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is a multiple of 4? There can be more than one answer. Justify your answer.</a:t>
            </a:r>
            <a:endParaRPr/>
          </a:p>
        </p:txBody>
      </p:sp>
      <p:sp>
        <p:nvSpPr>
          <p:cNvPr id="898" name="Google Shape;898;p7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4</a:t>
            </a:r>
            <a:endParaRPr/>
          </a:p>
        </p:txBody>
      </p:sp>
      <p:sp>
        <p:nvSpPr>
          <p:cNvPr id="899" name="Google Shape;899;p7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44 898 434</a:t>
            </a:r>
            <a:endParaRPr/>
          </a:p>
        </p:txBody>
      </p:sp>
      <p:sp>
        <p:nvSpPr>
          <p:cNvPr id="900" name="Google Shape;900;p74"/>
          <p:cNvSpPr txBox="1"/>
          <p:nvPr>
            <p:ph idx="3" type="subTitle"/>
          </p:nvPr>
        </p:nvSpPr>
        <p:spPr>
          <a:xfrm>
            <a:off x="1070700" y="24310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378 432</a:t>
            </a:r>
            <a:endParaRPr/>
          </a:p>
        </p:txBody>
      </p:sp>
      <p:sp>
        <p:nvSpPr>
          <p:cNvPr id="901" name="Google Shape;901;p7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5 984 438 424</a:t>
            </a:r>
            <a:endParaRPr/>
          </a:p>
        </p:txBody>
      </p:sp>
      <p:sp>
        <p:nvSpPr>
          <p:cNvPr id="902" name="Google Shape;902;p7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389 308</a:t>
            </a:r>
            <a:endParaRPr/>
          </a:p>
        </p:txBody>
      </p:sp>
      <p:cxnSp>
        <p:nvCxnSpPr>
          <p:cNvPr id="903" name="Google Shape;903;p74"/>
          <p:cNvCxnSpPr/>
          <p:nvPr/>
        </p:nvCxnSpPr>
        <p:spPr>
          <a:xfrm>
            <a:off x="2225975" y="2037775"/>
            <a:ext cx="311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4" name="Google Shape;904;p74"/>
          <p:cNvCxnSpPr/>
          <p:nvPr/>
        </p:nvCxnSpPr>
        <p:spPr>
          <a:xfrm>
            <a:off x="1749524" y="2867074"/>
            <a:ext cx="311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5" name="Google Shape;905;p74"/>
          <p:cNvCxnSpPr/>
          <p:nvPr/>
        </p:nvCxnSpPr>
        <p:spPr>
          <a:xfrm>
            <a:off x="2575499" y="3696549"/>
            <a:ext cx="311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6" name="Google Shape;906;p74"/>
          <p:cNvCxnSpPr/>
          <p:nvPr/>
        </p:nvCxnSpPr>
        <p:spPr>
          <a:xfrm>
            <a:off x="1707751" y="4474124"/>
            <a:ext cx="311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7" name="Google Shape;90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4083" y="24642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7258" y="328663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9508" y="40608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74"/>
          <p:cNvSpPr txBox="1"/>
          <p:nvPr>
            <p:ph type="title"/>
          </p:nvPr>
        </p:nvSpPr>
        <p:spPr>
          <a:xfrm>
            <a:off x="2949425" y="2326820"/>
            <a:ext cx="45516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last two digits are 32 and 32 is a multiple of 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1" name="Google Shape;911;p74"/>
          <p:cNvSpPr txBox="1"/>
          <p:nvPr>
            <p:ph type="title"/>
          </p:nvPr>
        </p:nvSpPr>
        <p:spPr>
          <a:xfrm>
            <a:off x="3635225" y="3241220"/>
            <a:ext cx="4420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last two digits are 24 and 24 is a multiple of 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2" name="Google Shape;912;p74"/>
          <p:cNvSpPr txBox="1"/>
          <p:nvPr>
            <p:ph type="title"/>
          </p:nvPr>
        </p:nvSpPr>
        <p:spPr>
          <a:xfrm>
            <a:off x="2887950" y="4101170"/>
            <a:ext cx="45516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last two digits are 08 and 8 is a multiple of 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75"/>
          <p:cNvSpPr txBox="1"/>
          <p:nvPr>
            <p:ph type="title"/>
          </p:nvPr>
        </p:nvSpPr>
        <p:spPr>
          <a:xfrm>
            <a:off x="324000" y="648325"/>
            <a:ext cx="713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Three trucks transport fruit to supermarkets. Fruit is sold in multiples of 4. One truck lost 6 pieces of fruit. Which truck lost the fruit? Explain your answer.</a:t>
            </a:r>
            <a:endParaRPr sz="2000"/>
          </a:p>
        </p:txBody>
      </p:sp>
      <p:sp>
        <p:nvSpPr>
          <p:cNvPr id="918" name="Google Shape;918;p7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4</a:t>
            </a:r>
            <a:endParaRPr/>
          </a:p>
        </p:txBody>
      </p:sp>
      <p:sp>
        <p:nvSpPr>
          <p:cNvPr id="919" name="Google Shape;919;p75"/>
          <p:cNvSpPr txBox="1"/>
          <p:nvPr>
            <p:ph type="title"/>
          </p:nvPr>
        </p:nvSpPr>
        <p:spPr>
          <a:xfrm>
            <a:off x="448693" y="3366175"/>
            <a:ext cx="2455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8384 pieces of fruit</a:t>
            </a:r>
            <a:endParaRPr sz="1800"/>
          </a:p>
        </p:txBody>
      </p:sp>
      <p:sp>
        <p:nvSpPr>
          <p:cNvPr id="920" name="Google Shape;920;p75"/>
          <p:cNvSpPr txBox="1"/>
          <p:nvPr>
            <p:ph type="title"/>
          </p:nvPr>
        </p:nvSpPr>
        <p:spPr>
          <a:xfrm>
            <a:off x="3344293" y="3366186"/>
            <a:ext cx="25554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9162 pieces of fruit</a:t>
            </a:r>
            <a:endParaRPr sz="1800"/>
          </a:p>
        </p:txBody>
      </p:sp>
      <p:sp>
        <p:nvSpPr>
          <p:cNvPr id="921" name="Google Shape;921;p75"/>
          <p:cNvSpPr txBox="1"/>
          <p:nvPr>
            <p:ph type="title"/>
          </p:nvPr>
        </p:nvSpPr>
        <p:spPr>
          <a:xfrm>
            <a:off x="6239893" y="3366175"/>
            <a:ext cx="2769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7</a:t>
            </a:r>
            <a:r>
              <a:rPr lang="en-GB" sz="1800"/>
              <a:t>228 pieces of fruit</a:t>
            </a:r>
            <a:endParaRPr sz="1800"/>
          </a:p>
        </p:txBody>
      </p:sp>
      <p:sp>
        <p:nvSpPr>
          <p:cNvPr id="922" name="Google Shape;922;p75"/>
          <p:cNvSpPr txBox="1"/>
          <p:nvPr/>
        </p:nvSpPr>
        <p:spPr>
          <a:xfrm>
            <a:off x="3385230" y="3640439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Not a multiple of 4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23" name="Google Shape;92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0058" y="4132275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4" name="Google Shape;924;p75"/>
          <p:cNvGrpSpPr/>
          <p:nvPr/>
        </p:nvGrpSpPr>
        <p:grpSpPr>
          <a:xfrm>
            <a:off x="686406" y="3625617"/>
            <a:ext cx="6095625" cy="3500"/>
            <a:chOff x="686406" y="3625617"/>
            <a:chExt cx="6095625" cy="3500"/>
          </a:xfrm>
        </p:grpSpPr>
        <p:cxnSp>
          <p:nvCxnSpPr>
            <p:cNvPr id="925" name="Google Shape;925;p75"/>
            <p:cNvCxnSpPr/>
            <p:nvPr/>
          </p:nvCxnSpPr>
          <p:spPr>
            <a:xfrm>
              <a:off x="686406" y="3629117"/>
              <a:ext cx="311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6" name="Google Shape;926;p75"/>
            <p:cNvCxnSpPr/>
            <p:nvPr/>
          </p:nvCxnSpPr>
          <p:spPr>
            <a:xfrm>
              <a:off x="3578381" y="3625617"/>
              <a:ext cx="311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7" name="Google Shape;927;p75"/>
            <p:cNvCxnSpPr/>
            <p:nvPr/>
          </p:nvCxnSpPr>
          <p:spPr>
            <a:xfrm>
              <a:off x="6470331" y="3625617"/>
              <a:ext cx="311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928" name="Google Shape;928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425" y="2013630"/>
            <a:ext cx="2455801" cy="1352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43174" y="2051155"/>
            <a:ext cx="2455801" cy="1352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6750" y="2051150"/>
            <a:ext cx="2634543" cy="129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Divisibility tests for 4</a:t>
            </a:r>
            <a:endParaRPr/>
          </a:p>
        </p:txBody>
      </p:sp>
      <p:sp>
        <p:nvSpPr>
          <p:cNvPr id="936" name="Google Shape;936;p76"/>
          <p:cNvSpPr txBox="1"/>
          <p:nvPr>
            <p:ph idx="4294967295" type="body"/>
          </p:nvPr>
        </p:nvSpPr>
        <p:spPr>
          <a:xfrm>
            <a:off x="453150" y="773250"/>
            <a:ext cx="8237700" cy="38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1) Identify the multiples of 4 from the lists: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378,     8940,     93 424,     9288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32 980,     8 430 348,     3 490 085,      2 222 222 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2) Identify the multiples of 4 and 5 from the list below: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   92 980,     4 300 360,     3 490 085,      2 222 440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1" name="Google Shape;941;p77"/>
          <p:cNvGraphicFramePr/>
          <p:nvPr/>
        </p:nvGraphicFramePr>
        <p:xfrm>
          <a:off x="476250" y="1206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{E2F10050-F8D1-493B-AD18-23350FF758E5}</a:tableStyleId>
              </a:tblPr>
              <a:tblGrid>
                <a:gridCol w="4095750"/>
                <a:gridCol w="1570050"/>
                <a:gridCol w="1079300"/>
                <a:gridCol w="1045200"/>
              </a:tblGrid>
              <a:tr h="44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Sometimes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Never 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4 is a multiple of 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2 is a multiple of 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10 is a multiple of 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9 is a multiple of 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8 is odd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Multiples of 40 are multiples of 5, 8 and 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42" name="Google Shape;942;p77"/>
          <p:cNvSpPr txBox="1"/>
          <p:nvPr>
            <p:ph idx="4294967295" type="body"/>
          </p:nvPr>
        </p:nvSpPr>
        <p:spPr>
          <a:xfrm>
            <a:off x="453150" y="773250"/>
            <a:ext cx="8237700" cy="49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) Identify if the statements are sometimes, always or never true.</a:t>
            </a:r>
            <a:endParaRPr sz="1800"/>
          </a:p>
        </p:txBody>
      </p:sp>
      <p:sp>
        <p:nvSpPr>
          <p:cNvPr id="943" name="Google Shape;943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Divisibility tests for 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78"/>
          <p:cNvSpPr txBox="1"/>
          <p:nvPr>
            <p:ph idx="4294967295" type="body"/>
          </p:nvPr>
        </p:nvSpPr>
        <p:spPr>
          <a:xfrm>
            <a:off x="453150" y="773250"/>
            <a:ext cx="8237700" cy="38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Identify the multiples of 4 from the lists: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378,     8940,     93 424,     9288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32 980,     8 430 348,     3 490 085,      2 222 222 </a:t>
            </a:r>
            <a:br>
              <a:rPr lang="en-GB"/>
            </a:br>
            <a:br>
              <a:rPr lang="en-GB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Identify the multiples of 4 and 5 from the list below:</a:t>
            </a:r>
            <a:br>
              <a:rPr lang="en-GB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92 980,     4 300 360,     3 490 085,      2 222 440 </a:t>
            </a:r>
            <a:endParaRPr/>
          </a:p>
        </p:txBody>
      </p:sp>
      <p:sp>
        <p:nvSpPr>
          <p:cNvPr id="949" name="Google Shape;949;p78"/>
          <p:cNvSpPr/>
          <p:nvPr/>
        </p:nvSpPr>
        <p:spPr>
          <a:xfrm>
            <a:off x="1649013" y="1540954"/>
            <a:ext cx="969300" cy="551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78"/>
          <p:cNvSpPr/>
          <p:nvPr/>
        </p:nvSpPr>
        <p:spPr>
          <a:xfrm>
            <a:off x="2906213" y="1540954"/>
            <a:ext cx="969300" cy="551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78"/>
          <p:cNvSpPr/>
          <p:nvPr/>
        </p:nvSpPr>
        <p:spPr>
          <a:xfrm>
            <a:off x="4120863" y="1540954"/>
            <a:ext cx="969300" cy="551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78"/>
          <p:cNvSpPr/>
          <p:nvPr/>
        </p:nvSpPr>
        <p:spPr>
          <a:xfrm>
            <a:off x="2121310" y="2296054"/>
            <a:ext cx="1531800" cy="551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78"/>
          <p:cNvSpPr/>
          <p:nvPr/>
        </p:nvSpPr>
        <p:spPr>
          <a:xfrm>
            <a:off x="817383" y="2296043"/>
            <a:ext cx="1126800" cy="551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78"/>
          <p:cNvSpPr/>
          <p:nvPr/>
        </p:nvSpPr>
        <p:spPr>
          <a:xfrm>
            <a:off x="817375" y="3874675"/>
            <a:ext cx="1212300" cy="551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78"/>
          <p:cNvSpPr/>
          <p:nvPr/>
        </p:nvSpPr>
        <p:spPr>
          <a:xfrm>
            <a:off x="5685446" y="3901743"/>
            <a:ext cx="1531800" cy="551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Divisibility tests for 4</a:t>
            </a:r>
            <a:endParaRPr/>
          </a:p>
        </p:txBody>
      </p:sp>
      <p:sp>
        <p:nvSpPr>
          <p:cNvPr id="957" name="Google Shape;957;p78"/>
          <p:cNvSpPr/>
          <p:nvPr/>
        </p:nvSpPr>
        <p:spPr>
          <a:xfrm>
            <a:off x="2157471" y="3901743"/>
            <a:ext cx="1531800" cy="551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" name="Google Shape;962;p79"/>
          <p:cNvGraphicFramePr/>
          <p:nvPr/>
        </p:nvGraphicFramePr>
        <p:xfrm>
          <a:off x="476250" y="1206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{E2F10050-F8D1-493B-AD18-23350FF758E5}</a:tableStyleId>
              </a:tblPr>
              <a:tblGrid>
                <a:gridCol w="4095750"/>
                <a:gridCol w="1570050"/>
                <a:gridCol w="1079300"/>
                <a:gridCol w="1045200"/>
              </a:tblGrid>
              <a:tr h="44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Sometimes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Never 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multiple of 4 is a multiple of 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multiple of 2 is a multiple of 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multiple of 10 is a multiple of 2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multiple of 9 is a multiple of 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multiple of 8 is odd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Multiples of 40 are multiples of 5, 8 and 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63" name="Google Shape;963;p79"/>
          <p:cNvSpPr txBox="1"/>
          <p:nvPr>
            <p:ph idx="4294967295" type="body"/>
          </p:nvPr>
        </p:nvSpPr>
        <p:spPr>
          <a:xfrm>
            <a:off x="453150" y="773250"/>
            <a:ext cx="8237700" cy="49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) Identify if the statements are sometimes, always or never true.</a:t>
            </a:r>
            <a:endParaRPr sz="1800"/>
          </a:p>
        </p:txBody>
      </p:sp>
      <p:pic>
        <p:nvPicPr>
          <p:cNvPr id="964" name="Google Shape;96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6983" y="16637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108" y="2160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2219" y="263761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2219" y="309481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6094" y="357044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2219" y="425789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Divisibility tests for 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80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4</a:t>
            </a:r>
            <a:endParaRPr/>
          </a:p>
        </p:txBody>
      </p:sp>
      <p:sp>
        <p:nvSpPr>
          <p:cNvPr id="976" name="Google Shape;976;p80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4 and 8</a:t>
            </a:r>
            <a:endParaRPr/>
          </a:p>
        </p:txBody>
      </p:sp>
      <p:pic>
        <p:nvPicPr>
          <p:cNvPr id="978" name="Google Shape;97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75" y="299761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81"/>
          <p:cNvSpPr txBox="1"/>
          <p:nvPr>
            <p:ph idx="1" type="body"/>
          </p:nvPr>
        </p:nvSpPr>
        <p:spPr>
          <a:xfrm>
            <a:off x="324000" y="701100"/>
            <a:ext cx="7967100" cy="119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divisibility test for 4 works when the last two digits are divisible by 4 because 100 is a multiple of 4. However, 100 is not a multiple of 8. How do you think we might test for divisibility by 8?</a:t>
            </a:r>
            <a:endParaRPr sz="1800"/>
          </a:p>
        </p:txBody>
      </p:sp>
      <p:sp>
        <p:nvSpPr>
          <p:cNvPr id="984" name="Google Shape;984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Divisibility tests for 8</a:t>
            </a:r>
            <a:endParaRPr/>
          </a:p>
        </p:txBody>
      </p:sp>
      <p:pic>
        <p:nvPicPr>
          <p:cNvPr id="985" name="Google Shape;98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5650" y="1615650"/>
            <a:ext cx="6408700" cy="3248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Divisibility tests for 8</a:t>
            </a:r>
            <a:endParaRPr b="0" sz="1800"/>
          </a:p>
        </p:txBody>
      </p:sp>
      <p:sp>
        <p:nvSpPr>
          <p:cNvPr id="991" name="Google Shape;991;p82"/>
          <p:cNvSpPr txBox="1"/>
          <p:nvPr>
            <p:ph idx="1" type="body"/>
          </p:nvPr>
        </p:nvSpPr>
        <p:spPr>
          <a:xfrm>
            <a:off x="324000" y="851350"/>
            <a:ext cx="7048500" cy="9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8 is a factor of 1000, therefore if the last three digits of a number is a multiple of 8 then we know the number is divisible by 8.</a:t>
            </a:r>
            <a:endParaRPr sz="1900"/>
          </a:p>
        </p:txBody>
      </p:sp>
      <p:sp>
        <p:nvSpPr>
          <p:cNvPr id="992" name="Google Shape;992;p82"/>
          <p:cNvSpPr txBox="1"/>
          <p:nvPr>
            <p:ph idx="1" type="body"/>
          </p:nvPr>
        </p:nvSpPr>
        <p:spPr>
          <a:xfrm>
            <a:off x="552600" y="2244150"/>
            <a:ext cx="13608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Example</a:t>
            </a:r>
            <a:endParaRPr sz="1900"/>
          </a:p>
        </p:txBody>
      </p:sp>
      <p:sp>
        <p:nvSpPr>
          <p:cNvPr id="993" name="Google Shape;993;p82"/>
          <p:cNvSpPr txBox="1"/>
          <p:nvPr>
            <p:ph idx="1" type="body"/>
          </p:nvPr>
        </p:nvSpPr>
        <p:spPr>
          <a:xfrm>
            <a:off x="3524400" y="2244150"/>
            <a:ext cx="13608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Example</a:t>
            </a:r>
            <a:endParaRPr sz="1900"/>
          </a:p>
        </p:txBody>
      </p:sp>
      <p:sp>
        <p:nvSpPr>
          <p:cNvPr id="994" name="Google Shape;994;p82"/>
          <p:cNvSpPr txBox="1"/>
          <p:nvPr>
            <p:ph idx="1" type="body"/>
          </p:nvPr>
        </p:nvSpPr>
        <p:spPr>
          <a:xfrm>
            <a:off x="6584175" y="2244150"/>
            <a:ext cx="18063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Non e</a:t>
            </a:r>
            <a:r>
              <a:rPr lang="en-GB" sz="2100"/>
              <a:t>xample</a:t>
            </a:r>
            <a:endParaRPr sz="1900"/>
          </a:p>
        </p:txBody>
      </p:sp>
      <p:sp>
        <p:nvSpPr>
          <p:cNvPr id="995" name="Google Shape;995;p82"/>
          <p:cNvSpPr txBox="1"/>
          <p:nvPr>
            <p:ph idx="1" type="body"/>
          </p:nvPr>
        </p:nvSpPr>
        <p:spPr>
          <a:xfrm>
            <a:off x="552600" y="2747475"/>
            <a:ext cx="13608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7160</a:t>
            </a:r>
            <a:endParaRPr sz="1900"/>
          </a:p>
        </p:txBody>
      </p:sp>
      <p:sp>
        <p:nvSpPr>
          <p:cNvPr id="996" name="Google Shape;996;p82"/>
          <p:cNvSpPr txBox="1"/>
          <p:nvPr>
            <p:ph idx="1" type="body"/>
          </p:nvPr>
        </p:nvSpPr>
        <p:spPr>
          <a:xfrm>
            <a:off x="552600" y="3250800"/>
            <a:ext cx="20223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160 is a multiple of 8</a:t>
            </a:r>
            <a:endParaRPr sz="1900"/>
          </a:p>
        </p:txBody>
      </p:sp>
      <p:cxnSp>
        <p:nvCxnSpPr>
          <p:cNvPr id="997" name="Google Shape;997;p82"/>
          <p:cNvCxnSpPr/>
          <p:nvPr/>
        </p:nvCxnSpPr>
        <p:spPr>
          <a:xfrm>
            <a:off x="735479" y="3073850"/>
            <a:ext cx="417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8" name="Google Shape;998;p82"/>
          <p:cNvSpPr txBox="1"/>
          <p:nvPr>
            <p:ph idx="1" type="body"/>
          </p:nvPr>
        </p:nvSpPr>
        <p:spPr>
          <a:xfrm>
            <a:off x="3524400" y="2747475"/>
            <a:ext cx="22500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138 293 144</a:t>
            </a:r>
            <a:endParaRPr sz="1900"/>
          </a:p>
        </p:txBody>
      </p:sp>
      <p:sp>
        <p:nvSpPr>
          <p:cNvPr id="999" name="Google Shape;999;p82"/>
          <p:cNvSpPr txBox="1"/>
          <p:nvPr>
            <p:ph idx="1" type="body"/>
          </p:nvPr>
        </p:nvSpPr>
        <p:spPr>
          <a:xfrm>
            <a:off x="3524400" y="3250800"/>
            <a:ext cx="19122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144</a:t>
            </a:r>
            <a:r>
              <a:rPr lang="en-GB" sz="2100"/>
              <a:t> is a multiple of 8</a:t>
            </a:r>
            <a:endParaRPr sz="1900"/>
          </a:p>
        </p:txBody>
      </p:sp>
      <p:cxnSp>
        <p:nvCxnSpPr>
          <p:cNvPr id="1000" name="Google Shape;1000;p82"/>
          <p:cNvCxnSpPr/>
          <p:nvPr/>
        </p:nvCxnSpPr>
        <p:spPr>
          <a:xfrm>
            <a:off x="4545479" y="3073850"/>
            <a:ext cx="417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1" name="Google Shape;1001;p82"/>
          <p:cNvSpPr txBox="1"/>
          <p:nvPr>
            <p:ph idx="1" type="body"/>
          </p:nvPr>
        </p:nvSpPr>
        <p:spPr>
          <a:xfrm>
            <a:off x="6572400" y="2747475"/>
            <a:ext cx="22500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293 666</a:t>
            </a:r>
            <a:endParaRPr sz="1900"/>
          </a:p>
        </p:txBody>
      </p:sp>
      <p:cxnSp>
        <p:nvCxnSpPr>
          <p:cNvPr id="1002" name="Google Shape;1002;p82"/>
          <p:cNvCxnSpPr/>
          <p:nvPr/>
        </p:nvCxnSpPr>
        <p:spPr>
          <a:xfrm>
            <a:off x="7136279" y="3073850"/>
            <a:ext cx="417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3" name="Google Shape;1003;p82"/>
          <p:cNvSpPr txBox="1"/>
          <p:nvPr>
            <p:ph idx="1" type="body"/>
          </p:nvPr>
        </p:nvSpPr>
        <p:spPr>
          <a:xfrm>
            <a:off x="6572400" y="3250800"/>
            <a:ext cx="20223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666</a:t>
            </a:r>
            <a:r>
              <a:rPr lang="en-GB" sz="2100"/>
              <a:t> is not a multiple of 8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83"/>
          <p:cNvSpPr/>
          <p:nvPr/>
        </p:nvSpPr>
        <p:spPr>
          <a:xfrm>
            <a:off x="5987125" y="1297450"/>
            <a:ext cx="2832900" cy="2479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83"/>
          <p:cNvSpPr/>
          <p:nvPr/>
        </p:nvSpPr>
        <p:spPr>
          <a:xfrm>
            <a:off x="2457563" y="1300850"/>
            <a:ext cx="3448200" cy="2479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83"/>
          <p:cNvSpPr/>
          <p:nvPr/>
        </p:nvSpPr>
        <p:spPr>
          <a:xfrm>
            <a:off x="332025" y="1300850"/>
            <a:ext cx="2046900" cy="2479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8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shows 385 248 is divisible by 8?</a:t>
            </a:r>
            <a:endParaRPr/>
          </a:p>
        </p:txBody>
      </p:sp>
      <p:sp>
        <p:nvSpPr>
          <p:cNvPr id="1012" name="Google Shape;1012;p8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Divisibility tests for 8</a:t>
            </a:r>
            <a:endParaRPr/>
          </a:p>
        </p:txBody>
      </p:sp>
      <p:sp>
        <p:nvSpPr>
          <p:cNvPr id="1013" name="Google Shape;1013;p83"/>
          <p:cNvSpPr txBox="1"/>
          <p:nvPr/>
        </p:nvSpPr>
        <p:spPr>
          <a:xfrm>
            <a:off x="359400" y="1314575"/>
            <a:ext cx="2223000" cy="22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says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“I know my 8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times 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I know 248 is a multiple of 8 so 385 248 is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divisible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by 8.”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4" name="Google Shape;1014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2513" y="1750175"/>
            <a:ext cx="1865725" cy="94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ex shows a division of 248  by 8 using an alternative division method. 8 does not divide into 2 thus the calculation looks at 8 dividing into 24. The subtraction of 24 by 24 gives a remainder of 0. Thus the next calculation is dividing 8 by 8. Thus the answer to 248 divided by 8 is 31." id="1015" name="Google Shape;1015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0393" y="1609400"/>
            <a:ext cx="1443806" cy="191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83"/>
          <p:cNvSpPr txBox="1"/>
          <p:nvPr/>
        </p:nvSpPr>
        <p:spPr>
          <a:xfrm>
            <a:off x="6291850" y="1297450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Alex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did this.</a:t>
            </a:r>
            <a:endParaRPr/>
          </a:p>
        </p:txBody>
      </p:sp>
      <p:sp>
        <p:nvSpPr>
          <p:cNvPr id="1017" name="Google Shape;1017;p83"/>
          <p:cNvSpPr txBox="1"/>
          <p:nvPr/>
        </p:nvSpPr>
        <p:spPr>
          <a:xfrm>
            <a:off x="6085100" y="1673975"/>
            <a:ext cx="15675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 last three digits are divisible by 8 so    385 248 is divisible by 8.</a:t>
            </a:r>
            <a:endParaRPr/>
          </a:p>
        </p:txBody>
      </p:sp>
      <p:sp>
        <p:nvSpPr>
          <p:cNvPr descr="Andeep does a  division of 248 by 8. 8 does not divide into 2 so the calculation of 24 divided by 8 is calculated giving an answer of 3 remainder zero. Then 8 is divided by 8 equaling 1. Thus the answer to 248 divided by 8 is 31." id="1018" name="Google Shape;1018;p83"/>
          <p:cNvSpPr txBox="1"/>
          <p:nvPr/>
        </p:nvSpPr>
        <p:spPr>
          <a:xfrm>
            <a:off x="2460375" y="1314575"/>
            <a:ext cx="3445200" cy="22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 did this working out.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shows the last three digits are divisible by 8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385 248 is divisible by 8.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9" name="Google Shape;1019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1008" y="41510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0208" y="41510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" name="Google Shape;1021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3208" y="41510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Divisibility tests for 8</a:t>
            </a:r>
            <a:endParaRPr/>
          </a:p>
        </p:txBody>
      </p:sp>
      <p:sp>
        <p:nvSpPr>
          <p:cNvPr id="1027" name="Google Shape;1027;p84"/>
          <p:cNvSpPr txBox="1"/>
          <p:nvPr>
            <p:ph idx="4294967295" type="title"/>
          </p:nvPr>
        </p:nvSpPr>
        <p:spPr>
          <a:xfrm>
            <a:off x="324000" y="748775"/>
            <a:ext cx="7565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Aisha uses a partitioning method to check if 385 248 is divisible by 8.</a:t>
            </a:r>
            <a:endParaRPr b="0" sz="2000"/>
          </a:p>
        </p:txBody>
      </p:sp>
      <p:sp>
        <p:nvSpPr>
          <p:cNvPr id="1028" name="Google Shape;1028;p84"/>
          <p:cNvSpPr txBox="1"/>
          <p:nvPr>
            <p:ph idx="4294967295" type="title"/>
          </p:nvPr>
        </p:nvSpPr>
        <p:spPr>
          <a:xfrm>
            <a:off x="324000" y="1574650"/>
            <a:ext cx="4752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Focussing on the last 3 digits she has</a:t>
            </a:r>
            <a:endParaRPr b="0" sz="2000"/>
          </a:p>
        </p:txBody>
      </p:sp>
      <p:sp>
        <p:nvSpPr>
          <p:cNvPr id="1029" name="Google Shape;1029;p84"/>
          <p:cNvSpPr txBox="1"/>
          <p:nvPr/>
        </p:nvSpPr>
        <p:spPr>
          <a:xfrm>
            <a:off x="4262725" y="2083789"/>
            <a:ext cx="72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248</a:t>
            </a:r>
            <a:endParaRPr/>
          </a:p>
        </p:txBody>
      </p:sp>
      <p:cxnSp>
        <p:nvCxnSpPr>
          <p:cNvPr id="1030" name="Google Shape;1030;p84"/>
          <p:cNvCxnSpPr>
            <a:stCxn id="1031" idx="3"/>
            <a:endCxn id="1032" idx="7"/>
          </p:cNvCxnSpPr>
          <p:nvPr/>
        </p:nvCxnSpPr>
        <p:spPr>
          <a:xfrm flipH="1">
            <a:off x="3210442" y="2567896"/>
            <a:ext cx="1107000" cy="417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3" name="Google Shape;1033;p84"/>
          <p:cNvSpPr txBox="1"/>
          <p:nvPr/>
        </p:nvSpPr>
        <p:spPr>
          <a:xfrm>
            <a:off x="2653525" y="2993700"/>
            <a:ext cx="447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200       +        40            +      8 </a:t>
            </a:r>
            <a:endParaRPr/>
          </a:p>
        </p:txBody>
      </p:sp>
      <p:sp>
        <p:nvSpPr>
          <p:cNvPr id="1034" name="Google Shape;1034;p84"/>
          <p:cNvSpPr txBox="1"/>
          <p:nvPr/>
        </p:nvSpPr>
        <p:spPr>
          <a:xfrm>
            <a:off x="2076500" y="3531375"/>
            <a:ext cx="127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50  </a:t>
            </a:r>
            <a:endParaRPr/>
          </a:p>
        </p:txBody>
      </p:sp>
      <p:sp>
        <p:nvSpPr>
          <p:cNvPr id="1035" name="Google Shape;1035;p84"/>
          <p:cNvSpPr txBox="1"/>
          <p:nvPr/>
        </p:nvSpPr>
        <p:spPr>
          <a:xfrm>
            <a:off x="2285136" y="3532500"/>
            <a:ext cx="36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8  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036" name="Google Shape;1036;p84"/>
          <p:cNvSpPr txBox="1"/>
          <p:nvPr/>
        </p:nvSpPr>
        <p:spPr>
          <a:xfrm>
            <a:off x="4039800" y="3539582"/>
            <a:ext cx="127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5  </a:t>
            </a:r>
            <a:endParaRPr/>
          </a:p>
        </p:txBody>
      </p:sp>
      <p:sp>
        <p:nvSpPr>
          <p:cNvPr id="1037" name="Google Shape;1037;p84"/>
          <p:cNvSpPr txBox="1"/>
          <p:nvPr/>
        </p:nvSpPr>
        <p:spPr>
          <a:xfrm>
            <a:off x="4248436" y="3540707"/>
            <a:ext cx="36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8  </a:t>
            </a:r>
            <a:endParaRPr>
              <a:solidFill>
                <a:schemeClr val="accent5"/>
              </a:solidFill>
            </a:endParaRPr>
          </a:p>
        </p:txBody>
      </p:sp>
      <p:cxnSp>
        <p:nvCxnSpPr>
          <p:cNvPr id="1038" name="Google Shape;1038;p84"/>
          <p:cNvCxnSpPr>
            <a:endCxn id="1039" idx="0"/>
          </p:cNvCxnSpPr>
          <p:nvPr/>
        </p:nvCxnSpPr>
        <p:spPr>
          <a:xfrm>
            <a:off x="4570500" y="2673288"/>
            <a:ext cx="1500" cy="206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0" name="Google Shape;1040;p84"/>
          <p:cNvCxnSpPr>
            <a:stCxn id="1031" idx="5"/>
            <a:endCxn id="1041" idx="1"/>
          </p:cNvCxnSpPr>
          <p:nvPr/>
        </p:nvCxnSpPr>
        <p:spPr>
          <a:xfrm>
            <a:off x="4826558" y="2567896"/>
            <a:ext cx="1175700" cy="417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2" name="Google Shape;1042;p84"/>
          <p:cNvSpPr txBox="1"/>
          <p:nvPr/>
        </p:nvSpPr>
        <p:spPr>
          <a:xfrm>
            <a:off x="5703357" y="3531077"/>
            <a:ext cx="127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1  </a:t>
            </a:r>
            <a:endParaRPr/>
          </a:p>
        </p:txBody>
      </p:sp>
      <p:sp>
        <p:nvSpPr>
          <p:cNvPr id="1043" name="Google Shape;1043;p84"/>
          <p:cNvSpPr txBox="1"/>
          <p:nvPr/>
        </p:nvSpPr>
        <p:spPr>
          <a:xfrm>
            <a:off x="5911993" y="3532202"/>
            <a:ext cx="36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8  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044" name="Google Shape;1044;p84"/>
          <p:cNvSpPr txBox="1"/>
          <p:nvPr>
            <p:ph idx="4294967295" type="title"/>
          </p:nvPr>
        </p:nvSpPr>
        <p:spPr>
          <a:xfrm>
            <a:off x="324000" y="4046700"/>
            <a:ext cx="8245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8 is a factor of 200, 40 and 8 so therefore 385 248 is a multiple of 8. </a:t>
            </a:r>
            <a:endParaRPr b="0" sz="2000"/>
          </a:p>
        </p:txBody>
      </p:sp>
      <p:sp>
        <p:nvSpPr>
          <p:cNvPr id="1031" name="Google Shape;1031;p84"/>
          <p:cNvSpPr/>
          <p:nvPr/>
        </p:nvSpPr>
        <p:spPr>
          <a:xfrm>
            <a:off x="4212000" y="1953338"/>
            <a:ext cx="720000" cy="72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84"/>
          <p:cNvSpPr/>
          <p:nvPr/>
        </p:nvSpPr>
        <p:spPr>
          <a:xfrm>
            <a:off x="2595825" y="2879988"/>
            <a:ext cx="720000" cy="72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84"/>
          <p:cNvSpPr/>
          <p:nvPr/>
        </p:nvSpPr>
        <p:spPr>
          <a:xfrm>
            <a:off x="4212000" y="2879988"/>
            <a:ext cx="720000" cy="72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84"/>
          <p:cNvSpPr/>
          <p:nvPr/>
        </p:nvSpPr>
        <p:spPr>
          <a:xfrm>
            <a:off x="5896800" y="2879988"/>
            <a:ext cx="720000" cy="720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85"/>
          <p:cNvSpPr txBox="1"/>
          <p:nvPr>
            <p:ph type="title"/>
          </p:nvPr>
        </p:nvSpPr>
        <p:spPr>
          <a:xfrm>
            <a:off x="324000" y="9773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is a </a:t>
            </a:r>
            <a:r>
              <a:rPr lang="en-GB"/>
              <a:t>multiple</a:t>
            </a:r>
            <a:r>
              <a:rPr lang="en-GB"/>
              <a:t> of 8?</a:t>
            </a:r>
            <a:endParaRPr/>
          </a:p>
        </p:txBody>
      </p:sp>
      <p:sp>
        <p:nvSpPr>
          <p:cNvPr id="1050" name="Google Shape;1050;p8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Divisibility tests for 8</a:t>
            </a:r>
            <a:endParaRPr b="0" sz="1800"/>
          </a:p>
        </p:txBody>
      </p:sp>
      <p:sp>
        <p:nvSpPr>
          <p:cNvPr id="1051" name="Google Shape;1051;p85"/>
          <p:cNvSpPr txBox="1"/>
          <p:nvPr>
            <p:ph idx="1" type="subTitle"/>
          </p:nvPr>
        </p:nvSpPr>
        <p:spPr>
          <a:xfrm>
            <a:off x="1034425" y="1837775"/>
            <a:ext cx="2043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89 438 348</a:t>
            </a:r>
            <a:endParaRPr/>
          </a:p>
        </p:txBody>
      </p:sp>
      <p:sp>
        <p:nvSpPr>
          <p:cNvPr id="1052" name="Google Shape;1052;p8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789 483 839 360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8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475 498</a:t>
            </a:r>
            <a:endParaRPr/>
          </a:p>
        </p:txBody>
      </p:sp>
      <p:pic>
        <p:nvPicPr>
          <p:cNvPr id="1054" name="Google Shape;1054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8" y="2779250"/>
            <a:ext cx="3960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5" name="Google Shape;1055;p85"/>
          <p:cNvCxnSpPr/>
          <p:nvPr/>
        </p:nvCxnSpPr>
        <p:spPr>
          <a:xfrm>
            <a:off x="1994704" y="2210613"/>
            <a:ext cx="417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6" name="Google Shape;1056;p85"/>
          <p:cNvCxnSpPr/>
          <p:nvPr/>
        </p:nvCxnSpPr>
        <p:spPr>
          <a:xfrm>
            <a:off x="2678254" y="3183338"/>
            <a:ext cx="417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p85"/>
          <p:cNvCxnSpPr/>
          <p:nvPr/>
        </p:nvCxnSpPr>
        <p:spPr>
          <a:xfrm>
            <a:off x="1576804" y="4148763"/>
            <a:ext cx="417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8" name="Google Shape;1058;p85"/>
          <p:cNvSpPr txBox="1"/>
          <p:nvPr>
            <p:ph type="title"/>
          </p:nvPr>
        </p:nvSpPr>
        <p:spPr>
          <a:xfrm>
            <a:off x="5926650" y="2096075"/>
            <a:ext cx="6603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360</a:t>
            </a:r>
            <a:endParaRPr b="0" sz="2000"/>
          </a:p>
        </p:txBody>
      </p:sp>
      <p:sp>
        <p:nvSpPr>
          <p:cNvPr id="1059" name="Google Shape;1059;p85"/>
          <p:cNvSpPr txBox="1"/>
          <p:nvPr>
            <p:ph type="title"/>
          </p:nvPr>
        </p:nvSpPr>
        <p:spPr>
          <a:xfrm>
            <a:off x="5153100" y="1721025"/>
            <a:ext cx="23823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Using partitioning</a:t>
            </a:r>
            <a:endParaRPr b="0" sz="2000"/>
          </a:p>
        </p:txBody>
      </p:sp>
      <p:grpSp>
        <p:nvGrpSpPr>
          <p:cNvPr id="1060" name="Google Shape;1060;p85"/>
          <p:cNvGrpSpPr/>
          <p:nvPr/>
        </p:nvGrpSpPr>
        <p:grpSpPr>
          <a:xfrm>
            <a:off x="5194900" y="2794239"/>
            <a:ext cx="2043279" cy="492864"/>
            <a:chOff x="5194900" y="2794239"/>
            <a:chExt cx="2043279" cy="492864"/>
          </a:xfrm>
        </p:grpSpPr>
        <p:sp>
          <p:nvSpPr>
            <p:cNvPr id="1061" name="Google Shape;1061;p85"/>
            <p:cNvSpPr txBox="1"/>
            <p:nvPr/>
          </p:nvSpPr>
          <p:spPr>
            <a:xfrm>
              <a:off x="5194900" y="2794250"/>
              <a:ext cx="660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300</a:t>
              </a:r>
              <a:endParaRPr/>
            </a:p>
          </p:txBody>
        </p:sp>
        <p:sp>
          <p:nvSpPr>
            <p:cNvPr id="1062" name="Google Shape;1062;p85"/>
            <p:cNvSpPr txBox="1"/>
            <p:nvPr/>
          </p:nvSpPr>
          <p:spPr>
            <a:xfrm>
              <a:off x="6577879" y="2794504"/>
              <a:ext cx="660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60</a:t>
              </a:r>
              <a:endParaRPr/>
            </a:p>
          </p:txBody>
        </p:sp>
        <p:sp>
          <p:nvSpPr>
            <p:cNvPr id="1063" name="Google Shape;1063;p85"/>
            <p:cNvSpPr txBox="1"/>
            <p:nvPr/>
          </p:nvSpPr>
          <p:spPr>
            <a:xfrm>
              <a:off x="6021750" y="2794239"/>
              <a:ext cx="724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/>
            </a:p>
          </p:txBody>
        </p:sp>
      </p:grpSp>
      <p:sp>
        <p:nvSpPr>
          <p:cNvPr id="1064" name="Google Shape;1064;p85"/>
          <p:cNvSpPr txBox="1"/>
          <p:nvPr/>
        </p:nvSpPr>
        <p:spPr>
          <a:xfrm>
            <a:off x="4800600" y="3241950"/>
            <a:ext cx="1022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20  </a:t>
            </a:r>
            <a:endParaRPr/>
          </a:p>
        </p:txBody>
      </p:sp>
      <p:sp>
        <p:nvSpPr>
          <p:cNvPr id="1065" name="Google Shape;1065;p85"/>
          <p:cNvSpPr txBox="1"/>
          <p:nvPr/>
        </p:nvSpPr>
        <p:spPr>
          <a:xfrm>
            <a:off x="4800586" y="3243075"/>
            <a:ext cx="36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8  </a:t>
            </a:r>
            <a:endParaRPr>
              <a:solidFill>
                <a:schemeClr val="accent5"/>
              </a:solidFill>
            </a:endParaRPr>
          </a:p>
        </p:txBody>
      </p:sp>
      <p:grpSp>
        <p:nvGrpSpPr>
          <p:cNvPr id="1066" name="Google Shape;1066;p85"/>
          <p:cNvGrpSpPr/>
          <p:nvPr/>
        </p:nvGrpSpPr>
        <p:grpSpPr>
          <a:xfrm>
            <a:off x="5755661" y="2437729"/>
            <a:ext cx="863393" cy="423846"/>
            <a:chOff x="5755661" y="2437729"/>
            <a:chExt cx="863393" cy="423846"/>
          </a:xfrm>
        </p:grpSpPr>
        <p:cxnSp>
          <p:nvCxnSpPr>
            <p:cNvPr id="1067" name="Google Shape;1067;p85"/>
            <p:cNvCxnSpPr/>
            <p:nvPr/>
          </p:nvCxnSpPr>
          <p:spPr>
            <a:xfrm flipH="1">
              <a:off x="5755661" y="2464675"/>
              <a:ext cx="229200" cy="396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68" name="Google Shape;1068;p85"/>
            <p:cNvCxnSpPr/>
            <p:nvPr/>
          </p:nvCxnSpPr>
          <p:spPr>
            <a:xfrm>
              <a:off x="6364354" y="2437729"/>
              <a:ext cx="254700" cy="3987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69" name="Google Shape;1069;p85"/>
          <p:cNvSpPr txBox="1"/>
          <p:nvPr/>
        </p:nvSpPr>
        <p:spPr>
          <a:xfrm>
            <a:off x="5943600" y="3241950"/>
            <a:ext cx="1022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20  </a:t>
            </a:r>
            <a:endParaRPr/>
          </a:p>
        </p:txBody>
      </p:sp>
      <p:sp>
        <p:nvSpPr>
          <p:cNvPr id="1070" name="Google Shape;1070;p85"/>
          <p:cNvSpPr txBox="1"/>
          <p:nvPr/>
        </p:nvSpPr>
        <p:spPr>
          <a:xfrm>
            <a:off x="5943586" y="3243075"/>
            <a:ext cx="36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8  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071" name="Google Shape;1071;p85"/>
          <p:cNvSpPr txBox="1"/>
          <p:nvPr/>
        </p:nvSpPr>
        <p:spPr>
          <a:xfrm>
            <a:off x="7171871" y="3232879"/>
            <a:ext cx="1022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5 </a:t>
            </a:r>
            <a:endParaRPr/>
          </a:p>
        </p:txBody>
      </p:sp>
      <p:sp>
        <p:nvSpPr>
          <p:cNvPr id="1072" name="Google Shape;1072;p85"/>
          <p:cNvSpPr txBox="1"/>
          <p:nvPr/>
        </p:nvSpPr>
        <p:spPr>
          <a:xfrm>
            <a:off x="7171857" y="3234004"/>
            <a:ext cx="36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8  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073" name="Google Shape;1073;p85"/>
          <p:cNvSpPr txBox="1"/>
          <p:nvPr/>
        </p:nvSpPr>
        <p:spPr>
          <a:xfrm>
            <a:off x="3859600" y="3725475"/>
            <a:ext cx="4572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 is a factor of 160 and 40 so therefore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789 483 839 360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is a multiple of 8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/>
          </a:p>
        </p:txBody>
      </p:sp>
      <p:sp>
        <p:nvSpPr>
          <p:cNvPr id="1074" name="Google Shape;1074;p85"/>
          <p:cNvSpPr txBox="1"/>
          <p:nvPr/>
        </p:nvSpPr>
        <p:spPr>
          <a:xfrm>
            <a:off x="5103026" y="2879775"/>
            <a:ext cx="2649900" cy="4926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160   +   160   +   40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Divisibility tests for 8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86"/>
          <p:cNvSpPr txBox="1"/>
          <p:nvPr>
            <p:ph idx="4294967295" type="title"/>
          </p:nvPr>
        </p:nvSpPr>
        <p:spPr>
          <a:xfrm>
            <a:off x="324000" y="823800"/>
            <a:ext cx="8301300" cy="209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1) </a:t>
            </a:r>
            <a:r>
              <a:rPr b="0" lang="en-GB"/>
              <a:t>Circle all the multiples of 8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300"/>
              <a:t>4839             38 409           3284       84 032</a:t>
            </a:r>
            <a:endParaRPr b="0" sz="2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300"/>
              <a:t>4384        11 902             20 484      56 870 888</a:t>
            </a:r>
            <a:endParaRPr b="0" sz="2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300"/>
              <a:t>80 000 000 000</a:t>
            </a:r>
            <a:endParaRPr b="0" sz="2300"/>
          </a:p>
        </p:txBody>
      </p:sp>
      <p:sp>
        <p:nvSpPr>
          <p:cNvPr id="1081" name="Google Shape;1081;p86"/>
          <p:cNvSpPr txBox="1"/>
          <p:nvPr/>
        </p:nvSpPr>
        <p:spPr>
          <a:xfrm>
            <a:off x="184800" y="3015375"/>
            <a:ext cx="86799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All the multiples of 2 and 3 are multiples of 6.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All the multiples of 3 and 5 are multiples of 15.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Explain why all the multiples of 2 and 8 are not all multiples 16.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Divisibility tests for 8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87"/>
          <p:cNvSpPr txBox="1"/>
          <p:nvPr>
            <p:ph idx="4294967295" type="body"/>
          </p:nvPr>
        </p:nvSpPr>
        <p:spPr>
          <a:xfrm>
            <a:off x="314700" y="816925"/>
            <a:ext cx="811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3) Fill in the missing information. Some have been done for you.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1          2        5       8         16        20         40         45       80</a:t>
            </a:r>
            <a:endParaRPr sz="21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       100</a:t>
            </a:r>
            <a:r>
              <a:rPr lang="en-GB" sz="2100"/>
              <a:t>          160          165        29 213         9000</a:t>
            </a:r>
            <a:endParaRPr sz="2100"/>
          </a:p>
        </p:txBody>
      </p:sp>
      <p:sp>
        <p:nvSpPr>
          <p:cNvPr id="1088" name="Google Shape;1088;p87"/>
          <p:cNvSpPr/>
          <p:nvPr/>
        </p:nvSpPr>
        <p:spPr>
          <a:xfrm>
            <a:off x="1570025" y="2363625"/>
            <a:ext cx="5506800" cy="2328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87"/>
          <p:cNvSpPr/>
          <p:nvPr/>
        </p:nvSpPr>
        <p:spPr>
          <a:xfrm>
            <a:off x="3750025" y="2700000"/>
            <a:ext cx="3026700" cy="1714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87"/>
          <p:cNvSpPr/>
          <p:nvPr/>
        </p:nvSpPr>
        <p:spPr>
          <a:xfrm>
            <a:off x="1856250" y="2700000"/>
            <a:ext cx="3026700" cy="1714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87"/>
          <p:cNvSpPr txBox="1"/>
          <p:nvPr/>
        </p:nvSpPr>
        <p:spPr>
          <a:xfrm>
            <a:off x="1041400" y="2293650"/>
            <a:ext cx="2530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Multiples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?</a:t>
            </a:r>
            <a:endParaRPr/>
          </a:p>
        </p:txBody>
      </p:sp>
      <p:sp>
        <p:nvSpPr>
          <p:cNvPr id="1092" name="Google Shape;1092;p87"/>
          <p:cNvSpPr txBox="1"/>
          <p:nvPr/>
        </p:nvSpPr>
        <p:spPr>
          <a:xfrm>
            <a:off x="3505550" y="3426225"/>
            <a:ext cx="124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160</a:t>
            </a:r>
            <a:endParaRPr/>
          </a:p>
        </p:txBody>
      </p:sp>
      <p:sp>
        <p:nvSpPr>
          <p:cNvPr id="1093" name="Google Shape;1093;p87"/>
          <p:cNvSpPr txBox="1"/>
          <p:nvPr/>
        </p:nvSpPr>
        <p:spPr>
          <a:xfrm>
            <a:off x="2857400" y="273400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094" name="Google Shape;1094;p87"/>
          <p:cNvSpPr txBox="1"/>
          <p:nvPr/>
        </p:nvSpPr>
        <p:spPr>
          <a:xfrm>
            <a:off x="4775200" y="2293650"/>
            <a:ext cx="2530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Multiples of ?</a:t>
            </a:r>
            <a:endParaRPr/>
          </a:p>
        </p:txBody>
      </p:sp>
      <p:sp>
        <p:nvSpPr>
          <p:cNvPr id="1095" name="Google Shape;1095;p87"/>
          <p:cNvSpPr txBox="1"/>
          <p:nvPr/>
        </p:nvSpPr>
        <p:spPr>
          <a:xfrm>
            <a:off x="2025550" y="329385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096" name="Google Shape;1096;p87"/>
          <p:cNvSpPr txBox="1"/>
          <p:nvPr/>
        </p:nvSpPr>
        <p:spPr>
          <a:xfrm>
            <a:off x="3114350" y="324000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097" name="Google Shape;1097;p87"/>
          <p:cNvSpPr txBox="1"/>
          <p:nvPr/>
        </p:nvSpPr>
        <p:spPr>
          <a:xfrm>
            <a:off x="2914550" y="387700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098" name="Google Shape;1098;p87"/>
          <p:cNvSpPr txBox="1"/>
          <p:nvPr/>
        </p:nvSpPr>
        <p:spPr>
          <a:xfrm>
            <a:off x="1765200" y="420825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099" name="Google Shape;1099;p87"/>
          <p:cNvSpPr txBox="1"/>
          <p:nvPr/>
        </p:nvSpPr>
        <p:spPr>
          <a:xfrm>
            <a:off x="4095650" y="424530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100" name="Google Shape;1100;p87"/>
          <p:cNvSpPr txBox="1"/>
          <p:nvPr/>
        </p:nvSpPr>
        <p:spPr>
          <a:xfrm>
            <a:off x="4095650" y="374790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101" name="Google Shape;1101;p87"/>
          <p:cNvSpPr txBox="1"/>
          <p:nvPr/>
        </p:nvSpPr>
        <p:spPr>
          <a:xfrm>
            <a:off x="4124400" y="280155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102" name="Google Shape;1102;p87"/>
          <p:cNvSpPr txBox="1"/>
          <p:nvPr/>
        </p:nvSpPr>
        <p:spPr>
          <a:xfrm>
            <a:off x="4095650" y="308960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103" name="Google Shape;1103;p87"/>
          <p:cNvSpPr txBox="1"/>
          <p:nvPr/>
        </p:nvSpPr>
        <p:spPr>
          <a:xfrm>
            <a:off x="5067775" y="2820675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104" name="Google Shape;1104;p87"/>
          <p:cNvSpPr txBox="1"/>
          <p:nvPr/>
        </p:nvSpPr>
        <p:spPr>
          <a:xfrm>
            <a:off x="5721250" y="3480075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105" name="Google Shape;1105;p87"/>
          <p:cNvSpPr txBox="1"/>
          <p:nvPr/>
        </p:nvSpPr>
        <p:spPr>
          <a:xfrm>
            <a:off x="6495950" y="418180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Divisibility tests for 8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88"/>
          <p:cNvSpPr txBox="1"/>
          <p:nvPr>
            <p:ph idx="4294967295" type="body"/>
          </p:nvPr>
        </p:nvSpPr>
        <p:spPr>
          <a:xfrm>
            <a:off x="314700" y="695725"/>
            <a:ext cx="4509300" cy="5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You are playing a board game.            A multiple of 5 can move 2 right.                  A multiple of 3 </a:t>
            </a:r>
            <a:r>
              <a:rPr lang="en-GB" sz="1800"/>
              <a:t>can move</a:t>
            </a:r>
            <a:r>
              <a:rPr lang="en-GB" sz="1800"/>
              <a:t> 3 up.                       A multiple of 8 </a:t>
            </a:r>
            <a:r>
              <a:rPr lang="en-GB" sz="1800"/>
              <a:t>can move</a:t>
            </a:r>
            <a:r>
              <a:rPr lang="en-GB" sz="1800"/>
              <a:t> 4 left.                  A </a:t>
            </a:r>
            <a:r>
              <a:rPr lang="en-GB" sz="1800"/>
              <a:t>multiple</a:t>
            </a:r>
            <a:r>
              <a:rPr lang="en-GB" sz="1800"/>
              <a:t> of </a:t>
            </a:r>
            <a:r>
              <a:rPr lang="en-GB" sz="1800"/>
              <a:t>11</a:t>
            </a:r>
            <a:r>
              <a:rPr lang="en-GB" sz="1800"/>
              <a:t> </a:t>
            </a:r>
            <a:r>
              <a:rPr lang="en-GB" sz="1800"/>
              <a:t>can move</a:t>
            </a:r>
            <a:r>
              <a:rPr lang="en-GB" sz="1800"/>
              <a:t> 1 left or right.                a) Which starting number do you choose?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Draw your path to win the game in as few moves as possible.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112" name="Google Shape;1112;p88"/>
          <p:cNvGraphicFramePr/>
          <p:nvPr/>
        </p:nvGraphicFramePr>
        <p:xfrm>
          <a:off x="4824000" y="962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{FC573FE4-27C2-4195-8FC4-6F037E0AFF34}</a:tableStyleId>
              </a:tblPr>
              <a:tblGrid>
                <a:gridCol w="619550"/>
                <a:gridCol w="631350"/>
                <a:gridCol w="667800"/>
                <a:gridCol w="614850"/>
                <a:gridCol w="699525"/>
                <a:gridCol w="794775"/>
              </a:tblGrid>
              <a:tr h="34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EXIT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13" name="Google Shape;1113;p88"/>
          <p:cNvSpPr txBox="1"/>
          <p:nvPr/>
        </p:nvSpPr>
        <p:spPr>
          <a:xfrm>
            <a:off x="235325" y="3926575"/>
            <a:ext cx="45093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Design your own game using multiples of 2, 3, 4, 6, 8, 9 or 10</a:t>
            </a:r>
            <a:endParaRPr/>
          </a:p>
        </p:txBody>
      </p:sp>
      <p:sp>
        <p:nvSpPr>
          <p:cNvPr id="1114" name="Google Shape;1114;p88"/>
          <p:cNvSpPr/>
          <p:nvPr/>
        </p:nvSpPr>
        <p:spPr>
          <a:xfrm>
            <a:off x="7540628" y="4186050"/>
            <a:ext cx="350100" cy="4203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88"/>
          <p:cNvSpPr/>
          <p:nvPr/>
        </p:nvSpPr>
        <p:spPr>
          <a:xfrm>
            <a:off x="5599353" y="4186050"/>
            <a:ext cx="350100" cy="4203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88"/>
          <p:cNvSpPr txBox="1"/>
          <p:nvPr/>
        </p:nvSpPr>
        <p:spPr>
          <a:xfrm>
            <a:off x="5112775" y="4488675"/>
            <a:ext cx="9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Start 1</a:t>
            </a:r>
            <a:endParaRPr/>
          </a:p>
        </p:txBody>
      </p:sp>
      <p:sp>
        <p:nvSpPr>
          <p:cNvPr id="1117" name="Google Shape;1117;p88"/>
          <p:cNvSpPr txBox="1"/>
          <p:nvPr/>
        </p:nvSpPr>
        <p:spPr>
          <a:xfrm>
            <a:off x="7283825" y="4488675"/>
            <a:ext cx="9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Start 3</a:t>
            </a:r>
            <a:endParaRPr/>
          </a:p>
        </p:txBody>
      </p:sp>
      <p:sp>
        <p:nvSpPr>
          <p:cNvPr id="1118" name="Google Shape;1118;p88"/>
          <p:cNvSpPr/>
          <p:nvPr/>
        </p:nvSpPr>
        <p:spPr>
          <a:xfrm>
            <a:off x="6274378" y="4186050"/>
            <a:ext cx="350100" cy="4203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88"/>
          <p:cNvSpPr txBox="1"/>
          <p:nvPr/>
        </p:nvSpPr>
        <p:spPr>
          <a:xfrm>
            <a:off x="6036600" y="4488675"/>
            <a:ext cx="9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Start 2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89"/>
          <p:cNvSpPr txBox="1"/>
          <p:nvPr/>
        </p:nvSpPr>
        <p:spPr>
          <a:xfrm>
            <a:off x="184800" y="3015375"/>
            <a:ext cx="81645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All the multiples of 2 and 3 are multiples of 6.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All the multiples of 3 and 5 are multiples of 15.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Explain why all the multiples of 2 and 8 are not all multiples of 16.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89"/>
          <p:cNvSpPr txBox="1"/>
          <p:nvPr>
            <p:ph idx="4294967295" type="title"/>
          </p:nvPr>
        </p:nvSpPr>
        <p:spPr>
          <a:xfrm>
            <a:off x="324000" y="823800"/>
            <a:ext cx="8496000" cy="209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1) </a:t>
            </a:r>
            <a:r>
              <a:rPr b="0" lang="en-GB" sz="2000"/>
              <a:t>Circle all the multiples of 8</a:t>
            </a:r>
            <a:endParaRPr b="0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100"/>
              <a:t>4839             38 409           3284       84 032</a:t>
            </a:r>
            <a:endParaRPr b="0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100"/>
              <a:t>4384        11 902             20 484      56 870 888</a:t>
            </a:r>
            <a:endParaRPr b="0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100"/>
              <a:t>80 000 000 000</a:t>
            </a:r>
            <a:endParaRPr b="0" sz="2100"/>
          </a:p>
        </p:txBody>
      </p:sp>
      <p:sp>
        <p:nvSpPr>
          <p:cNvPr id="1126" name="Google Shape;1126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Divisibility tests for 8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89"/>
          <p:cNvSpPr/>
          <p:nvPr/>
        </p:nvSpPr>
        <p:spPr>
          <a:xfrm>
            <a:off x="6128925" y="1144576"/>
            <a:ext cx="1190400" cy="4638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89"/>
          <p:cNvSpPr/>
          <p:nvPr/>
        </p:nvSpPr>
        <p:spPr>
          <a:xfrm>
            <a:off x="3262200" y="2093400"/>
            <a:ext cx="2512200" cy="5721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89"/>
          <p:cNvSpPr/>
          <p:nvPr/>
        </p:nvSpPr>
        <p:spPr>
          <a:xfrm>
            <a:off x="1613937" y="1620000"/>
            <a:ext cx="937800" cy="5721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89"/>
          <p:cNvSpPr/>
          <p:nvPr/>
        </p:nvSpPr>
        <p:spPr>
          <a:xfrm>
            <a:off x="5838976" y="1712156"/>
            <a:ext cx="1770300" cy="4638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89"/>
          <p:cNvSpPr txBox="1"/>
          <p:nvPr/>
        </p:nvSpPr>
        <p:spPr>
          <a:xfrm>
            <a:off x="247800" y="4081500"/>
            <a:ext cx="81645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is a factor of 8 so this means all multiples of 2 and 8 are multiples of 8. For example, 8 is a multiple of 2 and 8 but 8 is not a multiple of 16.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90"/>
          <p:cNvSpPr txBox="1"/>
          <p:nvPr/>
        </p:nvSpPr>
        <p:spPr>
          <a:xfrm>
            <a:off x="4775200" y="2293650"/>
            <a:ext cx="2530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Multiples of </a:t>
            </a:r>
            <a:endParaRPr/>
          </a:p>
        </p:txBody>
      </p:sp>
      <p:sp>
        <p:nvSpPr>
          <p:cNvPr id="1137" name="Google Shape;1137;p90"/>
          <p:cNvSpPr txBox="1"/>
          <p:nvPr/>
        </p:nvSpPr>
        <p:spPr>
          <a:xfrm>
            <a:off x="1041400" y="2293650"/>
            <a:ext cx="2530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Multiples of </a:t>
            </a:r>
            <a:endParaRPr/>
          </a:p>
        </p:txBody>
      </p:sp>
      <p:sp>
        <p:nvSpPr>
          <p:cNvPr id="1138" name="Google Shape;1138;p90"/>
          <p:cNvSpPr txBox="1"/>
          <p:nvPr/>
        </p:nvSpPr>
        <p:spPr>
          <a:xfrm>
            <a:off x="3312035" y="4233200"/>
            <a:ext cx="204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29 213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9" name="Google Shape;1139;p90"/>
          <p:cNvSpPr/>
          <p:nvPr/>
        </p:nvSpPr>
        <p:spPr>
          <a:xfrm>
            <a:off x="3750025" y="2700000"/>
            <a:ext cx="3026700" cy="1714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90"/>
          <p:cNvSpPr/>
          <p:nvPr/>
        </p:nvSpPr>
        <p:spPr>
          <a:xfrm>
            <a:off x="1856250" y="2700000"/>
            <a:ext cx="3026700" cy="1714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90"/>
          <p:cNvSpPr/>
          <p:nvPr/>
        </p:nvSpPr>
        <p:spPr>
          <a:xfrm>
            <a:off x="1570025" y="2363625"/>
            <a:ext cx="5506800" cy="2328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90"/>
          <p:cNvSpPr txBox="1"/>
          <p:nvPr/>
        </p:nvSpPr>
        <p:spPr>
          <a:xfrm>
            <a:off x="2857400" y="273400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143" name="Google Shape;1143;p90"/>
          <p:cNvSpPr txBox="1"/>
          <p:nvPr/>
        </p:nvSpPr>
        <p:spPr>
          <a:xfrm>
            <a:off x="2025550" y="329385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144" name="Google Shape;1144;p90"/>
          <p:cNvSpPr txBox="1"/>
          <p:nvPr/>
        </p:nvSpPr>
        <p:spPr>
          <a:xfrm>
            <a:off x="3114350" y="324000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145" name="Google Shape;1145;p90"/>
          <p:cNvSpPr txBox="1"/>
          <p:nvPr/>
        </p:nvSpPr>
        <p:spPr>
          <a:xfrm>
            <a:off x="2914550" y="387700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146" name="Google Shape;1146;p90"/>
          <p:cNvSpPr txBox="1"/>
          <p:nvPr/>
        </p:nvSpPr>
        <p:spPr>
          <a:xfrm>
            <a:off x="1765200" y="420825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147" name="Google Shape;1147;p90"/>
          <p:cNvSpPr txBox="1"/>
          <p:nvPr/>
        </p:nvSpPr>
        <p:spPr>
          <a:xfrm>
            <a:off x="3789300" y="4325600"/>
            <a:ext cx="10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________</a:t>
            </a:r>
            <a:endParaRPr b="1"/>
          </a:p>
        </p:txBody>
      </p:sp>
      <p:sp>
        <p:nvSpPr>
          <p:cNvPr id="1148" name="Google Shape;1148;p90"/>
          <p:cNvSpPr txBox="1"/>
          <p:nvPr/>
        </p:nvSpPr>
        <p:spPr>
          <a:xfrm>
            <a:off x="4095650" y="374790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149" name="Google Shape;1149;p90"/>
          <p:cNvSpPr txBox="1"/>
          <p:nvPr/>
        </p:nvSpPr>
        <p:spPr>
          <a:xfrm>
            <a:off x="3919850" y="317020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150" name="Google Shape;1150;p90"/>
          <p:cNvSpPr txBox="1"/>
          <p:nvPr/>
        </p:nvSpPr>
        <p:spPr>
          <a:xfrm>
            <a:off x="5067775" y="2820675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151" name="Google Shape;1151;p90"/>
          <p:cNvSpPr txBox="1"/>
          <p:nvPr/>
        </p:nvSpPr>
        <p:spPr>
          <a:xfrm>
            <a:off x="5721250" y="3480075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152" name="Google Shape;1152;p90"/>
          <p:cNvSpPr txBox="1"/>
          <p:nvPr/>
        </p:nvSpPr>
        <p:spPr>
          <a:xfrm>
            <a:off x="6495950" y="418180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153" name="Google Shape;1153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Divisibility tests for 8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90"/>
          <p:cNvSpPr txBox="1"/>
          <p:nvPr>
            <p:ph idx="4294967295" type="body"/>
          </p:nvPr>
        </p:nvSpPr>
        <p:spPr>
          <a:xfrm>
            <a:off x="314700" y="816925"/>
            <a:ext cx="8110500" cy="14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</a:t>
            </a:r>
            <a:r>
              <a:rPr lang="en-GB" sz="2000"/>
              <a:t>) Fill in the missing information. Some have been done for you.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1 </a:t>
            </a:r>
            <a:r>
              <a:rPr lang="en-GB" sz="2100"/>
              <a:t>         </a:t>
            </a:r>
            <a:r>
              <a:rPr lang="en-GB" sz="2100"/>
              <a:t>2        5       8</a:t>
            </a:r>
            <a:r>
              <a:rPr lang="en-GB" sz="2100"/>
              <a:t>         16        20         40         45       80</a:t>
            </a:r>
            <a:endParaRPr sz="21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       100          160          165        29 213         9000</a:t>
            </a:r>
            <a:endParaRPr sz="2100"/>
          </a:p>
        </p:txBody>
      </p:sp>
      <p:sp>
        <p:nvSpPr>
          <p:cNvPr id="1155" name="Google Shape;1155;p90"/>
          <p:cNvSpPr txBox="1"/>
          <p:nvPr/>
        </p:nvSpPr>
        <p:spPr>
          <a:xfrm>
            <a:off x="4148452" y="2820675"/>
            <a:ext cx="630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6" name="Google Shape;1156;p90"/>
          <p:cNvSpPr txBox="1"/>
          <p:nvPr/>
        </p:nvSpPr>
        <p:spPr>
          <a:xfrm>
            <a:off x="4174950" y="3357150"/>
            <a:ext cx="78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160</a:t>
            </a:r>
            <a:endParaRPr sz="2200"/>
          </a:p>
        </p:txBody>
      </p:sp>
      <p:sp>
        <p:nvSpPr>
          <p:cNvPr id="1157" name="Google Shape;1157;p90"/>
          <p:cNvSpPr txBox="1"/>
          <p:nvPr/>
        </p:nvSpPr>
        <p:spPr>
          <a:xfrm>
            <a:off x="1841650" y="4085850"/>
            <a:ext cx="245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8" name="Google Shape;1158;p90"/>
          <p:cNvSpPr txBox="1"/>
          <p:nvPr/>
        </p:nvSpPr>
        <p:spPr>
          <a:xfrm>
            <a:off x="6517550" y="4058400"/>
            <a:ext cx="34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9" name="Google Shape;1159;p90"/>
          <p:cNvSpPr txBox="1"/>
          <p:nvPr/>
        </p:nvSpPr>
        <p:spPr>
          <a:xfrm>
            <a:off x="5067775" y="2700000"/>
            <a:ext cx="39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0" name="Google Shape;1160;p90"/>
          <p:cNvSpPr txBox="1"/>
          <p:nvPr/>
        </p:nvSpPr>
        <p:spPr>
          <a:xfrm>
            <a:off x="6812225" y="2316738"/>
            <a:ext cx="26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1" name="Google Shape;1161;p90"/>
          <p:cNvSpPr txBox="1"/>
          <p:nvPr/>
        </p:nvSpPr>
        <p:spPr>
          <a:xfrm>
            <a:off x="3022300" y="2316750"/>
            <a:ext cx="41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2" name="Google Shape;1162;p90"/>
          <p:cNvSpPr txBox="1"/>
          <p:nvPr/>
        </p:nvSpPr>
        <p:spPr>
          <a:xfrm>
            <a:off x="5700000" y="3357150"/>
            <a:ext cx="46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3" name="Google Shape;1163;p90"/>
          <p:cNvSpPr txBox="1"/>
          <p:nvPr/>
        </p:nvSpPr>
        <p:spPr>
          <a:xfrm>
            <a:off x="2957022" y="3697200"/>
            <a:ext cx="44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4" name="Google Shape;1164;p90"/>
          <p:cNvSpPr txBox="1"/>
          <p:nvPr/>
        </p:nvSpPr>
        <p:spPr>
          <a:xfrm>
            <a:off x="2416750" y="3244000"/>
            <a:ext cx="57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5" name="Google Shape;1165;p90"/>
          <p:cNvSpPr txBox="1"/>
          <p:nvPr/>
        </p:nvSpPr>
        <p:spPr>
          <a:xfrm>
            <a:off x="1945851" y="3154100"/>
            <a:ext cx="57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6" name="Google Shape;1166;p90"/>
          <p:cNvSpPr txBox="1"/>
          <p:nvPr/>
        </p:nvSpPr>
        <p:spPr>
          <a:xfrm>
            <a:off x="3902288" y="3108700"/>
            <a:ext cx="511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7" name="Google Shape;1167;p90"/>
          <p:cNvSpPr txBox="1"/>
          <p:nvPr/>
        </p:nvSpPr>
        <p:spPr>
          <a:xfrm>
            <a:off x="3083400" y="3108700"/>
            <a:ext cx="57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8" name="Google Shape;1168;p90"/>
          <p:cNvSpPr txBox="1"/>
          <p:nvPr/>
        </p:nvSpPr>
        <p:spPr>
          <a:xfrm>
            <a:off x="2741620" y="2630900"/>
            <a:ext cx="65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9" name="Google Shape;1169;p90"/>
          <p:cNvSpPr txBox="1"/>
          <p:nvPr/>
        </p:nvSpPr>
        <p:spPr>
          <a:xfrm>
            <a:off x="3909025" y="3640200"/>
            <a:ext cx="78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9000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0" name="Google Shape;1170;p90"/>
          <p:cNvSpPr txBox="1"/>
          <p:nvPr/>
        </p:nvSpPr>
        <p:spPr>
          <a:xfrm>
            <a:off x="2491288" y="335715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171" name="Google Shape;1171;p90"/>
          <p:cNvSpPr txBox="1"/>
          <p:nvPr/>
        </p:nvSpPr>
        <p:spPr>
          <a:xfrm>
            <a:off x="4192538" y="291430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172" name="Google Shape;1172;p90"/>
          <p:cNvSpPr txBox="1"/>
          <p:nvPr/>
        </p:nvSpPr>
        <p:spPr>
          <a:xfrm>
            <a:off x="6748913" y="233280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  <p:sp>
        <p:nvSpPr>
          <p:cNvPr id="1173" name="Google Shape;1173;p90"/>
          <p:cNvSpPr txBox="1"/>
          <p:nvPr/>
        </p:nvSpPr>
        <p:spPr>
          <a:xfrm>
            <a:off x="3083400" y="2336400"/>
            <a:ext cx="3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__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Divisibility tests for 8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91"/>
          <p:cNvSpPr txBox="1"/>
          <p:nvPr>
            <p:ph idx="4294967295" type="body"/>
          </p:nvPr>
        </p:nvSpPr>
        <p:spPr>
          <a:xfrm>
            <a:off x="314700" y="695725"/>
            <a:ext cx="4509300" cy="5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</a:t>
            </a:r>
            <a:r>
              <a:rPr lang="en-GB" sz="1800"/>
              <a:t>) You are playing a board game.            A multiple of 5 </a:t>
            </a:r>
            <a:r>
              <a:rPr lang="en-GB" sz="1800"/>
              <a:t>can move</a:t>
            </a:r>
            <a:r>
              <a:rPr lang="en-GB" sz="1800"/>
              <a:t> 2 right.                  A multiple of 3 </a:t>
            </a:r>
            <a:r>
              <a:rPr lang="en-GB" sz="1800"/>
              <a:t>can move</a:t>
            </a:r>
            <a:r>
              <a:rPr lang="en-GB" sz="1800"/>
              <a:t> 3 up.                       A multiple of 8 </a:t>
            </a:r>
            <a:r>
              <a:rPr lang="en-GB" sz="1800"/>
              <a:t>can move</a:t>
            </a:r>
            <a:r>
              <a:rPr lang="en-GB" sz="1800"/>
              <a:t> 4 left.                  A multiple of 11 </a:t>
            </a:r>
            <a:r>
              <a:rPr lang="en-GB" sz="1800"/>
              <a:t>can move</a:t>
            </a:r>
            <a:r>
              <a:rPr lang="en-GB" sz="1800"/>
              <a:t> 1 left or right.                a) Which starting number do you choose?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Draw your path to win the game in as few moves as possible.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180" name="Google Shape;1180;p91"/>
          <p:cNvGraphicFramePr/>
          <p:nvPr/>
        </p:nvGraphicFramePr>
        <p:xfrm>
          <a:off x="4824000" y="962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{FC573FE4-27C2-4195-8FC4-6F037E0AFF34}</a:tableStyleId>
              </a:tblPr>
              <a:tblGrid>
                <a:gridCol w="619550"/>
                <a:gridCol w="631350"/>
                <a:gridCol w="667800"/>
                <a:gridCol w="614850"/>
                <a:gridCol w="699525"/>
                <a:gridCol w="794775"/>
              </a:tblGrid>
              <a:tr h="34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EXIT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1" name="Google Shape;1181;p91"/>
          <p:cNvSpPr/>
          <p:nvPr/>
        </p:nvSpPr>
        <p:spPr>
          <a:xfrm>
            <a:off x="7540628" y="4186050"/>
            <a:ext cx="350100" cy="4203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91"/>
          <p:cNvSpPr/>
          <p:nvPr/>
        </p:nvSpPr>
        <p:spPr>
          <a:xfrm>
            <a:off x="5436178" y="4186050"/>
            <a:ext cx="350100" cy="4203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91"/>
          <p:cNvSpPr txBox="1"/>
          <p:nvPr/>
        </p:nvSpPr>
        <p:spPr>
          <a:xfrm>
            <a:off x="5197850" y="4473000"/>
            <a:ext cx="9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Start 1</a:t>
            </a:r>
            <a:endParaRPr/>
          </a:p>
        </p:txBody>
      </p:sp>
      <p:sp>
        <p:nvSpPr>
          <p:cNvPr id="1184" name="Google Shape;1184;p91"/>
          <p:cNvSpPr txBox="1"/>
          <p:nvPr/>
        </p:nvSpPr>
        <p:spPr>
          <a:xfrm>
            <a:off x="7331450" y="4473000"/>
            <a:ext cx="9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Start 3</a:t>
            </a:r>
            <a:endParaRPr/>
          </a:p>
        </p:txBody>
      </p:sp>
      <p:sp>
        <p:nvSpPr>
          <p:cNvPr id="1185" name="Google Shape;1185;p91"/>
          <p:cNvSpPr txBox="1"/>
          <p:nvPr/>
        </p:nvSpPr>
        <p:spPr>
          <a:xfrm>
            <a:off x="235325" y="3926575"/>
            <a:ext cx="45093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Design your own game using multiples of 2, 3, 4, 6, 8, 9 or 10</a:t>
            </a:r>
            <a:endParaRPr/>
          </a:p>
        </p:txBody>
      </p:sp>
      <p:sp>
        <p:nvSpPr>
          <p:cNvPr id="1186" name="Google Shape;1186;p91"/>
          <p:cNvSpPr/>
          <p:nvPr/>
        </p:nvSpPr>
        <p:spPr>
          <a:xfrm>
            <a:off x="6274378" y="4186050"/>
            <a:ext cx="350100" cy="4203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91"/>
          <p:cNvSpPr txBox="1"/>
          <p:nvPr/>
        </p:nvSpPr>
        <p:spPr>
          <a:xfrm>
            <a:off x="6036050" y="4473000"/>
            <a:ext cx="9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Start 2</a:t>
            </a:r>
            <a:endParaRPr/>
          </a:p>
        </p:txBody>
      </p:sp>
      <p:sp>
        <p:nvSpPr>
          <p:cNvPr id="1188" name="Google Shape;1188;p91"/>
          <p:cNvSpPr txBox="1"/>
          <p:nvPr/>
        </p:nvSpPr>
        <p:spPr>
          <a:xfrm>
            <a:off x="1608725" y="2798700"/>
            <a:ext cx="1762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Start 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189" name="Google Shape;1189;p91"/>
          <p:cNvGraphicFramePr/>
          <p:nvPr/>
        </p:nvGraphicFramePr>
        <p:xfrm>
          <a:off x="4823988" y="96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{FC573FE4-27C2-4195-8FC4-6F037E0AFF34}</a:tableStyleId>
              </a:tblPr>
              <a:tblGrid>
                <a:gridCol w="619550"/>
                <a:gridCol w="631350"/>
                <a:gridCol w="667800"/>
                <a:gridCol w="614850"/>
                <a:gridCol w="699525"/>
                <a:gridCol w="794775"/>
              </a:tblGrid>
              <a:tr h="34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EXIT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29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455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639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333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440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92"/>
          <p:cNvSpPr txBox="1"/>
          <p:nvPr/>
        </p:nvSpPr>
        <p:spPr>
          <a:xfrm>
            <a:off x="400200" y="2169950"/>
            <a:ext cx="7895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number is divisible by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if the last two digits are a multiple of 4. This is because we know 4 is a factor of 100.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92"/>
          <p:cNvSpPr txBox="1"/>
          <p:nvPr/>
        </p:nvSpPr>
        <p:spPr>
          <a:xfrm>
            <a:off x="400200" y="3617750"/>
            <a:ext cx="8163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number is divisible by 8 if the last three digits are a multiple of 8. This is because we know 8 is a factor of 1000.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92"/>
          <p:cNvSpPr txBox="1"/>
          <p:nvPr/>
        </p:nvSpPr>
        <p:spPr>
          <a:xfrm>
            <a:off x="400425" y="896850"/>
            <a:ext cx="8083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Divisibility tests are quick processes to identify if a number is divisible.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92"/>
          <p:cNvSpPr txBox="1"/>
          <p:nvPr>
            <p:ph idx="4294967295" type="subTitle"/>
          </p:nvPr>
        </p:nvSpPr>
        <p:spPr>
          <a:xfrm>
            <a:off x="18748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Divisibility tests for 4 and 8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9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03" name="Google Shape;1203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