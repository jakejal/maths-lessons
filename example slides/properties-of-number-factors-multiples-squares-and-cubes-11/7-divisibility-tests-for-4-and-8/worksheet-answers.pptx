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F31C1E6-4B21-420D-8ED7-DD7126EF7311}">
  <a:tblStyle styleId="{4F31C1E6-4B21-420D-8ED7-DD7126EF731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13820A93-15C4-41BA-9C90-6D0304655A71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Divisibility tests for 4 and 8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468175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Divisibility tests for 4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1863675"/>
            <a:ext cx="6624000" cy="4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Identify the multiples of 4 from the lists: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378,     8940,     93 424,     9288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32 980,     8 430 348,     3 490 085,      2 222 222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Identify the multiples of 4 and 5 from the list below: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92 980,     4 300 360,     3 490 085,      2 222 440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1280824" y="2133000"/>
            <a:ext cx="651900" cy="3708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76" name="Google Shape;176;p20"/>
          <p:cNvSpPr/>
          <p:nvPr/>
        </p:nvSpPr>
        <p:spPr>
          <a:xfrm>
            <a:off x="1973519" y="2133000"/>
            <a:ext cx="651900" cy="3708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77" name="Google Shape;177;p20"/>
          <p:cNvSpPr/>
          <p:nvPr/>
        </p:nvSpPr>
        <p:spPr>
          <a:xfrm>
            <a:off x="2666213" y="2133000"/>
            <a:ext cx="651900" cy="3708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78" name="Google Shape;178;p20"/>
          <p:cNvSpPr/>
          <p:nvPr/>
        </p:nvSpPr>
        <p:spPr>
          <a:xfrm>
            <a:off x="1577026" y="2852000"/>
            <a:ext cx="921900" cy="3708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79" name="Google Shape;179;p20"/>
          <p:cNvSpPr/>
          <p:nvPr/>
        </p:nvSpPr>
        <p:spPr>
          <a:xfrm>
            <a:off x="751499" y="2853342"/>
            <a:ext cx="758100" cy="3708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80" name="Google Shape;180;p20"/>
          <p:cNvSpPr/>
          <p:nvPr/>
        </p:nvSpPr>
        <p:spPr>
          <a:xfrm>
            <a:off x="753033" y="4313425"/>
            <a:ext cx="815400" cy="3708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81" name="Google Shape;181;p20"/>
          <p:cNvSpPr/>
          <p:nvPr/>
        </p:nvSpPr>
        <p:spPr>
          <a:xfrm>
            <a:off x="3453930" y="4308479"/>
            <a:ext cx="1030500" cy="3708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graphicFrame>
        <p:nvGraphicFramePr>
          <p:cNvPr id="182" name="Google Shape;182;p20"/>
          <p:cNvGraphicFramePr/>
          <p:nvPr/>
        </p:nvGraphicFramePr>
        <p:xfrm>
          <a:off x="471968" y="55294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{4F31C1E6-4B21-420D-8ED7-DD7126EF7311}</a:tableStyleId>
              </a:tblPr>
              <a:tblGrid>
                <a:gridCol w="3482575"/>
                <a:gridCol w="1335000"/>
                <a:gridCol w="917725"/>
                <a:gridCol w="888725"/>
              </a:tblGrid>
              <a:tr h="376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Statement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Sometimes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Always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Never 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10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 multiple of 4 is a multiple of 2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10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 multiple of 2 is a multiple of 4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10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 multiple of 10 is a multiple of 2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10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 multiple of 9 is a multiple of 3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10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 multiple of 8 is odd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10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Multiples of 40 are multiples of 5, 8 and 10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83" name="Google Shape;183;p20"/>
          <p:cNvSpPr txBox="1"/>
          <p:nvPr/>
        </p:nvSpPr>
        <p:spPr>
          <a:xfrm>
            <a:off x="464013" y="5096175"/>
            <a:ext cx="6624000" cy="4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Identify if the statements are sometimes, always or never true.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4" name="Google Shape;18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79536" y="5941217"/>
            <a:ext cx="294594" cy="311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7565" y="6310406"/>
            <a:ext cx="294594" cy="311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3674" y="6665714"/>
            <a:ext cx="294594" cy="311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3674" y="7005835"/>
            <a:ext cx="294594" cy="311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02934" y="7374808"/>
            <a:ext cx="294594" cy="311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3674" y="7742764"/>
            <a:ext cx="294594" cy="31177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0" name="Google Shape;190;p20"/>
          <p:cNvCxnSpPr/>
          <p:nvPr/>
        </p:nvCxnSpPr>
        <p:spPr>
          <a:xfrm>
            <a:off x="474750" y="9972000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1" name="Google Shape;191;p20"/>
          <p:cNvSpPr/>
          <p:nvPr/>
        </p:nvSpPr>
        <p:spPr>
          <a:xfrm>
            <a:off x="1630278" y="4308475"/>
            <a:ext cx="815400" cy="3708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1"/>
          <p:cNvSpPr/>
          <p:nvPr/>
        </p:nvSpPr>
        <p:spPr>
          <a:xfrm>
            <a:off x="1613025" y="5139587"/>
            <a:ext cx="4284300" cy="18114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97" name="Google Shape;197;p21"/>
          <p:cNvSpPr/>
          <p:nvPr/>
        </p:nvSpPr>
        <p:spPr>
          <a:xfrm>
            <a:off x="1841440" y="5408024"/>
            <a:ext cx="2324400" cy="13167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98" name="Google Shape;198;p21"/>
          <p:cNvSpPr txBox="1"/>
          <p:nvPr/>
        </p:nvSpPr>
        <p:spPr>
          <a:xfrm>
            <a:off x="4239758" y="5174739"/>
            <a:ext cx="1816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Multiples of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8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9" name="Google Shape;199;p21"/>
          <p:cNvSpPr txBox="1"/>
          <p:nvPr/>
        </p:nvSpPr>
        <p:spPr>
          <a:xfrm>
            <a:off x="3200470" y="5677127"/>
            <a:ext cx="9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80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0" name="Google Shape;200;p21"/>
          <p:cNvSpPr txBox="1"/>
          <p:nvPr/>
        </p:nvSpPr>
        <p:spPr>
          <a:xfrm>
            <a:off x="3112018" y="6158894"/>
            <a:ext cx="108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9000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1" name="Google Shape;201;p21"/>
          <p:cNvSpPr txBox="1"/>
          <p:nvPr/>
        </p:nvSpPr>
        <p:spPr>
          <a:xfrm>
            <a:off x="2366966" y="5777790"/>
            <a:ext cx="9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100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2" name="Google Shape;202;p21"/>
          <p:cNvSpPr txBox="1"/>
          <p:nvPr/>
        </p:nvSpPr>
        <p:spPr>
          <a:xfrm>
            <a:off x="2361664" y="5388711"/>
            <a:ext cx="9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165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3" name="Google Shape;203;p21"/>
          <p:cNvSpPr txBox="1"/>
          <p:nvPr/>
        </p:nvSpPr>
        <p:spPr>
          <a:xfrm>
            <a:off x="2038004" y="5961037"/>
            <a:ext cx="9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20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4" name="Google Shape;204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5" name="Google Shape;205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Divisibility tests for 4 and 8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468000" y="2797200"/>
            <a:ext cx="66240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All the multiples of 2 and 3 are multiples of 6.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All the multiples of 3 and 5 are multiples of 15.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Explain why all the multiples of 2 and 8 are not all multiples of 16.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468000" y="1057200"/>
            <a:ext cx="6624000" cy="1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Circle all the multiples of 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4839             38 409           3284       84 032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4384        11 902             20 484      56 870 888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80 000 000 000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468000" y="720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Divisibility tests for 8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4569745" y="1386913"/>
            <a:ext cx="945000" cy="3693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12" name="Google Shape;212;p21"/>
          <p:cNvSpPr/>
          <p:nvPr/>
        </p:nvSpPr>
        <p:spPr>
          <a:xfrm>
            <a:off x="3044050" y="2194250"/>
            <a:ext cx="1525800" cy="4638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13" name="Google Shape;213;p21"/>
          <p:cNvSpPr/>
          <p:nvPr/>
        </p:nvSpPr>
        <p:spPr>
          <a:xfrm>
            <a:off x="1985400" y="1763450"/>
            <a:ext cx="758100" cy="4638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14" name="Google Shape;214;p21"/>
          <p:cNvSpPr/>
          <p:nvPr/>
        </p:nvSpPr>
        <p:spPr>
          <a:xfrm>
            <a:off x="4481100" y="1808883"/>
            <a:ext cx="1033500" cy="3693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15" name="Google Shape;215;p21"/>
          <p:cNvSpPr txBox="1"/>
          <p:nvPr/>
        </p:nvSpPr>
        <p:spPr>
          <a:xfrm>
            <a:off x="468001" y="3641167"/>
            <a:ext cx="662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 is a factor or 8 so this means all multiples of 2 and 8 are multiples of 8.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6" name="Google Shape;216;p21"/>
          <p:cNvSpPr txBox="1"/>
          <p:nvPr/>
        </p:nvSpPr>
        <p:spPr>
          <a:xfrm>
            <a:off x="468000" y="4176500"/>
            <a:ext cx="8110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Fill in the missing information. Some have been done for you.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1          2         5      8         16        20         40         45       80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100          160          165        29 213         9000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/>
          <p:nvPr/>
        </p:nvSpPr>
        <p:spPr>
          <a:xfrm>
            <a:off x="3295799" y="5408024"/>
            <a:ext cx="2324400" cy="13167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18" name="Google Shape;218;p21"/>
          <p:cNvSpPr txBox="1"/>
          <p:nvPr/>
        </p:nvSpPr>
        <p:spPr>
          <a:xfrm>
            <a:off x="3124752" y="5530666"/>
            <a:ext cx="9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40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9" name="Google Shape;219;p21"/>
          <p:cNvSpPr txBox="1"/>
          <p:nvPr/>
        </p:nvSpPr>
        <p:spPr>
          <a:xfrm>
            <a:off x="3157626" y="5921694"/>
            <a:ext cx="992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160</a:t>
            </a:r>
            <a:endParaRPr sz="1200"/>
          </a:p>
        </p:txBody>
      </p:sp>
      <p:sp>
        <p:nvSpPr>
          <p:cNvPr id="220" name="Google Shape;220;p21"/>
          <p:cNvSpPr txBox="1"/>
          <p:nvPr/>
        </p:nvSpPr>
        <p:spPr>
          <a:xfrm>
            <a:off x="1430596" y="6467405"/>
            <a:ext cx="52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5119873" y="6411743"/>
            <a:ext cx="807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4096085" y="5423106"/>
            <a:ext cx="807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8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3" name="Google Shape;223;p21"/>
          <p:cNvSpPr txBox="1"/>
          <p:nvPr/>
        </p:nvSpPr>
        <p:spPr>
          <a:xfrm>
            <a:off x="1171661" y="5136371"/>
            <a:ext cx="1904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Multiples of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5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4" name="Google Shape;224;p21"/>
          <p:cNvSpPr txBox="1"/>
          <p:nvPr/>
        </p:nvSpPr>
        <p:spPr>
          <a:xfrm>
            <a:off x="4503877" y="5716980"/>
            <a:ext cx="9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16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5" name="Google Shape;225;p21"/>
          <p:cNvSpPr txBox="1"/>
          <p:nvPr/>
        </p:nvSpPr>
        <p:spPr>
          <a:xfrm>
            <a:off x="2535584" y="6244277"/>
            <a:ext cx="9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6" name="Google Shape;226;p21"/>
          <p:cNvSpPr txBox="1"/>
          <p:nvPr/>
        </p:nvSpPr>
        <p:spPr>
          <a:xfrm>
            <a:off x="1631011" y="5736272"/>
            <a:ext cx="9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45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7" name="Google Shape;227;p21"/>
          <p:cNvSpPr txBox="1"/>
          <p:nvPr/>
        </p:nvSpPr>
        <p:spPr>
          <a:xfrm>
            <a:off x="2966906" y="6631559"/>
            <a:ext cx="1635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29 213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8" name="Google Shape;228;p21"/>
          <p:cNvSpPr txBox="1"/>
          <p:nvPr/>
        </p:nvSpPr>
        <p:spPr>
          <a:xfrm>
            <a:off x="468000" y="7079400"/>
            <a:ext cx="3312000" cy="28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You are playing a board game.        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multiple of 5 can move 2 right.                  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multiple of 3 can move 3 up.                       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multiple of 8 can move 4 left.                 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multiple of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11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can move 1 left or right.            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Which starting number do you choose?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Draw your path to win the game in as few moves as possible.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Design your own game using multiples of 2, 3, 4, 6, 8, 9 or 10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29" name="Google Shape;229;p21"/>
          <p:cNvGraphicFramePr/>
          <p:nvPr/>
        </p:nvGraphicFramePr>
        <p:xfrm>
          <a:off x="3822303" y="71275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{13820A93-15C4-41BA-9C90-6D0304655A71}</a:tableStyleId>
              </a:tblPr>
              <a:tblGrid>
                <a:gridCol w="500000"/>
                <a:gridCol w="509525"/>
                <a:gridCol w="538950"/>
                <a:gridCol w="496225"/>
                <a:gridCol w="564550"/>
                <a:gridCol w="641425"/>
              </a:tblGrid>
              <a:tr h="293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88</a:t>
                      </a:r>
                      <a:endParaRPr sz="12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EXIT</a:t>
                      </a:r>
                      <a:endParaRPr sz="12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293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3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125</a:t>
                      </a:r>
                      <a:endParaRPr sz="12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455</a:t>
                      </a:r>
                      <a:endParaRPr sz="12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639</a:t>
                      </a:r>
                      <a:endParaRPr sz="12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3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3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3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333</a:t>
                      </a:r>
                      <a:endParaRPr sz="12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440</a:t>
                      </a:r>
                      <a:endParaRPr sz="12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0" name="Google Shape;230;p21"/>
          <p:cNvSpPr/>
          <p:nvPr/>
        </p:nvSpPr>
        <p:spPr>
          <a:xfrm>
            <a:off x="4424276" y="9698125"/>
            <a:ext cx="203400" cy="2442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F0F0F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31" name="Google Shape;231;p21"/>
          <p:cNvSpPr txBox="1"/>
          <p:nvPr/>
        </p:nvSpPr>
        <p:spPr>
          <a:xfrm>
            <a:off x="4251150" y="9711150"/>
            <a:ext cx="996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Start 1</a:t>
            </a:r>
            <a:endParaRPr sz="1200"/>
          </a:p>
        </p:txBody>
      </p:sp>
      <p:sp>
        <p:nvSpPr>
          <p:cNvPr id="232" name="Google Shape;232;p21"/>
          <p:cNvSpPr/>
          <p:nvPr/>
        </p:nvSpPr>
        <p:spPr>
          <a:xfrm>
            <a:off x="4939451" y="9682221"/>
            <a:ext cx="203400" cy="2442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F0F0F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33" name="Google Shape;233;p21"/>
          <p:cNvSpPr txBox="1"/>
          <p:nvPr/>
        </p:nvSpPr>
        <p:spPr>
          <a:xfrm>
            <a:off x="4766325" y="9695246"/>
            <a:ext cx="996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Start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sz="1200"/>
          </a:p>
        </p:txBody>
      </p:sp>
      <p:sp>
        <p:nvSpPr>
          <p:cNvPr id="234" name="Google Shape;234;p21"/>
          <p:cNvSpPr/>
          <p:nvPr/>
        </p:nvSpPr>
        <p:spPr>
          <a:xfrm>
            <a:off x="6001466" y="9682221"/>
            <a:ext cx="203400" cy="2442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F0F0F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35" name="Google Shape;235;p21"/>
          <p:cNvSpPr txBox="1"/>
          <p:nvPr/>
        </p:nvSpPr>
        <p:spPr>
          <a:xfrm>
            <a:off x="5828340" y="9695246"/>
            <a:ext cx="996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Start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</a:t>
            </a:r>
            <a:endParaRPr sz="1200"/>
          </a:p>
        </p:txBody>
      </p:sp>
      <p:cxnSp>
        <p:nvCxnSpPr>
          <p:cNvPr id="236" name="Google Shape;236;p21"/>
          <p:cNvCxnSpPr/>
          <p:nvPr/>
        </p:nvCxnSpPr>
        <p:spPr>
          <a:xfrm rot="10800000">
            <a:off x="4353400" y="9486025"/>
            <a:ext cx="15147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7" name="Google Shape;237;p21"/>
          <p:cNvCxnSpPr/>
          <p:nvPr/>
        </p:nvCxnSpPr>
        <p:spPr>
          <a:xfrm>
            <a:off x="4353400" y="8406200"/>
            <a:ext cx="485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8" name="Google Shape;238;p21"/>
          <p:cNvCxnSpPr/>
          <p:nvPr/>
        </p:nvCxnSpPr>
        <p:spPr>
          <a:xfrm>
            <a:off x="5370775" y="8411550"/>
            <a:ext cx="485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9" name="Google Shape;239;p21"/>
          <p:cNvCxnSpPr/>
          <p:nvPr/>
        </p:nvCxnSpPr>
        <p:spPr>
          <a:xfrm rot="10800000">
            <a:off x="4031950" y="8588875"/>
            <a:ext cx="0" cy="713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0" name="Google Shape;240;p21"/>
          <p:cNvCxnSpPr/>
          <p:nvPr/>
        </p:nvCxnSpPr>
        <p:spPr>
          <a:xfrm rot="10800000">
            <a:off x="6159200" y="7491325"/>
            <a:ext cx="0" cy="713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1" name="Google Shape;241;p21"/>
          <p:cNvCxnSpPr/>
          <p:nvPr/>
        </p:nvCxnSpPr>
        <p:spPr>
          <a:xfrm>
            <a:off x="6159200" y="7299150"/>
            <a:ext cx="485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