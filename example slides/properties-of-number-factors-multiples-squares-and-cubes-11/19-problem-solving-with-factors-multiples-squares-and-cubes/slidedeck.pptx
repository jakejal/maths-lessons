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FF9DA8-0624-4E67-B19F-DD012A9E8CF1}">
  <a:tblStyle styleId="{CBFF9DA8-0624-4E67-B19F-DD012A9E8C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712e267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712e267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8712e267c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8712e267c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8712e267c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8712e267c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1e86f103b0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1e86f103b0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885cb0dce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885cb0dce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8712e267c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8712e267c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1e86f103b05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1e86f103b0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8712e267c6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28712e267c6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885cb0dce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885cb0dce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885cb0dce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885cb0dce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885cb0dce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885cb0dce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885cb0dce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2885cb0dce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8712e267c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8712e267c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e86f103b0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e86f103b0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1e86f103b0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1e86f103b0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28712e267c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8712e267c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8712e267c6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8712e267c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885cb0dce1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885cb0dce1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885cb0dce1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885cb0dce1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885cb0dce1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885cb0dce1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2885cb0dce1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885cb0dce1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49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49.png"/><Relationship Id="rId4" Type="http://schemas.openxmlformats.org/officeDocument/2006/relationships/image" Target="../media/image19.png"/><Relationship Id="rId9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49.png"/><Relationship Id="rId4" Type="http://schemas.openxmlformats.org/officeDocument/2006/relationships/image" Target="../media/image28.png"/><Relationship Id="rId11" Type="http://schemas.openxmlformats.org/officeDocument/2006/relationships/image" Target="../media/image20.png"/><Relationship Id="rId10" Type="http://schemas.openxmlformats.org/officeDocument/2006/relationships/image" Target="../media/image37.png"/><Relationship Id="rId9" Type="http://schemas.openxmlformats.org/officeDocument/2006/relationships/image" Target="../media/image32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9.png"/><Relationship Id="rId8" Type="http://schemas.openxmlformats.org/officeDocument/2006/relationships/image" Target="../media/image3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38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factors, multiples, squares and cubes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48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knowledge of factors, multiples, squares and cubes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1" y="2023867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cube number is the product of three repeated integers. </a:t>
            </a:r>
            <a:endParaRPr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square number is the product of two repeated integers. </a:t>
            </a:r>
            <a:endParaRPr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2997083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multiple is the product of a number and an integer.  </a:t>
            </a:r>
            <a:endParaRPr/>
          </a:p>
        </p:txBody>
      </p:sp>
      <p:sp>
        <p:nvSpPr>
          <p:cNvPr id="769" name="Google Shape;769;p67"/>
          <p:cNvSpPr txBox="1"/>
          <p:nvPr>
            <p:ph idx="3" type="subTitle"/>
          </p:nvPr>
        </p:nvSpPr>
        <p:spPr>
          <a:xfrm>
            <a:off x="324001" y="39703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numerical factor is a factor that is an integer. </a:t>
            </a:r>
            <a:r>
              <a:rPr lang="en-GB"/>
              <a:t>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problems with squares and cubes </a:t>
            </a:r>
            <a:endParaRPr/>
          </a:p>
        </p:txBody>
      </p:sp>
      <p:sp>
        <p:nvSpPr>
          <p:cNvPr id="775" name="Google Shape;775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problems</a:t>
            </a:r>
            <a:r>
              <a:rPr lang="en-GB"/>
              <a:t> with </a:t>
            </a:r>
            <a:r>
              <a:rPr lang="en-GB"/>
              <a:t>factors and multiples</a:t>
            </a:r>
            <a:r>
              <a:rPr lang="en-GB"/>
              <a:t> </a:t>
            </a:r>
            <a:endParaRPr/>
          </a:p>
        </p:txBody>
      </p:sp>
      <p:sp>
        <p:nvSpPr>
          <p:cNvPr id="776" name="Google Shape;776;p68"/>
          <p:cNvSpPr txBox="1"/>
          <p:nvPr>
            <p:ph idx="3" type="title"/>
          </p:nvPr>
        </p:nvSpPr>
        <p:spPr>
          <a:xfrm>
            <a:off x="324000" y="657600"/>
            <a:ext cx="6606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factors, multiples, squares and cubes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25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759300"/>
            <a:ext cx="6963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Jun is arranging blocks so that they form a square.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He has used nine blocks.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problems</a:t>
            </a:r>
            <a:r>
              <a:rPr lang="en-GB"/>
              <a:t> with squares and cubes </a:t>
            </a:r>
            <a:endParaRPr/>
          </a:p>
        </p:txBody>
      </p:sp>
      <p:grpSp>
        <p:nvGrpSpPr>
          <p:cNvPr id="784" name="Google Shape;784;p69"/>
          <p:cNvGrpSpPr/>
          <p:nvPr/>
        </p:nvGrpSpPr>
        <p:grpSpPr>
          <a:xfrm>
            <a:off x="7287600" y="1131423"/>
            <a:ext cx="1455238" cy="1549775"/>
            <a:chOff x="943925" y="2265000"/>
            <a:chExt cx="1455238" cy="1549775"/>
          </a:xfrm>
        </p:grpSpPr>
        <p:sp>
          <p:nvSpPr>
            <p:cNvPr id="785" name="Google Shape;785;p69"/>
            <p:cNvSpPr/>
            <p:nvPr/>
          </p:nvSpPr>
          <p:spPr>
            <a:xfrm>
              <a:off x="945875" y="3201275"/>
              <a:ext cx="576000" cy="6135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9"/>
            <p:cNvSpPr/>
            <p:nvPr/>
          </p:nvSpPr>
          <p:spPr>
            <a:xfrm>
              <a:off x="1383561" y="3201275"/>
              <a:ext cx="576000" cy="6135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9"/>
            <p:cNvSpPr/>
            <p:nvPr/>
          </p:nvSpPr>
          <p:spPr>
            <a:xfrm>
              <a:off x="1823163" y="3201275"/>
              <a:ext cx="576000" cy="6135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9"/>
            <p:cNvSpPr/>
            <p:nvPr/>
          </p:nvSpPr>
          <p:spPr>
            <a:xfrm>
              <a:off x="944900" y="2731425"/>
              <a:ext cx="576000" cy="6135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9"/>
            <p:cNvSpPr/>
            <p:nvPr/>
          </p:nvSpPr>
          <p:spPr>
            <a:xfrm>
              <a:off x="1382586" y="2731425"/>
              <a:ext cx="576000" cy="6135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9"/>
            <p:cNvSpPr/>
            <p:nvPr/>
          </p:nvSpPr>
          <p:spPr>
            <a:xfrm>
              <a:off x="1822188" y="2731425"/>
              <a:ext cx="576000" cy="6135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9"/>
            <p:cNvSpPr/>
            <p:nvPr/>
          </p:nvSpPr>
          <p:spPr>
            <a:xfrm>
              <a:off x="943925" y="2265000"/>
              <a:ext cx="576000" cy="6135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9"/>
            <p:cNvSpPr/>
            <p:nvPr/>
          </p:nvSpPr>
          <p:spPr>
            <a:xfrm>
              <a:off x="1381611" y="2265000"/>
              <a:ext cx="576000" cy="6135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9"/>
            <p:cNvSpPr/>
            <p:nvPr/>
          </p:nvSpPr>
          <p:spPr>
            <a:xfrm>
              <a:off x="1821213" y="2265000"/>
              <a:ext cx="576000" cy="613500"/>
            </a:xfrm>
            <a:prstGeom prst="cube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4" name="Google Shape;794;p69"/>
          <p:cNvSpPr txBox="1"/>
          <p:nvPr>
            <p:ph idx="1" type="body"/>
          </p:nvPr>
        </p:nvSpPr>
        <p:spPr>
          <a:xfrm>
            <a:off x="324000" y="2403200"/>
            <a:ext cx="6357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REMEMBER a </a:t>
            </a:r>
            <a:r>
              <a:rPr lang="en-GB" sz="2000">
                <a:solidFill>
                  <a:schemeClr val="accent4"/>
                </a:solidFill>
              </a:rPr>
              <a:t>square</a:t>
            </a:r>
            <a:r>
              <a:rPr lang="en-GB" sz="2000"/>
              <a:t> number is the </a:t>
            </a:r>
            <a:r>
              <a:rPr lang="en-GB" sz="2000">
                <a:solidFill>
                  <a:schemeClr val="accent4"/>
                </a:solidFill>
              </a:rPr>
              <a:t>product</a:t>
            </a:r>
            <a:r>
              <a:rPr lang="en-GB" sz="2000"/>
              <a:t> of two </a:t>
            </a:r>
            <a:r>
              <a:rPr lang="en-GB" sz="2000">
                <a:solidFill>
                  <a:schemeClr val="accent4"/>
                </a:solidFill>
              </a:rPr>
              <a:t>repeated</a:t>
            </a:r>
            <a:r>
              <a:rPr lang="en-GB" sz="2000"/>
              <a:t> integers.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795" name="Google Shape;795;p69"/>
          <p:cNvSpPr txBox="1"/>
          <p:nvPr>
            <p:ph idx="1" type="body"/>
          </p:nvPr>
        </p:nvSpPr>
        <p:spPr>
          <a:xfrm>
            <a:off x="324000" y="3087875"/>
            <a:ext cx="69636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 decides to start with 10:   10 × 10 = 100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796" name="Google Shape;796;p69"/>
          <p:cNvSpPr txBox="1"/>
          <p:nvPr>
            <p:ph idx="1" type="body"/>
          </p:nvPr>
        </p:nvSpPr>
        <p:spPr>
          <a:xfrm>
            <a:off x="324000" y="3559250"/>
            <a:ext cx="87735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 now knows he might be able to make a larger one:   13 × 13 = 169 </a:t>
            </a:r>
            <a:endParaRPr sz="2000"/>
          </a:p>
        </p:txBody>
      </p:sp>
      <p:sp>
        <p:nvSpPr>
          <p:cNvPr id="797" name="Google Shape;797;p69"/>
          <p:cNvSpPr txBox="1"/>
          <p:nvPr>
            <p:ph idx="1" type="body"/>
          </p:nvPr>
        </p:nvSpPr>
        <p:spPr>
          <a:xfrm>
            <a:off x="324000" y="4030625"/>
            <a:ext cx="8569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 now knows it’s between 10 and 13 so tries :   12 × 12 = 144 </a:t>
            </a:r>
            <a:endParaRPr sz="2000"/>
          </a:p>
        </p:txBody>
      </p:sp>
      <p:sp>
        <p:nvSpPr>
          <p:cNvPr id="798" name="Google Shape;798;p69"/>
          <p:cNvSpPr txBox="1"/>
          <p:nvPr>
            <p:ph idx="1" type="body"/>
          </p:nvPr>
        </p:nvSpPr>
        <p:spPr>
          <a:xfrm>
            <a:off x="324000" y="4502000"/>
            <a:ext cx="63570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largest square he can make is 12 by 12.</a:t>
            </a:r>
            <a:endParaRPr sz="2000"/>
          </a:p>
        </p:txBody>
      </p:sp>
      <p:sp>
        <p:nvSpPr>
          <p:cNvPr id="799" name="Google Shape;799;p69"/>
          <p:cNvSpPr txBox="1"/>
          <p:nvPr/>
        </p:nvSpPr>
        <p:spPr>
          <a:xfrm>
            <a:off x="324000" y="1670225"/>
            <a:ext cx="6804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largest square he can make using 150 blocks?    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/>
          <p:nvPr/>
        </p:nvSpPr>
        <p:spPr>
          <a:xfrm>
            <a:off x="3832075" y="3095375"/>
            <a:ext cx="1678800" cy="31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/>
          <p:nvPr/>
        </p:nvSpPr>
        <p:spPr>
          <a:xfrm>
            <a:off x="7094650" y="3559250"/>
            <a:ext cx="1648200" cy="31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9"/>
          <p:cNvSpPr/>
          <p:nvPr/>
        </p:nvSpPr>
        <p:spPr>
          <a:xfrm>
            <a:off x="6161400" y="4030625"/>
            <a:ext cx="2047800" cy="31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problems with squares and cubes </a:t>
            </a:r>
            <a:endParaRPr/>
          </a:p>
        </p:txBody>
      </p:sp>
      <p:grpSp>
        <p:nvGrpSpPr>
          <p:cNvPr id="808" name="Google Shape;808;p70"/>
          <p:cNvGrpSpPr/>
          <p:nvPr/>
        </p:nvGrpSpPr>
        <p:grpSpPr>
          <a:xfrm>
            <a:off x="439918" y="647177"/>
            <a:ext cx="1736813" cy="1840700"/>
            <a:chOff x="1632775" y="2838275"/>
            <a:chExt cx="1736813" cy="1840700"/>
          </a:xfrm>
        </p:grpSpPr>
        <p:grpSp>
          <p:nvGrpSpPr>
            <p:cNvPr id="809" name="Google Shape;809;p70"/>
            <p:cNvGrpSpPr/>
            <p:nvPr/>
          </p:nvGrpSpPr>
          <p:grpSpPr>
            <a:xfrm>
              <a:off x="1914350" y="2838275"/>
              <a:ext cx="1455238" cy="1549775"/>
              <a:chOff x="943925" y="2265000"/>
              <a:chExt cx="1455238" cy="1549775"/>
            </a:xfrm>
          </p:grpSpPr>
          <p:sp>
            <p:nvSpPr>
              <p:cNvPr id="810" name="Google Shape;810;p70"/>
              <p:cNvSpPr/>
              <p:nvPr/>
            </p:nvSpPr>
            <p:spPr>
              <a:xfrm>
                <a:off x="945875" y="320127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70"/>
              <p:cNvSpPr/>
              <p:nvPr/>
            </p:nvSpPr>
            <p:spPr>
              <a:xfrm>
                <a:off x="1383561" y="320127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70"/>
              <p:cNvSpPr/>
              <p:nvPr/>
            </p:nvSpPr>
            <p:spPr>
              <a:xfrm>
                <a:off x="1823163" y="320127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70"/>
              <p:cNvSpPr/>
              <p:nvPr/>
            </p:nvSpPr>
            <p:spPr>
              <a:xfrm>
                <a:off x="944900" y="273142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70"/>
              <p:cNvSpPr/>
              <p:nvPr/>
            </p:nvSpPr>
            <p:spPr>
              <a:xfrm>
                <a:off x="1382586" y="273142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70"/>
              <p:cNvSpPr/>
              <p:nvPr/>
            </p:nvSpPr>
            <p:spPr>
              <a:xfrm>
                <a:off x="1822188" y="273142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70"/>
              <p:cNvSpPr/>
              <p:nvPr/>
            </p:nvSpPr>
            <p:spPr>
              <a:xfrm>
                <a:off x="943925" y="2265000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70"/>
              <p:cNvSpPr/>
              <p:nvPr/>
            </p:nvSpPr>
            <p:spPr>
              <a:xfrm>
                <a:off x="1381611" y="2265000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70"/>
              <p:cNvSpPr/>
              <p:nvPr/>
            </p:nvSpPr>
            <p:spPr>
              <a:xfrm>
                <a:off x="1821213" y="2265000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9" name="Google Shape;819;p70"/>
            <p:cNvGrpSpPr/>
            <p:nvPr/>
          </p:nvGrpSpPr>
          <p:grpSpPr>
            <a:xfrm>
              <a:off x="1771675" y="2984075"/>
              <a:ext cx="1455238" cy="1549775"/>
              <a:chOff x="943925" y="2265000"/>
              <a:chExt cx="1455238" cy="1549775"/>
            </a:xfrm>
          </p:grpSpPr>
          <p:sp>
            <p:nvSpPr>
              <p:cNvPr id="820" name="Google Shape;820;p70"/>
              <p:cNvSpPr/>
              <p:nvPr/>
            </p:nvSpPr>
            <p:spPr>
              <a:xfrm>
                <a:off x="945875" y="320127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70"/>
              <p:cNvSpPr/>
              <p:nvPr/>
            </p:nvSpPr>
            <p:spPr>
              <a:xfrm>
                <a:off x="1383561" y="320127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70"/>
              <p:cNvSpPr/>
              <p:nvPr/>
            </p:nvSpPr>
            <p:spPr>
              <a:xfrm>
                <a:off x="1823163" y="320127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70"/>
              <p:cNvSpPr/>
              <p:nvPr/>
            </p:nvSpPr>
            <p:spPr>
              <a:xfrm>
                <a:off x="944900" y="273142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70"/>
              <p:cNvSpPr/>
              <p:nvPr/>
            </p:nvSpPr>
            <p:spPr>
              <a:xfrm>
                <a:off x="1382586" y="273142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70"/>
              <p:cNvSpPr/>
              <p:nvPr/>
            </p:nvSpPr>
            <p:spPr>
              <a:xfrm>
                <a:off x="1822188" y="273142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70"/>
              <p:cNvSpPr/>
              <p:nvPr/>
            </p:nvSpPr>
            <p:spPr>
              <a:xfrm>
                <a:off x="943925" y="2265000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70"/>
              <p:cNvSpPr/>
              <p:nvPr/>
            </p:nvSpPr>
            <p:spPr>
              <a:xfrm>
                <a:off x="1381611" y="2265000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70"/>
              <p:cNvSpPr/>
              <p:nvPr/>
            </p:nvSpPr>
            <p:spPr>
              <a:xfrm>
                <a:off x="1821213" y="2265000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9" name="Google Shape;829;p70"/>
            <p:cNvGrpSpPr/>
            <p:nvPr/>
          </p:nvGrpSpPr>
          <p:grpSpPr>
            <a:xfrm>
              <a:off x="1632775" y="3129200"/>
              <a:ext cx="1455238" cy="1549775"/>
              <a:chOff x="943925" y="2265000"/>
              <a:chExt cx="1455238" cy="1549775"/>
            </a:xfrm>
          </p:grpSpPr>
          <p:sp>
            <p:nvSpPr>
              <p:cNvPr id="830" name="Google Shape;830;p70"/>
              <p:cNvSpPr/>
              <p:nvPr/>
            </p:nvSpPr>
            <p:spPr>
              <a:xfrm>
                <a:off x="945875" y="320127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70"/>
              <p:cNvSpPr/>
              <p:nvPr/>
            </p:nvSpPr>
            <p:spPr>
              <a:xfrm>
                <a:off x="1383561" y="320127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70"/>
              <p:cNvSpPr/>
              <p:nvPr/>
            </p:nvSpPr>
            <p:spPr>
              <a:xfrm>
                <a:off x="1823163" y="320127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70"/>
              <p:cNvSpPr/>
              <p:nvPr/>
            </p:nvSpPr>
            <p:spPr>
              <a:xfrm>
                <a:off x="944900" y="273142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70"/>
              <p:cNvSpPr/>
              <p:nvPr/>
            </p:nvSpPr>
            <p:spPr>
              <a:xfrm>
                <a:off x="1382586" y="273142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70"/>
              <p:cNvSpPr/>
              <p:nvPr/>
            </p:nvSpPr>
            <p:spPr>
              <a:xfrm>
                <a:off x="1822188" y="2731425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70"/>
              <p:cNvSpPr/>
              <p:nvPr/>
            </p:nvSpPr>
            <p:spPr>
              <a:xfrm>
                <a:off x="943925" y="2265000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70"/>
              <p:cNvSpPr/>
              <p:nvPr/>
            </p:nvSpPr>
            <p:spPr>
              <a:xfrm>
                <a:off x="1381611" y="2265000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70"/>
              <p:cNvSpPr/>
              <p:nvPr/>
            </p:nvSpPr>
            <p:spPr>
              <a:xfrm>
                <a:off x="1821213" y="2265000"/>
                <a:ext cx="576000" cy="613500"/>
              </a:xfrm>
              <a:prstGeom prst="cube">
                <a:avLst>
                  <a:gd fmla="val 25000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39" name="Google Shape;839;p70"/>
          <p:cNvSpPr txBox="1"/>
          <p:nvPr>
            <p:ph idx="1" type="body"/>
          </p:nvPr>
        </p:nvSpPr>
        <p:spPr>
          <a:xfrm>
            <a:off x="2411275" y="748550"/>
            <a:ext cx="6175800" cy="7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He now stacks the blocks to make a large cube.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He has used 27 blocks.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   </a:t>
            </a:r>
            <a:endParaRPr sz="1900"/>
          </a:p>
        </p:txBody>
      </p:sp>
      <p:sp>
        <p:nvSpPr>
          <p:cNvPr id="840" name="Google Shape;840;p70"/>
          <p:cNvSpPr txBox="1"/>
          <p:nvPr>
            <p:ph idx="1" type="body"/>
          </p:nvPr>
        </p:nvSpPr>
        <p:spPr>
          <a:xfrm>
            <a:off x="324000" y="2534650"/>
            <a:ext cx="84531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REMEMBER a </a:t>
            </a:r>
            <a:r>
              <a:rPr lang="en-GB" sz="1900">
                <a:solidFill>
                  <a:schemeClr val="accent4"/>
                </a:solidFill>
              </a:rPr>
              <a:t>cube</a:t>
            </a:r>
            <a:r>
              <a:rPr lang="en-GB" sz="1900"/>
              <a:t> number is the </a:t>
            </a:r>
            <a:r>
              <a:rPr lang="en-GB" sz="1900">
                <a:solidFill>
                  <a:schemeClr val="accent4"/>
                </a:solidFill>
              </a:rPr>
              <a:t>product</a:t>
            </a:r>
            <a:r>
              <a:rPr lang="en-GB" sz="1900"/>
              <a:t> of three </a:t>
            </a:r>
            <a:r>
              <a:rPr lang="en-GB" sz="1900">
                <a:solidFill>
                  <a:schemeClr val="accent4"/>
                </a:solidFill>
              </a:rPr>
              <a:t>repeated</a:t>
            </a:r>
            <a:r>
              <a:rPr lang="en-GB" sz="1900"/>
              <a:t> integers. </a:t>
            </a:r>
            <a:endParaRPr sz="1900"/>
          </a:p>
        </p:txBody>
      </p:sp>
      <p:sp>
        <p:nvSpPr>
          <p:cNvPr id="841" name="Google Shape;841;p70"/>
          <p:cNvSpPr txBox="1"/>
          <p:nvPr>
            <p:ph idx="1" type="body"/>
          </p:nvPr>
        </p:nvSpPr>
        <p:spPr>
          <a:xfrm>
            <a:off x="324000" y="3026488"/>
            <a:ext cx="51564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He decides to start with 4:   4 × 4 </a:t>
            </a:r>
            <a:r>
              <a:rPr lang="en-GB" sz="1900"/>
              <a:t>× 4</a:t>
            </a:r>
            <a:r>
              <a:rPr lang="en-GB" sz="1900"/>
              <a:t> = 64 </a:t>
            </a:r>
            <a:endParaRPr sz="1900"/>
          </a:p>
        </p:txBody>
      </p:sp>
      <p:sp>
        <p:nvSpPr>
          <p:cNvPr id="842" name="Google Shape;842;p70"/>
          <p:cNvSpPr txBox="1"/>
          <p:nvPr>
            <p:ph idx="1" type="body"/>
          </p:nvPr>
        </p:nvSpPr>
        <p:spPr>
          <a:xfrm>
            <a:off x="324000" y="3518325"/>
            <a:ext cx="85524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He now knows he might be able to make a larger one:   5 × 5 </a:t>
            </a:r>
            <a:r>
              <a:rPr lang="en-GB" sz="1900"/>
              <a:t>× 5</a:t>
            </a:r>
            <a:r>
              <a:rPr lang="en-GB" sz="1900"/>
              <a:t> = 125 </a:t>
            </a:r>
            <a:endParaRPr sz="1900"/>
          </a:p>
        </p:txBody>
      </p:sp>
      <p:sp>
        <p:nvSpPr>
          <p:cNvPr id="843" name="Google Shape;843;p70"/>
          <p:cNvSpPr txBox="1"/>
          <p:nvPr>
            <p:ph idx="1" type="body"/>
          </p:nvPr>
        </p:nvSpPr>
        <p:spPr>
          <a:xfrm>
            <a:off x="324000" y="4010163"/>
            <a:ext cx="84531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Now he</a:t>
            </a:r>
            <a:r>
              <a:rPr lang="en-GB" sz="1900"/>
              <a:t> tries 6 to check if he has enough to make that:   6 × 6 </a:t>
            </a:r>
            <a:r>
              <a:rPr lang="en-GB" sz="1900"/>
              <a:t>× 6</a:t>
            </a:r>
            <a:r>
              <a:rPr lang="en-GB" sz="1900"/>
              <a:t> = 216</a:t>
            </a:r>
            <a:endParaRPr sz="1900"/>
          </a:p>
        </p:txBody>
      </p:sp>
      <p:sp>
        <p:nvSpPr>
          <p:cNvPr id="844" name="Google Shape;844;p70"/>
          <p:cNvSpPr txBox="1"/>
          <p:nvPr>
            <p:ph idx="1" type="body"/>
          </p:nvPr>
        </p:nvSpPr>
        <p:spPr>
          <a:xfrm>
            <a:off x="324000" y="4502000"/>
            <a:ext cx="62601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So, the</a:t>
            </a:r>
            <a:r>
              <a:rPr lang="en-GB" sz="1900"/>
              <a:t> largest cube he can make is 5 by 5 by 5.</a:t>
            </a:r>
            <a:endParaRPr sz="1900"/>
          </a:p>
        </p:txBody>
      </p:sp>
      <p:sp>
        <p:nvSpPr>
          <p:cNvPr id="845" name="Google Shape;845;p70"/>
          <p:cNvSpPr txBox="1"/>
          <p:nvPr/>
        </p:nvSpPr>
        <p:spPr>
          <a:xfrm>
            <a:off x="2411275" y="1709550"/>
            <a:ext cx="5156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largest cube he can make using 150 blocks?  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0"/>
          <p:cNvSpPr/>
          <p:nvPr/>
        </p:nvSpPr>
        <p:spPr>
          <a:xfrm>
            <a:off x="3484300" y="2989450"/>
            <a:ext cx="1688100" cy="30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0"/>
          <p:cNvSpPr/>
          <p:nvPr/>
        </p:nvSpPr>
        <p:spPr>
          <a:xfrm>
            <a:off x="6681750" y="3518325"/>
            <a:ext cx="2253000" cy="30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0"/>
          <p:cNvSpPr/>
          <p:nvPr/>
        </p:nvSpPr>
        <p:spPr>
          <a:xfrm>
            <a:off x="6749150" y="4010175"/>
            <a:ext cx="2253000" cy="30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cannot be </a:t>
            </a:r>
            <a:r>
              <a:rPr lang="en-GB"/>
              <a:t>written</a:t>
            </a:r>
            <a:r>
              <a:rPr lang="en-GB"/>
              <a:t> as a product of two repeated integers.</a:t>
            </a:r>
            <a:endParaRPr/>
          </a:p>
        </p:txBody>
      </p:sp>
      <p:sp>
        <p:nvSpPr>
          <p:cNvPr id="854" name="Google Shape;85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problems with squares and cubes </a:t>
            </a:r>
            <a:endParaRPr/>
          </a:p>
        </p:txBody>
      </p:sp>
      <p:sp>
        <p:nvSpPr>
          <p:cNvPr id="855" name="Google Shape;855;p7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 is a square number.</a:t>
            </a:r>
            <a:endParaRPr/>
          </a:p>
        </p:txBody>
      </p:sp>
      <p:sp>
        <p:nvSpPr>
          <p:cNvPr id="856" name="Google Shape;856;p7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can be written as the product of two repeated integers.</a:t>
            </a:r>
            <a:endParaRPr/>
          </a:p>
        </p:txBody>
      </p:sp>
      <p:pic>
        <p:nvPicPr>
          <p:cNvPr id="857" name="Google Shape;85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3458" y="357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2"/>
          <p:cNvSpPr txBox="1"/>
          <p:nvPr>
            <p:ph idx="1" type="body"/>
          </p:nvPr>
        </p:nvSpPr>
        <p:spPr>
          <a:xfrm>
            <a:off x="324000" y="3950975"/>
            <a:ext cx="7200600" cy="7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They decide that the table shows all of the possible solutions.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Do you agree with Sam?</a:t>
            </a:r>
            <a:endParaRPr sz="1800"/>
          </a:p>
        </p:txBody>
      </p:sp>
      <p:sp>
        <p:nvSpPr>
          <p:cNvPr id="864" name="Google Shape;86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squares and cubes</a:t>
            </a:r>
            <a:endParaRPr/>
          </a:p>
        </p:txBody>
      </p:sp>
      <p:sp>
        <p:nvSpPr>
          <p:cNvPr id="865" name="Google Shape;865;p72"/>
          <p:cNvSpPr txBox="1"/>
          <p:nvPr>
            <p:ph idx="1" type="body"/>
          </p:nvPr>
        </p:nvSpPr>
        <p:spPr>
          <a:xfrm>
            <a:off x="324000" y="6069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volume of a cuboid is 60 cm</a:t>
            </a:r>
            <a:r>
              <a:rPr baseline="30000" lang="en-GB" sz="1800"/>
              <a:t>3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If the dimensions are all integers, what could they be?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Sam writes 60 as a product of its prime factors. </a:t>
            </a:r>
            <a:endParaRPr sz="1800"/>
          </a:p>
        </p:txBody>
      </p:sp>
      <p:sp>
        <p:nvSpPr>
          <p:cNvPr id="866" name="Google Shape;866;p72"/>
          <p:cNvSpPr/>
          <p:nvPr/>
        </p:nvSpPr>
        <p:spPr>
          <a:xfrm>
            <a:off x="357100" y="1848257"/>
            <a:ext cx="1006200" cy="18999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72"/>
          <p:cNvSpPr txBox="1"/>
          <p:nvPr>
            <p:ph idx="1" type="body"/>
          </p:nvPr>
        </p:nvSpPr>
        <p:spPr>
          <a:xfrm>
            <a:off x="1908800" y="1812300"/>
            <a:ext cx="2266500" cy="17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60 = 2 × 30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60 = 2 × 3 × 10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60 =</a:t>
            </a:r>
            <a:r>
              <a:rPr lang="en-GB" sz="1800"/>
              <a:t> 2 × 3 × 2 × 5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60 = 2</a:t>
            </a:r>
            <a:r>
              <a:rPr baseline="30000" lang="en-GB" sz="1800"/>
              <a:t>2</a:t>
            </a:r>
            <a:r>
              <a:rPr lang="en-GB" sz="1800"/>
              <a:t> × 3 × 5</a:t>
            </a:r>
            <a:endParaRPr sz="1800"/>
          </a:p>
        </p:txBody>
      </p:sp>
      <p:graphicFrame>
        <p:nvGraphicFramePr>
          <p:cNvPr id="868" name="Google Shape;868;p72"/>
          <p:cNvGraphicFramePr/>
          <p:nvPr/>
        </p:nvGraphicFramePr>
        <p:xfrm>
          <a:off x="4800600" y="1792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{CBFF9DA8-0624-4E67-B19F-DD012A9E8CF1}</a:tableStyleId>
              </a:tblPr>
              <a:tblGrid>
                <a:gridCol w="1308825"/>
                <a:gridCol w="1308825"/>
                <a:gridCol w="1308825"/>
              </a:tblGrid>
              <a:tr h="42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42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baseline="3000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=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422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3 = 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422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5 = 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422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869" name="Google Shape;869;p72"/>
          <p:cNvSpPr/>
          <p:nvPr/>
        </p:nvSpPr>
        <p:spPr>
          <a:xfrm>
            <a:off x="297150" y="1417217"/>
            <a:ext cx="5959800" cy="3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2"/>
          <p:cNvSpPr/>
          <p:nvPr/>
        </p:nvSpPr>
        <p:spPr>
          <a:xfrm>
            <a:off x="2410175" y="1801075"/>
            <a:ext cx="766500" cy="3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2"/>
          <p:cNvSpPr/>
          <p:nvPr/>
        </p:nvSpPr>
        <p:spPr>
          <a:xfrm>
            <a:off x="1860875" y="2240850"/>
            <a:ext cx="1779300" cy="3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2"/>
          <p:cNvSpPr/>
          <p:nvPr/>
        </p:nvSpPr>
        <p:spPr>
          <a:xfrm>
            <a:off x="1908800" y="2694200"/>
            <a:ext cx="2045100" cy="3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2"/>
          <p:cNvSpPr/>
          <p:nvPr/>
        </p:nvSpPr>
        <p:spPr>
          <a:xfrm>
            <a:off x="1913576" y="3087600"/>
            <a:ext cx="1700100" cy="3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2"/>
          <p:cNvSpPr txBox="1"/>
          <p:nvPr/>
        </p:nvSpPr>
        <p:spPr>
          <a:xfrm>
            <a:off x="3369600" y="4260423"/>
            <a:ext cx="250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Sam is not right.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5" name="Google Shape;875;p72"/>
          <p:cNvSpPr/>
          <p:nvPr/>
        </p:nvSpPr>
        <p:spPr>
          <a:xfrm>
            <a:off x="5089800" y="2281150"/>
            <a:ext cx="684600" cy="29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2"/>
          <p:cNvSpPr/>
          <p:nvPr/>
        </p:nvSpPr>
        <p:spPr>
          <a:xfrm>
            <a:off x="6387400" y="2281150"/>
            <a:ext cx="684600" cy="29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2"/>
          <p:cNvSpPr/>
          <p:nvPr/>
        </p:nvSpPr>
        <p:spPr>
          <a:xfrm>
            <a:off x="7685000" y="2260950"/>
            <a:ext cx="684600" cy="29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2"/>
          <p:cNvSpPr/>
          <p:nvPr/>
        </p:nvSpPr>
        <p:spPr>
          <a:xfrm>
            <a:off x="4977275" y="2701875"/>
            <a:ext cx="1006200" cy="29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2"/>
          <p:cNvSpPr/>
          <p:nvPr/>
        </p:nvSpPr>
        <p:spPr>
          <a:xfrm>
            <a:off x="6387400" y="2701868"/>
            <a:ext cx="684600" cy="29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2"/>
          <p:cNvSpPr/>
          <p:nvPr/>
        </p:nvSpPr>
        <p:spPr>
          <a:xfrm>
            <a:off x="7685000" y="2681668"/>
            <a:ext cx="684600" cy="29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2"/>
          <p:cNvSpPr/>
          <p:nvPr/>
        </p:nvSpPr>
        <p:spPr>
          <a:xfrm>
            <a:off x="4937700" y="3116075"/>
            <a:ext cx="1078800" cy="29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2"/>
          <p:cNvSpPr/>
          <p:nvPr/>
        </p:nvSpPr>
        <p:spPr>
          <a:xfrm>
            <a:off x="6347820" y="3116056"/>
            <a:ext cx="684600" cy="29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2"/>
          <p:cNvSpPr/>
          <p:nvPr/>
        </p:nvSpPr>
        <p:spPr>
          <a:xfrm>
            <a:off x="7645420" y="3095856"/>
            <a:ext cx="684600" cy="29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2"/>
          <p:cNvSpPr/>
          <p:nvPr/>
        </p:nvSpPr>
        <p:spPr>
          <a:xfrm>
            <a:off x="5067675" y="3578800"/>
            <a:ext cx="1006200" cy="29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2"/>
          <p:cNvSpPr/>
          <p:nvPr/>
        </p:nvSpPr>
        <p:spPr>
          <a:xfrm>
            <a:off x="6477800" y="3578793"/>
            <a:ext cx="684600" cy="29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2"/>
          <p:cNvSpPr/>
          <p:nvPr/>
        </p:nvSpPr>
        <p:spPr>
          <a:xfrm>
            <a:off x="7775400" y="3558593"/>
            <a:ext cx="684600" cy="290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squares and cubes</a:t>
            </a:r>
            <a:endParaRPr/>
          </a:p>
        </p:txBody>
      </p:sp>
      <p:sp>
        <p:nvSpPr>
          <p:cNvPr id="892" name="Google Shape;892;p73"/>
          <p:cNvSpPr txBox="1"/>
          <p:nvPr>
            <p:ph idx="1" type="body"/>
          </p:nvPr>
        </p:nvSpPr>
        <p:spPr>
          <a:xfrm>
            <a:off x="1321352" y="849925"/>
            <a:ext cx="2387100" cy="3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60 = 2</a:t>
            </a:r>
            <a:r>
              <a:rPr baseline="30000" lang="en-GB"/>
              <a:t>2</a:t>
            </a:r>
            <a:r>
              <a:rPr lang="en-GB"/>
              <a:t> × 3 × 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93" name="Google Shape;893;p73"/>
          <p:cNvGraphicFramePr/>
          <p:nvPr/>
        </p:nvGraphicFramePr>
        <p:xfrm>
          <a:off x="4893525" y="651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{CBFF9DA8-0624-4E67-B19F-DD012A9E8CF1}</a:tableStyleId>
              </a:tblPr>
              <a:tblGrid>
                <a:gridCol w="1308825"/>
                <a:gridCol w="1308825"/>
                <a:gridCol w="1308825"/>
              </a:tblGrid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baseline="30000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= 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3 = 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× 5 = 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894" name="Google Shape;894;p73"/>
          <p:cNvSpPr txBox="1"/>
          <p:nvPr>
            <p:ph idx="1" type="body"/>
          </p:nvPr>
        </p:nvSpPr>
        <p:spPr>
          <a:xfrm>
            <a:off x="324000" y="1366513"/>
            <a:ext cx="4057500" cy="112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She noticed that you could use combinations of the prime factors.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73"/>
          <p:cNvSpPr txBox="1"/>
          <p:nvPr>
            <p:ph idx="1" type="body"/>
          </p:nvPr>
        </p:nvSpPr>
        <p:spPr>
          <a:xfrm>
            <a:off x="324000" y="2567542"/>
            <a:ext cx="3792900" cy="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dimension have they missed?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3"/>
          <p:cNvSpPr txBox="1"/>
          <p:nvPr>
            <p:ph idx="1" type="body"/>
          </p:nvPr>
        </p:nvSpPr>
        <p:spPr>
          <a:xfrm>
            <a:off x="324000" y="3371371"/>
            <a:ext cx="45000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They have missed the fact that 1 cm could be a dimension.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73"/>
          <p:cNvSpPr/>
          <p:nvPr/>
        </p:nvSpPr>
        <p:spPr>
          <a:xfrm>
            <a:off x="5414175" y="2396925"/>
            <a:ext cx="258300" cy="33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3"/>
          <p:cNvSpPr/>
          <p:nvPr/>
        </p:nvSpPr>
        <p:spPr>
          <a:xfrm>
            <a:off x="6727625" y="2455401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3"/>
          <p:cNvSpPr/>
          <p:nvPr/>
        </p:nvSpPr>
        <p:spPr>
          <a:xfrm>
            <a:off x="8041075" y="2406925"/>
            <a:ext cx="258300" cy="31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3"/>
          <p:cNvSpPr/>
          <p:nvPr/>
        </p:nvSpPr>
        <p:spPr>
          <a:xfrm>
            <a:off x="5414175" y="2744748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3"/>
          <p:cNvSpPr/>
          <p:nvPr/>
        </p:nvSpPr>
        <p:spPr>
          <a:xfrm>
            <a:off x="6727618" y="2744748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3"/>
          <p:cNvSpPr/>
          <p:nvPr/>
        </p:nvSpPr>
        <p:spPr>
          <a:xfrm>
            <a:off x="8037838" y="2777993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3"/>
          <p:cNvSpPr/>
          <p:nvPr/>
        </p:nvSpPr>
        <p:spPr>
          <a:xfrm>
            <a:off x="5440800" y="3097989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3"/>
          <p:cNvSpPr/>
          <p:nvPr/>
        </p:nvSpPr>
        <p:spPr>
          <a:xfrm>
            <a:off x="6754243" y="3097989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3"/>
          <p:cNvSpPr/>
          <p:nvPr/>
        </p:nvSpPr>
        <p:spPr>
          <a:xfrm>
            <a:off x="8041053" y="3127774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3"/>
          <p:cNvSpPr/>
          <p:nvPr/>
        </p:nvSpPr>
        <p:spPr>
          <a:xfrm>
            <a:off x="5440800" y="3457849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3"/>
          <p:cNvSpPr/>
          <p:nvPr/>
        </p:nvSpPr>
        <p:spPr>
          <a:xfrm>
            <a:off x="6754243" y="3457849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3"/>
          <p:cNvSpPr/>
          <p:nvPr/>
        </p:nvSpPr>
        <p:spPr>
          <a:xfrm>
            <a:off x="8067699" y="3457849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3"/>
          <p:cNvSpPr/>
          <p:nvPr/>
        </p:nvSpPr>
        <p:spPr>
          <a:xfrm>
            <a:off x="5440800" y="3813539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3"/>
          <p:cNvSpPr/>
          <p:nvPr/>
        </p:nvSpPr>
        <p:spPr>
          <a:xfrm>
            <a:off x="6754243" y="3813539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3"/>
          <p:cNvSpPr/>
          <p:nvPr/>
        </p:nvSpPr>
        <p:spPr>
          <a:xfrm>
            <a:off x="8067699" y="3813539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3"/>
          <p:cNvSpPr/>
          <p:nvPr/>
        </p:nvSpPr>
        <p:spPr>
          <a:xfrm>
            <a:off x="5414163" y="4169214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3"/>
          <p:cNvSpPr/>
          <p:nvPr/>
        </p:nvSpPr>
        <p:spPr>
          <a:xfrm>
            <a:off x="6727606" y="4169214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3"/>
          <p:cNvSpPr/>
          <p:nvPr/>
        </p:nvSpPr>
        <p:spPr>
          <a:xfrm>
            <a:off x="8041061" y="4169214"/>
            <a:ext cx="258300" cy="2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3"/>
          <p:cNvSpPr txBox="1"/>
          <p:nvPr>
            <p:ph idx="1" type="body"/>
          </p:nvPr>
        </p:nvSpPr>
        <p:spPr>
          <a:xfrm>
            <a:off x="324000" y="4129600"/>
            <a:ext cx="39960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Remember these could be in any order.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squares and cubes</a:t>
            </a:r>
            <a:endParaRPr/>
          </a:p>
        </p:txBody>
      </p:sp>
      <p:sp>
        <p:nvSpPr>
          <p:cNvPr id="921" name="Google Shape;921;p74"/>
          <p:cNvSpPr txBox="1"/>
          <p:nvPr>
            <p:ph idx="1" type="body"/>
          </p:nvPr>
        </p:nvSpPr>
        <p:spPr>
          <a:xfrm>
            <a:off x="324000" y="683100"/>
            <a:ext cx="83073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a)  What is the largest square you can make with 80 blocks?  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b)  What is the largest square you can make with 200 blocks?  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c)  What is the largest cube you can make with 200 blocks?  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d)  What is the largest cube you can make with 350 blocks?  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e)  Justify why 8 is not a square number.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</a:t>
            </a:r>
            <a:endParaRPr/>
          </a:p>
        </p:txBody>
      </p:sp>
      <p:sp>
        <p:nvSpPr>
          <p:cNvPr id="927" name="Google Shape;927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squares and cubes</a:t>
            </a:r>
            <a:endParaRPr/>
          </a:p>
        </p:txBody>
      </p:sp>
      <p:sp>
        <p:nvSpPr>
          <p:cNvPr id="928" name="Google Shape;928;p75"/>
          <p:cNvSpPr txBox="1"/>
          <p:nvPr>
            <p:ph idx="4294967295" type="body"/>
          </p:nvPr>
        </p:nvSpPr>
        <p:spPr>
          <a:xfrm>
            <a:off x="688075" y="759300"/>
            <a:ext cx="7374000" cy="9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volume of a cuboid is 90 cm</a:t>
            </a:r>
            <a:r>
              <a:rPr baseline="30000" lang="en-GB"/>
              <a:t>3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the dimensions are all integers, what could they be?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75"/>
          <p:cNvSpPr/>
          <p:nvPr/>
        </p:nvSpPr>
        <p:spPr>
          <a:xfrm>
            <a:off x="324000" y="2128932"/>
            <a:ext cx="1006200" cy="18999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76"/>
          <p:cNvSpPr txBox="1"/>
          <p:nvPr>
            <p:ph idx="1" type="body"/>
          </p:nvPr>
        </p:nvSpPr>
        <p:spPr>
          <a:xfrm>
            <a:off x="324000" y="683100"/>
            <a:ext cx="83073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 sz="2100"/>
              <a:t>a)  What is the largest square you can make with 80 blocks?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8 × 8 = 64, 81 would be needed for 9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b)  What is the largest square you can make with 200 blocks?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14 × 14 = 196, 225 would be needed for 15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c)  What is the largest cube you can make with 200 blocks?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5 × 5 × 5 = 125, 216 would be needed for 6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d)  What is the largest cube you can make with 350 blocks?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7 × 7 × 7 = 343, 512 would be needed for 8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e)  Justify why 8 is not a square number.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There are not 2 repeated integers whose product is 8, 2 × 2 = 4 and 3 × 3 = 9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5" name="Google Shape;935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squares and cubes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7"/>
          <p:cNvSpPr txBox="1"/>
          <p:nvPr>
            <p:ph idx="1" type="body"/>
          </p:nvPr>
        </p:nvSpPr>
        <p:spPr>
          <a:xfrm>
            <a:off x="324000" y="759300"/>
            <a:ext cx="7738200" cy="8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</a:t>
            </a:r>
            <a:endParaRPr/>
          </a:p>
        </p:txBody>
      </p:sp>
      <p:sp>
        <p:nvSpPr>
          <p:cNvPr id="941" name="Google Shape;941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squares and cubes</a:t>
            </a:r>
            <a:endParaRPr/>
          </a:p>
        </p:txBody>
      </p:sp>
      <p:sp>
        <p:nvSpPr>
          <p:cNvPr id="942" name="Google Shape;942;p77"/>
          <p:cNvSpPr txBox="1"/>
          <p:nvPr>
            <p:ph idx="4294967295" type="body"/>
          </p:nvPr>
        </p:nvSpPr>
        <p:spPr>
          <a:xfrm>
            <a:off x="688075" y="759300"/>
            <a:ext cx="7374000" cy="91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volume of a cuboid is 90 cm</a:t>
            </a:r>
            <a:r>
              <a:rPr baseline="30000" lang="en-GB"/>
              <a:t>3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the dimensions are all integers, what could they be?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77"/>
          <p:cNvSpPr/>
          <p:nvPr/>
        </p:nvSpPr>
        <p:spPr>
          <a:xfrm>
            <a:off x="324000" y="2128932"/>
            <a:ext cx="1006200" cy="1899900"/>
          </a:xfrm>
          <a:prstGeom prst="cube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77"/>
          <p:cNvSpPr txBox="1"/>
          <p:nvPr/>
        </p:nvSpPr>
        <p:spPr>
          <a:xfrm>
            <a:off x="2658000" y="2061025"/>
            <a:ext cx="1423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 × 90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2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45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× 3 × 30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× 5 × 18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× 6 × 15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× 9 × 10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5" name="Google Shape;945;p77"/>
          <p:cNvSpPr txBox="1"/>
          <p:nvPr/>
        </p:nvSpPr>
        <p:spPr>
          <a:xfrm>
            <a:off x="5545200" y="2061025"/>
            <a:ext cx="1423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9 × 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6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3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× 3 × 15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 × 3 × 3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7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problems with squares and cubes</a:t>
            </a:r>
            <a:r>
              <a:rPr lang="en-GB" sz="1600"/>
              <a:t> </a:t>
            </a:r>
            <a:endParaRPr sz="1600"/>
          </a:p>
        </p:txBody>
      </p:sp>
      <p:sp>
        <p:nvSpPr>
          <p:cNvPr id="951" name="Google Shape;951;p7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problems</a:t>
            </a:r>
            <a:r>
              <a:rPr lang="en-GB"/>
              <a:t> with factors and multiples </a:t>
            </a:r>
            <a:endParaRPr/>
          </a:p>
        </p:txBody>
      </p:sp>
      <p:sp>
        <p:nvSpPr>
          <p:cNvPr id="952" name="Google Shape;952;p78"/>
          <p:cNvSpPr txBox="1"/>
          <p:nvPr>
            <p:ph idx="3" type="title"/>
          </p:nvPr>
        </p:nvSpPr>
        <p:spPr>
          <a:xfrm>
            <a:off x="324000" y="657600"/>
            <a:ext cx="6606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factors, multiples, squares and cubes</a:t>
            </a:r>
            <a:endParaRPr/>
          </a:p>
        </p:txBody>
      </p:sp>
      <p:pic>
        <p:nvPicPr>
          <p:cNvPr id="953" name="Google Shape;95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25" y="300207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9"/>
          <p:cNvSpPr txBox="1"/>
          <p:nvPr>
            <p:ph idx="1" type="body"/>
          </p:nvPr>
        </p:nvSpPr>
        <p:spPr>
          <a:xfrm>
            <a:off x="324000" y="759300"/>
            <a:ext cx="8237700" cy="64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following </a:t>
            </a:r>
            <a:r>
              <a:rPr lang="en-GB" sz="1800"/>
              <a:t>row contains consecutive numbers </a:t>
            </a:r>
            <a:r>
              <a:rPr lang="en-GB" sz="1800"/>
              <a:t>which</a:t>
            </a:r>
            <a:r>
              <a:rPr lang="en-GB" sz="1800"/>
              <a:t> satisfy the condition given.  No number is greater than 20.</a:t>
            </a:r>
            <a:endParaRPr sz="1800"/>
          </a:p>
        </p:txBody>
      </p:sp>
      <p:sp>
        <p:nvSpPr>
          <p:cNvPr id="959" name="Google Shape;95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problems</a:t>
            </a:r>
            <a:r>
              <a:rPr lang="en-GB"/>
              <a:t> with factors and multiples</a:t>
            </a:r>
            <a:endParaRPr/>
          </a:p>
        </p:txBody>
      </p:sp>
      <p:grpSp>
        <p:nvGrpSpPr>
          <p:cNvPr id="960" name="Google Shape;960;p79"/>
          <p:cNvGrpSpPr/>
          <p:nvPr/>
        </p:nvGrpSpPr>
        <p:grpSpPr>
          <a:xfrm>
            <a:off x="335825" y="1623375"/>
            <a:ext cx="8470876" cy="1065775"/>
            <a:chOff x="335825" y="1547175"/>
            <a:chExt cx="8470876" cy="1065775"/>
          </a:xfrm>
        </p:grpSpPr>
        <p:sp>
          <p:nvSpPr>
            <p:cNvPr id="961" name="Google Shape;961;p79"/>
            <p:cNvSpPr/>
            <p:nvPr/>
          </p:nvSpPr>
          <p:spPr>
            <a:xfrm>
              <a:off x="6784101" y="1574350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2" name="Google Shape;962;p79"/>
            <p:cNvSpPr/>
            <p:nvPr/>
          </p:nvSpPr>
          <p:spPr>
            <a:xfrm>
              <a:off x="4635434" y="1565292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3" name="Google Shape;963;p79"/>
            <p:cNvSpPr/>
            <p:nvPr/>
          </p:nvSpPr>
          <p:spPr>
            <a:xfrm>
              <a:off x="2486767" y="1556233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4" name="Google Shape;964;p79"/>
            <p:cNvSpPr/>
            <p:nvPr/>
          </p:nvSpPr>
          <p:spPr>
            <a:xfrm>
              <a:off x="338100" y="1547175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5" name="Google Shape;965;p79"/>
            <p:cNvSpPr txBox="1"/>
            <p:nvPr/>
          </p:nvSpPr>
          <p:spPr>
            <a:xfrm>
              <a:off x="335825" y="2254493"/>
              <a:ext cx="202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sum of digits is 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6" name="Google Shape;966;p79"/>
            <p:cNvSpPr txBox="1"/>
            <p:nvPr/>
          </p:nvSpPr>
          <p:spPr>
            <a:xfrm>
              <a:off x="2486775" y="2254500"/>
              <a:ext cx="202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odd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7" name="Google Shape;967;p79"/>
            <p:cNvSpPr txBox="1"/>
            <p:nvPr/>
          </p:nvSpPr>
          <p:spPr>
            <a:xfrm>
              <a:off x="4635425" y="2254500"/>
              <a:ext cx="202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even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8" name="Google Shape;968;p79"/>
            <p:cNvSpPr txBox="1"/>
            <p:nvPr/>
          </p:nvSpPr>
          <p:spPr>
            <a:xfrm>
              <a:off x="6784100" y="2254500"/>
              <a:ext cx="202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9" name="Google Shape;969;p79"/>
          <p:cNvSpPr txBox="1"/>
          <p:nvPr/>
        </p:nvSpPr>
        <p:spPr>
          <a:xfrm>
            <a:off x="324000" y="3396600"/>
            <a:ext cx="151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starting here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0" name="Google Shape;970;p79"/>
          <p:cNvCxnSpPr/>
          <p:nvPr/>
        </p:nvCxnSpPr>
        <p:spPr>
          <a:xfrm flipH="1" rot="10800000">
            <a:off x="919400" y="2810700"/>
            <a:ext cx="317700" cy="496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1" name="Google Shape;971;p79"/>
          <p:cNvSpPr txBox="1"/>
          <p:nvPr/>
        </p:nvSpPr>
        <p:spPr>
          <a:xfrm>
            <a:off x="319550" y="3873375"/>
            <a:ext cx="216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sum of digits is 7: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9"/>
          <p:cNvSpPr txBox="1"/>
          <p:nvPr/>
        </p:nvSpPr>
        <p:spPr>
          <a:xfrm>
            <a:off x="2586100" y="3873375"/>
            <a:ext cx="17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9"/>
          <p:cNvSpPr txBox="1"/>
          <p:nvPr/>
        </p:nvSpPr>
        <p:spPr>
          <a:xfrm>
            <a:off x="2548848" y="4188020"/>
            <a:ext cx="31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9"/>
          <p:cNvSpPr txBox="1"/>
          <p:nvPr/>
        </p:nvSpPr>
        <p:spPr>
          <a:xfrm>
            <a:off x="3052849" y="3899850"/>
            <a:ext cx="561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can’t be 7 as the next consecutive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number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not odd.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9"/>
          <p:cNvSpPr txBox="1"/>
          <p:nvPr/>
        </p:nvSpPr>
        <p:spPr>
          <a:xfrm>
            <a:off x="335825" y="188865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9"/>
          <p:cNvSpPr txBox="1"/>
          <p:nvPr/>
        </p:nvSpPr>
        <p:spPr>
          <a:xfrm>
            <a:off x="2488275" y="188865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9"/>
          <p:cNvSpPr txBox="1"/>
          <p:nvPr/>
        </p:nvSpPr>
        <p:spPr>
          <a:xfrm>
            <a:off x="4640725" y="188865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9"/>
          <p:cNvSpPr txBox="1"/>
          <p:nvPr/>
        </p:nvSpPr>
        <p:spPr>
          <a:xfrm>
            <a:off x="6793175" y="188865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80"/>
          <p:cNvSpPr txBox="1"/>
          <p:nvPr>
            <p:ph idx="1" type="body"/>
          </p:nvPr>
        </p:nvSpPr>
        <p:spPr>
          <a:xfrm>
            <a:off x="324000" y="759300"/>
            <a:ext cx="8237700" cy="6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/>
              <a:t>he following row contains consecutive numbers which satisfy the condition given.  No number is greater than 20.</a:t>
            </a:r>
            <a:endParaRPr sz="1800"/>
          </a:p>
        </p:txBody>
      </p:sp>
      <p:sp>
        <p:nvSpPr>
          <p:cNvPr id="984" name="Google Shape;98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factors and multiples</a:t>
            </a:r>
            <a:endParaRPr/>
          </a:p>
        </p:txBody>
      </p:sp>
      <p:grpSp>
        <p:nvGrpSpPr>
          <p:cNvPr id="985" name="Google Shape;985;p80"/>
          <p:cNvGrpSpPr/>
          <p:nvPr/>
        </p:nvGrpSpPr>
        <p:grpSpPr>
          <a:xfrm>
            <a:off x="335825" y="1470975"/>
            <a:ext cx="8470876" cy="1095933"/>
            <a:chOff x="335825" y="1547175"/>
            <a:chExt cx="8470876" cy="1095933"/>
          </a:xfrm>
        </p:grpSpPr>
        <p:sp>
          <p:nvSpPr>
            <p:cNvPr id="986" name="Google Shape;986;p80"/>
            <p:cNvSpPr/>
            <p:nvPr/>
          </p:nvSpPr>
          <p:spPr>
            <a:xfrm>
              <a:off x="6784101" y="1574350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7" name="Google Shape;987;p80"/>
            <p:cNvSpPr/>
            <p:nvPr/>
          </p:nvSpPr>
          <p:spPr>
            <a:xfrm>
              <a:off x="4635434" y="1565292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8" name="Google Shape;988;p80"/>
            <p:cNvSpPr/>
            <p:nvPr/>
          </p:nvSpPr>
          <p:spPr>
            <a:xfrm>
              <a:off x="2486767" y="1556233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80"/>
            <p:cNvSpPr/>
            <p:nvPr/>
          </p:nvSpPr>
          <p:spPr>
            <a:xfrm>
              <a:off x="338100" y="1547175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80"/>
            <p:cNvSpPr txBox="1"/>
            <p:nvPr/>
          </p:nvSpPr>
          <p:spPr>
            <a:xfrm>
              <a:off x="335825" y="2254493"/>
              <a:ext cx="202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odd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1" name="Google Shape;991;p80"/>
            <p:cNvSpPr txBox="1"/>
            <p:nvPr/>
          </p:nvSpPr>
          <p:spPr>
            <a:xfrm>
              <a:off x="2486775" y="2254500"/>
              <a:ext cx="202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cube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2" name="Google Shape;992;p80"/>
            <p:cNvSpPr txBox="1"/>
            <p:nvPr/>
          </p:nvSpPr>
          <p:spPr>
            <a:xfrm>
              <a:off x="4635425" y="2254500"/>
              <a:ext cx="202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square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3" name="Google Shape;993;p80"/>
            <p:cNvSpPr txBox="1"/>
            <p:nvPr/>
          </p:nvSpPr>
          <p:spPr>
            <a:xfrm>
              <a:off x="6784100" y="2089008"/>
              <a:ext cx="2022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product of digits is 0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4" name="Google Shape;994;p80"/>
          <p:cNvSpPr txBox="1"/>
          <p:nvPr/>
        </p:nvSpPr>
        <p:spPr>
          <a:xfrm>
            <a:off x="335825" y="2630400"/>
            <a:ext cx="718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time it would not be sensible to start with the first one.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0"/>
          <p:cNvSpPr txBox="1"/>
          <p:nvPr/>
        </p:nvSpPr>
        <p:spPr>
          <a:xfrm>
            <a:off x="335825" y="3050300"/>
            <a:ext cx="366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Start with the last one.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0"/>
          <p:cNvSpPr txBox="1"/>
          <p:nvPr/>
        </p:nvSpPr>
        <p:spPr>
          <a:xfrm>
            <a:off x="324000" y="3470175"/>
            <a:ext cx="834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a number to have a digit product of 0, one of the digits must be 0.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0"/>
          <p:cNvSpPr txBox="1"/>
          <p:nvPr/>
        </p:nvSpPr>
        <p:spPr>
          <a:xfrm>
            <a:off x="324000" y="3890075"/>
            <a:ext cx="374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can only be 10 or 20.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0"/>
          <p:cNvSpPr txBox="1"/>
          <p:nvPr/>
        </p:nvSpPr>
        <p:spPr>
          <a:xfrm>
            <a:off x="331200" y="4309958"/>
            <a:ext cx="847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number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before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has to be a square number.  19 is not a square number but 9 is so it’s 10.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0"/>
          <p:cNvSpPr txBox="1"/>
          <p:nvPr/>
        </p:nvSpPr>
        <p:spPr>
          <a:xfrm>
            <a:off x="6797675" y="1620000"/>
            <a:ext cx="20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0"/>
          <p:cNvSpPr txBox="1"/>
          <p:nvPr/>
        </p:nvSpPr>
        <p:spPr>
          <a:xfrm>
            <a:off x="4659525" y="1706204"/>
            <a:ext cx="202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0"/>
          <p:cNvSpPr txBox="1"/>
          <p:nvPr/>
        </p:nvSpPr>
        <p:spPr>
          <a:xfrm>
            <a:off x="2475025" y="1706204"/>
            <a:ext cx="202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0"/>
          <p:cNvSpPr txBox="1"/>
          <p:nvPr/>
        </p:nvSpPr>
        <p:spPr>
          <a:xfrm>
            <a:off x="335825" y="1706204"/>
            <a:ext cx="202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factors and multiples</a:t>
            </a:r>
            <a:endParaRPr/>
          </a:p>
        </p:txBody>
      </p:sp>
      <p:grpSp>
        <p:nvGrpSpPr>
          <p:cNvPr id="1008" name="Google Shape;1008;p81"/>
          <p:cNvGrpSpPr/>
          <p:nvPr/>
        </p:nvGrpSpPr>
        <p:grpSpPr>
          <a:xfrm>
            <a:off x="335825" y="1470975"/>
            <a:ext cx="8470876" cy="1065775"/>
            <a:chOff x="335825" y="1547175"/>
            <a:chExt cx="8470876" cy="1065775"/>
          </a:xfrm>
        </p:grpSpPr>
        <p:sp>
          <p:nvSpPr>
            <p:cNvPr id="1009" name="Google Shape;1009;p81"/>
            <p:cNvSpPr/>
            <p:nvPr/>
          </p:nvSpPr>
          <p:spPr>
            <a:xfrm>
              <a:off x="6784101" y="1574350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0" name="Google Shape;1010;p81"/>
            <p:cNvSpPr/>
            <p:nvPr/>
          </p:nvSpPr>
          <p:spPr>
            <a:xfrm>
              <a:off x="4635434" y="1565292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1" name="Google Shape;1011;p81"/>
            <p:cNvSpPr/>
            <p:nvPr/>
          </p:nvSpPr>
          <p:spPr>
            <a:xfrm>
              <a:off x="2486767" y="1556233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2" name="Google Shape;1012;p81"/>
            <p:cNvSpPr/>
            <p:nvPr/>
          </p:nvSpPr>
          <p:spPr>
            <a:xfrm>
              <a:off x="338100" y="1547175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3" name="Google Shape;1013;p81"/>
            <p:cNvSpPr txBox="1"/>
            <p:nvPr/>
          </p:nvSpPr>
          <p:spPr>
            <a:xfrm>
              <a:off x="335825" y="2254493"/>
              <a:ext cx="202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cube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4" name="Google Shape;1014;p81"/>
            <p:cNvSpPr txBox="1"/>
            <p:nvPr/>
          </p:nvSpPr>
          <p:spPr>
            <a:xfrm>
              <a:off x="2486775" y="2254500"/>
              <a:ext cx="202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square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5" name="Google Shape;1015;p81"/>
            <p:cNvSpPr txBox="1"/>
            <p:nvPr/>
          </p:nvSpPr>
          <p:spPr>
            <a:xfrm>
              <a:off x="4635425" y="2254500"/>
              <a:ext cx="202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four factors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6" name="Google Shape;1016;p81"/>
            <p:cNvSpPr txBox="1"/>
            <p:nvPr/>
          </p:nvSpPr>
          <p:spPr>
            <a:xfrm>
              <a:off x="6784100" y="2254500"/>
              <a:ext cx="202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odd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7" name="Google Shape;1017;p81"/>
          <p:cNvSpPr txBox="1"/>
          <p:nvPr/>
        </p:nvSpPr>
        <p:spPr>
          <a:xfrm>
            <a:off x="6792725" y="1739302"/>
            <a:ext cx="204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81"/>
          <p:cNvSpPr txBox="1"/>
          <p:nvPr/>
        </p:nvSpPr>
        <p:spPr>
          <a:xfrm>
            <a:off x="4623325" y="1739302"/>
            <a:ext cx="204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1"/>
          <p:cNvSpPr txBox="1"/>
          <p:nvPr/>
        </p:nvSpPr>
        <p:spPr>
          <a:xfrm>
            <a:off x="2505225" y="1739302"/>
            <a:ext cx="198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1"/>
          <p:cNvSpPr txBox="1"/>
          <p:nvPr/>
        </p:nvSpPr>
        <p:spPr>
          <a:xfrm>
            <a:off x="335825" y="1739302"/>
            <a:ext cx="204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1"/>
          <p:cNvSpPr txBox="1"/>
          <p:nvPr>
            <p:ph idx="1" type="body"/>
          </p:nvPr>
        </p:nvSpPr>
        <p:spPr>
          <a:xfrm>
            <a:off x="324000" y="759300"/>
            <a:ext cx="8237700" cy="64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following row contains consecutive numbers which satisfy the condition given.  No number is greater than 20.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2" name="Google Shape;1022;p81"/>
          <p:cNvSpPr txBox="1"/>
          <p:nvPr/>
        </p:nvSpPr>
        <p:spPr>
          <a:xfrm>
            <a:off x="335825" y="2782800"/>
            <a:ext cx="375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numbers:  1, 4, 9, 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 numbers:  1, 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1"/>
          <p:cNvSpPr txBox="1"/>
          <p:nvPr/>
        </p:nvSpPr>
        <p:spPr>
          <a:xfrm>
            <a:off x="335825" y="3537600"/>
            <a:ext cx="628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need to find a consecutive cube and square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1"/>
          <p:cNvSpPr/>
          <p:nvPr/>
        </p:nvSpPr>
        <p:spPr>
          <a:xfrm>
            <a:off x="2336020" y="3068900"/>
            <a:ext cx="169200" cy="27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1"/>
          <p:cNvSpPr/>
          <p:nvPr/>
        </p:nvSpPr>
        <p:spPr>
          <a:xfrm>
            <a:off x="2822454" y="2782800"/>
            <a:ext cx="169200" cy="27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2"/>
          <p:cNvSpPr txBox="1"/>
          <p:nvPr>
            <p:ph idx="1" type="body"/>
          </p:nvPr>
        </p:nvSpPr>
        <p:spPr>
          <a:xfrm>
            <a:off x="324000" y="7593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the product of prime factors to complete this grid.</a:t>
            </a:r>
            <a:endParaRPr/>
          </a:p>
        </p:txBody>
      </p:sp>
      <p:sp>
        <p:nvSpPr>
          <p:cNvPr id="1031" name="Google Shape;103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factors and multiples</a:t>
            </a:r>
            <a:endParaRPr/>
          </a:p>
        </p:txBody>
      </p:sp>
      <p:sp>
        <p:nvSpPr>
          <p:cNvPr id="1032" name="Google Shape;1032;p82"/>
          <p:cNvSpPr/>
          <p:nvPr/>
        </p:nvSpPr>
        <p:spPr>
          <a:xfrm>
            <a:off x="400200" y="1526650"/>
            <a:ext cx="747900" cy="72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2"/>
          <p:cNvSpPr/>
          <p:nvPr/>
        </p:nvSpPr>
        <p:spPr>
          <a:xfrm>
            <a:off x="1148100" y="1526650"/>
            <a:ext cx="747900" cy="72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82"/>
          <p:cNvSpPr/>
          <p:nvPr/>
        </p:nvSpPr>
        <p:spPr>
          <a:xfrm>
            <a:off x="1896000" y="1526650"/>
            <a:ext cx="747900" cy="72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2"/>
          <p:cNvSpPr/>
          <p:nvPr/>
        </p:nvSpPr>
        <p:spPr>
          <a:xfrm>
            <a:off x="2643900" y="1526650"/>
            <a:ext cx="747900" cy="721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2"/>
          <p:cNvSpPr/>
          <p:nvPr/>
        </p:nvSpPr>
        <p:spPr>
          <a:xfrm>
            <a:off x="400200" y="2240100"/>
            <a:ext cx="747900" cy="72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2"/>
          <p:cNvSpPr/>
          <p:nvPr/>
        </p:nvSpPr>
        <p:spPr>
          <a:xfrm>
            <a:off x="1148100" y="2240100"/>
            <a:ext cx="747900" cy="72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2"/>
          <p:cNvSpPr/>
          <p:nvPr/>
        </p:nvSpPr>
        <p:spPr>
          <a:xfrm>
            <a:off x="1896000" y="2240100"/>
            <a:ext cx="747900" cy="72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2"/>
          <p:cNvSpPr/>
          <p:nvPr/>
        </p:nvSpPr>
        <p:spPr>
          <a:xfrm>
            <a:off x="2643900" y="2240100"/>
            <a:ext cx="747900" cy="721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2"/>
          <p:cNvSpPr/>
          <p:nvPr/>
        </p:nvSpPr>
        <p:spPr>
          <a:xfrm>
            <a:off x="400200" y="2961600"/>
            <a:ext cx="747900" cy="72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2"/>
          <p:cNvSpPr/>
          <p:nvPr/>
        </p:nvSpPr>
        <p:spPr>
          <a:xfrm>
            <a:off x="1148100" y="2961600"/>
            <a:ext cx="747900" cy="72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2"/>
          <p:cNvSpPr/>
          <p:nvPr/>
        </p:nvSpPr>
        <p:spPr>
          <a:xfrm>
            <a:off x="1896000" y="2961600"/>
            <a:ext cx="747900" cy="72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2"/>
          <p:cNvSpPr/>
          <p:nvPr/>
        </p:nvSpPr>
        <p:spPr>
          <a:xfrm>
            <a:off x="2643900" y="2961600"/>
            <a:ext cx="747900" cy="721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110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2"/>
          <p:cNvSpPr/>
          <p:nvPr/>
        </p:nvSpPr>
        <p:spPr>
          <a:xfrm>
            <a:off x="400200" y="3680850"/>
            <a:ext cx="747900" cy="721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231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2"/>
          <p:cNvSpPr/>
          <p:nvPr/>
        </p:nvSpPr>
        <p:spPr>
          <a:xfrm>
            <a:off x="1148100" y="3680850"/>
            <a:ext cx="747900" cy="721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2"/>
          <p:cNvSpPr/>
          <p:nvPr/>
        </p:nvSpPr>
        <p:spPr>
          <a:xfrm>
            <a:off x="1896000" y="3680850"/>
            <a:ext cx="747900" cy="721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2"/>
          <p:cNvSpPr/>
          <p:nvPr/>
        </p:nvSpPr>
        <p:spPr>
          <a:xfrm>
            <a:off x="2643900" y="3680850"/>
            <a:ext cx="747900" cy="72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2"/>
          <p:cNvSpPr txBox="1"/>
          <p:nvPr/>
        </p:nvSpPr>
        <p:spPr>
          <a:xfrm>
            <a:off x="4015950" y="1588850"/>
            <a:ext cx="1954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42 = 2 × 21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 = 2 × 3 × 7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2"/>
          <p:cNvSpPr txBox="1"/>
          <p:nvPr/>
        </p:nvSpPr>
        <p:spPr>
          <a:xfrm>
            <a:off x="6730275" y="1588850"/>
            <a:ext cx="1954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18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= 2 × 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 × 3 × 3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2"/>
          <p:cNvSpPr txBox="1"/>
          <p:nvPr/>
        </p:nvSpPr>
        <p:spPr>
          <a:xfrm>
            <a:off x="4015950" y="2664425"/>
            <a:ext cx="2346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= 2 × 55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 × 5 × 11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2"/>
          <p:cNvSpPr txBox="1"/>
          <p:nvPr/>
        </p:nvSpPr>
        <p:spPr>
          <a:xfrm>
            <a:off x="6730275" y="3651775"/>
            <a:ext cx="207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 = 2 × 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= 2 × 2 × 3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2"/>
          <p:cNvSpPr txBox="1"/>
          <p:nvPr/>
        </p:nvSpPr>
        <p:spPr>
          <a:xfrm>
            <a:off x="6730275" y="2664425"/>
            <a:ext cx="2259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231 = 3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77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231 = 3 × 7 × 11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2"/>
          <p:cNvSpPr txBox="1"/>
          <p:nvPr/>
        </p:nvSpPr>
        <p:spPr>
          <a:xfrm>
            <a:off x="4015950" y="3651775"/>
            <a:ext cx="2073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= 5 × 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5 × 2 × 3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2"/>
          <p:cNvSpPr txBox="1"/>
          <p:nvPr/>
        </p:nvSpPr>
        <p:spPr>
          <a:xfrm>
            <a:off x="400200" y="3151875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2"/>
          <p:cNvSpPr txBox="1"/>
          <p:nvPr/>
        </p:nvSpPr>
        <p:spPr>
          <a:xfrm>
            <a:off x="400200" y="1694400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2"/>
          <p:cNvSpPr txBox="1"/>
          <p:nvPr/>
        </p:nvSpPr>
        <p:spPr>
          <a:xfrm>
            <a:off x="400200" y="2435525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2"/>
          <p:cNvSpPr txBox="1"/>
          <p:nvPr/>
        </p:nvSpPr>
        <p:spPr>
          <a:xfrm>
            <a:off x="1148100" y="3151875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2"/>
          <p:cNvSpPr txBox="1"/>
          <p:nvPr/>
        </p:nvSpPr>
        <p:spPr>
          <a:xfrm>
            <a:off x="1148100" y="1694400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2"/>
          <p:cNvSpPr txBox="1"/>
          <p:nvPr/>
        </p:nvSpPr>
        <p:spPr>
          <a:xfrm>
            <a:off x="1896000" y="1694400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2"/>
          <p:cNvSpPr txBox="1"/>
          <p:nvPr/>
        </p:nvSpPr>
        <p:spPr>
          <a:xfrm>
            <a:off x="1896000" y="2435525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2"/>
          <p:cNvSpPr txBox="1"/>
          <p:nvPr/>
        </p:nvSpPr>
        <p:spPr>
          <a:xfrm>
            <a:off x="1896000" y="3151875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2"/>
          <p:cNvSpPr txBox="1"/>
          <p:nvPr/>
        </p:nvSpPr>
        <p:spPr>
          <a:xfrm>
            <a:off x="1148100" y="2435525"/>
            <a:ext cx="7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2"/>
          <p:cNvSpPr/>
          <p:nvPr/>
        </p:nvSpPr>
        <p:spPr>
          <a:xfrm>
            <a:off x="5506850" y="1943550"/>
            <a:ext cx="2022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2"/>
          <p:cNvSpPr/>
          <p:nvPr/>
        </p:nvSpPr>
        <p:spPr>
          <a:xfrm>
            <a:off x="7909925" y="3009450"/>
            <a:ext cx="2022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82"/>
          <p:cNvSpPr/>
          <p:nvPr/>
        </p:nvSpPr>
        <p:spPr>
          <a:xfrm>
            <a:off x="5209100" y="3009450"/>
            <a:ext cx="2022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2"/>
          <p:cNvSpPr/>
          <p:nvPr/>
        </p:nvSpPr>
        <p:spPr>
          <a:xfrm>
            <a:off x="4621800" y="3995950"/>
            <a:ext cx="2022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2"/>
          <p:cNvSpPr/>
          <p:nvPr/>
        </p:nvSpPr>
        <p:spPr>
          <a:xfrm>
            <a:off x="5653441" y="3009450"/>
            <a:ext cx="3456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2"/>
          <p:cNvSpPr/>
          <p:nvPr/>
        </p:nvSpPr>
        <p:spPr>
          <a:xfrm>
            <a:off x="8338866" y="3009450"/>
            <a:ext cx="3456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2"/>
          <p:cNvSpPr/>
          <p:nvPr/>
        </p:nvSpPr>
        <p:spPr>
          <a:xfrm>
            <a:off x="7469925" y="3009450"/>
            <a:ext cx="2022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2"/>
          <p:cNvSpPr/>
          <p:nvPr/>
        </p:nvSpPr>
        <p:spPr>
          <a:xfrm>
            <a:off x="4764750" y="3009450"/>
            <a:ext cx="2022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83"/>
          <p:cNvSpPr txBox="1"/>
          <p:nvPr/>
        </p:nvSpPr>
        <p:spPr>
          <a:xfrm>
            <a:off x="2720475" y="4225475"/>
            <a:ext cx="174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 × 2 × 7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3"/>
          <p:cNvSpPr txBox="1"/>
          <p:nvPr/>
        </p:nvSpPr>
        <p:spPr>
          <a:xfrm>
            <a:off x="2720475" y="1829225"/>
            <a:ext cx="185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 × 5 × 11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83"/>
          <p:cNvSpPr txBox="1"/>
          <p:nvPr/>
        </p:nvSpPr>
        <p:spPr>
          <a:xfrm>
            <a:off x="2720475" y="3029975"/>
            <a:ext cx="185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 × 11 × 11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83"/>
          <p:cNvSpPr txBox="1"/>
          <p:nvPr/>
        </p:nvSpPr>
        <p:spPr>
          <a:xfrm>
            <a:off x="2720475" y="2432250"/>
            <a:ext cx="174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 × 3 × 7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3"/>
          <p:cNvSpPr txBox="1"/>
          <p:nvPr/>
        </p:nvSpPr>
        <p:spPr>
          <a:xfrm>
            <a:off x="2720475" y="1236750"/>
            <a:ext cx="185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3 × 11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3"/>
          <p:cNvSpPr txBox="1"/>
          <p:nvPr>
            <p:ph type="title"/>
          </p:nvPr>
        </p:nvSpPr>
        <p:spPr>
          <a:xfrm>
            <a:off x="324000" y="5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factors and multiples</a:t>
            </a:r>
            <a:endParaRPr/>
          </a:p>
        </p:txBody>
      </p:sp>
      <p:sp>
        <p:nvSpPr>
          <p:cNvPr id="1081" name="Google Shape;1081;p83"/>
          <p:cNvSpPr/>
          <p:nvPr/>
        </p:nvSpPr>
        <p:spPr>
          <a:xfrm>
            <a:off x="3721034" y="3024845"/>
            <a:ext cx="2430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3"/>
          <p:cNvSpPr/>
          <p:nvPr/>
        </p:nvSpPr>
        <p:spPr>
          <a:xfrm>
            <a:off x="3935990" y="1221200"/>
            <a:ext cx="293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3"/>
          <p:cNvSpPr/>
          <p:nvPr/>
        </p:nvSpPr>
        <p:spPr>
          <a:xfrm>
            <a:off x="3207095" y="4217827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3"/>
          <p:cNvSpPr/>
          <p:nvPr/>
        </p:nvSpPr>
        <p:spPr>
          <a:xfrm>
            <a:off x="3568657" y="4225489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3"/>
          <p:cNvSpPr/>
          <p:nvPr/>
        </p:nvSpPr>
        <p:spPr>
          <a:xfrm>
            <a:off x="3679129" y="1826840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3"/>
          <p:cNvSpPr/>
          <p:nvPr/>
        </p:nvSpPr>
        <p:spPr>
          <a:xfrm>
            <a:off x="3930233" y="2421938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3"/>
          <p:cNvSpPr/>
          <p:nvPr/>
        </p:nvSpPr>
        <p:spPr>
          <a:xfrm>
            <a:off x="3341245" y="3022327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3"/>
          <p:cNvSpPr txBox="1"/>
          <p:nvPr>
            <p:ph idx="1" type="subTitle"/>
          </p:nvPr>
        </p:nvSpPr>
        <p:spPr>
          <a:xfrm>
            <a:off x="4824000" y="657600"/>
            <a:ext cx="3982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the product of prime factors to complete this grid.</a:t>
            </a:r>
            <a:endParaRPr/>
          </a:p>
        </p:txBody>
      </p:sp>
      <p:grpSp>
        <p:nvGrpSpPr>
          <p:cNvPr id="1089" name="Google Shape;1089;p83"/>
          <p:cNvGrpSpPr/>
          <p:nvPr/>
        </p:nvGrpSpPr>
        <p:grpSpPr>
          <a:xfrm>
            <a:off x="4824000" y="1315162"/>
            <a:ext cx="2351098" cy="2231543"/>
            <a:chOff x="324000" y="1374250"/>
            <a:chExt cx="2991600" cy="2875700"/>
          </a:xfrm>
        </p:grpSpPr>
        <p:sp>
          <p:nvSpPr>
            <p:cNvPr id="1090" name="Google Shape;1090;p83"/>
            <p:cNvSpPr/>
            <p:nvPr/>
          </p:nvSpPr>
          <p:spPr>
            <a:xfrm>
              <a:off x="3240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1" name="Google Shape;1091;p83"/>
            <p:cNvSpPr/>
            <p:nvPr/>
          </p:nvSpPr>
          <p:spPr>
            <a:xfrm>
              <a:off x="10719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2" name="Google Shape;1092;p83"/>
            <p:cNvSpPr/>
            <p:nvPr/>
          </p:nvSpPr>
          <p:spPr>
            <a:xfrm>
              <a:off x="18198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3" name="Google Shape;1093;p83"/>
            <p:cNvSpPr/>
            <p:nvPr/>
          </p:nvSpPr>
          <p:spPr>
            <a:xfrm>
              <a:off x="2567700" y="13742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245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4" name="Google Shape;1094;p83"/>
            <p:cNvSpPr/>
            <p:nvPr/>
          </p:nvSpPr>
          <p:spPr>
            <a:xfrm>
              <a:off x="3240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83"/>
            <p:cNvSpPr/>
            <p:nvPr/>
          </p:nvSpPr>
          <p:spPr>
            <a:xfrm>
              <a:off x="10719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6" name="Google Shape;1096;p83"/>
            <p:cNvSpPr/>
            <p:nvPr/>
          </p:nvSpPr>
          <p:spPr>
            <a:xfrm>
              <a:off x="18198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7" name="Google Shape;1097;p83"/>
            <p:cNvSpPr/>
            <p:nvPr/>
          </p:nvSpPr>
          <p:spPr>
            <a:xfrm>
              <a:off x="2567700" y="208770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110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8" name="Google Shape;1098;p83"/>
            <p:cNvSpPr/>
            <p:nvPr/>
          </p:nvSpPr>
          <p:spPr>
            <a:xfrm>
              <a:off x="3240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9" name="Google Shape;1099;p83"/>
            <p:cNvSpPr/>
            <p:nvPr/>
          </p:nvSpPr>
          <p:spPr>
            <a:xfrm>
              <a:off x="10719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0" name="Google Shape;1100;p83"/>
            <p:cNvSpPr/>
            <p:nvPr/>
          </p:nvSpPr>
          <p:spPr>
            <a:xfrm>
              <a:off x="18198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1" name="Google Shape;1101;p83"/>
            <p:cNvSpPr/>
            <p:nvPr/>
          </p:nvSpPr>
          <p:spPr>
            <a:xfrm>
              <a:off x="2567700" y="280920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66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2" name="Google Shape;1102;p83"/>
            <p:cNvSpPr/>
            <p:nvPr/>
          </p:nvSpPr>
          <p:spPr>
            <a:xfrm>
              <a:off x="3240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165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83"/>
            <p:cNvSpPr/>
            <p:nvPr/>
          </p:nvSpPr>
          <p:spPr>
            <a:xfrm>
              <a:off x="10719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70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4" name="Google Shape;1104;p83"/>
            <p:cNvSpPr/>
            <p:nvPr/>
          </p:nvSpPr>
          <p:spPr>
            <a:xfrm>
              <a:off x="18198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154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5" name="Google Shape;1105;p83"/>
            <p:cNvSpPr/>
            <p:nvPr/>
          </p:nvSpPr>
          <p:spPr>
            <a:xfrm>
              <a:off x="25677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6" name="Google Shape;1106;p83"/>
          <p:cNvSpPr txBox="1"/>
          <p:nvPr/>
        </p:nvSpPr>
        <p:spPr>
          <a:xfrm>
            <a:off x="4824025" y="2540233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7" name="Google Shape;1107;p83"/>
          <p:cNvSpPr txBox="1"/>
          <p:nvPr/>
        </p:nvSpPr>
        <p:spPr>
          <a:xfrm>
            <a:off x="6004825" y="1990430"/>
            <a:ext cx="5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8" name="Google Shape;1108;p83"/>
          <p:cNvSpPr txBox="1"/>
          <p:nvPr/>
        </p:nvSpPr>
        <p:spPr>
          <a:xfrm>
            <a:off x="6004825" y="2540233"/>
            <a:ext cx="5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11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9" name="Google Shape;1109;p83"/>
          <p:cNvSpPr txBox="1"/>
          <p:nvPr/>
        </p:nvSpPr>
        <p:spPr>
          <a:xfrm>
            <a:off x="5414431" y="2540233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0" name="Google Shape;1110;p83"/>
          <p:cNvSpPr txBox="1"/>
          <p:nvPr/>
        </p:nvSpPr>
        <p:spPr>
          <a:xfrm>
            <a:off x="6004825" y="1440627"/>
            <a:ext cx="5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1" name="Google Shape;1111;p83"/>
          <p:cNvSpPr txBox="1"/>
          <p:nvPr/>
        </p:nvSpPr>
        <p:spPr>
          <a:xfrm>
            <a:off x="4824000" y="1440627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2" name="Google Shape;1112;p83"/>
          <p:cNvSpPr txBox="1"/>
          <p:nvPr/>
        </p:nvSpPr>
        <p:spPr>
          <a:xfrm>
            <a:off x="5414425" y="1440627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3" name="Google Shape;1113;p83"/>
          <p:cNvSpPr txBox="1"/>
          <p:nvPr/>
        </p:nvSpPr>
        <p:spPr>
          <a:xfrm>
            <a:off x="4824030" y="1990430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11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4" name="Google Shape;1114;p83"/>
          <p:cNvSpPr txBox="1"/>
          <p:nvPr/>
        </p:nvSpPr>
        <p:spPr>
          <a:xfrm>
            <a:off x="5414419" y="1990430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5" name="Google Shape;1115;p83"/>
          <p:cNvSpPr txBox="1"/>
          <p:nvPr/>
        </p:nvSpPr>
        <p:spPr>
          <a:xfrm>
            <a:off x="7220475" y="1196875"/>
            <a:ext cx="185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 = 5 × 7 × 7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3"/>
          <p:cNvSpPr txBox="1"/>
          <p:nvPr/>
        </p:nvSpPr>
        <p:spPr>
          <a:xfrm>
            <a:off x="7220475" y="2392375"/>
            <a:ext cx="185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 × 3 × 11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3"/>
          <p:cNvSpPr txBox="1"/>
          <p:nvPr/>
        </p:nvSpPr>
        <p:spPr>
          <a:xfrm>
            <a:off x="7220475" y="3587850"/>
            <a:ext cx="174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 × 5 × 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3"/>
          <p:cNvSpPr txBox="1"/>
          <p:nvPr/>
        </p:nvSpPr>
        <p:spPr>
          <a:xfrm>
            <a:off x="7220475" y="1789350"/>
            <a:ext cx="185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110 = 2 × 5 × 11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3"/>
          <p:cNvSpPr txBox="1"/>
          <p:nvPr/>
        </p:nvSpPr>
        <p:spPr>
          <a:xfrm>
            <a:off x="7220475" y="2990100"/>
            <a:ext cx="185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3 × 5 × 11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83"/>
          <p:cNvSpPr txBox="1"/>
          <p:nvPr/>
        </p:nvSpPr>
        <p:spPr>
          <a:xfrm>
            <a:off x="7220475" y="4185600"/>
            <a:ext cx="185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154 = 2 × 7 × 11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3"/>
          <p:cNvSpPr txBox="1"/>
          <p:nvPr>
            <p:ph idx="1" type="subTitle"/>
          </p:nvPr>
        </p:nvSpPr>
        <p:spPr>
          <a:xfrm>
            <a:off x="324000" y="697475"/>
            <a:ext cx="3982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the product of prime factors to complete this grid.</a:t>
            </a:r>
            <a:endParaRPr/>
          </a:p>
        </p:txBody>
      </p:sp>
      <p:grpSp>
        <p:nvGrpSpPr>
          <p:cNvPr id="1122" name="Google Shape;1122;p83"/>
          <p:cNvGrpSpPr/>
          <p:nvPr/>
        </p:nvGrpSpPr>
        <p:grpSpPr>
          <a:xfrm>
            <a:off x="324000" y="1355037"/>
            <a:ext cx="2351098" cy="2231543"/>
            <a:chOff x="324000" y="1374250"/>
            <a:chExt cx="2991600" cy="2875700"/>
          </a:xfrm>
        </p:grpSpPr>
        <p:sp>
          <p:nvSpPr>
            <p:cNvPr id="1123" name="Google Shape;1123;p83"/>
            <p:cNvSpPr/>
            <p:nvPr/>
          </p:nvSpPr>
          <p:spPr>
            <a:xfrm>
              <a:off x="3240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4" name="Google Shape;1124;p83"/>
            <p:cNvSpPr/>
            <p:nvPr/>
          </p:nvSpPr>
          <p:spPr>
            <a:xfrm>
              <a:off x="10719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5" name="Google Shape;1125;p83"/>
            <p:cNvSpPr/>
            <p:nvPr/>
          </p:nvSpPr>
          <p:spPr>
            <a:xfrm>
              <a:off x="18198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6" name="Google Shape;1126;p83"/>
            <p:cNvSpPr/>
            <p:nvPr/>
          </p:nvSpPr>
          <p:spPr>
            <a:xfrm>
              <a:off x="2567700" y="13742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66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7" name="Google Shape;1127;p83"/>
            <p:cNvSpPr/>
            <p:nvPr/>
          </p:nvSpPr>
          <p:spPr>
            <a:xfrm>
              <a:off x="3240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8" name="Google Shape;1128;p83"/>
            <p:cNvSpPr/>
            <p:nvPr/>
          </p:nvSpPr>
          <p:spPr>
            <a:xfrm>
              <a:off x="10719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83"/>
            <p:cNvSpPr/>
            <p:nvPr/>
          </p:nvSpPr>
          <p:spPr>
            <a:xfrm>
              <a:off x="18198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0" name="Google Shape;1130;p83"/>
            <p:cNvSpPr/>
            <p:nvPr/>
          </p:nvSpPr>
          <p:spPr>
            <a:xfrm>
              <a:off x="2567700" y="208770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110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1" name="Google Shape;1131;p83"/>
            <p:cNvSpPr/>
            <p:nvPr/>
          </p:nvSpPr>
          <p:spPr>
            <a:xfrm>
              <a:off x="3240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83"/>
            <p:cNvSpPr/>
            <p:nvPr/>
          </p:nvSpPr>
          <p:spPr>
            <a:xfrm>
              <a:off x="10719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3" name="Google Shape;1133;p83"/>
            <p:cNvSpPr/>
            <p:nvPr/>
          </p:nvSpPr>
          <p:spPr>
            <a:xfrm>
              <a:off x="18198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83"/>
            <p:cNvSpPr/>
            <p:nvPr/>
          </p:nvSpPr>
          <p:spPr>
            <a:xfrm>
              <a:off x="2567700" y="280920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42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83"/>
            <p:cNvSpPr/>
            <p:nvPr/>
          </p:nvSpPr>
          <p:spPr>
            <a:xfrm>
              <a:off x="3240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242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6" name="Google Shape;1136;p83"/>
            <p:cNvSpPr/>
            <p:nvPr/>
          </p:nvSpPr>
          <p:spPr>
            <a:xfrm>
              <a:off x="10719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45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7" name="Google Shape;1137;p83"/>
            <p:cNvSpPr/>
            <p:nvPr/>
          </p:nvSpPr>
          <p:spPr>
            <a:xfrm>
              <a:off x="18198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28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8" name="Google Shape;1138;p83"/>
            <p:cNvSpPr/>
            <p:nvPr/>
          </p:nvSpPr>
          <p:spPr>
            <a:xfrm>
              <a:off x="25677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9" name="Google Shape;1139;p83"/>
          <p:cNvSpPr txBox="1"/>
          <p:nvPr/>
        </p:nvSpPr>
        <p:spPr>
          <a:xfrm>
            <a:off x="324025" y="2580108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3"/>
          <p:cNvSpPr txBox="1"/>
          <p:nvPr/>
        </p:nvSpPr>
        <p:spPr>
          <a:xfrm>
            <a:off x="1504825" y="2030305"/>
            <a:ext cx="5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83"/>
          <p:cNvSpPr txBox="1"/>
          <p:nvPr/>
        </p:nvSpPr>
        <p:spPr>
          <a:xfrm>
            <a:off x="1504825" y="2580108"/>
            <a:ext cx="5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83"/>
          <p:cNvSpPr txBox="1"/>
          <p:nvPr/>
        </p:nvSpPr>
        <p:spPr>
          <a:xfrm>
            <a:off x="914431" y="2580108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83"/>
          <p:cNvSpPr txBox="1"/>
          <p:nvPr/>
        </p:nvSpPr>
        <p:spPr>
          <a:xfrm>
            <a:off x="1504825" y="1480502"/>
            <a:ext cx="5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83"/>
          <p:cNvSpPr txBox="1"/>
          <p:nvPr/>
        </p:nvSpPr>
        <p:spPr>
          <a:xfrm>
            <a:off x="324000" y="1480502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83"/>
          <p:cNvSpPr txBox="1"/>
          <p:nvPr/>
        </p:nvSpPr>
        <p:spPr>
          <a:xfrm>
            <a:off x="914425" y="1480502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83"/>
          <p:cNvSpPr txBox="1"/>
          <p:nvPr/>
        </p:nvSpPr>
        <p:spPr>
          <a:xfrm>
            <a:off x="324030" y="2030305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3"/>
          <p:cNvSpPr txBox="1"/>
          <p:nvPr/>
        </p:nvSpPr>
        <p:spPr>
          <a:xfrm>
            <a:off x="914419" y="2030305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83"/>
          <p:cNvSpPr txBox="1"/>
          <p:nvPr/>
        </p:nvSpPr>
        <p:spPr>
          <a:xfrm>
            <a:off x="2720475" y="3627725"/>
            <a:ext cx="174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3 × 3 ×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3"/>
          <p:cNvSpPr/>
          <p:nvPr/>
        </p:nvSpPr>
        <p:spPr>
          <a:xfrm>
            <a:off x="4055165" y="1826850"/>
            <a:ext cx="293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3"/>
          <p:cNvSpPr/>
          <p:nvPr/>
        </p:nvSpPr>
        <p:spPr>
          <a:xfrm>
            <a:off x="3930233" y="4225463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3"/>
          <p:cNvSpPr/>
          <p:nvPr/>
        </p:nvSpPr>
        <p:spPr>
          <a:xfrm>
            <a:off x="4198509" y="3026158"/>
            <a:ext cx="2430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3"/>
          <p:cNvSpPr/>
          <p:nvPr/>
        </p:nvSpPr>
        <p:spPr>
          <a:xfrm>
            <a:off x="3207107" y="2432252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3"/>
          <p:cNvSpPr/>
          <p:nvPr/>
        </p:nvSpPr>
        <p:spPr>
          <a:xfrm>
            <a:off x="3568670" y="2421952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3"/>
          <p:cNvSpPr/>
          <p:nvPr/>
        </p:nvSpPr>
        <p:spPr>
          <a:xfrm>
            <a:off x="3213714" y="3620077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83"/>
          <p:cNvSpPr/>
          <p:nvPr/>
        </p:nvSpPr>
        <p:spPr>
          <a:xfrm>
            <a:off x="3930229" y="3620065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83"/>
          <p:cNvSpPr/>
          <p:nvPr/>
        </p:nvSpPr>
        <p:spPr>
          <a:xfrm>
            <a:off x="3568664" y="3625164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83"/>
          <p:cNvSpPr/>
          <p:nvPr/>
        </p:nvSpPr>
        <p:spPr>
          <a:xfrm>
            <a:off x="3316322" y="1826852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3"/>
          <p:cNvSpPr/>
          <p:nvPr/>
        </p:nvSpPr>
        <p:spPr>
          <a:xfrm>
            <a:off x="3209997" y="1221452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83"/>
          <p:cNvSpPr/>
          <p:nvPr/>
        </p:nvSpPr>
        <p:spPr>
          <a:xfrm>
            <a:off x="3566377" y="1218513"/>
            <a:ext cx="191100" cy="2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factors and multiples</a:t>
            </a:r>
            <a:endParaRPr/>
          </a:p>
        </p:txBody>
      </p:sp>
      <p:sp>
        <p:nvSpPr>
          <p:cNvPr id="1165" name="Google Shape;116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Each of the following rows contains consecutive numbers which satisfy the condition given.  No number is greater than 20.</a:t>
            </a:r>
            <a:r>
              <a:rPr lang="en-GB"/>
              <a:t>  </a:t>
            </a:r>
            <a:endParaRPr/>
          </a:p>
        </p:txBody>
      </p:sp>
      <p:grpSp>
        <p:nvGrpSpPr>
          <p:cNvPr id="1166" name="Google Shape;1166;p84"/>
          <p:cNvGrpSpPr/>
          <p:nvPr/>
        </p:nvGrpSpPr>
        <p:grpSpPr>
          <a:xfrm>
            <a:off x="335825" y="1699529"/>
            <a:ext cx="8470876" cy="624757"/>
            <a:chOff x="335825" y="1547175"/>
            <a:chExt cx="8470876" cy="1065775"/>
          </a:xfrm>
        </p:grpSpPr>
        <p:sp>
          <p:nvSpPr>
            <p:cNvPr id="1167" name="Google Shape;1167;p84"/>
            <p:cNvSpPr/>
            <p:nvPr/>
          </p:nvSpPr>
          <p:spPr>
            <a:xfrm>
              <a:off x="6784101" y="1574350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8" name="Google Shape;1168;p84"/>
            <p:cNvSpPr/>
            <p:nvPr/>
          </p:nvSpPr>
          <p:spPr>
            <a:xfrm>
              <a:off x="4635434" y="1565292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9" name="Google Shape;1169;p84"/>
            <p:cNvSpPr/>
            <p:nvPr/>
          </p:nvSpPr>
          <p:spPr>
            <a:xfrm>
              <a:off x="2486767" y="1556233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0" name="Google Shape;1170;p84"/>
            <p:cNvSpPr/>
            <p:nvPr/>
          </p:nvSpPr>
          <p:spPr>
            <a:xfrm>
              <a:off x="338100" y="1547175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1" name="Google Shape;1171;p84"/>
            <p:cNvSpPr txBox="1"/>
            <p:nvPr/>
          </p:nvSpPr>
          <p:spPr>
            <a:xfrm>
              <a:off x="335825" y="2124503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three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factors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2" name="Google Shape;1172;p84"/>
            <p:cNvSpPr txBox="1"/>
            <p:nvPr/>
          </p:nvSpPr>
          <p:spPr>
            <a:xfrm>
              <a:off x="2486775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sum of digits is 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3" name="Google Shape;1173;p84"/>
            <p:cNvSpPr txBox="1"/>
            <p:nvPr/>
          </p:nvSpPr>
          <p:spPr>
            <a:xfrm>
              <a:off x="4635425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odd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84"/>
            <p:cNvSpPr txBox="1"/>
            <p:nvPr/>
          </p:nvSpPr>
          <p:spPr>
            <a:xfrm>
              <a:off x="6784100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multiple of 3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5" name="Google Shape;1175;p84"/>
          <p:cNvGrpSpPr/>
          <p:nvPr/>
        </p:nvGrpSpPr>
        <p:grpSpPr>
          <a:xfrm>
            <a:off x="335825" y="2766329"/>
            <a:ext cx="8470876" cy="624757"/>
            <a:chOff x="335825" y="1547175"/>
            <a:chExt cx="8470876" cy="1065775"/>
          </a:xfrm>
        </p:grpSpPr>
        <p:sp>
          <p:nvSpPr>
            <p:cNvPr id="1176" name="Google Shape;1176;p84"/>
            <p:cNvSpPr/>
            <p:nvPr/>
          </p:nvSpPr>
          <p:spPr>
            <a:xfrm>
              <a:off x="6784101" y="1574350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7" name="Google Shape;1177;p84"/>
            <p:cNvSpPr/>
            <p:nvPr/>
          </p:nvSpPr>
          <p:spPr>
            <a:xfrm>
              <a:off x="4635434" y="1565292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8" name="Google Shape;1178;p84"/>
            <p:cNvSpPr/>
            <p:nvPr/>
          </p:nvSpPr>
          <p:spPr>
            <a:xfrm>
              <a:off x="2486767" y="1556233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9" name="Google Shape;1179;p84"/>
            <p:cNvSpPr/>
            <p:nvPr/>
          </p:nvSpPr>
          <p:spPr>
            <a:xfrm>
              <a:off x="338100" y="1547175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0" name="Google Shape;1180;p84"/>
            <p:cNvSpPr txBox="1"/>
            <p:nvPr/>
          </p:nvSpPr>
          <p:spPr>
            <a:xfrm>
              <a:off x="335825" y="2124503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sum of digits is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1" name="Google Shape;1181;p84"/>
            <p:cNvSpPr txBox="1"/>
            <p:nvPr/>
          </p:nvSpPr>
          <p:spPr>
            <a:xfrm>
              <a:off x="2486775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sum of digits is 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2" name="Google Shape;1182;p84"/>
            <p:cNvSpPr txBox="1"/>
            <p:nvPr/>
          </p:nvSpPr>
          <p:spPr>
            <a:xfrm>
              <a:off x="4635425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five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factors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3" name="Google Shape;1183;p84"/>
            <p:cNvSpPr txBox="1"/>
            <p:nvPr/>
          </p:nvSpPr>
          <p:spPr>
            <a:xfrm>
              <a:off x="6784100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4" name="Google Shape;1184;p84"/>
          <p:cNvGrpSpPr/>
          <p:nvPr/>
        </p:nvGrpSpPr>
        <p:grpSpPr>
          <a:xfrm>
            <a:off x="335825" y="3756929"/>
            <a:ext cx="8470876" cy="624757"/>
            <a:chOff x="335825" y="1547175"/>
            <a:chExt cx="8470876" cy="1065775"/>
          </a:xfrm>
        </p:grpSpPr>
        <p:sp>
          <p:nvSpPr>
            <p:cNvPr id="1185" name="Google Shape;1185;p84"/>
            <p:cNvSpPr/>
            <p:nvPr/>
          </p:nvSpPr>
          <p:spPr>
            <a:xfrm>
              <a:off x="6784101" y="1574350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6" name="Google Shape;1186;p84"/>
            <p:cNvSpPr/>
            <p:nvPr/>
          </p:nvSpPr>
          <p:spPr>
            <a:xfrm>
              <a:off x="4635434" y="1565292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7" name="Google Shape;1187;p84"/>
            <p:cNvSpPr/>
            <p:nvPr/>
          </p:nvSpPr>
          <p:spPr>
            <a:xfrm>
              <a:off x="2486767" y="1556233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8" name="Google Shape;1188;p84"/>
            <p:cNvSpPr/>
            <p:nvPr/>
          </p:nvSpPr>
          <p:spPr>
            <a:xfrm>
              <a:off x="338100" y="1547175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9" name="Google Shape;1189;p84"/>
            <p:cNvSpPr txBox="1"/>
            <p:nvPr/>
          </p:nvSpPr>
          <p:spPr>
            <a:xfrm>
              <a:off x="335825" y="2124503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four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factors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0" name="Google Shape;1190;p84"/>
            <p:cNvSpPr txBox="1"/>
            <p:nvPr/>
          </p:nvSpPr>
          <p:spPr>
            <a:xfrm>
              <a:off x="2486775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1" name="Google Shape;1191;p84"/>
            <p:cNvSpPr txBox="1"/>
            <p:nvPr/>
          </p:nvSpPr>
          <p:spPr>
            <a:xfrm>
              <a:off x="4635425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four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factors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2" name="Google Shape;1192;p84"/>
            <p:cNvSpPr txBox="1"/>
            <p:nvPr/>
          </p:nvSpPr>
          <p:spPr>
            <a:xfrm>
              <a:off x="6784100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three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factors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3" name="Google Shape;1193;p84"/>
          <p:cNvSpPr txBox="1"/>
          <p:nvPr/>
        </p:nvSpPr>
        <p:spPr>
          <a:xfrm>
            <a:off x="335825" y="1405200"/>
            <a:ext cx="28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4"/>
          <p:cNvSpPr txBox="1"/>
          <p:nvPr/>
        </p:nvSpPr>
        <p:spPr>
          <a:xfrm>
            <a:off x="335825" y="2489125"/>
            <a:ext cx="28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4"/>
          <p:cNvSpPr txBox="1"/>
          <p:nvPr/>
        </p:nvSpPr>
        <p:spPr>
          <a:xfrm>
            <a:off x="335825" y="3479725"/>
            <a:ext cx="28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factors and multiples</a:t>
            </a:r>
            <a:endParaRPr/>
          </a:p>
        </p:txBody>
      </p:sp>
      <p:sp>
        <p:nvSpPr>
          <p:cNvPr id="1201" name="Google Shape;1201;p85"/>
          <p:cNvSpPr txBox="1"/>
          <p:nvPr>
            <p:ph idx="4294967295" type="subTitle"/>
          </p:nvPr>
        </p:nvSpPr>
        <p:spPr>
          <a:xfrm>
            <a:off x="324000" y="75930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Use the product of prime factors to complete these grids.</a:t>
            </a:r>
            <a:endParaRPr sz="2000"/>
          </a:p>
        </p:txBody>
      </p:sp>
      <p:grpSp>
        <p:nvGrpSpPr>
          <p:cNvPr id="1202" name="Google Shape;1202;p85"/>
          <p:cNvGrpSpPr/>
          <p:nvPr/>
        </p:nvGrpSpPr>
        <p:grpSpPr>
          <a:xfrm>
            <a:off x="552600" y="1416862"/>
            <a:ext cx="2351098" cy="2231543"/>
            <a:chOff x="324000" y="1374250"/>
            <a:chExt cx="2991600" cy="2875700"/>
          </a:xfrm>
        </p:grpSpPr>
        <p:sp>
          <p:nvSpPr>
            <p:cNvPr id="1203" name="Google Shape;1203;p85"/>
            <p:cNvSpPr/>
            <p:nvPr/>
          </p:nvSpPr>
          <p:spPr>
            <a:xfrm>
              <a:off x="3240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4" name="Google Shape;1204;p85"/>
            <p:cNvSpPr/>
            <p:nvPr/>
          </p:nvSpPr>
          <p:spPr>
            <a:xfrm>
              <a:off x="10719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85"/>
            <p:cNvSpPr/>
            <p:nvPr/>
          </p:nvSpPr>
          <p:spPr>
            <a:xfrm>
              <a:off x="18198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6" name="Google Shape;1206;p85"/>
            <p:cNvSpPr/>
            <p:nvPr/>
          </p:nvSpPr>
          <p:spPr>
            <a:xfrm>
              <a:off x="2567700" y="13742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154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7" name="Google Shape;1207;p85"/>
            <p:cNvSpPr/>
            <p:nvPr/>
          </p:nvSpPr>
          <p:spPr>
            <a:xfrm>
              <a:off x="3240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8" name="Google Shape;1208;p85"/>
            <p:cNvSpPr/>
            <p:nvPr/>
          </p:nvSpPr>
          <p:spPr>
            <a:xfrm>
              <a:off x="10719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9" name="Google Shape;1209;p85"/>
            <p:cNvSpPr/>
            <p:nvPr/>
          </p:nvSpPr>
          <p:spPr>
            <a:xfrm>
              <a:off x="18198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0" name="Google Shape;1210;p85"/>
            <p:cNvSpPr/>
            <p:nvPr/>
          </p:nvSpPr>
          <p:spPr>
            <a:xfrm>
              <a:off x="2567700" y="208770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1" name="Google Shape;1211;p85"/>
            <p:cNvSpPr/>
            <p:nvPr/>
          </p:nvSpPr>
          <p:spPr>
            <a:xfrm>
              <a:off x="3240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2" name="Google Shape;1212;p85"/>
            <p:cNvSpPr/>
            <p:nvPr/>
          </p:nvSpPr>
          <p:spPr>
            <a:xfrm>
              <a:off x="10719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3" name="Google Shape;1213;p85"/>
            <p:cNvSpPr/>
            <p:nvPr/>
          </p:nvSpPr>
          <p:spPr>
            <a:xfrm>
              <a:off x="18198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4" name="Google Shape;1214;p85"/>
            <p:cNvSpPr/>
            <p:nvPr/>
          </p:nvSpPr>
          <p:spPr>
            <a:xfrm>
              <a:off x="2567700" y="280920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85"/>
            <p:cNvSpPr/>
            <p:nvPr/>
          </p:nvSpPr>
          <p:spPr>
            <a:xfrm>
              <a:off x="3240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6" name="Google Shape;1216;p85"/>
            <p:cNvSpPr/>
            <p:nvPr/>
          </p:nvSpPr>
          <p:spPr>
            <a:xfrm>
              <a:off x="10719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70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7" name="Google Shape;1217;p85"/>
            <p:cNvSpPr/>
            <p:nvPr/>
          </p:nvSpPr>
          <p:spPr>
            <a:xfrm>
              <a:off x="18198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66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8" name="Google Shape;1218;p85"/>
            <p:cNvSpPr/>
            <p:nvPr/>
          </p:nvSpPr>
          <p:spPr>
            <a:xfrm>
              <a:off x="25677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85"/>
          <p:cNvGrpSpPr/>
          <p:nvPr/>
        </p:nvGrpSpPr>
        <p:grpSpPr>
          <a:xfrm>
            <a:off x="5745675" y="2625537"/>
            <a:ext cx="2351098" cy="2231543"/>
            <a:chOff x="324000" y="1374250"/>
            <a:chExt cx="2991600" cy="2875700"/>
          </a:xfrm>
        </p:grpSpPr>
        <p:sp>
          <p:nvSpPr>
            <p:cNvPr id="1220" name="Google Shape;1220;p85"/>
            <p:cNvSpPr/>
            <p:nvPr/>
          </p:nvSpPr>
          <p:spPr>
            <a:xfrm>
              <a:off x="3240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1" name="Google Shape;1221;p85"/>
            <p:cNvSpPr/>
            <p:nvPr/>
          </p:nvSpPr>
          <p:spPr>
            <a:xfrm>
              <a:off x="10719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2" name="Google Shape;1222;p85"/>
            <p:cNvSpPr/>
            <p:nvPr/>
          </p:nvSpPr>
          <p:spPr>
            <a:xfrm>
              <a:off x="18198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3" name="Google Shape;1223;p85"/>
            <p:cNvSpPr/>
            <p:nvPr/>
          </p:nvSpPr>
          <p:spPr>
            <a:xfrm>
              <a:off x="2567700" y="13742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275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4" name="Google Shape;1224;p85"/>
            <p:cNvSpPr/>
            <p:nvPr/>
          </p:nvSpPr>
          <p:spPr>
            <a:xfrm>
              <a:off x="3240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5" name="Google Shape;1225;p85"/>
            <p:cNvSpPr/>
            <p:nvPr/>
          </p:nvSpPr>
          <p:spPr>
            <a:xfrm>
              <a:off x="10719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6" name="Google Shape;1226;p85"/>
            <p:cNvSpPr/>
            <p:nvPr/>
          </p:nvSpPr>
          <p:spPr>
            <a:xfrm>
              <a:off x="18198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7" name="Google Shape;1227;p85"/>
            <p:cNvSpPr/>
            <p:nvPr/>
          </p:nvSpPr>
          <p:spPr>
            <a:xfrm>
              <a:off x="2567700" y="208770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99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8" name="Google Shape;1228;p85"/>
            <p:cNvSpPr/>
            <p:nvPr/>
          </p:nvSpPr>
          <p:spPr>
            <a:xfrm>
              <a:off x="3240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9" name="Google Shape;1229;p85"/>
            <p:cNvSpPr/>
            <p:nvPr/>
          </p:nvSpPr>
          <p:spPr>
            <a:xfrm>
              <a:off x="10719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0" name="Google Shape;1230;p85"/>
            <p:cNvSpPr/>
            <p:nvPr/>
          </p:nvSpPr>
          <p:spPr>
            <a:xfrm>
              <a:off x="18198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1" name="Google Shape;1231;p85"/>
            <p:cNvSpPr/>
            <p:nvPr/>
          </p:nvSpPr>
          <p:spPr>
            <a:xfrm>
              <a:off x="2567700" y="280920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70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2" name="Google Shape;1232;p85"/>
            <p:cNvSpPr/>
            <p:nvPr/>
          </p:nvSpPr>
          <p:spPr>
            <a:xfrm>
              <a:off x="3240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105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85"/>
            <p:cNvSpPr/>
            <p:nvPr/>
          </p:nvSpPr>
          <p:spPr>
            <a:xfrm>
              <a:off x="10719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110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4" name="Google Shape;1234;p85"/>
            <p:cNvSpPr/>
            <p:nvPr/>
          </p:nvSpPr>
          <p:spPr>
            <a:xfrm>
              <a:off x="18198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165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5" name="Google Shape;1235;p85"/>
            <p:cNvSpPr/>
            <p:nvPr/>
          </p:nvSpPr>
          <p:spPr>
            <a:xfrm>
              <a:off x="25677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6" name="Google Shape;1236;p85"/>
          <p:cNvSpPr txBox="1"/>
          <p:nvPr/>
        </p:nvSpPr>
        <p:spPr>
          <a:xfrm>
            <a:off x="289500" y="1080000"/>
            <a:ext cx="39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5"/>
          <p:cNvSpPr txBox="1"/>
          <p:nvPr/>
        </p:nvSpPr>
        <p:spPr>
          <a:xfrm>
            <a:off x="4824000" y="1201875"/>
            <a:ext cx="4018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 Use your calculator to write these numbers as a product of prime factors to complete the grid.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85"/>
          <p:cNvSpPr txBox="1"/>
          <p:nvPr/>
        </p:nvSpPr>
        <p:spPr>
          <a:xfrm>
            <a:off x="2949075" y="1298575"/>
            <a:ext cx="16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154 = 2 × 7 × 11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5"/>
          <p:cNvSpPr txBox="1"/>
          <p:nvPr/>
        </p:nvSpPr>
        <p:spPr>
          <a:xfrm>
            <a:off x="2949075" y="2494065"/>
            <a:ext cx="16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= 2 × 2 × 5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85"/>
          <p:cNvSpPr txBox="1"/>
          <p:nvPr/>
        </p:nvSpPr>
        <p:spPr>
          <a:xfrm>
            <a:off x="2949075" y="3689550"/>
            <a:ext cx="153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66 = 2 × 3 ×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5"/>
          <p:cNvSpPr txBox="1"/>
          <p:nvPr/>
        </p:nvSpPr>
        <p:spPr>
          <a:xfrm>
            <a:off x="2949075" y="1891050"/>
            <a:ext cx="16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 = 2 × 3 × 5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5"/>
          <p:cNvSpPr txBox="1"/>
          <p:nvPr/>
        </p:nvSpPr>
        <p:spPr>
          <a:xfrm>
            <a:off x="2949075" y="3091800"/>
            <a:ext cx="16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 = 2 × 5 × 7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factors and multiples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86"/>
          <p:cNvSpPr txBox="1"/>
          <p:nvPr>
            <p:ph idx="1" type="body"/>
          </p:nvPr>
        </p:nvSpPr>
        <p:spPr>
          <a:xfrm>
            <a:off x="324000" y="810000"/>
            <a:ext cx="8496000" cy="8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Each of the</a:t>
            </a:r>
            <a:r>
              <a:rPr lang="en-GB" sz="1800"/>
              <a:t> following rows contains consecutive numbers which satisfy the condition given.  No number is greater than 20.</a:t>
            </a:r>
            <a:r>
              <a:rPr lang="en-GB"/>
              <a:t>  </a:t>
            </a:r>
            <a:endParaRPr/>
          </a:p>
        </p:txBody>
      </p:sp>
      <p:grpSp>
        <p:nvGrpSpPr>
          <p:cNvPr id="1249" name="Google Shape;1249;p86"/>
          <p:cNvGrpSpPr/>
          <p:nvPr/>
        </p:nvGrpSpPr>
        <p:grpSpPr>
          <a:xfrm>
            <a:off x="335825" y="1699529"/>
            <a:ext cx="8470876" cy="624757"/>
            <a:chOff x="335825" y="1547175"/>
            <a:chExt cx="8470876" cy="1065775"/>
          </a:xfrm>
        </p:grpSpPr>
        <p:sp>
          <p:nvSpPr>
            <p:cNvPr id="1250" name="Google Shape;1250;p86"/>
            <p:cNvSpPr/>
            <p:nvPr/>
          </p:nvSpPr>
          <p:spPr>
            <a:xfrm>
              <a:off x="6784101" y="1574350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1" name="Google Shape;1251;p86"/>
            <p:cNvSpPr/>
            <p:nvPr/>
          </p:nvSpPr>
          <p:spPr>
            <a:xfrm>
              <a:off x="4635434" y="1565292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2" name="Google Shape;1252;p86"/>
            <p:cNvSpPr/>
            <p:nvPr/>
          </p:nvSpPr>
          <p:spPr>
            <a:xfrm>
              <a:off x="2486767" y="1556233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3" name="Google Shape;1253;p86"/>
            <p:cNvSpPr/>
            <p:nvPr/>
          </p:nvSpPr>
          <p:spPr>
            <a:xfrm>
              <a:off x="338100" y="1547175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4" name="Google Shape;1254;p86"/>
            <p:cNvSpPr txBox="1"/>
            <p:nvPr/>
          </p:nvSpPr>
          <p:spPr>
            <a:xfrm>
              <a:off x="335825" y="2124503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three factors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5" name="Google Shape;1255;p86"/>
            <p:cNvSpPr txBox="1"/>
            <p:nvPr/>
          </p:nvSpPr>
          <p:spPr>
            <a:xfrm>
              <a:off x="2486775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sum of digits is 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6" name="Google Shape;1256;p86"/>
            <p:cNvSpPr txBox="1"/>
            <p:nvPr/>
          </p:nvSpPr>
          <p:spPr>
            <a:xfrm>
              <a:off x="4635425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odd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7" name="Google Shape;1257;p86"/>
            <p:cNvSpPr txBox="1"/>
            <p:nvPr/>
          </p:nvSpPr>
          <p:spPr>
            <a:xfrm>
              <a:off x="6784100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multiple of 3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58" name="Google Shape;1258;p86"/>
          <p:cNvSpPr txBox="1"/>
          <p:nvPr/>
        </p:nvSpPr>
        <p:spPr>
          <a:xfrm>
            <a:off x="335825" y="170270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9" name="Google Shape;1259;p86"/>
          <p:cNvSpPr txBox="1"/>
          <p:nvPr/>
        </p:nvSpPr>
        <p:spPr>
          <a:xfrm>
            <a:off x="2488275" y="170270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0" name="Google Shape;1260;p86"/>
          <p:cNvSpPr txBox="1"/>
          <p:nvPr/>
        </p:nvSpPr>
        <p:spPr>
          <a:xfrm>
            <a:off x="4640724" y="170270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11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1" name="Google Shape;1261;p86"/>
          <p:cNvSpPr txBox="1"/>
          <p:nvPr/>
        </p:nvSpPr>
        <p:spPr>
          <a:xfrm>
            <a:off x="6793174" y="170270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62" name="Google Shape;1262;p86"/>
          <p:cNvGrpSpPr/>
          <p:nvPr/>
        </p:nvGrpSpPr>
        <p:grpSpPr>
          <a:xfrm>
            <a:off x="335825" y="2766329"/>
            <a:ext cx="8470876" cy="624757"/>
            <a:chOff x="335825" y="1547175"/>
            <a:chExt cx="8470876" cy="1065775"/>
          </a:xfrm>
        </p:grpSpPr>
        <p:sp>
          <p:nvSpPr>
            <p:cNvPr id="1263" name="Google Shape;1263;p86"/>
            <p:cNvSpPr/>
            <p:nvPr/>
          </p:nvSpPr>
          <p:spPr>
            <a:xfrm>
              <a:off x="6784101" y="1574350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4" name="Google Shape;1264;p86"/>
            <p:cNvSpPr/>
            <p:nvPr/>
          </p:nvSpPr>
          <p:spPr>
            <a:xfrm>
              <a:off x="4635434" y="1565292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5" name="Google Shape;1265;p86"/>
            <p:cNvSpPr/>
            <p:nvPr/>
          </p:nvSpPr>
          <p:spPr>
            <a:xfrm>
              <a:off x="2486767" y="1556233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6" name="Google Shape;1266;p86"/>
            <p:cNvSpPr/>
            <p:nvPr/>
          </p:nvSpPr>
          <p:spPr>
            <a:xfrm>
              <a:off x="338100" y="1547175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7" name="Google Shape;1267;p86"/>
            <p:cNvSpPr txBox="1"/>
            <p:nvPr/>
          </p:nvSpPr>
          <p:spPr>
            <a:xfrm>
              <a:off x="335825" y="2124503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sum of digits is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8" name="Google Shape;1268;p86"/>
            <p:cNvSpPr txBox="1"/>
            <p:nvPr/>
          </p:nvSpPr>
          <p:spPr>
            <a:xfrm>
              <a:off x="2486775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sum of digits is 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9" name="Google Shape;1269;p86"/>
            <p:cNvSpPr txBox="1"/>
            <p:nvPr/>
          </p:nvSpPr>
          <p:spPr>
            <a:xfrm>
              <a:off x="4635425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five factors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0" name="Google Shape;1270;p86"/>
            <p:cNvSpPr txBox="1"/>
            <p:nvPr/>
          </p:nvSpPr>
          <p:spPr>
            <a:xfrm>
              <a:off x="6784100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1" name="Google Shape;1271;p86"/>
          <p:cNvSpPr txBox="1"/>
          <p:nvPr/>
        </p:nvSpPr>
        <p:spPr>
          <a:xfrm>
            <a:off x="335825" y="276950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14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2" name="Google Shape;1272;p86"/>
          <p:cNvSpPr txBox="1"/>
          <p:nvPr/>
        </p:nvSpPr>
        <p:spPr>
          <a:xfrm>
            <a:off x="2488275" y="276950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3" name="Google Shape;1273;p86"/>
          <p:cNvSpPr txBox="1"/>
          <p:nvPr/>
        </p:nvSpPr>
        <p:spPr>
          <a:xfrm>
            <a:off x="4640724" y="276950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4" name="Google Shape;1274;p86"/>
          <p:cNvSpPr txBox="1"/>
          <p:nvPr/>
        </p:nvSpPr>
        <p:spPr>
          <a:xfrm>
            <a:off x="6793174" y="276950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75" name="Google Shape;1275;p86"/>
          <p:cNvGrpSpPr/>
          <p:nvPr/>
        </p:nvGrpSpPr>
        <p:grpSpPr>
          <a:xfrm>
            <a:off x="335825" y="3756929"/>
            <a:ext cx="8470876" cy="624757"/>
            <a:chOff x="335825" y="1547175"/>
            <a:chExt cx="8470876" cy="1065775"/>
          </a:xfrm>
        </p:grpSpPr>
        <p:sp>
          <p:nvSpPr>
            <p:cNvPr id="1276" name="Google Shape;1276;p86"/>
            <p:cNvSpPr/>
            <p:nvPr/>
          </p:nvSpPr>
          <p:spPr>
            <a:xfrm>
              <a:off x="6784101" y="1574350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7" name="Google Shape;1277;p86"/>
            <p:cNvSpPr/>
            <p:nvPr/>
          </p:nvSpPr>
          <p:spPr>
            <a:xfrm>
              <a:off x="4635434" y="1565292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8" name="Google Shape;1278;p86"/>
            <p:cNvSpPr/>
            <p:nvPr/>
          </p:nvSpPr>
          <p:spPr>
            <a:xfrm>
              <a:off x="2486767" y="1556233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9" name="Google Shape;1279;p86"/>
            <p:cNvSpPr/>
            <p:nvPr/>
          </p:nvSpPr>
          <p:spPr>
            <a:xfrm>
              <a:off x="338100" y="1547175"/>
              <a:ext cx="2022600" cy="10386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0" name="Google Shape;1280;p86"/>
            <p:cNvSpPr txBox="1"/>
            <p:nvPr/>
          </p:nvSpPr>
          <p:spPr>
            <a:xfrm>
              <a:off x="335825" y="2124503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four factors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1" name="Google Shape;1281;p86"/>
            <p:cNvSpPr txBox="1"/>
            <p:nvPr/>
          </p:nvSpPr>
          <p:spPr>
            <a:xfrm>
              <a:off x="2486775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2" name="Google Shape;1282;p86"/>
            <p:cNvSpPr txBox="1"/>
            <p:nvPr/>
          </p:nvSpPr>
          <p:spPr>
            <a:xfrm>
              <a:off x="4635425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four factors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3" name="Google Shape;1283;p86"/>
            <p:cNvSpPr txBox="1"/>
            <p:nvPr/>
          </p:nvSpPr>
          <p:spPr>
            <a:xfrm>
              <a:off x="6784100" y="2124510"/>
              <a:ext cx="2022600" cy="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three factors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84" name="Google Shape;1284;p86"/>
          <p:cNvSpPr txBox="1"/>
          <p:nvPr/>
        </p:nvSpPr>
        <p:spPr>
          <a:xfrm>
            <a:off x="335825" y="376010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5" name="Google Shape;1285;p86"/>
          <p:cNvSpPr txBox="1"/>
          <p:nvPr/>
        </p:nvSpPr>
        <p:spPr>
          <a:xfrm>
            <a:off x="2488275" y="376010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6" name="Google Shape;1286;p86"/>
          <p:cNvSpPr txBox="1"/>
          <p:nvPr/>
        </p:nvSpPr>
        <p:spPr>
          <a:xfrm>
            <a:off x="4640724" y="376010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8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7" name="Google Shape;1287;p86"/>
          <p:cNvSpPr txBox="1"/>
          <p:nvPr/>
        </p:nvSpPr>
        <p:spPr>
          <a:xfrm>
            <a:off x="6793174" y="3760108"/>
            <a:ext cx="201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8" name="Google Shape;1288;p86"/>
          <p:cNvSpPr txBox="1"/>
          <p:nvPr/>
        </p:nvSpPr>
        <p:spPr>
          <a:xfrm>
            <a:off x="335825" y="1405200"/>
            <a:ext cx="28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6"/>
          <p:cNvSpPr txBox="1"/>
          <p:nvPr/>
        </p:nvSpPr>
        <p:spPr>
          <a:xfrm>
            <a:off x="335825" y="2489125"/>
            <a:ext cx="28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6"/>
          <p:cNvSpPr txBox="1"/>
          <p:nvPr/>
        </p:nvSpPr>
        <p:spPr>
          <a:xfrm>
            <a:off x="335825" y="3479725"/>
            <a:ext cx="28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Solve problems with factors and multiples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87"/>
          <p:cNvSpPr txBox="1"/>
          <p:nvPr>
            <p:ph idx="4294967295" type="subTitle"/>
          </p:nvPr>
        </p:nvSpPr>
        <p:spPr>
          <a:xfrm>
            <a:off x="324000" y="75930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</a:t>
            </a:r>
            <a:r>
              <a:rPr lang="en-GB" sz="2000"/>
              <a:t>Use the product of prime factors to complete these grids.</a:t>
            </a:r>
            <a:endParaRPr sz="2000"/>
          </a:p>
        </p:txBody>
      </p:sp>
      <p:grpSp>
        <p:nvGrpSpPr>
          <p:cNvPr id="1297" name="Google Shape;1297;p87"/>
          <p:cNvGrpSpPr/>
          <p:nvPr/>
        </p:nvGrpSpPr>
        <p:grpSpPr>
          <a:xfrm>
            <a:off x="552600" y="1416862"/>
            <a:ext cx="2351098" cy="2231543"/>
            <a:chOff x="324000" y="1374250"/>
            <a:chExt cx="2991600" cy="2875700"/>
          </a:xfrm>
        </p:grpSpPr>
        <p:sp>
          <p:nvSpPr>
            <p:cNvPr id="1298" name="Google Shape;1298;p87"/>
            <p:cNvSpPr/>
            <p:nvPr/>
          </p:nvSpPr>
          <p:spPr>
            <a:xfrm>
              <a:off x="3240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87"/>
            <p:cNvSpPr/>
            <p:nvPr/>
          </p:nvSpPr>
          <p:spPr>
            <a:xfrm>
              <a:off x="10719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87"/>
            <p:cNvSpPr/>
            <p:nvPr/>
          </p:nvSpPr>
          <p:spPr>
            <a:xfrm>
              <a:off x="18198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87"/>
            <p:cNvSpPr/>
            <p:nvPr/>
          </p:nvSpPr>
          <p:spPr>
            <a:xfrm>
              <a:off x="2567700" y="13742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154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2" name="Google Shape;1302;p87"/>
            <p:cNvSpPr/>
            <p:nvPr/>
          </p:nvSpPr>
          <p:spPr>
            <a:xfrm>
              <a:off x="3240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3" name="Google Shape;1303;p87"/>
            <p:cNvSpPr/>
            <p:nvPr/>
          </p:nvSpPr>
          <p:spPr>
            <a:xfrm>
              <a:off x="10719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4" name="Google Shape;1304;p87"/>
            <p:cNvSpPr/>
            <p:nvPr/>
          </p:nvSpPr>
          <p:spPr>
            <a:xfrm>
              <a:off x="18198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5" name="Google Shape;1305;p87"/>
            <p:cNvSpPr/>
            <p:nvPr/>
          </p:nvSpPr>
          <p:spPr>
            <a:xfrm>
              <a:off x="2567700" y="208770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6" name="Google Shape;1306;p87"/>
            <p:cNvSpPr/>
            <p:nvPr/>
          </p:nvSpPr>
          <p:spPr>
            <a:xfrm>
              <a:off x="3240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7" name="Google Shape;1307;p87"/>
            <p:cNvSpPr/>
            <p:nvPr/>
          </p:nvSpPr>
          <p:spPr>
            <a:xfrm>
              <a:off x="10719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8" name="Google Shape;1308;p87"/>
            <p:cNvSpPr/>
            <p:nvPr/>
          </p:nvSpPr>
          <p:spPr>
            <a:xfrm>
              <a:off x="18198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9" name="Google Shape;1309;p87"/>
            <p:cNvSpPr/>
            <p:nvPr/>
          </p:nvSpPr>
          <p:spPr>
            <a:xfrm>
              <a:off x="2567700" y="280920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0" name="Google Shape;1310;p87"/>
            <p:cNvSpPr/>
            <p:nvPr/>
          </p:nvSpPr>
          <p:spPr>
            <a:xfrm>
              <a:off x="3240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1" name="Google Shape;1311;p87"/>
            <p:cNvSpPr/>
            <p:nvPr/>
          </p:nvSpPr>
          <p:spPr>
            <a:xfrm>
              <a:off x="10719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70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2" name="Google Shape;1312;p87"/>
            <p:cNvSpPr/>
            <p:nvPr/>
          </p:nvSpPr>
          <p:spPr>
            <a:xfrm>
              <a:off x="18198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66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3" name="Google Shape;1313;p87"/>
            <p:cNvSpPr/>
            <p:nvPr/>
          </p:nvSpPr>
          <p:spPr>
            <a:xfrm>
              <a:off x="25677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4" name="Google Shape;1314;p87"/>
          <p:cNvSpPr txBox="1"/>
          <p:nvPr/>
        </p:nvSpPr>
        <p:spPr>
          <a:xfrm>
            <a:off x="552625" y="2641933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5" name="Google Shape;1315;p87"/>
          <p:cNvSpPr txBox="1"/>
          <p:nvPr/>
        </p:nvSpPr>
        <p:spPr>
          <a:xfrm>
            <a:off x="1733425" y="2092130"/>
            <a:ext cx="5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6" name="Google Shape;1316;p87"/>
          <p:cNvSpPr txBox="1"/>
          <p:nvPr/>
        </p:nvSpPr>
        <p:spPr>
          <a:xfrm>
            <a:off x="1733425" y="2641933"/>
            <a:ext cx="5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7" name="Google Shape;1317;p87"/>
          <p:cNvSpPr txBox="1"/>
          <p:nvPr/>
        </p:nvSpPr>
        <p:spPr>
          <a:xfrm>
            <a:off x="1143031" y="2641933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8" name="Google Shape;1318;p87"/>
          <p:cNvSpPr txBox="1"/>
          <p:nvPr/>
        </p:nvSpPr>
        <p:spPr>
          <a:xfrm>
            <a:off x="1733425" y="1542327"/>
            <a:ext cx="5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11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9" name="Google Shape;1319;p87"/>
          <p:cNvSpPr txBox="1"/>
          <p:nvPr/>
        </p:nvSpPr>
        <p:spPr>
          <a:xfrm>
            <a:off x="552600" y="1542327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0" name="Google Shape;1320;p87"/>
          <p:cNvSpPr txBox="1"/>
          <p:nvPr/>
        </p:nvSpPr>
        <p:spPr>
          <a:xfrm>
            <a:off x="1143025" y="1542327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1" name="Google Shape;1321;p87"/>
          <p:cNvSpPr txBox="1"/>
          <p:nvPr/>
        </p:nvSpPr>
        <p:spPr>
          <a:xfrm>
            <a:off x="552630" y="2092130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2" name="Google Shape;1322;p87"/>
          <p:cNvSpPr txBox="1"/>
          <p:nvPr/>
        </p:nvSpPr>
        <p:spPr>
          <a:xfrm>
            <a:off x="1143019" y="2092130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3" name="Google Shape;1323;p87"/>
          <p:cNvSpPr txBox="1"/>
          <p:nvPr/>
        </p:nvSpPr>
        <p:spPr>
          <a:xfrm>
            <a:off x="2949075" y="1298575"/>
            <a:ext cx="16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154 = 2 × 7 × 11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87"/>
          <p:cNvSpPr txBox="1"/>
          <p:nvPr/>
        </p:nvSpPr>
        <p:spPr>
          <a:xfrm>
            <a:off x="2949075" y="2494065"/>
            <a:ext cx="16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 × 2 × 5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87"/>
          <p:cNvSpPr txBox="1"/>
          <p:nvPr/>
        </p:nvSpPr>
        <p:spPr>
          <a:xfrm>
            <a:off x="2949075" y="3689550"/>
            <a:ext cx="153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 × 3 ×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87"/>
          <p:cNvSpPr txBox="1"/>
          <p:nvPr/>
        </p:nvSpPr>
        <p:spPr>
          <a:xfrm>
            <a:off x="2949075" y="1891050"/>
            <a:ext cx="16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 × 3 × 5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87"/>
          <p:cNvSpPr txBox="1"/>
          <p:nvPr/>
        </p:nvSpPr>
        <p:spPr>
          <a:xfrm>
            <a:off x="2949075" y="3091800"/>
            <a:ext cx="160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 × 5 × 7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8" name="Google Shape;1328;p87"/>
          <p:cNvGrpSpPr/>
          <p:nvPr/>
        </p:nvGrpSpPr>
        <p:grpSpPr>
          <a:xfrm>
            <a:off x="5745675" y="2625537"/>
            <a:ext cx="2351098" cy="2231543"/>
            <a:chOff x="324000" y="1374250"/>
            <a:chExt cx="2991600" cy="2875700"/>
          </a:xfrm>
        </p:grpSpPr>
        <p:sp>
          <p:nvSpPr>
            <p:cNvPr id="1329" name="Google Shape;1329;p87"/>
            <p:cNvSpPr/>
            <p:nvPr/>
          </p:nvSpPr>
          <p:spPr>
            <a:xfrm>
              <a:off x="3240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0" name="Google Shape;1330;p87"/>
            <p:cNvSpPr/>
            <p:nvPr/>
          </p:nvSpPr>
          <p:spPr>
            <a:xfrm>
              <a:off x="10719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1" name="Google Shape;1331;p87"/>
            <p:cNvSpPr/>
            <p:nvPr/>
          </p:nvSpPr>
          <p:spPr>
            <a:xfrm>
              <a:off x="1819800" y="13742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2" name="Google Shape;1332;p87"/>
            <p:cNvSpPr/>
            <p:nvPr/>
          </p:nvSpPr>
          <p:spPr>
            <a:xfrm>
              <a:off x="2567700" y="13742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275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3" name="Google Shape;1333;p87"/>
            <p:cNvSpPr/>
            <p:nvPr/>
          </p:nvSpPr>
          <p:spPr>
            <a:xfrm>
              <a:off x="3240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4" name="Google Shape;1334;p87"/>
            <p:cNvSpPr/>
            <p:nvPr/>
          </p:nvSpPr>
          <p:spPr>
            <a:xfrm>
              <a:off x="10719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87"/>
            <p:cNvSpPr/>
            <p:nvPr/>
          </p:nvSpPr>
          <p:spPr>
            <a:xfrm>
              <a:off x="1819800" y="20877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6" name="Google Shape;1336;p87"/>
            <p:cNvSpPr/>
            <p:nvPr/>
          </p:nvSpPr>
          <p:spPr>
            <a:xfrm>
              <a:off x="2567700" y="208770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99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7" name="Google Shape;1337;p87"/>
            <p:cNvSpPr/>
            <p:nvPr/>
          </p:nvSpPr>
          <p:spPr>
            <a:xfrm>
              <a:off x="3240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8" name="Google Shape;1338;p87"/>
            <p:cNvSpPr/>
            <p:nvPr/>
          </p:nvSpPr>
          <p:spPr>
            <a:xfrm>
              <a:off x="10719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9" name="Google Shape;1339;p87"/>
            <p:cNvSpPr/>
            <p:nvPr/>
          </p:nvSpPr>
          <p:spPr>
            <a:xfrm>
              <a:off x="1819800" y="280920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0" name="Google Shape;1340;p87"/>
            <p:cNvSpPr/>
            <p:nvPr/>
          </p:nvSpPr>
          <p:spPr>
            <a:xfrm>
              <a:off x="2567700" y="280920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70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1" name="Google Shape;1341;p87"/>
            <p:cNvSpPr/>
            <p:nvPr/>
          </p:nvSpPr>
          <p:spPr>
            <a:xfrm>
              <a:off x="3240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105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2" name="Google Shape;1342;p87"/>
            <p:cNvSpPr/>
            <p:nvPr/>
          </p:nvSpPr>
          <p:spPr>
            <a:xfrm>
              <a:off x="10719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3" name="Google Shape;1343;p87"/>
            <p:cNvSpPr/>
            <p:nvPr/>
          </p:nvSpPr>
          <p:spPr>
            <a:xfrm>
              <a:off x="1819800" y="3528450"/>
              <a:ext cx="747900" cy="721500"/>
            </a:xfrm>
            <a:prstGeom prst="rect">
              <a:avLst/>
            </a:prstGeom>
            <a:solidFill>
              <a:schemeClr val="accent5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165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4" name="Google Shape;1344;p87"/>
            <p:cNvSpPr/>
            <p:nvPr/>
          </p:nvSpPr>
          <p:spPr>
            <a:xfrm>
              <a:off x="2567700" y="3528450"/>
              <a:ext cx="747900" cy="721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45" name="Google Shape;1345;p87"/>
          <p:cNvSpPr txBox="1"/>
          <p:nvPr/>
        </p:nvSpPr>
        <p:spPr>
          <a:xfrm>
            <a:off x="5745700" y="3850608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6" name="Google Shape;1346;p87"/>
          <p:cNvSpPr txBox="1"/>
          <p:nvPr/>
        </p:nvSpPr>
        <p:spPr>
          <a:xfrm>
            <a:off x="6926500" y="3300805"/>
            <a:ext cx="5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7" name="Google Shape;1347;p87"/>
          <p:cNvSpPr txBox="1"/>
          <p:nvPr/>
        </p:nvSpPr>
        <p:spPr>
          <a:xfrm>
            <a:off x="6926500" y="3850608"/>
            <a:ext cx="5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8" name="Google Shape;1348;p87"/>
          <p:cNvSpPr txBox="1"/>
          <p:nvPr/>
        </p:nvSpPr>
        <p:spPr>
          <a:xfrm>
            <a:off x="6336106" y="3850608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9" name="Google Shape;1349;p87"/>
          <p:cNvSpPr txBox="1"/>
          <p:nvPr/>
        </p:nvSpPr>
        <p:spPr>
          <a:xfrm>
            <a:off x="6926500" y="2751002"/>
            <a:ext cx="57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11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0" name="Google Shape;1350;p87"/>
          <p:cNvSpPr txBox="1"/>
          <p:nvPr/>
        </p:nvSpPr>
        <p:spPr>
          <a:xfrm>
            <a:off x="5745675" y="2751002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1" name="Google Shape;1351;p87"/>
          <p:cNvSpPr txBox="1"/>
          <p:nvPr/>
        </p:nvSpPr>
        <p:spPr>
          <a:xfrm>
            <a:off x="6336100" y="2751002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2" name="Google Shape;1352;p87"/>
          <p:cNvSpPr txBox="1"/>
          <p:nvPr/>
        </p:nvSpPr>
        <p:spPr>
          <a:xfrm>
            <a:off x="5745705" y="3300805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3" name="Google Shape;1353;p87"/>
          <p:cNvSpPr txBox="1"/>
          <p:nvPr/>
        </p:nvSpPr>
        <p:spPr>
          <a:xfrm>
            <a:off x="6336094" y="3300805"/>
            <a:ext cx="59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11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4" name="Google Shape;1354;p87"/>
          <p:cNvSpPr txBox="1"/>
          <p:nvPr/>
        </p:nvSpPr>
        <p:spPr>
          <a:xfrm>
            <a:off x="289500" y="1080000"/>
            <a:ext cx="39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87"/>
          <p:cNvSpPr txBox="1"/>
          <p:nvPr/>
        </p:nvSpPr>
        <p:spPr>
          <a:xfrm>
            <a:off x="4824000" y="1199325"/>
            <a:ext cx="4018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 Use your calculator to write these numbers as a product of prime factors to complete the grid.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87"/>
          <p:cNvSpPr txBox="1"/>
          <p:nvPr/>
        </p:nvSpPr>
        <p:spPr>
          <a:xfrm>
            <a:off x="552600" y="4049950"/>
            <a:ext cx="28170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Other arrangements are possible.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8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Knowledge of square and cube numbers can be used to solve real world problems.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Knowledge of factors, multiples and prime numbers allows you to solve problems.</a:t>
            </a:r>
            <a:endParaRPr/>
          </a:p>
        </p:txBody>
      </p:sp>
      <p:sp>
        <p:nvSpPr>
          <p:cNvPr id="1362" name="Google Shape;1362;p88"/>
          <p:cNvSpPr txBox="1"/>
          <p:nvPr>
            <p:ph type="title"/>
          </p:nvPr>
        </p:nvSpPr>
        <p:spPr>
          <a:xfrm>
            <a:off x="1923100" y="157200"/>
            <a:ext cx="669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factors, multiples, squares and cubes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8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68" name="Google Shape;1368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