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18" Type="http://schemas.openxmlformats.org/officeDocument/2006/relationships/image" Target="../media/image22.png" /><Relationship Id="rId19" Type="http://schemas.openxmlformats.org/officeDocument/2006/relationships/image" Target="../media/image23.png" /><Relationship Id="rId2" Type="http://schemas.openxmlformats.org/officeDocument/2006/relationships/notesSlide" Target="../notesSlides/notesSlide2.xml" /><Relationship Id="rId20" Type="http://schemas.openxmlformats.org/officeDocument/2006/relationships/image" Target="../media/image24.png" /><Relationship Id="rId21" Type="http://schemas.openxmlformats.org/officeDocument/2006/relationships/image" Target="../media/image25.png" /><Relationship Id="rId22" Type="http://schemas.openxmlformats.org/officeDocument/2006/relationships/image" Target="../media/image26.png" /><Relationship Id="rId23" Type="http://schemas.openxmlformats.org/officeDocument/2006/relationships/image" Target="../media/image27.png" /><Relationship Id="rId24" Type="http://schemas.openxmlformats.org/officeDocument/2006/relationships/image" Target="../media/image28.png" /><Relationship Id="rId25" Type="http://schemas.openxmlformats.org/officeDocument/2006/relationships/image" Target="../media/image29.png" /><Relationship Id="rId26" Type="http://schemas.openxmlformats.org/officeDocument/2006/relationships/image" Target="../media/image30.png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factors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52600" y="1826100"/>
            <a:ext cx="65265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List the </a:t>
            </a: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factor pairs of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these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2880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67064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28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71248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36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75432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32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96160" y="2292250"/>
            <a:ext cx="119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100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009000" y="229225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  67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057425" y="2639600"/>
            <a:ext cx="102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× 18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945095" y="2639600"/>
            <a:ext cx="102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× 28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975640" y="2639600"/>
            <a:ext cx="1028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× 36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034760" y="2639600"/>
            <a:ext cx="1028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× 32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065305" y="2639600"/>
            <a:ext cx="1028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× 100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25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× 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248250" y="2639600"/>
            <a:ext cx="102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× 67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76400" y="1425900"/>
            <a:ext cx="488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 : Systematic approach to find factor pairs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586800" y="4790725"/>
            <a:ext cx="4428000" cy="453600"/>
            <a:chOff x="1463400" y="2009725"/>
            <a:chExt cx="4428000" cy="453600"/>
          </a:xfrm>
        </p:grpSpPr>
        <p:sp>
          <p:nvSpPr>
            <p:cNvPr id="188" name="Google Shape;188;p20"/>
            <p:cNvSpPr/>
            <p:nvPr/>
          </p:nvSpPr>
          <p:spPr>
            <a:xfrm>
              <a:off x="14634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19062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23490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27918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32346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36774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41202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5" name="Google Shape;195;p20"/>
            <p:cNvSpPr/>
            <p:nvPr/>
          </p:nvSpPr>
          <p:spPr>
            <a:xfrm>
              <a:off x="45630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50058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5448600" y="2009725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20"/>
          <p:cNvGrpSpPr/>
          <p:nvPr/>
        </p:nvGrpSpPr>
        <p:grpSpPr>
          <a:xfrm>
            <a:off x="586800" y="5749800"/>
            <a:ext cx="2214000" cy="907200"/>
            <a:chOff x="2358000" y="2801150"/>
            <a:chExt cx="2214000" cy="907200"/>
          </a:xfrm>
        </p:grpSpPr>
        <p:sp>
          <p:nvSpPr>
            <p:cNvPr id="199" name="Google Shape;199;p20"/>
            <p:cNvSpPr/>
            <p:nvPr/>
          </p:nvSpPr>
          <p:spPr>
            <a:xfrm>
              <a:off x="23580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28008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32436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36864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4129200" y="28011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23580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28008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32436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36864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4129200" y="3254750"/>
              <a:ext cx="442800" cy="453600"/>
            </a:xfrm>
            <a:prstGeom prst="rect">
              <a:avLst/>
            </a:prstGeom>
            <a:solidFill>
              <a:srgbClr val="F0F0F0"/>
            </a:solidFill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09" name="Google Shape;209;p20"/>
          <p:cNvSpPr txBox="1"/>
          <p:nvPr/>
        </p:nvSpPr>
        <p:spPr>
          <a:xfrm>
            <a:off x="548672" y="6980400"/>
            <a:ext cx="6433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Because you cannot make a rectangle with a height of 3, 4, 6, 7, 8, or 9.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So 1 &amp; 10 and 2 &amp; 5 are the only factor pairs.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65500" y="4035900"/>
            <a:ext cx="6526500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Sam makes two rectangles with an area of 10 cm².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how these rectangles show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the factors of 10.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>
            <a:off x="480750" y="7560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p21"/>
          <p:cNvSpPr/>
          <p:nvPr/>
        </p:nvSpPr>
        <p:spPr>
          <a:xfrm>
            <a:off x="5737988" y="8912250"/>
            <a:ext cx="303600" cy="549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02150" y="8915625"/>
            <a:ext cx="303600" cy="549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9" name="Google Shape;21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Listing factors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650325" y="2531550"/>
            <a:ext cx="3457200" cy="1363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23" name="Google Shape;223;p21"/>
          <p:cNvSpPr/>
          <p:nvPr/>
        </p:nvSpPr>
        <p:spPr>
          <a:xfrm>
            <a:off x="3122100" y="2531550"/>
            <a:ext cx="3457200" cy="1363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24" name="Google Shape;224;p21"/>
          <p:cNvSpPr txBox="1"/>
          <p:nvPr/>
        </p:nvSpPr>
        <p:spPr>
          <a:xfrm>
            <a:off x="5854350" y="2824650"/>
            <a:ext cx="30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3615450" y="2733125"/>
            <a:ext cx="30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394925" y="2883463"/>
            <a:ext cx="30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3615450" y="3137400"/>
            <a:ext cx="303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266075" y="319440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045100" y="313740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606400" y="259985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174400" y="2733125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802575" y="313740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365500" y="3252775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846800" y="346350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846800" y="2455350"/>
            <a:ext cx="56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68000" y="882925"/>
            <a:ext cx="4680000" cy="14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Venn diagram to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has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factors which are not common with 60.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has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factors which are not common with 45.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and 60 have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common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common factors of 45 and 60 are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1, 3, 5 and 15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2303400" y="2301250"/>
            <a:ext cx="147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Factors of 45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574325" y="2301250"/>
            <a:ext cx="1476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Factors of 60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68000" y="4340700"/>
            <a:ext cx="66240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common factors for each of these following pairs of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889725" y="4520775"/>
            <a:ext cx="87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24 &amp; 72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68000" y="4520775"/>
            <a:ext cx="87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24 &amp; 36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275242" y="4520775"/>
            <a:ext cx="87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24 &amp; 38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082483" y="4520775"/>
            <a:ext cx="87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24 &amp; 40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40124" y="4813875"/>
            <a:ext cx="757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 × 24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077798" y="4813875"/>
            <a:ext cx="717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 × 36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2132150" y="4813875"/>
            <a:ext cx="717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 × 24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2800112" y="4813875"/>
            <a:ext cx="81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 × 38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007022" y="4813875"/>
            <a:ext cx="69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 × 24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645585" y="4813875"/>
            <a:ext cx="69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 × 40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×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5811924" y="4813875"/>
            <a:ext cx="69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 × 24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6485675" y="4813875"/>
            <a:ext cx="7173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 × 72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 ×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×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68000" y="530550"/>
            <a:ext cx="264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B : Common factors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87050" y="49196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1425463" y="5287425"/>
            <a:ext cx="2001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01338" y="509607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501338" y="5277050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01338" y="5467550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1120450" y="492107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134738" y="5097488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1134738" y="52784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1134738" y="54689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775275" y="546897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1134750" y="5645188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1420488" y="5645188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2177750" y="49196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2192038" y="509607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2849450" y="49196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2863738" y="509607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043288" y="49210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067100" y="509747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065050" y="546897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4355575" y="5277050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4678888" y="4923600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4702700" y="510001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4702700" y="5276450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4987800" y="5467550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5856100" y="492107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5870388" y="5097488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5870388" y="52784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870388" y="54689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6535325" y="492107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6549613" y="5097488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6549613" y="52784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6549613" y="5459438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6163738" y="52845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6163738" y="54750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6554363" y="5640625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6554363" y="5826363"/>
            <a:ext cx="1602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6158075" y="5101988"/>
            <a:ext cx="2001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6196175" y="4915475"/>
            <a:ext cx="2001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6835625" y="5640613"/>
            <a:ext cx="2001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6853400" y="5287413"/>
            <a:ext cx="200100" cy="1611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>
            <a:off x="492513" y="607885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4" name="Google Shape;294;p21"/>
          <p:cNvSpPr txBox="1"/>
          <p:nvPr/>
        </p:nvSpPr>
        <p:spPr>
          <a:xfrm>
            <a:off x="509282" y="6400100"/>
            <a:ext cx="331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Simplify fully the following fractions.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Try to use the highest common denominator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1"/>
          <p:cNvGrpSpPr/>
          <p:nvPr/>
        </p:nvGrpSpPr>
        <p:grpSpPr>
          <a:xfrm>
            <a:off x="1951800" y="7043075"/>
            <a:ext cx="508888" cy="426314"/>
            <a:chOff x="2167434" y="6890675"/>
            <a:chExt cx="508888" cy="426314"/>
          </a:xfrm>
        </p:grpSpPr>
        <p:sp>
          <p:nvSpPr>
            <p:cNvPr id="296" name="Google Shape;296;p21"/>
            <p:cNvSpPr txBox="1"/>
            <p:nvPr/>
          </p:nvSpPr>
          <p:spPr>
            <a:xfrm>
              <a:off x="2167434" y="6890675"/>
              <a:ext cx="379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97" name="Google Shape;297;p21" descr="&lt;math xmlns=&quot;http://www.w3.org/1998/Math/MathML&quot; display=&quot;block&quot; data-is-equatio=&quot;1&quot; data-latex=&quot;\frac{12}{15}&quot;&gt;&lt;mfrac&gt;&lt;mn&gt;12&lt;/mn&gt;&lt;mn&gt;15&lt;/mn&gt;&lt;/mfrac&gt;&lt;/math&gt;" title="12 over 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6222" y="6951922"/>
              <a:ext cx="200100" cy="36506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8" name="Google Shape;298;p21"/>
          <p:cNvGrpSpPr/>
          <p:nvPr/>
        </p:nvGrpSpPr>
        <p:grpSpPr>
          <a:xfrm>
            <a:off x="503250" y="7043075"/>
            <a:ext cx="486125" cy="402589"/>
            <a:chOff x="503250" y="6890675"/>
            <a:chExt cx="486125" cy="402589"/>
          </a:xfrm>
        </p:grpSpPr>
        <p:sp>
          <p:nvSpPr>
            <p:cNvPr id="299" name="Google Shape;299;p21"/>
            <p:cNvSpPr txBox="1"/>
            <p:nvPr/>
          </p:nvSpPr>
          <p:spPr>
            <a:xfrm>
              <a:off x="503250" y="6890675"/>
              <a:ext cx="47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00" name="Google Shape;30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75" y="6926400"/>
              <a:ext cx="200100" cy="36686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1" name="Google Shape;301;p21" descr="&lt;math xmlns=&quot;http://www.w3.org/1998/Math/MathML&quot; display=&quot;block&quot; data-is-equatio=&quot;1&quot; data-latex=&quot;\frac{30}{36}&quot;&gt;&lt;mfrac&gt;&lt;mn&gt;30&lt;/mn&gt;&lt;mn&gt;36&lt;/mn&gt;&lt;/mfrac&gt;&lt;/math&gt;" title="30 over 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8147" y="7089577"/>
            <a:ext cx="200100" cy="36507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 txBox="1"/>
          <p:nvPr/>
        </p:nvSpPr>
        <p:spPr>
          <a:xfrm>
            <a:off x="3346914" y="7043075"/>
            <a:ext cx="47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3" name="Google Shape;303;p21"/>
          <p:cNvGrpSpPr/>
          <p:nvPr/>
        </p:nvGrpSpPr>
        <p:grpSpPr>
          <a:xfrm>
            <a:off x="4630339" y="7043075"/>
            <a:ext cx="562623" cy="408472"/>
            <a:chOff x="4513753" y="6890675"/>
            <a:chExt cx="562623" cy="408472"/>
          </a:xfrm>
        </p:grpSpPr>
        <p:pic>
          <p:nvPicPr>
            <p:cNvPr id="304" name="Google Shape;304;p21" descr="&lt;math xmlns=&quot;http://www.w3.org/1998/Math/MathML&quot; display=&quot;block&quot; data-is-equatio=&quot;1&quot; data-latex=&quot;\frac{40}{72}&quot;&gt;&lt;mfrac&gt;&lt;mn&gt;40&lt;/mn&gt;&lt;mn&gt;72&lt;/mn&gt;&lt;/mfrac&gt;&lt;/math&gt;" title="40 over 7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76276" y="6930574"/>
              <a:ext cx="200100" cy="3685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21"/>
            <p:cNvSpPr txBox="1"/>
            <p:nvPr/>
          </p:nvSpPr>
          <p:spPr>
            <a:xfrm>
              <a:off x="4513753" y="6890675"/>
              <a:ext cx="47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d)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6" name="Google Shape;306;p21"/>
          <p:cNvSpPr txBox="1"/>
          <p:nvPr/>
        </p:nvSpPr>
        <p:spPr>
          <a:xfrm>
            <a:off x="487050" y="8190075"/>
            <a:ext cx="4639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 a) Which of the following are not in their simplest form?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b) Simplify those you have identified.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21" descr="&lt;math xmlns=&quot;http://www.w3.org/1998/Math/MathML&quot; display=&quot;block&quot; data-is-equatio=&quot;1&quot; data-latex=&quot;\dfrac{3}{11}&quot;&gt;&lt;mstyle displaystyle=&quot;true&quot; scriptlevel=&quot;0&quot;&gt;&lt;mfrac&gt;&lt;mn&gt;3&lt;/mn&gt;&lt;mn&gt;11&lt;/mn&gt;&lt;/mfrac&gt;&lt;/mstyle&gt;&lt;/math&gt;" title="3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8166" y="8978929"/>
            <a:ext cx="240119" cy="433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 descr="&lt;math xmlns=&quot;http://www.w3.org/1998/Math/MathML&quot; display=&quot;block&quot; data-is-equatio=&quot;1&quot; data-latex=&quot;\frac{2}{19}&quot;&gt;&lt;mfrac&gt;&lt;mn&gt;2&lt;/mn&gt;&lt;mn&gt;19&lt;/mn&gt;&lt;/mfrac&gt;&lt;/math&gt;" title="2 over 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5854" y="8978929"/>
            <a:ext cx="238212" cy="43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1" descr="&lt;math xmlns=&quot;http://www.w3.org/1998/Math/MathML&quot; display=&quot;block&quot; data-is-equatio=&quot;1&quot; data-latex=&quot;\frac{14}{35}&quot;&gt;&lt;mfrac&gt;&lt;mn&gt;14&lt;/mn&gt;&lt;mn&gt;35&lt;/mn&gt;&lt;/mfrac&gt;&lt;/math&gt;" title="14 over 3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3225" y="8978929"/>
            <a:ext cx="228103" cy="413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1" descr="&lt;math xmlns=&quot;http://www.w3.org/1998/Math/MathML&quot; display=&quot;block&quot; data-is-equatio=&quot;1&quot; data-latex=&quot;\frac{9}{16}&quot;&gt;&lt;mfrac&gt;&lt;mn&gt;9&lt;/mn&gt;&lt;mn&gt;16&lt;/mn&gt;&lt;/mfrac&gt;&lt;/math&gt;" title="9 over 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45124" y="8978929"/>
            <a:ext cx="223891" cy="40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1" descr="&lt;math xmlns=&quot;http://www.w3.org/1998/Math/MathML&quot; display=&quot;block&quot; data-is-equatio=&quot;1&quot; data-latex=&quot;\frac{12}{33}&quot;&gt;&lt;mfrac&gt;&lt;mn&gt;12&lt;/mn&gt;&lt;mn&gt;33&lt;/mn&gt;&lt;/mfrac&gt;&lt;/math&gt;" title="12 over 3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60905" y="8978929"/>
            <a:ext cx="219679" cy="4073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21"/>
          <p:cNvGrpSpPr/>
          <p:nvPr/>
        </p:nvGrpSpPr>
        <p:grpSpPr>
          <a:xfrm>
            <a:off x="6002988" y="7043075"/>
            <a:ext cx="514988" cy="401668"/>
            <a:chOff x="6002988" y="6890675"/>
            <a:chExt cx="514988" cy="401668"/>
          </a:xfrm>
        </p:grpSpPr>
        <p:sp>
          <p:nvSpPr>
            <p:cNvPr id="313" name="Google Shape;313;p21"/>
            <p:cNvSpPr txBox="1"/>
            <p:nvPr/>
          </p:nvSpPr>
          <p:spPr>
            <a:xfrm>
              <a:off x="6002988" y="6890675"/>
              <a:ext cx="47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e)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314" name="Google Shape;314;p21" descr="&lt;math xmlns=&quot;http://www.w3.org/1998/Math/MathML&quot; display=&quot;block&quot; data-is-equatio=&quot;1&quot; data-latex=&quot;\frac{36}{54}&quot;&gt;&lt;mfrac&gt;&lt;mn&gt;36&lt;/mn&gt;&lt;mn&gt;54&lt;/mn&gt;&lt;/mfrac&gt;&lt;/math&gt;" title="36 over 54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6317875" y="6927250"/>
              <a:ext cx="200100" cy="3650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5" name="Google Shape;315;p21"/>
          <p:cNvGrpSpPr/>
          <p:nvPr/>
        </p:nvGrpSpPr>
        <p:grpSpPr>
          <a:xfrm>
            <a:off x="800675" y="7608364"/>
            <a:ext cx="796965" cy="427857"/>
            <a:chOff x="1029275" y="7455964"/>
            <a:chExt cx="796965" cy="427857"/>
          </a:xfrm>
        </p:grpSpPr>
        <p:pic>
          <p:nvPicPr>
            <p:cNvPr id="316" name="Google Shape;316;p21" descr="&lt;math xmlns=&quot;http://www.w3.org/1998/Math/MathML&quot; display=&quot;block&quot; data-is-equatio=&quot;1&quot; data-latex=&quot;\frac{5\times1}{5\times9}&quot;&gt;&lt;mfrac&gt;&lt;mrow&gt;&lt;mn&gt;5&lt;/mn&gt;&lt;mo&gt;×&lt;/mo&gt;&lt;mn&gt;1&lt;/mn&gt;&lt;/mrow&gt;&lt;mrow&gt;&lt;mn&gt;5&lt;/mn&gt;&lt;mo&gt;×&lt;/mo&gt;&lt;mn&gt;9&lt;/mn&gt;&lt;/mrow&gt;&lt;/mfrac&gt;&lt;/math&gt;" title="the fraction with numerator 5 times 1 and denominator 5 times 9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029275" y="7495408"/>
              <a:ext cx="411983" cy="3884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1" descr="&lt;math xmlns=&quot;http://www.w3.org/1998/Math/MathML&quot; display=&quot;block&quot; data-is-equatio=&quot;1&quot; data-latex=&quot;\frac{1}{9}&quot;&gt;&lt;mfrac&gt;&lt;mn&gt;1&lt;/mn&gt;&lt;mn&gt;9&lt;/mn&gt;&lt;/mfrac&gt;&lt;/math&gt;" title="one ninth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1695547" y="7455964"/>
              <a:ext cx="130693" cy="4201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21"/>
            <p:cNvSpPr txBox="1"/>
            <p:nvPr/>
          </p:nvSpPr>
          <p:spPr>
            <a:xfrm>
              <a:off x="1444489" y="7485150"/>
              <a:ext cx="24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9" name="Google Shape;319;p21"/>
          <p:cNvGrpSpPr/>
          <p:nvPr/>
        </p:nvGrpSpPr>
        <p:grpSpPr>
          <a:xfrm>
            <a:off x="2178618" y="7608364"/>
            <a:ext cx="818887" cy="447054"/>
            <a:chOff x="2397538" y="7471846"/>
            <a:chExt cx="818887" cy="447054"/>
          </a:xfrm>
        </p:grpSpPr>
        <p:pic>
          <p:nvPicPr>
            <p:cNvPr id="320" name="Google Shape;320;p21" descr="&lt;math xmlns=&quot;http://www.w3.org/1998/Math/MathML&quot; display=&quot;block&quot; data-is-equatio=&quot;1&quot; data-latex=&quot;\frac{3\times4}{3\times5}&quot;&gt;&lt;mfrac&gt;&lt;mrow&gt;&lt;mn&gt;3&lt;/mn&gt;&lt;mo&gt;×&lt;/mo&gt;&lt;mn&gt;4&lt;/mn&gt;&lt;/mrow&gt;&lt;mrow&gt;&lt;mn&gt;3&lt;/mn&gt;&lt;mo&gt;×&lt;/mo&gt;&lt;mn&gt;5&lt;/mn&gt;&lt;/mrow&gt;&lt;/mfrac&gt;&lt;/math&gt;" title="the fraction with numerator 3 times 4 and denominator 3 times 5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2397538" y="7491893"/>
              <a:ext cx="411984" cy="391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21" descr="&lt;math xmlns=&quot;http://www.w3.org/1998/Math/MathML&quot; display=&quot;block&quot; data-is-equatio=&quot;1&quot; data-latex=&quot;\frac{4}{5}&quot;&gt;&lt;mfrac&gt;&lt;mn&gt;4&lt;/mn&gt;&lt;mn&gt;5&lt;/mn&gt;&lt;/mfrac&gt;&lt;/math&gt;" title="four fifths"/>
            <p:cNvPicPr preferRelativeResize="0"/>
            <p:nvPr/>
          </p:nvPicPr>
          <p:blipFill>
            <a:blip r:embed="rId16">
              <a:alphaModFix/>
            </a:blip>
            <a:stretch>
              <a:fillRect/>
            </a:stretch>
          </p:blipFill>
          <p:spPr>
            <a:xfrm>
              <a:off x="3085725" y="7495725"/>
              <a:ext cx="130700" cy="423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1"/>
            <p:cNvSpPr txBox="1"/>
            <p:nvPr/>
          </p:nvSpPr>
          <p:spPr>
            <a:xfrm>
              <a:off x="2815250" y="7471846"/>
              <a:ext cx="298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1"/>
          <p:cNvGrpSpPr/>
          <p:nvPr/>
        </p:nvGrpSpPr>
        <p:grpSpPr>
          <a:xfrm>
            <a:off x="3578483" y="7608364"/>
            <a:ext cx="757204" cy="472220"/>
            <a:chOff x="3819963" y="7462434"/>
            <a:chExt cx="764312" cy="476605"/>
          </a:xfrm>
        </p:grpSpPr>
        <p:pic>
          <p:nvPicPr>
            <p:cNvPr id="324" name="Google Shape;324;p21" descr="&lt;math xmlns=&quot;http://www.w3.org/1998/Math/MathML&quot; display=&quot;block&quot; data-is-equatio=&quot;1&quot; data-latex=&quot;\frac{6\times5}{6\times6}&quot;&gt;&lt;mfrac&gt;&lt;mrow&gt;&lt;mn&gt;6&lt;/mn&gt;&lt;mo&gt;×&lt;/mo&gt;&lt;mn&gt;5&lt;/mn&gt;&lt;/mrow&gt;&lt;mrow&gt;&lt;mn&gt;6&lt;/mn&gt;&lt;mo&gt;×&lt;/mo&gt;&lt;mn&gt;6&lt;/mn&gt;&lt;/mrow&gt;&lt;/mfrac&gt;&lt;/math&gt;" title="the fraction with numerator 6 times 5 and denominator 6 times 6"/>
            <p:cNvPicPr preferRelativeResize="0"/>
            <p:nvPr/>
          </p:nvPicPr>
          <p:blipFill>
            <a:blip r:embed="rId17">
              <a:alphaModFix/>
            </a:blip>
            <a:stretch>
              <a:fillRect/>
            </a:stretch>
          </p:blipFill>
          <p:spPr>
            <a:xfrm>
              <a:off x="3819963" y="7495376"/>
              <a:ext cx="411990" cy="388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21" descr="&lt;math xmlns=&quot;http://www.w3.org/1998/Math/MathML&quot; display=&quot;block&quot; data-is-equatio=&quot;1&quot; data-latex=&quot;\frac{5}{6}&quot;&gt;&lt;mfrac&gt;&lt;mn&gt;5&lt;/mn&gt;&lt;mn&gt;6&lt;/mn&gt;&lt;/mfrac&gt;&lt;/math&gt;" title="five sixths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4453575" y="7511000"/>
              <a:ext cx="130700" cy="4280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1"/>
            <p:cNvSpPr txBox="1"/>
            <p:nvPr/>
          </p:nvSpPr>
          <p:spPr>
            <a:xfrm>
              <a:off x="4202488" y="7462434"/>
              <a:ext cx="298800" cy="37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21"/>
          <p:cNvGrpSpPr/>
          <p:nvPr/>
        </p:nvGrpSpPr>
        <p:grpSpPr>
          <a:xfrm>
            <a:off x="4916664" y="7608364"/>
            <a:ext cx="708195" cy="395070"/>
            <a:chOff x="5242398" y="7495376"/>
            <a:chExt cx="708195" cy="395070"/>
          </a:xfrm>
        </p:grpSpPr>
        <p:pic>
          <p:nvPicPr>
            <p:cNvPr id="328" name="Google Shape;328;p21" descr="&lt;math xmlns=&quot;http://www.w3.org/1998/Math/MathML&quot; display=&quot;block&quot; data-is-equatio=&quot;1&quot; data-latex=&quot;\frac{8\times5}{8\times9}&quot;&gt;&lt;mfrac&gt;&lt;mrow&gt;&lt;mn&gt;8&lt;/mn&gt;&lt;mo&gt;×&lt;/mo&gt;&lt;mn&gt;5&lt;/mn&gt;&lt;/mrow&gt;&lt;mrow&gt;&lt;mn&gt;8&lt;/mn&gt;&lt;mo&gt;×&lt;/mo&gt;&lt;mn&gt;9&lt;/mn&gt;&lt;/mrow&gt;&lt;/mfrac&gt;&lt;/math&gt;" title="the fraction with numerator 8 times 5 and denominator 8 times 9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5242398" y="7495376"/>
              <a:ext cx="411990" cy="388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21" descr="&lt;math xmlns=&quot;http://www.w3.org/1998/Math/MathML&quot; display=&quot;block&quot; data-is-equatio=&quot;1&quot; data-latex=&quot;\frac{5}{9}&quot;&gt;&lt;mfrac&gt;&lt;mn&gt;5&lt;/mn&gt;&lt;mn&gt;9&lt;/mn&gt;&lt;/mfrac&gt;&lt;/math&gt;" title="five ninths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5842218" y="7524221"/>
              <a:ext cx="108375" cy="3549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p21"/>
            <p:cNvSpPr txBox="1"/>
            <p:nvPr/>
          </p:nvSpPr>
          <p:spPr>
            <a:xfrm>
              <a:off x="5601425" y="7521146"/>
              <a:ext cx="298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1" name="Google Shape;331;p21"/>
          <p:cNvGrpSpPr/>
          <p:nvPr/>
        </p:nvGrpSpPr>
        <p:grpSpPr>
          <a:xfrm>
            <a:off x="6205837" y="7608364"/>
            <a:ext cx="829338" cy="399564"/>
            <a:chOff x="6510637" y="7484259"/>
            <a:chExt cx="829338" cy="399564"/>
          </a:xfrm>
        </p:grpSpPr>
        <p:pic>
          <p:nvPicPr>
            <p:cNvPr id="332" name="Google Shape;332;p21" descr="&lt;math xmlns=&quot;http://www.w3.org/1998/Math/MathML&quot; display=&quot;block&quot; data-is-equatio=&quot;1&quot; data-latex=&quot;\frac{18\times2}{18\times3}&quot;&gt;&lt;mfrac&gt;&lt;mrow&gt;&lt;mn&gt;18&lt;/mn&gt;&lt;mo&gt;×&lt;/mo&gt;&lt;mn&gt;2&lt;/mn&gt;&lt;/mrow&gt;&lt;mrow&gt;&lt;mn&gt;18&lt;/mn&gt;&lt;mo&gt;×&lt;/mo&gt;&lt;mn&gt;3&lt;/mn&gt;&lt;/mrow&gt;&lt;/mfrac&gt;&lt;/math&gt;" title="the fraction with numerator 18 times 2 and denominator 18 times 3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6510637" y="7486548"/>
              <a:ext cx="520873" cy="397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21" descr="&lt;math xmlns=&quot;http://www.w3.org/1998/Math/MathML&quot; display=&quot;block&quot; data-is-equatio=&quot;1&quot; data-latex=&quot;\frac{2}{3}&quot;&gt;&lt;mfrac&gt;&lt;mn&gt;2&lt;/mn&gt;&lt;mn&gt;3&lt;/mn&gt;&lt;/mfrac&gt;&lt;/math&gt;" title="two thirds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7231601" y="7505112"/>
              <a:ext cx="108374" cy="358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21"/>
            <p:cNvSpPr txBox="1"/>
            <p:nvPr/>
          </p:nvSpPr>
          <p:spPr>
            <a:xfrm>
              <a:off x="6981310" y="7484259"/>
              <a:ext cx="298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=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5" name="Google Shape;335;p21" descr="&lt;math xmlns=&quot;http://www.w3.org/1998/Math/MathML&quot; display=&quot;block&quot; data-is-equatio=&quot;1&quot; data-latex=&quot;\frac{7\times2}{7\times5}&quot;&gt;&lt;mfrac&gt;&lt;mrow&gt;&lt;mn&gt;7&lt;/mn&gt;&lt;mo&gt;×&lt;/mo&gt;&lt;mn&gt;2&lt;/mn&gt;&lt;/mrow&gt;&lt;mrow&gt;&lt;mn&gt;7&lt;/mn&gt;&lt;mo&gt;×&lt;/mo&gt;&lt;mn&gt;5&lt;/mn&gt;&lt;/mrow&gt;&lt;/mfrac&gt;&lt;/math&gt;" title="the fraction with numerator 7 times 2 and denominator 7 times 5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876480" y="8971852"/>
            <a:ext cx="467983" cy="445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1" descr="&lt;math xmlns=&quot;http://www.w3.org/1998/Math/MathML&quot; display=&quot;block&quot; data-is-equatio=&quot;1&quot; data-latex=&quot;\frac{3\times4}{3\times11}&quot;&gt;&lt;mfrac&gt;&lt;mrow&gt;&lt;mn&gt;3&lt;/mn&gt;&lt;mo&gt;×&lt;/mo&gt;&lt;mn&gt;4&lt;/mn&gt;&lt;/mrow&gt;&lt;mrow&gt;&lt;mn&gt;3&lt;/mn&gt;&lt;mo&gt;×&lt;/mo&gt;&lt;mn&gt;11&lt;/mn&gt;&lt;/mrow&gt;&lt;/mfrac&gt;&lt;/math&gt;" title="the fraction with numerator 3 times 4 and denominator 3 times 1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6102238" y="8935173"/>
            <a:ext cx="578479" cy="44198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1"/>
          <p:cNvSpPr txBox="1"/>
          <p:nvPr/>
        </p:nvSpPr>
        <p:spPr>
          <a:xfrm>
            <a:off x="6635699" y="8967013"/>
            <a:ext cx="16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1297565" y="9009938"/>
            <a:ext cx="29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9" name="Google Shape;339;p21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1506470" y="8977098"/>
            <a:ext cx="135250" cy="43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 descr="&lt;math xmlns=&quot;http://www.w3.org/1998/Math/MathML&quot; display=&quot;block&quot; data-is-equatio=&quot;1&quot; data-latex=&quot;\frac{4}{11}&quot;&gt;&lt;mfrac&gt;&lt;mn&gt;4&lt;/mn&gt;&lt;mn&gt;11&lt;/mn&gt;&lt;/mfrac&gt;&lt;/math&gt;" title="4 over 1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6821462" y="8931076"/>
            <a:ext cx="241518" cy="44117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 txBox="1"/>
          <p:nvPr/>
        </p:nvSpPr>
        <p:spPr>
          <a:xfrm>
            <a:off x="468000" y="6037675"/>
            <a:ext cx="310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C : Simplifying fractions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2" name="Google Shape;342;p21"/>
          <p:cNvCxnSpPr/>
          <p:nvPr/>
        </p:nvCxnSpPr>
        <p:spPr>
          <a:xfrm>
            <a:off x="467988" y="985075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Listing factors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2023-11-21T23:36:13.569</cp:lastPrinted>
  <dcterms:created xsi:type="dcterms:W3CDTF">2023-11-21T23:36:13Z</dcterms:created>
  <dcterms:modified xsi:type="dcterms:W3CDTF">2023-11-21T23:37:11Z</dcterms:modified>
</cp:coreProperties>
</file>