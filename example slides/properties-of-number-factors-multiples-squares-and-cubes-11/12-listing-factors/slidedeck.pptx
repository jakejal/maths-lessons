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7dc1ed7e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7dc1ed7e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7dc1ed7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7dc1ed7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e7dc1ed7e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e7dc1ed7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1e7dc1ed7e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1e7dc1ed7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7dc1ed7ee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e7dc1ed7ee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1e7dc1ed7e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e7dc1ed7e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e7dc1ed7e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e7dc1ed7e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1e7dc1ed7e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1e7dc1ed7e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1e7dc1ed7ee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1e7dc1ed7ee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e7dc1ed7ee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e7dc1ed7ee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1e7dc1ed7e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1e7dc1ed7e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e7dc1ed7e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e7dc1ed7e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1e7dc1ed7ee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1e7dc1ed7e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83a29783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83a2978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e7dc1ed7e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e7dc1ed7e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e7dc1ed7ee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e7dc1ed7ee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1e7dc1ed7ee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1e7dc1ed7ee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1e7dc1ed7ee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1e7dc1ed7ee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1e7dc1ed7ee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1e7dc1ed7ee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1e7dc1ed7ee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1e7dc1ed7ee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1e7dc1ed7ee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1e7dc1ed7ee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1e7dc1ed7ee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1e7dc1ed7ee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1e7dc1ed7ee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1e7dc1ed7ee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1e7dc1ed7ee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1e7dc1ed7ee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1e7dc1ed7ee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1e7dc1ed7ee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1e7f6e60c4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1e7f6e60c4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0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0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0.png"/><Relationship Id="rId4" Type="http://schemas.openxmlformats.org/officeDocument/2006/relationships/image" Target="../media/image29.png"/><Relationship Id="rId11" Type="http://schemas.openxmlformats.org/officeDocument/2006/relationships/image" Target="../media/image15.png"/><Relationship Id="rId10" Type="http://schemas.openxmlformats.org/officeDocument/2006/relationships/image" Target="../media/image37.png"/><Relationship Id="rId9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Relationship Id="rId4" Type="http://schemas.openxmlformats.org/officeDocument/2006/relationships/image" Target="../media/image55.png"/><Relationship Id="rId9" Type="http://schemas.openxmlformats.org/officeDocument/2006/relationships/image" Target="../media/image61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60.png"/><Relationship Id="rId8" Type="http://schemas.openxmlformats.org/officeDocument/2006/relationships/image" Target="../media/image54.png"/><Relationship Id="rId10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66.png"/><Relationship Id="rId8" Type="http://schemas.openxmlformats.org/officeDocument/2006/relationships/image" Target="../media/image6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2.png"/><Relationship Id="rId7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9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75.png"/><Relationship Id="rId11" Type="http://schemas.openxmlformats.org/officeDocument/2006/relationships/image" Target="../media/image82.png"/><Relationship Id="rId10" Type="http://schemas.openxmlformats.org/officeDocument/2006/relationships/image" Target="../media/image80.png"/><Relationship Id="rId12" Type="http://schemas.openxmlformats.org/officeDocument/2006/relationships/image" Target="../media/image8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86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Relationship Id="rId7" Type="http://schemas.openxmlformats.org/officeDocument/2006/relationships/image" Target="../media/image84.png"/><Relationship Id="rId8" Type="http://schemas.openxmlformats.org/officeDocument/2006/relationships/image" Target="../media/image83.png"/><Relationship Id="rId20" Type="http://schemas.openxmlformats.org/officeDocument/2006/relationships/image" Target="../media/image93.png"/><Relationship Id="rId22" Type="http://schemas.openxmlformats.org/officeDocument/2006/relationships/image" Target="../media/image64.png"/><Relationship Id="rId21" Type="http://schemas.openxmlformats.org/officeDocument/2006/relationships/image" Target="../media/image94.png"/><Relationship Id="rId24" Type="http://schemas.openxmlformats.org/officeDocument/2006/relationships/image" Target="../media/image97.png"/><Relationship Id="rId23" Type="http://schemas.openxmlformats.org/officeDocument/2006/relationships/image" Target="../media/image95.png"/><Relationship Id="rId26" Type="http://schemas.openxmlformats.org/officeDocument/2006/relationships/image" Target="../media/image96.png"/><Relationship Id="rId25" Type="http://schemas.openxmlformats.org/officeDocument/2006/relationships/image" Target="../media/image61.png"/><Relationship Id="rId11" Type="http://schemas.openxmlformats.org/officeDocument/2006/relationships/image" Target="../media/image78.png"/><Relationship Id="rId10" Type="http://schemas.openxmlformats.org/officeDocument/2006/relationships/image" Target="../media/image85.png"/><Relationship Id="rId13" Type="http://schemas.openxmlformats.org/officeDocument/2006/relationships/image" Target="../media/image79.png"/><Relationship Id="rId12" Type="http://schemas.openxmlformats.org/officeDocument/2006/relationships/image" Target="../media/image75.png"/><Relationship Id="rId15" Type="http://schemas.openxmlformats.org/officeDocument/2006/relationships/image" Target="../media/image82.png"/><Relationship Id="rId14" Type="http://schemas.openxmlformats.org/officeDocument/2006/relationships/image" Target="../media/image80.png"/><Relationship Id="rId17" Type="http://schemas.openxmlformats.org/officeDocument/2006/relationships/image" Target="../media/image87.png"/><Relationship Id="rId16" Type="http://schemas.openxmlformats.org/officeDocument/2006/relationships/image" Target="../media/image81.png"/><Relationship Id="rId19" Type="http://schemas.openxmlformats.org/officeDocument/2006/relationships/image" Target="../media/image88.png"/><Relationship Id="rId18" Type="http://schemas.openxmlformats.org/officeDocument/2006/relationships/image" Target="../media/image8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32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 can state what a factor is and can identify factors of positive integers.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2096822"/>
            <a:ext cx="7215900" cy="7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product is the result of two or more numbers multiplied together. </a:t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6"/>
            <a:ext cx="7215900" cy="8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numerical factor is a factor that is an integer. </a:t>
            </a:r>
            <a:endParaRPr b="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483828"/>
            <a:ext cx="7215900" cy="8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Divisibility is a number’s ability to be exactly divided by another number, leaving no remainder.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implify fractions</a:t>
            </a:r>
            <a:r>
              <a:rPr lang="en-GB"/>
              <a:t> using common factors</a:t>
            </a:r>
            <a:endParaRPr/>
          </a:p>
        </p:txBody>
      </p:sp>
      <p:sp>
        <p:nvSpPr>
          <p:cNvPr id="776" name="Google Shape;77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50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Lucas has 12 counters.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He decides to make as many arrays as he can.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many </a:t>
            </a:r>
            <a:r>
              <a:rPr lang="en-GB" sz="2000">
                <a:solidFill>
                  <a:schemeClr val="accent4"/>
                </a:solidFill>
              </a:rPr>
              <a:t>unique</a:t>
            </a:r>
            <a:r>
              <a:rPr lang="en-GB" sz="2000"/>
              <a:t> arrays can he make?</a:t>
            </a:r>
            <a:endParaRPr sz="2000"/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3032173"/>
            <a:ext cx="1559350" cy="1712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69"/>
          <p:cNvGrpSpPr/>
          <p:nvPr/>
        </p:nvGrpSpPr>
        <p:grpSpPr>
          <a:xfrm>
            <a:off x="2360950" y="2159988"/>
            <a:ext cx="4038750" cy="281700"/>
            <a:chOff x="2360950" y="2159988"/>
            <a:chExt cx="4038750" cy="281700"/>
          </a:xfrm>
        </p:grpSpPr>
        <p:sp>
          <p:nvSpPr>
            <p:cNvPr id="786" name="Google Shape;786;p69"/>
            <p:cNvSpPr/>
            <p:nvPr/>
          </p:nvSpPr>
          <p:spPr>
            <a:xfrm>
              <a:off x="236095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270250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9"/>
            <p:cNvSpPr/>
            <p:nvPr/>
          </p:nvSpPr>
          <p:spPr>
            <a:xfrm>
              <a:off x="304405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338560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9"/>
            <p:cNvSpPr/>
            <p:nvPr/>
          </p:nvSpPr>
          <p:spPr>
            <a:xfrm>
              <a:off x="372715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406870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9"/>
            <p:cNvSpPr/>
            <p:nvPr/>
          </p:nvSpPr>
          <p:spPr>
            <a:xfrm>
              <a:off x="441025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9"/>
            <p:cNvSpPr/>
            <p:nvPr/>
          </p:nvSpPr>
          <p:spPr>
            <a:xfrm>
              <a:off x="475180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9"/>
            <p:cNvSpPr/>
            <p:nvPr/>
          </p:nvSpPr>
          <p:spPr>
            <a:xfrm>
              <a:off x="509335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9"/>
            <p:cNvSpPr/>
            <p:nvPr/>
          </p:nvSpPr>
          <p:spPr>
            <a:xfrm>
              <a:off x="543490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9"/>
            <p:cNvSpPr/>
            <p:nvPr/>
          </p:nvSpPr>
          <p:spPr>
            <a:xfrm>
              <a:off x="577645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9"/>
            <p:cNvSpPr/>
            <p:nvPr/>
          </p:nvSpPr>
          <p:spPr>
            <a:xfrm>
              <a:off x="6118000" y="2159988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8" name="Google Shape;798;p69"/>
          <p:cNvGrpSpPr/>
          <p:nvPr/>
        </p:nvGrpSpPr>
        <p:grpSpPr>
          <a:xfrm>
            <a:off x="2360950" y="2849175"/>
            <a:ext cx="1989450" cy="633950"/>
            <a:chOff x="2360950" y="2849175"/>
            <a:chExt cx="1989450" cy="633950"/>
          </a:xfrm>
        </p:grpSpPr>
        <p:sp>
          <p:nvSpPr>
            <p:cNvPr id="799" name="Google Shape;799;p69"/>
            <p:cNvSpPr/>
            <p:nvPr/>
          </p:nvSpPr>
          <p:spPr>
            <a:xfrm>
              <a:off x="236095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9"/>
            <p:cNvSpPr/>
            <p:nvPr/>
          </p:nvSpPr>
          <p:spPr>
            <a:xfrm>
              <a:off x="270250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304405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9"/>
            <p:cNvSpPr/>
            <p:nvPr/>
          </p:nvSpPr>
          <p:spPr>
            <a:xfrm>
              <a:off x="338560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9"/>
            <p:cNvSpPr/>
            <p:nvPr/>
          </p:nvSpPr>
          <p:spPr>
            <a:xfrm>
              <a:off x="372715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9"/>
            <p:cNvSpPr/>
            <p:nvPr/>
          </p:nvSpPr>
          <p:spPr>
            <a:xfrm>
              <a:off x="406870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236095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9"/>
            <p:cNvSpPr/>
            <p:nvPr/>
          </p:nvSpPr>
          <p:spPr>
            <a:xfrm>
              <a:off x="270250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9"/>
            <p:cNvSpPr/>
            <p:nvPr/>
          </p:nvSpPr>
          <p:spPr>
            <a:xfrm>
              <a:off x="304405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9"/>
            <p:cNvSpPr/>
            <p:nvPr/>
          </p:nvSpPr>
          <p:spPr>
            <a:xfrm>
              <a:off x="338560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9"/>
            <p:cNvSpPr/>
            <p:nvPr/>
          </p:nvSpPr>
          <p:spPr>
            <a:xfrm>
              <a:off x="372715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9"/>
            <p:cNvSpPr/>
            <p:nvPr/>
          </p:nvSpPr>
          <p:spPr>
            <a:xfrm>
              <a:off x="406870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69"/>
          <p:cNvGrpSpPr/>
          <p:nvPr/>
        </p:nvGrpSpPr>
        <p:grpSpPr>
          <a:xfrm>
            <a:off x="5176200" y="2849175"/>
            <a:ext cx="1306350" cy="986200"/>
            <a:chOff x="5176200" y="2849175"/>
            <a:chExt cx="1306350" cy="986200"/>
          </a:xfrm>
        </p:grpSpPr>
        <p:sp>
          <p:nvSpPr>
            <p:cNvPr id="812" name="Google Shape;812;p69"/>
            <p:cNvSpPr/>
            <p:nvPr/>
          </p:nvSpPr>
          <p:spPr>
            <a:xfrm>
              <a:off x="517620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9"/>
            <p:cNvSpPr/>
            <p:nvPr/>
          </p:nvSpPr>
          <p:spPr>
            <a:xfrm>
              <a:off x="551775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9"/>
            <p:cNvSpPr/>
            <p:nvPr/>
          </p:nvSpPr>
          <p:spPr>
            <a:xfrm>
              <a:off x="585930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9"/>
            <p:cNvSpPr/>
            <p:nvPr/>
          </p:nvSpPr>
          <p:spPr>
            <a:xfrm>
              <a:off x="6200850" y="28491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9"/>
            <p:cNvSpPr/>
            <p:nvPr/>
          </p:nvSpPr>
          <p:spPr>
            <a:xfrm>
              <a:off x="517620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9"/>
            <p:cNvSpPr/>
            <p:nvPr/>
          </p:nvSpPr>
          <p:spPr>
            <a:xfrm>
              <a:off x="551775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9"/>
            <p:cNvSpPr/>
            <p:nvPr/>
          </p:nvSpPr>
          <p:spPr>
            <a:xfrm>
              <a:off x="585930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9"/>
            <p:cNvSpPr/>
            <p:nvPr/>
          </p:nvSpPr>
          <p:spPr>
            <a:xfrm>
              <a:off x="6200850" y="320142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9"/>
            <p:cNvSpPr/>
            <p:nvPr/>
          </p:nvSpPr>
          <p:spPr>
            <a:xfrm>
              <a:off x="5176200" y="35536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9"/>
            <p:cNvSpPr/>
            <p:nvPr/>
          </p:nvSpPr>
          <p:spPr>
            <a:xfrm>
              <a:off x="5517750" y="35536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9"/>
            <p:cNvSpPr/>
            <p:nvPr/>
          </p:nvSpPr>
          <p:spPr>
            <a:xfrm>
              <a:off x="5859300" y="35536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9"/>
            <p:cNvSpPr/>
            <p:nvPr/>
          </p:nvSpPr>
          <p:spPr>
            <a:xfrm>
              <a:off x="6200850" y="3553675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4" name="Google Shape;824;p69"/>
          <p:cNvGrpSpPr/>
          <p:nvPr/>
        </p:nvGrpSpPr>
        <p:grpSpPr>
          <a:xfrm>
            <a:off x="7148700" y="2832500"/>
            <a:ext cx="964800" cy="1338450"/>
            <a:chOff x="7148700" y="2832500"/>
            <a:chExt cx="964800" cy="1338450"/>
          </a:xfrm>
        </p:grpSpPr>
        <p:sp>
          <p:nvSpPr>
            <p:cNvPr id="825" name="Google Shape;825;p69"/>
            <p:cNvSpPr/>
            <p:nvPr/>
          </p:nvSpPr>
          <p:spPr>
            <a:xfrm>
              <a:off x="7148700" y="283250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9"/>
            <p:cNvSpPr/>
            <p:nvPr/>
          </p:nvSpPr>
          <p:spPr>
            <a:xfrm>
              <a:off x="7490250" y="283250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9"/>
            <p:cNvSpPr/>
            <p:nvPr/>
          </p:nvSpPr>
          <p:spPr>
            <a:xfrm>
              <a:off x="7831800" y="283250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9"/>
            <p:cNvSpPr/>
            <p:nvPr/>
          </p:nvSpPr>
          <p:spPr>
            <a:xfrm>
              <a:off x="7148700" y="318475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9"/>
            <p:cNvSpPr/>
            <p:nvPr/>
          </p:nvSpPr>
          <p:spPr>
            <a:xfrm>
              <a:off x="7490250" y="318475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9"/>
            <p:cNvSpPr/>
            <p:nvPr/>
          </p:nvSpPr>
          <p:spPr>
            <a:xfrm>
              <a:off x="7831800" y="318475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9"/>
            <p:cNvSpPr/>
            <p:nvPr/>
          </p:nvSpPr>
          <p:spPr>
            <a:xfrm>
              <a:off x="7148700" y="353700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9"/>
            <p:cNvSpPr/>
            <p:nvPr/>
          </p:nvSpPr>
          <p:spPr>
            <a:xfrm>
              <a:off x="7490250" y="353700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9"/>
            <p:cNvSpPr/>
            <p:nvPr/>
          </p:nvSpPr>
          <p:spPr>
            <a:xfrm>
              <a:off x="7831800" y="353700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9"/>
            <p:cNvSpPr/>
            <p:nvPr/>
          </p:nvSpPr>
          <p:spPr>
            <a:xfrm>
              <a:off x="7148700" y="388925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9"/>
            <p:cNvSpPr/>
            <p:nvPr/>
          </p:nvSpPr>
          <p:spPr>
            <a:xfrm>
              <a:off x="7490250" y="388925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9"/>
            <p:cNvSpPr/>
            <p:nvPr/>
          </p:nvSpPr>
          <p:spPr>
            <a:xfrm>
              <a:off x="7831800" y="3889250"/>
              <a:ext cx="281700" cy="281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69"/>
          <p:cNvSpPr txBox="1"/>
          <p:nvPr/>
        </p:nvSpPr>
        <p:spPr>
          <a:xfrm>
            <a:off x="2062800" y="3905925"/>
            <a:ext cx="614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Has Lucas made 4 unique arrays?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 txBox="1"/>
          <p:nvPr/>
        </p:nvSpPr>
        <p:spPr>
          <a:xfrm>
            <a:off x="2062800" y="4320000"/>
            <a:ext cx="654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No, the last 2 are the same array.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0"/>
          <p:cNvSpPr txBox="1"/>
          <p:nvPr/>
        </p:nvSpPr>
        <p:spPr>
          <a:xfrm>
            <a:off x="4189200" y="42409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0"/>
          <p:cNvSpPr txBox="1"/>
          <p:nvPr/>
        </p:nvSpPr>
        <p:spPr>
          <a:xfrm>
            <a:off x="4189200" y="37837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0"/>
          <p:cNvSpPr txBox="1"/>
          <p:nvPr/>
        </p:nvSpPr>
        <p:spPr>
          <a:xfrm>
            <a:off x="4189200" y="33265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0"/>
          <p:cNvSpPr txBox="1"/>
          <p:nvPr/>
        </p:nvSpPr>
        <p:spPr>
          <a:xfrm>
            <a:off x="4189200" y="28693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848" name="Google Shape;848;p70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drawing the arrays Lucas has found the </a:t>
            </a:r>
            <a:r>
              <a:rPr lang="en-GB">
                <a:solidFill>
                  <a:schemeClr val="accent4"/>
                </a:solidFill>
              </a:rPr>
              <a:t>factor pairs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Imagine we wanted to find the factor pairs of 1000.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Would it be sensible to draw arrays to find them? </a:t>
            </a:r>
            <a:endParaRPr/>
          </a:p>
        </p:txBody>
      </p:sp>
      <p:sp>
        <p:nvSpPr>
          <p:cNvPr id="849" name="Google Shape;849;p70"/>
          <p:cNvSpPr txBox="1"/>
          <p:nvPr/>
        </p:nvSpPr>
        <p:spPr>
          <a:xfrm>
            <a:off x="226800" y="2312400"/>
            <a:ext cx="853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can visualise the arrays and systematically list them.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0"/>
          <p:cNvSpPr txBox="1"/>
          <p:nvPr/>
        </p:nvSpPr>
        <p:spPr>
          <a:xfrm>
            <a:off x="226800" y="2869300"/>
            <a:ext cx="352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Let’s have a go with 54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0"/>
          <p:cNvSpPr txBox="1"/>
          <p:nvPr/>
        </p:nvSpPr>
        <p:spPr>
          <a:xfrm>
            <a:off x="741075" y="3546475"/>
            <a:ext cx="29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REMEMBER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× factor = product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0"/>
          <p:cNvSpPr txBox="1"/>
          <p:nvPr/>
        </p:nvSpPr>
        <p:spPr>
          <a:xfrm>
            <a:off x="6067400" y="3509625"/>
            <a:ext cx="2612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have found all the factor pairs of 54.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0"/>
          <p:cNvSpPr txBox="1"/>
          <p:nvPr/>
        </p:nvSpPr>
        <p:spPr>
          <a:xfrm>
            <a:off x="4189200" y="28693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54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0"/>
          <p:cNvSpPr txBox="1"/>
          <p:nvPr/>
        </p:nvSpPr>
        <p:spPr>
          <a:xfrm>
            <a:off x="4189200" y="33265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0"/>
          <p:cNvSpPr txBox="1"/>
          <p:nvPr/>
        </p:nvSpPr>
        <p:spPr>
          <a:xfrm>
            <a:off x="4189200" y="37837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18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0"/>
          <p:cNvSpPr txBox="1"/>
          <p:nvPr/>
        </p:nvSpPr>
        <p:spPr>
          <a:xfrm>
            <a:off x="4189200" y="4240900"/>
            <a:ext cx="138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9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1"/>
          <p:cNvSpPr txBox="1"/>
          <p:nvPr>
            <p:ph idx="1" type="subTitle"/>
          </p:nvPr>
        </p:nvSpPr>
        <p:spPr>
          <a:xfrm>
            <a:off x="337825" y="810000"/>
            <a:ext cx="39822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L</a:t>
            </a:r>
            <a:r>
              <a:rPr lang="en-GB" sz="2100"/>
              <a:t>i</a:t>
            </a:r>
            <a:r>
              <a:rPr lang="en-GB" sz="2100"/>
              <a:t>st </a:t>
            </a:r>
            <a:r>
              <a:rPr lang="en-GB" sz="2100">
                <a:solidFill>
                  <a:schemeClr val="accent4"/>
                </a:solidFill>
              </a:rPr>
              <a:t>all</a:t>
            </a:r>
            <a:r>
              <a:rPr lang="en-GB" sz="2100"/>
              <a:t> the </a:t>
            </a:r>
            <a:r>
              <a:rPr lang="en-GB" sz="2100">
                <a:solidFill>
                  <a:schemeClr val="accent4"/>
                </a:solidFill>
              </a:rPr>
              <a:t>factor pairs</a:t>
            </a:r>
            <a:r>
              <a:rPr lang="en-GB" sz="2100"/>
              <a:t> of 80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62" name="Google Shape;862;p7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863" name="Google Shape;863;p71"/>
          <p:cNvSpPr txBox="1"/>
          <p:nvPr>
            <p:ph idx="2" type="subTitle"/>
          </p:nvPr>
        </p:nvSpPr>
        <p:spPr>
          <a:xfrm>
            <a:off x="4824000" y="810000"/>
            <a:ext cx="39822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List </a:t>
            </a:r>
            <a:r>
              <a:rPr lang="en-GB" sz="2100">
                <a:solidFill>
                  <a:schemeClr val="accent4"/>
                </a:solidFill>
              </a:rPr>
              <a:t>all</a:t>
            </a:r>
            <a:r>
              <a:rPr lang="en-GB" sz="2100"/>
              <a:t> the </a:t>
            </a:r>
            <a:r>
              <a:rPr lang="en-GB" sz="2100">
                <a:solidFill>
                  <a:schemeClr val="accent4"/>
                </a:solidFill>
              </a:rPr>
              <a:t>factors pairs</a:t>
            </a:r>
            <a:r>
              <a:rPr lang="en-GB" sz="2100"/>
              <a:t> of 200</a:t>
            </a:r>
            <a:endParaRPr sz="2100"/>
          </a:p>
        </p:txBody>
      </p:sp>
      <p:sp>
        <p:nvSpPr>
          <p:cNvPr id="864" name="Google Shape;864;p71"/>
          <p:cNvSpPr txBox="1"/>
          <p:nvPr/>
        </p:nvSpPr>
        <p:spPr>
          <a:xfrm>
            <a:off x="6089700" y="1467600"/>
            <a:ext cx="14508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200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100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50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× 40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 × 25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× 20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5" name="Google Shape;865;p71"/>
          <p:cNvSpPr txBox="1"/>
          <p:nvPr>
            <p:ph idx="1" type="subTitle"/>
          </p:nvPr>
        </p:nvSpPr>
        <p:spPr>
          <a:xfrm>
            <a:off x="1480825" y="12672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 </a:t>
            </a:r>
            <a:r>
              <a:rPr lang="en-GB" sz="2200"/>
              <a:t>× 80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66" name="Google Shape;866;p71"/>
          <p:cNvSpPr txBox="1"/>
          <p:nvPr>
            <p:ph idx="1" type="subTitle"/>
          </p:nvPr>
        </p:nvSpPr>
        <p:spPr>
          <a:xfrm>
            <a:off x="1480825" y="12780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67" name="Google Shape;867;p71"/>
          <p:cNvSpPr txBox="1"/>
          <p:nvPr>
            <p:ph idx="1" type="subTitle"/>
          </p:nvPr>
        </p:nvSpPr>
        <p:spPr>
          <a:xfrm>
            <a:off x="1480825" y="16482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</a:t>
            </a:r>
            <a:r>
              <a:rPr lang="en-GB" sz="2100"/>
              <a:t> </a:t>
            </a:r>
            <a:r>
              <a:rPr lang="en-GB" sz="2200"/>
              <a:t>× 40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68" name="Google Shape;868;p71"/>
          <p:cNvSpPr txBox="1"/>
          <p:nvPr>
            <p:ph idx="1" type="subTitle"/>
          </p:nvPr>
        </p:nvSpPr>
        <p:spPr>
          <a:xfrm>
            <a:off x="1480825" y="16560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69" name="Google Shape;869;p71"/>
          <p:cNvSpPr txBox="1"/>
          <p:nvPr>
            <p:ph idx="1" type="subTitle"/>
          </p:nvPr>
        </p:nvSpPr>
        <p:spPr>
          <a:xfrm>
            <a:off x="1480825" y="20292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4</a:t>
            </a:r>
            <a:r>
              <a:rPr lang="en-GB" sz="2100"/>
              <a:t> </a:t>
            </a:r>
            <a:r>
              <a:rPr lang="en-GB" sz="2200"/>
              <a:t>× 20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70" name="Google Shape;870;p71"/>
          <p:cNvSpPr txBox="1"/>
          <p:nvPr>
            <p:ph idx="1" type="subTitle"/>
          </p:nvPr>
        </p:nvSpPr>
        <p:spPr>
          <a:xfrm>
            <a:off x="1480825" y="20376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4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71" name="Google Shape;871;p71"/>
          <p:cNvSpPr txBox="1"/>
          <p:nvPr>
            <p:ph idx="1" type="subTitle"/>
          </p:nvPr>
        </p:nvSpPr>
        <p:spPr>
          <a:xfrm>
            <a:off x="1480825" y="24102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5</a:t>
            </a:r>
            <a:r>
              <a:rPr lang="en-GB" sz="2100"/>
              <a:t> </a:t>
            </a:r>
            <a:r>
              <a:rPr lang="en-GB" sz="2200"/>
              <a:t>× 16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72" name="Google Shape;872;p71"/>
          <p:cNvSpPr txBox="1"/>
          <p:nvPr>
            <p:ph idx="1" type="subTitle"/>
          </p:nvPr>
        </p:nvSpPr>
        <p:spPr>
          <a:xfrm>
            <a:off x="1480825" y="24192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5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73" name="Google Shape;873;p71"/>
          <p:cNvSpPr txBox="1"/>
          <p:nvPr>
            <p:ph idx="1" type="subTitle"/>
          </p:nvPr>
        </p:nvSpPr>
        <p:spPr>
          <a:xfrm>
            <a:off x="1480825" y="27912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8</a:t>
            </a:r>
            <a:r>
              <a:rPr lang="en-GB" sz="2100"/>
              <a:t> </a:t>
            </a:r>
            <a:r>
              <a:rPr lang="en-GB" sz="2200"/>
              <a:t>× 10</a:t>
            </a:r>
            <a:endParaRPr sz="2100"/>
          </a:p>
        </p:txBody>
      </p:sp>
      <p:sp>
        <p:nvSpPr>
          <p:cNvPr id="874" name="Google Shape;874;p71"/>
          <p:cNvSpPr txBox="1"/>
          <p:nvPr>
            <p:ph idx="1" type="subTitle"/>
          </p:nvPr>
        </p:nvSpPr>
        <p:spPr>
          <a:xfrm>
            <a:off x="1480825" y="2800800"/>
            <a:ext cx="1194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8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75" name="Google Shape;875;p71"/>
          <p:cNvSpPr txBox="1"/>
          <p:nvPr>
            <p:ph idx="1" type="subTitle"/>
          </p:nvPr>
        </p:nvSpPr>
        <p:spPr>
          <a:xfrm>
            <a:off x="337825" y="3248400"/>
            <a:ext cx="39822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 is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not</a:t>
            </a:r>
            <a:r>
              <a:rPr lang="en-GB"/>
              <a:t> a factor as the sum of the digits is not 9</a:t>
            </a:r>
            <a:endParaRPr/>
          </a:p>
        </p:txBody>
      </p:sp>
      <p:sp>
        <p:nvSpPr>
          <p:cNvPr id="876" name="Google Shape;876;p71"/>
          <p:cNvSpPr txBox="1"/>
          <p:nvPr>
            <p:ph idx="1" type="subTitle"/>
          </p:nvPr>
        </p:nvSpPr>
        <p:spPr>
          <a:xfrm>
            <a:off x="337825" y="3934200"/>
            <a:ext cx="40671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next factor would be 10 but we already have 10 in a factor pair.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882" name="Google Shape;882;p72"/>
          <p:cNvSpPr txBox="1"/>
          <p:nvPr>
            <p:ph idx="1" type="body"/>
          </p:nvPr>
        </p:nvSpPr>
        <p:spPr>
          <a:xfrm>
            <a:off x="324000" y="759300"/>
            <a:ext cx="8237700" cy="9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is finding the </a:t>
            </a:r>
            <a:r>
              <a:rPr lang="en-GB">
                <a:solidFill>
                  <a:schemeClr val="accent4"/>
                </a:solidFill>
              </a:rPr>
              <a:t>factor pairs</a:t>
            </a:r>
            <a:r>
              <a:rPr lang="en-GB"/>
              <a:t> of 60.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Has Laura found them </a:t>
            </a:r>
            <a:r>
              <a:rPr lang="en-GB">
                <a:solidFill>
                  <a:schemeClr val="accent4"/>
                </a:solidFill>
              </a:rPr>
              <a:t>all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3004" y="809988"/>
            <a:ext cx="1336976" cy="1758974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2"/>
          <p:cNvSpPr txBox="1"/>
          <p:nvPr/>
        </p:nvSpPr>
        <p:spPr>
          <a:xfrm>
            <a:off x="550050" y="1678200"/>
            <a:ext cx="1337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 × 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30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15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2"/>
          <p:cNvSpPr txBox="1"/>
          <p:nvPr/>
        </p:nvSpPr>
        <p:spPr>
          <a:xfrm>
            <a:off x="324000" y="3551400"/>
            <a:ext cx="8544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could Laura have done to make it easier to ensure she had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factor pairs?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 txBox="1"/>
          <p:nvPr/>
        </p:nvSpPr>
        <p:spPr>
          <a:xfrm>
            <a:off x="2887200" y="2978400"/>
            <a:ext cx="540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No, Laura missed out 1 × 60.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7" name="Google Shape;887;p72"/>
          <p:cNvSpPr txBox="1"/>
          <p:nvPr/>
        </p:nvSpPr>
        <p:spPr>
          <a:xfrm>
            <a:off x="324000" y="4320000"/>
            <a:ext cx="804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She could have listed them systematically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List the </a:t>
            </a:r>
            <a:r>
              <a:rPr lang="en-GB">
                <a:solidFill>
                  <a:schemeClr val="accent4"/>
                </a:solidFill>
              </a:rPr>
              <a:t>factor pairs</a:t>
            </a:r>
            <a:r>
              <a:rPr lang="en-GB"/>
              <a:t> of these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894" name="Google Shape;894;p73"/>
          <p:cNvSpPr txBox="1"/>
          <p:nvPr/>
        </p:nvSpPr>
        <p:spPr>
          <a:xfrm>
            <a:off x="70500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3"/>
          <p:cNvSpPr txBox="1"/>
          <p:nvPr/>
        </p:nvSpPr>
        <p:spPr>
          <a:xfrm>
            <a:off x="206688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   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3"/>
          <p:cNvSpPr txBox="1"/>
          <p:nvPr/>
        </p:nvSpPr>
        <p:spPr>
          <a:xfrm>
            <a:off x="342876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   36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3"/>
          <p:cNvSpPr txBox="1"/>
          <p:nvPr/>
        </p:nvSpPr>
        <p:spPr>
          <a:xfrm>
            <a:off x="479064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   32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3"/>
          <p:cNvSpPr txBox="1"/>
          <p:nvPr/>
        </p:nvSpPr>
        <p:spPr>
          <a:xfrm>
            <a:off x="6152520" y="1225450"/>
            <a:ext cx="119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e)  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3"/>
          <p:cNvSpPr txBox="1"/>
          <p:nvPr/>
        </p:nvSpPr>
        <p:spPr>
          <a:xfrm>
            <a:off x="768540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f)   67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905" name="Google Shape;905;p74"/>
          <p:cNvSpPr txBox="1"/>
          <p:nvPr/>
        </p:nvSpPr>
        <p:spPr>
          <a:xfrm>
            <a:off x="324000" y="657600"/>
            <a:ext cx="849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 Sam makes two rectangles with an area of 10 cm².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Explain how these rectangles show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factors of 10.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4"/>
          <p:cNvSpPr/>
          <p:nvPr/>
        </p:nvSpPr>
        <p:spPr>
          <a:xfrm>
            <a:off x="14634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4"/>
          <p:cNvSpPr/>
          <p:nvPr/>
        </p:nvSpPr>
        <p:spPr>
          <a:xfrm>
            <a:off x="19062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74"/>
          <p:cNvSpPr/>
          <p:nvPr/>
        </p:nvSpPr>
        <p:spPr>
          <a:xfrm>
            <a:off x="23490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4"/>
          <p:cNvSpPr/>
          <p:nvPr/>
        </p:nvSpPr>
        <p:spPr>
          <a:xfrm>
            <a:off x="27918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4"/>
          <p:cNvSpPr/>
          <p:nvPr/>
        </p:nvSpPr>
        <p:spPr>
          <a:xfrm>
            <a:off x="32346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74"/>
          <p:cNvSpPr/>
          <p:nvPr/>
        </p:nvSpPr>
        <p:spPr>
          <a:xfrm>
            <a:off x="36774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74"/>
          <p:cNvSpPr/>
          <p:nvPr/>
        </p:nvSpPr>
        <p:spPr>
          <a:xfrm>
            <a:off x="41202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74"/>
          <p:cNvSpPr/>
          <p:nvPr/>
        </p:nvSpPr>
        <p:spPr>
          <a:xfrm>
            <a:off x="45630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74"/>
          <p:cNvSpPr/>
          <p:nvPr/>
        </p:nvSpPr>
        <p:spPr>
          <a:xfrm>
            <a:off x="50058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74"/>
          <p:cNvSpPr/>
          <p:nvPr/>
        </p:nvSpPr>
        <p:spPr>
          <a:xfrm>
            <a:off x="5448600" y="2009725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4"/>
          <p:cNvSpPr/>
          <p:nvPr/>
        </p:nvSpPr>
        <p:spPr>
          <a:xfrm>
            <a:off x="2358000" y="28011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74"/>
          <p:cNvSpPr/>
          <p:nvPr/>
        </p:nvSpPr>
        <p:spPr>
          <a:xfrm>
            <a:off x="2800800" y="28011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74"/>
          <p:cNvSpPr/>
          <p:nvPr/>
        </p:nvSpPr>
        <p:spPr>
          <a:xfrm>
            <a:off x="3243600" y="28011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74"/>
          <p:cNvSpPr/>
          <p:nvPr/>
        </p:nvSpPr>
        <p:spPr>
          <a:xfrm>
            <a:off x="3686400" y="28011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4"/>
          <p:cNvSpPr/>
          <p:nvPr/>
        </p:nvSpPr>
        <p:spPr>
          <a:xfrm>
            <a:off x="4129200" y="28011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4"/>
          <p:cNvSpPr/>
          <p:nvPr/>
        </p:nvSpPr>
        <p:spPr>
          <a:xfrm>
            <a:off x="2358000" y="32547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4"/>
          <p:cNvSpPr/>
          <p:nvPr/>
        </p:nvSpPr>
        <p:spPr>
          <a:xfrm>
            <a:off x="2800800" y="32547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74"/>
          <p:cNvSpPr/>
          <p:nvPr/>
        </p:nvSpPr>
        <p:spPr>
          <a:xfrm>
            <a:off x="3243600" y="32547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4"/>
          <p:cNvSpPr/>
          <p:nvPr/>
        </p:nvSpPr>
        <p:spPr>
          <a:xfrm>
            <a:off x="3686400" y="32547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4"/>
          <p:cNvSpPr/>
          <p:nvPr/>
        </p:nvSpPr>
        <p:spPr>
          <a:xfrm>
            <a:off x="4129200" y="3254750"/>
            <a:ext cx="442800" cy="45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List the </a:t>
            </a:r>
            <a:r>
              <a:rPr lang="en-GB">
                <a:solidFill>
                  <a:schemeClr val="accent4"/>
                </a:solidFill>
              </a:rPr>
              <a:t>factor pairs</a:t>
            </a:r>
            <a:r>
              <a:rPr lang="en-GB"/>
              <a:t> of these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932" name="Google Shape;932;p75"/>
          <p:cNvSpPr txBox="1"/>
          <p:nvPr/>
        </p:nvSpPr>
        <p:spPr>
          <a:xfrm>
            <a:off x="70500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5"/>
          <p:cNvSpPr txBox="1"/>
          <p:nvPr/>
        </p:nvSpPr>
        <p:spPr>
          <a:xfrm>
            <a:off x="206688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   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5"/>
          <p:cNvSpPr txBox="1"/>
          <p:nvPr/>
        </p:nvSpPr>
        <p:spPr>
          <a:xfrm>
            <a:off x="342876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   36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5"/>
          <p:cNvSpPr txBox="1"/>
          <p:nvPr/>
        </p:nvSpPr>
        <p:spPr>
          <a:xfrm>
            <a:off x="479064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   32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5"/>
          <p:cNvSpPr txBox="1"/>
          <p:nvPr/>
        </p:nvSpPr>
        <p:spPr>
          <a:xfrm>
            <a:off x="6152520" y="1225450"/>
            <a:ext cx="119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e)  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5"/>
          <p:cNvSpPr txBox="1"/>
          <p:nvPr/>
        </p:nvSpPr>
        <p:spPr>
          <a:xfrm>
            <a:off x="7685400" y="12254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f)   67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5"/>
          <p:cNvSpPr txBox="1"/>
          <p:nvPr/>
        </p:nvSpPr>
        <p:spPr>
          <a:xfrm>
            <a:off x="705000" y="1877600"/>
            <a:ext cx="102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18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9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9" name="Google Shape;939;p75"/>
          <p:cNvSpPr txBox="1"/>
          <p:nvPr/>
        </p:nvSpPr>
        <p:spPr>
          <a:xfrm>
            <a:off x="2122260" y="1877600"/>
            <a:ext cx="102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28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0" name="Google Shape;940;p75"/>
          <p:cNvSpPr txBox="1"/>
          <p:nvPr/>
        </p:nvSpPr>
        <p:spPr>
          <a:xfrm>
            <a:off x="3539520" y="1877600"/>
            <a:ext cx="1028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36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9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× 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1" name="Google Shape;941;p75"/>
          <p:cNvSpPr txBox="1"/>
          <p:nvPr/>
        </p:nvSpPr>
        <p:spPr>
          <a:xfrm>
            <a:off x="4956780" y="1877600"/>
            <a:ext cx="102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32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2" name="Google Shape;942;p75"/>
          <p:cNvSpPr txBox="1"/>
          <p:nvPr/>
        </p:nvSpPr>
        <p:spPr>
          <a:xfrm>
            <a:off x="6374040" y="1877600"/>
            <a:ext cx="1028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100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50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25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× 20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3" name="Google Shape;943;p75"/>
          <p:cNvSpPr txBox="1"/>
          <p:nvPr/>
        </p:nvSpPr>
        <p:spPr>
          <a:xfrm>
            <a:off x="7791300" y="187760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× 67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grpSp>
        <p:nvGrpSpPr>
          <p:cNvPr id="949" name="Google Shape;949;p76"/>
          <p:cNvGrpSpPr/>
          <p:nvPr/>
        </p:nvGrpSpPr>
        <p:grpSpPr>
          <a:xfrm>
            <a:off x="2358000" y="1824300"/>
            <a:ext cx="4428000" cy="453600"/>
            <a:chOff x="1463400" y="2009725"/>
            <a:chExt cx="4428000" cy="453600"/>
          </a:xfrm>
        </p:grpSpPr>
        <p:sp>
          <p:nvSpPr>
            <p:cNvPr id="950" name="Google Shape;950;p76"/>
            <p:cNvSpPr/>
            <p:nvPr/>
          </p:nvSpPr>
          <p:spPr>
            <a:xfrm>
              <a:off x="14634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76"/>
            <p:cNvSpPr/>
            <p:nvPr/>
          </p:nvSpPr>
          <p:spPr>
            <a:xfrm>
              <a:off x="19062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76"/>
            <p:cNvSpPr/>
            <p:nvPr/>
          </p:nvSpPr>
          <p:spPr>
            <a:xfrm>
              <a:off x="23490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76"/>
            <p:cNvSpPr/>
            <p:nvPr/>
          </p:nvSpPr>
          <p:spPr>
            <a:xfrm>
              <a:off x="27918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6"/>
            <p:cNvSpPr/>
            <p:nvPr/>
          </p:nvSpPr>
          <p:spPr>
            <a:xfrm>
              <a:off x="32346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76"/>
            <p:cNvSpPr/>
            <p:nvPr/>
          </p:nvSpPr>
          <p:spPr>
            <a:xfrm>
              <a:off x="36774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76"/>
            <p:cNvSpPr/>
            <p:nvPr/>
          </p:nvSpPr>
          <p:spPr>
            <a:xfrm>
              <a:off x="41202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76"/>
            <p:cNvSpPr/>
            <p:nvPr/>
          </p:nvSpPr>
          <p:spPr>
            <a:xfrm>
              <a:off x="45630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76"/>
            <p:cNvSpPr/>
            <p:nvPr/>
          </p:nvSpPr>
          <p:spPr>
            <a:xfrm>
              <a:off x="50058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76"/>
            <p:cNvSpPr/>
            <p:nvPr/>
          </p:nvSpPr>
          <p:spPr>
            <a:xfrm>
              <a:off x="5448600" y="2009725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0" name="Google Shape;960;p76"/>
          <p:cNvGrpSpPr/>
          <p:nvPr/>
        </p:nvGrpSpPr>
        <p:grpSpPr>
          <a:xfrm>
            <a:off x="3465000" y="2647950"/>
            <a:ext cx="2214000" cy="907200"/>
            <a:chOff x="2358000" y="2801150"/>
            <a:chExt cx="2214000" cy="907200"/>
          </a:xfrm>
        </p:grpSpPr>
        <p:sp>
          <p:nvSpPr>
            <p:cNvPr id="961" name="Google Shape;961;p76"/>
            <p:cNvSpPr/>
            <p:nvPr/>
          </p:nvSpPr>
          <p:spPr>
            <a:xfrm>
              <a:off x="2358000" y="28011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76"/>
            <p:cNvSpPr/>
            <p:nvPr/>
          </p:nvSpPr>
          <p:spPr>
            <a:xfrm>
              <a:off x="2800800" y="28011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76"/>
            <p:cNvSpPr/>
            <p:nvPr/>
          </p:nvSpPr>
          <p:spPr>
            <a:xfrm>
              <a:off x="3243600" y="28011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76"/>
            <p:cNvSpPr/>
            <p:nvPr/>
          </p:nvSpPr>
          <p:spPr>
            <a:xfrm>
              <a:off x="3686400" y="28011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76"/>
            <p:cNvSpPr/>
            <p:nvPr/>
          </p:nvSpPr>
          <p:spPr>
            <a:xfrm>
              <a:off x="4129200" y="28011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76"/>
            <p:cNvSpPr/>
            <p:nvPr/>
          </p:nvSpPr>
          <p:spPr>
            <a:xfrm>
              <a:off x="2358000" y="32547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76"/>
            <p:cNvSpPr/>
            <p:nvPr/>
          </p:nvSpPr>
          <p:spPr>
            <a:xfrm>
              <a:off x="2800800" y="32547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76"/>
            <p:cNvSpPr/>
            <p:nvPr/>
          </p:nvSpPr>
          <p:spPr>
            <a:xfrm>
              <a:off x="3243600" y="32547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76"/>
            <p:cNvSpPr/>
            <p:nvPr/>
          </p:nvSpPr>
          <p:spPr>
            <a:xfrm>
              <a:off x="3686400" y="32547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76"/>
            <p:cNvSpPr/>
            <p:nvPr/>
          </p:nvSpPr>
          <p:spPr>
            <a:xfrm>
              <a:off x="4129200" y="3254750"/>
              <a:ext cx="442800" cy="45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1" name="Google Shape;971;p76"/>
          <p:cNvSpPr txBox="1"/>
          <p:nvPr/>
        </p:nvSpPr>
        <p:spPr>
          <a:xfrm>
            <a:off x="424325" y="3703800"/>
            <a:ext cx="8001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Because you cannot make a rectangle with a height of 3, 4, 6, 7, 8, or 9.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 1 &amp; 10 and 2 &amp; 5 are 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only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factor pairs.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76"/>
          <p:cNvSpPr txBox="1"/>
          <p:nvPr>
            <p:ph idx="1" type="body"/>
          </p:nvPr>
        </p:nvSpPr>
        <p:spPr>
          <a:xfrm>
            <a:off x="324000" y="759300"/>
            <a:ext cx="8237700" cy="79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Sam makes two rectangles with an area of 10 cm².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Explain how these rectangles show </a:t>
            </a:r>
            <a:r>
              <a:rPr lang="en-GB">
                <a:solidFill>
                  <a:schemeClr val="accent4"/>
                </a:solidFill>
              </a:rPr>
              <a:t>all</a:t>
            </a:r>
            <a:r>
              <a:rPr lang="en-GB"/>
              <a:t> of the factors of 10.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978" name="Google Shape;978;p7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979" name="Google Shape;979;p7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 fractions</a:t>
            </a:r>
            <a:endParaRPr/>
          </a:p>
        </p:txBody>
      </p:sp>
      <p:sp>
        <p:nvSpPr>
          <p:cNvPr id="980" name="Google Shape;980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pic>
        <p:nvPicPr>
          <p:cNvPr id="981" name="Google Shape;98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02" y="27766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987" name="Google Shape;987;p78"/>
          <p:cNvSpPr txBox="1"/>
          <p:nvPr>
            <p:ph idx="1" type="body"/>
          </p:nvPr>
        </p:nvSpPr>
        <p:spPr>
          <a:xfrm>
            <a:off x="324000" y="2158650"/>
            <a:ext cx="8237700" cy="3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think of any factors that </a:t>
            </a:r>
            <a:r>
              <a:rPr lang="en-GB" sz="2000">
                <a:solidFill>
                  <a:schemeClr val="accent5"/>
                </a:solidFill>
              </a:rPr>
              <a:t>both</a:t>
            </a:r>
            <a:r>
              <a:rPr lang="en-GB" sz="2000"/>
              <a:t> Jun &amp; Izzy have written?</a:t>
            </a:r>
            <a:endParaRPr sz="2000"/>
          </a:p>
        </p:txBody>
      </p:sp>
      <p:pic>
        <p:nvPicPr>
          <p:cNvPr id="988" name="Google Shape;98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639" y="810000"/>
            <a:ext cx="1600062" cy="129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810000"/>
            <a:ext cx="1147763" cy="12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97423" y="726825"/>
            <a:ext cx="2648027" cy="103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8600" y="674100"/>
            <a:ext cx="2165700" cy="12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8"/>
          <p:cNvSpPr txBox="1"/>
          <p:nvPr/>
        </p:nvSpPr>
        <p:spPr>
          <a:xfrm>
            <a:off x="1598900" y="649050"/>
            <a:ext cx="239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I’ve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found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all of the factor pairs of 20.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8"/>
          <p:cNvSpPr txBox="1"/>
          <p:nvPr/>
        </p:nvSpPr>
        <p:spPr>
          <a:xfrm>
            <a:off x="4197425" y="715550"/>
            <a:ext cx="281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I’ve found all of the factor pairs of 30.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8"/>
          <p:cNvSpPr txBox="1"/>
          <p:nvPr/>
        </p:nvSpPr>
        <p:spPr>
          <a:xfrm>
            <a:off x="317550" y="4031500"/>
            <a:ext cx="823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They both have 1, 2, 10 &amp; 5.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This means that 1, 2, 5 and 10 are the common factors of 20 and 30.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5" name="Google Shape;995;p78"/>
          <p:cNvSpPr txBox="1"/>
          <p:nvPr/>
        </p:nvSpPr>
        <p:spPr>
          <a:xfrm>
            <a:off x="2313300" y="2510825"/>
            <a:ext cx="1147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8"/>
          <p:cNvSpPr txBox="1"/>
          <p:nvPr/>
        </p:nvSpPr>
        <p:spPr>
          <a:xfrm>
            <a:off x="5682900" y="2510825"/>
            <a:ext cx="1147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30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15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8"/>
          <p:cNvSpPr/>
          <p:nvPr/>
        </p:nvSpPr>
        <p:spPr>
          <a:xfrm>
            <a:off x="2399050" y="2598922"/>
            <a:ext cx="1695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78"/>
          <p:cNvSpPr/>
          <p:nvPr/>
        </p:nvSpPr>
        <p:spPr>
          <a:xfrm>
            <a:off x="5764550" y="2600509"/>
            <a:ext cx="1695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78"/>
          <p:cNvSpPr/>
          <p:nvPr/>
        </p:nvSpPr>
        <p:spPr>
          <a:xfrm>
            <a:off x="2399050" y="2941884"/>
            <a:ext cx="1695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78"/>
          <p:cNvSpPr/>
          <p:nvPr/>
        </p:nvSpPr>
        <p:spPr>
          <a:xfrm>
            <a:off x="5764550" y="2943472"/>
            <a:ext cx="1695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78"/>
          <p:cNvSpPr/>
          <p:nvPr/>
        </p:nvSpPr>
        <p:spPr>
          <a:xfrm>
            <a:off x="2856250" y="2943475"/>
            <a:ext cx="3252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78"/>
          <p:cNvSpPr/>
          <p:nvPr/>
        </p:nvSpPr>
        <p:spPr>
          <a:xfrm>
            <a:off x="6209050" y="3280375"/>
            <a:ext cx="3252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78"/>
          <p:cNvSpPr/>
          <p:nvPr/>
        </p:nvSpPr>
        <p:spPr>
          <a:xfrm>
            <a:off x="2862600" y="3280384"/>
            <a:ext cx="1695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8"/>
          <p:cNvSpPr/>
          <p:nvPr/>
        </p:nvSpPr>
        <p:spPr>
          <a:xfrm>
            <a:off x="5764550" y="3611547"/>
            <a:ext cx="169500" cy="33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010" name="Google Shape;1010;p7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cannot make an array of height 2 for odd numbers.</a:t>
            </a:r>
            <a:endParaRPr/>
          </a:p>
        </p:txBody>
      </p:sp>
      <p:sp>
        <p:nvSpPr>
          <p:cNvPr id="1011" name="Google Shape;1011;p79"/>
          <p:cNvSpPr txBox="1"/>
          <p:nvPr>
            <p:ph idx="1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are no numbers that are a common factor of all integers.</a:t>
            </a:r>
            <a:endParaRPr/>
          </a:p>
        </p:txBody>
      </p:sp>
      <p:sp>
        <p:nvSpPr>
          <p:cNvPr id="1012" name="Google Shape;1012;p7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always make an array of height or width of 1.</a:t>
            </a:r>
            <a:endParaRPr/>
          </a:p>
        </p:txBody>
      </p:sp>
      <p:pic>
        <p:nvPicPr>
          <p:cNvPr id="1013" name="Google Shape;101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808" y="16952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6983" y="392691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020" name="Google Shape;1020;p80"/>
          <p:cNvSpPr txBox="1"/>
          <p:nvPr>
            <p:ph idx="1" type="body"/>
          </p:nvPr>
        </p:nvSpPr>
        <p:spPr>
          <a:xfrm>
            <a:off x="324000" y="6069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We can put factors into a Venn diagram to help us identify the common factors.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21" name="Google Shape;1021;p80"/>
          <p:cNvSpPr/>
          <p:nvPr/>
        </p:nvSpPr>
        <p:spPr>
          <a:xfrm>
            <a:off x="1593075" y="1337201"/>
            <a:ext cx="3934200" cy="1303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80"/>
          <p:cNvSpPr/>
          <p:nvPr/>
        </p:nvSpPr>
        <p:spPr>
          <a:xfrm>
            <a:off x="3241056" y="1337201"/>
            <a:ext cx="3934200" cy="1303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80"/>
          <p:cNvSpPr txBox="1"/>
          <p:nvPr/>
        </p:nvSpPr>
        <p:spPr>
          <a:xfrm>
            <a:off x="4079350" y="1352009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0"/>
          <p:cNvSpPr txBox="1"/>
          <p:nvPr/>
        </p:nvSpPr>
        <p:spPr>
          <a:xfrm>
            <a:off x="3428938" y="1716981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0"/>
          <p:cNvSpPr txBox="1"/>
          <p:nvPr/>
        </p:nvSpPr>
        <p:spPr>
          <a:xfrm>
            <a:off x="4729750" y="1558420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0"/>
          <p:cNvSpPr txBox="1"/>
          <p:nvPr/>
        </p:nvSpPr>
        <p:spPr>
          <a:xfrm>
            <a:off x="1759450" y="1731894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0"/>
          <p:cNvSpPr txBox="1"/>
          <p:nvPr/>
        </p:nvSpPr>
        <p:spPr>
          <a:xfrm>
            <a:off x="2472550" y="1352009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0"/>
          <p:cNvSpPr txBox="1"/>
          <p:nvPr/>
        </p:nvSpPr>
        <p:spPr>
          <a:xfrm>
            <a:off x="3851638" y="2010770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0"/>
          <p:cNvSpPr txBox="1"/>
          <p:nvPr/>
        </p:nvSpPr>
        <p:spPr>
          <a:xfrm>
            <a:off x="4690150" y="2010770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0"/>
          <p:cNvSpPr txBox="1"/>
          <p:nvPr/>
        </p:nvSpPr>
        <p:spPr>
          <a:xfrm>
            <a:off x="2606850" y="2030167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0"/>
          <p:cNvSpPr txBox="1"/>
          <p:nvPr/>
        </p:nvSpPr>
        <p:spPr>
          <a:xfrm>
            <a:off x="5607850" y="1558420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0"/>
          <p:cNvSpPr txBox="1"/>
          <p:nvPr/>
        </p:nvSpPr>
        <p:spPr>
          <a:xfrm>
            <a:off x="6249125" y="1755957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0"/>
          <p:cNvSpPr txBox="1"/>
          <p:nvPr/>
        </p:nvSpPr>
        <p:spPr>
          <a:xfrm>
            <a:off x="598500" y="1305025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0"/>
          <p:cNvSpPr txBox="1"/>
          <p:nvPr>
            <p:ph idx="1" type="body"/>
          </p:nvPr>
        </p:nvSpPr>
        <p:spPr>
          <a:xfrm>
            <a:off x="324000" y="3600775"/>
            <a:ext cx="8237700" cy="2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There is one factor missing in this Venn diagram.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35" name="Google Shape;1035;p80"/>
          <p:cNvSpPr txBox="1"/>
          <p:nvPr/>
        </p:nvSpPr>
        <p:spPr>
          <a:xfrm>
            <a:off x="324000" y="2656338"/>
            <a:ext cx="82731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factors of 36 are:  1, 2, 3, 4, 6, 9, 12, 18, and 36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factors of 54 are:  1, 2, 3, 6, 9, 18, 27 and 54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0"/>
          <p:cNvSpPr txBox="1"/>
          <p:nvPr/>
        </p:nvSpPr>
        <p:spPr>
          <a:xfrm>
            <a:off x="324000" y="3927450"/>
            <a:ext cx="27285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one is missing?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should it go?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0"/>
          <p:cNvSpPr txBox="1"/>
          <p:nvPr/>
        </p:nvSpPr>
        <p:spPr>
          <a:xfrm>
            <a:off x="2892469" y="3926631"/>
            <a:ext cx="186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 missing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8" name="Google Shape;1038;p80"/>
          <p:cNvSpPr txBox="1"/>
          <p:nvPr/>
        </p:nvSpPr>
        <p:spPr>
          <a:xfrm>
            <a:off x="2774019" y="4351150"/>
            <a:ext cx="592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a common factor so will go in the intersection.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80"/>
          <p:cNvSpPr txBox="1"/>
          <p:nvPr/>
        </p:nvSpPr>
        <p:spPr>
          <a:xfrm>
            <a:off x="4162750" y="1715170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80"/>
          <p:cNvSpPr txBox="1"/>
          <p:nvPr/>
        </p:nvSpPr>
        <p:spPr>
          <a:xfrm>
            <a:off x="6887350" y="1305025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54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046" name="Google Shape;1046;p8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</a:t>
            </a:r>
            <a:r>
              <a:rPr lang="en-GB">
                <a:solidFill>
                  <a:schemeClr val="accent5"/>
                </a:solidFill>
              </a:rPr>
              <a:t>all</a:t>
            </a:r>
            <a:r>
              <a:rPr lang="en-GB"/>
              <a:t> the </a:t>
            </a:r>
            <a:r>
              <a:rPr lang="en-GB">
                <a:solidFill>
                  <a:schemeClr val="accent5"/>
                </a:solidFill>
              </a:rPr>
              <a:t>common factors</a:t>
            </a:r>
            <a:r>
              <a:rPr lang="en-GB"/>
              <a:t> of 248 and 300.</a:t>
            </a:r>
            <a:endParaRPr/>
          </a:p>
        </p:txBody>
      </p:sp>
      <p:sp>
        <p:nvSpPr>
          <p:cNvPr id="1047" name="Google Shape;1047;p81"/>
          <p:cNvSpPr txBox="1"/>
          <p:nvPr/>
        </p:nvSpPr>
        <p:spPr>
          <a:xfrm>
            <a:off x="899400" y="1663900"/>
            <a:ext cx="825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1"/>
          <p:cNvSpPr txBox="1"/>
          <p:nvPr/>
        </p:nvSpPr>
        <p:spPr>
          <a:xfrm>
            <a:off x="1236700" y="1073400"/>
            <a:ext cx="213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 pairs of 248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1"/>
          <p:cNvSpPr txBox="1"/>
          <p:nvPr/>
        </p:nvSpPr>
        <p:spPr>
          <a:xfrm>
            <a:off x="5190294" y="1073400"/>
            <a:ext cx="213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Factor pairs of 300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1"/>
          <p:cNvSpPr txBox="1"/>
          <p:nvPr/>
        </p:nvSpPr>
        <p:spPr>
          <a:xfrm>
            <a:off x="342900" y="3999150"/>
            <a:ext cx="795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down a pair which has been left out for each.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1"/>
          <p:cNvSpPr txBox="1"/>
          <p:nvPr/>
        </p:nvSpPr>
        <p:spPr>
          <a:xfrm>
            <a:off x="1236700" y="1806100"/>
            <a:ext cx="2133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248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124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62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1"/>
          <p:cNvSpPr txBox="1"/>
          <p:nvPr/>
        </p:nvSpPr>
        <p:spPr>
          <a:xfrm>
            <a:off x="5190294" y="1806100"/>
            <a:ext cx="2133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× 300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150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75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1"/>
          <p:cNvSpPr txBox="1"/>
          <p:nvPr/>
        </p:nvSpPr>
        <p:spPr>
          <a:xfrm>
            <a:off x="352500" y="3184650"/>
            <a:ext cx="816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these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factors of each integer?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1"/>
          <p:cNvSpPr txBox="1"/>
          <p:nvPr/>
        </p:nvSpPr>
        <p:spPr>
          <a:xfrm>
            <a:off x="675000" y="3597725"/>
            <a:ext cx="729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No, for large integers it’s difficult to list them all.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81"/>
          <p:cNvSpPr txBox="1"/>
          <p:nvPr/>
        </p:nvSpPr>
        <p:spPr>
          <a:xfrm>
            <a:off x="675000" y="4320000"/>
            <a:ext cx="588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 8 × 31 for 248 and 30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10 for 300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82"/>
          <p:cNvSpPr txBox="1"/>
          <p:nvPr>
            <p:ph idx="1" type="body"/>
          </p:nvPr>
        </p:nvSpPr>
        <p:spPr>
          <a:xfrm>
            <a:off x="324000" y="759300"/>
            <a:ext cx="8237700" cy="20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 following is </a:t>
            </a:r>
            <a:r>
              <a:rPr lang="en-GB">
                <a:solidFill>
                  <a:schemeClr val="accent5"/>
                </a:solidFill>
              </a:rPr>
              <a:t>not</a:t>
            </a:r>
            <a:r>
              <a:rPr lang="en-GB"/>
              <a:t> a common factor of 80 and 56?</a:t>
            </a:r>
            <a:endParaRPr/>
          </a:p>
        </p:txBody>
      </p:sp>
      <p:sp>
        <p:nvSpPr>
          <p:cNvPr id="1061" name="Google Shape;106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ommon factors</a:t>
            </a:r>
            <a:endParaRPr/>
          </a:p>
        </p:txBody>
      </p:sp>
      <p:sp>
        <p:nvSpPr>
          <p:cNvPr id="1062" name="Google Shape;1062;p82"/>
          <p:cNvSpPr/>
          <p:nvPr/>
        </p:nvSpPr>
        <p:spPr>
          <a:xfrm>
            <a:off x="1528900" y="1238027"/>
            <a:ext cx="3934200" cy="2001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82"/>
          <p:cNvSpPr/>
          <p:nvPr/>
        </p:nvSpPr>
        <p:spPr>
          <a:xfrm>
            <a:off x="3176875" y="1238026"/>
            <a:ext cx="3934200" cy="1936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82"/>
          <p:cNvSpPr txBox="1"/>
          <p:nvPr/>
        </p:nvSpPr>
        <p:spPr>
          <a:xfrm>
            <a:off x="3734838" y="1509300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2"/>
          <p:cNvSpPr txBox="1"/>
          <p:nvPr/>
        </p:nvSpPr>
        <p:spPr>
          <a:xfrm>
            <a:off x="4419600" y="1433925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2"/>
          <p:cNvSpPr txBox="1"/>
          <p:nvPr/>
        </p:nvSpPr>
        <p:spPr>
          <a:xfrm>
            <a:off x="3521988" y="2033325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2"/>
          <p:cNvSpPr txBox="1"/>
          <p:nvPr/>
        </p:nvSpPr>
        <p:spPr>
          <a:xfrm>
            <a:off x="2794188" y="1340100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2"/>
          <p:cNvSpPr txBox="1"/>
          <p:nvPr/>
        </p:nvSpPr>
        <p:spPr>
          <a:xfrm>
            <a:off x="1938175" y="1433925"/>
            <a:ext cx="6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2"/>
          <p:cNvSpPr txBox="1"/>
          <p:nvPr/>
        </p:nvSpPr>
        <p:spPr>
          <a:xfrm>
            <a:off x="4795225" y="2102163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2"/>
          <p:cNvSpPr txBox="1"/>
          <p:nvPr/>
        </p:nvSpPr>
        <p:spPr>
          <a:xfrm>
            <a:off x="2794200" y="2549175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2"/>
          <p:cNvSpPr txBox="1"/>
          <p:nvPr/>
        </p:nvSpPr>
        <p:spPr>
          <a:xfrm>
            <a:off x="1642838" y="1977375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2"/>
          <p:cNvSpPr txBox="1"/>
          <p:nvPr/>
        </p:nvSpPr>
        <p:spPr>
          <a:xfrm>
            <a:off x="6235563" y="1720225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2"/>
          <p:cNvSpPr txBox="1"/>
          <p:nvPr/>
        </p:nvSpPr>
        <p:spPr>
          <a:xfrm>
            <a:off x="5696088" y="2438400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2"/>
          <p:cNvSpPr txBox="1"/>
          <p:nvPr/>
        </p:nvSpPr>
        <p:spPr>
          <a:xfrm>
            <a:off x="2326488" y="2160000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2"/>
          <p:cNvSpPr txBox="1"/>
          <p:nvPr/>
        </p:nvSpPr>
        <p:spPr>
          <a:xfrm>
            <a:off x="5315050" y="1340100"/>
            <a:ext cx="5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2"/>
          <p:cNvSpPr txBox="1"/>
          <p:nvPr/>
        </p:nvSpPr>
        <p:spPr>
          <a:xfrm>
            <a:off x="996275" y="4259800"/>
            <a:ext cx="33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2"/>
          <p:cNvSpPr txBox="1"/>
          <p:nvPr/>
        </p:nvSpPr>
        <p:spPr>
          <a:xfrm>
            <a:off x="4231815" y="4259800"/>
            <a:ext cx="33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2"/>
          <p:cNvSpPr txBox="1"/>
          <p:nvPr/>
        </p:nvSpPr>
        <p:spPr>
          <a:xfrm>
            <a:off x="7467355" y="4259800"/>
            <a:ext cx="33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2"/>
          <p:cNvSpPr txBox="1"/>
          <p:nvPr/>
        </p:nvSpPr>
        <p:spPr>
          <a:xfrm>
            <a:off x="5570938" y="1957125"/>
            <a:ext cx="3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2"/>
          <p:cNvSpPr txBox="1"/>
          <p:nvPr/>
        </p:nvSpPr>
        <p:spPr>
          <a:xfrm>
            <a:off x="522300" y="1305025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80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2"/>
          <p:cNvSpPr txBox="1"/>
          <p:nvPr/>
        </p:nvSpPr>
        <p:spPr>
          <a:xfrm>
            <a:off x="6658750" y="1305025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56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2" name="Google Shape;108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633" y="43118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3" name="Google Shape;1083;p82"/>
          <p:cNvGrpSpPr/>
          <p:nvPr/>
        </p:nvGrpSpPr>
        <p:grpSpPr>
          <a:xfrm>
            <a:off x="996271" y="3670800"/>
            <a:ext cx="514579" cy="457200"/>
            <a:chOff x="1760991" y="3159725"/>
            <a:chExt cx="457200" cy="457200"/>
          </a:xfrm>
        </p:grpSpPr>
        <p:pic>
          <p:nvPicPr>
            <p:cNvPr id="1084" name="Google Shape;1084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0991" y="31597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82"/>
            <p:cNvSpPr txBox="1"/>
            <p:nvPr/>
          </p:nvSpPr>
          <p:spPr>
            <a:xfrm>
              <a:off x="1785603" y="3244038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82"/>
          <p:cNvGrpSpPr/>
          <p:nvPr/>
        </p:nvGrpSpPr>
        <p:grpSpPr>
          <a:xfrm>
            <a:off x="4140946" y="3670800"/>
            <a:ext cx="514579" cy="457200"/>
            <a:chOff x="797916" y="3040738"/>
            <a:chExt cx="457200" cy="457200"/>
          </a:xfrm>
        </p:grpSpPr>
        <p:pic>
          <p:nvPicPr>
            <p:cNvPr id="1087" name="Google Shape;1087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7916" y="30407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82"/>
            <p:cNvSpPr txBox="1"/>
            <p:nvPr/>
          </p:nvSpPr>
          <p:spPr>
            <a:xfrm>
              <a:off x="822528" y="312505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82"/>
          <p:cNvGrpSpPr/>
          <p:nvPr/>
        </p:nvGrpSpPr>
        <p:grpSpPr>
          <a:xfrm>
            <a:off x="7285568" y="3670800"/>
            <a:ext cx="514579" cy="457200"/>
            <a:chOff x="1020916" y="1442088"/>
            <a:chExt cx="457200" cy="457200"/>
          </a:xfrm>
        </p:grpSpPr>
        <p:pic>
          <p:nvPicPr>
            <p:cNvPr id="1090" name="Google Shape;1090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3"/>
          <p:cNvSpPr txBox="1"/>
          <p:nvPr>
            <p:ph idx="1" type="body"/>
          </p:nvPr>
        </p:nvSpPr>
        <p:spPr>
          <a:xfrm>
            <a:off x="324000" y="683100"/>
            <a:ext cx="8496000" cy="7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Use the Venn diagram to fill in the gaps.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45 has </a:t>
            </a:r>
            <a:r>
              <a:rPr lang="en-GB" sz="2000" u="sng"/>
              <a:t>                        </a:t>
            </a:r>
            <a:r>
              <a:rPr lang="en-GB" sz="2000"/>
              <a:t> factors which are not common with 60.</a:t>
            </a:r>
            <a:endParaRPr sz="2000"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60 has </a:t>
            </a:r>
            <a:r>
              <a:rPr lang="en-GB" sz="2000" u="sng"/>
              <a:t>                        </a:t>
            </a:r>
            <a:r>
              <a:rPr lang="en-GB" sz="2000"/>
              <a:t> factors which are not common with 45.</a:t>
            </a:r>
            <a:endParaRPr sz="2000"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45 and 60 have </a:t>
            </a:r>
            <a:r>
              <a:rPr lang="en-GB" sz="2000" u="sng"/>
              <a:t>                        </a:t>
            </a:r>
            <a:r>
              <a:rPr lang="en-GB" sz="2000"/>
              <a:t>  common factors.</a:t>
            </a:r>
            <a:endParaRPr sz="2000"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common factors of 45 and 60 are  </a:t>
            </a:r>
            <a:r>
              <a:rPr lang="en-GB" sz="2000" u="sng"/>
              <a:t>                        </a:t>
            </a:r>
            <a:r>
              <a:rPr lang="en-GB" sz="2000"/>
              <a:t> 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97" name="Google Shape;1097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098" name="Google Shape;1098;p83"/>
          <p:cNvSpPr/>
          <p:nvPr/>
        </p:nvSpPr>
        <p:spPr>
          <a:xfrm>
            <a:off x="2107513" y="2988750"/>
            <a:ext cx="3457200" cy="173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83"/>
          <p:cNvSpPr/>
          <p:nvPr/>
        </p:nvSpPr>
        <p:spPr>
          <a:xfrm>
            <a:off x="3579288" y="2988750"/>
            <a:ext cx="3457200" cy="173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83"/>
          <p:cNvSpPr txBox="1"/>
          <p:nvPr/>
        </p:nvSpPr>
        <p:spPr>
          <a:xfrm>
            <a:off x="6393525" y="398315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3"/>
          <p:cNvSpPr txBox="1"/>
          <p:nvPr/>
        </p:nvSpPr>
        <p:spPr>
          <a:xfrm>
            <a:off x="4016400" y="331620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3"/>
          <p:cNvSpPr txBox="1"/>
          <p:nvPr/>
        </p:nvSpPr>
        <p:spPr>
          <a:xfrm>
            <a:off x="4824000" y="345995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3"/>
          <p:cNvSpPr txBox="1"/>
          <p:nvPr/>
        </p:nvSpPr>
        <p:spPr>
          <a:xfrm>
            <a:off x="4016400" y="385620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3"/>
          <p:cNvSpPr txBox="1"/>
          <p:nvPr/>
        </p:nvSpPr>
        <p:spPr>
          <a:xfrm>
            <a:off x="4672200" y="38562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3"/>
          <p:cNvSpPr txBox="1"/>
          <p:nvPr/>
        </p:nvSpPr>
        <p:spPr>
          <a:xfrm>
            <a:off x="2389800" y="38562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3"/>
          <p:cNvSpPr txBox="1"/>
          <p:nvPr/>
        </p:nvSpPr>
        <p:spPr>
          <a:xfrm>
            <a:off x="2951100" y="3190325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3"/>
          <p:cNvSpPr txBox="1"/>
          <p:nvPr/>
        </p:nvSpPr>
        <p:spPr>
          <a:xfrm>
            <a:off x="5631600" y="3190325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3"/>
          <p:cNvSpPr txBox="1"/>
          <p:nvPr/>
        </p:nvSpPr>
        <p:spPr>
          <a:xfrm>
            <a:off x="6259775" y="35946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3"/>
          <p:cNvSpPr txBox="1"/>
          <p:nvPr/>
        </p:nvSpPr>
        <p:spPr>
          <a:xfrm>
            <a:off x="5698475" y="38562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3"/>
          <p:cNvSpPr txBox="1"/>
          <p:nvPr/>
        </p:nvSpPr>
        <p:spPr>
          <a:xfrm>
            <a:off x="5385900" y="42108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3"/>
          <p:cNvSpPr txBox="1"/>
          <p:nvPr/>
        </p:nvSpPr>
        <p:spPr>
          <a:xfrm>
            <a:off x="5304000" y="291255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3"/>
          <p:cNvSpPr txBox="1"/>
          <p:nvPr/>
        </p:nvSpPr>
        <p:spPr>
          <a:xfrm>
            <a:off x="978350" y="3101400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3"/>
          <p:cNvSpPr txBox="1"/>
          <p:nvPr/>
        </p:nvSpPr>
        <p:spPr>
          <a:xfrm>
            <a:off x="6733800" y="3101400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Find the common factors for each of these following pairs of numbers: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120" name="Google Shape;1120;p84"/>
          <p:cNvSpPr txBox="1"/>
          <p:nvPr/>
        </p:nvSpPr>
        <p:spPr>
          <a:xfrm>
            <a:off x="71469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   24 &amp; 48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4"/>
          <p:cNvSpPr txBox="1"/>
          <p:nvPr/>
        </p:nvSpPr>
        <p:spPr>
          <a:xfrm>
            <a:off x="3240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   24 &amp; 36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4"/>
          <p:cNvSpPr txBox="1"/>
          <p:nvPr/>
        </p:nvSpPr>
        <p:spPr>
          <a:xfrm>
            <a:off x="25983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   24 &amp; 38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4"/>
          <p:cNvSpPr txBox="1"/>
          <p:nvPr/>
        </p:nvSpPr>
        <p:spPr>
          <a:xfrm>
            <a:off x="48726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   24 &amp; 40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129" name="Google Shape;1129;p85"/>
          <p:cNvSpPr/>
          <p:nvPr/>
        </p:nvSpPr>
        <p:spPr>
          <a:xfrm>
            <a:off x="2107513" y="2988750"/>
            <a:ext cx="3457200" cy="173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85"/>
          <p:cNvSpPr/>
          <p:nvPr/>
        </p:nvSpPr>
        <p:spPr>
          <a:xfrm>
            <a:off x="3579288" y="2988750"/>
            <a:ext cx="3457200" cy="1734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85"/>
          <p:cNvSpPr txBox="1"/>
          <p:nvPr/>
        </p:nvSpPr>
        <p:spPr>
          <a:xfrm>
            <a:off x="6393525" y="398315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5"/>
          <p:cNvSpPr txBox="1"/>
          <p:nvPr/>
        </p:nvSpPr>
        <p:spPr>
          <a:xfrm>
            <a:off x="4016400" y="331620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5"/>
          <p:cNvSpPr txBox="1"/>
          <p:nvPr/>
        </p:nvSpPr>
        <p:spPr>
          <a:xfrm>
            <a:off x="4824000" y="345995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5"/>
          <p:cNvSpPr txBox="1"/>
          <p:nvPr/>
        </p:nvSpPr>
        <p:spPr>
          <a:xfrm>
            <a:off x="4016400" y="3856200"/>
            <a:ext cx="3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5"/>
          <p:cNvSpPr txBox="1"/>
          <p:nvPr/>
        </p:nvSpPr>
        <p:spPr>
          <a:xfrm>
            <a:off x="4672200" y="38562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5"/>
          <p:cNvSpPr txBox="1"/>
          <p:nvPr/>
        </p:nvSpPr>
        <p:spPr>
          <a:xfrm>
            <a:off x="2389800" y="38562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5"/>
          <p:cNvSpPr txBox="1"/>
          <p:nvPr/>
        </p:nvSpPr>
        <p:spPr>
          <a:xfrm>
            <a:off x="2951100" y="3190325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5"/>
          <p:cNvSpPr txBox="1"/>
          <p:nvPr/>
        </p:nvSpPr>
        <p:spPr>
          <a:xfrm>
            <a:off x="5631600" y="3190325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5"/>
          <p:cNvSpPr txBox="1"/>
          <p:nvPr/>
        </p:nvSpPr>
        <p:spPr>
          <a:xfrm>
            <a:off x="6259775" y="35946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5"/>
          <p:cNvSpPr txBox="1"/>
          <p:nvPr/>
        </p:nvSpPr>
        <p:spPr>
          <a:xfrm>
            <a:off x="5698475" y="38562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5"/>
          <p:cNvSpPr txBox="1"/>
          <p:nvPr/>
        </p:nvSpPr>
        <p:spPr>
          <a:xfrm>
            <a:off x="5385900" y="421080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5"/>
          <p:cNvSpPr txBox="1"/>
          <p:nvPr/>
        </p:nvSpPr>
        <p:spPr>
          <a:xfrm>
            <a:off x="5304000" y="2912550"/>
            <a:ext cx="5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Use the Venn diagram to fill in the gaps.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45 has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/>
              <a:t> factors which are not common with 60.</a:t>
            </a:r>
            <a:endParaRPr sz="2000"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60 has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/>
              <a:t> factors which are not common with 45.</a:t>
            </a:r>
            <a:endParaRPr sz="2000"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45 and 60 have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/>
              <a:t> common factors.</a:t>
            </a:r>
            <a:endParaRPr sz="2000"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common factors of 45 and 60 are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1, 3, 5 and 15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44" name="Google Shape;1144;p85"/>
          <p:cNvSpPr txBox="1"/>
          <p:nvPr/>
        </p:nvSpPr>
        <p:spPr>
          <a:xfrm>
            <a:off x="978350" y="3101400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45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5"/>
          <p:cNvSpPr txBox="1"/>
          <p:nvPr/>
        </p:nvSpPr>
        <p:spPr>
          <a:xfrm>
            <a:off x="6733800" y="3101400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Factors of 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86"/>
          <p:cNvSpPr txBox="1"/>
          <p:nvPr>
            <p:ph idx="1" type="body"/>
          </p:nvPr>
        </p:nvSpPr>
        <p:spPr>
          <a:xfrm>
            <a:off x="324000" y="759300"/>
            <a:ext cx="82377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Find the common factors for each of these following pairs of numbers: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152" name="Google Shape;1152;p86"/>
          <p:cNvSpPr txBox="1"/>
          <p:nvPr/>
        </p:nvSpPr>
        <p:spPr>
          <a:xfrm>
            <a:off x="71469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   24 &amp; 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6"/>
          <p:cNvSpPr txBox="1"/>
          <p:nvPr/>
        </p:nvSpPr>
        <p:spPr>
          <a:xfrm>
            <a:off x="3240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   24 &amp; 36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6"/>
          <p:cNvSpPr txBox="1"/>
          <p:nvPr/>
        </p:nvSpPr>
        <p:spPr>
          <a:xfrm>
            <a:off x="25983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   24 &amp; 38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6"/>
          <p:cNvSpPr txBox="1"/>
          <p:nvPr/>
        </p:nvSpPr>
        <p:spPr>
          <a:xfrm>
            <a:off x="4872600" y="1636800"/>
            <a:ext cx="16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   24 &amp; 40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6"/>
          <p:cNvSpPr txBox="1"/>
          <p:nvPr/>
        </p:nvSpPr>
        <p:spPr>
          <a:xfrm>
            <a:off x="320536" y="2160000"/>
            <a:ext cx="102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24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86"/>
          <p:cNvSpPr txBox="1"/>
          <p:nvPr/>
        </p:nvSpPr>
        <p:spPr>
          <a:xfrm>
            <a:off x="1327942" y="2160000"/>
            <a:ext cx="1028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36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× 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86"/>
          <p:cNvSpPr txBox="1"/>
          <p:nvPr/>
        </p:nvSpPr>
        <p:spPr>
          <a:xfrm>
            <a:off x="2526351" y="2160000"/>
            <a:ext cx="102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24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6"/>
          <p:cNvSpPr txBox="1"/>
          <p:nvPr/>
        </p:nvSpPr>
        <p:spPr>
          <a:xfrm>
            <a:off x="3479477" y="2160000"/>
            <a:ext cx="102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38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86"/>
          <p:cNvSpPr txBox="1"/>
          <p:nvPr/>
        </p:nvSpPr>
        <p:spPr>
          <a:xfrm>
            <a:off x="4808366" y="2160000"/>
            <a:ext cx="102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24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86"/>
          <p:cNvSpPr txBox="1"/>
          <p:nvPr/>
        </p:nvSpPr>
        <p:spPr>
          <a:xfrm>
            <a:off x="5770943" y="2160000"/>
            <a:ext cx="102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40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10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×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86"/>
          <p:cNvSpPr txBox="1"/>
          <p:nvPr/>
        </p:nvSpPr>
        <p:spPr>
          <a:xfrm>
            <a:off x="6976773" y="2160000"/>
            <a:ext cx="102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24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86"/>
          <p:cNvSpPr txBox="1"/>
          <p:nvPr/>
        </p:nvSpPr>
        <p:spPr>
          <a:xfrm>
            <a:off x="7898925" y="2160000"/>
            <a:ext cx="1028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 × 72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36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24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18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× 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86"/>
          <p:cNvSpPr/>
          <p:nvPr/>
        </p:nvSpPr>
        <p:spPr>
          <a:xfrm>
            <a:off x="850600" y="2578729"/>
            <a:ext cx="2976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86"/>
          <p:cNvSpPr/>
          <p:nvPr/>
        </p:nvSpPr>
        <p:spPr>
          <a:xfrm>
            <a:off x="1380276" y="2578729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86"/>
          <p:cNvSpPr/>
          <p:nvPr/>
        </p:nvSpPr>
        <p:spPr>
          <a:xfrm>
            <a:off x="1380276" y="2871258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6"/>
          <p:cNvSpPr/>
          <p:nvPr/>
        </p:nvSpPr>
        <p:spPr>
          <a:xfrm>
            <a:off x="1380276" y="3177856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6"/>
          <p:cNvSpPr/>
          <p:nvPr/>
        </p:nvSpPr>
        <p:spPr>
          <a:xfrm>
            <a:off x="1380276" y="3495795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6"/>
          <p:cNvSpPr/>
          <p:nvPr/>
        </p:nvSpPr>
        <p:spPr>
          <a:xfrm>
            <a:off x="1380151" y="2256904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6"/>
          <p:cNvSpPr/>
          <p:nvPr/>
        </p:nvSpPr>
        <p:spPr>
          <a:xfrm>
            <a:off x="373437" y="2578729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86"/>
          <p:cNvSpPr/>
          <p:nvPr/>
        </p:nvSpPr>
        <p:spPr>
          <a:xfrm>
            <a:off x="373437" y="2871258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86"/>
          <p:cNvSpPr/>
          <p:nvPr/>
        </p:nvSpPr>
        <p:spPr>
          <a:xfrm>
            <a:off x="373437" y="3177856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86"/>
          <p:cNvSpPr/>
          <p:nvPr/>
        </p:nvSpPr>
        <p:spPr>
          <a:xfrm>
            <a:off x="373312" y="2256904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86"/>
          <p:cNvSpPr/>
          <p:nvPr/>
        </p:nvSpPr>
        <p:spPr>
          <a:xfrm>
            <a:off x="850688" y="3177856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86"/>
          <p:cNvSpPr/>
          <p:nvPr/>
        </p:nvSpPr>
        <p:spPr>
          <a:xfrm>
            <a:off x="1850988" y="3495795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86"/>
          <p:cNvSpPr/>
          <p:nvPr/>
        </p:nvSpPr>
        <p:spPr>
          <a:xfrm>
            <a:off x="2590963" y="2578729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86"/>
          <p:cNvSpPr/>
          <p:nvPr/>
        </p:nvSpPr>
        <p:spPr>
          <a:xfrm>
            <a:off x="2590838" y="2256904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86"/>
          <p:cNvSpPr/>
          <p:nvPr/>
        </p:nvSpPr>
        <p:spPr>
          <a:xfrm>
            <a:off x="3536729" y="2578729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86"/>
          <p:cNvSpPr/>
          <p:nvPr/>
        </p:nvSpPr>
        <p:spPr>
          <a:xfrm>
            <a:off x="3536605" y="2256904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86"/>
          <p:cNvSpPr/>
          <p:nvPr/>
        </p:nvSpPr>
        <p:spPr>
          <a:xfrm>
            <a:off x="4884199" y="2575604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86"/>
          <p:cNvSpPr/>
          <p:nvPr/>
        </p:nvSpPr>
        <p:spPr>
          <a:xfrm>
            <a:off x="4884199" y="3174731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6"/>
          <p:cNvSpPr/>
          <p:nvPr/>
        </p:nvSpPr>
        <p:spPr>
          <a:xfrm>
            <a:off x="4884074" y="2253779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6"/>
          <p:cNvSpPr/>
          <p:nvPr/>
        </p:nvSpPr>
        <p:spPr>
          <a:xfrm>
            <a:off x="5811931" y="2586704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6"/>
          <p:cNvSpPr/>
          <p:nvPr/>
        </p:nvSpPr>
        <p:spPr>
          <a:xfrm>
            <a:off x="5811931" y="2879233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6"/>
          <p:cNvSpPr/>
          <p:nvPr/>
        </p:nvSpPr>
        <p:spPr>
          <a:xfrm>
            <a:off x="5811807" y="2264879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6"/>
          <p:cNvSpPr/>
          <p:nvPr/>
        </p:nvSpPr>
        <p:spPr>
          <a:xfrm>
            <a:off x="7031649" y="2587651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6"/>
          <p:cNvSpPr/>
          <p:nvPr/>
        </p:nvSpPr>
        <p:spPr>
          <a:xfrm>
            <a:off x="7031649" y="2880180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86"/>
          <p:cNvSpPr/>
          <p:nvPr/>
        </p:nvSpPr>
        <p:spPr>
          <a:xfrm>
            <a:off x="7031649" y="3186777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6"/>
          <p:cNvSpPr/>
          <p:nvPr/>
        </p:nvSpPr>
        <p:spPr>
          <a:xfrm>
            <a:off x="7031524" y="2265826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86"/>
          <p:cNvSpPr/>
          <p:nvPr/>
        </p:nvSpPr>
        <p:spPr>
          <a:xfrm>
            <a:off x="7950893" y="2587647"/>
            <a:ext cx="227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6"/>
          <p:cNvSpPr/>
          <p:nvPr/>
        </p:nvSpPr>
        <p:spPr>
          <a:xfrm>
            <a:off x="7950893" y="2880180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86"/>
          <p:cNvSpPr/>
          <p:nvPr/>
        </p:nvSpPr>
        <p:spPr>
          <a:xfrm>
            <a:off x="7950893" y="3186773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86"/>
          <p:cNvSpPr/>
          <p:nvPr/>
        </p:nvSpPr>
        <p:spPr>
          <a:xfrm>
            <a:off x="7950768" y="2265826"/>
            <a:ext cx="227100" cy="2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86"/>
          <p:cNvSpPr/>
          <p:nvPr/>
        </p:nvSpPr>
        <p:spPr>
          <a:xfrm>
            <a:off x="7514470" y="2880180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6"/>
          <p:cNvSpPr/>
          <p:nvPr/>
        </p:nvSpPr>
        <p:spPr>
          <a:xfrm>
            <a:off x="7514470" y="3174727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86"/>
          <p:cNvSpPr/>
          <p:nvPr/>
        </p:nvSpPr>
        <p:spPr>
          <a:xfrm>
            <a:off x="7950895" y="3483480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86"/>
          <p:cNvSpPr/>
          <p:nvPr/>
        </p:nvSpPr>
        <p:spPr>
          <a:xfrm>
            <a:off x="7950895" y="3790077"/>
            <a:ext cx="227100" cy="24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86"/>
          <p:cNvSpPr/>
          <p:nvPr/>
        </p:nvSpPr>
        <p:spPr>
          <a:xfrm>
            <a:off x="7514475" y="2587029"/>
            <a:ext cx="2976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86"/>
          <p:cNvSpPr/>
          <p:nvPr/>
        </p:nvSpPr>
        <p:spPr>
          <a:xfrm>
            <a:off x="8415013" y="3503604"/>
            <a:ext cx="2976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86"/>
          <p:cNvSpPr/>
          <p:nvPr/>
        </p:nvSpPr>
        <p:spPr>
          <a:xfrm>
            <a:off x="7560900" y="2278726"/>
            <a:ext cx="338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86"/>
          <p:cNvSpPr/>
          <p:nvPr/>
        </p:nvSpPr>
        <p:spPr>
          <a:xfrm>
            <a:off x="1857575" y="2871248"/>
            <a:ext cx="297600" cy="26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86"/>
          <p:cNvSpPr/>
          <p:nvPr/>
        </p:nvSpPr>
        <p:spPr>
          <a:xfrm>
            <a:off x="5354262" y="2875255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6"/>
          <p:cNvSpPr/>
          <p:nvPr/>
        </p:nvSpPr>
        <p:spPr>
          <a:xfrm>
            <a:off x="6302115" y="3181833"/>
            <a:ext cx="227100" cy="25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86"/>
          <p:cNvSpPr/>
          <p:nvPr/>
        </p:nvSpPr>
        <p:spPr>
          <a:xfrm>
            <a:off x="8443931" y="2906701"/>
            <a:ext cx="338100" cy="23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8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approach to find factor pairs</a:t>
            </a:r>
            <a:endParaRPr/>
          </a:p>
        </p:txBody>
      </p:sp>
      <p:sp>
        <p:nvSpPr>
          <p:cNvPr id="1210" name="Google Shape;1210;p8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factors</a:t>
            </a:r>
            <a:endParaRPr/>
          </a:p>
        </p:txBody>
      </p:sp>
      <p:sp>
        <p:nvSpPr>
          <p:cNvPr id="1211" name="Google Shape;1211;p8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 fractions</a:t>
            </a:r>
            <a:endParaRPr/>
          </a:p>
        </p:txBody>
      </p:sp>
      <p:sp>
        <p:nvSpPr>
          <p:cNvPr id="1212" name="Google Shape;1212;p8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pic>
        <p:nvPicPr>
          <p:cNvPr id="1213" name="Google Shape;121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50" y="37195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fractions</a:t>
            </a:r>
            <a:endParaRPr/>
          </a:p>
        </p:txBody>
      </p:sp>
      <p:pic>
        <p:nvPicPr>
          <p:cNvPr id="1219" name="Google Shape;121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92038"/>
            <a:ext cx="1109975" cy="209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1052" y="1348400"/>
            <a:ext cx="1448953" cy="2095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88"/>
          <p:cNvSpPr txBox="1"/>
          <p:nvPr/>
        </p:nvSpPr>
        <p:spPr>
          <a:xfrm>
            <a:off x="514975" y="557275"/>
            <a:ext cx="8641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Aisha and Sam are simplifying fractions.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They both simplify      to its lowest terms using factor pairs.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20}&quot;&gt;&lt;mfrac&gt;&lt;mn&gt;8&lt;/mn&gt;&lt;mn&gt;20&lt;/mn&gt;&lt;/mfrac&gt;&lt;/math&gt;" id="1222" name="Google Shape;1222;p88" title="8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8562" y="988375"/>
            <a:ext cx="282302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0}&quot;&gt;&lt;mfrac&gt;&lt;mn&gt;8&lt;/mn&gt;&lt;mn&gt;20&lt;/mn&gt;&lt;/mfrac&gt;&lt;/math&gt;" id="1223" name="Google Shape;1223;p88" title="8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4000" y="1817275"/>
            <a:ext cx="324874" cy="602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0}&quot;&gt;&lt;mfrac&gt;&lt;mn&gt;8&lt;/mn&gt;&lt;mn&gt;20&lt;/mn&gt;&lt;/mfrac&gt;&lt;/math&gt;" id="1224" name="Google Shape;1224;p88" title="8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8850" y="1588669"/>
            <a:ext cx="324877" cy="602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\times2}{4\times5}&quot;&gt;&lt;mfrac&gt;&lt;mrow&gt;&lt;mn&gt;4&lt;/mn&gt;&lt;mo&gt;×&lt;/mo&gt;&lt;mn&gt;2&lt;/mn&gt;&lt;/mrow&gt;&lt;mrow&gt;&lt;mn&gt;4&lt;/mn&gt;&lt;mo&gt;×&lt;/mo&gt;&lt;mn&gt;5&lt;/mn&gt;&lt;/mrow&gt;&lt;/mfrac&gt;&lt;/math&gt;" id="1225" name="Google Shape;1225;p88" title="the fraction with numerator 4 times 2 and denominator 4 time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9404" y="1817275"/>
            <a:ext cx="632863" cy="602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\times4}{2\times10}&quot;&gt;&lt;mfrac&gt;&lt;mrow&gt;&lt;mn&gt;2&lt;/mn&gt;&lt;mo&gt;×&lt;/mo&gt;&lt;mn&gt;4&lt;/mn&gt;&lt;/mrow&gt;&lt;mrow&gt;&lt;mn&gt;2&lt;/mn&gt;&lt;mo&gt;×&lt;/mo&gt;&lt;mn&gt;10&lt;/mn&gt;&lt;/mrow&gt;&lt;/mfrac&gt;&lt;/math&gt;" id="1226" name="Google Shape;1226;p88" title="the fraction with numerator 2 times 4 and denominator 2 times 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2515" y="1588675"/>
            <a:ext cx="787132" cy="601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0}&quot;&gt;&lt;mfrac&gt;&lt;mn&gt;4&lt;/mn&gt;&lt;mn&gt;10&lt;/mn&gt;&lt;/mfrac&gt;&lt;/math&gt;" id="1227" name="Google Shape;1227;p88" title="four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68841" y="2399043"/>
            <a:ext cx="324879" cy="5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88"/>
          <p:cNvSpPr txBox="1"/>
          <p:nvPr/>
        </p:nvSpPr>
        <p:spPr>
          <a:xfrm>
            <a:off x="1684800" y="3012850"/>
            <a:ext cx="771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Whose method is more efficient?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229" name="Google Shape;1229;p88" title="two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21527" y="2399205"/>
            <a:ext cx="186183" cy="598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230" name="Google Shape;1230;p88" title="two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12797" y="1817275"/>
            <a:ext cx="186183" cy="5984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88"/>
          <p:cNvSpPr txBox="1"/>
          <p:nvPr/>
        </p:nvSpPr>
        <p:spPr>
          <a:xfrm>
            <a:off x="2038159" y="1856725"/>
            <a:ext cx="3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8"/>
          <p:cNvSpPr txBox="1"/>
          <p:nvPr/>
        </p:nvSpPr>
        <p:spPr>
          <a:xfrm>
            <a:off x="3202106" y="1836350"/>
            <a:ext cx="3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8"/>
          <p:cNvSpPr txBox="1"/>
          <p:nvPr/>
        </p:nvSpPr>
        <p:spPr>
          <a:xfrm>
            <a:off x="5126388" y="1589250"/>
            <a:ext cx="3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8"/>
          <p:cNvSpPr txBox="1"/>
          <p:nvPr/>
        </p:nvSpPr>
        <p:spPr>
          <a:xfrm>
            <a:off x="5126388" y="2397221"/>
            <a:ext cx="3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8"/>
          <p:cNvSpPr txBox="1"/>
          <p:nvPr/>
        </p:nvSpPr>
        <p:spPr>
          <a:xfrm>
            <a:off x="6258156" y="2390997"/>
            <a:ext cx="3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8"/>
          <p:cNvSpPr txBox="1"/>
          <p:nvPr/>
        </p:nvSpPr>
        <p:spPr>
          <a:xfrm>
            <a:off x="554500" y="4189750"/>
            <a:ext cx="117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8"/>
          <p:cNvSpPr txBox="1"/>
          <p:nvPr/>
        </p:nvSpPr>
        <p:spPr>
          <a:xfrm>
            <a:off x="7583875" y="3368125"/>
            <a:ext cx="117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8"/>
          <p:cNvSpPr txBox="1"/>
          <p:nvPr/>
        </p:nvSpPr>
        <p:spPr>
          <a:xfrm>
            <a:off x="1684800" y="3712133"/>
            <a:ext cx="62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makes their method more efficient?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8"/>
          <p:cNvSpPr txBox="1"/>
          <p:nvPr/>
        </p:nvSpPr>
        <p:spPr>
          <a:xfrm>
            <a:off x="1684800" y="3362492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Aisha’s is more efficient.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0" name="Google Shape;1240;p88"/>
          <p:cNvSpPr txBox="1"/>
          <p:nvPr/>
        </p:nvSpPr>
        <p:spPr>
          <a:xfrm>
            <a:off x="1684800" y="4061775"/>
            <a:ext cx="6801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they have done it in one step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 They have used the highest common factor of 8 and 20.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\times2}{2\times5}&quot;&gt;&lt;mfrac&gt;&lt;mrow&gt;&lt;mn&gt;2&lt;/mn&gt;&lt;mo&gt;×&lt;/mo&gt;&lt;mn&gt;2&lt;/mn&gt;&lt;/mrow&gt;&lt;mrow&gt;&lt;mn&gt;2&lt;/mn&gt;&lt;mo&gt;×&lt;/mo&gt;&lt;mn&gt;5&lt;/mn&gt;&lt;/mrow&gt;&lt;/mfrac&gt;&lt;/math&gt;" id="1241" name="Google Shape;1241;p88" title="the fraction with numerator 2 times 2 and denominator 2 times 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35181" y="2419375"/>
            <a:ext cx="645077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89"/>
          <p:cNvSpPr txBox="1"/>
          <p:nvPr>
            <p:ph idx="1" type="subTitle"/>
          </p:nvPr>
        </p:nvSpPr>
        <p:spPr>
          <a:xfrm>
            <a:off x="369700" y="810000"/>
            <a:ext cx="3982200" cy="19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Simplify      using the highest common factor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Factors of 12:  1, 2, 3, 4, 6 &amp; 12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Factors of 18:  1, 2, 3, 6, 9 &amp; 18</a:t>
            </a:r>
            <a:endParaRPr sz="1900"/>
          </a:p>
        </p:txBody>
      </p:sp>
      <p:sp>
        <p:nvSpPr>
          <p:cNvPr id="1247" name="Google Shape;124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Simplifying fractions</a:t>
            </a:r>
            <a:endParaRPr/>
          </a:p>
        </p:txBody>
      </p:sp>
      <p:sp>
        <p:nvSpPr>
          <p:cNvPr id="1248" name="Google Shape;1248;p89"/>
          <p:cNvSpPr txBox="1"/>
          <p:nvPr>
            <p:ph idx="2" type="subTitle"/>
          </p:nvPr>
        </p:nvSpPr>
        <p:spPr>
          <a:xfrm>
            <a:off x="4824000" y="810000"/>
            <a:ext cx="3982200" cy="18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Simplify      using the highest common factor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Factors of 32:  1, 2, 4, 8, 16 and 32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Factors of 36:  1, 2, 3, 4, 6, 9, 12, 18 and 36   </a:t>
            </a:r>
            <a:endParaRPr sz="1900"/>
          </a:p>
        </p:txBody>
      </p:sp>
      <p:pic>
        <p:nvPicPr>
          <p:cNvPr id="1249" name="Google Shape;124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837" y="3142787"/>
            <a:ext cx="355670" cy="6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89"/>
          <p:cNvSpPr/>
          <p:nvPr/>
        </p:nvSpPr>
        <p:spPr>
          <a:xfrm>
            <a:off x="3044654" y="1620000"/>
            <a:ext cx="271200" cy="451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51" name="Google Shape;1251;p89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1588" y="3142788"/>
            <a:ext cx="199175" cy="659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89"/>
          <p:cNvSpPr/>
          <p:nvPr/>
        </p:nvSpPr>
        <p:spPr>
          <a:xfrm>
            <a:off x="2784257" y="2127343"/>
            <a:ext cx="271200" cy="451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89"/>
          <p:cNvSpPr txBox="1"/>
          <p:nvPr/>
        </p:nvSpPr>
        <p:spPr>
          <a:xfrm>
            <a:off x="1650409" y="3198320"/>
            <a:ext cx="2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9"/>
          <p:cNvSpPr txBox="1"/>
          <p:nvPr/>
        </p:nvSpPr>
        <p:spPr>
          <a:xfrm>
            <a:off x="2940163" y="3210763"/>
            <a:ext cx="2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\times2}{6\times3}&quot;&gt;&lt;mfrac&gt;&lt;mrow&gt;&lt;mn&gt;6&lt;/mn&gt;&lt;mo&gt;×&lt;/mo&gt;&lt;mn&gt;2&lt;/mn&gt;&lt;/mrow&gt;&lt;mrow&gt;&lt;mn&gt;6&lt;/mn&gt;&lt;mo&gt;×&lt;/mo&gt;&lt;mn&gt;3&lt;/mn&gt;&lt;/mrow&gt;&lt;/mfrac&gt;&lt;/math&gt;" id="1255" name="Google Shape;1255;p89" title="the fraction with numerator 6 times 2 and denominator 6 time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4350" y="3142800"/>
            <a:ext cx="693077" cy="65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89"/>
          <p:cNvSpPr txBox="1"/>
          <p:nvPr/>
        </p:nvSpPr>
        <p:spPr>
          <a:xfrm>
            <a:off x="6253459" y="3204545"/>
            <a:ext cx="2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9"/>
          <p:cNvSpPr txBox="1"/>
          <p:nvPr/>
        </p:nvSpPr>
        <p:spPr>
          <a:xfrm>
            <a:off x="7467013" y="3204545"/>
            <a:ext cx="2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2}{36}&quot;&gt;&lt;mfrac&gt;&lt;mn&gt;32&lt;/mn&gt;&lt;mn&gt;36&lt;/mn&gt;&lt;/mfrac&gt;&lt;/math&gt;" id="1258" name="Google Shape;1258;p89" title="32 over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0275" y="3147925"/>
            <a:ext cx="355695" cy="648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2}{36}&quot;&gt;&lt;mfrac&gt;&lt;mn&gt;32&lt;/mn&gt;&lt;mn&gt;36&lt;/mn&gt;&lt;/mfrac&gt;&lt;/math&gt;" id="1259" name="Google Shape;1259;p89" title="32 over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2932" y="699923"/>
            <a:ext cx="271264" cy="4948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89"/>
          <p:cNvSpPr/>
          <p:nvPr/>
        </p:nvSpPr>
        <p:spPr>
          <a:xfrm>
            <a:off x="6985279" y="1634588"/>
            <a:ext cx="271200" cy="451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9"/>
          <p:cNvSpPr/>
          <p:nvPr/>
        </p:nvSpPr>
        <p:spPr>
          <a:xfrm>
            <a:off x="7256482" y="2127343"/>
            <a:ext cx="271200" cy="451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\times8}{4\times9}&quot;&gt;&lt;mfrac&gt;&lt;mrow&gt;&lt;mn&gt;4&lt;/mn&gt;&lt;mo&gt;×&lt;/mo&gt;&lt;mn&gt;8&lt;/mn&gt;&lt;/mrow&gt;&lt;mrow&gt;&lt;mn&gt;4&lt;/mn&gt;&lt;mo&gt;×&lt;/mo&gt;&lt;mn&gt;9&lt;/mn&gt;&lt;/mrow&gt;&lt;/mfrac&gt;&lt;/math&gt;" id="1262" name="Google Shape;1262;p89" title="the fraction with numerator 4 times 8 and denominator 4 times 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2150" y="3145092"/>
            <a:ext cx="693081" cy="654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&quot;&gt;&lt;mfrac&gt;&lt;mn&gt;8&lt;/mn&gt;&lt;mn&gt;9&lt;/mn&gt;&lt;/mfrac&gt;&lt;/math&gt;" id="1263" name="Google Shape;1263;p89" title="eight ni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43175" y="3139829"/>
            <a:ext cx="199172" cy="64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513" y="696000"/>
            <a:ext cx="271275" cy="5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9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fractions</a:t>
            </a:r>
            <a:endParaRPr/>
          </a:p>
        </p:txBody>
      </p:sp>
      <p:sp>
        <p:nvSpPr>
          <p:cNvPr id="1270" name="Google Shape;1270;p9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is       simplified to its lowest form?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6}{48}&quot;&gt;&lt;mfrac&gt;&lt;mn&gt;36&lt;/mn&gt;&lt;mn&gt;48&lt;/mn&gt;&lt;/mfrac&gt;&lt;/math&gt;" id="1271" name="Google Shape;1271;p90" title="36 over 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800" y="616200"/>
            <a:ext cx="3310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24}&quot;&gt;&lt;mfrac&gt;&lt;mn&gt;18&lt;/mn&gt;&lt;mn&gt;24&lt;/mn&gt;&lt;/mfrac&gt;&lt;/math&gt;" id="1272" name="Google Shape;1272;p90" title="18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350" y="1658751"/>
            <a:ext cx="396000" cy="713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2}&quot;&gt;&lt;mfrac&gt;&lt;mn&gt;9&lt;/mn&gt;&lt;mn&gt;12&lt;/mn&gt;&lt;/mfrac&gt;&lt;/math&gt;" id="1273" name="Google Shape;1273;p90" title="9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3350" y="3539040"/>
            <a:ext cx="396000" cy="713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74" name="Google Shape;1274;p90" title="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9325" y="2598888"/>
            <a:ext cx="224049" cy="7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86808" y="275511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Simplifying</a:t>
            </a:r>
            <a:r>
              <a:rPr lang="en-GB"/>
              <a:t> fractions</a:t>
            </a:r>
            <a:endParaRPr/>
          </a:p>
        </p:txBody>
      </p:sp>
      <p:sp>
        <p:nvSpPr>
          <p:cNvPr id="1281" name="Google Shape;1281;p91"/>
          <p:cNvSpPr txBox="1"/>
          <p:nvPr>
            <p:ph idx="1" type="body"/>
          </p:nvPr>
        </p:nvSpPr>
        <p:spPr>
          <a:xfrm>
            <a:off x="323989" y="767125"/>
            <a:ext cx="82377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Simplify fully the following fractions.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Try to use the highest common factor.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282" name="Google Shape;1282;p91"/>
          <p:cNvSpPr txBox="1"/>
          <p:nvPr/>
        </p:nvSpPr>
        <p:spPr>
          <a:xfrm>
            <a:off x="2305684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1"/>
          <p:cNvSpPr txBox="1"/>
          <p:nvPr/>
        </p:nvSpPr>
        <p:spPr>
          <a:xfrm>
            <a:off x="587850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5}&quot;&gt;&lt;mfrac&gt;&lt;mn&gt;12&lt;/mn&gt;&lt;mn&gt;15&lt;/mn&gt;&lt;/mfrac&gt;&lt;/math&gt;" id="1284" name="Google Shape;1284;p91" title="12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078" y="1841250"/>
            <a:ext cx="328875" cy="59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252" y="1827846"/>
            <a:ext cx="328875" cy="60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36}&quot;&gt;&lt;mfrac&gt;&lt;mn&gt;30&lt;/mn&gt;&lt;mn&gt;36&lt;/mn&gt;&lt;/mfrac&gt;&lt;/math&gt;" id="1286" name="Google Shape;1286;p91" title="30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325" y="1841250"/>
            <a:ext cx="328875" cy="599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0}{72}&quot;&gt;&lt;mfrac&gt;&lt;mn&gt;40&lt;/mn&gt;&lt;mn&gt;72&lt;/mn&gt;&lt;/mfrac&gt;&lt;/math&gt;" id="1287" name="Google Shape;1287;p91" title="40 over 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5600" y="1833025"/>
            <a:ext cx="328875" cy="605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91"/>
          <p:cNvSpPr txBox="1"/>
          <p:nvPr/>
        </p:nvSpPr>
        <p:spPr>
          <a:xfrm>
            <a:off x="4023519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1"/>
          <p:cNvSpPr txBox="1"/>
          <p:nvPr/>
        </p:nvSpPr>
        <p:spPr>
          <a:xfrm>
            <a:off x="5741353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1"/>
          <p:cNvSpPr txBox="1"/>
          <p:nvPr/>
        </p:nvSpPr>
        <p:spPr>
          <a:xfrm>
            <a:off x="7459188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1"/>
          <p:cNvSpPr txBox="1"/>
          <p:nvPr/>
        </p:nvSpPr>
        <p:spPr>
          <a:xfrm>
            <a:off x="325689" y="3034900"/>
            <a:ext cx="849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 Which of the following are not in their simplest form?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Simplify those you have identified.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dfrac{3}{11}&quot;&gt;&lt;mstyle displaystyle=&quot;true&quot; scriptlevel=&quot;0&quot;&gt;&lt;mfrac&gt;&lt;mn&gt;3&lt;/mn&gt;&lt;mn&gt;11&lt;/mn&gt;&lt;/mfrac&gt;&lt;/mstyle&gt;&lt;/math&gt;" id="1292" name="Google Shape;1292;p91" title="3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6768" y="3960675"/>
            <a:ext cx="417187" cy="752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9}&quot;&gt;&lt;mfrac&gt;&lt;mn&gt;2&lt;/mn&gt;&lt;mn&gt;19&lt;/mn&gt;&lt;/mfrac&gt;&lt;/math&gt;" id="1293" name="Google Shape;1293;p91" title="2 over 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13416" y="3959171"/>
            <a:ext cx="413875" cy="755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4}{35}&quot;&gt;&lt;mfrac&gt;&lt;mn&gt;14&lt;/mn&gt;&lt;mn&gt;35&lt;/mn&gt;&lt;/mfrac&gt;&lt;/math&gt;" id="1294" name="Google Shape;1294;p91" title="14 over 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75225" y="3960675"/>
            <a:ext cx="396309" cy="718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6}&quot;&gt;&lt;mfrac&gt;&lt;mn&gt;9&lt;/mn&gt;&lt;mn&gt;16&lt;/mn&gt;&lt;/mfrac&gt;&lt;/math&gt;" id="1295" name="Google Shape;1295;p91" title="9 over 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79189" y="3965175"/>
            <a:ext cx="388993" cy="709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33}&quot;&gt;&lt;mfrac&gt;&lt;mn&gt;12&lt;/mn&gt;&lt;mn&gt;33&lt;/mn&gt;&lt;/mfrac&gt;&lt;/math&gt;" id="1296" name="Google Shape;1296;p91" title="12 over 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72524" y="3966313"/>
            <a:ext cx="381675" cy="707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6}{54}&quot;&gt;&lt;mfrac&gt;&lt;mn&gt;36&lt;/mn&gt;&lt;mn&gt;54&lt;/mn&gt;&lt;/mfrac&gt;&lt;/math&gt;" id="1297" name="Google Shape;1297;p91" title="36 over 5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32600" y="1828900"/>
            <a:ext cx="328875" cy="600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Simplifying fractions</a:t>
            </a:r>
            <a:endParaRPr/>
          </a:p>
        </p:txBody>
      </p:sp>
      <p:sp>
        <p:nvSpPr>
          <p:cNvPr id="1303" name="Google Shape;1303;p92"/>
          <p:cNvSpPr txBox="1"/>
          <p:nvPr>
            <p:ph idx="1" type="body"/>
          </p:nvPr>
        </p:nvSpPr>
        <p:spPr>
          <a:xfrm>
            <a:off x="324000" y="759300"/>
            <a:ext cx="8237700" cy="9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Simplify fully the following fractions.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Try to use the highest common factor.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304" name="Google Shape;1304;p92"/>
          <p:cNvSpPr txBox="1"/>
          <p:nvPr/>
        </p:nvSpPr>
        <p:spPr>
          <a:xfrm>
            <a:off x="2305684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92"/>
          <p:cNvSpPr txBox="1"/>
          <p:nvPr/>
        </p:nvSpPr>
        <p:spPr>
          <a:xfrm>
            <a:off x="587850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5}&quot;&gt;&lt;mfrac&gt;&lt;mn&gt;12&lt;/mn&gt;&lt;mn&gt;15&lt;/mn&gt;&lt;/mfrac&gt;&lt;/math&gt;" id="1306" name="Google Shape;1306;p92" title="12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077" y="1841250"/>
            <a:ext cx="298800" cy="54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250" y="1827850"/>
            <a:ext cx="298800" cy="54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36}&quot;&gt;&lt;mfrac&gt;&lt;mn&gt;30&lt;/mn&gt;&lt;mn&gt;36&lt;/mn&gt;&lt;/mfrac&gt;&lt;/math&gt;" id="1308" name="Google Shape;1308;p92" title="30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325" y="1841250"/>
            <a:ext cx="316675" cy="577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0}{72}&quot;&gt;&lt;mfrac&gt;&lt;mn&gt;40&lt;/mn&gt;&lt;mn&gt;72&lt;/mn&gt;&lt;/mfrac&gt;&lt;/math&gt;" id="1309" name="Google Shape;1309;p92" title="40 over 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5600" y="1833025"/>
            <a:ext cx="298800" cy="550431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92"/>
          <p:cNvSpPr txBox="1"/>
          <p:nvPr/>
        </p:nvSpPr>
        <p:spPr>
          <a:xfrm>
            <a:off x="4023519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92"/>
          <p:cNvSpPr txBox="1"/>
          <p:nvPr/>
        </p:nvSpPr>
        <p:spPr>
          <a:xfrm>
            <a:off x="5741353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2"/>
          <p:cNvSpPr txBox="1"/>
          <p:nvPr/>
        </p:nvSpPr>
        <p:spPr>
          <a:xfrm>
            <a:off x="7459188" y="1783275"/>
            <a:ext cx="4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2"/>
          <p:cNvSpPr txBox="1"/>
          <p:nvPr/>
        </p:nvSpPr>
        <p:spPr>
          <a:xfrm>
            <a:off x="324000" y="3082675"/>
            <a:ext cx="849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 Which of the following are not in their simplest form?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   b)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Simplify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those you have identified.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\times1}{5\times9}&quot;&gt;&lt;mfrac&gt;&lt;mrow&gt;&lt;mn&gt;5&lt;/mn&gt;&lt;mo&gt;×&lt;/mo&gt;&lt;mn&gt;1&lt;/mn&gt;&lt;/mrow&gt;&lt;mrow&gt;&lt;mn&gt;5&lt;/mn&gt;&lt;mo&gt;×&lt;/mo&gt;&lt;mn&gt;9&lt;/mn&gt;&lt;/mrow&gt;&lt;/mfrac&gt;&lt;/math&gt;" id="1314" name="Google Shape;1314;p92" title="the fraction with numerator 5 times 1 and denominator 5 times 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5276" y="2537974"/>
            <a:ext cx="514150" cy="484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\times4}{3\times5}&quot;&gt;&lt;mfrac&gt;&lt;mrow&gt;&lt;mn&gt;3&lt;/mn&gt;&lt;mo&gt;×&lt;/mo&gt;&lt;mn&gt;4&lt;/mn&gt;&lt;/mrow&gt;&lt;mrow&gt;&lt;mn&gt;3&lt;/mn&gt;&lt;mo&gt;×&lt;/mo&gt;&lt;mn&gt;5&lt;/mn&gt;&lt;/mrow&gt;&lt;/mfrac&gt;&lt;/math&gt;" id="1315" name="Google Shape;1315;p92" title="the fraction with numerator 3 times 4 and denominator 3 times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92851" y="2533588"/>
            <a:ext cx="514150" cy="489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\times5}{6\times6}&quot;&gt;&lt;mfrac&gt;&lt;mrow&gt;&lt;mn&gt;6&lt;/mn&gt;&lt;mo&gt;×&lt;/mo&gt;&lt;mn&gt;5&lt;/mn&gt;&lt;/mrow&gt;&lt;mrow&gt;&lt;mn&gt;6&lt;/mn&gt;&lt;mo&gt;×&lt;/mo&gt;&lt;mn&gt;6&lt;/mn&gt;&lt;/mrow&gt;&lt;/mfrac&gt;&lt;/math&gt;" id="1316" name="Google Shape;1316;p92" title="the fraction with numerator 6 times 5 and denominator 6 times 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68020" y="2537934"/>
            <a:ext cx="514158" cy="484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\times5}{8\times9}&quot;&gt;&lt;mfrac&gt;&lt;mrow&gt;&lt;mn&gt;8&lt;/mn&gt;&lt;mo&gt;×&lt;/mo&gt;&lt;mn&gt;5&lt;/mn&gt;&lt;/mrow&gt;&lt;mrow&gt;&lt;mn&gt;8&lt;/mn&gt;&lt;mo&gt;×&lt;/mo&gt;&lt;mn&gt;9&lt;/mn&gt;&lt;/mrow&gt;&lt;/mfrac&gt;&lt;/math&gt;" id="1317" name="Google Shape;1317;p92" title="the fraction with numerator 8 times 5 and denominator 8 times 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43200" y="2537934"/>
            <a:ext cx="514158" cy="484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dfrac{3}{11}&quot;&gt;&lt;mstyle displaystyle=&quot;true&quot; scriptlevel=&quot;0&quot;&gt;&lt;mfrac&gt;&lt;mn&gt;3&lt;/mn&gt;&lt;mn&gt;11&lt;/mn&gt;&lt;/mfrac&gt;&lt;/mstyle&gt;&lt;/math&gt;" id="1318" name="Google Shape;1318;p92" title="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50817" y="3998260"/>
            <a:ext cx="417187" cy="752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9}&quot;&gt;&lt;mfrac&gt;&lt;mn&gt;2&lt;/mn&gt;&lt;mn&gt;19&lt;/mn&gt;&lt;/mfrac&gt;&lt;/math&gt;" id="1319" name="Google Shape;1319;p92" title="2 over 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35832" y="3996756"/>
            <a:ext cx="413875" cy="755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4}{35}&quot;&gt;&lt;mfrac&gt;&lt;mn&gt;14&lt;/mn&gt;&lt;mn&gt;35&lt;/mn&gt;&lt;/mfrac&gt;&lt;/math&gt;" id="1320" name="Google Shape;1320;p92" title="14 over 3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3225" y="3998260"/>
            <a:ext cx="396309" cy="718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6}&quot;&gt;&lt;mfrac&gt;&lt;mn&gt;9&lt;/mn&gt;&lt;mn&gt;16&lt;/mn&gt;&lt;/mfrac&gt;&lt;/math&gt;" id="1321" name="Google Shape;1321;p92" title="9 over 1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757422" y="4002760"/>
            <a:ext cx="388993" cy="709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33}&quot;&gt;&lt;mfrac&gt;&lt;mn&gt;12&lt;/mn&gt;&lt;mn&gt;33&lt;/mn&gt;&lt;/mfrac&gt;&lt;/math&gt;" id="1322" name="Google Shape;1322;p92" title="12 over 3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39124" y="4003898"/>
            <a:ext cx="381675" cy="707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6}{54}&quot;&gt;&lt;mfrac&gt;&lt;mn&gt;36&lt;/mn&gt;&lt;mn&gt;54&lt;/mn&gt;&lt;/mfrac&gt;&lt;/math&gt;" id="1323" name="Google Shape;1323;p92" title="36 over 5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932600" y="1828900"/>
            <a:ext cx="298800" cy="545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\times2}{18\times3}&quot;&gt;&lt;mfrac&gt;&lt;mrow&gt;&lt;mn&gt;18&lt;/mn&gt;&lt;mo&gt;×&lt;/mo&gt;&lt;mn&gt;2&lt;/mn&gt;&lt;/mrow&gt;&lt;mrow&gt;&lt;mn&gt;18&lt;/mn&gt;&lt;mo&gt;×&lt;/mo&gt;&lt;mn&gt;3&lt;/mn&gt;&lt;/mrow&gt;&lt;/mfrac&gt;&lt;/math&gt;" id="1324" name="Google Shape;1324;p92" title="the fraction with numerator 18 times 2 and denominator 18 times 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725946" y="2526916"/>
            <a:ext cx="650042" cy="495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325" name="Google Shape;1325;p92" title="one ninth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701651" y="2562006"/>
            <a:ext cx="135250" cy="43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326" name="Google Shape;1326;p92" title="four fif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451714" y="2538360"/>
            <a:ext cx="135250" cy="437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327" name="Google Shape;1327;p92" title="five sixths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201778" y="2554407"/>
            <a:ext cx="135250" cy="44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1328" name="Google Shape;1328;p92" title="five ninths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022527" y="2573932"/>
            <a:ext cx="135250" cy="443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329" name="Google Shape;1329;p92" title="two thirds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8625700" y="2550084"/>
            <a:ext cx="135250" cy="447629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92"/>
          <p:cNvSpPr txBox="1"/>
          <p:nvPr/>
        </p:nvSpPr>
        <p:spPr>
          <a:xfrm>
            <a:off x="1386000" y="2500184"/>
            <a:ext cx="2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92"/>
          <p:cNvSpPr txBox="1"/>
          <p:nvPr/>
        </p:nvSpPr>
        <p:spPr>
          <a:xfrm>
            <a:off x="3131625" y="2500171"/>
            <a:ext cx="2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2"/>
          <p:cNvSpPr txBox="1"/>
          <p:nvPr/>
        </p:nvSpPr>
        <p:spPr>
          <a:xfrm>
            <a:off x="4877263" y="2500184"/>
            <a:ext cx="2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2"/>
          <p:cNvSpPr txBox="1"/>
          <p:nvPr/>
        </p:nvSpPr>
        <p:spPr>
          <a:xfrm>
            <a:off x="6657350" y="2500184"/>
            <a:ext cx="2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2"/>
          <p:cNvSpPr txBox="1"/>
          <p:nvPr/>
        </p:nvSpPr>
        <p:spPr>
          <a:xfrm>
            <a:off x="8329935" y="2500184"/>
            <a:ext cx="2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2"/>
          <p:cNvSpPr/>
          <p:nvPr/>
        </p:nvSpPr>
        <p:spPr>
          <a:xfrm>
            <a:off x="647200" y="3899035"/>
            <a:ext cx="5142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92"/>
          <p:cNvSpPr/>
          <p:nvPr/>
        </p:nvSpPr>
        <p:spPr>
          <a:xfrm>
            <a:off x="6681774" y="3899035"/>
            <a:ext cx="5142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\times2}{7\times5}&quot;&gt;&lt;mfrac&gt;&lt;mrow&gt;&lt;mn&gt;7&lt;/mn&gt;&lt;mo&gt;×&lt;/mo&gt;&lt;mn&gt;2&lt;/mn&gt;&lt;/mrow&gt;&lt;mrow&gt;&lt;mn&gt;7&lt;/mn&gt;&lt;mo&gt;×&lt;/mo&gt;&lt;mn&gt;5&lt;/mn&gt;&lt;/mrow&gt;&lt;/mfrac&gt;&lt;/math&gt;" id="1337" name="Google Shape;1337;p92" title="the fraction with numerator 7 times 2 and denominator 7 times 5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233318" y="4126714"/>
            <a:ext cx="467983" cy="445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\times4}{3\times11}&quot;&gt;&lt;mfrac&gt;&lt;mrow&gt;&lt;mn&gt;3&lt;/mn&gt;&lt;mo&gt;×&lt;/mo&gt;&lt;mn&gt;4&lt;/mn&gt;&lt;/mrow&gt;&lt;mrow&gt;&lt;mn&gt;3&lt;/mn&gt;&lt;mo&gt;×&lt;/mo&gt;&lt;mn&gt;11&lt;/mn&gt;&lt;/mrow&gt;&lt;/mfrac&gt;&lt;/math&gt;" id="1338" name="Google Shape;1338;p92" title="the fraction with numerator 3 times 4 and denominator 3 times 1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264125" y="4128348"/>
            <a:ext cx="578479" cy="4419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92"/>
          <p:cNvSpPr txBox="1"/>
          <p:nvPr/>
        </p:nvSpPr>
        <p:spPr>
          <a:xfrm>
            <a:off x="1638698" y="4075088"/>
            <a:ext cx="2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2"/>
          <p:cNvSpPr txBox="1"/>
          <p:nvPr/>
        </p:nvSpPr>
        <p:spPr>
          <a:xfrm>
            <a:off x="7827427" y="4075088"/>
            <a:ext cx="2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341" name="Google Shape;1341;p92" title="two fifths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908445" y="4119335"/>
            <a:ext cx="135250" cy="434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1}&quot;&gt;&lt;mfrac&gt;&lt;mn&gt;4&lt;/mn&gt;&lt;mn&gt;11&lt;/mn&gt;&lt;/mfrac&gt;&lt;/math&gt;" id="1342" name="Google Shape;1342;p92" title="4 over 1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8126225" y="4099413"/>
            <a:ext cx="241518" cy="441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3"/>
          <p:cNvSpPr txBox="1"/>
          <p:nvPr>
            <p:ph idx="1" type="body"/>
          </p:nvPr>
        </p:nvSpPr>
        <p:spPr>
          <a:xfrm>
            <a:off x="324000" y="693400"/>
            <a:ext cx="8113800" cy="41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 can be listed in a systematic way.  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Common factors of integers can be found by listing factor pairs.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Fractions can be simplified using the highest common factor.  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9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pic>
        <p:nvPicPr>
          <p:cNvPr id="1349" name="Google Shape;134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675" y="662255"/>
            <a:ext cx="536397" cy="151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3400" y="3967173"/>
            <a:ext cx="2486400" cy="7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9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6" name="Google Shape;1356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