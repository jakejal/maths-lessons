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6C3C4F-DD65-4D5E-9F9C-240424E85309}">
  <a:tblStyle styleId="{4F6C3C4F-DD65-4D5E-9F9C-240424E853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6" Type="http://schemas.openxmlformats.org/officeDocument/2006/relationships/slide" Target="slides/slide31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84a18db4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84a18db4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4ef789b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4ef789b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84a18db44f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4a18db44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284ef789bbc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284ef789bbc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84ef789bbc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84ef789bbc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84ef789bbc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284ef789bbc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84ef789bbc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84ef789bbc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84ef789bbc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84ef789bbc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84ef789bbc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84ef789bbc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84ef789bbc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84ef789bbc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84ef789bbc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84ef789bbc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84ef789bbc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84ef789bbc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84ef789bbc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84ef789bbc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84ef789bbc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84ef789bbc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84ef789bbc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84ef789bbc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84ef789bbc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84ef789bbc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84ef789bbc_0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84ef789bbc_0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84ef789bbc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84ef789bbc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284ef789bbc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284ef789bbc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284ef789bbc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284ef789bbc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84ef789bbc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84ef789bbc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84ef789bbc_0_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84ef789bbc_0_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284ef789bbc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284ef789bbc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84ef789bbc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284ef789bbc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284ef789bbc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284ef789bbc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84ef789bbc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84ef789bbc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284ef789bbc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284ef789bbc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284ef789bbc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284ef789bbc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4.png"/><Relationship Id="rId4" Type="http://schemas.openxmlformats.org/officeDocument/2006/relationships/image" Target="../media/image54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4.png"/><Relationship Id="rId4" Type="http://schemas.openxmlformats.org/officeDocument/2006/relationships/image" Target="../media/image22.png"/><Relationship Id="rId9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4.png"/><Relationship Id="rId4" Type="http://schemas.openxmlformats.org/officeDocument/2006/relationships/image" Target="../media/image29.png"/><Relationship Id="rId11" Type="http://schemas.openxmlformats.org/officeDocument/2006/relationships/image" Target="../media/image21.png"/><Relationship Id="rId10" Type="http://schemas.openxmlformats.org/officeDocument/2006/relationships/image" Target="../media/image37.png"/><Relationship Id="rId9" Type="http://schemas.openxmlformats.org/officeDocument/2006/relationships/image" Target="../media/image32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33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6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360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1170225"/>
            <a:ext cx="5502000" cy="238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2 and 3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2415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identify and explain whether a number is or is not a multiple of a given integer.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1" y="8364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Divisibility</a:t>
            </a:r>
            <a:r>
              <a:rPr b="0" lang="en-GB"/>
              <a:t> is a number’s ability to be exactly divided by another number, leaving no remainder.</a:t>
            </a:r>
            <a:endParaRPr b="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3995" y="1755650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768" name="Google Shape;768;p67"/>
          <p:cNvSpPr txBox="1"/>
          <p:nvPr>
            <p:ph idx="1" type="subTitle"/>
          </p:nvPr>
        </p:nvSpPr>
        <p:spPr>
          <a:xfrm>
            <a:off x="324000" y="2242850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24 is divisible by 3</a:t>
            </a:r>
            <a:endParaRPr b="0"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324000" y="2700050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24 ÷ 3 = 8</a:t>
            </a:r>
            <a:endParaRPr b="0"/>
          </a:p>
        </p:txBody>
      </p:sp>
      <p:sp>
        <p:nvSpPr>
          <p:cNvPr id="770" name="Google Shape;770;p67"/>
          <p:cNvSpPr txBox="1"/>
          <p:nvPr>
            <p:ph idx="1" type="subTitle"/>
          </p:nvPr>
        </p:nvSpPr>
        <p:spPr>
          <a:xfrm>
            <a:off x="3143395" y="1755650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3143400" y="2242850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12</a:t>
            </a:r>
            <a:r>
              <a:rPr b="0" lang="en-GB"/>
              <a:t> is divisible by 4</a:t>
            </a:r>
            <a:endParaRPr b="0"/>
          </a:p>
        </p:txBody>
      </p:sp>
      <p:sp>
        <p:nvSpPr>
          <p:cNvPr id="772" name="Google Shape;772;p67"/>
          <p:cNvSpPr txBox="1"/>
          <p:nvPr>
            <p:ph idx="1" type="subTitle"/>
          </p:nvPr>
        </p:nvSpPr>
        <p:spPr>
          <a:xfrm>
            <a:off x="3143400" y="2700050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12</a:t>
            </a:r>
            <a:r>
              <a:rPr b="0" lang="en-GB"/>
              <a:t> ÷ 4 = 3</a:t>
            </a:r>
            <a:endParaRPr b="0"/>
          </a:p>
        </p:txBody>
      </p:sp>
      <p:sp>
        <p:nvSpPr>
          <p:cNvPr id="773" name="Google Shape;773;p67"/>
          <p:cNvSpPr txBox="1"/>
          <p:nvPr>
            <p:ph idx="1" type="subTitle"/>
          </p:nvPr>
        </p:nvSpPr>
        <p:spPr>
          <a:xfrm>
            <a:off x="6191400" y="1755650"/>
            <a:ext cx="2337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Non e</a:t>
            </a:r>
            <a:r>
              <a:rPr b="0" lang="en-GB"/>
              <a:t>xample</a:t>
            </a:r>
            <a:endParaRPr b="0"/>
          </a:p>
        </p:txBody>
      </p:sp>
      <p:sp>
        <p:nvSpPr>
          <p:cNvPr id="774" name="Google Shape;774;p67"/>
          <p:cNvSpPr txBox="1"/>
          <p:nvPr>
            <p:ph idx="1" type="subTitle"/>
          </p:nvPr>
        </p:nvSpPr>
        <p:spPr>
          <a:xfrm>
            <a:off x="6191400" y="2242850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12 is not divisible by 8</a:t>
            </a:r>
            <a:endParaRPr b="0"/>
          </a:p>
        </p:txBody>
      </p:sp>
      <p:sp>
        <p:nvSpPr>
          <p:cNvPr id="775" name="Google Shape;775;p67"/>
          <p:cNvSpPr txBox="1"/>
          <p:nvPr>
            <p:ph idx="1" type="subTitle"/>
          </p:nvPr>
        </p:nvSpPr>
        <p:spPr>
          <a:xfrm>
            <a:off x="6191400" y="3081050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12 ÷ 8 = 1.5</a:t>
            </a:r>
            <a:endParaRPr b="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</a:t>
            </a:r>
            <a:r>
              <a:rPr lang="en-GB"/>
              <a:t>a multiple </a:t>
            </a:r>
            <a:r>
              <a:rPr lang="en-GB"/>
              <a:t>of 2</a:t>
            </a:r>
            <a:endParaRPr/>
          </a:p>
        </p:txBody>
      </p:sp>
      <p:sp>
        <p:nvSpPr>
          <p:cNvPr id="781" name="Google Shape;781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3</a:t>
            </a:r>
            <a:endParaRPr/>
          </a:p>
        </p:txBody>
      </p:sp>
      <p:sp>
        <p:nvSpPr>
          <p:cNvPr id="782" name="Google Shape;782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2 and 3</a:t>
            </a:r>
            <a:endParaRPr/>
          </a:p>
        </p:txBody>
      </p:sp>
      <p:pic>
        <p:nvPicPr>
          <p:cNvPr id="783" name="Google Shape;78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89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a multiple of 2</a:t>
            </a:r>
            <a:endParaRPr/>
          </a:p>
        </p:txBody>
      </p:sp>
      <p:sp>
        <p:nvSpPr>
          <p:cNvPr id="789" name="Google Shape;789;p69"/>
          <p:cNvSpPr txBox="1"/>
          <p:nvPr>
            <p:ph idx="4294967295" type="subTitle"/>
          </p:nvPr>
        </p:nvSpPr>
        <p:spPr>
          <a:xfrm>
            <a:off x="324000" y="1292250"/>
            <a:ext cx="8496000" cy="17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Divisibility</a:t>
            </a:r>
            <a:r>
              <a:rPr lang="en-GB"/>
              <a:t> tests are quick processes to identify if a number is divisible by another.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We use </a:t>
            </a:r>
            <a:r>
              <a:rPr b="1" lang="en-GB"/>
              <a:t>divisibility </a:t>
            </a:r>
            <a:r>
              <a:rPr lang="en-GB"/>
              <a:t>tests instead of dividing the number as it often saves time.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a multiple of 2</a:t>
            </a:r>
            <a:endParaRPr/>
          </a:p>
        </p:txBody>
      </p:sp>
      <p:sp>
        <p:nvSpPr>
          <p:cNvPr id="795" name="Google Shape;795;p70"/>
          <p:cNvSpPr txBox="1"/>
          <p:nvPr>
            <p:ph idx="4294967295" type="subTitle"/>
          </p:nvPr>
        </p:nvSpPr>
        <p:spPr>
          <a:xfrm>
            <a:off x="324000" y="950750"/>
            <a:ext cx="662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</a:t>
            </a:r>
            <a:r>
              <a:rPr b="1" lang="en-GB"/>
              <a:t>divisibility</a:t>
            </a:r>
            <a:r>
              <a:rPr lang="en-GB"/>
              <a:t> by 2 for all even numbers</a:t>
            </a:r>
            <a:endParaRPr b="0"/>
          </a:p>
        </p:txBody>
      </p:sp>
      <p:sp>
        <p:nvSpPr>
          <p:cNvPr id="796" name="Google Shape;796;p70"/>
          <p:cNvSpPr txBox="1"/>
          <p:nvPr>
            <p:ph idx="4294967295" type="subTitle"/>
          </p:nvPr>
        </p:nvSpPr>
        <p:spPr>
          <a:xfrm>
            <a:off x="4030250" y="1775200"/>
            <a:ext cx="4308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 all the even numbers numbers up to and including 30</a:t>
            </a:r>
            <a:endParaRPr b="0"/>
          </a:p>
        </p:txBody>
      </p:sp>
      <p:sp>
        <p:nvSpPr>
          <p:cNvPr id="797" name="Google Shape;797;p70"/>
          <p:cNvSpPr txBox="1"/>
          <p:nvPr/>
        </p:nvSpPr>
        <p:spPr>
          <a:xfrm>
            <a:off x="501750" y="16623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4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6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8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10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8" name="Google Shape;798;p70"/>
          <p:cNvSpPr txBox="1"/>
          <p:nvPr/>
        </p:nvSpPr>
        <p:spPr>
          <a:xfrm>
            <a:off x="1632450" y="1668448"/>
            <a:ext cx="902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14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16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18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9" name="Google Shape;799;p70"/>
          <p:cNvSpPr txBox="1"/>
          <p:nvPr/>
        </p:nvSpPr>
        <p:spPr>
          <a:xfrm>
            <a:off x="2546850" y="1668448"/>
            <a:ext cx="902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24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26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28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a multiple of 2</a:t>
            </a:r>
            <a:endParaRPr/>
          </a:p>
        </p:txBody>
      </p:sp>
      <p:sp>
        <p:nvSpPr>
          <p:cNvPr id="805" name="Google Shape;805;p71"/>
          <p:cNvSpPr txBox="1"/>
          <p:nvPr>
            <p:ph idx="4294967295" type="subTitle"/>
          </p:nvPr>
        </p:nvSpPr>
        <p:spPr>
          <a:xfrm>
            <a:off x="3840350" y="1652700"/>
            <a:ext cx="4308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see a pattern? </a:t>
            </a:r>
            <a:endParaRPr b="0"/>
          </a:p>
        </p:txBody>
      </p:sp>
      <p:sp>
        <p:nvSpPr>
          <p:cNvPr id="806" name="Google Shape;806;p71"/>
          <p:cNvSpPr txBox="1"/>
          <p:nvPr/>
        </p:nvSpPr>
        <p:spPr>
          <a:xfrm>
            <a:off x="501750" y="16623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4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6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8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10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7" name="Google Shape;807;p71"/>
          <p:cNvSpPr txBox="1"/>
          <p:nvPr/>
        </p:nvSpPr>
        <p:spPr>
          <a:xfrm>
            <a:off x="1632450" y="1668448"/>
            <a:ext cx="902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14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16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18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8" name="Google Shape;808;p71"/>
          <p:cNvSpPr txBox="1"/>
          <p:nvPr/>
        </p:nvSpPr>
        <p:spPr>
          <a:xfrm>
            <a:off x="2546850" y="1668448"/>
            <a:ext cx="902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24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26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28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9" name="Google Shape;809;p71"/>
          <p:cNvSpPr txBox="1"/>
          <p:nvPr/>
        </p:nvSpPr>
        <p:spPr>
          <a:xfrm>
            <a:off x="3786600" y="2063700"/>
            <a:ext cx="4559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digit in the ones column is always 0, 2, 4, 6 or 8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0" name="Google Shape;810;p71"/>
          <p:cNvSpPr txBox="1"/>
          <p:nvPr>
            <p:ph idx="4294967295" type="subTitle"/>
          </p:nvPr>
        </p:nvSpPr>
        <p:spPr>
          <a:xfrm>
            <a:off x="3840350" y="3100500"/>
            <a:ext cx="3381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58 divisible by 2?</a:t>
            </a:r>
            <a:r>
              <a:rPr lang="en-GB"/>
              <a:t> </a:t>
            </a:r>
            <a:endParaRPr b="0"/>
          </a:p>
        </p:txBody>
      </p:sp>
      <p:sp>
        <p:nvSpPr>
          <p:cNvPr id="811" name="Google Shape;811;p71"/>
          <p:cNvSpPr txBox="1"/>
          <p:nvPr/>
        </p:nvSpPr>
        <p:spPr>
          <a:xfrm>
            <a:off x="3786600" y="3511500"/>
            <a:ext cx="4559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Yes because the digit in the ones column is an 8.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2" name="Google Shape;812;p71"/>
          <p:cNvSpPr txBox="1"/>
          <p:nvPr>
            <p:ph idx="4294967295" type="subTitle"/>
          </p:nvPr>
        </p:nvSpPr>
        <p:spPr>
          <a:xfrm>
            <a:off x="324000" y="950750"/>
            <a:ext cx="662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</a:t>
            </a:r>
            <a:r>
              <a:rPr b="1" lang="en-GB"/>
              <a:t>divisibility</a:t>
            </a:r>
            <a:r>
              <a:rPr lang="en-GB"/>
              <a:t> by 2 for all even numbers</a:t>
            </a:r>
            <a:endParaRPr b="0"/>
          </a:p>
        </p:txBody>
      </p:sp>
      <p:grpSp>
        <p:nvGrpSpPr>
          <p:cNvPr id="813" name="Google Shape;813;p71"/>
          <p:cNvGrpSpPr/>
          <p:nvPr/>
        </p:nvGrpSpPr>
        <p:grpSpPr>
          <a:xfrm>
            <a:off x="454276" y="1668450"/>
            <a:ext cx="2991226" cy="2327324"/>
            <a:chOff x="454276" y="1668450"/>
            <a:chExt cx="2991226" cy="2327324"/>
          </a:xfrm>
        </p:grpSpPr>
        <p:sp>
          <p:nvSpPr>
            <p:cNvPr id="814" name="Google Shape;814;p71"/>
            <p:cNvSpPr txBox="1"/>
            <p:nvPr/>
          </p:nvSpPr>
          <p:spPr>
            <a:xfrm>
              <a:off x="454276" y="1668450"/>
              <a:ext cx="9942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15" name="Google Shape;815;p71"/>
            <p:cNvSpPr txBox="1"/>
            <p:nvPr/>
          </p:nvSpPr>
          <p:spPr>
            <a:xfrm>
              <a:off x="1444876" y="1668450"/>
              <a:ext cx="9942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16" name="Google Shape;816;p71"/>
            <p:cNvSpPr txBox="1"/>
            <p:nvPr/>
          </p:nvSpPr>
          <p:spPr>
            <a:xfrm>
              <a:off x="2451302" y="1668450"/>
              <a:ext cx="9942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17" name="Google Shape;817;p71"/>
            <p:cNvSpPr txBox="1"/>
            <p:nvPr/>
          </p:nvSpPr>
          <p:spPr>
            <a:xfrm>
              <a:off x="831777" y="3364348"/>
              <a:ext cx="439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18" name="Google Shape;818;p71"/>
            <p:cNvSpPr txBox="1"/>
            <p:nvPr/>
          </p:nvSpPr>
          <p:spPr>
            <a:xfrm>
              <a:off x="1838203" y="3380174"/>
              <a:ext cx="439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19" name="Google Shape;819;p71"/>
            <p:cNvSpPr txBox="1"/>
            <p:nvPr/>
          </p:nvSpPr>
          <p:spPr>
            <a:xfrm>
              <a:off x="2752603" y="3380174"/>
              <a:ext cx="439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a multiple of 2</a:t>
            </a:r>
            <a:endParaRPr/>
          </a:p>
        </p:txBody>
      </p:sp>
      <p:sp>
        <p:nvSpPr>
          <p:cNvPr id="825" name="Google Shape;825;p72"/>
          <p:cNvSpPr txBox="1"/>
          <p:nvPr>
            <p:ph idx="4294967295" type="subTitle"/>
          </p:nvPr>
        </p:nvSpPr>
        <p:spPr>
          <a:xfrm>
            <a:off x="3840350" y="1805100"/>
            <a:ext cx="3983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Are all even numbers divisible by 2?</a:t>
            </a:r>
            <a:endParaRPr b="0"/>
          </a:p>
        </p:txBody>
      </p:sp>
      <p:sp>
        <p:nvSpPr>
          <p:cNvPr id="826" name="Google Shape;826;p72"/>
          <p:cNvSpPr txBox="1"/>
          <p:nvPr/>
        </p:nvSpPr>
        <p:spPr>
          <a:xfrm>
            <a:off x="501750" y="16623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4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6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8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10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7" name="Google Shape;827;p72"/>
          <p:cNvSpPr txBox="1"/>
          <p:nvPr/>
        </p:nvSpPr>
        <p:spPr>
          <a:xfrm>
            <a:off x="1632450" y="1668448"/>
            <a:ext cx="902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14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16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18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8" name="Google Shape;828;p72"/>
          <p:cNvSpPr txBox="1"/>
          <p:nvPr/>
        </p:nvSpPr>
        <p:spPr>
          <a:xfrm>
            <a:off x="2546850" y="1668448"/>
            <a:ext cx="902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22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24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26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28</a:t>
            </a:r>
            <a:endParaRPr sz="2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9" name="Google Shape;829;p72"/>
          <p:cNvSpPr txBox="1"/>
          <p:nvPr/>
        </p:nvSpPr>
        <p:spPr>
          <a:xfrm>
            <a:off x="3786600" y="2673300"/>
            <a:ext cx="4559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Yes because all even numbers have the digits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0, 2, 4, 6 or 8 in the ones column.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0" name="Google Shape;830;p72"/>
          <p:cNvSpPr txBox="1"/>
          <p:nvPr>
            <p:ph idx="4294967295" type="subTitle"/>
          </p:nvPr>
        </p:nvSpPr>
        <p:spPr>
          <a:xfrm>
            <a:off x="324000" y="950750"/>
            <a:ext cx="662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</a:t>
            </a:r>
            <a:r>
              <a:rPr b="1" lang="en-GB"/>
              <a:t>divisibility</a:t>
            </a:r>
            <a:r>
              <a:rPr lang="en-GB"/>
              <a:t> by 2 for all even numbers</a:t>
            </a:r>
            <a:endParaRPr b="0"/>
          </a:p>
        </p:txBody>
      </p:sp>
      <p:grpSp>
        <p:nvGrpSpPr>
          <p:cNvPr id="831" name="Google Shape;831;p72"/>
          <p:cNvGrpSpPr/>
          <p:nvPr/>
        </p:nvGrpSpPr>
        <p:grpSpPr>
          <a:xfrm>
            <a:off x="454276" y="1668450"/>
            <a:ext cx="2991226" cy="2327324"/>
            <a:chOff x="454276" y="1668450"/>
            <a:chExt cx="2991226" cy="2327324"/>
          </a:xfrm>
        </p:grpSpPr>
        <p:sp>
          <p:nvSpPr>
            <p:cNvPr id="832" name="Google Shape;832;p72"/>
            <p:cNvSpPr txBox="1"/>
            <p:nvPr/>
          </p:nvSpPr>
          <p:spPr>
            <a:xfrm>
              <a:off x="454276" y="1668450"/>
              <a:ext cx="9942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3" name="Google Shape;833;p72"/>
            <p:cNvSpPr txBox="1"/>
            <p:nvPr/>
          </p:nvSpPr>
          <p:spPr>
            <a:xfrm>
              <a:off x="1444876" y="1668450"/>
              <a:ext cx="9942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4" name="Google Shape;834;p72"/>
            <p:cNvSpPr txBox="1"/>
            <p:nvPr/>
          </p:nvSpPr>
          <p:spPr>
            <a:xfrm>
              <a:off x="2451302" y="1668450"/>
              <a:ext cx="994200" cy="190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2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4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6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8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5" name="Google Shape;835;p72"/>
            <p:cNvSpPr txBox="1"/>
            <p:nvPr/>
          </p:nvSpPr>
          <p:spPr>
            <a:xfrm>
              <a:off x="831777" y="3364348"/>
              <a:ext cx="439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6" name="Google Shape;836;p72"/>
            <p:cNvSpPr txBox="1"/>
            <p:nvPr/>
          </p:nvSpPr>
          <p:spPr>
            <a:xfrm>
              <a:off x="1838203" y="3380174"/>
              <a:ext cx="439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7" name="Google Shape;837;p72"/>
            <p:cNvSpPr txBox="1"/>
            <p:nvPr/>
          </p:nvSpPr>
          <p:spPr>
            <a:xfrm>
              <a:off x="2752603" y="3380174"/>
              <a:ext cx="4395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489 215 478 384 a multiple of 2</a:t>
            </a:r>
            <a:endParaRPr/>
          </a:p>
        </p:txBody>
      </p:sp>
      <p:sp>
        <p:nvSpPr>
          <p:cNvPr id="843" name="Google Shape;843;p73"/>
          <p:cNvSpPr txBox="1"/>
          <p:nvPr>
            <p:ph idx="3" type="subTitle"/>
          </p:nvPr>
        </p:nvSpPr>
        <p:spPr>
          <a:xfrm>
            <a:off x="980575" y="4013249"/>
            <a:ext cx="74526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number begins with a 4 from left to right.</a:t>
            </a:r>
            <a:endParaRPr/>
          </a:p>
        </p:txBody>
      </p:sp>
      <p:sp>
        <p:nvSpPr>
          <p:cNvPr id="844" name="Google Shape;844;p73"/>
          <p:cNvSpPr txBox="1"/>
          <p:nvPr>
            <p:ph idx="1" type="subTitle"/>
          </p:nvPr>
        </p:nvSpPr>
        <p:spPr>
          <a:xfrm>
            <a:off x="980575" y="30437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All even numbers have </a:t>
            </a:r>
            <a:r>
              <a:rPr lang="en-GB"/>
              <a:t>the digits 0, 2, 4, 6 or 8 in the ones column.</a:t>
            </a:r>
            <a:r>
              <a:rPr lang="en-GB"/>
              <a:t> </a:t>
            </a:r>
            <a:endParaRPr/>
          </a:p>
        </p:txBody>
      </p:sp>
      <p:sp>
        <p:nvSpPr>
          <p:cNvPr id="845" name="Google Shape;84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a multiple of 2</a:t>
            </a:r>
            <a:endParaRPr/>
          </a:p>
        </p:txBody>
      </p:sp>
      <p:pic>
        <p:nvPicPr>
          <p:cNvPr id="846" name="Google Shape;84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008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608" y="33554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4"/>
          <p:cNvSpPr txBox="1"/>
          <p:nvPr>
            <p:ph type="title"/>
          </p:nvPr>
        </p:nvSpPr>
        <p:spPr>
          <a:xfrm>
            <a:off x="324000" y="9773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numbers are </a:t>
            </a:r>
            <a:r>
              <a:rPr lang="en-GB"/>
              <a:t>divisible</a:t>
            </a:r>
            <a:r>
              <a:rPr lang="en-GB"/>
              <a:t> by 2? Justify your answer.</a:t>
            </a:r>
            <a:endParaRPr/>
          </a:p>
        </p:txBody>
      </p:sp>
      <p:sp>
        <p:nvSpPr>
          <p:cNvPr id="853" name="Google Shape;853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a multiple of 2</a:t>
            </a:r>
            <a:endParaRPr/>
          </a:p>
        </p:txBody>
      </p:sp>
      <p:sp>
        <p:nvSpPr>
          <p:cNvPr id="854" name="Google Shape;854;p74"/>
          <p:cNvSpPr txBox="1"/>
          <p:nvPr>
            <p:ph type="title"/>
          </p:nvPr>
        </p:nvSpPr>
        <p:spPr>
          <a:xfrm>
            <a:off x="592500" y="2022150"/>
            <a:ext cx="18798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2 478 349</a:t>
            </a:r>
            <a:endParaRPr sz="3200"/>
          </a:p>
        </p:txBody>
      </p:sp>
      <p:sp>
        <p:nvSpPr>
          <p:cNvPr id="855" name="Google Shape;855;p74"/>
          <p:cNvSpPr txBox="1"/>
          <p:nvPr>
            <p:ph type="title"/>
          </p:nvPr>
        </p:nvSpPr>
        <p:spPr>
          <a:xfrm>
            <a:off x="3411900" y="2022150"/>
            <a:ext cx="2362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48 593 438</a:t>
            </a:r>
            <a:endParaRPr sz="3200"/>
          </a:p>
        </p:txBody>
      </p:sp>
      <p:sp>
        <p:nvSpPr>
          <p:cNvPr id="856" name="Google Shape;856;p74"/>
          <p:cNvSpPr txBox="1"/>
          <p:nvPr>
            <p:ph type="title"/>
          </p:nvPr>
        </p:nvSpPr>
        <p:spPr>
          <a:xfrm>
            <a:off x="6864050" y="2022150"/>
            <a:ext cx="16587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/>
              <a:t>844 277</a:t>
            </a:r>
            <a:endParaRPr sz="3200"/>
          </a:p>
        </p:txBody>
      </p:sp>
      <p:pic>
        <p:nvPicPr>
          <p:cNvPr id="857" name="Google Shape;85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583" y="36057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4"/>
          <p:cNvSpPr txBox="1"/>
          <p:nvPr/>
        </p:nvSpPr>
        <p:spPr>
          <a:xfrm>
            <a:off x="3369600" y="2549050"/>
            <a:ext cx="28089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digit in the ones column is a 0, 2, 4, 6 or 8.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5"/>
          <p:cNvSpPr txBox="1"/>
          <p:nvPr>
            <p:ph idx="1" type="body"/>
          </p:nvPr>
        </p:nvSpPr>
        <p:spPr>
          <a:xfrm>
            <a:off x="324000" y="759300"/>
            <a:ext cx="8237700" cy="10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a test of </a:t>
            </a:r>
            <a:r>
              <a:rPr b="1" lang="en-GB"/>
              <a:t>divisibility </a:t>
            </a:r>
            <a:r>
              <a:rPr lang="en-GB"/>
              <a:t>by 2, identify all the multiples of 2 from the list below:</a:t>
            </a:r>
            <a:endParaRPr/>
          </a:p>
        </p:txBody>
      </p:sp>
      <p:sp>
        <p:nvSpPr>
          <p:cNvPr id="864" name="Google Shape;864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Any even number is a multiple of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75"/>
          <p:cNvSpPr txBox="1"/>
          <p:nvPr>
            <p:ph idx="4294967295" type="title"/>
          </p:nvPr>
        </p:nvSpPr>
        <p:spPr>
          <a:xfrm>
            <a:off x="844288" y="1942850"/>
            <a:ext cx="2777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2 478 349</a:t>
            </a:r>
            <a:endParaRPr b="0" sz="3200"/>
          </a:p>
        </p:txBody>
      </p:sp>
      <p:sp>
        <p:nvSpPr>
          <p:cNvPr id="866" name="Google Shape;866;p75"/>
          <p:cNvSpPr txBox="1"/>
          <p:nvPr>
            <p:ph idx="4294967295" type="title"/>
          </p:nvPr>
        </p:nvSpPr>
        <p:spPr>
          <a:xfrm>
            <a:off x="1981038" y="2791600"/>
            <a:ext cx="2777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445 534</a:t>
            </a:r>
            <a:endParaRPr b="0" sz="3200"/>
          </a:p>
        </p:txBody>
      </p:sp>
      <p:sp>
        <p:nvSpPr>
          <p:cNvPr id="867" name="Google Shape;867;p75"/>
          <p:cNvSpPr txBox="1"/>
          <p:nvPr>
            <p:ph idx="4294967295" type="title"/>
          </p:nvPr>
        </p:nvSpPr>
        <p:spPr>
          <a:xfrm>
            <a:off x="3576474" y="1776300"/>
            <a:ext cx="2450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3 284 738</a:t>
            </a:r>
            <a:endParaRPr b="0" sz="3200"/>
          </a:p>
        </p:txBody>
      </p:sp>
      <p:sp>
        <p:nvSpPr>
          <p:cNvPr id="868" name="Google Shape;868;p75"/>
          <p:cNvSpPr txBox="1"/>
          <p:nvPr>
            <p:ph idx="4294967295" type="title"/>
          </p:nvPr>
        </p:nvSpPr>
        <p:spPr>
          <a:xfrm>
            <a:off x="5053823" y="2925250"/>
            <a:ext cx="861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390</a:t>
            </a:r>
            <a:endParaRPr b="0" sz="3200"/>
          </a:p>
        </p:txBody>
      </p:sp>
      <p:sp>
        <p:nvSpPr>
          <p:cNvPr id="869" name="Google Shape;869;p75"/>
          <p:cNvSpPr txBox="1"/>
          <p:nvPr>
            <p:ph idx="4294967295" type="title"/>
          </p:nvPr>
        </p:nvSpPr>
        <p:spPr>
          <a:xfrm>
            <a:off x="844293" y="3640350"/>
            <a:ext cx="11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1115</a:t>
            </a:r>
            <a:endParaRPr b="0" sz="3200"/>
          </a:p>
        </p:txBody>
      </p:sp>
      <p:sp>
        <p:nvSpPr>
          <p:cNvPr id="870" name="Google Shape;870;p75"/>
          <p:cNvSpPr txBox="1"/>
          <p:nvPr>
            <p:ph idx="4294967295" type="title"/>
          </p:nvPr>
        </p:nvSpPr>
        <p:spPr>
          <a:xfrm>
            <a:off x="6026613" y="2103075"/>
            <a:ext cx="2777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999 111 333</a:t>
            </a:r>
            <a:endParaRPr b="0" sz="3200"/>
          </a:p>
        </p:txBody>
      </p:sp>
      <p:sp>
        <p:nvSpPr>
          <p:cNvPr id="871" name="Google Shape;871;p75"/>
          <p:cNvSpPr txBox="1"/>
          <p:nvPr>
            <p:ph idx="4294967295" type="title"/>
          </p:nvPr>
        </p:nvSpPr>
        <p:spPr>
          <a:xfrm>
            <a:off x="5915413" y="3655025"/>
            <a:ext cx="2777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222 222 222</a:t>
            </a:r>
            <a:endParaRPr b="0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6"/>
          <p:cNvSpPr txBox="1"/>
          <p:nvPr>
            <p:ph idx="1" type="body"/>
          </p:nvPr>
        </p:nvSpPr>
        <p:spPr>
          <a:xfrm>
            <a:off x="2743200" y="759300"/>
            <a:ext cx="5818500" cy="10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Izzy’s calculator has broken.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She knows the number on the screen 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is a </a:t>
            </a:r>
            <a:r>
              <a:rPr lang="en-GB"/>
              <a:t>multiple</a:t>
            </a:r>
            <a:r>
              <a:rPr lang="en-GB"/>
              <a:t> of 2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has exactly 5 tens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is a 4 digit number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is greater than 8600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less than 8660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What could her number be?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a multiple of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78" name="Google Shape;87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75" y="1188675"/>
            <a:ext cx="2118500" cy="363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Any even number is a multiple of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77"/>
          <p:cNvSpPr txBox="1"/>
          <p:nvPr>
            <p:ph idx="1" type="body"/>
          </p:nvPr>
        </p:nvSpPr>
        <p:spPr>
          <a:xfrm>
            <a:off x="324000" y="759300"/>
            <a:ext cx="8237700" cy="10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a test of </a:t>
            </a:r>
            <a:r>
              <a:rPr b="1" lang="en-GB"/>
              <a:t>divisibility</a:t>
            </a:r>
            <a:r>
              <a:rPr lang="en-GB"/>
              <a:t> by 2, identify all the multiples of 2 from the list below:</a:t>
            </a:r>
            <a:endParaRPr/>
          </a:p>
        </p:txBody>
      </p:sp>
      <p:sp>
        <p:nvSpPr>
          <p:cNvPr id="885" name="Google Shape;885;p77"/>
          <p:cNvSpPr txBox="1"/>
          <p:nvPr>
            <p:ph idx="4294967295" type="title"/>
          </p:nvPr>
        </p:nvSpPr>
        <p:spPr>
          <a:xfrm>
            <a:off x="844288" y="1942850"/>
            <a:ext cx="2777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2 478 349</a:t>
            </a:r>
            <a:endParaRPr b="0" sz="3200"/>
          </a:p>
        </p:txBody>
      </p:sp>
      <p:sp>
        <p:nvSpPr>
          <p:cNvPr id="886" name="Google Shape;886;p77"/>
          <p:cNvSpPr txBox="1"/>
          <p:nvPr>
            <p:ph idx="4294967295" type="title"/>
          </p:nvPr>
        </p:nvSpPr>
        <p:spPr>
          <a:xfrm>
            <a:off x="1981038" y="2791600"/>
            <a:ext cx="2777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445 534</a:t>
            </a:r>
            <a:endParaRPr b="0" sz="3200"/>
          </a:p>
        </p:txBody>
      </p:sp>
      <p:sp>
        <p:nvSpPr>
          <p:cNvPr id="887" name="Google Shape;887;p77"/>
          <p:cNvSpPr txBox="1"/>
          <p:nvPr>
            <p:ph idx="4294967295" type="title"/>
          </p:nvPr>
        </p:nvSpPr>
        <p:spPr>
          <a:xfrm>
            <a:off x="3576474" y="1776300"/>
            <a:ext cx="2450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3 284 738</a:t>
            </a:r>
            <a:endParaRPr b="0" sz="3200"/>
          </a:p>
        </p:txBody>
      </p:sp>
      <p:sp>
        <p:nvSpPr>
          <p:cNvPr id="888" name="Google Shape;888;p77"/>
          <p:cNvSpPr txBox="1"/>
          <p:nvPr>
            <p:ph idx="4294967295" type="title"/>
          </p:nvPr>
        </p:nvSpPr>
        <p:spPr>
          <a:xfrm>
            <a:off x="5053823" y="2925250"/>
            <a:ext cx="861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390</a:t>
            </a:r>
            <a:endParaRPr b="0" sz="3200"/>
          </a:p>
        </p:txBody>
      </p:sp>
      <p:sp>
        <p:nvSpPr>
          <p:cNvPr id="889" name="Google Shape;889;p77"/>
          <p:cNvSpPr txBox="1"/>
          <p:nvPr>
            <p:ph idx="4294967295" type="title"/>
          </p:nvPr>
        </p:nvSpPr>
        <p:spPr>
          <a:xfrm>
            <a:off x="844293" y="3640350"/>
            <a:ext cx="1139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1115</a:t>
            </a:r>
            <a:endParaRPr b="0" sz="3200"/>
          </a:p>
        </p:txBody>
      </p:sp>
      <p:sp>
        <p:nvSpPr>
          <p:cNvPr id="890" name="Google Shape;890;p77"/>
          <p:cNvSpPr txBox="1"/>
          <p:nvPr>
            <p:ph idx="4294967295" type="title"/>
          </p:nvPr>
        </p:nvSpPr>
        <p:spPr>
          <a:xfrm>
            <a:off x="6026613" y="2103075"/>
            <a:ext cx="2777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999 111 333</a:t>
            </a:r>
            <a:endParaRPr b="0" sz="3200"/>
          </a:p>
        </p:txBody>
      </p:sp>
      <p:sp>
        <p:nvSpPr>
          <p:cNvPr id="891" name="Google Shape;891;p77"/>
          <p:cNvSpPr txBox="1"/>
          <p:nvPr>
            <p:ph idx="4294967295" type="title"/>
          </p:nvPr>
        </p:nvSpPr>
        <p:spPr>
          <a:xfrm>
            <a:off x="5915413" y="3655025"/>
            <a:ext cx="2777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3200"/>
              <a:t>222 222 222</a:t>
            </a:r>
            <a:endParaRPr b="0" sz="3200"/>
          </a:p>
        </p:txBody>
      </p:sp>
      <p:sp>
        <p:nvSpPr>
          <p:cNvPr id="892" name="Google Shape;892;p77"/>
          <p:cNvSpPr/>
          <p:nvPr/>
        </p:nvSpPr>
        <p:spPr>
          <a:xfrm>
            <a:off x="3107200" y="1593175"/>
            <a:ext cx="2667300" cy="838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77"/>
          <p:cNvSpPr/>
          <p:nvPr/>
        </p:nvSpPr>
        <p:spPr>
          <a:xfrm>
            <a:off x="1455425" y="2616763"/>
            <a:ext cx="2667300" cy="838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77"/>
          <p:cNvSpPr/>
          <p:nvPr/>
        </p:nvSpPr>
        <p:spPr>
          <a:xfrm>
            <a:off x="4572000" y="2704450"/>
            <a:ext cx="1706700" cy="838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77"/>
          <p:cNvSpPr/>
          <p:nvPr/>
        </p:nvSpPr>
        <p:spPr>
          <a:xfrm>
            <a:off x="5594850" y="3465750"/>
            <a:ext cx="2830500" cy="838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a multiple of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78"/>
          <p:cNvSpPr txBox="1"/>
          <p:nvPr>
            <p:ph idx="1" type="body"/>
          </p:nvPr>
        </p:nvSpPr>
        <p:spPr>
          <a:xfrm>
            <a:off x="2743200" y="759300"/>
            <a:ext cx="5818500" cy="101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Izzy’s calculator has broken.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She knows the number on the screen :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is a multiple of 2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has exactly 5 tens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is a 4 digit number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is greater than 8600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less than 8660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What could her number be?</a:t>
            </a:r>
            <a:endParaRPr sz="18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02" name="Google Shape;90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75" y="1112475"/>
            <a:ext cx="2118500" cy="3631725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78"/>
          <p:cNvSpPr txBox="1"/>
          <p:nvPr/>
        </p:nvSpPr>
        <p:spPr>
          <a:xfrm>
            <a:off x="7459200" y="1315200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8650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4" name="Google Shape;904;p78"/>
          <p:cNvSpPr txBox="1"/>
          <p:nvPr/>
        </p:nvSpPr>
        <p:spPr>
          <a:xfrm>
            <a:off x="7459200" y="1860563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8652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5" name="Google Shape;905;p78"/>
          <p:cNvSpPr txBox="1"/>
          <p:nvPr/>
        </p:nvSpPr>
        <p:spPr>
          <a:xfrm>
            <a:off x="7454926" y="2342250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8654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6" name="Google Shape;906;p78"/>
          <p:cNvSpPr txBox="1"/>
          <p:nvPr/>
        </p:nvSpPr>
        <p:spPr>
          <a:xfrm>
            <a:off x="7454926" y="2907302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8656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7" name="Google Shape;907;p78"/>
          <p:cNvSpPr txBox="1"/>
          <p:nvPr/>
        </p:nvSpPr>
        <p:spPr>
          <a:xfrm>
            <a:off x="7454926" y="3440702"/>
            <a:ext cx="12285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Kalam"/>
                <a:ea typeface="Kalam"/>
                <a:cs typeface="Kalam"/>
                <a:sym typeface="Kalam"/>
              </a:rPr>
              <a:t>8658</a:t>
            </a:r>
            <a:endParaRPr sz="3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Any even number is a multiple of 2</a:t>
            </a:r>
            <a:endParaRPr/>
          </a:p>
        </p:txBody>
      </p:sp>
      <p:sp>
        <p:nvSpPr>
          <p:cNvPr id="913" name="Google Shape;913;p7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multiples of 3</a:t>
            </a:r>
            <a:endParaRPr/>
          </a:p>
        </p:txBody>
      </p:sp>
      <p:sp>
        <p:nvSpPr>
          <p:cNvPr id="914" name="Google Shape;914;p7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2 and 3</a:t>
            </a:r>
            <a:endParaRPr/>
          </a:p>
        </p:txBody>
      </p:sp>
      <p:pic>
        <p:nvPicPr>
          <p:cNvPr id="915" name="Google Shape;91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89" y="298962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multiples of 3</a:t>
            </a:r>
            <a:endParaRPr/>
          </a:p>
        </p:txBody>
      </p:sp>
      <p:sp>
        <p:nvSpPr>
          <p:cNvPr id="921" name="Google Shape;921;p80"/>
          <p:cNvSpPr txBox="1"/>
          <p:nvPr>
            <p:ph idx="4294967295" type="subTitle"/>
          </p:nvPr>
        </p:nvSpPr>
        <p:spPr>
          <a:xfrm>
            <a:off x="324000" y="798350"/>
            <a:ext cx="8570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d</a:t>
            </a:r>
            <a:r>
              <a:rPr b="1" lang="en-GB"/>
              <a:t>ivisibility</a:t>
            </a:r>
            <a:r>
              <a:rPr lang="en-GB"/>
              <a:t> test for multiples of 3 is very different from the divisibility test for multiples of 2.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80"/>
          <p:cNvSpPr txBox="1"/>
          <p:nvPr>
            <p:ph idx="4294967295" type="subTitle"/>
          </p:nvPr>
        </p:nvSpPr>
        <p:spPr>
          <a:xfrm>
            <a:off x="324000" y="3541550"/>
            <a:ext cx="8570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you look at the individual digits, you may spot a method to identify if a number is divisible by 3. Can you see it?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80"/>
          <p:cNvSpPr txBox="1"/>
          <p:nvPr>
            <p:ph idx="4294967295" type="subTitle"/>
          </p:nvPr>
        </p:nvSpPr>
        <p:spPr>
          <a:xfrm>
            <a:off x="400200" y="2135200"/>
            <a:ext cx="7885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3,  6,  9,  12,  15,  18,  21,  24,  27, …  711 381</a:t>
            </a:r>
            <a:endParaRPr b="0" sz="2300"/>
          </a:p>
        </p:txBody>
      </p:sp>
      <p:sp>
        <p:nvSpPr>
          <p:cNvPr id="924" name="Google Shape;924;p80"/>
          <p:cNvSpPr/>
          <p:nvPr/>
        </p:nvSpPr>
        <p:spPr>
          <a:xfrm>
            <a:off x="2612500" y="2049200"/>
            <a:ext cx="443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80"/>
          <p:cNvSpPr txBox="1"/>
          <p:nvPr/>
        </p:nvSpPr>
        <p:spPr>
          <a:xfrm>
            <a:off x="2534526" y="2501400"/>
            <a:ext cx="741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1&amp;2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0"/>
          <p:cNvSpPr/>
          <p:nvPr/>
        </p:nvSpPr>
        <p:spPr>
          <a:xfrm>
            <a:off x="3724500" y="2062525"/>
            <a:ext cx="443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80"/>
          <p:cNvSpPr/>
          <p:nvPr/>
        </p:nvSpPr>
        <p:spPr>
          <a:xfrm>
            <a:off x="5400900" y="2062525"/>
            <a:ext cx="443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80"/>
          <p:cNvSpPr txBox="1"/>
          <p:nvPr/>
        </p:nvSpPr>
        <p:spPr>
          <a:xfrm>
            <a:off x="3603104" y="2505526"/>
            <a:ext cx="1195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1&amp;8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80"/>
          <p:cNvSpPr txBox="1"/>
          <p:nvPr/>
        </p:nvSpPr>
        <p:spPr>
          <a:xfrm>
            <a:off x="5256625" y="2489700"/>
            <a:ext cx="10686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2&amp;7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81"/>
          <p:cNvSpPr txBox="1"/>
          <p:nvPr>
            <p:ph idx="4294967295" type="subTitle"/>
          </p:nvPr>
        </p:nvSpPr>
        <p:spPr>
          <a:xfrm>
            <a:off x="324000" y="798350"/>
            <a:ext cx="8570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d</a:t>
            </a:r>
            <a:r>
              <a:rPr b="1" lang="en-GB"/>
              <a:t>ivisibility</a:t>
            </a:r>
            <a:r>
              <a:rPr lang="en-GB"/>
              <a:t> test for multiples of 3 is very different from the divisibility test for multiples of 2.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81"/>
          <p:cNvSpPr txBox="1"/>
          <p:nvPr>
            <p:ph idx="4294967295" type="subTitle"/>
          </p:nvPr>
        </p:nvSpPr>
        <p:spPr>
          <a:xfrm>
            <a:off x="400200" y="2135200"/>
            <a:ext cx="7885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300"/>
              <a:t>3,  6,  9,  12,  15,  18,  21,  24,  27, …  711 381</a:t>
            </a:r>
            <a:endParaRPr b="0" sz="2300"/>
          </a:p>
        </p:txBody>
      </p:sp>
      <p:sp>
        <p:nvSpPr>
          <p:cNvPr id="936" name="Google Shape;936;p81"/>
          <p:cNvSpPr/>
          <p:nvPr/>
        </p:nvSpPr>
        <p:spPr>
          <a:xfrm>
            <a:off x="2612500" y="2049200"/>
            <a:ext cx="443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81"/>
          <p:cNvSpPr/>
          <p:nvPr/>
        </p:nvSpPr>
        <p:spPr>
          <a:xfrm>
            <a:off x="3724500" y="2062525"/>
            <a:ext cx="443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81"/>
          <p:cNvSpPr/>
          <p:nvPr/>
        </p:nvSpPr>
        <p:spPr>
          <a:xfrm>
            <a:off x="5400900" y="2062525"/>
            <a:ext cx="443100" cy="487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81"/>
          <p:cNvSpPr txBox="1"/>
          <p:nvPr/>
        </p:nvSpPr>
        <p:spPr>
          <a:xfrm>
            <a:off x="2534526" y="2501400"/>
            <a:ext cx="741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1+2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81"/>
          <p:cNvSpPr txBox="1"/>
          <p:nvPr/>
        </p:nvSpPr>
        <p:spPr>
          <a:xfrm>
            <a:off x="3603104" y="2505526"/>
            <a:ext cx="11952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1+8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81"/>
          <p:cNvSpPr txBox="1"/>
          <p:nvPr/>
        </p:nvSpPr>
        <p:spPr>
          <a:xfrm>
            <a:off x="5256625" y="2489700"/>
            <a:ext cx="10686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2+7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81"/>
          <p:cNvSpPr txBox="1"/>
          <p:nvPr/>
        </p:nvSpPr>
        <p:spPr>
          <a:xfrm>
            <a:off x="6247225" y="2489700"/>
            <a:ext cx="21933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7+1+1+3+8+1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81"/>
          <p:cNvSpPr txBox="1"/>
          <p:nvPr>
            <p:ph idx="4294967295" type="subTitle"/>
          </p:nvPr>
        </p:nvSpPr>
        <p:spPr>
          <a:xfrm>
            <a:off x="324000" y="3541550"/>
            <a:ext cx="8570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you sum the digits, the sum is a multiple of 3.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This means the number is divisible by 3.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multiples of 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82"/>
          <p:cNvSpPr txBox="1"/>
          <p:nvPr>
            <p:ph idx="1" type="subTitle"/>
          </p:nvPr>
        </p:nvSpPr>
        <p:spPr>
          <a:xfrm>
            <a:off x="337825" y="810050"/>
            <a:ext cx="3982200" cy="24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Jun says,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he correct? Show your working out using the divisibility test for 3.</a:t>
            </a:r>
            <a:endParaRPr/>
          </a:p>
        </p:txBody>
      </p:sp>
      <p:sp>
        <p:nvSpPr>
          <p:cNvPr id="950" name="Google Shape;95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multiples of 3</a:t>
            </a:r>
            <a:endParaRPr/>
          </a:p>
        </p:txBody>
      </p:sp>
      <p:pic>
        <p:nvPicPr>
          <p:cNvPr id="951" name="Google Shape;95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397" y="1400660"/>
            <a:ext cx="897350" cy="1122126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2"/>
          <p:cNvSpPr txBox="1"/>
          <p:nvPr>
            <p:ph idx="1" type="subTitle"/>
          </p:nvPr>
        </p:nvSpPr>
        <p:spPr>
          <a:xfrm>
            <a:off x="337825" y="3436600"/>
            <a:ext cx="39822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Yes because 3+4+5+3+9+4+1+9+1 = 39    39 is a multiple of 3.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53" name="Google Shape;95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7750" y="1079988"/>
            <a:ext cx="2777452" cy="1122123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p82"/>
          <p:cNvSpPr txBox="1"/>
          <p:nvPr>
            <p:ph idx="4294967295" type="subTitle"/>
          </p:nvPr>
        </p:nvSpPr>
        <p:spPr>
          <a:xfrm>
            <a:off x="1808125" y="1175850"/>
            <a:ext cx="2276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345 394 191 is divisible by 3</a:t>
            </a:r>
            <a:endParaRPr/>
          </a:p>
        </p:txBody>
      </p:sp>
      <p:pic>
        <p:nvPicPr>
          <p:cNvPr id="955" name="Google Shape;955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5900" y="1527314"/>
            <a:ext cx="897350" cy="995473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82"/>
          <p:cNvSpPr txBox="1"/>
          <p:nvPr>
            <p:ph idx="1" type="subTitle"/>
          </p:nvPr>
        </p:nvSpPr>
        <p:spPr>
          <a:xfrm>
            <a:off x="4771975" y="792600"/>
            <a:ext cx="3982200" cy="24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Sofia</a:t>
            </a:r>
            <a:r>
              <a:rPr lang="en-GB"/>
              <a:t> says,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she correct? Show your working out using the divisibility tests.</a:t>
            </a:r>
            <a:endParaRPr/>
          </a:p>
        </p:txBody>
      </p:sp>
      <p:pic>
        <p:nvPicPr>
          <p:cNvPr id="957" name="Google Shape;957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4657775" y="1125050"/>
            <a:ext cx="3086500" cy="1168676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2"/>
          <p:cNvSpPr txBox="1"/>
          <p:nvPr>
            <p:ph idx="4294967295" type="subTitle"/>
          </p:nvPr>
        </p:nvSpPr>
        <p:spPr>
          <a:xfrm>
            <a:off x="4982975" y="1313250"/>
            <a:ext cx="262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254 622 is divisible by 2 and 3</a:t>
            </a:r>
            <a:endParaRPr sz="2000"/>
          </a:p>
        </p:txBody>
      </p:sp>
      <p:sp>
        <p:nvSpPr>
          <p:cNvPr id="959" name="Google Shape;959;p82"/>
          <p:cNvSpPr txBox="1"/>
          <p:nvPr>
            <p:ph idx="1" type="subTitle"/>
          </p:nvPr>
        </p:nvSpPr>
        <p:spPr>
          <a:xfrm>
            <a:off x="4810175" y="3284200"/>
            <a:ext cx="3788700" cy="12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 because 2+5+4+6+2+2 = 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and 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a multiple of 3.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0" name="Google Shape;960;p82"/>
          <p:cNvSpPr txBox="1"/>
          <p:nvPr/>
        </p:nvSpPr>
        <p:spPr>
          <a:xfrm>
            <a:off x="4697525" y="4014600"/>
            <a:ext cx="4257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digit in the ones column is a 2 so it is a multiple of 2.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83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  <p:sp>
        <p:nvSpPr>
          <p:cNvPr id="966" name="Google Shape;966;p83"/>
          <p:cNvSpPr txBox="1"/>
          <p:nvPr>
            <p:ph idx="4294967295" type="subTitle"/>
          </p:nvPr>
        </p:nvSpPr>
        <p:spPr>
          <a:xfrm>
            <a:off x="337825" y="810050"/>
            <a:ext cx="7770600" cy="24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1a) Identify all the multiples of 3 from the list.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234,    1398,     20 495,    593,     </a:t>
            </a:r>
            <a:r>
              <a:rPr lang="en-GB"/>
              <a:t>56 576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r>
              <a:rPr lang="en-GB"/>
              <a:t>b) Identify all the multiples of 2 and 3 from the list.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325,    139,     120 490,    594,     656 578 452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4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  <p:sp>
        <p:nvSpPr>
          <p:cNvPr id="972" name="Google Shape;972;p84"/>
          <p:cNvSpPr txBox="1"/>
          <p:nvPr>
            <p:ph idx="4294967295" type="subTitle"/>
          </p:nvPr>
        </p:nvSpPr>
        <p:spPr>
          <a:xfrm>
            <a:off x="337825" y="657650"/>
            <a:ext cx="8367300" cy="416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Here are five cards, each with a digit.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Only </a:t>
            </a:r>
            <a:r>
              <a:rPr lang="en-GB"/>
              <a:t>using four cards, </a:t>
            </a:r>
            <a:endParaRPr/>
          </a:p>
          <a:p>
            <a:pPr indent="-3269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make a four digit number which is a multiple of 3.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3269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make a four digit number which is a multiple of 3 and 2.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Try to find as many answers as you can to part a) and b)</a:t>
            </a:r>
            <a:endParaRPr/>
          </a:p>
        </p:txBody>
      </p:sp>
      <p:sp>
        <p:nvSpPr>
          <p:cNvPr id="973" name="Google Shape;973;p84"/>
          <p:cNvSpPr/>
          <p:nvPr/>
        </p:nvSpPr>
        <p:spPr>
          <a:xfrm>
            <a:off x="1999375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84"/>
          <p:cNvSpPr/>
          <p:nvPr/>
        </p:nvSpPr>
        <p:spPr>
          <a:xfrm>
            <a:off x="3069700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84"/>
          <p:cNvSpPr/>
          <p:nvPr/>
        </p:nvSpPr>
        <p:spPr>
          <a:xfrm>
            <a:off x="4140025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84"/>
          <p:cNvSpPr/>
          <p:nvPr/>
        </p:nvSpPr>
        <p:spPr>
          <a:xfrm>
            <a:off x="5210350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4"/>
          <p:cNvSpPr/>
          <p:nvPr/>
        </p:nvSpPr>
        <p:spPr>
          <a:xfrm>
            <a:off x="6256800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4"/>
          <p:cNvSpPr txBox="1"/>
          <p:nvPr/>
        </p:nvSpPr>
        <p:spPr>
          <a:xfrm>
            <a:off x="2197975" y="11816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6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84"/>
          <p:cNvSpPr txBox="1"/>
          <p:nvPr/>
        </p:nvSpPr>
        <p:spPr>
          <a:xfrm>
            <a:off x="3268300" y="11816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1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84"/>
          <p:cNvSpPr txBox="1"/>
          <p:nvPr/>
        </p:nvSpPr>
        <p:spPr>
          <a:xfrm>
            <a:off x="4338625" y="11816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1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84"/>
          <p:cNvSpPr txBox="1"/>
          <p:nvPr/>
        </p:nvSpPr>
        <p:spPr>
          <a:xfrm>
            <a:off x="5393124" y="1149948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5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4"/>
          <p:cNvSpPr txBox="1"/>
          <p:nvPr/>
        </p:nvSpPr>
        <p:spPr>
          <a:xfrm>
            <a:off x="6476345" y="1165772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4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5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  <p:sp>
        <p:nvSpPr>
          <p:cNvPr id="988" name="Google Shape;988;p85"/>
          <p:cNvSpPr txBox="1"/>
          <p:nvPr>
            <p:ph idx="4294967295" type="subTitle"/>
          </p:nvPr>
        </p:nvSpPr>
        <p:spPr>
          <a:xfrm>
            <a:off x="337825" y="810050"/>
            <a:ext cx="8134500" cy="22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Using the numbers below, fill in the Venn diagram.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248       4343       4350       312 492       892 091</a:t>
            </a:r>
            <a:endParaRPr sz="24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/>
              <a:t>111       7         77         555 555</a:t>
            </a:r>
            <a:endParaRPr sz="2400"/>
          </a:p>
        </p:txBody>
      </p:sp>
      <p:sp>
        <p:nvSpPr>
          <p:cNvPr id="989" name="Google Shape;989;p85"/>
          <p:cNvSpPr/>
          <p:nvPr/>
        </p:nvSpPr>
        <p:spPr>
          <a:xfrm>
            <a:off x="511700" y="2571750"/>
            <a:ext cx="7960500" cy="2139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85"/>
          <p:cNvSpPr/>
          <p:nvPr/>
        </p:nvSpPr>
        <p:spPr>
          <a:xfrm>
            <a:off x="1445450" y="2875800"/>
            <a:ext cx="3293700" cy="16908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5"/>
          <p:cNvSpPr/>
          <p:nvPr/>
        </p:nvSpPr>
        <p:spPr>
          <a:xfrm>
            <a:off x="3744400" y="2875800"/>
            <a:ext cx="3714900" cy="16908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85"/>
          <p:cNvSpPr txBox="1"/>
          <p:nvPr>
            <p:ph idx="4294967295" type="subTitle"/>
          </p:nvPr>
        </p:nvSpPr>
        <p:spPr>
          <a:xfrm>
            <a:off x="616825" y="2700000"/>
            <a:ext cx="16833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Multiples of 2</a:t>
            </a:r>
            <a:endParaRPr sz="1800"/>
          </a:p>
        </p:txBody>
      </p:sp>
      <p:sp>
        <p:nvSpPr>
          <p:cNvPr id="993" name="Google Shape;993;p85"/>
          <p:cNvSpPr txBox="1"/>
          <p:nvPr>
            <p:ph idx="4294967295" type="subTitle"/>
          </p:nvPr>
        </p:nvSpPr>
        <p:spPr>
          <a:xfrm>
            <a:off x="6481298" y="2694678"/>
            <a:ext cx="16833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Multiples of 3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6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  <p:sp>
        <p:nvSpPr>
          <p:cNvPr id="999" name="Google Shape;999;p86"/>
          <p:cNvSpPr txBox="1"/>
          <p:nvPr>
            <p:ph idx="4294967295" type="subTitle"/>
          </p:nvPr>
        </p:nvSpPr>
        <p:spPr>
          <a:xfrm>
            <a:off x="511700" y="810050"/>
            <a:ext cx="8308200" cy="22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</a:t>
            </a:r>
            <a:r>
              <a:rPr lang="en-GB" sz="2000"/>
              <a:t>) Here is an integer with a lot of digits.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999 898 969 698 751 986</a:t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U</a:t>
            </a:r>
            <a:r>
              <a:rPr lang="en-GB" sz="2000"/>
              <a:t>sing the divisibility test, how do you show this is a multiple of 3?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87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  <p:sp>
        <p:nvSpPr>
          <p:cNvPr id="1005" name="Google Shape;1005;p87"/>
          <p:cNvSpPr txBox="1"/>
          <p:nvPr>
            <p:ph idx="4294967295" type="subTitle"/>
          </p:nvPr>
        </p:nvSpPr>
        <p:spPr>
          <a:xfrm>
            <a:off x="337825" y="810050"/>
            <a:ext cx="8223900" cy="24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1a) Identify all the multiples of 3 from the list.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/>
              <a:t>       </a:t>
            </a:r>
            <a:r>
              <a:rPr lang="en-GB"/>
              <a:t>234,             1398,           20 495,           593,          56 576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1b) Identify all the multiples of 2 and 3 from the list.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     </a:t>
            </a:r>
            <a:r>
              <a:rPr lang="en-GB"/>
              <a:t>325,    139,     120 490,    594,     656 578 452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87"/>
          <p:cNvSpPr/>
          <p:nvPr/>
        </p:nvSpPr>
        <p:spPr>
          <a:xfrm>
            <a:off x="436649" y="1447948"/>
            <a:ext cx="830700" cy="604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87"/>
          <p:cNvSpPr/>
          <p:nvPr/>
        </p:nvSpPr>
        <p:spPr>
          <a:xfrm>
            <a:off x="2090851" y="1447948"/>
            <a:ext cx="830700" cy="604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87"/>
          <p:cNvSpPr/>
          <p:nvPr/>
        </p:nvSpPr>
        <p:spPr>
          <a:xfrm>
            <a:off x="3750129" y="3553643"/>
            <a:ext cx="830700" cy="604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87"/>
          <p:cNvSpPr/>
          <p:nvPr/>
        </p:nvSpPr>
        <p:spPr>
          <a:xfrm>
            <a:off x="4707825" y="3554650"/>
            <a:ext cx="1867200" cy="6042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87"/>
          <p:cNvSpPr txBox="1"/>
          <p:nvPr>
            <p:ph idx="4294967295" type="subTitle"/>
          </p:nvPr>
        </p:nvSpPr>
        <p:spPr>
          <a:xfrm>
            <a:off x="468450" y="2052150"/>
            <a:ext cx="1023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2+3+4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1" name="Google Shape;1011;p87"/>
          <p:cNvSpPr txBox="1"/>
          <p:nvPr>
            <p:ph idx="4294967295" type="subTitle"/>
          </p:nvPr>
        </p:nvSpPr>
        <p:spPr>
          <a:xfrm>
            <a:off x="1292350" y="2052150"/>
            <a:ext cx="1023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2" name="Google Shape;1012;p87"/>
          <p:cNvSpPr txBox="1"/>
          <p:nvPr>
            <p:ph idx="4294967295" type="subTitle"/>
          </p:nvPr>
        </p:nvSpPr>
        <p:spPr>
          <a:xfrm>
            <a:off x="3273550" y="2356950"/>
            <a:ext cx="471600" cy="6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3" name="Google Shape;1013;p87"/>
          <p:cNvSpPr txBox="1"/>
          <p:nvPr>
            <p:ph idx="4294967295" type="subTitle"/>
          </p:nvPr>
        </p:nvSpPr>
        <p:spPr>
          <a:xfrm>
            <a:off x="3745050" y="2052150"/>
            <a:ext cx="1404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2+4+9+5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87"/>
          <p:cNvSpPr txBox="1"/>
          <p:nvPr>
            <p:ph idx="4294967295" type="subTitle"/>
          </p:nvPr>
        </p:nvSpPr>
        <p:spPr>
          <a:xfrm>
            <a:off x="4873750" y="2052150"/>
            <a:ext cx="1023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=20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5" name="Google Shape;1015;p87"/>
          <p:cNvSpPr txBox="1"/>
          <p:nvPr>
            <p:ph idx="4294967295" type="subTitle"/>
          </p:nvPr>
        </p:nvSpPr>
        <p:spPr>
          <a:xfrm>
            <a:off x="5573850" y="2356950"/>
            <a:ext cx="1404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+9+3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6" name="Google Shape;1016;p87"/>
          <p:cNvSpPr txBox="1"/>
          <p:nvPr>
            <p:ph idx="4294967295" type="subTitle"/>
          </p:nvPr>
        </p:nvSpPr>
        <p:spPr>
          <a:xfrm>
            <a:off x="6393600" y="2356950"/>
            <a:ext cx="1023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=17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87"/>
          <p:cNvSpPr txBox="1"/>
          <p:nvPr>
            <p:ph idx="4294967295" type="subTitle"/>
          </p:nvPr>
        </p:nvSpPr>
        <p:spPr>
          <a:xfrm>
            <a:off x="8328721" y="2051143"/>
            <a:ext cx="1023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=29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87"/>
          <p:cNvSpPr txBox="1"/>
          <p:nvPr>
            <p:ph idx="4294967295" type="subTitle"/>
          </p:nvPr>
        </p:nvSpPr>
        <p:spPr>
          <a:xfrm>
            <a:off x="6895226" y="2051150"/>
            <a:ext cx="17709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5+6+5+7+6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87"/>
          <p:cNvSpPr txBox="1"/>
          <p:nvPr>
            <p:ph idx="4294967295" type="subTitle"/>
          </p:nvPr>
        </p:nvSpPr>
        <p:spPr>
          <a:xfrm>
            <a:off x="1906363" y="4113800"/>
            <a:ext cx="1404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1+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2+4+9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0" name="Google Shape;1020;p87"/>
          <p:cNvSpPr txBox="1"/>
          <p:nvPr>
            <p:ph idx="4294967295" type="subTitle"/>
          </p:nvPr>
        </p:nvSpPr>
        <p:spPr>
          <a:xfrm>
            <a:off x="2958863" y="4113800"/>
            <a:ext cx="1023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=16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1" name="Google Shape;1021;p87"/>
          <p:cNvSpPr txBox="1"/>
          <p:nvPr>
            <p:ph idx="4294967295" type="subTitle"/>
          </p:nvPr>
        </p:nvSpPr>
        <p:spPr>
          <a:xfrm>
            <a:off x="3811363" y="4342400"/>
            <a:ext cx="1404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+9+4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2" name="Google Shape;1022;p87"/>
          <p:cNvSpPr txBox="1"/>
          <p:nvPr>
            <p:ph idx="4294967295" type="subTitle"/>
          </p:nvPr>
        </p:nvSpPr>
        <p:spPr>
          <a:xfrm>
            <a:off x="4635263" y="4342400"/>
            <a:ext cx="1023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=18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3" name="Google Shape;1023;p87"/>
          <p:cNvSpPr txBox="1"/>
          <p:nvPr>
            <p:ph idx="4294967295" type="subTitle"/>
          </p:nvPr>
        </p:nvSpPr>
        <p:spPr>
          <a:xfrm>
            <a:off x="8014034" y="4112793"/>
            <a:ext cx="1023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=48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4" name="Google Shape;1024;p87"/>
          <p:cNvSpPr txBox="1"/>
          <p:nvPr>
            <p:ph idx="4294967295" type="subTitle"/>
          </p:nvPr>
        </p:nvSpPr>
        <p:spPr>
          <a:xfrm>
            <a:off x="5285159" y="4112800"/>
            <a:ext cx="3142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6+5+6+5+7+8+4+5+2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5" name="Google Shape;1025;p87"/>
          <p:cNvSpPr txBox="1"/>
          <p:nvPr>
            <p:ph idx="4294967295" type="subTitle"/>
          </p:nvPr>
        </p:nvSpPr>
        <p:spPr>
          <a:xfrm>
            <a:off x="2068650" y="2356950"/>
            <a:ext cx="14040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1+3+9+8= 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8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  <p:sp>
        <p:nvSpPr>
          <p:cNvPr id="1031" name="Google Shape;1031;p88"/>
          <p:cNvSpPr txBox="1"/>
          <p:nvPr>
            <p:ph idx="4294967295" type="subTitle"/>
          </p:nvPr>
        </p:nvSpPr>
        <p:spPr>
          <a:xfrm>
            <a:off x="337825" y="657650"/>
            <a:ext cx="8309100" cy="243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Here are five cards, each with a digit.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Only using four cards, 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make a four digit number which is a multiple of 3.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make a four digit number which is a multiple of 3 and 2.</a:t>
            </a:r>
            <a:endParaRPr/>
          </a:p>
        </p:txBody>
      </p:sp>
      <p:sp>
        <p:nvSpPr>
          <p:cNvPr id="1032" name="Google Shape;1032;p88"/>
          <p:cNvSpPr/>
          <p:nvPr/>
        </p:nvSpPr>
        <p:spPr>
          <a:xfrm>
            <a:off x="1999375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88"/>
          <p:cNvSpPr/>
          <p:nvPr/>
        </p:nvSpPr>
        <p:spPr>
          <a:xfrm>
            <a:off x="3069700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88"/>
          <p:cNvSpPr/>
          <p:nvPr/>
        </p:nvSpPr>
        <p:spPr>
          <a:xfrm>
            <a:off x="4140025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88"/>
          <p:cNvSpPr/>
          <p:nvPr/>
        </p:nvSpPr>
        <p:spPr>
          <a:xfrm>
            <a:off x="5210350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88"/>
          <p:cNvSpPr/>
          <p:nvPr/>
        </p:nvSpPr>
        <p:spPr>
          <a:xfrm>
            <a:off x="6256800" y="11342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88"/>
          <p:cNvSpPr txBox="1"/>
          <p:nvPr/>
        </p:nvSpPr>
        <p:spPr>
          <a:xfrm>
            <a:off x="2197975" y="11816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6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8"/>
          <p:cNvSpPr txBox="1"/>
          <p:nvPr/>
        </p:nvSpPr>
        <p:spPr>
          <a:xfrm>
            <a:off x="3268300" y="11816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1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88"/>
          <p:cNvSpPr txBox="1"/>
          <p:nvPr/>
        </p:nvSpPr>
        <p:spPr>
          <a:xfrm>
            <a:off x="4338625" y="11816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1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8"/>
          <p:cNvSpPr txBox="1"/>
          <p:nvPr/>
        </p:nvSpPr>
        <p:spPr>
          <a:xfrm>
            <a:off x="5393124" y="1149948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5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88"/>
          <p:cNvSpPr txBox="1"/>
          <p:nvPr/>
        </p:nvSpPr>
        <p:spPr>
          <a:xfrm>
            <a:off x="6476345" y="1165772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4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9"/>
          <p:cNvSpPr txBox="1"/>
          <p:nvPr>
            <p:ph idx="4294967295" type="subTitle"/>
          </p:nvPr>
        </p:nvSpPr>
        <p:spPr>
          <a:xfrm>
            <a:off x="337825" y="657650"/>
            <a:ext cx="77706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2a) Only using four cards, make a four digit number which is a multiple of 3.</a:t>
            </a:r>
            <a:endParaRPr sz="1800"/>
          </a:p>
        </p:txBody>
      </p:sp>
      <p:sp>
        <p:nvSpPr>
          <p:cNvPr id="1047" name="Google Shape;1047;p89"/>
          <p:cNvSpPr/>
          <p:nvPr/>
        </p:nvSpPr>
        <p:spPr>
          <a:xfrm>
            <a:off x="1999375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89"/>
          <p:cNvSpPr/>
          <p:nvPr/>
        </p:nvSpPr>
        <p:spPr>
          <a:xfrm>
            <a:off x="3069700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89"/>
          <p:cNvSpPr/>
          <p:nvPr/>
        </p:nvSpPr>
        <p:spPr>
          <a:xfrm>
            <a:off x="4140025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89"/>
          <p:cNvSpPr/>
          <p:nvPr/>
        </p:nvSpPr>
        <p:spPr>
          <a:xfrm>
            <a:off x="5210350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89"/>
          <p:cNvSpPr/>
          <p:nvPr/>
        </p:nvSpPr>
        <p:spPr>
          <a:xfrm>
            <a:off x="6256800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89"/>
          <p:cNvSpPr txBox="1"/>
          <p:nvPr/>
        </p:nvSpPr>
        <p:spPr>
          <a:xfrm>
            <a:off x="2197975" y="11054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6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89"/>
          <p:cNvSpPr txBox="1"/>
          <p:nvPr/>
        </p:nvSpPr>
        <p:spPr>
          <a:xfrm>
            <a:off x="3268300" y="11054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1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9"/>
          <p:cNvSpPr txBox="1"/>
          <p:nvPr/>
        </p:nvSpPr>
        <p:spPr>
          <a:xfrm>
            <a:off x="4338625" y="11054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1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9"/>
          <p:cNvSpPr txBox="1"/>
          <p:nvPr/>
        </p:nvSpPr>
        <p:spPr>
          <a:xfrm>
            <a:off x="5393124" y="1073748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5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9"/>
          <p:cNvSpPr txBox="1"/>
          <p:nvPr/>
        </p:nvSpPr>
        <p:spPr>
          <a:xfrm>
            <a:off x="6476345" y="1089572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4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57" name="Google Shape;1057;p89"/>
          <p:cNvGraphicFramePr/>
          <p:nvPr/>
        </p:nvGraphicFramePr>
        <p:xfrm>
          <a:off x="4053900" y="264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{4F6C3C4F-DD65-4D5E-9F9C-240424E85309}</a:tableStyleId>
              </a:tblPr>
              <a:tblGrid>
                <a:gridCol w="257175"/>
                <a:gridCol w="257175"/>
                <a:gridCol w="257175"/>
                <a:gridCol w="257175"/>
              </a:tblGrid>
              <a:tr h="295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8" name="Google Shape;1058;p89"/>
          <p:cNvSpPr txBox="1"/>
          <p:nvPr/>
        </p:nvSpPr>
        <p:spPr>
          <a:xfrm>
            <a:off x="2121000" y="1918250"/>
            <a:ext cx="484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Any four digit number using the digits 1, 1, 4 and 6.</a:t>
            </a:r>
            <a:endParaRPr sz="2200"/>
          </a:p>
        </p:txBody>
      </p:sp>
      <p:sp>
        <p:nvSpPr>
          <p:cNvPr id="1059" name="Google Shape;1059;p89"/>
          <p:cNvSpPr txBox="1"/>
          <p:nvPr/>
        </p:nvSpPr>
        <p:spPr>
          <a:xfrm>
            <a:off x="2666975" y="2696000"/>
            <a:ext cx="1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</a:t>
            </a:r>
            <a:endParaRPr sz="2200"/>
          </a:p>
        </p:txBody>
      </p:sp>
      <p:sp>
        <p:nvSpPr>
          <p:cNvPr id="1060" name="Google Shape;1060;p89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90"/>
          <p:cNvSpPr txBox="1"/>
          <p:nvPr>
            <p:ph idx="4294967295" type="subTitle"/>
          </p:nvPr>
        </p:nvSpPr>
        <p:spPr>
          <a:xfrm>
            <a:off x="337825" y="657650"/>
            <a:ext cx="7770600" cy="126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2b) M</a:t>
            </a:r>
            <a:r>
              <a:rPr lang="en-GB" sz="1800"/>
              <a:t>ake a four digit number which is a multiple of 3 and 2.</a:t>
            </a:r>
            <a:endParaRPr sz="1800"/>
          </a:p>
        </p:txBody>
      </p:sp>
      <p:sp>
        <p:nvSpPr>
          <p:cNvPr id="1066" name="Google Shape;1066;p90"/>
          <p:cNvSpPr/>
          <p:nvPr/>
        </p:nvSpPr>
        <p:spPr>
          <a:xfrm>
            <a:off x="1999375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90"/>
          <p:cNvSpPr/>
          <p:nvPr/>
        </p:nvSpPr>
        <p:spPr>
          <a:xfrm>
            <a:off x="3069700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90"/>
          <p:cNvSpPr/>
          <p:nvPr/>
        </p:nvSpPr>
        <p:spPr>
          <a:xfrm>
            <a:off x="4140025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90"/>
          <p:cNvSpPr/>
          <p:nvPr/>
        </p:nvSpPr>
        <p:spPr>
          <a:xfrm>
            <a:off x="5210350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90"/>
          <p:cNvSpPr/>
          <p:nvPr/>
        </p:nvSpPr>
        <p:spPr>
          <a:xfrm>
            <a:off x="6256800" y="1058000"/>
            <a:ext cx="887700" cy="759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90"/>
          <p:cNvSpPr txBox="1"/>
          <p:nvPr/>
        </p:nvSpPr>
        <p:spPr>
          <a:xfrm>
            <a:off x="2197975" y="11054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6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0"/>
          <p:cNvSpPr txBox="1"/>
          <p:nvPr/>
        </p:nvSpPr>
        <p:spPr>
          <a:xfrm>
            <a:off x="3268300" y="11054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1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90"/>
          <p:cNvSpPr txBox="1"/>
          <p:nvPr/>
        </p:nvSpPr>
        <p:spPr>
          <a:xfrm>
            <a:off x="4338625" y="1105400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1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0"/>
          <p:cNvSpPr txBox="1"/>
          <p:nvPr/>
        </p:nvSpPr>
        <p:spPr>
          <a:xfrm>
            <a:off x="5393124" y="1073748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5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0"/>
          <p:cNvSpPr txBox="1"/>
          <p:nvPr/>
        </p:nvSpPr>
        <p:spPr>
          <a:xfrm>
            <a:off x="6476345" y="1089572"/>
            <a:ext cx="4905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500">
                <a:latin typeface="Lexend"/>
                <a:ea typeface="Lexend"/>
                <a:cs typeface="Lexend"/>
                <a:sym typeface="Lexend"/>
              </a:rPr>
              <a:t>4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0"/>
          <p:cNvSpPr txBox="1"/>
          <p:nvPr/>
        </p:nvSpPr>
        <p:spPr>
          <a:xfrm>
            <a:off x="1890300" y="1918250"/>
            <a:ext cx="5930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Any four digit number using the digits 1, 1, 4 and 6 with 4 or 6 in the ones column.</a:t>
            </a:r>
            <a:endParaRPr sz="1700"/>
          </a:p>
        </p:txBody>
      </p:sp>
      <p:graphicFrame>
        <p:nvGraphicFramePr>
          <p:cNvPr id="1077" name="Google Shape;1077;p90"/>
          <p:cNvGraphicFramePr/>
          <p:nvPr/>
        </p:nvGraphicFramePr>
        <p:xfrm>
          <a:off x="4053900" y="264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{4F6C3C4F-DD65-4D5E-9F9C-240424E85309}</a:tableStyleId>
              </a:tblPr>
              <a:tblGrid>
                <a:gridCol w="257175"/>
                <a:gridCol w="257175"/>
                <a:gridCol w="257175"/>
                <a:gridCol w="257175"/>
              </a:tblGrid>
              <a:tr h="295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8" name="Google Shape;1078;p90"/>
          <p:cNvSpPr txBox="1"/>
          <p:nvPr/>
        </p:nvSpPr>
        <p:spPr>
          <a:xfrm>
            <a:off x="2666975" y="2696000"/>
            <a:ext cx="1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</a:t>
            </a:r>
            <a:endParaRPr sz="2200"/>
          </a:p>
        </p:txBody>
      </p:sp>
      <p:sp>
        <p:nvSpPr>
          <p:cNvPr id="1079" name="Google Shape;1079;p90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91"/>
          <p:cNvSpPr txBox="1"/>
          <p:nvPr>
            <p:ph idx="4294967295" type="subTitle"/>
          </p:nvPr>
        </p:nvSpPr>
        <p:spPr>
          <a:xfrm>
            <a:off x="337825" y="810050"/>
            <a:ext cx="8134500" cy="22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Using the numbers below, fill in the Venn diagram.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400"/>
              <a:t>248       4343       4350       312 492       892 091</a:t>
            </a:r>
            <a:endParaRPr sz="24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400"/>
              <a:t>111       7         77         555 555</a:t>
            </a:r>
            <a:endParaRPr sz="2400"/>
          </a:p>
        </p:txBody>
      </p:sp>
      <p:sp>
        <p:nvSpPr>
          <p:cNvPr id="1085" name="Google Shape;1085;p91"/>
          <p:cNvSpPr/>
          <p:nvPr/>
        </p:nvSpPr>
        <p:spPr>
          <a:xfrm>
            <a:off x="511700" y="2571750"/>
            <a:ext cx="7960500" cy="21393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91"/>
          <p:cNvSpPr/>
          <p:nvPr/>
        </p:nvSpPr>
        <p:spPr>
          <a:xfrm>
            <a:off x="1445450" y="2875800"/>
            <a:ext cx="3671700" cy="16908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91"/>
          <p:cNvSpPr/>
          <p:nvPr/>
        </p:nvSpPr>
        <p:spPr>
          <a:xfrm>
            <a:off x="3550325" y="2875800"/>
            <a:ext cx="3909000" cy="16908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91"/>
          <p:cNvSpPr txBox="1"/>
          <p:nvPr>
            <p:ph idx="4294967295" type="subTitle"/>
          </p:nvPr>
        </p:nvSpPr>
        <p:spPr>
          <a:xfrm>
            <a:off x="2439650" y="2563425"/>
            <a:ext cx="16833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Multiples of 2</a:t>
            </a:r>
            <a:endParaRPr sz="1800"/>
          </a:p>
        </p:txBody>
      </p:sp>
      <p:sp>
        <p:nvSpPr>
          <p:cNvPr id="1089" name="Google Shape;1089;p91"/>
          <p:cNvSpPr txBox="1"/>
          <p:nvPr/>
        </p:nvSpPr>
        <p:spPr>
          <a:xfrm>
            <a:off x="1684800" y="3113400"/>
            <a:ext cx="89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0" name="Google Shape;1090;p91"/>
          <p:cNvSpPr txBox="1"/>
          <p:nvPr/>
        </p:nvSpPr>
        <p:spPr>
          <a:xfrm>
            <a:off x="616825" y="4042950"/>
            <a:ext cx="89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4343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1" name="Google Shape;1091;p91"/>
          <p:cNvSpPr txBox="1"/>
          <p:nvPr/>
        </p:nvSpPr>
        <p:spPr>
          <a:xfrm>
            <a:off x="3814950" y="3113400"/>
            <a:ext cx="1010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4350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2" name="Google Shape;1092;p91"/>
          <p:cNvSpPr txBox="1"/>
          <p:nvPr/>
        </p:nvSpPr>
        <p:spPr>
          <a:xfrm>
            <a:off x="3478350" y="3502950"/>
            <a:ext cx="168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312 492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3" name="Google Shape;1093;p91"/>
          <p:cNvSpPr txBox="1"/>
          <p:nvPr/>
        </p:nvSpPr>
        <p:spPr>
          <a:xfrm>
            <a:off x="6944425" y="4042950"/>
            <a:ext cx="152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892 091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4" name="Google Shape;1094;p91"/>
          <p:cNvSpPr txBox="1"/>
          <p:nvPr/>
        </p:nvSpPr>
        <p:spPr>
          <a:xfrm>
            <a:off x="5535675" y="2962950"/>
            <a:ext cx="89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5" name="Google Shape;1095;p91"/>
          <p:cNvSpPr txBox="1"/>
          <p:nvPr/>
        </p:nvSpPr>
        <p:spPr>
          <a:xfrm>
            <a:off x="7577000" y="3494400"/>
            <a:ext cx="89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6" name="Google Shape;1096;p91"/>
          <p:cNvSpPr txBox="1"/>
          <p:nvPr/>
        </p:nvSpPr>
        <p:spPr>
          <a:xfrm>
            <a:off x="7141500" y="3081000"/>
            <a:ext cx="89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77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7" name="Google Shape;1097;p91"/>
          <p:cNvSpPr txBox="1"/>
          <p:nvPr/>
        </p:nvSpPr>
        <p:spPr>
          <a:xfrm>
            <a:off x="5189138" y="3588250"/>
            <a:ext cx="1683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555 555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8" name="Google Shape;1098;p91"/>
          <p:cNvSpPr txBox="1"/>
          <p:nvPr>
            <p:ph idx="4294967295" type="subTitle"/>
          </p:nvPr>
        </p:nvSpPr>
        <p:spPr>
          <a:xfrm>
            <a:off x="4747800" y="2563426"/>
            <a:ext cx="16833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Multiples of 3</a:t>
            </a:r>
            <a:endParaRPr sz="1800"/>
          </a:p>
        </p:txBody>
      </p:sp>
      <p:sp>
        <p:nvSpPr>
          <p:cNvPr id="1099" name="Google Shape;1099;p91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92"/>
          <p:cNvSpPr txBox="1"/>
          <p:nvPr>
            <p:ph idx="4294967295" type="title"/>
          </p:nvPr>
        </p:nvSpPr>
        <p:spPr>
          <a:xfrm>
            <a:off x="1368550" y="126600"/>
            <a:ext cx="78852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chemeClr val="lt1"/>
                </a:solidFill>
              </a:rPr>
              <a:t>Divisibility tests for multiples of 3</a:t>
            </a:r>
            <a:endParaRPr b="0" sz="2000">
              <a:solidFill>
                <a:schemeClr val="lt1"/>
              </a:solidFill>
            </a:endParaRPr>
          </a:p>
        </p:txBody>
      </p:sp>
      <p:sp>
        <p:nvSpPr>
          <p:cNvPr id="1105" name="Google Shape;1105;p92"/>
          <p:cNvSpPr txBox="1"/>
          <p:nvPr>
            <p:ph idx="4294967295" type="subTitle"/>
          </p:nvPr>
        </p:nvSpPr>
        <p:spPr>
          <a:xfrm>
            <a:off x="447625" y="2925375"/>
            <a:ext cx="77961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latin typeface="Kalam"/>
                <a:ea typeface="Kalam"/>
                <a:cs typeface="Kalam"/>
                <a:sym typeface="Kalam"/>
              </a:rPr>
              <a:t>9+9+9+8+9+8+9+6+9+6+9+8+7+5+1+9+8+6= 135 </a:t>
            </a:r>
            <a:endParaRPr sz="2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92"/>
          <p:cNvSpPr txBox="1"/>
          <p:nvPr>
            <p:ph idx="4294967295" type="subTitle"/>
          </p:nvPr>
        </p:nvSpPr>
        <p:spPr>
          <a:xfrm>
            <a:off x="447625" y="3458775"/>
            <a:ext cx="77961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latin typeface="Kalam"/>
                <a:ea typeface="Kalam"/>
                <a:cs typeface="Kalam"/>
                <a:sym typeface="Kalam"/>
              </a:rPr>
              <a:t>1+3+5 = 9 </a:t>
            </a:r>
            <a:endParaRPr sz="2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92"/>
          <p:cNvSpPr txBox="1"/>
          <p:nvPr>
            <p:ph idx="4294967295" type="subTitle"/>
          </p:nvPr>
        </p:nvSpPr>
        <p:spPr>
          <a:xfrm>
            <a:off x="447625" y="3992175"/>
            <a:ext cx="7796100" cy="41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700">
                <a:latin typeface="Kalam"/>
                <a:ea typeface="Kalam"/>
                <a:cs typeface="Kalam"/>
                <a:sym typeface="Kalam"/>
              </a:rPr>
              <a:t>999 898 969 698 751 986 is </a:t>
            </a:r>
            <a:r>
              <a:rPr lang="en-GB" sz="2700">
                <a:latin typeface="Kalam"/>
                <a:ea typeface="Kalam"/>
                <a:cs typeface="Kalam"/>
                <a:sym typeface="Kalam"/>
              </a:rPr>
              <a:t>divisible</a:t>
            </a:r>
            <a:r>
              <a:rPr lang="en-GB" sz="2700">
                <a:latin typeface="Kalam"/>
                <a:ea typeface="Kalam"/>
                <a:cs typeface="Kalam"/>
                <a:sym typeface="Kalam"/>
              </a:rPr>
              <a:t> by 3</a:t>
            </a:r>
            <a:r>
              <a:rPr lang="en-GB" sz="2700">
                <a:latin typeface="Kalam"/>
                <a:ea typeface="Kalam"/>
                <a:cs typeface="Kalam"/>
                <a:sym typeface="Kalam"/>
              </a:rPr>
              <a:t> </a:t>
            </a:r>
            <a:endParaRPr sz="27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92"/>
          <p:cNvSpPr txBox="1"/>
          <p:nvPr>
            <p:ph idx="4294967295" type="subTitle"/>
          </p:nvPr>
        </p:nvSpPr>
        <p:spPr>
          <a:xfrm>
            <a:off x="511700" y="810050"/>
            <a:ext cx="8308200" cy="228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4) Here is an integer with a lot of digits.</a:t>
            </a:r>
            <a:endParaRPr sz="20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800"/>
              <a:t>999 898 969 698 751 986</a:t>
            </a:r>
            <a:endParaRPr sz="2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Using the divisibility test, how do you show this is a multiple of 3?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9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2 and 3</a:t>
            </a:r>
            <a:endParaRPr/>
          </a:p>
        </p:txBody>
      </p:sp>
      <p:sp>
        <p:nvSpPr>
          <p:cNvPr id="1114" name="Google Shape;1114;p93"/>
          <p:cNvSpPr txBox="1"/>
          <p:nvPr>
            <p:ph idx="4294967295" type="subTitle"/>
          </p:nvPr>
        </p:nvSpPr>
        <p:spPr>
          <a:xfrm>
            <a:off x="400425" y="973050"/>
            <a:ext cx="8083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Divisibility</a:t>
            </a:r>
            <a:r>
              <a:rPr lang="en-GB"/>
              <a:t> tests are a quick process to identify if a number is divisible by another.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93"/>
          <p:cNvSpPr txBox="1"/>
          <p:nvPr>
            <p:ph idx="4294967295" type="subTitle"/>
          </p:nvPr>
        </p:nvSpPr>
        <p:spPr>
          <a:xfrm>
            <a:off x="400200" y="2322350"/>
            <a:ext cx="829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number is </a:t>
            </a:r>
            <a:r>
              <a:rPr lang="en-GB"/>
              <a:t>divisible</a:t>
            </a:r>
            <a:r>
              <a:rPr lang="en-GB"/>
              <a:t> by 2 if the digit in the ones column is a 0, 2, 4, 6 or 8. </a:t>
            </a:r>
            <a:endParaRPr b="0"/>
          </a:p>
        </p:txBody>
      </p:sp>
      <p:sp>
        <p:nvSpPr>
          <p:cNvPr id="1116" name="Google Shape;1116;p93"/>
          <p:cNvSpPr txBox="1"/>
          <p:nvPr>
            <p:ph idx="4294967295" type="subTitle"/>
          </p:nvPr>
        </p:nvSpPr>
        <p:spPr>
          <a:xfrm>
            <a:off x="400200" y="3693950"/>
            <a:ext cx="7895100" cy="97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number is </a:t>
            </a:r>
            <a:r>
              <a:rPr lang="en-GB"/>
              <a:t>divisible</a:t>
            </a:r>
            <a:r>
              <a:rPr lang="en-GB"/>
              <a:t> by 3 if we sum the digits and the sum is a multiple of 3. </a:t>
            </a:r>
            <a:endParaRPr b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122" name="Google Shape;112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