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C36C54C-3EFE-4922-ADDE-51C59570F6FB}">
  <a:tblStyle styleId="{6C36C54C-3EFE-4922-ADDE-51C59570F6F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e87f964ae7_0_9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e87f964ae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e87f964ae7_0_29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e87f964ae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31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Securing understanding of factors, multiples, squares and cubes</a:t>
            </a:r>
            <a:endParaRPr sz="1500"/>
          </a:p>
        </p:txBody>
      </p:sp>
      <p:sp>
        <p:nvSpPr>
          <p:cNvPr id="173" name="Google Shape;173;p20"/>
          <p:cNvSpPr txBox="1"/>
          <p:nvPr/>
        </p:nvSpPr>
        <p:spPr>
          <a:xfrm>
            <a:off x="390625" y="1320800"/>
            <a:ext cx="69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Multiplication tables to identify multiples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4" name="Google Shape;174;p20"/>
          <p:cNvGraphicFramePr/>
          <p:nvPr/>
        </p:nvGraphicFramePr>
        <p:xfrm>
          <a:off x="2449238" y="2938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{6C36C54C-3EFE-4922-ADDE-51C59570F6FB}</a:tableStyleId>
              </a:tblPr>
              <a:tblGrid>
                <a:gridCol w="343575"/>
                <a:gridCol w="343575"/>
                <a:gridCol w="343575"/>
                <a:gridCol w="343575"/>
                <a:gridCol w="343575"/>
                <a:gridCol w="343575"/>
                <a:gridCol w="343575"/>
              </a:tblGrid>
              <a:tr h="297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✖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297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97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7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7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7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7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175" name="Google Shape;175;p20"/>
          <p:cNvSpPr txBox="1"/>
          <p:nvPr/>
        </p:nvSpPr>
        <p:spPr>
          <a:xfrm>
            <a:off x="468000" y="1928500"/>
            <a:ext cx="6367500" cy="7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AutoNum type="arabicParenR"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Here is a 6 by 6 multiplication table. Answer true or false to each statement providing a justification for your answer.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6" name="Google Shape;176;p20"/>
          <p:cNvGraphicFramePr/>
          <p:nvPr/>
        </p:nvGraphicFramePr>
        <p:xfrm>
          <a:off x="731550" y="557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{6C36C54C-3EFE-4922-ADDE-51C59570F6FB}</a:tableStyleId>
              </a:tblPr>
              <a:tblGrid>
                <a:gridCol w="2061275"/>
                <a:gridCol w="644550"/>
                <a:gridCol w="864900"/>
                <a:gridCol w="2533225"/>
              </a:tblGrid>
              <a:tr h="53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Statement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True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False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Justification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76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12 is a factor of 4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12 is a multiple of 4 or 4 is a factor of 12</a:t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b) 36 is a multiple of 3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 ✕ 12=36 or 36 is a multiple of 3</a:t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1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c) All the multiples of 6 can be seen in this table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There are an infinite number of multiples</a:t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77" name="Google Shape;177;p20"/>
          <p:cNvCxnSpPr/>
          <p:nvPr/>
        </p:nvCxnSpPr>
        <p:spPr>
          <a:xfrm>
            <a:off x="4893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8" name="Google Shape;17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7898" y="6303375"/>
            <a:ext cx="321654" cy="340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7352" y="7032683"/>
            <a:ext cx="321654" cy="340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7898" y="7775660"/>
            <a:ext cx="321654" cy="340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factors, multiples, squares and cubes</a:t>
            </a:r>
            <a:endParaRPr/>
          </a:p>
        </p:txBody>
      </p:sp>
      <p:graphicFrame>
        <p:nvGraphicFramePr>
          <p:cNvPr id="186" name="Google Shape;186;p21"/>
          <p:cNvGraphicFramePr/>
          <p:nvPr/>
        </p:nvGraphicFramePr>
        <p:xfrm>
          <a:off x="1091900" y="1375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{6C36C54C-3EFE-4922-ADDE-51C59570F6FB}</a:tableStyleId>
              </a:tblPr>
              <a:tblGrid>
                <a:gridCol w="382700"/>
                <a:gridCol w="382700"/>
                <a:gridCol w="382700"/>
                <a:gridCol w="382700"/>
                <a:gridCol w="382700"/>
                <a:gridCol w="382700"/>
                <a:gridCol w="382700"/>
                <a:gridCol w="382700"/>
                <a:gridCol w="420350"/>
                <a:gridCol w="402625"/>
                <a:gridCol w="392300"/>
                <a:gridCol w="426800"/>
                <a:gridCol w="450425"/>
              </a:tblGrid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✖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187" name="Google Shape;187;p21"/>
          <p:cNvSpPr txBox="1"/>
          <p:nvPr/>
        </p:nvSpPr>
        <p:spPr>
          <a:xfrm>
            <a:off x="634400" y="851400"/>
            <a:ext cx="63210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Using a 12 by 12 multiplication table: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634400" y="5535625"/>
            <a:ext cx="6036600" cy="3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Find the largest multiple of 7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Find the largest multiple of 3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Find the largest multiple of 5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Find the lowest multiple of 3 and 5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9" name="Google Shape;189;p21"/>
          <p:cNvCxnSpPr/>
          <p:nvPr/>
        </p:nvCxnSpPr>
        <p:spPr>
          <a:xfrm>
            <a:off x="4893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" name="Google Shape;190;p21"/>
          <p:cNvSpPr txBox="1"/>
          <p:nvPr/>
        </p:nvSpPr>
        <p:spPr>
          <a:xfrm>
            <a:off x="4377075" y="5574600"/>
            <a:ext cx="5994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84</a:t>
            </a:r>
            <a:endParaRPr b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4377075" y="6389225"/>
            <a:ext cx="5994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144</a:t>
            </a:r>
            <a:endParaRPr b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4393587" y="7203838"/>
            <a:ext cx="5664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120</a:t>
            </a:r>
            <a:endParaRPr b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4393575" y="8018450"/>
            <a:ext cx="5664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15</a:t>
            </a:r>
            <a:endParaRPr b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" name="Google Shape;194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"/>
          <p:cNvSpPr txBox="1"/>
          <p:nvPr/>
        </p:nvSpPr>
        <p:spPr>
          <a:xfrm>
            <a:off x="468000" y="1276900"/>
            <a:ext cx="620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AutoNum type="arabicParenR"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an 8 by 8 multiplication table, find: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396600" y="720000"/>
            <a:ext cx="69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Multiplication tables to identify factors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393615" y="1600900"/>
            <a:ext cx="3065400" cy="31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AutoNum type="alphaLcParenR"/>
            </a:pPr>
            <a:r>
              <a:rPr lang="en-GB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all the factors of 8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AutoNum type="alphaLcParenR"/>
            </a:pPr>
            <a:r>
              <a:rPr lang="en-GB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all the factors of 5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AutoNum type="alphaLcParenR"/>
            </a:pPr>
            <a:r>
              <a:rPr lang="en-GB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all the factors of 4 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AutoNum type="alphaLcParenR"/>
            </a:pPr>
            <a:r>
              <a:rPr lang="en-GB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all the factors of 7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AutoNum type="alphaLcParenR"/>
            </a:pPr>
            <a:r>
              <a:rPr lang="en-GB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their common factor?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2" name="Google Shape;202;p22"/>
          <p:cNvGraphicFramePr/>
          <p:nvPr/>
        </p:nvGraphicFramePr>
        <p:xfrm>
          <a:off x="511188" y="646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{6C36C54C-3EFE-4922-ADDE-51C59570F6FB}</a:tableStyleId>
              </a:tblPr>
              <a:tblGrid>
                <a:gridCol w="338625"/>
                <a:gridCol w="338625"/>
                <a:gridCol w="338625"/>
                <a:gridCol w="338625"/>
                <a:gridCol w="338625"/>
                <a:gridCol w="338625"/>
                <a:gridCol w="338625"/>
              </a:tblGrid>
              <a:tr h="31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✖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1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1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1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1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1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203" name="Google Shape;203;p22"/>
          <p:cNvSpPr txBox="1"/>
          <p:nvPr/>
        </p:nvSpPr>
        <p:spPr>
          <a:xfrm>
            <a:off x="511200" y="5204300"/>
            <a:ext cx="6580800" cy="7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Using a 6 by 6 multiplication table</a:t>
            </a: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, a</a:t>
            </a: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nswer true or false to each statement providing a justification for your answer.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4" name="Google Shape;204;p22"/>
          <p:cNvGraphicFramePr/>
          <p:nvPr/>
        </p:nvGraphicFramePr>
        <p:xfrm>
          <a:off x="3039550" y="599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{6C36C54C-3EFE-4922-ADDE-51C59570F6FB}</a:tableStyleId>
              </a:tblPr>
              <a:tblGrid>
                <a:gridCol w="1696900"/>
                <a:gridCol w="598575"/>
                <a:gridCol w="737600"/>
                <a:gridCol w="1019250"/>
              </a:tblGrid>
              <a:tr h="32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Statement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True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False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Justify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</a:tr>
              <a:tr h="45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</a:t>
                      </a:r>
                      <a:r>
                        <a:rPr lang="en-GB" sz="15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 only has three factors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5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1,2 and 4</a:t>
                      </a:r>
                      <a:endParaRPr b="1" sz="1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b) All the factors of 6 are seen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1,</a:t>
                      </a:r>
                      <a:r>
                        <a:rPr b="1" lang="en-GB" sz="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r>
                        <a:rPr b="1" lang="en-GB" sz="15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6,</a:t>
                      </a:r>
                      <a:r>
                        <a:rPr b="1" lang="en-GB" sz="5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r>
                        <a:rPr b="1" lang="en-GB" sz="15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r>
                        <a:rPr b="1" lang="en-GB" sz="5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r>
                        <a:rPr b="1" lang="en-GB" sz="15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and</a:t>
                      </a:r>
                      <a:r>
                        <a:rPr b="1" lang="en-GB" sz="5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r>
                        <a:rPr b="1" lang="en-GB" sz="15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b="1" sz="1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c) 3 has an infinite number of factors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5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 and 3</a:t>
                      </a:r>
                      <a:endParaRPr b="1" sz="1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d) There are five square numbers seen</a:t>
                      </a:r>
                      <a:endParaRPr sz="15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5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1, 4, 9, 16, 25 and 36</a:t>
                      </a:r>
                      <a:endParaRPr b="1" sz="1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5" name="Google Shape;205;p22"/>
          <p:cNvGraphicFramePr/>
          <p:nvPr/>
        </p:nvGraphicFramePr>
        <p:xfrm>
          <a:off x="3717987" y="171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{6C36C54C-3EFE-4922-ADDE-51C59570F6FB}</a:tableStyleId>
              </a:tblPr>
              <a:tblGrid>
                <a:gridCol w="370825"/>
                <a:gridCol w="370825"/>
                <a:gridCol w="370825"/>
                <a:gridCol w="370825"/>
                <a:gridCol w="370825"/>
                <a:gridCol w="370825"/>
                <a:gridCol w="370825"/>
                <a:gridCol w="370825"/>
                <a:gridCol w="407300"/>
              </a:tblGrid>
              <a:tr h="321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✖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</a:tr>
              <a:tr h="321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21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21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21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21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21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21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21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206" name="Google Shape;206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factors, multiples, squares and cubes</a:t>
            </a:r>
            <a:endParaRPr/>
          </a:p>
        </p:txBody>
      </p:sp>
      <p:cxnSp>
        <p:nvCxnSpPr>
          <p:cNvPr id="207" name="Google Shape;207;p22"/>
          <p:cNvCxnSpPr/>
          <p:nvPr/>
        </p:nvCxnSpPr>
        <p:spPr>
          <a:xfrm>
            <a:off x="4893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22"/>
          <p:cNvSpPr txBox="1"/>
          <p:nvPr/>
        </p:nvSpPr>
        <p:spPr>
          <a:xfrm>
            <a:off x="1146075" y="1842750"/>
            <a:ext cx="1522200" cy="4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1,8,2 and 4</a:t>
            </a:r>
            <a:endParaRPr b="1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" name="Google Shape;209;p22"/>
          <p:cNvSpPr txBox="1"/>
          <p:nvPr/>
        </p:nvSpPr>
        <p:spPr>
          <a:xfrm>
            <a:off x="1146075" y="2457900"/>
            <a:ext cx="1522200" cy="4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1, 2 and 5</a:t>
            </a:r>
            <a:endParaRPr b="1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1146075" y="3073050"/>
            <a:ext cx="1522200" cy="4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1, 2 and 4</a:t>
            </a:r>
            <a:endParaRPr b="1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1146075" y="3688200"/>
            <a:ext cx="1522200" cy="4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1 and 7</a:t>
            </a:r>
            <a:endParaRPr b="1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1840850" y="4314150"/>
            <a:ext cx="293400" cy="4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1</a:t>
            </a:r>
            <a:endParaRPr b="1"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13" name="Google Shape;2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1911" y="6537375"/>
            <a:ext cx="318614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6411" y="7222800"/>
            <a:ext cx="318614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2111" y="7925800"/>
            <a:ext cx="318614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2111" y="8775125"/>
            <a:ext cx="318614" cy="33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95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 sz="895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25" name="Google Shape;225;p2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factors, multiples, squares and cubes</a:t>
            </a:r>
            <a:endParaRPr/>
          </a:p>
        </p:txBody>
      </p:sp>
      <p:cxnSp>
        <p:nvCxnSpPr>
          <p:cNvPr id="226" name="Google Shape;226;p23"/>
          <p:cNvCxnSpPr/>
          <p:nvPr/>
        </p:nvCxnSpPr>
        <p:spPr>
          <a:xfrm>
            <a:off x="4893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" name="Google Shape;227;p23"/>
          <p:cNvSpPr txBox="1"/>
          <p:nvPr/>
        </p:nvSpPr>
        <p:spPr>
          <a:xfrm>
            <a:off x="489325" y="981625"/>
            <a:ext cx="6302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What number is remaining when you eliminate: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all the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multiples of 5?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ll the factors of 24?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ll the multiples of 3?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all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multiples of 4?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all the f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actors of 14?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8" name="Google Shape;22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100" y="4122575"/>
            <a:ext cx="5921200" cy="43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