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372">
          <p15:clr>
            <a:srgbClr val="747775"/>
          </p15:clr>
        </p15:guide>
        <p15:guide id="2" pos="3865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D5E7B5D-4D7C-4902-B0CB-C91AA0B25A47}">
  <a:tblStyle styleId="{FD5E7B5D-4D7C-4902-B0CB-C91AA0B25A4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372"/>
        <p:guide pos="3865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4" Type="http://schemas.openxmlformats.org/officeDocument/2006/relationships/slide" Target="slides/slide28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8205b040f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8205b040f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28205b040f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8205b040f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g28205b040fe_0_7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2" name="Google Shape;782;g28205b040fe_0_7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g28205b040fe_0_7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0" name="Google Shape;790;g28205b040fe_0_7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g28205b040fe_0_7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8" name="Google Shape;818;g28205b040fe_0_7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28205b040fe_0_18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0" name="Google Shape;830;g28205b040fe_0_18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28205b040fe_0_8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8" name="Google Shape;838;g28205b040fe_0_8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g28205b040fe_0_18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5" name="Google Shape;845;g28205b040fe_0_18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g28205b040fe_0_17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9" name="Google Shape;859;g28205b040fe_0_17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g28205b040fe_0_15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0" name="Google Shape;870;g28205b040fe_0_15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g28205b040fe_0_16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8" name="Google Shape;878;g28205b040fe_0_16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28205b040fe_0_17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6" name="Google Shape;886;g28205b040fe_0_17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g1e8252eb12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8" name="Google Shape;898;g1e8252eb12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g1e8252eb124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0" name="Google Shape;910;g1e8252eb124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28205b040fe_0_18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3" name="Google Shape;923;g28205b040fe_0_18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g282696f27b5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0" name="Google Shape;930;g282696f27b5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g28205b040fe_0_18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4" name="Google Shape;944;g28205b040fe_0_18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g282696f27b5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2" name="Google Shape;952;g282696f27b5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g28205b040fe_0_19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6" name="Google Shape;966;g28205b040fe_0_19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g28205b040fe_0_19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3" name="Google Shape;973;g28205b040fe_0_19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g28205b040fe_0_19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1" name="Google Shape;981;g28205b040fe_0_19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g28205b040fe_0_19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8" name="Google Shape;988;g28205b040fe_0_19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g28205b040fe_0_19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0" name="Google Shape;1000;g28205b040fe_0_19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g2822a012c8c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6" name="Google Shape;1016;g2822a012c8c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9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1" name="Google Shape;1131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g28205b040fe_0_8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9" name="Google Shape;1139;g28205b040fe_0_8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17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9.png"/><Relationship Id="rId4" Type="http://schemas.openxmlformats.org/officeDocument/2006/relationships/image" Target="../media/image13.png"/><Relationship Id="rId5" Type="http://schemas.openxmlformats.org/officeDocument/2006/relationships/image" Target="../media/image2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8.png"/><Relationship Id="rId4" Type="http://schemas.openxmlformats.org/officeDocument/2006/relationships/image" Target="../media/image15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16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24.png"/><Relationship Id="rId4" Type="http://schemas.openxmlformats.org/officeDocument/2006/relationships/image" Target="../media/image51.png"/><Relationship Id="rId5" Type="http://schemas.openxmlformats.org/officeDocument/2006/relationships/image" Target="../media/image28.png"/><Relationship Id="rId6" Type="http://schemas.openxmlformats.org/officeDocument/2006/relationships/image" Target="../media/image27.png"/><Relationship Id="rId7" Type="http://schemas.openxmlformats.org/officeDocument/2006/relationships/image" Target="../media/image2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51.png"/><Relationship Id="rId4" Type="http://schemas.openxmlformats.org/officeDocument/2006/relationships/image" Target="../media/image22.png"/><Relationship Id="rId9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33.png"/><Relationship Id="rId7" Type="http://schemas.openxmlformats.org/officeDocument/2006/relationships/image" Target="../media/image28.png"/><Relationship Id="rId8" Type="http://schemas.openxmlformats.org/officeDocument/2006/relationships/image" Target="../media/image27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51.png"/><Relationship Id="rId4" Type="http://schemas.openxmlformats.org/officeDocument/2006/relationships/image" Target="../media/image30.png"/><Relationship Id="rId11" Type="http://schemas.openxmlformats.org/officeDocument/2006/relationships/image" Target="../media/image23.png"/><Relationship Id="rId10" Type="http://schemas.openxmlformats.org/officeDocument/2006/relationships/image" Target="../media/image38.png"/><Relationship Id="rId9" Type="http://schemas.openxmlformats.org/officeDocument/2006/relationships/image" Target="../media/image27.png"/><Relationship Id="rId5" Type="http://schemas.openxmlformats.org/officeDocument/2006/relationships/image" Target="../media/image22.png"/><Relationship Id="rId6" Type="http://schemas.openxmlformats.org/officeDocument/2006/relationships/image" Target="../media/image24.png"/><Relationship Id="rId7" Type="http://schemas.openxmlformats.org/officeDocument/2006/relationships/image" Target="../media/image33.png"/><Relationship Id="rId8" Type="http://schemas.openxmlformats.org/officeDocument/2006/relationships/image" Target="../media/image28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6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6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6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4.png"/><Relationship Id="rId4" Type="http://schemas.openxmlformats.org/officeDocument/2006/relationships/image" Target="../media/image37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7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7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7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7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7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7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7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7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7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7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Relationship Id="rId4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7.png"/><Relationship Id="rId4" Type="http://schemas.openxmlformats.org/officeDocument/2006/relationships/image" Target="../media/image4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7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7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7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5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5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5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7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7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7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7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2150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922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70276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352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080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00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019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04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965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049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034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988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1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understanding of factors, multiples, squares and cubes</a:t>
            </a:r>
            <a:endParaRPr/>
          </a:p>
        </p:txBody>
      </p:sp>
      <p:sp>
        <p:nvSpPr>
          <p:cNvPr id="751" name="Google Shape;751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Properties of number: factors, multiples, squares and cubes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90850" y="725950"/>
            <a:ext cx="243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use the multiplication tables to identify factors and multiples.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7"/>
          <p:cNvSpPr txBox="1"/>
          <p:nvPr>
            <p:ph idx="1" type="subTitle"/>
          </p:nvPr>
        </p:nvSpPr>
        <p:spPr>
          <a:xfrm>
            <a:off x="334875" y="864930"/>
            <a:ext cx="84960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A multiple is the product of a number and an integer.</a:t>
            </a:r>
            <a:endParaRPr sz="1800"/>
          </a:p>
        </p:txBody>
      </p:sp>
      <p:sp>
        <p:nvSpPr>
          <p:cNvPr id="767" name="Google Shape;767;p67"/>
          <p:cNvSpPr txBox="1"/>
          <p:nvPr>
            <p:ph idx="2" type="subTitle"/>
          </p:nvPr>
        </p:nvSpPr>
        <p:spPr>
          <a:xfrm>
            <a:off x="324000" y="1788175"/>
            <a:ext cx="72633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Factors and multiples are inverse concepts.</a:t>
            </a:r>
            <a:endParaRPr sz="1800"/>
          </a:p>
        </p:txBody>
      </p:sp>
      <p:sp>
        <p:nvSpPr>
          <p:cNvPr id="768" name="Google Shape;768;p67"/>
          <p:cNvSpPr txBox="1"/>
          <p:nvPr/>
        </p:nvSpPr>
        <p:spPr>
          <a:xfrm>
            <a:off x="1633125" y="2300700"/>
            <a:ext cx="11838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Example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9" name="Google Shape;769;p67"/>
          <p:cNvSpPr txBox="1"/>
          <p:nvPr/>
        </p:nvSpPr>
        <p:spPr>
          <a:xfrm>
            <a:off x="1556929" y="2706600"/>
            <a:ext cx="19101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✕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2 =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20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0" name="Google Shape;770;p67"/>
          <p:cNvSpPr txBox="1"/>
          <p:nvPr/>
        </p:nvSpPr>
        <p:spPr>
          <a:xfrm>
            <a:off x="2685300" y="3678175"/>
            <a:ext cx="18867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0 is a multiple of 2 and 10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1" name="Google Shape;771;p67"/>
          <p:cNvSpPr txBox="1"/>
          <p:nvPr/>
        </p:nvSpPr>
        <p:spPr>
          <a:xfrm>
            <a:off x="5571900" y="2331250"/>
            <a:ext cx="11838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Example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2" name="Google Shape;772;p67"/>
          <p:cNvSpPr txBox="1"/>
          <p:nvPr/>
        </p:nvSpPr>
        <p:spPr>
          <a:xfrm>
            <a:off x="5554138" y="2722950"/>
            <a:ext cx="14313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20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÷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2 =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73" name="Google Shape;773;p67"/>
          <p:cNvCxnSpPr/>
          <p:nvPr/>
        </p:nvCxnSpPr>
        <p:spPr>
          <a:xfrm>
            <a:off x="6821988" y="3112400"/>
            <a:ext cx="463500" cy="510300"/>
          </a:xfrm>
          <a:prstGeom prst="straightConnector1">
            <a:avLst/>
          </a:prstGeom>
          <a:noFill/>
          <a:ln cap="flat" cmpd="sng" w="38100">
            <a:solidFill>
              <a:srgbClr val="BEF2B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4" name="Google Shape;774;p67"/>
          <p:cNvCxnSpPr/>
          <p:nvPr/>
        </p:nvCxnSpPr>
        <p:spPr>
          <a:xfrm>
            <a:off x="2887188" y="3132088"/>
            <a:ext cx="463500" cy="5103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5" name="Google Shape;775;p67"/>
          <p:cNvCxnSpPr/>
          <p:nvPr/>
        </p:nvCxnSpPr>
        <p:spPr>
          <a:xfrm flipH="1">
            <a:off x="1288713" y="3114638"/>
            <a:ext cx="496800" cy="5058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6" name="Google Shape;776;p67"/>
          <p:cNvSpPr txBox="1"/>
          <p:nvPr/>
        </p:nvSpPr>
        <p:spPr>
          <a:xfrm>
            <a:off x="552600" y="3678175"/>
            <a:ext cx="17133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10 and 2 are factors of 20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7" name="Google Shape;777;p67"/>
          <p:cNvSpPr txBox="1"/>
          <p:nvPr/>
        </p:nvSpPr>
        <p:spPr>
          <a:xfrm>
            <a:off x="6604450" y="3651000"/>
            <a:ext cx="19788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No remainder, so 2 and 10 are factors of 20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8" name="Google Shape;778;p67"/>
          <p:cNvSpPr txBox="1"/>
          <p:nvPr/>
        </p:nvSpPr>
        <p:spPr>
          <a:xfrm>
            <a:off x="240024" y="1205418"/>
            <a:ext cx="8232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A numerical factor is a factor that is an integer.</a:t>
            </a:r>
            <a:endParaRPr/>
          </a:p>
        </p:txBody>
      </p:sp>
      <p:pic>
        <p:nvPicPr>
          <p:cNvPr id="779" name="Google Shape;779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8000" y="2101675"/>
            <a:ext cx="3654550" cy="271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68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Multiplication tables to identify multiples</a:t>
            </a:r>
            <a:endParaRPr/>
          </a:p>
        </p:txBody>
      </p:sp>
      <p:sp>
        <p:nvSpPr>
          <p:cNvPr id="785" name="Google Shape;785;p68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Multiplication tables to identify factors</a:t>
            </a:r>
            <a:endParaRPr/>
          </a:p>
        </p:txBody>
      </p:sp>
      <p:sp>
        <p:nvSpPr>
          <p:cNvPr id="786" name="Google Shape;786;p68"/>
          <p:cNvSpPr txBox="1"/>
          <p:nvPr>
            <p:ph idx="3" type="title"/>
          </p:nvPr>
        </p:nvSpPr>
        <p:spPr>
          <a:xfrm>
            <a:off x="324000" y="657600"/>
            <a:ext cx="81999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understanding of factors, multiples, squares and cubes</a:t>
            </a:r>
            <a:endParaRPr/>
          </a:p>
        </p:txBody>
      </p:sp>
      <p:pic>
        <p:nvPicPr>
          <p:cNvPr id="787" name="Google Shape;787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561" y="20594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69"/>
          <p:cNvSpPr txBox="1"/>
          <p:nvPr>
            <p:ph idx="1" type="body"/>
          </p:nvPr>
        </p:nvSpPr>
        <p:spPr>
          <a:xfrm>
            <a:off x="558325" y="810000"/>
            <a:ext cx="6610800" cy="47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Here is a 5 by 5 multiplication table.</a:t>
            </a:r>
            <a:endParaRPr sz="2000"/>
          </a:p>
        </p:txBody>
      </p:sp>
      <p:sp>
        <p:nvSpPr>
          <p:cNvPr id="793" name="Google Shape;793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Multiplication tables to identify multiples</a:t>
            </a:r>
            <a:endParaRPr/>
          </a:p>
        </p:txBody>
      </p:sp>
      <p:sp>
        <p:nvSpPr>
          <p:cNvPr id="794" name="Google Shape;794;p69"/>
          <p:cNvSpPr txBox="1"/>
          <p:nvPr>
            <p:ph idx="1" type="body"/>
          </p:nvPr>
        </p:nvSpPr>
        <p:spPr>
          <a:xfrm>
            <a:off x="4858636" y="2051725"/>
            <a:ext cx="3340500" cy="84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Multiples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of 2 are also in the column and row of 4 because 2 is a factor of 4.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795" name="Google Shape;795;p69"/>
          <p:cNvGraphicFramePr/>
          <p:nvPr/>
        </p:nvGraphicFramePr>
        <p:xfrm>
          <a:off x="558325" y="1478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{FD5E7B5D-4D7C-4902-B0CB-C91AA0B25A47}</a:tableStyleId>
              </a:tblPr>
              <a:tblGrid>
                <a:gridCol w="626950"/>
                <a:gridCol w="626950"/>
                <a:gridCol w="626950"/>
                <a:gridCol w="626950"/>
                <a:gridCol w="626950"/>
                <a:gridCol w="626950"/>
              </a:tblGrid>
              <a:tr h="46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✖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46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46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  <a:tr h="46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  <a:tr h="46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  <a:tr h="46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796" name="Google Shape;796;p69"/>
          <p:cNvSpPr txBox="1"/>
          <p:nvPr/>
        </p:nvSpPr>
        <p:spPr>
          <a:xfrm>
            <a:off x="4756800" y="1173300"/>
            <a:ext cx="35793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Where are all the multiples of 2 from this table?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97" name="Google Shape;797;p69"/>
          <p:cNvGrpSpPr/>
          <p:nvPr/>
        </p:nvGrpSpPr>
        <p:grpSpPr>
          <a:xfrm>
            <a:off x="1251900" y="2019900"/>
            <a:ext cx="2972800" cy="2191725"/>
            <a:chOff x="1271000" y="1964275"/>
            <a:chExt cx="2972800" cy="2191725"/>
          </a:xfrm>
        </p:grpSpPr>
        <p:sp>
          <p:nvSpPr>
            <p:cNvPr id="798" name="Google Shape;798;p69"/>
            <p:cNvSpPr/>
            <p:nvPr/>
          </p:nvSpPr>
          <p:spPr>
            <a:xfrm>
              <a:off x="1271000" y="2431000"/>
              <a:ext cx="481500" cy="353400"/>
            </a:xfrm>
            <a:prstGeom prst="rect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69"/>
            <p:cNvSpPr/>
            <p:nvPr/>
          </p:nvSpPr>
          <p:spPr>
            <a:xfrm>
              <a:off x="1890125" y="2421475"/>
              <a:ext cx="481500" cy="353400"/>
            </a:xfrm>
            <a:prstGeom prst="rect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69"/>
            <p:cNvSpPr/>
            <p:nvPr/>
          </p:nvSpPr>
          <p:spPr>
            <a:xfrm>
              <a:off x="3762300" y="2421475"/>
              <a:ext cx="481500" cy="353400"/>
            </a:xfrm>
            <a:prstGeom prst="rect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69"/>
            <p:cNvSpPr/>
            <p:nvPr/>
          </p:nvSpPr>
          <p:spPr>
            <a:xfrm>
              <a:off x="2516650" y="2421475"/>
              <a:ext cx="481500" cy="353400"/>
            </a:xfrm>
            <a:prstGeom prst="rect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69"/>
            <p:cNvSpPr/>
            <p:nvPr/>
          </p:nvSpPr>
          <p:spPr>
            <a:xfrm>
              <a:off x="3149000" y="2421475"/>
              <a:ext cx="481500" cy="353400"/>
            </a:xfrm>
            <a:prstGeom prst="rect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69"/>
            <p:cNvSpPr/>
            <p:nvPr/>
          </p:nvSpPr>
          <p:spPr>
            <a:xfrm>
              <a:off x="1271000" y="3345400"/>
              <a:ext cx="481500" cy="353400"/>
            </a:xfrm>
            <a:prstGeom prst="rect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69"/>
            <p:cNvSpPr/>
            <p:nvPr/>
          </p:nvSpPr>
          <p:spPr>
            <a:xfrm>
              <a:off x="1890125" y="3335875"/>
              <a:ext cx="481500" cy="353400"/>
            </a:xfrm>
            <a:prstGeom prst="rect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69"/>
            <p:cNvSpPr/>
            <p:nvPr/>
          </p:nvSpPr>
          <p:spPr>
            <a:xfrm>
              <a:off x="3762300" y="3335875"/>
              <a:ext cx="481500" cy="353400"/>
            </a:xfrm>
            <a:prstGeom prst="rect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69"/>
            <p:cNvSpPr/>
            <p:nvPr/>
          </p:nvSpPr>
          <p:spPr>
            <a:xfrm>
              <a:off x="2516650" y="3335875"/>
              <a:ext cx="481500" cy="353400"/>
            </a:xfrm>
            <a:prstGeom prst="rect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69"/>
            <p:cNvSpPr/>
            <p:nvPr/>
          </p:nvSpPr>
          <p:spPr>
            <a:xfrm>
              <a:off x="3149000" y="3335875"/>
              <a:ext cx="481500" cy="353400"/>
            </a:xfrm>
            <a:prstGeom prst="rect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69"/>
            <p:cNvSpPr/>
            <p:nvPr/>
          </p:nvSpPr>
          <p:spPr>
            <a:xfrm>
              <a:off x="1893825" y="2888200"/>
              <a:ext cx="481500" cy="353400"/>
            </a:xfrm>
            <a:prstGeom prst="rect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69"/>
            <p:cNvSpPr/>
            <p:nvPr/>
          </p:nvSpPr>
          <p:spPr>
            <a:xfrm>
              <a:off x="1893825" y="3802600"/>
              <a:ext cx="481500" cy="353400"/>
            </a:xfrm>
            <a:prstGeom prst="rect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69"/>
            <p:cNvSpPr/>
            <p:nvPr/>
          </p:nvSpPr>
          <p:spPr>
            <a:xfrm>
              <a:off x="3139475" y="2888200"/>
              <a:ext cx="481500" cy="353400"/>
            </a:xfrm>
            <a:prstGeom prst="rect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69"/>
            <p:cNvSpPr/>
            <p:nvPr/>
          </p:nvSpPr>
          <p:spPr>
            <a:xfrm>
              <a:off x="3139475" y="3802600"/>
              <a:ext cx="481500" cy="353400"/>
            </a:xfrm>
            <a:prstGeom prst="rect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69"/>
            <p:cNvSpPr/>
            <p:nvPr/>
          </p:nvSpPr>
          <p:spPr>
            <a:xfrm>
              <a:off x="1890125" y="1964275"/>
              <a:ext cx="481500" cy="353400"/>
            </a:xfrm>
            <a:prstGeom prst="rect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69"/>
            <p:cNvSpPr/>
            <p:nvPr/>
          </p:nvSpPr>
          <p:spPr>
            <a:xfrm>
              <a:off x="3149000" y="1964275"/>
              <a:ext cx="481500" cy="353400"/>
            </a:xfrm>
            <a:prstGeom prst="rect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14" name="Google Shape;814;p69"/>
          <p:cNvSpPr txBox="1"/>
          <p:nvPr/>
        </p:nvSpPr>
        <p:spPr>
          <a:xfrm>
            <a:off x="4782425" y="3092400"/>
            <a:ext cx="35793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Does the table show all the multiples of 2?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5" name="Google Shape;815;p69"/>
          <p:cNvSpPr txBox="1"/>
          <p:nvPr/>
        </p:nvSpPr>
        <p:spPr>
          <a:xfrm>
            <a:off x="4782425" y="3820500"/>
            <a:ext cx="38832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No, there are an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infinite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number of multiples.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20" name="Google Shape;820;p70"/>
          <p:cNvGraphicFramePr/>
          <p:nvPr/>
        </p:nvGraphicFramePr>
        <p:xfrm>
          <a:off x="441150" y="1187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{FD5E7B5D-4D7C-4902-B0CB-C91AA0B25A47}</a:tableStyleId>
              </a:tblPr>
              <a:tblGrid>
                <a:gridCol w="395250"/>
                <a:gridCol w="395250"/>
                <a:gridCol w="395250"/>
                <a:gridCol w="395250"/>
                <a:gridCol w="395250"/>
                <a:gridCol w="395250"/>
                <a:gridCol w="395250"/>
                <a:gridCol w="395250"/>
                <a:gridCol w="395250"/>
                <a:gridCol w="395250"/>
              </a:tblGrid>
              <a:tr h="298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✖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298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298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98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98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98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98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98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98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98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  <p:sp>
        <p:nvSpPr>
          <p:cNvPr id="821" name="Google Shape;821;p70"/>
          <p:cNvSpPr txBox="1"/>
          <p:nvPr>
            <p:ph idx="1" type="body"/>
          </p:nvPr>
        </p:nvSpPr>
        <p:spPr>
          <a:xfrm>
            <a:off x="387725" y="759300"/>
            <a:ext cx="62277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Here is a 9 </a:t>
            </a:r>
            <a:r>
              <a:rPr lang="en-GB" sz="2100"/>
              <a:t>by 9</a:t>
            </a:r>
            <a:r>
              <a:rPr lang="en-GB" sz="2100"/>
              <a:t> multiplication table.</a:t>
            </a:r>
            <a:endParaRPr sz="2100"/>
          </a:p>
        </p:txBody>
      </p:sp>
      <p:sp>
        <p:nvSpPr>
          <p:cNvPr id="822" name="Google Shape;822;p70"/>
          <p:cNvSpPr txBox="1"/>
          <p:nvPr>
            <p:ph idx="1" type="body"/>
          </p:nvPr>
        </p:nvSpPr>
        <p:spPr>
          <a:xfrm>
            <a:off x="5406975" y="1240500"/>
            <a:ext cx="31419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What is the largest multiple of 4 you can see using this multiplication table?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5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Explain how you found it.</a:t>
            </a:r>
            <a:endParaRPr sz="2000"/>
          </a:p>
        </p:txBody>
      </p:sp>
      <p:sp>
        <p:nvSpPr>
          <p:cNvPr id="823" name="Google Shape;823;p70"/>
          <p:cNvSpPr txBox="1"/>
          <p:nvPr>
            <p:ph idx="1" type="body"/>
          </p:nvPr>
        </p:nvSpPr>
        <p:spPr>
          <a:xfrm>
            <a:off x="6836400" y="2524800"/>
            <a:ext cx="533400" cy="4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>
                <a:latin typeface="Kalam"/>
                <a:ea typeface="Kalam"/>
                <a:cs typeface="Kalam"/>
                <a:sym typeface="Kalam"/>
              </a:rPr>
              <a:t>72</a:t>
            </a:r>
            <a:endParaRPr sz="24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24" name="Google Shape;824;p70"/>
          <p:cNvSpPr txBox="1"/>
          <p:nvPr>
            <p:ph idx="1" type="body"/>
          </p:nvPr>
        </p:nvSpPr>
        <p:spPr>
          <a:xfrm>
            <a:off x="5478325" y="3399075"/>
            <a:ext cx="2942400" cy="4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4 is a factor of 8 so all multiples of 4 will be in the 8 column or row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25" name="Google Shape;825;p70"/>
          <p:cNvSpPr/>
          <p:nvPr/>
        </p:nvSpPr>
        <p:spPr>
          <a:xfrm>
            <a:off x="3603151" y="3875375"/>
            <a:ext cx="395400" cy="2733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70"/>
          <p:cNvSpPr/>
          <p:nvPr/>
        </p:nvSpPr>
        <p:spPr>
          <a:xfrm>
            <a:off x="3998401" y="3576675"/>
            <a:ext cx="395400" cy="2733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Multiplication tables to identify multiples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7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Multiplication tables to identify multiples</a:t>
            </a:r>
            <a:endParaRPr sz="1800"/>
          </a:p>
        </p:txBody>
      </p:sp>
      <p:graphicFrame>
        <p:nvGraphicFramePr>
          <p:cNvPr id="833" name="Google Shape;833;p71"/>
          <p:cNvGraphicFramePr/>
          <p:nvPr/>
        </p:nvGraphicFramePr>
        <p:xfrm>
          <a:off x="323988" y="186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{FD5E7B5D-4D7C-4902-B0CB-C91AA0B25A47}</a:tableStyleId>
              </a:tblPr>
              <a:tblGrid>
                <a:gridCol w="343575"/>
                <a:gridCol w="343575"/>
                <a:gridCol w="343575"/>
                <a:gridCol w="343575"/>
                <a:gridCol w="343575"/>
                <a:gridCol w="343575"/>
                <a:gridCol w="343575"/>
              </a:tblGrid>
              <a:tr h="297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✖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297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297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97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97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97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97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  <p:sp>
        <p:nvSpPr>
          <p:cNvPr id="834" name="Google Shape;834;p71"/>
          <p:cNvSpPr txBox="1"/>
          <p:nvPr>
            <p:ph idx="4294967295" type="body"/>
          </p:nvPr>
        </p:nvSpPr>
        <p:spPr>
          <a:xfrm>
            <a:off x="324000" y="676825"/>
            <a:ext cx="8496000" cy="79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Here is a 6 by 6 multiplication table. Answer true or false to each statement </a:t>
            </a:r>
            <a:r>
              <a:rPr lang="en-GB" sz="1800"/>
              <a:t>providing</a:t>
            </a:r>
            <a:r>
              <a:rPr lang="en-GB" sz="1800"/>
              <a:t> a </a:t>
            </a:r>
            <a:r>
              <a:rPr lang="en-GB" sz="1800"/>
              <a:t>justification</a:t>
            </a:r>
            <a:r>
              <a:rPr lang="en-GB" sz="1800"/>
              <a:t> for your answer.</a:t>
            </a:r>
            <a:endParaRPr sz="1800"/>
          </a:p>
        </p:txBody>
      </p:sp>
      <p:graphicFrame>
        <p:nvGraphicFramePr>
          <p:cNvPr id="835" name="Google Shape;835;p71"/>
          <p:cNvGraphicFramePr/>
          <p:nvPr/>
        </p:nvGraphicFramePr>
        <p:xfrm>
          <a:off x="2908025" y="1468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{FD5E7B5D-4D7C-4902-B0CB-C91AA0B25A47}</a:tableStyleId>
              </a:tblPr>
              <a:tblGrid>
                <a:gridCol w="1663975"/>
                <a:gridCol w="781800"/>
                <a:gridCol w="781775"/>
                <a:gridCol w="2289750"/>
              </a:tblGrid>
              <a:tr h="530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Statement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True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False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Justification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376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 </a:t>
                      </a: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 is a factor of 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b) 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36 is a multiple of 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31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c) 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All the multiples of 6 can be seen in this table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7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Multiplication tables to identify multiples</a:t>
            </a:r>
            <a:endParaRPr sz="1800"/>
          </a:p>
        </p:txBody>
      </p:sp>
      <p:graphicFrame>
        <p:nvGraphicFramePr>
          <p:cNvPr id="841" name="Google Shape;841;p72"/>
          <p:cNvGraphicFramePr/>
          <p:nvPr/>
        </p:nvGraphicFramePr>
        <p:xfrm>
          <a:off x="441700" y="851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{FD5E7B5D-4D7C-4902-B0CB-C91AA0B25A47}</a:tableStyleId>
              </a:tblPr>
              <a:tblGrid>
                <a:gridCol w="382700"/>
                <a:gridCol w="382700"/>
                <a:gridCol w="382700"/>
                <a:gridCol w="382700"/>
                <a:gridCol w="382700"/>
                <a:gridCol w="382700"/>
                <a:gridCol w="382700"/>
                <a:gridCol w="382700"/>
                <a:gridCol w="420350"/>
                <a:gridCol w="402625"/>
                <a:gridCol w="392300"/>
                <a:gridCol w="426800"/>
                <a:gridCol w="450425"/>
              </a:tblGrid>
              <a:tr h="285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✖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285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285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85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85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85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85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85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85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85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85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85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85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  <p:sp>
        <p:nvSpPr>
          <p:cNvPr id="842" name="Google Shape;842;p72"/>
          <p:cNvSpPr txBox="1"/>
          <p:nvPr>
            <p:ph idx="4294967295" type="body"/>
          </p:nvPr>
        </p:nvSpPr>
        <p:spPr>
          <a:xfrm>
            <a:off x="5929525" y="775200"/>
            <a:ext cx="2890500" cy="405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</a:t>
            </a:r>
            <a:r>
              <a:rPr lang="en-GB" sz="1800"/>
              <a:t>) Using a 12 by 12 multiplication table: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a) Find the largest multiple of 7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b) Find the largest multiple of 3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c) Find the largest multiple of 5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d) Find the </a:t>
            </a:r>
            <a:r>
              <a:rPr lang="en-GB" sz="1800"/>
              <a:t>lowest </a:t>
            </a:r>
            <a:r>
              <a:rPr lang="en-GB" sz="1800"/>
              <a:t>multiple of 3 and 5</a:t>
            </a:r>
            <a:endParaRPr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7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Multiplication tables to identify multiples</a:t>
            </a:r>
            <a:endParaRPr sz="1800"/>
          </a:p>
        </p:txBody>
      </p:sp>
      <p:graphicFrame>
        <p:nvGraphicFramePr>
          <p:cNvPr id="848" name="Google Shape;848;p73"/>
          <p:cNvGraphicFramePr/>
          <p:nvPr/>
        </p:nvGraphicFramePr>
        <p:xfrm>
          <a:off x="323988" y="1934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{FD5E7B5D-4D7C-4902-B0CB-C91AA0B25A47}</a:tableStyleId>
              </a:tblPr>
              <a:tblGrid>
                <a:gridCol w="343575"/>
                <a:gridCol w="343575"/>
                <a:gridCol w="343575"/>
                <a:gridCol w="343575"/>
                <a:gridCol w="343575"/>
                <a:gridCol w="343575"/>
                <a:gridCol w="343575"/>
              </a:tblGrid>
              <a:tr h="297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✖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297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297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97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97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97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97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  <p:sp>
        <p:nvSpPr>
          <p:cNvPr id="849" name="Google Shape;849;p73"/>
          <p:cNvSpPr txBox="1"/>
          <p:nvPr>
            <p:ph idx="4294967295" type="body"/>
          </p:nvPr>
        </p:nvSpPr>
        <p:spPr>
          <a:xfrm>
            <a:off x="324000" y="676825"/>
            <a:ext cx="8496000" cy="79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Here is a 6 by 6 multiplication table. Answer true or false to each statement providing a justification for your answer.</a:t>
            </a:r>
            <a:endParaRPr sz="1800"/>
          </a:p>
        </p:txBody>
      </p:sp>
      <p:graphicFrame>
        <p:nvGraphicFramePr>
          <p:cNvPr id="850" name="Google Shape;850;p73"/>
          <p:cNvGraphicFramePr/>
          <p:nvPr/>
        </p:nvGraphicFramePr>
        <p:xfrm>
          <a:off x="2912400" y="1480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{FD5E7B5D-4D7C-4902-B0CB-C91AA0B25A47}</a:tableStyleId>
              </a:tblPr>
              <a:tblGrid>
                <a:gridCol w="1640025"/>
                <a:gridCol w="770700"/>
                <a:gridCol w="770700"/>
                <a:gridCol w="2331475"/>
              </a:tblGrid>
              <a:tr h="428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Statement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True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False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Justification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68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 12 is a factor of 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b) 36 is a multiple of 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58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c) All the multiples of 6 can be seen in this table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851" name="Google Shape;851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76396" y="215647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2" name="Google Shape;852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4983" y="290305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3" name="Google Shape;853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76396" y="3720225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854" name="Google Shape;854;p73"/>
          <p:cNvSpPr txBox="1"/>
          <p:nvPr/>
        </p:nvSpPr>
        <p:spPr>
          <a:xfrm>
            <a:off x="6131825" y="1934925"/>
            <a:ext cx="2405100" cy="7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12 is a multiple of 4 or 4 is a factor of 12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5" name="Google Shape;855;p73"/>
          <p:cNvSpPr txBox="1"/>
          <p:nvPr/>
        </p:nvSpPr>
        <p:spPr>
          <a:xfrm>
            <a:off x="6120300" y="2640550"/>
            <a:ext cx="2405100" cy="7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 × 12 = 36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or 36 is a multiple of 3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6" name="Google Shape;856;p73"/>
          <p:cNvSpPr txBox="1"/>
          <p:nvPr/>
        </p:nvSpPr>
        <p:spPr>
          <a:xfrm>
            <a:off x="6135575" y="3479875"/>
            <a:ext cx="2358000" cy="10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There are an infinite number of multiples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74"/>
          <p:cNvSpPr txBox="1"/>
          <p:nvPr>
            <p:ph idx="4294967295" type="body"/>
          </p:nvPr>
        </p:nvSpPr>
        <p:spPr>
          <a:xfrm>
            <a:off x="5746600" y="775200"/>
            <a:ext cx="2890500" cy="405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2) Using a 12 by 12 multiplication table: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a) Find the largest multiple of 7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b) Find the largest multiple of 3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c) Find the largest multiple of 5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d) Find the lowest multiple of 3 and 5</a:t>
            </a:r>
            <a:endParaRPr sz="1800"/>
          </a:p>
        </p:txBody>
      </p:sp>
      <p:sp>
        <p:nvSpPr>
          <p:cNvPr id="862" name="Google Shape;862;p7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Multiplication tables to identify multiples</a:t>
            </a:r>
            <a:endParaRPr sz="1800"/>
          </a:p>
        </p:txBody>
      </p:sp>
      <p:sp>
        <p:nvSpPr>
          <p:cNvPr id="863" name="Google Shape;863;p74"/>
          <p:cNvSpPr txBox="1"/>
          <p:nvPr/>
        </p:nvSpPr>
        <p:spPr>
          <a:xfrm>
            <a:off x="7895425" y="1837750"/>
            <a:ext cx="599400" cy="3906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84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64" name="Google Shape;864;p74"/>
          <p:cNvSpPr txBox="1"/>
          <p:nvPr/>
        </p:nvSpPr>
        <p:spPr>
          <a:xfrm>
            <a:off x="7895425" y="2652375"/>
            <a:ext cx="599400" cy="3906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144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65" name="Google Shape;865;p74"/>
          <p:cNvSpPr txBox="1"/>
          <p:nvPr/>
        </p:nvSpPr>
        <p:spPr>
          <a:xfrm>
            <a:off x="7911937" y="3466988"/>
            <a:ext cx="566400" cy="3906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120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66" name="Google Shape;866;p74"/>
          <p:cNvSpPr txBox="1"/>
          <p:nvPr/>
        </p:nvSpPr>
        <p:spPr>
          <a:xfrm>
            <a:off x="7911925" y="4281600"/>
            <a:ext cx="566400" cy="3906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867" name="Google Shape;867;p74"/>
          <p:cNvGraphicFramePr/>
          <p:nvPr/>
        </p:nvGraphicFramePr>
        <p:xfrm>
          <a:off x="441700" y="851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{FD5E7B5D-4D7C-4902-B0CB-C91AA0B25A47}</a:tableStyleId>
              </a:tblPr>
              <a:tblGrid>
                <a:gridCol w="382700"/>
                <a:gridCol w="382700"/>
                <a:gridCol w="382700"/>
                <a:gridCol w="382700"/>
                <a:gridCol w="382700"/>
                <a:gridCol w="382700"/>
                <a:gridCol w="382700"/>
                <a:gridCol w="382700"/>
                <a:gridCol w="420350"/>
                <a:gridCol w="402625"/>
                <a:gridCol w="392300"/>
                <a:gridCol w="426800"/>
                <a:gridCol w="450425"/>
              </a:tblGrid>
              <a:tr h="285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✖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285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285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85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85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85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85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85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85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85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85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85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85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75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Multiplication tables to identify multiples</a:t>
            </a:r>
            <a:endParaRPr/>
          </a:p>
        </p:txBody>
      </p:sp>
      <p:sp>
        <p:nvSpPr>
          <p:cNvPr id="873" name="Google Shape;873;p75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Multiplication tables to identify factors</a:t>
            </a:r>
            <a:endParaRPr/>
          </a:p>
        </p:txBody>
      </p:sp>
      <p:sp>
        <p:nvSpPr>
          <p:cNvPr id="874" name="Google Shape;874;p75"/>
          <p:cNvSpPr txBox="1"/>
          <p:nvPr>
            <p:ph idx="3" type="title"/>
          </p:nvPr>
        </p:nvSpPr>
        <p:spPr>
          <a:xfrm>
            <a:off x="324000" y="657600"/>
            <a:ext cx="76770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understanding of factors, multiples, squares and cubes</a:t>
            </a:r>
            <a:endParaRPr/>
          </a:p>
        </p:txBody>
      </p:sp>
      <p:pic>
        <p:nvPicPr>
          <p:cNvPr id="875" name="Google Shape;875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761" y="2985892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Multiplication tables to identify factors</a:t>
            </a:r>
            <a:endParaRPr/>
          </a:p>
        </p:txBody>
      </p:sp>
      <p:graphicFrame>
        <p:nvGraphicFramePr>
          <p:cNvPr id="881" name="Google Shape;881;p76"/>
          <p:cNvGraphicFramePr/>
          <p:nvPr/>
        </p:nvGraphicFramePr>
        <p:xfrm>
          <a:off x="5172650" y="13350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{FD5E7B5D-4D7C-4902-B0CB-C91AA0B25A47}</a:tableStyleId>
              </a:tblPr>
              <a:tblGrid>
                <a:gridCol w="466450"/>
                <a:gridCol w="466450"/>
                <a:gridCol w="466450"/>
                <a:gridCol w="466450"/>
                <a:gridCol w="466450"/>
                <a:gridCol w="466450"/>
                <a:gridCol w="466450"/>
              </a:tblGrid>
              <a:tr h="292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✖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92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92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92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92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  <p:sp>
        <p:nvSpPr>
          <p:cNvPr id="882" name="Google Shape;882;p76"/>
          <p:cNvSpPr txBox="1"/>
          <p:nvPr/>
        </p:nvSpPr>
        <p:spPr>
          <a:xfrm>
            <a:off x="324000" y="1237200"/>
            <a:ext cx="43692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How can we use a multiplication table to identify the factor pairs of 6?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3" name="Google Shape;883;p76"/>
          <p:cNvSpPr txBox="1"/>
          <p:nvPr/>
        </p:nvSpPr>
        <p:spPr>
          <a:xfrm>
            <a:off x="361925" y="2770850"/>
            <a:ext cx="43692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How many factor pairs of 6 can you find?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Multiplication tables to identify factors</a:t>
            </a:r>
            <a:endParaRPr/>
          </a:p>
        </p:txBody>
      </p:sp>
      <p:graphicFrame>
        <p:nvGraphicFramePr>
          <p:cNvPr id="889" name="Google Shape;889;p77"/>
          <p:cNvGraphicFramePr/>
          <p:nvPr/>
        </p:nvGraphicFramePr>
        <p:xfrm>
          <a:off x="5172650" y="13350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{FD5E7B5D-4D7C-4902-B0CB-C91AA0B25A47}</a:tableStyleId>
              </a:tblPr>
              <a:tblGrid>
                <a:gridCol w="466450"/>
                <a:gridCol w="466450"/>
                <a:gridCol w="466450"/>
                <a:gridCol w="466450"/>
                <a:gridCol w="466450"/>
                <a:gridCol w="466450"/>
                <a:gridCol w="466450"/>
              </a:tblGrid>
              <a:tr h="292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✖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92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92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92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92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  <p:sp>
        <p:nvSpPr>
          <p:cNvPr id="890" name="Google Shape;890;p77"/>
          <p:cNvSpPr txBox="1"/>
          <p:nvPr/>
        </p:nvSpPr>
        <p:spPr>
          <a:xfrm>
            <a:off x="400200" y="1018850"/>
            <a:ext cx="45855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Using the 6 by 6 multiplication table, we have the following factor pairs to make 6: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91" name="Google Shape;891;p77"/>
          <p:cNvGrpSpPr/>
          <p:nvPr/>
        </p:nvGrpSpPr>
        <p:grpSpPr>
          <a:xfrm>
            <a:off x="1804375" y="1644725"/>
            <a:ext cx="4088625" cy="1695525"/>
            <a:chOff x="1804375" y="1644725"/>
            <a:chExt cx="4088625" cy="1695525"/>
          </a:xfrm>
        </p:grpSpPr>
        <p:sp>
          <p:nvSpPr>
            <p:cNvPr id="892" name="Google Shape;892;p77"/>
            <p:cNvSpPr txBox="1"/>
            <p:nvPr/>
          </p:nvSpPr>
          <p:spPr>
            <a:xfrm>
              <a:off x="1804375" y="2025950"/>
              <a:ext cx="184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1 and 6</a:t>
              </a:r>
              <a:endParaRPr/>
            </a:p>
          </p:txBody>
        </p:sp>
        <p:cxnSp>
          <p:nvCxnSpPr>
            <p:cNvPr id="893" name="Google Shape;893;p77"/>
            <p:cNvCxnSpPr/>
            <p:nvPr/>
          </p:nvCxnSpPr>
          <p:spPr>
            <a:xfrm flipH="1" rot="10800000">
              <a:off x="5880100" y="1644725"/>
              <a:ext cx="12900" cy="14943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4" name="Google Shape;894;p77"/>
            <p:cNvCxnSpPr/>
            <p:nvPr/>
          </p:nvCxnSpPr>
          <p:spPr>
            <a:xfrm flipH="1">
              <a:off x="5517300" y="3339050"/>
              <a:ext cx="257100" cy="12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95" name="Google Shape;895;p77"/>
          <p:cNvSpPr/>
          <p:nvPr/>
        </p:nvSpPr>
        <p:spPr>
          <a:xfrm>
            <a:off x="5707300" y="3163750"/>
            <a:ext cx="324300" cy="309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Multiplication tables to identify factors</a:t>
            </a:r>
            <a:endParaRPr/>
          </a:p>
        </p:txBody>
      </p:sp>
      <p:graphicFrame>
        <p:nvGraphicFramePr>
          <p:cNvPr id="901" name="Google Shape;901;p78"/>
          <p:cNvGraphicFramePr/>
          <p:nvPr/>
        </p:nvGraphicFramePr>
        <p:xfrm>
          <a:off x="5172650" y="13350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{FD5E7B5D-4D7C-4902-B0CB-C91AA0B25A47}</a:tableStyleId>
              </a:tblPr>
              <a:tblGrid>
                <a:gridCol w="466450"/>
                <a:gridCol w="466450"/>
                <a:gridCol w="466450"/>
                <a:gridCol w="466450"/>
                <a:gridCol w="466450"/>
                <a:gridCol w="466450"/>
                <a:gridCol w="466450"/>
              </a:tblGrid>
              <a:tr h="292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✖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92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92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92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92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  <p:sp>
        <p:nvSpPr>
          <p:cNvPr id="902" name="Google Shape;902;p78"/>
          <p:cNvSpPr txBox="1"/>
          <p:nvPr/>
        </p:nvSpPr>
        <p:spPr>
          <a:xfrm>
            <a:off x="400200" y="1018850"/>
            <a:ext cx="45855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Using the 6 by 6 multiplication table, we have the following factor pairs to make 6: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3" name="Google Shape;903;p78"/>
          <p:cNvSpPr txBox="1"/>
          <p:nvPr/>
        </p:nvSpPr>
        <p:spPr>
          <a:xfrm>
            <a:off x="1804375" y="2025950"/>
            <a:ext cx="184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 and 6</a:t>
            </a:r>
            <a:endParaRPr/>
          </a:p>
        </p:txBody>
      </p:sp>
      <p:sp>
        <p:nvSpPr>
          <p:cNvPr id="904" name="Google Shape;904;p78"/>
          <p:cNvSpPr txBox="1"/>
          <p:nvPr/>
        </p:nvSpPr>
        <p:spPr>
          <a:xfrm>
            <a:off x="1804375" y="2483150"/>
            <a:ext cx="184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and 3</a:t>
            </a:r>
            <a:endParaRPr/>
          </a:p>
        </p:txBody>
      </p:sp>
      <p:cxnSp>
        <p:nvCxnSpPr>
          <p:cNvPr id="905" name="Google Shape;905;p78"/>
          <p:cNvCxnSpPr/>
          <p:nvPr/>
        </p:nvCxnSpPr>
        <p:spPr>
          <a:xfrm rot="10800000">
            <a:off x="5639225" y="2401700"/>
            <a:ext cx="561600" cy="6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6" name="Google Shape;906;p78"/>
          <p:cNvCxnSpPr/>
          <p:nvPr/>
        </p:nvCxnSpPr>
        <p:spPr>
          <a:xfrm rot="10800000">
            <a:off x="6354474" y="1651526"/>
            <a:ext cx="0" cy="5442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7" name="Google Shape;907;p78"/>
          <p:cNvSpPr/>
          <p:nvPr/>
        </p:nvSpPr>
        <p:spPr>
          <a:xfrm>
            <a:off x="6192325" y="2247313"/>
            <a:ext cx="324300" cy="309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Multiplication tables to identify factors</a:t>
            </a:r>
            <a:endParaRPr/>
          </a:p>
        </p:txBody>
      </p:sp>
      <p:graphicFrame>
        <p:nvGraphicFramePr>
          <p:cNvPr id="913" name="Google Shape;913;p79"/>
          <p:cNvGraphicFramePr/>
          <p:nvPr/>
        </p:nvGraphicFramePr>
        <p:xfrm>
          <a:off x="5172650" y="13350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{FD5E7B5D-4D7C-4902-B0CB-C91AA0B25A47}</a:tableStyleId>
              </a:tblPr>
              <a:tblGrid>
                <a:gridCol w="466450"/>
                <a:gridCol w="466450"/>
                <a:gridCol w="466450"/>
                <a:gridCol w="466450"/>
                <a:gridCol w="466450"/>
                <a:gridCol w="466450"/>
                <a:gridCol w="466450"/>
              </a:tblGrid>
              <a:tr h="292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✖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92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92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92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92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  <p:sp>
        <p:nvSpPr>
          <p:cNvPr id="914" name="Google Shape;914;p79"/>
          <p:cNvSpPr txBox="1"/>
          <p:nvPr/>
        </p:nvSpPr>
        <p:spPr>
          <a:xfrm>
            <a:off x="400200" y="1018850"/>
            <a:ext cx="45855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Using the 6 by 6 multiplication table, we have the following factor pairs to make 6: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5" name="Google Shape;915;p79"/>
          <p:cNvSpPr txBox="1"/>
          <p:nvPr/>
        </p:nvSpPr>
        <p:spPr>
          <a:xfrm>
            <a:off x="400200" y="3628400"/>
            <a:ext cx="82956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Remember, multiplication is commutative, so the order does not matter.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6" name="Google Shape;916;p79"/>
          <p:cNvSpPr txBox="1"/>
          <p:nvPr/>
        </p:nvSpPr>
        <p:spPr>
          <a:xfrm>
            <a:off x="1804375" y="2025950"/>
            <a:ext cx="184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 and 6</a:t>
            </a:r>
            <a:endParaRPr/>
          </a:p>
        </p:txBody>
      </p:sp>
      <p:sp>
        <p:nvSpPr>
          <p:cNvPr id="917" name="Google Shape;917;p79"/>
          <p:cNvSpPr txBox="1"/>
          <p:nvPr/>
        </p:nvSpPr>
        <p:spPr>
          <a:xfrm>
            <a:off x="1804375" y="2483150"/>
            <a:ext cx="184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and 3</a:t>
            </a:r>
            <a:endParaRPr/>
          </a:p>
        </p:txBody>
      </p:sp>
      <p:cxnSp>
        <p:nvCxnSpPr>
          <p:cNvPr id="918" name="Google Shape;918;p79"/>
          <p:cNvCxnSpPr/>
          <p:nvPr/>
        </p:nvCxnSpPr>
        <p:spPr>
          <a:xfrm rot="10800000">
            <a:off x="5598875" y="2079075"/>
            <a:ext cx="10506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9" name="Google Shape;919;p79"/>
          <p:cNvCxnSpPr/>
          <p:nvPr/>
        </p:nvCxnSpPr>
        <p:spPr>
          <a:xfrm rot="10800000">
            <a:off x="6813522" y="1628399"/>
            <a:ext cx="0" cy="3378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0" name="Google Shape;920;p79"/>
          <p:cNvSpPr/>
          <p:nvPr/>
        </p:nvSpPr>
        <p:spPr>
          <a:xfrm>
            <a:off x="6651375" y="1943269"/>
            <a:ext cx="324300" cy="309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Multiplication tables to identify factors</a:t>
            </a:r>
            <a:endParaRPr/>
          </a:p>
        </p:txBody>
      </p:sp>
      <p:graphicFrame>
        <p:nvGraphicFramePr>
          <p:cNvPr id="926" name="Google Shape;926;p80"/>
          <p:cNvGraphicFramePr/>
          <p:nvPr/>
        </p:nvGraphicFramePr>
        <p:xfrm>
          <a:off x="468768" y="9769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{FD5E7B5D-4D7C-4902-B0CB-C91AA0B25A47}</a:tableStyleId>
              </a:tblPr>
              <a:tblGrid>
                <a:gridCol w="390675"/>
                <a:gridCol w="390675"/>
                <a:gridCol w="390675"/>
                <a:gridCol w="390675"/>
                <a:gridCol w="390675"/>
                <a:gridCol w="390675"/>
                <a:gridCol w="390675"/>
                <a:gridCol w="390675"/>
                <a:gridCol w="429075"/>
                <a:gridCol w="411000"/>
                <a:gridCol w="400450"/>
              </a:tblGrid>
              <a:tr h="309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✖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09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09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09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09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09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09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09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09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09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09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  <p:sp>
        <p:nvSpPr>
          <p:cNvPr id="927" name="Google Shape;927;p80"/>
          <p:cNvSpPr txBox="1"/>
          <p:nvPr/>
        </p:nvSpPr>
        <p:spPr>
          <a:xfrm>
            <a:off x="4980475" y="807150"/>
            <a:ext cx="3738900" cy="16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Using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the 10 by 10 multiplication table, can you find all the factor pairs of 9?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Multiplication tables to identify factors</a:t>
            </a:r>
            <a:endParaRPr/>
          </a:p>
        </p:txBody>
      </p:sp>
      <p:sp>
        <p:nvSpPr>
          <p:cNvPr id="933" name="Google Shape;933;p81"/>
          <p:cNvSpPr txBox="1"/>
          <p:nvPr/>
        </p:nvSpPr>
        <p:spPr>
          <a:xfrm>
            <a:off x="4980475" y="3202350"/>
            <a:ext cx="3839700" cy="16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When the factor pair has a repeated integer, we know the product is a square number.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34" name="Google Shape;934;p81"/>
          <p:cNvGraphicFramePr/>
          <p:nvPr/>
        </p:nvGraphicFramePr>
        <p:xfrm>
          <a:off x="468768" y="9769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{FD5E7B5D-4D7C-4902-B0CB-C91AA0B25A47}</a:tableStyleId>
              </a:tblPr>
              <a:tblGrid>
                <a:gridCol w="390675"/>
                <a:gridCol w="390675"/>
                <a:gridCol w="390675"/>
                <a:gridCol w="390675"/>
                <a:gridCol w="390675"/>
                <a:gridCol w="390675"/>
                <a:gridCol w="390675"/>
                <a:gridCol w="390675"/>
                <a:gridCol w="429075"/>
                <a:gridCol w="411000"/>
                <a:gridCol w="400450"/>
              </a:tblGrid>
              <a:tr h="309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✖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09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09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09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09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09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09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09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09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09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09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  <p:sp>
        <p:nvSpPr>
          <p:cNvPr id="935" name="Google Shape;935;p81"/>
          <p:cNvSpPr txBox="1"/>
          <p:nvPr/>
        </p:nvSpPr>
        <p:spPr>
          <a:xfrm>
            <a:off x="4980475" y="807150"/>
            <a:ext cx="3839700" cy="16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Using the 10 by 10 multiplication table, can you find all the factor pairs of 9?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6" name="Google Shape;936;p81"/>
          <p:cNvSpPr/>
          <p:nvPr/>
        </p:nvSpPr>
        <p:spPr>
          <a:xfrm>
            <a:off x="884849" y="3780000"/>
            <a:ext cx="359700" cy="2658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7" name="Google Shape;937;p81"/>
          <p:cNvSpPr txBox="1"/>
          <p:nvPr/>
        </p:nvSpPr>
        <p:spPr>
          <a:xfrm>
            <a:off x="5961425" y="1864000"/>
            <a:ext cx="1734300" cy="4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Yes.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 and 9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 and 3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938" name="Google Shape;938;p81"/>
          <p:cNvCxnSpPr/>
          <p:nvPr/>
        </p:nvCxnSpPr>
        <p:spPr>
          <a:xfrm flipH="1" rot="10800000">
            <a:off x="5713500" y="2935200"/>
            <a:ext cx="426600" cy="3237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9" name="Google Shape;939;p81"/>
          <p:cNvCxnSpPr/>
          <p:nvPr/>
        </p:nvCxnSpPr>
        <p:spPr>
          <a:xfrm rot="10800000">
            <a:off x="6893525" y="2940450"/>
            <a:ext cx="461100" cy="3132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0" name="Google Shape;940;p81"/>
          <p:cNvSpPr/>
          <p:nvPr/>
        </p:nvSpPr>
        <p:spPr>
          <a:xfrm>
            <a:off x="1659849" y="1931800"/>
            <a:ext cx="359700" cy="2658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1" name="Google Shape;941;p81"/>
          <p:cNvSpPr/>
          <p:nvPr/>
        </p:nvSpPr>
        <p:spPr>
          <a:xfrm>
            <a:off x="4049149" y="1305500"/>
            <a:ext cx="359700" cy="2658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82"/>
          <p:cNvSpPr txBox="1"/>
          <p:nvPr/>
        </p:nvSpPr>
        <p:spPr>
          <a:xfrm>
            <a:off x="4980475" y="807150"/>
            <a:ext cx="3738900" cy="16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Using the 10 by 10 multiplication table, find as many factor pairs of 24.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7" name="Google Shape;947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Multiplication tables to identify factors</a:t>
            </a:r>
            <a:endParaRPr/>
          </a:p>
        </p:txBody>
      </p:sp>
      <p:sp>
        <p:nvSpPr>
          <p:cNvPr id="948" name="Google Shape;948;p82"/>
          <p:cNvSpPr txBox="1"/>
          <p:nvPr/>
        </p:nvSpPr>
        <p:spPr>
          <a:xfrm>
            <a:off x="5046125" y="2550300"/>
            <a:ext cx="3264000" cy="10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Explain why you cannot see all the factors of 24 just using this table.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49" name="Google Shape;949;p82"/>
          <p:cNvGraphicFramePr/>
          <p:nvPr/>
        </p:nvGraphicFramePr>
        <p:xfrm>
          <a:off x="468768" y="9769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{FD5E7B5D-4D7C-4902-B0CB-C91AA0B25A47}</a:tableStyleId>
              </a:tblPr>
              <a:tblGrid>
                <a:gridCol w="390675"/>
                <a:gridCol w="390675"/>
                <a:gridCol w="390675"/>
                <a:gridCol w="390675"/>
                <a:gridCol w="390675"/>
                <a:gridCol w="390675"/>
                <a:gridCol w="390675"/>
                <a:gridCol w="390675"/>
                <a:gridCol w="429075"/>
                <a:gridCol w="411000"/>
                <a:gridCol w="400450"/>
              </a:tblGrid>
              <a:tr h="309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✖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09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09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09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09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09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09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09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09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09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09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54" name="Google Shape;954;p83"/>
          <p:cNvGraphicFramePr/>
          <p:nvPr/>
        </p:nvGraphicFramePr>
        <p:xfrm>
          <a:off x="468768" y="9769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{FD5E7B5D-4D7C-4902-B0CB-C91AA0B25A47}</a:tableStyleId>
              </a:tblPr>
              <a:tblGrid>
                <a:gridCol w="390675"/>
                <a:gridCol w="390675"/>
                <a:gridCol w="390675"/>
                <a:gridCol w="390675"/>
                <a:gridCol w="390675"/>
                <a:gridCol w="390675"/>
                <a:gridCol w="390675"/>
                <a:gridCol w="390675"/>
                <a:gridCol w="429075"/>
                <a:gridCol w="411000"/>
                <a:gridCol w="400450"/>
              </a:tblGrid>
              <a:tr h="309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✖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09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09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09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09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09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09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09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09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09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09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  <p:sp>
        <p:nvSpPr>
          <p:cNvPr id="955" name="Google Shape;955;p83"/>
          <p:cNvSpPr txBox="1"/>
          <p:nvPr/>
        </p:nvSpPr>
        <p:spPr>
          <a:xfrm>
            <a:off x="5046125" y="2550300"/>
            <a:ext cx="3264000" cy="10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Explain why you cannot see all the factors of 24 just using this table.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6" name="Google Shape;956;p83"/>
          <p:cNvSpPr txBox="1"/>
          <p:nvPr/>
        </p:nvSpPr>
        <p:spPr>
          <a:xfrm>
            <a:off x="4980475" y="807150"/>
            <a:ext cx="3738900" cy="16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Using the 10 by 10 multiplication table, find as many factor pairs of 24.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7" name="Google Shape;957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Multiplication tables to identify factors</a:t>
            </a:r>
            <a:endParaRPr/>
          </a:p>
        </p:txBody>
      </p:sp>
      <p:sp>
        <p:nvSpPr>
          <p:cNvPr id="958" name="Google Shape;958;p83"/>
          <p:cNvSpPr txBox="1"/>
          <p:nvPr/>
        </p:nvSpPr>
        <p:spPr>
          <a:xfrm>
            <a:off x="6087600" y="1801400"/>
            <a:ext cx="1371600" cy="7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8 and 3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 and 6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59" name="Google Shape;959;p83"/>
          <p:cNvSpPr/>
          <p:nvPr/>
        </p:nvSpPr>
        <p:spPr>
          <a:xfrm>
            <a:off x="3628800" y="1922400"/>
            <a:ext cx="363000" cy="2775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Google Shape;960;p83"/>
          <p:cNvSpPr/>
          <p:nvPr/>
        </p:nvSpPr>
        <p:spPr>
          <a:xfrm>
            <a:off x="2826000" y="2221200"/>
            <a:ext cx="363000" cy="2775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1" name="Google Shape;961;p83"/>
          <p:cNvSpPr/>
          <p:nvPr/>
        </p:nvSpPr>
        <p:spPr>
          <a:xfrm>
            <a:off x="2045722" y="2845887"/>
            <a:ext cx="363000" cy="2775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p83"/>
          <p:cNvSpPr/>
          <p:nvPr/>
        </p:nvSpPr>
        <p:spPr>
          <a:xfrm>
            <a:off x="1652400" y="3456000"/>
            <a:ext cx="363000" cy="2775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3" name="Google Shape;963;p83"/>
          <p:cNvSpPr txBox="1"/>
          <p:nvPr/>
        </p:nvSpPr>
        <p:spPr>
          <a:xfrm>
            <a:off x="5076775" y="3583650"/>
            <a:ext cx="3546300" cy="11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You would need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a 24 by 24 multiplication table t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o see all the factors of 24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8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Multiplication tables to identify factors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969" name="Google Shape;969;p84"/>
          <p:cNvGraphicFramePr/>
          <p:nvPr/>
        </p:nvGraphicFramePr>
        <p:xfrm>
          <a:off x="5208749" y="889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{FD5E7B5D-4D7C-4902-B0CB-C91AA0B25A47}</a:tableStyleId>
              </a:tblPr>
              <a:tblGrid>
                <a:gridCol w="370825"/>
                <a:gridCol w="370825"/>
                <a:gridCol w="370825"/>
                <a:gridCol w="370825"/>
                <a:gridCol w="370825"/>
                <a:gridCol w="370825"/>
                <a:gridCol w="370825"/>
                <a:gridCol w="370825"/>
                <a:gridCol w="407300"/>
              </a:tblGrid>
              <a:tr h="321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✖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21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21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21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21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21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21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21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21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  <p:sp>
        <p:nvSpPr>
          <p:cNvPr id="970" name="Google Shape;970;p84"/>
          <p:cNvSpPr txBox="1"/>
          <p:nvPr>
            <p:ph idx="4294967295" type="body"/>
          </p:nvPr>
        </p:nvSpPr>
        <p:spPr>
          <a:xfrm>
            <a:off x="263100" y="889500"/>
            <a:ext cx="4732200" cy="87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Using an 8 by 8 multiplication table, find: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all the factors of 8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all the factors of 5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all the factors of 4 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all the factors of 7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What is </a:t>
            </a:r>
            <a:r>
              <a:rPr lang="en-GB"/>
              <a:t>their common factor?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8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Multiplication tables to identify factors</a:t>
            </a:r>
            <a:endParaRPr/>
          </a:p>
        </p:txBody>
      </p:sp>
      <p:graphicFrame>
        <p:nvGraphicFramePr>
          <p:cNvPr id="976" name="Google Shape;976;p85"/>
          <p:cNvGraphicFramePr/>
          <p:nvPr/>
        </p:nvGraphicFramePr>
        <p:xfrm>
          <a:off x="323988" y="1934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{FD5E7B5D-4D7C-4902-B0CB-C91AA0B25A47}</a:tableStyleId>
              </a:tblPr>
              <a:tblGrid>
                <a:gridCol w="313325"/>
                <a:gridCol w="313325"/>
                <a:gridCol w="313325"/>
                <a:gridCol w="313325"/>
                <a:gridCol w="313325"/>
                <a:gridCol w="313325"/>
                <a:gridCol w="313325"/>
              </a:tblGrid>
              <a:tr h="291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✖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291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291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91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91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91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91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  <p:sp>
        <p:nvSpPr>
          <p:cNvPr id="977" name="Google Shape;977;p85"/>
          <p:cNvSpPr txBox="1"/>
          <p:nvPr>
            <p:ph idx="4294967295" type="body"/>
          </p:nvPr>
        </p:nvSpPr>
        <p:spPr>
          <a:xfrm>
            <a:off x="324000" y="676825"/>
            <a:ext cx="8496000" cy="79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2) Using</a:t>
            </a:r>
            <a:r>
              <a:rPr lang="en-GB" sz="1800"/>
              <a:t> a 6 by 6 multiplication table, answer true or false to each statement providing a justification for your answer.</a:t>
            </a:r>
            <a:endParaRPr sz="1800"/>
          </a:p>
        </p:txBody>
      </p:sp>
      <p:graphicFrame>
        <p:nvGraphicFramePr>
          <p:cNvPr id="978" name="Google Shape;978;p85"/>
          <p:cNvGraphicFramePr/>
          <p:nvPr/>
        </p:nvGraphicFramePr>
        <p:xfrm>
          <a:off x="2776150" y="1544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{FD5E7B5D-4D7C-4902-B0CB-C91AA0B25A47}</a:tableStyleId>
              </a:tblPr>
              <a:tblGrid>
                <a:gridCol w="3244050"/>
                <a:gridCol w="690525"/>
                <a:gridCol w="777325"/>
                <a:gridCol w="1284600"/>
              </a:tblGrid>
              <a:tr h="325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Statement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True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False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Justify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455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 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 only has three factors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b) 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All the factors of 6 are seen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5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c) 3 has an 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infinite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number of factors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9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d) There are five square numbers seen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8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Multiplication tables to identify factors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984" name="Google Shape;984;p86"/>
          <p:cNvSpPr txBox="1"/>
          <p:nvPr>
            <p:ph idx="4294967295" type="body"/>
          </p:nvPr>
        </p:nvSpPr>
        <p:spPr>
          <a:xfrm>
            <a:off x="324000" y="676825"/>
            <a:ext cx="8496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3</a:t>
            </a:r>
            <a:r>
              <a:rPr lang="en-GB" sz="1800"/>
              <a:t>) What number is remaining when you eliminate: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all multiples of 5?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all factors of 24?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all multiples of 3?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all multiples of 4?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all factors of 14?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graphicFrame>
        <p:nvGraphicFramePr>
          <p:cNvPr id="985" name="Google Shape;985;p86"/>
          <p:cNvGraphicFramePr/>
          <p:nvPr/>
        </p:nvGraphicFramePr>
        <p:xfrm>
          <a:off x="3590199" y="108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{FD5E7B5D-4D7C-4902-B0CB-C91AA0B25A47}</a:tableStyleId>
              </a:tblPr>
              <a:tblGrid>
                <a:gridCol w="407725"/>
                <a:gridCol w="407725"/>
                <a:gridCol w="407725"/>
                <a:gridCol w="407725"/>
                <a:gridCol w="407725"/>
                <a:gridCol w="407725"/>
                <a:gridCol w="407725"/>
                <a:gridCol w="407725"/>
                <a:gridCol w="447825"/>
                <a:gridCol w="428950"/>
                <a:gridCol w="417950"/>
              </a:tblGrid>
              <a:tr h="305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✖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05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05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05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05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05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05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05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05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05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05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8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Multiplication tables to identify factors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991" name="Google Shape;991;p87"/>
          <p:cNvGraphicFramePr/>
          <p:nvPr/>
        </p:nvGraphicFramePr>
        <p:xfrm>
          <a:off x="4949499" y="13204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{FD5E7B5D-4D7C-4902-B0CB-C91AA0B25A47}</a:tableStyleId>
              </a:tblPr>
              <a:tblGrid>
                <a:gridCol w="377000"/>
                <a:gridCol w="377000"/>
                <a:gridCol w="377000"/>
                <a:gridCol w="377000"/>
                <a:gridCol w="377000"/>
                <a:gridCol w="377000"/>
                <a:gridCol w="377000"/>
                <a:gridCol w="377000"/>
                <a:gridCol w="414075"/>
              </a:tblGrid>
              <a:tr h="306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✖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06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06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06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06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06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06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06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06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  <p:sp>
        <p:nvSpPr>
          <p:cNvPr id="992" name="Google Shape;992;p87"/>
          <p:cNvSpPr txBox="1"/>
          <p:nvPr>
            <p:ph idx="4294967295" type="body"/>
          </p:nvPr>
        </p:nvSpPr>
        <p:spPr>
          <a:xfrm>
            <a:off x="263100" y="889500"/>
            <a:ext cx="4842300" cy="87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1) </a:t>
            </a:r>
            <a:r>
              <a:rPr lang="en-GB" sz="1800"/>
              <a:t>Using an 8 by 8 multiplication table, find:</a:t>
            </a:r>
            <a:endParaRPr sz="18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all the factors of 8</a:t>
            </a:r>
            <a:endParaRPr sz="18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all the factors of 5</a:t>
            </a:r>
            <a:endParaRPr sz="18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00"/>
              <a:t>.</a:t>
            </a:r>
            <a:endParaRPr sz="1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all the factors of 4 </a:t>
            </a:r>
            <a:endParaRPr sz="18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all the factors of 7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What is their common factor?</a:t>
            </a:r>
            <a:endParaRPr sz="1800"/>
          </a:p>
        </p:txBody>
      </p:sp>
      <p:sp>
        <p:nvSpPr>
          <p:cNvPr id="993" name="Google Shape;993;p87"/>
          <p:cNvSpPr txBox="1"/>
          <p:nvPr/>
        </p:nvSpPr>
        <p:spPr>
          <a:xfrm>
            <a:off x="3163550" y="1372050"/>
            <a:ext cx="1522200" cy="4959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1,8,2 and 4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94" name="Google Shape;994;p87"/>
          <p:cNvSpPr txBox="1"/>
          <p:nvPr/>
        </p:nvSpPr>
        <p:spPr>
          <a:xfrm>
            <a:off x="3163550" y="2063400"/>
            <a:ext cx="1522200" cy="4959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1 and 5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95" name="Google Shape;995;p87"/>
          <p:cNvSpPr txBox="1"/>
          <p:nvPr/>
        </p:nvSpPr>
        <p:spPr>
          <a:xfrm>
            <a:off x="3163550" y="2754750"/>
            <a:ext cx="1522200" cy="4959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1, 2 and 4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96" name="Google Shape;996;p87"/>
          <p:cNvSpPr txBox="1"/>
          <p:nvPr/>
        </p:nvSpPr>
        <p:spPr>
          <a:xfrm>
            <a:off x="3163550" y="3446100"/>
            <a:ext cx="1522200" cy="4959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1 and 7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97" name="Google Shape;997;p87"/>
          <p:cNvSpPr txBox="1"/>
          <p:nvPr/>
        </p:nvSpPr>
        <p:spPr>
          <a:xfrm>
            <a:off x="4086925" y="4072050"/>
            <a:ext cx="293400" cy="4959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1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02" name="Google Shape;1002;p88"/>
          <p:cNvGraphicFramePr/>
          <p:nvPr/>
        </p:nvGraphicFramePr>
        <p:xfrm>
          <a:off x="2776150" y="1544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{FD5E7B5D-4D7C-4902-B0CB-C91AA0B25A47}</a:tableStyleId>
              </a:tblPr>
              <a:tblGrid>
                <a:gridCol w="3244050"/>
                <a:gridCol w="690525"/>
                <a:gridCol w="777325"/>
                <a:gridCol w="1284600"/>
              </a:tblGrid>
              <a:tr h="325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Statement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True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False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Justify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455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 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 only has three factors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b) All the factors of 6 are seen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5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c) 3 has an infinite number of factors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9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d) There are five square numbers seen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03" name="Google Shape;1003;p8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Multiplication tables to identify factors</a:t>
            </a:r>
            <a:endParaRPr/>
          </a:p>
        </p:txBody>
      </p:sp>
      <p:graphicFrame>
        <p:nvGraphicFramePr>
          <p:cNvPr id="1004" name="Google Shape;1004;p88"/>
          <p:cNvGraphicFramePr/>
          <p:nvPr/>
        </p:nvGraphicFramePr>
        <p:xfrm>
          <a:off x="323988" y="1934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{FD5E7B5D-4D7C-4902-B0CB-C91AA0B25A47}</a:tableStyleId>
              </a:tblPr>
              <a:tblGrid>
                <a:gridCol w="312875"/>
                <a:gridCol w="312875"/>
                <a:gridCol w="312875"/>
                <a:gridCol w="312875"/>
                <a:gridCol w="312875"/>
                <a:gridCol w="312875"/>
                <a:gridCol w="312875"/>
              </a:tblGrid>
              <a:tr h="274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✖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274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274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74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74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74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74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  <p:sp>
        <p:nvSpPr>
          <p:cNvPr id="1005" name="Google Shape;1005;p88"/>
          <p:cNvSpPr txBox="1"/>
          <p:nvPr>
            <p:ph idx="4294967295" type="body"/>
          </p:nvPr>
        </p:nvSpPr>
        <p:spPr>
          <a:xfrm>
            <a:off x="324000" y="676825"/>
            <a:ext cx="8496000" cy="79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2) </a:t>
            </a:r>
            <a:r>
              <a:rPr lang="en-GB" sz="1800"/>
              <a:t>Using a 6 by 6 multiplication table, answer true or false to each statement providing a justification for your answer.</a:t>
            </a:r>
            <a:endParaRPr sz="1800"/>
          </a:p>
        </p:txBody>
      </p:sp>
      <p:pic>
        <p:nvPicPr>
          <p:cNvPr id="1006" name="Google Shape;1006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04899" y="2026650"/>
            <a:ext cx="318614" cy="33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7" name="Google Shape;1007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6799" y="2479350"/>
            <a:ext cx="318614" cy="33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8" name="Google Shape;1008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92299" y="3093450"/>
            <a:ext cx="318614" cy="33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9" name="Google Shape;1009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92299" y="3856200"/>
            <a:ext cx="318614" cy="33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0" name="Google Shape;1010;p88"/>
          <p:cNvSpPr txBox="1"/>
          <p:nvPr/>
        </p:nvSpPr>
        <p:spPr>
          <a:xfrm>
            <a:off x="7493950" y="2007025"/>
            <a:ext cx="12744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1,2 and 4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1" name="Google Shape;1011;p88"/>
          <p:cNvSpPr txBox="1"/>
          <p:nvPr/>
        </p:nvSpPr>
        <p:spPr>
          <a:xfrm>
            <a:off x="7493950" y="2472550"/>
            <a:ext cx="12744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1,</a:t>
            </a:r>
            <a:r>
              <a:rPr lang="en-GB" sz="1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6,</a:t>
            </a:r>
            <a:r>
              <a:rPr lang="en-GB" sz="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and</a:t>
            </a:r>
            <a:r>
              <a:rPr lang="en-GB" sz="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2" name="Google Shape;1012;p88"/>
          <p:cNvSpPr txBox="1"/>
          <p:nvPr/>
        </p:nvSpPr>
        <p:spPr>
          <a:xfrm>
            <a:off x="7493950" y="2976200"/>
            <a:ext cx="1274400" cy="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 and 3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3" name="Google Shape;1013;p88"/>
          <p:cNvSpPr txBox="1"/>
          <p:nvPr/>
        </p:nvSpPr>
        <p:spPr>
          <a:xfrm>
            <a:off x="7463425" y="3708825"/>
            <a:ext cx="1305000" cy="7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1, 4, 9, 16, 25 and 36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8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Multiplication tables to identify factors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019" name="Google Shape;1019;p89"/>
          <p:cNvSpPr txBox="1"/>
          <p:nvPr>
            <p:ph idx="4294967295" type="body"/>
          </p:nvPr>
        </p:nvSpPr>
        <p:spPr>
          <a:xfrm>
            <a:off x="324000" y="676825"/>
            <a:ext cx="8496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3) What number is remaining when you eliminate: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all multiples of 5?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all factors of 24?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all multiples of 3?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all multiples of 4?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all factors of 14?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graphicFrame>
        <p:nvGraphicFramePr>
          <p:cNvPr id="1020" name="Google Shape;1020;p89"/>
          <p:cNvGraphicFramePr/>
          <p:nvPr/>
        </p:nvGraphicFramePr>
        <p:xfrm>
          <a:off x="3590199" y="108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{FD5E7B5D-4D7C-4902-B0CB-C91AA0B25A47}</a:tableStyleId>
              </a:tblPr>
              <a:tblGrid>
                <a:gridCol w="407725"/>
                <a:gridCol w="407725"/>
                <a:gridCol w="407725"/>
                <a:gridCol w="407725"/>
                <a:gridCol w="407725"/>
                <a:gridCol w="407725"/>
                <a:gridCol w="407725"/>
                <a:gridCol w="407725"/>
                <a:gridCol w="447825"/>
                <a:gridCol w="428950"/>
                <a:gridCol w="417950"/>
              </a:tblGrid>
              <a:tr h="305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✖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05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05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05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05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05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05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05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05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05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05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  <p:sp>
        <p:nvSpPr>
          <p:cNvPr id="1021" name="Google Shape;1021;p89"/>
          <p:cNvSpPr txBox="1"/>
          <p:nvPr/>
        </p:nvSpPr>
        <p:spPr>
          <a:xfrm>
            <a:off x="1137075" y="3510900"/>
            <a:ext cx="778500" cy="6798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>
                <a:latin typeface="Kalam"/>
                <a:ea typeface="Kalam"/>
                <a:cs typeface="Kalam"/>
                <a:sym typeface="Kalam"/>
              </a:rPr>
              <a:t>49</a:t>
            </a:r>
            <a:endParaRPr sz="27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022" name="Google Shape;1022;p89"/>
          <p:cNvGrpSpPr/>
          <p:nvPr/>
        </p:nvGrpSpPr>
        <p:grpSpPr>
          <a:xfrm>
            <a:off x="4067743" y="1415162"/>
            <a:ext cx="4044400" cy="2985159"/>
            <a:chOff x="4029699" y="1415162"/>
            <a:chExt cx="4044400" cy="2985159"/>
          </a:xfrm>
        </p:grpSpPr>
        <p:pic>
          <p:nvPicPr>
            <p:cNvPr id="1023" name="Google Shape;1023;p8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067799" y="4133000"/>
              <a:ext cx="252200" cy="2673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4" name="Google Shape;1024;p8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486899" y="4133000"/>
              <a:ext cx="252200" cy="2673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5" name="Google Shape;1025;p8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905999" y="4133000"/>
              <a:ext cx="252200" cy="2673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6" name="Google Shape;1026;p8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325099" y="4133000"/>
              <a:ext cx="252200" cy="2673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7" name="Google Shape;1027;p8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699749" y="4133000"/>
              <a:ext cx="252200" cy="2673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8" name="Google Shape;1028;p8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30699" y="4133000"/>
              <a:ext cx="252200" cy="2673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9" name="Google Shape;1029;p8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493499" y="4133000"/>
              <a:ext cx="252200" cy="2673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30" name="Google Shape;1030;p8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936299" y="4133000"/>
              <a:ext cx="252200" cy="2673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31" name="Google Shape;1031;p8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379099" y="4133000"/>
              <a:ext cx="252200" cy="2673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32" name="Google Shape;1032;p8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821899" y="4133000"/>
              <a:ext cx="252200" cy="2673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33" name="Google Shape;1033;p8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029699" y="2625487"/>
              <a:ext cx="252200" cy="2673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34" name="Google Shape;1034;p8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448799" y="2625487"/>
              <a:ext cx="252200" cy="2673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35" name="Google Shape;1035;p8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867899" y="2625487"/>
              <a:ext cx="252200" cy="2673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36" name="Google Shape;1036;p8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286999" y="2625487"/>
              <a:ext cx="252200" cy="2673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37" name="Google Shape;1037;p8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661649" y="2625487"/>
              <a:ext cx="252200" cy="2673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38" name="Google Shape;1038;p8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092599" y="2625487"/>
              <a:ext cx="252200" cy="2673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39" name="Google Shape;1039;p8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455399" y="2625487"/>
              <a:ext cx="252200" cy="2673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0" name="Google Shape;1040;p8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898199" y="2625487"/>
              <a:ext cx="252200" cy="2673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1" name="Google Shape;1041;p8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340999" y="2625487"/>
              <a:ext cx="252200" cy="2673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2" name="Google Shape;1042;p8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783799" y="2625487"/>
              <a:ext cx="252200" cy="2673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3" name="Google Shape;1043;p8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674349" y="1415175"/>
              <a:ext cx="252200" cy="2673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4" name="Google Shape;1044;p8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674349" y="1686087"/>
              <a:ext cx="252200" cy="2673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5" name="Google Shape;1045;p8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687062" y="2020325"/>
              <a:ext cx="252200" cy="2673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6" name="Google Shape;1046;p8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674349" y="2322900"/>
              <a:ext cx="252200" cy="2673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7" name="Google Shape;1047;p8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674349" y="2928050"/>
              <a:ext cx="252200" cy="2673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8" name="Google Shape;1048;p8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674349" y="3240000"/>
              <a:ext cx="252200" cy="2673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9" name="Google Shape;1049;p8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699749" y="3530525"/>
              <a:ext cx="252200" cy="2673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50" name="Google Shape;1050;p8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693399" y="3831762"/>
              <a:ext cx="252200" cy="2673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51" name="Google Shape;1051;p8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790149" y="1415162"/>
              <a:ext cx="252200" cy="2673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52" name="Google Shape;1052;p8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790149" y="1690612"/>
              <a:ext cx="252200" cy="2673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53" name="Google Shape;1053;p8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790149" y="2020325"/>
              <a:ext cx="252200" cy="2673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54" name="Google Shape;1054;p8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790149" y="2322912"/>
              <a:ext cx="252200" cy="2673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55" name="Google Shape;1055;p8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821899" y="2928062"/>
              <a:ext cx="252200" cy="2673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56" name="Google Shape;1056;p8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821899" y="3240012"/>
              <a:ext cx="252200" cy="2673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57" name="Google Shape;1057;p8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790149" y="3551962"/>
              <a:ext cx="252200" cy="2673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58" name="Google Shape;1058;p8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815549" y="3842487"/>
              <a:ext cx="252200" cy="26732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59" name="Google Shape;1059;p89"/>
          <p:cNvGrpSpPr/>
          <p:nvPr/>
        </p:nvGrpSpPr>
        <p:grpSpPr>
          <a:xfrm>
            <a:off x="4095705" y="1415162"/>
            <a:ext cx="3173200" cy="2399847"/>
            <a:chOff x="4095705" y="1415162"/>
            <a:chExt cx="3173200" cy="2399847"/>
          </a:xfrm>
        </p:grpSpPr>
        <p:grpSp>
          <p:nvGrpSpPr>
            <p:cNvPr id="1060" name="Google Shape;1060;p89"/>
            <p:cNvGrpSpPr/>
            <p:nvPr/>
          </p:nvGrpSpPr>
          <p:grpSpPr>
            <a:xfrm>
              <a:off x="4095705" y="1415162"/>
              <a:ext cx="3173200" cy="2399847"/>
              <a:chOff x="4042399" y="1415162"/>
              <a:chExt cx="3173200" cy="2399847"/>
            </a:xfrm>
          </p:grpSpPr>
          <p:pic>
            <p:nvPicPr>
              <p:cNvPr id="1061" name="Google Shape;1061;p8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055099" y="1415162"/>
                <a:ext cx="252200" cy="26732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62" name="Google Shape;1062;p8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493249" y="1415162"/>
                <a:ext cx="252200" cy="26732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63" name="Google Shape;1063;p8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871574" y="1415162"/>
                <a:ext cx="252200" cy="26732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64" name="Google Shape;1064;p8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5280649" y="1415162"/>
                <a:ext cx="252200" cy="26732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65" name="Google Shape;1065;p8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6130699" y="1415162"/>
                <a:ext cx="252200" cy="26732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66" name="Google Shape;1066;p8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6925299" y="1415162"/>
                <a:ext cx="252200" cy="26732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67" name="Google Shape;1067;p8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055099" y="1728587"/>
                <a:ext cx="252200" cy="26732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68" name="Google Shape;1068;p8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055099" y="2026350"/>
                <a:ext cx="252200" cy="26732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69" name="Google Shape;1069;p8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042399" y="2324137"/>
                <a:ext cx="252200" cy="26732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70" name="Google Shape;1070;p8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042399" y="2919687"/>
                <a:ext cx="252200" cy="26732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71" name="Google Shape;1071;p8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055099" y="3547687"/>
                <a:ext cx="252200" cy="26732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72" name="Google Shape;1072;p8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474199" y="1728587"/>
                <a:ext cx="252200" cy="26732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73" name="Google Shape;1073;p8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474199" y="2042000"/>
                <a:ext cx="252200" cy="26732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74" name="Google Shape;1074;p8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474199" y="2324137"/>
                <a:ext cx="252200" cy="26732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75" name="Google Shape;1075;p8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474199" y="2919687"/>
                <a:ext cx="252200" cy="26732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76" name="Google Shape;1076;p8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893299" y="1703312"/>
                <a:ext cx="252200" cy="26732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77" name="Google Shape;1077;p8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5302449" y="1682487"/>
                <a:ext cx="252200" cy="26732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78" name="Google Shape;1078;p8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6099799" y="1703312"/>
                <a:ext cx="252200" cy="26732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79" name="Google Shape;1079;p8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5302449" y="2026362"/>
                <a:ext cx="252200" cy="26732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80" name="Google Shape;1080;p8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6963399" y="2026362"/>
                <a:ext cx="252200" cy="26732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81" name="Google Shape;1081;p8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6099799" y="2324137"/>
                <a:ext cx="252200" cy="26732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82" name="Google Shape;1082;p8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5302449" y="2919687"/>
                <a:ext cx="252200" cy="26732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83" name="Google Shape;1083;p8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893299" y="3547687"/>
                <a:ext cx="252200" cy="26732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084" name="Google Shape;1084;p8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940137" y="2301200"/>
              <a:ext cx="252200" cy="26732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85" name="Google Shape;1085;p89"/>
          <p:cNvGrpSpPr/>
          <p:nvPr/>
        </p:nvGrpSpPr>
        <p:grpSpPr>
          <a:xfrm>
            <a:off x="4105787" y="1415149"/>
            <a:ext cx="3595850" cy="2700247"/>
            <a:chOff x="4105787" y="1415149"/>
            <a:chExt cx="3595850" cy="2700247"/>
          </a:xfrm>
        </p:grpSpPr>
        <p:pic>
          <p:nvPicPr>
            <p:cNvPr id="1086" name="Google Shape;1086;p8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932512" y="2026350"/>
              <a:ext cx="252200" cy="26732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087" name="Google Shape;1087;p89"/>
            <p:cNvGrpSpPr/>
            <p:nvPr/>
          </p:nvGrpSpPr>
          <p:grpSpPr>
            <a:xfrm>
              <a:off x="4105787" y="1415149"/>
              <a:ext cx="3595850" cy="2700247"/>
              <a:chOff x="4105787" y="1415149"/>
              <a:chExt cx="3595850" cy="2700247"/>
            </a:xfrm>
          </p:grpSpPr>
          <p:pic>
            <p:nvPicPr>
              <p:cNvPr id="1088" name="Google Shape;1088;p8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940137" y="2911800"/>
                <a:ext cx="252200" cy="26732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89" name="Google Shape;1089;p8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917243" y="3232368"/>
                <a:ext cx="252200" cy="26732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90" name="Google Shape;1090;p8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924875" y="3848068"/>
                <a:ext cx="252200" cy="26732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91" name="Google Shape;1091;p8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6168737" y="2018499"/>
                <a:ext cx="252200" cy="26732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92" name="Google Shape;1092;p8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6557712" y="2026336"/>
                <a:ext cx="252200" cy="26732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93" name="Google Shape;1093;p8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7404962" y="2018499"/>
                <a:ext cx="252200" cy="26732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94" name="Google Shape;1094;p8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6137537" y="2911799"/>
                <a:ext cx="252200" cy="26732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95" name="Google Shape;1095;p8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6557712" y="2911799"/>
                <a:ext cx="252200" cy="26732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96" name="Google Shape;1096;p8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7001437" y="2911799"/>
                <a:ext cx="252200" cy="26732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97" name="Google Shape;1097;p8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7449437" y="2911799"/>
                <a:ext cx="252200" cy="26732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98" name="Google Shape;1098;p8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6168737" y="3232374"/>
                <a:ext cx="252200" cy="26732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99" name="Google Shape;1099;p8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6168737" y="3510899"/>
                <a:ext cx="252200" cy="26732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00" name="Google Shape;1100;p8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6168737" y="3848074"/>
                <a:ext cx="252200" cy="26732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01" name="Google Shape;1101;p8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7404962" y="1415149"/>
                <a:ext cx="252200" cy="26732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02" name="Google Shape;1102;p8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7404962" y="1682474"/>
                <a:ext cx="252200" cy="26732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03" name="Google Shape;1103;p8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7411280" y="2297136"/>
                <a:ext cx="252200" cy="26732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04" name="Google Shape;1104;p8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7449437" y="3232374"/>
                <a:ext cx="252200" cy="26732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05" name="Google Shape;1105;p8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7434156" y="3537686"/>
                <a:ext cx="252200" cy="26732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06" name="Google Shape;1106;p8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7449437" y="3842974"/>
                <a:ext cx="252200" cy="26732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07" name="Google Shape;1107;p8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105787" y="3848074"/>
                <a:ext cx="252200" cy="26732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08" name="Google Shape;1108;p8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515324" y="3842974"/>
                <a:ext cx="252200" cy="26732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09" name="Google Shape;1109;p8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5342024" y="3848074"/>
                <a:ext cx="252200" cy="26732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10" name="Google Shape;1110;p8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6557712" y="3847799"/>
                <a:ext cx="252200" cy="26732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11" name="Google Shape;1111;p8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7003574" y="3842974"/>
                <a:ext cx="252200" cy="26732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112" name="Google Shape;1112;p89"/>
          <p:cNvGrpSpPr/>
          <p:nvPr/>
        </p:nvGrpSpPr>
        <p:grpSpPr>
          <a:xfrm>
            <a:off x="4083006" y="1415149"/>
            <a:ext cx="2701375" cy="2092172"/>
            <a:chOff x="4083006" y="1415149"/>
            <a:chExt cx="2701375" cy="2092172"/>
          </a:xfrm>
        </p:grpSpPr>
        <p:pic>
          <p:nvPicPr>
            <p:cNvPr id="1113" name="Google Shape;1113;p8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083006" y="3239999"/>
              <a:ext cx="252200" cy="2673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14" name="Google Shape;1114;p8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476931" y="3239999"/>
              <a:ext cx="252200" cy="2673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15" name="Google Shape;1115;p8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532181" y="1690599"/>
              <a:ext cx="252200" cy="2673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16" name="Google Shape;1116;p8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532181" y="1415149"/>
              <a:ext cx="252200" cy="26732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17" name="Google Shape;1117;p89"/>
          <p:cNvGrpSpPr/>
          <p:nvPr/>
        </p:nvGrpSpPr>
        <p:grpSpPr>
          <a:xfrm>
            <a:off x="4492068" y="1690417"/>
            <a:ext cx="2738688" cy="2099303"/>
            <a:chOff x="4476918" y="1690417"/>
            <a:chExt cx="2738688" cy="2099303"/>
          </a:xfrm>
        </p:grpSpPr>
        <p:grpSp>
          <p:nvGrpSpPr>
            <p:cNvPr id="1118" name="Google Shape;1118;p89"/>
            <p:cNvGrpSpPr/>
            <p:nvPr/>
          </p:nvGrpSpPr>
          <p:grpSpPr>
            <a:xfrm>
              <a:off x="4476918" y="2301199"/>
              <a:ext cx="2738675" cy="1488522"/>
              <a:chOff x="4476918" y="2301199"/>
              <a:chExt cx="2738675" cy="1488522"/>
            </a:xfrm>
          </p:grpSpPr>
          <p:pic>
            <p:nvPicPr>
              <p:cNvPr id="1119" name="Google Shape;1119;p8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5294143" y="2301199"/>
                <a:ext cx="252200" cy="26732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20" name="Google Shape;1120;p8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6514925" y="2308649"/>
                <a:ext cx="252200" cy="26732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21" name="Google Shape;1121;p8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6963393" y="2308649"/>
                <a:ext cx="252200" cy="26732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22" name="Google Shape;1122;p8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476918" y="3522399"/>
                <a:ext cx="252200" cy="26732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23" name="Google Shape;1123;p8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5294143" y="3522399"/>
                <a:ext cx="252200" cy="26732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24" name="Google Shape;1124;p8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6514918" y="3522399"/>
                <a:ext cx="252200" cy="26732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25" name="Google Shape;1125;p8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6963393" y="3522399"/>
                <a:ext cx="252200" cy="26732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26" name="Google Shape;1126;p8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5294143" y="3239999"/>
                <a:ext cx="252200" cy="26732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27" name="Google Shape;1127;p8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6963393" y="3239999"/>
                <a:ext cx="252200" cy="26732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128" name="Google Shape;1128;p8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963406" y="1690417"/>
              <a:ext cx="252200" cy="26732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90"/>
          <p:cNvSpPr txBox="1"/>
          <p:nvPr>
            <p:ph idx="1" type="body"/>
          </p:nvPr>
        </p:nvSpPr>
        <p:spPr>
          <a:xfrm>
            <a:off x="324000" y="1080000"/>
            <a:ext cx="8113800" cy="87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</a:t>
            </a:r>
            <a:r>
              <a:rPr lang="en-GB"/>
              <a:t>ultiplication tables can be used to identify multiples and factors of a number.</a:t>
            </a:r>
            <a:endParaRPr/>
          </a:p>
        </p:txBody>
      </p:sp>
      <p:sp>
        <p:nvSpPr>
          <p:cNvPr id="1134" name="Google Shape;1134;p90"/>
          <p:cNvSpPr txBox="1"/>
          <p:nvPr>
            <p:ph type="title"/>
          </p:nvPr>
        </p:nvSpPr>
        <p:spPr>
          <a:xfrm>
            <a:off x="1684800" y="157525"/>
            <a:ext cx="7247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understanding of factors, multiples, squares and cubes</a:t>
            </a:r>
            <a:endParaRPr/>
          </a:p>
        </p:txBody>
      </p:sp>
      <p:sp>
        <p:nvSpPr>
          <p:cNvPr id="1135" name="Google Shape;1135;p90"/>
          <p:cNvSpPr txBox="1"/>
          <p:nvPr>
            <p:ph idx="1" type="body"/>
          </p:nvPr>
        </p:nvSpPr>
        <p:spPr>
          <a:xfrm>
            <a:off x="324000" y="2210300"/>
            <a:ext cx="8113800" cy="8799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Multiplication tables</a:t>
            </a:r>
            <a:r>
              <a:rPr lang="en-GB"/>
              <a:t> can never find all the multiples of a number as there are an infinite number of multiples.</a:t>
            </a:r>
            <a:endParaRPr/>
          </a:p>
        </p:txBody>
      </p:sp>
      <p:sp>
        <p:nvSpPr>
          <p:cNvPr id="1136" name="Google Shape;1136;p90"/>
          <p:cNvSpPr txBox="1"/>
          <p:nvPr>
            <p:ph idx="1" type="body"/>
          </p:nvPr>
        </p:nvSpPr>
        <p:spPr>
          <a:xfrm>
            <a:off x="324000" y="3404100"/>
            <a:ext cx="8113800" cy="87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</a:t>
            </a:r>
            <a:r>
              <a:rPr lang="en-GB"/>
              <a:t>multiplication table must be large enough to find all the factors of a number.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0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p91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142" name="Google Shape;1142;p9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78787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