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2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2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3"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87103941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87103941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2871039412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2871039412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2871039412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2871039412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2871039412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2871039412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871039412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871039412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2871039412c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2871039412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289fbf68f9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289fbf68f9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289fbf68f9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289fbf68f9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87f7b63991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287f7b63991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289fbf68f9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289fbf68f9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289fbf68f9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289fbf68f9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2871039412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2871039412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2871039412c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2871039412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2871039412c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2871039412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2871039412c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2871039412c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287f7b63991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287f7b63991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289fbf68f9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289fbf68f9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289fbf68f9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289fbf68f9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287f7b63991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287f7b63991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289fbf68f9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289fbf68f9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289fbf68f9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289fbf68f9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2871039412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2871039412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2871039412c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1" name="Google Shape;1121;g2871039412c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2871039412c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2871039412c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2871039412c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2871039412c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287f7b63991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g287f7b63991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287f7b63991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2" name="Google Shape;1182;g287f7b63991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289fbf68f9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289fbf68f9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289fbf68f9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6" name="Google Shape;1196;g289fbf68f9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289fbf68f9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289fbf68f9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289fbf68f9b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289fbf68f9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289fbf68f9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289fbf68f9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289fbf68f9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g289fbf68f9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1" name="Google Shape;1241;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8.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0.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25.png"/><Relationship Id="rId6" Type="http://schemas.openxmlformats.org/officeDocument/2006/relationships/image" Target="../media/image12.png"/><Relationship Id="rId7" Type="http://schemas.openxmlformats.org/officeDocument/2006/relationships/image" Target="../media/image2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1.png"/><Relationship Id="rId4" Type="http://schemas.openxmlformats.org/officeDocument/2006/relationships/image" Target="../media/image58.png"/><Relationship Id="rId5" Type="http://schemas.openxmlformats.org/officeDocument/2006/relationships/image" Target="../media/image29.png"/><Relationship Id="rId6" Type="http://schemas.openxmlformats.org/officeDocument/2006/relationships/image" Target="../media/image33.png"/><Relationship Id="rId7" Type="http://schemas.openxmlformats.org/officeDocument/2006/relationships/image" Target="../media/image1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58.png"/><Relationship Id="rId4" Type="http://schemas.openxmlformats.org/officeDocument/2006/relationships/image" Target="../media/image14.png"/><Relationship Id="rId9" Type="http://schemas.openxmlformats.org/officeDocument/2006/relationships/image" Target="../media/image19.png"/><Relationship Id="rId5" Type="http://schemas.openxmlformats.org/officeDocument/2006/relationships/image" Target="../media/image21.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58.png"/><Relationship Id="rId4" Type="http://schemas.openxmlformats.org/officeDocument/2006/relationships/image" Target="../media/image26.png"/><Relationship Id="rId11" Type="http://schemas.openxmlformats.org/officeDocument/2006/relationships/image" Target="../media/image19.png"/><Relationship Id="rId10" Type="http://schemas.openxmlformats.org/officeDocument/2006/relationships/image" Target="../media/image37.png"/><Relationship Id="rId9" Type="http://schemas.openxmlformats.org/officeDocument/2006/relationships/image" Target="../media/image33.png"/><Relationship Id="rId5" Type="http://schemas.openxmlformats.org/officeDocument/2006/relationships/image" Target="../media/image14.png"/><Relationship Id="rId6" Type="http://schemas.openxmlformats.org/officeDocument/2006/relationships/image" Target="../media/image21.png"/><Relationship Id="rId7" Type="http://schemas.openxmlformats.org/officeDocument/2006/relationships/image" Target="../media/image28.png"/><Relationship Id="rId8" Type="http://schemas.openxmlformats.org/officeDocument/2006/relationships/image" Target="../media/image2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 Id="rId4" Type="http://schemas.openxmlformats.org/officeDocument/2006/relationships/image" Target="../media/image4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5.pn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4.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4000" y="2098125"/>
            <a:ext cx="68523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4000" y="3053050"/>
            <a:ext cx="68523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4600" y="1787025"/>
            <a:ext cx="6850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4000" y="2830775"/>
            <a:ext cx="6850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4000" y="3758277"/>
            <a:ext cx="6850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2150"/>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922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70276"/>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352"/>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0803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863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0191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0419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360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4424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0344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988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1.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4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8.xml"/><Relationship Id="rId3" Type="http://schemas.openxmlformats.org/officeDocument/2006/relationships/image" Target="../media/image49.png"/><Relationship Id="rId4" Type="http://schemas.openxmlformats.org/officeDocument/2006/relationships/image" Target="../media/image4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xml"/><Relationship Id="rId3" Type="http://schemas.openxmlformats.org/officeDocument/2006/relationships/image" Target="../media/image43.png"/><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8.xml"/><Relationship Id="rId3" Type="http://schemas.openxmlformats.org/officeDocument/2006/relationships/image" Target="../media/image48.png"/><Relationship Id="rId4" Type="http://schemas.openxmlformats.org/officeDocument/2006/relationships/image" Target="../media/image5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8.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HCF or LCM</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Properties of number: factors, multiples, squares and cubes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90850" y="725950"/>
            <a:ext cx="21549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the prime factorisation of two or more positive integers to efficiently find either the highest common factor or lowest common multiple, depending on the context of the question.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a:t>LCM is </a:t>
            </a:r>
            <a:r>
              <a:rPr b="0" lang="en-GB"/>
              <a:t>an abbreviation for lowest common multiple.</a:t>
            </a:r>
            <a:r>
              <a:rPr b="0" lang="en-GB"/>
              <a:t> </a:t>
            </a:r>
            <a:endParaRPr b="0"/>
          </a:p>
        </p:txBody>
      </p:sp>
      <p:sp>
        <p:nvSpPr>
          <p:cNvPr id="767" name="Google Shape;767;p67"/>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b="0" lang="en-GB"/>
              <a:t>HCF is an abbreviation for highest common factor.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68"/>
          <p:cNvSpPr txBox="1"/>
          <p:nvPr>
            <p:ph type="title"/>
          </p:nvPr>
        </p:nvSpPr>
        <p:spPr>
          <a:xfrm>
            <a:off x="1224600" y="1787025"/>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HCF in a context</a:t>
            </a:r>
            <a:endParaRPr/>
          </a:p>
        </p:txBody>
      </p:sp>
      <p:sp>
        <p:nvSpPr>
          <p:cNvPr id="773" name="Google Shape;773;p68"/>
          <p:cNvSpPr txBox="1"/>
          <p:nvPr>
            <p:ph idx="2" type="title"/>
          </p:nvPr>
        </p:nvSpPr>
        <p:spPr>
          <a:xfrm>
            <a:off x="1224000" y="2830775"/>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LCM in a context</a:t>
            </a:r>
            <a:endParaRPr/>
          </a:p>
        </p:txBody>
      </p:sp>
      <p:sp>
        <p:nvSpPr>
          <p:cNvPr id="774" name="Google Shape;774;p68"/>
          <p:cNvSpPr txBox="1"/>
          <p:nvPr>
            <p:ph idx="3" type="title"/>
          </p:nvPr>
        </p:nvSpPr>
        <p:spPr>
          <a:xfrm>
            <a:off x="1224000" y="3758277"/>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Whether to use HCF or LCM based on the context</a:t>
            </a:r>
            <a:endParaRPr/>
          </a:p>
        </p:txBody>
      </p:sp>
      <p:sp>
        <p:nvSpPr>
          <p:cNvPr id="775" name="Google Shape;775;p6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HCF or LCM</a:t>
            </a:r>
            <a:endParaRPr/>
          </a:p>
        </p:txBody>
      </p:sp>
      <p:pic>
        <p:nvPicPr>
          <p:cNvPr id="776" name="Google Shape;776;p68"/>
          <p:cNvPicPr preferRelativeResize="0"/>
          <p:nvPr/>
        </p:nvPicPr>
        <p:blipFill>
          <a:blip r:embed="rId3">
            <a:alphaModFix/>
          </a:blip>
          <a:stretch>
            <a:fillRect/>
          </a:stretch>
        </p:blipFill>
        <p:spPr>
          <a:xfrm>
            <a:off x="413225" y="17483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69"/>
          <p:cNvSpPr txBox="1"/>
          <p:nvPr/>
        </p:nvSpPr>
        <p:spPr>
          <a:xfrm>
            <a:off x="2180025" y="4055212"/>
            <a:ext cx="771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a:t>
            </a:r>
            <a:r>
              <a:rPr lang="en-GB" sz="2200">
                <a:latin typeface="Lexend"/>
                <a:ea typeface="Lexend"/>
                <a:cs typeface="Lexend"/>
                <a:sym typeface="Lexend"/>
              </a:rPr>
              <a:t> × 6</a:t>
            </a:r>
            <a:endParaRPr sz="2200">
              <a:latin typeface="Lexend"/>
              <a:ea typeface="Lexend"/>
              <a:cs typeface="Lexend"/>
              <a:sym typeface="Lexend"/>
            </a:endParaRPr>
          </a:p>
        </p:txBody>
      </p:sp>
      <p:sp>
        <p:nvSpPr>
          <p:cNvPr id="782" name="Google Shape;782;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HCF in a context</a:t>
            </a:r>
            <a:endParaRPr/>
          </a:p>
        </p:txBody>
      </p:sp>
      <p:sp>
        <p:nvSpPr>
          <p:cNvPr id="783" name="Google Shape;783;p69"/>
          <p:cNvSpPr txBox="1"/>
          <p:nvPr>
            <p:ph idx="1" type="body"/>
          </p:nvPr>
        </p:nvSpPr>
        <p:spPr>
          <a:xfrm>
            <a:off x="324000" y="567329"/>
            <a:ext cx="8237700" cy="181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Group A has 30 students </a:t>
            </a:r>
            <a:endParaRPr/>
          </a:p>
          <a:p>
            <a:pPr indent="0" lvl="0" marL="0" rtl="0" algn="l">
              <a:spcBef>
                <a:spcPts val="1000"/>
              </a:spcBef>
              <a:spcAft>
                <a:spcPts val="0"/>
              </a:spcAft>
              <a:buNone/>
            </a:pPr>
            <a:r>
              <a:rPr lang="en-GB"/>
              <a:t>Group B as 42 students</a:t>
            </a:r>
            <a:endParaRPr/>
          </a:p>
          <a:p>
            <a:pPr indent="0" lvl="0" marL="0" rtl="0" algn="l">
              <a:spcBef>
                <a:spcPts val="1000"/>
              </a:spcBef>
              <a:spcAft>
                <a:spcPts val="0"/>
              </a:spcAft>
              <a:buNone/>
            </a:pPr>
            <a:r>
              <a:rPr lang="en-GB"/>
              <a:t>They need to get into </a:t>
            </a:r>
            <a:r>
              <a:rPr lang="en-GB"/>
              <a:t>the</a:t>
            </a:r>
            <a:r>
              <a:rPr lang="en-GB"/>
              <a:t> largest teams they can but each group must have the same number in each team.</a:t>
            </a:r>
            <a:endParaRPr/>
          </a:p>
          <a:p>
            <a:pPr indent="0" lvl="0" marL="0" rtl="0" algn="l">
              <a:spcBef>
                <a:spcPts val="1000"/>
              </a:spcBef>
              <a:spcAft>
                <a:spcPts val="1000"/>
              </a:spcAft>
              <a:buNone/>
            </a:pPr>
            <a:r>
              <a:t/>
            </a:r>
            <a:endParaRPr/>
          </a:p>
        </p:txBody>
      </p:sp>
      <p:sp>
        <p:nvSpPr>
          <p:cNvPr id="784" name="Google Shape;784;p69"/>
          <p:cNvSpPr txBox="1"/>
          <p:nvPr/>
        </p:nvSpPr>
        <p:spPr>
          <a:xfrm>
            <a:off x="1684800" y="2368962"/>
            <a:ext cx="1813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Factors of 30</a:t>
            </a:r>
            <a:endParaRPr sz="2200">
              <a:latin typeface="Lexend"/>
              <a:ea typeface="Lexend"/>
              <a:cs typeface="Lexend"/>
              <a:sym typeface="Lexend"/>
            </a:endParaRPr>
          </a:p>
        </p:txBody>
      </p:sp>
      <p:sp>
        <p:nvSpPr>
          <p:cNvPr id="785" name="Google Shape;785;p69"/>
          <p:cNvSpPr txBox="1"/>
          <p:nvPr/>
        </p:nvSpPr>
        <p:spPr>
          <a:xfrm>
            <a:off x="5140425" y="2368962"/>
            <a:ext cx="1813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Factors of 42</a:t>
            </a:r>
            <a:endParaRPr sz="2200">
              <a:latin typeface="Lexend"/>
              <a:ea typeface="Lexend"/>
              <a:cs typeface="Lexend"/>
              <a:sym typeface="Lexend"/>
            </a:endParaRPr>
          </a:p>
        </p:txBody>
      </p:sp>
      <p:sp>
        <p:nvSpPr>
          <p:cNvPr id="786" name="Google Shape;786;p69"/>
          <p:cNvSpPr txBox="1"/>
          <p:nvPr/>
        </p:nvSpPr>
        <p:spPr>
          <a:xfrm>
            <a:off x="2180025" y="2707662"/>
            <a:ext cx="823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 × 30</a:t>
            </a:r>
            <a:endParaRPr sz="2200">
              <a:latin typeface="Lexend"/>
              <a:ea typeface="Lexend"/>
              <a:cs typeface="Lexend"/>
              <a:sym typeface="Lexend"/>
            </a:endParaRPr>
          </a:p>
        </p:txBody>
      </p:sp>
      <p:sp>
        <p:nvSpPr>
          <p:cNvPr id="787" name="Google Shape;787;p69"/>
          <p:cNvSpPr txBox="1"/>
          <p:nvPr/>
        </p:nvSpPr>
        <p:spPr>
          <a:xfrm>
            <a:off x="2180025" y="3176512"/>
            <a:ext cx="823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a:t>
            </a:r>
            <a:r>
              <a:rPr lang="en-GB" sz="2200">
                <a:latin typeface="Lexend"/>
                <a:ea typeface="Lexend"/>
                <a:cs typeface="Lexend"/>
                <a:sym typeface="Lexend"/>
              </a:rPr>
              <a:t> × 15</a:t>
            </a:r>
            <a:endParaRPr sz="2200">
              <a:latin typeface="Lexend"/>
              <a:ea typeface="Lexend"/>
              <a:cs typeface="Lexend"/>
              <a:sym typeface="Lexend"/>
            </a:endParaRPr>
          </a:p>
        </p:txBody>
      </p:sp>
      <p:sp>
        <p:nvSpPr>
          <p:cNvPr id="788" name="Google Shape;788;p69"/>
          <p:cNvSpPr txBox="1"/>
          <p:nvPr/>
        </p:nvSpPr>
        <p:spPr>
          <a:xfrm>
            <a:off x="2180025" y="3645362"/>
            <a:ext cx="771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a:t>
            </a:r>
            <a:r>
              <a:rPr lang="en-GB" sz="2200">
                <a:latin typeface="Lexend"/>
                <a:ea typeface="Lexend"/>
                <a:cs typeface="Lexend"/>
                <a:sym typeface="Lexend"/>
              </a:rPr>
              <a:t> × 10</a:t>
            </a:r>
            <a:endParaRPr sz="2200">
              <a:latin typeface="Lexend"/>
              <a:ea typeface="Lexend"/>
              <a:cs typeface="Lexend"/>
              <a:sym typeface="Lexend"/>
            </a:endParaRPr>
          </a:p>
        </p:txBody>
      </p:sp>
      <p:sp>
        <p:nvSpPr>
          <p:cNvPr id="789" name="Google Shape;789;p69"/>
          <p:cNvSpPr txBox="1"/>
          <p:nvPr/>
        </p:nvSpPr>
        <p:spPr>
          <a:xfrm>
            <a:off x="5715300" y="2707662"/>
            <a:ext cx="823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 × 42</a:t>
            </a:r>
            <a:endParaRPr sz="2200">
              <a:latin typeface="Lexend"/>
              <a:ea typeface="Lexend"/>
              <a:cs typeface="Lexend"/>
              <a:sym typeface="Lexend"/>
            </a:endParaRPr>
          </a:p>
        </p:txBody>
      </p:sp>
      <p:sp>
        <p:nvSpPr>
          <p:cNvPr id="790" name="Google Shape;790;p69"/>
          <p:cNvSpPr txBox="1"/>
          <p:nvPr/>
        </p:nvSpPr>
        <p:spPr>
          <a:xfrm>
            <a:off x="5715300" y="3176512"/>
            <a:ext cx="823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 × 21</a:t>
            </a:r>
            <a:endParaRPr sz="2200">
              <a:latin typeface="Lexend"/>
              <a:ea typeface="Lexend"/>
              <a:cs typeface="Lexend"/>
              <a:sym typeface="Lexend"/>
            </a:endParaRPr>
          </a:p>
        </p:txBody>
      </p:sp>
      <p:sp>
        <p:nvSpPr>
          <p:cNvPr id="791" name="Google Shape;791;p69"/>
          <p:cNvSpPr txBox="1"/>
          <p:nvPr/>
        </p:nvSpPr>
        <p:spPr>
          <a:xfrm>
            <a:off x="5715300" y="3645362"/>
            <a:ext cx="771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 × 14</a:t>
            </a:r>
            <a:endParaRPr sz="2200">
              <a:latin typeface="Lexend"/>
              <a:ea typeface="Lexend"/>
              <a:cs typeface="Lexend"/>
              <a:sym typeface="Lexend"/>
            </a:endParaRPr>
          </a:p>
        </p:txBody>
      </p:sp>
      <p:sp>
        <p:nvSpPr>
          <p:cNvPr id="792" name="Google Shape;792;p69"/>
          <p:cNvSpPr txBox="1"/>
          <p:nvPr/>
        </p:nvSpPr>
        <p:spPr>
          <a:xfrm>
            <a:off x="5715300" y="4055212"/>
            <a:ext cx="771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6</a:t>
            </a:r>
            <a:r>
              <a:rPr lang="en-GB" sz="2200">
                <a:latin typeface="Lexend"/>
                <a:ea typeface="Lexend"/>
                <a:cs typeface="Lexend"/>
                <a:sym typeface="Lexend"/>
              </a:rPr>
              <a:t> × 7</a:t>
            </a:r>
            <a:endParaRPr sz="2200">
              <a:latin typeface="Lexend"/>
              <a:ea typeface="Lexend"/>
              <a:cs typeface="Lexend"/>
              <a:sym typeface="Lexend"/>
            </a:endParaRPr>
          </a:p>
        </p:txBody>
      </p:sp>
      <p:sp>
        <p:nvSpPr>
          <p:cNvPr id="793" name="Google Shape;793;p69"/>
          <p:cNvSpPr/>
          <p:nvPr/>
        </p:nvSpPr>
        <p:spPr>
          <a:xfrm>
            <a:off x="2580939" y="4050308"/>
            <a:ext cx="279900" cy="3387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4" name="Google Shape;794;p69"/>
          <p:cNvSpPr txBox="1"/>
          <p:nvPr/>
        </p:nvSpPr>
        <p:spPr>
          <a:xfrm>
            <a:off x="433825" y="4466729"/>
            <a:ext cx="5781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The largest teams they can get into is 6.</a:t>
            </a:r>
            <a:endParaRPr sz="2200">
              <a:latin typeface="Lexend"/>
              <a:ea typeface="Lexend"/>
              <a:cs typeface="Lexend"/>
              <a:sym typeface="Lexend"/>
            </a:endParaRPr>
          </a:p>
        </p:txBody>
      </p:sp>
      <p:sp>
        <p:nvSpPr>
          <p:cNvPr id="795" name="Google Shape;795;p69"/>
          <p:cNvSpPr/>
          <p:nvPr/>
        </p:nvSpPr>
        <p:spPr>
          <a:xfrm>
            <a:off x="5647689" y="4055208"/>
            <a:ext cx="279900" cy="3387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HCF in a context</a:t>
            </a:r>
            <a:endParaRPr/>
          </a:p>
        </p:txBody>
      </p:sp>
      <p:sp>
        <p:nvSpPr>
          <p:cNvPr id="801" name="Google Shape;801;p70"/>
          <p:cNvSpPr txBox="1"/>
          <p:nvPr>
            <p:ph idx="1" type="body"/>
          </p:nvPr>
        </p:nvSpPr>
        <p:spPr>
          <a:xfrm>
            <a:off x="324000" y="759300"/>
            <a:ext cx="43356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Andeep has two lengths of ribbon.</a:t>
            </a:r>
            <a:endParaRPr sz="1800"/>
          </a:p>
          <a:p>
            <a:pPr indent="0" lvl="0" marL="0" rtl="0" algn="l">
              <a:spcBef>
                <a:spcPts val="1000"/>
              </a:spcBef>
              <a:spcAft>
                <a:spcPts val="1000"/>
              </a:spcAft>
              <a:buNone/>
            </a:pPr>
            <a:r>
              <a:t/>
            </a:r>
            <a:endParaRPr sz="1800"/>
          </a:p>
        </p:txBody>
      </p:sp>
      <p:sp>
        <p:nvSpPr>
          <p:cNvPr id="802" name="Google Shape;802;p70"/>
          <p:cNvSpPr/>
          <p:nvPr/>
        </p:nvSpPr>
        <p:spPr>
          <a:xfrm>
            <a:off x="4261350" y="810450"/>
            <a:ext cx="3798000" cy="218400"/>
          </a:xfrm>
          <a:prstGeom prst="rect">
            <a:avLst/>
          </a:prstGeom>
          <a:gradFill>
            <a:gsLst>
              <a:gs pos="0">
                <a:srgbClr val="AC90E5"/>
              </a:gs>
              <a:gs pos="100000">
                <a:srgbClr val="6336BD"/>
              </a:gs>
            </a:gsLst>
            <a:path path="circle">
              <a:fillToRect b="50%" l="50%" r="50%" t="50%"/>
            </a:path>
            <a:tileRect/>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70"/>
          <p:cNvSpPr/>
          <p:nvPr/>
        </p:nvSpPr>
        <p:spPr>
          <a:xfrm>
            <a:off x="5110027" y="1444075"/>
            <a:ext cx="2963100" cy="218400"/>
          </a:xfrm>
          <a:prstGeom prst="rect">
            <a:avLst/>
          </a:prstGeom>
          <a:gradFill>
            <a:gsLst>
              <a:gs pos="0">
                <a:srgbClr val="AC90E5"/>
              </a:gs>
              <a:gs pos="100000">
                <a:srgbClr val="6336BD"/>
              </a:gs>
            </a:gsLst>
            <a:path path="circle">
              <a:fillToRect b="50%" l="50%" r="50%" t="50%"/>
            </a:path>
            <a:tileRect/>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70"/>
          <p:cNvSpPr txBox="1"/>
          <p:nvPr/>
        </p:nvSpPr>
        <p:spPr>
          <a:xfrm>
            <a:off x="6092286" y="1777825"/>
            <a:ext cx="979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240 cm</a:t>
            </a:r>
            <a:endParaRPr sz="1800">
              <a:latin typeface="Lexend"/>
              <a:ea typeface="Lexend"/>
              <a:cs typeface="Lexend"/>
              <a:sym typeface="Lexend"/>
            </a:endParaRPr>
          </a:p>
        </p:txBody>
      </p:sp>
      <p:sp>
        <p:nvSpPr>
          <p:cNvPr id="805" name="Google Shape;805;p70"/>
          <p:cNvSpPr txBox="1"/>
          <p:nvPr/>
        </p:nvSpPr>
        <p:spPr>
          <a:xfrm>
            <a:off x="5808975" y="1110600"/>
            <a:ext cx="979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315</a:t>
            </a:r>
            <a:r>
              <a:rPr lang="en-GB" sz="1800">
                <a:latin typeface="Lexend"/>
                <a:ea typeface="Lexend"/>
                <a:cs typeface="Lexend"/>
                <a:sym typeface="Lexend"/>
              </a:rPr>
              <a:t> cm</a:t>
            </a:r>
            <a:endParaRPr sz="1800">
              <a:latin typeface="Lexend"/>
              <a:ea typeface="Lexend"/>
              <a:cs typeface="Lexend"/>
              <a:sym typeface="Lexend"/>
            </a:endParaRPr>
          </a:p>
        </p:txBody>
      </p:sp>
      <p:sp>
        <p:nvSpPr>
          <p:cNvPr id="806" name="Google Shape;806;p70"/>
          <p:cNvSpPr txBox="1"/>
          <p:nvPr/>
        </p:nvSpPr>
        <p:spPr>
          <a:xfrm>
            <a:off x="324000" y="2001275"/>
            <a:ext cx="849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He needs to cut them in to the longest equal strips he can with no waste.</a:t>
            </a:r>
            <a:endParaRPr sz="1800">
              <a:latin typeface="Lexend"/>
              <a:ea typeface="Lexend"/>
              <a:cs typeface="Lexend"/>
              <a:sym typeface="Lexend"/>
            </a:endParaRPr>
          </a:p>
        </p:txBody>
      </p:sp>
      <p:sp>
        <p:nvSpPr>
          <p:cNvPr id="807" name="Google Shape;807;p70"/>
          <p:cNvSpPr txBox="1"/>
          <p:nvPr/>
        </p:nvSpPr>
        <p:spPr>
          <a:xfrm>
            <a:off x="324000" y="2522700"/>
            <a:ext cx="6851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What is the longest length of ribbon he can make?</a:t>
            </a:r>
            <a:endParaRPr sz="1800">
              <a:latin typeface="Lexend"/>
              <a:ea typeface="Lexend"/>
              <a:cs typeface="Lexend"/>
              <a:sym typeface="Lexend"/>
            </a:endParaRPr>
          </a:p>
        </p:txBody>
      </p:sp>
      <p:sp>
        <p:nvSpPr>
          <p:cNvPr id="808" name="Google Shape;808;p70"/>
          <p:cNvSpPr txBox="1"/>
          <p:nvPr/>
        </p:nvSpPr>
        <p:spPr>
          <a:xfrm>
            <a:off x="324002" y="3866675"/>
            <a:ext cx="1992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240 = </a:t>
            </a:r>
            <a:r>
              <a:rPr lang="en-GB" sz="1800">
                <a:solidFill>
                  <a:schemeClr val="dk1"/>
                </a:solidFill>
                <a:latin typeface="Lexend"/>
                <a:ea typeface="Lexend"/>
                <a:cs typeface="Lexend"/>
                <a:sym typeface="Lexend"/>
              </a:rPr>
              <a:t>2</a:t>
            </a:r>
            <a:r>
              <a:rPr baseline="30000" lang="en-GB" sz="1800">
                <a:solidFill>
                  <a:schemeClr val="dk1"/>
                </a:solidFill>
                <a:latin typeface="Lexend"/>
                <a:ea typeface="Lexend"/>
                <a:cs typeface="Lexend"/>
                <a:sym typeface="Lexend"/>
              </a:rPr>
              <a:t>4</a:t>
            </a:r>
            <a:r>
              <a:rPr lang="en-GB" sz="1800">
                <a:solidFill>
                  <a:schemeClr val="dk1"/>
                </a:solidFill>
                <a:latin typeface="Lexend"/>
                <a:ea typeface="Lexend"/>
                <a:cs typeface="Lexend"/>
                <a:sym typeface="Lexend"/>
              </a:rPr>
              <a:t> × 3 × 5</a:t>
            </a:r>
            <a:endParaRPr sz="1800">
              <a:latin typeface="Lexend"/>
              <a:ea typeface="Lexend"/>
              <a:cs typeface="Lexend"/>
              <a:sym typeface="Lexend"/>
            </a:endParaRPr>
          </a:p>
        </p:txBody>
      </p:sp>
      <p:sp>
        <p:nvSpPr>
          <p:cNvPr id="809" name="Google Shape;809;p70"/>
          <p:cNvSpPr txBox="1"/>
          <p:nvPr/>
        </p:nvSpPr>
        <p:spPr>
          <a:xfrm>
            <a:off x="324000" y="3267575"/>
            <a:ext cx="187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315 = 3</a:t>
            </a:r>
            <a:r>
              <a:rPr baseline="30000" lang="en-GB" sz="1800">
                <a:latin typeface="Lexend"/>
                <a:ea typeface="Lexend"/>
                <a:cs typeface="Lexend"/>
                <a:sym typeface="Lexend"/>
              </a:rPr>
              <a:t>2</a:t>
            </a:r>
            <a:r>
              <a:rPr lang="en-GB" sz="1800">
                <a:latin typeface="Lexend"/>
                <a:ea typeface="Lexend"/>
                <a:cs typeface="Lexend"/>
                <a:sym typeface="Lexend"/>
              </a:rPr>
              <a:t> × 5 </a:t>
            </a:r>
            <a:r>
              <a:rPr lang="en-GB" sz="1800">
                <a:solidFill>
                  <a:schemeClr val="dk1"/>
                </a:solidFill>
                <a:latin typeface="Lexend"/>
                <a:ea typeface="Lexend"/>
                <a:cs typeface="Lexend"/>
                <a:sym typeface="Lexend"/>
              </a:rPr>
              <a:t>× 7</a:t>
            </a:r>
            <a:endParaRPr sz="1800">
              <a:latin typeface="Lexend"/>
              <a:ea typeface="Lexend"/>
              <a:cs typeface="Lexend"/>
              <a:sym typeface="Lexend"/>
            </a:endParaRPr>
          </a:p>
        </p:txBody>
      </p:sp>
      <p:grpSp>
        <p:nvGrpSpPr>
          <p:cNvPr id="810" name="Google Shape;810;p70"/>
          <p:cNvGrpSpPr/>
          <p:nvPr/>
        </p:nvGrpSpPr>
        <p:grpSpPr>
          <a:xfrm>
            <a:off x="4381113" y="3267580"/>
            <a:ext cx="2786578" cy="1148700"/>
            <a:chOff x="628800" y="1887021"/>
            <a:chExt cx="2786578" cy="1148700"/>
          </a:xfrm>
        </p:grpSpPr>
        <p:sp>
          <p:nvSpPr>
            <p:cNvPr id="811" name="Google Shape;811;p70"/>
            <p:cNvSpPr/>
            <p:nvPr/>
          </p:nvSpPr>
          <p:spPr>
            <a:xfrm>
              <a:off x="628800"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70"/>
            <p:cNvSpPr/>
            <p:nvPr/>
          </p:nvSpPr>
          <p:spPr>
            <a:xfrm>
              <a:off x="1561678"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3" name="Google Shape;813;p70"/>
          <p:cNvSpPr txBox="1"/>
          <p:nvPr/>
        </p:nvSpPr>
        <p:spPr>
          <a:xfrm>
            <a:off x="5562600" y="3570905"/>
            <a:ext cx="211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p:txBody>
      </p:sp>
      <p:sp>
        <p:nvSpPr>
          <p:cNvPr id="814" name="Google Shape;814;p70"/>
          <p:cNvSpPr txBox="1"/>
          <p:nvPr/>
        </p:nvSpPr>
        <p:spPr>
          <a:xfrm>
            <a:off x="5741475" y="3866680"/>
            <a:ext cx="211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p:txBody>
      </p:sp>
      <p:sp>
        <p:nvSpPr>
          <p:cNvPr id="815" name="Google Shape;815;p70"/>
          <p:cNvSpPr txBox="1"/>
          <p:nvPr/>
        </p:nvSpPr>
        <p:spPr>
          <a:xfrm>
            <a:off x="4612200" y="3570905"/>
            <a:ext cx="211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p:txBody>
      </p:sp>
      <p:sp>
        <p:nvSpPr>
          <p:cNvPr id="816" name="Google Shape;816;p70"/>
          <p:cNvSpPr txBox="1"/>
          <p:nvPr/>
        </p:nvSpPr>
        <p:spPr>
          <a:xfrm>
            <a:off x="5016150" y="3994730"/>
            <a:ext cx="211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p:txBody>
      </p:sp>
      <p:sp>
        <p:nvSpPr>
          <p:cNvPr id="817" name="Google Shape;817;p70"/>
          <p:cNvSpPr txBox="1"/>
          <p:nvPr/>
        </p:nvSpPr>
        <p:spPr>
          <a:xfrm>
            <a:off x="6386575" y="3544775"/>
            <a:ext cx="402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a:t>
            </a:r>
            <a:r>
              <a:rPr baseline="30000" lang="en-GB" sz="1800">
                <a:latin typeface="Lexend"/>
                <a:ea typeface="Lexend"/>
                <a:cs typeface="Lexend"/>
                <a:sym typeface="Lexend"/>
              </a:rPr>
              <a:t>4</a:t>
            </a:r>
            <a:endParaRPr baseline="30000" sz="1800">
              <a:latin typeface="Lexend"/>
              <a:ea typeface="Lexend"/>
              <a:cs typeface="Lexend"/>
              <a:sym typeface="Lexend"/>
            </a:endParaRPr>
          </a:p>
        </p:txBody>
      </p:sp>
      <p:sp>
        <p:nvSpPr>
          <p:cNvPr id="818" name="Google Shape;818;p70"/>
          <p:cNvSpPr txBox="1"/>
          <p:nvPr/>
        </p:nvSpPr>
        <p:spPr>
          <a:xfrm>
            <a:off x="324000" y="4543200"/>
            <a:ext cx="8221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longest length of ribbon is 15 cm.  The product of the intersection.</a:t>
            </a:r>
            <a:endParaRPr sz="1800">
              <a:latin typeface="Lexend"/>
              <a:ea typeface="Lexend"/>
              <a:cs typeface="Lexend"/>
              <a:sym typeface="Lexend"/>
            </a:endParaRPr>
          </a:p>
        </p:txBody>
      </p:sp>
      <p:pic>
        <p:nvPicPr>
          <p:cNvPr id="819" name="Google Shape;819;p70"/>
          <p:cNvPicPr preferRelativeResize="0"/>
          <p:nvPr/>
        </p:nvPicPr>
        <p:blipFill>
          <a:blip r:embed="rId3">
            <a:alphaModFix/>
          </a:blip>
          <a:stretch>
            <a:fillRect/>
          </a:stretch>
        </p:blipFill>
        <p:spPr>
          <a:xfrm>
            <a:off x="8146721" y="828336"/>
            <a:ext cx="673279" cy="868174"/>
          </a:xfrm>
          <a:prstGeom prst="rect">
            <a:avLst/>
          </a:prstGeom>
          <a:noFill/>
          <a:ln>
            <a:noFill/>
          </a:ln>
        </p:spPr>
      </p:pic>
      <p:sp>
        <p:nvSpPr>
          <p:cNvPr id="820" name="Google Shape;820;p70"/>
          <p:cNvSpPr/>
          <p:nvPr/>
        </p:nvSpPr>
        <p:spPr>
          <a:xfrm>
            <a:off x="926025" y="3211005"/>
            <a:ext cx="251400" cy="3600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1" name="Google Shape;821;p70"/>
          <p:cNvSpPr txBox="1"/>
          <p:nvPr/>
        </p:nvSpPr>
        <p:spPr>
          <a:xfrm>
            <a:off x="3387750" y="2988600"/>
            <a:ext cx="2256300" cy="262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Prime factors of </a:t>
            </a:r>
            <a:r>
              <a:rPr lang="en-GB" sz="1600">
                <a:latin typeface="Lexend"/>
                <a:ea typeface="Lexend"/>
                <a:cs typeface="Lexend"/>
                <a:sym typeface="Lexend"/>
              </a:rPr>
              <a:t>315</a:t>
            </a:r>
            <a:endParaRPr sz="1600">
              <a:solidFill>
                <a:srgbClr val="000000"/>
              </a:solidFill>
              <a:latin typeface="Lexend"/>
              <a:ea typeface="Lexend"/>
              <a:cs typeface="Lexend"/>
              <a:sym typeface="Lexend"/>
            </a:endParaRPr>
          </a:p>
        </p:txBody>
      </p:sp>
      <p:sp>
        <p:nvSpPr>
          <p:cNvPr id="822" name="Google Shape;822;p70"/>
          <p:cNvSpPr txBox="1"/>
          <p:nvPr/>
        </p:nvSpPr>
        <p:spPr>
          <a:xfrm>
            <a:off x="6120550" y="2988600"/>
            <a:ext cx="2344200" cy="262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Prime factors of 2</a:t>
            </a:r>
            <a:r>
              <a:rPr lang="en-GB" sz="1600">
                <a:latin typeface="Lexend"/>
                <a:ea typeface="Lexend"/>
                <a:cs typeface="Lexend"/>
                <a:sym typeface="Lexend"/>
              </a:rPr>
              <a:t>40</a:t>
            </a:r>
            <a:endParaRPr sz="1600">
              <a:solidFill>
                <a:srgbClr val="000000"/>
              </a:solidFill>
              <a:latin typeface="Lexend"/>
              <a:ea typeface="Lexend"/>
              <a:cs typeface="Lexend"/>
              <a:sym typeface="Lexend"/>
            </a:endParaRPr>
          </a:p>
        </p:txBody>
      </p:sp>
      <p:sp>
        <p:nvSpPr>
          <p:cNvPr id="823" name="Google Shape;823;p70"/>
          <p:cNvSpPr/>
          <p:nvPr/>
        </p:nvSpPr>
        <p:spPr>
          <a:xfrm>
            <a:off x="1405879" y="3825280"/>
            <a:ext cx="172200" cy="3600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4" name="Google Shape;824;p70"/>
          <p:cNvSpPr/>
          <p:nvPr/>
        </p:nvSpPr>
        <p:spPr>
          <a:xfrm>
            <a:off x="1359679" y="3226180"/>
            <a:ext cx="172200" cy="3600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5" name="Google Shape;825;p70"/>
          <p:cNvSpPr/>
          <p:nvPr/>
        </p:nvSpPr>
        <p:spPr>
          <a:xfrm>
            <a:off x="1770243" y="3825280"/>
            <a:ext cx="172200" cy="3600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6" name="Google Shape;826;p70"/>
          <p:cNvSpPr/>
          <p:nvPr/>
        </p:nvSpPr>
        <p:spPr>
          <a:xfrm>
            <a:off x="1727358" y="3226180"/>
            <a:ext cx="172200" cy="3600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7" name="Google Shape;827;p70"/>
          <p:cNvSpPr/>
          <p:nvPr/>
        </p:nvSpPr>
        <p:spPr>
          <a:xfrm>
            <a:off x="962300" y="3836330"/>
            <a:ext cx="251400" cy="3600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8" name="Google Shape;828;p70"/>
          <p:cNvSpPr/>
          <p:nvPr/>
        </p:nvSpPr>
        <p:spPr>
          <a:xfrm>
            <a:off x="317000" y="2009750"/>
            <a:ext cx="8221200" cy="320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9" name="Google Shape;829;p70"/>
          <p:cNvSpPr/>
          <p:nvPr/>
        </p:nvSpPr>
        <p:spPr>
          <a:xfrm>
            <a:off x="4539975" y="4521450"/>
            <a:ext cx="3517800" cy="320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30" name="Google Shape;830;p70"/>
          <p:cNvCxnSpPr/>
          <p:nvPr/>
        </p:nvCxnSpPr>
        <p:spPr>
          <a:xfrm>
            <a:off x="4262686" y="1096800"/>
            <a:ext cx="3801000" cy="0"/>
          </a:xfrm>
          <a:prstGeom prst="straightConnector1">
            <a:avLst/>
          </a:prstGeom>
          <a:noFill/>
          <a:ln cap="flat" cmpd="sng" w="9525">
            <a:solidFill>
              <a:schemeClr val="dk1"/>
            </a:solidFill>
            <a:prstDash val="solid"/>
            <a:round/>
            <a:headEnd len="med" w="med" type="triangle"/>
            <a:tailEnd len="med" w="med" type="triangle"/>
          </a:ln>
        </p:spPr>
      </p:cxnSp>
      <p:cxnSp>
        <p:nvCxnSpPr>
          <p:cNvPr id="831" name="Google Shape;831;p70"/>
          <p:cNvCxnSpPr/>
          <p:nvPr/>
        </p:nvCxnSpPr>
        <p:spPr>
          <a:xfrm>
            <a:off x="5110027" y="1735750"/>
            <a:ext cx="2968200" cy="0"/>
          </a:xfrm>
          <a:prstGeom prst="straightConnector1">
            <a:avLst/>
          </a:prstGeom>
          <a:noFill/>
          <a:ln cap="flat" cmpd="sng" w="9525">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2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HCF in a context</a:t>
            </a:r>
            <a:endParaRPr/>
          </a:p>
        </p:txBody>
      </p:sp>
      <p:sp>
        <p:nvSpPr>
          <p:cNvPr id="837" name="Google Shape;837;p71"/>
          <p:cNvSpPr txBox="1"/>
          <p:nvPr>
            <p:ph idx="1" type="body"/>
          </p:nvPr>
        </p:nvSpPr>
        <p:spPr>
          <a:xfrm>
            <a:off x="324000" y="759300"/>
            <a:ext cx="8496000" cy="78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Sofia is working out the HCF of 35 &amp; 45.</a:t>
            </a:r>
            <a:endParaRPr/>
          </a:p>
          <a:p>
            <a:pPr indent="0" lvl="0" marL="0" rtl="0" algn="l">
              <a:spcBef>
                <a:spcPts val="1000"/>
              </a:spcBef>
              <a:spcAft>
                <a:spcPts val="0"/>
              </a:spcAft>
              <a:buNone/>
            </a:pPr>
            <a:r>
              <a:rPr lang="en-GB">
                <a:solidFill>
                  <a:schemeClr val="accent4"/>
                </a:solidFill>
              </a:rPr>
              <a:t>Without</a:t>
            </a:r>
            <a:r>
              <a:rPr lang="en-GB"/>
              <a:t> doing any calculations decide how you know Sofia must be </a:t>
            </a:r>
            <a:r>
              <a:rPr lang="en-GB">
                <a:solidFill>
                  <a:schemeClr val="accent4"/>
                </a:solidFill>
              </a:rPr>
              <a:t>wrong</a:t>
            </a:r>
            <a:r>
              <a:rPr lang="en-GB"/>
              <a:t>.</a:t>
            </a:r>
            <a:endParaRPr/>
          </a:p>
          <a:p>
            <a:pPr indent="0" lvl="0" marL="0" rtl="0" algn="l">
              <a:spcBef>
                <a:spcPts val="1000"/>
              </a:spcBef>
              <a:spcAft>
                <a:spcPts val="1000"/>
              </a:spcAft>
              <a:buNone/>
            </a:pPr>
            <a:r>
              <a:t/>
            </a:r>
            <a:endParaRPr/>
          </a:p>
        </p:txBody>
      </p:sp>
      <p:pic>
        <p:nvPicPr>
          <p:cNvPr id="838" name="Google Shape;838;p71"/>
          <p:cNvPicPr preferRelativeResize="0"/>
          <p:nvPr/>
        </p:nvPicPr>
        <p:blipFill>
          <a:blip r:embed="rId3">
            <a:alphaModFix/>
          </a:blip>
          <a:stretch>
            <a:fillRect/>
          </a:stretch>
        </p:blipFill>
        <p:spPr>
          <a:xfrm>
            <a:off x="324000" y="3108600"/>
            <a:ext cx="1505175" cy="1677275"/>
          </a:xfrm>
          <a:prstGeom prst="rect">
            <a:avLst/>
          </a:prstGeom>
          <a:noFill/>
          <a:ln>
            <a:noFill/>
          </a:ln>
        </p:spPr>
      </p:pic>
      <p:grpSp>
        <p:nvGrpSpPr>
          <p:cNvPr id="839" name="Google Shape;839;p71"/>
          <p:cNvGrpSpPr/>
          <p:nvPr/>
        </p:nvGrpSpPr>
        <p:grpSpPr>
          <a:xfrm>
            <a:off x="1963599" y="2128900"/>
            <a:ext cx="2920297" cy="1824949"/>
            <a:chOff x="2208524" y="2360575"/>
            <a:chExt cx="2920297" cy="1824949"/>
          </a:xfrm>
        </p:grpSpPr>
        <p:pic>
          <p:nvPicPr>
            <p:cNvPr id="840" name="Google Shape;840;p71"/>
            <p:cNvPicPr preferRelativeResize="0"/>
            <p:nvPr/>
          </p:nvPicPr>
          <p:blipFill rotWithShape="1">
            <a:blip r:embed="rId4">
              <a:alphaModFix/>
            </a:blip>
            <a:srcRect b="43690" l="0" r="57905" t="0"/>
            <a:stretch/>
          </p:blipFill>
          <p:spPr>
            <a:xfrm flipH="1">
              <a:off x="2208524" y="2360575"/>
              <a:ext cx="2761201" cy="1824949"/>
            </a:xfrm>
            <a:prstGeom prst="rect">
              <a:avLst/>
            </a:prstGeom>
            <a:noFill/>
            <a:ln>
              <a:noFill/>
            </a:ln>
          </p:spPr>
        </p:pic>
        <p:sp>
          <p:nvSpPr>
            <p:cNvPr id="841" name="Google Shape;841;p71"/>
            <p:cNvSpPr txBox="1"/>
            <p:nvPr/>
          </p:nvSpPr>
          <p:spPr>
            <a:xfrm>
              <a:off x="2367621" y="2363945"/>
              <a:ext cx="27612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latin typeface="Lexend"/>
                  <a:ea typeface="Lexend"/>
                  <a:cs typeface="Lexend"/>
                  <a:sym typeface="Lexend"/>
                </a:rPr>
                <a:t>I’ve drawn a Venn diagram and the HCF of 35 &amp; 45 is 315.</a:t>
              </a:r>
              <a:endParaRPr sz="2200">
                <a:latin typeface="Lexend"/>
                <a:ea typeface="Lexend"/>
                <a:cs typeface="Lexend"/>
                <a:sym typeface="Lexend"/>
              </a:endParaRPr>
            </a:p>
          </p:txBody>
        </p:sp>
      </p:grpSp>
      <p:sp>
        <p:nvSpPr>
          <p:cNvPr id="842" name="Google Shape;842;p71"/>
          <p:cNvSpPr txBox="1"/>
          <p:nvPr/>
        </p:nvSpPr>
        <p:spPr>
          <a:xfrm>
            <a:off x="5177700" y="2038350"/>
            <a:ext cx="36423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latin typeface="Kalam"/>
                <a:ea typeface="Kalam"/>
                <a:cs typeface="Kalam"/>
                <a:sym typeface="Kalam"/>
              </a:rPr>
              <a:t>A factor of a number cannot be greater than the number itself.</a:t>
            </a:r>
            <a:endParaRPr sz="2200">
              <a:latin typeface="Kalam"/>
              <a:ea typeface="Kalam"/>
              <a:cs typeface="Kalam"/>
              <a:sym typeface="Kalam"/>
            </a:endParaRPr>
          </a:p>
          <a:p>
            <a:pPr indent="0" lvl="0" marL="0" rtl="0" algn="l">
              <a:spcBef>
                <a:spcPts val="0"/>
              </a:spcBef>
              <a:spcAft>
                <a:spcPts val="0"/>
              </a:spcAft>
              <a:buNone/>
            </a:pPr>
            <a:r>
              <a:rPr lang="en-GB" sz="2200">
                <a:latin typeface="Kalam"/>
                <a:ea typeface="Kalam"/>
                <a:cs typeface="Kalam"/>
                <a:sym typeface="Kalam"/>
              </a:rPr>
              <a:t>So the HCF cannot be greater than 35 in this case.</a:t>
            </a:r>
            <a:endParaRPr sz="22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72"/>
          <p:cNvSpPr txBox="1"/>
          <p:nvPr>
            <p:ph idx="1" type="body"/>
          </p:nvPr>
        </p:nvSpPr>
        <p:spPr>
          <a:xfrm>
            <a:off x="324000" y="759300"/>
            <a:ext cx="8237700" cy="114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a:t>
            </a:r>
            <a:r>
              <a:rPr lang="en-GB"/>
              <a:t>Aisha’s little brother is sorting his 30 cars and 50 bricks into equal rows.  What is the maximum number in each row if there are no rows with both cars and bricks?</a:t>
            </a:r>
            <a:endParaRPr/>
          </a:p>
        </p:txBody>
      </p:sp>
      <p:sp>
        <p:nvSpPr>
          <p:cNvPr id="848" name="Google Shape;848;p7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HCF in a context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73"/>
          <p:cNvSpPr txBox="1"/>
          <p:nvPr>
            <p:ph idx="1" type="body"/>
          </p:nvPr>
        </p:nvSpPr>
        <p:spPr>
          <a:xfrm>
            <a:off x="324000" y="759300"/>
            <a:ext cx="8237700" cy="1248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a:t>
            </a:r>
            <a:r>
              <a:rPr lang="en-GB"/>
              <a:t>Jacob has 24 white, 42 red and 48 yellow flowers. What is the greatest number of identical bunches he can make that uses all of the flowers?</a:t>
            </a:r>
            <a:endParaRPr/>
          </a:p>
        </p:txBody>
      </p:sp>
      <p:sp>
        <p:nvSpPr>
          <p:cNvPr id="854" name="Google Shape;854;p7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HCF in a context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74"/>
          <p:cNvSpPr txBox="1"/>
          <p:nvPr>
            <p:ph idx="1" type="body"/>
          </p:nvPr>
        </p:nvSpPr>
        <p:spPr>
          <a:xfrm>
            <a:off x="324000" y="759300"/>
            <a:ext cx="8237700" cy="121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 </a:t>
            </a:r>
            <a:r>
              <a:rPr lang="en-GB"/>
              <a:t>Lucas is making a model.  He needs to cut his wire into the longest equal lengths possible.  One piece is 420 cm and the other is 120 cm.  How long can he make each piece?</a:t>
            </a:r>
            <a:endParaRPr/>
          </a:p>
        </p:txBody>
      </p:sp>
      <p:sp>
        <p:nvSpPr>
          <p:cNvPr id="860" name="Google Shape;860;p7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HCF in a context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75"/>
          <p:cNvSpPr txBox="1"/>
          <p:nvPr>
            <p:ph idx="1" type="body"/>
          </p:nvPr>
        </p:nvSpPr>
        <p:spPr>
          <a:xfrm>
            <a:off x="324000" y="1961625"/>
            <a:ext cx="8313900" cy="149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latin typeface="Kalam"/>
                <a:ea typeface="Kalam"/>
                <a:cs typeface="Kalam"/>
                <a:sym typeface="Kalam"/>
              </a:rPr>
              <a:t>30 = 2 × 3 × 5</a:t>
            </a:r>
            <a:endParaRPr sz="2100">
              <a:latin typeface="Kalam"/>
              <a:ea typeface="Kalam"/>
              <a:cs typeface="Kalam"/>
              <a:sym typeface="Kalam"/>
            </a:endParaRPr>
          </a:p>
          <a:p>
            <a:pPr indent="0" lvl="0" marL="0" rtl="0" algn="l">
              <a:spcBef>
                <a:spcPts val="1000"/>
              </a:spcBef>
              <a:spcAft>
                <a:spcPts val="0"/>
              </a:spcAft>
              <a:buNone/>
            </a:pPr>
            <a:r>
              <a:rPr lang="en-GB" sz="2100">
                <a:latin typeface="Kalam"/>
                <a:ea typeface="Kalam"/>
                <a:cs typeface="Kalam"/>
                <a:sym typeface="Kalam"/>
              </a:rPr>
              <a:t>50 = 2 </a:t>
            </a:r>
            <a:r>
              <a:rPr lang="en-GB" sz="2100">
                <a:latin typeface="Kalam"/>
                <a:ea typeface="Kalam"/>
                <a:cs typeface="Kalam"/>
                <a:sym typeface="Kalam"/>
              </a:rPr>
              <a:t>× 5</a:t>
            </a:r>
            <a:r>
              <a:rPr baseline="30000" lang="en-GB" sz="2100">
                <a:latin typeface="Kalam"/>
                <a:ea typeface="Kalam"/>
                <a:cs typeface="Kalam"/>
                <a:sym typeface="Kalam"/>
              </a:rPr>
              <a:t>2</a:t>
            </a:r>
            <a:endParaRPr sz="2100">
              <a:latin typeface="Kalam"/>
              <a:ea typeface="Kalam"/>
              <a:cs typeface="Kalam"/>
              <a:sym typeface="Kalam"/>
            </a:endParaRPr>
          </a:p>
          <a:p>
            <a:pPr indent="0" lvl="0" marL="0" rtl="0" algn="l">
              <a:spcBef>
                <a:spcPts val="1000"/>
              </a:spcBef>
              <a:spcAft>
                <a:spcPts val="0"/>
              </a:spcAft>
              <a:buNone/>
            </a:pPr>
            <a:r>
              <a:rPr lang="en-GB" sz="2100">
                <a:latin typeface="Kalam"/>
                <a:ea typeface="Kalam"/>
                <a:cs typeface="Kalam"/>
                <a:sym typeface="Kalam"/>
              </a:rPr>
              <a:t>HCF = 2 × 5 = 10</a:t>
            </a:r>
            <a:endParaRPr sz="2100">
              <a:latin typeface="Kalam"/>
              <a:ea typeface="Kalam"/>
              <a:cs typeface="Kalam"/>
              <a:sym typeface="Kalam"/>
            </a:endParaRPr>
          </a:p>
          <a:p>
            <a:pPr indent="0" lvl="0" marL="0" rtl="0" algn="l">
              <a:spcBef>
                <a:spcPts val="1000"/>
              </a:spcBef>
              <a:spcAft>
                <a:spcPts val="1000"/>
              </a:spcAft>
              <a:buNone/>
            </a:pPr>
            <a:r>
              <a:t/>
            </a:r>
            <a:endParaRPr sz="2100">
              <a:latin typeface="Kalam"/>
              <a:ea typeface="Kalam"/>
              <a:cs typeface="Kalam"/>
              <a:sym typeface="Kalam"/>
            </a:endParaRPr>
          </a:p>
        </p:txBody>
      </p:sp>
      <p:sp>
        <p:nvSpPr>
          <p:cNvPr id="866" name="Google Shape;866;p7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HCF in a context</a:t>
            </a:r>
            <a:endParaRPr/>
          </a:p>
        </p:txBody>
      </p:sp>
      <p:sp>
        <p:nvSpPr>
          <p:cNvPr id="867" name="Google Shape;867;p75"/>
          <p:cNvSpPr txBox="1"/>
          <p:nvPr>
            <p:ph idx="1" type="body"/>
          </p:nvPr>
        </p:nvSpPr>
        <p:spPr>
          <a:xfrm>
            <a:off x="324000" y="759300"/>
            <a:ext cx="8237700" cy="114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Aisha’s little brother is sorting his 30 cars and 50 bricks into equal rows.  What is the maximum number in each row if there are no rows with both cars and bricks?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76"/>
          <p:cNvSpPr txBox="1"/>
          <p:nvPr>
            <p:ph idx="1" type="body"/>
          </p:nvPr>
        </p:nvSpPr>
        <p:spPr>
          <a:xfrm>
            <a:off x="415050" y="1896150"/>
            <a:ext cx="8313900" cy="2687700"/>
          </a:xfrm>
          <a:prstGeom prst="rect">
            <a:avLst/>
          </a:prstGeom>
        </p:spPr>
        <p:txBody>
          <a:bodyPr anchorCtr="0" anchor="t" bIns="0" lIns="0" spcFirstLastPara="1" rIns="0" wrap="square" tIns="0">
            <a:noAutofit/>
          </a:bodyPr>
          <a:lstStyle/>
          <a:p>
            <a:pPr indent="0" lvl="0" marL="457200" rtl="0" algn="l">
              <a:spcBef>
                <a:spcPts val="0"/>
              </a:spcBef>
              <a:spcAft>
                <a:spcPts val="0"/>
              </a:spcAft>
              <a:buNone/>
            </a:pPr>
            <a:r>
              <a:t/>
            </a:r>
            <a:endParaRPr sz="2100">
              <a:latin typeface="Kalam"/>
              <a:ea typeface="Kalam"/>
              <a:cs typeface="Kalam"/>
              <a:sym typeface="Kalam"/>
            </a:endParaRPr>
          </a:p>
          <a:p>
            <a:pPr indent="0" lvl="0" marL="0" rtl="0" algn="l">
              <a:spcBef>
                <a:spcPts val="1000"/>
              </a:spcBef>
              <a:spcAft>
                <a:spcPts val="0"/>
              </a:spcAft>
              <a:buNone/>
            </a:pPr>
            <a:r>
              <a:rPr lang="en-GB" sz="2100">
                <a:latin typeface="Kalam"/>
                <a:ea typeface="Kalam"/>
                <a:cs typeface="Kalam"/>
                <a:sym typeface="Kalam"/>
              </a:rPr>
              <a:t>24 = 2</a:t>
            </a:r>
            <a:r>
              <a:rPr baseline="30000" lang="en-GB" sz="2100">
                <a:latin typeface="Kalam"/>
                <a:ea typeface="Kalam"/>
                <a:cs typeface="Kalam"/>
                <a:sym typeface="Kalam"/>
              </a:rPr>
              <a:t>3</a:t>
            </a:r>
            <a:r>
              <a:rPr lang="en-GB" sz="2100">
                <a:latin typeface="Kalam"/>
                <a:ea typeface="Kalam"/>
                <a:cs typeface="Kalam"/>
                <a:sym typeface="Kalam"/>
              </a:rPr>
              <a:t> × 3</a:t>
            </a:r>
            <a:endParaRPr sz="2100">
              <a:latin typeface="Kalam"/>
              <a:ea typeface="Kalam"/>
              <a:cs typeface="Kalam"/>
              <a:sym typeface="Kalam"/>
            </a:endParaRPr>
          </a:p>
          <a:p>
            <a:pPr indent="0" lvl="0" marL="0" rtl="0" algn="l">
              <a:spcBef>
                <a:spcPts val="1000"/>
              </a:spcBef>
              <a:spcAft>
                <a:spcPts val="0"/>
              </a:spcAft>
              <a:buNone/>
            </a:pPr>
            <a:r>
              <a:rPr lang="en-GB" sz="2100">
                <a:latin typeface="Kalam"/>
                <a:ea typeface="Kalam"/>
                <a:cs typeface="Kalam"/>
                <a:sym typeface="Kalam"/>
              </a:rPr>
              <a:t>42 = 2 × 3 × 7</a:t>
            </a:r>
            <a:endParaRPr sz="2100">
              <a:latin typeface="Kalam"/>
              <a:ea typeface="Kalam"/>
              <a:cs typeface="Kalam"/>
              <a:sym typeface="Kalam"/>
            </a:endParaRPr>
          </a:p>
          <a:p>
            <a:pPr indent="0" lvl="0" marL="0" rtl="0" algn="l">
              <a:spcBef>
                <a:spcPts val="1000"/>
              </a:spcBef>
              <a:spcAft>
                <a:spcPts val="0"/>
              </a:spcAft>
              <a:buNone/>
            </a:pPr>
            <a:r>
              <a:rPr lang="en-GB" sz="2100">
                <a:latin typeface="Kalam"/>
                <a:ea typeface="Kalam"/>
                <a:cs typeface="Kalam"/>
                <a:sym typeface="Kalam"/>
              </a:rPr>
              <a:t>48 = 2</a:t>
            </a:r>
            <a:r>
              <a:rPr baseline="30000" lang="en-GB" sz="2100">
                <a:latin typeface="Kalam"/>
                <a:ea typeface="Kalam"/>
                <a:cs typeface="Kalam"/>
                <a:sym typeface="Kalam"/>
              </a:rPr>
              <a:t>4</a:t>
            </a:r>
            <a:r>
              <a:rPr lang="en-GB" sz="2100">
                <a:latin typeface="Kalam"/>
                <a:ea typeface="Kalam"/>
                <a:cs typeface="Kalam"/>
                <a:sym typeface="Kalam"/>
              </a:rPr>
              <a:t> × 3</a:t>
            </a:r>
            <a:endParaRPr sz="2100">
              <a:latin typeface="Kalam"/>
              <a:ea typeface="Kalam"/>
              <a:cs typeface="Kalam"/>
              <a:sym typeface="Kalam"/>
            </a:endParaRPr>
          </a:p>
          <a:p>
            <a:pPr indent="0" lvl="0" marL="0" rtl="0" algn="l">
              <a:spcBef>
                <a:spcPts val="1000"/>
              </a:spcBef>
              <a:spcAft>
                <a:spcPts val="0"/>
              </a:spcAft>
              <a:buNone/>
            </a:pPr>
            <a:r>
              <a:rPr lang="en-GB" sz="2100">
                <a:latin typeface="Kalam"/>
                <a:ea typeface="Kalam"/>
                <a:cs typeface="Kalam"/>
                <a:sym typeface="Kalam"/>
              </a:rPr>
              <a:t>HCF = 2 × 3 = 6</a:t>
            </a:r>
            <a:endParaRPr sz="2100">
              <a:latin typeface="Kalam"/>
              <a:ea typeface="Kalam"/>
              <a:cs typeface="Kalam"/>
              <a:sym typeface="Kalam"/>
            </a:endParaRPr>
          </a:p>
          <a:p>
            <a:pPr indent="0" lvl="0" marL="0" rtl="0" algn="l">
              <a:spcBef>
                <a:spcPts val="1000"/>
              </a:spcBef>
              <a:spcAft>
                <a:spcPts val="1000"/>
              </a:spcAft>
              <a:buNone/>
            </a:pPr>
            <a:r>
              <a:t/>
            </a:r>
            <a:endParaRPr sz="2100">
              <a:latin typeface="Kalam"/>
              <a:ea typeface="Kalam"/>
              <a:cs typeface="Kalam"/>
              <a:sym typeface="Kalam"/>
            </a:endParaRPr>
          </a:p>
        </p:txBody>
      </p:sp>
      <p:sp>
        <p:nvSpPr>
          <p:cNvPr id="873" name="Google Shape;873;p7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HCF in a context</a:t>
            </a:r>
            <a:endParaRPr/>
          </a:p>
        </p:txBody>
      </p:sp>
      <p:sp>
        <p:nvSpPr>
          <p:cNvPr id="874" name="Google Shape;874;p76"/>
          <p:cNvSpPr txBox="1"/>
          <p:nvPr>
            <p:ph idx="1" type="body"/>
          </p:nvPr>
        </p:nvSpPr>
        <p:spPr>
          <a:xfrm>
            <a:off x="324000" y="759300"/>
            <a:ext cx="8237700" cy="1248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Jacob has 24 white, 42 red and 48 yellow flowers. What is the greatest number of identical bunches he can make that uses all of the flowers?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77"/>
          <p:cNvSpPr txBox="1"/>
          <p:nvPr>
            <p:ph idx="1" type="body"/>
          </p:nvPr>
        </p:nvSpPr>
        <p:spPr>
          <a:xfrm>
            <a:off x="400200" y="2160000"/>
            <a:ext cx="8237700" cy="1462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latin typeface="Kalam"/>
                <a:ea typeface="Kalam"/>
                <a:cs typeface="Kalam"/>
                <a:sym typeface="Kalam"/>
              </a:rPr>
              <a:t>420 = 2</a:t>
            </a:r>
            <a:r>
              <a:rPr baseline="30000" lang="en-GB" sz="2100">
                <a:latin typeface="Kalam"/>
                <a:ea typeface="Kalam"/>
                <a:cs typeface="Kalam"/>
                <a:sym typeface="Kalam"/>
              </a:rPr>
              <a:t>2</a:t>
            </a:r>
            <a:r>
              <a:rPr lang="en-GB" sz="2100">
                <a:latin typeface="Kalam"/>
                <a:ea typeface="Kalam"/>
                <a:cs typeface="Kalam"/>
                <a:sym typeface="Kalam"/>
              </a:rPr>
              <a:t> × 3 × 5 × 7</a:t>
            </a:r>
            <a:endParaRPr sz="2100">
              <a:latin typeface="Kalam"/>
              <a:ea typeface="Kalam"/>
              <a:cs typeface="Kalam"/>
              <a:sym typeface="Kalam"/>
            </a:endParaRPr>
          </a:p>
          <a:p>
            <a:pPr indent="0" lvl="0" marL="0" rtl="0" algn="l">
              <a:spcBef>
                <a:spcPts val="1000"/>
              </a:spcBef>
              <a:spcAft>
                <a:spcPts val="0"/>
              </a:spcAft>
              <a:buNone/>
            </a:pPr>
            <a:r>
              <a:rPr lang="en-GB" sz="2100">
                <a:latin typeface="Kalam"/>
                <a:ea typeface="Kalam"/>
                <a:cs typeface="Kalam"/>
                <a:sym typeface="Kalam"/>
              </a:rPr>
              <a:t>120 = 2</a:t>
            </a:r>
            <a:r>
              <a:rPr baseline="30000" lang="en-GB" sz="2100">
                <a:latin typeface="Kalam"/>
                <a:ea typeface="Kalam"/>
                <a:cs typeface="Kalam"/>
                <a:sym typeface="Kalam"/>
              </a:rPr>
              <a:t>3</a:t>
            </a:r>
            <a:r>
              <a:rPr lang="en-GB" sz="2100">
                <a:latin typeface="Kalam"/>
                <a:ea typeface="Kalam"/>
                <a:cs typeface="Kalam"/>
                <a:sym typeface="Kalam"/>
              </a:rPr>
              <a:t> × 3 × 5</a:t>
            </a:r>
            <a:endParaRPr sz="2100">
              <a:latin typeface="Kalam"/>
              <a:ea typeface="Kalam"/>
              <a:cs typeface="Kalam"/>
              <a:sym typeface="Kalam"/>
            </a:endParaRPr>
          </a:p>
          <a:p>
            <a:pPr indent="0" lvl="0" marL="0" rtl="0" algn="l">
              <a:spcBef>
                <a:spcPts val="1000"/>
              </a:spcBef>
              <a:spcAft>
                <a:spcPts val="1000"/>
              </a:spcAft>
              <a:buNone/>
            </a:pPr>
            <a:r>
              <a:rPr lang="en-GB" sz="2100">
                <a:latin typeface="Kalam"/>
                <a:ea typeface="Kalam"/>
                <a:cs typeface="Kalam"/>
                <a:sym typeface="Kalam"/>
              </a:rPr>
              <a:t>HCF = 2</a:t>
            </a:r>
            <a:r>
              <a:rPr baseline="30000" lang="en-GB" sz="2100">
                <a:latin typeface="Kalam"/>
                <a:ea typeface="Kalam"/>
                <a:cs typeface="Kalam"/>
                <a:sym typeface="Kalam"/>
              </a:rPr>
              <a:t>2</a:t>
            </a:r>
            <a:r>
              <a:rPr lang="en-GB" sz="2100">
                <a:latin typeface="Kalam"/>
                <a:ea typeface="Kalam"/>
                <a:cs typeface="Kalam"/>
                <a:sym typeface="Kalam"/>
              </a:rPr>
              <a:t> × 3 × 5 = 60</a:t>
            </a:r>
            <a:endParaRPr sz="2100">
              <a:latin typeface="Kalam"/>
              <a:ea typeface="Kalam"/>
              <a:cs typeface="Kalam"/>
              <a:sym typeface="Kalam"/>
            </a:endParaRPr>
          </a:p>
        </p:txBody>
      </p:sp>
      <p:sp>
        <p:nvSpPr>
          <p:cNvPr id="880" name="Google Shape;880;p7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HCF in a context</a:t>
            </a:r>
            <a:endParaRPr/>
          </a:p>
        </p:txBody>
      </p:sp>
      <p:sp>
        <p:nvSpPr>
          <p:cNvPr id="881" name="Google Shape;881;p77"/>
          <p:cNvSpPr txBox="1"/>
          <p:nvPr>
            <p:ph idx="1" type="body"/>
          </p:nvPr>
        </p:nvSpPr>
        <p:spPr>
          <a:xfrm>
            <a:off x="324000" y="759300"/>
            <a:ext cx="8237700" cy="121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 Lucas is making a model.  He needs to cut his wire into the longest equal lengths possible.  One piece is 420 cm and the other is 120 cm.  How long can he make each piece?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78"/>
          <p:cNvSpPr txBox="1"/>
          <p:nvPr>
            <p:ph type="title"/>
          </p:nvPr>
        </p:nvSpPr>
        <p:spPr>
          <a:xfrm>
            <a:off x="1224600" y="1787025"/>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HCF in a context</a:t>
            </a:r>
            <a:endParaRPr/>
          </a:p>
        </p:txBody>
      </p:sp>
      <p:sp>
        <p:nvSpPr>
          <p:cNvPr id="887" name="Google Shape;887;p78"/>
          <p:cNvSpPr txBox="1"/>
          <p:nvPr>
            <p:ph idx="2" type="title"/>
          </p:nvPr>
        </p:nvSpPr>
        <p:spPr>
          <a:xfrm>
            <a:off x="1224000" y="2830775"/>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LCM in a context</a:t>
            </a:r>
            <a:endParaRPr/>
          </a:p>
        </p:txBody>
      </p:sp>
      <p:sp>
        <p:nvSpPr>
          <p:cNvPr id="888" name="Google Shape;888;p78"/>
          <p:cNvSpPr txBox="1"/>
          <p:nvPr>
            <p:ph idx="3" type="title"/>
          </p:nvPr>
        </p:nvSpPr>
        <p:spPr>
          <a:xfrm>
            <a:off x="1224000" y="3758277"/>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Whether to use HCF or LCM based on the context</a:t>
            </a:r>
            <a:endParaRPr/>
          </a:p>
        </p:txBody>
      </p:sp>
      <p:sp>
        <p:nvSpPr>
          <p:cNvPr id="889" name="Google Shape;889;p7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HCF or LCM</a:t>
            </a:r>
            <a:endParaRPr/>
          </a:p>
        </p:txBody>
      </p:sp>
      <p:pic>
        <p:nvPicPr>
          <p:cNvPr id="890" name="Google Shape;890;p78"/>
          <p:cNvPicPr preferRelativeResize="0"/>
          <p:nvPr/>
        </p:nvPicPr>
        <p:blipFill>
          <a:blip r:embed="rId3">
            <a:alphaModFix/>
          </a:blip>
          <a:stretch>
            <a:fillRect/>
          </a:stretch>
        </p:blipFill>
        <p:spPr>
          <a:xfrm>
            <a:off x="419850" y="2765571"/>
            <a:ext cx="450575" cy="446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LCM</a:t>
            </a:r>
            <a:r>
              <a:rPr lang="en-GB"/>
              <a:t> in a context</a:t>
            </a:r>
            <a:endParaRPr/>
          </a:p>
        </p:txBody>
      </p:sp>
      <p:sp>
        <p:nvSpPr>
          <p:cNvPr id="896" name="Google Shape;896;p79"/>
          <p:cNvSpPr txBox="1"/>
          <p:nvPr>
            <p:ph idx="1" type="body"/>
          </p:nvPr>
        </p:nvSpPr>
        <p:spPr>
          <a:xfrm>
            <a:off x="324000" y="606900"/>
            <a:ext cx="5182800" cy="362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Alex, Sam and Laura are making daisy chains.  </a:t>
            </a:r>
            <a:endParaRPr sz="1800"/>
          </a:p>
        </p:txBody>
      </p:sp>
      <p:pic>
        <p:nvPicPr>
          <p:cNvPr id="897" name="Google Shape;897;p79"/>
          <p:cNvPicPr preferRelativeResize="0"/>
          <p:nvPr/>
        </p:nvPicPr>
        <p:blipFill>
          <a:blip r:embed="rId3">
            <a:alphaModFix/>
          </a:blip>
          <a:stretch>
            <a:fillRect/>
          </a:stretch>
        </p:blipFill>
        <p:spPr>
          <a:xfrm>
            <a:off x="324000" y="1063650"/>
            <a:ext cx="602100" cy="697483"/>
          </a:xfrm>
          <a:prstGeom prst="rect">
            <a:avLst/>
          </a:prstGeom>
          <a:noFill/>
          <a:ln>
            <a:noFill/>
          </a:ln>
        </p:spPr>
      </p:pic>
      <p:pic>
        <p:nvPicPr>
          <p:cNvPr id="898" name="Google Shape;898;p79"/>
          <p:cNvPicPr preferRelativeResize="0"/>
          <p:nvPr/>
        </p:nvPicPr>
        <p:blipFill>
          <a:blip r:embed="rId4">
            <a:alphaModFix/>
          </a:blip>
          <a:stretch>
            <a:fillRect/>
          </a:stretch>
        </p:blipFill>
        <p:spPr>
          <a:xfrm>
            <a:off x="324000" y="1821514"/>
            <a:ext cx="482181" cy="697474"/>
          </a:xfrm>
          <a:prstGeom prst="rect">
            <a:avLst/>
          </a:prstGeom>
          <a:noFill/>
          <a:ln>
            <a:noFill/>
          </a:ln>
        </p:spPr>
      </p:pic>
      <p:pic>
        <p:nvPicPr>
          <p:cNvPr id="899" name="Google Shape;899;p79"/>
          <p:cNvPicPr preferRelativeResize="0"/>
          <p:nvPr/>
        </p:nvPicPr>
        <p:blipFill>
          <a:blip r:embed="rId5">
            <a:alphaModFix/>
          </a:blip>
          <a:stretch>
            <a:fillRect/>
          </a:stretch>
        </p:blipFill>
        <p:spPr>
          <a:xfrm>
            <a:off x="323998" y="2935799"/>
            <a:ext cx="536100" cy="705298"/>
          </a:xfrm>
          <a:prstGeom prst="rect">
            <a:avLst/>
          </a:prstGeom>
          <a:noFill/>
          <a:ln>
            <a:noFill/>
          </a:ln>
        </p:spPr>
      </p:pic>
      <p:sp>
        <p:nvSpPr>
          <p:cNvPr id="900" name="Google Shape;900;p79"/>
          <p:cNvSpPr txBox="1"/>
          <p:nvPr/>
        </p:nvSpPr>
        <p:spPr>
          <a:xfrm>
            <a:off x="1207825" y="1377475"/>
            <a:ext cx="72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 </a:t>
            </a:r>
            <a:r>
              <a:rPr lang="en-GB" sz="1800">
                <a:latin typeface="Lexend"/>
                <a:ea typeface="Lexend"/>
                <a:cs typeface="Lexend"/>
                <a:sym typeface="Lexend"/>
              </a:rPr>
              <a:t>cm</a:t>
            </a:r>
            <a:endParaRPr sz="1800">
              <a:latin typeface="Lexend"/>
              <a:ea typeface="Lexend"/>
              <a:cs typeface="Lexend"/>
              <a:sym typeface="Lexend"/>
            </a:endParaRPr>
          </a:p>
        </p:txBody>
      </p:sp>
      <p:sp>
        <p:nvSpPr>
          <p:cNvPr id="901" name="Google Shape;901;p79"/>
          <p:cNvSpPr txBox="1"/>
          <p:nvPr/>
        </p:nvSpPr>
        <p:spPr>
          <a:xfrm>
            <a:off x="1973344" y="1377475"/>
            <a:ext cx="72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6 </a:t>
            </a:r>
            <a:r>
              <a:rPr lang="en-GB" sz="1800">
                <a:latin typeface="Lexend"/>
                <a:ea typeface="Lexend"/>
                <a:cs typeface="Lexend"/>
                <a:sym typeface="Lexend"/>
              </a:rPr>
              <a:t>cm</a:t>
            </a:r>
            <a:endParaRPr sz="1800">
              <a:latin typeface="Lexend"/>
              <a:ea typeface="Lexend"/>
              <a:cs typeface="Lexend"/>
              <a:sym typeface="Lexend"/>
            </a:endParaRPr>
          </a:p>
        </p:txBody>
      </p:sp>
      <p:sp>
        <p:nvSpPr>
          <p:cNvPr id="902" name="Google Shape;902;p79"/>
          <p:cNvSpPr txBox="1"/>
          <p:nvPr/>
        </p:nvSpPr>
        <p:spPr>
          <a:xfrm>
            <a:off x="2754724" y="1377475"/>
            <a:ext cx="72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9 </a:t>
            </a:r>
            <a:r>
              <a:rPr lang="en-GB" sz="1800">
                <a:latin typeface="Lexend"/>
                <a:ea typeface="Lexend"/>
                <a:cs typeface="Lexend"/>
                <a:sym typeface="Lexend"/>
              </a:rPr>
              <a:t>cm</a:t>
            </a:r>
            <a:endParaRPr sz="1800">
              <a:latin typeface="Lexend"/>
              <a:ea typeface="Lexend"/>
              <a:cs typeface="Lexend"/>
              <a:sym typeface="Lexend"/>
            </a:endParaRPr>
          </a:p>
        </p:txBody>
      </p:sp>
      <p:sp>
        <p:nvSpPr>
          <p:cNvPr id="903" name="Google Shape;903;p79"/>
          <p:cNvSpPr txBox="1"/>
          <p:nvPr/>
        </p:nvSpPr>
        <p:spPr>
          <a:xfrm>
            <a:off x="3530564" y="1377475"/>
            <a:ext cx="72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12 </a:t>
            </a:r>
            <a:r>
              <a:rPr lang="en-GB" sz="1800">
                <a:latin typeface="Lexend"/>
                <a:ea typeface="Lexend"/>
                <a:cs typeface="Lexend"/>
                <a:sym typeface="Lexend"/>
              </a:rPr>
              <a:t>cm</a:t>
            </a:r>
            <a:endParaRPr sz="1800">
              <a:latin typeface="Lexend"/>
              <a:ea typeface="Lexend"/>
              <a:cs typeface="Lexend"/>
              <a:sym typeface="Lexend"/>
            </a:endParaRPr>
          </a:p>
        </p:txBody>
      </p:sp>
      <p:sp>
        <p:nvSpPr>
          <p:cNvPr id="904" name="Google Shape;904;p79"/>
          <p:cNvSpPr txBox="1"/>
          <p:nvPr/>
        </p:nvSpPr>
        <p:spPr>
          <a:xfrm>
            <a:off x="4339265" y="1377475"/>
            <a:ext cx="72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15 </a:t>
            </a:r>
            <a:r>
              <a:rPr lang="en-GB" sz="1800">
                <a:latin typeface="Lexend"/>
                <a:ea typeface="Lexend"/>
                <a:cs typeface="Lexend"/>
                <a:sym typeface="Lexend"/>
              </a:rPr>
              <a:t>cm</a:t>
            </a:r>
            <a:endParaRPr sz="1800">
              <a:latin typeface="Lexend"/>
              <a:ea typeface="Lexend"/>
              <a:cs typeface="Lexend"/>
              <a:sym typeface="Lexend"/>
            </a:endParaRPr>
          </a:p>
        </p:txBody>
      </p:sp>
      <p:sp>
        <p:nvSpPr>
          <p:cNvPr id="905" name="Google Shape;905;p79"/>
          <p:cNvSpPr txBox="1"/>
          <p:nvPr/>
        </p:nvSpPr>
        <p:spPr>
          <a:xfrm>
            <a:off x="5107002" y="1377475"/>
            <a:ext cx="72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18 </a:t>
            </a:r>
            <a:r>
              <a:rPr lang="en-GB" sz="1800">
                <a:latin typeface="Lexend"/>
                <a:ea typeface="Lexend"/>
                <a:cs typeface="Lexend"/>
                <a:sym typeface="Lexend"/>
              </a:rPr>
              <a:t>cm</a:t>
            </a:r>
            <a:endParaRPr sz="1800">
              <a:latin typeface="Lexend"/>
              <a:ea typeface="Lexend"/>
              <a:cs typeface="Lexend"/>
              <a:sym typeface="Lexend"/>
            </a:endParaRPr>
          </a:p>
        </p:txBody>
      </p:sp>
      <p:sp>
        <p:nvSpPr>
          <p:cNvPr id="906" name="Google Shape;906;p79"/>
          <p:cNvSpPr txBox="1"/>
          <p:nvPr/>
        </p:nvSpPr>
        <p:spPr>
          <a:xfrm>
            <a:off x="5922534" y="1377475"/>
            <a:ext cx="72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21 </a:t>
            </a:r>
            <a:r>
              <a:rPr lang="en-GB" sz="1800">
                <a:latin typeface="Lexend"/>
                <a:ea typeface="Lexend"/>
                <a:cs typeface="Lexend"/>
                <a:sym typeface="Lexend"/>
              </a:rPr>
              <a:t>cm</a:t>
            </a:r>
            <a:endParaRPr sz="1800">
              <a:latin typeface="Lexend"/>
              <a:ea typeface="Lexend"/>
              <a:cs typeface="Lexend"/>
              <a:sym typeface="Lexend"/>
            </a:endParaRPr>
          </a:p>
        </p:txBody>
      </p:sp>
      <p:sp>
        <p:nvSpPr>
          <p:cNvPr id="907" name="Google Shape;907;p79"/>
          <p:cNvSpPr txBox="1"/>
          <p:nvPr/>
        </p:nvSpPr>
        <p:spPr>
          <a:xfrm>
            <a:off x="6705207" y="1377475"/>
            <a:ext cx="849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24 </a:t>
            </a:r>
            <a:r>
              <a:rPr lang="en-GB" sz="1800">
                <a:latin typeface="Lexend"/>
                <a:ea typeface="Lexend"/>
                <a:cs typeface="Lexend"/>
                <a:sym typeface="Lexend"/>
              </a:rPr>
              <a:t>cm</a:t>
            </a:r>
            <a:endParaRPr sz="1800">
              <a:latin typeface="Lexend"/>
              <a:ea typeface="Lexend"/>
              <a:cs typeface="Lexend"/>
              <a:sym typeface="Lexend"/>
            </a:endParaRPr>
          </a:p>
        </p:txBody>
      </p:sp>
      <p:sp>
        <p:nvSpPr>
          <p:cNvPr id="908" name="Google Shape;908;p79"/>
          <p:cNvSpPr txBox="1"/>
          <p:nvPr/>
        </p:nvSpPr>
        <p:spPr>
          <a:xfrm>
            <a:off x="7520736" y="1377475"/>
            <a:ext cx="72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27 </a:t>
            </a:r>
            <a:r>
              <a:rPr lang="en-GB" sz="1800">
                <a:latin typeface="Lexend"/>
                <a:ea typeface="Lexend"/>
                <a:cs typeface="Lexend"/>
                <a:sym typeface="Lexend"/>
              </a:rPr>
              <a:t>cm</a:t>
            </a:r>
            <a:endParaRPr sz="1800">
              <a:latin typeface="Lexend"/>
              <a:ea typeface="Lexend"/>
              <a:cs typeface="Lexend"/>
              <a:sym typeface="Lexend"/>
            </a:endParaRPr>
          </a:p>
        </p:txBody>
      </p:sp>
      <p:sp>
        <p:nvSpPr>
          <p:cNvPr id="909" name="Google Shape;909;p79"/>
          <p:cNvSpPr txBox="1"/>
          <p:nvPr/>
        </p:nvSpPr>
        <p:spPr>
          <a:xfrm>
            <a:off x="8294005" y="1377475"/>
            <a:ext cx="723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30</a:t>
            </a:r>
            <a:r>
              <a:rPr lang="en-GB" sz="1800">
                <a:latin typeface="Lexend"/>
                <a:ea typeface="Lexend"/>
                <a:cs typeface="Lexend"/>
                <a:sym typeface="Lexend"/>
              </a:rPr>
              <a:t> cm</a:t>
            </a:r>
            <a:endParaRPr sz="1800">
              <a:latin typeface="Lexend"/>
              <a:ea typeface="Lexend"/>
              <a:cs typeface="Lexend"/>
              <a:sym typeface="Lexend"/>
            </a:endParaRPr>
          </a:p>
        </p:txBody>
      </p:sp>
      <p:grpSp>
        <p:nvGrpSpPr>
          <p:cNvPr id="910" name="Google Shape;910;p79"/>
          <p:cNvGrpSpPr/>
          <p:nvPr/>
        </p:nvGrpSpPr>
        <p:grpSpPr>
          <a:xfrm>
            <a:off x="1108129" y="1843499"/>
            <a:ext cx="1305298" cy="653471"/>
            <a:chOff x="297048" y="3082127"/>
            <a:chExt cx="1573028" cy="801608"/>
          </a:xfrm>
        </p:grpSpPr>
        <p:pic>
          <p:nvPicPr>
            <p:cNvPr id="911" name="Google Shape;911;p79"/>
            <p:cNvPicPr preferRelativeResize="0"/>
            <p:nvPr/>
          </p:nvPicPr>
          <p:blipFill rotWithShape="1">
            <a:blip r:embed="rId6">
              <a:alphaModFix/>
            </a:blip>
            <a:srcRect b="44579" l="0" r="0" t="0"/>
            <a:stretch/>
          </p:blipFill>
          <p:spPr>
            <a:xfrm rot="5400000">
              <a:off x="711182" y="2724841"/>
              <a:ext cx="801608" cy="1516180"/>
            </a:xfrm>
            <a:prstGeom prst="rect">
              <a:avLst/>
            </a:prstGeom>
            <a:noFill/>
            <a:ln>
              <a:noFill/>
            </a:ln>
          </p:spPr>
        </p:pic>
        <p:sp>
          <p:nvSpPr>
            <p:cNvPr id="912" name="Google Shape;912;p79"/>
            <p:cNvSpPr/>
            <p:nvPr/>
          </p:nvSpPr>
          <p:spPr>
            <a:xfrm flipH="1">
              <a:off x="297048" y="3127225"/>
              <a:ext cx="82200" cy="33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3" name="Google Shape;913;p79"/>
            <p:cNvSpPr/>
            <p:nvPr/>
          </p:nvSpPr>
          <p:spPr>
            <a:xfrm>
              <a:off x="350375" y="3484676"/>
              <a:ext cx="45900" cy="39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14" name="Google Shape;914;p79"/>
          <p:cNvGrpSpPr/>
          <p:nvPr/>
        </p:nvGrpSpPr>
        <p:grpSpPr>
          <a:xfrm>
            <a:off x="2401952" y="1843499"/>
            <a:ext cx="1305298" cy="653471"/>
            <a:chOff x="297048" y="3082127"/>
            <a:chExt cx="1573028" cy="801608"/>
          </a:xfrm>
        </p:grpSpPr>
        <p:pic>
          <p:nvPicPr>
            <p:cNvPr id="915" name="Google Shape;915;p79"/>
            <p:cNvPicPr preferRelativeResize="0"/>
            <p:nvPr/>
          </p:nvPicPr>
          <p:blipFill rotWithShape="1">
            <a:blip r:embed="rId6">
              <a:alphaModFix/>
            </a:blip>
            <a:srcRect b="44579" l="0" r="0" t="0"/>
            <a:stretch/>
          </p:blipFill>
          <p:spPr>
            <a:xfrm rot="5400000">
              <a:off x="711182" y="2724841"/>
              <a:ext cx="801608" cy="1516180"/>
            </a:xfrm>
            <a:prstGeom prst="rect">
              <a:avLst/>
            </a:prstGeom>
            <a:noFill/>
            <a:ln>
              <a:noFill/>
            </a:ln>
          </p:spPr>
        </p:pic>
        <p:sp>
          <p:nvSpPr>
            <p:cNvPr id="916" name="Google Shape;916;p79"/>
            <p:cNvSpPr/>
            <p:nvPr/>
          </p:nvSpPr>
          <p:spPr>
            <a:xfrm flipH="1">
              <a:off x="297048" y="3127225"/>
              <a:ext cx="82200" cy="33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7" name="Google Shape;917;p79"/>
            <p:cNvSpPr/>
            <p:nvPr/>
          </p:nvSpPr>
          <p:spPr>
            <a:xfrm>
              <a:off x="350375" y="3484676"/>
              <a:ext cx="45900" cy="39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18" name="Google Shape;918;p79"/>
          <p:cNvGrpSpPr/>
          <p:nvPr/>
        </p:nvGrpSpPr>
        <p:grpSpPr>
          <a:xfrm>
            <a:off x="3675186" y="1843499"/>
            <a:ext cx="1305298" cy="653471"/>
            <a:chOff x="297048" y="3082127"/>
            <a:chExt cx="1573028" cy="801608"/>
          </a:xfrm>
        </p:grpSpPr>
        <p:pic>
          <p:nvPicPr>
            <p:cNvPr id="919" name="Google Shape;919;p79"/>
            <p:cNvPicPr preferRelativeResize="0"/>
            <p:nvPr/>
          </p:nvPicPr>
          <p:blipFill rotWithShape="1">
            <a:blip r:embed="rId6">
              <a:alphaModFix/>
            </a:blip>
            <a:srcRect b="44579" l="0" r="0" t="0"/>
            <a:stretch/>
          </p:blipFill>
          <p:spPr>
            <a:xfrm rot="5400000">
              <a:off x="711182" y="2724841"/>
              <a:ext cx="801608" cy="1516180"/>
            </a:xfrm>
            <a:prstGeom prst="rect">
              <a:avLst/>
            </a:prstGeom>
            <a:noFill/>
            <a:ln>
              <a:noFill/>
            </a:ln>
          </p:spPr>
        </p:pic>
        <p:sp>
          <p:nvSpPr>
            <p:cNvPr id="920" name="Google Shape;920;p79"/>
            <p:cNvSpPr/>
            <p:nvPr/>
          </p:nvSpPr>
          <p:spPr>
            <a:xfrm flipH="1">
              <a:off x="297048" y="3127225"/>
              <a:ext cx="82200" cy="33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1" name="Google Shape;921;p79"/>
            <p:cNvSpPr/>
            <p:nvPr/>
          </p:nvSpPr>
          <p:spPr>
            <a:xfrm>
              <a:off x="350375" y="3484676"/>
              <a:ext cx="45900" cy="39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22" name="Google Shape;922;p79"/>
          <p:cNvGrpSpPr/>
          <p:nvPr/>
        </p:nvGrpSpPr>
        <p:grpSpPr>
          <a:xfrm>
            <a:off x="4955776" y="1843499"/>
            <a:ext cx="1305298" cy="653471"/>
            <a:chOff x="297048" y="3082127"/>
            <a:chExt cx="1573028" cy="801608"/>
          </a:xfrm>
        </p:grpSpPr>
        <p:pic>
          <p:nvPicPr>
            <p:cNvPr id="923" name="Google Shape;923;p79"/>
            <p:cNvPicPr preferRelativeResize="0"/>
            <p:nvPr/>
          </p:nvPicPr>
          <p:blipFill rotWithShape="1">
            <a:blip r:embed="rId6">
              <a:alphaModFix/>
            </a:blip>
            <a:srcRect b="44579" l="0" r="0" t="0"/>
            <a:stretch/>
          </p:blipFill>
          <p:spPr>
            <a:xfrm rot="5400000">
              <a:off x="711182" y="2724841"/>
              <a:ext cx="801608" cy="1516180"/>
            </a:xfrm>
            <a:prstGeom prst="rect">
              <a:avLst/>
            </a:prstGeom>
            <a:noFill/>
            <a:ln>
              <a:noFill/>
            </a:ln>
          </p:spPr>
        </p:pic>
        <p:sp>
          <p:nvSpPr>
            <p:cNvPr id="924" name="Google Shape;924;p79"/>
            <p:cNvSpPr/>
            <p:nvPr/>
          </p:nvSpPr>
          <p:spPr>
            <a:xfrm flipH="1">
              <a:off x="297048" y="3127225"/>
              <a:ext cx="82200" cy="33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5" name="Google Shape;925;p79"/>
            <p:cNvSpPr/>
            <p:nvPr/>
          </p:nvSpPr>
          <p:spPr>
            <a:xfrm>
              <a:off x="350375" y="3484676"/>
              <a:ext cx="45900" cy="39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26" name="Google Shape;926;p79"/>
          <p:cNvGrpSpPr/>
          <p:nvPr/>
        </p:nvGrpSpPr>
        <p:grpSpPr>
          <a:xfrm>
            <a:off x="6234064" y="1843499"/>
            <a:ext cx="1305298" cy="653471"/>
            <a:chOff x="297048" y="3082127"/>
            <a:chExt cx="1573028" cy="801608"/>
          </a:xfrm>
        </p:grpSpPr>
        <p:pic>
          <p:nvPicPr>
            <p:cNvPr id="927" name="Google Shape;927;p79"/>
            <p:cNvPicPr preferRelativeResize="0"/>
            <p:nvPr/>
          </p:nvPicPr>
          <p:blipFill rotWithShape="1">
            <a:blip r:embed="rId6">
              <a:alphaModFix/>
            </a:blip>
            <a:srcRect b="44579" l="0" r="0" t="0"/>
            <a:stretch/>
          </p:blipFill>
          <p:spPr>
            <a:xfrm rot="5400000">
              <a:off x="711182" y="2724841"/>
              <a:ext cx="801608" cy="1516180"/>
            </a:xfrm>
            <a:prstGeom prst="rect">
              <a:avLst/>
            </a:prstGeom>
            <a:noFill/>
            <a:ln>
              <a:noFill/>
            </a:ln>
          </p:spPr>
        </p:pic>
        <p:sp>
          <p:nvSpPr>
            <p:cNvPr id="928" name="Google Shape;928;p79"/>
            <p:cNvSpPr/>
            <p:nvPr/>
          </p:nvSpPr>
          <p:spPr>
            <a:xfrm flipH="1">
              <a:off x="297048" y="3127225"/>
              <a:ext cx="82200" cy="33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9" name="Google Shape;929;p79"/>
            <p:cNvSpPr/>
            <p:nvPr/>
          </p:nvSpPr>
          <p:spPr>
            <a:xfrm>
              <a:off x="350375" y="3484676"/>
              <a:ext cx="45900" cy="39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30" name="Google Shape;930;p79"/>
          <p:cNvGrpSpPr/>
          <p:nvPr/>
        </p:nvGrpSpPr>
        <p:grpSpPr>
          <a:xfrm>
            <a:off x="7514654" y="1843499"/>
            <a:ext cx="1305298" cy="653471"/>
            <a:chOff x="297048" y="3082127"/>
            <a:chExt cx="1573028" cy="801608"/>
          </a:xfrm>
        </p:grpSpPr>
        <p:pic>
          <p:nvPicPr>
            <p:cNvPr id="931" name="Google Shape;931;p79"/>
            <p:cNvPicPr preferRelativeResize="0"/>
            <p:nvPr/>
          </p:nvPicPr>
          <p:blipFill rotWithShape="1">
            <a:blip r:embed="rId6">
              <a:alphaModFix/>
            </a:blip>
            <a:srcRect b="44579" l="0" r="0" t="0"/>
            <a:stretch/>
          </p:blipFill>
          <p:spPr>
            <a:xfrm rot="5400000">
              <a:off x="711182" y="2724841"/>
              <a:ext cx="801608" cy="1516180"/>
            </a:xfrm>
            <a:prstGeom prst="rect">
              <a:avLst/>
            </a:prstGeom>
            <a:noFill/>
            <a:ln>
              <a:noFill/>
            </a:ln>
          </p:spPr>
        </p:pic>
        <p:sp>
          <p:nvSpPr>
            <p:cNvPr id="932" name="Google Shape;932;p79"/>
            <p:cNvSpPr/>
            <p:nvPr/>
          </p:nvSpPr>
          <p:spPr>
            <a:xfrm flipH="1">
              <a:off x="297048" y="3127225"/>
              <a:ext cx="82200" cy="33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3" name="Google Shape;933;p79"/>
            <p:cNvSpPr/>
            <p:nvPr/>
          </p:nvSpPr>
          <p:spPr>
            <a:xfrm>
              <a:off x="350375" y="3484676"/>
              <a:ext cx="45900" cy="39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34" name="Google Shape;934;p79"/>
          <p:cNvGrpSpPr/>
          <p:nvPr/>
        </p:nvGrpSpPr>
        <p:grpSpPr>
          <a:xfrm>
            <a:off x="1108129" y="2915984"/>
            <a:ext cx="1587814" cy="801608"/>
            <a:chOff x="297048" y="3082127"/>
            <a:chExt cx="1573028" cy="801608"/>
          </a:xfrm>
        </p:grpSpPr>
        <p:pic>
          <p:nvPicPr>
            <p:cNvPr id="935" name="Google Shape;935;p79"/>
            <p:cNvPicPr preferRelativeResize="0"/>
            <p:nvPr/>
          </p:nvPicPr>
          <p:blipFill rotWithShape="1">
            <a:blip r:embed="rId6">
              <a:alphaModFix/>
            </a:blip>
            <a:srcRect b="44579" l="0" r="0" t="0"/>
            <a:stretch/>
          </p:blipFill>
          <p:spPr>
            <a:xfrm rot="5400000">
              <a:off x="711182" y="2724841"/>
              <a:ext cx="801608" cy="1516180"/>
            </a:xfrm>
            <a:prstGeom prst="rect">
              <a:avLst/>
            </a:prstGeom>
            <a:noFill/>
            <a:ln>
              <a:noFill/>
            </a:ln>
          </p:spPr>
        </p:pic>
        <p:sp>
          <p:nvSpPr>
            <p:cNvPr id="936" name="Google Shape;936;p79"/>
            <p:cNvSpPr/>
            <p:nvPr/>
          </p:nvSpPr>
          <p:spPr>
            <a:xfrm flipH="1">
              <a:off x="297048" y="3127225"/>
              <a:ext cx="82200" cy="33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7" name="Google Shape;937;p79"/>
            <p:cNvSpPr/>
            <p:nvPr/>
          </p:nvSpPr>
          <p:spPr>
            <a:xfrm>
              <a:off x="350375" y="3484676"/>
              <a:ext cx="45900" cy="39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38" name="Google Shape;938;p79"/>
          <p:cNvGrpSpPr/>
          <p:nvPr/>
        </p:nvGrpSpPr>
        <p:grpSpPr>
          <a:xfrm>
            <a:off x="2648382" y="2915984"/>
            <a:ext cx="1587814" cy="801608"/>
            <a:chOff x="297048" y="3082127"/>
            <a:chExt cx="1573028" cy="801608"/>
          </a:xfrm>
        </p:grpSpPr>
        <p:pic>
          <p:nvPicPr>
            <p:cNvPr id="939" name="Google Shape;939;p79"/>
            <p:cNvPicPr preferRelativeResize="0"/>
            <p:nvPr/>
          </p:nvPicPr>
          <p:blipFill rotWithShape="1">
            <a:blip r:embed="rId6">
              <a:alphaModFix/>
            </a:blip>
            <a:srcRect b="44579" l="0" r="0" t="0"/>
            <a:stretch/>
          </p:blipFill>
          <p:spPr>
            <a:xfrm rot="5400000">
              <a:off x="711182" y="2724841"/>
              <a:ext cx="801608" cy="1516180"/>
            </a:xfrm>
            <a:prstGeom prst="rect">
              <a:avLst/>
            </a:prstGeom>
            <a:noFill/>
            <a:ln>
              <a:noFill/>
            </a:ln>
          </p:spPr>
        </p:pic>
        <p:sp>
          <p:nvSpPr>
            <p:cNvPr id="940" name="Google Shape;940;p79"/>
            <p:cNvSpPr/>
            <p:nvPr/>
          </p:nvSpPr>
          <p:spPr>
            <a:xfrm flipH="1">
              <a:off x="297048" y="3127225"/>
              <a:ext cx="82200" cy="33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1" name="Google Shape;941;p79"/>
            <p:cNvSpPr/>
            <p:nvPr/>
          </p:nvSpPr>
          <p:spPr>
            <a:xfrm>
              <a:off x="350375" y="3484676"/>
              <a:ext cx="45900" cy="39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42" name="Google Shape;942;p79"/>
          <p:cNvGrpSpPr/>
          <p:nvPr/>
        </p:nvGrpSpPr>
        <p:grpSpPr>
          <a:xfrm>
            <a:off x="4161703" y="2915984"/>
            <a:ext cx="1587814" cy="801608"/>
            <a:chOff x="297048" y="3082127"/>
            <a:chExt cx="1573028" cy="801608"/>
          </a:xfrm>
        </p:grpSpPr>
        <p:pic>
          <p:nvPicPr>
            <p:cNvPr id="943" name="Google Shape;943;p79"/>
            <p:cNvPicPr preferRelativeResize="0"/>
            <p:nvPr/>
          </p:nvPicPr>
          <p:blipFill rotWithShape="1">
            <a:blip r:embed="rId6">
              <a:alphaModFix/>
            </a:blip>
            <a:srcRect b="44579" l="0" r="0" t="0"/>
            <a:stretch/>
          </p:blipFill>
          <p:spPr>
            <a:xfrm rot="5400000">
              <a:off x="711182" y="2724841"/>
              <a:ext cx="801608" cy="1516180"/>
            </a:xfrm>
            <a:prstGeom prst="rect">
              <a:avLst/>
            </a:prstGeom>
            <a:noFill/>
            <a:ln>
              <a:noFill/>
            </a:ln>
          </p:spPr>
        </p:pic>
        <p:sp>
          <p:nvSpPr>
            <p:cNvPr id="944" name="Google Shape;944;p79"/>
            <p:cNvSpPr/>
            <p:nvPr/>
          </p:nvSpPr>
          <p:spPr>
            <a:xfrm flipH="1">
              <a:off x="297048" y="3127225"/>
              <a:ext cx="82200" cy="33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5" name="Google Shape;945;p79"/>
            <p:cNvSpPr/>
            <p:nvPr/>
          </p:nvSpPr>
          <p:spPr>
            <a:xfrm>
              <a:off x="350375" y="3484676"/>
              <a:ext cx="45900" cy="39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46" name="Google Shape;946;p79"/>
          <p:cNvGrpSpPr/>
          <p:nvPr/>
        </p:nvGrpSpPr>
        <p:grpSpPr>
          <a:xfrm>
            <a:off x="5701956" y="2915984"/>
            <a:ext cx="1587814" cy="801608"/>
            <a:chOff x="297048" y="3082127"/>
            <a:chExt cx="1573028" cy="801608"/>
          </a:xfrm>
        </p:grpSpPr>
        <p:pic>
          <p:nvPicPr>
            <p:cNvPr id="947" name="Google Shape;947;p79"/>
            <p:cNvPicPr preferRelativeResize="0"/>
            <p:nvPr/>
          </p:nvPicPr>
          <p:blipFill rotWithShape="1">
            <a:blip r:embed="rId6">
              <a:alphaModFix/>
            </a:blip>
            <a:srcRect b="44579" l="0" r="0" t="0"/>
            <a:stretch/>
          </p:blipFill>
          <p:spPr>
            <a:xfrm rot="5400000">
              <a:off x="711182" y="2724841"/>
              <a:ext cx="801608" cy="1516180"/>
            </a:xfrm>
            <a:prstGeom prst="rect">
              <a:avLst/>
            </a:prstGeom>
            <a:noFill/>
            <a:ln>
              <a:noFill/>
            </a:ln>
          </p:spPr>
        </p:pic>
        <p:sp>
          <p:nvSpPr>
            <p:cNvPr id="948" name="Google Shape;948;p79"/>
            <p:cNvSpPr/>
            <p:nvPr/>
          </p:nvSpPr>
          <p:spPr>
            <a:xfrm flipH="1">
              <a:off x="297048" y="3127225"/>
              <a:ext cx="82200" cy="33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9" name="Google Shape;949;p79"/>
            <p:cNvSpPr/>
            <p:nvPr/>
          </p:nvSpPr>
          <p:spPr>
            <a:xfrm>
              <a:off x="343755" y="3484676"/>
              <a:ext cx="45900" cy="39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50" name="Google Shape;950;p79"/>
          <p:cNvGrpSpPr/>
          <p:nvPr/>
        </p:nvGrpSpPr>
        <p:grpSpPr>
          <a:xfrm>
            <a:off x="7232087" y="2915984"/>
            <a:ext cx="1587814" cy="801608"/>
            <a:chOff x="297048" y="3082127"/>
            <a:chExt cx="1573028" cy="801608"/>
          </a:xfrm>
        </p:grpSpPr>
        <p:pic>
          <p:nvPicPr>
            <p:cNvPr id="951" name="Google Shape;951;p79"/>
            <p:cNvPicPr preferRelativeResize="0"/>
            <p:nvPr/>
          </p:nvPicPr>
          <p:blipFill rotWithShape="1">
            <a:blip r:embed="rId6">
              <a:alphaModFix/>
            </a:blip>
            <a:srcRect b="44579" l="0" r="0" t="0"/>
            <a:stretch/>
          </p:blipFill>
          <p:spPr>
            <a:xfrm rot="5400000">
              <a:off x="711182" y="2724841"/>
              <a:ext cx="801608" cy="1516180"/>
            </a:xfrm>
            <a:prstGeom prst="rect">
              <a:avLst/>
            </a:prstGeom>
            <a:noFill/>
            <a:ln>
              <a:noFill/>
            </a:ln>
          </p:spPr>
        </p:pic>
        <p:sp>
          <p:nvSpPr>
            <p:cNvPr id="952" name="Google Shape;952;p79"/>
            <p:cNvSpPr/>
            <p:nvPr/>
          </p:nvSpPr>
          <p:spPr>
            <a:xfrm flipH="1">
              <a:off x="297048" y="3127225"/>
              <a:ext cx="82200" cy="33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3" name="Google Shape;953;p79"/>
            <p:cNvSpPr/>
            <p:nvPr/>
          </p:nvSpPr>
          <p:spPr>
            <a:xfrm>
              <a:off x="343755" y="3484676"/>
              <a:ext cx="45900" cy="39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54" name="Google Shape;954;p79"/>
          <p:cNvGrpSpPr/>
          <p:nvPr/>
        </p:nvGrpSpPr>
        <p:grpSpPr>
          <a:xfrm>
            <a:off x="1071666" y="969289"/>
            <a:ext cx="789145" cy="471111"/>
            <a:chOff x="1078286" y="1121689"/>
            <a:chExt cx="789145" cy="471111"/>
          </a:xfrm>
        </p:grpSpPr>
        <p:pic>
          <p:nvPicPr>
            <p:cNvPr id="955" name="Google Shape;955;p79"/>
            <p:cNvPicPr preferRelativeResize="0"/>
            <p:nvPr/>
          </p:nvPicPr>
          <p:blipFill rotWithShape="1">
            <a:blip r:embed="rId6">
              <a:alphaModFix/>
            </a:blip>
            <a:srcRect b="44579" l="0" r="0" t="0"/>
            <a:stretch/>
          </p:blipFill>
          <p:spPr>
            <a:xfrm rot="5400000">
              <a:off x="1288941" y="940878"/>
              <a:ext cx="397678" cy="759301"/>
            </a:xfrm>
            <a:prstGeom prst="rect">
              <a:avLst/>
            </a:prstGeom>
            <a:noFill/>
            <a:ln>
              <a:noFill/>
            </a:ln>
          </p:spPr>
        </p:pic>
        <p:sp>
          <p:nvSpPr>
            <p:cNvPr id="956" name="Google Shape;956;p79"/>
            <p:cNvSpPr/>
            <p:nvPr/>
          </p:nvSpPr>
          <p:spPr>
            <a:xfrm>
              <a:off x="1078286" y="1122700"/>
              <a:ext cx="46200" cy="47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57" name="Google Shape;957;p79"/>
          <p:cNvGrpSpPr/>
          <p:nvPr/>
        </p:nvGrpSpPr>
        <p:grpSpPr>
          <a:xfrm>
            <a:off x="1849637" y="969289"/>
            <a:ext cx="789145" cy="471111"/>
            <a:chOff x="1078286" y="1121689"/>
            <a:chExt cx="789145" cy="471111"/>
          </a:xfrm>
        </p:grpSpPr>
        <p:pic>
          <p:nvPicPr>
            <p:cNvPr id="958" name="Google Shape;958;p79"/>
            <p:cNvPicPr preferRelativeResize="0"/>
            <p:nvPr/>
          </p:nvPicPr>
          <p:blipFill rotWithShape="1">
            <a:blip r:embed="rId6">
              <a:alphaModFix/>
            </a:blip>
            <a:srcRect b="44579" l="0" r="0" t="0"/>
            <a:stretch/>
          </p:blipFill>
          <p:spPr>
            <a:xfrm rot="5400000">
              <a:off x="1288941" y="940878"/>
              <a:ext cx="397678" cy="759301"/>
            </a:xfrm>
            <a:prstGeom prst="rect">
              <a:avLst/>
            </a:prstGeom>
            <a:noFill/>
            <a:ln>
              <a:noFill/>
            </a:ln>
          </p:spPr>
        </p:pic>
        <p:sp>
          <p:nvSpPr>
            <p:cNvPr id="959" name="Google Shape;959;p79"/>
            <p:cNvSpPr/>
            <p:nvPr/>
          </p:nvSpPr>
          <p:spPr>
            <a:xfrm>
              <a:off x="1078286" y="1122700"/>
              <a:ext cx="46200" cy="47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60" name="Google Shape;960;p79"/>
          <p:cNvGrpSpPr/>
          <p:nvPr/>
        </p:nvGrpSpPr>
        <p:grpSpPr>
          <a:xfrm>
            <a:off x="2606517" y="969289"/>
            <a:ext cx="789145" cy="471111"/>
            <a:chOff x="1078286" y="1121689"/>
            <a:chExt cx="789145" cy="471111"/>
          </a:xfrm>
        </p:grpSpPr>
        <p:pic>
          <p:nvPicPr>
            <p:cNvPr id="961" name="Google Shape;961;p79"/>
            <p:cNvPicPr preferRelativeResize="0"/>
            <p:nvPr/>
          </p:nvPicPr>
          <p:blipFill rotWithShape="1">
            <a:blip r:embed="rId6">
              <a:alphaModFix/>
            </a:blip>
            <a:srcRect b="44579" l="0" r="0" t="0"/>
            <a:stretch/>
          </p:blipFill>
          <p:spPr>
            <a:xfrm rot="5400000">
              <a:off x="1288941" y="940878"/>
              <a:ext cx="397678" cy="759301"/>
            </a:xfrm>
            <a:prstGeom prst="rect">
              <a:avLst/>
            </a:prstGeom>
            <a:noFill/>
            <a:ln>
              <a:noFill/>
            </a:ln>
          </p:spPr>
        </p:pic>
        <p:sp>
          <p:nvSpPr>
            <p:cNvPr id="962" name="Google Shape;962;p79"/>
            <p:cNvSpPr/>
            <p:nvPr/>
          </p:nvSpPr>
          <p:spPr>
            <a:xfrm>
              <a:off x="1078286" y="1122700"/>
              <a:ext cx="46200" cy="47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63" name="Google Shape;963;p79"/>
          <p:cNvGrpSpPr/>
          <p:nvPr/>
        </p:nvGrpSpPr>
        <p:grpSpPr>
          <a:xfrm>
            <a:off x="3399047" y="969289"/>
            <a:ext cx="789145" cy="471111"/>
            <a:chOff x="1078286" y="1121689"/>
            <a:chExt cx="789145" cy="471111"/>
          </a:xfrm>
        </p:grpSpPr>
        <p:pic>
          <p:nvPicPr>
            <p:cNvPr id="964" name="Google Shape;964;p79"/>
            <p:cNvPicPr preferRelativeResize="0"/>
            <p:nvPr/>
          </p:nvPicPr>
          <p:blipFill rotWithShape="1">
            <a:blip r:embed="rId6">
              <a:alphaModFix/>
            </a:blip>
            <a:srcRect b="44579" l="0" r="0" t="0"/>
            <a:stretch/>
          </p:blipFill>
          <p:spPr>
            <a:xfrm rot="5400000">
              <a:off x="1288941" y="940878"/>
              <a:ext cx="397678" cy="759301"/>
            </a:xfrm>
            <a:prstGeom prst="rect">
              <a:avLst/>
            </a:prstGeom>
            <a:noFill/>
            <a:ln>
              <a:noFill/>
            </a:ln>
          </p:spPr>
        </p:pic>
        <p:sp>
          <p:nvSpPr>
            <p:cNvPr id="965" name="Google Shape;965;p79"/>
            <p:cNvSpPr/>
            <p:nvPr/>
          </p:nvSpPr>
          <p:spPr>
            <a:xfrm>
              <a:off x="1078286" y="1122700"/>
              <a:ext cx="46200" cy="47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66" name="Google Shape;966;p79"/>
          <p:cNvGrpSpPr/>
          <p:nvPr/>
        </p:nvGrpSpPr>
        <p:grpSpPr>
          <a:xfrm>
            <a:off x="4180169" y="969289"/>
            <a:ext cx="789145" cy="471111"/>
            <a:chOff x="1078286" y="1121689"/>
            <a:chExt cx="789145" cy="471111"/>
          </a:xfrm>
        </p:grpSpPr>
        <p:pic>
          <p:nvPicPr>
            <p:cNvPr id="967" name="Google Shape;967;p79"/>
            <p:cNvPicPr preferRelativeResize="0"/>
            <p:nvPr/>
          </p:nvPicPr>
          <p:blipFill rotWithShape="1">
            <a:blip r:embed="rId6">
              <a:alphaModFix/>
            </a:blip>
            <a:srcRect b="44579" l="0" r="0" t="0"/>
            <a:stretch/>
          </p:blipFill>
          <p:spPr>
            <a:xfrm rot="5400000">
              <a:off x="1288941" y="940878"/>
              <a:ext cx="397678" cy="759301"/>
            </a:xfrm>
            <a:prstGeom prst="rect">
              <a:avLst/>
            </a:prstGeom>
            <a:noFill/>
            <a:ln>
              <a:noFill/>
            </a:ln>
          </p:spPr>
        </p:pic>
        <p:sp>
          <p:nvSpPr>
            <p:cNvPr id="968" name="Google Shape;968;p79"/>
            <p:cNvSpPr/>
            <p:nvPr/>
          </p:nvSpPr>
          <p:spPr>
            <a:xfrm>
              <a:off x="1078286" y="1122700"/>
              <a:ext cx="46200" cy="47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69" name="Google Shape;969;p79"/>
          <p:cNvGrpSpPr/>
          <p:nvPr/>
        </p:nvGrpSpPr>
        <p:grpSpPr>
          <a:xfrm>
            <a:off x="4936388" y="969289"/>
            <a:ext cx="789145" cy="471111"/>
            <a:chOff x="1078286" y="1121689"/>
            <a:chExt cx="789145" cy="471111"/>
          </a:xfrm>
        </p:grpSpPr>
        <p:pic>
          <p:nvPicPr>
            <p:cNvPr id="970" name="Google Shape;970;p79"/>
            <p:cNvPicPr preferRelativeResize="0"/>
            <p:nvPr/>
          </p:nvPicPr>
          <p:blipFill rotWithShape="1">
            <a:blip r:embed="rId6">
              <a:alphaModFix/>
            </a:blip>
            <a:srcRect b="44579" l="0" r="0" t="0"/>
            <a:stretch/>
          </p:blipFill>
          <p:spPr>
            <a:xfrm rot="5400000">
              <a:off x="1288941" y="940878"/>
              <a:ext cx="397678" cy="759301"/>
            </a:xfrm>
            <a:prstGeom prst="rect">
              <a:avLst/>
            </a:prstGeom>
            <a:noFill/>
            <a:ln>
              <a:noFill/>
            </a:ln>
          </p:spPr>
        </p:pic>
        <p:sp>
          <p:nvSpPr>
            <p:cNvPr id="971" name="Google Shape;971;p79"/>
            <p:cNvSpPr/>
            <p:nvPr/>
          </p:nvSpPr>
          <p:spPr>
            <a:xfrm>
              <a:off x="1078286" y="1122700"/>
              <a:ext cx="46200" cy="47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72" name="Google Shape;972;p79"/>
          <p:cNvGrpSpPr/>
          <p:nvPr/>
        </p:nvGrpSpPr>
        <p:grpSpPr>
          <a:xfrm>
            <a:off x="5714359" y="969289"/>
            <a:ext cx="789145" cy="471111"/>
            <a:chOff x="1078286" y="1121689"/>
            <a:chExt cx="789145" cy="471111"/>
          </a:xfrm>
        </p:grpSpPr>
        <p:pic>
          <p:nvPicPr>
            <p:cNvPr id="973" name="Google Shape;973;p79"/>
            <p:cNvPicPr preferRelativeResize="0"/>
            <p:nvPr/>
          </p:nvPicPr>
          <p:blipFill rotWithShape="1">
            <a:blip r:embed="rId6">
              <a:alphaModFix/>
            </a:blip>
            <a:srcRect b="44579" l="0" r="0" t="0"/>
            <a:stretch/>
          </p:blipFill>
          <p:spPr>
            <a:xfrm rot="5400000">
              <a:off x="1288941" y="940878"/>
              <a:ext cx="397678" cy="759301"/>
            </a:xfrm>
            <a:prstGeom prst="rect">
              <a:avLst/>
            </a:prstGeom>
            <a:noFill/>
            <a:ln>
              <a:noFill/>
            </a:ln>
          </p:spPr>
        </p:pic>
        <p:sp>
          <p:nvSpPr>
            <p:cNvPr id="974" name="Google Shape;974;p79"/>
            <p:cNvSpPr/>
            <p:nvPr/>
          </p:nvSpPr>
          <p:spPr>
            <a:xfrm>
              <a:off x="1078286" y="1122700"/>
              <a:ext cx="46200" cy="47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75" name="Google Shape;975;p79"/>
          <p:cNvGrpSpPr/>
          <p:nvPr/>
        </p:nvGrpSpPr>
        <p:grpSpPr>
          <a:xfrm>
            <a:off x="6471239" y="969289"/>
            <a:ext cx="789145" cy="471111"/>
            <a:chOff x="1078286" y="1121689"/>
            <a:chExt cx="789145" cy="471111"/>
          </a:xfrm>
        </p:grpSpPr>
        <p:pic>
          <p:nvPicPr>
            <p:cNvPr id="976" name="Google Shape;976;p79"/>
            <p:cNvPicPr preferRelativeResize="0"/>
            <p:nvPr/>
          </p:nvPicPr>
          <p:blipFill rotWithShape="1">
            <a:blip r:embed="rId6">
              <a:alphaModFix/>
            </a:blip>
            <a:srcRect b="44579" l="0" r="0" t="0"/>
            <a:stretch/>
          </p:blipFill>
          <p:spPr>
            <a:xfrm rot="5400000">
              <a:off x="1288941" y="940878"/>
              <a:ext cx="397678" cy="759301"/>
            </a:xfrm>
            <a:prstGeom prst="rect">
              <a:avLst/>
            </a:prstGeom>
            <a:noFill/>
            <a:ln>
              <a:noFill/>
            </a:ln>
          </p:spPr>
        </p:pic>
        <p:sp>
          <p:nvSpPr>
            <p:cNvPr id="977" name="Google Shape;977;p79"/>
            <p:cNvSpPr/>
            <p:nvPr/>
          </p:nvSpPr>
          <p:spPr>
            <a:xfrm>
              <a:off x="1078286" y="1122700"/>
              <a:ext cx="46200" cy="47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78" name="Google Shape;978;p79"/>
          <p:cNvGrpSpPr/>
          <p:nvPr/>
        </p:nvGrpSpPr>
        <p:grpSpPr>
          <a:xfrm>
            <a:off x="7263769" y="969289"/>
            <a:ext cx="789145" cy="471111"/>
            <a:chOff x="1078286" y="1121689"/>
            <a:chExt cx="789145" cy="471111"/>
          </a:xfrm>
        </p:grpSpPr>
        <p:pic>
          <p:nvPicPr>
            <p:cNvPr id="979" name="Google Shape;979;p79"/>
            <p:cNvPicPr preferRelativeResize="0"/>
            <p:nvPr/>
          </p:nvPicPr>
          <p:blipFill rotWithShape="1">
            <a:blip r:embed="rId6">
              <a:alphaModFix/>
            </a:blip>
            <a:srcRect b="44579" l="0" r="0" t="0"/>
            <a:stretch/>
          </p:blipFill>
          <p:spPr>
            <a:xfrm rot="5400000">
              <a:off x="1288941" y="940878"/>
              <a:ext cx="397678" cy="759301"/>
            </a:xfrm>
            <a:prstGeom prst="rect">
              <a:avLst/>
            </a:prstGeom>
            <a:noFill/>
            <a:ln>
              <a:noFill/>
            </a:ln>
          </p:spPr>
        </p:pic>
        <p:sp>
          <p:nvSpPr>
            <p:cNvPr id="980" name="Google Shape;980;p79"/>
            <p:cNvSpPr/>
            <p:nvPr/>
          </p:nvSpPr>
          <p:spPr>
            <a:xfrm>
              <a:off x="1078286" y="1122700"/>
              <a:ext cx="46200" cy="47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81" name="Google Shape;981;p79"/>
          <p:cNvGrpSpPr/>
          <p:nvPr/>
        </p:nvGrpSpPr>
        <p:grpSpPr>
          <a:xfrm>
            <a:off x="8044891" y="969289"/>
            <a:ext cx="789145" cy="471111"/>
            <a:chOff x="1078286" y="1121689"/>
            <a:chExt cx="789145" cy="471111"/>
          </a:xfrm>
        </p:grpSpPr>
        <p:pic>
          <p:nvPicPr>
            <p:cNvPr id="982" name="Google Shape;982;p79"/>
            <p:cNvPicPr preferRelativeResize="0"/>
            <p:nvPr/>
          </p:nvPicPr>
          <p:blipFill rotWithShape="1">
            <a:blip r:embed="rId6">
              <a:alphaModFix/>
            </a:blip>
            <a:srcRect b="44579" l="0" r="0" t="0"/>
            <a:stretch/>
          </p:blipFill>
          <p:spPr>
            <a:xfrm rot="5400000">
              <a:off x="1288941" y="940878"/>
              <a:ext cx="397678" cy="759301"/>
            </a:xfrm>
            <a:prstGeom prst="rect">
              <a:avLst/>
            </a:prstGeom>
            <a:noFill/>
            <a:ln>
              <a:noFill/>
            </a:ln>
          </p:spPr>
        </p:pic>
        <p:sp>
          <p:nvSpPr>
            <p:cNvPr id="983" name="Google Shape;983;p79"/>
            <p:cNvSpPr/>
            <p:nvPr/>
          </p:nvSpPr>
          <p:spPr>
            <a:xfrm>
              <a:off x="1078286" y="1122700"/>
              <a:ext cx="46200" cy="47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984" name="Google Shape;984;p79"/>
          <p:cNvSpPr txBox="1"/>
          <p:nvPr/>
        </p:nvSpPr>
        <p:spPr>
          <a:xfrm>
            <a:off x="1486275" y="2536225"/>
            <a:ext cx="560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5</a:t>
            </a:r>
            <a:r>
              <a:rPr lang="en-GB" sz="1800">
                <a:latin typeface="Lexend"/>
                <a:ea typeface="Lexend"/>
                <a:cs typeface="Lexend"/>
                <a:sym typeface="Lexend"/>
              </a:rPr>
              <a:t> cm</a:t>
            </a:r>
            <a:endParaRPr sz="1800">
              <a:latin typeface="Lexend"/>
              <a:ea typeface="Lexend"/>
              <a:cs typeface="Lexend"/>
              <a:sym typeface="Lexend"/>
            </a:endParaRPr>
          </a:p>
        </p:txBody>
      </p:sp>
      <p:sp>
        <p:nvSpPr>
          <p:cNvPr id="985" name="Google Shape;985;p79"/>
          <p:cNvSpPr txBox="1"/>
          <p:nvPr/>
        </p:nvSpPr>
        <p:spPr>
          <a:xfrm>
            <a:off x="2755505" y="2536225"/>
            <a:ext cx="825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a:t>
            </a:r>
            <a:r>
              <a:rPr lang="en-GB" sz="1800">
                <a:latin typeface="Lexend"/>
                <a:ea typeface="Lexend"/>
                <a:cs typeface="Lexend"/>
                <a:sym typeface="Lexend"/>
              </a:rPr>
              <a:t> cm</a:t>
            </a:r>
            <a:endParaRPr sz="1800">
              <a:latin typeface="Lexend"/>
              <a:ea typeface="Lexend"/>
              <a:cs typeface="Lexend"/>
              <a:sym typeface="Lexend"/>
            </a:endParaRPr>
          </a:p>
        </p:txBody>
      </p:sp>
      <p:sp>
        <p:nvSpPr>
          <p:cNvPr id="986" name="Google Shape;986;p79"/>
          <p:cNvSpPr txBox="1"/>
          <p:nvPr/>
        </p:nvSpPr>
        <p:spPr>
          <a:xfrm>
            <a:off x="4077491" y="2536225"/>
            <a:ext cx="825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987" name="Google Shape;987;p79"/>
          <p:cNvSpPr txBox="1"/>
          <p:nvPr/>
        </p:nvSpPr>
        <p:spPr>
          <a:xfrm>
            <a:off x="5399477" y="2536225"/>
            <a:ext cx="825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a:t>
            </a:r>
            <a:r>
              <a:rPr lang="en-GB" sz="1800">
                <a:latin typeface="Lexend"/>
                <a:ea typeface="Lexend"/>
                <a:cs typeface="Lexend"/>
                <a:sym typeface="Lexend"/>
              </a:rPr>
              <a:t>0 cm</a:t>
            </a:r>
            <a:endParaRPr sz="1800">
              <a:latin typeface="Lexend"/>
              <a:ea typeface="Lexend"/>
              <a:cs typeface="Lexend"/>
              <a:sym typeface="Lexend"/>
            </a:endParaRPr>
          </a:p>
        </p:txBody>
      </p:sp>
      <p:sp>
        <p:nvSpPr>
          <p:cNvPr id="988" name="Google Shape;988;p79"/>
          <p:cNvSpPr txBox="1"/>
          <p:nvPr/>
        </p:nvSpPr>
        <p:spPr>
          <a:xfrm>
            <a:off x="6753017" y="2536225"/>
            <a:ext cx="825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25 cm</a:t>
            </a:r>
            <a:endParaRPr sz="1800">
              <a:latin typeface="Lexend"/>
              <a:ea typeface="Lexend"/>
              <a:cs typeface="Lexend"/>
              <a:sym typeface="Lexend"/>
            </a:endParaRPr>
          </a:p>
        </p:txBody>
      </p:sp>
      <p:sp>
        <p:nvSpPr>
          <p:cNvPr id="989" name="Google Shape;989;p79"/>
          <p:cNvSpPr txBox="1"/>
          <p:nvPr/>
        </p:nvSpPr>
        <p:spPr>
          <a:xfrm>
            <a:off x="8009124" y="2536225"/>
            <a:ext cx="825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a:t>
            </a:r>
            <a:r>
              <a:rPr lang="en-GB" sz="1800">
                <a:latin typeface="Lexend"/>
                <a:ea typeface="Lexend"/>
                <a:cs typeface="Lexend"/>
                <a:sym typeface="Lexend"/>
              </a:rPr>
              <a:t>0 cm</a:t>
            </a:r>
            <a:endParaRPr sz="1800">
              <a:latin typeface="Lexend"/>
              <a:ea typeface="Lexend"/>
              <a:cs typeface="Lexend"/>
              <a:sym typeface="Lexend"/>
            </a:endParaRPr>
          </a:p>
        </p:txBody>
      </p:sp>
      <p:sp>
        <p:nvSpPr>
          <p:cNvPr id="990" name="Google Shape;990;p79"/>
          <p:cNvSpPr txBox="1"/>
          <p:nvPr/>
        </p:nvSpPr>
        <p:spPr>
          <a:xfrm>
            <a:off x="1747275" y="3751150"/>
            <a:ext cx="612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6</a:t>
            </a:r>
            <a:r>
              <a:rPr lang="en-GB" sz="1800">
                <a:latin typeface="Lexend"/>
                <a:ea typeface="Lexend"/>
                <a:cs typeface="Lexend"/>
                <a:sym typeface="Lexend"/>
              </a:rPr>
              <a:t> cm</a:t>
            </a:r>
            <a:endParaRPr sz="1800">
              <a:latin typeface="Lexend"/>
              <a:ea typeface="Lexend"/>
              <a:cs typeface="Lexend"/>
              <a:sym typeface="Lexend"/>
            </a:endParaRPr>
          </a:p>
        </p:txBody>
      </p:sp>
      <p:sp>
        <p:nvSpPr>
          <p:cNvPr id="991" name="Google Shape;991;p79"/>
          <p:cNvSpPr txBox="1"/>
          <p:nvPr/>
        </p:nvSpPr>
        <p:spPr>
          <a:xfrm>
            <a:off x="3044222" y="3751150"/>
            <a:ext cx="802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12 cm</a:t>
            </a:r>
            <a:endParaRPr sz="1800">
              <a:latin typeface="Lexend"/>
              <a:ea typeface="Lexend"/>
              <a:cs typeface="Lexend"/>
              <a:sym typeface="Lexend"/>
            </a:endParaRPr>
          </a:p>
        </p:txBody>
      </p:sp>
      <p:sp>
        <p:nvSpPr>
          <p:cNvPr id="992" name="Google Shape;992;p79"/>
          <p:cNvSpPr txBox="1"/>
          <p:nvPr/>
        </p:nvSpPr>
        <p:spPr>
          <a:xfrm>
            <a:off x="4567696" y="3751150"/>
            <a:ext cx="802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18 cm</a:t>
            </a:r>
            <a:endParaRPr sz="1800">
              <a:latin typeface="Lexend"/>
              <a:ea typeface="Lexend"/>
              <a:cs typeface="Lexend"/>
              <a:sym typeface="Lexend"/>
            </a:endParaRPr>
          </a:p>
        </p:txBody>
      </p:sp>
      <p:sp>
        <p:nvSpPr>
          <p:cNvPr id="993" name="Google Shape;993;p79"/>
          <p:cNvSpPr txBox="1"/>
          <p:nvPr/>
        </p:nvSpPr>
        <p:spPr>
          <a:xfrm>
            <a:off x="6173263" y="3751150"/>
            <a:ext cx="802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24</a:t>
            </a:r>
            <a:r>
              <a:rPr lang="en-GB" sz="1800">
                <a:latin typeface="Lexend"/>
                <a:ea typeface="Lexend"/>
                <a:cs typeface="Lexend"/>
                <a:sym typeface="Lexend"/>
              </a:rPr>
              <a:t> cm</a:t>
            </a:r>
            <a:endParaRPr sz="1800">
              <a:latin typeface="Lexend"/>
              <a:ea typeface="Lexend"/>
              <a:cs typeface="Lexend"/>
              <a:sym typeface="Lexend"/>
            </a:endParaRPr>
          </a:p>
        </p:txBody>
      </p:sp>
      <p:sp>
        <p:nvSpPr>
          <p:cNvPr id="994" name="Google Shape;994;p79"/>
          <p:cNvSpPr txBox="1"/>
          <p:nvPr/>
        </p:nvSpPr>
        <p:spPr>
          <a:xfrm>
            <a:off x="7828465" y="3751150"/>
            <a:ext cx="802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30</a:t>
            </a:r>
            <a:r>
              <a:rPr lang="en-GB" sz="1800">
                <a:latin typeface="Lexend"/>
                <a:ea typeface="Lexend"/>
                <a:cs typeface="Lexend"/>
                <a:sym typeface="Lexend"/>
              </a:rPr>
              <a:t> cm</a:t>
            </a:r>
            <a:endParaRPr sz="1800">
              <a:latin typeface="Lexend"/>
              <a:ea typeface="Lexend"/>
              <a:cs typeface="Lexend"/>
              <a:sym typeface="Lexend"/>
            </a:endParaRPr>
          </a:p>
        </p:txBody>
      </p:sp>
      <p:sp>
        <p:nvSpPr>
          <p:cNvPr id="995" name="Google Shape;995;p79"/>
          <p:cNvSpPr txBox="1"/>
          <p:nvPr/>
        </p:nvSpPr>
        <p:spPr>
          <a:xfrm>
            <a:off x="324000" y="4162200"/>
            <a:ext cx="8194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They want to make them the same length.  How long will the chains be?</a:t>
            </a:r>
            <a:endParaRPr sz="1800">
              <a:latin typeface="Lexend"/>
              <a:ea typeface="Lexend"/>
              <a:cs typeface="Lexend"/>
              <a:sym typeface="Lexend"/>
            </a:endParaRPr>
          </a:p>
        </p:txBody>
      </p:sp>
      <p:sp>
        <p:nvSpPr>
          <p:cNvPr id="996" name="Google Shape;996;p79"/>
          <p:cNvSpPr/>
          <p:nvPr/>
        </p:nvSpPr>
        <p:spPr>
          <a:xfrm>
            <a:off x="5076575" y="4142025"/>
            <a:ext cx="3250200" cy="33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7" name="Google Shape;997;p79"/>
          <p:cNvSpPr txBox="1"/>
          <p:nvPr/>
        </p:nvSpPr>
        <p:spPr>
          <a:xfrm>
            <a:off x="324000" y="4543200"/>
            <a:ext cx="8194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shortest daisy chain </a:t>
            </a:r>
            <a:r>
              <a:rPr lang="en-GB" sz="1800">
                <a:latin typeface="Lexend"/>
                <a:ea typeface="Lexend"/>
                <a:cs typeface="Lexend"/>
                <a:sym typeface="Lexend"/>
              </a:rPr>
              <a:t>would be 30 cm.</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9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80"/>
          <p:cNvSpPr/>
          <p:nvPr/>
        </p:nvSpPr>
        <p:spPr>
          <a:xfrm>
            <a:off x="4904213" y="2990515"/>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LCM in a context</a:t>
            </a:r>
            <a:endParaRPr/>
          </a:p>
        </p:txBody>
      </p:sp>
      <p:sp>
        <p:nvSpPr>
          <p:cNvPr id="1004" name="Google Shape;1004;p80"/>
          <p:cNvSpPr txBox="1"/>
          <p:nvPr>
            <p:ph idx="1" type="body"/>
          </p:nvPr>
        </p:nvSpPr>
        <p:spPr>
          <a:xfrm>
            <a:off x="324000" y="759300"/>
            <a:ext cx="8237700" cy="129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Izzy is splitting her stickers into smaller groups.</a:t>
            </a:r>
            <a:endParaRPr/>
          </a:p>
          <a:p>
            <a:pPr indent="0" lvl="0" marL="0" rtl="0" algn="l">
              <a:spcBef>
                <a:spcPts val="1000"/>
              </a:spcBef>
              <a:spcAft>
                <a:spcPts val="0"/>
              </a:spcAft>
              <a:buNone/>
            </a:pPr>
            <a:r>
              <a:rPr lang="en-GB"/>
              <a:t>She can make groups of 10, 12 and 28 with none left over.</a:t>
            </a:r>
            <a:endParaRPr/>
          </a:p>
          <a:p>
            <a:pPr indent="0" lvl="0" marL="0" rtl="0" algn="l">
              <a:spcBef>
                <a:spcPts val="1000"/>
              </a:spcBef>
              <a:spcAft>
                <a:spcPts val="1000"/>
              </a:spcAft>
              <a:buNone/>
            </a:pPr>
            <a:r>
              <a:rPr lang="en-GB"/>
              <a:t>What is the smallest number of stickers she has?</a:t>
            </a:r>
            <a:endParaRPr/>
          </a:p>
        </p:txBody>
      </p:sp>
      <p:sp>
        <p:nvSpPr>
          <p:cNvPr id="1005" name="Google Shape;1005;p80"/>
          <p:cNvSpPr txBox="1"/>
          <p:nvPr/>
        </p:nvSpPr>
        <p:spPr>
          <a:xfrm>
            <a:off x="323990" y="3187500"/>
            <a:ext cx="1639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12</a:t>
            </a:r>
            <a:r>
              <a:rPr lang="en-GB" sz="2200">
                <a:latin typeface="Lexend"/>
                <a:ea typeface="Lexend"/>
                <a:cs typeface="Lexend"/>
                <a:sym typeface="Lexend"/>
              </a:rPr>
              <a:t> = </a:t>
            </a:r>
            <a:r>
              <a:rPr lang="en-GB" sz="2200">
                <a:solidFill>
                  <a:schemeClr val="dk1"/>
                </a:solidFill>
                <a:latin typeface="Lexend"/>
                <a:ea typeface="Lexend"/>
                <a:cs typeface="Lexend"/>
                <a:sym typeface="Lexend"/>
              </a:rPr>
              <a:t>2</a:t>
            </a:r>
            <a:r>
              <a:rPr baseline="30000" lang="en-GB" sz="2200">
                <a:solidFill>
                  <a:schemeClr val="dk1"/>
                </a:solidFill>
                <a:latin typeface="Lexend"/>
                <a:ea typeface="Lexend"/>
                <a:cs typeface="Lexend"/>
                <a:sym typeface="Lexend"/>
              </a:rPr>
              <a:t>2</a:t>
            </a:r>
            <a:r>
              <a:rPr lang="en-GB" sz="2200">
                <a:solidFill>
                  <a:schemeClr val="dk1"/>
                </a:solidFill>
                <a:latin typeface="Lexend"/>
                <a:ea typeface="Lexend"/>
                <a:cs typeface="Lexend"/>
                <a:sym typeface="Lexend"/>
              </a:rPr>
              <a:t> × 3</a:t>
            </a:r>
            <a:endParaRPr sz="2200">
              <a:latin typeface="Lexend"/>
              <a:ea typeface="Lexend"/>
              <a:cs typeface="Lexend"/>
              <a:sym typeface="Lexend"/>
            </a:endParaRPr>
          </a:p>
        </p:txBody>
      </p:sp>
      <p:sp>
        <p:nvSpPr>
          <p:cNvPr id="1006" name="Google Shape;1006;p80"/>
          <p:cNvSpPr txBox="1"/>
          <p:nvPr/>
        </p:nvSpPr>
        <p:spPr>
          <a:xfrm>
            <a:off x="324000" y="2588400"/>
            <a:ext cx="1639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a:t>
            </a:r>
            <a:r>
              <a:rPr lang="en-GB" sz="2200">
                <a:latin typeface="Lexend"/>
                <a:ea typeface="Lexend"/>
                <a:cs typeface="Lexend"/>
                <a:sym typeface="Lexend"/>
              </a:rPr>
              <a:t> = 2 × 5</a:t>
            </a:r>
            <a:endParaRPr sz="2200">
              <a:latin typeface="Lexend"/>
              <a:ea typeface="Lexend"/>
              <a:cs typeface="Lexend"/>
              <a:sym typeface="Lexend"/>
            </a:endParaRPr>
          </a:p>
        </p:txBody>
      </p:sp>
      <p:grpSp>
        <p:nvGrpSpPr>
          <p:cNvPr id="1007" name="Google Shape;1007;p80"/>
          <p:cNvGrpSpPr/>
          <p:nvPr/>
        </p:nvGrpSpPr>
        <p:grpSpPr>
          <a:xfrm>
            <a:off x="4381113" y="2475865"/>
            <a:ext cx="2786578" cy="1148700"/>
            <a:chOff x="628800" y="1887021"/>
            <a:chExt cx="2786578" cy="1148700"/>
          </a:xfrm>
        </p:grpSpPr>
        <p:sp>
          <p:nvSpPr>
            <p:cNvPr id="1008" name="Google Shape;1008;p80"/>
            <p:cNvSpPr/>
            <p:nvPr/>
          </p:nvSpPr>
          <p:spPr>
            <a:xfrm>
              <a:off x="628800"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80"/>
            <p:cNvSpPr/>
            <p:nvPr/>
          </p:nvSpPr>
          <p:spPr>
            <a:xfrm>
              <a:off x="1561678"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0" name="Google Shape;1010;p80"/>
          <p:cNvSpPr txBox="1"/>
          <p:nvPr/>
        </p:nvSpPr>
        <p:spPr>
          <a:xfrm>
            <a:off x="6505425" y="2804790"/>
            <a:ext cx="211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p:txBody>
      </p:sp>
      <p:sp>
        <p:nvSpPr>
          <p:cNvPr id="1011" name="Google Shape;1011;p80"/>
          <p:cNvSpPr txBox="1"/>
          <p:nvPr/>
        </p:nvSpPr>
        <p:spPr>
          <a:xfrm>
            <a:off x="5668500" y="3081990"/>
            <a:ext cx="211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a:t>
            </a:r>
            <a:endParaRPr baseline="30000" sz="1800">
              <a:latin typeface="Lexend"/>
              <a:ea typeface="Lexend"/>
              <a:cs typeface="Lexend"/>
              <a:sym typeface="Lexend"/>
            </a:endParaRPr>
          </a:p>
        </p:txBody>
      </p:sp>
      <p:sp>
        <p:nvSpPr>
          <p:cNvPr id="1012" name="Google Shape;1012;p80"/>
          <p:cNvSpPr txBox="1"/>
          <p:nvPr/>
        </p:nvSpPr>
        <p:spPr>
          <a:xfrm>
            <a:off x="324000" y="4467000"/>
            <a:ext cx="7989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The smallest number of stickers she can have is 420.</a:t>
            </a:r>
            <a:endParaRPr sz="2200">
              <a:latin typeface="Lexend"/>
              <a:ea typeface="Lexend"/>
              <a:cs typeface="Lexend"/>
              <a:sym typeface="Lexend"/>
            </a:endParaRPr>
          </a:p>
        </p:txBody>
      </p:sp>
      <p:sp>
        <p:nvSpPr>
          <p:cNvPr id="1013" name="Google Shape;1013;p80"/>
          <p:cNvSpPr txBox="1"/>
          <p:nvPr/>
        </p:nvSpPr>
        <p:spPr>
          <a:xfrm>
            <a:off x="323990" y="3712950"/>
            <a:ext cx="1639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28</a:t>
            </a:r>
            <a:r>
              <a:rPr lang="en-GB" sz="2200">
                <a:latin typeface="Lexend"/>
                <a:ea typeface="Lexend"/>
                <a:cs typeface="Lexend"/>
                <a:sym typeface="Lexend"/>
              </a:rPr>
              <a:t> = </a:t>
            </a:r>
            <a:r>
              <a:rPr lang="en-GB" sz="2200">
                <a:solidFill>
                  <a:schemeClr val="dk1"/>
                </a:solidFill>
                <a:latin typeface="Lexend"/>
                <a:ea typeface="Lexend"/>
                <a:cs typeface="Lexend"/>
                <a:sym typeface="Lexend"/>
              </a:rPr>
              <a:t>2</a:t>
            </a:r>
            <a:r>
              <a:rPr baseline="30000" lang="en-GB" sz="2200">
                <a:solidFill>
                  <a:schemeClr val="dk1"/>
                </a:solidFill>
                <a:latin typeface="Lexend"/>
                <a:ea typeface="Lexend"/>
                <a:cs typeface="Lexend"/>
                <a:sym typeface="Lexend"/>
              </a:rPr>
              <a:t>2</a:t>
            </a:r>
            <a:r>
              <a:rPr lang="en-GB" sz="2200">
                <a:solidFill>
                  <a:schemeClr val="dk1"/>
                </a:solidFill>
                <a:latin typeface="Lexend"/>
                <a:ea typeface="Lexend"/>
                <a:cs typeface="Lexend"/>
                <a:sym typeface="Lexend"/>
              </a:rPr>
              <a:t> × 7</a:t>
            </a:r>
            <a:endParaRPr sz="2200">
              <a:latin typeface="Lexend"/>
              <a:ea typeface="Lexend"/>
              <a:cs typeface="Lexend"/>
              <a:sym typeface="Lexend"/>
            </a:endParaRPr>
          </a:p>
        </p:txBody>
      </p:sp>
      <p:sp>
        <p:nvSpPr>
          <p:cNvPr id="1014" name="Google Shape;1014;p80"/>
          <p:cNvSpPr txBox="1"/>
          <p:nvPr/>
        </p:nvSpPr>
        <p:spPr>
          <a:xfrm>
            <a:off x="6256800" y="3267490"/>
            <a:ext cx="211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a:t>
            </a:r>
            <a:endParaRPr baseline="30000" sz="1800">
              <a:latin typeface="Lexend"/>
              <a:ea typeface="Lexend"/>
              <a:cs typeface="Lexend"/>
              <a:sym typeface="Lexend"/>
            </a:endParaRPr>
          </a:p>
        </p:txBody>
      </p:sp>
      <p:sp>
        <p:nvSpPr>
          <p:cNvPr id="1015" name="Google Shape;1015;p80"/>
          <p:cNvSpPr txBox="1"/>
          <p:nvPr/>
        </p:nvSpPr>
        <p:spPr>
          <a:xfrm>
            <a:off x="4904225" y="2829865"/>
            <a:ext cx="211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5</a:t>
            </a:r>
            <a:endParaRPr baseline="30000" sz="1800">
              <a:latin typeface="Lexend"/>
              <a:ea typeface="Lexend"/>
              <a:cs typeface="Lexend"/>
              <a:sym typeface="Lexend"/>
            </a:endParaRPr>
          </a:p>
        </p:txBody>
      </p:sp>
      <p:sp>
        <p:nvSpPr>
          <p:cNvPr id="1016" name="Google Shape;1016;p80"/>
          <p:cNvSpPr txBox="1"/>
          <p:nvPr/>
        </p:nvSpPr>
        <p:spPr>
          <a:xfrm>
            <a:off x="5774400" y="3671590"/>
            <a:ext cx="211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7</a:t>
            </a:r>
            <a:endParaRPr baseline="30000" sz="1800">
              <a:latin typeface="Lexend"/>
              <a:ea typeface="Lexend"/>
              <a:cs typeface="Lexend"/>
              <a:sym typeface="Lexend"/>
            </a:endParaRPr>
          </a:p>
        </p:txBody>
      </p:sp>
      <p:sp>
        <p:nvSpPr>
          <p:cNvPr id="1017" name="Google Shape;1017;p80"/>
          <p:cNvSpPr/>
          <p:nvPr/>
        </p:nvSpPr>
        <p:spPr>
          <a:xfrm>
            <a:off x="324000" y="1776450"/>
            <a:ext cx="6996600" cy="33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8" name="Google Shape;1018;p80"/>
          <p:cNvSpPr txBox="1"/>
          <p:nvPr/>
        </p:nvSpPr>
        <p:spPr>
          <a:xfrm>
            <a:off x="3513525" y="2165975"/>
            <a:ext cx="2154900" cy="262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Prime factors of </a:t>
            </a:r>
            <a:r>
              <a:rPr lang="en-GB" sz="1600">
                <a:latin typeface="Lexend"/>
                <a:ea typeface="Lexend"/>
                <a:cs typeface="Lexend"/>
                <a:sym typeface="Lexend"/>
              </a:rPr>
              <a:t>10</a:t>
            </a:r>
            <a:endParaRPr sz="1600">
              <a:solidFill>
                <a:srgbClr val="000000"/>
              </a:solidFill>
              <a:latin typeface="Lexend"/>
              <a:ea typeface="Lexend"/>
              <a:cs typeface="Lexend"/>
              <a:sym typeface="Lexend"/>
            </a:endParaRPr>
          </a:p>
        </p:txBody>
      </p:sp>
      <p:sp>
        <p:nvSpPr>
          <p:cNvPr id="1019" name="Google Shape;1019;p80"/>
          <p:cNvSpPr txBox="1"/>
          <p:nvPr/>
        </p:nvSpPr>
        <p:spPr>
          <a:xfrm>
            <a:off x="6180126" y="2165971"/>
            <a:ext cx="2060700" cy="262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Prime factors of </a:t>
            </a:r>
            <a:r>
              <a:rPr lang="en-GB" sz="1600">
                <a:latin typeface="Lexend"/>
                <a:ea typeface="Lexend"/>
                <a:cs typeface="Lexend"/>
                <a:sym typeface="Lexend"/>
              </a:rPr>
              <a:t>12</a:t>
            </a:r>
            <a:endParaRPr sz="1600">
              <a:solidFill>
                <a:srgbClr val="000000"/>
              </a:solidFill>
              <a:latin typeface="Lexend"/>
              <a:ea typeface="Lexend"/>
              <a:cs typeface="Lexend"/>
              <a:sym typeface="Lexend"/>
            </a:endParaRPr>
          </a:p>
        </p:txBody>
      </p:sp>
      <p:sp>
        <p:nvSpPr>
          <p:cNvPr id="1020" name="Google Shape;1020;p80"/>
          <p:cNvSpPr txBox="1"/>
          <p:nvPr/>
        </p:nvSpPr>
        <p:spPr>
          <a:xfrm>
            <a:off x="4744050" y="4139225"/>
            <a:ext cx="2282700" cy="262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Prime factors of </a:t>
            </a:r>
            <a:r>
              <a:rPr lang="en-GB" sz="1600">
                <a:latin typeface="Lexend"/>
                <a:ea typeface="Lexend"/>
                <a:cs typeface="Lexend"/>
                <a:sym typeface="Lexend"/>
              </a:rPr>
              <a:t>28</a:t>
            </a:r>
            <a:endParaRPr sz="1600">
              <a:solidFill>
                <a:srgbClr val="000000"/>
              </a:solidFill>
              <a:latin typeface="Lexend"/>
              <a:ea typeface="Lexend"/>
              <a:cs typeface="Lexend"/>
              <a:sym typeface="Lexend"/>
            </a:endParaRPr>
          </a:p>
        </p:txBody>
      </p:sp>
      <p:sp>
        <p:nvSpPr>
          <p:cNvPr id="1021" name="Google Shape;1021;p80"/>
          <p:cNvSpPr/>
          <p:nvPr/>
        </p:nvSpPr>
        <p:spPr>
          <a:xfrm>
            <a:off x="942629" y="2588405"/>
            <a:ext cx="172200" cy="3600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2" name="Google Shape;1022;p80"/>
          <p:cNvSpPr/>
          <p:nvPr/>
        </p:nvSpPr>
        <p:spPr>
          <a:xfrm>
            <a:off x="909672" y="3176850"/>
            <a:ext cx="314100" cy="3600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3" name="Google Shape;1023;p80"/>
          <p:cNvSpPr/>
          <p:nvPr/>
        </p:nvSpPr>
        <p:spPr>
          <a:xfrm>
            <a:off x="918013" y="3669525"/>
            <a:ext cx="314100" cy="3600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LCM in a context</a:t>
            </a:r>
            <a:endParaRPr/>
          </a:p>
        </p:txBody>
      </p:sp>
      <p:sp>
        <p:nvSpPr>
          <p:cNvPr id="1029" name="Google Shape;1029;p81"/>
          <p:cNvSpPr txBox="1"/>
          <p:nvPr>
            <p:ph idx="4294967295" type="title"/>
          </p:nvPr>
        </p:nvSpPr>
        <p:spPr>
          <a:xfrm>
            <a:off x="324000" y="748775"/>
            <a:ext cx="7885200" cy="75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GB"/>
              <a:t>Which Venn diagram and answer </a:t>
            </a:r>
            <a:r>
              <a:rPr b="0" lang="en-GB"/>
              <a:t>is correct for the LCM of 2</a:t>
            </a:r>
            <a:r>
              <a:rPr b="0" baseline="30000" lang="en-GB"/>
              <a:t>3</a:t>
            </a:r>
            <a:r>
              <a:rPr b="0" lang="en-GB"/>
              <a:t> × 3</a:t>
            </a:r>
            <a:r>
              <a:rPr b="0" baseline="30000" lang="en-GB"/>
              <a:t>2</a:t>
            </a:r>
            <a:r>
              <a:rPr b="0" lang="en-GB"/>
              <a:t> × 5</a:t>
            </a:r>
            <a:r>
              <a:rPr b="0" baseline="30000" lang="en-GB"/>
              <a:t>2</a:t>
            </a:r>
            <a:r>
              <a:rPr b="0" lang="en-GB"/>
              <a:t> and </a:t>
            </a:r>
            <a:r>
              <a:rPr b="0" lang="en-GB"/>
              <a:t>2</a:t>
            </a:r>
            <a:r>
              <a:rPr b="0" baseline="30000" lang="en-GB"/>
              <a:t>2</a:t>
            </a:r>
            <a:r>
              <a:rPr b="0" lang="en-GB"/>
              <a:t> × 3</a:t>
            </a:r>
            <a:r>
              <a:rPr b="0" baseline="30000" lang="en-GB"/>
              <a:t>3</a:t>
            </a:r>
            <a:r>
              <a:rPr b="0" lang="en-GB"/>
              <a:t> × 5</a:t>
            </a:r>
            <a:endParaRPr b="0" baseline="30000"/>
          </a:p>
        </p:txBody>
      </p:sp>
      <p:grpSp>
        <p:nvGrpSpPr>
          <p:cNvPr id="1030" name="Google Shape;1030;p81"/>
          <p:cNvGrpSpPr/>
          <p:nvPr/>
        </p:nvGrpSpPr>
        <p:grpSpPr>
          <a:xfrm>
            <a:off x="324001" y="1909850"/>
            <a:ext cx="2634178" cy="1341796"/>
            <a:chOff x="628800" y="1887021"/>
            <a:chExt cx="2634178" cy="1148700"/>
          </a:xfrm>
        </p:grpSpPr>
        <p:sp>
          <p:nvSpPr>
            <p:cNvPr id="1031" name="Google Shape;1031;p81"/>
            <p:cNvSpPr/>
            <p:nvPr/>
          </p:nvSpPr>
          <p:spPr>
            <a:xfrm>
              <a:off x="628800"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81"/>
            <p:cNvSpPr/>
            <p:nvPr/>
          </p:nvSpPr>
          <p:spPr>
            <a:xfrm>
              <a:off x="1409278"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3" name="Google Shape;1033;p81"/>
          <p:cNvSpPr txBox="1"/>
          <p:nvPr/>
        </p:nvSpPr>
        <p:spPr>
          <a:xfrm>
            <a:off x="730625" y="2146472"/>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a:t>
            </a:r>
            <a:r>
              <a:rPr baseline="30000" lang="en-GB" sz="2200">
                <a:latin typeface="Lexend"/>
                <a:ea typeface="Lexend"/>
                <a:cs typeface="Lexend"/>
                <a:sym typeface="Lexend"/>
              </a:rPr>
              <a:t>2</a:t>
            </a:r>
            <a:endParaRPr baseline="30000" sz="2200">
              <a:latin typeface="Lexend"/>
              <a:ea typeface="Lexend"/>
              <a:cs typeface="Lexend"/>
              <a:sym typeface="Lexend"/>
            </a:endParaRPr>
          </a:p>
        </p:txBody>
      </p:sp>
      <p:sp>
        <p:nvSpPr>
          <p:cNvPr id="1034" name="Google Shape;1034;p81"/>
          <p:cNvSpPr txBox="1"/>
          <p:nvPr/>
        </p:nvSpPr>
        <p:spPr>
          <a:xfrm>
            <a:off x="1428485" y="2438022"/>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a:t>
            </a:r>
            <a:r>
              <a:rPr baseline="30000" lang="en-GB" sz="2200">
                <a:solidFill>
                  <a:schemeClr val="dk1"/>
                </a:solidFill>
                <a:latin typeface="Lexend"/>
                <a:ea typeface="Lexend"/>
                <a:cs typeface="Lexend"/>
                <a:sym typeface="Lexend"/>
              </a:rPr>
              <a:t>2</a:t>
            </a:r>
            <a:endParaRPr baseline="30000" sz="2200">
              <a:latin typeface="Lexend"/>
              <a:ea typeface="Lexend"/>
              <a:cs typeface="Lexend"/>
              <a:sym typeface="Lexend"/>
            </a:endParaRPr>
          </a:p>
        </p:txBody>
      </p:sp>
      <p:sp>
        <p:nvSpPr>
          <p:cNvPr id="1035" name="Google Shape;1035;p81"/>
          <p:cNvSpPr txBox="1"/>
          <p:nvPr/>
        </p:nvSpPr>
        <p:spPr>
          <a:xfrm>
            <a:off x="1658417" y="2738084"/>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a:t>
            </a:r>
            <a:endParaRPr baseline="30000" sz="2200">
              <a:latin typeface="Lexend"/>
              <a:ea typeface="Lexend"/>
              <a:cs typeface="Lexend"/>
              <a:sym typeface="Lexend"/>
            </a:endParaRPr>
          </a:p>
        </p:txBody>
      </p:sp>
      <p:sp>
        <p:nvSpPr>
          <p:cNvPr id="1036" name="Google Shape;1036;p81"/>
          <p:cNvSpPr txBox="1"/>
          <p:nvPr/>
        </p:nvSpPr>
        <p:spPr>
          <a:xfrm>
            <a:off x="539201" y="3376850"/>
            <a:ext cx="25053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2</a:t>
            </a:r>
            <a:r>
              <a:rPr baseline="30000" lang="en-GB" sz="2000">
                <a:latin typeface="Lexend"/>
                <a:ea typeface="Lexend"/>
                <a:cs typeface="Lexend"/>
                <a:sym typeface="Lexend"/>
              </a:rPr>
              <a:t>4</a:t>
            </a:r>
            <a:r>
              <a:rPr lang="en-GB" sz="2000">
                <a:latin typeface="Lexend"/>
                <a:ea typeface="Lexend"/>
                <a:cs typeface="Lexend"/>
                <a:sym typeface="Lexend"/>
              </a:rPr>
              <a:t> × 3</a:t>
            </a:r>
            <a:r>
              <a:rPr baseline="30000" lang="en-GB" sz="2000">
                <a:latin typeface="Lexend"/>
                <a:ea typeface="Lexend"/>
                <a:cs typeface="Lexend"/>
                <a:sym typeface="Lexend"/>
              </a:rPr>
              <a:t>3</a:t>
            </a:r>
            <a:r>
              <a:rPr lang="en-GB" sz="2000">
                <a:latin typeface="Lexend"/>
                <a:ea typeface="Lexend"/>
                <a:cs typeface="Lexend"/>
                <a:sym typeface="Lexend"/>
              </a:rPr>
              <a:t> × 5</a:t>
            </a:r>
            <a:r>
              <a:rPr baseline="30000" lang="en-GB" sz="2000">
                <a:solidFill>
                  <a:schemeClr val="dk1"/>
                </a:solidFill>
                <a:latin typeface="Lexend"/>
                <a:ea typeface="Lexend"/>
                <a:cs typeface="Lexend"/>
                <a:sym typeface="Lexend"/>
              </a:rPr>
              <a:t>2</a:t>
            </a:r>
            <a:r>
              <a:rPr lang="en-GB" sz="2000">
                <a:latin typeface="Lexend"/>
                <a:ea typeface="Lexend"/>
                <a:cs typeface="Lexend"/>
                <a:sym typeface="Lexend"/>
              </a:rPr>
              <a:t> = 10 800</a:t>
            </a:r>
            <a:endParaRPr sz="2000">
              <a:latin typeface="Lexend"/>
              <a:ea typeface="Lexend"/>
              <a:cs typeface="Lexend"/>
              <a:sym typeface="Lexend"/>
            </a:endParaRPr>
          </a:p>
        </p:txBody>
      </p:sp>
      <p:sp>
        <p:nvSpPr>
          <p:cNvPr id="1037" name="Google Shape;1037;p81"/>
          <p:cNvSpPr txBox="1"/>
          <p:nvPr/>
        </p:nvSpPr>
        <p:spPr>
          <a:xfrm>
            <a:off x="1003217" y="2854197"/>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a:t>
            </a:r>
            <a:endParaRPr baseline="30000" sz="2200">
              <a:latin typeface="Lexend"/>
              <a:ea typeface="Lexend"/>
              <a:cs typeface="Lexend"/>
              <a:sym typeface="Lexend"/>
            </a:endParaRPr>
          </a:p>
        </p:txBody>
      </p:sp>
      <p:sp>
        <p:nvSpPr>
          <p:cNvPr id="1038" name="Google Shape;1038;p81"/>
          <p:cNvSpPr txBox="1"/>
          <p:nvPr/>
        </p:nvSpPr>
        <p:spPr>
          <a:xfrm>
            <a:off x="1595360" y="2099309"/>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a:t>
            </a:r>
            <a:endParaRPr baseline="30000" sz="2200">
              <a:latin typeface="Lexend"/>
              <a:ea typeface="Lexend"/>
              <a:cs typeface="Lexend"/>
              <a:sym typeface="Lexend"/>
            </a:endParaRPr>
          </a:p>
        </p:txBody>
      </p:sp>
      <p:sp>
        <p:nvSpPr>
          <p:cNvPr id="1039" name="Google Shape;1039;p81"/>
          <p:cNvSpPr txBox="1"/>
          <p:nvPr/>
        </p:nvSpPr>
        <p:spPr>
          <a:xfrm>
            <a:off x="2270935" y="2099334"/>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a:t>
            </a:r>
            <a:endParaRPr baseline="30000" sz="2200">
              <a:latin typeface="Lexend"/>
              <a:ea typeface="Lexend"/>
              <a:cs typeface="Lexend"/>
              <a:sym typeface="Lexend"/>
            </a:endParaRPr>
          </a:p>
        </p:txBody>
      </p:sp>
      <p:sp>
        <p:nvSpPr>
          <p:cNvPr id="1040" name="Google Shape;1040;p81"/>
          <p:cNvSpPr txBox="1"/>
          <p:nvPr/>
        </p:nvSpPr>
        <p:spPr>
          <a:xfrm>
            <a:off x="2389492" y="2709759"/>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a:t>
            </a:r>
            <a:endParaRPr baseline="30000" sz="2200">
              <a:latin typeface="Lexend"/>
              <a:ea typeface="Lexend"/>
              <a:cs typeface="Lexend"/>
              <a:sym typeface="Lexend"/>
            </a:endParaRPr>
          </a:p>
        </p:txBody>
      </p:sp>
      <p:grpSp>
        <p:nvGrpSpPr>
          <p:cNvPr id="1041" name="Google Shape;1041;p81"/>
          <p:cNvGrpSpPr/>
          <p:nvPr/>
        </p:nvGrpSpPr>
        <p:grpSpPr>
          <a:xfrm>
            <a:off x="3323251" y="1909850"/>
            <a:ext cx="2634178" cy="1341796"/>
            <a:chOff x="628800" y="1887021"/>
            <a:chExt cx="2634178" cy="1148700"/>
          </a:xfrm>
        </p:grpSpPr>
        <p:sp>
          <p:nvSpPr>
            <p:cNvPr id="1042" name="Google Shape;1042;p81"/>
            <p:cNvSpPr/>
            <p:nvPr/>
          </p:nvSpPr>
          <p:spPr>
            <a:xfrm>
              <a:off x="628800"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81"/>
            <p:cNvSpPr/>
            <p:nvPr/>
          </p:nvSpPr>
          <p:spPr>
            <a:xfrm>
              <a:off x="1409278"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4" name="Google Shape;1044;p81"/>
          <p:cNvSpPr txBox="1"/>
          <p:nvPr/>
        </p:nvSpPr>
        <p:spPr>
          <a:xfrm>
            <a:off x="4668725" y="2101920"/>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a:t>
            </a:r>
            <a:r>
              <a:rPr baseline="30000" lang="en-GB" sz="2200">
                <a:solidFill>
                  <a:schemeClr val="dk1"/>
                </a:solidFill>
                <a:latin typeface="Lexend"/>
                <a:ea typeface="Lexend"/>
                <a:cs typeface="Lexend"/>
                <a:sym typeface="Lexend"/>
              </a:rPr>
              <a:t>2</a:t>
            </a:r>
            <a:endParaRPr baseline="30000" sz="2200">
              <a:latin typeface="Lexend"/>
              <a:ea typeface="Lexend"/>
              <a:cs typeface="Lexend"/>
              <a:sym typeface="Lexend"/>
            </a:endParaRPr>
          </a:p>
        </p:txBody>
      </p:sp>
      <p:sp>
        <p:nvSpPr>
          <p:cNvPr id="1045" name="Google Shape;1045;p81"/>
          <p:cNvSpPr txBox="1"/>
          <p:nvPr/>
        </p:nvSpPr>
        <p:spPr>
          <a:xfrm>
            <a:off x="4363335" y="2411395"/>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a:t>
            </a:r>
            <a:r>
              <a:rPr baseline="30000" lang="en-GB" sz="2200">
                <a:solidFill>
                  <a:schemeClr val="dk1"/>
                </a:solidFill>
                <a:latin typeface="Lexend"/>
                <a:ea typeface="Lexend"/>
                <a:cs typeface="Lexend"/>
                <a:sym typeface="Lexend"/>
              </a:rPr>
              <a:t>2</a:t>
            </a:r>
            <a:endParaRPr baseline="30000" sz="2200">
              <a:latin typeface="Lexend"/>
              <a:ea typeface="Lexend"/>
              <a:cs typeface="Lexend"/>
              <a:sym typeface="Lexend"/>
            </a:endParaRPr>
          </a:p>
        </p:txBody>
      </p:sp>
      <p:sp>
        <p:nvSpPr>
          <p:cNvPr id="1046" name="Google Shape;1046;p81"/>
          <p:cNvSpPr txBox="1"/>
          <p:nvPr/>
        </p:nvSpPr>
        <p:spPr>
          <a:xfrm>
            <a:off x="4620442" y="2726070"/>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a:t>
            </a:r>
            <a:endParaRPr baseline="30000" sz="2200">
              <a:latin typeface="Lexend"/>
              <a:ea typeface="Lexend"/>
              <a:cs typeface="Lexend"/>
              <a:sym typeface="Lexend"/>
            </a:endParaRPr>
          </a:p>
        </p:txBody>
      </p:sp>
      <p:sp>
        <p:nvSpPr>
          <p:cNvPr id="1047" name="Google Shape;1047;p81"/>
          <p:cNvSpPr txBox="1"/>
          <p:nvPr/>
        </p:nvSpPr>
        <p:spPr>
          <a:xfrm>
            <a:off x="3748601" y="3376850"/>
            <a:ext cx="2118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2</a:t>
            </a:r>
            <a:r>
              <a:rPr baseline="30000" lang="en-GB" sz="2000">
                <a:latin typeface="Lexend"/>
                <a:ea typeface="Lexend"/>
                <a:cs typeface="Lexend"/>
                <a:sym typeface="Lexend"/>
              </a:rPr>
              <a:t>2</a:t>
            </a:r>
            <a:r>
              <a:rPr lang="en-GB" sz="2000">
                <a:latin typeface="Lexend"/>
                <a:ea typeface="Lexend"/>
                <a:cs typeface="Lexend"/>
                <a:sym typeface="Lexend"/>
              </a:rPr>
              <a:t> × 3</a:t>
            </a:r>
            <a:r>
              <a:rPr baseline="30000" lang="en-GB" sz="2000">
                <a:solidFill>
                  <a:schemeClr val="dk1"/>
                </a:solidFill>
                <a:latin typeface="Lexend"/>
                <a:ea typeface="Lexend"/>
                <a:cs typeface="Lexend"/>
                <a:sym typeface="Lexend"/>
              </a:rPr>
              <a:t>2</a:t>
            </a:r>
            <a:r>
              <a:rPr lang="en-GB" sz="2000">
                <a:latin typeface="Lexend"/>
                <a:ea typeface="Lexend"/>
                <a:cs typeface="Lexend"/>
                <a:sym typeface="Lexend"/>
              </a:rPr>
              <a:t> × 5 = 180</a:t>
            </a:r>
            <a:endParaRPr sz="2000">
              <a:latin typeface="Lexend"/>
              <a:ea typeface="Lexend"/>
              <a:cs typeface="Lexend"/>
              <a:sym typeface="Lexend"/>
            </a:endParaRPr>
          </a:p>
        </p:txBody>
      </p:sp>
      <p:sp>
        <p:nvSpPr>
          <p:cNvPr id="1048" name="Google Shape;1048;p81"/>
          <p:cNvSpPr txBox="1"/>
          <p:nvPr/>
        </p:nvSpPr>
        <p:spPr>
          <a:xfrm>
            <a:off x="3552085" y="2205220"/>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a:t>
            </a:r>
            <a:endParaRPr baseline="30000" sz="2200">
              <a:latin typeface="Lexend"/>
              <a:ea typeface="Lexend"/>
              <a:cs typeface="Lexend"/>
              <a:sym typeface="Lexend"/>
            </a:endParaRPr>
          </a:p>
        </p:txBody>
      </p:sp>
      <p:sp>
        <p:nvSpPr>
          <p:cNvPr id="1049" name="Google Shape;1049;p81"/>
          <p:cNvSpPr txBox="1"/>
          <p:nvPr/>
        </p:nvSpPr>
        <p:spPr>
          <a:xfrm>
            <a:off x="3918892" y="2815645"/>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a:t>
            </a:r>
            <a:endParaRPr baseline="30000" sz="2200">
              <a:latin typeface="Lexend"/>
              <a:ea typeface="Lexend"/>
              <a:cs typeface="Lexend"/>
              <a:sym typeface="Lexend"/>
            </a:endParaRPr>
          </a:p>
        </p:txBody>
      </p:sp>
      <p:sp>
        <p:nvSpPr>
          <p:cNvPr id="1050" name="Google Shape;1050;p81"/>
          <p:cNvSpPr txBox="1"/>
          <p:nvPr/>
        </p:nvSpPr>
        <p:spPr>
          <a:xfrm>
            <a:off x="5488042" y="2411395"/>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a:t>
            </a:r>
            <a:endParaRPr baseline="30000" sz="2200">
              <a:latin typeface="Lexend"/>
              <a:ea typeface="Lexend"/>
              <a:cs typeface="Lexend"/>
              <a:sym typeface="Lexend"/>
            </a:endParaRPr>
          </a:p>
        </p:txBody>
      </p:sp>
      <p:grpSp>
        <p:nvGrpSpPr>
          <p:cNvPr id="1051" name="Google Shape;1051;p81"/>
          <p:cNvGrpSpPr/>
          <p:nvPr/>
        </p:nvGrpSpPr>
        <p:grpSpPr>
          <a:xfrm>
            <a:off x="6109626" y="1909850"/>
            <a:ext cx="2634178" cy="1341796"/>
            <a:chOff x="628800" y="1887021"/>
            <a:chExt cx="2634178" cy="1148700"/>
          </a:xfrm>
        </p:grpSpPr>
        <p:sp>
          <p:nvSpPr>
            <p:cNvPr id="1052" name="Google Shape;1052;p81"/>
            <p:cNvSpPr/>
            <p:nvPr/>
          </p:nvSpPr>
          <p:spPr>
            <a:xfrm>
              <a:off x="628800"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81"/>
            <p:cNvSpPr/>
            <p:nvPr/>
          </p:nvSpPr>
          <p:spPr>
            <a:xfrm>
              <a:off x="1409278"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4" name="Google Shape;1054;p81"/>
          <p:cNvSpPr txBox="1"/>
          <p:nvPr/>
        </p:nvSpPr>
        <p:spPr>
          <a:xfrm>
            <a:off x="7455100" y="2153959"/>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a:t>
            </a:r>
            <a:r>
              <a:rPr baseline="30000" lang="en-GB" sz="2200">
                <a:solidFill>
                  <a:schemeClr val="dk1"/>
                </a:solidFill>
                <a:latin typeface="Lexend"/>
                <a:ea typeface="Lexend"/>
                <a:cs typeface="Lexend"/>
                <a:sym typeface="Lexend"/>
              </a:rPr>
              <a:t>2</a:t>
            </a:r>
            <a:endParaRPr baseline="30000" sz="2200">
              <a:latin typeface="Lexend"/>
              <a:ea typeface="Lexend"/>
              <a:cs typeface="Lexend"/>
              <a:sym typeface="Lexend"/>
            </a:endParaRPr>
          </a:p>
        </p:txBody>
      </p:sp>
      <p:sp>
        <p:nvSpPr>
          <p:cNvPr id="1055" name="Google Shape;1055;p81"/>
          <p:cNvSpPr txBox="1"/>
          <p:nvPr/>
        </p:nvSpPr>
        <p:spPr>
          <a:xfrm>
            <a:off x="7149710" y="2463434"/>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a:t>
            </a:r>
            <a:r>
              <a:rPr baseline="30000" lang="en-GB" sz="2200">
                <a:solidFill>
                  <a:schemeClr val="dk1"/>
                </a:solidFill>
                <a:latin typeface="Lexend"/>
                <a:ea typeface="Lexend"/>
                <a:cs typeface="Lexend"/>
                <a:sym typeface="Lexend"/>
              </a:rPr>
              <a:t>2</a:t>
            </a:r>
            <a:endParaRPr baseline="30000" sz="2200">
              <a:latin typeface="Lexend"/>
              <a:ea typeface="Lexend"/>
              <a:cs typeface="Lexend"/>
              <a:sym typeface="Lexend"/>
            </a:endParaRPr>
          </a:p>
        </p:txBody>
      </p:sp>
      <p:sp>
        <p:nvSpPr>
          <p:cNvPr id="1056" name="Google Shape;1056;p81"/>
          <p:cNvSpPr txBox="1"/>
          <p:nvPr/>
        </p:nvSpPr>
        <p:spPr>
          <a:xfrm>
            <a:off x="7406817" y="2778109"/>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a:t>
            </a:r>
            <a:endParaRPr baseline="30000" sz="2200">
              <a:latin typeface="Lexend"/>
              <a:ea typeface="Lexend"/>
              <a:cs typeface="Lexend"/>
              <a:sym typeface="Lexend"/>
            </a:endParaRPr>
          </a:p>
        </p:txBody>
      </p:sp>
      <p:sp>
        <p:nvSpPr>
          <p:cNvPr id="1057" name="Google Shape;1057;p81"/>
          <p:cNvSpPr txBox="1"/>
          <p:nvPr/>
        </p:nvSpPr>
        <p:spPr>
          <a:xfrm>
            <a:off x="6443926" y="3376850"/>
            <a:ext cx="2299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2</a:t>
            </a:r>
            <a:r>
              <a:rPr baseline="30000" lang="en-GB" sz="2000">
                <a:latin typeface="Lexend"/>
                <a:ea typeface="Lexend"/>
                <a:cs typeface="Lexend"/>
                <a:sym typeface="Lexend"/>
              </a:rPr>
              <a:t>3</a:t>
            </a:r>
            <a:r>
              <a:rPr lang="en-GB" sz="2000">
                <a:latin typeface="Lexend"/>
                <a:ea typeface="Lexend"/>
                <a:cs typeface="Lexend"/>
                <a:sym typeface="Lexend"/>
              </a:rPr>
              <a:t> × 3</a:t>
            </a:r>
            <a:r>
              <a:rPr baseline="30000" lang="en-GB" sz="2000">
                <a:solidFill>
                  <a:schemeClr val="dk1"/>
                </a:solidFill>
                <a:latin typeface="Lexend"/>
                <a:ea typeface="Lexend"/>
                <a:cs typeface="Lexend"/>
                <a:sym typeface="Lexend"/>
              </a:rPr>
              <a:t>3</a:t>
            </a:r>
            <a:r>
              <a:rPr lang="en-GB" sz="2000">
                <a:latin typeface="Lexend"/>
                <a:ea typeface="Lexend"/>
                <a:cs typeface="Lexend"/>
                <a:sym typeface="Lexend"/>
              </a:rPr>
              <a:t> × 5</a:t>
            </a:r>
            <a:r>
              <a:rPr baseline="30000" lang="en-GB" sz="2000">
                <a:solidFill>
                  <a:schemeClr val="dk1"/>
                </a:solidFill>
                <a:latin typeface="Lexend"/>
                <a:ea typeface="Lexend"/>
                <a:cs typeface="Lexend"/>
                <a:sym typeface="Lexend"/>
              </a:rPr>
              <a:t>2</a:t>
            </a:r>
            <a:r>
              <a:rPr lang="en-GB" sz="2000">
                <a:latin typeface="Lexend"/>
                <a:ea typeface="Lexend"/>
                <a:cs typeface="Lexend"/>
                <a:sym typeface="Lexend"/>
              </a:rPr>
              <a:t> = 5400</a:t>
            </a:r>
            <a:endParaRPr sz="2000">
              <a:latin typeface="Lexend"/>
              <a:ea typeface="Lexend"/>
              <a:cs typeface="Lexend"/>
              <a:sym typeface="Lexend"/>
            </a:endParaRPr>
          </a:p>
        </p:txBody>
      </p:sp>
      <p:sp>
        <p:nvSpPr>
          <p:cNvPr id="1058" name="Google Shape;1058;p81"/>
          <p:cNvSpPr txBox="1"/>
          <p:nvPr/>
        </p:nvSpPr>
        <p:spPr>
          <a:xfrm>
            <a:off x="6338460" y="2257259"/>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a:t>
            </a:r>
            <a:endParaRPr baseline="30000" sz="2200">
              <a:latin typeface="Lexend"/>
              <a:ea typeface="Lexend"/>
              <a:cs typeface="Lexend"/>
              <a:sym typeface="Lexend"/>
            </a:endParaRPr>
          </a:p>
        </p:txBody>
      </p:sp>
      <p:sp>
        <p:nvSpPr>
          <p:cNvPr id="1059" name="Google Shape;1059;p81"/>
          <p:cNvSpPr txBox="1"/>
          <p:nvPr/>
        </p:nvSpPr>
        <p:spPr>
          <a:xfrm>
            <a:off x="6705267" y="2867684"/>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a:t>
            </a:r>
            <a:endParaRPr baseline="30000" sz="2200">
              <a:latin typeface="Lexend"/>
              <a:ea typeface="Lexend"/>
              <a:cs typeface="Lexend"/>
              <a:sym typeface="Lexend"/>
            </a:endParaRPr>
          </a:p>
        </p:txBody>
      </p:sp>
      <p:sp>
        <p:nvSpPr>
          <p:cNvPr id="1060" name="Google Shape;1060;p81"/>
          <p:cNvSpPr txBox="1"/>
          <p:nvPr/>
        </p:nvSpPr>
        <p:spPr>
          <a:xfrm>
            <a:off x="8274417" y="2463434"/>
            <a:ext cx="30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a:t>
            </a:r>
            <a:endParaRPr baseline="30000" sz="2200">
              <a:latin typeface="Lexend"/>
              <a:ea typeface="Lexend"/>
              <a:cs typeface="Lexend"/>
              <a:sym typeface="Lexend"/>
            </a:endParaRPr>
          </a:p>
        </p:txBody>
      </p:sp>
      <p:grpSp>
        <p:nvGrpSpPr>
          <p:cNvPr id="1061" name="Google Shape;1061;p81"/>
          <p:cNvGrpSpPr/>
          <p:nvPr/>
        </p:nvGrpSpPr>
        <p:grpSpPr>
          <a:xfrm>
            <a:off x="1456191" y="3809850"/>
            <a:ext cx="457200" cy="457200"/>
            <a:chOff x="1020916" y="1442088"/>
            <a:chExt cx="457200" cy="457200"/>
          </a:xfrm>
        </p:grpSpPr>
        <p:pic>
          <p:nvPicPr>
            <p:cNvPr id="1062" name="Google Shape;1062;p8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63" name="Google Shape;1063;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64" name="Google Shape;1064;p81"/>
          <p:cNvGrpSpPr/>
          <p:nvPr/>
        </p:nvGrpSpPr>
        <p:grpSpPr>
          <a:xfrm>
            <a:off x="4343391" y="3809850"/>
            <a:ext cx="457200" cy="457200"/>
            <a:chOff x="1020916" y="1442088"/>
            <a:chExt cx="457200" cy="457200"/>
          </a:xfrm>
        </p:grpSpPr>
        <p:pic>
          <p:nvPicPr>
            <p:cNvPr id="1065" name="Google Shape;1065;p8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66" name="Google Shape;1066;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067" name="Google Shape;1067;p81"/>
          <p:cNvGrpSpPr/>
          <p:nvPr/>
        </p:nvGrpSpPr>
        <p:grpSpPr>
          <a:xfrm>
            <a:off x="7198103" y="3809850"/>
            <a:ext cx="457200" cy="457200"/>
            <a:chOff x="1020916" y="1442088"/>
            <a:chExt cx="457200" cy="457200"/>
          </a:xfrm>
        </p:grpSpPr>
        <p:pic>
          <p:nvPicPr>
            <p:cNvPr id="1068" name="Google Shape;1068;p8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69" name="Google Shape;1069;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pic>
        <p:nvPicPr>
          <p:cNvPr id="1070" name="Google Shape;1070;p81"/>
          <p:cNvPicPr preferRelativeResize="0"/>
          <p:nvPr/>
        </p:nvPicPr>
        <p:blipFill>
          <a:blip r:embed="rId4">
            <a:alphaModFix/>
          </a:blip>
          <a:stretch>
            <a:fillRect/>
          </a:stretch>
        </p:blipFill>
        <p:spPr>
          <a:xfrm>
            <a:off x="8274433" y="39009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8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LCM in context</a:t>
            </a:r>
            <a:endParaRPr/>
          </a:p>
        </p:txBody>
      </p:sp>
      <p:sp>
        <p:nvSpPr>
          <p:cNvPr id="1076" name="Google Shape;1076;p82"/>
          <p:cNvSpPr txBox="1"/>
          <p:nvPr>
            <p:ph idx="1" type="body"/>
          </p:nvPr>
        </p:nvSpPr>
        <p:spPr>
          <a:xfrm>
            <a:off x="324000" y="759300"/>
            <a:ext cx="8237700" cy="1148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solidFill>
                  <a:srgbClr val="000000"/>
                </a:solidFill>
              </a:rPr>
              <a:t>1) </a:t>
            </a:r>
            <a:r>
              <a:rPr lang="en-GB">
                <a:solidFill>
                  <a:srgbClr val="000000"/>
                </a:solidFill>
              </a:rPr>
              <a:t>Jun goes swimming every 4 days and he goes to the cinema every 15 days.  Which is the first day that he does </a:t>
            </a:r>
            <a:r>
              <a:rPr lang="en-GB">
                <a:solidFill>
                  <a:schemeClr val="accent5"/>
                </a:solidFill>
              </a:rPr>
              <a:t>both</a:t>
            </a:r>
            <a:r>
              <a:rPr lang="en-GB">
                <a:solidFill>
                  <a:srgbClr val="000000"/>
                </a:solidFill>
              </a:rPr>
              <a:t>?</a:t>
            </a:r>
            <a:endParaRPr>
              <a:solidFill>
                <a:srgbClr val="000000"/>
              </a:solidFill>
            </a:endParaRPr>
          </a:p>
          <a:p>
            <a:pPr indent="0" lvl="0" marL="0" rtl="0" algn="l">
              <a:spcBef>
                <a:spcPts val="0"/>
              </a:spcBef>
              <a:spcAft>
                <a:spcPts val="10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8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LCM in context</a:t>
            </a:r>
            <a:endParaRPr/>
          </a:p>
        </p:txBody>
      </p:sp>
      <p:sp>
        <p:nvSpPr>
          <p:cNvPr id="1082" name="Google Shape;1082;p83"/>
          <p:cNvSpPr txBox="1"/>
          <p:nvPr>
            <p:ph idx="1" type="body"/>
          </p:nvPr>
        </p:nvSpPr>
        <p:spPr>
          <a:xfrm>
            <a:off x="324000" y="759300"/>
            <a:ext cx="8237700" cy="1078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solidFill>
                  <a:srgbClr val="000000"/>
                </a:solidFill>
              </a:rPr>
              <a:t>2) </a:t>
            </a:r>
            <a:r>
              <a:rPr lang="en-GB">
                <a:solidFill>
                  <a:srgbClr val="000000"/>
                </a:solidFill>
              </a:rPr>
              <a:t>Jacob is baking he can bake 12 cupcakes and 20 biscuits at a time.  He needs to make the same number of each.  What is the smallest amount he can make? </a:t>
            </a:r>
            <a:endParaRPr>
              <a:solidFill>
                <a:srgbClr val="000000"/>
              </a:solidFill>
            </a:endParaRPr>
          </a:p>
          <a:p>
            <a:pPr indent="0" lvl="0" marL="0" rtl="0" algn="l">
              <a:spcBef>
                <a:spcPts val="0"/>
              </a:spcBef>
              <a:spcAft>
                <a:spcPts val="10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8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LCM in context</a:t>
            </a:r>
            <a:endParaRPr/>
          </a:p>
        </p:txBody>
      </p:sp>
      <p:sp>
        <p:nvSpPr>
          <p:cNvPr id="1088" name="Google Shape;1088;p84"/>
          <p:cNvSpPr txBox="1"/>
          <p:nvPr>
            <p:ph idx="1" type="body"/>
          </p:nvPr>
        </p:nvSpPr>
        <p:spPr>
          <a:xfrm>
            <a:off x="324000" y="759300"/>
            <a:ext cx="8237700" cy="1889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solidFill>
                  <a:srgbClr val="000000"/>
                </a:solidFill>
              </a:rPr>
              <a:t>3) </a:t>
            </a:r>
            <a:r>
              <a:rPr lang="en-GB">
                <a:solidFill>
                  <a:srgbClr val="000000"/>
                </a:solidFill>
              </a:rPr>
              <a:t>Sam was making sandwiches for a party.  Bread comes in loaves of 24 slices, cheese in packs of 15 slices and ham in packs of 40 slices.  Each sandwich has 2 slices of bread and 1 slice of cheese and ham.  What is the fewest of each she needs to buy to ensure no wastage?</a:t>
            </a:r>
            <a:endParaRPr>
              <a:solidFill>
                <a:srgbClr val="000000"/>
              </a:solidFill>
            </a:endParaRPr>
          </a:p>
          <a:p>
            <a:pPr indent="0" lvl="0" marL="0" rtl="0" algn="l">
              <a:spcBef>
                <a:spcPts val="0"/>
              </a:spcBef>
              <a:spcAft>
                <a:spcPts val="10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8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LCM in context</a:t>
            </a:r>
            <a:endParaRPr/>
          </a:p>
        </p:txBody>
      </p:sp>
      <p:sp>
        <p:nvSpPr>
          <p:cNvPr id="1094" name="Google Shape;1094;p85"/>
          <p:cNvSpPr txBox="1"/>
          <p:nvPr>
            <p:ph idx="1" type="body"/>
          </p:nvPr>
        </p:nvSpPr>
        <p:spPr>
          <a:xfrm>
            <a:off x="324000" y="2006725"/>
            <a:ext cx="8237700" cy="1994700"/>
          </a:xfrm>
          <a:prstGeom prst="rect">
            <a:avLst/>
          </a:prstGeom>
        </p:spPr>
        <p:txBody>
          <a:bodyPr anchorCtr="0" anchor="t" bIns="0" lIns="0" spcFirstLastPara="1" rIns="0" wrap="square" tIns="0">
            <a:noAutofit/>
          </a:bodyPr>
          <a:lstStyle/>
          <a:p>
            <a:pPr indent="0" lvl="0" marL="457200" rtl="0" algn="l">
              <a:spcBef>
                <a:spcPts val="0"/>
              </a:spcBef>
              <a:spcAft>
                <a:spcPts val="0"/>
              </a:spcAft>
              <a:buNone/>
            </a:pPr>
            <a:r>
              <a:rPr lang="en-GB">
                <a:latin typeface="Kalam"/>
                <a:ea typeface="Kalam"/>
                <a:cs typeface="Kalam"/>
                <a:sym typeface="Kalam"/>
              </a:rPr>
              <a:t>4 = 2</a:t>
            </a:r>
            <a:r>
              <a:rPr baseline="30000" lang="en-GB">
                <a:latin typeface="Kalam"/>
                <a:ea typeface="Kalam"/>
                <a:cs typeface="Kalam"/>
                <a:sym typeface="Kalam"/>
              </a:rPr>
              <a:t>2</a:t>
            </a:r>
            <a:r>
              <a:rPr lang="en-GB">
                <a:latin typeface="Kalam"/>
                <a:ea typeface="Kalam"/>
                <a:cs typeface="Kalam"/>
                <a:sym typeface="Kalam"/>
              </a:rPr>
              <a:t>,</a:t>
            </a:r>
            <a:endParaRPr>
              <a:latin typeface="Kalam"/>
              <a:ea typeface="Kalam"/>
              <a:cs typeface="Kalam"/>
              <a:sym typeface="Kalam"/>
            </a:endParaRPr>
          </a:p>
          <a:p>
            <a:pPr indent="0" lvl="0" marL="457200" rtl="0" algn="l">
              <a:spcBef>
                <a:spcPts val="1000"/>
              </a:spcBef>
              <a:spcAft>
                <a:spcPts val="0"/>
              </a:spcAft>
              <a:buNone/>
            </a:pPr>
            <a:r>
              <a:rPr lang="en-GB">
                <a:latin typeface="Kalam"/>
                <a:ea typeface="Kalam"/>
                <a:cs typeface="Kalam"/>
                <a:sym typeface="Kalam"/>
              </a:rPr>
              <a:t>15 = 3 × 5, </a:t>
            </a:r>
            <a:endParaRPr>
              <a:latin typeface="Kalam"/>
              <a:ea typeface="Kalam"/>
              <a:cs typeface="Kalam"/>
              <a:sym typeface="Kalam"/>
            </a:endParaRPr>
          </a:p>
          <a:p>
            <a:pPr indent="0" lvl="0" marL="457200" rtl="0" algn="l">
              <a:spcBef>
                <a:spcPts val="1000"/>
              </a:spcBef>
              <a:spcAft>
                <a:spcPts val="0"/>
              </a:spcAft>
              <a:buNone/>
            </a:pPr>
            <a:r>
              <a:rPr lang="en-GB">
                <a:latin typeface="Kalam"/>
                <a:ea typeface="Kalam"/>
                <a:cs typeface="Kalam"/>
                <a:sym typeface="Kalam"/>
              </a:rPr>
              <a:t>LCM = </a:t>
            </a:r>
            <a:r>
              <a:rPr lang="en-GB">
                <a:latin typeface="Kalam"/>
                <a:ea typeface="Kalam"/>
                <a:cs typeface="Kalam"/>
                <a:sym typeface="Kalam"/>
              </a:rPr>
              <a:t>2</a:t>
            </a:r>
            <a:r>
              <a:rPr baseline="30000" lang="en-GB">
                <a:latin typeface="Kalam"/>
                <a:ea typeface="Kalam"/>
                <a:cs typeface="Kalam"/>
                <a:sym typeface="Kalam"/>
              </a:rPr>
              <a:t>2</a:t>
            </a:r>
            <a:r>
              <a:rPr lang="en-GB">
                <a:latin typeface="Kalam"/>
                <a:ea typeface="Kalam"/>
                <a:cs typeface="Kalam"/>
                <a:sym typeface="Kalam"/>
              </a:rPr>
              <a:t> × 3 × 5 =</a:t>
            </a:r>
            <a:r>
              <a:rPr baseline="30000" lang="en-GB">
                <a:latin typeface="Kalam"/>
                <a:ea typeface="Kalam"/>
                <a:cs typeface="Kalam"/>
                <a:sym typeface="Kalam"/>
              </a:rPr>
              <a:t> </a:t>
            </a:r>
            <a:r>
              <a:rPr lang="en-GB">
                <a:latin typeface="Kalam"/>
                <a:ea typeface="Kalam"/>
                <a:cs typeface="Kalam"/>
                <a:sym typeface="Kalam"/>
              </a:rPr>
              <a:t>60</a:t>
            </a:r>
            <a:endParaRPr>
              <a:latin typeface="Kalam"/>
              <a:ea typeface="Kalam"/>
              <a:cs typeface="Kalam"/>
              <a:sym typeface="Kalam"/>
            </a:endParaRPr>
          </a:p>
          <a:p>
            <a:pPr indent="0" lvl="0" marL="457200" rtl="0" algn="l">
              <a:spcBef>
                <a:spcPts val="1000"/>
              </a:spcBef>
              <a:spcAft>
                <a:spcPts val="0"/>
              </a:spcAft>
              <a:buNone/>
            </a:pPr>
            <a:r>
              <a:rPr lang="en-GB">
                <a:latin typeface="Kalam"/>
                <a:ea typeface="Kalam"/>
                <a:cs typeface="Kalam"/>
                <a:sym typeface="Kalam"/>
              </a:rPr>
              <a:t>The first day he does both is the 60th day</a:t>
            </a:r>
            <a:endParaRPr>
              <a:latin typeface="Kalam"/>
              <a:ea typeface="Kalam"/>
              <a:cs typeface="Kalam"/>
              <a:sym typeface="Kalam"/>
            </a:endParaRPr>
          </a:p>
          <a:p>
            <a:pPr indent="0" lvl="0" marL="0" rtl="0" algn="l">
              <a:spcBef>
                <a:spcPts val="1000"/>
              </a:spcBef>
              <a:spcAft>
                <a:spcPts val="0"/>
              </a:spcAft>
              <a:buNone/>
            </a:pPr>
            <a:r>
              <a:t/>
            </a:r>
            <a:endParaRPr>
              <a:latin typeface="Kalam"/>
              <a:ea typeface="Kalam"/>
              <a:cs typeface="Kalam"/>
              <a:sym typeface="Kalam"/>
            </a:endParaRPr>
          </a:p>
          <a:p>
            <a:pPr indent="0" lvl="0" marL="0" rtl="0" algn="l">
              <a:spcBef>
                <a:spcPts val="1000"/>
              </a:spcBef>
              <a:spcAft>
                <a:spcPts val="1000"/>
              </a:spcAft>
              <a:buNone/>
            </a:pPr>
            <a:r>
              <a:t/>
            </a:r>
            <a:endParaRPr>
              <a:latin typeface="Kalam"/>
              <a:ea typeface="Kalam"/>
              <a:cs typeface="Kalam"/>
              <a:sym typeface="Kalam"/>
            </a:endParaRPr>
          </a:p>
        </p:txBody>
      </p:sp>
      <p:sp>
        <p:nvSpPr>
          <p:cNvPr id="1095" name="Google Shape;1095;p85"/>
          <p:cNvSpPr txBox="1"/>
          <p:nvPr>
            <p:ph idx="1" type="body"/>
          </p:nvPr>
        </p:nvSpPr>
        <p:spPr>
          <a:xfrm>
            <a:off x="324000" y="759300"/>
            <a:ext cx="8237700" cy="1148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solidFill>
                  <a:srgbClr val="000000"/>
                </a:solidFill>
              </a:rPr>
              <a:t>1) Jun goes swimming every 4 days and he goes to the cinema every 15 days.  Which is the first day that he does </a:t>
            </a:r>
            <a:r>
              <a:rPr lang="en-GB">
                <a:solidFill>
                  <a:schemeClr val="accent5"/>
                </a:solidFill>
              </a:rPr>
              <a:t>both</a:t>
            </a:r>
            <a:r>
              <a:rPr lang="en-GB">
                <a:solidFill>
                  <a:srgbClr val="000000"/>
                </a:solidFill>
              </a:rPr>
              <a:t>?</a:t>
            </a:r>
            <a:endParaRPr>
              <a:solidFill>
                <a:srgbClr val="000000"/>
              </a:solidFill>
            </a:endParaRPr>
          </a:p>
          <a:p>
            <a:pPr indent="0" lvl="0" marL="0" rtl="0" algn="l">
              <a:spcBef>
                <a:spcPts val="0"/>
              </a:spcBef>
              <a:spcAft>
                <a:spcPts val="10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8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LCM in context</a:t>
            </a:r>
            <a:endParaRPr/>
          </a:p>
        </p:txBody>
      </p:sp>
      <p:sp>
        <p:nvSpPr>
          <p:cNvPr id="1101" name="Google Shape;1101;p86"/>
          <p:cNvSpPr txBox="1"/>
          <p:nvPr>
            <p:ph idx="1" type="body"/>
          </p:nvPr>
        </p:nvSpPr>
        <p:spPr>
          <a:xfrm>
            <a:off x="324000" y="2015700"/>
            <a:ext cx="8237700" cy="2511000"/>
          </a:xfrm>
          <a:prstGeom prst="rect">
            <a:avLst/>
          </a:prstGeom>
        </p:spPr>
        <p:txBody>
          <a:bodyPr anchorCtr="0" anchor="t" bIns="0" lIns="0" spcFirstLastPara="1" rIns="0" wrap="square" tIns="0">
            <a:noAutofit/>
          </a:bodyPr>
          <a:lstStyle/>
          <a:p>
            <a:pPr indent="0" lvl="0" marL="457200" rtl="0" algn="l">
              <a:spcBef>
                <a:spcPts val="0"/>
              </a:spcBef>
              <a:spcAft>
                <a:spcPts val="0"/>
              </a:spcAft>
              <a:buNone/>
            </a:pPr>
            <a:r>
              <a:rPr lang="en-GB">
                <a:latin typeface="Kalam"/>
                <a:ea typeface="Kalam"/>
                <a:cs typeface="Kalam"/>
                <a:sym typeface="Kalam"/>
              </a:rPr>
              <a:t>12 = 2</a:t>
            </a:r>
            <a:r>
              <a:rPr baseline="30000" lang="en-GB">
                <a:latin typeface="Kalam"/>
                <a:ea typeface="Kalam"/>
                <a:cs typeface="Kalam"/>
                <a:sym typeface="Kalam"/>
              </a:rPr>
              <a:t>2</a:t>
            </a:r>
            <a:r>
              <a:rPr lang="en-GB">
                <a:latin typeface="Kalam"/>
                <a:ea typeface="Kalam"/>
                <a:cs typeface="Kalam"/>
                <a:sym typeface="Kalam"/>
              </a:rPr>
              <a:t> × 3,</a:t>
            </a:r>
            <a:endParaRPr>
              <a:latin typeface="Kalam"/>
              <a:ea typeface="Kalam"/>
              <a:cs typeface="Kalam"/>
              <a:sym typeface="Kalam"/>
            </a:endParaRPr>
          </a:p>
          <a:p>
            <a:pPr indent="0" lvl="0" marL="457200" rtl="0" algn="l">
              <a:spcBef>
                <a:spcPts val="1000"/>
              </a:spcBef>
              <a:spcAft>
                <a:spcPts val="0"/>
              </a:spcAft>
              <a:buNone/>
            </a:pPr>
            <a:r>
              <a:rPr lang="en-GB">
                <a:latin typeface="Kalam"/>
                <a:ea typeface="Kalam"/>
                <a:cs typeface="Kalam"/>
                <a:sym typeface="Kalam"/>
              </a:rPr>
              <a:t>20 = 2</a:t>
            </a:r>
            <a:r>
              <a:rPr baseline="30000" lang="en-GB">
                <a:latin typeface="Kalam"/>
                <a:ea typeface="Kalam"/>
                <a:cs typeface="Kalam"/>
                <a:sym typeface="Kalam"/>
              </a:rPr>
              <a:t>2</a:t>
            </a:r>
            <a:r>
              <a:rPr lang="en-GB">
                <a:latin typeface="Kalam"/>
                <a:ea typeface="Kalam"/>
                <a:cs typeface="Kalam"/>
                <a:sym typeface="Kalam"/>
              </a:rPr>
              <a:t> × 5, </a:t>
            </a:r>
            <a:endParaRPr>
              <a:latin typeface="Kalam"/>
              <a:ea typeface="Kalam"/>
              <a:cs typeface="Kalam"/>
              <a:sym typeface="Kalam"/>
            </a:endParaRPr>
          </a:p>
          <a:p>
            <a:pPr indent="0" lvl="0" marL="457200" rtl="0" algn="l">
              <a:spcBef>
                <a:spcPts val="1000"/>
              </a:spcBef>
              <a:spcAft>
                <a:spcPts val="0"/>
              </a:spcAft>
              <a:buNone/>
            </a:pPr>
            <a:r>
              <a:rPr lang="en-GB">
                <a:latin typeface="Kalam"/>
                <a:ea typeface="Kalam"/>
                <a:cs typeface="Kalam"/>
                <a:sym typeface="Kalam"/>
              </a:rPr>
              <a:t>LCM = 2</a:t>
            </a:r>
            <a:r>
              <a:rPr baseline="30000" lang="en-GB">
                <a:latin typeface="Kalam"/>
                <a:ea typeface="Kalam"/>
                <a:cs typeface="Kalam"/>
                <a:sym typeface="Kalam"/>
              </a:rPr>
              <a:t>2</a:t>
            </a:r>
            <a:r>
              <a:rPr lang="en-GB">
                <a:latin typeface="Kalam"/>
                <a:ea typeface="Kalam"/>
                <a:cs typeface="Kalam"/>
                <a:sym typeface="Kalam"/>
              </a:rPr>
              <a:t> × 3 × 5 = 60 </a:t>
            </a:r>
            <a:endParaRPr>
              <a:latin typeface="Kalam"/>
              <a:ea typeface="Kalam"/>
              <a:cs typeface="Kalam"/>
              <a:sym typeface="Kalam"/>
            </a:endParaRPr>
          </a:p>
          <a:p>
            <a:pPr indent="0" lvl="0" marL="457200" rtl="0" algn="l">
              <a:spcBef>
                <a:spcPts val="1000"/>
              </a:spcBef>
              <a:spcAft>
                <a:spcPts val="0"/>
              </a:spcAft>
              <a:buNone/>
            </a:pPr>
            <a:r>
              <a:rPr lang="en-GB">
                <a:latin typeface="Kalam"/>
                <a:ea typeface="Kalam"/>
                <a:cs typeface="Kalam"/>
                <a:sym typeface="Kalam"/>
              </a:rPr>
              <a:t>The smallest amount he can make is 60 of each</a:t>
            </a:r>
            <a:endParaRPr>
              <a:latin typeface="Kalam"/>
              <a:ea typeface="Kalam"/>
              <a:cs typeface="Kalam"/>
              <a:sym typeface="Kalam"/>
            </a:endParaRPr>
          </a:p>
          <a:p>
            <a:pPr indent="0" lvl="0" marL="0" rtl="0" algn="l">
              <a:spcBef>
                <a:spcPts val="1000"/>
              </a:spcBef>
              <a:spcAft>
                <a:spcPts val="1000"/>
              </a:spcAft>
              <a:buNone/>
            </a:pPr>
            <a:r>
              <a:t/>
            </a:r>
            <a:endParaRPr>
              <a:latin typeface="Kalam"/>
              <a:ea typeface="Kalam"/>
              <a:cs typeface="Kalam"/>
              <a:sym typeface="Kalam"/>
            </a:endParaRPr>
          </a:p>
        </p:txBody>
      </p:sp>
      <p:sp>
        <p:nvSpPr>
          <p:cNvPr id="1102" name="Google Shape;1102;p86"/>
          <p:cNvSpPr txBox="1"/>
          <p:nvPr>
            <p:ph idx="1" type="body"/>
          </p:nvPr>
        </p:nvSpPr>
        <p:spPr>
          <a:xfrm>
            <a:off x="324000" y="759300"/>
            <a:ext cx="8237700" cy="1078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solidFill>
                  <a:srgbClr val="000000"/>
                </a:solidFill>
              </a:rPr>
              <a:t>2) Jacob is baking he can bake 12 cupcakes and 20 biscuits at a time.  He needs to make the same number of each.  What is the smallest amount he can make? </a:t>
            </a:r>
            <a:endParaRPr>
              <a:solidFill>
                <a:srgbClr val="000000"/>
              </a:solidFill>
            </a:endParaRPr>
          </a:p>
          <a:p>
            <a:pPr indent="0" lvl="0" marL="0" rtl="0" algn="l">
              <a:spcBef>
                <a:spcPts val="0"/>
              </a:spcBef>
              <a:spcAft>
                <a:spcPts val="10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8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LCM in context</a:t>
            </a:r>
            <a:endParaRPr/>
          </a:p>
        </p:txBody>
      </p:sp>
      <p:sp>
        <p:nvSpPr>
          <p:cNvPr id="1108" name="Google Shape;1108;p87"/>
          <p:cNvSpPr txBox="1"/>
          <p:nvPr>
            <p:ph idx="1" type="body"/>
          </p:nvPr>
        </p:nvSpPr>
        <p:spPr>
          <a:xfrm>
            <a:off x="324000" y="2535900"/>
            <a:ext cx="8638500" cy="2447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Each sandwich uses 2 slices of bread so you can make 12 from 1 loaf.</a:t>
            </a:r>
            <a:endParaRPr>
              <a:latin typeface="Kalam"/>
              <a:ea typeface="Kalam"/>
              <a:cs typeface="Kalam"/>
              <a:sym typeface="Kalam"/>
            </a:endParaRPr>
          </a:p>
          <a:p>
            <a:pPr indent="0" lvl="0" marL="457200" rtl="0" algn="l">
              <a:spcBef>
                <a:spcPts val="0"/>
              </a:spcBef>
              <a:spcAft>
                <a:spcPts val="0"/>
              </a:spcAft>
              <a:buNone/>
            </a:pPr>
            <a:r>
              <a:rPr lang="en-GB">
                <a:latin typeface="Kalam"/>
                <a:ea typeface="Kalam"/>
                <a:cs typeface="Kalam"/>
                <a:sym typeface="Kalam"/>
              </a:rPr>
              <a:t>12 = 2</a:t>
            </a:r>
            <a:r>
              <a:rPr baseline="30000" lang="en-GB">
                <a:latin typeface="Kalam"/>
                <a:ea typeface="Kalam"/>
                <a:cs typeface="Kalam"/>
                <a:sym typeface="Kalam"/>
              </a:rPr>
              <a:t>2</a:t>
            </a:r>
            <a:r>
              <a:rPr lang="en-GB">
                <a:latin typeface="Kalam"/>
                <a:ea typeface="Kalam"/>
                <a:cs typeface="Kalam"/>
                <a:sym typeface="Kalam"/>
              </a:rPr>
              <a:t> × 3, </a:t>
            </a:r>
            <a:endParaRPr>
              <a:latin typeface="Kalam"/>
              <a:ea typeface="Kalam"/>
              <a:cs typeface="Kalam"/>
              <a:sym typeface="Kalam"/>
            </a:endParaRPr>
          </a:p>
          <a:p>
            <a:pPr indent="0" lvl="0" marL="457200" rtl="0" algn="l">
              <a:spcBef>
                <a:spcPts val="0"/>
              </a:spcBef>
              <a:spcAft>
                <a:spcPts val="0"/>
              </a:spcAft>
              <a:buNone/>
            </a:pPr>
            <a:r>
              <a:rPr lang="en-GB">
                <a:latin typeface="Kalam"/>
                <a:ea typeface="Kalam"/>
                <a:cs typeface="Kalam"/>
                <a:sym typeface="Kalam"/>
              </a:rPr>
              <a:t>15 = 3 × 5, </a:t>
            </a:r>
            <a:endParaRPr>
              <a:latin typeface="Kalam"/>
              <a:ea typeface="Kalam"/>
              <a:cs typeface="Kalam"/>
              <a:sym typeface="Kalam"/>
            </a:endParaRPr>
          </a:p>
          <a:p>
            <a:pPr indent="0" lvl="0" marL="457200" rtl="0" algn="l">
              <a:spcBef>
                <a:spcPts val="0"/>
              </a:spcBef>
              <a:spcAft>
                <a:spcPts val="0"/>
              </a:spcAft>
              <a:buNone/>
            </a:pPr>
            <a:r>
              <a:rPr lang="en-GB">
                <a:latin typeface="Kalam"/>
                <a:ea typeface="Kalam"/>
                <a:cs typeface="Kalam"/>
                <a:sym typeface="Kalam"/>
              </a:rPr>
              <a:t>40 = 2</a:t>
            </a:r>
            <a:r>
              <a:rPr baseline="30000" lang="en-GB">
                <a:latin typeface="Kalam"/>
                <a:ea typeface="Kalam"/>
                <a:cs typeface="Kalam"/>
                <a:sym typeface="Kalam"/>
              </a:rPr>
              <a:t>3</a:t>
            </a:r>
            <a:r>
              <a:rPr lang="en-GB">
                <a:latin typeface="Kalam"/>
                <a:ea typeface="Kalam"/>
                <a:cs typeface="Kalam"/>
                <a:sym typeface="Kalam"/>
              </a:rPr>
              <a:t> × 5, </a:t>
            </a:r>
            <a:endParaRPr>
              <a:latin typeface="Kalam"/>
              <a:ea typeface="Kalam"/>
              <a:cs typeface="Kalam"/>
              <a:sym typeface="Kalam"/>
            </a:endParaRPr>
          </a:p>
          <a:p>
            <a:pPr indent="0" lvl="0" marL="457200" rtl="0" algn="l">
              <a:spcBef>
                <a:spcPts val="0"/>
              </a:spcBef>
              <a:spcAft>
                <a:spcPts val="0"/>
              </a:spcAft>
              <a:buNone/>
            </a:pPr>
            <a:r>
              <a:rPr lang="en-GB">
                <a:latin typeface="Kalam"/>
                <a:ea typeface="Kalam"/>
                <a:cs typeface="Kalam"/>
                <a:sym typeface="Kalam"/>
              </a:rPr>
              <a:t>LCM = 2</a:t>
            </a:r>
            <a:r>
              <a:rPr baseline="30000" lang="en-GB">
                <a:latin typeface="Kalam"/>
                <a:ea typeface="Kalam"/>
                <a:cs typeface="Kalam"/>
                <a:sym typeface="Kalam"/>
              </a:rPr>
              <a:t>3</a:t>
            </a:r>
            <a:r>
              <a:rPr lang="en-GB">
                <a:latin typeface="Kalam"/>
                <a:ea typeface="Kalam"/>
                <a:cs typeface="Kalam"/>
                <a:sym typeface="Kalam"/>
              </a:rPr>
              <a:t> × 3 × 5 = 120</a:t>
            </a:r>
            <a:endParaRPr>
              <a:latin typeface="Kalam"/>
              <a:ea typeface="Kalam"/>
              <a:cs typeface="Kalam"/>
              <a:sym typeface="Kalam"/>
            </a:endParaRPr>
          </a:p>
          <a:p>
            <a:pPr indent="0" lvl="0" marL="0" rtl="0" algn="l">
              <a:spcBef>
                <a:spcPts val="0"/>
              </a:spcBef>
              <a:spcAft>
                <a:spcPts val="0"/>
              </a:spcAft>
              <a:buNone/>
            </a:pPr>
            <a:r>
              <a:rPr lang="en-GB">
                <a:latin typeface="Kalam"/>
                <a:ea typeface="Kalam"/>
                <a:cs typeface="Kalam"/>
                <a:sym typeface="Kalam"/>
              </a:rPr>
              <a:t>Sam has to buy 120 of each item.</a:t>
            </a:r>
            <a:endParaRPr>
              <a:latin typeface="Kalam"/>
              <a:ea typeface="Kalam"/>
              <a:cs typeface="Kalam"/>
              <a:sym typeface="Kalam"/>
            </a:endParaRPr>
          </a:p>
          <a:p>
            <a:pPr indent="0" lvl="0" marL="0" rtl="0" algn="l">
              <a:spcBef>
                <a:spcPts val="1000"/>
              </a:spcBef>
              <a:spcAft>
                <a:spcPts val="1000"/>
              </a:spcAft>
              <a:buNone/>
            </a:pPr>
            <a:r>
              <a:t/>
            </a:r>
            <a:endParaRPr>
              <a:latin typeface="Kalam"/>
              <a:ea typeface="Kalam"/>
              <a:cs typeface="Kalam"/>
              <a:sym typeface="Kalam"/>
            </a:endParaRPr>
          </a:p>
        </p:txBody>
      </p:sp>
      <p:sp>
        <p:nvSpPr>
          <p:cNvPr id="1109" name="Google Shape;1109;p87"/>
          <p:cNvSpPr txBox="1"/>
          <p:nvPr>
            <p:ph idx="1" type="body"/>
          </p:nvPr>
        </p:nvSpPr>
        <p:spPr>
          <a:xfrm>
            <a:off x="324000" y="759300"/>
            <a:ext cx="8237700" cy="1889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solidFill>
                  <a:srgbClr val="000000"/>
                </a:solidFill>
              </a:rPr>
              <a:t>3) Sam was making sandwiches for a party.  Bread comes in loaves of 24 slices, cheese in packs of 15 slices and ham in packs of 40 slices.  Each sandwich has 2 slices of bread and 1 slice of cheese and ham.  What is the fewest of each she needs to buy to ensure no wastage?</a:t>
            </a:r>
            <a:endParaRPr>
              <a:solidFill>
                <a:srgbClr val="000000"/>
              </a:solidFill>
            </a:endParaRPr>
          </a:p>
          <a:p>
            <a:pPr indent="0" lvl="0" marL="0" rtl="0" algn="l">
              <a:spcBef>
                <a:spcPts val="0"/>
              </a:spcBef>
              <a:spcAft>
                <a:spcPts val="10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88"/>
          <p:cNvSpPr txBox="1"/>
          <p:nvPr>
            <p:ph type="title"/>
          </p:nvPr>
        </p:nvSpPr>
        <p:spPr>
          <a:xfrm>
            <a:off x="1224600" y="1787025"/>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HCF in a context</a:t>
            </a:r>
            <a:endParaRPr/>
          </a:p>
        </p:txBody>
      </p:sp>
      <p:sp>
        <p:nvSpPr>
          <p:cNvPr id="1115" name="Google Shape;1115;p88"/>
          <p:cNvSpPr txBox="1"/>
          <p:nvPr>
            <p:ph idx="2" type="title"/>
          </p:nvPr>
        </p:nvSpPr>
        <p:spPr>
          <a:xfrm>
            <a:off x="1224000" y="2830775"/>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LCM in a context</a:t>
            </a:r>
            <a:endParaRPr/>
          </a:p>
        </p:txBody>
      </p:sp>
      <p:sp>
        <p:nvSpPr>
          <p:cNvPr id="1116" name="Google Shape;1116;p88"/>
          <p:cNvSpPr txBox="1"/>
          <p:nvPr>
            <p:ph idx="3" type="title"/>
          </p:nvPr>
        </p:nvSpPr>
        <p:spPr>
          <a:xfrm>
            <a:off x="1224000" y="3758277"/>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Whether to use HCF or LCM based on the context</a:t>
            </a:r>
            <a:endParaRPr/>
          </a:p>
        </p:txBody>
      </p:sp>
      <p:sp>
        <p:nvSpPr>
          <p:cNvPr id="1117" name="Google Shape;1117;p8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HCF or LCM</a:t>
            </a:r>
            <a:endParaRPr/>
          </a:p>
        </p:txBody>
      </p:sp>
      <p:pic>
        <p:nvPicPr>
          <p:cNvPr id="1118" name="Google Shape;1118;p88"/>
          <p:cNvPicPr preferRelativeResize="0"/>
          <p:nvPr/>
        </p:nvPicPr>
        <p:blipFill>
          <a:blip r:embed="rId3">
            <a:alphaModFix/>
          </a:blip>
          <a:stretch>
            <a:fillRect/>
          </a:stretch>
        </p:blipFill>
        <p:spPr>
          <a:xfrm>
            <a:off x="426475" y="3699687"/>
            <a:ext cx="450575" cy="446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Whether to use HCF or LCM based on the context</a:t>
            </a:r>
            <a:endParaRPr/>
          </a:p>
        </p:txBody>
      </p:sp>
      <p:sp>
        <p:nvSpPr>
          <p:cNvPr id="1124" name="Google Shape;1124;p89"/>
          <p:cNvSpPr txBox="1"/>
          <p:nvPr>
            <p:ph idx="1" type="body"/>
          </p:nvPr>
        </p:nvSpPr>
        <p:spPr>
          <a:xfrm>
            <a:off x="324000" y="759300"/>
            <a:ext cx="8237700" cy="238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Oak Academy are having a fete.</a:t>
            </a:r>
            <a:endParaRPr sz="1800"/>
          </a:p>
          <a:p>
            <a:pPr indent="0" lvl="0" marL="0" rtl="0" algn="l">
              <a:spcBef>
                <a:spcPts val="1000"/>
              </a:spcBef>
              <a:spcAft>
                <a:spcPts val="0"/>
              </a:spcAft>
              <a:buNone/>
            </a:pPr>
            <a:r>
              <a:rPr lang="en-GB" sz="1800"/>
              <a:t>They are going to sell hotdogs.</a:t>
            </a:r>
            <a:endParaRPr sz="1800"/>
          </a:p>
          <a:p>
            <a:pPr indent="0" lvl="0" marL="0" rtl="0" algn="l">
              <a:spcBef>
                <a:spcPts val="1000"/>
              </a:spcBef>
              <a:spcAft>
                <a:spcPts val="0"/>
              </a:spcAft>
              <a:buNone/>
            </a:pPr>
            <a:r>
              <a:rPr lang="en-GB" sz="1800"/>
              <a:t>Sausages come in packs of 12 and rolls in packs of 9.</a:t>
            </a:r>
            <a:endParaRPr sz="1800"/>
          </a:p>
          <a:p>
            <a:pPr indent="0" lvl="0" marL="0" rtl="0" algn="l">
              <a:spcBef>
                <a:spcPts val="1000"/>
              </a:spcBef>
              <a:spcAft>
                <a:spcPts val="0"/>
              </a:spcAft>
              <a:buNone/>
            </a:pPr>
            <a:r>
              <a:rPr lang="en-GB" sz="1800"/>
              <a:t>They don’t want any </a:t>
            </a:r>
            <a:r>
              <a:rPr lang="en-GB" sz="1800"/>
              <a:t>leftovers</a:t>
            </a:r>
            <a:r>
              <a:rPr lang="en-GB" sz="1800"/>
              <a:t>.</a:t>
            </a:r>
            <a:endParaRPr sz="1800"/>
          </a:p>
          <a:p>
            <a:pPr indent="0" lvl="0" marL="0" rtl="0" algn="l">
              <a:spcBef>
                <a:spcPts val="1000"/>
              </a:spcBef>
              <a:spcAft>
                <a:spcPts val="1000"/>
              </a:spcAft>
              <a:buNone/>
            </a:pPr>
            <a:r>
              <a:rPr lang="en-GB" sz="1800"/>
              <a:t>What is the smallest number of hotdogs they can make? </a:t>
            </a:r>
            <a:endParaRPr sz="1800"/>
          </a:p>
        </p:txBody>
      </p:sp>
      <p:sp>
        <p:nvSpPr>
          <p:cNvPr id="1125" name="Google Shape;1125;p89"/>
          <p:cNvSpPr/>
          <p:nvPr/>
        </p:nvSpPr>
        <p:spPr>
          <a:xfrm>
            <a:off x="324000" y="2426790"/>
            <a:ext cx="6261900" cy="43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6" name="Google Shape;1126;p89"/>
          <p:cNvSpPr txBox="1"/>
          <p:nvPr>
            <p:ph idx="1" type="body"/>
          </p:nvPr>
        </p:nvSpPr>
        <p:spPr>
          <a:xfrm>
            <a:off x="324000" y="2913147"/>
            <a:ext cx="16545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 = 2</a:t>
            </a:r>
            <a:r>
              <a:rPr baseline="30000" lang="en-GB" sz="1800"/>
              <a:t>2</a:t>
            </a:r>
            <a:r>
              <a:rPr lang="en-GB" sz="1800"/>
              <a:t> × 3</a:t>
            </a:r>
            <a:endParaRPr sz="1800"/>
          </a:p>
        </p:txBody>
      </p:sp>
      <p:sp>
        <p:nvSpPr>
          <p:cNvPr id="1127" name="Google Shape;1127;p89"/>
          <p:cNvSpPr txBox="1"/>
          <p:nvPr>
            <p:ph idx="1" type="body"/>
          </p:nvPr>
        </p:nvSpPr>
        <p:spPr>
          <a:xfrm>
            <a:off x="324000" y="3399147"/>
            <a:ext cx="16545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a:t>
            </a:r>
            <a:r>
              <a:rPr lang="en-GB" sz="1800"/>
              <a:t>  = 3</a:t>
            </a:r>
            <a:r>
              <a:rPr baseline="30000" lang="en-GB" sz="1800"/>
              <a:t>2</a:t>
            </a:r>
            <a:endParaRPr sz="1800"/>
          </a:p>
        </p:txBody>
      </p:sp>
      <p:grpSp>
        <p:nvGrpSpPr>
          <p:cNvPr id="1128" name="Google Shape;1128;p89"/>
          <p:cNvGrpSpPr/>
          <p:nvPr/>
        </p:nvGrpSpPr>
        <p:grpSpPr>
          <a:xfrm>
            <a:off x="4381113" y="3115327"/>
            <a:ext cx="2786578" cy="1148700"/>
            <a:chOff x="628800" y="1887021"/>
            <a:chExt cx="2786578" cy="1148700"/>
          </a:xfrm>
        </p:grpSpPr>
        <p:sp>
          <p:nvSpPr>
            <p:cNvPr id="1129" name="Google Shape;1129;p89"/>
            <p:cNvSpPr/>
            <p:nvPr/>
          </p:nvSpPr>
          <p:spPr>
            <a:xfrm>
              <a:off x="628800"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89"/>
            <p:cNvSpPr/>
            <p:nvPr/>
          </p:nvSpPr>
          <p:spPr>
            <a:xfrm>
              <a:off x="1561678"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1" name="Google Shape;1131;p89"/>
          <p:cNvSpPr txBox="1"/>
          <p:nvPr/>
        </p:nvSpPr>
        <p:spPr>
          <a:xfrm>
            <a:off x="3783600" y="2836350"/>
            <a:ext cx="2134200" cy="262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Prime factors of </a:t>
            </a:r>
            <a:r>
              <a:rPr lang="en-GB" sz="1600">
                <a:latin typeface="Lexend"/>
                <a:ea typeface="Lexend"/>
                <a:cs typeface="Lexend"/>
                <a:sym typeface="Lexend"/>
              </a:rPr>
              <a:t>12</a:t>
            </a:r>
            <a:endParaRPr sz="1600">
              <a:solidFill>
                <a:srgbClr val="000000"/>
              </a:solidFill>
              <a:latin typeface="Lexend"/>
              <a:ea typeface="Lexend"/>
              <a:cs typeface="Lexend"/>
              <a:sym typeface="Lexend"/>
            </a:endParaRPr>
          </a:p>
        </p:txBody>
      </p:sp>
      <p:sp>
        <p:nvSpPr>
          <p:cNvPr id="1132" name="Google Shape;1132;p89"/>
          <p:cNvSpPr txBox="1"/>
          <p:nvPr/>
        </p:nvSpPr>
        <p:spPr>
          <a:xfrm>
            <a:off x="6516401" y="2836352"/>
            <a:ext cx="2060700" cy="262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Prime factors of </a:t>
            </a:r>
            <a:r>
              <a:rPr lang="en-GB" sz="1600">
                <a:latin typeface="Lexend"/>
                <a:ea typeface="Lexend"/>
                <a:cs typeface="Lexend"/>
                <a:sym typeface="Lexend"/>
              </a:rPr>
              <a:t>9</a:t>
            </a:r>
            <a:endParaRPr sz="1600">
              <a:solidFill>
                <a:srgbClr val="000000"/>
              </a:solidFill>
              <a:latin typeface="Lexend"/>
              <a:ea typeface="Lexend"/>
              <a:cs typeface="Lexend"/>
              <a:sym typeface="Lexend"/>
            </a:endParaRPr>
          </a:p>
        </p:txBody>
      </p:sp>
      <p:sp>
        <p:nvSpPr>
          <p:cNvPr id="1133" name="Google Shape;1133;p89"/>
          <p:cNvSpPr txBox="1"/>
          <p:nvPr>
            <p:ph idx="1" type="body"/>
          </p:nvPr>
        </p:nvSpPr>
        <p:spPr>
          <a:xfrm>
            <a:off x="5103725" y="3221110"/>
            <a:ext cx="2112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endParaRPr sz="1800"/>
          </a:p>
        </p:txBody>
      </p:sp>
      <p:sp>
        <p:nvSpPr>
          <p:cNvPr id="1134" name="Google Shape;1134;p89"/>
          <p:cNvSpPr txBox="1"/>
          <p:nvPr>
            <p:ph idx="1" type="body"/>
          </p:nvPr>
        </p:nvSpPr>
        <p:spPr>
          <a:xfrm>
            <a:off x="4961850" y="3608722"/>
            <a:ext cx="2112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endParaRPr sz="1800"/>
          </a:p>
        </p:txBody>
      </p:sp>
      <p:sp>
        <p:nvSpPr>
          <p:cNvPr id="1135" name="Google Shape;1135;p89"/>
          <p:cNvSpPr txBox="1"/>
          <p:nvPr>
            <p:ph idx="1" type="body"/>
          </p:nvPr>
        </p:nvSpPr>
        <p:spPr>
          <a:xfrm>
            <a:off x="5706500" y="3608722"/>
            <a:ext cx="2112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endParaRPr sz="1800"/>
          </a:p>
        </p:txBody>
      </p:sp>
      <p:sp>
        <p:nvSpPr>
          <p:cNvPr id="1136" name="Google Shape;1136;p89"/>
          <p:cNvSpPr txBox="1"/>
          <p:nvPr>
            <p:ph idx="1" type="body"/>
          </p:nvPr>
        </p:nvSpPr>
        <p:spPr>
          <a:xfrm>
            <a:off x="6585900" y="3535622"/>
            <a:ext cx="2112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endParaRPr sz="1800"/>
          </a:p>
        </p:txBody>
      </p:sp>
      <p:sp>
        <p:nvSpPr>
          <p:cNvPr id="1137" name="Google Shape;1137;p89"/>
          <p:cNvSpPr txBox="1"/>
          <p:nvPr>
            <p:ph idx="1" type="body"/>
          </p:nvPr>
        </p:nvSpPr>
        <p:spPr>
          <a:xfrm>
            <a:off x="324000" y="3912922"/>
            <a:ext cx="35409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Do they need the HCF or LCM?</a:t>
            </a:r>
            <a:endParaRPr sz="1800"/>
          </a:p>
        </p:txBody>
      </p:sp>
      <p:sp>
        <p:nvSpPr>
          <p:cNvPr id="1138" name="Google Shape;1138;p89"/>
          <p:cNvSpPr txBox="1"/>
          <p:nvPr>
            <p:ph idx="1" type="body"/>
          </p:nvPr>
        </p:nvSpPr>
        <p:spPr>
          <a:xfrm>
            <a:off x="324000" y="4426697"/>
            <a:ext cx="39777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They will be buying </a:t>
            </a:r>
            <a:r>
              <a:rPr lang="en-GB" sz="1800">
                <a:solidFill>
                  <a:schemeClr val="accent2"/>
                </a:solidFill>
              </a:rPr>
              <a:t>multiple</a:t>
            </a:r>
            <a:r>
              <a:rPr lang="en-GB" sz="1800"/>
              <a:t> packs.</a:t>
            </a:r>
            <a:endParaRPr sz="1800"/>
          </a:p>
        </p:txBody>
      </p:sp>
      <p:sp>
        <p:nvSpPr>
          <p:cNvPr id="1139" name="Google Shape;1139;p89"/>
          <p:cNvSpPr txBox="1"/>
          <p:nvPr>
            <p:ph idx="1" type="body"/>
          </p:nvPr>
        </p:nvSpPr>
        <p:spPr>
          <a:xfrm>
            <a:off x="4776975" y="4426700"/>
            <a:ext cx="31515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LCM is 2 × 2 × 3 × 3 = 36</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Whether to use HCF or LCM based on the context</a:t>
            </a:r>
            <a:endParaRPr/>
          </a:p>
        </p:txBody>
      </p:sp>
      <p:sp>
        <p:nvSpPr>
          <p:cNvPr id="1145" name="Google Shape;1145;p90"/>
          <p:cNvSpPr txBox="1"/>
          <p:nvPr>
            <p:ph idx="1" type="body"/>
          </p:nvPr>
        </p:nvSpPr>
        <p:spPr>
          <a:xfrm>
            <a:off x="324000" y="583650"/>
            <a:ext cx="8496000" cy="162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Two schools are on a trip.</a:t>
            </a:r>
            <a:endParaRPr sz="1800"/>
          </a:p>
          <a:p>
            <a:pPr indent="0" lvl="0" marL="0" rtl="0" algn="l">
              <a:spcBef>
                <a:spcPts val="1000"/>
              </a:spcBef>
              <a:spcAft>
                <a:spcPts val="0"/>
              </a:spcAft>
              <a:buNone/>
            </a:pPr>
            <a:r>
              <a:rPr lang="en-GB" sz="1800"/>
              <a:t>They need get the students across a lake in boats.</a:t>
            </a:r>
            <a:endParaRPr sz="1800"/>
          </a:p>
          <a:p>
            <a:pPr indent="0" lvl="0" marL="0" rtl="0" algn="l">
              <a:spcBef>
                <a:spcPts val="1000"/>
              </a:spcBef>
              <a:spcAft>
                <a:spcPts val="0"/>
              </a:spcAft>
              <a:buNone/>
            </a:pPr>
            <a:r>
              <a:rPr lang="en-GB" sz="1800"/>
              <a:t>Without mixing the schools and making sure the groups are the same size.</a:t>
            </a:r>
            <a:endParaRPr sz="1800"/>
          </a:p>
          <a:p>
            <a:pPr indent="0" lvl="0" marL="0" rtl="0" algn="l">
              <a:spcBef>
                <a:spcPts val="1000"/>
              </a:spcBef>
              <a:spcAft>
                <a:spcPts val="0"/>
              </a:spcAft>
              <a:buNone/>
            </a:pPr>
            <a:r>
              <a:rPr lang="en-GB" sz="1800"/>
              <a:t>What is the smallest number of crossings needed?</a:t>
            </a:r>
            <a:endParaRPr sz="1800"/>
          </a:p>
          <a:p>
            <a:pPr indent="0" lvl="0" marL="0" rtl="0" algn="l">
              <a:spcBef>
                <a:spcPts val="1000"/>
              </a:spcBef>
              <a:spcAft>
                <a:spcPts val="1000"/>
              </a:spcAft>
              <a:buClr>
                <a:schemeClr val="dk1"/>
              </a:buClr>
              <a:buSzPts val="1100"/>
              <a:buFont typeface="Arial"/>
              <a:buNone/>
            </a:pPr>
            <a:r>
              <a:t/>
            </a:r>
            <a:endParaRPr sz="1800"/>
          </a:p>
        </p:txBody>
      </p:sp>
      <p:sp>
        <p:nvSpPr>
          <p:cNvPr id="1146" name="Google Shape;1146;p90"/>
          <p:cNvSpPr txBox="1"/>
          <p:nvPr>
            <p:ph idx="1" type="body"/>
          </p:nvPr>
        </p:nvSpPr>
        <p:spPr>
          <a:xfrm>
            <a:off x="323625" y="2261538"/>
            <a:ext cx="993000" cy="753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sz="1800"/>
              <a:t>School A</a:t>
            </a:r>
            <a:endParaRPr sz="1800"/>
          </a:p>
          <a:p>
            <a:pPr indent="0" lvl="0" marL="0" rtl="0" algn="ctr">
              <a:spcBef>
                <a:spcPts val="1000"/>
              </a:spcBef>
              <a:spcAft>
                <a:spcPts val="0"/>
              </a:spcAft>
              <a:buNone/>
            </a:pPr>
            <a:r>
              <a:rPr lang="en-GB" sz="1800"/>
              <a:t>120</a:t>
            </a:r>
            <a:endParaRPr sz="1800"/>
          </a:p>
          <a:p>
            <a:pPr indent="0" lvl="0" marL="0" rtl="0" algn="ctr">
              <a:spcBef>
                <a:spcPts val="1000"/>
              </a:spcBef>
              <a:spcAft>
                <a:spcPts val="1000"/>
              </a:spcAft>
              <a:buNone/>
            </a:pPr>
            <a:r>
              <a:t/>
            </a:r>
            <a:endParaRPr sz="1800"/>
          </a:p>
        </p:txBody>
      </p:sp>
      <p:sp>
        <p:nvSpPr>
          <p:cNvPr id="1147" name="Google Shape;1147;p90"/>
          <p:cNvSpPr txBox="1"/>
          <p:nvPr>
            <p:ph idx="1" type="body"/>
          </p:nvPr>
        </p:nvSpPr>
        <p:spPr>
          <a:xfrm>
            <a:off x="1684800" y="2261538"/>
            <a:ext cx="993000" cy="753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sz="1800"/>
              <a:t>School B</a:t>
            </a:r>
            <a:endParaRPr sz="1800"/>
          </a:p>
          <a:p>
            <a:pPr indent="0" lvl="0" marL="0" rtl="0" algn="ctr">
              <a:spcBef>
                <a:spcPts val="1000"/>
              </a:spcBef>
              <a:spcAft>
                <a:spcPts val="0"/>
              </a:spcAft>
              <a:buNone/>
            </a:pPr>
            <a:r>
              <a:rPr lang="en-GB" sz="1800"/>
              <a:t>156</a:t>
            </a:r>
            <a:endParaRPr sz="1800"/>
          </a:p>
          <a:p>
            <a:pPr indent="0" lvl="0" marL="0" rtl="0" algn="ctr">
              <a:spcBef>
                <a:spcPts val="1000"/>
              </a:spcBef>
              <a:spcAft>
                <a:spcPts val="1000"/>
              </a:spcAft>
              <a:buNone/>
            </a:pPr>
            <a:r>
              <a:t/>
            </a:r>
            <a:endParaRPr sz="1800"/>
          </a:p>
        </p:txBody>
      </p:sp>
      <p:sp>
        <p:nvSpPr>
          <p:cNvPr id="1148" name="Google Shape;1148;p90"/>
          <p:cNvSpPr/>
          <p:nvPr/>
        </p:nvSpPr>
        <p:spPr>
          <a:xfrm>
            <a:off x="324000" y="1913525"/>
            <a:ext cx="5601300" cy="297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9" name="Google Shape;1149;p90"/>
          <p:cNvSpPr txBox="1"/>
          <p:nvPr>
            <p:ph idx="1" type="body"/>
          </p:nvPr>
        </p:nvSpPr>
        <p:spPr>
          <a:xfrm>
            <a:off x="324000" y="3045688"/>
            <a:ext cx="16545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120 = 2</a:t>
            </a:r>
            <a:r>
              <a:rPr baseline="30000" lang="en-GB" sz="1800"/>
              <a:t>3</a:t>
            </a:r>
            <a:r>
              <a:rPr lang="en-GB" sz="1800"/>
              <a:t> × 3 </a:t>
            </a:r>
            <a:r>
              <a:rPr lang="en-GB" sz="1800"/>
              <a:t>× 5</a:t>
            </a:r>
            <a:endParaRPr sz="1800"/>
          </a:p>
        </p:txBody>
      </p:sp>
      <p:sp>
        <p:nvSpPr>
          <p:cNvPr id="1150" name="Google Shape;1150;p90"/>
          <p:cNvSpPr txBox="1"/>
          <p:nvPr>
            <p:ph idx="1" type="body"/>
          </p:nvPr>
        </p:nvSpPr>
        <p:spPr>
          <a:xfrm>
            <a:off x="324000" y="3531691"/>
            <a:ext cx="17937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156</a:t>
            </a:r>
            <a:r>
              <a:rPr lang="en-GB" sz="1800"/>
              <a:t>  = 2</a:t>
            </a:r>
            <a:r>
              <a:rPr baseline="30000" lang="en-GB" sz="1800"/>
              <a:t>2</a:t>
            </a:r>
            <a:r>
              <a:rPr lang="en-GB" sz="1800"/>
              <a:t> × 3 </a:t>
            </a:r>
            <a:r>
              <a:rPr lang="en-GB" sz="1800"/>
              <a:t>× 13</a:t>
            </a:r>
            <a:endParaRPr sz="1800"/>
          </a:p>
        </p:txBody>
      </p:sp>
      <p:grpSp>
        <p:nvGrpSpPr>
          <p:cNvPr id="1151" name="Google Shape;1151;p90"/>
          <p:cNvGrpSpPr/>
          <p:nvPr/>
        </p:nvGrpSpPr>
        <p:grpSpPr>
          <a:xfrm>
            <a:off x="4776963" y="3267727"/>
            <a:ext cx="2786578" cy="1148700"/>
            <a:chOff x="628800" y="1887021"/>
            <a:chExt cx="2786578" cy="1148700"/>
          </a:xfrm>
        </p:grpSpPr>
        <p:sp>
          <p:nvSpPr>
            <p:cNvPr id="1152" name="Google Shape;1152;p90"/>
            <p:cNvSpPr/>
            <p:nvPr/>
          </p:nvSpPr>
          <p:spPr>
            <a:xfrm>
              <a:off x="628800"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90"/>
            <p:cNvSpPr/>
            <p:nvPr/>
          </p:nvSpPr>
          <p:spPr>
            <a:xfrm>
              <a:off x="1561678" y="1887021"/>
              <a:ext cx="1853700" cy="1148700"/>
            </a:xfrm>
            <a:prstGeom prst="ellipse">
              <a:avLst/>
            </a:prstGeom>
            <a:no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4" name="Google Shape;1154;p90"/>
          <p:cNvSpPr txBox="1"/>
          <p:nvPr/>
        </p:nvSpPr>
        <p:spPr>
          <a:xfrm>
            <a:off x="3783600" y="2988750"/>
            <a:ext cx="2141700" cy="262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Prime factors of </a:t>
            </a:r>
            <a:r>
              <a:rPr lang="en-GB" sz="1600">
                <a:latin typeface="Lexend"/>
                <a:ea typeface="Lexend"/>
                <a:cs typeface="Lexend"/>
                <a:sym typeface="Lexend"/>
              </a:rPr>
              <a:t>120</a:t>
            </a:r>
            <a:endParaRPr sz="1600">
              <a:solidFill>
                <a:srgbClr val="000000"/>
              </a:solidFill>
              <a:latin typeface="Lexend"/>
              <a:ea typeface="Lexend"/>
              <a:cs typeface="Lexend"/>
              <a:sym typeface="Lexend"/>
            </a:endParaRPr>
          </a:p>
        </p:txBody>
      </p:sp>
      <p:sp>
        <p:nvSpPr>
          <p:cNvPr id="1155" name="Google Shape;1155;p90"/>
          <p:cNvSpPr txBox="1"/>
          <p:nvPr/>
        </p:nvSpPr>
        <p:spPr>
          <a:xfrm>
            <a:off x="6516400" y="2988750"/>
            <a:ext cx="2217600" cy="262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Prime factors of 156</a:t>
            </a:r>
            <a:endParaRPr sz="1600">
              <a:solidFill>
                <a:srgbClr val="000000"/>
              </a:solidFill>
              <a:latin typeface="Lexend"/>
              <a:ea typeface="Lexend"/>
              <a:cs typeface="Lexend"/>
              <a:sym typeface="Lexend"/>
            </a:endParaRPr>
          </a:p>
        </p:txBody>
      </p:sp>
      <p:sp>
        <p:nvSpPr>
          <p:cNvPr id="1156" name="Google Shape;1156;p90"/>
          <p:cNvSpPr txBox="1"/>
          <p:nvPr>
            <p:ph idx="1" type="body"/>
          </p:nvPr>
        </p:nvSpPr>
        <p:spPr>
          <a:xfrm>
            <a:off x="5911513" y="3511450"/>
            <a:ext cx="3018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r>
              <a:rPr baseline="30000" lang="en-GB" sz="1800"/>
              <a:t>2</a:t>
            </a:r>
            <a:endParaRPr baseline="30000" sz="1800"/>
          </a:p>
        </p:txBody>
      </p:sp>
      <p:sp>
        <p:nvSpPr>
          <p:cNvPr id="1157" name="Google Shape;1157;p90"/>
          <p:cNvSpPr txBox="1"/>
          <p:nvPr>
            <p:ph idx="1" type="body"/>
          </p:nvPr>
        </p:nvSpPr>
        <p:spPr>
          <a:xfrm>
            <a:off x="5006400" y="3535622"/>
            <a:ext cx="2112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endParaRPr sz="1800"/>
          </a:p>
        </p:txBody>
      </p:sp>
      <p:sp>
        <p:nvSpPr>
          <p:cNvPr id="1158" name="Google Shape;1158;p90"/>
          <p:cNvSpPr txBox="1"/>
          <p:nvPr>
            <p:ph idx="1" type="body"/>
          </p:nvPr>
        </p:nvSpPr>
        <p:spPr>
          <a:xfrm>
            <a:off x="5956800" y="3916622"/>
            <a:ext cx="2112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endParaRPr sz="1800"/>
          </a:p>
        </p:txBody>
      </p:sp>
      <p:sp>
        <p:nvSpPr>
          <p:cNvPr id="1159" name="Google Shape;1159;p90"/>
          <p:cNvSpPr txBox="1"/>
          <p:nvPr>
            <p:ph idx="1" type="body"/>
          </p:nvPr>
        </p:nvSpPr>
        <p:spPr>
          <a:xfrm>
            <a:off x="6837375" y="3688025"/>
            <a:ext cx="3018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3</a:t>
            </a:r>
            <a:endParaRPr sz="1800"/>
          </a:p>
        </p:txBody>
      </p:sp>
      <p:sp>
        <p:nvSpPr>
          <p:cNvPr id="1160" name="Google Shape;1160;p90"/>
          <p:cNvSpPr txBox="1"/>
          <p:nvPr>
            <p:ph idx="1" type="body"/>
          </p:nvPr>
        </p:nvSpPr>
        <p:spPr>
          <a:xfrm>
            <a:off x="324000" y="3859670"/>
            <a:ext cx="35409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Do they need the HCF or LCM?</a:t>
            </a:r>
            <a:endParaRPr sz="1800"/>
          </a:p>
        </p:txBody>
      </p:sp>
      <p:sp>
        <p:nvSpPr>
          <p:cNvPr id="1161" name="Google Shape;1161;p90"/>
          <p:cNvSpPr txBox="1"/>
          <p:nvPr>
            <p:ph idx="1" type="body"/>
          </p:nvPr>
        </p:nvSpPr>
        <p:spPr>
          <a:xfrm>
            <a:off x="324000" y="4234425"/>
            <a:ext cx="4500000" cy="585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They will be </a:t>
            </a:r>
            <a:r>
              <a:rPr lang="en-GB" sz="1800">
                <a:solidFill>
                  <a:schemeClr val="accent2"/>
                </a:solidFill>
              </a:rPr>
              <a:t>splitting</a:t>
            </a:r>
            <a:r>
              <a:rPr lang="en-GB" sz="1800"/>
              <a:t> the students into smaller groups.</a:t>
            </a:r>
            <a:endParaRPr sz="1800"/>
          </a:p>
        </p:txBody>
      </p:sp>
      <p:sp>
        <p:nvSpPr>
          <p:cNvPr id="1162" name="Google Shape;1162;p90"/>
          <p:cNvSpPr txBox="1"/>
          <p:nvPr>
            <p:ph idx="1" type="body"/>
          </p:nvPr>
        </p:nvSpPr>
        <p:spPr>
          <a:xfrm>
            <a:off x="5026250" y="4512225"/>
            <a:ext cx="23382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HCF is 2</a:t>
            </a:r>
            <a:r>
              <a:rPr baseline="30000" lang="en-GB" sz="1800"/>
              <a:t>2</a:t>
            </a:r>
            <a:r>
              <a:rPr lang="en-GB" sz="1800"/>
              <a:t> × 3 = 12</a:t>
            </a:r>
            <a:endParaRPr sz="1800"/>
          </a:p>
        </p:txBody>
      </p:sp>
      <p:sp>
        <p:nvSpPr>
          <p:cNvPr id="1163" name="Google Shape;1163;p90"/>
          <p:cNvSpPr txBox="1"/>
          <p:nvPr>
            <p:ph idx="1" type="body"/>
          </p:nvPr>
        </p:nvSpPr>
        <p:spPr>
          <a:xfrm>
            <a:off x="5217600" y="3886622"/>
            <a:ext cx="211200" cy="30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pic>
        <p:nvPicPr>
          <p:cNvPr id="1168" name="Google Shape;1168;p91"/>
          <p:cNvPicPr preferRelativeResize="0"/>
          <p:nvPr/>
        </p:nvPicPr>
        <p:blipFill rotWithShape="1">
          <a:blip r:embed="rId3">
            <a:alphaModFix/>
          </a:blip>
          <a:srcRect b="43690" l="0" r="57905" t="0"/>
          <a:stretch/>
        </p:blipFill>
        <p:spPr>
          <a:xfrm flipH="1">
            <a:off x="1439925" y="2155500"/>
            <a:ext cx="2226775" cy="1548875"/>
          </a:xfrm>
          <a:prstGeom prst="rect">
            <a:avLst/>
          </a:prstGeom>
          <a:noFill/>
          <a:ln>
            <a:noFill/>
          </a:ln>
        </p:spPr>
      </p:pic>
      <p:sp>
        <p:nvSpPr>
          <p:cNvPr id="1169" name="Google Shape;1169;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Whether to use HCF or LCM based on the context</a:t>
            </a:r>
            <a:endParaRPr/>
          </a:p>
        </p:txBody>
      </p:sp>
      <p:sp>
        <p:nvSpPr>
          <p:cNvPr id="1170" name="Google Shape;1170;p91"/>
          <p:cNvSpPr txBox="1"/>
          <p:nvPr>
            <p:ph idx="1" type="body"/>
          </p:nvPr>
        </p:nvSpPr>
        <p:spPr>
          <a:xfrm>
            <a:off x="324000" y="759300"/>
            <a:ext cx="8237700" cy="125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Andeep is making bracelets. He wants each one to be the same.</a:t>
            </a:r>
            <a:endParaRPr/>
          </a:p>
          <a:p>
            <a:pPr indent="0" lvl="0" marL="0" rtl="0" algn="l">
              <a:spcBef>
                <a:spcPts val="1000"/>
              </a:spcBef>
              <a:spcAft>
                <a:spcPts val="1000"/>
              </a:spcAft>
              <a:buNone/>
            </a:pPr>
            <a:r>
              <a:rPr lang="en-GB"/>
              <a:t>He has 24 red beads, 32 yellow beads and 50 white beads.</a:t>
            </a:r>
            <a:endParaRPr/>
          </a:p>
        </p:txBody>
      </p:sp>
      <p:sp>
        <p:nvSpPr>
          <p:cNvPr id="1171" name="Google Shape;1171;p91"/>
          <p:cNvSpPr txBox="1"/>
          <p:nvPr>
            <p:ph idx="1" type="body"/>
          </p:nvPr>
        </p:nvSpPr>
        <p:spPr>
          <a:xfrm>
            <a:off x="1698112" y="2269190"/>
            <a:ext cx="1968600" cy="1091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To work this out I need to find the LCM.</a:t>
            </a:r>
            <a:endParaRPr/>
          </a:p>
        </p:txBody>
      </p:sp>
      <p:sp>
        <p:nvSpPr>
          <p:cNvPr id="1172" name="Google Shape;1172;p91"/>
          <p:cNvSpPr txBox="1"/>
          <p:nvPr>
            <p:ph idx="1" type="body"/>
          </p:nvPr>
        </p:nvSpPr>
        <p:spPr>
          <a:xfrm>
            <a:off x="4572000" y="2571750"/>
            <a:ext cx="4248000" cy="204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No, he needs to work out the HCF.  The LCM would mean increasing the number of beads.</a:t>
            </a:r>
            <a:endParaRPr>
              <a:latin typeface="Kalam"/>
              <a:ea typeface="Kalam"/>
              <a:cs typeface="Kalam"/>
              <a:sym typeface="Kalam"/>
            </a:endParaRPr>
          </a:p>
          <a:p>
            <a:pPr indent="0" lvl="0" marL="0" rtl="0" algn="l">
              <a:spcBef>
                <a:spcPts val="1000"/>
              </a:spcBef>
              <a:spcAft>
                <a:spcPts val="1000"/>
              </a:spcAft>
              <a:buNone/>
            </a:pPr>
            <a:r>
              <a:rPr lang="en-GB">
                <a:latin typeface="Kalam"/>
                <a:ea typeface="Kalam"/>
                <a:cs typeface="Kalam"/>
                <a:sym typeface="Kalam"/>
              </a:rPr>
              <a:t>He needs to split them into smaller groups.</a:t>
            </a:r>
            <a:endParaRPr>
              <a:latin typeface="Kalam"/>
              <a:ea typeface="Kalam"/>
              <a:cs typeface="Kalam"/>
              <a:sym typeface="Kalam"/>
            </a:endParaRPr>
          </a:p>
        </p:txBody>
      </p:sp>
      <p:pic>
        <p:nvPicPr>
          <p:cNvPr id="1173" name="Google Shape;1173;p91"/>
          <p:cNvPicPr preferRelativeResize="0"/>
          <p:nvPr/>
        </p:nvPicPr>
        <p:blipFill>
          <a:blip r:embed="rId4">
            <a:alphaModFix/>
          </a:blip>
          <a:stretch>
            <a:fillRect/>
          </a:stretch>
        </p:blipFill>
        <p:spPr>
          <a:xfrm>
            <a:off x="324000" y="3535650"/>
            <a:ext cx="996325" cy="1284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9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Whether to use HCF or LCM based on the context</a:t>
            </a:r>
            <a:endParaRPr/>
          </a:p>
        </p:txBody>
      </p:sp>
      <p:sp>
        <p:nvSpPr>
          <p:cNvPr id="1179" name="Google Shape;1179;p92"/>
          <p:cNvSpPr txBox="1"/>
          <p:nvPr>
            <p:ph idx="1" type="body"/>
          </p:nvPr>
        </p:nvSpPr>
        <p:spPr>
          <a:xfrm>
            <a:off x="210175" y="759300"/>
            <a:ext cx="8609700" cy="4061100"/>
          </a:xfrm>
          <a:prstGeom prst="rect">
            <a:avLst/>
          </a:prstGeom>
        </p:spPr>
        <p:txBody>
          <a:bodyPr anchorCtr="0" anchor="t" bIns="0" lIns="0" spcFirstLastPara="1" rIns="0" wrap="square" tIns="0">
            <a:noAutofit/>
          </a:bodyPr>
          <a:lstStyle/>
          <a:p>
            <a:pPr indent="-361950" lvl="0" marL="457200" rtl="0" algn="l">
              <a:spcBef>
                <a:spcPts val="0"/>
              </a:spcBef>
              <a:spcAft>
                <a:spcPts val="0"/>
              </a:spcAft>
              <a:buSzPts val="2100"/>
              <a:buAutoNum type="arabicParenR"/>
            </a:pPr>
            <a:r>
              <a:rPr lang="en-GB" sz="2100"/>
              <a:t>Decide if you would be finding the </a:t>
            </a:r>
            <a:r>
              <a:rPr lang="en-GB" sz="2100">
                <a:solidFill>
                  <a:srgbClr val="374CF1"/>
                </a:solidFill>
              </a:rPr>
              <a:t>HCF or LCM</a:t>
            </a:r>
            <a:r>
              <a:rPr lang="en-GB" sz="2100"/>
              <a:t> in each of the following:</a:t>
            </a:r>
            <a:endParaRPr sz="2100"/>
          </a:p>
          <a:p>
            <a:pPr indent="-361950" lvl="0" marL="457200" rtl="0" algn="l">
              <a:spcBef>
                <a:spcPts val="0"/>
              </a:spcBef>
              <a:spcAft>
                <a:spcPts val="0"/>
              </a:spcAft>
              <a:buSzPts val="2100"/>
              <a:buAutoNum type="alphaLcParenR"/>
            </a:pPr>
            <a:r>
              <a:rPr lang="en-GB" sz="2100"/>
              <a:t>Two people race up some steps.  One goes up 2 at a time and the other 3 at a time.  Which is the first step they both step on?</a:t>
            </a:r>
            <a:endParaRPr sz="2100"/>
          </a:p>
          <a:p>
            <a:pPr indent="-361950" lvl="0" marL="457200" rtl="0" algn="l">
              <a:spcBef>
                <a:spcPts val="0"/>
              </a:spcBef>
              <a:spcAft>
                <a:spcPts val="0"/>
              </a:spcAft>
              <a:buSzPts val="2100"/>
              <a:buAutoNum type="alphaLcParenR"/>
            </a:pPr>
            <a:r>
              <a:rPr lang="en-GB" sz="2100"/>
              <a:t>Aisha is organising a charity quiz.  She either has 84 or 90 people attending.  What is the largest number of people in each team?  (all teams must be the same size)</a:t>
            </a:r>
            <a:endParaRPr sz="2100"/>
          </a:p>
          <a:p>
            <a:pPr indent="-361950" lvl="0" marL="457200" rtl="0" algn="l">
              <a:spcBef>
                <a:spcPts val="0"/>
              </a:spcBef>
              <a:spcAft>
                <a:spcPts val="0"/>
              </a:spcAft>
              <a:buSzPts val="2100"/>
              <a:buAutoNum type="alphaLcParenR"/>
            </a:pPr>
            <a:r>
              <a:rPr lang="en-GB" sz="2100"/>
              <a:t>Grandad has baked a cake.  His grandchildren are coming to visit, it could be 3, 5 or all 6.  What is the smallest number of pieces he can cut the cake into so they each get the same amount of cake?</a:t>
            </a:r>
            <a:endParaRPr sz="21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93"/>
          <p:cNvSpPr txBox="1"/>
          <p:nvPr>
            <p:ph idx="1" type="body"/>
          </p:nvPr>
        </p:nvSpPr>
        <p:spPr>
          <a:xfrm>
            <a:off x="330450" y="1229800"/>
            <a:ext cx="8483100" cy="30207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lphaLcParenR"/>
            </a:pPr>
            <a:r>
              <a:rPr lang="en-GB" sz="2000"/>
              <a:t>Aisha is organising a charity quiz.  She either has 84 or 90 people attending.  What is the largest number of people in each team?  (all teams must be the same size)</a:t>
            </a:r>
            <a:endParaRPr sz="2000"/>
          </a:p>
          <a:p>
            <a:pPr indent="-355600" lvl="0" marL="457200" rtl="0" algn="l">
              <a:spcBef>
                <a:spcPts val="0"/>
              </a:spcBef>
              <a:spcAft>
                <a:spcPts val="0"/>
              </a:spcAft>
              <a:buSzPts val="2000"/>
              <a:buAutoNum type="alphaLcParenR"/>
            </a:pPr>
            <a:r>
              <a:rPr lang="en-GB" sz="2000"/>
              <a:t>Grandad has baked a cake.  His grandchildren are coming to visit, it could be 3, 5 or all 6.  What is the smallest number of pieces he can cut the cake into so they each get the same amount of cake?</a:t>
            </a:r>
            <a:endParaRPr sz="2000"/>
          </a:p>
          <a:p>
            <a:pPr indent="-355600" lvl="0" marL="457200" rtl="0" algn="l">
              <a:spcBef>
                <a:spcPts val="0"/>
              </a:spcBef>
              <a:spcAft>
                <a:spcPts val="0"/>
              </a:spcAft>
              <a:buSzPts val="2000"/>
              <a:buAutoNum type="alphaLcParenR"/>
            </a:pPr>
            <a:r>
              <a:rPr lang="en-GB" sz="2000"/>
              <a:t>A red bus leaves the station every 3 minutes, a blue one every 8 minutes and a green one every  11 minutes.  If the all leave at 09:00 at what time do they all leave at the same time again?   </a:t>
            </a:r>
            <a:endParaRPr sz="2000"/>
          </a:p>
        </p:txBody>
      </p:sp>
      <p:sp>
        <p:nvSpPr>
          <p:cNvPr id="1185" name="Google Shape;1185;p9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Whether to use HCF or LCM based on the context</a:t>
            </a:r>
            <a:endParaRPr/>
          </a:p>
        </p:txBody>
      </p:sp>
      <p:sp>
        <p:nvSpPr>
          <p:cNvPr id="1186" name="Google Shape;1186;p93"/>
          <p:cNvSpPr txBox="1"/>
          <p:nvPr/>
        </p:nvSpPr>
        <p:spPr>
          <a:xfrm>
            <a:off x="330439" y="810000"/>
            <a:ext cx="84831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100">
                <a:latin typeface="Lexend"/>
                <a:ea typeface="Lexend"/>
                <a:cs typeface="Lexend"/>
                <a:sym typeface="Lexend"/>
              </a:rPr>
              <a:t>2) Solve the following problems:</a:t>
            </a:r>
            <a:endParaRPr sz="2100">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9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Whether to use HCF or LCM based on the context</a:t>
            </a:r>
            <a:endParaRPr/>
          </a:p>
        </p:txBody>
      </p:sp>
      <p:sp>
        <p:nvSpPr>
          <p:cNvPr id="1192" name="Google Shape;1192;p94"/>
          <p:cNvSpPr txBox="1"/>
          <p:nvPr>
            <p:ph idx="1" type="body"/>
          </p:nvPr>
        </p:nvSpPr>
        <p:spPr>
          <a:xfrm>
            <a:off x="324000" y="759300"/>
            <a:ext cx="8430900" cy="1580700"/>
          </a:xfrm>
          <a:prstGeom prst="rect">
            <a:avLst/>
          </a:prstGeom>
        </p:spPr>
        <p:txBody>
          <a:bodyPr anchorCtr="0" anchor="t" bIns="0" lIns="0" spcFirstLastPara="1" rIns="0" wrap="square" tIns="0">
            <a:noAutofit/>
          </a:bodyPr>
          <a:lstStyle/>
          <a:p>
            <a:pPr indent="-361950" lvl="0" marL="457200" rtl="0" algn="l">
              <a:spcBef>
                <a:spcPts val="0"/>
              </a:spcBef>
              <a:spcAft>
                <a:spcPts val="0"/>
              </a:spcAft>
              <a:buSzPts val="2100"/>
              <a:buAutoNum type="arabicParenR"/>
            </a:pPr>
            <a:r>
              <a:t/>
            </a:r>
            <a:endParaRPr sz="2100"/>
          </a:p>
          <a:p>
            <a:pPr indent="0" lvl="0" marL="0" rtl="0" algn="l">
              <a:spcBef>
                <a:spcPts val="1000"/>
              </a:spcBef>
              <a:spcAft>
                <a:spcPts val="1000"/>
              </a:spcAft>
              <a:buNone/>
            </a:pPr>
            <a:r>
              <a:rPr lang="en-GB" sz="2100"/>
              <a:t>a) Two</a:t>
            </a:r>
            <a:r>
              <a:rPr lang="en-GB" sz="2100"/>
              <a:t> people race up some steps.  One goes up 2 at a time and the other 3 at a time.  Which is the first step they both step on?</a:t>
            </a:r>
            <a:endParaRPr sz="2100"/>
          </a:p>
        </p:txBody>
      </p:sp>
      <p:sp>
        <p:nvSpPr>
          <p:cNvPr id="1193" name="Google Shape;1193;p94"/>
          <p:cNvSpPr txBox="1"/>
          <p:nvPr/>
        </p:nvSpPr>
        <p:spPr>
          <a:xfrm>
            <a:off x="324000" y="20466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LCM</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9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Whether to use HCF or LCM based on the context</a:t>
            </a:r>
            <a:endParaRPr/>
          </a:p>
        </p:txBody>
      </p:sp>
      <p:sp>
        <p:nvSpPr>
          <p:cNvPr id="1199" name="Google Shape;1199;p95"/>
          <p:cNvSpPr txBox="1"/>
          <p:nvPr>
            <p:ph idx="1" type="body"/>
          </p:nvPr>
        </p:nvSpPr>
        <p:spPr>
          <a:xfrm>
            <a:off x="324000" y="759300"/>
            <a:ext cx="8237700" cy="1580700"/>
          </a:xfrm>
          <a:prstGeom prst="rect">
            <a:avLst/>
          </a:prstGeom>
        </p:spPr>
        <p:txBody>
          <a:bodyPr anchorCtr="0" anchor="t" bIns="0" lIns="0" spcFirstLastPara="1" rIns="0" wrap="square" tIns="0">
            <a:noAutofit/>
          </a:bodyPr>
          <a:lstStyle/>
          <a:p>
            <a:pPr indent="-361950" lvl="0" marL="457200" rtl="0" algn="l">
              <a:spcBef>
                <a:spcPts val="0"/>
              </a:spcBef>
              <a:spcAft>
                <a:spcPts val="0"/>
              </a:spcAft>
              <a:buSzPts val="2100"/>
              <a:buAutoNum type="arabicParenR"/>
            </a:pPr>
            <a:r>
              <a:t/>
            </a:r>
            <a:endParaRPr sz="2100"/>
          </a:p>
          <a:p>
            <a:pPr indent="0" lvl="0" marL="0" rtl="0" algn="l">
              <a:spcBef>
                <a:spcPts val="1000"/>
              </a:spcBef>
              <a:spcAft>
                <a:spcPts val="0"/>
              </a:spcAft>
              <a:buNone/>
            </a:pPr>
            <a:r>
              <a:rPr lang="en-GB" sz="2100"/>
              <a:t>b) </a:t>
            </a:r>
            <a:r>
              <a:rPr lang="en-GB" sz="2100"/>
              <a:t>Aisha is organising a charity quiz.  She either has 84 or 90 people attending.  What is the largest number of people in each team?  (all teams must be the same size)</a:t>
            </a:r>
            <a:endParaRPr sz="2100"/>
          </a:p>
          <a:p>
            <a:pPr indent="0" lvl="0" marL="0" rtl="0" algn="l">
              <a:spcBef>
                <a:spcPts val="1000"/>
              </a:spcBef>
              <a:spcAft>
                <a:spcPts val="1000"/>
              </a:spcAft>
              <a:buNone/>
            </a:pPr>
            <a:r>
              <a:t/>
            </a:r>
            <a:endParaRPr sz="2100"/>
          </a:p>
        </p:txBody>
      </p:sp>
      <p:sp>
        <p:nvSpPr>
          <p:cNvPr id="1200" name="Google Shape;1200;p95"/>
          <p:cNvSpPr txBox="1"/>
          <p:nvPr/>
        </p:nvSpPr>
        <p:spPr>
          <a:xfrm>
            <a:off x="324000" y="24606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HCF</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9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Whether to use HCF or LCM based on the context</a:t>
            </a:r>
            <a:endParaRPr/>
          </a:p>
        </p:txBody>
      </p:sp>
      <p:sp>
        <p:nvSpPr>
          <p:cNvPr id="1206" name="Google Shape;1206;p96"/>
          <p:cNvSpPr txBox="1"/>
          <p:nvPr>
            <p:ph idx="1" type="body"/>
          </p:nvPr>
        </p:nvSpPr>
        <p:spPr>
          <a:xfrm>
            <a:off x="324000" y="759300"/>
            <a:ext cx="8237700" cy="1580700"/>
          </a:xfrm>
          <a:prstGeom prst="rect">
            <a:avLst/>
          </a:prstGeom>
        </p:spPr>
        <p:txBody>
          <a:bodyPr anchorCtr="0" anchor="t" bIns="0" lIns="0" spcFirstLastPara="1" rIns="0" wrap="square" tIns="0">
            <a:noAutofit/>
          </a:bodyPr>
          <a:lstStyle/>
          <a:p>
            <a:pPr indent="-361950" lvl="0" marL="457200" rtl="0" algn="l">
              <a:spcBef>
                <a:spcPts val="0"/>
              </a:spcBef>
              <a:spcAft>
                <a:spcPts val="0"/>
              </a:spcAft>
              <a:buSzPts val="2100"/>
              <a:buAutoNum type="arabicParenR"/>
            </a:pPr>
            <a:r>
              <a:t/>
            </a:r>
            <a:endParaRPr sz="2100"/>
          </a:p>
          <a:p>
            <a:pPr indent="0" lvl="0" marL="0" rtl="0" algn="l">
              <a:spcBef>
                <a:spcPts val="1000"/>
              </a:spcBef>
              <a:spcAft>
                <a:spcPts val="0"/>
              </a:spcAft>
              <a:buNone/>
            </a:pPr>
            <a:r>
              <a:rPr lang="en-GB" sz="2100"/>
              <a:t>c) </a:t>
            </a:r>
            <a:r>
              <a:rPr lang="en-GB" sz="2100"/>
              <a:t>Grandad has baked a cake.  His grandchildren are coming to visit, it could be 3, 5 or all 6.  What is the smallest number of pieces he can cut the cake into so they each get the same amount of cake?</a:t>
            </a:r>
            <a:endParaRPr sz="2100"/>
          </a:p>
          <a:p>
            <a:pPr indent="0" lvl="0" marL="0" rtl="0" algn="l">
              <a:spcBef>
                <a:spcPts val="1000"/>
              </a:spcBef>
              <a:spcAft>
                <a:spcPts val="1000"/>
              </a:spcAft>
              <a:buNone/>
            </a:pPr>
            <a:r>
              <a:t/>
            </a:r>
            <a:endParaRPr sz="2100"/>
          </a:p>
        </p:txBody>
      </p:sp>
      <p:sp>
        <p:nvSpPr>
          <p:cNvPr id="1207" name="Google Shape;1207;p96"/>
          <p:cNvSpPr txBox="1"/>
          <p:nvPr/>
        </p:nvSpPr>
        <p:spPr>
          <a:xfrm>
            <a:off x="324000" y="2834325"/>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LCM</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9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Whether to use HCF or LCM based on the context</a:t>
            </a:r>
            <a:endParaRPr/>
          </a:p>
        </p:txBody>
      </p:sp>
      <p:sp>
        <p:nvSpPr>
          <p:cNvPr id="1213" name="Google Shape;1213;p97"/>
          <p:cNvSpPr txBox="1"/>
          <p:nvPr>
            <p:ph idx="1" type="body"/>
          </p:nvPr>
        </p:nvSpPr>
        <p:spPr>
          <a:xfrm>
            <a:off x="324000" y="1143000"/>
            <a:ext cx="8237700" cy="1197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 </a:t>
            </a:r>
            <a:r>
              <a:rPr lang="en-GB" sz="2000"/>
              <a:t>Aisha is organising a charity quiz.  She either has 84 or 90 people attending.  What is the largest number of people in each team?  (all teams must be the same size)</a:t>
            </a:r>
            <a:endParaRPr sz="2000"/>
          </a:p>
          <a:p>
            <a:pPr indent="0" lvl="0" marL="0" rtl="0" algn="l">
              <a:spcBef>
                <a:spcPts val="1000"/>
              </a:spcBef>
              <a:spcAft>
                <a:spcPts val="1000"/>
              </a:spcAft>
              <a:buNone/>
            </a:pPr>
            <a:r>
              <a:t/>
            </a:r>
            <a:endParaRPr sz="2100"/>
          </a:p>
        </p:txBody>
      </p:sp>
      <p:sp>
        <p:nvSpPr>
          <p:cNvPr id="1214" name="Google Shape;1214;p97"/>
          <p:cNvSpPr txBox="1"/>
          <p:nvPr>
            <p:ph idx="1" type="body"/>
          </p:nvPr>
        </p:nvSpPr>
        <p:spPr>
          <a:xfrm>
            <a:off x="324000" y="2533125"/>
            <a:ext cx="7407000" cy="1886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84 = 2</a:t>
            </a:r>
            <a:r>
              <a:rPr baseline="30000" lang="en-GB">
                <a:latin typeface="Kalam"/>
                <a:ea typeface="Kalam"/>
                <a:cs typeface="Kalam"/>
                <a:sym typeface="Kalam"/>
              </a:rPr>
              <a:t>2</a:t>
            </a:r>
            <a:r>
              <a:rPr lang="en-GB">
                <a:latin typeface="Kalam"/>
                <a:ea typeface="Kalam"/>
                <a:cs typeface="Kalam"/>
                <a:sym typeface="Kalam"/>
              </a:rPr>
              <a:t> × 3 × 7 </a:t>
            </a:r>
            <a:endParaRPr>
              <a:latin typeface="Kalam"/>
              <a:ea typeface="Kalam"/>
              <a:cs typeface="Kalam"/>
              <a:sym typeface="Kalam"/>
            </a:endParaRPr>
          </a:p>
          <a:p>
            <a:pPr indent="0" lvl="0" marL="0" rtl="0" algn="l">
              <a:spcBef>
                <a:spcPts val="1000"/>
              </a:spcBef>
              <a:spcAft>
                <a:spcPts val="0"/>
              </a:spcAft>
              <a:buNone/>
            </a:pPr>
            <a:r>
              <a:rPr lang="en-GB">
                <a:latin typeface="Kalam"/>
                <a:ea typeface="Kalam"/>
                <a:cs typeface="Kalam"/>
                <a:sym typeface="Kalam"/>
              </a:rPr>
              <a:t>90 = 2 × 3</a:t>
            </a:r>
            <a:r>
              <a:rPr baseline="30000" lang="en-GB">
                <a:latin typeface="Kalam"/>
                <a:ea typeface="Kalam"/>
                <a:cs typeface="Kalam"/>
                <a:sym typeface="Kalam"/>
              </a:rPr>
              <a:t>2</a:t>
            </a:r>
            <a:r>
              <a:rPr lang="en-GB">
                <a:latin typeface="Kalam"/>
                <a:ea typeface="Kalam"/>
                <a:cs typeface="Kalam"/>
                <a:sym typeface="Kalam"/>
              </a:rPr>
              <a:t> × 5 </a:t>
            </a:r>
            <a:endParaRPr>
              <a:latin typeface="Kalam"/>
              <a:ea typeface="Kalam"/>
              <a:cs typeface="Kalam"/>
              <a:sym typeface="Kalam"/>
            </a:endParaRPr>
          </a:p>
          <a:p>
            <a:pPr indent="0" lvl="0" marL="0" rtl="0" algn="l">
              <a:spcBef>
                <a:spcPts val="1000"/>
              </a:spcBef>
              <a:spcAft>
                <a:spcPts val="0"/>
              </a:spcAft>
              <a:buNone/>
            </a:pPr>
            <a:r>
              <a:rPr lang="en-GB">
                <a:latin typeface="Kalam"/>
                <a:ea typeface="Kalam"/>
                <a:cs typeface="Kalam"/>
                <a:sym typeface="Kalam"/>
              </a:rPr>
              <a:t>HCF = 2 × 3 = 6</a:t>
            </a:r>
            <a:endParaRPr>
              <a:latin typeface="Kalam"/>
              <a:ea typeface="Kalam"/>
              <a:cs typeface="Kalam"/>
              <a:sym typeface="Kalam"/>
            </a:endParaRPr>
          </a:p>
          <a:p>
            <a:pPr indent="0" lvl="0" marL="457200" rtl="0" algn="l">
              <a:spcBef>
                <a:spcPts val="1000"/>
              </a:spcBef>
              <a:spcAft>
                <a:spcPts val="1000"/>
              </a:spcAft>
              <a:buNone/>
            </a:pPr>
            <a:r>
              <a:t/>
            </a:r>
            <a:endParaRPr>
              <a:latin typeface="Kalam"/>
              <a:ea typeface="Kalam"/>
              <a:cs typeface="Kalam"/>
              <a:sym typeface="Kalam"/>
            </a:endParaRPr>
          </a:p>
        </p:txBody>
      </p:sp>
      <p:sp>
        <p:nvSpPr>
          <p:cNvPr id="1215" name="Google Shape;1215;p97"/>
          <p:cNvSpPr txBox="1"/>
          <p:nvPr/>
        </p:nvSpPr>
        <p:spPr>
          <a:xfrm>
            <a:off x="330439" y="810000"/>
            <a:ext cx="84831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100">
                <a:latin typeface="Lexend"/>
                <a:ea typeface="Lexend"/>
                <a:cs typeface="Lexend"/>
                <a:sym typeface="Lexend"/>
              </a:rPr>
              <a:t>2) </a:t>
            </a:r>
            <a:endParaRPr sz="2100">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98"/>
          <p:cNvSpPr txBox="1"/>
          <p:nvPr>
            <p:ph idx="1" type="body"/>
          </p:nvPr>
        </p:nvSpPr>
        <p:spPr>
          <a:xfrm>
            <a:off x="324000" y="1143000"/>
            <a:ext cx="8237700" cy="2637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b) </a:t>
            </a:r>
            <a:r>
              <a:rPr lang="en-GB" sz="2000"/>
              <a:t>Grandad has baked a cake.  His grandchildren are coming to visit, it could be 3, 5 or all 6.  What is the smallest number of pieces he can cut the cake into so they each get the same amount of cake?</a:t>
            </a:r>
            <a:endParaRPr sz="2000"/>
          </a:p>
        </p:txBody>
      </p:sp>
      <p:sp>
        <p:nvSpPr>
          <p:cNvPr id="1221" name="Google Shape;1221;p9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Whether to use HCF or LCM based on the context</a:t>
            </a:r>
            <a:endParaRPr/>
          </a:p>
        </p:txBody>
      </p:sp>
      <p:sp>
        <p:nvSpPr>
          <p:cNvPr id="1222" name="Google Shape;1222;p98"/>
          <p:cNvSpPr txBox="1"/>
          <p:nvPr/>
        </p:nvSpPr>
        <p:spPr>
          <a:xfrm>
            <a:off x="330439" y="810000"/>
            <a:ext cx="84831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100">
                <a:latin typeface="Lexend"/>
                <a:ea typeface="Lexend"/>
                <a:cs typeface="Lexend"/>
                <a:sym typeface="Lexend"/>
              </a:rPr>
              <a:t>2) </a:t>
            </a:r>
            <a:endParaRPr sz="2100">
              <a:latin typeface="Lexend"/>
              <a:ea typeface="Lexend"/>
              <a:cs typeface="Lexend"/>
              <a:sym typeface="Lexend"/>
            </a:endParaRPr>
          </a:p>
        </p:txBody>
      </p:sp>
      <p:sp>
        <p:nvSpPr>
          <p:cNvPr id="1223" name="Google Shape;1223;p98"/>
          <p:cNvSpPr txBox="1"/>
          <p:nvPr>
            <p:ph idx="1" type="body"/>
          </p:nvPr>
        </p:nvSpPr>
        <p:spPr>
          <a:xfrm>
            <a:off x="324000" y="2571750"/>
            <a:ext cx="7407000" cy="115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3 </a:t>
            </a:r>
            <a:endParaRPr>
              <a:latin typeface="Kalam"/>
              <a:ea typeface="Kalam"/>
              <a:cs typeface="Kalam"/>
              <a:sym typeface="Kalam"/>
            </a:endParaRPr>
          </a:p>
          <a:p>
            <a:pPr indent="0" lvl="0" marL="0" rtl="0" algn="l">
              <a:spcBef>
                <a:spcPts val="1000"/>
              </a:spcBef>
              <a:spcAft>
                <a:spcPts val="0"/>
              </a:spcAft>
              <a:buNone/>
            </a:pPr>
            <a:r>
              <a:rPr lang="en-GB">
                <a:latin typeface="Kalam"/>
                <a:ea typeface="Kalam"/>
                <a:cs typeface="Kalam"/>
                <a:sym typeface="Kalam"/>
              </a:rPr>
              <a:t>5 </a:t>
            </a:r>
            <a:endParaRPr>
              <a:latin typeface="Kalam"/>
              <a:ea typeface="Kalam"/>
              <a:cs typeface="Kalam"/>
              <a:sym typeface="Kalam"/>
            </a:endParaRPr>
          </a:p>
          <a:p>
            <a:pPr indent="0" lvl="0" marL="0" rtl="0" algn="l">
              <a:spcBef>
                <a:spcPts val="1000"/>
              </a:spcBef>
              <a:spcAft>
                <a:spcPts val="0"/>
              </a:spcAft>
              <a:buNone/>
            </a:pPr>
            <a:r>
              <a:rPr lang="en-GB">
                <a:latin typeface="Kalam"/>
                <a:ea typeface="Kalam"/>
                <a:cs typeface="Kalam"/>
                <a:sym typeface="Kalam"/>
              </a:rPr>
              <a:t>6 = 2 × 3 </a:t>
            </a:r>
            <a:endParaRPr>
              <a:latin typeface="Kalam"/>
              <a:ea typeface="Kalam"/>
              <a:cs typeface="Kalam"/>
              <a:sym typeface="Kalam"/>
            </a:endParaRPr>
          </a:p>
          <a:p>
            <a:pPr indent="0" lvl="0" marL="0" rtl="0" algn="l">
              <a:spcBef>
                <a:spcPts val="1000"/>
              </a:spcBef>
              <a:spcAft>
                <a:spcPts val="0"/>
              </a:spcAft>
              <a:buNone/>
            </a:pPr>
            <a:r>
              <a:rPr lang="en-GB">
                <a:latin typeface="Kalam"/>
                <a:ea typeface="Kalam"/>
                <a:cs typeface="Kalam"/>
                <a:sym typeface="Kalam"/>
              </a:rPr>
              <a:t>LCM = 2 × 3 × 5 = 30</a:t>
            </a:r>
            <a:endParaRPr>
              <a:latin typeface="Kalam"/>
              <a:ea typeface="Kalam"/>
              <a:cs typeface="Kalam"/>
              <a:sym typeface="Kalam"/>
            </a:endParaRPr>
          </a:p>
          <a:p>
            <a:pPr indent="0" lvl="0" marL="457200" rtl="0" algn="l">
              <a:spcBef>
                <a:spcPts val="1000"/>
              </a:spcBef>
              <a:spcAft>
                <a:spcPts val="1000"/>
              </a:spcAft>
              <a:buNone/>
            </a:pPr>
            <a:r>
              <a:t/>
            </a:r>
            <a:endParaRPr>
              <a:latin typeface="Kalam"/>
              <a:ea typeface="Kalam"/>
              <a:cs typeface="Kalam"/>
              <a:sym typeface="Kala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99"/>
          <p:cNvSpPr txBox="1"/>
          <p:nvPr>
            <p:ph idx="1" type="body"/>
          </p:nvPr>
        </p:nvSpPr>
        <p:spPr>
          <a:xfrm>
            <a:off x="324000" y="1143000"/>
            <a:ext cx="8237700" cy="122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 </a:t>
            </a:r>
            <a:r>
              <a:rPr lang="en-GB" sz="2000"/>
              <a:t>A red bus leaves the station every 3 minutes, a blue one every 8 minutes and a green one every  11 minutes.  If the all leave at 09:00 at what time do they all leave at the same time again?   </a:t>
            </a:r>
            <a:endParaRPr sz="2000"/>
          </a:p>
        </p:txBody>
      </p:sp>
      <p:sp>
        <p:nvSpPr>
          <p:cNvPr id="1229" name="Google Shape;1229;p9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Whether to use HCF or LCM based on the context</a:t>
            </a:r>
            <a:endParaRPr/>
          </a:p>
        </p:txBody>
      </p:sp>
      <p:sp>
        <p:nvSpPr>
          <p:cNvPr id="1230" name="Google Shape;1230;p99"/>
          <p:cNvSpPr txBox="1"/>
          <p:nvPr/>
        </p:nvSpPr>
        <p:spPr>
          <a:xfrm>
            <a:off x="330439" y="810000"/>
            <a:ext cx="84831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100">
                <a:latin typeface="Lexend"/>
                <a:ea typeface="Lexend"/>
                <a:cs typeface="Lexend"/>
                <a:sym typeface="Lexend"/>
              </a:rPr>
              <a:t>2) </a:t>
            </a:r>
            <a:endParaRPr sz="2100">
              <a:latin typeface="Lexend"/>
              <a:ea typeface="Lexend"/>
              <a:cs typeface="Lexend"/>
              <a:sym typeface="Lexend"/>
            </a:endParaRPr>
          </a:p>
        </p:txBody>
      </p:sp>
      <p:sp>
        <p:nvSpPr>
          <p:cNvPr id="1231" name="Google Shape;1231;p99"/>
          <p:cNvSpPr txBox="1"/>
          <p:nvPr>
            <p:ph idx="1" type="body"/>
          </p:nvPr>
        </p:nvSpPr>
        <p:spPr>
          <a:xfrm>
            <a:off x="324000" y="2571750"/>
            <a:ext cx="1398300" cy="165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3</a:t>
            </a:r>
            <a:endParaRPr>
              <a:latin typeface="Kalam"/>
              <a:ea typeface="Kalam"/>
              <a:cs typeface="Kalam"/>
              <a:sym typeface="Kalam"/>
            </a:endParaRPr>
          </a:p>
          <a:p>
            <a:pPr indent="0" lvl="0" marL="0" rtl="0" algn="l">
              <a:spcBef>
                <a:spcPts val="1000"/>
              </a:spcBef>
              <a:spcAft>
                <a:spcPts val="0"/>
              </a:spcAft>
              <a:buNone/>
            </a:pPr>
            <a:r>
              <a:rPr lang="en-GB">
                <a:latin typeface="Kalam"/>
                <a:ea typeface="Kalam"/>
                <a:cs typeface="Kalam"/>
                <a:sym typeface="Kalam"/>
              </a:rPr>
              <a:t>8 = 2</a:t>
            </a:r>
            <a:r>
              <a:rPr baseline="30000" lang="en-GB">
                <a:latin typeface="Kalam"/>
                <a:ea typeface="Kalam"/>
                <a:cs typeface="Kalam"/>
                <a:sym typeface="Kalam"/>
              </a:rPr>
              <a:t>3</a:t>
            </a:r>
            <a:endParaRPr>
              <a:latin typeface="Kalam"/>
              <a:ea typeface="Kalam"/>
              <a:cs typeface="Kalam"/>
              <a:sym typeface="Kalam"/>
            </a:endParaRPr>
          </a:p>
          <a:p>
            <a:pPr indent="0" lvl="0" marL="0" rtl="0" algn="l">
              <a:spcBef>
                <a:spcPts val="1000"/>
              </a:spcBef>
              <a:spcAft>
                <a:spcPts val="0"/>
              </a:spcAft>
              <a:buNone/>
            </a:pPr>
            <a:r>
              <a:rPr lang="en-GB">
                <a:latin typeface="Kalam"/>
                <a:ea typeface="Kalam"/>
                <a:cs typeface="Kalam"/>
                <a:sym typeface="Kalam"/>
              </a:rPr>
              <a:t>11</a:t>
            </a:r>
            <a:endParaRPr>
              <a:latin typeface="Kalam"/>
              <a:ea typeface="Kalam"/>
              <a:cs typeface="Kalam"/>
              <a:sym typeface="Kalam"/>
            </a:endParaRPr>
          </a:p>
          <a:p>
            <a:pPr indent="0" lvl="0" marL="457200" rtl="0" algn="l">
              <a:spcBef>
                <a:spcPts val="1000"/>
              </a:spcBef>
              <a:spcAft>
                <a:spcPts val="1000"/>
              </a:spcAft>
              <a:buNone/>
            </a:pPr>
            <a:r>
              <a:t/>
            </a:r>
            <a:endParaRPr>
              <a:latin typeface="Kalam"/>
              <a:ea typeface="Kalam"/>
              <a:cs typeface="Kalam"/>
              <a:sym typeface="Kalam"/>
            </a:endParaRPr>
          </a:p>
        </p:txBody>
      </p:sp>
      <p:sp>
        <p:nvSpPr>
          <p:cNvPr id="1232" name="Google Shape;1232;p99"/>
          <p:cNvSpPr txBox="1"/>
          <p:nvPr/>
        </p:nvSpPr>
        <p:spPr>
          <a:xfrm>
            <a:off x="2239675" y="2571750"/>
            <a:ext cx="6071700" cy="1466400"/>
          </a:xfrm>
          <a:prstGeom prst="rect">
            <a:avLst/>
          </a:prstGeom>
          <a:noFill/>
          <a:ln>
            <a:noFill/>
          </a:ln>
        </p:spPr>
        <p:txBody>
          <a:bodyPr anchorCtr="0" anchor="t" bIns="91425" lIns="91425" spcFirstLastPara="1" rIns="91425" wrap="square" tIns="0">
            <a:spAutoFit/>
          </a:bodyPr>
          <a:lstStyle/>
          <a:p>
            <a:pPr indent="0" lvl="0" marL="0" rtl="0" algn="l">
              <a:lnSpc>
                <a:spcPct val="115000"/>
              </a:lnSpc>
              <a:spcBef>
                <a:spcPts val="0"/>
              </a:spcBef>
              <a:spcAft>
                <a:spcPts val="0"/>
              </a:spcAft>
              <a:buNone/>
            </a:pPr>
            <a:r>
              <a:rPr lang="en-GB" sz="2200">
                <a:solidFill>
                  <a:schemeClr val="dk1"/>
                </a:solidFill>
                <a:latin typeface="Kalam"/>
                <a:ea typeface="Kalam"/>
                <a:cs typeface="Kalam"/>
                <a:sym typeface="Kalam"/>
              </a:rPr>
              <a:t>LCM = 2</a:t>
            </a:r>
            <a:r>
              <a:rPr baseline="30000" lang="en-GB" sz="2200">
                <a:solidFill>
                  <a:schemeClr val="dk1"/>
                </a:solidFill>
                <a:latin typeface="Kalam"/>
                <a:ea typeface="Kalam"/>
                <a:cs typeface="Kalam"/>
                <a:sym typeface="Kalam"/>
              </a:rPr>
              <a:t>3 </a:t>
            </a:r>
            <a:r>
              <a:rPr lang="en-GB" sz="2200">
                <a:solidFill>
                  <a:schemeClr val="dk1"/>
                </a:solidFill>
                <a:latin typeface="Kalam"/>
                <a:ea typeface="Kalam"/>
                <a:cs typeface="Kalam"/>
                <a:sym typeface="Kalam"/>
              </a:rPr>
              <a:t>× 3 × 11 = 264 minutes</a:t>
            </a:r>
            <a:endParaRPr sz="22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200">
                <a:solidFill>
                  <a:schemeClr val="dk1"/>
                </a:solidFill>
                <a:latin typeface="Kalam"/>
                <a:ea typeface="Kalam"/>
                <a:cs typeface="Kalam"/>
                <a:sym typeface="Kalam"/>
              </a:rPr>
              <a:t>264 minutes = 4 hours 24 minutes</a:t>
            </a:r>
            <a:endParaRPr sz="2200">
              <a:solidFill>
                <a:schemeClr val="dk1"/>
              </a:solidFill>
              <a:latin typeface="Kalam"/>
              <a:ea typeface="Kalam"/>
              <a:cs typeface="Kalam"/>
              <a:sym typeface="Kalam"/>
            </a:endParaRPr>
          </a:p>
          <a:p>
            <a:pPr indent="0" lvl="0" marL="0" rtl="0" algn="l">
              <a:lnSpc>
                <a:spcPct val="115000"/>
              </a:lnSpc>
              <a:spcBef>
                <a:spcPts val="1000"/>
              </a:spcBef>
              <a:spcAft>
                <a:spcPts val="1000"/>
              </a:spcAft>
              <a:buNone/>
            </a:pPr>
            <a:r>
              <a:rPr lang="en-GB" sz="2200">
                <a:solidFill>
                  <a:schemeClr val="dk1"/>
                </a:solidFill>
                <a:latin typeface="Kalam"/>
                <a:ea typeface="Kalam"/>
                <a:cs typeface="Kalam"/>
                <a:sym typeface="Kalam"/>
              </a:rPr>
              <a:t>They will leave at the same time again at 13:24</a:t>
            </a:r>
            <a:endParaRPr sz="2200">
              <a:solidFill>
                <a:schemeClr val="dk1"/>
              </a:solidFill>
              <a:latin typeface="Kalam"/>
              <a:ea typeface="Kalam"/>
              <a:cs typeface="Kalam"/>
              <a:sym typeface="Kala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100"/>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It can be necessary to find the HCF in real world situations.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It can be necessary to find the LCM in real world situations.</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Different contexts in real world situations rely on being able to identify which of the HCF or LCM is required to solve the problem.</a:t>
            </a:r>
            <a:endParaRPr/>
          </a:p>
        </p:txBody>
      </p:sp>
      <p:sp>
        <p:nvSpPr>
          <p:cNvPr id="1238" name="Google Shape;1238;p100"/>
          <p:cNvSpPr txBox="1"/>
          <p:nvPr>
            <p:ph type="title"/>
          </p:nvPr>
        </p:nvSpPr>
        <p:spPr>
          <a:xfrm>
            <a:off x="1684800" y="1575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HCF or LCM</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101"/>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244" name="Google Shape;1244;p101"/>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