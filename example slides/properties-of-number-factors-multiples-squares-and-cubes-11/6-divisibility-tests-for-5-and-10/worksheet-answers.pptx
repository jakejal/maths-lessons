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4"/>
    <p:sldMasterId id="2147483666" r:id="rId5"/>
  </p:sldMasterIdLst>
  <p:notesMasterIdLst>
    <p:notesMasterId r:id="rId6"/>
  </p:notesMasterIdLst>
  <p:sldIdLst>
    <p:sldId id="256" r:id="rId7"/>
    <p:sldId id="257" r:id="rId8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5879187-E966-405D-ACBC-04368854292A}">
  <a:tblStyle styleId="{95879187-E966-405D-ACBC-04368854292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4627B018-5340-4B5C-8CFF-8DCCC56CD297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79934fec8d_0_13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279934fec8d_0_136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279934fec8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7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7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idx="1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idx="2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3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"/>
          <p:cNvSpPr txBox="1"/>
          <p:nvPr>
            <p:ph idx="12" type="sldNum"/>
          </p:nvPr>
        </p:nvSpPr>
        <p:spPr>
          <a:xfrm>
            <a:off x="6474275" y="1013405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Divisibility tests for 5 and 10</a:t>
            </a:r>
            <a:endParaRPr/>
          </a:p>
        </p:txBody>
      </p:sp>
      <p:cxnSp>
        <p:nvCxnSpPr>
          <p:cNvPr id="173" name="Google Shape;173;p20"/>
          <p:cNvCxnSpPr/>
          <p:nvPr/>
        </p:nvCxnSpPr>
        <p:spPr>
          <a:xfrm>
            <a:off x="489325" y="9905325"/>
            <a:ext cx="65973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4" name="Google Shape;174;p20"/>
          <p:cNvSpPr txBox="1"/>
          <p:nvPr/>
        </p:nvSpPr>
        <p:spPr>
          <a:xfrm>
            <a:off x="468000" y="1969475"/>
            <a:ext cx="8223900" cy="24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Identify all the multiples of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from the list.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234,             139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0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          20 495,           593,          56 57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Identify all the multiples of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and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from the list.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32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7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   139,     1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43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490,    594, 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24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6 578 4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/>
          <p:nvPr/>
        </p:nvSpPr>
        <p:spPr>
          <a:xfrm>
            <a:off x="2211897" y="2914511"/>
            <a:ext cx="1066500" cy="4188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76" name="Google Shape;176;p20"/>
          <p:cNvSpPr/>
          <p:nvPr/>
        </p:nvSpPr>
        <p:spPr>
          <a:xfrm>
            <a:off x="1495054" y="4363450"/>
            <a:ext cx="777300" cy="4809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77" name="Google Shape;177;p20"/>
          <p:cNvSpPr/>
          <p:nvPr/>
        </p:nvSpPr>
        <p:spPr>
          <a:xfrm>
            <a:off x="2899030" y="4369125"/>
            <a:ext cx="1004700" cy="4809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78" name="Google Shape;178;p20"/>
          <p:cNvSpPr txBox="1"/>
          <p:nvPr/>
        </p:nvSpPr>
        <p:spPr>
          <a:xfrm>
            <a:off x="1423589" y="4922950"/>
            <a:ext cx="1514400" cy="4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1+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4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+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3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+4+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9 = 21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3082091" y="4922950"/>
            <a:ext cx="2392200" cy="4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+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4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+6+5+7+8+4+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4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+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5 = 45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0" name="Google Shape;180;p20"/>
          <p:cNvSpPr/>
          <p:nvPr/>
        </p:nvSpPr>
        <p:spPr>
          <a:xfrm>
            <a:off x="1520244" y="2932637"/>
            <a:ext cx="568500" cy="4134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81" name="Google Shape;181;p20"/>
          <p:cNvSpPr/>
          <p:nvPr/>
        </p:nvSpPr>
        <p:spPr>
          <a:xfrm>
            <a:off x="3874431" y="2862550"/>
            <a:ext cx="1066500" cy="5526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82" name="Google Shape;182;p20"/>
          <p:cNvSpPr txBox="1"/>
          <p:nvPr/>
        </p:nvSpPr>
        <p:spPr>
          <a:xfrm>
            <a:off x="468000" y="1438800"/>
            <a:ext cx="6333000" cy="4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Divisibility test for 5</a:t>
            </a:r>
            <a:endParaRPr b="1"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468000" y="5548538"/>
            <a:ext cx="8471400" cy="4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84" name="Google Shape;184;p20"/>
          <p:cNvGraphicFramePr/>
          <p:nvPr/>
        </p:nvGraphicFramePr>
        <p:xfrm>
          <a:off x="758988" y="5858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{95879187-E966-405D-ACBC-04368854292A}</a:tableStyleId>
              </a:tblPr>
              <a:tblGrid>
                <a:gridCol w="1266600"/>
                <a:gridCol w="1266600"/>
                <a:gridCol w="1266600"/>
                <a:gridCol w="1266600"/>
                <a:gridCol w="1266600"/>
              </a:tblGrid>
              <a:tr h="293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Multiple of 2</a:t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Multiple of 3</a:t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Multiple of 5</a:t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Multiple of 9</a:t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91425" marL="91425"/>
                </a:tc>
              </a:tr>
              <a:tr h="293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2 788 904</a:t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91425" marL="91425"/>
                </a:tc>
              </a:tr>
              <a:tr h="293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16 740</a:t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91425" marL="91425"/>
                </a:tc>
              </a:tr>
              <a:tr h="293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15 498</a:t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91425" marL="91425"/>
                </a:tc>
              </a:tr>
              <a:tr h="293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44 701</a:t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91425" marL="91425"/>
                </a:tc>
              </a:tr>
            </a:tbl>
          </a:graphicData>
        </a:graphic>
      </p:graphicFrame>
      <p:sp>
        <p:nvSpPr>
          <p:cNvPr id="185" name="Google Shape;185;p20"/>
          <p:cNvSpPr txBox="1"/>
          <p:nvPr/>
        </p:nvSpPr>
        <p:spPr>
          <a:xfrm>
            <a:off x="467998" y="7658163"/>
            <a:ext cx="7401600" cy="4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Place a tick in the cell of the table above if the number is a multiple of 2, 3, 5 or 9.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What do you notice about the number 16 740?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What do you notice about the number 44 701?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6" name="Google Shape;18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98237" y="6175325"/>
            <a:ext cx="253199" cy="252775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0"/>
          <p:cNvSpPr txBox="1"/>
          <p:nvPr/>
        </p:nvSpPr>
        <p:spPr>
          <a:xfrm>
            <a:off x="887550" y="8155163"/>
            <a:ext cx="7743300" cy="4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16740 is a multiple of 2, 3, 5 and 9.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8" name="Google Shape;188;p20"/>
          <p:cNvSpPr txBox="1"/>
          <p:nvPr/>
        </p:nvSpPr>
        <p:spPr>
          <a:xfrm>
            <a:off x="887549" y="8781738"/>
            <a:ext cx="4537500" cy="4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44701 is not a multiple of 2, 3, 5 and 9.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89" name="Google Shape;18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65147" y="6777375"/>
            <a:ext cx="253199" cy="252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65147" y="6476340"/>
            <a:ext cx="253199" cy="252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26119" y="6476340"/>
            <a:ext cx="253199" cy="252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87091" y="6476350"/>
            <a:ext cx="253199" cy="252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48072" y="6476350"/>
            <a:ext cx="253199" cy="252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26119" y="6777375"/>
            <a:ext cx="253199" cy="252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48072" y="6777375"/>
            <a:ext cx="253199" cy="25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01" name="Google Shape;201;p21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Divisibility tests for 5 and 10</a:t>
            </a:r>
            <a:endParaRPr/>
          </a:p>
        </p:txBody>
      </p:sp>
      <p:sp>
        <p:nvSpPr>
          <p:cNvPr id="202" name="Google Shape;202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</a:t>
            </a: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.2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21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204" name="Google Shape;204;p21"/>
          <p:cNvSpPr txBox="1"/>
          <p:nvPr/>
        </p:nvSpPr>
        <p:spPr>
          <a:xfrm>
            <a:off x="468000" y="7480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Divisibility test for 10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21"/>
          <p:cNvSpPr txBox="1"/>
          <p:nvPr/>
        </p:nvSpPr>
        <p:spPr>
          <a:xfrm>
            <a:off x="4140000" y="1085188"/>
            <a:ext cx="2482200" cy="8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Shade in all the multiples of 10.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What number has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revealed itself?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06" name="Google Shape;206;p21"/>
          <p:cNvGraphicFramePr/>
          <p:nvPr/>
        </p:nvGraphicFramePr>
        <p:xfrm>
          <a:off x="474125" y="10851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{4627B018-5340-4B5C-8CFF-8DCCC56CD297}</a:tableStyleId>
              </a:tblPr>
              <a:tblGrid>
                <a:gridCol w="635425"/>
                <a:gridCol w="635425"/>
                <a:gridCol w="635425"/>
                <a:gridCol w="635425"/>
                <a:gridCol w="635425"/>
              </a:tblGrid>
              <a:tr h="3004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366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828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873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04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873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1340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2900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2480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</a:tr>
              <a:tr h="3004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816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1175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1870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</a:tr>
              <a:tr h="3004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978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3070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980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2470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</a:tr>
              <a:tr h="3004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1074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635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666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624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3030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</a:tr>
              <a:tr h="3004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612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510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3260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620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670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</a:tr>
              <a:tr h="3004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261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438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1134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1137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07" name="Google Shape;207;p21"/>
          <p:cNvSpPr txBox="1"/>
          <p:nvPr/>
        </p:nvSpPr>
        <p:spPr>
          <a:xfrm>
            <a:off x="5148000" y="2018200"/>
            <a:ext cx="7890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8" name="Google Shape;208;p21"/>
          <p:cNvSpPr txBox="1"/>
          <p:nvPr/>
        </p:nvSpPr>
        <p:spPr>
          <a:xfrm>
            <a:off x="465363" y="3967313"/>
            <a:ext cx="6624000" cy="35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The following is a 4 digit number. Insert a digit to make the below statements true.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It is a multiple of 10     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4170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It is a multiple of 5        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4170 or 4175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The following is a 4 digit number. Insert two digits to make the below statements true.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It is a multiple of 10              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e.g. 8950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It is a multiple of 3 and 5     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8910, 8925, 8940, 8955, 8970, 8985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It is a multiple of 9 and 10   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8910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9" name="Google Shape;209;p21"/>
          <p:cNvSpPr txBox="1"/>
          <p:nvPr/>
        </p:nvSpPr>
        <p:spPr>
          <a:xfrm>
            <a:off x="4640275" y="4301063"/>
            <a:ext cx="550500" cy="47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21"/>
          <p:cNvSpPr txBox="1"/>
          <p:nvPr/>
        </p:nvSpPr>
        <p:spPr>
          <a:xfrm>
            <a:off x="5273179" y="4301063"/>
            <a:ext cx="550500" cy="47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" name="Google Shape;211;p21"/>
          <p:cNvSpPr txBox="1"/>
          <p:nvPr/>
        </p:nvSpPr>
        <p:spPr>
          <a:xfrm>
            <a:off x="5906082" y="4301063"/>
            <a:ext cx="550500" cy="47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7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" name="Google Shape;212;p21"/>
          <p:cNvSpPr/>
          <p:nvPr/>
        </p:nvSpPr>
        <p:spPr>
          <a:xfrm>
            <a:off x="4663261" y="4311303"/>
            <a:ext cx="527400" cy="471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13" name="Google Shape;213;p21"/>
          <p:cNvSpPr/>
          <p:nvPr/>
        </p:nvSpPr>
        <p:spPr>
          <a:xfrm>
            <a:off x="5296165" y="4311303"/>
            <a:ext cx="527400" cy="471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14" name="Google Shape;214;p21"/>
          <p:cNvSpPr/>
          <p:nvPr/>
        </p:nvSpPr>
        <p:spPr>
          <a:xfrm>
            <a:off x="5929069" y="4311303"/>
            <a:ext cx="527400" cy="471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15" name="Google Shape;215;p21"/>
          <p:cNvSpPr/>
          <p:nvPr/>
        </p:nvSpPr>
        <p:spPr>
          <a:xfrm>
            <a:off x="6561972" y="4311303"/>
            <a:ext cx="527400" cy="471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16" name="Google Shape;216;p21"/>
          <p:cNvSpPr txBox="1"/>
          <p:nvPr/>
        </p:nvSpPr>
        <p:spPr>
          <a:xfrm>
            <a:off x="4497375" y="5529267"/>
            <a:ext cx="582900" cy="46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8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1"/>
          <p:cNvSpPr txBox="1"/>
          <p:nvPr/>
        </p:nvSpPr>
        <p:spPr>
          <a:xfrm>
            <a:off x="5167669" y="5529267"/>
            <a:ext cx="582900" cy="46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9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" name="Google Shape;218;p21"/>
          <p:cNvSpPr/>
          <p:nvPr/>
        </p:nvSpPr>
        <p:spPr>
          <a:xfrm>
            <a:off x="4521719" y="5539292"/>
            <a:ext cx="558600" cy="461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19" name="Google Shape;219;p21"/>
          <p:cNvSpPr/>
          <p:nvPr/>
        </p:nvSpPr>
        <p:spPr>
          <a:xfrm>
            <a:off x="5192013" y="5539292"/>
            <a:ext cx="558600" cy="461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20" name="Google Shape;220;p21"/>
          <p:cNvSpPr/>
          <p:nvPr/>
        </p:nvSpPr>
        <p:spPr>
          <a:xfrm>
            <a:off x="5862307" y="5539292"/>
            <a:ext cx="558600" cy="461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21" name="Google Shape;221;p21"/>
          <p:cNvSpPr/>
          <p:nvPr/>
        </p:nvSpPr>
        <p:spPr>
          <a:xfrm>
            <a:off x="6532600" y="5539292"/>
            <a:ext cx="558600" cy="461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22" name="Google Shape;222;p21"/>
          <p:cNvSpPr txBox="1"/>
          <p:nvPr/>
        </p:nvSpPr>
        <p:spPr>
          <a:xfrm>
            <a:off x="467988" y="7147688"/>
            <a:ext cx="6624000" cy="7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4) Laura uses integers as her inputs into a function machine.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Place a tick in the cell if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every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number will be a multiple of 2, 3 or 10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23" name="Google Shape;223;p21"/>
          <p:cNvGraphicFramePr/>
          <p:nvPr/>
        </p:nvGraphicFramePr>
        <p:xfrm>
          <a:off x="474134" y="771661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{95879187-E966-405D-ACBC-04368854292A}</a:tableStyleId>
              </a:tblPr>
              <a:tblGrid>
                <a:gridCol w="1311500"/>
                <a:gridCol w="1462425"/>
                <a:gridCol w="1387000"/>
                <a:gridCol w="1387000"/>
              </a:tblGrid>
              <a:tr h="573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Every number will be a   multiple of 2</a:t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Every number will be a multiple of 3</a:t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Every number will be a multiple of 10</a:t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90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70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70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93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24" name="Google Shape;224;p21"/>
          <p:cNvSpPr/>
          <p:nvPr/>
        </p:nvSpPr>
        <p:spPr>
          <a:xfrm>
            <a:off x="579308" y="8448100"/>
            <a:ext cx="531600" cy="3474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0F0F0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25" name="Google Shape;225;p21"/>
          <p:cNvSpPr/>
          <p:nvPr/>
        </p:nvSpPr>
        <p:spPr>
          <a:xfrm>
            <a:off x="1130882" y="8448100"/>
            <a:ext cx="555000" cy="3474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0F0F0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26" name="Google Shape;226;p21"/>
          <p:cNvSpPr txBox="1"/>
          <p:nvPr/>
        </p:nvSpPr>
        <p:spPr>
          <a:xfrm>
            <a:off x="568602" y="8448100"/>
            <a:ext cx="439800" cy="2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✕6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1"/>
          <p:cNvSpPr txBox="1"/>
          <p:nvPr/>
        </p:nvSpPr>
        <p:spPr>
          <a:xfrm>
            <a:off x="1131113" y="8448100"/>
            <a:ext cx="453900" cy="2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✕5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" name="Google Shape;228;p21"/>
          <p:cNvSpPr/>
          <p:nvPr/>
        </p:nvSpPr>
        <p:spPr>
          <a:xfrm>
            <a:off x="579308" y="8827874"/>
            <a:ext cx="531600" cy="3474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0F0F0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29" name="Google Shape;229;p21"/>
          <p:cNvSpPr/>
          <p:nvPr/>
        </p:nvSpPr>
        <p:spPr>
          <a:xfrm>
            <a:off x="1130882" y="8827874"/>
            <a:ext cx="555000" cy="3474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0F0F0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30" name="Google Shape;230;p21"/>
          <p:cNvSpPr txBox="1"/>
          <p:nvPr/>
        </p:nvSpPr>
        <p:spPr>
          <a:xfrm>
            <a:off x="559534" y="8821495"/>
            <a:ext cx="439800" cy="2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✕8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21"/>
          <p:cNvSpPr txBox="1"/>
          <p:nvPr/>
        </p:nvSpPr>
        <p:spPr>
          <a:xfrm>
            <a:off x="1126664" y="8821495"/>
            <a:ext cx="474000" cy="2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✕7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" name="Google Shape;232;p21"/>
          <p:cNvSpPr/>
          <p:nvPr/>
        </p:nvSpPr>
        <p:spPr>
          <a:xfrm>
            <a:off x="465376" y="9218499"/>
            <a:ext cx="421500" cy="3474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0F0F0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33" name="Google Shape;233;p21"/>
          <p:cNvSpPr/>
          <p:nvPr/>
        </p:nvSpPr>
        <p:spPr>
          <a:xfrm>
            <a:off x="902553" y="9218499"/>
            <a:ext cx="440100" cy="3474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0F0F0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34" name="Google Shape;234;p21"/>
          <p:cNvSpPr txBox="1"/>
          <p:nvPr/>
        </p:nvSpPr>
        <p:spPr>
          <a:xfrm>
            <a:off x="413847" y="9232539"/>
            <a:ext cx="544200" cy="2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✕10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" name="Google Shape;235;p21"/>
          <p:cNvSpPr txBox="1"/>
          <p:nvPr/>
        </p:nvSpPr>
        <p:spPr>
          <a:xfrm>
            <a:off x="911046" y="9232539"/>
            <a:ext cx="504900" cy="2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✕6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6" name="Google Shape;236;p21"/>
          <p:cNvSpPr/>
          <p:nvPr/>
        </p:nvSpPr>
        <p:spPr>
          <a:xfrm>
            <a:off x="1336578" y="9218499"/>
            <a:ext cx="440100" cy="3474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0F0F0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37" name="Google Shape;237;p21"/>
          <p:cNvSpPr txBox="1"/>
          <p:nvPr/>
        </p:nvSpPr>
        <p:spPr>
          <a:xfrm>
            <a:off x="1327622" y="9213059"/>
            <a:ext cx="504900" cy="2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÷5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8" name="Google Shape;238;p21"/>
          <p:cNvSpPr/>
          <p:nvPr/>
        </p:nvSpPr>
        <p:spPr>
          <a:xfrm>
            <a:off x="474419" y="9598273"/>
            <a:ext cx="421500" cy="3474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0F0F0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39" name="Google Shape;239;p21"/>
          <p:cNvSpPr/>
          <p:nvPr/>
        </p:nvSpPr>
        <p:spPr>
          <a:xfrm>
            <a:off x="911595" y="9598273"/>
            <a:ext cx="440100" cy="3474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0F0F0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40" name="Google Shape;240;p21"/>
          <p:cNvSpPr txBox="1"/>
          <p:nvPr/>
        </p:nvSpPr>
        <p:spPr>
          <a:xfrm>
            <a:off x="408443" y="9611339"/>
            <a:ext cx="544200" cy="2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✕6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1" name="Google Shape;241;p21"/>
          <p:cNvSpPr txBox="1"/>
          <p:nvPr/>
        </p:nvSpPr>
        <p:spPr>
          <a:xfrm>
            <a:off x="905641" y="9611339"/>
            <a:ext cx="504900" cy="2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✕5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2" name="Google Shape;242;p21"/>
          <p:cNvSpPr/>
          <p:nvPr/>
        </p:nvSpPr>
        <p:spPr>
          <a:xfrm>
            <a:off x="1345620" y="9598273"/>
            <a:ext cx="440100" cy="3474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0F0F0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43" name="Google Shape;243;p21"/>
          <p:cNvSpPr txBox="1"/>
          <p:nvPr/>
        </p:nvSpPr>
        <p:spPr>
          <a:xfrm>
            <a:off x="1337362" y="9591858"/>
            <a:ext cx="504900" cy="2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÷2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44" name="Google Shape;24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26952" y="8448100"/>
            <a:ext cx="317562" cy="33608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27601" y="8448100"/>
            <a:ext cx="317562" cy="33608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89215" y="8453763"/>
            <a:ext cx="317562" cy="33608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26952" y="8875846"/>
            <a:ext cx="317562" cy="33608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37136" y="9242485"/>
            <a:ext cx="317562" cy="33608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37785" y="9242485"/>
            <a:ext cx="317562" cy="33608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27601" y="9625326"/>
            <a:ext cx="317562" cy="3360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LD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Worksheet Answers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