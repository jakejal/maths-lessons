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3DC643F-6BEC-42D8-821D-96F2195EA270}">
  <a:tblStyle styleId="{43DC643F-6BEC-42D8-821D-96F2195EA27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7B63220-1CAA-4E56-A979-092783325643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6" Type="http://schemas.openxmlformats.org/officeDocument/2006/relationships/slide" Target="slides/slide31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285d388311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85d388311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g285d3883113_0_7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85d3883113_0_7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g285d3883113_0_7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1" name="Google Shape;781;g285d3883113_0_7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285d3883113_0_1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285d3883113_0_1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g285d3883113_0_15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6" name="Google Shape;796;g285d3883113_0_15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285d3883113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3" name="Google Shape;813;g285d3883113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6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85d3883113_0_2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85d3883113_0_2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85d3883113_0_2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85d3883113_0_2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285d3883113_0_2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5" name="Google Shape;875;g285d3883113_0_2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g285d3883113_0_2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1" name="Google Shape;881;g285d3883113_0_2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7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g285d3883113_0_24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9" name="Google Shape;889;g285d3883113_0_24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8914571c8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8914571c8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85d3883113_0_2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85d3883113_0_2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g285d3883113_0_25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0" name="Google Shape;930;g285d3883113_0_25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8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g285d3883113_0_25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0" name="Google Shape;950;g285d3883113_0_2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85d3883113_0_2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85d3883113_0_2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1" name="Shape 1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2" name="Google Shape;1042;g285d3883113_1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3" name="Google Shape;1043;g285d3883113_1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85d3883113_1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85d3883113_1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85d3883113_1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85d3883113_1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g285d3883113_0_24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7" name="Google Shape;1187;g285d3883113_0_2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28a07681572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8" name="Google Shape;1198;g28a07681572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4" name="Shape 1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5" name="Google Shape;1225;g285d3883113_1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6" name="Google Shape;1226;g285d3883113_1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285d3883113_1_3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285d3883113_1_3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g285d3883113_1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2" name="Google Shape;1252;g285d3883113_1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85d3883113_1_4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85d3883113_1_4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g285d3883113_1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8" name="Google Shape;1288;g285d3883113_1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285d3883113_1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285d3883113_1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g285d388311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5" name="Google Shape;1355;g285d388311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2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Relationship Id="rId4" Type="http://schemas.openxmlformats.org/officeDocument/2006/relationships/image" Target="../media/image16.png"/><Relationship Id="rId5" Type="http://schemas.openxmlformats.org/officeDocument/2006/relationships/image" Target="../media/image23.png"/><Relationship Id="rId6" Type="http://schemas.openxmlformats.org/officeDocument/2006/relationships/image" Target="../media/image17.png"/><Relationship Id="rId7" Type="http://schemas.openxmlformats.org/officeDocument/2006/relationships/image" Target="../media/image20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5.png"/><Relationship Id="rId3" Type="http://schemas.openxmlformats.org/officeDocument/2006/relationships/image" Target="../media/image19.png"/><Relationship Id="rId4" Type="http://schemas.openxmlformats.org/officeDocument/2006/relationships/image" Target="../media/image56.png"/><Relationship Id="rId5" Type="http://schemas.openxmlformats.org/officeDocument/2006/relationships/image" Target="../media/image27.png"/><Relationship Id="rId6" Type="http://schemas.openxmlformats.org/officeDocument/2006/relationships/image" Target="../media/image32.png"/><Relationship Id="rId7" Type="http://schemas.openxmlformats.org/officeDocument/2006/relationships/image" Target="../media/image24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56.png"/><Relationship Id="rId4" Type="http://schemas.openxmlformats.org/officeDocument/2006/relationships/image" Target="../media/image25.png"/><Relationship Id="rId9" Type="http://schemas.openxmlformats.org/officeDocument/2006/relationships/image" Target="../media/image24.png"/><Relationship Id="rId5" Type="http://schemas.openxmlformats.org/officeDocument/2006/relationships/image" Target="../media/image19.png"/><Relationship Id="rId6" Type="http://schemas.openxmlformats.org/officeDocument/2006/relationships/image" Target="../media/image43.png"/><Relationship Id="rId7" Type="http://schemas.openxmlformats.org/officeDocument/2006/relationships/image" Target="../media/image27.png"/><Relationship Id="rId8" Type="http://schemas.openxmlformats.org/officeDocument/2006/relationships/image" Target="../media/image3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Relationship Id="rId3" Type="http://schemas.openxmlformats.org/officeDocument/2006/relationships/image" Target="../media/image56.png"/><Relationship Id="rId4" Type="http://schemas.openxmlformats.org/officeDocument/2006/relationships/image" Target="../media/image29.png"/><Relationship Id="rId11" Type="http://schemas.openxmlformats.org/officeDocument/2006/relationships/image" Target="../media/image24.png"/><Relationship Id="rId10" Type="http://schemas.openxmlformats.org/officeDocument/2006/relationships/image" Target="../media/image36.png"/><Relationship Id="rId9" Type="http://schemas.openxmlformats.org/officeDocument/2006/relationships/image" Target="../media/image32.png"/><Relationship Id="rId5" Type="http://schemas.openxmlformats.org/officeDocument/2006/relationships/image" Target="../media/image25.png"/><Relationship Id="rId6" Type="http://schemas.openxmlformats.org/officeDocument/2006/relationships/image" Target="../media/image19.png"/><Relationship Id="rId7" Type="http://schemas.openxmlformats.org/officeDocument/2006/relationships/image" Target="../media/image43.png"/><Relationship Id="rId8" Type="http://schemas.openxmlformats.org/officeDocument/2006/relationships/image" Target="../media/image2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3.png"/><Relationship Id="rId4" Type="http://schemas.openxmlformats.org/officeDocument/2006/relationships/image" Target="../media/image39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4.png"/><Relationship Id="rId4" Type="http://schemas.openxmlformats.org/officeDocument/2006/relationships/image" Target="../media/image39.png"/><Relationship Id="rId5" Type="http://schemas.openxmlformats.org/officeDocument/2006/relationships/image" Target="../media/image42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Relationship Id="rId5" Type="http://schemas.openxmlformats.org/officeDocument/2006/relationships/image" Target="../media/image4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Relationship Id="rId4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39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9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9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9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5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Relationship Id="rId3" Type="http://schemas.openxmlformats.org/officeDocument/2006/relationships/image" Target="../media/image46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                              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2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2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2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2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8" name="Google Shape;358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Google Shape;419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8" name="Google Shape;438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3" name="Google Shape;503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6" name="Google Shape;52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6" name="Google Shape;556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7" name="Google Shape;557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8" name="Google Shape;568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5" name="Google Shape;575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6" name="Google Shape;576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7" name="Google Shape;587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4" name="Google Shape;594;p4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5" name="Google Shape;595;p4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Google Shape;606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4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4" name="Google Shape;614;p4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7" name="Google Shape;627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Google Shape;632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9" name="Google Shape;639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6" name="Google Shape;646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1" name="Google Shape;661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9" name="Google Shape;669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7" name="Google Shape;677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9" name="Google Shape;679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537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3" name="Google Shape;693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1" name="Google Shape;701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9" name="Google Shape;709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8.png"/><Relationship Id="rId4" Type="http://schemas.openxmlformats.org/officeDocument/2006/relationships/image" Target="../media/image5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5.png"/><Relationship Id="rId4" Type="http://schemas.openxmlformats.org/officeDocument/2006/relationships/image" Target="../media/image5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5.png"/><Relationship Id="rId4" Type="http://schemas.openxmlformats.org/officeDocument/2006/relationships/image" Target="../media/image5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5.png"/><Relationship Id="rId4" Type="http://schemas.openxmlformats.org/officeDocument/2006/relationships/image" Target="../media/image5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7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1284525"/>
            <a:ext cx="5502000" cy="226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5 and 10</a:t>
            </a:r>
            <a:endParaRPr/>
          </a:p>
        </p:txBody>
      </p:sp>
      <p:sp>
        <p:nvSpPr>
          <p:cNvPr id="751" name="Google Shape;751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Properties of number: factors, multiples, squares and cubes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90850" y="725950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identify and explain whether a number is or is not a multiple of 5 or 10.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p67"/>
          <p:cNvSpPr txBox="1"/>
          <p:nvPr>
            <p:ph idx="1" type="subTitle"/>
          </p:nvPr>
        </p:nvSpPr>
        <p:spPr>
          <a:xfrm>
            <a:off x="323994" y="7650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Divisibility is a </a:t>
            </a:r>
            <a:r>
              <a:rPr b="0" lang="en-GB" sz="2000"/>
              <a:t>mathematical concept that refers to one </a:t>
            </a:r>
            <a:r>
              <a:rPr b="0" lang="en-GB" sz="2000"/>
              <a:t>number's ability to be exactly divided by another, leaving no remainder.</a:t>
            </a:r>
            <a:endParaRPr b="0" sz="2000"/>
          </a:p>
        </p:txBody>
      </p:sp>
      <p:sp>
        <p:nvSpPr>
          <p:cNvPr id="767" name="Google Shape;767;p67"/>
          <p:cNvSpPr txBox="1"/>
          <p:nvPr>
            <p:ph idx="1" type="subTitle"/>
          </p:nvPr>
        </p:nvSpPr>
        <p:spPr>
          <a:xfrm>
            <a:off x="324025" y="2289050"/>
            <a:ext cx="5118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Divisibility</a:t>
            </a:r>
            <a:r>
              <a:rPr b="0" lang="en-GB" sz="2000"/>
              <a:t> test for 2 : The digit in the ones column is a 0, 2, 4, 6 or 8. </a:t>
            </a:r>
            <a:endParaRPr b="0" sz="2000"/>
          </a:p>
        </p:txBody>
      </p:sp>
      <p:sp>
        <p:nvSpPr>
          <p:cNvPr id="768" name="Google Shape;768;p67"/>
          <p:cNvSpPr txBox="1"/>
          <p:nvPr>
            <p:ph idx="1" type="subTitle"/>
          </p:nvPr>
        </p:nvSpPr>
        <p:spPr>
          <a:xfrm>
            <a:off x="5779425" y="2490325"/>
            <a:ext cx="730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794</a:t>
            </a:r>
            <a:endParaRPr b="0" sz="2000"/>
          </a:p>
        </p:txBody>
      </p:sp>
      <p:sp>
        <p:nvSpPr>
          <p:cNvPr id="769" name="Google Shape;769;p67"/>
          <p:cNvSpPr txBox="1"/>
          <p:nvPr>
            <p:ph idx="1" type="subTitle"/>
          </p:nvPr>
        </p:nvSpPr>
        <p:spPr>
          <a:xfrm>
            <a:off x="7149373" y="2117675"/>
            <a:ext cx="1804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Non example</a:t>
            </a:r>
            <a:endParaRPr b="0" sz="2000"/>
          </a:p>
        </p:txBody>
      </p:sp>
      <p:sp>
        <p:nvSpPr>
          <p:cNvPr id="770" name="Google Shape;770;p67"/>
          <p:cNvSpPr txBox="1"/>
          <p:nvPr>
            <p:ph idx="1" type="subTitle"/>
          </p:nvPr>
        </p:nvSpPr>
        <p:spPr>
          <a:xfrm>
            <a:off x="5458725" y="2117675"/>
            <a:ext cx="2337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Example</a:t>
            </a:r>
            <a:endParaRPr b="0" sz="2000"/>
          </a:p>
        </p:txBody>
      </p:sp>
      <p:sp>
        <p:nvSpPr>
          <p:cNvPr id="771" name="Google Shape;771;p67"/>
          <p:cNvSpPr txBox="1"/>
          <p:nvPr>
            <p:ph idx="1" type="subTitle"/>
          </p:nvPr>
        </p:nvSpPr>
        <p:spPr>
          <a:xfrm>
            <a:off x="7608225" y="2490325"/>
            <a:ext cx="730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9351</a:t>
            </a:r>
            <a:endParaRPr b="0" sz="2000"/>
          </a:p>
        </p:txBody>
      </p:sp>
      <p:sp>
        <p:nvSpPr>
          <p:cNvPr id="772" name="Google Shape;772;p67"/>
          <p:cNvSpPr txBox="1"/>
          <p:nvPr>
            <p:ph idx="1" type="subTitle"/>
          </p:nvPr>
        </p:nvSpPr>
        <p:spPr>
          <a:xfrm>
            <a:off x="333425" y="3521450"/>
            <a:ext cx="5118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Divisibility test for 3 : The sum of the digits is a multiple of 3.</a:t>
            </a:r>
            <a:endParaRPr b="0" sz="2000"/>
          </a:p>
        </p:txBody>
      </p:sp>
      <p:sp>
        <p:nvSpPr>
          <p:cNvPr id="773" name="Google Shape;773;p67"/>
          <p:cNvSpPr txBox="1"/>
          <p:nvPr>
            <p:ph idx="1" type="subTitle"/>
          </p:nvPr>
        </p:nvSpPr>
        <p:spPr>
          <a:xfrm>
            <a:off x="5709550" y="3722725"/>
            <a:ext cx="952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1389</a:t>
            </a:r>
            <a:endParaRPr b="0" sz="2000"/>
          </a:p>
        </p:txBody>
      </p:sp>
      <p:sp>
        <p:nvSpPr>
          <p:cNvPr id="774" name="Google Shape;774;p67"/>
          <p:cNvSpPr txBox="1"/>
          <p:nvPr>
            <p:ph idx="1" type="subTitle"/>
          </p:nvPr>
        </p:nvSpPr>
        <p:spPr>
          <a:xfrm>
            <a:off x="7158773" y="3350075"/>
            <a:ext cx="1804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Non example</a:t>
            </a:r>
            <a:endParaRPr b="0" sz="2000"/>
          </a:p>
        </p:txBody>
      </p:sp>
      <p:sp>
        <p:nvSpPr>
          <p:cNvPr id="775" name="Google Shape;775;p67"/>
          <p:cNvSpPr txBox="1"/>
          <p:nvPr>
            <p:ph idx="1" type="subTitle"/>
          </p:nvPr>
        </p:nvSpPr>
        <p:spPr>
          <a:xfrm>
            <a:off x="5468125" y="3350075"/>
            <a:ext cx="2337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Example</a:t>
            </a:r>
            <a:endParaRPr b="0" sz="2000"/>
          </a:p>
        </p:txBody>
      </p:sp>
      <p:sp>
        <p:nvSpPr>
          <p:cNvPr id="776" name="Google Shape;776;p67"/>
          <p:cNvSpPr txBox="1"/>
          <p:nvPr>
            <p:ph idx="1" type="subTitle"/>
          </p:nvPr>
        </p:nvSpPr>
        <p:spPr>
          <a:xfrm>
            <a:off x="7617625" y="3722725"/>
            <a:ext cx="730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673</a:t>
            </a:r>
            <a:endParaRPr b="0" sz="2000"/>
          </a:p>
        </p:txBody>
      </p:sp>
      <p:sp>
        <p:nvSpPr>
          <p:cNvPr id="777" name="Google Shape;777;p67"/>
          <p:cNvSpPr txBox="1"/>
          <p:nvPr>
            <p:ph idx="1" type="subTitle"/>
          </p:nvPr>
        </p:nvSpPr>
        <p:spPr>
          <a:xfrm>
            <a:off x="5315050" y="4103725"/>
            <a:ext cx="2125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1+3+8+9= 21</a:t>
            </a:r>
            <a:endParaRPr b="0" sz="2000"/>
          </a:p>
        </p:txBody>
      </p:sp>
      <p:sp>
        <p:nvSpPr>
          <p:cNvPr id="778" name="Google Shape;778;p67"/>
          <p:cNvSpPr txBox="1"/>
          <p:nvPr>
            <p:ph idx="1" type="subTitle"/>
          </p:nvPr>
        </p:nvSpPr>
        <p:spPr>
          <a:xfrm>
            <a:off x="7220050" y="4103725"/>
            <a:ext cx="21252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 sz="2000"/>
              <a:t>6+7+3 = 16</a:t>
            </a:r>
            <a:endParaRPr b="0"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6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5</a:t>
            </a:r>
            <a:endParaRPr/>
          </a:p>
        </p:txBody>
      </p:sp>
      <p:sp>
        <p:nvSpPr>
          <p:cNvPr id="784" name="Google Shape;784;p6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6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5 and 10</a:t>
            </a:r>
            <a:endParaRPr/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93" y="20594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5</a:t>
            </a:r>
            <a:endParaRPr/>
          </a:p>
        </p:txBody>
      </p:sp>
      <p:sp>
        <p:nvSpPr>
          <p:cNvPr id="792" name="Google Shape;792;p69"/>
          <p:cNvSpPr txBox="1"/>
          <p:nvPr>
            <p:ph idx="4294967295" type="subTitle"/>
          </p:nvPr>
        </p:nvSpPr>
        <p:spPr>
          <a:xfrm>
            <a:off x="324001" y="966450"/>
            <a:ext cx="8205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0" lang="en-GB"/>
              <a:t>A </a:t>
            </a:r>
            <a:r>
              <a:rPr lang="en-GB"/>
              <a:t>divisibility </a:t>
            </a:r>
            <a:r>
              <a:rPr b="0" lang="en-GB"/>
              <a:t>test checks if a number can be divided into another number without a remainder.</a:t>
            </a:r>
            <a:endParaRPr b="0"/>
          </a:p>
        </p:txBody>
      </p:sp>
      <p:sp>
        <p:nvSpPr>
          <p:cNvPr id="793" name="Google Shape;793;p69"/>
          <p:cNvSpPr txBox="1"/>
          <p:nvPr>
            <p:ph idx="4294967295" type="subTitle"/>
          </p:nvPr>
        </p:nvSpPr>
        <p:spPr>
          <a:xfrm>
            <a:off x="384600" y="2160000"/>
            <a:ext cx="8083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</a:t>
            </a:r>
            <a:r>
              <a:rPr lang="en-GB"/>
              <a:t> tests are quick processes to identify if a number is divisible.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p70"/>
          <p:cNvSpPr txBox="1"/>
          <p:nvPr>
            <p:ph idx="4294967295" type="subTitle"/>
          </p:nvPr>
        </p:nvSpPr>
        <p:spPr>
          <a:xfrm>
            <a:off x="324000" y="950750"/>
            <a:ext cx="662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</a:t>
            </a:r>
            <a:r>
              <a:rPr lang="en-GB"/>
              <a:t>divisibility</a:t>
            </a:r>
            <a:r>
              <a:rPr lang="en-GB"/>
              <a:t> by 5 </a:t>
            </a:r>
            <a:endParaRPr b="0"/>
          </a:p>
        </p:txBody>
      </p:sp>
      <p:sp>
        <p:nvSpPr>
          <p:cNvPr id="799" name="Google Shape;799;p70"/>
          <p:cNvSpPr txBox="1"/>
          <p:nvPr>
            <p:ph idx="4294967295" type="subTitle"/>
          </p:nvPr>
        </p:nvSpPr>
        <p:spPr>
          <a:xfrm>
            <a:off x="4572000" y="1775200"/>
            <a:ext cx="37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 all the multiples of 5 less than or equal to 50</a:t>
            </a:r>
            <a:endParaRPr b="0"/>
          </a:p>
        </p:txBody>
      </p:sp>
      <p:sp>
        <p:nvSpPr>
          <p:cNvPr id="800" name="Google Shape;800;p70"/>
          <p:cNvSpPr txBox="1"/>
          <p:nvPr/>
        </p:nvSpPr>
        <p:spPr>
          <a:xfrm>
            <a:off x="1035150" y="16623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1" name="Google Shape;80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5</a:t>
            </a:r>
            <a:endParaRPr/>
          </a:p>
        </p:txBody>
      </p:sp>
      <p:sp>
        <p:nvSpPr>
          <p:cNvPr id="802" name="Google Shape;802;p70"/>
          <p:cNvSpPr txBox="1"/>
          <p:nvPr/>
        </p:nvSpPr>
        <p:spPr>
          <a:xfrm>
            <a:off x="2025750" y="16623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3" name="Google Shape;803;p70"/>
          <p:cNvSpPr txBox="1"/>
          <p:nvPr/>
        </p:nvSpPr>
        <p:spPr>
          <a:xfrm>
            <a:off x="1007936" y="21195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4" name="Google Shape;804;p70"/>
          <p:cNvSpPr txBox="1"/>
          <p:nvPr/>
        </p:nvSpPr>
        <p:spPr>
          <a:xfrm>
            <a:off x="1998536" y="21195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5" name="Google Shape;805;p70"/>
          <p:cNvSpPr txBox="1"/>
          <p:nvPr/>
        </p:nvSpPr>
        <p:spPr>
          <a:xfrm>
            <a:off x="1007936" y="2527739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6" name="Google Shape;806;p70"/>
          <p:cNvSpPr txBox="1"/>
          <p:nvPr/>
        </p:nvSpPr>
        <p:spPr>
          <a:xfrm>
            <a:off x="1998536" y="2527739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1007936" y="29577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8" name="Google Shape;808;p70"/>
          <p:cNvSpPr txBox="1"/>
          <p:nvPr/>
        </p:nvSpPr>
        <p:spPr>
          <a:xfrm>
            <a:off x="1998536" y="29577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09" name="Google Shape;809;p70"/>
          <p:cNvSpPr txBox="1"/>
          <p:nvPr/>
        </p:nvSpPr>
        <p:spPr>
          <a:xfrm>
            <a:off x="1007936" y="34149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0" name="Google Shape;810;p70"/>
          <p:cNvSpPr txBox="1"/>
          <p:nvPr/>
        </p:nvSpPr>
        <p:spPr>
          <a:xfrm>
            <a:off x="1998536" y="34149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 sz="2800">
                <a:latin typeface="Kalam"/>
                <a:ea typeface="Kalam"/>
                <a:cs typeface="Kalam"/>
                <a:sym typeface="Kalam"/>
              </a:rPr>
              <a:t>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Google Shape;815;p71"/>
          <p:cNvSpPr txBox="1"/>
          <p:nvPr>
            <p:ph idx="4294967295" type="subTitle"/>
          </p:nvPr>
        </p:nvSpPr>
        <p:spPr>
          <a:xfrm>
            <a:off x="3840350" y="1652700"/>
            <a:ext cx="4308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see a pattern? </a:t>
            </a:r>
            <a:endParaRPr b="0"/>
          </a:p>
        </p:txBody>
      </p:sp>
      <p:sp>
        <p:nvSpPr>
          <p:cNvPr id="816" name="Google Shape;816;p71"/>
          <p:cNvSpPr txBox="1"/>
          <p:nvPr/>
        </p:nvSpPr>
        <p:spPr>
          <a:xfrm>
            <a:off x="3786600" y="2063700"/>
            <a:ext cx="4559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digit in the ones column is always 5 or a 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7" name="Google Shape;817;p71"/>
          <p:cNvSpPr txBox="1"/>
          <p:nvPr>
            <p:ph idx="4294967295" type="subTitle"/>
          </p:nvPr>
        </p:nvSpPr>
        <p:spPr>
          <a:xfrm>
            <a:off x="3840350" y="3100500"/>
            <a:ext cx="33816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Is 5345 divisible by 5? </a:t>
            </a:r>
            <a:endParaRPr b="0"/>
          </a:p>
        </p:txBody>
      </p:sp>
      <p:sp>
        <p:nvSpPr>
          <p:cNvPr id="818" name="Google Shape;818;p71"/>
          <p:cNvSpPr txBox="1"/>
          <p:nvPr/>
        </p:nvSpPr>
        <p:spPr>
          <a:xfrm>
            <a:off x="3786600" y="3511500"/>
            <a:ext cx="4559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Yes because the digit in the ones column is a 5.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19" name="Google Shape;819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5</a:t>
            </a:r>
            <a:endParaRPr/>
          </a:p>
        </p:txBody>
      </p:sp>
      <p:sp>
        <p:nvSpPr>
          <p:cNvPr id="820" name="Google Shape;820;p71"/>
          <p:cNvSpPr txBox="1"/>
          <p:nvPr>
            <p:ph idx="4294967295" type="subTitle"/>
          </p:nvPr>
        </p:nvSpPr>
        <p:spPr>
          <a:xfrm>
            <a:off x="324000" y="950750"/>
            <a:ext cx="6627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divisibility by 5 </a:t>
            </a:r>
            <a:endParaRPr b="0"/>
          </a:p>
        </p:txBody>
      </p:sp>
      <p:sp>
        <p:nvSpPr>
          <p:cNvPr id="821" name="Google Shape;821;p71"/>
          <p:cNvSpPr txBox="1"/>
          <p:nvPr/>
        </p:nvSpPr>
        <p:spPr>
          <a:xfrm>
            <a:off x="1035150" y="16623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2" name="Google Shape;822;p71"/>
          <p:cNvSpPr txBox="1"/>
          <p:nvPr/>
        </p:nvSpPr>
        <p:spPr>
          <a:xfrm>
            <a:off x="2025750" y="16623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3" name="Google Shape;823;p71"/>
          <p:cNvSpPr txBox="1"/>
          <p:nvPr/>
        </p:nvSpPr>
        <p:spPr>
          <a:xfrm>
            <a:off x="1007936" y="21195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4" name="Google Shape;824;p71"/>
          <p:cNvSpPr txBox="1"/>
          <p:nvPr/>
        </p:nvSpPr>
        <p:spPr>
          <a:xfrm>
            <a:off x="1998536" y="21195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5" name="Google Shape;825;p71"/>
          <p:cNvSpPr txBox="1"/>
          <p:nvPr/>
        </p:nvSpPr>
        <p:spPr>
          <a:xfrm>
            <a:off x="1007936" y="2527739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6" name="Google Shape;826;p71"/>
          <p:cNvSpPr txBox="1"/>
          <p:nvPr/>
        </p:nvSpPr>
        <p:spPr>
          <a:xfrm>
            <a:off x="1998536" y="2527739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7" name="Google Shape;827;p71"/>
          <p:cNvSpPr txBox="1"/>
          <p:nvPr/>
        </p:nvSpPr>
        <p:spPr>
          <a:xfrm>
            <a:off x="1007936" y="29577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8" name="Google Shape;828;p71"/>
          <p:cNvSpPr txBox="1"/>
          <p:nvPr/>
        </p:nvSpPr>
        <p:spPr>
          <a:xfrm>
            <a:off x="1998536" y="29577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40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29" name="Google Shape;829;p71"/>
          <p:cNvSpPr txBox="1"/>
          <p:nvPr/>
        </p:nvSpPr>
        <p:spPr>
          <a:xfrm>
            <a:off x="1007936" y="34149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45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30" name="Google Shape;830;p71"/>
          <p:cNvSpPr txBox="1"/>
          <p:nvPr/>
        </p:nvSpPr>
        <p:spPr>
          <a:xfrm>
            <a:off x="1998536" y="34149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50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831" name="Google Shape;831;p71"/>
          <p:cNvGrpSpPr/>
          <p:nvPr/>
        </p:nvGrpSpPr>
        <p:grpSpPr>
          <a:xfrm>
            <a:off x="2008455" y="1656300"/>
            <a:ext cx="920606" cy="2239800"/>
            <a:chOff x="-1649145" y="1580100"/>
            <a:chExt cx="920606" cy="2239800"/>
          </a:xfrm>
        </p:grpSpPr>
        <p:sp>
          <p:nvSpPr>
            <p:cNvPr id="832" name="Google Shape;832;p71"/>
            <p:cNvSpPr txBox="1"/>
            <p:nvPr/>
          </p:nvSpPr>
          <p:spPr>
            <a:xfrm>
              <a:off x="-1649145" y="1580100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 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3" name="Google Shape;833;p71"/>
            <p:cNvSpPr txBox="1"/>
            <p:nvPr/>
          </p:nvSpPr>
          <p:spPr>
            <a:xfrm>
              <a:off x="-1630639" y="2037300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4" name="Google Shape;834;p71"/>
            <p:cNvSpPr txBox="1"/>
            <p:nvPr/>
          </p:nvSpPr>
          <p:spPr>
            <a:xfrm>
              <a:off x="-1630639" y="2445514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5" name="Google Shape;835;p71"/>
            <p:cNvSpPr txBox="1"/>
            <p:nvPr/>
          </p:nvSpPr>
          <p:spPr>
            <a:xfrm>
              <a:off x="-1630639" y="2875500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6" name="Google Shape;836;p71"/>
            <p:cNvSpPr txBox="1"/>
            <p:nvPr/>
          </p:nvSpPr>
          <p:spPr>
            <a:xfrm>
              <a:off x="-1630639" y="3332700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 </a:t>
              </a: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0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837" name="Google Shape;837;p71"/>
          <p:cNvGrpSpPr/>
          <p:nvPr/>
        </p:nvGrpSpPr>
        <p:grpSpPr>
          <a:xfrm>
            <a:off x="992509" y="1657800"/>
            <a:ext cx="947457" cy="2246150"/>
            <a:chOff x="-1203671" y="1821075"/>
            <a:chExt cx="947457" cy="2246150"/>
          </a:xfrm>
        </p:grpSpPr>
        <p:sp>
          <p:nvSpPr>
            <p:cNvPr id="838" name="Google Shape;838;p71"/>
            <p:cNvSpPr txBox="1"/>
            <p:nvPr/>
          </p:nvSpPr>
          <p:spPr>
            <a:xfrm>
              <a:off x="-1162850" y="1821075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5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39" name="Google Shape;839;p71"/>
            <p:cNvSpPr txBox="1"/>
            <p:nvPr/>
          </p:nvSpPr>
          <p:spPr>
            <a:xfrm>
              <a:off x="-1203671" y="2278275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 5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40" name="Google Shape;840;p71"/>
            <p:cNvSpPr txBox="1"/>
            <p:nvPr/>
          </p:nvSpPr>
          <p:spPr>
            <a:xfrm>
              <a:off x="-1158314" y="2692839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 5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41" name="Google Shape;841;p71"/>
            <p:cNvSpPr txBox="1"/>
            <p:nvPr/>
          </p:nvSpPr>
          <p:spPr>
            <a:xfrm>
              <a:off x="-1158314" y="3122825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 5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842" name="Google Shape;842;p71"/>
            <p:cNvSpPr txBox="1"/>
            <p:nvPr/>
          </p:nvSpPr>
          <p:spPr>
            <a:xfrm>
              <a:off x="-1158314" y="3580025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800">
                  <a:solidFill>
                    <a:schemeClr val="accent4"/>
                  </a:solidFill>
                  <a:latin typeface="Kalam"/>
                  <a:ea typeface="Kalam"/>
                  <a:cs typeface="Kalam"/>
                  <a:sym typeface="Kalam"/>
                </a:rPr>
                <a:t> 5</a:t>
              </a:r>
              <a:endParaRPr sz="2800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2"/>
          <p:cNvSpPr txBox="1"/>
          <p:nvPr/>
        </p:nvSpPr>
        <p:spPr>
          <a:xfrm>
            <a:off x="324000" y="759300"/>
            <a:ext cx="82377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Using a test of divisibility by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identify all the multiples of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the list below: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8" name="Google Shape;848;p72"/>
          <p:cNvSpPr txBox="1"/>
          <p:nvPr/>
        </p:nvSpPr>
        <p:spPr>
          <a:xfrm>
            <a:off x="844288" y="1942850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2 478 34</a:t>
            </a:r>
            <a:r>
              <a:rPr lang="en-GB" sz="3200">
                <a:latin typeface="Lexend"/>
                <a:ea typeface="Lexend"/>
                <a:cs typeface="Lexend"/>
                <a:sym typeface="Lexend"/>
              </a:rPr>
              <a:t>5</a:t>
            </a:r>
            <a:endParaRPr sz="3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9" name="Google Shape;849;p72"/>
          <p:cNvSpPr txBox="1"/>
          <p:nvPr/>
        </p:nvSpPr>
        <p:spPr>
          <a:xfrm>
            <a:off x="1981038" y="2791600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445 534</a:t>
            </a:r>
            <a:endParaRPr sz="3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0" name="Google Shape;850;p72"/>
          <p:cNvSpPr txBox="1"/>
          <p:nvPr/>
        </p:nvSpPr>
        <p:spPr>
          <a:xfrm>
            <a:off x="3576474" y="1776300"/>
            <a:ext cx="2450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3 284 73</a:t>
            </a:r>
            <a:r>
              <a:rPr lang="en-GB" sz="3200">
                <a:latin typeface="Lexend"/>
                <a:ea typeface="Lexend"/>
                <a:cs typeface="Lexend"/>
                <a:sym typeface="Lexend"/>
              </a:rPr>
              <a:t>0</a:t>
            </a:r>
            <a:endParaRPr sz="3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1" name="Google Shape;851;p72"/>
          <p:cNvSpPr txBox="1"/>
          <p:nvPr/>
        </p:nvSpPr>
        <p:spPr>
          <a:xfrm>
            <a:off x="5053823" y="2925250"/>
            <a:ext cx="8616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390</a:t>
            </a:r>
            <a:endParaRPr sz="3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2"/>
          <p:cNvSpPr txBox="1"/>
          <p:nvPr/>
        </p:nvSpPr>
        <p:spPr>
          <a:xfrm>
            <a:off x="844293" y="3640350"/>
            <a:ext cx="1139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1115</a:t>
            </a:r>
            <a:endParaRPr sz="3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3" name="Google Shape;853;p72"/>
          <p:cNvSpPr txBox="1"/>
          <p:nvPr/>
        </p:nvSpPr>
        <p:spPr>
          <a:xfrm>
            <a:off x="6026613" y="2103075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3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3 555 535</a:t>
            </a:r>
            <a:endParaRPr sz="3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4" name="Google Shape;854;p72"/>
          <p:cNvSpPr txBox="1"/>
          <p:nvPr/>
        </p:nvSpPr>
        <p:spPr>
          <a:xfrm>
            <a:off x="5915413" y="3655025"/>
            <a:ext cx="27771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222 222 222</a:t>
            </a:r>
            <a:endParaRPr sz="3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5" name="Google Shape;855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5</a:t>
            </a:r>
            <a:endParaRPr/>
          </a:p>
        </p:txBody>
      </p:sp>
      <p:sp>
        <p:nvSpPr>
          <p:cNvPr id="856" name="Google Shape;856;p72"/>
          <p:cNvSpPr/>
          <p:nvPr/>
        </p:nvSpPr>
        <p:spPr>
          <a:xfrm>
            <a:off x="3272600" y="1601700"/>
            <a:ext cx="2336400" cy="8388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72"/>
          <p:cNvSpPr/>
          <p:nvPr/>
        </p:nvSpPr>
        <p:spPr>
          <a:xfrm>
            <a:off x="605300" y="1768250"/>
            <a:ext cx="2336400" cy="8388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72"/>
          <p:cNvSpPr/>
          <p:nvPr/>
        </p:nvSpPr>
        <p:spPr>
          <a:xfrm>
            <a:off x="5774400" y="1931375"/>
            <a:ext cx="2667300" cy="8388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72"/>
          <p:cNvSpPr/>
          <p:nvPr/>
        </p:nvSpPr>
        <p:spPr>
          <a:xfrm>
            <a:off x="4824000" y="2827836"/>
            <a:ext cx="11391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72"/>
          <p:cNvSpPr/>
          <p:nvPr/>
        </p:nvSpPr>
        <p:spPr>
          <a:xfrm>
            <a:off x="654782" y="3561111"/>
            <a:ext cx="1311300" cy="613500"/>
          </a:xfrm>
          <a:prstGeom prst="ellipse">
            <a:avLst/>
          </a:prstGeom>
          <a:noFill/>
          <a:ln cap="flat" cmpd="sng" w="38100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73"/>
          <p:cNvSpPr/>
          <p:nvPr/>
        </p:nvSpPr>
        <p:spPr>
          <a:xfrm>
            <a:off x="3639675" y="1637125"/>
            <a:ext cx="5319900" cy="1368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6" name="Google Shape;866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38713" y="1788875"/>
            <a:ext cx="4921825" cy="1064800"/>
          </a:xfrm>
          <a:prstGeom prst="rect">
            <a:avLst/>
          </a:prstGeom>
          <a:noFill/>
          <a:ln>
            <a:noFill/>
          </a:ln>
        </p:spPr>
      </p:pic>
      <p:sp>
        <p:nvSpPr>
          <p:cNvPr id="867" name="Google Shape;867;p73"/>
          <p:cNvSpPr txBox="1"/>
          <p:nvPr/>
        </p:nvSpPr>
        <p:spPr>
          <a:xfrm>
            <a:off x="348675" y="759300"/>
            <a:ext cx="7632000" cy="10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Andeep shows the following working out to test if 349 895 is a multiple of 5.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Give an advantage and a disadvantage in using division to discover if a number is a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multiple.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8" name="Google Shape;868;p73"/>
          <p:cNvSpPr/>
          <p:nvPr/>
        </p:nvSpPr>
        <p:spPr>
          <a:xfrm>
            <a:off x="439275" y="1599025"/>
            <a:ext cx="2995800" cy="1368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5</a:t>
            </a:r>
            <a:endParaRPr/>
          </a:p>
        </p:txBody>
      </p:sp>
      <p:sp>
        <p:nvSpPr>
          <p:cNvPr id="870" name="Google Shape;870;p73"/>
          <p:cNvSpPr txBox="1"/>
          <p:nvPr/>
        </p:nvSpPr>
        <p:spPr>
          <a:xfrm>
            <a:off x="344775" y="4029050"/>
            <a:ext cx="8179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Advantage: If a number is a multiple, using division also calculates the factor.</a:t>
            </a:r>
            <a:endParaRPr sz="19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1" name="Google Shape;871;p73"/>
          <p:cNvSpPr txBox="1"/>
          <p:nvPr/>
        </p:nvSpPr>
        <p:spPr>
          <a:xfrm>
            <a:off x="344775" y="4486250"/>
            <a:ext cx="8179500" cy="50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Disadvantage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: It takes much longer than a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divisibility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test for 5.</a:t>
            </a:r>
            <a:endParaRPr sz="19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2" name="Google Shape;872;p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3812" y="1774675"/>
            <a:ext cx="2586725" cy="1017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74"/>
          <p:cNvSpPr txBox="1"/>
          <p:nvPr>
            <p:ph idx="4294967295" type="title"/>
          </p:nvPr>
        </p:nvSpPr>
        <p:spPr>
          <a:xfrm>
            <a:off x="1405500" y="121225"/>
            <a:ext cx="6333000" cy="4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rgbClr val="FFFFFF"/>
                </a:solidFill>
              </a:rPr>
              <a:t>Divisibility test for 5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878" name="Google Shape;878;p74"/>
          <p:cNvSpPr txBox="1"/>
          <p:nvPr/>
        </p:nvSpPr>
        <p:spPr>
          <a:xfrm>
            <a:off x="337825" y="810050"/>
            <a:ext cx="8223900" cy="2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Identify all the multiples of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the list.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234,             139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          20 495,           593,          56 57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Identify all the multiples of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the list.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32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            139,           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490,           594,    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6 578 4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75"/>
          <p:cNvSpPr txBox="1"/>
          <p:nvPr>
            <p:ph idx="4294967295" type="title"/>
          </p:nvPr>
        </p:nvSpPr>
        <p:spPr>
          <a:xfrm>
            <a:off x="1405500" y="121225"/>
            <a:ext cx="6333000" cy="4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rgbClr val="FFFFFF"/>
                </a:solidFill>
              </a:rPr>
              <a:t>Divisibility test for 5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884" name="Google Shape;884;p75"/>
          <p:cNvSpPr txBox="1"/>
          <p:nvPr/>
        </p:nvSpPr>
        <p:spPr>
          <a:xfrm>
            <a:off x="336300" y="804975"/>
            <a:ext cx="84714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5" name="Google Shape;885;p75"/>
          <p:cNvGraphicFramePr/>
          <p:nvPr/>
        </p:nvGraphicFramePr>
        <p:xfrm>
          <a:off x="650238" y="80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{43DC643F-6BEC-42D8-821D-96F2195EA270}</a:tableStyleId>
              </a:tblPr>
              <a:tblGrid>
                <a:gridCol w="1633950"/>
                <a:gridCol w="1633950"/>
                <a:gridCol w="1633950"/>
                <a:gridCol w="1633950"/>
                <a:gridCol w="1633950"/>
              </a:tblGrid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9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2 788 904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16 740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15 498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44 701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886" name="Google Shape;886;p75"/>
          <p:cNvSpPr txBox="1"/>
          <p:nvPr/>
        </p:nvSpPr>
        <p:spPr>
          <a:xfrm>
            <a:off x="336298" y="2914600"/>
            <a:ext cx="7401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Place a tick in the cell of the table above if the number is a multiple of 2, 3, 5 or 9.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do you notice about the number 16 740?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notice about the number 44 701?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76"/>
          <p:cNvSpPr txBox="1"/>
          <p:nvPr>
            <p:ph idx="4294967295" type="title"/>
          </p:nvPr>
        </p:nvSpPr>
        <p:spPr>
          <a:xfrm>
            <a:off x="1405500" y="121225"/>
            <a:ext cx="6333000" cy="4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rgbClr val="FFFFFF"/>
                </a:solidFill>
              </a:rPr>
              <a:t>Divisibility test for 5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892" name="Google Shape;892;p76"/>
          <p:cNvSpPr txBox="1"/>
          <p:nvPr/>
        </p:nvSpPr>
        <p:spPr>
          <a:xfrm>
            <a:off x="337825" y="810050"/>
            <a:ext cx="8223900" cy="24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Identify all the multiples of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the list.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234,             139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          20 495,           593,          56 57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Identify all the multiples of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3 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from the list.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ctr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32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    139,     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43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490,    594,    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6 578 4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45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3" name="Google Shape;893;p76"/>
          <p:cNvSpPr/>
          <p:nvPr/>
        </p:nvSpPr>
        <p:spPr>
          <a:xfrm>
            <a:off x="3431024" y="2024313"/>
            <a:ext cx="1538700" cy="604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4" name="Google Shape;894;p76"/>
          <p:cNvSpPr/>
          <p:nvPr/>
        </p:nvSpPr>
        <p:spPr>
          <a:xfrm>
            <a:off x="2260772" y="3626642"/>
            <a:ext cx="1468500" cy="604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76"/>
          <p:cNvSpPr/>
          <p:nvPr/>
        </p:nvSpPr>
        <p:spPr>
          <a:xfrm>
            <a:off x="4572000" y="3626642"/>
            <a:ext cx="2236200" cy="604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76"/>
          <p:cNvSpPr txBox="1"/>
          <p:nvPr/>
        </p:nvSpPr>
        <p:spPr>
          <a:xfrm>
            <a:off x="1938905" y="4230367"/>
            <a:ext cx="1905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1+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+4+9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7" name="Google Shape;897;p76"/>
          <p:cNvSpPr txBox="1"/>
          <p:nvPr/>
        </p:nvSpPr>
        <p:spPr>
          <a:xfrm>
            <a:off x="3339863" y="4223081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21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8" name="Google Shape;898;p76"/>
          <p:cNvSpPr txBox="1"/>
          <p:nvPr/>
        </p:nvSpPr>
        <p:spPr>
          <a:xfrm>
            <a:off x="7480634" y="4222074"/>
            <a:ext cx="10230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=4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99" name="Google Shape;899;p76"/>
          <p:cNvSpPr txBox="1"/>
          <p:nvPr/>
        </p:nvSpPr>
        <p:spPr>
          <a:xfrm>
            <a:off x="4751759" y="4229367"/>
            <a:ext cx="3142200" cy="4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+6+5+7+8+4+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00" name="Google Shape;900;p76"/>
          <p:cNvSpPr/>
          <p:nvPr/>
        </p:nvSpPr>
        <p:spPr>
          <a:xfrm>
            <a:off x="2107499" y="2024810"/>
            <a:ext cx="830700" cy="604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76"/>
          <p:cNvSpPr/>
          <p:nvPr/>
        </p:nvSpPr>
        <p:spPr>
          <a:xfrm>
            <a:off x="6583049" y="1967550"/>
            <a:ext cx="1538700" cy="604200"/>
          </a:xfrm>
          <a:prstGeom prst="ellipse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77"/>
          <p:cNvSpPr txBox="1"/>
          <p:nvPr>
            <p:ph idx="4294967295" type="title"/>
          </p:nvPr>
        </p:nvSpPr>
        <p:spPr>
          <a:xfrm>
            <a:off x="1405500" y="121225"/>
            <a:ext cx="6333000" cy="41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GB" sz="2000">
                <a:solidFill>
                  <a:srgbClr val="FFFFFF"/>
                </a:solidFill>
              </a:rPr>
              <a:t>Divisibility test for 5</a:t>
            </a:r>
            <a:endParaRPr b="0" sz="2000">
              <a:solidFill>
                <a:srgbClr val="FFFFFF"/>
              </a:solidFill>
            </a:endParaRPr>
          </a:p>
        </p:txBody>
      </p:sp>
      <p:sp>
        <p:nvSpPr>
          <p:cNvPr id="907" name="Google Shape;907;p77"/>
          <p:cNvSpPr txBox="1"/>
          <p:nvPr/>
        </p:nvSpPr>
        <p:spPr>
          <a:xfrm>
            <a:off x="336300" y="804975"/>
            <a:ext cx="84714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08" name="Google Shape;908;p77"/>
          <p:cNvGraphicFramePr/>
          <p:nvPr/>
        </p:nvGraphicFramePr>
        <p:xfrm>
          <a:off x="650238" y="809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{43DC643F-6BEC-42D8-821D-96F2195EA270}</a:tableStyleId>
              </a:tblPr>
              <a:tblGrid>
                <a:gridCol w="1633950"/>
                <a:gridCol w="1633950"/>
                <a:gridCol w="1633950"/>
                <a:gridCol w="1633950"/>
                <a:gridCol w="1633950"/>
              </a:tblGrid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5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Multiple of 9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2 788 904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16 740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15 498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  <a:tr h="378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44 701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91425" marL="91425"/>
                </a:tc>
              </a:tr>
            </a:tbl>
          </a:graphicData>
        </a:graphic>
      </p:graphicFrame>
      <p:sp>
        <p:nvSpPr>
          <p:cNvPr id="909" name="Google Shape;909;p77"/>
          <p:cNvSpPr txBox="1"/>
          <p:nvPr/>
        </p:nvSpPr>
        <p:spPr>
          <a:xfrm>
            <a:off x="336298" y="2914600"/>
            <a:ext cx="74016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Place a tick in the cell of the table above if the number is a multiple of 2, 3, 5 or 9.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What do you notice about the number 16 740?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AutoNum type="alphaLcParenR"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do you notice about the number 44 701?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0" name="Google Shape;910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86250" y="1203150"/>
            <a:ext cx="326925" cy="326375"/>
          </a:xfrm>
          <a:prstGeom prst="rect">
            <a:avLst/>
          </a:prstGeom>
          <a:noFill/>
          <a:ln>
            <a:noFill/>
          </a:ln>
        </p:spPr>
      </p:pic>
      <p:sp>
        <p:nvSpPr>
          <p:cNvPr id="911" name="Google Shape;911;p77"/>
          <p:cNvSpPr txBox="1"/>
          <p:nvPr/>
        </p:nvSpPr>
        <p:spPr>
          <a:xfrm>
            <a:off x="767765" y="3897440"/>
            <a:ext cx="77670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16 740 is a multiple of 2, 3, 5 and 9.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2" name="Google Shape;912;p77"/>
          <p:cNvSpPr txBox="1"/>
          <p:nvPr/>
        </p:nvSpPr>
        <p:spPr>
          <a:xfrm>
            <a:off x="767774" y="4542000"/>
            <a:ext cx="4537500" cy="41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44 701 is not a multiple of 2, 3, 5 and 9.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13" name="Google Shape;913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525" y="1980500"/>
            <a:ext cx="326925" cy="3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4" name="Google Shape;914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3525" y="1591813"/>
            <a:ext cx="326925" cy="3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663" y="1591813"/>
            <a:ext cx="326925" cy="3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6" name="Google Shape;916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9800" y="1591825"/>
            <a:ext cx="326925" cy="3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7950" y="1591825"/>
            <a:ext cx="326925" cy="3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8" name="Google Shape;91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663" y="1980500"/>
            <a:ext cx="326925" cy="326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7950" y="1980500"/>
            <a:ext cx="326925" cy="32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8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5</a:t>
            </a:r>
            <a:endParaRPr/>
          </a:p>
        </p:txBody>
      </p:sp>
      <p:sp>
        <p:nvSpPr>
          <p:cNvPr id="925" name="Google Shape;925;p78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6" name="Google Shape;926;p7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tests for 5 and 10</a:t>
            </a:r>
            <a:endParaRPr/>
          </a:p>
        </p:txBody>
      </p:sp>
      <p:pic>
        <p:nvPicPr>
          <p:cNvPr id="927" name="Google Shape;92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582" y="2979689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</p:txBody>
      </p:sp>
      <p:sp>
        <p:nvSpPr>
          <p:cNvPr id="933" name="Google Shape;933;p79"/>
          <p:cNvSpPr txBox="1"/>
          <p:nvPr>
            <p:ph idx="4294967295" type="subTitle"/>
          </p:nvPr>
        </p:nvSpPr>
        <p:spPr>
          <a:xfrm>
            <a:off x="4442700" y="1528800"/>
            <a:ext cx="3766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Identify all the multiples of 10 up to and including 50</a:t>
            </a:r>
            <a:endParaRPr b="0"/>
          </a:p>
        </p:txBody>
      </p:sp>
      <p:sp>
        <p:nvSpPr>
          <p:cNvPr id="934" name="Google Shape;934;p79"/>
          <p:cNvSpPr txBox="1"/>
          <p:nvPr/>
        </p:nvSpPr>
        <p:spPr>
          <a:xfrm>
            <a:off x="2025750" y="16623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10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5" name="Google Shape;935;p79"/>
          <p:cNvSpPr txBox="1"/>
          <p:nvPr/>
        </p:nvSpPr>
        <p:spPr>
          <a:xfrm>
            <a:off x="1998536" y="21195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20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6" name="Google Shape;936;p79"/>
          <p:cNvSpPr txBox="1"/>
          <p:nvPr/>
        </p:nvSpPr>
        <p:spPr>
          <a:xfrm>
            <a:off x="1998536" y="2527739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30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7" name="Google Shape;937;p79"/>
          <p:cNvSpPr txBox="1"/>
          <p:nvPr/>
        </p:nvSpPr>
        <p:spPr>
          <a:xfrm>
            <a:off x="1998536" y="29577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40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8" name="Google Shape;938;p79"/>
          <p:cNvSpPr txBox="1"/>
          <p:nvPr/>
        </p:nvSpPr>
        <p:spPr>
          <a:xfrm>
            <a:off x="1998536" y="3414925"/>
            <a:ext cx="902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>
                <a:latin typeface="Kalam"/>
                <a:ea typeface="Kalam"/>
                <a:cs typeface="Kalam"/>
                <a:sym typeface="Kalam"/>
              </a:rPr>
              <a:t>50</a:t>
            </a:r>
            <a:endParaRPr sz="2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9" name="Google Shape;939;p79"/>
          <p:cNvSpPr txBox="1"/>
          <p:nvPr>
            <p:ph idx="4294967295" type="subTitle"/>
          </p:nvPr>
        </p:nvSpPr>
        <p:spPr>
          <a:xfrm>
            <a:off x="4449950" y="2790925"/>
            <a:ext cx="4308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Can you see a pattern? </a:t>
            </a:r>
            <a:endParaRPr b="0"/>
          </a:p>
        </p:txBody>
      </p:sp>
      <p:sp>
        <p:nvSpPr>
          <p:cNvPr id="940" name="Google Shape;940;p79"/>
          <p:cNvSpPr txBox="1"/>
          <p:nvPr/>
        </p:nvSpPr>
        <p:spPr>
          <a:xfrm>
            <a:off x="4396200" y="3201925"/>
            <a:ext cx="4559100" cy="8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Kalam"/>
                <a:ea typeface="Kalam"/>
                <a:cs typeface="Kalam"/>
                <a:sym typeface="Kalam"/>
              </a:rPr>
              <a:t>The digit in the ones column is always 0</a:t>
            </a:r>
            <a:endParaRPr sz="21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1" name="Google Shape;941;p79"/>
          <p:cNvSpPr txBox="1"/>
          <p:nvPr>
            <p:ph idx="4294967295" type="subTitle"/>
          </p:nvPr>
        </p:nvSpPr>
        <p:spPr>
          <a:xfrm>
            <a:off x="552600" y="79835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divisibility by 10</a:t>
            </a:r>
            <a:endParaRPr b="0"/>
          </a:p>
        </p:txBody>
      </p:sp>
      <p:grpSp>
        <p:nvGrpSpPr>
          <p:cNvPr id="942" name="Google Shape;942;p79"/>
          <p:cNvGrpSpPr/>
          <p:nvPr/>
        </p:nvGrpSpPr>
        <p:grpSpPr>
          <a:xfrm>
            <a:off x="2008455" y="1656300"/>
            <a:ext cx="920606" cy="2239800"/>
            <a:chOff x="-1649145" y="1580100"/>
            <a:chExt cx="920606" cy="2239800"/>
          </a:xfrm>
        </p:grpSpPr>
        <p:sp>
          <p:nvSpPr>
            <p:cNvPr id="943" name="Google Shape;943;p79"/>
            <p:cNvSpPr txBox="1"/>
            <p:nvPr/>
          </p:nvSpPr>
          <p:spPr>
            <a:xfrm>
              <a:off x="-1630639" y="2037300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800">
                  <a:solidFill>
                    <a:schemeClr val="accent5"/>
                  </a:solidFill>
                  <a:latin typeface="Kalam"/>
                  <a:ea typeface="Kalam"/>
                  <a:cs typeface="Kalam"/>
                  <a:sym typeface="Kalam"/>
                </a:rPr>
                <a:t> 0</a:t>
              </a:r>
              <a:endParaRPr b="1" sz="2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44" name="Google Shape;944;p79"/>
            <p:cNvSpPr txBox="1"/>
            <p:nvPr/>
          </p:nvSpPr>
          <p:spPr>
            <a:xfrm>
              <a:off x="-1630639" y="2445514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800">
                  <a:solidFill>
                    <a:schemeClr val="accent5"/>
                  </a:solidFill>
                  <a:latin typeface="Kalam"/>
                  <a:ea typeface="Kalam"/>
                  <a:cs typeface="Kalam"/>
                  <a:sym typeface="Kalam"/>
                </a:rPr>
                <a:t> 0</a:t>
              </a:r>
              <a:endParaRPr b="1" sz="2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45" name="Google Shape;945;p79"/>
            <p:cNvSpPr txBox="1"/>
            <p:nvPr/>
          </p:nvSpPr>
          <p:spPr>
            <a:xfrm>
              <a:off x="-1630639" y="2875500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800">
                  <a:solidFill>
                    <a:schemeClr val="accent5"/>
                  </a:solidFill>
                  <a:latin typeface="Kalam"/>
                  <a:ea typeface="Kalam"/>
                  <a:cs typeface="Kalam"/>
                  <a:sym typeface="Kalam"/>
                </a:rPr>
                <a:t> 0</a:t>
              </a:r>
              <a:endParaRPr b="1" sz="2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46" name="Google Shape;946;p79"/>
            <p:cNvSpPr txBox="1"/>
            <p:nvPr/>
          </p:nvSpPr>
          <p:spPr>
            <a:xfrm>
              <a:off x="-1630639" y="3332700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800">
                  <a:solidFill>
                    <a:schemeClr val="accent5"/>
                  </a:solidFill>
                  <a:latin typeface="Kalam"/>
                  <a:ea typeface="Kalam"/>
                  <a:cs typeface="Kalam"/>
                  <a:sym typeface="Kalam"/>
                </a:rPr>
                <a:t> 0</a:t>
              </a:r>
              <a:endParaRPr b="1" sz="2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947" name="Google Shape;947;p79"/>
            <p:cNvSpPr txBox="1"/>
            <p:nvPr/>
          </p:nvSpPr>
          <p:spPr>
            <a:xfrm>
              <a:off x="-1649145" y="1580100"/>
              <a:ext cx="902100" cy="48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2800">
                  <a:solidFill>
                    <a:schemeClr val="accent5"/>
                  </a:solidFill>
                  <a:latin typeface="Kalam"/>
                  <a:ea typeface="Kalam"/>
                  <a:cs typeface="Kalam"/>
                  <a:sym typeface="Kalam"/>
                </a:rPr>
                <a:t> 0 </a:t>
              </a:r>
              <a:endParaRPr b="1" sz="2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</p:txBody>
      </p:sp>
      <p:sp>
        <p:nvSpPr>
          <p:cNvPr id="953" name="Google Shape;953;p80"/>
          <p:cNvSpPr txBox="1"/>
          <p:nvPr>
            <p:ph idx="4294967295" type="subTitle"/>
          </p:nvPr>
        </p:nvSpPr>
        <p:spPr>
          <a:xfrm>
            <a:off x="552600" y="79835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divisibility by 10</a:t>
            </a:r>
            <a:endParaRPr b="0"/>
          </a:p>
        </p:txBody>
      </p:sp>
      <p:sp>
        <p:nvSpPr>
          <p:cNvPr id="954" name="Google Shape;954;p80"/>
          <p:cNvSpPr txBox="1"/>
          <p:nvPr>
            <p:ph idx="4294967295" type="subTitle"/>
          </p:nvPr>
        </p:nvSpPr>
        <p:spPr>
          <a:xfrm>
            <a:off x="6324900" y="1376400"/>
            <a:ext cx="211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Insert all the numbers from 1 to 30 into the Venn Diagram.</a:t>
            </a:r>
            <a:endParaRPr b="0"/>
          </a:p>
        </p:txBody>
      </p:sp>
      <p:sp>
        <p:nvSpPr>
          <p:cNvPr id="955" name="Google Shape;955;p80"/>
          <p:cNvSpPr/>
          <p:nvPr/>
        </p:nvSpPr>
        <p:spPr>
          <a:xfrm>
            <a:off x="1536300" y="1593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56" name="Google Shape;956;p80"/>
          <p:cNvSpPr/>
          <p:nvPr/>
        </p:nvSpPr>
        <p:spPr>
          <a:xfrm>
            <a:off x="2762425" y="15288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57" name="Google Shape;957;p80"/>
          <p:cNvSpPr/>
          <p:nvPr/>
        </p:nvSpPr>
        <p:spPr>
          <a:xfrm>
            <a:off x="2204800" y="2452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958" name="Google Shape;958;p80"/>
          <p:cNvSpPr/>
          <p:nvPr/>
        </p:nvSpPr>
        <p:spPr>
          <a:xfrm>
            <a:off x="594600" y="1209975"/>
            <a:ext cx="5501700" cy="3550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9" name="Google Shape;959;p80"/>
          <p:cNvSpPr txBox="1"/>
          <p:nvPr>
            <p:ph idx="4294967295" type="subTitle"/>
          </p:nvPr>
        </p:nvSpPr>
        <p:spPr>
          <a:xfrm>
            <a:off x="6465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</a:t>
            </a:r>
            <a:r>
              <a:rPr lang="en-GB" sz="1900"/>
              <a:t> of 2</a:t>
            </a:r>
            <a:endParaRPr b="0" sz="1900"/>
          </a:p>
        </p:txBody>
      </p:sp>
      <p:sp>
        <p:nvSpPr>
          <p:cNvPr id="960" name="Google Shape;960;p80"/>
          <p:cNvSpPr txBox="1"/>
          <p:nvPr>
            <p:ph idx="4294967295" type="subTitle"/>
          </p:nvPr>
        </p:nvSpPr>
        <p:spPr>
          <a:xfrm>
            <a:off x="43803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3</a:t>
            </a:r>
            <a:endParaRPr b="0" sz="1900"/>
          </a:p>
        </p:txBody>
      </p:sp>
      <p:sp>
        <p:nvSpPr>
          <p:cNvPr id="961" name="Google Shape;961;p80"/>
          <p:cNvSpPr txBox="1"/>
          <p:nvPr>
            <p:ph idx="4294967295" type="subTitle"/>
          </p:nvPr>
        </p:nvSpPr>
        <p:spPr>
          <a:xfrm>
            <a:off x="2551557" y="44001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5</a:t>
            </a:r>
            <a:endParaRPr b="0" sz="1900"/>
          </a:p>
        </p:txBody>
      </p:sp>
      <p:sp>
        <p:nvSpPr>
          <p:cNvPr id="962" name="Google Shape;962;p80"/>
          <p:cNvSpPr txBox="1"/>
          <p:nvPr/>
        </p:nvSpPr>
        <p:spPr>
          <a:xfrm>
            <a:off x="1806950" y="38330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3" name="Google Shape;963;p80"/>
          <p:cNvSpPr txBox="1"/>
          <p:nvPr/>
        </p:nvSpPr>
        <p:spPr>
          <a:xfrm>
            <a:off x="2017825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4" name="Google Shape;964;p80"/>
          <p:cNvSpPr txBox="1"/>
          <p:nvPr/>
        </p:nvSpPr>
        <p:spPr>
          <a:xfrm>
            <a:off x="3681838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5" name="Google Shape;965;p80"/>
          <p:cNvSpPr txBox="1"/>
          <p:nvPr/>
        </p:nvSpPr>
        <p:spPr>
          <a:xfrm>
            <a:off x="1684800" y="20076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6" name="Google Shape;966;p80"/>
          <p:cNvSpPr txBox="1"/>
          <p:nvPr/>
        </p:nvSpPr>
        <p:spPr>
          <a:xfrm>
            <a:off x="2757625" y="3662250"/>
            <a:ext cx="405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7" name="Google Shape;967;p80"/>
          <p:cNvSpPr txBox="1"/>
          <p:nvPr/>
        </p:nvSpPr>
        <p:spPr>
          <a:xfrm>
            <a:off x="2997703" y="1669100"/>
            <a:ext cx="4695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8" name="Google Shape;968;p80"/>
          <p:cNvSpPr txBox="1"/>
          <p:nvPr/>
        </p:nvSpPr>
        <p:spPr>
          <a:xfrm>
            <a:off x="940200" y="386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9" name="Google Shape;969;p80"/>
          <p:cNvSpPr txBox="1"/>
          <p:nvPr/>
        </p:nvSpPr>
        <p:spPr>
          <a:xfrm>
            <a:off x="1563350" y="24599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0" name="Google Shape;970;p80"/>
          <p:cNvSpPr txBox="1"/>
          <p:nvPr/>
        </p:nvSpPr>
        <p:spPr>
          <a:xfrm>
            <a:off x="4205475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80"/>
          <p:cNvSpPr txBox="1"/>
          <p:nvPr/>
        </p:nvSpPr>
        <p:spPr>
          <a:xfrm>
            <a:off x="2218800" y="30594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2" name="Google Shape;972;p80"/>
          <p:cNvSpPr txBox="1"/>
          <p:nvPr/>
        </p:nvSpPr>
        <p:spPr>
          <a:xfrm>
            <a:off x="4317663" y="221451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3" name="Google Shape;973;p80"/>
          <p:cNvSpPr txBox="1"/>
          <p:nvPr/>
        </p:nvSpPr>
        <p:spPr>
          <a:xfrm>
            <a:off x="1960575" y="23263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4" name="Google Shape;974;p80"/>
          <p:cNvSpPr txBox="1"/>
          <p:nvPr/>
        </p:nvSpPr>
        <p:spPr>
          <a:xfrm>
            <a:off x="5208350" y="40116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5" name="Google Shape;975;p80"/>
          <p:cNvSpPr txBox="1"/>
          <p:nvPr/>
        </p:nvSpPr>
        <p:spPr>
          <a:xfrm>
            <a:off x="2940333" y="1907608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6" name="Google Shape;976;p80"/>
          <p:cNvSpPr txBox="1"/>
          <p:nvPr/>
        </p:nvSpPr>
        <p:spPr>
          <a:xfrm>
            <a:off x="3369600" y="3671600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7" name="Google Shape;977;p80"/>
          <p:cNvSpPr txBox="1"/>
          <p:nvPr/>
        </p:nvSpPr>
        <p:spPr>
          <a:xfrm>
            <a:off x="2155325" y="186576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8" name="Google Shape;978;p80"/>
          <p:cNvSpPr txBox="1"/>
          <p:nvPr/>
        </p:nvSpPr>
        <p:spPr>
          <a:xfrm>
            <a:off x="3689300" y="21225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9" name="Google Shape;979;p80"/>
          <p:cNvSpPr txBox="1"/>
          <p:nvPr/>
        </p:nvSpPr>
        <p:spPr>
          <a:xfrm>
            <a:off x="1806896" y="2829100"/>
            <a:ext cx="5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0" name="Google Shape;980;p80"/>
          <p:cNvSpPr txBox="1"/>
          <p:nvPr/>
        </p:nvSpPr>
        <p:spPr>
          <a:xfrm>
            <a:off x="5231925" y="332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1" name="Google Shape;981;p80"/>
          <p:cNvSpPr txBox="1"/>
          <p:nvPr/>
        </p:nvSpPr>
        <p:spPr>
          <a:xfrm>
            <a:off x="2983697" y="2546683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80"/>
          <p:cNvSpPr txBox="1"/>
          <p:nvPr/>
        </p:nvSpPr>
        <p:spPr>
          <a:xfrm>
            <a:off x="741800" y="285753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3" name="Google Shape;983;p80"/>
          <p:cNvSpPr txBox="1"/>
          <p:nvPr/>
        </p:nvSpPr>
        <p:spPr>
          <a:xfrm>
            <a:off x="2723233" y="2104967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4" name="Google Shape;984;p80"/>
          <p:cNvSpPr txBox="1"/>
          <p:nvPr/>
        </p:nvSpPr>
        <p:spPr>
          <a:xfrm>
            <a:off x="5208350" y="24811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80"/>
          <p:cNvSpPr txBox="1"/>
          <p:nvPr/>
        </p:nvSpPr>
        <p:spPr>
          <a:xfrm>
            <a:off x="2514900" y="1593300"/>
            <a:ext cx="469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80"/>
          <p:cNvSpPr txBox="1"/>
          <p:nvPr/>
        </p:nvSpPr>
        <p:spPr>
          <a:xfrm>
            <a:off x="3649200" y="28207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0"/>
          <p:cNvSpPr txBox="1"/>
          <p:nvPr/>
        </p:nvSpPr>
        <p:spPr>
          <a:xfrm>
            <a:off x="2385175" y="2187025"/>
            <a:ext cx="524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8" name="Google Shape;988;p80"/>
          <p:cNvSpPr txBox="1"/>
          <p:nvPr/>
        </p:nvSpPr>
        <p:spPr>
          <a:xfrm>
            <a:off x="636900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9" name="Google Shape;989;p80"/>
          <p:cNvSpPr txBox="1"/>
          <p:nvPr/>
        </p:nvSpPr>
        <p:spPr>
          <a:xfrm>
            <a:off x="3249200" y="2096108"/>
            <a:ext cx="46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0" name="Google Shape;990;p80"/>
          <p:cNvSpPr txBox="1"/>
          <p:nvPr/>
        </p:nvSpPr>
        <p:spPr>
          <a:xfrm>
            <a:off x="5208350" y="17539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1" name="Google Shape;991;p80"/>
          <p:cNvSpPr txBox="1"/>
          <p:nvPr/>
        </p:nvSpPr>
        <p:spPr>
          <a:xfrm>
            <a:off x="2469350" y="27980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81"/>
          <p:cNvSpPr/>
          <p:nvPr/>
        </p:nvSpPr>
        <p:spPr>
          <a:xfrm>
            <a:off x="594600" y="1209975"/>
            <a:ext cx="5501700" cy="3550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97" name="Google Shape;997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726" y="2448925"/>
            <a:ext cx="873475" cy="890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998" name="Google Shape;998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69144" y="1749998"/>
            <a:ext cx="877100" cy="797362"/>
          </a:xfrm>
          <a:prstGeom prst="rect">
            <a:avLst/>
          </a:prstGeom>
          <a:noFill/>
          <a:ln>
            <a:noFill/>
          </a:ln>
        </p:spPr>
      </p:pic>
      <p:sp>
        <p:nvSpPr>
          <p:cNvPr id="999" name="Google Shape;999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</p:txBody>
      </p:sp>
      <p:sp>
        <p:nvSpPr>
          <p:cNvPr id="1000" name="Google Shape;1000;p81"/>
          <p:cNvSpPr txBox="1"/>
          <p:nvPr>
            <p:ph idx="4294967295" type="subTitle"/>
          </p:nvPr>
        </p:nvSpPr>
        <p:spPr>
          <a:xfrm>
            <a:off x="552600" y="79835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divisibility by 10</a:t>
            </a:r>
            <a:endParaRPr b="0"/>
          </a:p>
        </p:txBody>
      </p:sp>
      <p:sp>
        <p:nvSpPr>
          <p:cNvPr id="1001" name="Google Shape;1001;p81"/>
          <p:cNvSpPr txBox="1"/>
          <p:nvPr>
            <p:ph idx="4294967295" type="subTitle"/>
          </p:nvPr>
        </p:nvSpPr>
        <p:spPr>
          <a:xfrm>
            <a:off x="6324900" y="1376400"/>
            <a:ext cx="211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all the numbers here represent?</a:t>
            </a:r>
            <a:endParaRPr b="0"/>
          </a:p>
        </p:txBody>
      </p:sp>
      <p:sp>
        <p:nvSpPr>
          <p:cNvPr id="1002" name="Google Shape;1002;p81"/>
          <p:cNvSpPr/>
          <p:nvPr/>
        </p:nvSpPr>
        <p:spPr>
          <a:xfrm>
            <a:off x="1536300" y="1593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03" name="Google Shape;1003;p81"/>
          <p:cNvSpPr/>
          <p:nvPr/>
        </p:nvSpPr>
        <p:spPr>
          <a:xfrm>
            <a:off x="2762425" y="15288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04" name="Google Shape;1004;p81"/>
          <p:cNvSpPr/>
          <p:nvPr/>
        </p:nvSpPr>
        <p:spPr>
          <a:xfrm>
            <a:off x="2204800" y="2452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05" name="Google Shape;1005;p81"/>
          <p:cNvSpPr txBox="1"/>
          <p:nvPr>
            <p:ph idx="4294967295" type="subTitle"/>
          </p:nvPr>
        </p:nvSpPr>
        <p:spPr>
          <a:xfrm>
            <a:off x="6465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2</a:t>
            </a:r>
            <a:endParaRPr b="0" sz="1900"/>
          </a:p>
        </p:txBody>
      </p:sp>
      <p:sp>
        <p:nvSpPr>
          <p:cNvPr id="1006" name="Google Shape;1006;p81"/>
          <p:cNvSpPr txBox="1"/>
          <p:nvPr>
            <p:ph idx="4294967295" type="subTitle"/>
          </p:nvPr>
        </p:nvSpPr>
        <p:spPr>
          <a:xfrm>
            <a:off x="43803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3</a:t>
            </a:r>
            <a:endParaRPr b="0" sz="1900"/>
          </a:p>
        </p:txBody>
      </p:sp>
      <p:sp>
        <p:nvSpPr>
          <p:cNvPr id="1007" name="Google Shape;1007;p81"/>
          <p:cNvSpPr txBox="1"/>
          <p:nvPr>
            <p:ph idx="4294967295" type="subTitle"/>
          </p:nvPr>
        </p:nvSpPr>
        <p:spPr>
          <a:xfrm>
            <a:off x="2551557" y="44001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5</a:t>
            </a:r>
            <a:endParaRPr b="0" sz="1900"/>
          </a:p>
        </p:txBody>
      </p:sp>
      <p:sp>
        <p:nvSpPr>
          <p:cNvPr id="1008" name="Google Shape;1008;p81"/>
          <p:cNvSpPr txBox="1"/>
          <p:nvPr/>
        </p:nvSpPr>
        <p:spPr>
          <a:xfrm>
            <a:off x="1806950" y="38330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9" name="Google Shape;1009;p81"/>
          <p:cNvSpPr txBox="1"/>
          <p:nvPr/>
        </p:nvSpPr>
        <p:spPr>
          <a:xfrm>
            <a:off x="2017825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0" name="Google Shape;1010;p81"/>
          <p:cNvSpPr txBox="1"/>
          <p:nvPr/>
        </p:nvSpPr>
        <p:spPr>
          <a:xfrm>
            <a:off x="3681838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1" name="Google Shape;1011;p81"/>
          <p:cNvSpPr txBox="1"/>
          <p:nvPr/>
        </p:nvSpPr>
        <p:spPr>
          <a:xfrm>
            <a:off x="1684800" y="20076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2" name="Google Shape;1012;p81"/>
          <p:cNvSpPr txBox="1"/>
          <p:nvPr/>
        </p:nvSpPr>
        <p:spPr>
          <a:xfrm>
            <a:off x="2757625" y="3662250"/>
            <a:ext cx="405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3" name="Google Shape;1013;p81"/>
          <p:cNvSpPr txBox="1"/>
          <p:nvPr/>
        </p:nvSpPr>
        <p:spPr>
          <a:xfrm>
            <a:off x="2997703" y="1669100"/>
            <a:ext cx="4695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9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81"/>
          <p:cNvSpPr txBox="1"/>
          <p:nvPr/>
        </p:nvSpPr>
        <p:spPr>
          <a:xfrm>
            <a:off x="940200" y="386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5" name="Google Shape;1015;p81"/>
          <p:cNvSpPr txBox="1"/>
          <p:nvPr/>
        </p:nvSpPr>
        <p:spPr>
          <a:xfrm>
            <a:off x="1563350" y="24599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6" name="Google Shape;1016;p81"/>
          <p:cNvSpPr txBox="1"/>
          <p:nvPr/>
        </p:nvSpPr>
        <p:spPr>
          <a:xfrm>
            <a:off x="4205475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81"/>
          <p:cNvSpPr txBox="1"/>
          <p:nvPr/>
        </p:nvSpPr>
        <p:spPr>
          <a:xfrm>
            <a:off x="2218800" y="30594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81"/>
          <p:cNvSpPr txBox="1"/>
          <p:nvPr/>
        </p:nvSpPr>
        <p:spPr>
          <a:xfrm>
            <a:off x="4317663" y="221451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81"/>
          <p:cNvSpPr txBox="1"/>
          <p:nvPr/>
        </p:nvSpPr>
        <p:spPr>
          <a:xfrm>
            <a:off x="1960575" y="23263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0" name="Google Shape;1020;p81"/>
          <p:cNvSpPr txBox="1"/>
          <p:nvPr/>
        </p:nvSpPr>
        <p:spPr>
          <a:xfrm>
            <a:off x="5208350" y="40116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1" name="Google Shape;1021;p81"/>
          <p:cNvSpPr txBox="1"/>
          <p:nvPr/>
        </p:nvSpPr>
        <p:spPr>
          <a:xfrm>
            <a:off x="2940333" y="1907608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9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2" name="Google Shape;1022;p81"/>
          <p:cNvSpPr txBox="1"/>
          <p:nvPr/>
        </p:nvSpPr>
        <p:spPr>
          <a:xfrm>
            <a:off x="3369600" y="3671600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3" name="Google Shape;1023;p81"/>
          <p:cNvSpPr txBox="1"/>
          <p:nvPr/>
        </p:nvSpPr>
        <p:spPr>
          <a:xfrm>
            <a:off x="2155325" y="186576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4" name="Google Shape;1024;p81"/>
          <p:cNvSpPr txBox="1"/>
          <p:nvPr/>
        </p:nvSpPr>
        <p:spPr>
          <a:xfrm>
            <a:off x="3689300" y="21225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5" name="Google Shape;1025;p81"/>
          <p:cNvSpPr txBox="1"/>
          <p:nvPr/>
        </p:nvSpPr>
        <p:spPr>
          <a:xfrm>
            <a:off x="1806896" y="2829100"/>
            <a:ext cx="5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6" name="Google Shape;1026;p81"/>
          <p:cNvSpPr txBox="1"/>
          <p:nvPr/>
        </p:nvSpPr>
        <p:spPr>
          <a:xfrm>
            <a:off x="5231925" y="332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7" name="Google Shape;1027;p81"/>
          <p:cNvSpPr txBox="1"/>
          <p:nvPr/>
        </p:nvSpPr>
        <p:spPr>
          <a:xfrm>
            <a:off x="741800" y="285753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8" name="Google Shape;1028;p81"/>
          <p:cNvSpPr txBox="1"/>
          <p:nvPr/>
        </p:nvSpPr>
        <p:spPr>
          <a:xfrm>
            <a:off x="2723233" y="2104967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9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29" name="Google Shape;1029;p81"/>
          <p:cNvSpPr txBox="1"/>
          <p:nvPr/>
        </p:nvSpPr>
        <p:spPr>
          <a:xfrm>
            <a:off x="5208350" y="24811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0" name="Google Shape;1030;p81"/>
          <p:cNvSpPr txBox="1"/>
          <p:nvPr/>
        </p:nvSpPr>
        <p:spPr>
          <a:xfrm>
            <a:off x="2514900" y="1593300"/>
            <a:ext cx="469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1" name="Google Shape;1031;p81"/>
          <p:cNvSpPr txBox="1"/>
          <p:nvPr/>
        </p:nvSpPr>
        <p:spPr>
          <a:xfrm>
            <a:off x="3649200" y="28207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2" name="Google Shape;1032;p81"/>
          <p:cNvSpPr txBox="1"/>
          <p:nvPr/>
        </p:nvSpPr>
        <p:spPr>
          <a:xfrm>
            <a:off x="2385175" y="2187025"/>
            <a:ext cx="524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3" name="Google Shape;1033;p81"/>
          <p:cNvSpPr txBox="1"/>
          <p:nvPr/>
        </p:nvSpPr>
        <p:spPr>
          <a:xfrm>
            <a:off x="636900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4" name="Google Shape;1034;p81"/>
          <p:cNvSpPr txBox="1"/>
          <p:nvPr/>
        </p:nvSpPr>
        <p:spPr>
          <a:xfrm>
            <a:off x="3249200" y="2096108"/>
            <a:ext cx="46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9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5" name="Google Shape;1035;p81"/>
          <p:cNvSpPr txBox="1"/>
          <p:nvPr/>
        </p:nvSpPr>
        <p:spPr>
          <a:xfrm>
            <a:off x="5208350" y="17539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6" name="Google Shape;1036;p81"/>
          <p:cNvSpPr txBox="1"/>
          <p:nvPr/>
        </p:nvSpPr>
        <p:spPr>
          <a:xfrm>
            <a:off x="2469350" y="27980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7" name="Google Shape;1037;p81"/>
          <p:cNvSpPr txBox="1"/>
          <p:nvPr>
            <p:ph idx="4294967295" type="subTitle"/>
          </p:nvPr>
        </p:nvSpPr>
        <p:spPr>
          <a:xfrm>
            <a:off x="6362175" y="2810296"/>
            <a:ext cx="211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Multiples of 2 and 3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8" name="Google Shape;1038;p81"/>
          <p:cNvSpPr txBox="1"/>
          <p:nvPr/>
        </p:nvSpPr>
        <p:spPr>
          <a:xfrm>
            <a:off x="2983697" y="2546683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endParaRPr sz="19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9" name="Google Shape;1039;p81"/>
          <p:cNvSpPr/>
          <p:nvPr/>
        </p:nvSpPr>
        <p:spPr>
          <a:xfrm>
            <a:off x="2796925" y="2446008"/>
            <a:ext cx="852225" cy="96100"/>
          </a:xfrm>
          <a:custGeom>
            <a:rect b="b" l="l" r="r" t="t"/>
            <a:pathLst>
              <a:path extrusionOk="0" h="3844" w="34089">
                <a:moveTo>
                  <a:pt x="0" y="3844"/>
                </a:moveTo>
                <a:cubicBezTo>
                  <a:pt x="877" y="3552"/>
                  <a:pt x="3551" y="2590"/>
                  <a:pt x="5264" y="2089"/>
                </a:cubicBezTo>
                <a:cubicBezTo>
                  <a:pt x="6977" y="1588"/>
                  <a:pt x="8606" y="1129"/>
                  <a:pt x="10277" y="836"/>
                </a:cubicBezTo>
                <a:cubicBezTo>
                  <a:pt x="11948" y="544"/>
                  <a:pt x="13661" y="459"/>
                  <a:pt x="15290" y="334"/>
                </a:cubicBezTo>
                <a:cubicBezTo>
                  <a:pt x="16919" y="209"/>
                  <a:pt x="18215" y="0"/>
                  <a:pt x="20053" y="84"/>
                </a:cubicBezTo>
                <a:cubicBezTo>
                  <a:pt x="21891" y="168"/>
                  <a:pt x="24523" y="627"/>
                  <a:pt x="26319" y="836"/>
                </a:cubicBezTo>
                <a:cubicBezTo>
                  <a:pt x="28115" y="1045"/>
                  <a:pt x="29536" y="1170"/>
                  <a:pt x="30831" y="1337"/>
                </a:cubicBezTo>
                <a:cubicBezTo>
                  <a:pt x="32126" y="1504"/>
                  <a:pt x="33546" y="1755"/>
                  <a:pt x="34089" y="1838"/>
                </a:cubicBezTo>
              </a:path>
            </a:pathLst>
          </a:custGeom>
          <a:solidFill>
            <a:schemeClr val="accent5"/>
          </a:solidFill>
          <a:ln cap="flat" cmpd="sng" w="762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040" name="Google Shape;1040;p81"/>
          <p:cNvSpPr txBox="1"/>
          <p:nvPr>
            <p:ph idx="4294967295" type="subTitle"/>
          </p:nvPr>
        </p:nvSpPr>
        <p:spPr>
          <a:xfrm>
            <a:off x="6357066" y="2818806"/>
            <a:ext cx="2112900" cy="12603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Multiples of 6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5" name="Google Shape;1045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5726" y="2448925"/>
            <a:ext cx="873475" cy="890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6" name="Google Shape;1046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76889" y="2526306"/>
            <a:ext cx="1040687" cy="958302"/>
          </a:xfrm>
          <a:prstGeom prst="rect">
            <a:avLst/>
          </a:prstGeom>
          <a:noFill/>
          <a:ln>
            <a:noFill/>
          </a:ln>
        </p:spPr>
      </p:pic>
      <p:sp>
        <p:nvSpPr>
          <p:cNvPr id="1047" name="Google Shape;1047;p82"/>
          <p:cNvSpPr/>
          <p:nvPr/>
        </p:nvSpPr>
        <p:spPr>
          <a:xfrm>
            <a:off x="1536300" y="1593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48" name="Google Shape;1048;p82"/>
          <p:cNvSpPr/>
          <p:nvPr/>
        </p:nvSpPr>
        <p:spPr>
          <a:xfrm>
            <a:off x="2762425" y="15288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49" name="Google Shape;1049;p82"/>
          <p:cNvSpPr/>
          <p:nvPr/>
        </p:nvSpPr>
        <p:spPr>
          <a:xfrm>
            <a:off x="594600" y="1209975"/>
            <a:ext cx="5501700" cy="3550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</p:txBody>
      </p:sp>
      <p:sp>
        <p:nvSpPr>
          <p:cNvPr id="1051" name="Google Shape;1051;p82"/>
          <p:cNvSpPr txBox="1"/>
          <p:nvPr>
            <p:ph idx="4294967295" type="subTitle"/>
          </p:nvPr>
        </p:nvSpPr>
        <p:spPr>
          <a:xfrm>
            <a:off x="552600" y="79835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divisibility by 10</a:t>
            </a:r>
            <a:endParaRPr b="0"/>
          </a:p>
        </p:txBody>
      </p:sp>
      <p:sp>
        <p:nvSpPr>
          <p:cNvPr id="1052" name="Google Shape;1052;p82"/>
          <p:cNvSpPr txBox="1"/>
          <p:nvPr>
            <p:ph idx="4294967295" type="subTitle"/>
          </p:nvPr>
        </p:nvSpPr>
        <p:spPr>
          <a:xfrm>
            <a:off x="6324900" y="1376400"/>
            <a:ext cx="211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all the numbers here represent?</a:t>
            </a:r>
            <a:endParaRPr b="0"/>
          </a:p>
        </p:txBody>
      </p:sp>
      <p:sp>
        <p:nvSpPr>
          <p:cNvPr id="1053" name="Google Shape;1053;p82"/>
          <p:cNvSpPr/>
          <p:nvPr/>
        </p:nvSpPr>
        <p:spPr>
          <a:xfrm>
            <a:off x="2204800" y="2452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54" name="Google Shape;1054;p82"/>
          <p:cNvSpPr txBox="1"/>
          <p:nvPr>
            <p:ph idx="4294967295" type="subTitle"/>
          </p:nvPr>
        </p:nvSpPr>
        <p:spPr>
          <a:xfrm>
            <a:off x="6465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2</a:t>
            </a:r>
            <a:endParaRPr b="0" sz="1900"/>
          </a:p>
        </p:txBody>
      </p:sp>
      <p:sp>
        <p:nvSpPr>
          <p:cNvPr id="1055" name="Google Shape;1055;p82"/>
          <p:cNvSpPr txBox="1"/>
          <p:nvPr>
            <p:ph idx="4294967295" type="subTitle"/>
          </p:nvPr>
        </p:nvSpPr>
        <p:spPr>
          <a:xfrm>
            <a:off x="43803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3</a:t>
            </a:r>
            <a:endParaRPr b="0" sz="1900"/>
          </a:p>
        </p:txBody>
      </p:sp>
      <p:sp>
        <p:nvSpPr>
          <p:cNvPr id="1056" name="Google Shape;1056;p82"/>
          <p:cNvSpPr txBox="1"/>
          <p:nvPr>
            <p:ph idx="4294967295" type="subTitle"/>
          </p:nvPr>
        </p:nvSpPr>
        <p:spPr>
          <a:xfrm>
            <a:off x="2551557" y="44001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5</a:t>
            </a:r>
            <a:endParaRPr b="0" sz="1900"/>
          </a:p>
        </p:txBody>
      </p:sp>
      <p:sp>
        <p:nvSpPr>
          <p:cNvPr id="1057" name="Google Shape;1057;p82"/>
          <p:cNvSpPr txBox="1"/>
          <p:nvPr/>
        </p:nvSpPr>
        <p:spPr>
          <a:xfrm>
            <a:off x="1806950" y="38330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8" name="Google Shape;1058;p82"/>
          <p:cNvSpPr txBox="1"/>
          <p:nvPr/>
        </p:nvSpPr>
        <p:spPr>
          <a:xfrm>
            <a:off x="2017825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9" name="Google Shape;1059;p82"/>
          <p:cNvSpPr txBox="1"/>
          <p:nvPr/>
        </p:nvSpPr>
        <p:spPr>
          <a:xfrm>
            <a:off x="3681838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0" name="Google Shape;1060;p82"/>
          <p:cNvSpPr txBox="1"/>
          <p:nvPr/>
        </p:nvSpPr>
        <p:spPr>
          <a:xfrm>
            <a:off x="1684800" y="20076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1" name="Google Shape;1061;p82"/>
          <p:cNvSpPr txBox="1"/>
          <p:nvPr/>
        </p:nvSpPr>
        <p:spPr>
          <a:xfrm>
            <a:off x="2757625" y="3662250"/>
            <a:ext cx="405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2" name="Google Shape;1062;p82"/>
          <p:cNvSpPr txBox="1"/>
          <p:nvPr/>
        </p:nvSpPr>
        <p:spPr>
          <a:xfrm>
            <a:off x="940200" y="386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3" name="Google Shape;1063;p82"/>
          <p:cNvSpPr txBox="1"/>
          <p:nvPr/>
        </p:nvSpPr>
        <p:spPr>
          <a:xfrm>
            <a:off x="1563350" y="24599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4" name="Google Shape;1064;p82"/>
          <p:cNvSpPr txBox="1"/>
          <p:nvPr/>
        </p:nvSpPr>
        <p:spPr>
          <a:xfrm>
            <a:off x="4205475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5" name="Google Shape;1065;p82"/>
          <p:cNvSpPr txBox="1"/>
          <p:nvPr/>
        </p:nvSpPr>
        <p:spPr>
          <a:xfrm>
            <a:off x="2218800" y="30594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6" name="Google Shape;1066;p82"/>
          <p:cNvSpPr txBox="1"/>
          <p:nvPr/>
        </p:nvSpPr>
        <p:spPr>
          <a:xfrm>
            <a:off x="4317663" y="221451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7" name="Google Shape;1067;p82"/>
          <p:cNvSpPr txBox="1"/>
          <p:nvPr/>
        </p:nvSpPr>
        <p:spPr>
          <a:xfrm>
            <a:off x="1960575" y="23263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8" name="Google Shape;1068;p82"/>
          <p:cNvSpPr txBox="1"/>
          <p:nvPr/>
        </p:nvSpPr>
        <p:spPr>
          <a:xfrm>
            <a:off x="5208350" y="40116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9" name="Google Shape;1069;p82"/>
          <p:cNvSpPr txBox="1"/>
          <p:nvPr/>
        </p:nvSpPr>
        <p:spPr>
          <a:xfrm>
            <a:off x="3369600" y="3671600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0" name="Google Shape;1070;p82"/>
          <p:cNvSpPr txBox="1"/>
          <p:nvPr/>
        </p:nvSpPr>
        <p:spPr>
          <a:xfrm>
            <a:off x="2155325" y="186576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1" name="Google Shape;1071;p82"/>
          <p:cNvSpPr txBox="1"/>
          <p:nvPr/>
        </p:nvSpPr>
        <p:spPr>
          <a:xfrm>
            <a:off x="3689300" y="21225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2" name="Google Shape;1072;p82"/>
          <p:cNvSpPr txBox="1"/>
          <p:nvPr/>
        </p:nvSpPr>
        <p:spPr>
          <a:xfrm>
            <a:off x="1806896" y="2829100"/>
            <a:ext cx="5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3" name="Google Shape;1073;p82"/>
          <p:cNvSpPr txBox="1"/>
          <p:nvPr/>
        </p:nvSpPr>
        <p:spPr>
          <a:xfrm>
            <a:off x="5231925" y="332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4" name="Google Shape;1074;p82"/>
          <p:cNvSpPr txBox="1"/>
          <p:nvPr/>
        </p:nvSpPr>
        <p:spPr>
          <a:xfrm>
            <a:off x="2983697" y="2546683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endParaRPr sz="19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5" name="Google Shape;1075;p82"/>
          <p:cNvSpPr txBox="1"/>
          <p:nvPr/>
        </p:nvSpPr>
        <p:spPr>
          <a:xfrm>
            <a:off x="741800" y="285753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82"/>
          <p:cNvSpPr txBox="1"/>
          <p:nvPr/>
        </p:nvSpPr>
        <p:spPr>
          <a:xfrm>
            <a:off x="5208350" y="24811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7" name="Google Shape;1077;p82"/>
          <p:cNvSpPr txBox="1"/>
          <p:nvPr/>
        </p:nvSpPr>
        <p:spPr>
          <a:xfrm>
            <a:off x="2514900" y="1593300"/>
            <a:ext cx="469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82"/>
          <p:cNvSpPr txBox="1"/>
          <p:nvPr/>
        </p:nvSpPr>
        <p:spPr>
          <a:xfrm>
            <a:off x="3649200" y="28207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15</a:t>
            </a:r>
            <a:endParaRPr sz="19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9" name="Google Shape;1079;p82"/>
          <p:cNvSpPr txBox="1"/>
          <p:nvPr/>
        </p:nvSpPr>
        <p:spPr>
          <a:xfrm>
            <a:off x="636900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0" name="Google Shape;1080;p82"/>
          <p:cNvSpPr txBox="1"/>
          <p:nvPr/>
        </p:nvSpPr>
        <p:spPr>
          <a:xfrm>
            <a:off x="5208350" y="17539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1" name="Google Shape;1081;p82"/>
          <p:cNvSpPr txBox="1"/>
          <p:nvPr/>
        </p:nvSpPr>
        <p:spPr>
          <a:xfrm>
            <a:off x="2469350" y="27980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20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2" name="Google Shape;1082;p82"/>
          <p:cNvSpPr txBox="1"/>
          <p:nvPr>
            <p:ph idx="4294967295" type="subTitle"/>
          </p:nvPr>
        </p:nvSpPr>
        <p:spPr>
          <a:xfrm>
            <a:off x="6362175" y="2810296"/>
            <a:ext cx="211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Multiples of 3 and 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3" name="Google Shape;1083;p82"/>
          <p:cNvSpPr txBox="1"/>
          <p:nvPr/>
        </p:nvSpPr>
        <p:spPr>
          <a:xfrm>
            <a:off x="2997703" y="1669100"/>
            <a:ext cx="4695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4" name="Google Shape;1084;p82"/>
          <p:cNvSpPr txBox="1"/>
          <p:nvPr/>
        </p:nvSpPr>
        <p:spPr>
          <a:xfrm>
            <a:off x="2940333" y="1907608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5" name="Google Shape;1085;p82"/>
          <p:cNvSpPr txBox="1"/>
          <p:nvPr/>
        </p:nvSpPr>
        <p:spPr>
          <a:xfrm>
            <a:off x="2723233" y="2104967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6" name="Google Shape;1086;p82"/>
          <p:cNvSpPr txBox="1"/>
          <p:nvPr/>
        </p:nvSpPr>
        <p:spPr>
          <a:xfrm>
            <a:off x="2385175" y="2187025"/>
            <a:ext cx="524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7" name="Google Shape;1087;p82"/>
          <p:cNvSpPr txBox="1"/>
          <p:nvPr/>
        </p:nvSpPr>
        <p:spPr>
          <a:xfrm>
            <a:off x="3249200" y="2096108"/>
            <a:ext cx="46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8" name="Google Shape;1088;p82"/>
          <p:cNvSpPr txBox="1"/>
          <p:nvPr>
            <p:ph idx="4294967295" type="subTitle"/>
          </p:nvPr>
        </p:nvSpPr>
        <p:spPr>
          <a:xfrm>
            <a:off x="6360101" y="2814909"/>
            <a:ext cx="2112900" cy="15537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Multiples of 15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3"/>
          <p:cNvSpPr/>
          <p:nvPr/>
        </p:nvSpPr>
        <p:spPr>
          <a:xfrm>
            <a:off x="1536300" y="1593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94" name="Google Shape;1094;p83"/>
          <p:cNvSpPr/>
          <p:nvPr/>
        </p:nvSpPr>
        <p:spPr>
          <a:xfrm>
            <a:off x="2762425" y="1528375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095" name="Google Shape;1095;p83"/>
          <p:cNvSpPr/>
          <p:nvPr/>
        </p:nvSpPr>
        <p:spPr>
          <a:xfrm>
            <a:off x="594600" y="1209975"/>
            <a:ext cx="5501700" cy="3550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6" name="Google Shape;1096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100" y="2446950"/>
            <a:ext cx="904750" cy="92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7900" y="2542471"/>
            <a:ext cx="1123500" cy="1049207"/>
          </a:xfrm>
          <a:prstGeom prst="rect">
            <a:avLst/>
          </a:prstGeom>
          <a:noFill/>
          <a:ln>
            <a:noFill/>
          </a:ln>
        </p:spPr>
      </p:pic>
      <p:sp>
        <p:nvSpPr>
          <p:cNvPr id="1098" name="Google Shape;1098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</p:txBody>
      </p:sp>
      <p:sp>
        <p:nvSpPr>
          <p:cNvPr id="1099" name="Google Shape;1099;p83"/>
          <p:cNvSpPr txBox="1"/>
          <p:nvPr>
            <p:ph idx="4294967295" type="subTitle"/>
          </p:nvPr>
        </p:nvSpPr>
        <p:spPr>
          <a:xfrm>
            <a:off x="552600" y="79835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divisibility by 10</a:t>
            </a:r>
            <a:endParaRPr b="0"/>
          </a:p>
        </p:txBody>
      </p:sp>
      <p:sp>
        <p:nvSpPr>
          <p:cNvPr id="1100" name="Google Shape;1100;p83"/>
          <p:cNvSpPr txBox="1"/>
          <p:nvPr>
            <p:ph idx="4294967295" type="subTitle"/>
          </p:nvPr>
        </p:nvSpPr>
        <p:spPr>
          <a:xfrm>
            <a:off x="6324900" y="1376400"/>
            <a:ext cx="211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do all the numbers here represent?</a:t>
            </a:r>
            <a:endParaRPr b="0"/>
          </a:p>
        </p:txBody>
      </p:sp>
      <p:sp>
        <p:nvSpPr>
          <p:cNvPr id="1101" name="Google Shape;1101;p83"/>
          <p:cNvSpPr txBox="1"/>
          <p:nvPr>
            <p:ph idx="4294967295" type="subTitle"/>
          </p:nvPr>
        </p:nvSpPr>
        <p:spPr>
          <a:xfrm>
            <a:off x="6465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2</a:t>
            </a:r>
            <a:endParaRPr b="0" sz="1900"/>
          </a:p>
        </p:txBody>
      </p:sp>
      <p:sp>
        <p:nvSpPr>
          <p:cNvPr id="1102" name="Google Shape;1102;p83"/>
          <p:cNvSpPr txBox="1"/>
          <p:nvPr>
            <p:ph idx="4294967295" type="subTitle"/>
          </p:nvPr>
        </p:nvSpPr>
        <p:spPr>
          <a:xfrm>
            <a:off x="43803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3</a:t>
            </a:r>
            <a:endParaRPr b="0" sz="1900"/>
          </a:p>
        </p:txBody>
      </p:sp>
      <p:sp>
        <p:nvSpPr>
          <p:cNvPr id="1103" name="Google Shape;1103;p83"/>
          <p:cNvSpPr txBox="1"/>
          <p:nvPr>
            <p:ph idx="4294967295" type="subTitle"/>
          </p:nvPr>
        </p:nvSpPr>
        <p:spPr>
          <a:xfrm>
            <a:off x="2551557" y="44001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5</a:t>
            </a:r>
            <a:endParaRPr b="0" sz="1900"/>
          </a:p>
        </p:txBody>
      </p:sp>
      <p:sp>
        <p:nvSpPr>
          <p:cNvPr id="1104" name="Google Shape;1104;p83"/>
          <p:cNvSpPr txBox="1"/>
          <p:nvPr/>
        </p:nvSpPr>
        <p:spPr>
          <a:xfrm>
            <a:off x="1806950" y="38330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5" name="Google Shape;1105;p83"/>
          <p:cNvSpPr txBox="1"/>
          <p:nvPr/>
        </p:nvSpPr>
        <p:spPr>
          <a:xfrm>
            <a:off x="2017825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6" name="Google Shape;1106;p83"/>
          <p:cNvSpPr txBox="1"/>
          <p:nvPr/>
        </p:nvSpPr>
        <p:spPr>
          <a:xfrm>
            <a:off x="3681838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7" name="Google Shape;1107;p83"/>
          <p:cNvSpPr txBox="1"/>
          <p:nvPr/>
        </p:nvSpPr>
        <p:spPr>
          <a:xfrm>
            <a:off x="1684800" y="20076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8" name="Google Shape;1108;p83"/>
          <p:cNvSpPr txBox="1"/>
          <p:nvPr/>
        </p:nvSpPr>
        <p:spPr>
          <a:xfrm>
            <a:off x="2757625" y="3662250"/>
            <a:ext cx="405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9" name="Google Shape;1109;p83"/>
          <p:cNvSpPr txBox="1"/>
          <p:nvPr/>
        </p:nvSpPr>
        <p:spPr>
          <a:xfrm>
            <a:off x="940200" y="386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0" name="Google Shape;1110;p83"/>
          <p:cNvSpPr txBox="1"/>
          <p:nvPr/>
        </p:nvSpPr>
        <p:spPr>
          <a:xfrm>
            <a:off x="1563350" y="24599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1" name="Google Shape;1111;p83"/>
          <p:cNvSpPr txBox="1"/>
          <p:nvPr/>
        </p:nvSpPr>
        <p:spPr>
          <a:xfrm>
            <a:off x="4205475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2" name="Google Shape;1112;p83"/>
          <p:cNvSpPr txBox="1"/>
          <p:nvPr/>
        </p:nvSpPr>
        <p:spPr>
          <a:xfrm>
            <a:off x="2218800" y="30594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9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3" name="Google Shape;1113;p83"/>
          <p:cNvSpPr txBox="1"/>
          <p:nvPr/>
        </p:nvSpPr>
        <p:spPr>
          <a:xfrm>
            <a:off x="4317663" y="221451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4" name="Google Shape;1114;p83"/>
          <p:cNvSpPr txBox="1"/>
          <p:nvPr/>
        </p:nvSpPr>
        <p:spPr>
          <a:xfrm>
            <a:off x="1960575" y="23263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5" name="Google Shape;1115;p83"/>
          <p:cNvSpPr txBox="1"/>
          <p:nvPr/>
        </p:nvSpPr>
        <p:spPr>
          <a:xfrm>
            <a:off x="5208350" y="40116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6" name="Google Shape;1116;p83"/>
          <p:cNvSpPr txBox="1"/>
          <p:nvPr/>
        </p:nvSpPr>
        <p:spPr>
          <a:xfrm>
            <a:off x="3369600" y="3671600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83"/>
          <p:cNvSpPr txBox="1"/>
          <p:nvPr/>
        </p:nvSpPr>
        <p:spPr>
          <a:xfrm>
            <a:off x="2155325" y="186576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83"/>
          <p:cNvSpPr txBox="1"/>
          <p:nvPr/>
        </p:nvSpPr>
        <p:spPr>
          <a:xfrm>
            <a:off x="3689300" y="21225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83"/>
          <p:cNvSpPr txBox="1"/>
          <p:nvPr/>
        </p:nvSpPr>
        <p:spPr>
          <a:xfrm>
            <a:off x="1806896" y="2829100"/>
            <a:ext cx="5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83"/>
          <p:cNvSpPr txBox="1"/>
          <p:nvPr/>
        </p:nvSpPr>
        <p:spPr>
          <a:xfrm>
            <a:off x="5231925" y="332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83"/>
          <p:cNvSpPr txBox="1"/>
          <p:nvPr/>
        </p:nvSpPr>
        <p:spPr>
          <a:xfrm>
            <a:off x="2983697" y="2546683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endParaRPr sz="19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2" name="Google Shape;1122;p83"/>
          <p:cNvSpPr txBox="1"/>
          <p:nvPr/>
        </p:nvSpPr>
        <p:spPr>
          <a:xfrm>
            <a:off x="741800" y="285753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3" name="Google Shape;1123;p83"/>
          <p:cNvSpPr txBox="1"/>
          <p:nvPr/>
        </p:nvSpPr>
        <p:spPr>
          <a:xfrm>
            <a:off x="5208350" y="24811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4" name="Google Shape;1124;p83"/>
          <p:cNvSpPr txBox="1"/>
          <p:nvPr/>
        </p:nvSpPr>
        <p:spPr>
          <a:xfrm>
            <a:off x="2514900" y="1593300"/>
            <a:ext cx="469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5" name="Google Shape;1125;p83"/>
          <p:cNvSpPr txBox="1"/>
          <p:nvPr/>
        </p:nvSpPr>
        <p:spPr>
          <a:xfrm>
            <a:off x="3649200" y="28207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83"/>
          <p:cNvSpPr txBox="1"/>
          <p:nvPr/>
        </p:nvSpPr>
        <p:spPr>
          <a:xfrm>
            <a:off x="636900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7" name="Google Shape;1127;p83"/>
          <p:cNvSpPr txBox="1"/>
          <p:nvPr/>
        </p:nvSpPr>
        <p:spPr>
          <a:xfrm>
            <a:off x="5208350" y="17539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8" name="Google Shape;1128;p83"/>
          <p:cNvSpPr txBox="1"/>
          <p:nvPr/>
        </p:nvSpPr>
        <p:spPr>
          <a:xfrm>
            <a:off x="2469350" y="27980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9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9" name="Google Shape;1129;p83"/>
          <p:cNvSpPr txBox="1"/>
          <p:nvPr>
            <p:ph idx="4294967295" type="subTitle"/>
          </p:nvPr>
        </p:nvSpPr>
        <p:spPr>
          <a:xfrm>
            <a:off x="6362175" y="2810296"/>
            <a:ext cx="211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Multiples of 2 and 5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0" name="Google Shape;1130;p83"/>
          <p:cNvSpPr txBox="1"/>
          <p:nvPr/>
        </p:nvSpPr>
        <p:spPr>
          <a:xfrm>
            <a:off x="2997703" y="1669100"/>
            <a:ext cx="4695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1" name="Google Shape;1131;p83"/>
          <p:cNvSpPr txBox="1"/>
          <p:nvPr/>
        </p:nvSpPr>
        <p:spPr>
          <a:xfrm>
            <a:off x="2940333" y="1907608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2" name="Google Shape;1132;p83"/>
          <p:cNvSpPr txBox="1"/>
          <p:nvPr/>
        </p:nvSpPr>
        <p:spPr>
          <a:xfrm>
            <a:off x="2723233" y="2104967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3" name="Google Shape;1133;p83"/>
          <p:cNvSpPr txBox="1"/>
          <p:nvPr/>
        </p:nvSpPr>
        <p:spPr>
          <a:xfrm>
            <a:off x="2385175" y="2187025"/>
            <a:ext cx="524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4" name="Google Shape;1134;p83"/>
          <p:cNvSpPr txBox="1"/>
          <p:nvPr/>
        </p:nvSpPr>
        <p:spPr>
          <a:xfrm>
            <a:off x="3249200" y="2096108"/>
            <a:ext cx="46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5" name="Google Shape;1135;p83"/>
          <p:cNvSpPr/>
          <p:nvPr/>
        </p:nvSpPr>
        <p:spPr>
          <a:xfrm>
            <a:off x="2806700" y="2580225"/>
            <a:ext cx="444500" cy="723900"/>
          </a:xfrm>
          <a:custGeom>
            <a:rect b="b" l="l" r="r" t="t"/>
            <a:pathLst>
              <a:path extrusionOk="0" h="28956" w="17780">
                <a:moveTo>
                  <a:pt x="0" y="0"/>
                </a:moveTo>
                <a:cubicBezTo>
                  <a:pt x="254" y="1101"/>
                  <a:pt x="593" y="3683"/>
                  <a:pt x="1524" y="6604"/>
                </a:cubicBezTo>
                <a:cubicBezTo>
                  <a:pt x="2455" y="9525"/>
                  <a:pt x="3768" y="14478"/>
                  <a:pt x="5588" y="17526"/>
                </a:cubicBezTo>
                <a:cubicBezTo>
                  <a:pt x="7408" y="20574"/>
                  <a:pt x="10414" y="22987"/>
                  <a:pt x="12446" y="24892"/>
                </a:cubicBezTo>
                <a:cubicBezTo>
                  <a:pt x="14478" y="26797"/>
                  <a:pt x="16891" y="28279"/>
                  <a:pt x="17780" y="28956"/>
                </a:cubicBezTo>
              </a:path>
            </a:pathLst>
          </a:cu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36" name="Google Shape;1136;p83"/>
          <p:cNvSpPr/>
          <p:nvPr/>
        </p:nvSpPr>
        <p:spPr>
          <a:xfrm>
            <a:off x="2204800" y="2452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37" name="Google Shape;1137;p83"/>
          <p:cNvSpPr txBox="1"/>
          <p:nvPr>
            <p:ph idx="4294967295" type="subTitle"/>
          </p:nvPr>
        </p:nvSpPr>
        <p:spPr>
          <a:xfrm>
            <a:off x="6362175" y="2820708"/>
            <a:ext cx="2112900" cy="1562700"/>
          </a:xfrm>
          <a:prstGeom prst="rect">
            <a:avLst/>
          </a:prstGeom>
          <a:solidFill>
            <a:srgbClr val="FFFFFF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Multiples of 10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4"/>
          <p:cNvSpPr/>
          <p:nvPr/>
        </p:nvSpPr>
        <p:spPr>
          <a:xfrm>
            <a:off x="1536300" y="1593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43" name="Google Shape;1143;p84"/>
          <p:cNvSpPr/>
          <p:nvPr/>
        </p:nvSpPr>
        <p:spPr>
          <a:xfrm>
            <a:off x="2762425" y="1528375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1144" name="Google Shape;1144;p84"/>
          <p:cNvSpPr/>
          <p:nvPr/>
        </p:nvSpPr>
        <p:spPr>
          <a:xfrm>
            <a:off x="594600" y="1209975"/>
            <a:ext cx="5501700" cy="35502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45" name="Google Shape;1145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77100" y="2446950"/>
            <a:ext cx="904750" cy="92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6" name="Google Shape;1146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7900" y="2542471"/>
            <a:ext cx="1123500" cy="1049207"/>
          </a:xfrm>
          <a:prstGeom prst="rect">
            <a:avLst/>
          </a:prstGeom>
          <a:noFill/>
          <a:ln>
            <a:noFill/>
          </a:ln>
        </p:spPr>
      </p:pic>
      <p:sp>
        <p:nvSpPr>
          <p:cNvPr id="1147" name="Google Shape;1147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</p:txBody>
      </p:sp>
      <p:sp>
        <p:nvSpPr>
          <p:cNvPr id="1148" name="Google Shape;1148;p84"/>
          <p:cNvSpPr txBox="1"/>
          <p:nvPr>
            <p:ph idx="4294967295" type="subTitle"/>
          </p:nvPr>
        </p:nvSpPr>
        <p:spPr>
          <a:xfrm>
            <a:off x="552600" y="798350"/>
            <a:ext cx="39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test for divisibility by 10</a:t>
            </a:r>
            <a:endParaRPr b="0"/>
          </a:p>
        </p:txBody>
      </p:sp>
      <p:sp>
        <p:nvSpPr>
          <p:cNvPr id="1149" name="Google Shape;1149;p84"/>
          <p:cNvSpPr txBox="1"/>
          <p:nvPr>
            <p:ph idx="4294967295" type="subTitle"/>
          </p:nvPr>
        </p:nvSpPr>
        <p:spPr>
          <a:xfrm>
            <a:off x="6324900" y="1376400"/>
            <a:ext cx="2112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 number is a multiple of 10 when the </a:t>
            </a:r>
            <a:r>
              <a:rPr lang="en-GB"/>
              <a:t>digit in the ones column is 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84"/>
          <p:cNvSpPr txBox="1"/>
          <p:nvPr>
            <p:ph idx="4294967295" type="subTitle"/>
          </p:nvPr>
        </p:nvSpPr>
        <p:spPr>
          <a:xfrm>
            <a:off x="6465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2</a:t>
            </a:r>
            <a:endParaRPr b="0" sz="1900"/>
          </a:p>
        </p:txBody>
      </p:sp>
      <p:sp>
        <p:nvSpPr>
          <p:cNvPr id="1151" name="Google Shape;1151;p84"/>
          <p:cNvSpPr txBox="1"/>
          <p:nvPr>
            <p:ph idx="4294967295" type="subTitle"/>
          </p:nvPr>
        </p:nvSpPr>
        <p:spPr>
          <a:xfrm>
            <a:off x="4380357" y="12759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3</a:t>
            </a:r>
            <a:endParaRPr b="0" sz="1900"/>
          </a:p>
        </p:txBody>
      </p:sp>
      <p:sp>
        <p:nvSpPr>
          <p:cNvPr id="1152" name="Google Shape;1152;p84"/>
          <p:cNvSpPr txBox="1"/>
          <p:nvPr>
            <p:ph idx="4294967295" type="subTitle"/>
          </p:nvPr>
        </p:nvSpPr>
        <p:spPr>
          <a:xfrm>
            <a:off x="2551557" y="4400155"/>
            <a:ext cx="16113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Multiples of 5</a:t>
            </a:r>
            <a:endParaRPr b="0" sz="1900"/>
          </a:p>
        </p:txBody>
      </p:sp>
      <p:sp>
        <p:nvSpPr>
          <p:cNvPr id="1153" name="Google Shape;1153;p84"/>
          <p:cNvSpPr txBox="1"/>
          <p:nvPr/>
        </p:nvSpPr>
        <p:spPr>
          <a:xfrm>
            <a:off x="1806950" y="38330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4" name="Google Shape;1154;p84"/>
          <p:cNvSpPr txBox="1"/>
          <p:nvPr/>
        </p:nvSpPr>
        <p:spPr>
          <a:xfrm>
            <a:off x="2017825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5" name="Google Shape;1155;p84"/>
          <p:cNvSpPr txBox="1"/>
          <p:nvPr/>
        </p:nvSpPr>
        <p:spPr>
          <a:xfrm>
            <a:off x="3681838" y="15933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6" name="Google Shape;1156;p84"/>
          <p:cNvSpPr txBox="1"/>
          <p:nvPr/>
        </p:nvSpPr>
        <p:spPr>
          <a:xfrm>
            <a:off x="1684800" y="20076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7" name="Google Shape;1157;p84"/>
          <p:cNvSpPr txBox="1"/>
          <p:nvPr/>
        </p:nvSpPr>
        <p:spPr>
          <a:xfrm>
            <a:off x="2757625" y="3662250"/>
            <a:ext cx="4059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8" name="Google Shape;1158;p84"/>
          <p:cNvSpPr txBox="1"/>
          <p:nvPr/>
        </p:nvSpPr>
        <p:spPr>
          <a:xfrm>
            <a:off x="940200" y="386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59" name="Google Shape;1159;p84"/>
          <p:cNvSpPr txBox="1"/>
          <p:nvPr/>
        </p:nvSpPr>
        <p:spPr>
          <a:xfrm>
            <a:off x="1563350" y="24599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0" name="Google Shape;1160;p84"/>
          <p:cNvSpPr txBox="1"/>
          <p:nvPr/>
        </p:nvSpPr>
        <p:spPr>
          <a:xfrm>
            <a:off x="4205475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1" name="Google Shape;1161;p84"/>
          <p:cNvSpPr txBox="1"/>
          <p:nvPr/>
        </p:nvSpPr>
        <p:spPr>
          <a:xfrm>
            <a:off x="2218800" y="30594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10</a:t>
            </a:r>
            <a:endParaRPr sz="19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2" name="Google Shape;1162;p84"/>
          <p:cNvSpPr txBox="1"/>
          <p:nvPr/>
        </p:nvSpPr>
        <p:spPr>
          <a:xfrm>
            <a:off x="4317663" y="221451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3" name="Google Shape;1163;p84"/>
          <p:cNvSpPr txBox="1"/>
          <p:nvPr/>
        </p:nvSpPr>
        <p:spPr>
          <a:xfrm>
            <a:off x="1960575" y="23263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22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4" name="Google Shape;1164;p84"/>
          <p:cNvSpPr txBox="1"/>
          <p:nvPr/>
        </p:nvSpPr>
        <p:spPr>
          <a:xfrm>
            <a:off x="5208350" y="40116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5" name="Google Shape;1165;p84"/>
          <p:cNvSpPr txBox="1"/>
          <p:nvPr/>
        </p:nvSpPr>
        <p:spPr>
          <a:xfrm>
            <a:off x="3369600" y="3671600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6" name="Google Shape;1166;p84"/>
          <p:cNvSpPr txBox="1"/>
          <p:nvPr/>
        </p:nvSpPr>
        <p:spPr>
          <a:xfrm>
            <a:off x="2155325" y="1865763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26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7" name="Google Shape;1167;p84"/>
          <p:cNvSpPr txBox="1"/>
          <p:nvPr/>
        </p:nvSpPr>
        <p:spPr>
          <a:xfrm>
            <a:off x="3689300" y="21225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8" name="Google Shape;1168;p84"/>
          <p:cNvSpPr txBox="1"/>
          <p:nvPr/>
        </p:nvSpPr>
        <p:spPr>
          <a:xfrm>
            <a:off x="1806896" y="2829100"/>
            <a:ext cx="5004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28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69" name="Google Shape;1169;p84"/>
          <p:cNvSpPr txBox="1"/>
          <p:nvPr/>
        </p:nvSpPr>
        <p:spPr>
          <a:xfrm>
            <a:off x="5231925" y="33208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29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0" name="Google Shape;1170;p84"/>
          <p:cNvSpPr txBox="1"/>
          <p:nvPr/>
        </p:nvSpPr>
        <p:spPr>
          <a:xfrm>
            <a:off x="2983697" y="2546683"/>
            <a:ext cx="5247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lt1"/>
                </a:solidFill>
                <a:latin typeface="Kalam"/>
                <a:ea typeface="Kalam"/>
                <a:cs typeface="Kalam"/>
                <a:sym typeface="Kalam"/>
              </a:rPr>
              <a:t>30</a:t>
            </a:r>
            <a:endParaRPr sz="1900">
              <a:solidFill>
                <a:schemeClr val="lt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1" name="Google Shape;1171;p84"/>
          <p:cNvSpPr txBox="1"/>
          <p:nvPr/>
        </p:nvSpPr>
        <p:spPr>
          <a:xfrm>
            <a:off x="741800" y="285753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11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2" name="Google Shape;1172;p84"/>
          <p:cNvSpPr txBox="1"/>
          <p:nvPr/>
        </p:nvSpPr>
        <p:spPr>
          <a:xfrm>
            <a:off x="5208350" y="2481188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13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3" name="Google Shape;1173;p84"/>
          <p:cNvSpPr txBox="1"/>
          <p:nvPr/>
        </p:nvSpPr>
        <p:spPr>
          <a:xfrm>
            <a:off x="2514900" y="1593300"/>
            <a:ext cx="4695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14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4" name="Google Shape;1174;p84"/>
          <p:cNvSpPr txBox="1"/>
          <p:nvPr/>
        </p:nvSpPr>
        <p:spPr>
          <a:xfrm>
            <a:off x="3649200" y="282070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15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5" name="Google Shape;1175;p84"/>
          <p:cNvSpPr txBox="1"/>
          <p:nvPr/>
        </p:nvSpPr>
        <p:spPr>
          <a:xfrm>
            <a:off x="636900" y="185422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17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6" name="Google Shape;1176;p84"/>
          <p:cNvSpPr txBox="1"/>
          <p:nvPr/>
        </p:nvSpPr>
        <p:spPr>
          <a:xfrm>
            <a:off x="5208350" y="1753975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19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7" name="Google Shape;1177;p84"/>
          <p:cNvSpPr txBox="1"/>
          <p:nvPr/>
        </p:nvSpPr>
        <p:spPr>
          <a:xfrm>
            <a:off x="2469350" y="2798050"/>
            <a:ext cx="744600" cy="61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rgbClr val="FFFFFF"/>
                </a:solidFill>
                <a:latin typeface="Kalam"/>
                <a:ea typeface="Kalam"/>
                <a:cs typeface="Kalam"/>
                <a:sym typeface="Kalam"/>
              </a:rPr>
              <a:t>20</a:t>
            </a:r>
            <a:endParaRPr sz="1900">
              <a:solidFill>
                <a:srgbClr val="FFFFFF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8" name="Google Shape;1178;p84"/>
          <p:cNvSpPr txBox="1"/>
          <p:nvPr/>
        </p:nvSpPr>
        <p:spPr>
          <a:xfrm>
            <a:off x="2997703" y="1669100"/>
            <a:ext cx="469500" cy="3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9" name="Google Shape;1179;p84"/>
          <p:cNvSpPr txBox="1"/>
          <p:nvPr/>
        </p:nvSpPr>
        <p:spPr>
          <a:xfrm>
            <a:off x="2940333" y="1907608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0" name="Google Shape;1180;p84"/>
          <p:cNvSpPr txBox="1"/>
          <p:nvPr/>
        </p:nvSpPr>
        <p:spPr>
          <a:xfrm>
            <a:off x="2723233" y="2104967"/>
            <a:ext cx="469500" cy="41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12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1" name="Google Shape;1181;p84"/>
          <p:cNvSpPr txBox="1"/>
          <p:nvPr/>
        </p:nvSpPr>
        <p:spPr>
          <a:xfrm>
            <a:off x="2385175" y="2187025"/>
            <a:ext cx="5247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2" name="Google Shape;1182;p84"/>
          <p:cNvSpPr txBox="1"/>
          <p:nvPr/>
        </p:nvSpPr>
        <p:spPr>
          <a:xfrm>
            <a:off x="3249200" y="2096108"/>
            <a:ext cx="4695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19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3" name="Google Shape;1183;p84"/>
          <p:cNvSpPr/>
          <p:nvPr/>
        </p:nvSpPr>
        <p:spPr>
          <a:xfrm>
            <a:off x="2806700" y="2580225"/>
            <a:ext cx="444500" cy="723900"/>
          </a:xfrm>
          <a:custGeom>
            <a:rect b="b" l="l" r="r" t="t"/>
            <a:pathLst>
              <a:path extrusionOk="0" h="28956" w="17780">
                <a:moveTo>
                  <a:pt x="0" y="0"/>
                </a:moveTo>
                <a:cubicBezTo>
                  <a:pt x="254" y="1101"/>
                  <a:pt x="593" y="3683"/>
                  <a:pt x="1524" y="6604"/>
                </a:cubicBezTo>
                <a:cubicBezTo>
                  <a:pt x="2455" y="9525"/>
                  <a:pt x="3768" y="14478"/>
                  <a:pt x="5588" y="17526"/>
                </a:cubicBezTo>
                <a:cubicBezTo>
                  <a:pt x="7408" y="20574"/>
                  <a:pt x="10414" y="22987"/>
                  <a:pt x="12446" y="24892"/>
                </a:cubicBezTo>
                <a:cubicBezTo>
                  <a:pt x="14478" y="26797"/>
                  <a:pt x="16891" y="28279"/>
                  <a:pt x="17780" y="28956"/>
                </a:cubicBezTo>
              </a:path>
            </a:pathLst>
          </a:custGeom>
          <a:solidFill>
            <a:schemeClr val="accent5"/>
          </a:solidFill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184" name="Google Shape;1184;p84"/>
          <p:cNvSpPr/>
          <p:nvPr/>
        </p:nvSpPr>
        <p:spPr>
          <a:xfrm>
            <a:off x="2204800" y="2452300"/>
            <a:ext cx="2112900" cy="1956900"/>
          </a:xfrm>
          <a:prstGeom prst="ellipse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85"/>
          <p:cNvSpPr txBox="1"/>
          <p:nvPr>
            <p:ph idx="1" type="subTitle"/>
          </p:nvPr>
        </p:nvSpPr>
        <p:spPr>
          <a:xfrm>
            <a:off x="324000" y="1003800"/>
            <a:ext cx="81966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5083 is a prime </a:t>
            </a:r>
            <a:r>
              <a:rPr lang="en-GB" sz="2000"/>
              <a:t>because</a:t>
            </a:r>
            <a:r>
              <a:rPr lang="en-GB" sz="2000"/>
              <a:t> I did a </a:t>
            </a:r>
            <a:r>
              <a:rPr lang="en-GB" sz="2000"/>
              <a:t>divisibility</a:t>
            </a:r>
            <a:r>
              <a:rPr lang="en-GB" sz="2000"/>
              <a:t> test for 2, 3, 6, 5, 9 and 10 and it shows they are not factors.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90" name="Google Shape;1190;p85"/>
          <p:cNvSpPr txBox="1"/>
          <p:nvPr>
            <p:ph idx="2" type="subTitle"/>
          </p:nvPr>
        </p:nvSpPr>
        <p:spPr>
          <a:xfrm>
            <a:off x="980575" y="31199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2, 3, 5, 9 and 10 are not the only factors of every number.</a:t>
            </a:r>
            <a:endParaRPr/>
          </a:p>
        </p:txBody>
      </p:sp>
      <p:sp>
        <p:nvSpPr>
          <p:cNvPr id="1191" name="Google Shape;1191;p85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5083 ÷ </a:t>
            </a:r>
            <a:r>
              <a:rPr lang="en-GB"/>
              <a:t>5083 = 1 so 5083 is the only factor.</a:t>
            </a:r>
            <a:endParaRPr/>
          </a:p>
        </p:txBody>
      </p:sp>
      <p:sp>
        <p:nvSpPr>
          <p:cNvPr id="1192" name="Google Shape;119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</p:txBody>
      </p:sp>
      <p:pic>
        <p:nvPicPr>
          <p:cNvPr id="1193" name="Google Shape;119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56805" y="1778855"/>
            <a:ext cx="381784" cy="3811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61755" y="3469580"/>
            <a:ext cx="381784" cy="3811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85"/>
          <p:cNvSpPr txBox="1"/>
          <p:nvPr>
            <p:ph idx="2" type="subTitle"/>
          </p:nvPr>
        </p:nvSpPr>
        <p:spPr>
          <a:xfrm>
            <a:off x="2792743" y="3547864"/>
            <a:ext cx="3844800" cy="50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13 is a factor of 5083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86"/>
          <p:cNvSpPr/>
          <p:nvPr/>
        </p:nvSpPr>
        <p:spPr>
          <a:xfrm>
            <a:off x="359825" y="2273900"/>
            <a:ext cx="3062400" cy="6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</p:txBody>
      </p:sp>
      <p:sp>
        <p:nvSpPr>
          <p:cNvPr id="1202" name="Google Shape;1202;p86"/>
          <p:cNvSpPr txBox="1"/>
          <p:nvPr>
            <p:ph idx="4294967295" type="subTitle"/>
          </p:nvPr>
        </p:nvSpPr>
        <p:spPr>
          <a:xfrm>
            <a:off x="331700" y="676775"/>
            <a:ext cx="73038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outputs of function machines do not alway need to be </a:t>
            </a:r>
            <a:r>
              <a:rPr lang="en-GB" sz="1800"/>
              <a:t>calculated</a:t>
            </a:r>
            <a:r>
              <a:rPr lang="en-GB" sz="1800"/>
              <a:t> when identifying if a number is multiple. Multiples can be seen through the operations. </a:t>
            </a:r>
            <a:endParaRPr b="0" sz="1800"/>
          </a:p>
        </p:txBody>
      </p:sp>
      <p:sp>
        <p:nvSpPr>
          <p:cNvPr id="1203" name="Google Shape;1203;p86"/>
          <p:cNvSpPr txBox="1"/>
          <p:nvPr>
            <p:ph idx="4294967295" type="subTitle"/>
          </p:nvPr>
        </p:nvSpPr>
        <p:spPr>
          <a:xfrm>
            <a:off x="402450" y="1855950"/>
            <a:ext cx="1000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</a:t>
            </a:r>
            <a:endParaRPr b="0" sz="1800"/>
          </a:p>
        </p:txBody>
      </p:sp>
      <p:sp>
        <p:nvSpPr>
          <p:cNvPr id="1204" name="Google Shape;1204;p86"/>
          <p:cNvSpPr/>
          <p:nvPr/>
        </p:nvSpPr>
        <p:spPr>
          <a:xfrm>
            <a:off x="1047925" y="2339525"/>
            <a:ext cx="746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86"/>
          <p:cNvSpPr/>
          <p:nvPr/>
        </p:nvSpPr>
        <p:spPr>
          <a:xfrm>
            <a:off x="1822625" y="2339525"/>
            <a:ext cx="779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6" name="Google Shape;1206;p86"/>
          <p:cNvSpPr txBox="1"/>
          <p:nvPr/>
        </p:nvSpPr>
        <p:spPr>
          <a:xfrm>
            <a:off x="1035551" y="2358950"/>
            <a:ext cx="57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7" name="Google Shape;1207;p86"/>
          <p:cNvSpPr txBox="1"/>
          <p:nvPr/>
        </p:nvSpPr>
        <p:spPr>
          <a:xfrm>
            <a:off x="1868351" y="2358950"/>
            <a:ext cx="59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8" name="Google Shape;1208;p86"/>
          <p:cNvSpPr txBox="1"/>
          <p:nvPr/>
        </p:nvSpPr>
        <p:spPr>
          <a:xfrm>
            <a:off x="407900" y="2364357"/>
            <a:ext cx="7797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Input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9" name="Google Shape;1209;p86"/>
          <p:cNvSpPr txBox="1"/>
          <p:nvPr/>
        </p:nvSpPr>
        <p:spPr>
          <a:xfrm>
            <a:off x="331700" y="2986650"/>
            <a:ext cx="3429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the output alway even?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0" name="Google Shape;1210;p86"/>
          <p:cNvSpPr txBox="1"/>
          <p:nvPr/>
        </p:nvSpPr>
        <p:spPr>
          <a:xfrm>
            <a:off x="2541500" y="2364350"/>
            <a:ext cx="880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Output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1" name="Google Shape;1211;p86"/>
          <p:cNvSpPr txBox="1"/>
          <p:nvPr/>
        </p:nvSpPr>
        <p:spPr>
          <a:xfrm>
            <a:off x="331700" y="3443850"/>
            <a:ext cx="38925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Yes because the product of 2 and 3 is 6. Therefore all outputs will be multiples of 6 which are even numbers as 2 is a factor of all evens.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2" name="Google Shape;1212;p86"/>
          <p:cNvSpPr/>
          <p:nvPr/>
        </p:nvSpPr>
        <p:spPr>
          <a:xfrm>
            <a:off x="4670025" y="2273900"/>
            <a:ext cx="4149900" cy="6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86"/>
          <p:cNvSpPr txBox="1"/>
          <p:nvPr>
            <p:ph idx="4294967295" type="subTitle"/>
          </p:nvPr>
        </p:nvSpPr>
        <p:spPr>
          <a:xfrm>
            <a:off x="4712650" y="1855950"/>
            <a:ext cx="1000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Example</a:t>
            </a:r>
            <a:endParaRPr b="0" sz="1800"/>
          </a:p>
        </p:txBody>
      </p:sp>
      <p:sp>
        <p:nvSpPr>
          <p:cNvPr id="1214" name="Google Shape;1214;p86"/>
          <p:cNvSpPr/>
          <p:nvPr/>
        </p:nvSpPr>
        <p:spPr>
          <a:xfrm>
            <a:off x="5358125" y="2339525"/>
            <a:ext cx="746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86"/>
          <p:cNvSpPr/>
          <p:nvPr/>
        </p:nvSpPr>
        <p:spPr>
          <a:xfrm>
            <a:off x="6132825" y="2339525"/>
            <a:ext cx="779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6"/>
          <p:cNvSpPr txBox="1"/>
          <p:nvPr/>
        </p:nvSpPr>
        <p:spPr>
          <a:xfrm>
            <a:off x="5345751" y="2358950"/>
            <a:ext cx="57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7" name="Google Shape;1217;p86"/>
          <p:cNvSpPr txBox="1"/>
          <p:nvPr/>
        </p:nvSpPr>
        <p:spPr>
          <a:xfrm>
            <a:off x="6178550" y="2358950"/>
            <a:ext cx="661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6"/>
          <p:cNvSpPr txBox="1"/>
          <p:nvPr/>
        </p:nvSpPr>
        <p:spPr>
          <a:xfrm>
            <a:off x="4718100" y="2364357"/>
            <a:ext cx="7797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Input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9" name="Google Shape;1219;p86"/>
          <p:cNvSpPr txBox="1"/>
          <p:nvPr/>
        </p:nvSpPr>
        <p:spPr>
          <a:xfrm>
            <a:off x="4607150" y="2986650"/>
            <a:ext cx="42999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Is the output alway a multiple of 6?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0" name="Google Shape;1220;p86"/>
          <p:cNvSpPr txBox="1"/>
          <p:nvPr/>
        </p:nvSpPr>
        <p:spPr>
          <a:xfrm>
            <a:off x="7689900" y="2364350"/>
            <a:ext cx="8808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Lexend"/>
                <a:ea typeface="Lexend"/>
                <a:cs typeface="Lexend"/>
                <a:sym typeface="Lexend"/>
              </a:rPr>
              <a:t>Output</a:t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1" name="Google Shape;1221;p86"/>
          <p:cNvSpPr txBox="1"/>
          <p:nvPr/>
        </p:nvSpPr>
        <p:spPr>
          <a:xfrm>
            <a:off x="4641900" y="3443850"/>
            <a:ext cx="3892500" cy="4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No because the product of 3 and 10 is 30. 30 divided by 2 gives 15. Therefore all outputs will be multiples of 15, and 6 is not a factor of 15. 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2" name="Google Shape;1222;p86"/>
          <p:cNvSpPr/>
          <p:nvPr/>
        </p:nvSpPr>
        <p:spPr>
          <a:xfrm>
            <a:off x="6916525" y="2339525"/>
            <a:ext cx="779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86"/>
          <p:cNvSpPr txBox="1"/>
          <p:nvPr/>
        </p:nvSpPr>
        <p:spPr>
          <a:xfrm>
            <a:off x="6962251" y="2358950"/>
            <a:ext cx="59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÷2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87"/>
          <p:cNvSpPr txBox="1"/>
          <p:nvPr>
            <p:ph idx="1" type="body"/>
          </p:nvPr>
        </p:nvSpPr>
        <p:spPr>
          <a:xfrm>
            <a:off x="6079675" y="1140300"/>
            <a:ext cx="2482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</a:t>
            </a:r>
            <a:r>
              <a:rPr lang="en-GB"/>
              <a:t>) Shade in all the multiples of 10.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number has revealed itself?</a:t>
            </a:r>
            <a:endParaRPr/>
          </a:p>
        </p:txBody>
      </p:sp>
      <p:sp>
        <p:nvSpPr>
          <p:cNvPr id="1229" name="Google Shape;1229;p8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30" name="Google Shape;1230;p87"/>
          <p:cNvGraphicFramePr/>
          <p:nvPr/>
        </p:nvGraphicFramePr>
        <p:xfrm>
          <a:off x="829525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{B7B63220-1CAA-4E56-A979-092783325643}</a:tableStyleId>
              </a:tblPr>
              <a:tblGrid>
                <a:gridCol w="988975"/>
                <a:gridCol w="988975"/>
                <a:gridCol w="988975"/>
                <a:gridCol w="988975"/>
                <a:gridCol w="988975"/>
              </a:tblGrid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1340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2480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1074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3260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8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following is a 4 digit number. Insert a digit to make the below statements true.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It is a multiple of 10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It is a multiple of 5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</a:t>
            </a:r>
            <a:r>
              <a:rPr lang="en-GB" sz="1800"/>
              <a:t>The following is a 4 digit number. Insert two digits to make the below statements true.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a) It is a multiple of 10</a:t>
            </a:r>
            <a:br>
              <a:rPr lang="en-GB" sz="1800"/>
            </a:br>
            <a:r>
              <a:rPr lang="en-GB" sz="1800"/>
              <a:t>b) It is a multiple of 3 and 5</a:t>
            </a:r>
            <a:br>
              <a:rPr lang="en-GB" sz="1800"/>
            </a:br>
            <a:r>
              <a:rPr lang="en-GB" sz="1800"/>
              <a:t>c) It is a multiple of 9 and 10</a:t>
            </a:r>
            <a:endParaRPr sz="1800"/>
          </a:p>
        </p:txBody>
      </p:sp>
      <p:sp>
        <p:nvSpPr>
          <p:cNvPr id="1236" name="Google Shape;1236;p8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37" name="Google Shape;1237;p88"/>
          <p:cNvSpPr txBox="1"/>
          <p:nvPr/>
        </p:nvSpPr>
        <p:spPr>
          <a:xfrm>
            <a:off x="3964350" y="1138775"/>
            <a:ext cx="662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Lexend"/>
                <a:ea typeface="Lexend"/>
                <a:cs typeface="Lexend"/>
                <a:sym typeface="Lexend"/>
              </a:rPr>
              <a:t>4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8"/>
          <p:cNvSpPr txBox="1"/>
          <p:nvPr/>
        </p:nvSpPr>
        <p:spPr>
          <a:xfrm>
            <a:off x="4726350" y="1138775"/>
            <a:ext cx="662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Lexend"/>
                <a:ea typeface="Lexend"/>
                <a:cs typeface="Lexend"/>
                <a:sym typeface="Lexend"/>
              </a:rPr>
              <a:t>1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88"/>
          <p:cNvSpPr txBox="1"/>
          <p:nvPr/>
        </p:nvSpPr>
        <p:spPr>
          <a:xfrm>
            <a:off x="5488350" y="1138775"/>
            <a:ext cx="662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Lexend"/>
                <a:ea typeface="Lexend"/>
                <a:cs typeface="Lexend"/>
                <a:sym typeface="Lexend"/>
              </a:rPr>
              <a:t>7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88"/>
          <p:cNvSpPr/>
          <p:nvPr/>
        </p:nvSpPr>
        <p:spPr>
          <a:xfrm>
            <a:off x="3992025" y="1151475"/>
            <a:ext cx="635100" cy="5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88"/>
          <p:cNvSpPr/>
          <p:nvPr/>
        </p:nvSpPr>
        <p:spPr>
          <a:xfrm>
            <a:off x="4754025" y="1151475"/>
            <a:ext cx="635100" cy="5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2" name="Google Shape;1242;p88"/>
          <p:cNvSpPr/>
          <p:nvPr/>
        </p:nvSpPr>
        <p:spPr>
          <a:xfrm>
            <a:off x="5516025" y="1151475"/>
            <a:ext cx="635100" cy="5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88"/>
          <p:cNvSpPr/>
          <p:nvPr/>
        </p:nvSpPr>
        <p:spPr>
          <a:xfrm>
            <a:off x="6278025" y="1151475"/>
            <a:ext cx="635100" cy="5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4" name="Google Shape;1244;p88"/>
          <p:cNvSpPr txBox="1"/>
          <p:nvPr/>
        </p:nvSpPr>
        <p:spPr>
          <a:xfrm>
            <a:off x="3992025" y="3107000"/>
            <a:ext cx="662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Lexend"/>
                <a:ea typeface="Lexend"/>
                <a:cs typeface="Lexend"/>
                <a:sym typeface="Lexend"/>
              </a:rPr>
              <a:t>8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88"/>
          <p:cNvSpPr txBox="1"/>
          <p:nvPr/>
        </p:nvSpPr>
        <p:spPr>
          <a:xfrm>
            <a:off x="4754025" y="3107000"/>
            <a:ext cx="662700" cy="58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300">
                <a:latin typeface="Lexend"/>
                <a:ea typeface="Lexend"/>
                <a:cs typeface="Lexend"/>
                <a:sym typeface="Lexend"/>
              </a:rPr>
              <a:t>9</a:t>
            </a:r>
            <a:endParaRPr sz="33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88"/>
          <p:cNvSpPr/>
          <p:nvPr/>
        </p:nvSpPr>
        <p:spPr>
          <a:xfrm>
            <a:off x="4019700" y="3119700"/>
            <a:ext cx="635100" cy="5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7" name="Google Shape;1247;p88"/>
          <p:cNvSpPr/>
          <p:nvPr/>
        </p:nvSpPr>
        <p:spPr>
          <a:xfrm>
            <a:off x="4781700" y="3119700"/>
            <a:ext cx="635100" cy="5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88"/>
          <p:cNvSpPr/>
          <p:nvPr/>
        </p:nvSpPr>
        <p:spPr>
          <a:xfrm>
            <a:off x="5543700" y="3119700"/>
            <a:ext cx="635100" cy="5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88"/>
          <p:cNvSpPr/>
          <p:nvPr/>
        </p:nvSpPr>
        <p:spPr>
          <a:xfrm>
            <a:off x="6305700" y="3119700"/>
            <a:ext cx="635100" cy="584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89"/>
          <p:cNvSpPr txBox="1"/>
          <p:nvPr>
            <p:ph idx="1" type="body"/>
          </p:nvPr>
        </p:nvSpPr>
        <p:spPr>
          <a:xfrm>
            <a:off x="324000" y="683100"/>
            <a:ext cx="8237700" cy="12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</a:t>
            </a:r>
            <a:r>
              <a:rPr lang="en-GB" sz="1800"/>
              <a:t> Laura uses integers as her inputs into a function machine.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Place a tick in the cell if </a:t>
            </a:r>
            <a:r>
              <a:rPr b="1" lang="en-GB" sz="1800">
                <a:solidFill>
                  <a:schemeClr val="accent5"/>
                </a:solidFill>
              </a:rPr>
              <a:t>e</a:t>
            </a:r>
            <a:r>
              <a:rPr b="1" lang="en-GB" sz="1800">
                <a:solidFill>
                  <a:schemeClr val="accent5"/>
                </a:solidFill>
              </a:rPr>
              <a:t>very</a:t>
            </a:r>
            <a:r>
              <a:rPr lang="en-GB" sz="1800"/>
              <a:t> number will be a multiple of </a:t>
            </a:r>
            <a:r>
              <a:rPr lang="en-GB" sz="1800"/>
              <a:t>2, 3 or 10</a:t>
            </a:r>
            <a:endParaRPr sz="1800"/>
          </a:p>
        </p:txBody>
      </p:sp>
      <p:sp>
        <p:nvSpPr>
          <p:cNvPr id="1255" name="Google Shape;1255;p8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256" name="Google Shape;1256;p89"/>
          <p:cNvGraphicFramePr/>
          <p:nvPr/>
        </p:nvGraphicFramePr>
        <p:xfrm>
          <a:off x="331709" y="15126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{43DC643F-6BEC-42D8-821D-96F2195EA270}</a:tableStyleId>
              </a:tblPr>
              <a:tblGrid>
                <a:gridCol w="1913300"/>
                <a:gridCol w="2133475"/>
                <a:gridCol w="2023425"/>
                <a:gridCol w="2023425"/>
              </a:tblGrid>
              <a:tr h="83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  m</a:t>
                      </a: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ultiple of 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multiple of 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multiple of 10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56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7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57" name="Google Shape;1257;p89"/>
          <p:cNvSpPr/>
          <p:nvPr/>
        </p:nvSpPr>
        <p:spPr>
          <a:xfrm>
            <a:off x="530850" y="2571750"/>
            <a:ext cx="746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89"/>
          <p:cNvSpPr/>
          <p:nvPr/>
        </p:nvSpPr>
        <p:spPr>
          <a:xfrm>
            <a:off x="1305550" y="2571750"/>
            <a:ext cx="779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89"/>
          <p:cNvSpPr txBox="1"/>
          <p:nvPr/>
        </p:nvSpPr>
        <p:spPr>
          <a:xfrm>
            <a:off x="518476" y="2591175"/>
            <a:ext cx="57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0" name="Google Shape;1260;p89"/>
          <p:cNvSpPr txBox="1"/>
          <p:nvPr/>
        </p:nvSpPr>
        <p:spPr>
          <a:xfrm>
            <a:off x="1351276" y="2591175"/>
            <a:ext cx="59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1" name="Google Shape;1261;p89"/>
          <p:cNvSpPr/>
          <p:nvPr/>
        </p:nvSpPr>
        <p:spPr>
          <a:xfrm>
            <a:off x="530850" y="3105150"/>
            <a:ext cx="746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89"/>
          <p:cNvSpPr/>
          <p:nvPr/>
        </p:nvSpPr>
        <p:spPr>
          <a:xfrm>
            <a:off x="1305550" y="3105150"/>
            <a:ext cx="779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3" name="Google Shape;1263;p89"/>
          <p:cNvSpPr txBox="1"/>
          <p:nvPr/>
        </p:nvSpPr>
        <p:spPr>
          <a:xfrm>
            <a:off x="525776" y="3137275"/>
            <a:ext cx="57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89"/>
          <p:cNvSpPr txBox="1"/>
          <p:nvPr/>
        </p:nvSpPr>
        <p:spPr>
          <a:xfrm>
            <a:off x="1363977" y="3137275"/>
            <a:ext cx="618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89"/>
          <p:cNvSpPr/>
          <p:nvPr/>
        </p:nvSpPr>
        <p:spPr>
          <a:xfrm>
            <a:off x="370830" y="3653790"/>
            <a:ext cx="5919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89"/>
          <p:cNvSpPr/>
          <p:nvPr/>
        </p:nvSpPr>
        <p:spPr>
          <a:xfrm>
            <a:off x="984856" y="3653790"/>
            <a:ext cx="6180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7" name="Google Shape;1267;p89"/>
          <p:cNvSpPr txBox="1"/>
          <p:nvPr/>
        </p:nvSpPr>
        <p:spPr>
          <a:xfrm>
            <a:off x="296325" y="3673225"/>
            <a:ext cx="709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8" name="Google Shape;1268;p89"/>
          <p:cNvSpPr txBox="1"/>
          <p:nvPr/>
        </p:nvSpPr>
        <p:spPr>
          <a:xfrm>
            <a:off x="944611" y="3673225"/>
            <a:ext cx="65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89"/>
          <p:cNvSpPr/>
          <p:nvPr/>
        </p:nvSpPr>
        <p:spPr>
          <a:xfrm>
            <a:off x="1594456" y="3653790"/>
            <a:ext cx="6180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89"/>
          <p:cNvSpPr txBox="1"/>
          <p:nvPr/>
        </p:nvSpPr>
        <p:spPr>
          <a:xfrm>
            <a:off x="1606255" y="3647825"/>
            <a:ext cx="65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÷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89"/>
          <p:cNvSpPr/>
          <p:nvPr/>
        </p:nvSpPr>
        <p:spPr>
          <a:xfrm>
            <a:off x="383530" y="4187190"/>
            <a:ext cx="5919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89"/>
          <p:cNvSpPr/>
          <p:nvPr/>
        </p:nvSpPr>
        <p:spPr>
          <a:xfrm>
            <a:off x="997556" y="4187190"/>
            <a:ext cx="6180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3" name="Google Shape;1273;p89"/>
          <p:cNvSpPr txBox="1"/>
          <p:nvPr/>
        </p:nvSpPr>
        <p:spPr>
          <a:xfrm>
            <a:off x="309025" y="4206625"/>
            <a:ext cx="709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4" name="Google Shape;1274;p89"/>
          <p:cNvSpPr txBox="1"/>
          <p:nvPr/>
        </p:nvSpPr>
        <p:spPr>
          <a:xfrm>
            <a:off x="957311" y="4206625"/>
            <a:ext cx="65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5" name="Google Shape;1275;p89"/>
          <p:cNvSpPr/>
          <p:nvPr/>
        </p:nvSpPr>
        <p:spPr>
          <a:xfrm>
            <a:off x="1607156" y="4187190"/>
            <a:ext cx="6180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89"/>
          <p:cNvSpPr txBox="1"/>
          <p:nvPr/>
        </p:nvSpPr>
        <p:spPr>
          <a:xfrm>
            <a:off x="1618955" y="4181225"/>
            <a:ext cx="65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÷2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81" name="Google Shape;1281;p90"/>
          <p:cNvGraphicFramePr/>
          <p:nvPr/>
        </p:nvGraphicFramePr>
        <p:xfrm>
          <a:off x="829525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{B7B63220-1CAA-4E56-A979-092783325643}</a:tableStyleId>
              </a:tblPr>
              <a:tblGrid>
                <a:gridCol w="988975"/>
                <a:gridCol w="988975"/>
                <a:gridCol w="988975"/>
                <a:gridCol w="988975"/>
                <a:gridCol w="988975"/>
              </a:tblGrid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1340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2480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1074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3260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</a:tr>
            </a:tbl>
          </a:graphicData>
        </a:graphic>
      </p:graphicFrame>
      <p:sp>
        <p:nvSpPr>
          <p:cNvPr id="1282" name="Google Shape;1282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83" name="Google Shape;1283;p90"/>
          <p:cNvSpPr txBox="1"/>
          <p:nvPr>
            <p:ph idx="1" type="body"/>
          </p:nvPr>
        </p:nvSpPr>
        <p:spPr>
          <a:xfrm>
            <a:off x="6079675" y="1140300"/>
            <a:ext cx="2482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Shade in all the multiples of 10. 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What number has </a:t>
            </a:r>
            <a:r>
              <a:rPr lang="en-GB"/>
              <a:t>revealed itself?</a:t>
            </a:r>
            <a:endParaRPr/>
          </a:p>
        </p:txBody>
      </p:sp>
      <p:graphicFrame>
        <p:nvGraphicFramePr>
          <p:cNvPr id="1284" name="Google Shape;1284;p90"/>
          <p:cNvGraphicFramePr/>
          <p:nvPr/>
        </p:nvGraphicFramePr>
        <p:xfrm>
          <a:off x="829525" y="81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{B7B63220-1CAA-4E56-A979-092783325643}</a:tableStyleId>
              </a:tblPr>
              <a:tblGrid>
                <a:gridCol w="988975"/>
                <a:gridCol w="988975"/>
                <a:gridCol w="988975"/>
                <a:gridCol w="988975"/>
                <a:gridCol w="988975"/>
              </a:tblGrid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828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873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1340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2900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2480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816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603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141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1175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1870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978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39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980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2470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1074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635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666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3030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612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3260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620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670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9E9E9E"/>
                    </a:solidFill>
                  </a:tcPr>
                </a:tc>
              </a:tr>
              <a:tr h="559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132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261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438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1134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1137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5" name="Google Shape;1285;p90"/>
          <p:cNvSpPr txBox="1"/>
          <p:nvPr>
            <p:ph idx="1" type="body"/>
          </p:nvPr>
        </p:nvSpPr>
        <p:spPr>
          <a:xfrm>
            <a:off x="6940550" y="3459300"/>
            <a:ext cx="4560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3100">
                <a:latin typeface="Kalam"/>
                <a:ea typeface="Kalam"/>
                <a:cs typeface="Kalam"/>
                <a:sym typeface="Kalam"/>
              </a:rPr>
              <a:t>3</a:t>
            </a:r>
            <a:endParaRPr sz="31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9" name="Shape 1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" name="Google Shape;1290;p9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The following is a 4 digit number. Insert a digit to make the below statements true.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It is a multiple of 10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It is a multiple of 5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3) The following is a 4 digit number. Insert two digits to make the below statements true.</a:t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a) </a:t>
            </a:r>
            <a:r>
              <a:rPr lang="en-GB" sz="1800"/>
              <a:t>It is a multiple of 10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It is a multiple of 3 and 5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It is a multiple of 9 and 10</a:t>
            </a:r>
            <a:endParaRPr sz="1800"/>
          </a:p>
        </p:txBody>
      </p:sp>
      <p:sp>
        <p:nvSpPr>
          <p:cNvPr id="1291" name="Google Shape;1291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91"/>
          <p:cNvSpPr txBox="1"/>
          <p:nvPr/>
        </p:nvSpPr>
        <p:spPr>
          <a:xfrm>
            <a:off x="5945550" y="1138775"/>
            <a:ext cx="550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4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1"/>
          <p:cNvSpPr txBox="1"/>
          <p:nvPr/>
        </p:nvSpPr>
        <p:spPr>
          <a:xfrm>
            <a:off x="6578454" y="1138775"/>
            <a:ext cx="550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1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1"/>
          <p:cNvSpPr txBox="1"/>
          <p:nvPr/>
        </p:nvSpPr>
        <p:spPr>
          <a:xfrm>
            <a:off x="7211357" y="1138775"/>
            <a:ext cx="550500" cy="47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7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1"/>
          <p:cNvSpPr/>
          <p:nvPr/>
        </p:nvSpPr>
        <p:spPr>
          <a:xfrm>
            <a:off x="5968536" y="1149016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96" name="Google Shape;1296;p91"/>
          <p:cNvSpPr/>
          <p:nvPr/>
        </p:nvSpPr>
        <p:spPr>
          <a:xfrm>
            <a:off x="6601440" y="1149016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97" name="Google Shape;1297;p91"/>
          <p:cNvSpPr/>
          <p:nvPr/>
        </p:nvSpPr>
        <p:spPr>
          <a:xfrm>
            <a:off x="7234344" y="1149016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98" name="Google Shape;1298;p91"/>
          <p:cNvSpPr/>
          <p:nvPr/>
        </p:nvSpPr>
        <p:spPr>
          <a:xfrm>
            <a:off x="7867247" y="1149016"/>
            <a:ext cx="527400" cy="471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299" name="Google Shape;1299;p91"/>
          <p:cNvSpPr txBox="1"/>
          <p:nvPr/>
        </p:nvSpPr>
        <p:spPr>
          <a:xfrm>
            <a:off x="5897025" y="3071167"/>
            <a:ext cx="582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8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91"/>
          <p:cNvSpPr txBox="1"/>
          <p:nvPr/>
        </p:nvSpPr>
        <p:spPr>
          <a:xfrm>
            <a:off x="6567319" y="3071167"/>
            <a:ext cx="582900" cy="4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Lexend"/>
                <a:ea typeface="Lexend"/>
                <a:cs typeface="Lexend"/>
                <a:sym typeface="Lexend"/>
              </a:rPr>
              <a:t>9</a:t>
            </a:r>
            <a:endParaRPr sz="2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91"/>
          <p:cNvSpPr/>
          <p:nvPr/>
        </p:nvSpPr>
        <p:spPr>
          <a:xfrm>
            <a:off x="5921369" y="30811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02" name="Google Shape;1302;p91"/>
          <p:cNvSpPr/>
          <p:nvPr/>
        </p:nvSpPr>
        <p:spPr>
          <a:xfrm>
            <a:off x="6591663" y="30811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03" name="Google Shape;1303;p91"/>
          <p:cNvSpPr/>
          <p:nvPr/>
        </p:nvSpPr>
        <p:spPr>
          <a:xfrm>
            <a:off x="7261957" y="30811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04" name="Google Shape;1304;p91"/>
          <p:cNvSpPr/>
          <p:nvPr/>
        </p:nvSpPr>
        <p:spPr>
          <a:xfrm>
            <a:off x="7932250" y="3081192"/>
            <a:ext cx="558600" cy="4611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1305" name="Google Shape;1305;p91"/>
          <p:cNvSpPr txBox="1"/>
          <p:nvPr>
            <p:ph idx="1" type="body"/>
          </p:nvPr>
        </p:nvSpPr>
        <p:spPr>
          <a:xfrm>
            <a:off x="3196900" y="1620025"/>
            <a:ext cx="6621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4170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6" name="Google Shape;1306;p91"/>
          <p:cNvSpPr txBox="1"/>
          <p:nvPr>
            <p:ph idx="1" type="body"/>
          </p:nvPr>
        </p:nvSpPr>
        <p:spPr>
          <a:xfrm>
            <a:off x="3196900" y="2077225"/>
            <a:ext cx="6621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4170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7" name="Google Shape;1307;p91"/>
          <p:cNvSpPr txBox="1"/>
          <p:nvPr>
            <p:ph idx="1" type="body"/>
          </p:nvPr>
        </p:nvSpPr>
        <p:spPr>
          <a:xfrm>
            <a:off x="4111300" y="2077225"/>
            <a:ext cx="6621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4175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8" name="Google Shape;1308;p91"/>
          <p:cNvSpPr txBox="1"/>
          <p:nvPr>
            <p:ph idx="1" type="body"/>
          </p:nvPr>
        </p:nvSpPr>
        <p:spPr>
          <a:xfrm>
            <a:off x="3283500" y="3442674"/>
            <a:ext cx="23187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Example.   8950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9" name="Google Shape;1309;p91"/>
          <p:cNvSpPr txBox="1"/>
          <p:nvPr>
            <p:ph idx="1" type="body"/>
          </p:nvPr>
        </p:nvSpPr>
        <p:spPr>
          <a:xfrm>
            <a:off x="3750125" y="3882530"/>
            <a:ext cx="51600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8910, 8925, 8940, 8955, 8970, 8985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10" name="Google Shape;1310;p91"/>
          <p:cNvSpPr txBox="1"/>
          <p:nvPr>
            <p:ph idx="1" type="body"/>
          </p:nvPr>
        </p:nvSpPr>
        <p:spPr>
          <a:xfrm>
            <a:off x="3984750" y="4299186"/>
            <a:ext cx="843000" cy="47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500">
                <a:latin typeface="Kalam"/>
                <a:ea typeface="Kalam"/>
                <a:cs typeface="Kalam"/>
                <a:sym typeface="Kalam"/>
              </a:rPr>
              <a:t>8910</a:t>
            </a:r>
            <a:endParaRPr sz="25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9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Divisibility test for 10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92"/>
          <p:cNvSpPr txBox="1"/>
          <p:nvPr>
            <p:ph idx="1" type="body"/>
          </p:nvPr>
        </p:nvSpPr>
        <p:spPr>
          <a:xfrm>
            <a:off x="324000" y="683100"/>
            <a:ext cx="8237700" cy="122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4) Laura uses integers as her inputs into a function machine.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Place a tick in the cell if </a:t>
            </a:r>
            <a:r>
              <a:rPr b="1" lang="en-GB" sz="1800">
                <a:solidFill>
                  <a:schemeClr val="accent5"/>
                </a:solidFill>
              </a:rPr>
              <a:t>every</a:t>
            </a:r>
            <a:r>
              <a:rPr lang="en-GB" sz="1800"/>
              <a:t> number will be a multiple of 2, 3 or 10</a:t>
            </a:r>
            <a:endParaRPr sz="1800"/>
          </a:p>
        </p:txBody>
      </p:sp>
      <p:graphicFrame>
        <p:nvGraphicFramePr>
          <p:cNvPr id="1317" name="Google Shape;1317;p92"/>
          <p:cNvGraphicFramePr/>
          <p:nvPr/>
        </p:nvGraphicFramePr>
        <p:xfrm>
          <a:off x="331709" y="151266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{43DC643F-6BEC-42D8-821D-96F2195EA270}</a:tableStyleId>
              </a:tblPr>
              <a:tblGrid>
                <a:gridCol w="1913300"/>
                <a:gridCol w="2133475"/>
                <a:gridCol w="2023425"/>
                <a:gridCol w="2023425"/>
              </a:tblGrid>
              <a:tr h="836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  multiple of 2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multiple of 3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rgbClr val="FFFFFF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Every number will be a multiple of 10</a:t>
                      </a:r>
                      <a:endParaRPr sz="1800">
                        <a:solidFill>
                          <a:srgbClr val="FFFFFF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</a:tr>
              <a:tr h="569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  <a:tr h="5740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318" name="Google Shape;1318;p92"/>
          <p:cNvSpPr/>
          <p:nvPr/>
        </p:nvSpPr>
        <p:spPr>
          <a:xfrm>
            <a:off x="530850" y="2571750"/>
            <a:ext cx="746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92"/>
          <p:cNvSpPr/>
          <p:nvPr/>
        </p:nvSpPr>
        <p:spPr>
          <a:xfrm>
            <a:off x="1305550" y="2571750"/>
            <a:ext cx="779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0" name="Google Shape;1320;p92"/>
          <p:cNvSpPr txBox="1"/>
          <p:nvPr/>
        </p:nvSpPr>
        <p:spPr>
          <a:xfrm>
            <a:off x="518476" y="2591175"/>
            <a:ext cx="57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2"/>
          <p:cNvSpPr txBox="1"/>
          <p:nvPr/>
        </p:nvSpPr>
        <p:spPr>
          <a:xfrm>
            <a:off x="1351276" y="2591175"/>
            <a:ext cx="5919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2"/>
          <p:cNvSpPr/>
          <p:nvPr/>
        </p:nvSpPr>
        <p:spPr>
          <a:xfrm>
            <a:off x="530850" y="3105150"/>
            <a:ext cx="746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92"/>
          <p:cNvSpPr/>
          <p:nvPr/>
        </p:nvSpPr>
        <p:spPr>
          <a:xfrm>
            <a:off x="1305550" y="3105150"/>
            <a:ext cx="7797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4" name="Google Shape;1324;p92"/>
          <p:cNvSpPr txBox="1"/>
          <p:nvPr/>
        </p:nvSpPr>
        <p:spPr>
          <a:xfrm>
            <a:off x="525776" y="3137275"/>
            <a:ext cx="5736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2"/>
          <p:cNvSpPr txBox="1"/>
          <p:nvPr/>
        </p:nvSpPr>
        <p:spPr>
          <a:xfrm>
            <a:off x="1363977" y="3137275"/>
            <a:ext cx="618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2"/>
          <p:cNvSpPr/>
          <p:nvPr/>
        </p:nvSpPr>
        <p:spPr>
          <a:xfrm>
            <a:off x="370830" y="3653790"/>
            <a:ext cx="5919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92"/>
          <p:cNvSpPr/>
          <p:nvPr/>
        </p:nvSpPr>
        <p:spPr>
          <a:xfrm>
            <a:off x="984856" y="3653790"/>
            <a:ext cx="6180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8" name="Google Shape;1328;p92"/>
          <p:cNvSpPr txBox="1"/>
          <p:nvPr/>
        </p:nvSpPr>
        <p:spPr>
          <a:xfrm>
            <a:off x="296325" y="3673225"/>
            <a:ext cx="709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92"/>
          <p:cNvSpPr txBox="1"/>
          <p:nvPr/>
        </p:nvSpPr>
        <p:spPr>
          <a:xfrm>
            <a:off x="944611" y="3673225"/>
            <a:ext cx="65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2"/>
          <p:cNvSpPr/>
          <p:nvPr/>
        </p:nvSpPr>
        <p:spPr>
          <a:xfrm>
            <a:off x="1594456" y="3653790"/>
            <a:ext cx="6180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92"/>
          <p:cNvSpPr txBox="1"/>
          <p:nvPr/>
        </p:nvSpPr>
        <p:spPr>
          <a:xfrm>
            <a:off x="1606255" y="3647825"/>
            <a:ext cx="65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÷5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2" name="Google Shape;1332;p92"/>
          <p:cNvSpPr/>
          <p:nvPr/>
        </p:nvSpPr>
        <p:spPr>
          <a:xfrm>
            <a:off x="383530" y="4187190"/>
            <a:ext cx="5919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92"/>
          <p:cNvSpPr/>
          <p:nvPr/>
        </p:nvSpPr>
        <p:spPr>
          <a:xfrm>
            <a:off x="997556" y="4187190"/>
            <a:ext cx="6180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92"/>
          <p:cNvSpPr txBox="1"/>
          <p:nvPr/>
        </p:nvSpPr>
        <p:spPr>
          <a:xfrm>
            <a:off x="309025" y="4206625"/>
            <a:ext cx="709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5" name="Google Shape;1335;p92"/>
          <p:cNvSpPr txBox="1"/>
          <p:nvPr/>
        </p:nvSpPr>
        <p:spPr>
          <a:xfrm>
            <a:off x="957311" y="4206625"/>
            <a:ext cx="65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✕5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6" name="Google Shape;1336;p92"/>
          <p:cNvSpPr/>
          <p:nvPr/>
        </p:nvSpPr>
        <p:spPr>
          <a:xfrm>
            <a:off x="1607156" y="4187190"/>
            <a:ext cx="618000" cy="4878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7" name="Google Shape;1337;p92"/>
          <p:cNvSpPr txBox="1"/>
          <p:nvPr/>
        </p:nvSpPr>
        <p:spPr>
          <a:xfrm>
            <a:off x="1618955" y="4181225"/>
            <a:ext cx="6585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÷2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38" name="Google Shape;1338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608" y="2606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9" name="Google Shape;1339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308" y="2606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0" name="Google Shape;134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0108" y="26061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1" name="Google Shape;1341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608" y="3139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2" name="Google Shape;1342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608" y="3672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3" name="Google Shape;134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308" y="36729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4" name="Google Shape;1344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00308" y="420630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93"/>
          <p:cNvSpPr txBox="1"/>
          <p:nvPr/>
        </p:nvSpPr>
        <p:spPr>
          <a:xfrm>
            <a:off x="1684800" y="157525"/>
            <a:ext cx="57414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 tests for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and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0" name="Google Shape;1350;p93"/>
          <p:cNvSpPr txBox="1"/>
          <p:nvPr/>
        </p:nvSpPr>
        <p:spPr>
          <a:xfrm>
            <a:off x="400428" y="973050"/>
            <a:ext cx="82071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Divisibility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tests are quick processes to identify if a number is divisible.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1" name="Google Shape;1351;p93"/>
          <p:cNvSpPr txBox="1"/>
          <p:nvPr/>
        </p:nvSpPr>
        <p:spPr>
          <a:xfrm>
            <a:off x="400200" y="2246150"/>
            <a:ext cx="8419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is divisible by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if the digit in the ones column is a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 or 0.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2" name="Google Shape;1352;p93"/>
          <p:cNvSpPr txBox="1"/>
          <p:nvPr/>
        </p:nvSpPr>
        <p:spPr>
          <a:xfrm>
            <a:off x="400200" y="3465350"/>
            <a:ext cx="8419800" cy="48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number is divisible by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if the digit in the ones column is a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0 only.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6" name="Shape 1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7" name="Google Shape;1357;p9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58" name="Google Shape;1358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