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90f9e58742_0_6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90f9e5874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11" Type="http://schemas.openxmlformats.org/officeDocument/2006/relationships/image" Target="../media/image15.png"/><Relationship Id="rId10" Type="http://schemas.openxmlformats.org/officeDocument/2006/relationships/image" Target="../media/image21.png"/><Relationship Id="rId9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9585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Evaluate a number using a square root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2396906"/>
            <a:ext cx="2159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3278312"/>
            <a:ext cx="209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3789329"/>
            <a:ext cx="209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39700" y="1765150"/>
            <a:ext cx="65523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following. If your answer is a decimal, write all the digits from your calculator display.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.45^2\ =\ 11.9025&quot;&gt;&lt;msup&gt;&lt;mn&gt;3.45&lt;/mn&gt;&lt;mn&gt;2&lt;/mn&gt;&lt;/msup&gt;&lt;mtext&gt;&lt;/mtext&gt;&lt;mo&gt;=&lt;/mo&gt;&lt;mtext&gt;&lt;/mtext&gt;&lt;mn&gt;11.9025&lt;/mn&gt;&lt;/math&gt;" id="168" name="Google Shape;168;p20" title="3.45 squared equals 11.9025"/>
          <p:cNvPicPr preferRelativeResize="0"/>
          <p:nvPr/>
        </p:nvPicPr>
        <p:blipFill rotWithShape="1">
          <a:blip r:embed="rId3">
            <a:alphaModFix/>
          </a:blip>
          <a:srcRect b="0" l="0" r="50828" t="0"/>
          <a:stretch/>
        </p:blipFill>
        <p:spPr>
          <a:xfrm>
            <a:off x="1663294" y="2314325"/>
            <a:ext cx="997600" cy="26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^2\ +\ 13.4^2\ =\ 181&quot;&gt;&lt;msup&gt;&lt;mn&gt;1.2&lt;/mn&gt;&lt;mn&gt;2&lt;/mn&gt;&lt;/msup&gt;&lt;mtext&gt;&lt;/mtext&gt;&lt;mo&gt;+&lt;/mo&gt;&lt;mtext&gt;&lt;/mtext&gt;&lt;msup&gt;&lt;mn&gt;13.4&lt;/mn&gt;&lt;mn&gt;2&lt;/mn&gt;&lt;/msup&gt;&lt;mtext&gt;&lt;/mtext&gt;&lt;mo&gt;=&lt;/mo&gt;&lt;mtext&gt;&lt;/mtext&gt;&lt;mn&gt;181&lt;/mn&gt;&lt;/math&gt;" id="169" name="Google Shape;169;p20" title="1.2 squared plus 13.4 squared equals 181"/>
          <p:cNvPicPr preferRelativeResize="0"/>
          <p:nvPr/>
        </p:nvPicPr>
        <p:blipFill rotWithShape="1">
          <a:blip r:embed="rId4">
            <a:alphaModFix/>
          </a:blip>
          <a:srcRect b="0" l="0" r="18273" t="0"/>
          <a:stretch/>
        </p:blipFill>
        <p:spPr>
          <a:xfrm>
            <a:off x="1663300" y="2719275"/>
            <a:ext cx="2003450" cy="26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76.7376}-\ 2.3^2\ =\ 3.47&quot;&gt;&lt;msqrt&gt;&lt;mn&gt;76.7376&lt;/mn&gt;&lt;/msqrt&gt;&lt;mo&gt;−&lt;/mo&gt;&lt;mtext&gt;&lt;/mtext&gt;&lt;msup&gt;&lt;mn&gt;2.3&lt;/mn&gt;&lt;mn&gt;2&lt;/mn&gt;&lt;/msup&gt;&lt;mtext&gt;&lt;/mtext&gt;&lt;mo&gt;=&lt;/mo&gt;&lt;mtext&gt;&lt;/mtext&gt;&lt;mn&gt;3.47&lt;/mn&gt;&lt;/math&gt;" id="170" name="Google Shape;170;p20" title="the square root of 76.7376 minus 2.3 squared equals 3.47"/>
          <p:cNvPicPr preferRelativeResize="0"/>
          <p:nvPr/>
        </p:nvPicPr>
        <p:blipFill rotWithShape="1">
          <a:blip r:embed="rId5">
            <a:alphaModFix/>
          </a:blip>
          <a:srcRect b="0" l="0" r="18253" t="0"/>
          <a:stretch/>
        </p:blipFill>
        <p:spPr>
          <a:xfrm>
            <a:off x="1621048" y="3172125"/>
            <a:ext cx="2205725" cy="32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9^2+12^2}\ =\ 15&quot;&gt;&lt;msqrt&gt;&lt;msup&gt;&lt;mn&gt;9&lt;/mn&gt;&lt;mn&gt;2&lt;/mn&gt;&lt;/msup&gt;&lt;mo&gt;+&lt;/mo&gt;&lt;msup&gt;&lt;mn&gt;12&lt;/mn&gt;&lt;mn&gt;2&lt;/mn&gt;&lt;/msup&gt;&lt;/msqrt&gt;&lt;mtext&gt;&lt;/mtext&gt;&lt;mo&gt;=&lt;/mo&gt;&lt;mtext&gt;&lt;/mtext&gt;&lt;mn&gt;15&lt;/mn&gt;&lt;/math&gt;" id="171" name="Google Shape;171;p20" title="the square root of 9 squared plus 12 squared equals 15"/>
          <p:cNvPicPr preferRelativeResize="0"/>
          <p:nvPr/>
        </p:nvPicPr>
        <p:blipFill rotWithShape="1">
          <a:blip r:embed="rId6">
            <a:alphaModFix/>
          </a:blip>
          <a:srcRect b="0" l="0" r="18447" t="0"/>
          <a:stretch/>
        </p:blipFill>
        <p:spPr>
          <a:xfrm>
            <a:off x="1631526" y="3683725"/>
            <a:ext cx="1486575" cy="3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68000" y="2833362"/>
            <a:ext cx="21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4326525"/>
            <a:ext cx="66240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calculator, work out the missing lengths of the following shaded areas. Each shape is a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836038" y="6067325"/>
            <a:ext cx="1959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4.6225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46763" y="6053100"/>
            <a:ext cx="1959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127.69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629275" y="5366759"/>
            <a:ext cx="594600" cy="572700"/>
          </a:xfrm>
          <a:prstGeom prst="rect">
            <a:avLst/>
          </a:prstGeom>
          <a:solidFill>
            <a:srgbClr val="575756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216582" y="4819138"/>
            <a:ext cx="1174800" cy="1174800"/>
          </a:xfrm>
          <a:prstGeom prst="rect">
            <a:avLst/>
          </a:prstGeom>
          <a:solidFill>
            <a:srgbClr val="575756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7200425"/>
            <a:ext cx="66240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Using a calculator, explain why the following evaluate to the answer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7988" y="7611375"/>
            <a:ext cx="639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sqrt{53^2}=\ 53&quot;&gt;&lt;msqrt&gt;&lt;msup&gt;&lt;mn&gt;53&lt;/mn&gt;&lt;mn&gt;2&lt;/mn&gt;&lt;/msup&gt;&lt;/msqrt&gt;&lt;mo&gt;=&lt;/mo&gt;&lt;mtext&gt;&lt;/mtext&gt;&lt;mn&gt;53&lt;/mn&gt;&lt;/math&gt;" id="180" name="Google Shape;180;p20" title="the square root of 53 squared equals 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1549" y="8258673"/>
            <a:ext cx="139085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\sqrt{\sqrt{65\ 536}}}\ =\ 4&quot;&gt;&lt;msqrt&gt;&lt;msqrt&gt;&lt;msqrt&gt;&lt;mn&gt;65&lt;/mn&gt;&lt;mtext&gt;&lt;/mtext&gt;&lt;mn&gt;536&lt;/mn&gt;&lt;/msqrt&gt;&lt;/msqrt&gt;&lt;/msqrt&gt;&lt;mtext&gt;&lt;/mtext&gt;&lt;mo&gt;=&lt;/mo&gt;&lt;mtext&gt;&lt;/mtext&gt;&lt;mn&gt;4&lt;/mn&gt;&lt;/math&gt;" id="181" name="Google Shape;181;p20" title="the square root of the square root of the square root of 65 536 equals 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4113" y="7575963"/>
            <a:ext cx="1527475" cy="47314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0"/>
          <p:cNvSpPr/>
          <p:nvPr/>
        </p:nvSpPr>
        <p:spPr>
          <a:xfrm>
            <a:off x="5595333" y="5423466"/>
            <a:ext cx="335400" cy="335400"/>
          </a:xfrm>
          <a:prstGeom prst="rect">
            <a:avLst/>
          </a:prstGeom>
          <a:solidFill>
            <a:srgbClr val="575756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15213" y="5840175"/>
            <a:ext cx="22956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0.00 000 1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using a calculator</a:t>
            </a:r>
            <a:endParaRPr/>
          </a:p>
        </p:txBody>
      </p:sp>
      <p:sp>
        <p:nvSpPr>
          <p:cNvPr id="191" name="Google Shape;19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1582000"/>
            <a:ext cx="11829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3804900"/>
            <a:ext cx="1182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022000"/>
            <a:ext cx="66240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following. If your answer is a decimal, write all the digits from your calculator display.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2323050"/>
            <a:ext cx="995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7131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Evaluate using exponents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3048025"/>
            <a:ext cx="12585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4.2^3\div2^4\ =\ 4.6305&quot;&gt;&lt;msup&gt;&lt;mn&gt;4.2&lt;/mn&gt;&lt;mn&gt;3&lt;/mn&gt;&lt;/msup&gt;&lt;mo&gt;÷&lt;/mo&gt;&lt;msup&gt;&lt;mn&gt;2&lt;/mn&gt;&lt;mn&gt;4&lt;/mn&gt;&lt;/msup&gt;&lt;mtext&gt;&lt;/mtext&gt;&lt;mo&gt;=&lt;/mo&gt;&lt;mtext&gt;&lt;/mtext&gt;&lt;mn&gt;4.6305&lt;/mn&gt;&lt;/math&gt;" id="199" name="Google Shape;199;p21" title="4.2 cubed divided by 2 to the fourth power equals 4.6305"/>
          <p:cNvPicPr preferRelativeResize="0"/>
          <p:nvPr/>
        </p:nvPicPr>
        <p:blipFill rotWithShape="1">
          <a:blip r:embed="rId3">
            <a:alphaModFix/>
          </a:blip>
          <a:srcRect b="0" l="0" r="34844" t="0"/>
          <a:stretch/>
        </p:blipFill>
        <p:spPr>
          <a:xfrm>
            <a:off x="1532075" y="2950425"/>
            <a:ext cx="1692700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7^4\div9^2\div3^7=3&quot;&gt;&lt;msup&gt;&lt;mn&gt;27&lt;/mn&gt;&lt;mn&gt;4&lt;/mn&gt;&lt;/msup&gt;&lt;mo&gt;÷&lt;/mo&gt;&lt;msup&gt;&lt;mn&gt;9&lt;/mn&gt;&lt;mn&gt;2&lt;/mn&gt;&lt;/msup&gt;&lt;mo&gt;÷&lt;/mo&gt;&lt;msup&gt;&lt;mn&gt;3&lt;/mn&gt;&lt;mn&gt;7&lt;/mn&gt;&lt;/msup&gt;&lt;mo&gt;=&lt;/mo&gt;&lt;mn&gt;3&lt;/mn&gt;&lt;/math&gt;" id="200" name="Google Shape;200;p21" title="27 to the fourth power divided by 9 squared divided by 3 to the seventh power equals 3"/>
          <p:cNvPicPr preferRelativeResize="0"/>
          <p:nvPr/>
        </p:nvPicPr>
        <p:blipFill rotWithShape="1">
          <a:blip r:embed="rId4">
            <a:alphaModFix/>
          </a:blip>
          <a:srcRect b="0" l="0" r="8164" t="0"/>
          <a:stretch/>
        </p:blipFill>
        <p:spPr>
          <a:xfrm>
            <a:off x="1632826" y="2243675"/>
            <a:ext cx="2033925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6-6^4\ =\ 2800&quot;&gt;&lt;msup&gt;&lt;mn&gt;4&lt;/mn&gt;&lt;mn&gt;6&lt;/mn&gt;&lt;/msup&gt;&lt;mo&gt;−&lt;/mo&gt;&lt;msup&gt;&lt;mn&gt;6&lt;/mn&gt;&lt;mn&gt;4&lt;/mn&gt;&lt;/msup&gt;&lt;mtext&gt;&lt;/mtext&gt;&lt;mo&gt;=&lt;/mo&gt;&lt;mtext&gt;&lt;/mtext&gt;&lt;mn&gt;2800&lt;/mn&gt;&lt;/math&gt;" id="201" name="Google Shape;201;p21" title="4 to the sixth power minus 6 to the fourth power equals 2800"/>
          <p:cNvPicPr preferRelativeResize="0"/>
          <p:nvPr/>
        </p:nvPicPr>
        <p:blipFill rotWithShape="1">
          <a:blip r:embed="rId5">
            <a:alphaModFix/>
          </a:blip>
          <a:srcRect b="0" l="0" r="32659" t="0"/>
          <a:stretch/>
        </p:blipFill>
        <p:spPr>
          <a:xfrm>
            <a:off x="1654700" y="1499900"/>
            <a:ext cx="1432926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sqrt{3^4+4^3+5^2-1^7}=\ 13&quot;&gt;&lt;msqrt&gt;&lt;msup&gt;&lt;mn&gt;3&lt;/mn&gt;&lt;mn&gt;4&lt;/mn&gt;&lt;/msup&gt;&lt;mo&gt;+&lt;/mo&gt;&lt;msup&gt;&lt;mn&gt;4&lt;/mn&gt;&lt;mn&gt;3&lt;/mn&gt;&lt;/msup&gt;&lt;mo&gt;+&lt;/mo&gt;&lt;msup&gt;&lt;mn&gt;5&lt;/mn&gt;&lt;mn&gt;2&lt;/mn&gt;&lt;/msup&gt;&lt;mo&gt;−&lt;/mo&gt;&lt;msup&gt;&lt;mn&gt;1&lt;/mn&gt;&lt;mn&gt;7&lt;/mn&gt;&lt;/msup&gt;&lt;/msqrt&gt;&lt;mo&gt;=&lt;/mo&gt;&lt;mtext&gt;&lt;/mtext&gt;&lt;mn&gt;13&lt;/mn&gt;&lt;/math&gt;" id="202" name="Google Shape;202;p21" title="the square root of 3 to the fourth power plus 4 cubed plus 5 squared minus 1 to the seventh power equals 13"/>
          <p:cNvPicPr preferRelativeResize="0"/>
          <p:nvPr/>
        </p:nvPicPr>
        <p:blipFill rotWithShape="1">
          <a:blip r:embed="rId6">
            <a:alphaModFix/>
          </a:blip>
          <a:srcRect b="0" l="0" r="11979" t="0"/>
          <a:stretch/>
        </p:blipFill>
        <p:spPr>
          <a:xfrm>
            <a:off x="1532075" y="3714200"/>
            <a:ext cx="2608450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468000" y="4510375"/>
            <a:ext cx="66240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Sofia followed this function machine. Her input was 27. Her output was 730.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711150" y="4766100"/>
            <a:ext cx="1290000" cy="9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the power of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001203" y="4766100"/>
            <a:ext cx="1290000" cy="9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Add 3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291258" y="4766100"/>
            <a:ext cx="1557600" cy="9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Divide by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5861825"/>
            <a:ext cx="66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of the following buttons did she press to get the correct answer?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8983" y="6297018"/>
            <a:ext cx="2608438" cy="1351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21"/>
          <p:cNvGrpSpPr/>
          <p:nvPr/>
        </p:nvGrpSpPr>
        <p:grpSpPr>
          <a:xfrm>
            <a:off x="468045" y="6296947"/>
            <a:ext cx="400736" cy="400690"/>
            <a:chOff x="1020916" y="1442088"/>
            <a:chExt cx="457200" cy="457200"/>
          </a:xfrm>
        </p:grpSpPr>
        <p:pic>
          <p:nvPicPr>
            <p:cNvPr id="210" name="Google Shape;210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" name="Google Shape;212;p21"/>
          <p:cNvGrpSpPr/>
          <p:nvPr/>
        </p:nvGrpSpPr>
        <p:grpSpPr>
          <a:xfrm>
            <a:off x="4156013" y="6296947"/>
            <a:ext cx="400736" cy="400690"/>
            <a:chOff x="1020916" y="1442088"/>
            <a:chExt cx="457200" cy="457200"/>
          </a:xfrm>
        </p:grpSpPr>
        <p:pic>
          <p:nvPicPr>
            <p:cNvPr id="213" name="Google Shape;213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" name="Google Shape;215;p21"/>
          <p:cNvGrpSpPr/>
          <p:nvPr/>
        </p:nvGrpSpPr>
        <p:grpSpPr>
          <a:xfrm>
            <a:off x="4746390" y="6271817"/>
            <a:ext cx="2345974" cy="1307279"/>
            <a:chOff x="5389262" y="3211425"/>
            <a:chExt cx="2676525" cy="1491646"/>
          </a:xfrm>
        </p:grpSpPr>
        <p:pic>
          <p:nvPicPr>
            <p:cNvPr id="216" name="Google Shape;216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398787" y="3211425"/>
              <a:ext cx="2657475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389262" y="3702946"/>
              <a:ext cx="2676525" cy="50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1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5398787" y="4207771"/>
              <a:ext cx="2657475" cy="4953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9" name="Google Shape;219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Powers and roots </a:t>
            </a:r>
            <a:r>
              <a:rPr lang="en-GB"/>
              <a:t>using</a:t>
            </a:r>
            <a:r>
              <a:rPr lang="en-GB"/>
              <a:t> a calculator</a:t>
            </a:r>
            <a:endParaRPr/>
          </a:p>
        </p:txBody>
      </p:sp>
      <p:sp>
        <p:nvSpPr>
          <p:cNvPr id="225" name="Google Shape;22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468000" y="1057200"/>
            <a:ext cx="66240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Evaluate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.7\times10^4\ =\ 17\ 000&quot;&gt;&lt;mn&gt;1.7&lt;/mn&gt;&lt;mo&gt;×&lt;/mo&gt;&lt;msup&gt;&lt;mn&gt;10&lt;/mn&gt;&lt;mn&gt;4&lt;/mn&gt;&lt;/msup&gt;&lt;mtext&gt;&lt;/mtext&gt;&lt;mo&gt;=&lt;/mo&gt;&lt;mtext&gt;&lt;/mtext&gt;&lt;mn&gt;17&lt;/mn&gt;&lt;mtext&gt;&lt;/mtext&gt;&lt;mn&gt;000&lt;/mn&gt;&lt;/math&gt;" id="227" name="Google Shape;227;p22" title="1.7 times 10 to the fourth power equals 17 000"/>
          <p:cNvPicPr preferRelativeResize="0"/>
          <p:nvPr/>
        </p:nvPicPr>
        <p:blipFill rotWithShape="1">
          <a:blip r:embed="rId3">
            <a:alphaModFix/>
          </a:blip>
          <a:srcRect b="0" l="0" r="35979" t="0"/>
          <a:stretch/>
        </p:blipFill>
        <p:spPr>
          <a:xfrm>
            <a:off x="836453" y="1376650"/>
            <a:ext cx="1694925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9\times10^8-\ 2.6\times10^{7\ }=\ 364\ 000\ 000&quot;&gt;&lt;mn&gt;3.9&lt;/mn&gt;&lt;mo&gt;×&lt;/mo&gt;&lt;msup&gt;&lt;mn&gt;10&lt;/mn&gt;&lt;mn&gt;8&lt;/mn&gt;&lt;/msup&gt;&lt;mo&gt;−&lt;/mo&gt;&lt;mtext&gt;&lt;/mtext&gt;&lt;mn&gt;2.6&lt;/mn&gt;&lt;mo&gt;×&lt;/mo&gt;&lt;msup&gt;&lt;mn&gt;10&lt;/mn&gt;&lt;mrow data-mjx-texclass=&quot;ORD&quot;&gt;&lt;mn&gt;7&lt;/mn&gt;&lt;mtext&gt;&lt;/mtext&gt;&lt;/mrow&gt;&lt;/msup&gt;&lt;mo&gt;=&lt;/mo&gt;&lt;mtext&gt;&lt;/mtext&gt;&lt;mn&gt;364&lt;/mn&gt;&lt;mtext&gt;&lt;/mtext&gt;&lt;mn&gt;000&lt;/mn&gt;&lt;mtext&gt;&lt;/mtext&gt;&lt;mn&gt;000&lt;/mn&gt;&lt;/math&gt;" id="228" name="Google Shape;228;p22" title="3.9 times 10 to the eighth power minus 2.6 times 10 raised to the 7 power equals 364 000 000"/>
          <p:cNvPicPr preferRelativeResize="0"/>
          <p:nvPr/>
        </p:nvPicPr>
        <p:blipFill rotWithShape="1">
          <a:blip r:embed="rId4">
            <a:alphaModFix/>
          </a:blip>
          <a:srcRect b="0" l="0" r="32768" t="0"/>
          <a:stretch/>
        </p:blipFill>
        <p:spPr>
          <a:xfrm>
            <a:off x="810250" y="2092000"/>
            <a:ext cx="3786126" cy="33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.2\times10^2+1.2\times10^3+1.2\times10^4=\ 13\ 320&quot;&gt;&lt;mn&gt;1.2&lt;/mn&gt;&lt;mo&gt;×&lt;/mo&gt;&lt;msup&gt;&lt;mn&gt;10&lt;/mn&gt;&lt;mn&gt;2&lt;/mn&gt;&lt;/msup&gt;&lt;mo&gt;+&lt;/mo&gt;&lt;mn&gt;1.2&lt;/mn&gt;&lt;mo&gt;×&lt;/mo&gt;&lt;msup&gt;&lt;mn&gt;10&lt;/mn&gt;&lt;mn&gt;3&lt;/mn&gt;&lt;/msup&gt;&lt;mo&gt;+&lt;/mo&gt;&lt;mn&gt;1.2&lt;/mn&gt;&lt;mo&gt;×&lt;/mo&gt;&lt;msup&gt;&lt;mn&gt;10&lt;/mn&gt;&lt;mn&gt;4&lt;/mn&gt;&lt;/msup&gt;&lt;mo&gt;=&lt;/mo&gt;&lt;mtext&gt;&lt;/mtext&gt;&lt;mn&gt;13&lt;/mn&gt;&lt;mtext&gt;&lt;/mtext&gt;&lt;mn&gt;320&lt;/mn&gt;&lt;/math&gt;" id="229" name="Google Shape;229;p22" title="1.2 times 10 squared plus 1.2 times 10 cubed plus 1.2 times 10 to the fourth power equals 13 320"/>
          <p:cNvPicPr preferRelativeResize="0"/>
          <p:nvPr/>
        </p:nvPicPr>
        <p:blipFill rotWithShape="1">
          <a:blip r:embed="rId5">
            <a:alphaModFix/>
          </a:blip>
          <a:srcRect b="0" l="0" r="15952" t="0"/>
          <a:stretch/>
        </p:blipFill>
        <p:spPr>
          <a:xfrm>
            <a:off x="810250" y="2839300"/>
            <a:ext cx="5279649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× 10</a:t>
            </a:r>
            <a:r>
              <a:rPr b="1"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button on a calculator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468000" y="1376650"/>
            <a:ext cx="4080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68000" y="3676088"/>
            <a:ext cx="8237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missing exponents.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2277050" y="6053338"/>
            <a:ext cx="488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8898" y="6053348"/>
            <a:ext cx="2674040" cy="12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6450" y="4335296"/>
            <a:ext cx="2647400" cy="1229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35075" y="4335297"/>
            <a:ext cx="2656919" cy="12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4152625" y="4357688"/>
            <a:ext cx="488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68000" y="4357688"/>
            <a:ext cx="4887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88952" y="4517665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64407" y="4517665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1" name="Google Shape;241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70352" y="4487376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2" name="Google Shape;242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60952" y="4563576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3" name="Google Shape;243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41552" y="6255120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4" name="Google Shape;24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2152" y="6255598"/>
            <a:ext cx="114625" cy="162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