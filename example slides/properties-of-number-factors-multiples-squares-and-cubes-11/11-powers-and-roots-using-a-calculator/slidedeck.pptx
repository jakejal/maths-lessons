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7fb31b97b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7fb31b97b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7fe6e1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7fe6e1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7fe6e153b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7fe6e153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87fe6e153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87fe6e153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87fe6e153b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87fe6e153b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87fe6e153b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87fe6e153b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87fe6e153b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87fe6e153b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87fe6e153b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87fe6e153b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87fe6e153b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87fe6e153b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87fe6e153b_5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87fe6e153b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87fe6e153b_5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87fe6e153b_5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87fe6e153b_5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87fe6e153b_5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87fe6e153b_5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87fe6e153b_5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87fe6e153b_5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87fe6e153b_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87fe6e153b_5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87fe6e153b_5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87fe6e153b_5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87fe6e153b_5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87fe6e153b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87fe6e153b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87fe6e153b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87fe6e153b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87fe6e153b_5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87fe6e153b_5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87fe6e153b_5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87fe6e153b_5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87fe6e153b_5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87fe6e153b_5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87fe6e153b_5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87fe6e153b_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87fe6e153b_5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87fe6e153b_5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87fe6e153b_5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87fe6e153b_5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87fe6e153b_5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87fe6e153b_5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87fe6e153b_5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7fe6e153b_5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87fe6e153b_5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87fe6e153b_5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87fe6e153b_5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87fe6e153b_5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87fe6e153b_5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87fe6e153b_5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87fe6e153b_5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87fe6e153b_5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87fe6e153b_5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87fe6e153b_5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87fe6e153b_5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87fe6e153b_5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87fe6e153b_5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87fe6e153b_5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87fb31b9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87fb31b9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90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0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0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41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7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6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Relationship Id="rId5" Type="http://schemas.openxmlformats.org/officeDocument/2006/relationships/image" Target="../media/image60.png"/><Relationship Id="rId6" Type="http://schemas.openxmlformats.org/officeDocument/2006/relationships/image" Target="../media/image67.png"/><Relationship Id="rId7" Type="http://schemas.openxmlformats.org/officeDocument/2006/relationships/image" Target="../media/image6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9.png"/><Relationship Id="rId4" Type="http://schemas.openxmlformats.org/officeDocument/2006/relationships/image" Target="../media/image91.png"/><Relationship Id="rId5" Type="http://schemas.openxmlformats.org/officeDocument/2006/relationships/image" Target="../media/image95.png"/><Relationship Id="rId6" Type="http://schemas.openxmlformats.org/officeDocument/2006/relationships/image" Target="../media/image92.png"/><Relationship Id="rId7" Type="http://schemas.openxmlformats.org/officeDocument/2006/relationships/image" Target="../media/image9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Relationship Id="rId6" Type="http://schemas.openxmlformats.org/officeDocument/2006/relationships/image" Target="../media/image10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7.png"/><Relationship Id="rId4" Type="http://schemas.openxmlformats.org/officeDocument/2006/relationships/image" Target="../media/image43.png"/><Relationship Id="rId5" Type="http://schemas.openxmlformats.org/officeDocument/2006/relationships/image" Target="../media/image101.png"/><Relationship Id="rId6" Type="http://schemas.openxmlformats.org/officeDocument/2006/relationships/image" Target="../media/image98.png"/><Relationship Id="rId7" Type="http://schemas.openxmlformats.org/officeDocument/2006/relationships/image" Target="../media/image10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Relationship Id="rId6" Type="http://schemas.openxmlformats.org/officeDocument/2006/relationships/image" Target="../media/image10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Relationship Id="rId4" Type="http://schemas.openxmlformats.org/officeDocument/2006/relationships/image" Target="../media/image43.png"/><Relationship Id="rId5" Type="http://schemas.openxmlformats.org/officeDocument/2006/relationships/image" Target="../media/image101.png"/><Relationship Id="rId6" Type="http://schemas.openxmlformats.org/officeDocument/2006/relationships/image" Target="../media/image98.png"/><Relationship Id="rId7" Type="http://schemas.openxmlformats.org/officeDocument/2006/relationships/image" Target="../media/image100.png"/><Relationship Id="rId8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1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109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Relationship Id="rId7" Type="http://schemas.openxmlformats.org/officeDocument/2006/relationships/image" Target="../media/image110.png"/><Relationship Id="rId8" Type="http://schemas.openxmlformats.org/officeDocument/2006/relationships/image" Target="../media/image10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111.png"/><Relationship Id="rId5" Type="http://schemas.openxmlformats.org/officeDocument/2006/relationships/image" Target="../media/image104.png"/><Relationship Id="rId6" Type="http://schemas.openxmlformats.org/officeDocument/2006/relationships/image" Target="../media/image114.png"/><Relationship Id="rId7" Type="http://schemas.openxmlformats.org/officeDocument/2006/relationships/image" Target="../media/image113.png"/><Relationship Id="rId8" Type="http://schemas.openxmlformats.org/officeDocument/2006/relationships/image" Target="../media/image1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6.png"/><Relationship Id="rId4" Type="http://schemas.openxmlformats.org/officeDocument/2006/relationships/image" Target="../media/image1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6.png"/><Relationship Id="rId4" Type="http://schemas.openxmlformats.org/officeDocument/2006/relationships/image" Target="../media/image120.png"/><Relationship Id="rId5" Type="http://schemas.openxmlformats.org/officeDocument/2006/relationships/image" Target="../media/image1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6.png"/><Relationship Id="rId4" Type="http://schemas.openxmlformats.org/officeDocument/2006/relationships/image" Target="../media/image120.png"/><Relationship Id="rId5" Type="http://schemas.openxmlformats.org/officeDocument/2006/relationships/image" Target="../media/image1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83.png"/><Relationship Id="rId6" Type="http://schemas.openxmlformats.org/officeDocument/2006/relationships/image" Target="../media/image1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251850"/>
            <a:ext cx="5502000" cy="23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22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keys for squares and other powers and square root on a calculator.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174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Evaluate</a:t>
            </a:r>
            <a:r>
              <a:rPr b="0" lang="en-GB"/>
              <a:t> means to find the value of a numerical or an algebraic expression.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89120" y="2065238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406975" y="260523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Evaluate</a:t>
            </a:r>
            <a:endParaRPr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406975" y="2992838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100 </a:t>
            </a:r>
            <a:r>
              <a:rPr b="0" lang="en-GB"/>
              <a:t>÷ 2  + 5</a:t>
            </a:r>
            <a:endParaRPr b="0"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2115913" y="2999961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= 55</a:t>
            </a:r>
            <a:endParaRPr b="0"/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5218895" y="2065238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5236750" y="260523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Evaluate</a:t>
            </a:r>
            <a:endParaRPr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6382363" y="3526261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= 16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sqrt{64}+2^{3}&quot;&gt;&lt;msqrt&gt;&lt;mn&gt;64&lt;/mn&gt;&lt;/msqrt&gt;&lt;mo&gt;+&lt;/mo&gt;&lt;msup&gt;&lt;mn&gt;2&lt;/mn&gt;&lt;mrow data-mjx-texclass=&quot;ORD&quot;&gt;&lt;mn&gt;3&lt;/mn&gt;&lt;/mrow&gt;&lt;/msup&gt;&lt;/math&gt;" id="774" name="Google Shape;774;p67" title="the square root of 64 plus 2 cub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750" y="3076150"/>
            <a:ext cx="1145625" cy="3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7"/>
          <p:cNvSpPr txBox="1"/>
          <p:nvPr>
            <p:ph idx="1" type="subTitle"/>
          </p:nvPr>
        </p:nvSpPr>
        <p:spPr>
          <a:xfrm>
            <a:off x="5542250" y="3526250"/>
            <a:ext cx="962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8 </a:t>
            </a:r>
            <a:r>
              <a:rPr b="0" lang="en-GB"/>
              <a:t> + 8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Evaluate using s</a:t>
            </a:r>
            <a:r>
              <a:rPr lang="en-GB"/>
              <a:t>quare and square root buttons</a:t>
            </a:r>
            <a:endParaRPr/>
          </a:p>
        </p:txBody>
      </p:sp>
      <p:sp>
        <p:nvSpPr>
          <p:cNvPr id="781" name="Google Shape;781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Evaluate using exponents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</a:t>
            </a:r>
            <a:r>
              <a:rPr lang="en-GB"/>
              <a:t>button on a calculator</a:t>
            </a:r>
            <a:endParaRPr/>
          </a:p>
        </p:txBody>
      </p:sp>
      <p:sp>
        <p:nvSpPr>
          <p:cNvPr id="783" name="Google Shape;783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71" y="17525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5222000" y="1487400"/>
            <a:ext cx="2760900" cy="24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lots of different scientific calculators, but all have very similar functionality and notation.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5554325" y="892900"/>
            <a:ext cx="2760900" cy="11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“square” button. It will square the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70"/>
          <p:cNvSpPr txBox="1"/>
          <p:nvPr>
            <p:ph idx="4294967295" type="subTitle"/>
          </p:nvPr>
        </p:nvSpPr>
        <p:spPr>
          <a:xfrm>
            <a:off x="4935016" y="314358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500"/>
              <a:t>Evaluate</a:t>
            </a:r>
            <a:endParaRPr b="1" sz="2500"/>
          </a:p>
        </p:txBody>
      </p:sp>
      <p:sp>
        <p:nvSpPr>
          <p:cNvPr id="799" name="Google Shape;799;p70"/>
          <p:cNvSpPr txBox="1"/>
          <p:nvPr>
            <p:ph idx="4294967295" type="subTitle"/>
          </p:nvPr>
        </p:nvSpPr>
        <p:spPr>
          <a:xfrm>
            <a:off x="4928082" y="2533388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id="800" name="Google Shape;80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7973" y="3025684"/>
            <a:ext cx="38010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 txBox="1"/>
          <p:nvPr>
            <p:ph idx="4294967295" type="subTitle"/>
          </p:nvPr>
        </p:nvSpPr>
        <p:spPr>
          <a:xfrm>
            <a:off x="4953725" y="3877025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</a:t>
            </a:r>
            <a:endParaRPr/>
          </a:p>
        </p:txBody>
      </p:sp>
      <p:pic>
        <p:nvPicPr>
          <p:cNvPr id="802" name="Google Shape;80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397" y="3783200"/>
            <a:ext cx="1301097" cy="4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4476" y="1119518"/>
            <a:ext cx="1816376" cy="851928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4" name="Google Shape;804;p70"/>
          <p:cNvSpPr txBox="1"/>
          <p:nvPr>
            <p:ph idx="4294967295" type="subTitle"/>
          </p:nvPr>
        </p:nvSpPr>
        <p:spPr>
          <a:xfrm>
            <a:off x="6930969" y="3102775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/>
              <a:t>= 25</a:t>
            </a:r>
            <a:endParaRPr sz="2700"/>
          </a:p>
        </p:txBody>
      </p:sp>
      <p:grpSp>
        <p:nvGrpSpPr>
          <p:cNvPr id="805" name="Google Shape;805;p70"/>
          <p:cNvGrpSpPr/>
          <p:nvPr/>
        </p:nvGrpSpPr>
        <p:grpSpPr>
          <a:xfrm>
            <a:off x="3537875" y="892900"/>
            <a:ext cx="1839275" cy="1945900"/>
            <a:chOff x="3537875" y="892900"/>
            <a:chExt cx="1839275" cy="1945900"/>
          </a:xfrm>
        </p:grpSpPr>
        <p:cxnSp>
          <p:nvCxnSpPr>
            <p:cNvPr id="806" name="Google Shape;806;p70"/>
            <p:cNvCxnSpPr/>
            <p:nvPr/>
          </p:nvCxnSpPr>
          <p:spPr>
            <a:xfrm flipH="1" rot="10800000">
              <a:off x="3537875" y="1367600"/>
              <a:ext cx="1269900" cy="1471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807" name="Google Shape;807;p7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748500" y="892900"/>
              <a:ext cx="628650" cy="60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8" name="Google Shape;80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1"/>
          <p:cNvSpPr txBox="1"/>
          <p:nvPr>
            <p:ph idx="1" type="body"/>
          </p:nvPr>
        </p:nvSpPr>
        <p:spPr>
          <a:xfrm>
            <a:off x="5554325" y="892900"/>
            <a:ext cx="2760900" cy="11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“square root” button. It finds the </a:t>
            </a:r>
            <a:r>
              <a:rPr lang="en-GB"/>
              <a:t>square</a:t>
            </a:r>
            <a:r>
              <a:rPr lang="en-GB"/>
              <a:t> root of any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 txBox="1"/>
          <p:nvPr>
            <p:ph idx="4294967295" type="subTitle"/>
          </p:nvPr>
        </p:nvSpPr>
        <p:spPr>
          <a:xfrm>
            <a:off x="4935016" y="337218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500"/>
              <a:t>Evaluate</a:t>
            </a:r>
            <a:endParaRPr b="1" sz="2500"/>
          </a:p>
        </p:txBody>
      </p:sp>
      <p:sp>
        <p:nvSpPr>
          <p:cNvPr id="816" name="Google Shape;816;p71"/>
          <p:cNvSpPr txBox="1"/>
          <p:nvPr>
            <p:ph idx="4294967295" type="subTitle"/>
          </p:nvPr>
        </p:nvSpPr>
        <p:spPr>
          <a:xfrm>
            <a:off x="4928082" y="2761988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817" name="Google Shape;817;p71"/>
          <p:cNvSpPr txBox="1"/>
          <p:nvPr>
            <p:ph idx="4294967295" type="subTitle"/>
          </p:nvPr>
        </p:nvSpPr>
        <p:spPr>
          <a:xfrm>
            <a:off x="4953725" y="4105625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3136}&quot;&gt;&lt;msqrt&gt;&lt;mn&gt;3136&lt;/mn&gt;&lt;/msqrt&gt;&lt;/math&gt;" id="818" name="Google Shape;818;p71" title="the square root of 3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2350" y="3372200"/>
            <a:ext cx="900056" cy="4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" name="Google Shape;819;p71"/>
          <p:cNvGrpSpPr/>
          <p:nvPr/>
        </p:nvGrpSpPr>
        <p:grpSpPr>
          <a:xfrm>
            <a:off x="5706011" y="4051463"/>
            <a:ext cx="2640537" cy="365188"/>
            <a:chOff x="5706011" y="4051463"/>
            <a:chExt cx="2640537" cy="365188"/>
          </a:xfrm>
        </p:grpSpPr>
        <p:pic>
          <p:nvPicPr>
            <p:cNvPr id="820" name="Google Shape;820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06011" y="4051463"/>
              <a:ext cx="2191125" cy="365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97125" y="4051475"/>
              <a:ext cx="449423" cy="365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2" name="Google Shape;822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18350" y="1128950"/>
            <a:ext cx="1817625" cy="82215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3" name="Google Shape;823;p71"/>
          <p:cNvSpPr txBox="1"/>
          <p:nvPr>
            <p:ph idx="4294967295" type="subTitle"/>
          </p:nvPr>
        </p:nvSpPr>
        <p:spPr>
          <a:xfrm>
            <a:off x="7459194" y="3328600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= 56</a:t>
            </a:r>
            <a:endParaRPr sz="2600"/>
          </a:p>
        </p:txBody>
      </p:sp>
      <p:grpSp>
        <p:nvGrpSpPr>
          <p:cNvPr id="824" name="Google Shape;824;p71"/>
          <p:cNvGrpSpPr/>
          <p:nvPr/>
        </p:nvGrpSpPr>
        <p:grpSpPr>
          <a:xfrm>
            <a:off x="2928311" y="1220925"/>
            <a:ext cx="2453314" cy="1617409"/>
            <a:chOff x="2928311" y="1220925"/>
            <a:chExt cx="2453314" cy="1617409"/>
          </a:xfrm>
        </p:grpSpPr>
        <p:cxnSp>
          <p:nvCxnSpPr>
            <p:cNvPr id="825" name="Google Shape;825;p71"/>
            <p:cNvCxnSpPr/>
            <p:nvPr/>
          </p:nvCxnSpPr>
          <p:spPr>
            <a:xfrm flipH="1" rot="10800000">
              <a:off x="2928311" y="1706134"/>
              <a:ext cx="1796100" cy="1132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826" name="Google Shape;826;p7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24400" y="1220925"/>
              <a:ext cx="657225" cy="638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7" name="Google Shape;82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175" y="821850"/>
            <a:ext cx="6286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3775" y="807550"/>
            <a:ext cx="6572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6^2=\ 2.4336&quot;&gt;&lt;msup&gt;&lt;mn&gt;1.56&lt;/mn&gt;&lt;mn&gt;2&lt;/mn&gt;&lt;/msup&gt;&lt;mo&gt;=&lt;/mo&gt;&lt;mtext&gt;&lt;/mtext&gt;&lt;mn&gt;2.4336&lt;/mn&gt;&lt;/math&gt;" id="835" name="Google Shape;835;p72" title="1.56 squared equals 2.43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1552" y="2791200"/>
            <a:ext cx="2222135" cy="347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.4336}=\ 1.56&quot;&gt;&lt;msqrt&gt;&lt;mn&gt;2.4336&lt;/mn&gt;&lt;/msqrt&gt;&lt;mo&gt;=&lt;/mo&gt;&lt;mtext&gt;&lt;/mtext&gt;&lt;mn&gt;1.56&lt;/mn&gt;&lt;/math&gt;" id="836" name="Google Shape;836;p72" title="the square root of 2.4336 equals 1.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9913" y="3606817"/>
            <a:ext cx="2176525" cy="425358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4455250" y="1563600"/>
            <a:ext cx="4261200" cy="11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Remember the inverse relationship between  “square” and “square root”.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38" name="Google Shape;83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 txBox="1"/>
          <p:nvPr>
            <p:ph idx="1" type="body"/>
          </p:nvPr>
        </p:nvSpPr>
        <p:spPr>
          <a:xfrm>
            <a:off x="4455250" y="1563600"/>
            <a:ext cx="4261200" cy="14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Also note that not all square roots of a number will be an integer. Only the square root of a perfect </a:t>
            </a:r>
            <a:r>
              <a:rPr lang="en-GB" sz="2000"/>
              <a:t>square</a:t>
            </a:r>
            <a:r>
              <a:rPr lang="en-GB" sz="2000"/>
              <a:t> will </a:t>
            </a:r>
            <a:r>
              <a:rPr b="1" lang="en-GB" sz="2000"/>
              <a:t>evaluate</a:t>
            </a:r>
            <a:r>
              <a:rPr lang="en-GB" sz="2000"/>
              <a:t> to an integer.</a:t>
            </a:r>
            <a:endParaRPr sz="2000"/>
          </a:p>
        </p:txBody>
      </p:sp>
      <p:pic>
        <p:nvPicPr>
          <p:cNvPr id="844" name="Google Shape;8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5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175" y="821850"/>
            <a:ext cx="6286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3775" y="807550"/>
            <a:ext cx="6572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44}=\ 12&quot;&gt;&lt;msqrt&gt;&lt;mn&gt;144&lt;/mn&gt;&lt;/msqrt&gt;&lt;mo&gt;=&lt;/mo&gt;&lt;mtext&gt;&lt;/mtext&gt;&lt;mn&gt;12&lt;/mn&gt;&lt;/math&gt;" id="847" name="Google Shape;847;p73" title="the square root of 144 equals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9783" y="3966248"/>
            <a:ext cx="1695661" cy="460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^2=\ 144&quot;&gt;&lt;msup&gt;&lt;mn&gt;12&lt;/mn&gt;&lt;mn&gt;2&lt;/mn&gt;&lt;/msup&gt;&lt;mo&gt;=&lt;/mo&gt;&lt;mtext&gt;&lt;/mtext&gt;&lt;mn&gt;144&lt;/mn&gt;&lt;/math&gt;" id="848" name="Google Shape;848;p73" title="12 squared equals 1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0794" y="3185771"/>
            <a:ext cx="1544688" cy="33383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>
            <p:ph idx="1" type="body"/>
          </p:nvPr>
        </p:nvSpPr>
        <p:spPr>
          <a:xfrm>
            <a:off x="324000" y="7593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missing numbers using your calculator. If your answer is a decimal, write all the digits from your calculator display.</a:t>
            </a:r>
            <a:endParaRPr/>
          </a:p>
        </p:txBody>
      </p:sp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300750" y="20829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7^2\ =\ 22.09&quot;&gt;&lt;msup&gt;&lt;mn&gt;4.7&lt;/mn&gt;&lt;mn&gt;2&lt;/mn&gt;&lt;/msup&gt;&lt;mtext&gt;&lt;/mtext&gt;&lt;mo&gt;=&lt;/mo&gt;&lt;mtext&gt;&lt;/mtext&gt;&lt;mn&gt;22.09&lt;/mn&gt;&lt;/math&gt;" id="856" name="Google Shape;856;p74" title="4.7 squared equals 22.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421" y="1852200"/>
            <a:ext cx="2846129" cy="4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252300" y="28241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 </a:t>
            </a:r>
            <a:r>
              <a:rPr b="1" lang="en-GB"/>
              <a:t>Evaluate</a:t>
            </a:r>
            <a:r>
              <a:rPr lang="en-GB"/>
              <a:t>     </a:t>
            </a:r>
            <a:endParaRPr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252300" y="356535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252300" y="432000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.4^2\ +\ 2.3^2\ =\ 34.45&quot;&gt;&lt;msup&gt;&lt;mn&gt;5.4&lt;/mn&gt;&lt;mn&gt;2&lt;/mn&gt;&lt;/msup&gt;&lt;mtext&gt;&lt;/mtext&gt;&lt;mo&gt;+&lt;/mo&gt;&lt;mtext&gt;&lt;/mtext&gt;&lt;msup&gt;&lt;mn&gt;2.3&lt;/mn&gt;&lt;mn&gt;2&lt;/mn&gt;&lt;/msup&gt;&lt;mtext&gt;&lt;/mtext&gt;&lt;mo&gt;=&lt;/mo&gt;&lt;mtext&gt;&lt;/mtext&gt;&lt;mn&gt;34.45&lt;/mn&gt;&lt;/math&gt;" id="860" name="Google Shape;860;p74" title="5.4 squared plus 2.3 squared equals 34.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9436" y="2510639"/>
            <a:ext cx="4509128" cy="479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.25}+23^2\ =\ 530.5&quot;&gt;&lt;msqrt&gt;&lt;mn&gt;2.25&lt;/mn&gt;&lt;/msqrt&gt;&lt;mo&gt;+&lt;/mo&gt;&lt;msup&gt;&lt;mn&gt;23&lt;/mn&gt;&lt;mn&gt;2&lt;/mn&gt;&lt;/msup&gt;&lt;mtext&gt;&lt;/mtext&gt;&lt;mo&gt;=&lt;/mo&gt;&lt;mtext&gt;&lt;/mtext&gt;&lt;mn&gt;530.5&lt;/mn&gt;&lt;/math&gt;" id="861" name="Google Shape;861;p74" title="the square root of 2.25 plus 23 squared equals 530.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8950" y="3304125"/>
            <a:ext cx="44061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.5^2+1.4^2\ =\ 74.21&quot;&gt;&lt;msup&gt;&lt;mn&gt;8.5&lt;/mn&gt;&lt;mn&gt;2&lt;/mn&gt;&lt;/msup&gt;&lt;mo&gt;+&lt;/mo&gt;&lt;msup&gt;&lt;mn&gt;1.4&lt;/mn&gt;&lt;mn&gt;2&lt;/mn&gt;&lt;/msup&gt;&lt;mtext&gt;&lt;/mtext&gt;&lt;mo&gt;=&lt;/mo&gt;&lt;mtext&gt;&lt;/mtext&gt;&lt;mn&gt;74.21&lt;/mn&gt;&lt;/math&gt;" id="862" name="Google Shape;862;p74" title="8.5 squared plus 1.4 squared equals 74.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2224" y="4231253"/>
            <a:ext cx="4219551" cy="47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4223" y="1821925"/>
            <a:ext cx="14810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8748" y="2593550"/>
            <a:ext cx="14810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5248" y="3348938"/>
            <a:ext cx="1481025" cy="52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6" name="Google Shape;866;p74"/>
          <p:cNvGrpSpPr/>
          <p:nvPr/>
        </p:nvGrpSpPr>
        <p:grpSpPr>
          <a:xfrm>
            <a:off x="2241679" y="4244821"/>
            <a:ext cx="802200" cy="523875"/>
            <a:chOff x="2241679" y="4244821"/>
            <a:chExt cx="802200" cy="523875"/>
          </a:xfrm>
        </p:grpSpPr>
        <p:pic>
          <p:nvPicPr>
            <p:cNvPr id="867" name="Google Shape;867;p7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41679" y="4244821"/>
              <a:ext cx="802150" cy="523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68" name="Google Shape;868;p74"/>
            <p:cNvCxnSpPr/>
            <p:nvPr/>
          </p:nvCxnSpPr>
          <p:spPr>
            <a:xfrm>
              <a:off x="2241679" y="4669614"/>
              <a:ext cx="802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869" name="Google Shape;86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5"/>
          <p:cNvSpPr txBox="1"/>
          <p:nvPr>
            <p:ph idx="4294967295" type="body"/>
          </p:nvPr>
        </p:nvSpPr>
        <p:spPr>
          <a:xfrm>
            <a:off x="300750" y="17781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1" lang="en-GB"/>
              <a:t>Evaluate</a:t>
            </a:r>
            <a:r>
              <a:rPr lang="en-GB"/>
              <a:t>     </a:t>
            </a:r>
            <a:endParaRPr/>
          </a:p>
        </p:txBody>
      </p:sp>
      <p:sp>
        <p:nvSpPr>
          <p:cNvPr id="875" name="Google Shape;875;p75"/>
          <p:cNvSpPr txBox="1"/>
          <p:nvPr>
            <p:ph idx="4294967295" type="body"/>
          </p:nvPr>
        </p:nvSpPr>
        <p:spPr>
          <a:xfrm>
            <a:off x="252300" y="25193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876" name="Google Shape;876;p75"/>
          <p:cNvSpPr txBox="1"/>
          <p:nvPr>
            <p:ph idx="4294967295" type="body"/>
          </p:nvPr>
        </p:nvSpPr>
        <p:spPr>
          <a:xfrm>
            <a:off x="252300" y="326055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877" name="Google Shape;877;p75"/>
          <p:cNvSpPr txBox="1"/>
          <p:nvPr>
            <p:ph idx="4294967295" type="body"/>
          </p:nvPr>
        </p:nvSpPr>
        <p:spPr>
          <a:xfrm>
            <a:off x="252300" y="401520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878" name="Google Shape;878;p75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following.</a:t>
            </a:r>
            <a:r>
              <a:rPr lang="en-GB"/>
              <a:t> If your answer is a decimal, write all the digits from your calculator display.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.45^2\ =\ 11.9025&quot;&gt;&lt;msup&gt;&lt;mn&gt;3.45&lt;/mn&gt;&lt;mn&gt;2&lt;/mn&gt;&lt;/msup&gt;&lt;mtext&gt;&lt;/mtext&gt;&lt;mo&gt;=&lt;/mo&gt;&lt;mtext&gt;&lt;/mtext&gt;&lt;mn&gt;11.9025&lt;/mn&gt;&lt;/math&gt;" id="879" name="Google Shape;879;p75" title="3.45 squared equals 11.9025"/>
          <p:cNvPicPr preferRelativeResize="0"/>
          <p:nvPr/>
        </p:nvPicPr>
        <p:blipFill rotWithShape="1">
          <a:blip r:embed="rId3">
            <a:alphaModFix/>
          </a:blip>
          <a:srcRect b="0" l="0" r="65717" t="0"/>
          <a:stretch/>
        </p:blipFill>
        <p:spPr>
          <a:xfrm>
            <a:off x="2492417" y="1675725"/>
            <a:ext cx="1106751" cy="4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^2\ +\ 13.4^2\ =\ 181&quot;&gt;&lt;msup&gt;&lt;mn&gt;1.2&lt;/mn&gt;&lt;mn&gt;2&lt;/mn&gt;&lt;/msup&gt;&lt;mtext&gt;&lt;/mtext&gt;&lt;mo&gt;+&lt;/mo&gt;&lt;mtext&gt;&lt;/mtext&gt;&lt;msup&gt;&lt;mn&gt;13.4&lt;/mn&gt;&lt;mn&gt;2&lt;/mn&gt;&lt;/msup&gt;&lt;mtext&gt;&lt;/mtext&gt;&lt;mo&gt;=&lt;/mo&gt;&lt;mtext&gt;&lt;/mtext&gt;&lt;mn&gt;181&lt;/mn&gt;&lt;/math&gt;" id="880" name="Google Shape;880;p75" title="1.2 squared plus 13.4 squared equals 181"/>
          <p:cNvPicPr preferRelativeResize="0"/>
          <p:nvPr/>
        </p:nvPicPr>
        <p:blipFill rotWithShape="1">
          <a:blip r:embed="rId4">
            <a:alphaModFix/>
          </a:blip>
          <a:srcRect b="0" l="0" r="33065" t="0"/>
          <a:stretch/>
        </p:blipFill>
        <p:spPr>
          <a:xfrm>
            <a:off x="2492426" y="2320125"/>
            <a:ext cx="2610975" cy="4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76.7376}-\ 2.3^2\ =\ 3.47&quot;&gt;&lt;msqrt&gt;&lt;mn&gt;76.7376&lt;/mn&gt;&lt;/msqrt&gt;&lt;mo&gt;−&lt;/mo&gt;&lt;mtext&gt;&lt;/mtext&gt;&lt;msup&gt;&lt;mn&gt;2.3&lt;/mn&gt;&lt;mn&gt;2&lt;/mn&gt;&lt;/msup&gt;&lt;mtext&gt;&lt;/mtext&gt;&lt;mo&gt;=&lt;/mo&gt;&lt;mtext&gt;&lt;/mtext&gt;&lt;mn&gt;3.47&lt;/mn&gt;&lt;/math&gt;" id="881" name="Google Shape;881;p75" title="the square root of 76.7376 minus 2.3 squared equals 3.47"/>
          <p:cNvPicPr preferRelativeResize="0"/>
          <p:nvPr/>
        </p:nvPicPr>
        <p:blipFill rotWithShape="1">
          <a:blip r:embed="rId5">
            <a:alphaModFix/>
          </a:blip>
          <a:srcRect b="0" l="0" r="28088" t="0"/>
          <a:stretch/>
        </p:blipFill>
        <p:spPr>
          <a:xfrm>
            <a:off x="2425178" y="3040725"/>
            <a:ext cx="3087699" cy="5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^2+12^2}\ =\ 15&quot;&gt;&lt;msqrt&gt;&lt;msup&gt;&lt;mn&gt;9&lt;/mn&gt;&lt;mn&gt;2&lt;/mn&gt;&lt;/msup&gt;&lt;mo&gt;+&lt;/mo&gt;&lt;msup&gt;&lt;mn&gt;12&lt;/mn&gt;&lt;mn&gt;2&lt;/mn&gt;&lt;/msup&gt;&lt;/msqrt&gt;&lt;mtext&gt;&lt;/mtext&gt;&lt;mo&gt;=&lt;/mo&gt;&lt;mtext&gt;&lt;/mtext&gt;&lt;mn&gt;15&lt;/mn&gt;&lt;/math&gt;" id="882" name="Google Shape;882;p75" title="the square root of 9 squared plus 12 squared equals 15"/>
          <p:cNvPicPr preferRelativeResize="0"/>
          <p:nvPr/>
        </p:nvPicPr>
        <p:blipFill rotWithShape="1">
          <a:blip r:embed="rId6">
            <a:alphaModFix/>
          </a:blip>
          <a:srcRect b="0" l="0" r="31257" t="0"/>
          <a:stretch/>
        </p:blipFill>
        <p:spPr>
          <a:xfrm>
            <a:off x="2441875" y="3854800"/>
            <a:ext cx="1993875" cy="5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5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6"/>
          <p:cNvSpPr txBox="1"/>
          <p:nvPr>
            <p:ph idx="1" type="body"/>
          </p:nvPr>
        </p:nvSpPr>
        <p:spPr>
          <a:xfrm>
            <a:off x="324000" y="759300"/>
            <a:ext cx="8237700" cy="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Using a calculator, work out the missing lengths of the following shaded areas. Each shape is a square.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6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6"/>
          <p:cNvSpPr/>
          <p:nvPr/>
        </p:nvSpPr>
        <p:spPr>
          <a:xfrm>
            <a:off x="1245600" y="2621100"/>
            <a:ext cx="860400" cy="86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6"/>
          <p:cNvSpPr/>
          <p:nvPr/>
        </p:nvSpPr>
        <p:spPr>
          <a:xfrm>
            <a:off x="3488075" y="1703700"/>
            <a:ext cx="1959600" cy="1959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6"/>
          <p:cNvSpPr/>
          <p:nvPr/>
        </p:nvSpPr>
        <p:spPr>
          <a:xfrm>
            <a:off x="6829750" y="2730450"/>
            <a:ext cx="641700" cy="641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 txBox="1"/>
          <p:nvPr>
            <p:ph idx="1" type="body"/>
          </p:nvPr>
        </p:nvSpPr>
        <p:spPr>
          <a:xfrm>
            <a:off x="696000" y="3736775"/>
            <a:ext cx="1959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127.69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894" name="Google Shape;894;p76"/>
          <p:cNvSpPr txBox="1"/>
          <p:nvPr>
            <p:ph idx="1" type="body"/>
          </p:nvPr>
        </p:nvSpPr>
        <p:spPr>
          <a:xfrm>
            <a:off x="3582775" y="3761250"/>
            <a:ext cx="1959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4.6225 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895" name="Google Shape;895;p76"/>
          <p:cNvSpPr txBox="1"/>
          <p:nvPr>
            <p:ph idx="1" type="body"/>
          </p:nvPr>
        </p:nvSpPr>
        <p:spPr>
          <a:xfrm>
            <a:off x="6073350" y="3449850"/>
            <a:ext cx="2295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0.00 000 1 m</a:t>
            </a:r>
            <a:r>
              <a:rPr baseline="30000" lang="en-GB" sz="1800"/>
              <a:t>2</a:t>
            </a:r>
            <a:endParaRPr baseline="30000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7"/>
          <p:cNvSpPr txBox="1"/>
          <p:nvPr>
            <p:ph idx="1" type="body"/>
          </p:nvPr>
        </p:nvSpPr>
        <p:spPr>
          <a:xfrm>
            <a:off x="324000" y="759300"/>
            <a:ext cx="8237700" cy="10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</a:t>
            </a:r>
            <a:r>
              <a:rPr lang="en-GB"/>
              <a:t>Using a calculator, explain why the following </a:t>
            </a:r>
            <a:r>
              <a:rPr b="1" lang="en-GB"/>
              <a:t>evaluate</a:t>
            </a:r>
            <a:r>
              <a:rPr lang="en-GB"/>
              <a:t> to the answer given.</a:t>
            </a:r>
            <a:endParaRPr/>
          </a:p>
        </p:txBody>
      </p:sp>
      <p:sp>
        <p:nvSpPr>
          <p:cNvPr id="901" name="Google Shape;901;p77"/>
          <p:cNvSpPr txBox="1"/>
          <p:nvPr>
            <p:ph idx="1" type="body"/>
          </p:nvPr>
        </p:nvSpPr>
        <p:spPr>
          <a:xfrm>
            <a:off x="324000" y="2062200"/>
            <a:ext cx="444600" cy="16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\sqrt{\sqrt{65\ 536}}}\ =\ 4&quot;&gt;&lt;msqrt&gt;&lt;msqrt&gt;&lt;msqrt&gt;&lt;mn&gt;65&lt;/mn&gt;&lt;mtext&gt;&lt;/mtext&gt;&lt;mn&gt;536&lt;/mn&gt;&lt;/msqrt&gt;&lt;/msqrt&gt;&lt;/msqrt&gt;&lt;mtext&gt;&lt;/mtext&gt;&lt;mo&gt;=&lt;/mo&gt;&lt;mtext&gt;&lt;/mtext&gt;&lt;mn&gt;4&lt;/mn&gt;&lt;/math&gt;" id="902" name="Google Shape;902;p77" title="the square root of the square root of the square root of 65 536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425" y="1778400"/>
            <a:ext cx="2825725" cy="8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53^2}=\ 53&quot;&gt;&lt;msqrt&gt;&lt;msup&gt;&lt;mn&gt;53&lt;/mn&gt;&lt;mn&gt;2&lt;/mn&gt;&lt;/msup&gt;&lt;/msqrt&gt;&lt;mo&gt;=&lt;/mo&gt;&lt;mtext&gt;&lt;/mtext&gt;&lt;mn&gt;53&lt;/mn&gt;&lt;/math&gt;" id="903" name="Google Shape;903;p77" title="the square root of 53 squared equals 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425" y="2980475"/>
            <a:ext cx="2383025" cy="6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7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8"/>
          <p:cNvSpPr txBox="1"/>
          <p:nvPr>
            <p:ph idx="4294967295" type="body"/>
          </p:nvPr>
        </p:nvSpPr>
        <p:spPr>
          <a:xfrm>
            <a:off x="300750" y="17781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1" lang="en-GB"/>
              <a:t>Evaluate</a:t>
            </a:r>
            <a:r>
              <a:rPr lang="en-GB"/>
              <a:t>     </a:t>
            </a:r>
            <a:endParaRPr/>
          </a:p>
        </p:txBody>
      </p:sp>
      <p:sp>
        <p:nvSpPr>
          <p:cNvPr id="910" name="Google Shape;910;p78"/>
          <p:cNvSpPr txBox="1"/>
          <p:nvPr>
            <p:ph idx="4294967295" type="body"/>
          </p:nvPr>
        </p:nvSpPr>
        <p:spPr>
          <a:xfrm>
            <a:off x="252300" y="326055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911" name="Google Shape;911;p78"/>
          <p:cNvSpPr txBox="1"/>
          <p:nvPr>
            <p:ph idx="4294967295" type="body"/>
          </p:nvPr>
        </p:nvSpPr>
        <p:spPr>
          <a:xfrm>
            <a:off x="252300" y="401520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912" name="Google Shape;912;p78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following. If your answer is a decimal, write all the digits from your calculator display.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.45^2\ =\ 11.9025&quot;&gt;&lt;msup&gt;&lt;mn&gt;3.45&lt;/mn&gt;&lt;mn&gt;2&lt;/mn&gt;&lt;/msup&gt;&lt;mtext&gt;&lt;/mtext&gt;&lt;mo&gt;=&lt;/mo&gt;&lt;mtext&gt;&lt;/mtext&gt;&lt;mn&gt;11.9025&lt;/mn&gt;&lt;/math&gt;" id="913" name="Google Shape;913;p78" title="3.45 squared equals 11.9025"/>
          <p:cNvPicPr preferRelativeResize="0"/>
          <p:nvPr/>
        </p:nvPicPr>
        <p:blipFill rotWithShape="1">
          <a:blip r:embed="rId3">
            <a:alphaModFix/>
          </a:blip>
          <a:srcRect b="0" l="0" r="48299" t="0"/>
          <a:stretch/>
        </p:blipFill>
        <p:spPr>
          <a:xfrm>
            <a:off x="2492419" y="1675725"/>
            <a:ext cx="1669050" cy="4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^2\ +\ 13.4^2\ =\ 181&quot;&gt;&lt;msup&gt;&lt;mn&gt;1.2&lt;/mn&gt;&lt;mn&gt;2&lt;/mn&gt;&lt;/msup&gt;&lt;mtext&gt;&lt;/mtext&gt;&lt;mo&gt;+&lt;/mo&gt;&lt;mtext&gt;&lt;/mtext&gt;&lt;msup&gt;&lt;mn&gt;13.4&lt;/mn&gt;&lt;mn&gt;2&lt;/mn&gt;&lt;/msup&gt;&lt;mtext&gt;&lt;/mtext&gt;&lt;mo&gt;=&lt;/mo&gt;&lt;mtext&gt;&lt;/mtext&gt;&lt;mn&gt;181&lt;/mn&gt;&lt;/math&gt;" id="914" name="Google Shape;914;p78" title="1.2 squared plus 13.4 squared equals 181"/>
          <p:cNvPicPr preferRelativeResize="0"/>
          <p:nvPr/>
        </p:nvPicPr>
        <p:blipFill rotWithShape="1">
          <a:blip r:embed="rId4">
            <a:alphaModFix/>
          </a:blip>
          <a:srcRect b="0" l="0" r="19762" t="0"/>
          <a:stretch/>
        </p:blipFill>
        <p:spPr>
          <a:xfrm>
            <a:off x="2492426" y="2320125"/>
            <a:ext cx="3129925" cy="4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76.7376}-\ 2.3^2\ =\ 3.47&quot;&gt;&lt;msqrt&gt;&lt;mn&gt;76.7376&lt;/mn&gt;&lt;/msqrt&gt;&lt;mo&gt;−&lt;/mo&gt;&lt;mtext&gt;&lt;/mtext&gt;&lt;msup&gt;&lt;mn&gt;2.3&lt;/mn&gt;&lt;mn&gt;2&lt;/mn&gt;&lt;/msup&gt;&lt;mtext&gt;&lt;/mtext&gt;&lt;mo&gt;=&lt;/mo&gt;&lt;mtext&gt;&lt;/mtext&gt;&lt;mn&gt;3.47&lt;/mn&gt;&lt;/math&gt;" id="915" name="Google Shape;915;p78" title="the square root of 76.7376 minus 2.3 squared equals 3.47"/>
          <p:cNvPicPr preferRelativeResize="0"/>
          <p:nvPr/>
        </p:nvPicPr>
        <p:blipFill rotWithShape="1">
          <a:blip r:embed="rId5">
            <a:alphaModFix/>
          </a:blip>
          <a:srcRect b="0" l="0" r="18447" t="0"/>
          <a:stretch/>
        </p:blipFill>
        <p:spPr>
          <a:xfrm>
            <a:off x="2425177" y="3040725"/>
            <a:ext cx="3501526" cy="5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^2+12^2}\ =\ 15&quot;&gt;&lt;msqrt&gt;&lt;msup&gt;&lt;mn&gt;9&lt;/mn&gt;&lt;mn&gt;2&lt;/mn&gt;&lt;/msup&gt;&lt;mo&gt;+&lt;/mo&gt;&lt;msup&gt;&lt;mn&gt;12&lt;/mn&gt;&lt;mn&gt;2&lt;/mn&gt;&lt;/msup&gt;&lt;/msqrt&gt;&lt;mtext&gt;&lt;/mtext&gt;&lt;mo&gt;=&lt;/mo&gt;&lt;mtext&gt;&lt;/mtext&gt;&lt;mn&gt;15&lt;/mn&gt;&lt;/math&gt;" id="916" name="Google Shape;916;p78" title="the square root of 9 squared plus 12 squared equals 15"/>
          <p:cNvPicPr preferRelativeResize="0"/>
          <p:nvPr/>
        </p:nvPicPr>
        <p:blipFill rotWithShape="1">
          <a:blip r:embed="rId6">
            <a:alphaModFix/>
          </a:blip>
          <a:srcRect b="0" l="0" r="17871" t="0"/>
          <a:stretch/>
        </p:blipFill>
        <p:spPr>
          <a:xfrm>
            <a:off x="2441875" y="3854800"/>
            <a:ext cx="2382125" cy="5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8"/>
          <p:cNvSpPr txBox="1"/>
          <p:nvPr>
            <p:ph idx="4294967295" type="body"/>
          </p:nvPr>
        </p:nvSpPr>
        <p:spPr>
          <a:xfrm>
            <a:off x="252300" y="25193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918" name="Google Shape;918;p78"/>
          <p:cNvSpPr txBox="1"/>
          <p:nvPr/>
        </p:nvSpPr>
        <p:spPr>
          <a:xfrm>
            <a:off x="4320012" y="1666825"/>
            <a:ext cx="17253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11.9025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8"/>
          <p:cNvSpPr txBox="1"/>
          <p:nvPr/>
        </p:nvSpPr>
        <p:spPr>
          <a:xfrm>
            <a:off x="5702777" y="2320088"/>
            <a:ext cx="8316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181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8"/>
          <p:cNvSpPr txBox="1"/>
          <p:nvPr/>
        </p:nvSpPr>
        <p:spPr>
          <a:xfrm>
            <a:off x="5926696" y="3057450"/>
            <a:ext cx="105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3.47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1" name="Google Shape;921;p78"/>
          <p:cNvSpPr txBox="1"/>
          <p:nvPr/>
        </p:nvSpPr>
        <p:spPr>
          <a:xfrm>
            <a:off x="5001650" y="3845975"/>
            <a:ext cx="620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2" name="Google Shape;922;p78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9"/>
          <p:cNvSpPr txBox="1"/>
          <p:nvPr>
            <p:ph idx="1" type="body"/>
          </p:nvPr>
        </p:nvSpPr>
        <p:spPr>
          <a:xfrm>
            <a:off x="324000" y="759300"/>
            <a:ext cx="8237700" cy="11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Using a calculator, work out the missing lengths of the following shaded areas. Each shape is a square.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9"/>
          <p:cNvSpPr/>
          <p:nvPr/>
        </p:nvSpPr>
        <p:spPr>
          <a:xfrm>
            <a:off x="6704500" y="2460725"/>
            <a:ext cx="461700" cy="461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>
            <p:ph idx="1" type="body"/>
          </p:nvPr>
        </p:nvSpPr>
        <p:spPr>
          <a:xfrm>
            <a:off x="3430375" y="3380250"/>
            <a:ext cx="1959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4.6225 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930" name="Google Shape;930;p79"/>
          <p:cNvSpPr txBox="1"/>
          <p:nvPr>
            <p:ph idx="1" type="body"/>
          </p:nvPr>
        </p:nvSpPr>
        <p:spPr>
          <a:xfrm>
            <a:off x="5920950" y="3068850"/>
            <a:ext cx="2295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0.00 000 1 m</a:t>
            </a:r>
            <a:r>
              <a:rPr baseline="30000" lang="en-GB" sz="1800"/>
              <a:t>2</a:t>
            </a:r>
            <a:endParaRPr baseline="30000" sz="1800"/>
          </a:p>
        </p:txBody>
      </p:sp>
      <p:pic>
        <p:nvPicPr>
          <p:cNvPr descr="&lt;math xmlns=&quot;http://www.w3.org/1998/Math/MathML&quot; display=&quot;block&quot; data-is-equatio=&quot;1&quot; data-latex=&quot;\sqrt{127.69}\ =\ 11.3cm&quot;&gt;&lt;msqrt&gt;&lt;mn&gt;127.69&lt;/mn&gt;&lt;/msqrt&gt;&lt;mtext&gt;&lt;/mtext&gt;&lt;mo&gt;=&lt;/mo&gt;&lt;mtext&gt;&lt;/mtext&gt;&lt;mn&gt;11.3&lt;/mn&gt;&lt;mi&gt;c&lt;/mi&gt;&lt;mi&gt;m&lt;/mi&gt;&lt;/math&gt;" id="931" name="Google Shape;931;p79" title="the square root of 127.69 equals 11.3 c m"/>
          <p:cNvPicPr preferRelativeResize="0"/>
          <p:nvPr/>
        </p:nvPicPr>
        <p:blipFill rotWithShape="1">
          <a:blip r:embed="rId3">
            <a:alphaModFix/>
          </a:blip>
          <a:srcRect b="0" l="0" r="54191" t="0"/>
          <a:stretch/>
        </p:blipFill>
        <p:spPr>
          <a:xfrm>
            <a:off x="1624375" y="3885400"/>
            <a:ext cx="1032450" cy="3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9"/>
          <p:cNvSpPr txBox="1"/>
          <p:nvPr>
            <p:ph idx="1" type="body"/>
          </p:nvPr>
        </p:nvSpPr>
        <p:spPr>
          <a:xfrm>
            <a:off x="543600" y="3915925"/>
            <a:ext cx="11004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9"/>
          <p:cNvSpPr txBox="1"/>
          <p:nvPr>
            <p:ph idx="1" type="body"/>
          </p:nvPr>
        </p:nvSpPr>
        <p:spPr>
          <a:xfrm>
            <a:off x="543600" y="4317950"/>
            <a:ext cx="21132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  11.3 cm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9"/>
          <p:cNvSpPr txBox="1"/>
          <p:nvPr>
            <p:ph idx="1" type="body"/>
          </p:nvPr>
        </p:nvSpPr>
        <p:spPr>
          <a:xfrm>
            <a:off x="3386225" y="3856875"/>
            <a:ext cx="11004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9"/>
          <p:cNvSpPr txBox="1"/>
          <p:nvPr>
            <p:ph idx="1" type="body"/>
          </p:nvPr>
        </p:nvSpPr>
        <p:spPr>
          <a:xfrm>
            <a:off x="3386225" y="4258900"/>
            <a:ext cx="1959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  2.15 m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4.6225}\ =\ 2.15m&quot;&gt;&lt;msqrt&gt;&lt;mn&gt;4.6225&lt;/mn&gt;&lt;/msqrt&gt;&lt;mtext&gt;&lt;/mtext&gt;&lt;mo&gt;=&lt;/mo&gt;&lt;mtext&gt;&lt;/mtext&gt;&lt;mn&gt;2.15&lt;/mn&gt;&lt;mi&gt;m&lt;/mi&gt;&lt;/math&gt;" id="936" name="Google Shape;936;p79" title="the square root of 4.6225 equals 2.15 m"/>
          <p:cNvPicPr preferRelativeResize="0"/>
          <p:nvPr/>
        </p:nvPicPr>
        <p:blipFill rotWithShape="1">
          <a:blip r:embed="rId4">
            <a:alphaModFix/>
          </a:blip>
          <a:srcRect b="0" l="0" r="52038" t="0"/>
          <a:stretch/>
        </p:blipFill>
        <p:spPr>
          <a:xfrm>
            <a:off x="4441375" y="3872650"/>
            <a:ext cx="916800" cy="3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9"/>
          <p:cNvSpPr txBox="1"/>
          <p:nvPr>
            <p:ph idx="1" type="body"/>
          </p:nvPr>
        </p:nvSpPr>
        <p:spPr>
          <a:xfrm>
            <a:off x="5900825" y="3475875"/>
            <a:ext cx="11004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9"/>
          <p:cNvSpPr txBox="1"/>
          <p:nvPr>
            <p:ph idx="1" type="body"/>
          </p:nvPr>
        </p:nvSpPr>
        <p:spPr>
          <a:xfrm>
            <a:off x="5900825" y="3877900"/>
            <a:ext cx="2295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=  0.001 m 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0.00\ 000\ 1}\ =\ 0.001m&quot;&gt;&lt;msqrt&gt;&lt;mn&gt;0.00&lt;/mn&gt;&lt;mtext&gt;&lt;/mtext&gt;&lt;mn&gt;000&lt;/mn&gt;&lt;mtext&gt;&lt;/mtext&gt;&lt;mn&gt;1&lt;/mn&gt;&lt;/msqrt&gt;&lt;mtext&gt;&lt;/mtext&gt;&lt;mo&gt;=&lt;/mo&gt;&lt;mtext&gt;&lt;/mtext&gt;&lt;mn&gt;0.001&lt;/mn&gt;&lt;mi&gt;m&lt;/mi&gt;&lt;/math&gt;" id="939" name="Google Shape;939;p79" title="the square root of 0.00 000 1 equals 0.001 m"/>
          <p:cNvPicPr preferRelativeResize="0"/>
          <p:nvPr/>
        </p:nvPicPr>
        <p:blipFill rotWithShape="1">
          <a:blip r:embed="rId5">
            <a:alphaModFix/>
          </a:blip>
          <a:srcRect b="0" l="0" r="46300" t="0"/>
          <a:stretch/>
        </p:blipFill>
        <p:spPr>
          <a:xfrm>
            <a:off x="6864819" y="3475875"/>
            <a:ext cx="1304174" cy="3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9"/>
          <p:cNvSpPr txBox="1"/>
          <p:nvPr>
            <p:ph idx="1" type="body"/>
          </p:nvPr>
        </p:nvSpPr>
        <p:spPr>
          <a:xfrm>
            <a:off x="641725" y="3393875"/>
            <a:ext cx="1959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127.69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941" name="Google Shape;941;p79"/>
          <p:cNvSpPr/>
          <p:nvPr/>
        </p:nvSpPr>
        <p:spPr>
          <a:xfrm>
            <a:off x="1245600" y="2382674"/>
            <a:ext cx="818400" cy="788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/>
          <p:nvPr/>
        </p:nvSpPr>
        <p:spPr>
          <a:xfrm>
            <a:off x="3430376" y="1628925"/>
            <a:ext cx="1617000" cy="1617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9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0"/>
          <p:cNvSpPr txBox="1"/>
          <p:nvPr>
            <p:ph idx="1" type="body"/>
          </p:nvPr>
        </p:nvSpPr>
        <p:spPr>
          <a:xfrm>
            <a:off x="324000" y="759300"/>
            <a:ext cx="8237700" cy="10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Using a calculator, explain why the following </a:t>
            </a:r>
            <a:r>
              <a:rPr b="1" lang="en-GB"/>
              <a:t>evaluate </a:t>
            </a:r>
            <a:r>
              <a:rPr lang="en-GB"/>
              <a:t>to </a:t>
            </a:r>
            <a:r>
              <a:rPr lang="en-GB"/>
              <a:t>the answer given.</a:t>
            </a:r>
            <a:endParaRPr/>
          </a:p>
        </p:txBody>
      </p:sp>
      <p:sp>
        <p:nvSpPr>
          <p:cNvPr id="949" name="Google Shape;949;p80"/>
          <p:cNvSpPr txBox="1"/>
          <p:nvPr>
            <p:ph idx="2" type="subTitle"/>
          </p:nvPr>
        </p:nvSpPr>
        <p:spPr>
          <a:xfrm>
            <a:off x="384450" y="1778400"/>
            <a:ext cx="63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sqrt{\sqrt{65\ 536}}}\ =\ 4&quot;&gt;&lt;msqrt&gt;&lt;msqrt&gt;&lt;msqrt&gt;&lt;mn&gt;65&lt;/mn&gt;&lt;mtext&gt;&lt;/mtext&gt;&lt;mn&gt;536&lt;/mn&gt;&lt;/msqrt&gt;&lt;/msqrt&gt;&lt;/msqrt&gt;&lt;mtext&gt;&lt;/mtext&gt;&lt;mo&gt;=&lt;/mo&gt;&lt;mtext&gt;&lt;/mtext&gt;&lt;mn&gt;4&lt;/mn&gt;&lt;/math&gt;" id="950" name="Google Shape;950;p80" title="the square root of the square root of the square root of 65 536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425" y="1778400"/>
            <a:ext cx="2825725" cy="8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53^2}=\ 53&quot;&gt;&lt;msqrt&gt;&lt;msup&gt;&lt;mn&gt;53&lt;/mn&gt;&lt;mn&gt;2&lt;/mn&gt;&lt;/msup&gt;&lt;/msqrt&gt;&lt;mo&gt;=&lt;/mo&gt;&lt;mtext&gt;&lt;/mtext&gt;&lt;mn&gt;53&lt;/mn&gt;&lt;/math&gt;" id="951" name="Google Shape;951;p80" title="the square root of 53 squared equals 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425" y="2980475"/>
            <a:ext cx="2383025" cy="6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0"/>
          <p:cNvSpPr txBox="1"/>
          <p:nvPr>
            <p:ph idx="2" type="subTitle"/>
          </p:nvPr>
        </p:nvSpPr>
        <p:spPr>
          <a:xfrm>
            <a:off x="4666475" y="1766025"/>
            <a:ext cx="406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the square root of the square root of the square root of 65 536.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65\ 536}\ =\ 256&quot;&gt;&lt;msqrt&gt;&lt;mn&gt;65&lt;/mn&gt;&lt;mtext&gt;&lt;/mtext&gt;&lt;mn&gt;536&lt;/mn&gt;&lt;/msqrt&gt;&lt;mtext&gt;&lt;/mtext&gt;&lt;mo&gt;=&lt;/mo&gt;&lt;mtext&gt;&lt;/mtext&gt;&lt;mn&gt;256&lt;/mn&gt;&lt;/math&gt;" id="953" name="Google Shape;953;p80" title="the square root of 65 536 equals 2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8780" y="2537575"/>
            <a:ext cx="2055996" cy="383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56}\ =\ 16&quot;&gt;&lt;msqrt&gt;&lt;mn&gt;256&lt;/mn&gt;&lt;/msqrt&gt;&lt;mtext&gt;&lt;/mtext&gt;&lt;mo&gt;=&lt;/mo&gt;&lt;mtext&gt;&lt;/mtext&gt;&lt;mn&gt;16&lt;/mn&gt;&lt;/math&gt;" id="954" name="Google Shape;954;p80" title="the square root of 256 equals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3146" y="2893915"/>
            <a:ext cx="1527477" cy="383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6}\ =\ 4&quot;&gt;&lt;msqrt&gt;&lt;mn&gt;16&lt;/mn&gt;&lt;/msqrt&gt;&lt;mtext&gt;&lt;/mtext&gt;&lt;mo&gt;=&lt;/mo&gt;&lt;mtext&gt;&lt;/mtext&gt;&lt;mn&gt;4&lt;/mn&gt;&lt;/math&gt;" id="955" name="Google Shape;955;p80" title="the square root of 16 equal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6851" y="3284462"/>
            <a:ext cx="1225466" cy="377513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0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1"/>
          <p:cNvSpPr txBox="1"/>
          <p:nvPr>
            <p:ph idx="1" type="body"/>
          </p:nvPr>
        </p:nvSpPr>
        <p:spPr>
          <a:xfrm>
            <a:off x="324000" y="759300"/>
            <a:ext cx="8237700" cy="10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Using a calculator, explain why the following </a:t>
            </a:r>
            <a:r>
              <a:rPr b="1" lang="en-GB"/>
              <a:t>evaluate </a:t>
            </a:r>
            <a:r>
              <a:rPr lang="en-GB"/>
              <a:t>to </a:t>
            </a:r>
            <a:r>
              <a:rPr lang="en-GB"/>
              <a:t>the answer given.</a:t>
            </a:r>
            <a:endParaRPr/>
          </a:p>
        </p:txBody>
      </p:sp>
      <p:sp>
        <p:nvSpPr>
          <p:cNvPr id="962" name="Google Shape;962;p81"/>
          <p:cNvSpPr txBox="1"/>
          <p:nvPr>
            <p:ph idx="2" type="subTitle"/>
          </p:nvPr>
        </p:nvSpPr>
        <p:spPr>
          <a:xfrm>
            <a:off x="384450" y="1778400"/>
            <a:ext cx="63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sqrt{\sqrt{65\ 536}}}\ =\ 4&quot;&gt;&lt;msqrt&gt;&lt;msqrt&gt;&lt;msqrt&gt;&lt;mn&gt;65&lt;/mn&gt;&lt;mtext&gt;&lt;/mtext&gt;&lt;mn&gt;536&lt;/mn&gt;&lt;/msqrt&gt;&lt;/msqrt&gt;&lt;/msqrt&gt;&lt;mtext&gt;&lt;/mtext&gt;&lt;mo&gt;=&lt;/mo&gt;&lt;mtext&gt;&lt;/mtext&gt;&lt;mn&gt;4&lt;/mn&gt;&lt;/math&gt;" id="963" name="Google Shape;963;p81" title="the square root of the square root of the square root of 65 536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425" y="1778400"/>
            <a:ext cx="2825725" cy="8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53^2}=\ 53&quot;&gt;&lt;msqrt&gt;&lt;msup&gt;&lt;mn&gt;53&lt;/mn&gt;&lt;mn&gt;2&lt;/mn&gt;&lt;/msup&gt;&lt;/msqrt&gt;&lt;mo&gt;=&lt;/mo&gt;&lt;mtext&gt;&lt;/mtext&gt;&lt;mn&gt;53&lt;/mn&gt;&lt;/math&gt;" id="964" name="Google Shape;964;p81" title="the square root of 53 squared equals 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425" y="2980475"/>
            <a:ext cx="2383025" cy="6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1"/>
          <p:cNvSpPr txBox="1"/>
          <p:nvPr>
            <p:ph idx="2" type="subTitle"/>
          </p:nvPr>
        </p:nvSpPr>
        <p:spPr>
          <a:xfrm>
            <a:off x="4498800" y="3071400"/>
            <a:ext cx="406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 and square root are inverse of each other, thus they cancel each other out.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6" name="Google Shape;966;p81"/>
          <p:cNvSpPr txBox="1"/>
          <p:nvPr/>
        </p:nvSpPr>
        <p:spPr>
          <a:xfrm>
            <a:off x="1400250" y="78300"/>
            <a:ext cx="6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Evaluate using square and square root buttons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  <p:sp>
        <p:nvSpPr>
          <p:cNvPr id="972" name="Google Shape;972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exponents</a:t>
            </a:r>
            <a:endParaRPr/>
          </a:p>
        </p:txBody>
      </p:sp>
      <p:sp>
        <p:nvSpPr>
          <p:cNvPr id="973" name="Google Shape;973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× </a:t>
            </a:r>
            <a:r>
              <a:rPr lang="en-GB"/>
              <a:t>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sp>
        <p:nvSpPr>
          <p:cNvPr id="974" name="Google Shape;974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pic>
        <p:nvPicPr>
          <p:cNvPr id="975" name="Google Shape;97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71" y="27660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exponents</a:t>
            </a:r>
            <a:endParaRPr/>
          </a:p>
        </p:txBody>
      </p:sp>
      <p:pic>
        <p:nvPicPr>
          <p:cNvPr id="981" name="Google Shape;98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00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3"/>
          <p:cNvSpPr txBox="1"/>
          <p:nvPr>
            <p:ph idx="1" type="body"/>
          </p:nvPr>
        </p:nvSpPr>
        <p:spPr>
          <a:xfrm>
            <a:off x="4675825" y="1064100"/>
            <a:ext cx="2971500" cy="14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“power” button. Insert the base and exponent.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83"/>
          <p:cNvSpPr txBox="1"/>
          <p:nvPr>
            <p:ph idx="4294967295" type="subTitle"/>
          </p:nvPr>
        </p:nvSpPr>
        <p:spPr>
          <a:xfrm>
            <a:off x="4173016" y="314358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Evaluate</a:t>
            </a:r>
            <a:endParaRPr b="1"/>
          </a:p>
        </p:txBody>
      </p:sp>
      <p:sp>
        <p:nvSpPr>
          <p:cNvPr id="984" name="Google Shape;984;p83"/>
          <p:cNvSpPr txBox="1"/>
          <p:nvPr>
            <p:ph idx="4294967295" type="subTitle"/>
          </p:nvPr>
        </p:nvSpPr>
        <p:spPr>
          <a:xfrm>
            <a:off x="4166082" y="2533388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985" name="Google Shape;985;p83"/>
          <p:cNvSpPr txBox="1"/>
          <p:nvPr>
            <p:ph idx="4294967295" type="subTitle"/>
          </p:nvPr>
        </p:nvSpPr>
        <p:spPr>
          <a:xfrm>
            <a:off x="4191725" y="3877025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37^4&quot;&gt;&lt;msup&gt;&lt;mn&gt;137&lt;/mn&gt;&lt;mn&gt;4&lt;/mn&gt;&lt;/msup&gt;&lt;/math&gt;" id="986" name="Google Shape;986;p83" title="137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100" y="2944400"/>
            <a:ext cx="962025" cy="514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7" name="Google Shape;987;p83"/>
          <p:cNvGrpSpPr/>
          <p:nvPr/>
        </p:nvGrpSpPr>
        <p:grpSpPr>
          <a:xfrm>
            <a:off x="5033024" y="3804600"/>
            <a:ext cx="2663486" cy="400025"/>
            <a:chOff x="5718824" y="3804600"/>
            <a:chExt cx="2663486" cy="400025"/>
          </a:xfrm>
        </p:grpSpPr>
        <p:pic>
          <p:nvPicPr>
            <p:cNvPr id="988" name="Google Shape;988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18824" y="3804600"/>
              <a:ext cx="2259125" cy="39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9" name="Google Shape;989;p8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77950" y="3806300"/>
              <a:ext cx="404360" cy="3983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0" name="Google Shape;990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1200" y="1080000"/>
            <a:ext cx="1846800" cy="867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91" name="Google Shape;991;p83"/>
          <p:cNvGrpSpPr/>
          <p:nvPr/>
        </p:nvGrpSpPr>
        <p:grpSpPr>
          <a:xfrm>
            <a:off x="2656800" y="892900"/>
            <a:ext cx="1986064" cy="1901084"/>
            <a:chOff x="3344236" y="892900"/>
            <a:chExt cx="1986064" cy="1901084"/>
          </a:xfrm>
        </p:grpSpPr>
        <p:cxnSp>
          <p:nvCxnSpPr>
            <p:cNvPr id="992" name="Google Shape;992;p83"/>
            <p:cNvCxnSpPr/>
            <p:nvPr/>
          </p:nvCxnSpPr>
          <p:spPr>
            <a:xfrm flipH="1" rot="10800000">
              <a:off x="3344236" y="1385484"/>
              <a:ext cx="1386000" cy="1408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993" name="Google Shape;993;p8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30225" y="892900"/>
              <a:ext cx="600075" cy="638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7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4"/>
          <p:cNvSpPr txBox="1"/>
          <p:nvPr>
            <p:ph idx="1" type="body"/>
          </p:nvPr>
        </p:nvSpPr>
        <p:spPr>
          <a:xfrm>
            <a:off x="4807563" y="978100"/>
            <a:ext cx="3152100" cy="18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using different bases and exponents, ensure to scroll to the right to exit the “power” button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4"/>
          <p:cNvSpPr txBox="1"/>
          <p:nvPr>
            <p:ph idx="4294967295" type="subTitle"/>
          </p:nvPr>
        </p:nvSpPr>
        <p:spPr>
          <a:xfrm>
            <a:off x="4249216" y="3143588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Evaluate</a:t>
            </a:r>
            <a:endParaRPr b="1"/>
          </a:p>
        </p:txBody>
      </p:sp>
      <p:sp>
        <p:nvSpPr>
          <p:cNvPr id="1001" name="Google Shape;1001;p84"/>
          <p:cNvSpPr txBox="1"/>
          <p:nvPr>
            <p:ph idx="4294967295" type="subTitle"/>
          </p:nvPr>
        </p:nvSpPr>
        <p:spPr>
          <a:xfrm>
            <a:off x="3634200" y="3832800"/>
            <a:ext cx="86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</a:t>
            </a:r>
            <a:endParaRPr/>
          </a:p>
        </p:txBody>
      </p:sp>
      <p:grpSp>
        <p:nvGrpSpPr>
          <p:cNvPr id="1002" name="Google Shape;1002;p84"/>
          <p:cNvGrpSpPr/>
          <p:nvPr/>
        </p:nvGrpSpPr>
        <p:grpSpPr>
          <a:xfrm>
            <a:off x="2658436" y="892900"/>
            <a:ext cx="1986064" cy="1901084"/>
            <a:chOff x="3344236" y="892900"/>
            <a:chExt cx="1986064" cy="1901084"/>
          </a:xfrm>
        </p:grpSpPr>
        <p:cxnSp>
          <p:nvCxnSpPr>
            <p:cNvPr id="1003" name="Google Shape;1003;p84"/>
            <p:cNvCxnSpPr/>
            <p:nvPr/>
          </p:nvCxnSpPr>
          <p:spPr>
            <a:xfrm flipH="1" rot="10800000">
              <a:off x="3344236" y="1385484"/>
              <a:ext cx="1386000" cy="1408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004" name="Google Shape;1004;p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30225" y="892900"/>
              <a:ext cx="600075" cy="638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2^5+3^4=\ 113&quot;&gt;&lt;msup&gt;&lt;mn&gt;2&lt;/mn&gt;&lt;mn&gt;5&lt;/mn&gt;&lt;/msup&gt;&lt;mo&gt;+&lt;/mo&gt;&lt;msup&gt;&lt;mn&gt;3&lt;/mn&gt;&lt;mn&gt;4&lt;/mn&gt;&lt;/msup&gt;&lt;mo&gt;=&lt;/mo&gt;&lt;mtext&gt;&lt;/mtext&gt;&lt;mn&gt;113&lt;/mn&gt;&lt;/math&gt;" id="1005" name="Google Shape;1005;p84" title="2 to the fifth power plus 3 to the fourth power equals 113"/>
          <p:cNvPicPr preferRelativeResize="0"/>
          <p:nvPr/>
        </p:nvPicPr>
        <p:blipFill rotWithShape="1">
          <a:blip r:embed="rId5">
            <a:alphaModFix/>
          </a:blip>
          <a:srcRect b="0" l="0" r="46586" t="0"/>
          <a:stretch/>
        </p:blipFill>
        <p:spPr>
          <a:xfrm>
            <a:off x="5720899" y="3143600"/>
            <a:ext cx="1325425" cy="4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6" name="Google Shape;1006;p84"/>
          <p:cNvGrpSpPr/>
          <p:nvPr/>
        </p:nvGrpSpPr>
        <p:grpSpPr>
          <a:xfrm>
            <a:off x="4420690" y="3832788"/>
            <a:ext cx="4561673" cy="386686"/>
            <a:chOff x="4420690" y="3832788"/>
            <a:chExt cx="4561673" cy="386686"/>
          </a:xfrm>
        </p:grpSpPr>
        <p:pic>
          <p:nvPicPr>
            <p:cNvPr id="1007" name="Google Shape;1007;p8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20690" y="3832800"/>
              <a:ext cx="2316142" cy="38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8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36823" y="3832788"/>
              <a:ext cx="2245540" cy="3866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9" name="Google Shape;1009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44425" y="1762900"/>
            <a:ext cx="6000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09496" y="1080000"/>
            <a:ext cx="1848500" cy="869125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1" name="Google Shape;1011;p84"/>
          <p:cNvSpPr txBox="1"/>
          <p:nvPr>
            <p:ph idx="1" type="body"/>
          </p:nvPr>
        </p:nvSpPr>
        <p:spPr>
          <a:xfrm>
            <a:off x="7046331" y="3193850"/>
            <a:ext cx="953400" cy="3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= 113</a:t>
            </a:r>
            <a:endParaRPr sz="2600"/>
          </a:p>
        </p:txBody>
      </p:sp>
      <p:sp>
        <p:nvSpPr>
          <p:cNvPr id="1012" name="Google Shape;101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exponents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5"/>
          <p:cNvSpPr txBox="1"/>
          <p:nvPr>
            <p:ph idx="1" type="subTitle"/>
          </p:nvPr>
        </p:nvSpPr>
        <p:spPr>
          <a:xfrm>
            <a:off x="337825" y="810000"/>
            <a:ext cx="4170300" cy="11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/>
              <a:t>Evaluate </a:t>
            </a:r>
            <a:r>
              <a:rPr lang="en-GB" sz="1900"/>
              <a:t>the following ensuring you write all the digits from your calculator display.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.2^3\ +\ 1.2^4\ =\ 34.8416&quot;&gt;&lt;msup&gt;&lt;mn&gt;3.2&lt;/mn&gt;&lt;mn&gt;3&lt;/mn&gt;&lt;/msup&gt;&lt;mtext&gt;&lt;/mtext&gt;&lt;mo&gt;+&lt;/mo&gt;&lt;mtext&gt;&lt;/mtext&gt;&lt;msup&gt;&lt;mn&gt;1.2&lt;/mn&gt;&lt;mn&gt;4&lt;/mn&gt;&lt;/msup&gt;&lt;mtext&gt;&lt;/mtext&gt;&lt;mo&gt;=&lt;/mo&gt;&lt;mtext&gt;&lt;/mtext&gt;&lt;mn&gt;34.8416&lt;/mn&gt;&lt;/math&gt;" id="1018" name="Google Shape;1018;p85" title="3.2 cubed plus 1.2 to the fourth power equals 34.8416"/>
          <p:cNvPicPr preferRelativeResize="0"/>
          <p:nvPr/>
        </p:nvPicPr>
        <p:blipFill rotWithShape="1">
          <a:blip r:embed="rId3">
            <a:alphaModFix/>
          </a:blip>
          <a:srcRect b="0" l="0" r="45954" t="0"/>
          <a:stretch/>
        </p:blipFill>
        <p:spPr>
          <a:xfrm>
            <a:off x="694550" y="2014200"/>
            <a:ext cx="3155549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5"/>
          <p:cNvSpPr txBox="1"/>
          <p:nvPr/>
        </p:nvSpPr>
        <p:spPr>
          <a:xfrm>
            <a:off x="647525" y="4239625"/>
            <a:ext cx="3249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Answer = 34.8416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8^4\div4^3+2.1^2&quot;&gt;&lt;msup&gt;&lt;mn&gt;8&lt;/mn&gt;&lt;mn&gt;4&lt;/mn&gt;&lt;/msup&gt;&lt;mo&gt;÷&lt;/mo&gt;&lt;msup&gt;&lt;mn&gt;4&lt;/mn&gt;&lt;mn&gt;3&lt;/mn&gt;&lt;/msup&gt;&lt;mo&gt;+&lt;/mo&gt;&lt;msup&gt;&lt;mn&gt;2.1&lt;/mn&gt;&lt;mn&gt;2&lt;/mn&gt;&lt;/msup&gt;&lt;/math&gt;" id="1020" name="Google Shape;1020;p85" title="8 to the fourth power divided by 4 cubed plus 2.1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849" y="1861800"/>
            <a:ext cx="32766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5"/>
          <p:cNvSpPr txBox="1"/>
          <p:nvPr/>
        </p:nvSpPr>
        <p:spPr>
          <a:xfrm>
            <a:off x="5342700" y="4245000"/>
            <a:ext cx="32496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Answer = 68.41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2" name="Google Shape;1022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094" y="2928600"/>
            <a:ext cx="3155551" cy="1207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800" y="2926800"/>
            <a:ext cx="3157199" cy="120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5"/>
          <p:cNvSpPr txBox="1"/>
          <p:nvPr>
            <p:ph idx="1" type="subTitle"/>
          </p:nvPr>
        </p:nvSpPr>
        <p:spPr>
          <a:xfrm>
            <a:off x="4824000" y="736200"/>
            <a:ext cx="4170300" cy="11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/>
              <a:t>Evaluate </a:t>
            </a:r>
            <a:r>
              <a:rPr lang="en-GB" sz="1900"/>
              <a:t>the following ensuring you write all the digits from your calculator display.</a:t>
            </a:r>
            <a:endParaRPr sz="1900"/>
          </a:p>
        </p:txBody>
      </p:sp>
      <p:pic>
        <p:nvPicPr>
          <p:cNvPr id="1025" name="Google Shape;1025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7224" y="2554199"/>
            <a:ext cx="2473174" cy="17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exponents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6"/>
          <p:cNvSpPr txBox="1"/>
          <p:nvPr>
            <p:ph idx="4294967295" type="body"/>
          </p:nvPr>
        </p:nvSpPr>
        <p:spPr>
          <a:xfrm>
            <a:off x="300750" y="17781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1" lang="en-GB"/>
              <a:t>Evaluate</a:t>
            </a:r>
            <a:r>
              <a:rPr lang="en-GB"/>
              <a:t>     </a:t>
            </a:r>
            <a:endParaRPr/>
          </a:p>
        </p:txBody>
      </p:sp>
      <p:sp>
        <p:nvSpPr>
          <p:cNvPr id="1032" name="Google Shape;1032;p86"/>
          <p:cNvSpPr txBox="1"/>
          <p:nvPr>
            <p:ph idx="4294967295" type="body"/>
          </p:nvPr>
        </p:nvSpPr>
        <p:spPr>
          <a:xfrm>
            <a:off x="252300" y="4015200"/>
            <a:ext cx="20994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1033" name="Google Shape;1033;p86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following. If your answer is a decimal, write all the digits from your calculator display.</a:t>
            </a:r>
            <a:endParaRPr/>
          </a:p>
        </p:txBody>
      </p:sp>
      <p:sp>
        <p:nvSpPr>
          <p:cNvPr id="1034" name="Google Shape;1034;p86"/>
          <p:cNvSpPr txBox="1"/>
          <p:nvPr>
            <p:ph idx="4294967295" type="body"/>
          </p:nvPr>
        </p:nvSpPr>
        <p:spPr>
          <a:xfrm>
            <a:off x="252300" y="25193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1035" name="Google Shape;1035;p86"/>
          <p:cNvSpPr txBox="1"/>
          <p:nvPr>
            <p:ph idx="4294967295" type="title"/>
          </p:nvPr>
        </p:nvSpPr>
        <p:spPr>
          <a:xfrm>
            <a:off x="1407700" y="156300"/>
            <a:ext cx="664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Evaluate using exponents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6" name="Google Shape;1036;p86"/>
          <p:cNvSpPr txBox="1"/>
          <p:nvPr>
            <p:ph idx="4294967295" type="body"/>
          </p:nvPr>
        </p:nvSpPr>
        <p:spPr>
          <a:xfrm>
            <a:off x="252300" y="3244325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2^3\div2^4\ =\ 4.6305&quot;&gt;&lt;msup&gt;&lt;mn&gt;4.2&lt;/mn&gt;&lt;mn&gt;3&lt;/mn&gt;&lt;/msup&gt;&lt;mo&gt;÷&lt;/mo&gt;&lt;msup&gt;&lt;mn&gt;2&lt;/mn&gt;&lt;mn&gt;4&lt;/mn&gt;&lt;/msup&gt;&lt;mtext&gt;&lt;/mtext&gt;&lt;mo&gt;=&lt;/mo&gt;&lt;mtext&gt;&lt;/mtext&gt;&lt;mn&gt;4.6305&lt;/mn&gt;&lt;/math&gt;" id="1037" name="Google Shape;1037;p86" title="4.2 cubed divided by 2 to the fourth power equals 4.6305"/>
          <p:cNvPicPr preferRelativeResize="0"/>
          <p:nvPr/>
        </p:nvPicPr>
        <p:blipFill rotWithShape="1">
          <a:blip r:embed="rId3">
            <a:alphaModFix/>
          </a:blip>
          <a:srcRect b="0" l="0" r="38953" t="0"/>
          <a:stretch/>
        </p:blipFill>
        <p:spPr>
          <a:xfrm>
            <a:off x="2460449" y="3130925"/>
            <a:ext cx="2522749" cy="44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^4\div9^2\div3^7=3&quot;&gt;&lt;msup&gt;&lt;mn&gt;27&lt;/mn&gt;&lt;mn&gt;4&lt;/mn&gt;&lt;/msup&gt;&lt;mo&gt;÷&lt;/mo&gt;&lt;msup&gt;&lt;mn&gt;9&lt;/mn&gt;&lt;mn&gt;2&lt;/mn&gt;&lt;/msup&gt;&lt;mo&gt;÷&lt;/mo&gt;&lt;msup&gt;&lt;mn&gt;3&lt;/mn&gt;&lt;mn&gt;7&lt;/mn&gt;&lt;/msup&gt;&lt;mo&gt;=&lt;/mo&gt;&lt;mn&gt;3&lt;/mn&gt;&lt;/math&gt;" id="1038" name="Google Shape;1038;p86" title="27 to the fourth power divided by 9 squared divided by 3 to the seventh power equals 3"/>
          <p:cNvPicPr preferRelativeResize="0"/>
          <p:nvPr/>
        </p:nvPicPr>
        <p:blipFill rotWithShape="1">
          <a:blip r:embed="rId4">
            <a:alphaModFix/>
          </a:blip>
          <a:srcRect b="0" l="0" r="9444" t="0"/>
          <a:stretch/>
        </p:blipFill>
        <p:spPr>
          <a:xfrm>
            <a:off x="2527050" y="2373050"/>
            <a:ext cx="3247350" cy="44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6-6^4\ =\ 2800&quot;&gt;&lt;msup&gt;&lt;mn&gt;4&lt;/mn&gt;&lt;mn&gt;6&lt;/mn&gt;&lt;/msup&gt;&lt;mo&gt;−&lt;/mo&gt;&lt;msup&gt;&lt;mn&gt;6&lt;/mn&gt;&lt;mn&gt;4&lt;/mn&gt;&lt;/msup&gt;&lt;mtext&gt;&lt;/mtext&gt;&lt;mo&gt;=&lt;/mo&gt;&lt;mtext&gt;&lt;/mtext&gt;&lt;mn&gt;2800&lt;/mn&gt;&lt;/math&gt;" id="1039" name="Google Shape;1039;p86" title="4 to the sixth power minus 6 to the fourth power equals 2800"/>
          <p:cNvPicPr preferRelativeResize="0"/>
          <p:nvPr/>
        </p:nvPicPr>
        <p:blipFill rotWithShape="1">
          <a:blip r:embed="rId5">
            <a:alphaModFix/>
          </a:blip>
          <a:srcRect b="0" l="0" r="34477" t="0"/>
          <a:stretch/>
        </p:blipFill>
        <p:spPr>
          <a:xfrm>
            <a:off x="2482399" y="1615175"/>
            <a:ext cx="2257325" cy="44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^4+4^3+5^2-1^7}=\ 13&quot;&gt;&lt;msqrt&gt;&lt;msup&gt;&lt;mn&gt;3&lt;/mn&gt;&lt;mn&gt;4&lt;/mn&gt;&lt;/msup&gt;&lt;mo&gt;+&lt;/mo&gt;&lt;msup&gt;&lt;mn&gt;4&lt;/mn&gt;&lt;mn&gt;3&lt;/mn&gt;&lt;/msup&gt;&lt;mo&gt;+&lt;/mo&gt;&lt;msup&gt;&lt;mn&gt;5&lt;/mn&gt;&lt;mn&gt;2&lt;/mn&gt;&lt;/msup&gt;&lt;mo&gt;−&lt;/mo&gt;&lt;msup&gt;&lt;mn&gt;1&lt;/mn&gt;&lt;mn&gt;7&lt;/mn&gt;&lt;/msup&gt;&lt;/msqrt&gt;&lt;mo&gt;=&lt;/mo&gt;&lt;mtext&gt;&lt;/mtext&gt;&lt;mn&gt;13&lt;/mn&gt;&lt;/math&gt;" id="1040" name="Google Shape;1040;p86" title="the square root of 3 to the fourth power plus 4 cubed plus 5 squared minus 1 to the seventh power equals 13"/>
          <p:cNvPicPr preferRelativeResize="0"/>
          <p:nvPr/>
        </p:nvPicPr>
        <p:blipFill rotWithShape="1">
          <a:blip r:embed="rId6">
            <a:alphaModFix/>
          </a:blip>
          <a:srcRect b="0" l="0" r="13606" t="0"/>
          <a:stretch/>
        </p:blipFill>
        <p:spPr>
          <a:xfrm>
            <a:off x="2277525" y="3880925"/>
            <a:ext cx="4399901" cy="5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7"/>
          <p:cNvSpPr txBox="1"/>
          <p:nvPr>
            <p:ph idx="4294967295" type="body"/>
          </p:nvPr>
        </p:nvSpPr>
        <p:spPr>
          <a:xfrm>
            <a:off x="324000" y="661950"/>
            <a:ext cx="7826700" cy="9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</a:t>
            </a:r>
            <a:r>
              <a:rPr lang="en-GB" sz="1900"/>
              <a:t>Sofia followed this function machine. </a:t>
            </a:r>
            <a:r>
              <a:rPr lang="en-GB" sz="1900"/>
              <a:t>Her input was 27. Her output was 730.</a:t>
            </a:r>
            <a:endParaRPr sz="1900"/>
          </a:p>
        </p:txBody>
      </p:sp>
      <p:sp>
        <p:nvSpPr>
          <p:cNvPr id="1046" name="Google Shape;1046;p87"/>
          <p:cNvSpPr txBox="1"/>
          <p:nvPr>
            <p:ph idx="4294967295" type="title"/>
          </p:nvPr>
        </p:nvSpPr>
        <p:spPr>
          <a:xfrm>
            <a:off x="1407700" y="156300"/>
            <a:ext cx="664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Evaluate using exponents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7" name="Google Shape;1047;p87"/>
          <p:cNvSpPr/>
          <p:nvPr/>
        </p:nvSpPr>
        <p:spPr>
          <a:xfrm>
            <a:off x="1698588" y="1353900"/>
            <a:ext cx="17031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the power of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7"/>
          <p:cNvSpPr/>
          <p:nvPr/>
        </p:nvSpPr>
        <p:spPr>
          <a:xfrm>
            <a:off x="3401844" y="1353900"/>
            <a:ext cx="17031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dd 3</a:t>
            </a:r>
            <a:r>
              <a:rPr baseline="30000" lang="en-GB" sz="2500"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7"/>
          <p:cNvSpPr/>
          <p:nvPr/>
        </p:nvSpPr>
        <p:spPr>
          <a:xfrm>
            <a:off x="5105102" y="1353900"/>
            <a:ext cx="20565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Divide by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7"/>
          <p:cNvSpPr txBox="1"/>
          <p:nvPr/>
        </p:nvSpPr>
        <p:spPr>
          <a:xfrm>
            <a:off x="324000" y="2700000"/>
            <a:ext cx="88875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Which of the following buttons did she press to get the correct answer?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1" name="Google Shape;105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138" y="3240000"/>
            <a:ext cx="2976125" cy="15415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2" name="Google Shape;1052;p87"/>
          <p:cNvGrpSpPr/>
          <p:nvPr/>
        </p:nvGrpSpPr>
        <p:grpSpPr>
          <a:xfrm>
            <a:off x="508066" y="3240000"/>
            <a:ext cx="457200" cy="457200"/>
            <a:chOff x="1020916" y="1442088"/>
            <a:chExt cx="457200" cy="457200"/>
          </a:xfrm>
        </p:grpSpPr>
        <p:pic>
          <p:nvPicPr>
            <p:cNvPr id="1053" name="Google Shape;1053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4" name="Google Shape;1054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5" name="Google Shape;1055;p87"/>
          <p:cNvGrpSpPr/>
          <p:nvPr/>
        </p:nvGrpSpPr>
        <p:grpSpPr>
          <a:xfrm>
            <a:off x="4715891" y="3240000"/>
            <a:ext cx="457200" cy="457200"/>
            <a:chOff x="1020916" y="1442088"/>
            <a:chExt cx="457200" cy="457200"/>
          </a:xfrm>
        </p:grpSpPr>
        <p:pic>
          <p:nvPicPr>
            <p:cNvPr id="1056" name="Google Shape;1056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8" name="Google Shape;1058;p87"/>
          <p:cNvGrpSpPr/>
          <p:nvPr/>
        </p:nvGrpSpPr>
        <p:grpSpPr>
          <a:xfrm>
            <a:off x="5389262" y="3211425"/>
            <a:ext cx="2676525" cy="1491646"/>
            <a:chOff x="5389262" y="3211425"/>
            <a:chExt cx="2676525" cy="1491646"/>
          </a:xfrm>
        </p:grpSpPr>
        <p:pic>
          <p:nvPicPr>
            <p:cNvPr id="1059" name="Google Shape;1059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98787" y="3211425"/>
              <a:ext cx="2657475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8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89262" y="3702946"/>
              <a:ext cx="2676525" cy="50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1" name="Google Shape;1061;p8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398787" y="4207771"/>
              <a:ext cx="2657475" cy="495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8"/>
          <p:cNvSpPr txBox="1"/>
          <p:nvPr>
            <p:ph idx="4294967295" type="body"/>
          </p:nvPr>
        </p:nvSpPr>
        <p:spPr>
          <a:xfrm>
            <a:off x="300750" y="17781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b="1" lang="en-GB"/>
              <a:t>Evaluate</a:t>
            </a:r>
            <a:r>
              <a:rPr lang="en-GB"/>
              <a:t>     </a:t>
            </a:r>
            <a:endParaRPr/>
          </a:p>
        </p:txBody>
      </p:sp>
      <p:sp>
        <p:nvSpPr>
          <p:cNvPr id="1067" name="Google Shape;1067;p88"/>
          <p:cNvSpPr txBox="1"/>
          <p:nvPr>
            <p:ph idx="2" type="subTitle"/>
          </p:nvPr>
        </p:nvSpPr>
        <p:spPr>
          <a:xfrm>
            <a:off x="252300" y="4001200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d)   </a:t>
            </a:r>
            <a:r>
              <a:rPr b="1" lang="en-GB" sz="2200">
                <a:solidFill>
                  <a:schemeClr val="dk1"/>
                </a:solidFill>
              </a:rPr>
              <a:t>Evaluate </a:t>
            </a:r>
            <a:r>
              <a:rPr lang="en-GB" sz="2200">
                <a:solidFill>
                  <a:schemeClr val="dk1"/>
                </a:solidFill>
              </a:rPr>
              <a:t>    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068" name="Google Shape;1068;p88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following. If your answer is a decimal, write all the digits from your calculator display.</a:t>
            </a:r>
            <a:endParaRPr/>
          </a:p>
        </p:txBody>
      </p:sp>
      <p:sp>
        <p:nvSpPr>
          <p:cNvPr id="1069" name="Google Shape;1069;p88"/>
          <p:cNvSpPr txBox="1"/>
          <p:nvPr>
            <p:ph idx="4294967295" type="body"/>
          </p:nvPr>
        </p:nvSpPr>
        <p:spPr>
          <a:xfrm>
            <a:off x="252300" y="2519350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sp>
        <p:nvSpPr>
          <p:cNvPr id="1070" name="Google Shape;1070;p88"/>
          <p:cNvSpPr txBox="1"/>
          <p:nvPr>
            <p:ph idx="4294967295" type="body"/>
          </p:nvPr>
        </p:nvSpPr>
        <p:spPr>
          <a:xfrm>
            <a:off x="252300" y="3244325"/>
            <a:ext cx="2159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  </a:t>
            </a:r>
            <a:r>
              <a:rPr b="1" lang="en-GB"/>
              <a:t>Evaluate </a:t>
            </a:r>
            <a:r>
              <a:rPr lang="en-GB"/>
              <a:t>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2^3\div2^4\ =\ 4.6305&quot;&gt;&lt;msup&gt;&lt;mn&gt;4.2&lt;/mn&gt;&lt;mn&gt;3&lt;/mn&gt;&lt;/msup&gt;&lt;mo&gt;÷&lt;/mo&gt;&lt;msup&gt;&lt;mn&gt;2&lt;/mn&gt;&lt;mn&gt;4&lt;/mn&gt;&lt;/msup&gt;&lt;mtext&gt;&lt;/mtext&gt;&lt;mo&gt;=&lt;/mo&gt;&lt;mtext&gt;&lt;/mtext&gt;&lt;mn&gt;4.6305&lt;/mn&gt;&lt;/math&gt;" id="1071" name="Google Shape;1071;p88" title="4.2 cubed divided by 2 to the fourth power equals 4.6305"/>
          <p:cNvPicPr preferRelativeResize="0"/>
          <p:nvPr/>
        </p:nvPicPr>
        <p:blipFill rotWithShape="1">
          <a:blip r:embed="rId3">
            <a:alphaModFix/>
          </a:blip>
          <a:srcRect b="0" l="0" r="35761" t="0"/>
          <a:stretch/>
        </p:blipFill>
        <p:spPr>
          <a:xfrm>
            <a:off x="2460452" y="3130925"/>
            <a:ext cx="2654650" cy="44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^4\div9^2\div3^7=3&quot;&gt;&lt;msup&gt;&lt;mn&gt;27&lt;/mn&gt;&lt;mn&gt;4&lt;/mn&gt;&lt;/msup&gt;&lt;mo&gt;÷&lt;/mo&gt;&lt;msup&gt;&lt;mn&gt;9&lt;/mn&gt;&lt;mn&gt;2&lt;/mn&gt;&lt;/msup&gt;&lt;mo&gt;÷&lt;/mo&gt;&lt;msup&gt;&lt;mn&gt;3&lt;/mn&gt;&lt;mn&gt;7&lt;/mn&gt;&lt;/msup&gt;&lt;mo&gt;=&lt;/mo&gt;&lt;mn&gt;3&lt;/mn&gt;&lt;/math&gt;" id="1072" name="Google Shape;1072;p88" title="27 to the fourth power divided by 9 squared divided by 3 to the seventh power equals 3"/>
          <p:cNvPicPr preferRelativeResize="0"/>
          <p:nvPr/>
        </p:nvPicPr>
        <p:blipFill rotWithShape="1">
          <a:blip r:embed="rId4">
            <a:alphaModFix/>
          </a:blip>
          <a:srcRect b="0" l="0" r="7740" t="0"/>
          <a:stretch/>
        </p:blipFill>
        <p:spPr>
          <a:xfrm>
            <a:off x="2527050" y="2373050"/>
            <a:ext cx="3308325" cy="44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6-6^4\ =\ 2800&quot;&gt;&lt;msup&gt;&lt;mn&gt;4&lt;/mn&gt;&lt;mn&gt;6&lt;/mn&gt;&lt;/msup&gt;&lt;mo&gt;−&lt;/mo&gt;&lt;msup&gt;&lt;mn&gt;6&lt;/mn&gt;&lt;mn&gt;4&lt;/mn&gt;&lt;/msup&gt;&lt;mtext&gt;&lt;/mtext&gt;&lt;mo&gt;=&lt;/mo&gt;&lt;mtext&gt;&lt;/mtext&gt;&lt;mn&gt;2800&lt;/mn&gt;&lt;/math&gt;" id="1073" name="Google Shape;1073;p88" title="4 to the sixth power minus 6 to the fourth power equals 2800"/>
          <p:cNvPicPr preferRelativeResize="0"/>
          <p:nvPr/>
        </p:nvPicPr>
        <p:blipFill rotWithShape="1">
          <a:blip r:embed="rId5">
            <a:alphaModFix/>
          </a:blip>
          <a:srcRect b="0" l="0" r="32032" t="0"/>
          <a:stretch/>
        </p:blipFill>
        <p:spPr>
          <a:xfrm>
            <a:off x="2482402" y="1615175"/>
            <a:ext cx="2341600" cy="44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^4+4^3+5^2-1^7}=\ 13&quot;&gt;&lt;msqrt&gt;&lt;msup&gt;&lt;mn&gt;3&lt;/mn&gt;&lt;mn&gt;4&lt;/mn&gt;&lt;/msup&gt;&lt;mo&gt;+&lt;/mo&gt;&lt;msup&gt;&lt;mn&gt;4&lt;/mn&gt;&lt;mn&gt;3&lt;/mn&gt;&lt;/msup&gt;&lt;mo&gt;+&lt;/mo&gt;&lt;msup&gt;&lt;mn&gt;5&lt;/mn&gt;&lt;mn&gt;2&lt;/mn&gt;&lt;/msup&gt;&lt;mo&gt;−&lt;/mo&gt;&lt;msup&gt;&lt;mn&gt;1&lt;/mn&gt;&lt;mn&gt;7&lt;/mn&gt;&lt;/msup&gt;&lt;/msqrt&gt;&lt;mo&gt;=&lt;/mo&gt;&lt;mtext&gt;&lt;/mtext&gt;&lt;mn&gt;13&lt;/mn&gt;&lt;/math&gt;" id="1074" name="Google Shape;1074;p88" title="the square root of 3 to the fourth power plus 4 cubed plus 5 squared minus 1 to the seventh power equals 13"/>
          <p:cNvPicPr preferRelativeResize="0"/>
          <p:nvPr/>
        </p:nvPicPr>
        <p:blipFill rotWithShape="1">
          <a:blip r:embed="rId6">
            <a:alphaModFix/>
          </a:blip>
          <a:srcRect b="0" l="0" r="12180" t="0"/>
          <a:stretch/>
        </p:blipFill>
        <p:spPr>
          <a:xfrm>
            <a:off x="2277523" y="3880925"/>
            <a:ext cx="4472775" cy="5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8"/>
          <p:cNvSpPr txBox="1"/>
          <p:nvPr>
            <p:ph idx="4294967295" type="title"/>
          </p:nvPr>
        </p:nvSpPr>
        <p:spPr>
          <a:xfrm>
            <a:off x="1407700" y="156300"/>
            <a:ext cx="664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Evaluate using exponents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6" name="Google Shape;1076;p88"/>
          <p:cNvSpPr txBox="1"/>
          <p:nvPr/>
        </p:nvSpPr>
        <p:spPr>
          <a:xfrm>
            <a:off x="4896675" y="1589725"/>
            <a:ext cx="12663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2800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88"/>
          <p:cNvSpPr txBox="1"/>
          <p:nvPr/>
        </p:nvSpPr>
        <p:spPr>
          <a:xfrm>
            <a:off x="5889900" y="2367650"/>
            <a:ext cx="860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8"/>
          <p:cNvSpPr txBox="1"/>
          <p:nvPr/>
        </p:nvSpPr>
        <p:spPr>
          <a:xfrm>
            <a:off x="5163550" y="3145563"/>
            <a:ext cx="14298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4.6305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88"/>
          <p:cNvSpPr txBox="1"/>
          <p:nvPr/>
        </p:nvSpPr>
        <p:spPr>
          <a:xfrm>
            <a:off x="6750300" y="3951913"/>
            <a:ext cx="1037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13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9"/>
          <p:cNvSpPr txBox="1"/>
          <p:nvPr>
            <p:ph idx="4294967295" type="title"/>
          </p:nvPr>
        </p:nvSpPr>
        <p:spPr>
          <a:xfrm>
            <a:off x="1407700" y="156300"/>
            <a:ext cx="664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Evaluate using exponents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5" name="Google Shape;1085;p89"/>
          <p:cNvSpPr/>
          <p:nvPr/>
        </p:nvSpPr>
        <p:spPr>
          <a:xfrm>
            <a:off x="1698588" y="1353900"/>
            <a:ext cx="17031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the power of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9"/>
          <p:cNvSpPr/>
          <p:nvPr/>
        </p:nvSpPr>
        <p:spPr>
          <a:xfrm>
            <a:off x="3401844" y="1353900"/>
            <a:ext cx="17031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Add 3</a:t>
            </a:r>
            <a:r>
              <a:rPr baseline="30000" lang="en-GB" sz="2500"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9"/>
          <p:cNvSpPr/>
          <p:nvPr/>
        </p:nvSpPr>
        <p:spPr>
          <a:xfrm>
            <a:off x="5105102" y="1353900"/>
            <a:ext cx="2056500" cy="130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Divide by 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9"/>
          <p:cNvSpPr txBox="1"/>
          <p:nvPr/>
        </p:nvSpPr>
        <p:spPr>
          <a:xfrm>
            <a:off x="324000" y="2700000"/>
            <a:ext cx="88875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Which of the following buttons did she press to get the correct answer? 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9" name="Google Shape;10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138" y="3240000"/>
            <a:ext cx="2976125" cy="15415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0" name="Google Shape;1090;p89"/>
          <p:cNvGrpSpPr/>
          <p:nvPr/>
        </p:nvGrpSpPr>
        <p:grpSpPr>
          <a:xfrm>
            <a:off x="508066" y="3240000"/>
            <a:ext cx="457200" cy="457200"/>
            <a:chOff x="1020916" y="1442088"/>
            <a:chExt cx="457200" cy="457200"/>
          </a:xfrm>
        </p:grpSpPr>
        <p:pic>
          <p:nvPicPr>
            <p:cNvPr id="1091" name="Google Shape;109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3" name="Google Shape;1093;p89"/>
          <p:cNvGrpSpPr/>
          <p:nvPr/>
        </p:nvGrpSpPr>
        <p:grpSpPr>
          <a:xfrm>
            <a:off x="4715891" y="3240000"/>
            <a:ext cx="457200" cy="457200"/>
            <a:chOff x="1020916" y="1442088"/>
            <a:chExt cx="457200" cy="457200"/>
          </a:xfrm>
        </p:grpSpPr>
        <p:pic>
          <p:nvPicPr>
            <p:cNvPr id="1094" name="Google Shape;1094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6" name="Google Shape;1096;p89"/>
          <p:cNvGrpSpPr/>
          <p:nvPr/>
        </p:nvGrpSpPr>
        <p:grpSpPr>
          <a:xfrm>
            <a:off x="5389262" y="3211425"/>
            <a:ext cx="2676525" cy="1491646"/>
            <a:chOff x="5389262" y="3211425"/>
            <a:chExt cx="2676525" cy="1491646"/>
          </a:xfrm>
        </p:grpSpPr>
        <p:pic>
          <p:nvPicPr>
            <p:cNvPr id="1097" name="Google Shape;1097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98787" y="3211425"/>
              <a:ext cx="2657475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8" name="Google Shape;1098;p8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89262" y="3702946"/>
              <a:ext cx="2676525" cy="50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8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398787" y="4207771"/>
              <a:ext cx="2657475" cy="495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0" name="Google Shape;1100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8683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9"/>
          <p:cNvSpPr txBox="1"/>
          <p:nvPr>
            <p:ph idx="4294967295" type="body"/>
          </p:nvPr>
        </p:nvSpPr>
        <p:spPr>
          <a:xfrm>
            <a:off x="324000" y="661950"/>
            <a:ext cx="7826700" cy="9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Sofia followed this function machine. Her input was 27. Her output was 730.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square and square root buttons</a:t>
            </a:r>
            <a:endParaRPr/>
          </a:p>
        </p:txBody>
      </p:sp>
      <p:sp>
        <p:nvSpPr>
          <p:cNvPr id="1107" name="Google Shape;1107;p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Evaluate using exponents</a:t>
            </a:r>
            <a:endParaRPr/>
          </a:p>
        </p:txBody>
      </p:sp>
      <p:sp>
        <p:nvSpPr>
          <p:cNvPr id="1108" name="Google Shape;1108;p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× </a:t>
            </a:r>
            <a:r>
              <a:rPr lang="en-GB"/>
              <a:t>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sp>
        <p:nvSpPr>
          <p:cNvPr id="1109" name="Google Shape;1109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pic>
        <p:nvPicPr>
          <p:cNvPr id="1110" name="Google Shape;111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71" y="37004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 b="0" sz="1800"/>
          </a:p>
        </p:txBody>
      </p:sp>
      <p:pic>
        <p:nvPicPr>
          <p:cNvPr id="1116" name="Google Shape;111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99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1"/>
          <p:cNvSpPr txBox="1"/>
          <p:nvPr>
            <p:ph idx="1" type="body"/>
          </p:nvPr>
        </p:nvSpPr>
        <p:spPr>
          <a:xfrm>
            <a:off x="3257975" y="759300"/>
            <a:ext cx="4941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Simplifying in mathematics is very important.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We multiply numbers with the base of 10 a lot in mathematics and science.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It is such an important base, it has its own button.</a:t>
            </a:r>
            <a:endParaRPr sz="2000"/>
          </a:p>
        </p:txBody>
      </p:sp>
      <p:grpSp>
        <p:nvGrpSpPr>
          <p:cNvPr id="1118" name="Google Shape;1118;p91"/>
          <p:cNvGrpSpPr/>
          <p:nvPr/>
        </p:nvGrpSpPr>
        <p:grpSpPr>
          <a:xfrm>
            <a:off x="1790975" y="3160875"/>
            <a:ext cx="3678625" cy="1169100"/>
            <a:chOff x="2400575" y="3160875"/>
            <a:chExt cx="3678625" cy="1169100"/>
          </a:xfrm>
        </p:grpSpPr>
        <p:cxnSp>
          <p:nvCxnSpPr>
            <p:cNvPr id="1119" name="Google Shape;1119;p91"/>
            <p:cNvCxnSpPr/>
            <p:nvPr/>
          </p:nvCxnSpPr>
          <p:spPr>
            <a:xfrm flipH="1">
              <a:off x="2400575" y="3424575"/>
              <a:ext cx="2942700" cy="9054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120" name="Google Shape;112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69600" y="3160875"/>
              <a:ext cx="609600" cy="619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1" name="Google Shape;1121;p91"/>
          <p:cNvSpPr txBox="1"/>
          <p:nvPr/>
        </p:nvSpPr>
        <p:spPr>
          <a:xfrm>
            <a:off x="3181775" y="3815350"/>
            <a:ext cx="501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allows us to quickly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when we multiply a number with a base of 10.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 b="0" sz="1800"/>
          </a:p>
        </p:txBody>
      </p:sp>
      <p:pic>
        <p:nvPicPr>
          <p:cNvPr id="1127" name="Google Shape;112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00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2"/>
          <p:cNvSpPr txBox="1"/>
          <p:nvPr>
            <p:ph idx="1" type="body"/>
          </p:nvPr>
        </p:nvSpPr>
        <p:spPr>
          <a:xfrm>
            <a:off x="3181775" y="759300"/>
            <a:ext cx="4776000" cy="4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129" name="Google Shape;1129;p92"/>
          <p:cNvSpPr txBox="1"/>
          <p:nvPr/>
        </p:nvSpPr>
        <p:spPr>
          <a:xfrm>
            <a:off x="3105575" y="1224550"/>
            <a:ext cx="50175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2.1 ✕ 10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10 ✕ 10 ✕ 10 ✕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 2.1\times10^5&quot;&gt;&lt;mo&gt;=&lt;/mo&gt;&lt;mtext&gt;&lt;/mtext&gt;&lt;mn&gt;2.1&lt;/mn&gt;&lt;mo&gt;×&lt;/mo&gt;&lt;msup&gt;&lt;mn&gt;10&lt;/mn&gt;&lt;mn&gt;5&lt;/mn&gt;&lt;/msup&gt;&lt;/math&gt;" id="1130" name="Google Shape;1130;p92" title="equals 2.1 times 10 to the fif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6050" y="1797550"/>
            <a:ext cx="1536425" cy="2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4373" y="2378650"/>
            <a:ext cx="2670805" cy="94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10\ 000&quot;&gt;&lt;mo&gt;=&lt;/mo&gt;&lt;mtext&gt;&lt;/mtext&gt;&lt;mn&gt;210&lt;/mn&gt;&lt;mtext&gt;&lt;/mtext&gt;&lt;mn&gt;000&lt;/mn&gt;&lt;/math&gt;" id="1132" name="Google Shape;1132;p92" title="equals 2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0000" y="2728400"/>
            <a:ext cx="1536425" cy="24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4374" y="3691350"/>
            <a:ext cx="2670800" cy="510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210\ 000&quot;&gt;&lt;mo&gt;=&lt;/mo&gt;&lt;mtext&gt;&lt;/mtext&gt;&lt;mn&gt;210&lt;/mn&gt;&lt;mtext&gt;&lt;/mtext&gt;&lt;mn&gt;000&lt;/mn&gt;&lt;/math&gt;" id="1134" name="Google Shape;1134;p92" title="equals 21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6050" y="3822813"/>
            <a:ext cx="1536425" cy="24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00" y="1133396"/>
            <a:ext cx="1761625" cy="847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 b="0" sz="1800"/>
          </a:p>
        </p:txBody>
      </p:sp>
      <p:pic>
        <p:nvPicPr>
          <p:cNvPr id="1141" name="Google Shape;114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00" y="668250"/>
            <a:ext cx="2259119" cy="4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3"/>
          <p:cNvSpPr txBox="1"/>
          <p:nvPr>
            <p:ph idx="1" type="body"/>
          </p:nvPr>
        </p:nvSpPr>
        <p:spPr>
          <a:xfrm>
            <a:off x="3181775" y="759300"/>
            <a:ext cx="4776000" cy="4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143" name="Google Shape;1143;p93"/>
          <p:cNvSpPr txBox="1"/>
          <p:nvPr/>
        </p:nvSpPr>
        <p:spPr>
          <a:xfrm>
            <a:off x="3105575" y="1224550"/>
            <a:ext cx="501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5\times10^4+1.3\times10^5\ =\ 165\ 000&quot;&gt;&lt;mn&gt;3.5&lt;/mn&gt;&lt;mo&gt;×&lt;/mo&gt;&lt;msup&gt;&lt;mn&gt;10&lt;/mn&gt;&lt;mn&gt;4&lt;/mn&gt;&lt;/msup&gt;&lt;mo&gt;+&lt;/mo&gt;&lt;mn&gt;1.3&lt;/mn&gt;&lt;mo&gt;×&lt;/mo&gt;&lt;msup&gt;&lt;mn&gt;10&lt;/mn&gt;&lt;mn&gt;5&lt;/mn&gt;&lt;/msup&gt;&lt;mtext&gt;&lt;/mtext&gt;&lt;mo&gt;=&lt;/mo&gt;&lt;mtext&gt;&lt;/mtext&gt;&lt;mn&gt;165&lt;/mn&gt;&lt;mtext&gt;&lt;/mtext&gt;&lt;mn&gt;000&lt;/mn&gt;&lt;/math&gt;" id="1144" name="Google Shape;1144;p93" title="3.5 times 10 to the fourth power plus 1.3 times 10 to the fifth power equals 165 000"/>
          <p:cNvPicPr preferRelativeResize="0"/>
          <p:nvPr/>
        </p:nvPicPr>
        <p:blipFill rotWithShape="1">
          <a:blip r:embed="rId4">
            <a:alphaModFix/>
          </a:blip>
          <a:srcRect b="0" l="0" r="33355" t="0"/>
          <a:stretch/>
        </p:blipFill>
        <p:spPr>
          <a:xfrm>
            <a:off x="3181775" y="1774700"/>
            <a:ext cx="3656125" cy="38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times10^4+1.3\times10^5\ =\ 165\ 000&quot;&gt;&lt;mn&gt;3.5&lt;/mn&gt;&lt;mo&gt;×&lt;/mo&gt;&lt;msup&gt;&lt;mn&gt;10&lt;/mn&gt;&lt;mn&gt;4&lt;/mn&gt;&lt;/msup&gt;&lt;mo&gt;+&lt;/mo&gt;&lt;mn&gt;1.3&lt;/mn&gt;&lt;mo&gt;×&lt;/mo&gt;&lt;msup&gt;&lt;mn&gt;10&lt;/mn&gt;&lt;mn&gt;5&lt;/mn&gt;&lt;/msup&gt;&lt;mtext&gt;&lt;/mtext&gt;&lt;mo&gt;=&lt;/mo&gt;&lt;mtext&gt;&lt;/mtext&gt;&lt;mn&gt;165&lt;/mn&gt;&lt;mtext&gt;&lt;/mtext&gt;&lt;mn&gt;000&lt;/mn&gt;&lt;/math&gt;" id="1145" name="Google Shape;1145;p93" title="3.5 times 10 to the fourth power plus 1.3 times 10 to the fifth power equals 165 000"/>
          <p:cNvPicPr preferRelativeResize="0"/>
          <p:nvPr/>
        </p:nvPicPr>
        <p:blipFill rotWithShape="1">
          <a:blip r:embed="rId4">
            <a:alphaModFix/>
          </a:blip>
          <a:srcRect b="0" l="66120" r="0" t="0"/>
          <a:stretch/>
        </p:blipFill>
        <p:spPr>
          <a:xfrm>
            <a:off x="6752781" y="2612900"/>
            <a:ext cx="1858626" cy="3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00" y="1134000"/>
            <a:ext cx="1779825" cy="837175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7" name="Google Shape;1147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3800" y="2358800"/>
            <a:ext cx="3323725" cy="1088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8" name="Google Shape;1148;p93"/>
          <p:cNvGrpSpPr/>
          <p:nvPr/>
        </p:nvGrpSpPr>
        <p:grpSpPr>
          <a:xfrm>
            <a:off x="3263812" y="3552800"/>
            <a:ext cx="3323763" cy="1101200"/>
            <a:chOff x="3263812" y="3552800"/>
            <a:chExt cx="3323763" cy="1101200"/>
          </a:xfrm>
        </p:grpSpPr>
        <p:pic>
          <p:nvPicPr>
            <p:cNvPr id="1149" name="Google Shape;1149;p9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263850" y="3565700"/>
              <a:ext cx="3323725" cy="108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0" name="Google Shape;1150;p9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63812" y="3552800"/>
              <a:ext cx="2967500" cy="837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3.5\times10^4+1.3\times10^5\ =\ 165\ 000&quot;&gt;&lt;mn&gt;3.5&lt;/mn&gt;&lt;mo&gt;×&lt;/mo&gt;&lt;msup&gt;&lt;mn&gt;10&lt;/mn&gt;&lt;mn&gt;4&lt;/mn&gt;&lt;/msup&gt;&lt;mo&gt;+&lt;/mo&gt;&lt;mn&gt;1.3&lt;/mn&gt;&lt;mo&gt;×&lt;/mo&gt;&lt;msup&gt;&lt;mn&gt;10&lt;/mn&gt;&lt;mn&gt;5&lt;/mn&gt;&lt;/msup&gt;&lt;mtext&gt;&lt;/mtext&gt;&lt;mo&gt;=&lt;/mo&gt;&lt;mtext&gt;&lt;/mtext&gt;&lt;mn&gt;165&lt;/mn&gt;&lt;mtext&gt;&lt;/mtext&gt;&lt;mn&gt;000&lt;/mn&gt;&lt;/math&gt;" id="1151" name="Google Shape;1151;p93" title="3.5 times 10 to the fourth power plus 1.3 times 10 to the fifth power equals 165 000"/>
          <p:cNvPicPr preferRelativeResize="0"/>
          <p:nvPr/>
        </p:nvPicPr>
        <p:blipFill rotWithShape="1">
          <a:blip r:embed="rId4">
            <a:alphaModFix/>
          </a:blip>
          <a:srcRect b="0" l="66120" r="0" t="0"/>
          <a:stretch/>
        </p:blipFill>
        <p:spPr>
          <a:xfrm>
            <a:off x="6786181" y="3863350"/>
            <a:ext cx="1858626" cy="3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 following is the correct </a:t>
            </a:r>
            <a:r>
              <a:rPr b="1" lang="en-GB" sz="2000"/>
              <a:t>evaluation </a:t>
            </a:r>
            <a:r>
              <a:rPr lang="en-GB" sz="2000"/>
              <a:t>of                          ?</a:t>
            </a:r>
            <a:endParaRPr sz="2000"/>
          </a:p>
        </p:txBody>
      </p:sp>
      <p:sp>
        <p:nvSpPr>
          <p:cNvPr id="1157" name="Google Shape;1157;p9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576 000</a:t>
            </a:r>
            <a:endParaRPr/>
          </a:p>
        </p:txBody>
      </p:sp>
      <p:sp>
        <p:nvSpPr>
          <p:cNvPr id="1158" name="Google Shape;1158;p9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57 600</a:t>
            </a:r>
            <a:endParaRPr/>
          </a:p>
        </p:txBody>
      </p:sp>
      <p:sp>
        <p:nvSpPr>
          <p:cNvPr id="1159" name="Google Shape;1159;p9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5.76000</a:t>
            </a:r>
            <a:endParaRPr/>
          </a:p>
        </p:txBody>
      </p:sp>
      <p:sp>
        <p:nvSpPr>
          <p:cNvPr id="1160" name="Google Shape;1160;p9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5760</a:t>
            </a:r>
            <a:endParaRPr/>
          </a:p>
        </p:txBody>
      </p:sp>
      <p:sp>
        <p:nvSpPr>
          <p:cNvPr id="1161" name="Google Shape;116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 b="0" sz="1800"/>
          </a:p>
        </p:txBody>
      </p:sp>
      <p:pic>
        <p:nvPicPr>
          <p:cNvPr id="1162" name="Google Shape;116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95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76\times10^5&quot;&gt;&lt;mn&gt;5.76&lt;/mn&gt;&lt;mo&gt;×&lt;/mo&gt;&lt;msup&gt;&lt;mn&gt;10&lt;/mn&gt;&lt;mn&gt;5&lt;/mn&gt;&lt;/msup&gt;&lt;/math&gt;" id="1163" name="Google Shape;1163;p94" title="5.76 times 10 to the fif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1200" y="733812"/>
            <a:ext cx="1553668" cy="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5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following:</a:t>
            </a:r>
            <a:endParaRPr/>
          </a:p>
        </p:txBody>
      </p:sp>
      <p:sp>
        <p:nvSpPr>
          <p:cNvPr id="1169" name="Google Shape;1169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.7\times10^4\ =\ 17\ 000&quot;&gt;&lt;mn&gt;1.7&lt;/mn&gt;&lt;mo&gt;×&lt;/mo&gt;&lt;msup&gt;&lt;mn&gt;10&lt;/mn&gt;&lt;mn&gt;4&lt;/mn&gt;&lt;/msup&gt;&lt;mtext&gt;&lt;/mtext&gt;&lt;mo&gt;=&lt;/mo&gt;&lt;mtext&gt;&lt;/mtext&gt;&lt;mn&gt;17&lt;/mn&gt;&lt;mtext&gt;&lt;/mtext&gt;&lt;mn&gt;000&lt;/mn&gt;&lt;/math&gt;" id="1170" name="Google Shape;1170;p95" title="1.7 times 10 to the fourth power equals 17 000"/>
          <p:cNvPicPr preferRelativeResize="0"/>
          <p:nvPr/>
        </p:nvPicPr>
        <p:blipFill rotWithShape="1">
          <a:blip r:embed="rId3">
            <a:alphaModFix/>
          </a:blip>
          <a:srcRect b="0" l="0" r="37675" t="0"/>
          <a:stretch/>
        </p:blipFill>
        <p:spPr>
          <a:xfrm>
            <a:off x="812700" y="1483025"/>
            <a:ext cx="2074500" cy="37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9\times10^8-\ 2.6\times10^{7\ }=\ 364\ 000\ 000&quot;&gt;&lt;mn&gt;3.9&lt;/mn&gt;&lt;mo&gt;×&lt;/mo&gt;&lt;msup&gt;&lt;mn&gt;10&lt;/mn&gt;&lt;mn&gt;8&lt;/mn&gt;&lt;/msup&gt;&lt;mo&gt;−&lt;/mo&gt;&lt;mtext&gt;&lt;/mtext&gt;&lt;mn&gt;2.6&lt;/mn&gt;&lt;mo&gt;×&lt;/mo&gt;&lt;msup&gt;&lt;mn&gt;10&lt;/mn&gt;&lt;mrow data-mjx-texclass=&quot;ORD&quot;&gt;&lt;mn&gt;7&lt;/mn&gt;&lt;mtext&gt;&lt;/mtext&gt;&lt;/mrow&gt;&lt;/msup&gt;&lt;mo&gt;=&lt;/mo&gt;&lt;mtext&gt;&lt;/mtext&gt;&lt;mn&gt;364&lt;/mn&gt;&lt;mtext&gt;&lt;/mtext&gt;&lt;mn&gt;000&lt;/mn&gt;&lt;mtext&gt;&lt;/mtext&gt;&lt;mn&gt;000&lt;/mn&gt;&lt;/math&gt;" id="1171" name="Google Shape;1171;p95" title="3.9 times 10 to the eighth power minus 2.6 times 10 raised to the 7 power equals 364 000 000"/>
          <p:cNvPicPr preferRelativeResize="0"/>
          <p:nvPr/>
        </p:nvPicPr>
        <p:blipFill rotWithShape="1">
          <a:blip r:embed="rId4">
            <a:alphaModFix/>
          </a:blip>
          <a:srcRect b="0" l="0" r="33901" t="0"/>
          <a:stretch/>
        </p:blipFill>
        <p:spPr>
          <a:xfrm>
            <a:off x="779750" y="2458575"/>
            <a:ext cx="4680274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\times10^2+1.2\times10^3+1.2\times10^4=\ 13\ 320&quot;&gt;&lt;mn&gt;1.2&lt;/mn&gt;&lt;mo&gt;×&lt;/mo&gt;&lt;msup&gt;&lt;mn&gt;10&lt;/mn&gt;&lt;mn&gt;2&lt;/mn&gt;&lt;/msup&gt;&lt;mo&gt;+&lt;/mo&gt;&lt;mn&gt;1.2&lt;/mn&gt;&lt;mo&gt;×&lt;/mo&gt;&lt;msup&gt;&lt;mn&gt;10&lt;/mn&gt;&lt;mn&gt;3&lt;/mn&gt;&lt;/msup&gt;&lt;mo&gt;+&lt;/mo&gt;&lt;mn&gt;1.2&lt;/mn&gt;&lt;mo&gt;×&lt;/mo&gt;&lt;msup&gt;&lt;mn&gt;10&lt;/mn&gt;&lt;mn&gt;4&lt;/mn&gt;&lt;/msup&gt;&lt;mo&gt;=&lt;/mo&gt;&lt;mtext&gt;&lt;/mtext&gt;&lt;mn&gt;13&lt;/mn&gt;&lt;mtext&gt;&lt;/mtext&gt;&lt;mn&gt;320&lt;/mn&gt;&lt;/math&gt;" id="1172" name="Google Shape;1172;p95" title="1.2 times 10 squared plus 1.2 times 10 cubed plus 1.2 times 10 to the fourth power equals 13 320"/>
          <p:cNvPicPr preferRelativeResize="0"/>
          <p:nvPr/>
        </p:nvPicPr>
        <p:blipFill rotWithShape="1">
          <a:blip r:embed="rId5">
            <a:alphaModFix/>
          </a:blip>
          <a:srcRect b="0" l="0" r="17362" t="0"/>
          <a:stretch/>
        </p:blipFill>
        <p:spPr>
          <a:xfrm>
            <a:off x="779750" y="3628450"/>
            <a:ext cx="65266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5"/>
          <p:cNvSpPr txBox="1"/>
          <p:nvPr/>
        </p:nvSpPr>
        <p:spPr>
          <a:xfrm>
            <a:off x="324000" y="1482675"/>
            <a:ext cx="408000" cy="29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6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missing exponents.</a:t>
            </a:r>
            <a:endParaRPr/>
          </a:p>
        </p:txBody>
      </p:sp>
      <p:sp>
        <p:nvSpPr>
          <p:cNvPr id="1179" name="Google Shape;117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sp>
        <p:nvSpPr>
          <p:cNvPr id="1180" name="Google Shape;1180;p96"/>
          <p:cNvSpPr txBox="1"/>
          <p:nvPr>
            <p:ph idx="4294967295" type="body"/>
          </p:nvPr>
        </p:nvSpPr>
        <p:spPr>
          <a:xfrm>
            <a:off x="4865650" y="1396475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181" name="Google Shape;1181;p96"/>
          <p:cNvSpPr txBox="1"/>
          <p:nvPr>
            <p:ph idx="4294967295" type="body"/>
          </p:nvPr>
        </p:nvSpPr>
        <p:spPr>
          <a:xfrm>
            <a:off x="2887200" y="3303400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pic>
        <p:nvPicPr>
          <p:cNvPr id="1182" name="Google Shape;118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038" y="3303400"/>
            <a:ext cx="3209925" cy="147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3" name="Google Shape;1183;p96"/>
          <p:cNvGrpSpPr/>
          <p:nvPr/>
        </p:nvGrpSpPr>
        <p:grpSpPr>
          <a:xfrm>
            <a:off x="690975" y="1396475"/>
            <a:ext cx="3629025" cy="1685925"/>
            <a:chOff x="690975" y="1396475"/>
            <a:chExt cx="3629025" cy="1685925"/>
          </a:xfrm>
        </p:grpSpPr>
        <p:pic>
          <p:nvPicPr>
            <p:cNvPr id="1184" name="Google Shape;118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975" y="1396475"/>
              <a:ext cx="3629025" cy="168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30700" y="1744176"/>
              <a:ext cx="114625" cy="1629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86" name="Google Shape;1186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117552" y="1744176"/>
              <a:ext cx="114625" cy="1629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1187" name="Google Shape;1187;p96"/>
          <p:cNvGrpSpPr/>
          <p:nvPr/>
        </p:nvGrpSpPr>
        <p:grpSpPr>
          <a:xfrm>
            <a:off x="5166125" y="1441876"/>
            <a:ext cx="3485282" cy="1613350"/>
            <a:chOff x="5166125" y="1441876"/>
            <a:chExt cx="3485282" cy="161335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66125" y="1441876"/>
              <a:ext cx="3485282" cy="161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9" name="Google Shape;1189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93700" y="1780851"/>
              <a:ext cx="114625" cy="1629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90" name="Google Shape;1190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80552" y="1780851"/>
              <a:ext cx="114625" cy="1629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1191" name="Google Shape;119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6979" y="359039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2" name="Google Shape;1192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9525" y="359039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3" name="Google Shape;1193;p96"/>
          <p:cNvSpPr txBox="1"/>
          <p:nvPr>
            <p:ph idx="4294967295" type="body"/>
          </p:nvPr>
        </p:nvSpPr>
        <p:spPr>
          <a:xfrm>
            <a:off x="324000" y="1364700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7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b="1" lang="en-GB"/>
              <a:t>Evaluate</a:t>
            </a:r>
            <a:r>
              <a:rPr lang="en-GB"/>
              <a:t> the following: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.7\times10^4\ =\ 17\ 000&quot;&gt;&lt;mn&gt;1.7&lt;/mn&gt;&lt;mo&gt;×&lt;/mo&gt;&lt;msup&gt;&lt;mn&gt;10&lt;/mn&gt;&lt;mn&gt;4&lt;/mn&gt;&lt;/msup&gt;&lt;mtext&gt;&lt;/mtext&gt;&lt;mo&gt;=&lt;/mo&gt;&lt;mtext&gt;&lt;/mtext&gt;&lt;mn&gt;17&lt;/mn&gt;&lt;mtext&gt;&lt;/mtext&gt;&lt;mn&gt;000&lt;/mn&gt;&lt;/math&gt;" id="1199" name="Google Shape;1199;p97" title="1.7 times 10 to the fourth power equals 17 000"/>
          <p:cNvPicPr preferRelativeResize="0"/>
          <p:nvPr/>
        </p:nvPicPr>
        <p:blipFill rotWithShape="1">
          <a:blip r:embed="rId3">
            <a:alphaModFix/>
          </a:blip>
          <a:srcRect b="0" l="0" r="37675" t="0"/>
          <a:stretch/>
        </p:blipFill>
        <p:spPr>
          <a:xfrm>
            <a:off x="812700" y="1483025"/>
            <a:ext cx="2074500" cy="37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9\times10^8-\ 2.6\times10^{7\ }=\ 364\ 000\ 000&quot;&gt;&lt;mn&gt;3.9&lt;/mn&gt;&lt;mo&gt;×&lt;/mo&gt;&lt;msup&gt;&lt;mn&gt;10&lt;/mn&gt;&lt;mn&gt;8&lt;/mn&gt;&lt;/msup&gt;&lt;mo&gt;−&lt;/mo&gt;&lt;mtext&gt;&lt;/mtext&gt;&lt;mn&gt;2.6&lt;/mn&gt;&lt;mo&gt;×&lt;/mo&gt;&lt;msup&gt;&lt;mn&gt;10&lt;/mn&gt;&lt;mrow data-mjx-texclass=&quot;ORD&quot;&gt;&lt;mn&gt;7&lt;/mn&gt;&lt;mtext&gt;&lt;/mtext&gt;&lt;/mrow&gt;&lt;/msup&gt;&lt;mo&gt;=&lt;/mo&gt;&lt;mtext&gt;&lt;/mtext&gt;&lt;mn&gt;364&lt;/mn&gt;&lt;mtext&gt;&lt;/mtext&gt;&lt;mn&gt;000&lt;/mn&gt;&lt;mtext&gt;&lt;/mtext&gt;&lt;mn&gt;000&lt;/mn&gt;&lt;/math&gt;" id="1200" name="Google Shape;1200;p97" title="3.9 times 10 to the eighth power minus 2.6 times 10 raised to the 7 power equals 364 000 000"/>
          <p:cNvPicPr preferRelativeResize="0"/>
          <p:nvPr/>
        </p:nvPicPr>
        <p:blipFill rotWithShape="1">
          <a:blip r:embed="rId4">
            <a:alphaModFix/>
          </a:blip>
          <a:srcRect b="0" l="0" r="34184" t="0"/>
          <a:stretch/>
        </p:blipFill>
        <p:spPr>
          <a:xfrm>
            <a:off x="779750" y="2458575"/>
            <a:ext cx="4659974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\times10^2+1.2\times10^3+1.2\times10^4=\ 13\ 320&quot;&gt;&lt;mn&gt;1.2&lt;/mn&gt;&lt;mo&gt;×&lt;/mo&gt;&lt;msup&gt;&lt;mn&gt;10&lt;/mn&gt;&lt;mn&gt;2&lt;/mn&gt;&lt;/msup&gt;&lt;mo&gt;+&lt;/mo&gt;&lt;mn&gt;1.2&lt;/mn&gt;&lt;mo&gt;×&lt;/mo&gt;&lt;msup&gt;&lt;mn&gt;10&lt;/mn&gt;&lt;mn&gt;3&lt;/mn&gt;&lt;/msup&gt;&lt;mo&gt;+&lt;/mo&gt;&lt;mn&gt;1.2&lt;/mn&gt;&lt;mo&gt;×&lt;/mo&gt;&lt;msup&gt;&lt;mn&gt;10&lt;/mn&gt;&lt;mn&gt;4&lt;/mn&gt;&lt;/msup&gt;&lt;mo&gt;=&lt;/mo&gt;&lt;mtext&gt;&lt;/mtext&gt;&lt;mn&gt;13&lt;/mn&gt;&lt;mtext&gt;&lt;/mtext&gt;&lt;mn&gt;320&lt;/mn&gt;&lt;/math&gt;" id="1201" name="Google Shape;1201;p97" title="1.2 times 10 squared plus 1.2 times 10 cubed plus 1.2 times 10 to the fourth power equals 13 320"/>
          <p:cNvPicPr preferRelativeResize="0"/>
          <p:nvPr/>
        </p:nvPicPr>
        <p:blipFill rotWithShape="1">
          <a:blip r:embed="rId5">
            <a:alphaModFix/>
          </a:blip>
          <a:srcRect b="0" l="0" r="18005" t="0"/>
          <a:stretch/>
        </p:blipFill>
        <p:spPr>
          <a:xfrm>
            <a:off x="779750" y="3628450"/>
            <a:ext cx="64760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sp>
        <p:nvSpPr>
          <p:cNvPr id="1203" name="Google Shape;1203;p97"/>
          <p:cNvSpPr txBox="1"/>
          <p:nvPr/>
        </p:nvSpPr>
        <p:spPr>
          <a:xfrm>
            <a:off x="324000" y="1482675"/>
            <a:ext cx="408000" cy="29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7"/>
          <p:cNvSpPr txBox="1"/>
          <p:nvPr/>
        </p:nvSpPr>
        <p:spPr>
          <a:xfrm>
            <a:off x="3075950" y="1483079"/>
            <a:ext cx="14202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17 000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97"/>
          <p:cNvSpPr txBox="1"/>
          <p:nvPr/>
        </p:nvSpPr>
        <p:spPr>
          <a:xfrm>
            <a:off x="5487475" y="2458575"/>
            <a:ext cx="23973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364 000 000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6" name="Google Shape;1206;p97"/>
          <p:cNvSpPr txBox="1"/>
          <p:nvPr/>
        </p:nvSpPr>
        <p:spPr>
          <a:xfrm>
            <a:off x="7303550" y="3699700"/>
            <a:ext cx="1575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13 320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8"/>
          <p:cNvSpPr txBox="1"/>
          <p:nvPr>
            <p:ph idx="4294967295" type="body"/>
          </p:nvPr>
        </p:nvSpPr>
        <p:spPr>
          <a:xfrm>
            <a:off x="324000" y="6831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missing exponents.</a:t>
            </a:r>
            <a:endParaRPr/>
          </a:p>
        </p:txBody>
      </p:sp>
      <p:sp>
        <p:nvSpPr>
          <p:cNvPr id="1212" name="Google Shape;121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10</a:t>
            </a:r>
            <a:r>
              <a:rPr baseline="30000" lang="en-GB"/>
              <a:t>x</a:t>
            </a:r>
            <a:r>
              <a:rPr lang="en-GB"/>
              <a:t> button on a calculator</a:t>
            </a:r>
            <a:endParaRPr/>
          </a:p>
        </p:txBody>
      </p:sp>
      <p:sp>
        <p:nvSpPr>
          <p:cNvPr id="1213" name="Google Shape;1213;p98"/>
          <p:cNvSpPr txBox="1"/>
          <p:nvPr>
            <p:ph idx="4294967295" type="body"/>
          </p:nvPr>
        </p:nvSpPr>
        <p:spPr>
          <a:xfrm>
            <a:off x="2887200" y="3303400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id="1214" name="Google Shape;121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038" y="3303400"/>
            <a:ext cx="320992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975" y="1472675"/>
            <a:ext cx="36290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0700" y="1820376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7" name="Google Shape;1217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7552" y="1820376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8" name="Google Shape;1218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6125" y="1441876"/>
            <a:ext cx="3485282" cy="16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3700" y="1780851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0" name="Google Shape;122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0552" y="1780851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1" name="Google Shape;1221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6979" y="359039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2" name="Google Shape;122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9525" y="359039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3" name="Google Shape;1223;p98"/>
          <p:cNvSpPr txBox="1"/>
          <p:nvPr>
            <p:ph idx="4294967295" type="body"/>
          </p:nvPr>
        </p:nvSpPr>
        <p:spPr>
          <a:xfrm>
            <a:off x="4865650" y="1396475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24" name="Google Shape;1224;p98"/>
          <p:cNvSpPr txBox="1"/>
          <p:nvPr>
            <p:ph idx="4294967295" type="body"/>
          </p:nvPr>
        </p:nvSpPr>
        <p:spPr>
          <a:xfrm>
            <a:off x="324000" y="1364700"/>
            <a:ext cx="488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99"/>
          <p:cNvSpPr txBox="1"/>
          <p:nvPr>
            <p:ph idx="4294967295" type="subTitle"/>
          </p:nvPr>
        </p:nvSpPr>
        <p:spPr>
          <a:xfrm>
            <a:off x="400200" y="765050"/>
            <a:ext cx="841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/>
              <a:t>Evaluate</a:t>
            </a:r>
            <a:r>
              <a:rPr b="0" lang="en-GB" sz="1900"/>
              <a:t> means to find the value of a numerical or an algebraic expression.</a:t>
            </a:r>
            <a:endParaRPr b="0" sz="1900"/>
          </a:p>
        </p:txBody>
      </p:sp>
      <p:sp>
        <p:nvSpPr>
          <p:cNvPr id="1231" name="Google Shape;1231;p99"/>
          <p:cNvSpPr txBox="1"/>
          <p:nvPr>
            <p:ph idx="1" type="body"/>
          </p:nvPr>
        </p:nvSpPr>
        <p:spPr>
          <a:xfrm>
            <a:off x="1166550" y="1779000"/>
            <a:ext cx="6573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This is the “square” button. It will square the number.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32" name="Google Shape;123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0" y="1702800"/>
            <a:ext cx="6286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99"/>
          <p:cNvSpPr txBox="1"/>
          <p:nvPr>
            <p:ph idx="1" type="body"/>
          </p:nvPr>
        </p:nvSpPr>
        <p:spPr>
          <a:xfrm>
            <a:off x="1347400" y="2471400"/>
            <a:ext cx="7989300" cy="7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This is the “square root” button. It finds the square root of any number.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34" name="Google Shape;123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13" y="2450500"/>
            <a:ext cx="65722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9"/>
          <p:cNvSpPr txBox="1"/>
          <p:nvPr>
            <p:ph idx="1" type="body"/>
          </p:nvPr>
        </p:nvSpPr>
        <p:spPr>
          <a:xfrm>
            <a:off x="1347400" y="3458250"/>
            <a:ext cx="7267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This is the “power” button. Insert the base and exponent.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36" name="Google Shape;1236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00" y="3307275"/>
            <a:ext cx="600075" cy="63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7" name="Google Shape;1237;p99"/>
          <p:cNvGrpSpPr/>
          <p:nvPr/>
        </p:nvGrpSpPr>
        <p:grpSpPr>
          <a:xfrm>
            <a:off x="490688" y="4096224"/>
            <a:ext cx="7313813" cy="609451"/>
            <a:chOff x="490688" y="4096224"/>
            <a:chExt cx="7313813" cy="609451"/>
          </a:xfrm>
        </p:grpSpPr>
        <p:pic>
          <p:nvPicPr>
            <p:cNvPr id="1238" name="Google Shape;1238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0688" y="4096224"/>
              <a:ext cx="600075" cy="60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99"/>
            <p:cNvSpPr txBox="1"/>
            <p:nvPr/>
          </p:nvSpPr>
          <p:spPr>
            <a:xfrm>
              <a:off x="1230900" y="4154650"/>
              <a:ext cx="6573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quickly 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multiplies a number with a base of 10.</a:t>
              </a:r>
              <a:endParaRPr sz="200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45" name="Google Shape;1245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