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90fc4fd29c_0_7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90fc4fd29c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11.png"/><Relationship Id="rId13" Type="http://schemas.openxmlformats.org/officeDocument/2006/relationships/image" Target="../media/image26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9" Type="http://schemas.openxmlformats.org/officeDocument/2006/relationships/image" Target="../media/image24.png"/><Relationship Id="rId14" Type="http://schemas.openxmlformats.org/officeDocument/2006/relationships/image" Target="../media/image22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8.png"/><Relationship Id="rId8" Type="http://schemas.openxmlformats.org/officeDocument/2006/relationships/image" Target="../media/image25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1.png"/><Relationship Id="rId10" Type="http://schemas.openxmlformats.org/officeDocument/2006/relationships/image" Target="../media/image27.png"/><Relationship Id="rId12" Type="http://schemas.openxmlformats.org/officeDocument/2006/relationships/image" Target="../media/image29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Relationship Id="rId9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Relationship Id="rId7" Type="http://schemas.openxmlformats.org/officeDocument/2006/relationships/image" Target="../media/image20.png"/><Relationship Id="rId8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Relationship Id="rId5" Type="http://schemas.openxmlformats.org/officeDocument/2006/relationships/image" Target="../media/image34.png"/><Relationship Id="rId6" Type="http://schemas.openxmlformats.org/officeDocument/2006/relationships/image" Target="../media/image28.png"/><Relationship Id="rId7" Type="http://schemas.openxmlformats.org/officeDocument/2006/relationships/image" Target="../media/image33.png"/><Relationship Id="rId8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Powers and roots using a calculator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395850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Evaluate a number using a square root</a:t>
            </a:r>
            <a:endParaRPr b="1"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2396906"/>
            <a:ext cx="21597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Evaluate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3278312"/>
            <a:ext cx="209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Evaluate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3789329"/>
            <a:ext cx="209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Evaluate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539700" y="1765150"/>
            <a:ext cx="65523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Evaluate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following. If your answer is a decimal, write all the digits from your calculator display.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3.45^2\ =\ 11.9025&quot;&gt;&lt;msup&gt;&lt;mn&gt;3.45&lt;/mn&gt;&lt;mn&gt;2&lt;/mn&gt;&lt;/msup&gt;&lt;mtext&gt;&lt;/mtext&gt;&lt;mo&gt;=&lt;/mo&gt;&lt;mtext&gt;&lt;/mtext&gt;&lt;mn&gt;11.9025&lt;/mn&gt;&lt;/math&gt;" id="178" name="Google Shape;178;p20" title="3.45 squared equals 11.9025"/>
          <p:cNvPicPr preferRelativeResize="0"/>
          <p:nvPr/>
        </p:nvPicPr>
        <p:blipFill rotWithShape="1">
          <a:blip r:embed="rId3">
            <a:alphaModFix/>
          </a:blip>
          <a:srcRect b="0" l="0" r="47019" t="0"/>
          <a:stretch/>
        </p:blipFill>
        <p:spPr>
          <a:xfrm>
            <a:off x="1663295" y="2314325"/>
            <a:ext cx="1074825" cy="26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.2^2\ +\ 13.4^2\ =\ 181&quot;&gt;&lt;msup&gt;&lt;mn&gt;1.2&lt;/mn&gt;&lt;mn&gt;2&lt;/mn&gt;&lt;/msup&gt;&lt;mtext&gt;&lt;/mtext&gt;&lt;mo&gt;+&lt;/mo&gt;&lt;mtext&gt;&lt;/mtext&gt;&lt;msup&gt;&lt;mn&gt;13.4&lt;/mn&gt;&lt;mn&gt;2&lt;/mn&gt;&lt;/msup&gt;&lt;mtext&gt;&lt;/mtext&gt;&lt;mo&gt;=&lt;/mo&gt;&lt;mtext&gt;&lt;/mtext&gt;&lt;mn&gt;181&lt;/mn&gt;&lt;/math&gt;" id="179" name="Google Shape;179;p20" title="1.2 squared plus 13.4 squared equals 181"/>
          <p:cNvPicPr preferRelativeResize="0"/>
          <p:nvPr/>
        </p:nvPicPr>
        <p:blipFill rotWithShape="1">
          <a:blip r:embed="rId4">
            <a:alphaModFix/>
          </a:blip>
          <a:srcRect b="0" l="0" r="20063" t="0"/>
          <a:stretch/>
        </p:blipFill>
        <p:spPr>
          <a:xfrm>
            <a:off x="1663300" y="2719275"/>
            <a:ext cx="1959600" cy="26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76.7376}-\ 2.3^2\ =\ 3.47&quot;&gt;&lt;msqrt&gt;&lt;mn&gt;76.7376&lt;/mn&gt;&lt;/msqrt&gt;&lt;mo&gt;−&lt;/mo&gt;&lt;mtext&gt;&lt;/mtext&gt;&lt;msup&gt;&lt;mn&gt;2.3&lt;/mn&gt;&lt;mn&gt;2&lt;/mn&gt;&lt;/msup&gt;&lt;mtext&gt;&lt;/mtext&gt;&lt;mo&gt;=&lt;/mo&gt;&lt;mtext&gt;&lt;/mtext&gt;&lt;mn&gt;3.47&lt;/mn&gt;&lt;/math&gt;" id="180" name="Google Shape;180;p20" title="the square root of 76.7376 minus 2.3 squared equals 3.47"/>
          <p:cNvPicPr preferRelativeResize="0"/>
          <p:nvPr/>
        </p:nvPicPr>
        <p:blipFill rotWithShape="1">
          <a:blip r:embed="rId5">
            <a:alphaModFix/>
          </a:blip>
          <a:srcRect b="0" l="0" r="17654" t="0"/>
          <a:stretch/>
        </p:blipFill>
        <p:spPr>
          <a:xfrm>
            <a:off x="1621048" y="3172125"/>
            <a:ext cx="2221974" cy="32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9^2+12^2}\ =\ 15&quot;&gt;&lt;msqrt&gt;&lt;msup&gt;&lt;mn&gt;9&lt;/mn&gt;&lt;mn&gt;2&lt;/mn&gt;&lt;/msup&gt;&lt;mo&gt;+&lt;/mo&gt;&lt;msup&gt;&lt;mn&gt;12&lt;/mn&gt;&lt;mn&gt;2&lt;/mn&gt;&lt;/msup&gt;&lt;/msqrt&gt;&lt;mtext&gt;&lt;/mtext&gt;&lt;mo&gt;=&lt;/mo&gt;&lt;mtext&gt;&lt;/mtext&gt;&lt;mn&gt;15&lt;/mn&gt;&lt;/math&gt;" id="181" name="Google Shape;181;p20" title="the square root of 9 squared plus 12 squared equals 15"/>
          <p:cNvPicPr preferRelativeResize="0"/>
          <p:nvPr/>
        </p:nvPicPr>
        <p:blipFill rotWithShape="1">
          <a:blip r:embed="rId6">
            <a:alphaModFix/>
          </a:blip>
          <a:srcRect b="0" l="0" r="14559" t="0"/>
          <a:stretch/>
        </p:blipFill>
        <p:spPr>
          <a:xfrm>
            <a:off x="1631526" y="3683725"/>
            <a:ext cx="1557450" cy="32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468000" y="2833362"/>
            <a:ext cx="215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Evaluate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68000" y="4326525"/>
            <a:ext cx="66240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Using a calculator, work out the missing lengths of the following shaded areas. Each shape is a square.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5595333" y="5423466"/>
            <a:ext cx="335400" cy="335400"/>
          </a:xfrm>
          <a:prstGeom prst="rect">
            <a:avLst/>
          </a:prstGeom>
          <a:solidFill>
            <a:srgbClr val="575756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2836038" y="6067325"/>
            <a:ext cx="19596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4.6225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615213" y="5840175"/>
            <a:ext cx="22956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0.00 000 1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127.69}\ =\ 11.3cm&quot;&gt;&lt;msqrt&gt;&lt;mn&gt;127.69&lt;/mn&gt;&lt;/msqrt&gt;&lt;mtext&gt;&lt;/mtext&gt;&lt;mo&gt;=&lt;/mo&gt;&lt;mtext&gt;&lt;/mtext&gt;&lt;mn&gt;11.3&lt;/mn&gt;&lt;mi&gt;c&lt;/mi&gt;&lt;mi&gt;m&lt;/mi&gt;&lt;/math&gt;" id="187" name="Google Shape;187;p20" title="the square root of 127.69 equals 11.3 c m"/>
          <p:cNvPicPr preferRelativeResize="0"/>
          <p:nvPr/>
        </p:nvPicPr>
        <p:blipFill rotWithShape="1">
          <a:blip r:embed="rId7">
            <a:alphaModFix/>
          </a:blip>
          <a:srcRect b="0" l="0" r="54191" t="0"/>
          <a:stretch/>
        </p:blipFill>
        <p:spPr>
          <a:xfrm>
            <a:off x="1640825" y="6297943"/>
            <a:ext cx="826387" cy="27398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946775" y="6313000"/>
            <a:ext cx="11004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Length = 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946775" y="6715025"/>
            <a:ext cx="21132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Length =   11.3 cm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3160200" y="6313000"/>
            <a:ext cx="11004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Length = 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3160200" y="6715025"/>
            <a:ext cx="19596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Length =   2.15 m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953600" y="6263775"/>
            <a:ext cx="11004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Length = 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4953600" y="6665800"/>
            <a:ext cx="22956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Length =  0.001 m 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946763" y="6053100"/>
            <a:ext cx="19596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127.69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1629275" y="5366759"/>
            <a:ext cx="594600" cy="572700"/>
          </a:xfrm>
          <a:prstGeom prst="rect">
            <a:avLst/>
          </a:prstGeom>
          <a:solidFill>
            <a:srgbClr val="575756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3216582" y="4819138"/>
            <a:ext cx="1174800" cy="1174800"/>
          </a:xfrm>
          <a:prstGeom prst="rect">
            <a:avLst/>
          </a:prstGeom>
          <a:solidFill>
            <a:srgbClr val="575756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4.6225}\ =\ 2.15m&quot;&gt;&lt;msqrt&gt;&lt;mn&gt;4.6225&lt;/mn&gt;&lt;/msqrt&gt;&lt;mtext&gt;&lt;/mtext&gt;&lt;mo&gt;=&lt;/mo&gt;&lt;mtext&gt;&lt;/mtext&gt;&lt;mn&gt;2.15&lt;/mn&gt;&lt;mi&gt;m&lt;/mi&gt;&lt;/math&gt;" id="197" name="Google Shape;197;p20" title="the square root of 4.6225 equals 2.15 m"/>
          <p:cNvPicPr preferRelativeResize="0"/>
          <p:nvPr/>
        </p:nvPicPr>
        <p:blipFill rotWithShape="1">
          <a:blip r:embed="rId8">
            <a:alphaModFix/>
          </a:blip>
          <a:srcRect b="0" l="0" r="52038" t="0"/>
          <a:stretch/>
        </p:blipFill>
        <p:spPr>
          <a:xfrm>
            <a:off x="3726813" y="6294888"/>
            <a:ext cx="826375" cy="28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0.00\ 000\ 1}\ =\ 0.001m&quot;&gt;&lt;msqrt&gt;&lt;mn&gt;0.00&lt;/mn&gt;&lt;mtext&gt;&lt;/mtext&gt;&lt;mn&gt;000&lt;/mn&gt;&lt;mtext&gt;&lt;/mtext&gt;&lt;mn&gt;1&lt;/mn&gt;&lt;/msqrt&gt;&lt;mtext&gt;&lt;/mtext&gt;&lt;mo&gt;=&lt;/mo&gt;&lt;mtext&gt;&lt;/mtext&gt;&lt;mn&gt;0.001&lt;/mn&gt;&lt;mi&gt;m&lt;/mi&gt;&lt;/math&gt;" id="198" name="Google Shape;198;p20" title="the square root of 0.00 000 1 equals 0.001 m"/>
          <p:cNvPicPr preferRelativeResize="0"/>
          <p:nvPr/>
        </p:nvPicPr>
        <p:blipFill rotWithShape="1">
          <a:blip r:embed="rId9">
            <a:alphaModFix/>
          </a:blip>
          <a:srcRect b="0" l="0" r="46300" t="0"/>
          <a:stretch/>
        </p:blipFill>
        <p:spPr>
          <a:xfrm>
            <a:off x="5584525" y="6253886"/>
            <a:ext cx="1174800" cy="27992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468000" y="7200425"/>
            <a:ext cx="66240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Using a calculator, explain why the following evaluate to the answer given.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67988" y="7611375"/>
            <a:ext cx="639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53^2}=\ 53&quot;&gt;&lt;msqrt&gt;&lt;msup&gt;&lt;mn&gt;53&lt;/mn&gt;&lt;mn&gt;2&lt;/mn&gt;&lt;/msup&gt;&lt;/msqrt&gt;&lt;mo&gt;=&lt;/mo&gt;&lt;mtext&gt;&lt;/mtext&gt;&lt;mn&gt;53&lt;/mn&gt;&lt;/math&gt;" id="201" name="Google Shape;201;p20" title="the square root of 53 squared equals 5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01549" y="8258673"/>
            <a:ext cx="1390850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2800801" y="7587650"/>
            <a:ext cx="4291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means the square root of the square root of the square root of 65 536.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65\ 536}\ =\ 256&quot;&gt;&lt;msqrt&gt;&lt;mn&gt;65&lt;/mn&gt;&lt;mtext&gt;&lt;/mtext&gt;&lt;mn&gt;536&lt;/mn&gt;&lt;/msqrt&gt;&lt;mtext&gt;&lt;/mtext&gt;&lt;mo&gt;=&lt;/mo&gt;&lt;mtext&gt;&lt;/mtext&gt;&lt;mn&gt;256&lt;/mn&gt;&lt;/math&gt;" id="203" name="Google Shape;203;p20" title="the square root of 65 536 equals 25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779999" y="7826150"/>
            <a:ext cx="1692100" cy="315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256}\ =\ 16&quot;&gt;&lt;msqrt&gt;&lt;mn&gt;256&lt;/mn&gt;&lt;/msqrt&gt;&lt;mtext&gt;&lt;/mtext&gt;&lt;mo&gt;=&lt;/mo&gt;&lt;mtext&gt;&lt;/mtext&gt;&lt;mn&gt;16&lt;/mn&gt;&lt;/math&gt;" id="204" name="Google Shape;204;p20" title="the square root of 256 equals 1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088105" y="8119424"/>
            <a:ext cx="1257125" cy="315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16}\ =\ 4&quot;&gt;&lt;msqrt&gt;&lt;mn&gt;16&lt;/mn&gt;&lt;/msqrt&gt;&lt;mtext&gt;&lt;/mtext&gt;&lt;mo&gt;=&lt;/mo&gt;&lt;mtext&gt;&lt;/mtext&gt;&lt;mn&gt;4&lt;/mn&gt;&lt;/math&gt;" id="205" name="Google Shape;205;p20" title="the square root of 16 equals 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222836" y="8440850"/>
            <a:ext cx="1008568" cy="31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646250" y="8837550"/>
            <a:ext cx="16920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Square and square root are inverses, thus they cancel each other out.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sqrt{\sqrt{65\ 536}}}\ =\ 4&quot;&gt;&lt;msqrt&gt;&lt;msqrt&gt;&lt;msqrt&gt;&lt;mn&gt;65&lt;/mn&gt;&lt;mtext&gt;&lt;/mtext&gt;&lt;mn&gt;536&lt;/mn&gt;&lt;/msqrt&gt;&lt;/msqrt&gt;&lt;/msqrt&gt;&lt;mtext&gt;&lt;/mtext&gt;&lt;mo&gt;=&lt;/mo&gt;&lt;mtext&gt;&lt;/mtext&gt;&lt;mn&gt;4&lt;/mn&gt;&lt;/math&gt;" id="207" name="Google Shape;207;p20" title="the square root of the square root of the square root of 65 536 equals 4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84113" y="7575963"/>
            <a:ext cx="1527475" cy="47314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8" name="Google Shape;208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p20"/>
          <p:cNvSpPr txBox="1"/>
          <p:nvPr/>
        </p:nvSpPr>
        <p:spPr>
          <a:xfrm>
            <a:off x="2675250" y="2308125"/>
            <a:ext cx="8790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11.9025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3622900" y="2676150"/>
            <a:ext cx="826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181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3842713" y="3172050"/>
            <a:ext cx="594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3.47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3160200" y="3678175"/>
            <a:ext cx="4287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8" name="Google Shape;218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Powers and roots using a calculator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468000" y="1582000"/>
            <a:ext cx="11829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Evaluate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468000" y="3804900"/>
            <a:ext cx="1182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Evaluate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468000" y="1022000"/>
            <a:ext cx="66240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Evaluate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following. If your answer is a decimal, write all the digits from your calculator display.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468000" y="2323050"/>
            <a:ext cx="9954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Evaluate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468000" y="7131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Evaluate using exponents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468000" y="3048025"/>
            <a:ext cx="12585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Evaluate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4.2^3\div2^4\ =\ 4.6305&quot;&gt;&lt;msup&gt;&lt;mn&gt;4.2&lt;/mn&gt;&lt;mn&gt;3&lt;/mn&gt;&lt;/msup&gt;&lt;mo&gt;÷&lt;/mo&gt;&lt;msup&gt;&lt;mn&gt;2&lt;/mn&gt;&lt;mn&gt;4&lt;/mn&gt;&lt;/msup&gt;&lt;mtext&gt;&lt;/mtext&gt;&lt;mo&gt;=&lt;/mo&gt;&lt;mtext&gt;&lt;/mtext&gt;&lt;mn&gt;4.6305&lt;/mn&gt;&lt;/math&gt;" id="227" name="Google Shape;227;p21" title="4.2 cubed divided by 2 to the fourth power equals 4.6305"/>
          <p:cNvPicPr preferRelativeResize="0"/>
          <p:nvPr/>
        </p:nvPicPr>
        <p:blipFill rotWithShape="1">
          <a:blip r:embed="rId3">
            <a:alphaModFix/>
          </a:blip>
          <a:srcRect b="0" l="0" r="35736" t="0"/>
          <a:stretch/>
        </p:blipFill>
        <p:spPr>
          <a:xfrm>
            <a:off x="1532075" y="2950425"/>
            <a:ext cx="1669600" cy="2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7^4\div9^2\div3^7=3&quot;&gt;&lt;msup&gt;&lt;mn&gt;27&lt;/mn&gt;&lt;mn&gt;4&lt;/mn&gt;&lt;/msup&gt;&lt;mo&gt;÷&lt;/mo&gt;&lt;msup&gt;&lt;mn&gt;9&lt;/mn&gt;&lt;mn&gt;2&lt;/mn&gt;&lt;/msup&gt;&lt;mo&gt;÷&lt;/mo&gt;&lt;msup&gt;&lt;mn&gt;3&lt;/mn&gt;&lt;mn&gt;7&lt;/mn&gt;&lt;/msup&gt;&lt;mo&gt;=&lt;/mo&gt;&lt;mn&gt;3&lt;/mn&gt;&lt;/math&gt;" id="228" name="Google Shape;228;p21" title="27 to the fourth power divided by 9 squared divided by 3 to the seventh power equals 3"/>
          <p:cNvPicPr preferRelativeResize="0"/>
          <p:nvPr/>
        </p:nvPicPr>
        <p:blipFill rotWithShape="1">
          <a:blip r:embed="rId4">
            <a:alphaModFix/>
          </a:blip>
          <a:srcRect b="0" l="0" r="8525" t="0"/>
          <a:stretch/>
        </p:blipFill>
        <p:spPr>
          <a:xfrm>
            <a:off x="1632826" y="2243675"/>
            <a:ext cx="2026050" cy="2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^6-6^4\ =\ 2800&quot;&gt;&lt;msup&gt;&lt;mn&gt;4&lt;/mn&gt;&lt;mn&gt;6&lt;/mn&gt;&lt;/msup&gt;&lt;mo&gt;−&lt;/mo&gt;&lt;msup&gt;&lt;mn&gt;6&lt;/mn&gt;&lt;mn&gt;4&lt;/mn&gt;&lt;/msup&gt;&lt;mtext&gt;&lt;/mtext&gt;&lt;mo&gt;=&lt;/mo&gt;&lt;mtext&gt;&lt;/mtext&gt;&lt;mn&gt;2800&lt;/mn&gt;&lt;/math&gt;" id="229" name="Google Shape;229;p21" title="4 to the sixth power minus 6 to the fourth power equals 2800"/>
          <p:cNvPicPr preferRelativeResize="0"/>
          <p:nvPr/>
        </p:nvPicPr>
        <p:blipFill rotWithShape="1">
          <a:blip r:embed="rId5">
            <a:alphaModFix/>
          </a:blip>
          <a:srcRect b="0" l="0" r="32669" t="0"/>
          <a:stretch/>
        </p:blipFill>
        <p:spPr>
          <a:xfrm>
            <a:off x="1654700" y="1499900"/>
            <a:ext cx="1432675" cy="2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3^4+4^3+5^2-1^7}=\ 13&quot;&gt;&lt;msqrt&gt;&lt;msup&gt;&lt;mn&gt;3&lt;/mn&gt;&lt;mn&gt;4&lt;/mn&gt;&lt;/msup&gt;&lt;mo&gt;+&lt;/mo&gt;&lt;msup&gt;&lt;mn&gt;4&lt;/mn&gt;&lt;mn&gt;3&lt;/mn&gt;&lt;/msup&gt;&lt;mo&gt;+&lt;/mo&gt;&lt;msup&gt;&lt;mn&gt;5&lt;/mn&gt;&lt;mn&gt;2&lt;/mn&gt;&lt;/msup&gt;&lt;mo&gt;−&lt;/mo&gt;&lt;msup&gt;&lt;mn&gt;1&lt;/mn&gt;&lt;mn&gt;7&lt;/mn&gt;&lt;/msup&gt;&lt;/msqrt&gt;&lt;mo&gt;=&lt;/mo&gt;&lt;mtext&gt;&lt;/mtext&gt;&lt;mn&gt;13&lt;/mn&gt;&lt;/math&gt;" id="230" name="Google Shape;230;p21" title="the square root of 3 to the fourth power plus 4 cubed plus 5 squared minus 1 to the seventh power equals 13"/>
          <p:cNvPicPr preferRelativeResize="0"/>
          <p:nvPr/>
        </p:nvPicPr>
        <p:blipFill rotWithShape="1">
          <a:blip r:embed="rId6">
            <a:alphaModFix/>
          </a:blip>
          <a:srcRect b="0" l="0" r="10015" t="0"/>
          <a:stretch/>
        </p:blipFill>
        <p:spPr>
          <a:xfrm>
            <a:off x="1532075" y="3714200"/>
            <a:ext cx="2666551" cy="3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468000" y="4510375"/>
            <a:ext cx="6624000" cy="9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Sofia followed this function machine. Her input was 27. Her output was 730.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1711150" y="4766100"/>
            <a:ext cx="1290000" cy="9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the power of 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3001203" y="4766100"/>
            <a:ext cx="1290000" cy="9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Add 3</a:t>
            </a:r>
            <a:r>
              <a:rPr baseline="30000"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baseline="30000"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4291258" y="4766100"/>
            <a:ext cx="1557600" cy="9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Divide by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468000" y="5861825"/>
            <a:ext cx="662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Which of the following buttons did she press to get the correct answer?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6" name="Google Shape;23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48983" y="6297018"/>
            <a:ext cx="2608438" cy="1351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1"/>
          <p:cNvGrpSpPr/>
          <p:nvPr/>
        </p:nvGrpSpPr>
        <p:grpSpPr>
          <a:xfrm>
            <a:off x="468045" y="6296947"/>
            <a:ext cx="400736" cy="400690"/>
            <a:chOff x="1020916" y="1442088"/>
            <a:chExt cx="457200" cy="457200"/>
          </a:xfrm>
        </p:grpSpPr>
        <p:pic>
          <p:nvPicPr>
            <p:cNvPr id="238" name="Google Shape;238;p2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9" name="Google Shape;239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0" name="Google Shape;240;p21"/>
          <p:cNvGrpSpPr/>
          <p:nvPr/>
        </p:nvGrpSpPr>
        <p:grpSpPr>
          <a:xfrm>
            <a:off x="4156013" y="6296947"/>
            <a:ext cx="400736" cy="400690"/>
            <a:chOff x="1020916" y="1442088"/>
            <a:chExt cx="457200" cy="457200"/>
          </a:xfrm>
        </p:grpSpPr>
        <p:pic>
          <p:nvPicPr>
            <p:cNvPr id="241" name="Google Shape;241;p2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1"/>
          <p:cNvGrpSpPr/>
          <p:nvPr/>
        </p:nvGrpSpPr>
        <p:grpSpPr>
          <a:xfrm>
            <a:off x="4746390" y="6271817"/>
            <a:ext cx="2345974" cy="1307279"/>
            <a:chOff x="5389262" y="3211425"/>
            <a:chExt cx="2676525" cy="1491646"/>
          </a:xfrm>
        </p:grpSpPr>
        <p:pic>
          <p:nvPicPr>
            <p:cNvPr id="244" name="Google Shape;244;p2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398787" y="3211425"/>
              <a:ext cx="2657475" cy="514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21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5389262" y="3702946"/>
              <a:ext cx="2676525" cy="504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" name="Google Shape;246;p2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5398787" y="4207771"/>
              <a:ext cx="2657475" cy="4953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7" name="Google Shape;247;p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94833" y="6876263"/>
            <a:ext cx="347076" cy="3673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8" name="Google Shape;248;p21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" name="Google Shape;249;p21"/>
          <p:cNvSpPr txBox="1"/>
          <p:nvPr/>
        </p:nvSpPr>
        <p:spPr>
          <a:xfrm>
            <a:off x="3099300" y="1497675"/>
            <a:ext cx="64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2800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3702300" y="2222225"/>
            <a:ext cx="30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3201675" y="2978938"/>
            <a:ext cx="76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4.6305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4140000" y="3744200"/>
            <a:ext cx="55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Powers and roots using a calculator</a:t>
            </a:r>
            <a:endParaRPr/>
          </a:p>
        </p:txBody>
      </p:sp>
      <p:sp>
        <p:nvSpPr>
          <p:cNvPr id="258" name="Google Shape;258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468000" y="1057200"/>
            <a:ext cx="66240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Evaluate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.7\times10^4\ =\ 17\ 000&quot;&gt;&lt;mn&gt;1.7&lt;/mn&gt;&lt;mo&gt;×&lt;/mo&gt;&lt;msup&gt;&lt;mn&gt;10&lt;/mn&gt;&lt;mn&gt;4&lt;/mn&gt;&lt;/msup&gt;&lt;mtext&gt;&lt;/mtext&gt;&lt;mo&gt;=&lt;/mo&gt;&lt;mtext&gt;&lt;/mtext&gt;&lt;mn&gt;17&lt;/mn&gt;&lt;mtext&gt;&lt;/mtext&gt;&lt;mn&gt;000&lt;/mn&gt;&lt;/math&gt;" id="260" name="Google Shape;260;p22" title="1.7 times 10 to the fourth power equals 17 000"/>
          <p:cNvPicPr preferRelativeResize="0"/>
          <p:nvPr/>
        </p:nvPicPr>
        <p:blipFill rotWithShape="1">
          <a:blip r:embed="rId3">
            <a:alphaModFix/>
          </a:blip>
          <a:srcRect b="0" l="0" r="35843" t="0"/>
          <a:stretch/>
        </p:blipFill>
        <p:spPr>
          <a:xfrm>
            <a:off x="836453" y="1376650"/>
            <a:ext cx="1698475" cy="30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.9\times10^8-\ 2.6\times10^{7\ }=\ 364\ 000\ 000&quot;&gt;&lt;mn&gt;3.9&lt;/mn&gt;&lt;mo&gt;×&lt;/mo&gt;&lt;msup&gt;&lt;mn&gt;10&lt;/mn&gt;&lt;mn&gt;8&lt;/mn&gt;&lt;/msup&gt;&lt;mo&gt;−&lt;/mo&gt;&lt;mtext&gt;&lt;/mtext&gt;&lt;mn&gt;2.6&lt;/mn&gt;&lt;mo&gt;×&lt;/mo&gt;&lt;msup&gt;&lt;mn&gt;10&lt;/mn&gt;&lt;mrow data-mjx-texclass=&quot;ORD&quot;&gt;&lt;mn&gt;7&lt;/mn&gt;&lt;mtext&gt;&lt;/mtext&gt;&lt;/mrow&gt;&lt;/msup&gt;&lt;mo&gt;=&lt;/mo&gt;&lt;mtext&gt;&lt;/mtext&gt;&lt;mn&gt;364&lt;/mn&gt;&lt;mtext&gt;&lt;/mtext&gt;&lt;mn&gt;000&lt;/mn&gt;&lt;mtext&gt;&lt;/mtext&gt;&lt;mn&gt;000&lt;/mn&gt;&lt;/math&gt;" id="261" name="Google Shape;261;p22" title="3.9 times 10 to the eighth power minus 2.6 times 10 raised to the 7 power equals 364 000 000"/>
          <p:cNvPicPr preferRelativeResize="0"/>
          <p:nvPr/>
        </p:nvPicPr>
        <p:blipFill rotWithShape="1">
          <a:blip r:embed="rId4">
            <a:alphaModFix/>
          </a:blip>
          <a:srcRect b="0" l="0" r="34080" t="0"/>
          <a:stretch/>
        </p:blipFill>
        <p:spPr>
          <a:xfrm>
            <a:off x="810250" y="2092000"/>
            <a:ext cx="3712225" cy="333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.2\times10^2+1.2\times10^3+1.2\times10^4=\ 13\ 320&quot;&gt;&lt;mn&gt;1.2&lt;/mn&gt;&lt;mo&gt;×&lt;/mo&gt;&lt;msup&gt;&lt;mn&gt;10&lt;/mn&gt;&lt;mn&gt;2&lt;/mn&gt;&lt;/msup&gt;&lt;mo&gt;+&lt;/mo&gt;&lt;mn&gt;1.2&lt;/mn&gt;&lt;mo&gt;×&lt;/mo&gt;&lt;msup&gt;&lt;mn&gt;10&lt;/mn&gt;&lt;mn&gt;3&lt;/mn&gt;&lt;/msup&gt;&lt;mo&gt;+&lt;/mo&gt;&lt;mn&gt;1.2&lt;/mn&gt;&lt;mo&gt;×&lt;/mo&gt;&lt;msup&gt;&lt;mn&gt;10&lt;/mn&gt;&lt;mn&gt;4&lt;/mn&gt;&lt;/msup&gt;&lt;mo&gt;=&lt;/mo&gt;&lt;mtext&gt;&lt;/mtext&gt;&lt;mn&gt;13&lt;/mn&gt;&lt;mtext&gt;&lt;/mtext&gt;&lt;mn&gt;320&lt;/mn&gt;&lt;/math&gt;" id="262" name="Google Shape;262;p22" title="1.2 times 10 squared plus 1.2 times 10 cubed plus 1.2 times 10 to the fourth power equals 13 320"/>
          <p:cNvPicPr preferRelativeResize="0"/>
          <p:nvPr/>
        </p:nvPicPr>
        <p:blipFill rotWithShape="1">
          <a:blip r:embed="rId5">
            <a:alphaModFix/>
          </a:blip>
          <a:srcRect b="0" l="0" r="17046" t="0"/>
          <a:stretch/>
        </p:blipFill>
        <p:spPr>
          <a:xfrm>
            <a:off x="810250" y="2839300"/>
            <a:ext cx="5210826" cy="3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2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="1" baseline="30000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button on a calculator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2"/>
          <p:cNvSpPr txBox="1"/>
          <p:nvPr/>
        </p:nvSpPr>
        <p:spPr>
          <a:xfrm>
            <a:off x="468000" y="1376650"/>
            <a:ext cx="4080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2"/>
          <p:cNvSpPr txBox="1"/>
          <p:nvPr/>
        </p:nvSpPr>
        <p:spPr>
          <a:xfrm>
            <a:off x="468000" y="3676088"/>
            <a:ext cx="82377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missing exponents.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2"/>
          <p:cNvSpPr txBox="1"/>
          <p:nvPr/>
        </p:nvSpPr>
        <p:spPr>
          <a:xfrm>
            <a:off x="2277050" y="6053338"/>
            <a:ext cx="4887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7" name="Google Shape;267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08898" y="6053348"/>
            <a:ext cx="2674040" cy="122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6450" y="4335296"/>
            <a:ext cx="2647400" cy="1229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35075" y="4335297"/>
            <a:ext cx="2656919" cy="122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2"/>
          <p:cNvSpPr txBox="1"/>
          <p:nvPr/>
        </p:nvSpPr>
        <p:spPr>
          <a:xfrm>
            <a:off x="4152625" y="4357688"/>
            <a:ext cx="4887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>
            <a:off x="468000" y="4357688"/>
            <a:ext cx="4887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2534925" y="1330300"/>
            <a:ext cx="7893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17 000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4560575" y="2090078"/>
            <a:ext cx="17463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364 000 000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5982975" y="2855975"/>
            <a:ext cx="8508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13 320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