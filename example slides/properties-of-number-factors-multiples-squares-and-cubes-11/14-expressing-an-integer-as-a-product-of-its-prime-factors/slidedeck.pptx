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6a8fe43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6a8fe43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820d2c2e6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820d2c2e6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820d2c2e6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820d2c2e6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2820d2c2e6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820d2c2e6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82605e850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282605e850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820d2c2e6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820d2c2e6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820d2c2e6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820d2c2e6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83b07be08a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83b07be08a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82605e8503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282605e850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282605e8503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282605e8503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282605e8503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282605e850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2820d2c2e6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2820d2c2e6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2820d2c2e6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2820d2c2e6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286a8fe432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286a8fe432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2820d2c2e6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2820d2c2e6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286a8fe432c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286a8fe432c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282605e8503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282605e850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282605e850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282605e850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282605e8503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282605e8503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28a0542c99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1" name="Google Shape;1161;g28a0542c99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282605e8503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282605e8503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282605e8503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282605e8503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282605e8503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282605e8503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288189f30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288189f30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288189f309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288189f309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288189f309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288189f309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288189f309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288189f309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88189f309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88189f309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283b07be08a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283b07be08a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283b07be08a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283b07be08a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283b07be08a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283b07be08a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283b07be08a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283b07be08a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8" name="Google Shape;135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6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63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3.png"/><Relationship Id="rId4" Type="http://schemas.openxmlformats.org/officeDocument/2006/relationships/image" Target="../media/image23.png"/><Relationship Id="rId9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3.png"/><Relationship Id="rId4" Type="http://schemas.openxmlformats.org/officeDocument/2006/relationships/image" Target="../media/image30.png"/><Relationship Id="rId11" Type="http://schemas.openxmlformats.org/officeDocument/2006/relationships/image" Target="../media/image22.png"/><Relationship Id="rId10" Type="http://schemas.openxmlformats.org/officeDocument/2006/relationships/image" Target="../media/image38.png"/><Relationship Id="rId9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Relationship Id="rId4" Type="http://schemas.openxmlformats.org/officeDocument/2006/relationships/image" Target="../media/image4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image" Target="../media/image5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8.png"/><Relationship Id="rId4" Type="http://schemas.openxmlformats.org/officeDocument/2006/relationships/image" Target="../media/image5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8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2.png"/><Relationship Id="rId4" Type="http://schemas.openxmlformats.org/officeDocument/2006/relationships/image" Target="../media/image56.png"/><Relationship Id="rId5" Type="http://schemas.openxmlformats.org/officeDocument/2006/relationships/image" Target="../media/image5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2.png"/><Relationship Id="rId4" Type="http://schemas.openxmlformats.org/officeDocument/2006/relationships/image" Target="../media/image54.png"/><Relationship Id="rId5" Type="http://schemas.openxmlformats.org/officeDocument/2006/relationships/image" Target="../media/image58.png"/><Relationship Id="rId6" Type="http://schemas.openxmlformats.org/officeDocument/2006/relationships/image" Target="../media/image57.png"/><Relationship Id="rId7" Type="http://schemas.openxmlformats.org/officeDocument/2006/relationships/image" Target="../media/image5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8.png"/><Relationship Id="rId4" Type="http://schemas.openxmlformats.org/officeDocument/2006/relationships/image" Target="../media/image52.png"/><Relationship Id="rId5" Type="http://schemas.openxmlformats.org/officeDocument/2006/relationships/image" Target="../media/image56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2.png"/><Relationship Id="rId4" Type="http://schemas.openxmlformats.org/officeDocument/2006/relationships/image" Target="../media/image54.png"/><Relationship Id="rId5" Type="http://schemas.openxmlformats.org/officeDocument/2006/relationships/image" Target="../media/image60.png"/><Relationship Id="rId6" Type="http://schemas.openxmlformats.org/officeDocument/2006/relationships/image" Target="../media/image6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an integer as a product of its prime factors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Properties of number: factors, multiples, squares and cubes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209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</a:t>
            </a:r>
            <a:r>
              <a:rPr lang="en-GB"/>
              <a:t> can write any positive integer uniquely as a product of its prime factors.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prime number is an integer greater than 1 with exactly two factors. </a:t>
            </a:r>
            <a:endParaRPr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2238725"/>
            <a:ext cx="8496000" cy="80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product is the result of two or more numbers multiplied together.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8"/>
          <p:cNvSpPr txBox="1"/>
          <p:nvPr>
            <p:ph idx="2" type="subTitle"/>
          </p:nvPr>
        </p:nvSpPr>
        <p:spPr>
          <a:xfrm>
            <a:off x="324000" y="2238725"/>
            <a:ext cx="8496000" cy="7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Prime factors</a:t>
            </a:r>
            <a:r>
              <a:rPr lang="en-GB"/>
              <a:t> are the factors of a number that are, </a:t>
            </a:r>
            <a:r>
              <a:rPr lang="en-GB"/>
              <a:t>themselves, prime.</a:t>
            </a:r>
            <a:r>
              <a:rPr lang="en-GB"/>
              <a:t>  </a:t>
            </a:r>
            <a:endParaRPr/>
          </a:p>
        </p:txBody>
      </p:sp>
      <p:sp>
        <p:nvSpPr>
          <p:cNvPr id="773" name="Google Shape;773;p68"/>
          <p:cNvSpPr txBox="1"/>
          <p:nvPr>
            <p:ph idx="1" type="subTitle"/>
          </p:nvPr>
        </p:nvSpPr>
        <p:spPr>
          <a:xfrm>
            <a:off x="324000" y="993650"/>
            <a:ext cx="8496000" cy="9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composite number</a:t>
            </a:r>
            <a:r>
              <a:rPr lang="en-GB"/>
              <a:t> is an integer with more than two factors. All integers greater than 1 are either composite or prime.</a:t>
            </a:r>
            <a:endParaRPr/>
          </a:p>
        </p:txBody>
      </p:sp>
      <p:sp>
        <p:nvSpPr>
          <p:cNvPr id="774" name="Google Shape;774;p68"/>
          <p:cNvSpPr txBox="1"/>
          <p:nvPr>
            <p:ph idx="3" type="subTitle"/>
          </p:nvPr>
        </p:nvSpPr>
        <p:spPr>
          <a:xfrm>
            <a:off x="324000" y="3483825"/>
            <a:ext cx="8496000" cy="7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Each composite number has a</a:t>
            </a:r>
            <a:r>
              <a:rPr lang="en-GB"/>
              <a:t> </a:t>
            </a:r>
            <a:r>
              <a:rPr b="1" lang="en-GB"/>
              <a:t>u</a:t>
            </a:r>
            <a:r>
              <a:rPr b="1" lang="en-GB"/>
              <a:t>nique</a:t>
            </a:r>
            <a:r>
              <a:rPr lang="en-GB"/>
              <a:t> product of its prime factors.  i.e. there is only one </a:t>
            </a:r>
            <a:r>
              <a:rPr b="1" lang="en-GB"/>
              <a:t>unique</a:t>
            </a:r>
            <a:r>
              <a:rPr lang="en-GB"/>
              <a:t> way it can be written.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9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Composite and prime numbers</a:t>
            </a:r>
            <a:endParaRPr/>
          </a:p>
        </p:txBody>
      </p:sp>
      <p:sp>
        <p:nvSpPr>
          <p:cNvPr id="780" name="Google Shape;780;p69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of prime factors</a:t>
            </a:r>
            <a:endParaRPr/>
          </a:p>
        </p:txBody>
      </p:sp>
      <p:sp>
        <p:nvSpPr>
          <p:cNvPr id="781" name="Google Shape;781;p69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of prime factors using index notation</a:t>
            </a:r>
            <a:endParaRPr/>
          </a:p>
        </p:txBody>
      </p:sp>
      <p:sp>
        <p:nvSpPr>
          <p:cNvPr id="782" name="Google Shape;782;p69"/>
          <p:cNvSpPr txBox="1"/>
          <p:nvPr>
            <p:ph idx="4" type="title"/>
          </p:nvPr>
        </p:nvSpPr>
        <p:spPr>
          <a:xfrm>
            <a:off x="324000" y="657600"/>
            <a:ext cx="84960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an integer as a product of its prime factors</a:t>
            </a:r>
            <a:endParaRPr/>
          </a:p>
        </p:txBody>
      </p:sp>
      <p:pic>
        <p:nvPicPr>
          <p:cNvPr id="783" name="Google Shape;78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75" y="17483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Composite and prime numbers</a:t>
            </a:r>
            <a:endParaRPr/>
          </a:p>
        </p:txBody>
      </p:sp>
      <p:sp>
        <p:nvSpPr>
          <p:cNvPr id="789" name="Google Shape;789;p70"/>
          <p:cNvSpPr txBox="1"/>
          <p:nvPr>
            <p:ph idx="1" type="body"/>
          </p:nvPr>
        </p:nvSpPr>
        <p:spPr>
          <a:xfrm>
            <a:off x="324000" y="759300"/>
            <a:ext cx="7135200" cy="7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Alex is using multiplication and the first three prime numbers to create the numbers from 1 to 20.</a:t>
            </a:r>
            <a:endParaRPr/>
          </a:p>
        </p:txBody>
      </p:sp>
      <p:pic>
        <p:nvPicPr>
          <p:cNvPr id="790" name="Google Shape;79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6000" y="1090500"/>
            <a:ext cx="1070938" cy="1240601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70"/>
          <p:cNvSpPr/>
          <p:nvPr/>
        </p:nvSpPr>
        <p:spPr>
          <a:xfrm>
            <a:off x="2664688" y="1589400"/>
            <a:ext cx="457200" cy="450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70"/>
          <p:cNvSpPr/>
          <p:nvPr/>
        </p:nvSpPr>
        <p:spPr>
          <a:xfrm>
            <a:off x="3502888" y="1589400"/>
            <a:ext cx="457200" cy="450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70"/>
          <p:cNvSpPr/>
          <p:nvPr/>
        </p:nvSpPr>
        <p:spPr>
          <a:xfrm>
            <a:off x="4341088" y="1589400"/>
            <a:ext cx="457200" cy="450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70"/>
          <p:cNvSpPr txBox="1"/>
          <p:nvPr/>
        </p:nvSpPr>
        <p:spPr>
          <a:xfrm>
            <a:off x="324000" y="2265300"/>
            <a:ext cx="3975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70"/>
          <p:cNvSpPr txBox="1"/>
          <p:nvPr/>
        </p:nvSpPr>
        <p:spPr>
          <a:xfrm>
            <a:off x="2099601" y="2265300"/>
            <a:ext cx="5259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6</a:t>
            </a: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7</a:t>
            </a: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8</a:t>
            </a: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9</a:t>
            </a: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70"/>
          <p:cNvSpPr txBox="1"/>
          <p:nvPr/>
        </p:nvSpPr>
        <p:spPr>
          <a:xfrm>
            <a:off x="4439466" y="2265300"/>
            <a:ext cx="5259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</a:t>
            </a: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13</a:t>
            </a: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14</a:t>
            </a: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70"/>
          <p:cNvSpPr txBox="1"/>
          <p:nvPr/>
        </p:nvSpPr>
        <p:spPr>
          <a:xfrm>
            <a:off x="6503700" y="2265300"/>
            <a:ext cx="5502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16</a:t>
            </a: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17</a:t>
            </a: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18</a:t>
            </a: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19</a:t>
            </a: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8" name="Google Shape;798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397" y="2376879"/>
            <a:ext cx="295675" cy="31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397" y="2875191"/>
            <a:ext cx="295675" cy="31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397" y="3365872"/>
            <a:ext cx="295675" cy="313425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70"/>
          <p:cNvSpPr txBox="1"/>
          <p:nvPr/>
        </p:nvSpPr>
        <p:spPr>
          <a:xfrm>
            <a:off x="505312" y="3782413"/>
            <a:ext cx="1576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2 × 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2" name="Google Shape;802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409" y="4387054"/>
            <a:ext cx="295675" cy="31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5641" y="2871404"/>
            <a:ext cx="295675" cy="313425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70"/>
          <p:cNvSpPr txBox="1"/>
          <p:nvPr/>
        </p:nvSpPr>
        <p:spPr>
          <a:xfrm>
            <a:off x="2466149" y="2265288"/>
            <a:ext cx="175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× 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70"/>
          <p:cNvSpPr txBox="1"/>
          <p:nvPr/>
        </p:nvSpPr>
        <p:spPr>
          <a:xfrm>
            <a:off x="2466150" y="3289813"/>
            <a:ext cx="175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× 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70"/>
          <p:cNvSpPr txBox="1"/>
          <p:nvPr/>
        </p:nvSpPr>
        <p:spPr>
          <a:xfrm>
            <a:off x="2466149" y="3794788"/>
            <a:ext cx="166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× 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70"/>
          <p:cNvSpPr txBox="1"/>
          <p:nvPr/>
        </p:nvSpPr>
        <p:spPr>
          <a:xfrm>
            <a:off x="2440937" y="4294313"/>
            <a:ext cx="166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× 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8" name="Google Shape;808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4504" y="2376879"/>
            <a:ext cx="295675" cy="313425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70"/>
          <p:cNvSpPr txBox="1"/>
          <p:nvPr/>
        </p:nvSpPr>
        <p:spPr>
          <a:xfrm>
            <a:off x="4803813" y="2762688"/>
            <a:ext cx="166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× 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0" name="Google Shape;81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4504" y="3381216"/>
            <a:ext cx="295675" cy="31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4504" y="3875854"/>
            <a:ext cx="295675" cy="313425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70"/>
          <p:cNvSpPr txBox="1"/>
          <p:nvPr/>
        </p:nvSpPr>
        <p:spPr>
          <a:xfrm>
            <a:off x="4803814" y="4301963"/>
            <a:ext cx="144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 × 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/>
        </p:nvSpPr>
        <p:spPr>
          <a:xfrm>
            <a:off x="6861188" y="2268163"/>
            <a:ext cx="2281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× 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4" name="Google Shape;814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3909" y="2858105"/>
            <a:ext cx="295675" cy="3134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6861188" y="3285063"/>
            <a:ext cx="175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× 3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6" name="Google Shape;81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3909" y="3883485"/>
            <a:ext cx="295675" cy="313425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70"/>
          <p:cNvSpPr txBox="1"/>
          <p:nvPr/>
        </p:nvSpPr>
        <p:spPr>
          <a:xfrm>
            <a:off x="6861188" y="4279763"/>
            <a:ext cx="183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× 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Composite and prime numbers</a:t>
            </a:r>
            <a:endParaRPr/>
          </a:p>
        </p:txBody>
      </p:sp>
      <p:sp>
        <p:nvSpPr>
          <p:cNvPr id="823" name="Google Shape;823;p71"/>
          <p:cNvSpPr txBox="1"/>
          <p:nvPr>
            <p:ph idx="1" type="body"/>
          </p:nvPr>
        </p:nvSpPr>
        <p:spPr>
          <a:xfrm>
            <a:off x="324000" y="759300"/>
            <a:ext cx="7135200" cy="7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is a list of the numbers he couldn’t create.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1, 2, 3, 5, 7, 11, 13, 14, 17, 19</a:t>
            </a:r>
            <a:endParaRPr/>
          </a:p>
        </p:txBody>
      </p:sp>
      <p:pic>
        <p:nvPicPr>
          <p:cNvPr id="824" name="Google Shape;82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3991" y="3203650"/>
            <a:ext cx="1209584" cy="140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71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375975" y="1807125"/>
            <a:ext cx="3316598" cy="1817751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1"/>
          <p:cNvSpPr txBox="1"/>
          <p:nvPr/>
        </p:nvSpPr>
        <p:spPr>
          <a:xfrm>
            <a:off x="1650375" y="2191800"/>
            <a:ext cx="2363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These are all prime apart from 1 and 14.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7" name="Google Shape;827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269749" y="3392400"/>
            <a:ext cx="1077416" cy="1200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71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492924" y="2209800"/>
            <a:ext cx="2246426" cy="1334999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1"/>
          <p:cNvSpPr txBox="1"/>
          <p:nvPr/>
        </p:nvSpPr>
        <p:spPr>
          <a:xfrm>
            <a:off x="4419600" y="1785975"/>
            <a:ext cx="3211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 think you could make more numbers if you used the first 4 prime numbers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1"/>
          <p:cNvSpPr txBox="1"/>
          <p:nvPr/>
        </p:nvSpPr>
        <p:spPr>
          <a:xfrm>
            <a:off x="2854650" y="3796800"/>
            <a:ext cx="213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Is Sofia right?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1"/>
          <p:cNvSpPr txBox="1"/>
          <p:nvPr/>
        </p:nvSpPr>
        <p:spPr>
          <a:xfrm>
            <a:off x="2854655" y="4320000"/>
            <a:ext cx="293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She is, 2 × 7 = 14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Composite and prime numbers</a:t>
            </a:r>
            <a:endParaRPr/>
          </a:p>
        </p:txBody>
      </p:sp>
      <p:sp>
        <p:nvSpPr>
          <p:cNvPr id="837" name="Google Shape;837;p72"/>
          <p:cNvSpPr txBox="1"/>
          <p:nvPr>
            <p:ph idx="1" type="body"/>
          </p:nvPr>
        </p:nvSpPr>
        <p:spPr>
          <a:xfrm>
            <a:off x="324000" y="16200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Numbers greater than 1 are either </a:t>
            </a:r>
            <a:r>
              <a:rPr b="1" lang="en-GB"/>
              <a:t>composite</a:t>
            </a:r>
            <a:r>
              <a:rPr lang="en-GB"/>
              <a:t> or prime.</a:t>
            </a:r>
            <a:endParaRPr/>
          </a:p>
        </p:txBody>
      </p:sp>
      <p:sp>
        <p:nvSpPr>
          <p:cNvPr id="838" name="Google Shape;838;p72"/>
          <p:cNvSpPr txBox="1"/>
          <p:nvPr>
            <p:ph idx="1" type="body"/>
          </p:nvPr>
        </p:nvSpPr>
        <p:spPr>
          <a:xfrm>
            <a:off x="324000" y="2459275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Composite numbers</a:t>
            </a:r>
            <a:r>
              <a:rPr lang="en-GB"/>
              <a:t> have </a:t>
            </a:r>
            <a:r>
              <a:rPr lang="en-GB">
                <a:solidFill>
                  <a:schemeClr val="accent4"/>
                </a:solidFill>
              </a:rPr>
              <a:t>more</a:t>
            </a:r>
            <a:r>
              <a:rPr lang="en-GB"/>
              <a:t> than two factors</a:t>
            </a:r>
            <a:r>
              <a:rPr lang="en-GB"/>
              <a:t>.</a:t>
            </a:r>
            <a:endParaRPr/>
          </a:p>
        </p:txBody>
      </p:sp>
      <p:sp>
        <p:nvSpPr>
          <p:cNvPr id="839" name="Google Shape;839;p72"/>
          <p:cNvSpPr txBox="1"/>
          <p:nvPr>
            <p:ph idx="1" type="body"/>
          </p:nvPr>
        </p:nvSpPr>
        <p:spPr>
          <a:xfrm>
            <a:off x="324000" y="329855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Prime</a:t>
            </a:r>
            <a:r>
              <a:rPr lang="en-GB"/>
              <a:t> numbers have </a:t>
            </a:r>
            <a:r>
              <a:rPr lang="en-GB">
                <a:solidFill>
                  <a:schemeClr val="accent4"/>
                </a:solidFill>
              </a:rPr>
              <a:t>exactly</a:t>
            </a:r>
            <a:r>
              <a:rPr lang="en-GB"/>
              <a:t> two factors.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Composite and prime numbers</a:t>
            </a:r>
            <a:endParaRPr/>
          </a:p>
        </p:txBody>
      </p:sp>
      <p:sp>
        <p:nvSpPr>
          <p:cNvPr id="845" name="Google Shape;845;p73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is not a prime number so it must be </a:t>
            </a:r>
            <a:r>
              <a:rPr b="1" lang="en-GB"/>
              <a:t>composite</a:t>
            </a:r>
            <a:r>
              <a:rPr lang="en-GB"/>
              <a:t>.</a:t>
            </a:r>
            <a:endParaRPr/>
          </a:p>
        </p:txBody>
      </p:sp>
      <p:sp>
        <p:nvSpPr>
          <p:cNvPr id="846" name="Google Shape;846;p7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 is a </a:t>
            </a:r>
            <a:r>
              <a:rPr b="1" lang="en-GB"/>
              <a:t>composite</a:t>
            </a:r>
            <a:r>
              <a:rPr lang="en-GB"/>
              <a:t> </a:t>
            </a:r>
            <a:r>
              <a:rPr b="1" lang="en-GB"/>
              <a:t>number</a:t>
            </a:r>
            <a:r>
              <a:rPr lang="en-GB"/>
              <a:t>.</a:t>
            </a:r>
            <a:endParaRPr/>
          </a:p>
        </p:txBody>
      </p:sp>
      <p:sp>
        <p:nvSpPr>
          <p:cNvPr id="847" name="Google Shape;847;p73"/>
          <p:cNvSpPr txBox="1"/>
          <p:nvPr>
            <p:ph idx="3" type="subTitle"/>
          </p:nvPr>
        </p:nvSpPr>
        <p:spPr>
          <a:xfrm>
            <a:off x="980575" y="38879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only has one factor and a </a:t>
            </a:r>
            <a:r>
              <a:rPr b="1" lang="en-GB"/>
              <a:t>composite</a:t>
            </a:r>
            <a:r>
              <a:rPr lang="en-GB"/>
              <a:t> </a:t>
            </a:r>
            <a:r>
              <a:rPr b="1" lang="en-GB"/>
              <a:t>number</a:t>
            </a:r>
            <a:r>
              <a:rPr lang="en-GB"/>
              <a:t> has more than 2 factors.</a:t>
            </a:r>
            <a:endParaRPr/>
          </a:p>
        </p:txBody>
      </p:sp>
      <p:pic>
        <p:nvPicPr>
          <p:cNvPr id="848" name="Google Shape;84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9208" y="1740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4008" y="43520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Composite and prime numbers</a:t>
            </a:r>
            <a:endParaRPr/>
          </a:p>
        </p:txBody>
      </p:sp>
      <p:sp>
        <p:nvSpPr>
          <p:cNvPr id="855" name="Google Shape;855;p74"/>
          <p:cNvSpPr txBox="1"/>
          <p:nvPr>
            <p:ph idx="1" type="body"/>
          </p:nvPr>
        </p:nvSpPr>
        <p:spPr>
          <a:xfrm>
            <a:off x="324000" y="765650"/>
            <a:ext cx="8496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Draw arrays to prove that the following are </a:t>
            </a:r>
            <a:r>
              <a:rPr b="1" lang="en-GB" sz="2000"/>
              <a:t>composite</a:t>
            </a:r>
            <a:r>
              <a:rPr lang="en-GB" sz="2000"/>
              <a:t> </a:t>
            </a:r>
            <a:r>
              <a:rPr b="1" lang="en-GB" sz="2000"/>
              <a:t>numbers</a:t>
            </a:r>
            <a:r>
              <a:rPr lang="en-GB" sz="2000"/>
              <a:t>. </a:t>
            </a:r>
            <a:endParaRPr sz="2000"/>
          </a:p>
        </p:txBody>
      </p:sp>
      <p:sp>
        <p:nvSpPr>
          <p:cNvPr id="856" name="Google Shape;856;p74"/>
          <p:cNvSpPr txBox="1"/>
          <p:nvPr/>
        </p:nvSpPr>
        <p:spPr>
          <a:xfrm>
            <a:off x="324000" y="1086600"/>
            <a:ext cx="7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lphaL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18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4"/>
          <p:cNvSpPr txBox="1"/>
          <p:nvPr/>
        </p:nvSpPr>
        <p:spPr>
          <a:xfrm>
            <a:off x="2615448" y="1086600"/>
            <a:ext cx="90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b)   32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4"/>
          <p:cNvSpPr txBox="1"/>
          <p:nvPr/>
        </p:nvSpPr>
        <p:spPr>
          <a:xfrm>
            <a:off x="5036355" y="1086600"/>
            <a:ext cx="71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c)  25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4"/>
          <p:cNvSpPr txBox="1"/>
          <p:nvPr/>
        </p:nvSpPr>
        <p:spPr>
          <a:xfrm>
            <a:off x="7132740" y="1086600"/>
            <a:ext cx="71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d)  51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5"/>
          <p:cNvSpPr txBox="1"/>
          <p:nvPr>
            <p:ph idx="1" type="body"/>
          </p:nvPr>
        </p:nvSpPr>
        <p:spPr>
          <a:xfrm>
            <a:off x="324000" y="765650"/>
            <a:ext cx="8496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Draw arrays to prove that the following are </a:t>
            </a:r>
            <a:r>
              <a:rPr b="1" lang="en-GB" sz="2000"/>
              <a:t>composite</a:t>
            </a:r>
            <a:r>
              <a:rPr lang="en-GB" sz="2000"/>
              <a:t> </a:t>
            </a:r>
            <a:r>
              <a:rPr b="1" lang="en-GB" sz="2000"/>
              <a:t>numbers</a:t>
            </a:r>
            <a:r>
              <a:rPr lang="en-GB" sz="2000"/>
              <a:t>. </a:t>
            </a:r>
            <a:endParaRPr sz="2000"/>
          </a:p>
        </p:txBody>
      </p:sp>
      <p:sp>
        <p:nvSpPr>
          <p:cNvPr id="865" name="Google Shape;865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Composite and prime numbers</a:t>
            </a:r>
            <a:endParaRPr/>
          </a:p>
        </p:txBody>
      </p:sp>
      <p:sp>
        <p:nvSpPr>
          <p:cNvPr id="866" name="Google Shape;866;p75"/>
          <p:cNvSpPr txBox="1"/>
          <p:nvPr/>
        </p:nvSpPr>
        <p:spPr>
          <a:xfrm>
            <a:off x="324000" y="1086600"/>
            <a:ext cx="7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lphaL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18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5"/>
          <p:cNvSpPr txBox="1"/>
          <p:nvPr/>
        </p:nvSpPr>
        <p:spPr>
          <a:xfrm>
            <a:off x="2615448" y="1086600"/>
            <a:ext cx="90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b)   32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5"/>
          <p:cNvSpPr txBox="1"/>
          <p:nvPr/>
        </p:nvSpPr>
        <p:spPr>
          <a:xfrm>
            <a:off x="5036355" y="1086600"/>
            <a:ext cx="71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  25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75"/>
          <p:cNvSpPr txBox="1"/>
          <p:nvPr/>
        </p:nvSpPr>
        <p:spPr>
          <a:xfrm>
            <a:off x="7132740" y="1086600"/>
            <a:ext cx="71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  51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0" name="Google Shape;870;p75"/>
          <p:cNvGrpSpPr/>
          <p:nvPr/>
        </p:nvGrpSpPr>
        <p:grpSpPr>
          <a:xfrm>
            <a:off x="324000" y="1365711"/>
            <a:ext cx="1268672" cy="1355164"/>
            <a:chOff x="324000" y="1365711"/>
            <a:chExt cx="1268672" cy="1355164"/>
          </a:xfrm>
        </p:grpSpPr>
        <p:sp>
          <p:nvSpPr>
            <p:cNvPr id="871" name="Google Shape;871;p75"/>
            <p:cNvSpPr txBox="1"/>
            <p:nvPr/>
          </p:nvSpPr>
          <p:spPr>
            <a:xfrm>
              <a:off x="324000" y="1365711"/>
              <a:ext cx="60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e.g.</a:t>
              </a:r>
              <a:endParaRPr sz="2200">
                <a:latin typeface="Kalam"/>
                <a:ea typeface="Kalam"/>
                <a:cs typeface="Kalam"/>
                <a:sym typeface="Kalam"/>
              </a:endParaRPr>
            </a:p>
          </p:txBody>
        </p:sp>
        <p:grpSp>
          <p:nvGrpSpPr>
            <p:cNvPr id="872" name="Google Shape;872;p75"/>
            <p:cNvGrpSpPr/>
            <p:nvPr/>
          </p:nvGrpSpPr>
          <p:grpSpPr>
            <a:xfrm>
              <a:off x="1044250" y="1569893"/>
              <a:ext cx="548422" cy="1150982"/>
              <a:chOff x="1044250" y="1569893"/>
              <a:chExt cx="548422" cy="1150982"/>
            </a:xfrm>
          </p:grpSpPr>
          <p:sp>
            <p:nvSpPr>
              <p:cNvPr id="873" name="Google Shape;873;p75"/>
              <p:cNvSpPr/>
              <p:nvPr/>
            </p:nvSpPr>
            <p:spPr>
              <a:xfrm>
                <a:off x="1044250" y="1569893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75"/>
              <p:cNvSpPr/>
              <p:nvPr/>
            </p:nvSpPr>
            <p:spPr>
              <a:xfrm>
                <a:off x="1238361" y="1569893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75"/>
              <p:cNvSpPr/>
              <p:nvPr/>
            </p:nvSpPr>
            <p:spPr>
              <a:xfrm>
                <a:off x="1432472" y="1569893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75"/>
              <p:cNvSpPr/>
              <p:nvPr/>
            </p:nvSpPr>
            <p:spPr>
              <a:xfrm>
                <a:off x="1044250" y="1768050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75"/>
              <p:cNvSpPr/>
              <p:nvPr/>
            </p:nvSpPr>
            <p:spPr>
              <a:xfrm>
                <a:off x="1238361" y="1768050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75"/>
              <p:cNvSpPr/>
              <p:nvPr/>
            </p:nvSpPr>
            <p:spPr>
              <a:xfrm>
                <a:off x="1432472" y="1768050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75"/>
              <p:cNvSpPr/>
              <p:nvPr/>
            </p:nvSpPr>
            <p:spPr>
              <a:xfrm>
                <a:off x="1044250" y="1966206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75"/>
              <p:cNvSpPr/>
              <p:nvPr/>
            </p:nvSpPr>
            <p:spPr>
              <a:xfrm>
                <a:off x="1238361" y="1966206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75"/>
              <p:cNvSpPr/>
              <p:nvPr/>
            </p:nvSpPr>
            <p:spPr>
              <a:xfrm>
                <a:off x="1432472" y="1966206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75"/>
              <p:cNvSpPr/>
              <p:nvPr/>
            </p:nvSpPr>
            <p:spPr>
              <a:xfrm>
                <a:off x="1044250" y="2164363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75"/>
              <p:cNvSpPr/>
              <p:nvPr/>
            </p:nvSpPr>
            <p:spPr>
              <a:xfrm>
                <a:off x="1238361" y="2164363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75"/>
              <p:cNvSpPr/>
              <p:nvPr/>
            </p:nvSpPr>
            <p:spPr>
              <a:xfrm>
                <a:off x="1432472" y="2164363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75"/>
              <p:cNvSpPr/>
              <p:nvPr/>
            </p:nvSpPr>
            <p:spPr>
              <a:xfrm>
                <a:off x="1044250" y="2362519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75"/>
              <p:cNvSpPr/>
              <p:nvPr/>
            </p:nvSpPr>
            <p:spPr>
              <a:xfrm>
                <a:off x="1238361" y="2362519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75"/>
              <p:cNvSpPr/>
              <p:nvPr/>
            </p:nvSpPr>
            <p:spPr>
              <a:xfrm>
                <a:off x="1432472" y="2362519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75"/>
              <p:cNvSpPr/>
              <p:nvPr/>
            </p:nvSpPr>
            <p:spPr>
              <a:xfrm>
                <a:off x="1044250" y="2560675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75"/>
              <p:cNvSpPr/>
              <p:nvPr/>
            </p:nvSpPr>
            <p:spPr>
              <a:xfrm>
                <a:off x="1238361" y="2560675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75"/>
              <p:cNvSpPr/>
              <p:nvPr/>
            </p:nvSpPr>
            <p:spPr>
              <a:xfrm>
                <a:off x="1432472" y="2560675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91" name="Google Shape;891;p75"/>
          <p:cNvGrpSpPr/>
          <p:nvPr/>
        </p:nvGrpSpPr>
        <p:grpSpPr>
          <a:xfrm>
            <a:off x="2414624" y="1356955"/>
            <a:ext cx="1399905" cy="1765339"/>
            <a:chOff x="2414624" y="1356955"/>
            <a:chExt cx="1399905" cy="1765339"/>
          </a:xfrm>
        </p:grpSpPr>
        <p:sp>
          <p:nvSpPr>
            <p:cNvPr id="892" name="Google Shape;892;p75"/>
            <p:cNvSpPr txBox="1"/>
            <p:nvPr/>
          </p:nvSpPr>
          <p:spPr>
            <a:xfrm>
              <a:off x="2414624" y="1356955"/>
              <a:ext cx="60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e.g.</a:t>
              </a:r>
              <a:endParaRPr sz="2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93" name="Google Shape;893;p75"/>
            <p:cNvSpPr/>
            <p:nvPr/>
          </p:nvSpPr>
          <p:spPr>
            <a:xfrm>
              <a:off x="3071996" y="157372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75"/>
            <p:cNvSpPr/>
            <p:nvPr/>
          </p:nvSpPr>
          <p:spPr>
            <a:xfrm>
              <a:off x="3266107" y="157372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75"/>
            <p:cNvSpPr/>
            <p:nvPr/>
          </p:nvSpPr>
          <p:spPr>
            <a:xfrm>
              <a:off x="3460218" y="157372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75"/>
            <p:cNvSpPr/>
            <p:nvPr/>
          </p:nvSpPr>
          <p:spPr>
            <a:xfrm>
              <a:off x="3071996" y="1771881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75"/>
            <p:cNvSpPr/>
            <p:nvPr/>
          </p:nvSpPr>
          <p:spPr>
            <a:xfrm>
              <a:off x="3266107" y="1771881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75"/>
            <p:cNvSpPr/>
            <p:nvPr/>
          </p:nvSpPr>
          <p:spPr>
            <a:xfrm>
              <a:off x="3460218" y="1771881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75"/>
            <p:cNvSpPr/>
            <p:nvPr/>
          </p:nvSpPr>
          <p:spPr>
            <a:xfrm>
              <a:off x="3071996" y="197003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75"/>
            <p:cNvSpPr/>
            <p:nvPr/>
          </p:nvSpPr>
          <p:spPr>
            <a:xfrm>
              <a:off x="3266107" y="197003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75"/>
            <p:cNvSpPr/>
            <p:nvPr/>
          </p:nvSpPr>
          <p:spPr>
            <a:xfrm>
              <a:off x="3460218" y="197003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75"/>
            <p:cNvSpPr/>
            <p:nvPr/>
          </p:nvSpPr>
          <p:spPr>
            <a:xfrm>
              <a:off x="3071996" y="216819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75"/>
            <p:cNvSpPr/>
            <p:nvPr/>
          </p:nvSpPr>
          <p:spPr>
            <a:xfrm>
              <a:off x="3266107" y="216819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75"/>
            <p:cNvSpPr/>
            <p:nvPr/>
          </p:nvSpPr>
          <p:spPr>
            <a:xfrm>
              <a:off x="3460218" y="216819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75"/>
            <p:cNvSpPr/>
            <p:nvPr/>
          </p:nvSpPr>
          <p:spPr>
            <a:xfrm>
              <a:off x="3071996" y="236635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75"/>
            <p:cNvSpPr/>
            <p:nvPr/>
          </p:nvSpPr>
          <p:spPr>
            <a:xfrm>
              <a:off x="3266107" y="236635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75"/>
            <p:cNvSpPr/>
            <p:nvPr/>
          </p:nvSpPr>
          <p:spPr>
            <a:xfrm>
              <a:off x="3460218" y="236635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75"/>
            <p:cNvSpPr/>
            <p:nvPr/>
          </p:nvSpPr>
          <p:spPr>
            <a:xfrm>
              <a:off x="3071996" y="256450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75"/>
            <p:cNvSpPr/>
            <p:nvPr/>
          </p:nvSpPr>
          <p:spPr>
            <a:xfrm>
              <a:off x="3266107" y="256450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75"/>
            <p:cNvSpPr/>
            <p:nvPr/>
          </p:nvSpPr>
          <p:spPr>
            <a:xfrm>
              <a:off x="3460218" y="256450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75"/>
            <p:cNvSpPr/>
            <p:nvPr/>
          </p:nvSpPr>
          <p:spPr>
            <a:xfrm>
              <a:off x="3654329" y="157436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75"/>
            <p:cNvSpPr/>
            <p:nvPr/>
          </p:nvSpPr>
          <p:spPr>
            <a:xfrm>
              <a:off x="3654329" y="1772521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75"/>
            <p:cNvSpPr/>
            <p:nvPr/>
          </p:nvSpPr>
          <p:spPr>
            <a:xfrm>
              <a:off x="3654329" y="197067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75"/>
            <p:cNvSpPr/>
            <p:nvPr/>
          </p:nvSpPr>
          <p:spPr>
            <a:xfrm>
              <a:off x="3654329" y="216883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75"/>
            <p:cNvSpPr/>
            <p:nvPr/>
          </p:nvSpPr>
          <p:spPr>
            <a:xfrm>
              <a:off x="3654329" y="236699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75"/>
            <p:cNvSpPr/>
            <p:nvPr/>
          </p:nvSpPr>
          <p:spPr>
            <a:xfrm>
              <a:off x="3654329" y="256514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75"/>
            <p:cNvSpPr/>
            <p:nvPr/>
          </p:nvSpPr>
          <p:spPr>
            <a:xfrm>
              <a:off x="3071996" y="276329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75"/>
            <p:cNvSpPr/>
            <p:nvPr/>
          </p:nvSpPr>
          <p:spPr>
            <a:xfrm>
              <a:off x="3266107" y="276329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75"/>
            <p:cNvSpPr/>
            <p:nvPr/>
          </p:nvSpPr>
          <p:spPr>
            <a:xfrm>
              <a:off x="3460218" y="276329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75"/>
            <p:cNvSpPr/>
            <p:nvPr/>
          </p:nvSpPr>
          <p:spPr>
            <a:xfrm>
              <a:off x="3071996" y="296145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75"/>
            <p:cNvSpPr/>
            <p:nvPr/>
          </p:nvSpPr>
          <p:spPr>
            <a:xfrm>
              <a:off x="3266107" y="296145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75"/>
            <p:cNvSpPr/>
            <p:nvPr/>
          </p:nvSpPr>
          <p:spPr>
            <a:xfrm>
              <a:off x="3460218" y="296145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75"/>
            <p:cNvSpPr/>
            <p:nvPr/>
          </p:nvSpPr>
          <p:spPr>
            <a:xfrm>
              <a:off x="3654329" y="276393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75"/>
            <p:cNvSpPr/>
            <p:nvPr/>
          </p:nvSpPr>
          <p:spPr>
            <a:xfrm>
              <a:off x="3654329" y="296209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5" name="Google Shape;925;p75"/>
          <p:cNvGrpSpPr/>
          <p:nvPr/>
        </p:nvGrpSpPr>
        <p:grpSpPr>
          <a:xfrm>
            <a:off x="5475050" y="1571650"/>
            <a:ext cx="936645" cy="958257"/>
            <a:chOff x="5475050" y="1571650"/>
            <a:chExt cx="936645" cy="958257"/>
          </a:xfrm>
        </p:grpSpPr>
        <p:sp>
          <p:nvSpPr>
            <p:cNvPr id="926" name="Google Shape;926;p75"/>
            <p:cNvSpPr/>
            <p:nvPr/>
          </p:nvSpPr>
          <p:spPr>
            <a:xfrm>
              <a:off x="5475050" y="157165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75"/>
            <p:cNvSpPr/>
            <p:nvPr/>
          </p:nvSpPr>
          <p:spPr>
            <a:xfrm>
              <a:off x="5669162" y="157165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75"/>
            <p:cNvSpPr/>
            <p:nvPr/>
          </p:nvSpPr>
          <p:spPr>
            <a:xfrm>
              <a:off x="5863273" y="157165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75"/>
            <p:cNvSpPr/>
            <p:nvPr/>
          </p:nvSpPr>
          <p:spPr>
            <a:xfrm>
              <a:off x="5475050" y="176980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75"/>
            <p:cNvSpPr/>
            <p:nvPr/>
          </p:nvSpPr>
          <p:spPr>
            <a:xfrm>
              <a:off x="5669162" y="176980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75"/>
            <p:cNvSpPr/>
            <p:nvPr/>
          </p:nvSpPr>
          <p:spPr>
            <a:xfrm>
              <a:off x="5863273" y="176980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75"/>
            <p:cNvSpPr/>
            <p:nvPr/>
          </p:nvSpPr>
          <p:spPr>
            <a:xfrm>
              <a:off x="5475050" y="1967963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75"/>
            <p:cNvSpPr/>
            <p:nvPr/>
          </p:nvSpPr>
          <p:spPr>
            <a:xfrm>
              <a:off x="5669162" y="1967963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75"/>
            <p:cNvSpPr/>
            <p:nvPr/>
          </p:nvSpPr>
          <p:spPr>
            <a:xfrm>
              <a:off x="5863273" y="1967963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75"/>
            <p:cNvSpPr/>
            <p:nvPr/>
          </p:nvSpPr>
          <p:spPr>
            <a:xfrm>
              <a:off x="5475050" y="2166119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75"/>
            <p:cNvSpPr/>
            <p:nvPr/>
          </p:nvSpPr>
          <p:spPr>
            <a:xfrm>
              <a:off x="5669162" y="2166119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75"/>
            <p:cNvSpPr/>
            <p:nvPr/>
          </p:nvSpPr>
          <p:spPr>
            <a:xfrm>
              <a:off x="5863273" y="2166119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75"/>
            <p:cNvSpPr/>
            <p:nvPr/>
          </p:nvSpPr>
          <p:spPr>
            <a:xfrm>
              <a:off x="6057384" y="157229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75"/>
            <p:cNvSpPr/>
            <p:nvPr/>
          </p:nvSpPr>
          <p:spPr>
            <a:xfrm>
              <a:off x="6057384" y="177044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75"/>
            <p:cNvSpPr/>
            <p:nvPr/>
          </p:nvSpPr>
          <p:spPr>
            <a:xfrm>
              <a:off x="6057384" y="1968603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75"/>
            <p:cNvSpPr/>
            <p:nvPr/>
          </p:nvSpPr>
          <p:spPr>
            <a:xfrm>
              <a:off x="6057384" y="2166759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75"/>
            <p:cNvSpPr/>
            <p:nvPr/>
          </p:nvSpPr>
          <p:spPr>
            <a:xfrm>
              <a:off x="5475050" y="2364913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75"/>
            <p:cNvSpPr/>
            <p:nvPr/>
          </p:nvSpPr>
          <p:spPr>
            <a:xfrm>
              <a:off x="5669162" y="2364913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75"/>
            <p:cNvSpPr/>
            <p:nvPr/>
          </p:nvSpPr>
          <p:spPr>
            <a:xfrm>
              <a:off x="5863273" y="2364913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75"/>
            <p:cNvSpPr/>
            <p:nvPr/>
          </p:nvSpPr>
          <p:spPr>
            <a:xfrm>
              <a:off x="6057384" y="2365553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75"/>
            <p:cNvSpPr/>
            <p:nvPr/>
          </p:nvSpPr>
          <p:spPr>
            <a:xfrm>
              <a:off x="6251495" y="157644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75"/>
            <p:cNvSpPr/>
            <p:nvPr/>
          </p:nvSpPr>
          <p:spPr>
            <a:xfrm>
              <a:off x="6251495" y="177460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75"/>
            <p:cNvSpPr/>
            <p:nvPr/>
          </p:nvSpPr>
          <p:spPr>
            <a:xfrm>
              <a:off x="6251495" y="197275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75"/>
            <p:cNvSpPr/>
            <p:nvPr/>
          </p:nvSpPr>
          <p:spPr>
            <a:xfrm>
              <a:off x="6251495" y="2170913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75"/>
            <p:cNvSpPr/>
            <p:nvPr/>
          </p:nvSpPr>
          <p:spPr>
            <a:xfrm>
              <a:off x="6251495" y="236970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1" name="Google Shape;951;p75"/>
          <p:cNvGrpSpPr/>
          <p:nvPr/>
        </p:nvGrpSpPr>
        <p:grpSpPr>
          <a:xfrm>
            <a:off x="7611588" y="1462856"/>
            <a:ext cx="548435" cy="3323101"/>
            <a:chOff x="7611588" y="1462856"/>
            <a:chExt cx="548435" cy="3323101"/>
          </a:xfrm>
        </p:grpSpPr>
        <p:sp>
          <p:nvSpPr>
            <p:cNvPr id="952" name="Google Shape;952;p75"/>
            <p:cNvSpPr/>
            <p:nvPr/>
          </p:nvSpPr>
          <p:spPr>
            <a:xfrm>
              <a:off x="7611600" y="146285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75"/>
            <p:cNvSpPr/>
            <p:nvPr/>
          </p:nvSpPr>
          <p:spPr>
            <a:xfrm>
              <a:off x="7805711" y="146285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75"/>
            <p:cNvSpPr/>
            <p:nvPr/>
          </p:nvSpPr>
          <p:spPr>
            <a:xfrm>
              <a:off x="7999822" y="146285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75"/>
            <p:cNvSpPr/>
            <p:nvPr/>
          </p:nvSpPr>
          <p:spPr>
            <a:xfrm>
              <a:off x="7611600" y="166101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75"/>
            <p:cNvSpPr/>
            <p:nvPr/>
          </p:nvSpPr>
          <p:spPr>
            <a:xfrm>
              <a:off x="7805711" y="166101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75"/>
            <p:cNvSpPr/>
            <p:nvPr/>
          </p:nvSpPr>
          <p:spPr>
            <a:xfrm>
              <a:off x="7999822" y="166101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75"/>
            <p:cNvSpPr/>
            <p:nvPr/>
          </p:nvSpPr>
          <p:spPr>
            <a:xfrm>
              <a:off x="7611600" y="1859169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75"/>
            <p:cNvSpPr/>
            <p:nvPr/>
          </p:nvSpPr>
          <p:spPr>
            <a:xfrm>
              <a:off x="7805711" y="1859169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75"/>
            <p:cNvSpPr/>
            <p:nvPr/>
          </p:nvSpPr>
          <p:spPr>
            <a:xfrm>
              <a:off x="7999822" y="1859169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75"/>
            <p:cNvSpPr/>
            <p:nvPr/>
          </p:nvSpPr>
          <p:spPr>
            <a:xfrm>
              <a:off x="7611600" y="2057325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75"/>
            <p:cNvSpPr/>
            <p:nvPr/>
          </p:nvSpPr>
          <p:spPr>
            <a:xfrm>
              <a:off x="7805711" y="2057325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75"/>
            <p:cNvSpPr/>
            <p:nvPr/>
          </p:nvSpPr>
          <p:spPr>
            <a:xfrm>
              <a:off x="7999822" y="2057325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75"/>
            <p:cNvSpPr/>
            <p:nvPr/>
          </p:nvSpPr>
          <p:spPr>
            <a:xfrm>
              <a:off x="7611600" y="225548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75"/>
            <p:cNvSpPr/>
            <p:nvPr/>
          </p:nvSpPr>
          <p:spPr>
            <a:xfrm>
              <a:off x="7805711" y="225548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75"/>
            <p:cNvSpPr/>
            <p:nvPr/>
          </p:nvSpPr>
          <p:spPr>
            <a:xfrm>
              <a:off x="7999822" y="225548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75"/>
            <p:cNvSpPr/>
            <p:nvPr/>
          </p:nvSpPr>
          <p:spPr>
            <a:xfrm>
              <a:off x="7611600" y="2453638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75"/>
            <p:cNvSpPr/>
            <p:nvPr/>
          </p:nvSpPr>
          <p:spPr>
            <a:xfrm>
              <a:off x="7805711" y="2453638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75"/>
            <p:cNvSpPr/>
            <p:nvPr/>
          </p:nvSpPr>
          <p:spPr>
            <a:xfrm>
              <a:off x="7999822" y="2453638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75"/>
            <p:cNvSpPr/>
            <p:nvPr/>
          </p:nvSpPr>
          <p:spPr>
            <a:xfrm>
              <a:off x="7611588" y="264420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75"/>
            <p:cNvSpPr/>
            <p:nvPr/>
          </p:nvSpPr>
          <p:spPr>
            <a:xfrm>
              <a:off x="7805699" y="264420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75"/>
            <p:cNvSpPr/>
            <p:nvPr/>
          </p:nvSpPr>
          <p:spPr>
            <a:xfrm>
              <a:off x="7999810" y="264420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75"/>
            <p:cNvSpPr/>
            <p:nvPr/>
          </p:nvSpPr>
          <p:spPr>
            <a:xfrm>
              <a:off x="7611588" y="284235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75"/>
            <p:cNvSpPr/>
            <p:nvPr/>
          </p:nvSpPr>
          <p:spPr>
            <a:xfrm>
              <a:off x="7805699" y="284235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75"/>
            <p:cNvSpPr/>
            <p:nvPr/>
          </p:nvSpPr>
          <p:spPr>
            <a:xfrm>
              <a:off x="7999810" y="284235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75"/>
            <p:cNvSpPr/>
            <p:nvPr/>
          </p:nvSpPr>
          <p:spPr>
            <a:xfrm>
              <a:off x="7611588" y="304051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75"/>
            <p:cNvSpPr/>
            <p:nvPr/>
          </p:nvSpPr>
          <p:spPr>
            <a:xfrm>
              <a:off x="7805699" y="304051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75"/>
            <p:cNvSpPr/>
            <p:nvPr/>
          </p:nvSpPr>
          <p:spPr>
            <a:xfrm>
              <a:off x="7999810" y="304051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75"/>
            <p:cNvSpPr/>
            <p:nvPr/>
          </p:nvSpPr>
          <p:spPr>
            <a:xfrm>
              <a:off x="7611588" y="3238669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75"/>
            <p:cNvSpPr/>
            <p:nvPr/>
          </p:nvSpPr>
          <p:spPr>
            <a:xfrm>
              <a:off x="7805699" y="3238669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75"/>
            <p:cNvSpPr/>
            <p:nvPr/>
          </p:nvSpPr>
          <p:spPr>
            <a:xfrm>
              <a:off x="7999810" y="3238669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75"/>
            <p:cNvSpPr/>
            <p:nvPr/>
          </p:nvSpPr>
          <p:spPr>
            <a:xfrm>
              <a:off x="7611588" y="3436825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75"/>
            <p:cNvSpPr/>
            <p:nvPr/>
          </p:nvSpPr>
          <p:spPr>
            <a:xfrm>
              <a:off x="7805699" y="3436825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75"/>
            <p:cNvSpPr/>
            <p:nvPr/>
          </p:nvSpPr>
          <p:spPr>
            <a:xfrm>
              <a:off x="7999810" y="3436825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75"/>
            <p:cNvSpPr/>
            <p:nvPr/>
          </p:nvSpPr>
          <p:spPr>
            <a:xfrm>
              <a:off x="7611588" y="363498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75"/>
            <p:cNvSpPr/>
            <p:nvPr/>
          </p:nvSpPr>
          <p:spPr>
            <a:xfrm>
              <a:off x="7805699" y="363498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75"/>
            <p:cNvSpPr/>
            <p:nvPr/>
          </p:nvSpPr>
          <p:spPr>
            <a:xfrm>
              <a:off x="7999810" y="363498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75"/>
            <p:cNvSpPr/>
            <p:nvPr/>
          </p:nvSpPr>
          <p:spPr>
            <a:xfrm>
              <a:off x="7611588" y="3833131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75"/>
            <p:cNvSpPr/>
            <p:nvPr/>
          </p:nvSpPr>
          <p:spPr>
            <a:xfrm>
              <a:off x="7805699" y="3833131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75"/>
            <p:cNvSpPr/>
            <p:nvPr/>
          </p:nvSpPr>
          <p:spPr>
            <a:xfrm>
              <a:off x="7999810" y="3833131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75"/>
            <p:cNvSpPr/>
            <p:nvPr/>
          </p:nvSpPr>
          <p:spPr>
            <a:xfrm>
              <a:off x="7611588" y="403128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75"/>
            <p:cNvSpPr/>
            <p:nvPr/>
          </p:nvSpPr>
          <p:spPr>
            <a:xfrm>
              <a:off x="7805699" y="403128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75"/>
            <p:cNvSpPr/>
            <p:nvPr/>
          </p:nvSpPr>
          <p:spPr>
            <a:xfrm>
              <a:off x="7999810" y="403128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75"/>
            <p:cNvSpPr/>
            <p:nvPr/>
          </p:nvSpPr>
          <p:spPr>
            <a:xfrm>
              <a:off x="7611588" y="422944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75"/>
            <p:cNvSpPr/>
            <p:nvPr/>
          </p:nvSpPr>
          <p:spPr>
            <a:xfrm>
              <a:off x="7805699" y="422944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75"/>
            <p:cNvSpPr/>
            <p:nvPr/>
          </p:nvSpPr>
          <p:spPr>
            <a:xfrm>
              <a:off x="7999810" y="422944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75"/>
            <p:cNvSpPr/>
            <p:nvPr/>
          </p:nvSpPr>
          <p:spPr>
            <a:xfrm>
              <a:off x="7611588" y="442760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75"/>
            <p:cNvSpPr/>
            <p:nvPr/>
          </p:nvSpPr>
          <p:spPr>
            <a:xfrm>
              <a:off x="7805699" y="442760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75"/>
            <p:cNvSpPr/>
            <p:nvPr/>
          </p:nvSpPr>
          <p:spPr>
            <a:xfrm>
              <a:off x="7999810" y="442760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75"/>
            <p:cNvSpPr/>
            <p:nvPr/>
          </p:nvSpPr>
          <p:spPr>
            <a:xfrm>
              <a:off x="7611588" y="462575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75"/>
            <p:cNvSpPr/>
            <p:nvPr/>
          </p:nvSpPr>
          <p:spPr>
            <a:xfrm>
              <a:off x="7805699" y="462575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75"/>
            <p:cNvSpPr/>
            <p:nvPr/>
          </p:nvSpPr>
          <p:spPr>
            <a:xfrm>
              <a:off x="7999810" y="462575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76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Composite and prime numbers</a:t>
            </a:r>
            <a:endParaRPr/>
          </a:p>
        </p:txBody>
      </p:sp>
      <p:sp>
        <p:nvSpPr>
          <p:cNvPr id="1008" name="Google Shape;1008;p76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of prime factors</a:t>
            </a:r>
            <a:endParaRPr/>
          </a:p>
        </p:txBody>
      </p:sp>
      <p:sp>
        <p:nvSpPr>
          <p:cNvPr id="1009" name="Google Shape;1009;p76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of prime factors using index notation</a:t>
            </a:r>
            <a:endParaRPr/>
          </a:p>
        </p:txBody>
      </p:sp>
      <p:sp>
        <p:nvSpPr>
          <p:cNvPr id="1010" name="Google Shape;1010;p76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an integer as a product of its prime factors</a:t>
            </a:r>
            <a:endParaRPr/>
          </a:p>
        </p:txBody>
      </p:sp>
      <p:pic>
        <p:nvPicPr>
          <p:cNvPr id="1011" name="Google Shape;101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904" y="275939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of prime factors</a:t>
            </a:r>
            <a:endParaRPr/>
          </a:p>
        </p:txBody>
      </p:sp>
      <p:sp>
        <p:nvSpPr>
          <p:cNvPr id="1017" name="Google Shape;1017;p77"/>
          <p:cNvSpPr txBox="1"/>
          <p:nvPr>
            <p:ph idx="1" type="body"/>
          </p:nvPr>
        </p:nvSpPr>
        <p:spPr>
          <a:xfrm>
            <a:off x="324000" y="759300"/>
            <a:ext cx="7388100" cy="7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Earlier we tried making </a:t>
            </a:r>
            <a:r>
              <a:rPr b="1" lang="en-GB"/>
              <a:t>composite numbers</a:t>
            </a:r>
            <a:r>
              <a:rPr lang="en-GB"/>
              <a:t> up to 20 using prime numbers.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77"/>
          <p:cNvSpPr txBox="1"/>
          <p:nvPr/>
        </p:nvSpPr>
        <p:spPr>
          <a:xfrm>
            <a:off x="324000" y="1817200"/>
            <a:ext cx="713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would happen if we looked at larger numbers?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77"/>
          <p:cNvSpPr txBox="1"/>
          <p:nvPr/>
        </p:nvSpPr>
        <p:spPr>
          <a:xfrm>
            <a:off x="324000" y="2486300"/>
            <a:ext cx="84960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Here’s a reminder of the first eight prime numbers: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2, 3, 5, 7, 11, 13, 17, 19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7"/>
          <p:cNvSpPr txBox="1"/>
          <p:nvPr/>
        </p:nvSpPr>
        <p:spPr>
          <a:xfrm>
            <a:off x="515975" y="3544800"/>
            <a:ext cx="3768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1" name="Google Shape;1021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2509" y="4323610"/>
            <a:ext cx="295675" cy="31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77"/>
          <p:cNvSpPr txBox="1"/>
          <p:nvPr/>
        </p:nvSpPr>
        <p:spPr>
          <a:xfrm>
            <a:off x="839600" y="3544800"/>
            <a:ext cx="132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×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7"/>
          <p:cNvSpPr txBox="1"/>
          <p:nvPr/>
        </p:nvSpPr>
        <p:spPr>
          <a:xfrm>
            <a:off x="839600" y="3934200"/>
            <a:ext cx="1201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× 11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Google Shape;1028;p7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648725" y="1273425"/>
            <a:ext cx="3349524" cy="22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7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593225" y="763100"/>
            <a:ext cx="2827075" cy="22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Product of prime factors</a:t>
            </a:r>
            <a:endParaRPr/>
          </a:p>
        </p:txBody>
      </p:sp>
      <p:pic>
        <p:nvPicPr>
          <p:cNvPr id="1031" name="Google Shape;1031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83641" y="2160000"/>
            <a:ext cx="1209584" cy="14012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78"/>
          <p:cNvSpPr txBox="1"/>
          <p:nvPr/>
        </p:nvSpPr>
        <p:spPr>
          <a:xfrm>
            <a:off x="1778475" y="692400"/>
            <a:ext cx="27612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Does this mean that all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composite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numbers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can be written using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prime factors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3" name="Google Shape;1033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459199" y="3119400"/>
            <a:ext cx="1077416" cy="12005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78"/>
          <p:cNvSpPr txBox="1"/>
          <p:nvPr/>
        </p:nvSpPr>
        <p:spPr>
          <a:xfrm>
            <a:off x="4724925" y="1273425"/>
            <a:ext cx="3066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It does.  All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composite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numbers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can be written as a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unique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product of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prime factors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Product of prime factors</a:t>
            </a:r>
            <a:endParaRPr/>
          </a:p>
        </p:txBody>
      </p:sp>
      <p:sp>
        <p:nvSpPr>
          <p:cNvPr id="1040" name="Google Shape;1040;p79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Alex and Sofia decide to test this out.</a:t>
            </a:r>
            <a:endParaRPr/>
          </a:p>
        </p:txBody>
      </p:sp>
      <p:sp>
        <p:nvSpPr>
          <p:cNvPr id="1041" name="Google Shape;1041;p79"/>
          <p:cNvSpPr txBox="1"/>
          <p:nvPr>
            <p:ph idx="1" type="body"/>
          </p:nvPr>
        </p:nvSpPr>
        <p:spPr>
          <a:xfrm>
            <a:off x="2231925" y="1299300"/>
            <a:ext cx="481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30 </a:t>
            </a:r>
            <a:endParaRPr/>
          </a:p>
        </p:txBody>
      </p:sp>
      <p:sp>
        <p:nvSpPr>
          <p:cNvPr id="1042" name="Google Shape;1042;p79"/>
          <p:cNvSpPr txBox="1"/>
          <p:nvPr>
            <p:ph idx="1" type="body"/>
          </p:nvPr>
        </p:nvSpPr>
        <p:spPr>
          <a:xfrm>
            <a:off x="2713425" y="1299300"/>
            <a:ext cx="1025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10 × 3</a:t>
            </a:r>
            <a:endParaRPr/>
          </a:p>
        </p:txBody>
      </p:sp>
      <p:sp>
        <p:nvSpPr>
          <p:cNvPr id="1043" name="Google Shape;1043;p79"/>
          <p:cNvSpPr txBox="1"/>
          <p:nvPr>
            <p:ph idx="1" type="body"/>
          </p:nvPr>
        </p:nvSpPr>
        <p:spPr>
          <a:xfrm>
            <a:off x="2713425" y="1839300"/>
            <a:ext cx="1319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2 × 5 × 3</a:t>
            </a:r>
            <a:endParaRPr/>
          </a:p>
        </p:txBody>
      </p:sp>
      <p:pic>
        <p:nvPicPr>
          <p:cNvPr id="1044" name="Google Shape;104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4000" y="1125500"/>
            <a:ext cx="1209574" cy="140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595359" y="1289700"/>
            <a:ext cx="1077416" cy="12005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79"/>
          <p:cNvSpPr txBox="1"/>
          <p:nvPr>
            <p:ph idx="1" type="body"/>
          </p:nvPr>
        </p:nvSpPr>
        <p:spPr>
          <a:xfrm>
            <a:off x="5533650" y="1299300"/>
            <a:ext cx="481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30 </a:t>
            </a:r>
            <a:endParaRPr/>
          </a:p>
        </p:txBody>
      </p:sp>
      <p:sp>
        <p:nvSpPr>
          <p:cNvPr id="1047" name="Google Shape;1047;p79"/>
          <p:cNvSpPr txBox="1"/>
          <p:nvPr>
            <p:ph idx="1" type="body"/>
          </p:nvPr>
        </p:nvSpPr>
        <p:spPr>
          <a:xfrm>
            <a:off x="6058175" y="1299300"/>
            <a:ext cx="1025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6 × 5</a:t>
            </a:r>
            <a:endParaRPr/>
          </a:p>
        </p:txBody>
      </p:sp>
      <p:sp>
        <p:nvSpPr>
          <p:cNvPr id="1048" name="Google Shape;1048;p79"/>
          <p:cNvSpPr txBox="1"/>
          <p:nvPr>
            <p:ph idx="1" type="body"/>
          </p:nvPr>
        </p:nvSpPr>
        <p:spPr>
          <a:xfrm>
            <a:off x="6058175" y="1839300"/>
            <a:ext cx="1319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3 × 2 × 5</a:t>
            </a:r>
            <a:endParaRPr/>
          </a:p>
        </p:txBody>
      </p:sp>
      <p:sp>
        <p:nvSpPr>
          <p:cNvPr id="1049" name="Google Shape;1049;p79"/>
          <p:cNvSpPr txBox="1"/>
          <p:nvPr>
            <p:ph idx="1" type="body"/>
          </p:nvPr>
        </p:nvSpPr>
        <p:spPr>
          <a:xfrm>
            <a:off x="324000" y="2700000"/>
            <a:ext cx="8496000" cy="8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Notice that even though they both started with a different factor pair they ended up with the same </a:t>
            </a:r>
            <a:r>
              <a:rPr b="1" lang="en-GB"/>
              <a:t>prime factors</a:t>
            </a:r>
            <a:r>
              <a:rPr lang="en-GB"/>
              <a:t>.</a:t>
            </a:r>
            <a:endParaRPr/>
          </a:p>
        </p:txBody>
      </p:sp>
      <p:sp>
        <p:nvSpPr>
          <p:cNvPr id="1050" name="Google Shape;1050;p79"/>
          <p:cNvSpPr txBox="1"/>
          <p:nvPr>
            <p:ph idx="1" type="body"/>
          </p:nvPr>
        </p:nvSpPr>
        <p:spPr>
          <a:xfrm>
            <a:off x="324000" y="3678500"/>
            <a:ext cx="8496000" cy="8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All </a:t>
            </a:r>
            <a:r>
              <a:rPr b="1" lang="en-GB"/>
              <a:t>composite</a:t>
            </a:r>
            <a:r>
              <a:rPr lang="en-GB"/>
              <a:t> </a:t>
            </a:r>
            <a:r>
              <a:rPr b="1" lang="en-GB"/>
              <a:t>numbers</a:t>
            </a:r>
            <a:r>
              <a:rPr lang="en-GB"/>
              <a:t> can be written as a </a:t>
            </a:r>
            <a:r>
              <a:rPr b="1" lang="en-GB"/>
              <a:t>unique </a:t>
            </a:r>
            <a:r>
              <a:rPr lang="en-GB"/>
              <a:t>product of its </a:t>
            </a:r>
            <a:r>
              <a:rPr b="1" lang="en-GB"/>
              <a:t>prime factors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80"/>
          <p:cNvSpPr/>
          <p:nvPr/>
        </p:nvSpPr>
        <p:spPr>
          <a:xfrm>
            <a:off x="2323149" y="2630717"/>
            <a:ext cx="687900" cy="36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80"/>
          <p:cNvSpPr txBox="1"/>
          <p:nvPr>
            <p:ph idx="1" type="body"/>
          </p:nvPr>
        </p:nvSpPr>
        <p:spPr>
          <a:xfrm>
            <a:off x="1684300" y="2050425"/>
            <a:ext cx="2068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2 × 63 × 2 </a:t>
            </a:r>
            <a:r>
              <a:rPr lang="en-GB"/>
              <a:t>× 5</a:t>
            </a:r>
            <a:endParaRPr/>
          </a:p>
        </p:txBody>
      </p:sp>
      <p:sp>
        <p:nvSpPr>
          <p:cNvPr id="1057" name="Google Shape;1057;p80"/>
          <p:cNvSpPr/>
          <p:nvPr/>
        </p:nvSpPr>
        <p:spPr>
          <a:xfrm>
            <a:off x="2932799" y="2029275"/>
            <a:ext cx="654300" cy="36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80"/>
          <p:cNvSpPr txBox="1"/>
          <p:nvPr>
            <p:ph idx="1" type="body"/>
          </p:nvPr>
        </p:nvSpPr>
        <p:spPr>
          <a:xfrm>
            <a:off x="324000" y="759300"/>
            <a:ext cx="8237700" cy="3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1260 as a product of its </a:t>
            </a:r>
            <a:r>
              <a:rPr b="1" lang="en-GB"/>
              <a:t>prime factors</a:t>
            </a:r>
            <a:r>
              <a:rPr lang="en-GB"/>
              <a:t>.</a:t>
            </a:r>
            <a:r>
              <a:rPr lang="en-GB"/>
              <a:t> </a:t>
            </a:r>
            <a:endParaRPr/>
          </a:p>
        </p:txBody>
      </p:sp>
      <p:sp>
        <p:nvSpPr>
          <p:cNvPr id="1059" name="Google Shape;1059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of prime factors</a:t>
            </a:r>
            <a:endParaRPr/>
          </a:p>
        </p:txBody>
      </p:sp>
      <p:sp>
        <p:nvSpPr>
          <p:cNvPr id="1060" name="Google Shape;1060;p80"/>
          <p:cNvSpPr txBox="1"/>
          <p:nvPr>
            <p:ph idx="1" type="body"/>
          </p:nvPr>
        </p:nvSpPr>
        <p:spPr>
          <a:xfrm>
            <a:off x="977888" y="1626600"/>
            <a:ext cx="715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1260</a:t>
            </a:r>
            <a:endParaRPr/>
          </a:p>
        </p:txBody>
      </p:sp>
      <p:sp>
        <p:nvSpPr>
          <p:cNvPr id="1061" name="Google Shape;1061;p80"/>
          <p:cNvSpPr txBox="1"/>
          <p:nvPr>
            <p:ph idx="1" type="body"/>
          </p:nvPr>
        </p:nvSpPr>
        <p:spPr>
          <a:xfrm>
            <a:off x="1684301" y="1626600"/>
            <a:ext cx="1326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126 × 10</a:t>
            </a:r>
            <a:endParaRPr/>
          </a:p>
        </p:txBody>
      </p:sp>
      <p:sp>
        <p:nvSpPr>
          <p:cNvPr id="1062" name="Google Shape;1062;p80"/>
          <p:cNvSpPr/>
          <p:nvPr/>
        </p:nvSpPr>
        <p:spPr>
          <a:xfrm>
            <a:off x="1909718" y="2050425"/>
            <a:ext cx="790500" cy="36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80"/>
          <p:cNvSpPr/>
          <p:nvPr/>
        </p:nvSpPr>
        <p:spPr>
          <a:xfrm>
            <a:off x="1909737" y="1605450"/>
            <a:ext cx="499200" cy="36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80"/>
          <p:cNvSpPr/>
          <p:nvPr/>
        </p:nvSpPr>
        <p:spPr>
          <a:xfrm>
            <a:off x="2637603" y="1605450"/>
            <a:ext cx="373500" cy="36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80"/>
          <p:cNvSpPr/>
          <p:nvPr/>
        </p:nvSpPr>
        <p:spPr>
          <a:xfrm>
            <a:off x="2902050" y="1979025"/>
            <a:ext cx="715800" cy="46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80"/>
          <p:cNvSpPr txBox="1"/>
          <p:nvPr>
            <p:ph idx="1" type="body"/>
          </p:nvPr>
        </p:nvSpPr>
        <p:spPr>
          <a:xfrm>
            <a:off x="1684300" y="2641833"/>
            <a:ext cx="2233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2 × 7 × 9 × 2 × 5</a:t>
            </a:r>
            <a:endParaRPr/>
          </a:p>
        </p:txBody>
      </p:sp>
      <p:sp>
        <p:nvSpPr>
          <p:cNvPr id="1067" name="Google Shape;1067;p80"/>
          <p:cNvSpPr/>
          <p:nvPr/>
        </p:nvSpPr>
        <p:spPr>
          <a:xfrm>
            <a:off x="2326728" y="2051550"/>
            <a:ext cx="373500" cy="36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80"/>
          <p:cNvSpPr txBox="1"/>
          <p:nvPr>
            <p:ph idx="1" type="body"/>
          </p:nvPr>
        </p:nvSpPr>
        <p:spPr>
          <a:xfrm>
            <a:off x="1684300" y="3078050"/>
            <a:ext cx="2635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2 × 7 × 3 × 3 × 2 × 5</a:t>
            </a:r>
            <a:endParaRPr/>
          </a:p>
        </p:txBody>
      </p:sp>
      <p:sp>
        <p:nvSpPr>
          <p:cNvPr id="1069" name="Google Shape;1069;p80"/>
          <p:cNvSpPr/>
          <p:nvPr/>
        </p:nvSpPr>
        <p:spPr>
          <a:xfrm>
            <a:off x="1841566" y="2001301"/>
            <a:ext cx="887100" cy="46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80"/>
          <p:cNvSpPr/>
          <p:nvPr/>
        </p:nvSpPr>
        <p:spPr>
          <a:xfrm>
            <a:off x="2783401" y="2634398"/>
            <a:ext cx="227700" cy="36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80"/>
          <p:cNvSpPr/>
          <p:nvPr/>
        </p:nvSpPr>
        <p:spPr>
          <a:xfrm>
            <a:off x="2746499" y="3389250"/>
            <a:ext cx="311100" cy="46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80"/>
          <p:cNvSpPr/>
          <p:nvPr/>
        </p:nvSpPr>
        <p:spPr>
          <a:xfrm>
            <a:off x="2309197" y="2547648"/>
            <a:ext cx="715800" cy="46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80"/>
          <p:cNvSpPr/>
          <p:nvPr/>
        </p:nvSpPr>
        <p:spPr>
          <a:xfrm>
            <a:off x="2783400" y="3046400"/>
            <a:ext cx="654300" cy="36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80"/>
          <p:cNvSpPr/>
          <p:nvPr/>
        </p:nvSpPr>
        <p:spPr>
          <a:xfrm>
            <a:off x="2752647" y="3008250"/>
            <a:ext cx="715800" cy="46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80"/>
          <p:cNvSpPr txBox="1"/>
          <p:nvPr>
            <p:ph idx="1" type="body"/>
          </p:nvPr>
        </p:nvSpPr>
        <p:spPr>
          <a:xfrm>
            <a:off x="1684300" y="3493275"/>
            <a:ext cx="326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2 × 2 × 3 × 3 × 5 × 7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Product of prime factors</a:t>
            </a:r>
            <a:endParaRPr/>
          </a:p>
        </p:txBody>
      </p:sp>
      <p:sp>
        <p:nvSpPr>
          <p:cNvPr id="1081" name="Google Shape;1081;p81"/>
          <p:cNvSpPr txBox="1"/>
          <p:nvPr>
            <p:ph idx="1" type="subTitle"/>
          </p:nvPr>
        </p:nvSpPr>
        <p:spPr>
          <a:xfrm>
            <a:off x="337825" y="810000"/>
            <a:ext cx="39822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210 as a product of its </a:t>
            </a:r>
            <a:r>
              <a:rPr b="1" lang="en-GB"/>
              <a:t>prime factors</a:t>
            </a:r>
            <a:r>
              <a:rPr lang="en-GB"/>
              <a:t>.</a:t>
            </a:r>
            <a:endParaRPr/>
          </a:p>
        </p:txBody>
      </p:sp>
      <p:sp>
        <p:nvSpPr>
          <p:cNvPr id="1082" name="Google Shape;1082;p81"/>
          <p:cNvSpPr txBox="1"/>
          <p:nvPr>
            <p:ph idx="2" type="subTitle"/>
          </p:nvPr>
        </p:nvSpPr>
        <p:spPr>
          <a:xfrm>
            <a:off x="4824000" y="810000"/>
            <a:ext cx="39822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315 as a product of its </a:t>
            </a:r>
            <a:r>
              <a:rPr b="1" lang="en-GB"/>
              <a:t>prime factors</a:t>
            </a:r>
            <a:r>
              <a:rPr lang="en-GB"/>
              <a:t>.</a:t>
            </a:r>
            <a:r>
              <a:rPr lang="en-GB"/>
              <a:t> </a:t>
            </a:r>
            <a:endParaRPr/>
          </a:p>
        </p:txBody>
      </p:sp>
      <p:sp>
        <p:nvSpPr>
          <p:cNvPr id="1083" name="Google Shape;1083;p81"/>
          <p:cNvSpPr txBox="1"/>
          <p:nvPr>
            <p:ph idx="4294967295" type="body"/>
          </p:nvPr>
        </p:nvSpPr>
        <p:spPr>
          <a:xfrm>
            <a:off x="5719263" y="2160000"/>
            <a:ext cx="481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315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4" name="Google Shape;1084;p81"/>
          <p:cNvSpPr txBox="1"/>
          <p:nvPr>
            <p:ph idx="4294967295" type="body"/>
          </p:nvPr>
        </p:nvSpPr>
        <p:spPr>
          <a:xfrm>
            <a:off x="6279904" y="2160000"/>
            <a:ext cx="1328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5 × 63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5" name="Google Shape;1085;p81"/>
          <p:cNvSpPr txBox="1"/>
          <p:nvPr>
            <p:ph idx="4294967295" type="body"/>
          </p:nvPr>
        </p:nvSpPr>
        <p:spPr>
          <a:xfrm>
            <a:off x="6279900" y="3349650"/>
            <a:ext cx="2274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5 × 7 × 3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× 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6" name="Google Shape;1086;p81"/>
          <p:cNvSpPr txBox="1"/>
          <p:nvPr>
            <p:ph idx="4294967295" type="body"/>
          </p:nvPr>
        </p:nvSpPr>
        <p:spPr>
          <a:xfrm>
            <a:off x="6279900" y="2754825"/>
            <a:ext cx="1929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5 × 7 × 9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7" name="Google Shape;1087;p81"/>
          <p:cNvSpPr txBox="1"/>
          <p:nvPr>
            <p:ph idx="4294967295" type="body"/>
          </p:nvPr>
        </p:nvSpPr>
        <p:spPr>
          <a:xfrm>
            <a:off x="1083950" y="2160000"/>
            <a:ext cx="481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210</a:t>
            </a:r>
            <a:r>
              <a:rPr lang="en-GB"/>
              <a:t> </a:t>
            </a:r>
            <a:endParaRPr/>
          </a:p>
        </p:txBody>
      </p:sp>
      <p:sp>
        <p:nvSpPr>
          <p:cNvPr id="1088" name="Google Shape;1088;p81"/>
          <p:cNvSpPr txBox="1"/>
          <p:nvPr>
            <p:ph idx="4294967295" type="body"/>
          </p:nvPr>
        </p:nvSpPr>
        <p:spPr>
          <a:xfrm>
            <a:off x="1644588" y="2160000"/>
            <a:ext cx="1589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21 × 10</a:t>
            </a:r>
            <a:endParaRPr/>
          </a:p>
        </p:txBody>
      </p:sp>
      <p:sp>
        <p:nvSpPr>
          <p:cNvPr id="1089" name="Google Shape;1089;p81"/>
          <p:cNvSpPr txBox="1"/>
          <p:nvPr>
            <p:ph idx="4294967295" type="body"/>
          </p:nvPr>
        </p:nvSpPr>
        <p:spPr>
          <a:xfrm>
            <a:off x="1644588" y="2754825"/>
            <a:ext cx="1929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3 × 7 × 2 </a:t>
            </a:r>
            <a:r>
              <a:rPr lang="en-GB"/>
              <a:t>× 5</a:t>
            </a:r>
            <a:endParaRPr/>
          </a:p>
        </p:txBody>
      </p:sp>
      <p:sp>
        <p:nvSpPr>
          <p:cNvPr id="1090" name="Google Shape;1090;p81"/>
          <p:cNvSpPr txBox="1"/>
          <p:nvPr>
            <p:ph idx="4294967295" type="body"/>
          </p:nvPr>
        </p:nvSpPr>
        <p:spPr>
          <a:xfrm>
            <a:off x="1644588" y="3349650"/>
            <a:ext cx="1929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2 × 3 × 5 × 7</a:t>
            </a:r>
            <a:endParaRPr/>
          </a:p>
        </p:txBody>
      </p:sp>
      <p:sp>
        <p:nvSpPr>
          <p:cNvPr id="1091" name="Google Shape;1091;p81"/>
          <p:cNvSpPr/>
          <p:nvPr/>
        </p:nvSpPr>
        <p:spPr>
          <a:xfrm>
            <a:off x="1844695" y="2148080"/>
            <a:ext cx="370800" cy="36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81"/>
          <p:cNvSpPr/>
          <p:nvPr/>
        </p:nvSpPr>
        <p:spPr>
          <a:xfrm>
            <a:off x="1838075" y="2752175"/>
            <a:ext cx="664200" cy="36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81"/>
          <p:cNvSpPr/>
          <p:nvPr/>
        </p:nvSpPr>
        <p:spPr>
          <a:xfrm>
            <a:off x="1814975" y="2721275"/>
            <a:ext cx="710400" cy="42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81"/>
          <p:cNvSpPr/>
          <p:nvPr/>
        </p:nvSpPr>
        <p:spPr>
          <a:xfrm>
            <a:off x="2439296" y="2148080"/>
            <a:ext cx="370800" cy="36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81"/>
          <p:cNvSpPr/>
          <p:nvPr/>
        </p:nvSpPr>
        <p:spPr>
          <a:xfrm>
            <a:off x="2739600" y="2752175"/>
            <a:ext cx="664200" cy="36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81"/>
          <p:cNvSpPr/>
          <p:nvPr/>
        </p:nvSpPr>
        <p:spPr>
          <a:xfrm>
            <a:off x="2716500" y="2721275"/>
            <a:ext cx="710400" cy="42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Product of prime factors</a:t>
            </a:r>
            <a:endParaRPr/>
          </a:p>
        </p:txBody>
      </p:sp>
      <p:sp>
        <p:nvSpPr>
          <p:cNvPr id="1102" name="Google Shape;1102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Write the following as a product of their </a:t>
            </a:r>
            <a:r>
              <a:rPr b="1" lang="en-GB" sz="2000"/>
              <a:t>prime factors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103" name="Google Shape;1103;p82"/>
          <p:cNvSpPr txBox="1"/>
          <p:nvPr/>
        </p:nvSpPr>
        <p:spPr>
          <a:xfrm>
            <a:off x="324000" y="1239000"/>
            <a:ext cx="146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lphaL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78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2"/>
          <p:cNvSpPr txBox="1"/>
          <p:nvPr/>
        </p:nvSpPr>
        <p:spPr>
          <a:xfrm>
            <a:off x="4824000" y="1243957"/>
            <a:ext cx="137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b)  165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2"/>
          <p:cNvSpPr txBox="1"/>
          <p:nvPr/>
        </p:nvSpPr>
        <p:spPr>
          <a:xfrm>
            <a:off x="324000" y="2484661"/>
            <a:ext cx="137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c)  525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2"/>
          <p:cNvSpPr txBox="1"/>
          <p:nvPr/>
        </p:nvSpPr>
        <p:spPr>
          <a:xfrm>
            <a:off x="4824000" y="2484661"/>
            <a:ext cx="137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d)  840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82"/>
          <p:cNvSpPr txBox="1"/>
          <p:nvPr/>
        </p:nvSpPr>
        <p:spPr>
          <a:xfrm>
            <a:off x="1332575" y="4236186"/>
            <a:ext cx="419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Product of prime factors</a:t>
            </a:r>
            <a:endParaRPr/>
          </a:p>
        </p:txBody>
      </p:sp>
      <p:sp>
        <p:nvSpPr>
          <p:cNvPr id="1113" name="Google Shape;1113;p83"/>
          <p:cNvSpPr txBox="1"/>
          <p:nvPr>
            <p:ph idx="1" type="body"/>
          </p:nvPr>
        </p:nvSpPr>
        <p:spPr>
          <a:xfrm>
            <a:off x="324000" y="759300"/>
            <a:ext cx="8237700" cy="44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Write the following as a product of their </a:t>
            </a:r>
            <a:r>
              <a:rPr b="1" lang="en-GB" sz="2000"/>
              <a:t>prime factors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114" name="Google Shape;1114;p83"/>
          <p:cNvSpPr txBox="1"/>
          <p:nvPr/>
        </p:nvSpPr>
        <p:spPr>
          <a:xfrm>
            <a:off x="324000" y="1239000"/>
            <a:ext cx="146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lphaL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78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83"/>
          <p:cNvSpPr txBox="1"/>
          <p:nvPr/>
        </p:nvSpPr>
        <p:spPr>
          <a:xfrm>
            <a:off x="4824000" y="1243957"/>
            <a:ext cx="137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  165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83"/>
          <p:cNvSpPr txBox="1"/>
          <p:nvPr/>
        </p:nvSpPr>
        <p:spPr>
          <a:xfrm>
            <a:off x="324000" y="2484661"/>
            <a:ext cx="137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  525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83"/>
          <p:cNvSpPr txBox="1"/>
          <p:nvPr/>
        </p:nvSpPr>
        <p:spPr>
          <a:xfrm>
            <a:off x="4824000" y="2484661"/>
            <a:ext cx="137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  840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83"/>
          <p:cNvSpPr txBox="1"/>
          <p:nvPr/>
        </p:nvSpPr>
        <p:spPr>
          <a:xfrm>
            <a:off x="499181" y="1621199"/>
            <a:ext cx="84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78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9" name="Google Shape;1119;p83"/>
          <p:cNvSpPr txBox="1"/>
          <p:nvPr/>
        </p:nvSpPr>
        <p:spPr>
          <a:xfrm>
            <a:off x="1510675" y="1621199"/>
            <a:ext cx="113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2 × 39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0" name="Google Shape;1120;p83"/>
          <p:cNvSpPr txBox="1"/>
          <p:nvPr/>
        </p:nvSpPr>
        <p:spPr>
          <a:xfrm>
            <a:off x="1510675" y="1932465"/>
            <a:ext cx="169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2 × 3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1" name="Google Shape;1121;p83"/>
          <p:cNvSpPr txBox="1"/>
          <p:nvPr/>
        </p:nvSpPr>
        <p:spPr>
          <a:xfrm>
            <a:off x="5010800" y="1621199"/>
            <a:ext cx="84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165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2" name="Google Shape;1122;p83"/>
          <p:cNvSpPr txBox="1"/>
          <p:nvPr/>
        </p:nvSpPr>
        <p:spPr>
          <a:xfrm>
            <a:off x="5949725" y="1621199"/>
            <a:ext cx="113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5 × 33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3" name="Google Shape;1123;p83"/>
          <p:cNvSpPr txBox="1"/>
          <p:nvPr/>
        </p:nvSpPr>
        <p:spPr>
          <a:xfrm>
            <a:off x="5949725" y="1932465"/>
            <a:ext cx="169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5 × 3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4" name="Google Shape;1124;p83"/>
          <p:cNvSpPr txBox="1"/>
          <p:nvPr/>
        </p:nvSpPr>
        <p:spPr>
          <a:xfrm>
            <a:off x="480700" y="2841075"/>
            <a:ext cx="101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525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5" name="Google Shape;1125;p83"/>
          <p:cNvSpPr txBox="1"/>
          <p:nvPr/>
        </p:nvSpPr>
        <p:spPr>
          <a:xfrm>
            <a:off x="1510675" y="2841075"/>
            <a:ext cx="210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3 × 5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7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6" name="Google Shape;1126;p83"/>
          <p:cNvSpPr txBox="1"/>
          <p:nvPr/>
        </p:nvSpPr>
        <p:spPr>
          <a:xfrm>
            <a:off x="1510675" y="3184572"/>
            <a:ext cx="169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3 × 5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7" name="Google Shape;1127;p83"/>
          <p:cNvSpPr txBox="1"/>
          <p:nvPr/>
        </p:nvSpPr>
        <p:spPr>
          <a:xfrm>
            <a:off x="5010800" y="2848661"/>
            <a:ext cx="93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840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8" name="Google Shape;1128;p83"/>
          <p:cNvSpPr txBox="1"/>
          <p:nvPr/>
        </p:nvSpPr>
        <p:spPr>
          <a:xfrm>
            <a:off x="5949725" y="2848666"/>
            <a:ext cx="113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10 × 84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9" name="Google Shape;1129;p83"/>
          <p:cNvSpPr txBox="1"/>
          <p:nvPr/>
        </p:nvSpPr>
        <p:spPr>
          <a:xfrm>
            <a:off x="5949725" y="3169798"/>
            <a:ext cx="287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5 × 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42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0" name="Google Shape;1130;p83"/>
          <p:cNvSpPr txBox="1"/>
          <p:nvPr/>
        </p:nvSpPr>
        <p:spPr>
          <a:xfrm>
            <a:off x="5949725" y="3490929"/>
            <a:ext cx="287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5 × 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6 × 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1" name="Google Shape;1131;p83"/>
          <p:cNvSpPr txBox="1"/>
          <p:nvPr/>
        </p:nvSpPr>
        <p:spPr>
          <a:xfrm>
            <a:off x="5949725" y="3812061"/>
            <a:ext cx="287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5 × 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2 × 3 × 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2" name="Google Shape;1132;p83"/>
          <p:cNvSpPr txBox="1"/>
          <p:nvPr/>
        </p:nvSpPr>
        <p:spPr>
          <a:xfrm>
            <a:off x="1332575" y="4236186"/>
            <a:ext cx="419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3" name="Google Shape;1133;p83"/>
          <p:cNvSpPr txBox="1"/>
          <p:nvPr/>
        </p:nvSpPr>
        <p:spPr>
          <a:xfrm>
            <a:off x="324001" y="4133164"/>
            <a:ext cx="8496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working out steps are only examples, the final line should be the same, only the order can change.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84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Composite and prime numbers</a:t>
            </a:r>
            <a:endParaRPr/>
          </a:p>
        </p:txBody>
      </p:sp>
      <p:sp>
        <p:nvSpPr>
          <p:cNvPr id="1139" name="Google Shape;1139;p84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of prime factors</a:t>
            </a:r>
            <a:endParaRPr/>
          </a:p>
        </p:txBody>
      </p:sp>
      <p:sp>
        <p:nvSpPr>
          <p:cNvPr id="1140" name="Google Shape;1140;p84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of prime factors using index notation</a:t>
            </a:r>
            <a:endParaRPr/>
          </a:p>
        </p:txBody>
      </p:sp>
      <p:sp>
        <p:nvSpPr>
          <p:cNvPr id="1141" name="Google Shape;1141;p84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an integer as a product of its prime factors</a:t>
            </a:r>
            <a:endParaRPr/>
          </a:p>
        </p:txBody>
      </p:sp>
      <p:pic>
        <p:nvPicPr>
          <p:cNvPr id="1142" name="Google Shape;114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79" y="371954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of prime factors using index notation</a:t>
            </a:r>
            <a:endParaRPr/>
          </a:p>
        </p:txBody>
      </p:sp>
      <p:sp>
        <p:nvSpPr>
          <p:cNvPr id="1148" name="Google Shape;1148;p85"/>
          <p:cNvSpPr txBox="1"/>
          <p:nvPr>
            <p:ph idx="1" type="body"/>
          </p:nvPr>
        </p:nvSpPr>
        <p:spPr>
          <a:xfrm>
            <a:off x="324000" y="759300"/>
            <a:ext cx="76419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Sofia and Alex have been practising writing numbers as a </a:t>
            </a:r>
            <a:r>
              <a:rPr b="1" lang="en-GB"/>
              <a:t>unique</a:t>
            </a:r>
            <a:r>
              <a:rPr lang="en-GB"/>
              <a:t> product of their </a:t>
            </a:r>
            <a:r>
              <a:rPr b="1" lang="en-GB"/>
              <a:t>prime factors</a:t>
            </a:r>
            <a:r>
              <a:rPr lang="en-GB"/>
              <a:t>.</a:t>
            </a:r>
            <a:endParaRPr/>
          </a:p>
        </p:txBody>
      </p:sp>
      <p:pic>
        <p:nvPicPr>
          <p:cNvPr id="1149" name="Google Shape;114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4875" y="2811575"/>
            <a:ext cx="1209576" cy="140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85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891150" y="1999950"/>
            <a:ext cx="2568049" cy="176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200" y="3012175"/>
            <a:ext cx="1077399" cy="1200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2" name="Google Shape;1152;p85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411273" y="1606800"/>
            <a:ext cx="2662052" cy="18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85"/>
          <p:cNvSpPr txBox="1"/>
          <p:nvPr/>
        </p:nvSpPr>
        <p:spPr>
          <a:xfrm>
            <a:off x="1603150" y="1606875"/>
            <a:ext cx="25680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300 written as a product of its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prime factors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is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× 2 × 3 × 5 × 5.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85"/>
          <p:cNvSpPr txBox="1"/>
          <p:nvPr/>
        </p:nvSpPr>
        <p:spPr>
          <a:xfrm>
            <a:off x="4891150" y="1999950"/>
            <a:ext cx="2602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300 written as a product of its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prime factors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is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 × 5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85"/>
          <p:cNvSpPr txBox="1"/>
          <p:nvPr>
            <p:ph idx="1" type="body"/>
          </p:nvPr>
        </p:nvSpPr>
        <p:spPr>
          <a:xfrm>
            <a:off x="1848175" y="3594957"/>
            <a:ext cx="1882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Who is right?</a:t>
            </a:r>
            <a:endParaRPr/>
          </a:p>
        </p:txBody>
      </p:sp>
      <p:sp>
        <p:nvSpPr>
          <p:cNvPr id="1156" name="Google Shape;1156;p85"/>
          <p:cNvSpPr txBox="1"/>
          <p:nvPr>
            <p:ph idx="1" type="body"/>
          </p:nvPr>
        </p:nvSpPr>
        <p:spPr>
          <a:xfrm>
            <a:off x="645950" y="4288975"/>
            <a:ext cx="7383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Sofia</a:t>
            </a:r>
            <a:endParaRPr/>
          </a:p>
        </p:txBody>
      </p:sp>
      <p:sp>
        <p:nvSpPr>
          <p:cNvPr id="1157" name="Google Shape;1157;p85"/>
          <p:cNvSpPr txBox="1"/>
          <p:nvPr>
            <p:ph idx="1" type="body"/>
          </p:nvPr>
        </p:nvSpPr>
        <p:spPr>
          <a:xfrm>
            <a:off x="7612350" y="4320000"/>
            <a:ext cx="7383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Alex</a:t>
            </a:r>
            <a:endParaRPr/>
          </a:p>
        </p:txBody>
      </p:sp>
      <p:sp>
        <p:nvSpPr>
          <p:cNvPr id="1158" name="Google Shape;1158;p85"/>
          <p:cNvSpPr txBox="1"/>
          <p:nvPr/>
        </p:nvSpPr>
        <p:spPr>
          <a:xfrm>
            <a:off x="1848175" y="3968200"/>
            <a:ext cx="5308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They are both right.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Alex has written his using index notation.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of prime factors using index notation</a:t>
            </a:r>
            <a:endParaRPr/>
          </a:p>
        </p:txBody>
      </p:sp>
      <p:sp>
        <p:nvSpPr>
          <p:cNvPr id="1164" name="Google Shape;1164;p86"/>
          <p:cNvSpPr/>
          <p:nvPr/>
        </p:nvSpPr>
        <p:spPr>
          <a:xfrm>
            <a:off x="1430808" y="1744300"/>
            <a:ext cx="6292200" cy="287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86"/>
          <p:cNvSpPr txBox="1"/>
          <p:nvPr/>
        </p:nvSpPr>
        <p:spPr>
          <a:xfrm>
            <a:off x="1633538" y="3792550"/>
            <a:ext cx="1827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base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6" name="Google Shape;1166;p86"/>
          <p:cNvCxnSpPr/>
          <p:nvPr/>
        </p:nvCxnSpPr>
        <p:spPr>
          <a:xfrm flipH="1">
            <a:off x="4237488" y="2234150"/>
            <a:ext cx="261300" cy="6204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7" name="Google Shape;1167;p86"/>
          <p:cNvSpPr txBox="1"/>
          <p:nvPr/>
        </p:nvSpPr>
        <p:spPr>
          <a:xfrm>
            <a:off x="3813463" y="1794075"/>
            <a:ext cx="2432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exponent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8" name="Google Shape;1168;p86"/>
          <p:cNvCxnSpPr/>
          <p:nvPr/>
        </p:nvCxnSpPr>
        <p:spPr>
          <a:xfrm flipH="1" rot="10800000">
            <a:off x="3269688" y="3540650"/>
            <a:ext cx="445800" cy="5337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9" name="Google Shape;1169;p86"/>
          <p:cNvSpPr txBox="1"/>
          <p:nvPr/>
        </p:nvSpPr>
        <p:spPr>
          <a:xfrm>
            <a:off x="342050" y="774300"/>
            <a:ext cx="84327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Index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notation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is when we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write a repeated multiplication using a base and exponent.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7^4&quot;&gt;&lt;msup&gt;&lt;mn&gt;7&lt;/mn&gt;&lt;mn&gt;4&lt;/mn&gt;&lt;/msup&gt;&lt;/math&gt;" id="1170" name="Google Shape;1170;p86" title="7 to the fourth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1688" y="2969150"/>
            <a:ext cx="4572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86"/>
          <p:cNvSpPr txBox="1"/>
          <p:nvPr/>
        </p:nvSpPr>
        <p:spPr>
          <a:xfrm>
            <a:off x="5733325" y="3643900"/>
            <a:ext cx="32667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This means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86"/>
          <p:cNvSpPr txBox="1"/>
          <p:nvPr/>
        </p:nvSpPr>
        <p:spPr>
          <a:xfrm>
            <a:off x="5733325" y="3983650"/>
            <a:ext cx="3041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✕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7 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✕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✕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8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of prime factors using index notation</a:t>
            </a:r>
            <a:endParaRPr/>
          </a:p>
        </p:txBody>
      </p:sp>
      <p:sp>
        <p:nvSpPr>
          <p:cNvPr id="1178" name="Google Shape;1178;p8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</a:t>
            </a:r>
            <a:r>
              <a:rPr baseline="30000" lang="en-GB"/>
              <a:t>2</a:t>
            </a:r>
            <a:r>
              <a:rPr lang="en-GB"/>
              <a:t> × 3</a:t>
            </a:r>
            <a:r>
              <a:rPr baseline="30000" lang="en-GB"/>
              <a:t>2</a:t>
            </a:r>
            <a:r>
              <a:rPr lang="en-GB"/>
              <a:t> × 35</a:t>
            </a:r>
            <a:endParaRPr/>
          </a:p>
        </p:txBody>
      </p:sp>
      <p:sp>
        <p:nvSpPr>
          <p:cNvPr id="1179" name="Google Shape;1179;p87"/>
          <p:cNvSpPr txBox="1"/>
          <p:nvPr>
            <p:ph type="title"/>
          </p:nvPr>
        </p:nvSpPr>
        <p:spPr>
          <a:xfrm>
            <a:off x="324000" y="748775"/>
            <a:ext cx="7464600" cy="8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shows</a:t>
            </a:r>
            <a:r>
              <a:rPr lang="en-GB"/>
              <a:t> 2 × 2 × 3 × 3 × 5 × 7</a:t>
            </a:r>
            <a:r>
              <a:rPr lang="en-GB"/>
              <a:t> written as a product of </a:t>
            </a:r>
            <a:r>
              <a:rPr lang="en-GB"/>
              <a:t>their</a:t>
            </a:r>
            <a:r>
              <a:rPr lang="en-GB"/>
              <a:t> </a:t>
            </a:r>
            <a:r>
              <a:rPr b="1" lang="en-GB"/>
              <a:t>prime factors</a:t>
            </a:r>
            <a:r>
              <a:rPr lang="en-GB"/>
              <a:t> using index notation</a:t>
            </a:r>
            <a:r>
              <a:rPr lang="en-GB"/>
              <a:t>?</a:t>
            </a:r>
            <a:endParaRPr/>
          </a:p>
        </p:txBody>
      </p:sp>
      <p:sp>
        <p:nvSpPr>
          <p:cNvPr id="1180" name="Google Shape;1180;p8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</a:t>
            </a:r>
            <a:r>
              <a:rPr baseline="30000" lang="en-GB"/>
              <a:t>2</a:t>
            </a:r>
            <a:r>
              <a:rPr lang="en-GB"/>
              <a:t> × 3</a:t>
            </a:r>
            <a:r>
              <a:rPr baseline="30000" lang="en-GB"/>
              <a:t>3</a:t>
            </a:r>
            <a:r>
              <a:rPr lang="en-GB"/>
              <a:t> × 5 × 7</a:t>
            </a:r>
            <a:endParaRPr/>
          </a:p>
        </p:txBody>
      </p:sp>
      <p:sp>
        <p:nvSpPr>
          <p:cNvPr id="1181" name="Google Shape;1181;p8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</a:t>
            </a:r>
            <a:r>
              <a:rPr baseline="30000" lang="en-GB"/>
              <a:t>2</a:t>
            </a:r>
            <a:r>
              <a:rPr lang="en-GB"/>
              <a:t> × 3</a:t>
            </a:r>
            <a:r>
              <a:rPr baseline="30000" lang="en-GB"/>
              <a:t>2</a:t>
            </a:r>
            <a:r>
              <a:rPr lang="en-GB"/>
              <a:t> × 5 × 7</a:t>
            </a:r>
            <a:endParaRPr/>
          </a:p>
        </p:txBody>
      </p:sp>
      <p:sp>
        <p:nvSpPr>
          <p:cNvPr id="1182" name="Google Shape;1182;p8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pic>
        <p:nvPicPr>
          <p:cNvPr id="1183" name="Google Shape;1183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1208" y="3719719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of prime factors using index notation</a:t>
            </a:r>
            <a:endParaRPr/>
          </a:p>
        </p:txBody>
      </p:sp>
      <p:sp>
        <p:nvSpPr>
          <p:cNvPr id="1189" name="Google Shape;1189;p88"/>
          <p:cNvSpPr txBox="1"/>
          <p:nvPr>
            <p:ph idx="1" type="body"/>
          </p:nvPr>
        </p:nvSpPr>
        <p:spPr>
          <a:xfrm>
            <a:off x="324000" y="949857"/>
            <a:ext cx="2110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360 = </a:t>
            </a:r>
            <a:r>
              <a:rPr lang="en-GB"/>
              <a:t>2</a:t>
            </a:r>
            <a:r>
              <a:rPr baseline="30000" lang="en-GB"/>
              <a:t>3</a:t>
            </a:r>
            <a:r>
              <a:rPr lang="en-GB"/>
              <a:t> × 3</a:t>
            </a:r>
            <a:r>
              <a:rPr baseline="30000" lang="en-GB"/>
              <a:t>2</a:t>
            </a:r>
            <a:r>
              <a:rPr lang="en-GB"/>
              <a:t> × 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88"/>
          <p:cNvSpPr txBox="1"/>
          <p:nvPr/>
        </p:nvSpPr>
        <p:spPr>
          <a:xfrm>
            <a:off x="705000" y="2852400"/>
            <a:ext cx="515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720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88"/>
          <p:cNvSpPr txBox="1"/>
          <p:nvPr/>
        </p:nvSpPr>
        <p:spPr>
          <a:xfrm>
            <a:off x="1444700" y="2852400"/>
            <a:ext cx="117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360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88"/>
          <p:cNvSpPr txBox="1"/>
          <p:nvPr/>
        </p:nvSpPr>
        <p:spPr>
          <a:xfrm>
            <a:off x="1444700" y="3392400"/>
            <a:ext cx="157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88"/>
          <p:cNvSpPr txBox="1"/>
          <p:nvPr/>
        </p:nvSpPr>
        <p:spPr>
          <a:xfrm>
            <a:off x="4567800" y="2852400"/>
            <a:ext cx="86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36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00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88"/>
          <p:cNvSpPr txBox="1"/>
          <p:nvPr/>
        </p:nvSpPr>
        <p:spPr>
          <a:xfrm>
            <a:off x="5383700" y="2852400"/>
            <a:ext cx="138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360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88"/>
          <p:cNvSpPr txBox="1"/>
          <p:nvPr/>
        </p:nvSpPr>
        <p:spPr>
          <a:xfrm>
            <a:off x="5383700" y="3392400"/>
            <a:ext cx="1484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88"/>
          <p:cNvSpPr txBox="1"/>
          <p:nvPr/>
        </p:nvSpPr>
        <p:spPr>
          <a:xfrm>
            <a:off x="5383700" y="3872950"/>
            <a:ext cx="163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88"/>
          <p:cNvSpPr txBox="1"/>
          <p:nvPr/>
        </p:nvSpPr>
        <p:spPr>
          <a:xfrm>
            <a:off x="324000" y="1419750"/>
            <a:ext cx="8496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We can use this to write other numbers as a product of their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prime factors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without repeating the process from the beginning.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88"/>
          <p:cNvSpPr txBox="1"/>
          <p:nvPr/>
        </p:nvSpPr>
        <p:spPr>
          <a:xfrm>
            <a:off x="2975494" y="3392400"/>
            <a:ext cx="41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88"/>
          <p:cNvSpPr txBox="1"/>
          <p:nvPr/>
        </p:nvSpPr>
        <p:spPr>
          <a:xfrm>
            <a:off x="1444700" y="3872950"/>
            <a:ext cx="157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88"/>
          <p:cNvSpPr txBox="1"/>
          <p:nvPr/>
        </p:nvSpPr>
        <p:spPr>
          <a:xfrm>
            <a:off x="6905398" y="3392400"/>
            <a:ext cx="103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× 5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8"/>
          <p:cNvSpPr/>
          <p:nvPr/>
        </p:nvSpPr>
        <p:spPr>
          <a:xfrm>
            <a:off x="1637275" y="2950175"/>
            <a:ext cx="555900" cy="33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88"/>
          <p:cNvSpPr/>
          <p:nvPr/>
        </p:nvSpPr>
        <p:spPr>
          <a:xfrm>
            <a:off x="1637275" y="3487950"/>
            <a:ext cx="1305300" cy="33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8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2400</a:t>
            </a:r>
            <a:endParaRPr/>
          </a:p>
        </p:txBody>
      </p:sp>
      <p:sp>
        <p:nvSpPr>
          <p:cNvPr id="1208" name="Google Shape;1208;p8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of prime factors using index notation</a:t>
            </a:r>
            <a:endParaRPr/>
          </a:p>
        </p:txBody>
      </p:sp>
      <p:sp>
        <p:nvSpPr>
          <p:cNvPr id="1209" name="Google Shape;1209;p89"/>
          <p:cNvSpPr txBox="1"/>
          <p:nvPr>
            <p:ph type="title"/>
          </p:nvPr>
        </p:nvSpPr>
        <p:spPr>
          <a:xfrm>
            <a:off x="324000" y="810000"/>
            <a:ext cx="7357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</a:t>
            </a:r>
            <a:r>
              <a:rPr lang="en-GB">
                <a:solidFill>
                  <a:schemeClr val="accent2"/>
                </a:solidFill>
              </a:rPr>
              <a:t>three</a:t>
            </a:r>
            <a:r>
              <a:rPr lang="en-GB"/>
              <a:t> numbers can be found using 12 written as a product of its </a:t>
            </a:r>
            <a:r>
              <a:rPr b="1" lang="en-GB"/>
              <a:t>prime factors</a:t>
            </a:r>
            <a:r>
              <a:rPr lang="en-GB"/>
              <a:t>?</a:t>
            </a:r>
            <a:endParaRPr/>
          </a:p>
        </p:txBody>
      </p:sp>
      <p:sp>
        <p:nvSpPr>
          <p:cNvPr id="1210" name="Google Shape;1210;p8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48</a:t>
            </a:r>
            <a:endParaRPr/>
          </a:p>
        </p:txBody>
      </p:sp>
      <p:sp>
        <p:nvSpPr>
          <p:cNvPr id="1211" name="Google Shape;1211;p8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90</a:t>
            </a:r>
            <a:endParaRPr/>
          </a:p>
        </p:txBody>
      </p:sp>
      <p:sp>
        <p:nvSpPr>
          <p:cNvPr id="1212" name="Google Shape;1212;p8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360</a:t>
            </a:r>
            <a:endParaRPr/>
          </a:p>
        </p:txBody>
      </p:sp>
      <p:pic>
        <p:nvPicPr>
          <p:cNvPr id="1213" name="Google Shape;1213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458" y="1619994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458" y="24572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458" y="4110444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of prime factors using index notation</a:t>
            </a:r>
            <a:endParaRPr/>
          </a:p>
        </p:txBody>
      </p:sp>
      <p:sp>
        <p:nvSpPr>
          <p:cNvPr id="1221" name="Google Shape;1221;p90"/>
          <p:cNvSpPr txBox="1"/>
          <p:nvPr/>
        </p:nvSpPr>
        <p:spPr>
          <a:xfrm>
            <a:off x="4567800" y="962550"/>
            <a:ext cx="4252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We can use also use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scientific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calculators to check the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prime factors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of a number.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90"/>
          <p:cNvSpPr txBox="1"/>
          <p:nvPr/>
        </p:nvSpPr>
        <p:spPr>
          <a:xfrm>
            <a:off x="4567800" y="2246100"/>
            <a:ext cx="425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Here is the Casio fx-991EX.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90"/>
          <p:cNvSpPr txBox="1"/>
          <p:nvPr/>
        </p:nvSpPr>
        <p:spPr>
          <a:xfrm>
            <a:off x="4585750" y="2978400"/>
            <a:ext cx="4314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Firstly, ensure ‘Calculate’ is highlighted.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4" name="Google Shape;1224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200" y="853475"/>
            <a:ext cx="2472450" cy="4269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90"/>
          <p:cNvPicPr preferRelativeResize="0"/>
          <p:nvPr/>
        </p:nvPicPr>
        <p:blipFill rotWithShape="1">
          <a:blip r:embed="rId4">
            <a:alphaModFix/>
          </a:blip>
          <a:srcRect b="71583" l="7617" r="7362" t="3333"/>
          <a:stretch/>
        </p:blipFill>
        <p:spPr>
          <a:xfrm>
            <a:off x="1466475" y="1032950"/>
            <a:ext cx="2101925" cy="105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90"/>
          <p:cNvSpPr txBox="1"/>
          <p:nvPr/>
        </p:nvSpPr>
        <p:spPr>
          <a:xfrm>
            <a:off x="5304275" y="4172300"/>
            <a:ext cx="379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Then press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‘EXE’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7" name="Google Shape;1227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6450" y="4122013"/>
            <a:ext cx="628650" cy="628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8" name="Google Shape;1228;p90"/>
          <p:cNvCxnSpPr>
            <a:stCxn id="1227" idx="1"/>
          </p:cNvCxnSpPr>
          <p:nvPr/>
        </p:nvCxnSpPr>
        <p:spPr>
          <a:xfrm flipH="1">
            <a:off x="3471950" y="4436338"/>
            <a:ext cx="1054500" cy="3273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of prime factors using index notation</a:t>
            </a:r>
            <a:endParaRPr/>
          </a:p>
        </p:txBody>
      </p:sp>
      <p:sp>
        <p:nvSpPr>
          <p:cNvPr id="1234" name="Google Shape;1234;p91"/>
          <p:cNvSpPr txBox="1"/>
          <p:nvPr/>
        </p:nvSpPr>
        <p:spPr>
          <a:xfrm>
            <a:off x="4973175" y="1865100"/>
            <a:ext cx="379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Type in 360 and press ‘EXE’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5" name="Google Shape;1235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200" y="853475"/>
            <a:ext cx="2472450" cy="4269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6" name="Google Shape;1236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5350" y="1814813"/>
            <a:ext cx="628650" cy="628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7" name="Google Shape;1237;p91"/>
          <p:cNvCxnSpPr/>
          <p:nvPr/>
        </p:nvCxnSpPr>
        <p:spPr>
          <a:xfrm flipH="1">
            <a:off x="3422550" y="2143650"/>
            <a:ext cx="772800" cy="26004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8" name="Google Shape;1238;p91"/>
          <p:cNvSpPr txBox="1"/>
          <p:nvPr/>
        </p:nvSpPr>
        <p:spPr>
          <a:xfrm>
            <a:off x="4339200" y="733950"/>
            <a:ext cx="42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Let’s check the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prime factors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of 360.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9" name="Google Shape;1239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2212" y="1020600"/>
            <a:ext cx="2170435" cy="99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of prime factors using index notation</a:t>
            </a:r>
            <a:endParaRPr/>
          </a:p>
        </p:txBody>
      </p:sp>
      <p:sp>
        <p:nvSpPr>
          <p:cNvPr id="1245" name="Google Shape;1245;p92"/>
          <p:cNvSpPr txBox="1"/>
          <p:nvPr/>
        </p:nvSpPr>
        <p:spPr>
          <a:xfrm>
            <a:off x="4339200" y="733950"/>
            <a:ext cx="42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Let’s check the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prime factors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of 360.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92"/>
          <p:cNvSpPr txBox="1"/>
          <p:nvPr/>
        </p:nvSpPr>
        <p:spPr>
          <a:xfrm>
            <a:off x="4973175" y="1865100"/>
            <a:ext cx="379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Type in 360 and press ‘EXE’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92"/>
          <p:cNvSpPr txBox="1"/>
          <p:nvPr/>
        </p:nvSpPr>
        <p:spPr>
          <a:xfrm>
            <a:off x="5106675" y="3316200"/>
            <a:ext cx="379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Then select ‘FORMAT’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48" name="Google Shape;124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200" y="853475"/>
            <a:ext cx="2472450" cy="4269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9" name="Google Shape;1249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2212" y="1020600"/>
            <a:ext cx="2170435" cy="99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0" name="Google Shape;1250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2199" y="1007566"/>
            <a:ext cx="2170450" cy="1024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1" name="Google Shape;1251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2850" y="3316188"/>
            <a:ext cx="647700" cy="657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2" name="Google Shape;1252;p92"/>
          <p:cNvCxnSpPr>
            <a:stCxn id="1251" idx="1"/>
          </p:cNvCxnSpPr>
          <p:nvPr/>
        </p:nvCxnSpPr>
        <p:spPr>
          <a:xfrm flipH="1">
            <a:off x="3098150" y="3644800"/>
            <a:ext cx="1214700" cy="11127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53" name="Google Shape;1253;p9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95350" y="1814813"/>
            <a:ext cx="628650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8" name="Google Shape;1258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199" y="1007566"/>
            <a:ext cx="2170450" cy="102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of prime factors using index notation</a:t>
            </a:r>
            <a:endParaRPr/>
          </a:p>
        </p:txBody>
      </p:sp>
      <p:sp>
        <p:nvSpPr>
          <p:cNvPr id="1260" name="Google Shape;1260;p93"/>
          <p:cNvSpPr txBox="1"/>
          <p:nvPr/>
        </p:nvSpPr>
        <p:spPr>
          <a:xfrm>
            <a:off x="4960550" y="962550"/>
            <a:ext cx="3859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Scroll down until ‘Prime Factor’ is highlighted.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1" name="Google Shape;1261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1200" y="853475"/>
            <a:ext cx="2472450" cy="4269044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93"/>
          <p:cNvSpPr txBox="1"/>
          <p:nvPr/>
        </p:nvSpPr>
        <p:spPr>
          <a:xfrm>
            <a:off x="5021100" y="2435950"/>
            <a:ext cx="379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Then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press ‘EXE’ again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3" name="Google Shape;1263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3275" y="2385663"/>
            <a:ext cx="6286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4" name="Google Shape;1264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95775" y="1083925"/>
            <a:ext cx="628650" cy="581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5" name="Google Shape;1265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199" y="1007566"/>
            <a:ext cx="2170450" cy="1024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6" name="Google Shape;1266;p9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64100" y="1035925"/>
            <a:ext cx="2106675" cy="967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7" name="Google Shape;1267;p93"/>
          <p:cNvCxnSpPr>
            <a:stCxn id="1264" idx="1"/>
          </p:cNvCxnSpPr>
          <p:nvPr/>
        </p:nvCxnSpPr>
        <p:spPr>
          <a:xfrm flipH="1">
            <a:off x="2766275" y="1374527"/>
            <a:ext cx="1429500" cy="12459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of prime factors using index notation</a:t>
            </a:r>
            <a:endParaRPr/>
          </a:p>
        </p:txBody>
      </p:sp>
      <p:pic>
        <p:nvPicPr>
          <p:cNvPr id="1273" name="Google Shape;127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200" y="853475"/>
            <a:ext cx="2472450" cy="4269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4" name="Google Shape;1274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2212" y="1020600"/>
            <a:ext cx="2170435" cy="99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5" name="Google Shape;1275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4087" y="1035925"/>
            <a:ext cx="2106675" cy="9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94"/>
          <p:cNvSpPr txBox="1"/>
          <p:nvPr/>
        </p:nvSpPr>
        <p:spPr>
          <a:xfrm>
            <a:off x="4824000" y="1020600"/>
            <a:ext cx="3567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This will reveal the number as a product of its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prime factors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7" name="Google Shape;1277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45500" y="1036091"/>
            <a:ext cx="2106675" cy="976384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94"/>
          <p:cNvSpPr txBox="1"/>
          <p:nvPr>
            <p:ph idx="1" type="body"/>
          </p:nvPr>
        </p:nvSpPr>
        <p:spPr>
          <a:xfrm>
            <a:off x="5348700" y="4070257"/>
            <a:ext cx="2110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360 = 2</a:t>
            </a:r>
            <a:r>
              <a:rPr baseline="30000" lang="en-GB"/>
              <a:t>3</a:t>
            </a:r>
            <a:r>
              <a:rPr lang="en-GB"/>
              <a:t> × 3</a:t>
            </a:r>
            <a:r>
              <a:rPr baseline="30000" lang="en-GB"/>
              <a:t>2</a:t>
            </a:r>
            <a:r>
              <a:rPr lang="en-GB"/>
              <a:t> × 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94"/>
          <p:cNvSpPr txBox="1"/>
          <p:nvPr/>
        </p:nvSpPr>
        <p:spPr>
          <a:xfrm>
            <a:off x="4845775" y="2571750"/>
            <a:ext cx="3567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Therefore, we have just checked our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prime factors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of 360.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9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-GB" sz="2100"/>
              <a:t>Fill in the missing digits.</a:t>
            </a:r>
            <a:endParaRPr sz="2100"/>
          </a:p>
        </p:txBody>
      </p:sp>
      <p:sp>
        <p:nvSpPr>
          <p:cNvPr id="1285" name="Google Shape;1285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Product of prime factors using index notation</a:t>
            </a:r>
            <a:endParaRPr/>
          </a:p>
        </p:txBody>
      </p:sp>
      <p:sp>
        <p:nvSpPr>
          <p:cNvPr id="1286" name="Google Shape;1286;p95"/>
          <p:cNvSpPr txBox="1"/>
          <p:nvPr/>
        </p:nvSpPr>
        <p:spPr>
          <a:xfrm>
            <a:off x="346050" y="970675"/>
            <a:ext cx="8474100" cy="3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"/>
              <a:buAutoNum type="alphaLcParenR"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 × 2 × 2 × 3 × 3 × 7 × 7 = 2   ×  3   × 7</a:t>
            </a:r>
            <a:br>
              <a:rPr lang="en-GB" sz="2100">
                <a:latin typeface="Lexend"/>
                <a:ea typeface="Lexend"/>
                <a:cs typeface="Lexend"/>
                <a:sym typeface="Lexend"/>
              </a:rPr>
            </a:b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"/>
              <a:buAutoNum type="alphaLcParenR"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 × 2 × 5 × 5 × 5 × 11 × 11 = 2   × 5   × 11</a:t>
            </a:r>
            <a:br>
              <a:rPr lang="en-GB" sz="2100">
                <a:latin typeface="Lexend"/>
                <a:ea typeface="Lexend"/>
                <a:cs typeface="Lexend"/>
                <a:sym typeface="Lexend"/>
              </a:rPr>
            </a:b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"/>
              <a:buAutoNum type="alphaLcParenR"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5 × 13 × 5 × 5 × 3 × 13 × 3 × 5 = 3   × 5   × 13</a:t>
            </a:r>
            <a:br>
              <a:rPr lang="en-GB" sz="2100">
                <a:latin typeface="Lexend"/>
                <a:ea typeface="Lexend"/>
                <a:cs typeface="Lexend"/>
                <a:sym typeface="Lexend"/>
              </a:rPr>
            </a:b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"/>
              <a:buAutoNum type="alphaLcParenR"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17 × 2 × 17 × 7 × 7 × 2 × 17 × 7 × 17 = 2   × 7   × 17</a:t>
            </a:r>
            <a:br>
              <a:rPr lang="en-GB" sz="2100">
                <a:latin typeface="Lexend"/>
                <a:ea typeface="Lexend"/>
                <a:cs typeface="Lexend"/>
                <a:sym typeface="Lexend"/>
              </a:rPr>
            </a:b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"/>
              <a:buAutoNum type="alphaLcParenR"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5 × 2 × 5 × 7 × 7 × 11 × 5 × 7 × 11 = 2 × 5    × 7   × 11</a:t>
            </a:r>
            <a:br>
              <a:rPr lang="en-GB" sz="2100">
                <a:latin typeface="Lexend"/>
                <a:ea typeface="Lexend"/>
                <a:cs typeface="Lexend"/>
                <a:sym typeface="Lexend"/>
              </a:rPr>
            </a:b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 is there no box for the 2 in e? </a:t>
            </a:r>
            <a:endParaRPr sz="17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7" name="Google Shape;1287;p95"/>
          <p:cNvSpPr/>
          <p:nvPr/>
        </p:nvSpPr>
        <p:spPr>
          <a:xfrm>
            <a:off x="4052343" y="970675"/>
            <a:ext cx="191400" cy="179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8" name="Google Shape;1288;p95"/>
          <p:cNvSpPr/>
          <p:nvPr/>
        </p:nvSpPr>
        <p:spPr>
          <a:xfrm>
            <a:off x="4686743" y="970675"/>
            <a:ext cx="191400" cy="179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9" name="Google Shape;1289;p95"/>
          <p:cNvSpPr/>
          <p:nvPr/>
        </p:nvSpPr>
        <p:spPr>
          <a:xfrm>
            <a:off x="5273449" y="970675"/>
            <a:ext cx="191400" cy="179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0" name="Google Shape;1290;p95"/>
          <p:cNvSpPr/>
          <p:nvPr/>
        </p:nvSpPr>
        <p:spPr>
          <a:xfrm>
            <a:off x="4304681" y="1614450"/>
            <a:ext cx="191400" cy="179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1" name="Google Shape;1291;p95"/>
          <p:cNvSpPr/>
          <p:nvPr/>
        </p:nvSpPr>
        <p:spPr>
          <a:xfrm>
            <a:off x="4870512" y="1614450"/>
            <a:ext cx="191400" cy="179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2" name="Google Shape;1292;p95"/>
          <p:cNvSpPr/>
          <p:nvPr/>
        </p:nvSpPr>
        <p:spPr>
          <a:xfrm>
            <a:off x="5548680" y="1614450"/>
            <a:ext cx="191400" cy="179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3" name="Google Shape;1293;p95"/>
          <p:cNvSpPr/>
          <p:nvPr/>
        </p:nvSpPr>
        <p:spPr>
          <a:xfrm>
            <a:off x="4731693" y="2274938"/>
            <a:ext cx="191400" cy="179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4" name="Google Shape;1294;p95"/>
          <p:cNvSpPr/>
          <p:nvPr/>
        </p:nvSpPr>
        <p:spPr>
          <a:xfrm>
            <a:off x="5312786" y="2274938"/>
            <a:ext cx="191400" cy="179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5" name="Google Shape;1295;p95"/>
          <p:cNvSpPr/>
          <p:nvPr/>
        </p:nvSpPr>
        <p:spPr>
          <a:xfrm>
            <a:off x="6013849" y="2274938"/>
            <a:ext cx="191400" cy="179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6" name="Google Shape;1296;p95"/>
          <p:cNvSpPr/>
          <p:nvPr/>
        </p:nvSpPr>
        <p:spPr>
          <a:xfrm>
            <a:off x="5419168" y="2896282"/>
            <a:ext cx="191400" cy="179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7" name="Google Shape;1297;p95"/>
          <p:cNvSpPr/>
          <p:nvPr/>
        </p:nvSpPr>
        <p:spPr>
          <a:xfrm>
            <a:off x="6000262" y="2896282"/>
            <a:ext cx="191400" cy="179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8" name="Google Shape;1298;p95"/>
          <p:cNvSpPr/>
          <p:nvPr/>
        </p:nvSpPr>
        <p:spPr>
          <a:xfrm>
            <a:off x="6724105" y="2896282"/>
            <a:ext cx="191400" cy="179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9" name="Google Shape;1299;p95"/>
          <p:cNvSpPr/>
          <p:nvPr/>
        </p:nvSpPr>
        <p:spPr>
          <a:xfrm>
            <a:off x="5588187" y="3540394"/>
            <a:ext cx="191400" cy="179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0" name="Google Shape;1300;p95"/>
          <p:cNvSpPr/>
          <p:nvPr/>
        </p:nvSpPr>
        <p:spPr>
          <a:xfrm>
            <a:off x="6266243" y="3540394"/>
            <a:ext cx="191400" cy="179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1" name="Google Shape;1301;p95"/>
          <p:cNvSpPr/>
          <p:nvPr/>
        </p:nvSpPr>
        <p:spPr>
          <a:xfrm>
            <a:off x="6909979" y="3540394"/>
            <a:ext cx="191400" cy="179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96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 Use 60 = 2</a:t>
            </a:r>
            <a:r>
              <a:rPr baseline="30000" lang="en-GB" sz="1800"/>
              <a:t>2</a:t>
            </a:r>
            <a:r>
              <a:rPr lang="en-GB" sz="1800"/>
              <a:t> × 3 × 5 to write the following, </a:t>
            </a:r>
            <a:r>
              <a:rPr lang="en-GB" sz="1800">
                <a:solidFill>
                  <a:srgbClr val="374CF1"/>
                </a:solidFill>
              </a:rPr>
              <a:t>without </a:t>
            </a:r>
            <a:r>
              <a:rPr lang="en-GB" sz="1800">
                <a:solidFill>
                  <a:srgbClr val="374CF1"/>
                </a:solidFill>
              </a:rPr>
              <a:t>using</a:t>
            </a:r>
            <a:r>
              <a:rPr lang="en-GB" sz="1800">
                <a:solidFill>
                  <a:srgbClr val="374CF1"/>
                </a:solidFill>
              </a:rPr>
              <a:t> a calculator</a:t>
            </a:r>
            <a:r>
              <a:rPr lang="en-GB" sz="1800"/>
              <a:t>, as a product of their </a:t>
            </a:r>
            <a:r>
              <a:rPr b="1" lang="en-GB" sz="1800"/>
              <a:t>prime factors</a:t>
            </a:r>
            <a:r>
              <a:rPr lang="en-GB" sz="1800"/>
              <a:t>.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120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180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300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600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6000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4200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30</a:t>
            </a:r>
            <a:endParaRPr sz="1800"/>
          </a:p>
        </p:txBody>
      </p:sp>
      <p:sp>
        <p:nvSpPr>
          <p:cNvPr id="1307" name="Google Shape;1307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Product of prime factors using index notation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97"/>
          <p:cNvSpPr txBox="1"/>
          <p:nvPr>
            <p:ph idx="1" type="body"/>
          </p:nvPr>
        </p:nvSpPr>
        <p:spPr>
          <a:xfrm>
            <a:off x="324000" y="6831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-GB" sz="2100"/>
              <a:t>Fill in the missing digits.</a:t>
            </a:r>
            <a:endParaRPr sz="2100"/>
          </a:p>
        </p:txBody>
      </p:sp>
      <p:sp>
        <p:nvSpPr>
          <p:cNvPr id="1313" name="Google Shape;1313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Product of prime factors using index notation</a:t>
            </a:r>
            <a:endParaRPr/>
          </a:p>
        </p:txBody>
      </p:sp>
      <p:sp>
        <p:nvSpPr>
          <p:cNvPr id="1314" name="Google Shape;1314;p97"/>
          <p:cNvSpPr txBox="1"/>
          <p:nvPr/>
        </p:nvSpPr>
        <p:spPr>
          <a:xfrm>
            <a:off x="346050" y="894475"/>
            <a:ext cx="8474100" cy="4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"/>
              <a:buAutoNum type="alphaLcParenR"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 × 2 × 2 × 3 × 3 × 7 × 7 = 2   ×  3   × 7</a:t>
            </a:r>
            <a:br>
              <a:rPr lang="en-GB" sz="2100">
                <a:latin typeface="Lexend"/>
                <a:ea typeface="Lexend"/>
                <a:cs typeface="Lexend"/>
                <a:sym typeface="Lexend"/>
              </a:rPr>
            </a:b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"/>
              <a:buAutoNum type="alphaLcParenR"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 × 2 × 5 × 5 × 5 × 11 × 11 = 2   × 5   × 11</a:t>
            </a:r>
            <a:br>
              <a:rPr lang="en-GB" sz="2100">
                <a:latin typeface="Lexend"/>
                <a:ea typeface="Lexend"/>
                <a:cs typeface="Lexend"/>
                <a:sym typeface="Lexend"/>
              </a:rPr>
            </a:b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"/>
              <a:buAutoNum type="alphaLcParenR"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5 × 13 × 5 × 5 × 3 × 13 × 3 × 5 = 3   × 5   × 13</a:t>
            </a:r>
            <a:br>
              <a:rPr lang="en-GB" sz="2100">
                <a:latin typeface="Lexend"/>
                <a:ea typeface="Lexend"/>
                <a:cs typeface="Lexend"/>
                <a:sym typeface="Lexend"/>
              </a:rPr>
            </a:b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"/>
              <a:buAutoNum type="alphaLcParenR"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17 × 2 × 17 × 7 × 7 × 2 × 17 × 7 × 17 = 2   × 7   × 17</a:t>
            </a:r>
            <a:br>
              <a:rPr lang="en-GB" sz="2100">
                <a:latin typeface="Lexend"/>
                <a:ea typeface="Lexend"/>
                <a:cs typeface="Lexend"/>
                <a:sym typeface="Lexend"/>
              </a:rPr>
            </a:b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"/>
              <a:buAutoNum type="alphaLcParenR"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5 × 2 × 5 × 7 × 7 × 11 × 5 × 7 × 11 = 2 × 5    × 7   × 11</a:t>
            </a:r>
            <a:br>
              <a:rPr lang="en-GB" sz="2100">
                <a:latin typeface="Lexend"/>
                <a:ea typeface="Lexend"/>
                <a:cs typeface="Lexend"/>
                <a:sym typeface="Lexend"/>
              </a:rPr>
            </a:b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 is there no box for the 2 in e)? 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index would be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which we do not write.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5" name="Google Shape;1315;p97"/>
          <p:cNvSpPr/>
          <p:nvPr/>
        </p:nvSpPr>
        <p:spPr>
          <a:xfrm>
            <a:off x="4052343" y="894475"/>
            <a:ext cx="20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6" name="Google Shape;1316;p97"/>
          <p:cNvSpPr/>
          <p:nvPr/>
        </p:nvSpPr>
        <p:spPr>
          <a:xfrm>
            <a:off x="4731562" y="894475"/>
            <a:ext cx="20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7" name="Google Shape;1317;p97"/>
          <p:cNvSpPr/>
          <p:nvPr/>
        </p:nvSpPr>
        <p:spPr>
          <a:xfrm>
            <a:off x="5359718" y="894475"/>
            <a:ext cx="20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8" name="Google Shape;1318;p97"/>
          <p:cNvSpPr/>
          <p:nvPr/>
        </p:nvSpPr>
        <p:spPr>
          <a:xfrm>
            <a:off x="4320008" y="1509077"/>
            <a:ext cx="20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9" name="Google Shape;1319;p97"/>
          <p:cNvSpPr/>
          <p:nvPr/>
        </p:nvSpPr>
        <p:spPr>
          <a:xfrm>
            <a:off x="4925814" y="1509077"/>
            <a:ext cx="20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0" name="Google Shape;1320;p97"/>
          <p:cNvSpPr/>
          <p:nvPr/>
        </p:nvSpPr>
        <p:spPr>
          <a:xfrm>
            <a:off x="5651894" y="1509077"/>
            <a:ext cx="20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1" name="Google Shape;1321;p97"/>
          <p:cNvSpPr/>
          <p:nvPr/>
        </p:nvSpPr>
        <p:spPr>
          <a:xfrm>
            <a:off x="4765138" y="2190156"/>
            <a:ext cx="20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2" name="Google Shape;1322;p97"/>
          <p:cNvSpPr/>
          <p:nvPr/>
        </p:nvSpPr>
        <p:spPr>
          <a:xfrm>
            <a:off x="5387284" y="2190156"/>
            <a:ext cx="20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3" name="Google Shape;1323;p97"/>
          <p:cNvSpPr/>
          <p:nvPr/>
        </p:nvSpPr>
        <p:spPr>
          <a:xfrm>
            <a:off x="6137876" y="2190156"/>
            <a:ext cx="20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4" name="Google Shape;1324;p97"/>
          <p:cNvSpPr/>
          <p:nvPr/>
        </p:nvSpPr>
        <p:spPr>
          <a:xfrm>
            <a:off x="5439320" y="2825206"/>
            <a:ext cx="20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5" name="Google Shape;1325;p97"/>
          <p:cNvSpPr/>
          <p:nvPr/>
        </p:nvSpPr>
        <p:spPr>
          <a:xfrm>
            <a:off x="6061467" y="2825206"/>
            <a:ext cx="20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6" name="Google Shape;1326;p97"/>
          <p:cNvSpPr/>
          <p:nvPr/>
        </p:nvSpPr>
        <p:spPr>
          <a:xfrm>
            <a:off x="6836449" y="2825206"/>
            <a:ext cx="20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7" name="Google Shape;1327;p97"/>
          <p:cNvSpPr/>
          <p:nvPr/>
        </p:nvSpPr>
        <p:spPr>
          <a:xfrm>
            <a:off x="5593067" y="3494844"/>
            <a:ext cx="20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8" name="Google Shape;1328;p97"/>
          <p:cNvSpPr/>
          <p:nvPr/>
        </p:nvSpPr>
        <p:spPr>
          <a:xfrm>
            <a:off x="6319026" y="3494844"/>
            <a:ext cx="20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9" name="Google Shape;1329;p97"/>
          <p:cNvSpPr/>
          <p:nvPr/>
        </p:nvSpPr>
        <p:spPr>
          <a:xfrm>
            <a:off x="7008242" y="3494844"/>
            <a:ext cx="20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98"/>
          <p:cNvSpPr txBox="1"/>
          <p:nvPr>
            <p:ph idx="1" type="body"/>
          </p:nvPr>
        </p:nvSpPr>
        <p:spPr>
          <a:xfrm>
            <a:off x="316262" y="759300"/>
            <a:ext cx="8237700" cy="295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 </a:t>
            </a:r>
            <a:r>
              <a:rPr lang="en-GB" sz="1800"/>
              <a:t>Use 60 = 2</a:t>
            </a:r>
            <a:r>
              <a:rPr baseline="30000" lang="en-GB" sz="1800"/>
              <a:t>2</a:t>
            </a:r>
            <a:r>
              <a:rPr lang="en-GB" sz="1800"/>
              <a:t> × 3 × 5 to write the following, </a:t>
            </a:r>
            <a:r>
              <a:rPr lang="en-GB" sz="1800">
                <a:solidFill>
                  <a:schemeClr val="accent2"/>
                </a:solidFill>
              </a:rPr>
              <a:t>without using a calculator</a:t>
            </a:r>
            <a:r>
              <a:rPr lang="en-GB" sz="1800"/>
              <a:t>, as a product of their </a:t>
            </a:r>
            <a:r>
              <a:rPr b="1" lang="en-GB" sz="1800"/>
              <a:t>prime factors</a:t>
            </a:r>
            <a:r>
              <a:rPr lang="en-GB" sz="1800"/>
              <a:t>.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120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180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300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600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6000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4200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35" name="Google Shape;1335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Product of prime factors using index notation</a:t>
            </a:r>
            <a:endParaRPr/>
          </a:p>
        </p:txBody>
      </p:sp>
      <p:sp>
        <p:nvSpPr>
          <p:cNvPr id="1336" name="Google Shape;1336;p98"/>
          <p:cNvSpPr txBox="1"/>
          <p:nvPr/>
        </p:nvSpPr>
        <p:spPr>
          <a:xfrm>
            <a:off x="1390175" y="1421950"/>
            <a:ext cx="486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60 × 2 = 2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× 3 × 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2 =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7" name="Google Shape;1337;p98"/>
          <p:cNvSpPr txBox="1"/>
          <p:nvPr/>
        </p:nvSpPr>
        <p:spPr>
          <a:xfrm>
            <a:off x="1390175" y="2361225"/>
            <a:ext cx="518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60 × 10 =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 × 2 × 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8" name="Google Shape;1338;p98"/>
          <p:cNvSpPr txBox="1"/>
          <p:nvPr/>
        </p:nvSpPr>
        <p:spPr>
          <a:xfrm>
            <a:off x="1390175" y="2674325"/>
            <a:ext cx="595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60 × 100 =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5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9" name="Google Shape;1339;p98"/>
          <p:cNvSpPr txBox="1"/>
          <p:nvPr/>
        </p:nvSpPr>
        <p:spPr>
          <a:xfrm>
            <a:off x="1390175" y="1735025"/>
            <a:ext cx="472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60 × 3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 × 3 =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5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0" name="Google Shape;1340;p98"/>
          <p:cNvSpPr txBox="1"/>
          <p:nvPr/>
        </p:nvSpPr>
        <p:spPr>
          <a:xfrm>
            <a:off x="1390175" y="2048125"/>
            <a:ext cx="497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60 × 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 × 5 =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1" name="Google Shape;1341;p98"/>
          <p:cNvSpPr txBox="1"/>
          <p:nvPr/>
        </p:nvSpPr>
        <p:spPr>
          <a:xfrm>
            <a:off x="1390175" y="2987400"/>
            <a:ext cx="703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60 × 70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 × 7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 × 7 × 2 × 5 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2" name="Google Shape;1342;p98"/>
          <p:cNvSpPr txBox="1"/>
          <p:nvPr/>
        </p:nvSpPr>
        <p:spPr>
          <a:xfrm>
            <a:off x="1390175" y="3681500"/>
            <a:ext cx="491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60 ÷ 2 = 2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× 3 × 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÷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2 = 2 × 3 × 5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3" name="Google Shape;1343;p98"/>
          <p:cNvSpPr txBox="1"/>
          <p:nvPr/>
        </p:nvSpPr>
        <p:spPr>
          <a:xfrm>
            <a:off x="1387318" y="3300525"/>
            <a:ext cx="202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7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4" name="Google Shape;1344;p98"/>
          <p:cNvSpPr txBox="1"/>
          <p:nvPr/>
        </p:nvSpPr>
        <p:spPr>
          <a:xfrm>
            <a:off x="324000" y="3762721"/>
            <a:ext cx="74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g)   30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99"/>
          <p:cNvSpPr txBox="1"/>
          <p:nvPr>
            <p:ph idx="1" type="body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Numbers greater than 1 are either </a:t>
            </a:r>
            <a:r>
              <a:rPr b="1" lang="en-GB"/>
              <a:t>composite </a:t>
            </a:r>
            <a:r>
              <a:rPr lang="en-GB"/>
              <a:t>or prime.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/>
              <a:t>Composite numbers</a:t>
            </a:r>
            <a:r>
              <a:rPr lang="en-GB"/>
              <a:t> can be written as a </a:t>
            </a:r>
            <a:r>
              <a:rPr b="1" lang="en-GB"/>
              <a:t>unique</a:t>
            </a:r>
            <a:r>
              <a:rPr lang="en-GB"/>
              <a:t> product of prime factors.  E.g.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Products of </a:t>
            </a:r>
            <a:r>
              <a:rPr b="1" lang="en-GB"/>
              <a:t>prime factors</a:t>
            </a:r>
            <a:r>
              <a:rPr lang="en-GB"/>
              <a:t> can be written more efficiently using index notation.  E.g. </a:t>
            </a:r>
            <a:endParaRPr/>
          </a:p>
        </p:txBody>
      </p:sp>
      <p:sp>
        <p:nvSpPr>
          <p:cNvPr id="1350" name="Google Shape;1350;p99"/>
          <p:cNvSpPr txBox="1"/>
          <p:nvPr>
            <p:ph type="title"/>
          </p:nvPr>
        </p:nvSpPr>
        <p:spPr>
          <a:xfrm>
            <a:off x="1684800" y="157525"/>
            <a:ext cx="6285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an integer as a product of its prime factors</a:t>
            </a:r>
            <a:endParaRPr/>
          </a:p>
        </p:txBody>
      </p:sp>
      <p:sp>
        <p:nvSpPr>
          <p:cNvPr id="1351" name="Google Shape;1351;p99"/>
          <p:cNvSpPr txBox="1"/>
          <p:nvPr/>
        </p:nvSpPr>
        <p:spPr>
          <a:xfrm>
            <a:off x="3038379" y="2439006"/>
            <a:ext cx="32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52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99"/>
          <p:cNvSpPr txBox="1"/>
          <p:nvPr/>
        </p:nvSpPr>
        <p:spPr>
          <a:xfrm>
            <a:off x="3440275" y="2439005"/>
            <a:ext cx="113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 2 × 26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99"/>
          <p:cNvSpPr txBox="1"/>
          <p:nvPr/>
        </p:nvSpPr>
        <p:spPr>
          <a:xfrm>
            <a:off x="3440275" y="2750272"/>
            <a:ext cx="169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 2 × 2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4" name="Google Shape;1354;p99"/>
          <p:cNvSpPr txBox="1"/>
          <p:nvPr/>
        </p:nvSpPr>
        <p:spPr>
          <a:xfrm>
            <a:off x="4006904" y="3831116"/>
            <a:ext cx="32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52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99"/>
          <p:cNvSpPr txBox="1"/>
          <p:nvPr/>
        </p:nvSpPr>
        <p:spPr>
          <a:xfrm>
            <a:off x="4396150" y="3824804"/>
            <a:ext cx="169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 2</a:t>
            </a:r>
            <a:r>
              <a:rPr baseline="30000"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100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61" name="Google Shape;1361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