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3c19902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3c19902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880278f04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880278f0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826df9487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826df948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826df9487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826df9487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826df9487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826df9487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826df9487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826df9487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83c199027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83c199027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826df9487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826df9487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826df9487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826df9487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83c199027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83c199027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83c199027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83c199027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83c199027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83c199027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8dbd6708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8dbd6708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83c199027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83c199027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83c199027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83c199027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84dd0dd21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84dd0dd21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88bff53ee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88bff53ee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88bff53ee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88bff53ee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88bff53ee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88bff53ee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88bff53ee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88bff53ee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88bff53ee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88bff53ee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88bff53ee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88bff53ee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84dd0dd55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84dd0dd55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84dd0dd55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84dd0dd55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84dd0dd55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84dd0dd55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84dd0dd55d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84dd0dd55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84dd0dd55d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84dd0dd55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84dd0dd55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84dd0dd55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84dd0dd55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84dd0dd55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84dd0dd55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84dd0dd55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84dd0dd55d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84dd0dd55d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84dd0dd55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84dd0dd55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84dd0dd5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84dd0dd5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86bbf673d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86bbf673d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850bb23dd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850bb23d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84dd0dd21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84dd0dd21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826df9487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826df9487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84dd0dd55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84dd0dd55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58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8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8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4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3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 can evaluate a number written as a product of its prime factors.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A composite number is an integer with more than two factors. All integers greater than 1 are either composite or prime.</a:t>
            </a:r>
            <a:endParaRPr/>
          </a:p>
        </p:txBody>
      </p:sp>
      <p:sp>
        <p:nvSpPr>
          <p:cNvPr id="767" name="Google Shape;767;p67"/>
          <p:cNvSpPr txBox="1"/>
          <p:nvPr>
            <p:ph idx="3" type="subTitle"/>
          </p:nvPr>
        </p:nvSpPr>
        <p:spPr>
          <a:xfrm>
            <a:off x="324000" y="2204788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A product is the result of two or more numbers multiplied together. </a:t>
            </a:r>
            <a:endParaRPr sz="2200"/>
          </a:p>
        </p:txBody>
      </p:sp>
      <p:sp>
        <p:nvSpPr>
          <p:cNvPr id="768" name="Google Shape;768;p67"/>
          <p:cNvSpPr txBox="1"/>
          <p:nvPr>
            <p:ph idx="4" type="subTitle"/>
          </p:nvPr>
        </p:nvSpPr>
        <p:spPr>
          <a:xfrm>
            <a:off x="324000" y="35011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Prime factors are factors of a number that are, themselves, prime.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/>
        </p:nvSpPr>
        <p:spPr>
          <a:xfrm>
            <a:off x="324000" y="810000"/>
            <a:ext cx="82134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Numbers that have been multiplied by themselves a repe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ated number of times can be expressed using a base and exponent.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4" name="Google Shape;774;p68"/>
          <p:cNvCxnSpPr/>
          <p:nvPr/>
        </p:nvCxnSpPr>
        <p:spPr>
          <a:xfrm flipH="1">
            <a:off x="4871525" y="2307775"/>
            <a:ext cx="669300" cy="473700"/>
          </a:xfrm>
          <a:prstGeom prst="straightConnector1">
            <a:avLst/>
          </a:prstGeom>
          <a:noFill/>
          <a:ln cap="flat" cmpd="sng" w="38100">
            <a:solidFill>
              <a:srgbClr val="BEF2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5" name="Google Shape;775;p68"/>
          <p:cNvSpPr txBox="1"/>
          <p:nvPr/>
        </p:nvSpPr>
        <p:spPr>
          <a:xfrm>
            <a:off x="5671450" y="2095500"/>
            <a:ext cx="27921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An integer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identifies how many times the base number has been multiplied by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6" name="Google Shape;776;p68"/>
          <p:cNvCxnSpPr/>
          <p:nvPr/>
        </p:nvCxnSpPr>
        <p:spPr>
          <a:xfrm flipH="1" rot="10800000">
            <a:off x="3293400" y="3399000"/>
            <a:ext cx="763200" cy="293100"/>
          </a:xfrm>
          <a:prstGeom prst="straightConnector1">
            <a:avLst/>
          </a:prstGeom>
          <a:noFill/>
          <a:ln cap="flat" cmpd="sng" w="38100">
            <a:solidFill>
              <a:srgbClr val="BEF2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7" name="Google Shape;777;p68"/>
          <p:cNvSpPr txBox="1"/>
          <p:nvPr/>
        </p:nvSpPr>
        <p:spPr>
          <a:xfrm>
            <a:off x="451825" y="3072000"/>
            <a:ext cx="27921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base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the number or term that has been multiplied by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8" name="Google Shape;7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850" y="2857675"/>
            <a:ext cx="455924" cy="5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products of prime factors</a:t>
            </a:r>
            <a:endParaRPr/>
          </a:p>
        </p:txBody>
      </p:sp>
      <p:sp>
        <p:nvSpPr>
          <p:cNvPr id="784" name="Google Shape;784;p6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785" name="Google Shape;785;p69"/>
          <p:cNvSpPr txBox="1"/>
          <p:nvPr>
            <p:ph idx="3" type="title"/>
          </p:nvPr>
        </p:nvSpPr>
        <p:spPr>
          <a:xfrm>
            <a:off x="324000" y="657600"/>
            <a:ext cx="7013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  <p:pic>
        <p:nvPicPr>
          <p:cNvPr id="786" name="Google Shape;78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70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424550" y="2155500"/>
            <a:ext cx="1888174" cy="7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7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827924" y="2155500"/>
            <a:ext cx="1955251" cy="8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0"/>
          <p:cNvSpPr txBox="1"/>
          <p:nvPr>
            <p:ph idx="1" type="body"/>
          </p:nvPr>
        </p:nvSpPr>
        <p:spPr>
          <a:xfrm>
            <a:off x="324000" y="759300"/>
            <a:ext cx="6564300" cy="7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All </a:t>
            </a:r>
            <a:r>
              <a:rPr lang="en-GB" sz="2000">
                <a:solidFill>
                  <a:schemeClr val="accent4"/>
                </a:solidFill>
              </a:rPr>
              <a:t>composite</a:t>
            </a:r>
            <a:r>
              <a:rPr lang="en-GB" sz="2000"/>
              <a:t> numbers can be written as the product of a </a:t>
            </a:r>
            <a:r>
              <a:rPr lang="en-GB" sz="2000">
                <a:solidFill>
                  <a:schemeClr val="accent4"/>
                </a:solidFill>
              </a:rPr>
              <a:t>unique</a:t>
            </a:r>
            <a:r>
              <a:rPr lang="en-GB" sz="2000"/>
              <a:t> combination of prime numbers.</a:t>
            </a:r>
            <a:endParaRPr sz="2000"/>
          </a:p>
        </p:txBody>
      </p:sp>
      <p:sp>
        <p:nvSpPr>
          <p:cNvPr id="794" name="Google Shape;79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products of prime factors</a:t>
            </a:r>
            <a:endParaRPr/>
          </a:p>
        </p:txBody>
      </p:sp>
      <p:sp>
        <p:nvSpPr>
          <p:cNvPr id="795" name="Google Shape;795;p70"/>
          <p:cNvSpPr txBox="1"/>
          <p:nvPr>
            <p:ph idx="1" type="body"/>
          </p:nvPr>
        </p:nvSpPr>
        <p:spPr>
          <a:xfrm>
            <a:off x="324000" y="1464956"/>
            <a:ext cx="8237700" cy="7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Lucas &amp; Aisha have worked out which number is represented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by 2</a:t>
            </a:r>
            <a:r>
              <a:rPr baseline="30000" lang="en-GB" sz="2000"/>
              <a:t>5</a:t>
            </a:r>
            <a:r>
              <a:rPr lang="en-GB" sz="2000"/>
              <a:t> × 3 × 5</a:t>
            </a:r>
            <a:r>
              <a:rPr baseline="30000" lang="en-GB" sz="2000"/>
              <a:t>3</a:t>
            </a:r>
            <a:r>
              <a:rPr lang="en-GB" sz="2000"/>
              <a:t>.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796" name="Google Shape;79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" y="2401800"/>
            <a:ext cx="1257301" cy="14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9200" y="2049175"/>
            <a:ext cx="945451" cy="1785249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1987150" y="2316750"/>
            <a:ext cx="206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It’s 60 000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5550252" y="2278950"/>
            <a:ext cx="195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It’s 12 000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324000" y="3812962"/>
            <a:ext cx="3300000" cy="3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they both be right?</a:t>
            </a:r>
            <a:endParaRPr sz="2000"/>
          </a:p>
        </p:txBody>
      </p:sp>
      <p:sp>
        <p:nvSpPr>
          <p:cNvPr id="801" name="Google Shape;801;p70"/>
          <p:cNvSpPr txBox="1"/>
          <p:nvPr>
            <p:ph idx="1" type="body"/>
          </p:nvPr>
        </p:nvSpPr>
        <p:spPr>
          <a:xfrm>
            <a:off x="324000" y="4237868"/>
            <a:ext cx="8208300" cy="3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each composite number has a unique product of prime factors.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8</a:t>
            </a:r>
            <a:r>
              <a:rPr lang="en-GB"/>
              <a:t> × 3 × 25</a:t>
            </a:r>
            <a:r>
              <a:rPr baseline="30000" lang="en-GB"/>
              <a:t> </a:t>
            </a:r>
            <a:r>
              <a:rPr lang="en-GB"/>
              <a:t>= 600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807" name="Google Shape;80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products of prime factors</a:t>
            </a:r>
            <a:endParaRPr/>
          </a:p>
        </p:txBody>
      </p:sp>
      <p:sp>
        <p:nvSpPr>
          <p:cNvPr id="808" name="Google Shape;808;p7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 × 5</a:t>
            </a:r>
            <a:r>
              <a:rPr baseline="30000" lang="en-GB"/>
              <a:t>2 </a:t>
            </a:r>
            <a:r>
              <a:rPr lang="en-GB"/>
              <a:t>= 600</a:t>
            </a:r>
            <a:endParaRPr/>
          </a:p>
        </p:txBody>
      </p:sp>
      <p:sp>
        <p:nvSpPr>
          <p:cNvPr id="809" name="Google Shape;809;p7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Because 6</a:t>
            </a:r>
            <a:r>
              <a:rPr lang="en-GB"/>
              <a:t> × 3 × 10</a:t>
            </a:r>
            <a:r>
              <a:rPr baseline="30000" lang="en-GB"/>
              <a:t> </a:t>
            </a:r>
            <a:r>
              <a:rPr lang="en-GB"/>
              <a:t>= 600</a:t>
            </a:r>
            <a:endParaRPr/>
          </a:p>
        </p:txBody>
      </p:sp>
      <p:pic>
        <p:nvPicPr>
          <p:cNvPr id="810" name="Google Shape;81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108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8" y="3137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as integers: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5</a:t>
            </a:r>
            <a:r>
              <a:rPr baseline="30000" lang="en-GB"/>
              <a:t>3</a:t>
            </a:r>
            <a:r>
              <a:rPr lang="en-GB"/>
              <a:t> × 7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 × 11</a:t>
            </a:r>
            <a:r>
              <a:rPr baseline="30000" lang="en-GB"/>
              <a:t>2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3</a:t>
            </a:r>
            <a:r>
              <a:rPr baseline="30000" lang="en-GB"/>
              <a:t>3</a:t>
            </a:r>
            <a:r>
              <a:rPr lang="en-GB"/>
              <a:t> × 7 × 13</a:t>
            </a:r>
            <a:r>
              <a:rPr baseline="30000" lang="en-GB"/>
              <a:t>2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AutoNum type="arabicParenR"/>
            </a:pPr>
            <a:r>
              <a:rPr lang="en-GB"/>
              <a:t>5</a:t>
            </a:r>
            <a:r>
              <a:rPr baseline="30000" lang="en-GB"/>
              <a:t>2</a:t>
            </a:r>
            <a:r>
              <a:rPr lang="en-GB"/>
              <a:t> × 7</a:t>
            </a:r>
            <a:r>
              <a:rPr baseline="30000" lang="en-GB"/>
              <a:t>3</a:t>
            </a:r>
            <a:r>
              <a:rPr lang="en-GB"/>
              <a:t> × 19</a:t>
            </a:r>
            <a:endParaRPr/>
          </a:p>
        </p:txBody>
      </p:sp>
      <p:sp>
        <p:nvSpPr>
          <p:cNvPr id="817" name="Google Shape;817;p7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products of prime factors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as integers: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1800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5</a:t>
            </a:r>
            <a:r>
              <a:rPr baseline="30000" lang="en-GB"/>
              <a:t>3</a:t>
            </a:r>
            <a:r>
              <a:rPr lang="en-GB"/>
              <a:t> × 7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875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 × 11</a:t>
            </a:r>
            <a:r>
              <a:rPr baseline="30000" lang="en-GB"/>
              <a:t>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1452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3</a:t>
            </a:r>
            <a:r>
              <a:rPr baseline="30000" lang="en-GB"/>
              <a:t>3</a:t>
            </a:r>
            <a:r>
              <a:rPr lang="en-GB"/>
              <a:t> × 7 × 13</a:t>
            </a:r>
            <a:r>
              <a:rPr baseline="30000" lang="en-GB"/>
              <a:t>2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31 941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AutoNum type="arabicParenR"/>
            </a:pPr>
            <a:r>
              <a:rPr lang="en-GB"/>
              <a:t>5</a:t>
            </a:r>
            <a:r>
              <a:rPr baseline="30000" lang="en-GB"/>
              <a:t>2</a:t>
            </a:r>
            <a:r>
              <a:rPr lang="en-GB"/>
              <a:t> × 7</a:t>
            </a:r>
            <a:r>
              <a:rPr baseline="30000" lang="en-GB"/>
              <a:t>3</a:t>
            </a:r>
            <a:r>
              <a:rPr lang="en-GB"/>
              <a:t> × 19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162 925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3" name="Google Shape;823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products of prime factors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products of prime factors</a:t>
            </a:r>
            <a:endParaRPr/>
          </a:p>
        </p:txBody>
      </p:sp>
      <p:sp>
        <p:nvSpPr>
          <p:cNvPr id="829" name="Google Shape;829;p74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830" name="Google Shape;830;p74"/>
          <p:cNvSpPr txBox="1"/>
          <p:nvPr>
            <p:ph idx="3" type="title"/>
          </p:nvPr>
        </p:nvSpPr>
        <p:spPr>
          <a:xfrm>
            <a:off x="324000" y="657600"/>
            <a:ext cx="7013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  <p:pic>
        <p:nvPicPr>
          <p:cNvPr id="831" name="Google Shape;83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5" y="30143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837" name="Google Shape;837;p75"/>
          <p:cNvSpPr txBox="1"/>
          <p:nvPr>
            <p:ph idx="1" type="body"/>
          </p:nvPr>
        </p:nvSpPr>
        <p:spPr>
          <a:xfrm>
            <a:off x="324000" y="759300"/>
            <a:ext cx="75876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numbers written as a product of their prime factors we can </a:t>
            </a:r>
            <a:r>
              <a:rPr lang="en-GB"/>
              <a:t>determine</a:t>
            </a:r>
            <a:r>
              <a:rPr lang="en-GB"/>
              <a:t> other facts without evaluating the number.</a:t>
            </a:r>
            <a:endParaRPr/>
          </a:p>
        </p:txBody>
      </p:sp>
      <p:sp>
        <p:nvSpPr>
          <p:cNvPr id="838" name="Google Shape;838;p75"/>
          <p:cNvSpPr txBox="1"/>
          <p:nvPr/>
        </p:nvSpPr>
        <p:spPr>
          <a:xfrm>
            <a:off x="3572100" y="1696200"/>
            <a:ext cx="149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2 × 3 ×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>
            <p:ph idx="1" type="body"/>
          </p:nvPr>
        </p:nvSpPr>
        <p:spPr>
          <a:xfrm>
            <a:off x="324000" y="2239550"/>
            <a:ext cx="34077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this a square number?</a:t>
            </a:r>
            <a:endParaRPr/>
          </a:p>
        </p:txBody>
      </p:sp>
      <p:sp>
        <p:nvSpPr>
          <p:cNvPr id="840" name="Google Shape;840;p75"/>
          <p:cNvSpPr txBox="1"/>
          <p:nvPr>
            <p:ph idx="1" type="body"/>
          </p:nvPr>
        </p:nvSpPr>
        <p:spPr>
          <a:xfrm>
            <a:off x="324000" y="2907900"/>
            <a:ext cx="8496000" cy="83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REMEMBER: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 square number is the </a:t>
            </a:r>
            <a:r>
              <a:rPr lang="en-GB">
                <a:solidFill>
                  <a:schemeClr val="accent5"/>
                </a:solidFill>
              </a:rPr>
              <a:t>product</a:t>
            </a:r>
            <a:r>
              <a:rPr lang="en-GB"/>
              <a:t> of two </a:t>
            </a:r>
            <a:r>
              <a:rPr lang="en-GB">
                <a:solidFill>
                  <a:schemeClr val="accent5"/>
                </a:solidFill>
              </a:rPr>
              <a:t>identical</a:t>
            </a:r>
            <a:r>
              <a:rPr lang="en-GB"/>
              <a:t> integers.</a:t>
            </a:r>
            <a:endParaRPr/>
          </a:p>
        </p:txBody>
      </p:sp>
      <p:sp>
        <p:nvSpPr>
          <p:cNvPr id="841" name="Google Shape;841;p75"/>
          <p:cNvSpPr txBox="1"/>
          <p:nvPr/>
        </p:nvSpPr>
        <p:spPr>
          <a:xfrm>
            <a:off x="3572100" y="3780000"/>
            <a:ext cx="149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3 × 2 ×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2" name="Google Shape;842;p75"/>
          <p:cNvGrpSpPr/>
          <p:nvPr/>
        </p:nvGrpSpPr>
        <p:grpSpPr>
          <a:xfrm>
            <a:off x="3540925" y="4041600"/>
            <a:ext cx="656963" cy="171000"/>
            <a:chOff x="3540925" y="4041600"/>
            <a:chExt cx="656963" cy="171000"/>
          </a:xfrm>
        </p:grpSpPr>
        <p:cxnSp>
          <p:nvCxnSpPr>
            <p:cNvPr id="843" name="Google Shape;843;p75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75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75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6" name="Google Shape;846;p75"/>
          <p:cNvGrpSpPr/>
          <p:nvPr/>
        </p:nvGrpSpPr>
        <p:grpSpPr>
          <a:xfrm>
            <a:off x="4418669" y="4041600"/>
            <a:ext cx="656963" cy="171000"/>
            <a:chOff x="3540925" y="4041600"/>
            <a:chExt cx="656963" cy="171000"/>
          </a:xfrm>
        </p:grpSpPr>
        <p:cxnSp>
          <p:nvCxnSpPr>
            <p:cNvPr id="847" name="Google Shape;847;p75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75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75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0" name="Google Shape;850;p75"/>
          <p:cNvSpPr txBox="1"/>
          <p:nvPr>
            <p:ph idx="1" type="body"/>
          </p:nvPr>
        </p:nvSpPr>
        <p:spPr>
          <a:xfrm>
            <a:off x="5183700" y="3841900"/>
            <a:ext cx="12498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</a:t>
            </a:r>
            <a:r>
              <a:rPr lang="en-GB"/>
              <a:t>2 × 3)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851" name="Google Shape;851;p75"/>
          <p:cNvSpPr txBox="1"/>
          <p:nvPr>
            <p:ph idx="1" type="body"/>
          </p:nvPr>
        </p:nvSpPr>
        <p:spPr>
          <a:xfrm>
            <a:off x="324000" y="4421875"/>
            <a:ext cx="47439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So, yes this is a square number.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857" name="Google Shape;857;p76"/>
          <p:cNvSpPr txBox="1"/>
          <p:nvPr/>
        </p:nvSpPr>
        <p:spPr>
          <a:xfrm>
            <a:off x="3805800" y="810775"/>
            <a:ext cx="245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6"/>
          <p:cNvSpPr txBox="1"/>
          <p:nvPr>
            <p:ph idx="1" type="body"/>
          </p:nvPr>
        </p:nvSpPr>
        <p:spPr>
          <a:xfrm>
            <a:off x="324000" y="1896300"/>
            <a:ext cx="35604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this an </a:t>
            </a:r>
            <a:r>
              <a:rPr lang="en-GB">
                <a:solidFill>
                  <a:schemeClr val="accent5"/>
                </a:solidFill>
              </a:rPr>
              <a:t>even</a:t>
            </a:r>
            <a:r>
              <a:rPr lang="en-GB"/>
              <a:t> number?</a:t>
            </a:r>
            <a:endParaRPr/>
          </a:p>
        </p:txBody>
      </p:sp>
      <p:sp>
        <p:nvSpPr>
          <p:cNvPr id="859" name="Google Shape;859;p76"/>
          <p:cNvSpPr txBox="1"/>
          <p:nvPr>
            <p:ph idx="1" type="body"/>
          </p:nvPr>
        </p:nvSpPr>
        <p:spPr>
          <a:xfrm>
            <a:off x="324000" y="2783100"/>
            <a:ext cx="48423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All even numbers are multiples of 2.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0" name="Google Shape;860;p76"/>
          <p:cNvSpPr txBox="1"/>
          <p:nvPr>
            <p:ph idx="1" type="body"/>
          </p:nvPr>
        </p:nvSpPr>
        <p:spPr>
          <a:xfrm>
            <a:off x="324000" y="3669900"/>
            <a:ext cx="84960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Since 2 is one of the prime factors it must be a multiple of 2 and therefore even.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866" name="Google Shape;866;p77"/>
          <p:cNvSpPr txBox="1"/>
          <p:nvPr>
            <p:ph idx="1" type="body"/>
          </p:nvPr>
        </p:nvSpPr>
        <p:spPr>
          <a:xfrm>
            <a:off x="324000" y="2009467"/>
            <a:ext cx="39960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this a </a:t>
            </a:r>
            <a:r>
              <a:rPr lang="en-GB">
                <a:solidFill>
                  <a:schemeClr val="accent5"/>
                </a:solidFill>
              </a:rPr>
              <a:t>multiple</a:t>
            </a:r>
            <a:r>
              <a:rPr lang="en-GB"/>
              <a:t> of 4?</a:t>
            </a:r>
            <a:endParaRPr/>
          </a:p>
        </p:txBody>
      </p:sp>
      <p:sp>
        <p:nvSpPr>
          <p:cNvPr id="867" name="Google Shape;867;p77"/>
          <p:cNvSpPr txBox="1"/>
          <p:nvPr>
            <p:ph idx="1" type="body"/>
          </p:nvPr>
        </p:nvSpPr>
        <p:spPr>
          <a:xfrm>
            <a:off x="324000" y="2998683"/>
            <a:ext cx="53307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multiple of 4 must have a factor of 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8" name="Google Shape;868;p77"/>
          <p:cNvSpPr txBox="1"/>
          <p:nvPr>
            <p:ph idx="1" type="body"/>
          </p:nvPr>
        </p:nvSpPr>
        <p:spPr>
          <a:xfrm>
            <a:off x="324000" y="3987900"/>
            <a:ext cx="51018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Since 2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4 it must be a multiple of 4.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7"/>
          <p:cNvSpPr txBox="1"/>
          <p:nvPr/>
        </p:nvSpPr>
        <p:spPr>
          <a:xfrm>
            <a:off x="3805800" y="813900"/>
            <a:ext cx="214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875" name="Google Shape;875;p78"/>
          <p:cNvSpPr txBox="1"/>
          <p:nvPr>
            <p:ph idx="1" type="body"/>
          </p:nvPr>
        </p:nvSpPr>
        <p:spPr>
          <a:xfrm>
            <a:off x="324000" y="1581675"/>
            <a:ext cx="40641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this a </a:t>
            </a:r>
            <a:r>
              <a:rPr lang="en-GB">
                <a:solidFill>
                  <a:schemeClr val="accent5"/>
                </a:solidFill>
              </a:rPr>
              <a:t>multiple</a:t>
            </a:r>
            <a:r>
              <a:rPr lang="en-GB"/>
              <a:t> of 10?</a:t>
            </a:r>
            <a:endParaRPr/>
          </a:p>
        </p:txBody>
      </p:sp>
      <p:sp>
        <p:nvSpPr>
          <p:cNvPr id="876" name="Google Shape;876;p78"/>
          <p:cNvSpPr txBox="1"/>
          <p:nvPr>
            <p:ph idx="1" type="body"/>
          </p:nvPr>
        </p:nvSpPr>
        <p:spPr>
          <a:xfrm>
            <a:off x="324000" y="2163000"/>
            <a:ext cx="58878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is 2 × 5 as a product of its prime factors.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7" name="Google Shape;877;p78"/>
          <p:cNvSpPr txBox="1"/>
          <p:nvPr>
            <p:ph idx="1" type="body"/>
          </p:nvPr>
        </p:nvSpPr>
        <p:spPr>
          <a:xfrm>
            <a:off x="324000" y="2744325"/>
            <a:ext cx="84960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is a factor but 5 is not.  Therefore, it is not a multiple of 10.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8" name="Google Shape;878;p78"/>
          <p:cNvSpPr txBox="1"/>
          <p:nvPr>
            <p:ph idx="1" type="body"/>
          </p:nvPr>
        </p:nvSpPr>
        <p:spPr>
          <a:xfrm>
            <a:off x="324000" y="3325650"/>
            <a:ext cx="50943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can we make it a multiple of 10?</a:t>
            </a:r>
            <a:endParaRPr/>
          </a:p>
        </p:txBody>
      </p:sp>
      <p:sp>
        <p:nvSpPr>
          <p:cNvPr id="879" name="Google Shape;879;p78"/>
          <p:cNvSpPr txBox="1"/>
          <p:nvPr>
            <p:ph idx="1" type="body"/>
          </p:nvPr>
        </p:nvSpPr>
        <p:spPr>
          <a:xfrm>
            <a:off x="324000" y="3906975"/>
            <a:ext cx="48654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need to introduce a factor of 5.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0" name="Google Shape;880;p78"/>
          <p:cNvSpPr txBox="1"/>
          <p:nvPr>
            <p:ph idx="1" type="body"/>
          </p:nvPr>
        </p:nvSpPr>
        <p:spPr>
          <a:xfrm>
            <a:off x="324000" y="4488300"/>
            <a:ext cx="53619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3 × 5 × 11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would be a multiple of 10.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1" name="Google Shape;881;p78"/>
          <p:cNvSpPr txBox="1"/>
          <p:nvPr/>
        </p:nvSpPr>
        <p:spPr>
          <a:xfrm>
            <a:off x="3805800" y="809250"/>
            <a:ext cx="222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1034425" y="1685375"/>
            <a:ext cx="147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 × 3</a:t>
            </a:r>
            <a:r>
              <a:rPr baseline="30000" lang="en-GB"/>
              <a:t>2</a:t>
            </a:r>
            <a:r>
              <a:rPr lang="en-GB"/>
              <a:t> × 7</a:t>
            </a:r>
            <a:r>
              <a:rPr baseline="30000" lang="en-GB"/>
              <a:t>2</a:t>
            </a:r>
            <a:endParaRPr/>
          </a:p>
        </p:txBody>
      </p:sp>
      <p:sp>
        <p:nvSpPr>
          <p:cNvPr id="887" name="Google Shape;887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888" name="Google Shape;888;p7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</a:t>
            </a:r>
            <a:r>
              <a:rPr lang="en-GB">
                <a:solidFill>
                  <a:schemeClr val="accent5"/>
                </a:solidFill>
              </a:rPr>
              <a:t>two</a:t>
            </a:r>
            <a:r>
              <a:rPr lang="en-GB"/>
              <a:t> of the following are multiples of ten?</a:t>
            </a:r>
            <a:endParaRPr/>
          </a:p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1034425" y="2489443"/>
            <a:ext cx="1476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r>
              <a:rPr lang="en-GB"/>
              <a:t> × 7</a:t>
            </a:r>
            <a:r>
              <a:rPr baseline="30000" lang="en-GB"/>
              <a:t>3</a:t>
            </a:r>
            <a:endParaRPr/>
          </a:p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1034425" y="3309758"/>
            <a:ext cx="1467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3</a:t>
            </a:r>
            <a:r>
              <a:rPr lang="en-GB"/>
              <a:t> × 5</a:t>
            </a:r>
            <a:r>
              <a:rPr baseline="30000" lang="en-GB"/>
              <a:t>3</a:t>
            </a:r>
            <a:endParaRPr/>
          </a:p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1034425" y="4113827"/>
            <a:ext cx="1476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</a:t>
            </a:r>
            <a:r>
              <a:rPr baseline="30000" lang="en-GB"/>
              <a:t>4</a:t>
            </a:r>
            <a:r>
              <a:rPr lang="en-GB"/>
              <a:t> × 5 × 7</a:t>
            </a:r>
            <a:r>
              <a:rPr baseline="30000" lang="en-GB"/>
              <a:t>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2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2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899" name="Google Shape;899;p80"/>
          <p:cNvSpPr txBox="1"/>
          <p:nvPr>
            <p:ph idx="1" type="body"/>
          </p:nvPr>
        </p:nvSpPr>
        <p:spPr>
          <a:xfrm>
            <a:off x="324000" y="1725780"/>
            <a:ext cx="34077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this a </a:t>
            </a:r>
            <a:r>
              <a:rPr lang="en-GB">
                <a:solidFill>
                  <a:schemeClr val="accent5"/>
                </a:solidFill>
              </a:rPr>
              <a:t>square</a:t>
            </a:r>
            <a:r>
              <a:rPr lang="en-GB"/>
              <a:t> number?</a:t>
            </a:r>
            <a:endParaRPr/>
          </a:p>
        </p:txBody>
      </p:sp>
      <p:sp>
        <p:nvSpPr>
          <p:cNvPr id="900" name="Google Shape;900;p80"/>
          <p:cNvSpPr txBox="1"/>
          <p:nvPr/>
        </p:nvSpPr>
        <p:spPr>
          <a:xfrm>
            <a:off x="3200044" y="2761290"/>
            <a:ext cx="278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3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 × 3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1" name="Google Shape;901;p80"/>
          <p:cNvGrpSpPr/>
          <p:nvPr/>
        </p:nvGrpSpPr>
        <p:grpSpPr>
          <a:xfrm>
            <a:off x="3159407" y="3046625"/>
            <a:ext cx="1312612" cy="171000"/>
            <a:chOff x="3540925" y="4041600"/>
            <a:chExt cx="656963" cy="171000"/>
          </a:xfrm>
        </p:grpSpPr>
        <p:cxnSp>
          <p:nvCxnSpPr>
            <p:cNvPr id="902" name="Google Shape;902;p80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80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p80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5" name="Google Shape;905;p80"/>
          <p:cNvGrpSpPr/>
          <p:nvPr/>
        </p:nvGrpSpPr>
        <p:grpSpPr>
          <a:xfrm>
            <a:off x="4677132" y="3046625"/>
            <a:ext cx="1312612" cy="171000"/>
            <a:chOff x="3540925" y="4041600"/>
            <a:chExt cx="656963" cy="171000"/>
          </a:xfrm>
        </p:grpSpPr>
        <p:cxnSp>
          <p:nvCxnSpPr>
            <p:cNvPr id="906" name="Google Shape;906;p80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80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80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9" name="Google Shape;909;p80"/>
          <p:cNvSpPr txBox="1"/>
          <p:nvPr>
            <p:ph idx="1" type="body"/>
          </p:nvPr>
        </p:nvSpPr>
        <p:spPr>
          <a:xfrm>
            <a:off x="324000" y="3987900"/>
            <a:ext cx="42480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11</a:t>
            </a:r>
            <a:r>
              <a:rPr baseline="30000" lang="en-GB"/>
              <a:t>4</a:t>
            </a:r>
            <a:r>
              <a:rPr lang="en-GB"/>
              <a:t> </a:t>
            </a:r>
            <a:r>
              <a:rPr lang="en-GB"/>
              <a:t>is a square number</a:t>
            </a:r>
            <a:endParaRPr/>
          </a:p>
        </p:txBody>
      </p:sp>
      <p:sp>
        <p:nvSpPr>
          <p:cNvPr id="910" name="Google Shape;910;p80"/>
          <p:cNvSpPr txBox="1"/>
          <p:nvPr/>
        </p:nvSpPr>
        <p:spPr>
          <a:xfrm>
            <a:off x="3750600" y="908050"/>
            <a:ext cx="236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916" name="Google Shape;916;p81"/>
          <p:cNvSpPr txBox="1"/>
          <p:nvPr/>
        </p:nvSpPr>
        <p:spPr>
          <a:xfrm>
            <a:off x="3644400" y="1080000"/>
            <a:ext cx="2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 × 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81"/>
          <p:cNvSpPr txBox="1"/>
          <p:nvPr>
            <p:ph idx="1" type="body"/>
          </p:nvPr>
        </p:nvSpPr>
        <p:spPr>
          <a:xfrm>
            <a:off x="324000" y="2160000"/>
            <a:ext cx="64374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can we make this a </a:t>
            </a:r>
            <a:r>
              <a:rPr lang="en-GB">
                <a:solidFill>
                  <a:schemeClr val="accent5"/>
                </a:solidFill>
              </a:rPr>
              <a:t>square</a:t>
            </a:r>
            <a:r>
              <a:rPr lang="en-GB"/>
              <a:t> number?</a:t>
            </a:r>
            <a:endParaRPr/>
          </a:p>
        </p:txBody>
      </p:sp>
      <p:sp>
        <p:nvSpPr>
          <p:cNvPr id="918" name="Google Shape;918;p81"/>
          <p:cNvSpPr txBox="1"/>
          <p:nvPr/>
        </p:nvSpPr>
        <p:spPr>
          <a:xfrm>
            <a:off x="3177150" y="2930750"/>
            <a:ext cx="278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 ×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9" name="Google Shape;919;p81"/>
          <p:cNvGrpSpPr/>
          <p:nvPr/>
        </p:nvGrpSpPr>
        <p:grpSpPr>
          <a:xfrm>
            <a:off x="3136437" y="3199025"/>
            <a:ext cx="869884" cy="171000"/>
            <a:chOff x="3540925" y="4041600"/>
            <a:chExt cx="656963" cy="171000"/>
          </a:xfrm>
        </p:grpSpPr>
        <p:cxnSp>
          <p:nvCxnSpPr>
            <p:cNvPr id="920" name="Google Shape;920;p81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81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81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3" name="Google Shape;923;p81"/>
          <p:cNvGrpSpPr/>
          <p:nvPr/>
        </p:nvGrpSpPr>
        <p:grpSpPr>
          <a:xfrm>
            <a:off x="4204587" y="3199025"/>
            <a:ext cx="869884" cy="171000"/>
            <a:chOff x="3540925" y="4041600"/>
            <a:chExt cx="656963" cy="171000"/>
          </a:xfrm>
        </p:grpSpPr>
        <p:cxnSp>
          <p:nvCxnSpPr>
            <p:cNvPr id="924" name="Google Shape;924;p81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5" name="Google Shape;925;p81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6" name="Google Shape;926;p81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7" name="Google Shape;927;p81"/>
          <p:cNvSpPr txBox="1"/>
          <p:nvPr/>
        </p:nvSpPr>
        <p:spPr>
          <a:xfrm>
            <a:off x="3100675" y="3507025"/>
            <a:ext cx="282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 × 5 ×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81"/>
          <p:cNvSpPr txBox="1"/>
          <p:nvPr/>
        </p:nvSpPr>
        <p:spPr>
          <a:xfrm>
            <a:off x="5845675" y="3530150"/>
            <a:ext cx="100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3 ×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9" name="Google Shape;929;p81"/>
          <p:cNvGrpSpPr/>
          <p:nvPr/>
        </p:nvGrpSpPr>
        <p:grpSpPr>
          <a:xfrm>
            <a:off x="3067409" y="3759300"/>
            <a:ext cx="1756456" cy="171000"/>
            <a:chOff x="3540925" y="4041600"/>
            <a:chExt cx="656963" cy="171000"/>
          </a:xfrm>
        </p:grpSpPr>
        <p:cxnSp>
          <p:nvCxnSpPr>
            <p:cNvPr id="930" name="Google Shape;930;p81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1" name="Google Shape;931;p81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2" name="Google Shape;932;p81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33" name="Google Shape;933;p81"/>
          <p:cNvGrpSpPr/>
          <p:nvPr/>
        </p:nvGrpSpPr>
        <p:grpSpPr>
          <a:xfrm>
            <a:off x="5035346" y="3759300"/>
            <a:ext cx="1756456" cy="171000"/>
            <a:chOff x="3540925" y="4041600"/>
            <a:chExt cx="656963" cy="171000"/>
          </a:xfrm>
        </p:grpSpPr>
        <p:cxnSp>
          <p:nvCxnSpPr>
            <p:cNvPr id="934" name="Google Shape;934;p81"/>
            <p:cNvCxnSpPr/>
            <p:nvPr/>
          </p:nvCxnSpPr>
          <p:spPr>
            <a:xfrm>
              <a:off x="35416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5" name="Google Shape;935;p81"/>
            <p:cNvCxnSpPr/>
            <p:nvPr/>
          </p:nvCxnSpPr>
          <p:spPr>
            <a:xfrm>
              <a:off x="4197888" y="4041600"/>
              <a:ext cx="0" cy="171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81"/>
            <p:cNvCxnSpPr/>
            <p:nvPr/>
          </p:nvCxnSpPr>
          <p:spPr>
            <a:xfrm>
              <a:off x="3540925" y="4197300"/>
              <a:ext cx="65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37" name="Google Shape;937;p81"/>
          <p:cNvSpPr txBox="1"/>
          <p:nvPr/>
        </p:nvSpPr>
        <p:spPr>
          <a:xfrm>
            <a:off x="324000" y="4297200"/>
            <a:ext cx="529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square number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2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622226" y="1257875"/>
            <a:ext cx="3072174" cy="167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2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773275" y="1089725"/>
            <a:ext cx="3184123" cy="16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>
            <p:ph idx="1" type="body"/>
          </p:nvPr>
        </p:nvSpPr>
        <p:spPr>
          <a:xfrm>
            <a:off x="3540800" y="759300"/>
            <a:ext cx="183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4</a:t>
            </a:r>
            <a:r>
              <a:rPr lang="en-GB"/>
              <a:t> × 3</a:t>
            </a:r>
            <a:r>
              <a:rPr baseline="30000" lang="en-GB"/>
              <a:t>3</a:t>
            </a:r>
            <a:r>
              <a:rPr lang="en-GB"/>
              <a:t> × 5 × 7</a:t>
            </a:r>
            <a:r>
              <a:rPr baseline="30000" lang="en-GB"/>
              <a:t>2 </a:t>
            </a:r>
            <a:endParaRPr/>
          </a:p>
        </p:txBody>
      </p:sp>
      <p:sp>
        <p:nvSpPr>
          <p:cNvPr id="945" name="Google Shape;94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pic>
        <p:nvPicPr>
          <p:cNvPr id="946" name="Google Shape;94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50" y="2347348"/>
            <a:ext cx="607339" cy="19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2033" y="2899223"/>
            <a:ext cx="1509690" cy="1420777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2"/>
          <p:cNvSpPr txBox="1"/>
          <p:nvPr/>
        </p:nvSpPr>
        <p:spPr>
          <a:xfrm>
            <a:off x="455875" y="4316200"/>
            <a:ext cx="6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2"/>
          <p:cNvSpPr txBox="1"/>
          <p:nvPr/>
        </p:nvSpPr>
        <p:spPr>
          <a:xfrm>
            <a:off x="7264200" y="4362675"/>
            <a:ext cx="8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2"/>
          <p:cNvSpPr txBox="1"/>
          <p:nvPr/>
        </p:nvSpPr>
        <p:spPr>
          <a:xfrm>
            <a:off x="1045475" y="1170150"/>
            <a:ext cx="27894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product of prime factors is a square number because there is an exponent of 2.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82"/>
          <p:cNvSpPr txBox="1"/>
          <p:nvPr/>
        </p:nvSpPr>
        <p:spPr>
          <a:xfrm>
            <a:off x="4689600" y="1350000"/>
            <a:ext cx="28164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product of prime factors is not a square number because there is an exponent of 3.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2"/>
          <p:cNvSpPr txBox="1"/>
          <p:nvPr/>
        </p:nvSpPr>
        <p:spPr>
          <a:xfrm>
            <a:off x="1684800" y="3008225"/>
            <a:ext cx="5010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Who do you agree with?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Give a reason for your answer.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2"/>
          <p:cNvSpPr txBox="1"/>
          <p:nvPr/>
        </p:nvSpPr>
        <p:spPr>
          <a:xfrm>
            <a:off x="1705700" y="3775550"/>
            <a:ext cx="48963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Lucas is right, if there is an odd exponent 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number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cannot be a product of two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identical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integers.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83"/>
          <p:cNvSpPr txBox="1"/>
          <p:nvPr/>
        </p:nvSpPr>
        <p:spPr>
          <a:xfrm>
            <a:off x="6024659" y="1768072"/>
            <a:ext cx="808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3"/>
          <p:cNvSpPr txBox="1"/>
          <p:nvPr>
            <p:ph idx="1" type="body"/>
          </p:nvPr>
        </p:nvSpPr>
        <p:spPr>
          <a:xfrm>
            <a:off x="324000" y="687600"/>
            <a:ext cx="724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the common factors of 60 and 24.</a:t>
            </a:r>
            <a:endParaRPr/>
          </a:p>
        </p:txBody>
      </p:sp>
      <p:sp>
        <p:nvSpPr>
          <p:cNvPr id="960" name="Google Shape;96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961" name="Google Shape;961;p83"/>
          <p:cNvSpPr txBox="1"/>
          <p:nvPr/>
        </p:nvSpPr>
        <p:spPr>
          <a:xfrm>
            <a:off x="18145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3"/>
          <p:cNvSpPr txBox="1"/>
          <p:nvPr/>
        </p:nvSpPr>
        <p:spPr>
          <a:xfrm>
            <a:off x="57937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3"/>
          <p:cNvSpPr txBox="1"/>
          <p:nvPr/>
        </p:nvSpPr>
        <p:spPr>
          <a:xfrm>
            <a:off x="1264350" y="3478598"/>
            <a:ext cx="225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= 2 × 2 × 3 ×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3"/>
          <p:cNvSpPr/>
          <p:nvPr/>
        </p:nvSpPr>
        <p:spPr>
          <a:xfrm>
            <a:off x="2075321" y="2115017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3"/>
          <p:cNvSpPr/>
          <p:nvPr/>
        </p:nvSpPr>
        <p:spPr>
          <a:xfrm>
            <a:off x="5990523" y="2115017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3"/>
          <p:cNvSpPr txBox="1"/>
          <p:nvPr/>
        </p:nvSpPr>
        <p:spPr>
          <a:xfrm>
            <a:off x="2101800" y="1768072"/>
            <a:ext cx="808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15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3"/>
          <p:cNvSpPr txBox="1"/>
          <p:nvPr/>
        </p:nvSpPr>
        <p:spPr>
          <a:xfrm>
            <a:off x="5243550" y="3478598"/>
            <a:ext cx="248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= 2 × 2 × 2 ×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3"/>
          <p:cNvSpPr/>
          <p:nvPr/>
        </p:nvSpPr>
        <p:spPr>
          <a:xfrm>
            <a:off x="1859389" y="4146841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3"/>
          <p:cNvSpPr/>
          <p:nvPr/>
        </p:nvSpPr>
        <p:spPr>
          <a:xfrm>
            <a:off x="5864461" y="4146850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4"/>
          <p:cNvSpPr txBox="1"/>
          <p:nvPr/>
        </p:nvSpPr>
        <p:spPr>
          <a:xfrm>
            <a:off x="2101800" y="1768072"/>
            <a:ext cx="808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15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4"/>
          <p:cNvSpPr txBox="1"/>
          <p:nvPr/>
        </p:nvSpPr>
        <p:spPr>
          <a:xfrm>
            <a:off x="6024659" y="1768072"/>
            <a:ext cx="808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4"/>
          <p:cNvSpPr txBox="1"/>
          <p:nvPr>
            <p:ph idx="1" type="body"/>
          </p:nvPr>
        </p:nvSpPr>
        <p:spPr>
          <a:xfrm>
            <a:off x="324000" y="687600"/>
            <a:ext cx="724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the common factors of 60 and 24.</a:t>
            </a:r>
            <a:endParaRPr/>
          </a:p>
        </p:txBody>
      </p:sp>
      <p:sp>
        <p:nvSpPr>
          <p:cNvPr id="977" name="Google Shape;97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978" name="Google Shape;978;p84"/>
          <p:cNvSpPr txBox="1"/>
          <p:nvPr/>
        </p:nvSpPr>
        <p:spPr>
          <a:xfrm>
            <a:off x="18145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4"/>
          <p:cNvSpPr txBox="1"/>
          <p:nvPr/>
        </p:nvSpPr>
        <p:spPr>
          <a:xfrm>
            <a:off x="57937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4"/>
          <p:cNvSpPr txBox="1"/>
          <p:nvPr/>
        </p:nvSpPr>
        <p:spPr>
          <a:xfrm>
            <a:off x="1264350" y="3478598"/>
            <a:ext cx="225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= 2 × 2 × 3 ×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4"/>
          <p:cNvSpPr/>
          <p:nvPr/>
        </p:nvSpPr>
        <p:spPr>
          <a:xfrm>
            <a:off x="2075321" y="2787577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4"/>
          <p:cNvSpPr/>
          <p:nvPr/>
        </p:nvSpPr>
        <p:spPr>
          <a:xfrm>
            <a:off x="6003762" y="2787577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4"/>
          <p:cNvSpPr txBox="1"/>
          <p:nvPr/>
        </p:nvSpPr>
        <p:spPr>
          <a:xfrm>
            <a:off x="5243550" y="3478598"/>
            <a:ext cx="248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= 2 × 2 × 2 ×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4"/>
          <p:cNvSpPr/>
          <p:nvPr/>
        </p:nvSpPr>
        <p:spPr>
          <a:xfrm>
            <a:off x="1859420" y="4146850"/>
            <a:ext cx="7017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4"/>
          <p:cNvSpPr/>
          <p:nvPr/>
        </p:nvSpPr>
        <p:spPr>
          <a:xfrm>
            <a:off x="5864430" y="4146850"/>
            <a:ext cx="7017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5"/>
          <p:cNvSpPr txBox="1"/>
          <p:nvPr/>
        </p:nvSpPr>
        <p:spPr>
          <a:xfrm>
            <a:off x="2101800" y="1768072"/>
            <a:ext cx="808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15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5"/>
          <p:cNvSpPr txBox="1"/>
          <p:nvPr/>
        </p:nvSpPr>
        <p:spPr>
          <a:xfrm>
            <a:off x="6024659" y="1768072"/>
            <a:ext cx="808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5"/>
          <p:cNvSpPr txBox="1"/>
          <p:nvPr>
            <p:ph idx="1" type="body"/>
          </p:nvPr>
        </p:nvSpPr>
        <p:spPr>
          <a:xfrm>
            <a:off x="324000" y="687600"/>
            <a:ext cx="724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the common factors of </a:t>
            </a:r>
            <a:r>
              <a:rPr lang="en-GB"/>
              <a:t>60 and 24</a:t>
            </a:r>
            <a:r>
              <a:rPr lang="en-GB"/>
              <a:t>.</a:t>
            </a:r>
            <a:endParaRPr/>
          </a:p>
        </p:txBody>
      </p:sp>
      <p:sp>
        <p:nvSpPr>
          <p:cNvPr id="993" name="Google Shape;99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994" name="Google Shape;994;p85"/>
          <p:cNvSpPr txBox="1"/>
          <p:nvPr/>
        </p:nvSpPr>
        <p:spPr>
          <a:xfrm>
            <a:off x="18145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5"/>
          <p:cNvSpPr txBox="1"/>
          <p:nvPr/>
        </p:nvSpPr>
        <p:spPr>
          <a:xfrm>
            <a:off x="57937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5"/>
          <p:cNvSpPr txBox="1"/>
          <p:nvPr/>
        </p:nvSpPr>
        <p:spPr>
          <a:xfrm>
            <a:off x="1264350" y="3478598"/>
            <a:ext cx="225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= 2 × 2 × 3 ×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5"/>
          <p:cNvSpPr/>
          <p:nvPr/>
        </p:nvSpPr>
        <p:spPr>
          <a:xfrm>
            <a:off x="2062080" y="3459302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5"/>
          <p:cNvSpPr/>
          <p:nvPr/>
        </p:nvSpPr>
        <p:spPr>
          <a:xfrm>
            <a:off x="6444192" y="2787577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5"/>
          <p:cNvSpPr txBox="1"/>
          <p:nvPr/>
        </p:nvSpPr>
        <p:spPr>
          <a:xfrm>
            <a:off x="5243550" y="3478598"/>
            <a:ext cx="248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= 2 × 2 × 2 ×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5"/>
          <p:cNvSpPr/>
          <p:nvPr/>
        </p:nvSpPr>
        <p:spPr>
          <a:xfrm>
            <a:off x="2317720" y="4146850"/>
            <a:ext cx="7017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5"/>
          <p:cNvSpPr/>
          <p:nvPr/>
        </p:nvSpPr>
        <p:spPr>
          <a:xfrm>
            <a:off x="6757505" y="4146850"/>
            <a:ext cx="7017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86"/>
          <p:cNvSpPr txBox="1"/>
          <p:nvPr/>
        </p:nvSpPr>
        <p:spPr>
          <a:xfrm>
            <a:off x="2101800" y="1768072"/>
            <a:ext cx="808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15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6"/>
          <p:cNvSpPr txBox="1"/>
          <p:nvPr/>
        </p:nvSpPr>
        <p:spPr>
          <a:xfrm>
            <a:off x="6024659" y="1768072"/>
            <a:ext cx="808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6"/>
          <p:cNvSpPr txBox="1"/>
          <p:nvPr>
            <p:ph idx="1" type="body"/>
          </p:nvPr>
        </p:nvSpPr>
        <p:spPr>
          <a:xfrm>
            <a:off x="324000" y="687600"/>
            <a:ext cx="724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the common factors of </a:t>
            </a:r>
            <a:r>
              <a:rPr lang="en-GB"/>
              <a:t>60 and 24</a:t>
            </a:r>
            <a:r>
              <a:rPr lang="en-GB"/>
              <a:t>.</a:t>
            </a:r>
            <a:endParaRPr/>
          </a:p>
        </p:txBody>
      </p:sp>
      <p:sp>
        <p:nvSpPr>
          <p:cNvPr id="1009" name="Google Shape;100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010" name="Google Shape;1010;p86"/>
          <p:cNvSpPr txBox="1"/>
          <p:nvPr/>
        </p:nvSpPr>
        <p:spPr>
          <a:xfrm>
            <a:off x="18145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6"/>
          <p:cNvSpPr txBox="1"/>
          <p:nvPr/>
        </p:nvSpPr>
        <p:spPr>
          <a:xfrm>
            <a:off x="57937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6"/>
          <p:cNvSpPr txBox="1"/>
          <p:nvPr/>
        </p:nvSpPr>
        <p:spPr>
          <a:xfrm>
            <a:off x="1264350" y="3478598"/>
            <a:ext cx="225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= 2 × 2 × 3 ×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6"/>
          <p:cNvSpPr/>
          <p:nvPr/>
        </p:nvSpPr>
        <p:spPr>
          <a:xfrm>
            <a:off x="2062089" y="2453638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6"/>
          <p:cNvSpPr/>
          <p:nvPr/>
        </p:nvSpPr>
        <p:spPr>
          <a:xfrm>
            <a:off x="5980954" y="2440413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6"/>
          <p:cNvSpPr txBox="1"/>
          <p:nvPr/>
        </p:nvSpPr>
        <p:spPr>
          <a:xfrm>
            <a:off x="5243550" y="3478598"/>
            <a:ext cx="248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= 2 × 2 × 2 ×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6"/>
          <p:cNvSpPr/>
          <p:nvPr/>
        </p:nvSpPr>
        <p:spPr>
          <a:xfrm>
            <a:off x="2777022" y="4146850"/>
            <a:ext cx="242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6"/>
          <p:cNvSpPr/>
          <p:nvPr/>
        </p:nvSpPr>
        <p:spPr>
          <a:xfrm>
            <a:off x="7177058" y="4146850"/>
            <a:ext cx="2823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7"/>
          <p:cNvSpPr txBox="1"/>
          <p:nvPr/>
        </p:nvSpPr>
        <p:spPr>
          <a:xfrm>
            <a:off x="2101800" y="1768072"/>
            <a:ext cx="808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15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7"/>
          <p:cNvSpPr txBox="1"/>
          <p:nvPr/>
        </p:nvSpPr>
        <p:spPr>
          <a:xfrm>
            <a:off x="6024659" y="1768072"/>
            <a:ext cx="808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7"/>
          <p:cNvSpPr txBox="1"/>
          <p:nvPr>
            <p:ph idx="1" type="body"/>
          </p:nvPr>
        </p:nvSpPr>
        <p:spPr>
          <a:xfrm>
            <a:off x="324000" y="687600"/>
            <a:ext cx="724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the common factors of </a:t>
            </a:r>
            <a:r>
              <a:rPr lang="en-GB"/>
              <a:t>60 and 24</a:t>
            </a:r>
            <a:r>
              <a:rPr lang="en-GB"/>
              <a:t>.</a:t>
            </a:r>
            <a:endParaRPr/>
          </a:p>
        </p:txBody>
      </p:sp>
      <p:sp>
        <p:nvSpPr>
          <p:cNvPr id="1025" name="Google Shape;102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026" name="Google Shape;1026;p87"/>
          <p:cNvSpPr txBox="1"/>
          <p:nvPr/>
        </p:nvSpPr>
        <p:spPr>
          <a:xfrm>
            <a:off x="18145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7"/>
          <p:cNvSpPr txBox="1"/>
          <p:nvPr/>
        </p:nvSpPr>
        <p:spPr>
          <a:xfrm>
            <a:off x="5793750" y="1089323"/>
            <a:ext cx="138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7"/>
          <p:cNvSpPr txBox="1"/>
          <p:nvPr/>
        </p:nvSpPr>
        <p:spPr>
          <a:xfrm>
            <a:off x="1264350" y="3478598"/>
            <a:ext cx="225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= 2 × 2 × 3 ×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7"/>
          <p:cNvSpPr/>
          <p:nvPr/>
        </p:nvSpPr>
        <p:spPr>
          <a:xfrm>
            <a:off x="2551954" y="3122575"/>
            <a:ext cx="335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7"/>
          <p:cNvSpPr/>
          <p:nvPr/>
        </p:nvSpPr>
        <p:spPr>
          <a:xfrm>
            <a:off x="6470799" y="2129300"/>
            <a:ext cx="335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7"/>
          <p:cNvSpPr txBox="1"/>
          <p:nvPr/>
        </p:nvSpPr>
        <p:spPr>
          <a:xfrm>
            <a:off x="5243550" y="3478598"/>
            <a:ext cx="248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= 2 × 2 × 2 ×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7"/>
          <p:cNvSpPr/>
          <p:nvPr/>
        </p:nvSpPr>
        <p:spPr>
          <a:xfrm>
            <a:off x="1879261" y="4146850"/>
            <a:ext cx="11403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7"/>
          <p:cNvSpPr/>
          <p:nvPr/>
        </p:nvSpPr>
        <p:spPr>
          <a:xfrm>
            <a:off x="6319027" y="4146850"/>
            <a:ext cx="11403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8"/>
          <p:cNvSpPr txBox="1"/>
          <p:nvPr/>
        </p:nvSpPr>
        <p:spPr>
          <a:xfrm>
            <a:off x="2101800" y="1277773"/>
            <a:ext cx="808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1 × 60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30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20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15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12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8"/>
          <p:cNvSpPr txBox="1"/>
          <p:nvPr/>
        </p:nvSpPr>
        <p:spPr>
          <a:xfrm>
            <a:off x="6024659" y="1277773"/>
            <a:ext cx="80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1 × 24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12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8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6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041" name="Google Shape;1041;p88"/>
          <p:cNvSpPr txBox="1"/>
          <p:nvPr/>
        </p:nvSpPr>
        <p:spPr>
          <a:xfrm>
            <a:off x="1814550" y="599024"/>
            <a:ext cx="138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60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8"/>
          <p:cNvSpPr txBox="1"/>
          <p:nvPr/>
        </p:nvSpPr>
        <p:spPr>
          <a:xfrm>
            <a:off x="5793750" y="599024"/>
            <a:ext cx="138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Factors of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8"/>
          <p:cNvSpPr/>
          <p:nvPr/>
        </p:nvSpPr>
        <p:spPr>
          <a:xfrm>
            <a:off x="2062075" y="2883137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8"/>
          <p:cNvSpPr/>
          <p:nvPr/>
        </p:nvSpPr>
        <p:spPr>
          <a:xfrm>
            <a:off x="6450967" y="2260952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8"/>
          <p:cNvSpPr/>
          <p:nvPr/>
        </p:nvSpPr>
        <p:spPr>
          <a:xfrm>
            <a:off x="2062075" y="1625350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8"/>
          <p:cNvSpPr/>
          <p:nvPr/>
        </p:nvSpPr>
        <p:spPr>
          <a:xfrm>
            <a:off x="2062075" y="1939858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8"/>
          <p:cNvSpPr/>
          <p:nvPr/>
        </p:nvSpPr>
        <p:spPr>
          <a:xfrm>
            <a:off x="5984943" y="1625350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8"/>
          <p:cNvSpPr/>
          <p:nvPr/>
        </p:nvSpPr>
        <p:spPr>
          <a:xfrm>
            <a:off x="5984943" y="1943173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8"/>
          <p:cNvSpPr/>
          <p:nvPr/>
        </p:nvSpPr>
        <p:spPr>
          <a:xfrm>
            <a:off x="2505735" y="2571745"/>
            <a:ext cx="3483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8"/>
          <p:cNvSpPr/>
          <p:nvPr/>
        </p:nvSpPr>
        <p:spPr>
          <a:xfrm>
            <a:off x="6424486" y="1619748"/>
            <a:ext cx="3483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8"/>
          <p:cNvSpPr/>
          <p:nvPr/>
        </p:nvSpPr>
        <p:spPr>
          <a:xfrm>
            <a:off x="2062075" y="2254365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8"/>
          <p:cNvSpPr/>
          <p:nvPr/>
        </p:nvSpPr>
        <p:spPr>
          <a:xfrm>
            <a:off x="5984943" y="2260996"/>
            <a:ext cx="2424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8"/>
          <p:cNvSpPr txBox="1"/>
          <p:nvPr/>
        </p:nvSpPr>
        <p:spPr>
          <a:xfrm>
            <a:off x="324000" y="3399000"/>
            <a:ext cx="634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Have we identified all of the common factors?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8"/>
          <p:cNvSpPr txBox="1"/>
          <p:nvPr/>
        </p:nvSpPr>
        <p:spPr>
          <a:xfrm>
            <a:off x="324000" y="4118800"/>
            <a:ext cx="597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Why have we missed the common factor of 1?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8"/>
          <p:cNvSpPr txBox="1"/>
          <p:nvPr/>
        </p:nvSpPr>
        <p:spPr>
          <a:xfrm>
            <a:off x="324000" y="3758900"/>
            <a:ext cx="256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No, we have missed 1.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88"/>
          <p:cNvSpPr txBox="1"/>
          <p:nvPr/>
        </p:nvSpPr>
        <p:spPr>
          <a:xfrm>
            <a:off x="324000" y="4478700"/>
            <a:ext cx="795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Because we used the prime factor form and 1 is not a prime number.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89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331375" y="2026775"/>
            <a:ext cx="3676626" cy="14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89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613375" y="2212750"/>
            <a:ext cx="2600868" cy="11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89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620951" y="2327025"/>
            <a:ext cx="1943501" cy="10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89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871825" y="1946400"/>
            <a:ext cx="1591475" cy="14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89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541825" y="1612500"/>
            <a:ext cx="2855398" cy="190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067" name="Google Shape;1067;p89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9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9" name="Google Shape;106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10574"/>
            <a:ext cx="916459" cy="132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4254" y="3110574"/>
            <a:ext cx="1175745" cy="1325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89"/>
          <p:cNvSpPr txBox="1"/>
          <p:nvPr/>
        </p:nvSpPr>
        <p:spPr>
          <a:xfrm>
            <a:off x="1684788" y="1612500"/>
            <a:ext cx="32391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use these products of prime factors to identify common factors.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9"/>
          <p:cNvSpPr txBox="1"/>
          <p:nvPr/>
        </p:nvSpPr>
        <p:spPr>
          <a:xfrm>
            <a:off x="5604450" y="2327400"/>
            <a:ext cx="18303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can we do that?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9"/>
          <p:cNvSpPr txBox="1"/>
          <p:nvPr/>
        </p:nvSpPr>
        <p:spPr>
          <a:xfrm>
            <a:off x="1684800" y="2209500"/>
            <a:ext cx="32391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look for what is common in both.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9"/>
          <p:cNvSpPr txBox="1"/>
          <p:nvPr/>
        </p:nvSpPr>
        <p:spPr>
          <a:xfrm>
            <a:off x="5833050" y="1946400"/>
            <a:ext cx="18303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is 2 a common factor?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9"/>
          <p:cNvSpPr txBox="1"/>
          <p:nvPr/>
        </p:nvSpPr>
        <p:spPr>
          <a:xfrm>
            <a:off x="1768113" y="2243700"/>
            <a:ext cx="2291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Yes, but there are lots more.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081" name="Google Shape;1081;p90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0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0"/>
          <p:cNvSpPr txBox="1"/>
          <p:nvPr/>
        </p:nvSpPr>
        <p:spPr>
          <a:xfrm>
            <a:off x="324000" y="3166775"/>
            <a:ext cx="30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2 common to both?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0"/>
          <p:cNvSpPr txBox="1"/>
          <p:nvPr/>
        </p:nvSpPr>
        <p:spPr>
          <a:xfrm>
            <a:off x="4309800" y="3166775"/>
            <a:ext cx="5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5" name="Google Shape;1085;p90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90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0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0"/>
          <p:cNvSpPr/>
          <p:nvPr/>
        </p:nvSpPr>
        <p:spPr>
          <a:xfrm>
            <a:off x="2759675" y="3938875"/>
            <a:ext cx="2913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094" name="Google Shape;1094;p91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1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1"/>
          <p:cNvSpPr txBox="1"/>
          <p:nvPr/>
        </p:nvSpPr>
        <p:spPr>
          <a:xfrm>
            <a:off x="324000" y="3166775"/>
            <a:ext cx="3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common to both?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1"/>
          <p:cNvSpPr txBox="1"/>
          <p:nvPr/>
        </p:nvSpPr>
        <p:spPr>
          <a:xfrm>
            <a:off x="4309800" y="3166775"/>
            <a:ext cx="5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8" name="Google Shape;1098;p91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1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1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1"/>
          <p:cNvSpPr/>
          <p:nvPr/>
        </p:nvSpPr>
        <p:spPr>
          <a:xfrm>
            <a:off x="3056975" y="3899775"/>
            <a:ext cx="2913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107" name="Google Shape;1107;p92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2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2"/>
          <p:cNvSpPr txBox="1"/>
          <p:nvPr/>
        </p:nvSpPr>
        <p:spPr>
          <a:xfrm>
            <a:off x="324000" y="3166775"/>
            <a:ext cx="3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common to both?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92"/>
          <p:cNvSpPr txBox="1"/>
          <p:nvPr/>
        </p:nvSpPr>
        <p:spPr>
          <a:xfrm>
            <a:off x="4309800" y="3166775"/>
            <a:ext cx="5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92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2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119" name="Google Shape;1119;p93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3"/>
          <p:cNvSpPr txBox="1"/>
          <p:nvPr/>
        </p:nvSpPr>
        <p:spPr>
          <a:xfrm>
            <a:off x="324000" y="3166775"/>
            <a:ext cx="3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3 common to both?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93"/>
          <p:cNvSpPr txBox="1"/>
          <p:nvPr/>
        </p:nvSpPr>
        <p:spPr>
          <a:xfrm>
            <a:off x="4309800" y="3166775"/>
            <a:ext cx="5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93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3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93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93"/>
          <p:cNvSpPr/>
          <p:nvPr/>
        </p:nvSpPr>
        <p:spPr>
          <a:xfrm>
            <a:off x="3434800" y="3948300"/>
            <a:ext cx="3741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132" name="Google Shape;1132;p94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94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94"/>
          <p:cNvSpPr txBox="1"/>
          <p:nvPr/>
        </p:nvSpPr>
        <p:spPr>
          <a:xfrm>
            <a:off x="324000" y="3166775"/>
            <a:ext cx="3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common to both?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4"/>
          <p:cNvSpPr txBox="1"/>
          <p:nvPr/>
        </p:nvSpPr>
        <p:spPr>
          <a:xfrm>
            <a:off x="4309800" y="3166775"/>
            <a:ext cx="5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94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3,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94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94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/>
          <p:nvPr/>
        </p:nvSpPr>
        <p:spPr>
          <a:xfrm>
            <a:off x="3779100" y="3935400"/>
            <a:ext cx="3279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145" name="Google Shape;1145;p95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5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95"/>
          <p:cNvSpPr txBox="1"/>
          <p:nvPr/>
        </p:nvSpPr>
        <p:spPr>
          <a:xfrm>
            <a:off x="324000" y="3166775"/>
            <a:ext cx="3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common to both?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5"/>
          <p:cNvSpPr txBox="1"/>
          <p:nvPr/>
        </p:nvSpPr>
        <p:spPr>
          <a:xfrm>
            <a:off x="4309800" y="3166775"/>
            <a:ext cx="5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9" name="Google Shape;1149;p95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3,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5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95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95"/>
          <p:cNvSpPr/>
          <p:nvPr/>
        </p:nvSpPr>
        <p:spPr>
          <a:xfrm>
            <a:off x="4155150" y="3948300"/>
            <a:ext cx="4464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158" name="Google Shape;1158;p96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6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6"/>
          <p:cNvSpPr txBox="1"/>
          <p:nvPr/>
        </p:nvSpPr>
        <p:spPr>
          <a:xfrm>
            <a:off x="324000" y="3166775"/>
            <a:ext cx="528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don’t we have to check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6"/>
          <p:cNvSpPr txBox="1"/>
          <p:nvPr/>
        </p:nvSpPr>
        <p:spPr>
          <a:xfrm>
            <a:off x="5867700" y="3051900"/>
            <a:ext cx="29523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Because the the highest common factor is 3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96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3,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96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96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170" name="Google Shape;1170;p97"/>
          <p:cNvSpPr txBox="1"/>
          <p:nvPr/>
        </p:nvSpPr>
        <p:spPr>
          <a:xfrm>
            <a:off x="324000" y="1636800"/>
            <a:ext cx="74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list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common factors of these two products.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97"/>
          <p:cNvSpPr txBox="1"/>
          <p:nvPr/>
        </p:nvSpPr>
        <p:spPr>
          <a:xfrm>
            <a:off x="324000" y="2407300"/>
            <a:ext cx="3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do this systematically.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97"/>
          <p:cNvSpPr txBox="1"/>
          <p:nvPr/>
        </p:nvSpPr>
        <p:spPr>
          <a:xfrm>
            <a:off x="324000" y="3166775"/>
            <a:ext cx="3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7 common to both?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97"/>
          <p:cNvSpPr txBox="1"/>
          <p:nvPr/>
        </p:nvSpPr>
        <p:spPr>
          <a:xfrm>
            <a:off x="4309800" y="3166775"/>
            <a:ext cx="5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97"/>
          <p:cNvSpPr txBox="1"/>
          <p:nvPr/>
        </p:nvSpPr>
        <p:spPr>
          <a:xfrm>
            <a:off x="324000" y="3948300"/>
            <a:ext cx="81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factors:  2,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3,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97"/>
          <p:cNvSpPr txBox="1"/>
          <p:nvPr/>
        </p:nvSpPr>
        <p:spPr>
          <a:xfrm>
            <a:off x="16848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7"/>
          <p:cNvSpPr txBox="1"/>
          <p:nvPr/>
        </p:nvSpPr>
        <p:spPr>
          <a:xfrm>
            <a:off x="5774400" y="851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7"/>
          <p:cNvSpPr/>
          <p:nvPr/>
        </p:nvSpPr>
        <p:spPr>
          <a:xfrm>
            <a:off x="4574325" y="3944825"/>
            <a:ext cx="2913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7"/>
          <p:cNvSpPr txBox="1"/>
          <p:nvPr/>
        </p:nvSpPr>
        <p:spPr>
          <a:xfrm>
            <a:off x="324000" y="4494650"/>
            <a:ext cx="552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Also, any product of these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9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second product has </a:t>
            </a:r>
            <a:r>
              <a:rPr lang="en-GB"/>
              <a:t>3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1184" name="Google Shape;1184;p98"/>
          <p:cNvSpPr txBox="1"/>
          <p:nvPr>
            <p:ph idx="1" type="subTitle"/>
          </p:nvPr>
        </p:nvSpPr>
        <p:spPr>
          <a:xfrm>
            <a:off x="324000" y="1080000"/>
            <a:ext cx="788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r>
              <a:rPr lang="en-GB"/>
              <a:t> is a common factor of 3</a:t>
            </a:r>
            <a:r>
              <a:rPr baseline="30000" lang="en-GB"/>
              <a:t>4</a:t>
            </a:r>
            <a:r>
              <a:rPr lang="en-GB"/>
              <a:t> × 5 × 11 and 2 × 3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185" name="Google Shape;1185;p9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first product only has a factor of 5, not 5</a:t>
            </a:r>
            <a:r>
              <a:rPr baseline="30000" lang="en-GB"/>
              <a:t>2</a:t>
            </a:r>
            <a:endParaRPr baseline="30000"/>
          </a:p>
        </p:txBody>
      </p:sp>
      <p:pic>
        <p:nvPicPr>
          <p:cNvPr id="1186" name="Google Shape;118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208" y="1768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7258" y="3959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product of prime factor form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194" name="Google Shape;1194;p99"/>
          <p:cNvSpPr txBox="1"/>
          <p:nvPr/>
        </p:nvSpPr>
        <p:spPr>
          <a:xfrm>
            <a:off x="5917000" y="1653129"/>
            <a:ext cx="23499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 even number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multiple of 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multiple of 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multiple of 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square number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cube number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9"/>
          <p:cNvSpPr txBox="1"/>
          <p:nvPr/>
        </p:nvSpPr>
        <p:spPr>
          <a:xfrm>
            <a:off x="581775" y="1653125"/>
            <a:ext cx="31542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13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9"/>
          <p:cNvSpPr txBox="1"/>
          <p:nvPr>
            <p:ph idx="1" type="body"/>
          </p:nvPr>
        </p:nvSpPr>
        <p:spPr>
          <a:xfrm>
            <a:off x="376600" y="759300"/>
            <a:ext cx="76617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</a:t>
            </a:r>
            <a:r>
              <a:rPr lang="en-GB">
                <a:solidFill>
                  <a:schemeClr val="accent5"/>
                </a:solidFill>
              </a:rPr>
              <a:t>prime</a:t>
            </a:r>
            <a:r>
              <a:rPr lang="en-GB"/>
              <a:t> numbers, make each of the following products satisfy the condition on the right.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202" name="Google Shape;1202;p100"/>
          <p:cNvSpPr txBox="1"/>
          <p:nvPr>
            <p:ph idx="1" type="body"/>
          </p:nvPr>
        </p:nvSpPr>
        <p:spPr>
          <a:xfrm>
            <a:off x="324000" y="606900"/>
            <a:ext cx="8237700" cy="192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Here is a number written as a product of its prime factors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Do not work it out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baseline="30000" lang="en-GB" sz="1800"/>
              <a:t>4</a:t>
            </a:r>
            <a:r>
              <a:rPr lang="en-GB" sz="1800"/>
              <a:t> × 5</a:t>
            </a:r>
            <a:r>
              <a:rPr baseline="30000" lang="en-GB" sz="1800"/>
              <a:t>2</a:t>
            </a:r>
            <a:r>
              <a:rPr lang="en-GB" sz="1800"/>
              <a:t> × 7</a:t>
            </a:r>
            <a:r>
              <a:rPr baseline="30000" lang="en-GB" sz="1800"/>
              <a:t>2</a:t>
            </a:r>
            <a:endParaRPr baseline="30000"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Are the following statements true or false? Make sure you justify your answers.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3" name="Google Shape;1203;p100"/>
          <p:cNvSpPr txBox="1"/>
          <p:nvPr/>
        </p:nvSpPr>
        <p:spPr>
          <a:xfrm>
            <a:off x="661250" y="2534750"/>
            <a:ext cx="44295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ends in a zero.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ends in two zeros.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has 35 as a factor.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has 50 as a factor.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a square number.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100"/>
          <p:cNvSpPr txBox="1"/>
          <p:nvPr/>
        </p:nvSpPr>
        <p:spPr>
          <a:xfrm>
            <a:off x="300100" y="2543504"/>
            <a:ext cx="3177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 List </a:t>
            </a:r>
            <a:r>
              <a:rPr lang="en-GB">
                <a:solidFill>
                  <a:schemeClr val="accent5"/>
                </a:solidFill>
              </a:rPr>
              <a:t>all</a:t>
            </a:r>
            <a:r>
              <a:rPr lang="en-GB"/>
              <a:t> the common factors of:</a:t>
            </a:r>
            <a:endParaRPr/>
          </a:p>
        </p:txBody>
      </p:sp>
      <p:sp>
        <p:nvSpPr>
          <p:cNvPr id="1210" name="Google Shape;1210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211" name="Google Shape;1211;p101"/>
          <p:cNvSpPr txBox="1"/>
          <p:nvPr/>
        </p:nvSpPr>
        <p:spPr>
          <a:xfrm>
            <a:off x="1701423" y="1232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7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101"/>
          <p:cNvSpPr txBox="1"/>
          <p:nvPr/>
        </p:nvSpPr>
        <p:spPr>
          <a:xfrm>
            <a:off x="5791023" y="1232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101"/>
          <p:cNvSpPr txBox="1"/>
          <p:nvPr/>
        </p:nvSpPr>
        <p:spPr>
          <a:xfrm>
            <a:off x="3974275" y="1232400"/>
            <a:ext cx="74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02"/>
          <p:cNvSpPr txBox="1"/>
          <p:nvPr>
            <p:ph idx="1" type="body"/>
          </p:nvPr>
        </p:nvSpPr>
        <p:spPr>
          <a:xfrm>
            <a:off x="376600" y="759300"/>
            <a:ext cx="76617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</a:t>
            </a:r>
            <a:r>
              <a:rPr lang="en-GB">
                <a:solidFill>
                  <a:schemeClr val="accent5"/>
                </a:solidFill>
              </a:rPr>
              <a:t>prime</a:t>
            </a:r>
            <a:r>
              <a:rPr lang="en-GB"/>
              <a:t> </a:t>
            </a:r>
            <a:r>
              <a:rPr lang="en-GB"/>
              <a:t>numbers, make each of the following products satisfy the condition on the right.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product of prime factor fo</a:t>
            </a:r>
            <a:r>
              <a:rPr lang="en-GB"/>
              <a:t>rm</a:t>
            </a:r>
            <a:endParaRPr/>
          </a:p>
        </p:txBody>
      </p:sp>
      <p:sp>
        <p:nvSpPr>
          <p:cNvPr id="1220" name="Google Shape;1220;p102"/>
          <p:cNvSpPr txBox="1"/>
          <p:nvPr/>
        </p:nvSpPr>
        <p:spPr>
          <a:xfrm>
            <a:off x="5917000" y="1653129"/>
            <a:ext cx="23499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even number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multiple of 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multiple of 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multiple of 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square number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cube number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102"/>
          <p:cNvSpPr txBox="1"/>
          <p:nvPr/>
        </p:nvSpPr>
        <p:spPr>
          <a:xfrm>
            <a:off x="581775" y="1653125"/>
            <a:ext cx="26358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13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2"/>
          <p:cNvSpPr txBox="1"/>
          <p:nvPr/>
        </p:nvSpPr>
        <p:spPr>
          <a:xfrm>
            <a:off x="3393688" y="1653125"/>
            <a:ext cx="16179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× 2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× 3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× 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× 5 × 13</a:t>
            </a:r>
            <a:endParaRPr baseline="30000"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× 3 × 11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03"/>
          <p:cNvSpPr txBox="1"/>
          <p:nvPr>
            <p:ph idx="1" type="body"/>
          </p:nvPr>
        </p:nvSpPr>
        <p:spPr>
          <a:xfrm>
            <a:off x="324000" y="606900"/>
            <a:ext cx="8237700" cy="192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Here is a number written as a product of its prime factors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Do not work it out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baseline="30000" lang="en-GB" sz="1800"/>
              <a:t>4</a:t>
            </a:r>
            <a:r>
              <a:rPr lang="en-GB" sz="1800"/>
              <a:t> × 5</a:t>
            </a:r>
            <a:r>
              <a:rPr baseline="30000" lang="en-GB" sz="1800"/>
              <a:t>2</a:t>
            </a:r>
            <a:r>
              <a:rPr lang="en-GB" sz="1800"/>
              <a:t> × 7</a:t>
            </a:r>
            <a:r>
              <a:rPr baseline="30000" lang="en-GB" sz="1800"/>
              <a:t>2</a:t>
            </a:r>
            <a:endParaRPr baseline="30000"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Are the following statements true or false? Make sure you justify your answers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8" name="Google Shape;1228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229" name="Google Shape;1229;p103"/>
          <p:cNvSpPr txBox="1"/>
          <p:nvPr/>
        </p:nvSpPr>
        <p:spPr>
          <a:xfrm>
            <a:off x="4167113" y="2469171"/>
            <a:ext cx="291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True, because 2 is a factor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103"/>
          <p:cNvSpPr txBox="1"/>
          <p:nvPr/>
        </p:nvSpPr>
        <p:spPr>
          <a:xfrm>
            <a:off x="4168800" y="3183967"/>
            <a:ext cx="485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True, the prime factors of 100 are 2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5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1" name="Google Shape;1231;p103"/>
          <p:cNvSpPr txBox="1"/>
          <p:nvPr/>
        </p:nvSpPr>
        <p:spPr>
          <a:xfrm>
            <a:off x="4167126" y="3521550"/>
            <a:ext cx="46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True, the prime factors of 35 are 5 and 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2" name="Google Shape;1232;p103"/>
          <p:cNvSpPr txBox="1"/>
          <p:nvPr/>
        </p:nvSpPr>
        <p:spPr>
          <a:xfrm>
            <a:off x="4167113" y="3873192"/>
            <a:ext cx="469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True,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prime factors of 50 are 2 and 5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3" name="Google Shape;1233;p103"/>
          <p:cNvSpPr txBox="1"/>
          <p:nvPr/>
        </p:nvSpPr>
        <p:spPr>
          <a:xfrm>
            <a:off x="4167113" y="4219654"/>
            <a:ext cx="44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True, it can be written as (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 × 7)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4" name="Google Shape;1234;p103"/>
          <p:cNvSpPr txBox="1"/>
          <p:nvPr/>
        </p:nvSpPr>
        <p:spPr>
          <a:xfrm>
            <a:off x="4167113" y="2813305"/>
            <a:ext cx="39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True, since 2 and 5 are both factors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5" name="Google Shape;1235;p103"/>
          <p:cNvSpPr txBox="1"/>
          <p:nvPr/>
        </p:nvSpPr>
        <p:spPr>
          <a:xfrm>
            <a:off x="661250" y="2534750"/>
            <a:ext cx="35415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ends in a zero.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ends in two zeros.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has 35 as a factor.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has 50 as a factor.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a square number.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103"/>
          <p:cNvSpPr txBox="1"/>
          <p:nvPr/>
        </p:nvSpPr>
        <p:spPr>
          <a:xfrm>
            <a:off x="300100" y="2543504"/>
            <a:ext cx="3177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04"/>
          <p:cNvSpPr txBox="1"/>
          <p:nvPr>
            <p:ph idx="1" type="body"/>
          </p:nvPr>
        </p:nvSpPr>
        <p:spPr>
          <a:xfrm>
            <a:off x="324000" y="759300"/>
            <a:ext cx="465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 List all the common factors of:</a:t>
            </a:r>
            <a:endParaRPr/>
          </a:p>
        </p:txBody>
      </p:sp>
      <p:sp>
        <p:nvSpPr>
          <p:cNvPr id="1242" name="Google Shape;1242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product of prime factor form</a:t>
            </a:r>
            <a:endParaRPr/>
          </a:p>
        </p:txBody>
      </p:sp>
      <p:sp>
        <p:nvSpPr>
          <p:cNvPr id="1243" name="Google Shape;1243;p104"/>
          <p:cNvSpPr txBox="1"/>
          <p:nvPr/>
        </p:nvSpPr>
        <p:spPr>
          <a:xfrm>
            <a:off x="1701423" y="1232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7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104"/>
          <p:cNvSpPr txBox="1"/>
          <p:nvPr/>
        </p:nvSpPr>
        <p:spPr>
          <a:xfrm>
            <a:off x="5791023" y="1232390"/>
            <a:ext cx="16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4"/>
          <p:cNvSpPr txBox="1"/>
          <p:nvPr>
            <p:ph idx="1" type="body"/>
          </p:nvPr>
        </p:nvSpPr>
        <p:spPr>
          <a:xfrm>
            <a:off x="880225" y="2160000"/>
            <a:ext cx="357000" cy="23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104"/>
          <p:cNvSpPr txBox="1"/>
          <p:nvPr/>
        </p:nvSpPr>
        <p:spPr>
          <a:xfrm>
            <a:off x="1819594" y="2160000"/>
            <a:ext cx="12975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3 × 7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104"/>
          <p:cNvSpPr txBox="1"/>
          <p:nvPr/>
        </p:nvSpPr>
        <p:spPr>
          <a:xfrm>
            <a:off x="3699463" y="2160000"/>
            <a:ext cx="12975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7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104"/>
          <p:cNvSpPr txBox="1"/>
          <p:nvPr/>
        </p:nvSpPr>
        <p:spPr>
          <a:xfrm>
            <a:off x="5579331" y="2160000"/>
            <a:ext cx="12975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7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4"/>
          <p:cNvSpPr txBox="1"/>
          <p:nvPr/>
        </p:nvSpPr>
        <p:spPr>
          <a:xfrm>
            <a:off x="7459200" y="2160000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7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104"/>
          <p:cNvSpPr txBox="1"/>
          <p:nvPr/>
        </p:nvSpPr>
        <p:spPr>
          <a:xfrm>
            <a:off x="3974275" y="1232400"/>
            <a:ext cx="74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0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Products of prime factors can be evaluated to give the integer.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Products of prime factors can be used to identify common factors of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Products of prime factors can be used to determine properties of integers.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05"/>
          <p:cNvSpPr txBox="1"/>
          <p:nvPr>
            <p:ph type="title"/>
          </p:nvPr>
        </p:nvSpPr>
        <p:spPr>
          <a:xfrm>
            <a:off x="1684800" y="157525"/>
            <a:ext cx="7135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62" name="Google Shape;1262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