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909E4D-37C3-4A9B-B7F1-42863E3CE876}">
  <a:tblStyle styleId="{0F909E4D-37C3-4A9B-B7F1-42863E3CE8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87f015446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87f015446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87f015446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87f015446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87f0154461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87f015446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87f015446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87f015446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87f0154461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87f0154461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287f0154461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287f0154461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287f0154461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287f0154461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287f0154461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287f0154461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287f0154461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287f0154461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287f0154461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287f0154461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287f0154461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287f0154461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287f0154461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287f0154461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287f0154461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287f0154461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287f0154461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287f0154461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287f0154461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287f0154461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287f0154461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287f0154461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287f0154461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287f0154461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2934a6e841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4" name="Google Shape;1094;g2934a6e84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287f0154461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287f0154461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287f0154461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1" name="Google Shape;1141;g287f0154461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287f0154461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287f0154461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287f0154461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1" name="Google Shape;1161;g287f0154461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287f0154461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8" name="Google Shape;1178;g287f0154461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g287f0154461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8" name="Google Shape;1198;g287f0154461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287f0154461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287f0154461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287f0154461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3" name="Google Shape;1223;g287f0154461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287f0154461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8" name="Google Shape;1238;g287f0154461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287f0154461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287f0154461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g287f0154461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1" name="Google Shape;1261;g287f0154461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287f0154461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287f0154461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287f0154461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287f0154461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287f0154461_1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287f0154461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287f0154461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287f0154461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287f0154461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6" name="Google Shape;1336;g287f0154461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5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18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4.png"/><Relationship Id="rId4" Type="http://schemas.openxmlformats.org/officeDocument/2006/relationships/image" Target="../media/image88.png"/><Relationship Id="rId5" Type="http://schemas.openxmlformats.org/officeDocument/2006/relationships/image" Target="../media/image26.png"/><Relationship Id="rId6" Type="http://schemas.openxmlformats.org/officeDocument/2006/relationships/image" Target="../media/image32.png"/><Relationship Id="rId7" Type="http://schemas.openxmlformats.org/officeDocument/2006/relationships/image" Target="../media/image20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88.png"/><Relationship Id="rId4" Type="http://schemas.openxmlformats.org/officeDocument/2006/relationships/image" Target="../media/image19.png"/><Relationship Id="rId9" Type="http://schemas.openxmlformats.org/officeDocument/2006/relationships/image" Target="../media/image20.png"/><Relationship Id="rId5" Type="http://schemas.openxmlformats.org/officeDocument/2006/relationships/image" Target="../media/image24.png"/><Relationship Id="rId6" Type="http://schemas.openxmlformats.org/officeDocument/2006/relationships/image" Target="../media/image33.png"/><Relationship Id="rId7" Type="http://schemas.openxmlformats.org/officeDocument/2006/relationships/image" Target="../media/image26.png"/><Relationship Id="rId8" Type="http://schemas.openxmlformats.org/officeDocument/2006/relationships/image" Target="../media/image3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88.png"/><Relationship Id="rId4" Type="http://schemas.openxmlformats.org/officeDocument/2006/relationships/image" Target="../media/image29.png"/><Relationship Id="rId11" Type="http://schemas.openxmlformats.org/officeDocument/2006/relationships/image" Target="../media/image20.png"/><Relationship Id="rId10" Type="http://schemas.openxmlformats.org/officeDocument/2006/relationships/image" Target="../media/image39.png"/><Relationship Id="rId9" Type="http://schemas.openxmlformats.org/officeDocument/2006/relationships/image" Target="../media/image32.png"/><Relationship Id="rId5" Type="http://schemas.openxmlformats.org/officeDocument/2006/relationships/image" Target="../media/image19.png"/><Relationship Id="rId6" Type="http://schemas.openxmlformats.org/officeDocument/2006/relationships/image" Target="../media/image24.png"/><Relationship Id="rId7" Type="http://schemas.openxmlformats.org/officeDocument/2006/relationships/image" Target="../media/image33.png"/><Relationship Id="rId8" Type="http://schemas.openxmlformats.org/officeDocument/2006/relationships/image" Target="../media/image2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360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81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0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60.png"/><Relationship Id="rId8" Type="http://schemas.openxmlformats.org/officeDocument/2006/relationships/image" Target="../media/image5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5.png"/><Relationship Id="rId4" Type="http://schemas.openxmlformats.org/officeDocument/2006/relationships/image" Target="../media/image5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3.png"/><Relationship Id="rId4" Type="http://schemas.openxmlformats.org/officeDocument/2006/relationships/image" Target="../media/image62.png"/><Relationship Id="rId5" Type="http://schemas.openxmlformats.org/officeDocument/2006/relationships/image" Target="../media/image64.png"/><Relationship Id="rId6" Type="http://schemas.openxmlformats.org/officeDocument/2006/relationships/image" Target="../media/image61.png"/><Relationship Id="rId7" Type="http://schemas.openxmlformats.org/officeDocument/2006/relationships/image" Target="../media/image66.png"/><Relationship Id="rId8" Type="http://schemas.openxmlformats.org/officeDocument/2006/relationships/image" Target="../media/image6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0.png"/><Relationship Id="rId4" Type="http://schemas.openxmlformats.org/officeDocument/2006/relationships/image" Target="../media/image67.png"/><Relationship Id="rId5" Type="http://schemas.openxmlformats.org/officeDocument/2006/relationships/image" Target="../media/image65.png"/><Relationship Id="rId6" Type="http://schemas.openxmlformats.org/officeDocument/2006/relationships/image" Target="../media/image6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8.png"/><Relationship Id="rId4" Type="http://schemas.openxmlformats.org/officeDocument/2006/relationships/image" Target="../media/image56.png"/><Relationship Id="rId5" Type="http://schemas.openxmlformats.org/officeDocument/2006/relationships/image" Target="../media/image76.png"/><Relationship Id="rId6" Type="http://schemas.openxmlformats.org/officeDocument/2006/relationships/image" Target="../media/image75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0.png"/><Relationship Id="rId4" Type="http://schemas.openxmlformats.org/officeDocument/2006/relationships/image" Target="../media/image67.png"/><Relationship Id="rId5" Type="http://schemas.openxmlformats.org/officeDocument/2006/relationships/image" Target="../media/image65.png"/><Relationship Id="rId6" Type="http://schemas.openxmlformats.org/officeDocument/2006/relationships/image" Target="../media/image6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8.png"/><Relationship Id="rId4" Type="http://schemas.openxmlformats.org/officeDocument/2006/relationships/image" Target="../media/image56.png"/><Relationship Id="rId5" Type="http://schemas.openxmlformats.org/officeDocument/2006/relationships/image" Target="../media/image76.png"/><Relationship Id="rId6" Type="http://schemas.openxmlformats.org/officeDocument/2006/relationships/image" Target="../media/image75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8.png"/><Relationship Id="rId4" Type="http://schemas.openxmlformats.org/officeDocument/2006/relationships/image" Target="../media/image7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0.png"/><Relationship Id="rId4" Type="http://schemas.openxmlformats.org/officeDocument/2006/relationships/image" Target="../media/image8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6.png"/><Relationship Id="rId4" Type="http://schemas.openxmlformats.org/officeDocument/2006/relationships/image" Target="../media/image90.png"/><Relationship Id="rId5" Type="http://schemas.openxmlformats.org/officeDocument/2006/relationships/image" Target="../media/image83.png"/><Relationship Id="rId6" Type="http://schemas.openxmlformats.org/officeDocument/2006/relationships/image" Target="../media/image8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2.png"/><Relationship Id="rId4" Type="http://schemas.openxmlformats.org/officeDocument/2006/relationships/image" Target="../media/image87.png"/><Relationship Id="rId5" Type="http://schemas.openxmlformats.org/officeDocument/2006/relationships/image" Target="../media/image89.png"/><Relationship Id="rId6" Type="http://schemas.openxmlformats.org/officeDocument/2006/relationships/image" Target="../media/image9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7.png"/><Relationship Id="rId4" Type="http://schemas.openxmlformats.org/officeDocument/2006/relationships/image" Target="../media/image93.png"/><Relationship Id="rId5" Type="http://schemas.openxmlformats.org/officeDocument/2006/relationships/image" Target="../media/image101.png"/><Relationship Id="rId6" Type="http://schemas.openxmlformats.org/officeDocument/2006/relationships/image" Target="../media/image10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8.png"/><Relationship Id="rId4" Type="http://schemas.openxmlformats.org/officeDocument/2006/relationships/image" Target="../media/image105.png"/><Relationship Id="rId5" Type="http://schemas.openxmlformats.org/officeDocument/2006/relationships/image" Target="../media/image9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2.png"/><Relationship Id="rId4" Type="http://schemas.openxmlformats.org/officeDocument/2006/relationships/image" Target="../media/image100.png"/><Relationship Id="rId5" Type="http://schemas.openxmlformats.org/officeDocument/2006/relationships/image" Target="../media/image103.png"/><Relationship Id="rId6" Type="http://schemas.openxmlformats.org/officeDocument/2006/relationships/image" Target="../media/image9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6.png"/><Relationship Id="rId4" Type="http://schemas.openxmlformats.org/officeDocument/2006/relationships/image" Target="../media/image94.png"/><Relationship Id="rId5" Type="http://schemas.openxmlformats.org/officeDocument/2006/relationships/image" Target="../media/image9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8.png"/><Relationship Id="rId4" Type="http://schemas.openxmlformats.org/officeDocument/2006/relationships/image" Target="../media/image105.png"/><Relationship Id="rId5" Type="http://schemas.openxmlformats.org/officeDocument/2006/relationships/image" Target="../media/image97.png"/><Relationship Id="rId6" Type="http://schemas.openxmlformats.org/officeDocument/2006/relationships/image" Target="../media/image10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2.png"/><Relationship Id="rId4" Type="http://schemas.openxmlformats.org/officeDocument/2006/relationships/image" Target="../media/image100.png"/><Relationship Id="rId5" Type="http://schemas.openxmlformats.org/officeDocument/2006/relationships/image" Target="../media/image103.png"/><Relationship Id="rId6" Type="http://schemas.openxmlformats.org/officeDocument/2006/relationships/image" Target="../media/image9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6.png"/><Relationship Id="rId4" Type="http://schemas.openxmlformats.org/officeDocument/2006/relationships/image" Target="../media/image94.png"/><Relationship Id="rId5" Type="http://schemas.openxmlformats.org/officeDocument/2006/relationships/image" Target="../media/image99.png"/><Relationship Id="rId6" Type="http://schemas.openxmlformats.org/officeDocument/2006/relationships/image" Target="../media/image107.png"/><Relationship Id="rId7" Type="http://schemas.openxmlformats.org/officeDocument/2006/relationships/image" Target="../media/image109.png"/><Relationship Id="rId8" Type="http://schemas.openxmlformats.org/officeDocument/2006/relationships/image" Target="../media/image11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0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1251850"/>
            <a:ext cx="5502000" cy="23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Power notation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Properties of number: factors, multiples, squares and cubes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90850" y="725950"/>
            <a:ext cx="219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understand and use correct notation for positive integer exponents.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/>
        </p:nvSpPr>
        <p:spPr>
          <a:xfrm>
            <a:off x="324000" y="810000"/>
            <a:ext cx="8213400" cy="1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Numbers that have been multiplied by themselves a repeated number of times can be expressed using a </a:t>
            </a:r>
            <a:r>
              <a:rPr b="1" lang="en-GB" sz="2200">
                <a:latin typeface="Lexend"/>
                <a:ea typeface="Lexend"/>
                <a:cs typeface="Lexend"/>
                <a:sym typeface="Lexend"/>
              </a:rPr>
              <a:t>base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b="1" lang="en-GB" sz="2200">
                <a:latin typeface="Lexend"/>
                <a:ea typeface="Lexend"/>
                <a:cs typeface="Lexend"/>
                <a:sym typeface="Lexend"/>
              </a:rPr>
              <a:t>exponent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7" name="Google Shape;767;p67"/>
          <p:cNvSpPr txBox="1"/>
          <p:nvPr/>
        </p:nvSpPr>
        <p:spPr>
          <a:xfrm>
            <a:off x="375375" y="2266950"/>
            <a:ext cx="14016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Example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67"/>
          <p:cNvSpPr txBox="1"/>
          <p:nvPr/>
        </p:nvSpPr>
        <p:spPr>
          <a:xfrm>
            <a:off x="375375" y="2859000"/>
            <a:ext cx="5685000" cy="8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latin typeface="Lexend"/>
                <a:ea typeface="Lexend"/>
                <a:cs typeface="Lexend"/>
                <a:sym typeface="Lexend"/>
              </a:rPr>
              <a:t>2 ✕ </a:t>
            </a:r>
            <a:r>
              <a:rPr lang="en-GB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✕ 2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written as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69" name="Google Shape;769;p67"/>
          <p:cNvCxnSpPr/>
          <p:nvPr/>
        </p:nvCxnSpPr>
        <p:spPr>
          <a:xfrm flipH="1">
            <a:off x="4871525" y="2307775"/>
            <a:ext cx="669300" cy="4737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0" name="Google Shape;770;p67"/>
          <p:cNvSpPr txBox="1"/>
          <p:nvPr/>
        </p:nvSpPr>
        <p:spPr>
          <a:xfrm>
            <a:off x="5671450" y="2095500"/>
            <a:ext cx="27921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An integer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exponent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identifies how many times the base number has been multiplied by itself.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1" name="Google Shape;771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200" y="2252325"/>
            <a:ext cx="3600300" cy="2067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2" name="Google Shape;772;p67"/>
          <p:cNvCxnSpPr/>
          <p:nvPr/>
        </p:nvCxnSpPr>
        <p:spPr>
          <a:xfrm flipH="1" rot="10800000">
            <a:off x="3293400" y="3399000"/>
            <a:ext cx="763200" cy="2931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3" name="Google Shape;773;p67"/>
          <p:cNvSpPr txBox="1"/>
          <p:nvPr/>
        </p:nvSpPr>
        <p:spPr>
          <a:xfrm>
            <a:off x="451825" y="3072000"/>
            <a:ext cx="27921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base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is the number or term that has been multiplied by itself.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4" name="Google Shape;774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2850" y="2857675"/>
            <a:ext cx="455924" cy="5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68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Notation</a:t>
            </a:r>
            <a:endParaRPr/>
          </a:p>
        </p:txBody>
      </p:sp>
      <p:sp>
        <p:nvSpPr>
          <p:cNvPr id="780" name="Google Shape;780;p68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Simplifying using power notation</a:t>
            </a:r>
            <a:endParaRPr/>
          </a:p>
        </p:txBody>
      </p:sp>
      <p:sp>
        <p:nvSpPr>
          <p:cNvPr id="781" name="Google Shape;781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Power notation</a:t>
            </a:r>
            <a:endParaRPr/>
          </a:p>
        </p:txBody>
      </p:sp>
      <p:pic>
        <p:nvPicPr>
          <p:cNvPr id="782" name="Google Shape;78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75" y="20594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7" name="Google Shape;787;p69"/>
          <p:cNvGrpSpPr/>
          <p:nvPr/>
        </p:nvGrpSpPr>
        <p:grpSpPr>
          <a:xfrm>
            <a:off x="364675" y="2019300"/>
            <a:ext cx="7885200" cy="2873700"/>
            <a:chOff x="364675" y="2019300"/>
            <a:chExt cx="7885200" cy="2873700"/>
          </a:xfrm>
        </p:grpSpPr>
        <p:sp>
          <p:nvSpPr>
            <p:cNvPr id="788" name="Google Shape;788;p69"/>
            <p:cNvSpPr/>
            <p:nvPr/>
          </p:nvSpPr>
          <p:spPr>
            <a:xfrm>
              <a:off x="364675" y="2019300"/>
              <a:ext cx="7885200" cy="28737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&lt;math xmlns=&quot;http://www.w3.org/1998/Math/MathML&quot; display=&quot;block&quot; data-is-equatio=&quot;1&quot; data-latex=&quot;7^4&quot;&gt;&lt;msup&gt;&lt;mn&gt;7&lt;/mn&gt;&lt;mn&gt;4&lt;/mn&gt;&lt;/msup&gt;&lt;/math&gt;" id="789" name="Google Shape;789;p69" title="7 to the fourth power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94675" y="3244150"/>
              <a:ext cx="457200" cy="495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0" name="Google Shape;790;p69"/>
            <p:cNvSpPr txBox="1"/>
            <p:nvPr/>
          </p:nvSpPr>
          <p:spPr>
            <a:xfrm>
              <a:off x="536525" y="2078100"/>
              <a:ext cx="1265100" cy="5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Example</a:t>
              </a:r>
              <a:endParaRPr sz="19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91" name="Google Shape;791;p69"/>
          <p:cNvSpPr txBox="1"/>
          <p:nvPr>
            <p:ph idx="1" type="body"/>
          </p:nvPr>
        </p:nvSpPr>
        <p:spPr>
          <a:xfrm>
            <a:off x="324000" y="835500"/>
            <a:ext cx="82377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Notation and pronunciation is important in mathematics. </a:t>
            </a:r>
            <a:endParaRPr sz="2000"/>
          </a:p>
        </p:txBody>
      </p:sp>
      <p:sp>
        <p:nvSpPr>
          <p:cNvPr id="792" name="Google Shape;792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Notation</a:t>
            </a:r>
            <a:endParaRPr/>
          </a:p>
        </p:txBody>
      </p:sp>
      <p:sp>
        <p:nvSpPr>
          <p:cNvPr id="793" name="Google Shape;793;p69"/>
          <p:cNvSpPr txBox="1"/>
          <p:nvPr>
            <p:ph idx="1" type="body"/>
          </p:nvPr>
        </p:nvSpPr>
        <p:spPr>
          <a:xfrm>
            <a:off x="324000" y="1368900"/>
            <a:ext cx="82377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use </a:t>
            </a:r>
            <a:r>
              <a:rPr b="1" lang="en-GB" sz="2000"/>
              <a:t>bases </a:t>
            </a:r>
            <a:r>
              <a:rPr lang="en-GB" sz="2000"/>
              <a:t>and </a:t>
            </a:r>
            <a:r>
              <a:rPr b="1" lang="en-GB" sz="2000"/>
              <a:t>exponents</a:t>
            </a:r>
            <a:r>
              <a:rPr lang="en-GB" sz="2000"/>
              <a:t> to identify the power of a number.</a:t>
            </a:r>
            <a:endParaRPr sz="2000"/>
          </a:p>
        </p:txBody>
      </p:sp>
      <p:sp>
        <p:nvSpPr>
          <p:cNvPr id="794" name="Google Shape;794;p69"/>
          <p:cNvSpPr txBox="1"/>
          <p:nvPr/>
        </p:nvSpPr>
        <p:spPr>
          <a:xfrm>
            <a:off x="5339450" y="2653800"/>
            <a:ext cx="3041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This is pronounced as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“7 to the power of 4”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5" name="Google Shape;795;p69"/>
          <p:cNvSpPr txBox="1"/>
          <p:nvPr/>
        </p:nvSpPr>
        <p:spPr>
          <a:xfrm>
            <a:off x="5339450" y="3991350"/>
            <a:ext cx="3041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7 ✕ 7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✕ 7 ✕ 7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69"/>
          <p:cNvSpPr txBox="1"/>
          <p:nvPr/>
        </p:nvSpPr>
        <p:spPr>
          <a:xfrm>
            <a:off x="5339450" y="3651600"/>
            <a:ext cx="32667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This means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69"/>
          <p:cNvSpPr txBox="1"/>
          <p:nvPr/>
        </p:nvSpPr>
        <p:spPr>
          <a:xfrm>
            <a:off x="536525" y="4067550"/>
            <a:ext cx="18276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base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98" name="Google Shape;798;p69"/>
          <p:cNvCxnSpPr/>
          <p:nvPr/>
        </p:nvCxnSpPr>
        <p:spPr>
          <a:xfrm flipH="1">
            <a:off x="3140475" y="2509150"/>
            <a:ext cx="261300" cy="620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9" name="Google Shape;799;p69"/>
          <p:cNvSpPr txBox="1"/>
          <p:nvPr/>
        </p:nvSpPr>
        <p:spPr>
          <a:xfrm>
            <a:off x="2716450" y="2069075"/>
            <a:ext cx="2432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exponent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 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00" name="Google Shape;800;p69"/>
          <p:cNvCxnSpPr/>
          <p:nvPr/>
        </p:nvCxnSpPr>
        <p:spPr>
          <a:xfrm flipH="1" rot="10800000">
            <a:off x="2172675" y="3815650"/>
            <a:ext cx="445800" cy="533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5" name="Google Shape;805;p70"/>
          <p:cNvGrpSpPr/>
          <p:nvPr/>
        </p:nvGrpSpPr>
        <p:grpSpPr>
          <a:xfrm>
            <a:off x="364675" y="2019300"/>
            <a:ext cx="7885200" cy="2873700"/>
            <a:chOff x="364675" y="2019300"/>
            <a:chExt cx="7885200" cy="2873700"/>
          </a:xfrm>
        </p:grpSpPr>
        <p:sp>
          <p:nvSpPr>
            <p:cNvPr id="806" name="Google Shape;806;p70"/>
            <p:cNvSpPr/>
            <p:nvPr/>
          </p:nvSpPr>
          <p:spPr>
            <a:xfrm>
              <a:off x="364675" y="2019300"/>
              <a:ext cx="7885200" cy="28737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70"/>
            <p:cNvSpPr txBox="1"/>
            <p:nvPr/>
          </p:nvSpPr>
          <p:spPr>
            <a:xfrm>
              <a:off x="536525" y="2078100"/>
              <a:ext cx="1265100" cy="5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Example</a:t>
              </a:r>
              <a:endParaRPr sz="19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08" name="Google Shape;808;p70"/>
          <p:cNvSpPr txBox="1"/>
          <p:nvPr>
            <p:ph idx="1" type="body"/>
          </p:nvPr>
        </p:nvSpPr>
        <p:spPr>
          <a:xfrm>
            <a:off x="324000" y="835500"/>
            <a:ext cx="82377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do you think is the </a:t>
            </a:r>
            <a:r>
              <a:rPr b="1" lang="en-GB" sz="2000"/>
              <a:t>base</a:t>
            </a:r>
            <a:r>
              <a:rPr lang="en-GB" sz="2000"/>
              <a:t>, </a:t>
            </a:r>
            <a:r>
              <a:rPr b="1" lang="en-GB" sz="2000"/>
              <a:t>exponent</a:t>
            </a:r>
            <a:r>
              <a:rPr lang="en-GB" sz="2000"/>
              <a:t>, pronunciation and meaning in this example?</a:t>
            </a:r>
            <a:endParaRPr sz="2000"/>
          </a:p>
        </p:txBody>
      </p:sp>
      <p:sp>
        <p:nvSpPr>
          <p:cNvPr id="809" name="Google Shape;809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Notation</a:t>
            </a:r>
            <a:endParaRPr/>
          </a:p>
        </p:txBody>
      </p:sp>
      <p:sp>
        <p:nvSpPr>
          <p:cNvPr id="810" name="Google Shape;810;p70"/>
          <p:cNvSpPr txBox="1"/>
          <p:nvPr/>
        </p:nvSpPr>
        <p:spPr>
          <a:xfrm>
            <a:off x="5339450" y="2653800"/>
            <a:ext cx="3041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This is pronounced as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“5 to the power of 6”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1" name="Google Shape;811;p70"/>
          <p:cNvSpPr txBox="1"/>
          <p:nvPr/>
        </p:nvSpPr>
        <p:spPr>
          <a:xfrm>
            <a:off x="5339450" y="3991350"/>
            <a:ext cx="3041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5 ✕ 5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 5 ✕ 5 ✕ 5 ✕ 5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70"/>
          <p:cNvSpPr txBox="1"/>
          <p:nvPr/>
        </p:nvSpPr>
        <p:spPr>
          <a:xfrm>
            <a:off x="5339450" y="3651600"/>
            <a:ext cx="32667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This means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0"/>
          <p:cNvSpPr txBox="1"/>
          <p:nvPr/>
        </p:nvSpPr>
        <p:spPr>
          <a:xfrm>
            <a:off x="536525" y="4067550"/>
            <a:ext cx="18276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base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4" name="Google Shape;814;p70"/>
          <p:cNvCxnSpPr/>
          <p:nvPr/>
        </p:nvCxnSpPr>
        <p:spPr>
          <a:xfrm flipH="1">
            <a:off x="3140475" y="2509150"/>
            <a:ext cx="261300" cy="620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5" name="Google Shape;815;p70"/>
          <p:cNvSpPr txBox="1"/>
          <p:nvPr/>
        </p:nvSpPr>
        <p:spPr>
          <a:xfrm>
            <a:off x="2716450" y="2069075"/>
            <a:ext cx="2432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exponent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 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6" name="Google Shape;816;p70"/>
          <p:cNvCxnSpPr/>
          <p:nvPr/>
        </p:nvCxnSpPr>
        <p:spPr>
          <a:xfrm flipH="1" rot="10800000">
            <a:off x="2172675" y="3815650"/>
            <a:ext cx="445800" cy="533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5^6&quot;&gt;&lt;msup&gt;&lt;mn&gt;5&lt;/mn&gt;&lt;mn&gt;6&lt;/mn&gt;&lt;/msup&gt;&lt;/math&gt;" id="817" name="Google Shape;817;p70" title="5 to the sixth powe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6450" y="3204800"/>
            <a:ext cx="445800" cy="502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2" name="Google Shape;822;p71"/>
          <p:cNvGrpSpPr/>
          <p:nvPr/>
        </p:nvGrpSpPr>
        <p:grpSpPr>
          <a:xfrm>
            <a:off x="364675" y="2019300"/>
            <a:ext cx="7885200" cy="2873700"/>
            <a:chOff x="364675" y="2019300"/>
            <a:chExt cx="7885200" cy="2873700"/>
          </a:xfrm>
        </p:grpSpPr>
        <p:sp>
          <p:nvSpPr>
            <p:cNvPr id="823" name="Google Shape;823;p71"/>
            <p:cNvSpPr/>
            <p:nvPr/>
          </p:nvSpPr>
          <p:spPr>
            <a:xfrm>
              <a:off x="364675" y="2019300"/>
              <a:ext cx="7885200" cy="28737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71"/>
            <p:cNvSpPr txBox="1"/>
            <p:nvPr/>
          </p:nvSpPr>
          <p:spPr>
            <a:xfrm>
              <a:off x="536525" y="2078100"/>
              <a:ext cx="1265100" cy="5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Example</a:t>
              </a:r>
              <a:endParaRPr sz="19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25" name="Google Shape;825;p71"/>
          <p:cNvSpPr txBox="1"/>
          <p:nvPr>
            <p:ph idx="1" type="body"/>
          </p:nvPr>
        </p:nvSpPr>
        <p:spPr>
          <a:xfrm>
            <a:off x="324000" y="835500"/>
            <a:ext cx="69216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Numbers with an </a:t>
            </a:r>
            <a:r>
              <a:rPr lang="en-GB" sz="2000"/>
              <a:t>exponent</a:t>
            </a:r>
            <a:r>
              <a:rPr lang="en-GB" sz="2000"/>
              <a:t> of 2 and 3 are special and have two types of pronunciation.</a:t>
            </a:r>
            <a:endParaRPr sz="2000"/>
          </a:p>
        </p:txBody>
      </p:sp>
      <p:sp>
        <p:nvSpPr>
          <p:cNvPr id="826" name="Google Shape;826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Notation</a:t>
            </a:r>
            <a:endParaRPr/>
          </a:p>
        </p:txBody>
      </p:sp>
      <p:sp>
        <p:nvSpPr>
          <p:cNvPr id="827" name="Google Shape;827;p71"/>
          <p:cNvSpPr txBox="1"/>
          <p:nvPr/>
        </p:nvSpPr>
        <p:spPr>
          <a:xfrm>
            <a:off x="5339450" y="2653800"/>
            <a:ext cx="3041400" cy="8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This is pronounced as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“8 to the power of 2”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71"/>
          <p:cNvSpPr txBox="1"/>
          <p:nvPr/>
        </p:nvSpPr>
        <p:spPr>
          <a:xfrm>
            <a:off x="5339450" y="3991350"/>
            <a:ext cx="3041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8 ✕ 8 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71"/>
          <p:cNvSpPr txBox="1"/>
          <p:nvPr/>
        </p:nvSpPr>
        <p:spPr>
          <a:xfrm>
            <a:off x="5339450" y="3651600"/>
            <a:ext cx="32667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This means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8^2&quot;&gt;&lt;msup&gt;&lt;mn&gt;8&lt;/mn&gt;&lt;mn&gt;2&lt;/mn&gt;&lt;/msup&gt;&lt;/math&gt;" id="830" name="Google Shape;830;p71" title="8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6450" y="3222150"/>
            <a:ext cx="397358" cy="46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71"/>
          <p:cNvSpPr txBox="1"/>
          <p:nvPr/>
        </p:nvSpPr>
        <p:spPr>
          <a:xfrm>
            <a:off x="2716450" y="2069075"/>
            <a:ext cx="2432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exponent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32" name="Google Shape;832;p71"/>
          <p:cNvCxnSpPr/>
          <p:nvPr/>
        </p:nvCxnSpPr>
        <p:spPr>
          <a:xfrm flipH="1">
            <a:off x="3140475" y="2509150"/>
            <a:ext cx="261300" cy="620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3" name="Google Shape;833;p71"/>
          <p:cNvCxnSpPr/>
          <p:nvPr/>
        </p:nvCxnSpPr>
        <p:spPr>
          <a:xfrm flipH="1" rot="10800000">
            <a:off x="2172675" y="3815650"/>
            <a:ext cx="445800" cy="533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4" name="Google Shape;834;p71"/>
          <p:cNvSpPr txBox="1"/>
          <p:nvPr/>
        </p:nvSpPr>
        <p:spPr>
          <a:xfrm>
            <a:off x="536525" y="4067550"/>
            <a:ext cx="18276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base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1"/>
          <p:cNvSpPr txBox="1"/>
          <p:nvPr/>
        </p:nvSpPr>
        <p:spPr>
          <a:xfrm>
            <a:off x="5339450" y="2653800"/>
            <a:ext cx="2869800" cy="81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This is pronounced as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“8 squared”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0" name="Google Shape;840;p72"/>
          <p:cNvGrpSpPr/>
          <p:nvPr/>
        </p:nvGrpSpPr>
        <p:grpSpPr>
          <a:xfrm>
            <a:off x="364675" y="2019300"/>
            <a:ext cx="7885200" cy="2873700"/>
            <a:chOff x="364675" y="2019300"/>
            <a:chExt cx="7885200" cy="2873700"/>
          </a:xfrm>
        </p:grpSpPr>
        <p:sp>
          <p:nvSpPr>
            <p:cNvPr id="841" name="Google Shape;841;p72"/>
            <p:cNvSpPr/>
            <p:nvPr/>
          </p:nvSpPr>
          <p:spPr>
            <a:xfrm>
              <a:off x="364675" y="2019300"/>
              <a:ext cx="7885200" cy="28737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72"/>
            <p:cNvSpPr txBox="1"/>
            <p:nvPr/>
          </p:nvSpPr>
          <p:spPr>
            <a:xfrm>
              <a:off x="536525" y="2078100"/>
              <a:ext cx="1265100" cy="5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Example</a:t>
              </a:r>
              <a:endParaRPr sz="19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43" name="Google Shape;843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Notation</a:t>
            </a:r>
            <a:endParaRPr/>
          </a:p>
        </p:txBody>
      </p:sp>
      <p:sp>
        <p:nvSpPr>
          <p:cNvPr id="844" name="Google Shape;844;p72"/>
          <p:cNvSpPr txBox="1"/>
          <p:nvPr/>
        </p:nvSpPr>
        <p:spPr>
          <a:xfrm>
            <a:off x="5339450" y="2653800"/>
            <a:ext cx="3041400" cy="8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This is pronounced as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“8 to the power of 3”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72"/>
          <p:cNvSpPr txBox="1"/>
          <p:nvPr/>
        </p:nvSpPr>
        <p:spPr>
          <a:xfrm>
            <a:off x="5339450" y="3991350"/>
            <a:ext cx="3041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8 ✕ 8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 8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72"/>
          <p:cNvSpPr txBox="1"/>
          <p:nvPr/>
        </p:nvSpPr>
        <p:spPr>
          <a:xfrm>
            <a:off x="5339450" y="3651600"/>
            <a:ext cx="32667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This means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7" name="Google Shape;847;p72"/>
          <p:cNvSpPr txBox="1"/>
          <p:nvPr/>
        </p:nvSpPr>
        <p:spPr>
          <a:xfrm>
            <a:off x="2716450" y="2069075"/>
            <a:ext cx="2432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exponent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 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48" name="Google Shape;848;p72"/>
          <p:cNvCxnSpPr/>
          <p:nvPr/>
        </p:nvCxnSpPr>
        <p:spPr>
          <a:xfrm flipH="1">
            <a:off x="3140475" y="2509150"/>
            <a:ext cx="261300" cy="620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9" name="Google Shape;849;p72"/>
          <p:cNvCxnSpPr/>
          <p:nvPr/>
        </p:nvCxnSpPr>
        <p:spPr>
          <a:xfrm flipH="1" rot="10800000">
            <a:off x="2172675" y="3815650"/>
            <a:ext cx="445800" cy="533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0" name="Google Shape;850;p72"/>
          <p:cNvSpPr txBox="1"/>
          <p:nvPr/>
        </p:nvSpPr>
        <p:spPr>
          <a:xfrm>
            <a:off x="536525" y="4067550"/>
            <a:ext cx="18276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base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72"/>
          <p:cNvSpPr txBox="1"/>
          <p:nvPr/>
        </p:nvSpPr>
        <p:spPr>
          <a:xfrm>
            <a:off x="5339450" y="2653800"/>
            <a:ext cx="2869800" cy="81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This is pronounced as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“8 cubed”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8^3&quot;&gt;&lt;msup&gt;&lt;mn&gt;8&lt;/mn&gt;&lt;mn&gt;3&lt;/mn&gt;&lt;/msup&gt;&lt;/math&gt;" id="852" name="Google Shape;852;p72" title="8 cub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6450" y="3222150"/>
            <a:ext cx="388528" cy="46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72"/>
          <p:cNvSpPr txBox="1"/>
          <p:nvPr>
            <p:ph idx="1" type="body"/>
          </p:nvPr>
        </p:nvSpPr>
        <p:spPr>
          <a:xfrm>
            <a:off x="324000" y="835500"/>
            <a:ext cx="71352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Numbers with an exponent of 2 and 3 are special and have two types of pronunciation.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Notation</a:t>
            </a:r>
            <a:endParaRPr/>
          </a:p>
        </p:txBody>
      </p:sp>
      <p:sp>
        <p:nvSpPr>
          <p:cNvPr id="859" name="Google Shape;859;p73"/>
          <p:cNvSpPr txBox="1"/>
          <p:nvPr>
            <p:ph idx="1" type="body"/>
          </p:nvPr>
        </p:nvSpPr>
        <p:spPr>
          <a:xfrm>
            <a:off x="324000" y="683100"/>
            <a:ext cx="82377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Fill in the table. The first one has been done for you.</a:t>
            </a:r>
            <a:endParaRPr sz="2000"/>
          </a:p>
        </p:txBody>
      </p:sp>
      <p:graphicFrame>
        <p:nvGraphicFramePr>
          <p:cNvPr id="860" name="Google Shape;860;p73"/>
          <p:cNvGraphicFramePr/>
          <p:nvPr/>
        </p:nvGraphicFramePr>
        <p:xfrm>
          <a:off x="324000" y="10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{0F909E4D-37C3-4A9B-B7F1-42863E3CE876}</a:tableStyleId>
              </a:tblPr>
              <a:tblGrid>
                <a:gridCol w="1127050"/>
                <a:gridCol w="841900"/>
                <a:gridCol w="1301350"/>
                <a:gridCol w="2180100"/>
                <a:gridCol w="2719325"/>
              </a:tblGrid>
              <a:tr h="51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Power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Base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Exponent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Meaning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Pronunciation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51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 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✕ 4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squared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51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51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51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51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51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4^{2}&quot;&gt;&lt;msup&gt;&lt;mn&gt;4&lt;/mn&gt;&lt;mrow data-mjx-texclass=&quot;ORD&quot;&gt;&lt;mn&gt;2&lt;/mn&gt;&lt;/mrow&gt;&lt;/msup&gt;&lt;/math&gt;" id="861" name="Google Shape;861;p73" title="4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435" y="1706800"/>
            <a:ext cx="274301" cy="2918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^{3}&quot;&gt;&lt;msup&gt;&lt;mn&gt;5&lt;/mn&gt;&lt;mrow data-mjx-texclass=&quot;ORD&quot;&gt;&lt;mn&gt;3&lt;/mn&gt;&lt;/mrow&gt;&lt;/msup&gt;&lt;/math&gt;" id="862" name="Google Shape;862;p73" title="5 cub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126" y="2733927"/>
            <a:ext cx="254701" cy="2934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{4}&quot;&gt;&lt;msup&gt;&lt;mn&gt;10&lt;/mn&gt;&lt;mrow data-mjx-texclass=&quot;ORD&quot;&gt;&lt;mn&gt;4&lt;/mn&gt;&lt;/mrow&gt;&lt;/msup&gt;&lt;/math&gt;" id="863" name="Google Shape;863;p73" title="10 to the fourth power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197" y="3221267"/>
            <a:ext cx="391992" cy="2939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^5&quot;&gt;&lt;msup&gt;&lt;mn&gt;3&lt;/mn&gt;&lt;mn&gt;5&lt;/mn&gt;&lt;/msup&gt;&lt;/math&gt;" id="864" name="Google Shape;864;p73" title="3 to the fifth power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5347" y="3709155"/>
            <a:ext cx="273672" cy="3223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3^2&quot;&gt;&lt;msup&gt;&lt;mn&gt;13&lt;/mn&gt;&lt;mn&gt;2&lt;/mn&gt;&lt;/msup&gt;&lt;/math&gt;" id="865" name="Google Shape;865;p73" title="13 square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7232" y="2221935"/>
            <a:ext cx="386685" cy="288652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73"/>
          <p:cNvSpPr txBox="1"/>
          <p:nvPr/>
        </p:nvSpPr>
        <p:spPr>
          <a:xfrm>
            <a:off x="1534250" y="2108950"/>
            <a:ext cx="7587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13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73"/>
          <p:cNvSpPr txBox="1"/>
          <p:nvPr/>
        </p:nvSpPr>
        <p:spPr>
          <a:xfrm>
            <a:off x="2517850" y="2108950"/>
            <a:ext cx="7587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8" name="Google Shape;868;p73"/>
          <p:cNvSpPr txBox="1"/>
          <p:nvPr/>
        </p:nvSpPr>
        <p:spPr>
          <a:xfrm>
            <a:off x="3737050" y="2108950"/>
            <a:ext cx="18465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13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 13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9" name="Google Shape;869;p73"/>
          <p:cNvSpPr txBox="1"/>
          <p:nvPr/>
        </p:nvSpPr>
        <p:spPr>
          <a:xfrm>
            <a:off x="5489650" y="2108950"/>
            <a:ext cx="31566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13 squared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0" name="Google Shape;870;p73"/>
          <p:cNvSpPr txBox="1"/>
          <p:nvPr/>
        </p:nvSpPr>
        <p:spPr>
          <a:xfrm>
            <a:off x="1534250" y="2642350"/>
            <a:ext cx="7587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1" name="Google Shape;871;p73"/>
          <p:cNvSpPr txBox="1"/>
          <p:nvPr/>
        </p:nvSpPr>
        <p:spPr>
          <a:xfrm>
            <a:off x="2517850" y="2642350"/>
            <a:ext cx="7587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73"/>
          <p:cNvSpPr txBox="1"/>
          <p:nvPr/>
        </p:nvSpPr>
        <p:spPr>
          <a:xfrm>
            <a:off x="3737050" y="2642350"/>
            <a:ext cx="18465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 5 ✕ 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73"/>
          <p:cNvSpPr txBox="1"/>
          <p:nvPr/>
        </p:nvSpPr>
        <p:spPr>
          <a:xfrm>
            <a:off x="5489650" y="2642350"/>
            <a:ext cx="31566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 cubed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73"/>
          <p:cNvSpPr txBox="1"/>
          <p:nvPr/>
        </p:nvSpPr>
        <p:spPr>
          <a:xfrm>
            <a:off x="1534250" y="3175750"/>
            <a:ext cx="7587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10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73"/>
          <p:cNvSpPr txBox="1"/>
          <p:nvPr/>
        </p:nvSpPr>
        <p:spPr>
          <a:xfrm>
            <a:off x="2517850" y="3175750"/>
            <a:ext cx="7587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4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6" name="Google Shape;876;p73"/>
          <p:cNvSpPr txBox="1"/>
          <p:nvPr/>
        </p:nvSpPr>
        <p:spPr>
          <a:xfrm>
            <a:off x="3358250" y="3175750"/>
            <a:ext cx="26973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10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 10 ✕ 10 ✕ 10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7" name="Google Shape;877;p73"/>
          <p:cNvSpPr txBox="1"/>
          <p:nvPr/>
        </p:nvSpPr>
        <p:spPr>
          <a:xfrm>
            <a:off x="5489650" y="3175750"/>
            <a:ext cx="31566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10 to the power of 4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73"/>
          <p:cNvSpPr txBox="1"/>
          <p:nvPr/>
        </p:nvSpPr>
        <p:spPr>
          <a:xfrm>
            <a:off x="1513700" y="3709150"/>
            <a:ext cx="7587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9" name="Google Shape;879;p73"/>
          <p:cNvSpPr txBox="1"/>
          <p:nvPr/>
        </p:nvSpPr>
        <p:spPr>
          <a:xfrm>
            <a:off x="2517850" y="3709150"/>
            <a:ext cx="7587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73"/>
          <p:cNvSpPr txBox="1"/>
          <p:nvPr/>
        </p:nvSpPr>
        <p:spPr>
          <a:xfrm>
            <a:off x="3432250" y="3709150"/>
            <a:ext cx="24078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 3 ✕ 3 ✕ 3 ✕ 3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73"/>
          <p:cNvSpPr txBox="1"/>
          <p:nvPr/>
        </p:nvSpPr>
        <p:spPr>
          <a:xfrm>
            <a:off x="5489650" y="3709150"/>
            <a:ext cx="31566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 to the power of 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2" name="Google Shape;882;p73"/>
          <p:cNvSpPr txBox="1"/>
          <p:nvPr/>
        </p:nvSpPr>
        <p:spPr>
          <a:xfrm>
            <a:off x="1513700" y="4242550"/>
            <a:ext cx="7587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11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3" name="Google Shape;883;p73"/>
          <p:cNvSpPr txBox="1"/>
          <p:nvPr/>
        </p:nvSpPr>
        <p:spPr>
          <a:xfrm>
            <a:off x="2517850" y="4242550"/>
            <a:ext cx="7587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4" name="Google Shape;884;p73"/>
          <p:cNvSpPr txBox="1"/>
          <p:nvPr/>
        </p:nvSpPr>
        <p:spPr>
          <a:xfrm>
            <a:off x="3522000" y="4242550"/>
            <a:ext cx="22524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11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✕11✕11✕11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✕11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5" name="Google Shape;885;p73"/>
          <p:cNvSpPr txBox="1"/>
          <p:nvPr/>
        </p:nvSpPr>
        <p:spPr>
          <a:xfrm>
            <a:off x="5489650" y="4242550"/>
            <a:ext cx="31566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11 to the power of 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1^5&quot;&gt;&lt;msup&gt;&lt;mn&gt;11&lt;/mn&gt;&lt;mn&gt;5&lt;/mn&gt;&lt;/msup&gt;&lt;/math&gt;" id="886" name="Google Shape;886;p73" title="11 to the fifth power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8500" y="4277036"/>
            <a:ext cx="393966" cy="294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74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700"/>
              <a:t>         means 5 + 5 + 5</a:t>
            </a:r>
            <a:endParaRPr sz="2700"/>
          </a:p>
        </p:txBody>
      </p:sp>
      <p:sp>
        <p:nvSpPr>
          <p:cNvPr id="892" name="Google Shape;892;p74"/>
          <p:cNvSpPr txBox="1"/>
          <p:nvPr>
            <p:ph idx="2" type="subTitle"/>
          </p:nvPr>
        </p:nvSpPr>
        <p:spPr>
          <a:xfrm>
            <a:off x="400200" y="10038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3100"/>
              <a:t>                            means 5 ✕ 3   </a:t>
            </a:r>
            <a:endParaRPr sz="3100"/>
          </a:p>
        </p:txBody>
      </p:sp>
      <p:sp>
        <p:nvSpPr>
          <p:cNvPr id="893" name="Google Shape;893;p7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700"/>
              <a:t>         means 5 ✕ 5 ✕ 5 </a:t>
            </a:r>
            <a:endParaRPr sz="2700"/>
          </a:p>
        </p:txBody>
      </p:sp>
      <p:sp>
        <p:nvSpPr>
          <p:cNvPr id="894" name="Google Shape;894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Notation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5^3&quot;&gt;&lt;msup&gt;&lt;mn&gt;5&lt;/mn&gt;&lt;mn&gt;3&lt;/mn&gt;&lt;/msup&gt;&lt;/math&gt;" id="895" name="Google Shape;895;p74" title="5 cub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9600" y="927599"/>
            <a:ext cx="401250" cy="4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3208" y="1797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^3&quot;&gt;&lt;msup&gt;&lt;mn&gt;5&lt;/mn&gt;&lt;mn&gt;3&lt;/mn&gt;&lt;/msup&gt;&lt;/math&gt;" id="897" name="Google Shape;897;p74" title="5 cub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3550" y="3082949"/>
            <a:ext cx="401250" cy="4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^3&quot;&gt;&lt;msup&gt;&lt;mn&gt;5&lt;/mn&gt;&lt;mn&gt;3&lt;/mn&gt;&lt;/msup&gt;&lt;/math&gt;" id="898" name="Google Shape;898;p74" title="5 cub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3550" y="4040349"/>
            <a:ext cx="401250" cy="4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4008" y="40619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75"/>
          <p:cNvSpPr txBox="1"/>
          <p:nvPr>
            <p:ph idx="1" type="body"/>
          </p:nvPr>
        </p:nvSpPr>
        <p:spPr>
          <a:xfrm>
            <a:off x="324000" y="759300"/>
            <a:ext cx="82377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Put these numbers in ascending order, smallest to largest.</a:t>
            </a:r>
            <a:endParaRPr sz="2000"/>
          </a:p>
        </p:txBody>
      </p:sp>
      <p:sp>
        <p:nvSpPr>
          <p:cNvPr id="905" name="Google Shape;905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Notation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5\times3&quot;&gt;&lt;mn&gt;5&lt;/mn&gt;&lt;mo&gt;×&lt;/mo&gt;&lt;mn&gt;3&lt;/mn&gt;&lt;/math&gt;" id="906" name="Google Shape;906;p75" title="5 times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4139" y="1497057"/>
            <a:ext cx="827937" cy="2851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\times3&quot;&gt;&lt;mn&gt;4&lt;/mn&gt;&lt;mo&gt;×&lt;/mo&gt;&lt;mn&gt;3&lt;/mn&gt;&lt;/math&gt;" id="907" name="Google Shape;907;p75" title="4 times 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81848" y="1488304"/>
            <a:ext cx="851150" cy="285162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75"/>
          <p:cNvSpPr txBox="1"/>
          <p:nvPr>
            <p:ph idx="1" type="body"/>
          </p:nvPr>
        </p:nvSpPr>
        <p:spPr>
          <a:xfrm>
            <a:off x="1287750" y="1840888"/>
            <a:ext cx="7212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9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09" name="Google Shape;909;p75"/>
          <p:cNvSpPr txBox="1"/>
          <p:nvPr>
            <p:ph idx="1" type="body"/>
          </p:nvPr>
        </p:nvSpPr>
        <p:spPr>
          <a:xfrm>
            <a:off x="7575425" y="2010813"/>
            <a:ext cx="7212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12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3+3+3&quot;&gt;&lt;mn&gt;3&lt;/mn&gt;&lt;mo&gt;+&lt;/mo&gt;&lt;mn&gt;3&lt;/mn&gt;&lt;mo&gt;+&lt;/mo&gt;&lt;mn&gt;3&lt;/mn&gt;&lt;/math&gt;" id="910" name="Google Shape;910;p75" title="3 plus 3 plus 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0025" y="1494952"/>
            <a:ext cx="1439455" cy="285175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75"/>
          <p:cNvSpPr txBox="1"/>
          <p:nvPr>
            <p:ph idx="1" type="body"/>
          </p:nvPr>
        </p:nvSpPr>
        <p:spPr>
          <a:xfrm>
            <a:off x="785725" y="3144263"/>
            <a:ext cx="1013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5 ✕ 5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2" name="Google Shape;912;p75"/>
          <p:cNvSpPr txBox="1"/>
          <p:nvPr>
            <p:ph idx="1" type="body"/>
          </p:nvPr>
        </p:nvSpPr>
        <p:spPr>
          <a:xfrm>
            <a:off x="1040675" y="3562388"/>
            <a:ext cx="1013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25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3" name="Google Shape;913;p75"/>
          <p:cNvSpPr txBox="1"/>
          <p:nvPr>
            <p:ph idx="1" type="body"/>
          </p:nvPr>
        </p:nvSpPr>
        <p:spPr>
          <a:xfrm>
            <a:off x="4272750" y="1934613"/>
            <a:ext cx="7212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15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5+5&quot;&gt;&lt;mn&gt;5&lt;/mn&gt;&lt;mo&gt;+&lt;/mo&gt;&lt;mn&gt;5&lt;/mn&gt;&lt;/math&gt;" id="914" name="Google Shape;914;p75" title="5 plus 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43100" y="2679715"/>
            <a:ext cx="851150" cy="310165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75"/>
          <p:cNvSpPr txBox="1"/>
          <p:nvPr>
            <p:ph idx="1" type="body"/>
          </p:nvPr>
        </p:nvSpPr>
        <p:spPr>
          <a:xfrm>
            <a:off x="4271700" y="3129788"/>
            <a:ext cx="6474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10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6" name="Google Shape;916;p75"/>
          <p:cNvSpPr txBox="1"/>
          <p:nvPr>
            <p:ph idx="1" type="body"/>
          </p:nvPr>
        </p:nvSpPr>
        <p:spPr>
          <a:xfrm>
            <a:off x="6912300" y="3125150"/>
            <a:ext cx="1754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4 ✕ 4 ✕ 4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7" name="Google Shape;917;p75"/>
          <p:cNvSpPr txBox="1"/>
          <p:nvPr>
            <p:ph idx="1" type="body"/>
          </p:nvPr>
        </p:nvSpPr>
        <p:spPr>
          <a:xfrm>
            <a:off x="7433500" y="3534738"/>
            <a:ext cx="7212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64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8" name="Google Shape;918;p75"/>
          <p:cNvSpPr/>
          <p:nvPr/>
        </p:nvSpPr>
        <p:spPr>
          <a:xfrm>
            <a:off x="469950" y="1427013"/>
            <a:ext cx="1899600" cy="387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75"/>
          <p:cNvSpPr/>
          <p:nvPr/>
        </p:nvSpPr>
        <p:spPr>
          <a:xfrm>
            <a:off x="3837071" y="1452800"/>
            <a:ext cx="1296600" cy="387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75"/>
          <p:cNvSpPr/>
          <p:nvPr/>
        </p:nvSpPr>
        <p:spPr>
          <a:xfrm>
            <a:off x="7059121" y="1416625"/>
            <a:ext cx="1296600" cy="387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75"/>
          <p:cNvSpPr/>
          <p:nvPr/>
        </p:nvSpPr>
        <p:spPr>
          <a:xfrm>
            <a:off x="3824017" y="2628626"/>
            <a:ext cx="1296600" cy="387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2" name="Google Shape;922;p75"/>
          <p:cNvGrpSpPr/>
          <p:nvPr/>
        </p:nvGrpSpPr>
        <p:grpSpPr>
          <a:xfrm>
            <a:off x="527675" y="4201876"/>
            <a:ext cx="1899600" cy="404400"/>
            <a:chOff x="527675" y="4201876"/>
            <a:chExt cx="1899600" cy="404400"/>
          </a:xfrm>
        </p:grpSpPr>
        <p:pic>
          <p:nvPicPr>
            <p:cNvPr descr="&lt;math xmlns=&quot;http://www.w3.org/1998/Math/MathML&quot; display=&quot;block&quot; data-is-equatio=&quot;1&quot; data-latex=&quot;3+3+3&quot;&gt;&lt;mn&gt;3&lt;/mn&gt;&lt;mo&gt;+&lt;/mo&gt;&lt;mn&gt;3&lt;/mn&gt;&lt;mo&gt;+&lt;/mo&gt;&lt;mn&gt;3&lt;/mn&gt;&lt;/math&gt;" id="923" name="Google Shape;923;p75" title="3 plus 3 plus 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57750" y="4269802"/>
              <a:ext cx="1439455" cy="28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4" name="Google Shape;924;p75"/>
            <p:cNvSpPr/>
            <p:nvPr/>
          </p:nvSpPr>
          <p:spPr>
            <a:xfrm>
              <a:off x="527675" y="4201876"/>
              <a:ext cx="1899600" cy="404400"/>
            </a:xfrm>
            <a:prstGeom prst="rect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5" name="Google Shape;925;p75"/>
          <p:cNvGrpSpPr/>
          <p:nvPr/>
        </p:nvGrpSpPr>
        <p:grpSpPr>
          <a:xfrm>
            <a:off x="2521950" y="4201875"/>
            <a:ext cx="1296600" cy="404400"/>
            <a:chOff x="2521950" y="4201875"/>
            <a:chExt cx="1296600" cy="404400"/>
          </a:xfrm>
        </p:grpSpPr>
        <p:pic>
          <p:nvPicPr>
            <p:cNvPr descr="&lt;math xmlns=&quot;http://www.w3.org/1998/Math/MathML&quot; display=&quot;block&quot; data-is-equatio=&quot;1&quot; data-latex=&quot;5+5&quot;&gt;&lt;mn&gt;5&lt;/mn&gt;&lt;mo&gt;+&lt;/mo&gt;&lt;mn&gt;5&lt;/mn&gt;&lt;/math&gt;" id="926" name="Google Shape;926;p75" title="5 plus 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741025" y="4269678"/>
              <a:ext cx="851150" cy="3101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7" name="Google Shape;927;p75"/>
            <p:cNvSpPr/>
            <p:nvPr/>
          </p:nvSpPr>
          <p:spPr>
            <a:xfrm>
              <a:off x="2521950" y="4201875"/>
              <a:ext cx="1296600" cy="404400"/>
            </a:xfrm>
            <a:prstGeom prst="rect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8" name="Google Shape;928;p75"/>
          <p:cNvGrpSpPr/>
          <p:nvPr/>
        </p:nvGrpSpPr>
        <p:grpSpPr>
          <a:xfrm>
            <a:off x="3913225" y="4201877"/>
            <a:ext cx="1296600" cy="416700"/>
            <a:chOff x="3913225" y="4201877"/>
            <a:chExt cx="1296600" cy="416700"/>
          </a:xfrm>
        </p:grpSpPr>
        <p:pic>
          <p:nvPicPr>
            <p:cNvPr descr="&lt;math xmlns=&quot;http://www.w3.org/1998/Math/MathML&quot; display=&quot;block&quot; data-is-equatio=&quot;1&quot; data-latex=&quot;4\times3&quot;&gt;&lt;mn&gt;4&lt;/mn&gt;&lt;mo&gt;×&lt;/mo&gt;&lt;mn&gt;3&lt;/mn&gt;&lt;/math&gt;" id="929" name="Google Shape;929;p75" title="4 times 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135948" y="4291939"/>
              <a:ext cx="851150" cy="2851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0" name="Google Shape;930;p75"/>
            <p:cNvSpPr/>
            <p:nvPr/>
          </p:nvSpPr>
          <p:spPr>
            <a:xfrm>
              <a:off x="3913225" y="4201877"/>
              <a:ext cx="1296600" cy="416700"/>
            </a:xfrm>
            <a:prstGeom prst="rect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1" name="Google Shape;931;p75"/>
          <p:cNvGrpSpPr/>
          <p:nvPr/>
        </p:nvGrpSpPr>
        <p:grpSpPr>
          <a:xfrm>
            <a:off x="5304500" y="4194240"/>
            <a:ext cx="1296600" cy="416700"/>
            <a:chOff x="5304500" y="4194240"/>
            <a:chExt cx="1296600" cy="416700"/>
          </a:xfrm>
        </p:grpSpPr>
        <p:pic>
          <p:nvPicPr>
            <p:cNvPr descr="&lt;math xmlns=&quot;http://www.w3.org/1998/Math/MathML&quot; display=&quot;block&quot; data-is-equatio=&quot;1&quot; data-latex=&quot;5\times3&quot;&gt;&lt;mn&gt;5&lt;/mn&gt;&lt;mo&gt;×&lt;/mo&gt;&lt;mn&gt;3&lt;/mn&gt;&lt;/math&gt;" id="932" name="Google Shape;932;p75" title="5 times 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11564" y="4262845"/>
              <a:ext cx="827937" cy="2851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3" name="Google Shape;933;p75"/>
            <p:cNvSpPr/>
            <p:nvPr/>
          </p:nvSpPr>
          <p:spPr>
            <a:xfrm>
              <a:off x="5304500" y="4194240"/>
              <a:ext cx="1296600" cy="416700"/>
            </a:xfrm>
            <a:prstGeom prst="rect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4" name="Google Shape;934;p75"/>
          <p:cNvGrpSpPr/>
          <p:nvPr/>
        </p:nvGrpSpPr>
        <p:grpSpPr>
          <a:xfrm>
            <a:off x="6674475" y="4187325"/>
            <a:ext cx="647400" cy="416700"/>
            <a:chOff x="6674475" y="4187325"/>
            <a:chExt cx="647400" cy="416700"/>
          </a:xfrm>
        </p:grpSpPr>
        <p:pic>
          <p:nvPicPr>
            <p:cNvPr descr="&lt;math xmlns=&quot;http://www.w3.org/1998/Math/MathML&quot; display=&quot;block&quot; data-is-equatio=&quot;1&quot; data-latex=&quot;5^2&quot;&gt;&lt;msup&gt;&lt;mn&gt;5&lt;/mn&gt;&lt;mn&gt;2&lt;/mn&gt;&lt;/msup&gt;&lt;/math&gt;" id="935" name="Google Shape;935;p75" title="5 squared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857450" y="4230050"/>
              <a:ext cx="291075" cy="3101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6" name="Google Shape;936;p75"/>
            <p:cNvSpPr/>
            <p:nvPr/>
          </p:nvSpPr>
          <p:spPr>
            <a:xfrm>
              <a:off x="6674475" y="4187325"/>
              <a:ext cx="647400" cy="416700"/>
            </a:xfrm>
            <a:prstGeom prst="rect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&lt;math xmlns=&quot;http://www.w3.org/1998/Math/MathML&quot; display=&quot;block&quot; data-is-equatio=&quot;1&quot; data-latex=&quot;5^2&quot;&gt;&lt;msup&gt;&lt;mn&gt;5&lt;/mn&gt;&lt;mn&gt;2&lt;/mn&gt;&lt;/msup&gt;&lt;/math&gt;" id="937" name="Google Shape;937;p75" title="5 square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6825" y="2641775"/>
            <a:ext cx="291075" cy="310155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p75"/>
          <p:cNvSpPr/>
          <p:nvPr/>
        </p:nvSpPr>
        <p:spPr>
          <a:xfrm>
            <a:off x="873851" y="2628150"/>
            <a:ext cx="647400" cy="387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4^3&quot;&gt;&lt;msup&gt;&lt;mn&gt;4&lt;/mn&gt;&lt;mn&gt;3&lt;/mn&gt;&lt;/msup&gt;&lt;/math&gt;" id="939" name="Google Shape;939;p75" title="4 cube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27174" y="2651261"/>
            <a:ext cx="291075" cy="305599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75"/>
          <p:cNvSpPr/>
          <p:nvPr/>
        </p:nvSpPr>
        <p:spPr>
          <a:xfrm>
            <a:off x="7416099" y="2633238"/>
            <a:ext cx="585600" cy="387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1" name="Google Shape;941;p75"/>
          <p:cNvGrpSpPr/>
          <p:nvPr/>
        </p:nvGrpSpPr>
        <p:grpSpPr>
          <a:xfrm>
            <a:off x="7394975" y="4191325"/>
            <a:ext cx="585600" cy="416700"/>
            <a:chOff x="7394975" y="4191325"/>
            <a:chExt cx="585600" cy="416700"/>
          </a:xfrm>
        </p:grpSpPr>
        <p:pic>
          <p:nvPicPr>
            <p:cNvPr descr="&lt;math xmlns=&quot;http://www.w3.org/1998/Math/MathML&quot; display=&quot;block&quot; data-is-equatio=&quot;1&quot; data-latex=&quot;4^3&quot;&gt;&lt;msup&gt;&lt;mn&gt;4&lt;/mn&gt;&lt;mn&gt;3&lt;/mn&gt;&lt;/msup&gt;&lt;/math&gt;" id="942" name="Google Shape;942;p75" title="4 cubed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515527" y="4214087"/>
              <a:ext cx="291075" cy="305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3" name="Google Shape;943;p75"/>
            <p:cNvSpPr/>
            <p:nvPr/>
          </p:nvSpPr>
          <p:spPr>
            <a:xfrm>
              <a:off x="7394975" y="4191325"/>
              <a:ext cx="585600" cy="416700"/>
            </a:xfrm>
            <a:prstGeom prst="rect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76"/>
          <p:cNvSpPr txBox="1"/>
          <p:nvPr>
            <p:ph idx="1" type="body"/>
          </p:nvPr>
        </p:nvSpPr>
        <p:spPr>
          <a:xfrm>
            <a:off x="324000" y="759300"/>
            <a:ext cx="6941700" cy="10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Jacob has spilt ink all over his maths notes. Identify what was under the spilt ink.</a:t>
            </a:r>
            <a:endParaRPr/>
          </a:p>
        </p:txBody>
      </p:sp>
      <p:sp>
        <p:nvSpPr>
          <p:cNvPr id="949" name="Google Shape;949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Notation</a:t>
            </a:r>
            <a:endParaRPr/>
          </a:p>
        </p:txBody>
      </p:sp>
      <p:grpSp>
        <p:nvGrpSpPr>
          <p:cNvPr id="950" name="Google Shape;950;p76"/>
          <p:cNvGrpSpPr/>
          <p:nvPr/>
        </p:nvGrpSpPr>
        <p:grpSpPr>
          <a:xfrm>
            <a:off x="337450" y="1507675"/>
            <a:ext cx="8837086" cy="3135075"/>
            <a:chOff x="337450" y="1507675"/>
            <a:chExt cx="8837086" cy="3135075"/>
          </a:xfrm>
        </p:grpSpPr>
        <p:sp>
          <p:nvSpPr>
            <p:cNvPr id="951" name="Google Shape;951;p76"/>
            <p:cNvSpPr/>
            <p:nvPr/>
          </p:nvSpPr>
          <p:spPr>
            <a:xfrm>
              <a:off x="337450" y="1507750"/>
              <a:ext cx="2727000" cy="31350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&lt;math xmlns=&quot;http://www.w3.org/1998/Math/MathML&quot; display=&quot;block&quot; data-is-equatio=&quot;1&quot; data-latex=&quot;12^2&quot;&gt;&lt;msup&gt;&lt;mn&gt;12&lt;/mn&gt;&lt;mn&gt;2&lt;/mn&gt;&lt;/msup&gt;&lt;/math&gt;" id="952" name="Google Shape;952;p76" title="12 squared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51825" y="1663500"/>
              <a:ext cx="832775" cy="603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3" name="Google Shape;953;p76"/>
            <p:cNvSpPr txBox="1"/>
            <p:nvPr/>
          </p:nvSpPr>
          <p:spPr>
            <a:xfrm>
              <a:off x="756550" y="2400300"/>
              <a:ext cx="2384100" cy="60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base is 12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4" name="Google Shape;954;p76"/>
            <p:cNvSpPr txBox="1"/>
            <p:nvPr/>
          </p:nvSpPr>
          <p:spPr>
            <a:xfrm>
              <a:off x="628550" y="2947800"/>
              <a:ext cx="2653500" cy="60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exponent is 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5" name="Google Shape;955;p76"/>
            <p:cNvSpPr txBox="1"/>
            <p:nvPr/>
          </p:nvSpPr>
          <p:spPr>
            <a:xfrm>
              <a:off x="525136" y="3481200"/>
              <a:ext cx="3306600" cy="60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We say “12 squared”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6" name="Google Shape;956;p76"/>
            <p:cNvSpPr txBox="1"/>
            <p:nvPr/>
          </p:nvSpPr>
          <p:spPr>
            <a:xfrm>
              <a:off x="704750" y="4014600"/>
              <a:ext cx="2512200" cy="60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It means 12 ✕ 12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7" name="Google Shape;957;p76"/>
            <p:cNvSpPr/>
            <p:nvPr/>
          </p:nvSpPr>
          <p:spPr>
            <a:xfrm>
              <a:off x="3135425" y="1507675"/>
              <a:ext cx="2727000" cy="31350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76"/>
            <p:cNvSpPr txBox="1"/>
            <p:nvPr/>
          </p:nvSpPr>
          <p:spPr>
            <a:xfrm>
              <a:off x="3255225" y="2451675"/>
              <a:ext cx="2384100" cy="60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base is 9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9" name="Google Shape;959;p76"/>
            <p:cNvSpPr txBox="1"/>
            <p:nvPr/>
          </p:nvSpPr>
          <p:spPr>
            <a:xfrm>
              <a:off x="3197925" y="2871600"/>
              <a:ext cx="2653500" cy="60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exponent is 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0" name="Google Shape;960;p76"/>
            <p:cNvSpPr txBox="1"/>
            <p:nvPr/>
          </p:nvSpPr>
          <p:spPr>
            <a:xfrm>
              <a:off x="3325925" y="3240000"/>
              <a:ext cx="2288400" cy="76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We say “9 to the power of 4”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1" name="Google Shape;961;p76"/>
            <p:cNvSpPr txBox="1"/>
            <p:nvPr/>
          </p:nvSpPr>
          <p:spPr>
            <a:xfrm>
              <a:off x="3083775" y="3856750"/>
              <a:ext cx="2727000" cy="60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It means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9 ✕ 9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✕ 9  ✕ 9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2" name="Google Shape;962;p76"/>
            <p:cNvSpPr/>
            <p:nvPr/>
          </p:nvSpPr>
          <p:spPr>
            <a:xfrm>
              <a:off x="5908850" y="1507675"/>
              <a:ext cx="2727000" cy="31350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76"/>
            <p:cNvSpPr txBox="1"/>
            <p:nvPr/>
          </p:nvSpPr>
          <p:spPr>
            <a:xfrm>
              <a:off x="6099350" y="2324100"/>
              <a:ext cx="2384100" cy="60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Lexend"/>
                  <a:ea typeface="Lexend"/>
                  <a:cs typeface="Lexend"/>
                  <a:sym typeface="Lexend"/>
                </a:rPr>
                <a:t>The base is 4</a:t>
              </a:r>
              <a:endParaRPr sz="21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4" name="Google Shape;964;p76"/>
            <p:cNvSpPr txBox="1"/>
            <p:nvPr/>
          </p:nvSpPr>
          <p:spPr>
            <a:xfrm>
              <a:off x="5971350" y="2871600"/>
              <a:ext cx="2653500" cy="60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Lexend"/>
                  <a:ea typeface="Lexend"/>
                  <a:cs typeface="Lexend"/>
                  <a:sym typeface="Lexend"/>
                </a:rPr>
                <a:t>The exponent is 3</a:t>
              </a:r>
              <a:endParaRPr sz="21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5" name="Google Shape;965;p76"/>
            <p:cNvSpPr txBox="1"/>
            <p:nvPr/>
          </p:nvSpPr>
          <p:spPr>
            <a:xfrm>
              <a:off x="5867936" y="3405000"/>
              <a:ext cx="3306600" cy="60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Lexend"/>
                  <a:ea typeface="Lexend"/>
                  <a:cs typeface="Lexend"/>
                  <a:sym typeface="Lexend"/>
                </a:rPr>
                <a:t>We say “4 cubed”</a:t>
              </a:r>
              <a:endParaRPr sz="21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6" name="Google Shape;966;p76"/>
            <p:cNvSpPr txBox="1"/>
            <p:nvPr/>
          </p:nvSpPr>
          <p:spPr>
            <a:xfrm>
              <a:off x="6047550" y="3938400"/>
              <a:ext cx="2512200" cy="60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Lexend"/>
                  <a:ea typeface="Lexend"/>
                  <a:cs typeface="Lexend"/>
                  <a:sym typeface="Lexend"/>
                </a:rPr>
                <a:t>It is 64</a:t>
              </a:r>
              <a:endParaRPr sz="21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9^4&quot;&gt;&lt;msup&gt;&lt;mn&gt;9&lt;/mn&gt;&lt;mn&gt;4&lt;/mn&gt;&lt;/msup&gt;&lt;/math&gt;" id="967" name="Google Shape;967;p76" title="9 to the fourth power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230150" y="1663500"/>
              <a:ext cx="593850" cy="6557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4^3&quot;&gt;&lt;msup&gt;&lt;mn&gt;4&lt;/mn&gt;&lt;mn&gt;3&lt;/mn&gt;&lt;/msup&gt;&lt;/math&gt;" id="968" name="Google Shape;968;p76" title="4 cubed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865359" y="1608642"/>
              <a:ext cx="593850" cy="6598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9" name="Google Shape;969;p7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75988" y="1559025"/>
              <a:ext cx="1417625" cy="925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0" name="Google Shape;970;p7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096469" y="2397794"/>
              <a:ext cx="698742" cy="45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1" name="Google Shape;971;p7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286969" y="3014444"/>
              <a:ext cx="698742" cy="45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2" name="Google Shape;972;p7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895078" y="3514525"/>
              <a:ext cx="992125" cy="45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3" name="Google Shape;973;p7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990600" y="1628009"/>
              <a:ext cx="992125" cy="76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4" name="Google Shape;974;p7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982725" y="2434004"/>
              <a:ext cx="593850" cy="4600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5" name="Google Shape;975;p7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045475" y="2943379"/>
              <a:ext cx="593850" cy="4600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6" name="Google Shape;976;p7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824000" y="3552429"/>
              <a:ext cx="593850" cy="4600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7" name="Google Shape;977;p7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4300" y="1559029"/>
              <a:ext cx="593850" cy="4600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8" name="Google Shape;978;p7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967850" y="2845154"/>
              <a:ext cx="593850" cy="4600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9" name="Google Shape;979;p7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4300" y="3476775"/>
              <a:ext cx="1059725" cy="4600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Notation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^3&quot;&gt;&lt;msup&gt;&lt;mn&gt;2&lt;/mn&gt;&lt;mn&gt;3&lt;/mn&gt;&lt;/msup&gt;&lt;/math&gt;" id="985" name="Google Shape;985;p77" title="2 cub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7100" y="1205425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4&quot;&gt;&lt;msup&gt;&lt;mn&gt;10&lt;/mn&gt;&lt;mn&gt;4&lt;/mn&gt;&lt;/msup&gt;&lt;/math&gt;" id="986" name="Google Shape;986;p77" title="10 to the fourth power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1438" y="2666525"/>
            <a:ext cx="6858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^2&quot;&gt;&lt;msup&gt;&lt;mn&gt;9&lt;/mn&gt;&lt;mn&gt;2&lt;/mn&gt;&lt;/msup&gt;&lt;/math&gt;" id="987" name="Google Shape;987;p77" title="9 squa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6250" y="1213813"/>
            <a:ext cx="447675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\ \times4&quot;&gt;&lt;mn&gt;10&lt;/mn&gt;&lt;mtext&gt;&lt;/mtext&gt;&lt;mo&gt;×&lt;/mo&gt;&lt;mn&gt;4&lt;/mn&gt;&lt;/math&gt;" id="988" name="Google Shape;988;p77" title="10 times 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0100" y="2966550"/>
            <a:ext cx="14001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+2+2&quot;&gt;&lt;mn&gt;2&lt;/mn&gt;&lt;mo&gt;+&lt;/mo&gt;&lt;mn&gt;2&lt;/mn&gt;&lt;mo&gt;+&lt;/mo&gt;&lt;mn&gt;2&lt;/mn&gt;&lt;/math&gt;" id="989" name="Google Shape;989;p77" title="2 plus 2 plus 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19150" y="2876075"/>
            <a:ext cx="20478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\times2&quot;&gt;&lt;mn&gt;9&lt;/mn&gt;&lt;mo&gt;×&lt;/mo&gt;&lt;mn&gt;2&lt;/mn&gt;&lt;/math&gt;" id="990" name="Google Shape;990;p77" title="9 times 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06488" y="1344338"/>
            <a:ext cx="10477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77"/>
          <p:cNvSpPr txBox="1"/>
          <p:nvPr>
            <p:ph idx="4294967295" type="body"/>
          </p:nvPr>
        </p:nvSpPr>
        <p:spPr>
          <a:xfrm>
            <a:off x="324000" y="683100"/>
            <a:ext cx="82377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Put these numbers in ascending order, smallest to largest.</a:t>
            </a:r>
            <a:endParaRPr sz="2000"/>
          </a:p>
        </p:txBody>
      </p:sp>
      <p:sp>
        <p:nvSpPr>
          <p:cNvPr id="992" name="Google Shape;992;p77"/>
          <p:cNvSpPr/>
          <p:nvPr/>
        </p:nvSpPr>
        <p:spPr>
          <a:xfrm>
            <a:off x="956875" y="1186550"/>
            <a:ext cx="1047900" cy="588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77"/>
          <p:cNvSpPr/>
          <p:nvPr/>
        </p:nvSpPr>
        <p:spPr>
          <a:xfrm>
            <a:off x="3863156" y="1173169"/>
            <a:ext cx="1047900" cy="588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77"/>
          <p:cNvSpPr/>
          <p:nvPr/>
        </p:nvSpPr>
        <p:spPr>
          <a:xfrm>
            <a:off x="6834947" y="1173175"/>
            <a:ext cx="1432200" cy="588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77"/>
          <p:cNvSpPr/>
          <p:nvPr/>
        </p:nvSpPr>
        <p:spPr>
          <a:xfrm>
            <a:off x="6027002" y="2741275"/>
            <a:ext cx="2398200" cy="588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77"/>
          <p:cNvSpPr/>
          <p:nvPr/>
        </p:nvSpPr>
        <p:spPr>
          <a:xfrm>
            <a:off x="540601" y="2833625"/>
            <a:ext cx="1664700" cy="588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77"/>
          <p:cNvSpPr/>
          <p:nvPr/>
        </p:nvSpPr>
        <p:spPr>
          <a:xfrm>
            <a:off x="3707625" y="2661825"/>
            <a:ext cx="1013100" cy="588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2\ \ ,\ 5\ \ ,\ 3\ \ ,\ \ \ \ \ ^2,\ \ \ \ \ \ \ ^{\ \ \ \ }\ &quot;&gt;&lt;mn&gt;2&lt;/mn&gt;&lt;mtext&gt;&lt;/mtext&gt;&lt;mtext&gt;&lt;/mtext&gt;&lt;mo&gt;,&lt;/mo&gt;&lt;mtext&gt;&lt;/mtext&gt;&lt;mn&gt;5&lt;/mn&gt;&lt;mtext&gt;&lt;/mtext&gt;&lt;mtext&gt;&lt;/mtext&gt;&lt;mo&gt;,&lt;/mo&gt;&lt;mtext&gt;&lt;/mtext&gt;&lt;mn&gt;3&lt;/mn&gt;&lt;mtext&gt;&lt;/mtext&gt;&lt;mtext&gt;&lt;/mtext&gt;&lt;mo&gt;,&lt;/mo&gt;&lt;mtext&gt;&lt;/mtext&gt;&lt;mtext&gt;&lt;/mtext&gt;&lt;mtext&gt;&lt;/mtext&gt;&lt;mtext&gt;&lt;/mtext&gt;&lt;msup&gt;&lt;mtext&gt;&lt;/mtext&gt;&lt;mn&gt;2&lt;/mn&gt;&lt;/msup&gt;&lt;mo&gt;,&lt;/mo&gt;&lt;mtext&gt;&lt;/mtext&gt;&lt;mtext&gt;&lt;/mtext&gt;&lt;mtext&gt;&lt;/mtext&gt;&lt;mtext&gt;&lt;/mtext&gt;&lt;mtext&gt;&lt;/mtext&gt;&lt;mtext&gt;&lt;/mtext&gt;&lt;msup&gt;&lt;mtext&gt;&lt;/mtext&gt;&lt;mrow data-mjx-texclass=&quot;ORD&quot;&gt;&lt;mtext&gt;&lt;/mtext&gt;&lt;mtext&gt;&lt;/mtext&gt;&lt;mtext&gt;&lt;/mtext&gt;&lt;mtext&gt;&lt;/mtext&gt;&lt;/mrow&gt;&lt;/msup&gt;&lt;mtext&gt;&lt;/mtext&gt;&lt;/math&gt;" id="1002" name="Google Shape;1002;p78" title="2 comma 5 comma 3 comma squared comma raised to the powe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763" y="1730300"/>
            <a:ext cx="4681420" cy="74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Notation</a:t>
            </a:r>
            <a:endParaRPr/>
          </a:p>
        </p:txBody>
      </p:sp>
      <p:sp>
        <p:nvSpPr>
          <p:cNvPr id="1004" name="Google Shape;1004;p78"/>
          <p:cNvSpPr txBox="1"/>
          <p:nvPr>
            <p:ph idx="4294967295" type="body"/>
          </p:nvPr>
        </p:nvSpPr>
        <p:spPr>
          <a:xfrm>
            <a:off x="324000" y="683100"/>
            <a:ext cx="82377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3) These numbers have been put in ascending order. They are missing an </a:t>
            </a:r>
            <a:r>
              <a:rPr b="1" lang="en-GB" sz="2000"/>
              <a:t>exponent</a:t>
            </a:r>
            <a:r>
              <a:rPr lang="en-GB" sz="2000"/>
              <a:t>, a </a:t>
            </a:r>
            <a:r>
              <a:rPr b="1" lang="en-GB" sz="2000"/>
              <a:t>base </a:t>
            </a:r>
            <a:r>
              <a:rPr lang="en-GB" sz="2000"/>
              <a:t>or both.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a) </a:t>
            </a:r>
            <a:r>
              <a:rPr lang="en-GB" sz="2000"/>
              <a:t>Fill in the missing numbers using the following:</a:t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b) Try and find a different way to complete part a)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005" name="Google Shape;1005;p78"/>
          <p:cNvSpPr/>
          <p:nvPr/>
        </p:nvSpPr>
        <p:spPr>
          <a:xfrm>
            <a:off x="1468725" y="1652125"/>
            <a:ext cx="384600" cy="387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78"/>
          <p:cNvSpPr/>
          <p:nvPr/>
        </p:nvSpPr>
        <p:spPr>
          <a:xfrm>
            <a:off x="2657513" y="1652125"/>
            <a:ext cx="384600" cy="387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78"/>
          <p:cNvSpPr/>
          <p:nvPr/>
        </p:nvSpPr>
        <p:spPr>
          <a:xfrm>
            <a:off x="6818125" y="1652125"/>
            <a:ext cx="384600" cy="387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78"/>
          <p:cNvSpPr/>
          <p:nvPr/>
        </p:nvSpPr>
        <p:spPr>
          <a:xfrm>
            <a:off x="4591500" y="1730250"/>
            <a:ext cx="750000" cy="74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78"/>
          <p:cNvSpPr/>
          <p:nvPr/>
        </p:nvSpPr>
        <p:spPr>
          <a:xfrm>
            <a:off x="5963100" y="1730250"/>
            <a:ext cx="750000" cy="74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78"/>
          <p:cNvSpPr/>
          <p:nvPr/>
        </p:nvSpPr>
        <p:spPr>
          <a:xfrm>
            <a:off x="3818557" y="1652125"/>
            <a:ext cx="384600" cy="387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78"/>
          <p:cNvSpPr/>
          <p:nvPr/>
        </p:nvSpPr>
        <p:spPr>
          <a:xfrm>
            <a:off x="1880200" y="3256650"/>
            <a:ext cx="750000" cy="74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Lexend"/>
                <a:ea typeface="Lexend"/>
                <a:cs typeface="Lexend"/>
                <a:sym typeface="Lexend"/>
              </a:rPr>
              <a:t>2</a:t>
            </a:r>
            <a:endParaRPr sz="2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78"/>
          <p:cNvSpPr/>
          <p:nvPr/>
        </p:nvSpPr>
        <p:spPr>
          <a:xfrm>
            <a:off x="2710650" y="3256650"/>
            <a:ext cx="750000" cy="74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Lexend"/>
                <a:ea typeface="Lexend"/>
                <a:cs typeface="Lexend"/>
                <a:sym typeface="Lexend"/>
              </a:rPr>
              <a:t>2</a:t>
            </a:r>
            <a:endParaRPr sz="2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p78"/>
          <p:cNvSpPr/>
          <p:nvPr/>
        </p:nvSpPr>
        <p:spPr>
          <a:xfrm>
            <a:off x="3541100" y="3256650"/>
            <a:ext cx="750000" cy="74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Lexend"/>
                <a:ea typeface="Lexend"/>
                <a:cs typeface="Lexend"/>
                <a:sym typeface="Lexend"/>
              </a:rPr>
              <a:t>3</a:t>
            </a:r>
            <a:endParaRPr sz="2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4" name="Google Shape;1014;p78"/>
          <p:cNvSpPr/>
          <p:nvPr/>
        </p:nvSpPr>
        <p:spPr>
          <a:xfrm>
            <a:off x="4371550" y="3256650"/>
            <a:ext cx="750000" cy="74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Lexend"/>
                <a:ea typeface="Lexend"/>
                <a:cs typeface="Lexend"/>
                <a:sym typeface="Lexend"/>
              </a:rPr>
              <a:t>4</a:t>
            </a:r>
            <a:endParaRPr sz="2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5" name="Google Shape;1015;p78"/>
          <p:cNvSpPr/>
          <p:nvPr/>
        </p:nvSpPr>
        <p:spPr>
          <a:xfrm>
            <a:off x="5202000" y="3256650"/>
            <a:ext cx="750000" cy="74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Lexend"/>
                <a:ea typeface="Lexend"/>
                <a:cs typeface="Lexend"/>
                <a:sym typeface="Lexend"/>
              </a:rPr>
              <a:t>8</a:t>
            </a:r>
            <a:endParaRPr sz="2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6" name="Google Shape;1016;p78"/>
          <p:cNvSpPr/>
          <p:nvPr/>
        </p:nvSpPr>
        <p:spPr>
          <a:xfrm>
            <a:off x="6032450" y="3256650"/>
            <a:ext cx="750000" cy="74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Lexend"/>
                <a:ea typeface="Lexend"/>
                <a:cs typeface="Lexend"/>
                <a:sym typeface="Lexend"/>
              </a:rPr>
              <a:t>10</a:t>
            </a:r>
            <a:endParaRPr sz="29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79"/>
          <p:cNvSpPr/>
          <p:nvPr/>
        </p:nvSpPr>
        <p:spPr>
          <a:xfrm>
            <a:off x="337450" y="1507750"/>
            <a:ext cx="2727000" cy="3135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79"/>
          <p:cNvSpPr txBox="1"/>
          <p:nvPr>
            <p:ph idx="1" type="body"/>
          </p:nvPr>
        </p:nvSpPr>
        <p:spPr>
          <a:xfrm>
            <a:off x="324000" y="759300"/>
            <a:ext cx="70128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Jacob has spilt ink all over his maths notes. Identify what was under the spilt ink.</a:t>
            </a:r>
            <a:endParaRPr/>
          </a:p>
        </p:txBody>
      </p:sp>
      <p:sp>
        <p:nvSpPr>
          <p:cNvPr id="1023" name="Google Shape;1023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Notation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2^2&quot;&gt;&lt;msup&gt;&lt;mn&gt;12&lt;/mn&gt;&lt;mn&gt;2&lt;/mn&gt;&lt;/msup&gt;&lt;/math&gt;" id="1024" name="Google Shape;1024;p79" title="12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1825" y="1663500"/>
            <a:ext cx="832775" cy="60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79"/>
          <p:cNvSpPr txBox="1"/>
          <p:nvPr/>
        </p:nvSpPr>
        <p:spPr>
          <a:xfrm>
            <a:off x="756550" y="2400300"/>
            <a:ext cx="23841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base is 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79"/>
          <p:cNvSpPr txBox="1"/>
          <p:nvPr/>
        </p:nvSpPr>
        <p:spPr>
          <a:xfrm>
            <a:off x="628550" y="2947800"/>
            <a:ext cx="2653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exponent is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79"/>
          <p:cNvSpPr txBox="1"/>
          <p:nvPr/>
        </p:nvSpPr>
        <p:spPr>
          <a:xfrm>
            <a:off x="525136" y="3481200"/>
            <a:ext cx="3306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say “12 squared”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79"/>
          <p:cNvSpPr txBox="1"/>
          <p:nvPr/>
        </p:nvSpPr>
        <p:spPr>
          <a:xfrm>
            <a:off x="704750" y="4014600"/>
            <a:ext cx="25122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means 12 ✕ 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79"/>
          <p:cNvSpPr/>
          <p:nvPr/>
        </p:nvSpPr>
        <p:spPr>
          <a:xfrm>
            <a:off x="3135425" y="1507675"/>
            <a:ext cx="2727000" cy="3135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79"/>
          <p:cNvSpPr txBox="1"/>
          <p:nvPr/>
        </p:nvSpPr>
        <p:spPr>
          <a:xfrm>
            <a:off x="3255225" y="2451675"/>
            <a:ext cx="23841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base is 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79"/>
          <p:cNvSpPr txBox="1"/>
          <p:nvPr/>
        </p:nvSpPr>
        <p:spPr>
          <a:xfrm>
            <a:off x="3197925" y="2871600"/>
            <a:ext cx="2653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exponent is 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79"/>
          <p:cNvSpPr txBox="1"/>
          <p:nvPr/>
        </p:nvSpPr>
        <p:spPr>
          <a:xfrm>
            <a:off x="3325925" y="3240000"/>
            <a:ext cx="2288400" cy="7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say “9 to the power of 4”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79"/>
          <p:cNvSpPr txBox="1"/>
          <p:nvPr/>
        </p:nvSpPr>
        <p:spPr>
          <a:xfrm>
            <a:off x="3083775" y="3856750"/>
            <a:ext cx="27270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means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 ✕ 9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✕ 9  ✕ 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79"/>
          <p:cNvSpPr/>
          <p:nvPr/>
        </p:nvSpPr>
        <p:spPr>
          <a:xfrm>
            <a:off x="5908850" y="1507675"/>
            <a:ext cx="2727000" cy="3135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79"/>
          <p:cNvSpPr txBox="1"/>
          <p:nvPr/>
        </p:nvSpPr>
        <p:spPr>
          <a:xfrm>
            <a:off x="6099350" y="2324100"/>
            <a:ext cx="23841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The base is 4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79"/>
          <p:cNvSpPr txBox="1"/>
          <p:nvPr/>
        </p:nvSpPr>
        <p:spPr>
          <a:xfrm>
            <a:off x="5971350" y="2871600"/>
            <a:ext cx="2653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The exponent is 3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79"/>
          <p:cNvSpPr txBox="1"/>
          <p:nvPr/>
        </p:nvSpPr>
        <p:spPr>
          <a:xfrm>
            <a:off x="5867936" y="3405000"/>
            <a:ext cx="3306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We say “4 cubed”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79"/>
          <p:cNvSpPr txBox="1"/>
          <p:nvPr/>
        </p:nvSpPr>
        <p:spPr>
          <a:xfrm>
            <a:off x="6047550" y="3938400"/>
            <a:ext cx="25122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It is 64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9^4&quot;&gt;&lt;msup&gt;&lt;mn&gt;9&lt;/mn&gt;&lt;mn&gt;4&lt;/mn&gt;&lt;/msup&gt;&lt;/math&gt;" id="1039" name="Google Shape;1039;p79" title="9 to the fourth power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0150" y="1663500"/>
            <a:ext cx="593850" cy="6557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^3&quot;&gt;&lt;msup&gt;&lt;mn&gt;4&lt;/mn&gt;&lt;mn&gt;3&lt;/mn&gt;&lt;/msup&gt;&lt;/math&gt;" id="1040" name="Google Shape;1040;p79" title="4 cub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5359" y="1608642"/>
            <a:ext cx="593850" cy="659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1" name="Google Shape;1041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5988" y="1559025"/>
            <a:ext cx="1417625" cy="925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2" name="Google Shape;1042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96469" y="2397794"/>
            <a:ext cx="698742" cy="45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3" name="Google Shape;1043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86969" y="3014444"/>
            <a:ext cx="698742" cy="45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4" name="Google Shape;1044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95078" y="3514525"/>
            <a:ext cx="992125" cy="45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5" name="Google Shape;1045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90600" y="1628009"/>
            <a:ext cx="992125" cy="76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6" name="Google Shape;1046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82725" y="2434004"/>
            <a:ext cx="593850" cy="460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7" name="Google Shape;1047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45475" y="2943379"/>
            <a:ext cx="593850" cy="460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8" name="Google Shape;1048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24000" y="3552429"/>
            <a:ext cx="593850" cy="460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9" name="Google Shape;1049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4300" y="1559029"/>
            <a:ext cx="593850" cy="460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0" name="Google Shape;1050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67850" y="2845154"/>
            <a:ext cx="593850" cy="460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1" name="Google Shape;1051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4300" y="3476775"/>
            <a:ext cx="1059725" cy="46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80"/>
          <p:cNvSpPr txBox="1"/>
          <p:nvPr>
            <p:ph idx="2" type="subTitle"/>
          </p:nvPr>
        </p:nvSpPr>
        <p:spPr>
          <a:xfrm>
            <a:off x="2578150" y="-357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Notation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^3&quot;&gt;&lt;msup&gt;&lt;mn&gt;2&lt;/mn&gt;&lt;mn&gt;3&lt;/mn&gt;&lt;/msup&gt;&lt;/math&gt;" id="1057" name="Google Shape;1057;p80" title="2 cub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3654" y="1413182"/>
            <a:ext cx="362885" cy="3420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4&quot;&gt;&lt;msup&gt;&lt;mn&gt;10&lt;/mn&gt;&lt;mn&gt;4&lt;/mn&gt;&lt;/msup&gt;&lt;/math&gt;" id="1058" name="Google Shape;1058;p80" title="10 to the fourth power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2748" y="2750005"/>
            <a:ext cx="548965" cy="4109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^2&quot;&gt;&lt;msup&gt;&lt;mn&gt;9&lt;/mn&gt;&lt;mn&gt;2&lt;/mn&gt;&lt;/msup&gt;&lt;/math&gt;" id="1059" name="Google Shape;1059;p80" title="9 squa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90448" y="1414394"/>
            <a:ext cx="387627" cy="3626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\ \times4&quot;&gt;&lt;mn&gt;10&lt;/mn&gt;&lt;mtext&gt;&lt;/mtext&gt;&lt;mo&gt;×&lt;/mo&gt;&lt;mn&gt;4&lt;/mn&gt;&lt;/math&gt;" id="1060" name="Google Shape;1060;p80" title="10 times 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5012" y="2840053"/>
            <a:ext cx="1119938" cy="297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+2+2&quot;&gt;&lt;mn&gt;2&lt;/mn&gt;&lt;mo&gt;+&lt;/mo&gt;&lt;mn&gt;2&lt;/mn&gt;&lt;mo&gt;+&lt;/mo&gt;&lt;mn&gt;2&lt;/mn&gt;&lt;/math&gt;" id="1061" name="Google Shape;1061;p80" title="2 plus 2 plus 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74470" y="2873528"/>
            <a:ext cx="163830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\times2&quot;&gt;&lt;mn&gt;9&lt;/mn&gt;&lt;mo&gt;×&lt;/mo&gt;&lt;mn&gt;2&lt;/mn&gt;&lt;/math&gt;" id="1062" name="Google Shape;1062;p80" title="9 times 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62893" y="1518475"/>
            <a:ext cx="825525" cy="259988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Google Shape;1063;p80"/>
          <p:cNvSpPr txBox="1"/>
          <p:nvPr>
            <p:ph idx="4294967295" type="body"/>
          </p:nvPr>
        </p:nvSpPr>
        <p:spPr>
          <a:xfrm>
            <a:off x="324000" y="683100"/>
            <a:ext cx="69843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Put these numbers in ascending order, smallest to largest.</a:t>
            </a:r>
            <a:endParaRPr sz="2000"/>
          </a:p>
        </p:txBody>
      </p:sp>
      <p:sp>
        <p:nvSpPr>
          <p:cNvPr id="1064" name="Google Shape;1064;p80"/>
          <p:cNvSpPr txBox="1"/>
          <p:nvPr>
            <p:ph idx="4294967295" type="body"/>
          </p:nvPr>
        </p:nvSpPr>
        <p:spPr>
          <a:xfrm>
            <a:off x="1261888" y="2288538"/>
            <a:ext cx="7212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81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5" name="Google Shape;1065;p80"/>
          <p:cNvSpPr txBox="1"/>
          <p:nvPr>
            <p:ph idx="4294967295" type="body"/>
          </p:nvPr>
        </p:nvSpPr>
        <p:spPr>
          <a:xfrm>
            <a:off x="1018825" y="1855188"/>
            <a:ext cx="1013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9 ✕ 9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6" name="Google Shape;1066;p80"/>
          <p:cNvSpPr txBox="1"/>
          <p:nvPr>
            <p:ph idx="4294967295" type="body"/>
          </p:nvPr>
        </p:nvSpPr>
        <p:spPr>
          <a:xfrm>
            <a:off x="1192138" y="3479063"/>
            <a:ext cx="1013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40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7" name="Google Shape;1067;p80"/>
          <p:cNvSpPr txBox="1"/>
          <p:nvPr>
            <p:ph idx="4294967295" type="body"/>
          </p:nvPr>
        </p:nvSpPr>
        <p:spPr>
          <a:xfrm>
            <a:off x="4179363" y="2131713"/>
            <a:ext cx="7212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8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8" name="Google Shape;1068;p80"/>
          <p:cNvSpPr txBox="1"/>
          <p:nvPr>
            <p:ph idx="4294967295" type="body"/>
          </p:nvPr>
        </p:nvSpPr>
        <p:spPr>
          <a:xfrm>
            <a:off x="3552250" y="1774575"/>
            <a:ext cx="1784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2 ✕ 2 ✕ 2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9" name="Google Shape;1069;p80"/>
          <p:cNvSpPr txBox="1"/>
          <p:nvPr>
            <p:ph idx="4294967295" type="body"/>
          </p:nvPr>
        </p:nvSpPr>
        <p:spPr>
          <a:xfrm>
            <a:off x="7434950" y="1869300"/>
            <a:ext cx="547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18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0" name="Google Shape;1070;p80"/>
          <p:cNvSpPr txBox="1"/>
          <p:nvPr>
            <p:ph idx="4294967295" type="body"/>
          </p:nvPr>
        </p:nvSpPr>
        <p:spPr>
          <a:xfrm>
            <a:off x="3763179" y="3618975"/>
            <a:ext cx="1013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10 000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1" name="Google Shape;1071;p80"/>
          <p:cNvSpPr txBox="1"/>
          <p:nvPr>
            <p:ph idx="4294967295" type="body"/>
          </p:nvPr>
        </p:nvSpPr>
        <p:spPr>
          <a:xfrm>
            <a:off x="3060150" y="3261825"/>
            <a:ext cx="27144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10 ✕ 10 ✕ 10 ✕ 10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2" name="Google Shape;1072;p80"/>
          <p:cNvSpPr txBox="1"/>
          <p:nvPr>
            <p:ph idx="4294967295" type="body"/>
          </p:nvPr>
        </p:nvSpPr>
        <p:spPr>
          <a:xfrm>
            <a:off x="7158900" y="3368550"/>
            <a:ext cx="547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6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2+2+2&quot;&gt;&lt;mn&gt;2&lt;/mn&gt;&lt;mo&gt;+&lt;/mo&gt;&lt;mn&gt;2&lt;/mn&gt;&lt;mo&gt;+&lt;/mo&gt;&lt;mn&gt;2&lt;/mn&gt;&lt;/math&gt;" id="1073" name="Google Shape;1073;p80" title="2 plus 2 plus 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9675" y="4243800"/>
            <a:ext cx="1726143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^3&quot;&gt;&lt;msup&gt;&lt;mn&gt;2&lt;/mn&gt;&lt;mn&gt;3&lt;/mn&gt;&lt;/msup&gt;&lt;/math&gt;" id="1074" name="Google Shape;1074;p80" title="2 cub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8150" y="4197076"/>
            <a:ext cx="419100" cy="4762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\times2&quot;&gt;&lt;mn&gt;9&lt;/mn&gt;&lt;mo&gt;×&lt;/mo&gt;&lt;mn&gt;2&lt;/mn&gt;&lt;/math&gt;" id="1075" name="Google Shape;1075;p80" title="9 times 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49563" y="4307613"/>
            <a:ext cx="10477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\ \times4&quot;&gt;&lt;mn&gt;10&lt;/mn&gt;&lt;mtext&gt;&lt;/mtext&gt;&lt;mo&gt;×&lt;/mo&gt;&lt;mn&gt;4&lt;/mn&gt;&lt;/math&gt;" id="1076" name="Google Shape;1076;p80" title="10 times 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30988" y="4309375"/>
            <a:ext cx="14001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^2&quot;&gt;&lt;msup&gt;&lt;mn&gt;9&lt;/mn&gt;&lt;mn&gt;2&lt;/mn&gt;&lt;/msup&gt;&lt;/math&gt;" id="1077" name="Google Shape;1077;p80" title="9 squa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47325" y="4166650"/>
            <a:ext cx="447675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4&quot;&gt;&lt;msup&gt;&lt;mn&gt;10&lt;/mn&gt;&lt;mn&gt;4&lt;/mn&gt;&lt;/msup&gt;&lt;/math&gt;" id="1078" name="Google Shape;1078;p80" title="10 to the fourth power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4949" y="4183855"/>
            <a:ext cx="635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9" name="Google Shape;1079;p80"/>
          <p:cNvSpPr/>
          <p:nvPr/>
        </p:nvSpPr>
        <p:spPr>
          <a:xfrm>
            <a:off x="1039888" y="1394812"/>
            <a:ext cx="907500" cy="422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80"/>
          <p:cNvSpPr/>
          <p:nvPr/>
        </p:nvSpPr>
        <p:spPr>
          <a:xfrm>
            <a:off x="3899138" y="1390013"/>
            <a:ext cx="907500" cy="422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80"/>
          <p:cNvSpPr/>
          <p:nvPr/>
        </p:nvSpPr>
        <p:spPr>
          <a:xfrm>
            <a:off x="7027737" y="1395529"/>
            <a:ext cx="1127700" cy="422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80"/>
          <p:cNvSpPr/>
          <p:nvPr/>
        </p:nvSpPr>
        <p:spPr>
          <a:xfrm>
            <a:off x="6620752" y="2765688"/>
            <a:ext cx="1918500" cy="470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80"/>
          <p:cNvSpPr/>
          <p:nvPr/>
        </p:nvSpPr>
        <p:spPr>
          <a:xfrm>
            <a:off x="713426" y="2733713"/>
            <a:ext cx="1331700" cy="470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80"/>
          <p:cNvSpPr/>
          <p:nvPr/>
        </p:nvSpPr>
        <p:spPr>
          <a:xfrm>
            <a:off x="3819625" y="2746250"/>
            <a:ext cx="810600" cy="470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80"/>
          <p:cNvSpPr/>
          <p:nvPr/>
        </p:nvSpPr>
        <p:spPr>
          <a:xfrm>
            <a:off x="6485400" y="4144125"/>
            <a:ext cx="721200" cy="588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80"/>
          <p:cNvSpPr/>
          <p:nvPr/>
        </p:nvSpPr>
        <p:spPr>
          <a:xfrm>
            <a:off x="7308425" y="4125075"/>
            <a:ext cx="875100" cy="588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80"/>
          <p:cNvSpPr/>
          <p:nvPr/>
        </p:nvSpPr>
        <p:spPr>
          <a:xfrm>
            <a:off x="4711931" y="4144669"/>
            <a:ext cx="1664700" cy="588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80"/>
          <p:cNvSpPr/>
          <p:nvPr/>
        </p:nvSpPr>
        <p:spPr>
          <a:xfrm>
            <a:off x="3198022" y="4150475"/>
            <a:ext cx="1432200" cy="588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80"/>
          <p:cNvSpPr/>
          <p:nvPr/>
        </p:nvSpPr>
        <p:spPr>
          <a:xfrm>
            <a:off x="2433852" y="4151896"/>
            <a:ext cx="685800" cy="588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80"/>
          <p:cNvSpPr/>
          <p:nvPr/>
        </p:nvSpPr>
        <p:spPr>
          <a:xfrm>
            <a:off x="402450" y="4160819"/>
            <a:ext cx="1953000" cy="588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Notation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2\ \ ,\ 5\ \ ,\ 3\ \ ,\ \ \ \ \ ^2,\ \ \ \ \ \ \ ^{\ \ \ \ }\ &quot;&gt;&lt;mn&gt;2&lt;/mn&gt;&lt;mtext&gt;&lt;/mtext&gt;&lt;mtext&gt;&lt;/mtext&gt;&lt;mo&gt;,&lt;/mo&gt;&lt;mtext&gt;&lt;/mtext&gt;&lt;mn&gt;5&lt;/mn&gt;&lt;mtext&gt;&lt;/mtext&gt;&lt;mtext&gt;&lt;/mtext&gt;&lt;mo&gt;,&lt;/mo&gt;&lt;mtext&gt;&lt;/mtext&gt;&lt;mn&gt;3&lt;/mn&gt;&lt;mtext&gt;&lt;/mtext&gt;&lt;mtext&gt;&lt;/mtext&gt;&lt;mo&gt;,&lt;/mo&gt;&lt;mtext&gt;&lt;/mtext&gt;&lt;mtext&gt;&lt;/mtext&gt;&lt;mtext&gt;&lt;/mtext&gt;&lt;mtext&gt;&lt;/mtext&gt;&lt;msup&gt;&lt;mtext&gt;&lt;/mtext&gt;&lt;mn&gt;2&lt;/mn&gt;&lt;/msup&gt;&lt;mo&gt;,&lt;/mo&gt;&lt;mtext&gt;&lt;/mtext&gt;&lt;mtext&gt;&lt;/mtext&gt;&lt;mtext&gt;&lt;/mtext&gt;&lt;mtext&gt;&lt;/mtext&gt;&lt;mtext&gt;&lt;/mtext&gt;&lt;mtext&gt;&lt;/mtext&gt;&lt;msup&gt;&lt;mtext&gt;&lt;/mtext&gt;&lt;mrow data-mjx-texclass=&quot;ORD&quot;&gt;&lt;mtext&gt;&lt;/mtext&gt;&lt;mtext&gt;&lt;/mtext&gt;&lt;mtext&gt;&lt;/mtext&gt;&lt;mtext&gt;&lt;/mtext&gt;&lt;/mrow&gt;&lt;/msup&gt;&lt;mtext&gt;&lt;/mtext&gt;&lt;/math&gt;" id="1096" name="Google Shape;1096;p81" title="2 comma 5 comma 3 comma squared comma raised to the powe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763" y="1730300"/>
            <a:ext cx="4681420" cy="74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Notation</a:t>
            </a:r>
            <a:endParaRPr/>
          </a:p>
        </p:txBody>
      </p:sp>
      <p:sp>
        <p:nvSpPr>
          <p:cNvPr id="1098" name="Google Shape;1098;p81"/>
          <p:cNvSpPr txBox="1"/>
          <p:nvPr>
            <p:ph idx="4294967295" type="body"/>
          </p:nvPr>
        </p:nvSpPr>
        <p:spPr>
          <a:xfrm>
            <a:off x="324000" y="683100"/>
            <a:ext cx="82377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3) These numbers have been put in ascending order. They are missing an </a:t>
            </a:r>
            <a:r>
              <a:rPr b="1" lang="en-GB" sz="2000"/>
              <a:t>exponent</a:t>
            </a:r>
            <a:r>
              <a:rPr lang="en-GB" sz="2000"/>
              <a:t>, a </a:t>
            </a:r>
            <a:r>
              <a:rPr b="1" lang="en-GB" sz="2000"/>
              <a:t>base </a:t>
            </a:r>
            <a:r>
              <a:rPr lang="en-GB" sz="2000"/>
              <a:t>or both.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a) Fill in the missing numbers using the following:</a:t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b) Try and find a different way to complete part a)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099" name="Google Shape;1099;p81"/>
          <p:cNvSpPr/>
          <p:nvPr/>
        </p:nvSpPr>
        <p:spPr>
          <a:xfrm>
            <a:off x="1468725" y="1652125"/>
            <a:ext cx="384600" cy="387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81"/>
          <p:cNvSpPr/>
          <p:nvPr/>
        </p:nvSpPr>
        <p:spPr>
          <a:xfrm>
            <a:off x="2657513" y="1652125"/>
            <a:ext cx="384600" cy="387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81"/>
          <p:cNvSpPr/>
          <p:nvPr/>
        </p:nvSpPr>
        <p:spPr>
          <a:xfrm>
            <a:off x="6818125" y="1652125"/>
            <a:ext cx="384600" cy="387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81"/>
          <p:cNvSpPr/>
          <p:nvPr/>
        </p:nvSpPr>
        <p:spPr>
          <a:xfrm>
            <a:off x="4591500" y="1730250"/>
            <a:ext cx="750000" cy="74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81"/>
          <p:cNvSpPr/>
          <p:nvPr/>
        </p:nvSpPr>
        <p:spPr>
          <a:xfrm>
            <a:off x="5963100" y="1730250"/>
            <a:ext cx="750000" cy="74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81"/>
          <p:cNvSpPr/>
          <p:nvPr/>
        </p:nvSpPr>
        <p:spPr>
          <a:xfrm>
            <a:off x="3818557" y="1652125"/>
            <a:ext cx="384600" cy="387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81"/>
          <p:cNvSpPr/>
          <p:nvPr/>
        </p:nvSpPr>
        <p:spPr>
          <a:xfrm>
            <a:off x="1880200" y="3256650"/>
            <a:ext cx="750000" cy="74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Lexend"/>
                <a:ea typeface="Lexend"/>
                <a:cs typeface="Lexend"/>
                <a:sym typeface="Lexend"/>
              </a:rPr>
              <a:t>2</a:t>
            </a:r>
            <a:endParaRPr sz="2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81"/>
          <p:cNvSpPr/>
          <p:nvPr/>
        </p:nvSpPr>
        <p:spPr>
          <a:xfrm>
            <a:off x="2710650" y="3256650"/>
            <a:ext cx="750000" cy="74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Lexend"/>
                <a:ea typeface="Lexend"/>
                <a:cs typeface="Lexend"/>
                <a:sym typeface="Lexend"/>
              </a:rPr>
              <a:t>2</a:t>
            </a:r>
            <a:endParaRPr sz="2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81"/>
          <p:cNvSpPr/>
          <p:nvPr/>
        </p:nvSpPr>
        <p:spPr>
          <a:xfrm>
            <a:off x="3541100" y="3256650"/>
            <a:ext cx="750000" cy="74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Lexend"/>
                <a:ea typeface="Lexend"/>
                <a:cs typeface="Lexend"/>
                <a:sym typeface="Lexend"/>
              </a:rPr>
              <a:t>3</a:t>
            </a:r>
            <a:endParaRPr sz="2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81"/>
          <p:cNvSpPr/>
          <p:nvPr/>
        </p:nvSpPr>
        <p:spPr>
          <a:xfrm>
            <a:off x="4371550" y="3256650"/>
            <a:ext cx="750000" cy="74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Lexend"/>
                <a:ea typeface="Lexend"/>
                <a:cs typeface="Lexend"/>
                <a:sym typeface="Lexend"/>
              </a:rPr>
              <a:t>4</a:t>
            </a:r>
            <a:endParaRPr sz="2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81"/>
          <p:cNvSpPr/>
          <p:nvPr/>
        </p:nvSpPr>
        <p:spPr>
          <a:xfrm>
            <a:off x="5202000" y="3256650"/>
            <a:ext cx="750000" cy="74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Lexend"/>
                <a:ea typeface="Lexend"/>
                <a:cs typeface="Lexend"/>
                <a:sym typeface="Lexend"/>
              </a:rPr>
              <a:t>8</a:t>
            </a:r>
            <a:endParaRPr sz="2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0" name="Google Shape;1110;p81"/>
          <p:cNvSpPr/>
          <p:nvPr/>
        </p:nvSpPr>
        <p:spPr>
          <a:xfrm>
            <a:off x="6032450" y="3256650"/>
            <a:ext cx="750000" cy="74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Lexend"/>
                <a:ea typeface="Lexend"/>
                <a:cs typeface="Lexend"/>
                <a:sym typeface="Lexend"/>
              </a:rPr>
              <a:t>10</a:t>
            </a:r>
            <a:endParaRPr sz="29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Notation</a:t>
            </a:r>
            <a:endParaRPr/>
          </a:p>
        </p:txBody>
      </p:sp>
      <p:sp>
        <p:nvSpPr>
          <p:cNvPr id="1116" name="Google Shape;1116;p82"/>
          <p:cNvSpPr txBox="1"/>
          <p:nvPr>
            <p:ph idx="4294967295" type="body"/>
          </p:nvPr>
        </p:nvSpPr>
        <p:spPr>
          <a:xfrm>
            <a:off x="324000" y="683100"/>
            <a:ext cx="82377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3) Fill in the missing numbers using the following:</a:t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17" name="Google Shape;1117;p82"/>
          <p:cNvSpPr/>
          <p:nvPr/>
        </p:nvSpPr>
        <p:spPr>
          <a:xfrm>
            <a:off x="2082900" y="2420950"/>
            <a:ext cx="442500" cy="431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82"/>
          <p:cNvSpPr/>
          <p:nvPr/>
        </p:nvSpPr>
        <p:spPr>
          <a:xfrm>
            <a:off x="3359975" y="2420950"/>
            <a:ext cx="442500" cy="431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82"/>
          <p:cNvSpPr/>
          <p:nvPr/>
        </p:nvSpPr>
        <p:spPr>
          <a:xfrm>
            <a:off x="4676779" y="2420950"/>
            <a:ext cx="442500" cy="431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82"/>
          <p:cNvSpPr/>
          <p:nvPr/>
        </p:nvSpPr>
        <p:spPr>
          <a:xfrm>
            <a:off x="6440082" y="2420950"/>
            <a:ext cx="442500" cy="431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82"/>
          <p:cNvSpPr/>
          <p:nvPr/>
        </p:nvSpPr>
        <p:spPr>
          <a:xfrm>
            <a:off x="8084375" y="2420950"/>
            <a:ext cx="442500" cy="431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82"/>
          <p:cNvSpPr/>
          <p:nvPr/>
        </p:nvSpPr>
        <p:spPr>
          <a:xfrm>
            <a:off x="5537675" y="2417850"/>
            <a:ext cx="750000" cy="74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82"/>
          <p:cNvSpPr/>
          <p:nvPr/>
        </p:nvSpPr>
        <p:spPr>
          <a:xfrm>
            <a:off x="7252075" y="2388600"/>
            <a:ext cx="750000" cy="74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^{\ 3}\ ,\ 5^{\ 2}\ ,\ 3^{\ 4},\ \ 10^{\ \ 2}\ ,\ \ 2\ ^{\ 8}\ &quot;&gt;&lt;msup&gt;&lt;mn&gt;2&lt;/mn&gt;&lt;mrow data-mjx-texclass=&quot;ORD&quot;&gt;&lt;mtext&gt;&lt;/mtext&gt;&lt;mn&gt;3&lt;/mn&gt;&lt;/mrow&gt;&lt;/msup&gt;&lt;mtext&gt;&lt;/mtext&gt;&lt;mo&gt;,&lt;/mo&gt;&lt;mtext&gt;&lt;/mtext&gt;&lt;msup&gt;&lt;mn&gt;5&lt;/mn&gt;&lt;mrow data-mjx-texclass=&quot;ORD&quot;&gt;&lt;mtext&gt;&lt;/mtext&gt;&lt;mn&gt;2&lt;/mn&gt;&lt;/mrow&gt;&lt;/msup&gt;&lt;mtext&gt;&lt;/mtext&gt;&lt;mo&gt;,&lt;/mo&gt;&lt;mtext&gt;&lt;/mtext&gt;&lt;msup&gt;&lt;mn&gt;3&lt;/mn&gt;&lt;mrow data-mjx-texclass=&quot;ORD&quot;&gt;&lt;mtext&gt;&lt;/mtext&gt;&lt;mn&gt;4&lt;/mn&gt;&lt;/mrow&gt;&lt;/msup&gt;&lt;mo&gt;,&lt;/mo&gt;&lt;mtext&gt;&lt;/mtext&gt;&lt;mtext&gt;&lt;/mtext&gt;&lt;msup&gt;&lt;mn&gt;10&lt;/mn&gt;&lt;mrow data-mjx-texclass=&quot;ORD&quot;&gt;&lt;mtext&gt;&lt;/mtext&gt;&lt;mtext&gt;&lt;/mtext&gt;&lt;mn&gt;2&lt;/mn&gt;&lt;/mrow&gt;&lt;/msup&gt;&lt;mtext&gt;&lt;/mtext&gt;&lt;mo&gt;,&lt;/mo&gt;&lt;mtext&gt;&lt;/mtext&gt;&lt;mtext&gt;&lt;/mtext&gt;&lt;mn&gt;2&lt;/mn&gt;&lt;msup&gt;&lt;mtext&gt;&lt;/mtext&gt;&lt;mrow data-mjx-texclass=&quot;ORD&quot;&gt;&lt;mtext&gt;&lt;/mtext&gt;&lt;mn&gt;8&lt;/mn&gt;&lt;/mrow&gt;&lt;/msup&gt;&lt;mtext&gt;&lt;/mtext&gt;&lt;/math&gt;" id="1124" name="Google Shape;1124;p82" title="2 raised to the 3 power comma 5 raised to the 2 power comma 3 raised to the 4 power comma 10 raised to the 2 power comma 2 raised to the 8 powe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8900" y="2464800"/>
            <a:ext cx="662940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5" name="Google Shape;1125;p82"/>
          <p:cNvSpPr txBox="1"/>
          <p:nvPr/>
        </p:nvSpPr>
        <p:spPr>
          <a:xfrm>
            <a:off x="228600" y="2512100"/>
            <a:ext cx="1341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Example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6" name="Google Shape;1126;p82"/>
          <p:cNvSpPr/>
          <p:nvPr/>
        </p:nvSpPr>
        <p:spPr>
          <a:xfrm>
            <a:off x="1991725" y="1174075"/>
            <a:ext cx="750000" cy="74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Lexend"/>
                <a:ea typeface="Lexend"/>
                <a:cs typeface="Lexend"/>
                <a:sym typeface="Lexend"/>
              </a:rPr>
              <a:t>2</a:t>
            </a:r>
            <a:endParaRPr sz="2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7" name="Google Shape;1127;p82"/>
          <p:cNvSpPr/>
          <p:nvPr/>
        </p:nvSpPr>
        <p:spPr>
          <a:xfrm>
            <a:off x="2822175" y="1174075"/>
            <a:ext cx="750000" cy="74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Lexend"/>
                <a:ea typeface="Lexend"/>
                <a:cs typeface="Lexend"/>
                <a:sym typeface="Lexend"/>
              </a:rPr>
              <a:t>2</a:t>
            </a:r>
            <a:endParaRPr sz="2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8" name="Google Shape;1128;p82"/>
          <p:cNvSpPr/>
          <p:nvPr/>
        </p:nvSpPr>
        <p:spPr>
          <a:xfrm>
            <a:off x="3652625" y="1174075"/>
            <a:ext cx="750000" cy="74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Lexend"/>
                <a:ea typeface="Lexend"/>
                <a:cs typeface="Lexend"/>
                <a:sym typeface="Lexend"/>
              </a:rPr>
              <a:t>3</a:t>
            </a:r>
            <a:endParaRPr sz="2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p82"/>
          <p:cNvSpPr/>
          <p:nvPr/>
        </p:nvSpPr>
        <p:spPr>
          <a:xfrm>
            <a:off x="4483075" y="1174075"/>
            <a:ext cx="750000" cy="74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Lexend"/>
                <a:ea typeface="Lexend"/>
                <a:cs typeface="Lexend"/>
                <a:sym typeface="Lexend"/>
              </a:rPr>
              <a:t>4</a:t>
            </a:r>
            <a:endParaRPr sz="2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0" name="Google Shape;1130;p82"/>
          <p:cNvSpPr/>
          <p:nvPr/>
        </p:nvSpPr>
        <p:spPr>
          <a:xfrm>
            <a:off x="5313525" y="1174075"/>
            <a:ext cx="750000" cy="74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Lexend"/>
                <a:ea typeface="Lexend"/>
                <a:cs typeface="Lexend"/>
                <a:sym typeface="Lexend"/>
              </a:rPr>
              <a:t>8</a:t>
            </a:r>
            <a:endParaRPr sz="2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82"/>
          <p:cNvSpPr/>
          <p:nvPr/>
        </p:nvSpPr>
        <p:spPr>
          <a:xfrm>
            <a:off x="6143975" y="1174075"/>
            <a:ext cx="750000" cy="74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Lexend"/>
                <a:ea typeface="Lexend"/>
                <a:cs typeface="Lexend"/>
                <a:sym typeface="Lexend"/>
              </a:rPr>
              <a:t>10</a:t>
            </a:r>
            <a:endParaRPr sz="2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32" name="Google Shape;1132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5125" y="2447100"/>
            <a:ext cx="328460" cy="38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3" name="Google Shape;1133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0950" y="2442850"/>
            <a:ext cx="328460" cy="38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4" name="Google Shape;1134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513" y="2447100"/>
            <a:ext cx="328460" cy="38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5" name="Google Shape;1135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3800" y="2442850"/>
            <a:ext cx="328460" cy="38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6" name="Google Shape;1136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6650" y="2489400"/>
            <a:ext cx="442500" cy="54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7" name="Google Shape;1137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8467" y="2454612"/>
            <a:ext cx="328460" cy="38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8" name="Google Shape;1138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5303" y="2502925"/>
            <a:ext cx="661500" cy="54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83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Notation</a:t>
            </a:r>
            <a:endParaRPr/>
          </a:p>
        </p:txBody>
      </p:sp>
      <p:sp>
        <p:nvSpPr>
          <p:cNvPr id="1144" name="Google Shape;1144;p83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Simplifying using power notation</a:t>
            </a:r>
            <a:endParaRPr/>
          </a:p>
        </p:txBody>
      </p:sp>
      <p:sp>
        <p:nvSpPr>
          <p:cNvPr id="1145" name="Google Shape;1145;p83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Power notation</a:t>
            </a:r>
            <a:endParaRPr/>
          </a:p>
        </p:txBody>
      </p:sp>
      <p:pic>
        <p:nvPicPr>
          <p:cNvPr id="1146" name="Google Shape;1146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75" y="2988857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84"/>
          <p:cNvSpPr txBox="1"/>
          <p:nvPr>
            <p:ph idx="1" type="body"/>
          </p:nvPr>
        </p:nvSpPr>
        <p:spPr>
          <a:xfrm>
            <a:off x="743700" y="1222950"/>
            <a:ext cx="6961800" cy="47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mathematics, it is important to simplify using </a:t>
            </a:r>
            <a:r>
              <a:rPr b="1" lang="en-GB"/>
              <a:t>exponents.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Simplifying using power notation</a:t>
            </a:r>
            <a:endParaRPr/>
          </a:p>
        </p:txBody>
      </p:sp>
      <p:sp>
        <p:nvSpPr>
          <p:cNvPr id="1153" name="Google Shape;1153;p84"/>
          <p:cNvSpPr txBox="1"/>
          <p:nvPr>
            <p:ph idx="1" type="body"/>
          </p:nvPr>
        </p:nvSpPr>
        <p:spPr>
          <a:xfrm>
            <a:off x="1199400" y="2083800"/>
            <a:ext cx="6506100" cy="47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/>
              <a:t>2 ✕ 2 ✕ 2 ✕ 2 ✕ 2 ✕ 2 ✕ 2 ✕ 2 ✕ 2 ✕ 2 </a:t>
            </a:r>
            <a:endParaRPr sz="2600"/>
          </a:p>
        </p:txBody>
      </p:sp>
      <p:pic>
        <p:nvPicPr>
          <p:cNvPr descr="&lt;math xmlns=&quot;http://www.w3.org/1998/Math/MathML&quot; display=&quot;block&quot; data-is-equatio=&quot;1&quot; data-latex=&quot;2^{10}&quot;&gt;&lt;msup&gt;&lt;mn&gt;2&lt;/mn&gt;&lt;mrow data-mjx-texclass=&quot;ORD&quot;&gt;&lt;mn&gt;10&lt;/mn&gt;&lt;/mrow&gt;&lt;/msup&gt;&lt;/math&gt;" id="1154" name="Google Shape;1154;p84" title="2 to the tenth powe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1175" y="3418125"/>
            <a:ext cx="543510" cy="41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5" name="Google Shape;1155;p84"/>
          <p:cNvSpPr txBox="1"/>
          <p:nvPr/>
        </p:nvSpPr>
        <p:spPr>
          <a:xfrm>
            <a:off x="4924421" y="2700000"/>
            <a:ext cx="14976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exponent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 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6" name="Google Shape;1156;p84"/>
          <p:cNvCxnSpPr/>
          <p:nvPr/>
        </p:nvCxnSpPr>
        <p:spPr>
          <a:xfrm flipH="1">
            <a:off x="4365330" y="2921925"/>
            <a:ext cx="559200" cy="4200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7" name="Google Shape;1157;p84"/>
          <p:cNvCxnSpPr/>
          <p:nvPr/>
        </p:nvCxnSpPr>
        <p:spPr>
          <a:xfrm rot="10800000">
            <a:off x="4095375" y="3936025"/>
            <a:ext cx="645900" cy="4197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8" name="Google Shape;1158;p84"/>
          <p:cNvSpPr txBox="1"/>
          <p:nvPr/>
        </p:nvSpPr>
        <p:spPr>
          <a:xfrm>
            <a:off x="4924421" y="3903600"/>
            <a:ext cx="12891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base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85"/>
          <p:cNvSpPr txBox="1"/>
          <p:nvPr>
            <p:ph idx="1" type="body"/>
          </p:nvPr>
        </p:nvSpPr>
        <p:spPr>
          <a:xfrm>
            <a:off x="743700" y="1222950"/>
            <a:ext cx="7465500" cy="47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</a:t>
            </a:r>
            <a:r>
              <a:rPr b="1" lang="en-GB"/>
              <a:t>exponents</a:t>
            </a:r>
            <a:r>
              <a:rPr lang="en-GB"/>
              <a:t>, what do you think this simplifies to?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Simplifying using power notation</a:t>
            </a:r>
            <a:endParaRPr/>
          </a:p>
        </p:txBody>
      </p:sp>
      <p:sp>
        <p:nvSpPr>
          <p:cNvPr id="1165" name="Google Shape;1165;p85"/>
          <p:cNvSpPr txBox="1"/>
          <p:nvPr>
            <p:ph idx="1" type="body"/>
          </p:nvPr>
        </p:nvSpPr>
        <p:spPr>
          <a:xfrm>
            <a:off x="2071175" y="1864800"/>
            <a:ext cx="4956300" cy="47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/>
              <a:t>2 ✕ 2 ✕ 2 ✕ 2 ✕ 5 ✕ 5 ✕ 5</a:t>
            </a:r>
            <a:endParaRPr sz="2600"/>
          </a:p>
        </p:txBody>
      </p:sp>
      <p:pic>
        <p:nvPicPr>
          <p:cNvPr descr="&lt;math xmlns=&quot;http://www.w3.org/1998/Math/MathML&quot; display=&quot;block&quot; data-is-equatio=&quot;1&quot; data-latex=&quot;2^4\times5^3&quot;&gt;&lt;msup&gt;&lt;mn&gt;2&lt;/mn&gt;&lt;mn&gt;4&lt;/mn&gt;&lt;/msup&gt;&lt;mo&gt;×&lt;/mo&gt;&lt;msup&gt;&lt;mn&gt;5&lt;/mn&gt;&lt;mn&gt;3&lt;/mn&gt;&lt;/msup&gt;&lt;/math&gt;" id="1166" name="Google Shape;1166;p85" title="2 to the fourth power times 5 cub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5225" y="2934000"/>
            <a:ext cx="1863222" cy="61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7" name="Google Shape;1167;p85"/>
          <p:cNvGrpSpPr/>
          <p:nvPr/>
        </p:nvGrpSpPr>
        <p:grpSpPr>
          <a:xfrm>
            <a:off x="2071175" y="2305650"/>
            <a:ext cx="2115000" cy="514725"/>
            <a:chOff x="2071175" y="2438175"/>
            <a:chExt cx="2115000" cy="514725"/>
          </a:xfrm>
        </p:grpSpPr>
        <p:cxnSp>
          <p:nvCxnSpPr>
            <p:cNvPr id="1168" name="Google Shape;1168;p85"/>
            <p:cNvCxnSpPr/>
            <p:nvPr/>
          </p:nvCxnSpPr>
          <p:spPr>
            <a:xfrm flipH="1" rot="10800000">
              <a:off x="2071175" y="2438175"/>
              <a:ext cx="2115000" cy="114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9" name="Google Shape;1169;p85"/>
            <p:cNvCxnSpPr/>
            <p:nvPr/>
          </p:nvCxnSpPr>
          <p:spPr>
            <a:xfrm>
              <a:off x="3072025" y="2446800"/>
              <a:ext cx="292200" cy="5061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70" name="Google Shape;1170;p85"/>
          <p:cNvGrpSpPr/>
          <p:nvPr/>
        </p:nvGrpSpPr>
        <p:grpSpPr>
          <a:xfrm>
            <a:off x="4572001" y="2286000"/>
            <a:ext cx="1570200" cy="502200"/>
            <a:chOff x="4572001" y="2418525"/>
            <a:chExt cx="1570200" cy="502200"/>
          </a:xfrm>
        </p:grpSpPr>
        <p:cxnSp>
          <p:nvCxnSpPr>
            <p:cNvPr id="1171" name="Google Shape;1171;p85"/>
            <p:cNvCxnSpPr/>
            <p:nvPr/>
          </p:nvCxnSpPr>
          <p:spPr>
            <a:xfrm flipH="1" rot="10800000">
              <a:off x="4572001" y="2418525"/>
              <a:ext cx="1570200" cy="114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2" name="Google Shape;1172;p85"/>
            <p:cNvCxnSpPr/>
            <p:nvPr/>
          </p:nvCxnSpPr>
          <p:spPr>
            <a:xfrm flipH="1">
              <a:off x="4819925" y="2418525"/>
              <a:ext cx="426600" cy="5022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173" name="Google Shape;1173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9025" y="2933250"/>
            <a:ext cx="7239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4" name="Google Shape;1174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2050" y="2933250"/>
            <a:ext cx="7239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85"/>
          <p:cNvSpPr txBox="1"/>
          <p:nvPr>
            <p:ph idx="1" type="body"/>
          </p:nvPr>
        </p:nvSpPr>
        <p:spPr>
          <a:xfrm>
            <a:off x="816575" y="3843300"/>
            <a:ext cx="7465500" cy="47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 is convention to put the </a:t>
            </a:r>
            <a:r>
              <a:rPr b="1" lang="en-GB"/>
              <a:t>bases</a:t>
            </a:r>
            <a:r>
              <a:rPr lang="en-GB"/>
              <a:t> in ascending order.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86"/>
          <p:cNvSpPr txBox="1"/>
          <p:nvPr>
            <p:ph idx="1" type="body"/>
          </p:nvPr>
        </p:nvSpPr>
        <p:spPr>
          <a:xfrm>
            <a:off x="743700" y="1222950"/>
            <a:ext cx="7465500" cy="47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</a:t>
            </a:r>
            <a:r>
              <a:rPr b="1" lang="en-GB"/>
              <a:t>exponents</a:t>
            </a:r>
            <a:r>
              <a:rPr lang="en-GB"/>
              <a:t>, what do you think this simplifies to?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Simplifying using power notation</a:t>
            </a:r>
            <a:endParaRPr/>
          </a:p>
        </p:txBody>
      </p:sp>
      <p:cxnSp>
        <p:nvCxnSpPr>
          <p:cNvPr id="1182" name="Google Shape;1182;p86"/>
          <p:cNvCxnSpPr/>
          <p:nvPr/>
        </p:nvCxnSpPr>
        <p:spPr>
          <a:xfrm>
            <a:off x="2375975" y="2123625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3" name="Google Shape;1183;p86"/>
          <p:cNvSpPr txBox="1"/>
          <p:nvPr>
            <p:ph idx="1" type="body"/>
          </p:nvPr>
        </p:nvSpPr>
        <p:spPr>
          <a:xfrm>
            <a:off x="2375975" y="1885275"/>
            <a:ext cx="4956300" cy="47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/>
              <a:t>3 ✕ 7 ✕ 7 ✕ 3 ✕ 7 ✕ 5 ✕ 5</a:t>
            </a:r>
            <a:endParaRPr sz="2600"/>
          </a:p>
        </p:txBody>
      </p:sp>
      <p:sp>
        <p:nvSpPr>
          <p:cNvPr id="1184" name="Google Shape;1184;p86"/>
          <p:cNvSpPr txBox="1"/>
          <p:nvPr>
            <p:ph idx="1" type="body"/>
          </p:nvPr>
        </p:nvSpPr>
        <p:spPr>
          <a:xfrm>
            <a:off x="2375975" y="1866450"/>
            <a:ext cx="4956300" cy="476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/>
              <a:t>3 ✕ 3 ✕ 5 ✕ 5 ✕ 7 ✕ 7 </a:t>
            </a:r>
            <a:r>
              <a:rPr lang="en-GB" sz="2600"/>
              <a:t>✕ 7</a:t>
            </a:r>
            <a:endParaRPr sz="2600"/>
          </a:p>
        </p:txBody>
      </p:sp>
      <p:grpSp>
        <p:nvGrpSpPr>
          <p:cNvPr id="1185" name="Google Shape;1185;p86"/>
          <p:cNvGrpSpPr/>
          <p:nvPr/>
        </p:nvGrpSpPr>
        <p:grpSpPr>
          <a:xfrm>
            <a:off x="2223478" y="2285775"/>
            <a:ext cx="1115451" cy="514725"/>
            <a:chOff x="2071175" y="2438175"/>
            <a:chExt cx="2115000" cy="514725"/>
          </a:xfrm>
        </p:grpSpPr>
        <p:cxnSp>
          <p:nvCxnSpPr>
            <p:cNvPr id="1186" name="Google Shape;1186;p86"/>
            <p:cNvCxnSpPr/>
            <p:nvPr/>
          </p:nvCxnSpPr>
          <p:spPr>
            <a:xfrm flipH="1" rot="10800000">
              <a:off x="2071175" y="2438175"/>
              <a:ext cx="2115000" cy="114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7" name="Google Shape;1187;p86"/>
            <p:cNvCxnSpPr/>
            <p:nvPr/>
          </p:nvCxnSpPr>
          <p:spPr>
            <a:xfrm>
              <a:off x="3072025" y="2446800"/>
              <a:ext cx="292200" cy="5061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88" name="Google Shape;1188;p86"/>
          <p:cNvGrpSpPr/>
          <p:nvPr/>
        </p:nvGrpSpPr>
        <p:grpSpPr>
          <a:xfrm>
            <a:off x="3509353" y="2285775"/>
            <a:ext cx="1115451" cy="525825"/>
            <a:chOff x="2071175" y="2438175"/>
            <a:chExt cx="2115000" cy="525825"/>
          </a:xfrm>
        </p:grpSpPr>
        <p:cxnSp>
          <p:nvCxnSpPr>
            <p:cNvPr id="1189" name="Google Shape;1189;p86"/>
            <p:cNvCxnSpPr/>
            <p:nvPr/>
          </p:nvCxnSpPr>
          <p:spPr>
            <a:xfrm flipH="1" rot="10800000">
              <a:off x="2071175" y="2438175"/>
              <a:ext cx="2115000" cy="114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0" name="Google Shape;1190;p86"/>
            <p:cNvCxnSpPr/>
            <p:nvPr/>
          </p:nvCxnSpPr>
          <p:spPr>
            <a:xfrm>
              <a:off x="3072025" y="2446800"/>
              <a:ext cx="31800" cy="5172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91" name="Google Shape;1191;p86"/>
          <p:cNvGrpSpPr/>
          <p:nvPr/>
        </p:nvGrpSpPr>
        <p:grpSpPr>
          <a:xfrm>
            <a:off x="4876787" y="2285775"/>
            <a:ext cx="1454063" cy="507825"/>
            <a:chOff x="2071175" y="2438175"/>
            <a:chExt cx="2115000" cy="507825"/>
          </a:xfrm>
        </p:grpSpPr>
        <p:cxnSp>
          <p:nvCxnSpPr>
            <p:cNvPr id="1192" name="Google Shape;1192;p86"/>
            <p:cNvCxnSpPr/>
            <p:nvPr/>
          </p:nvCxnSpPr>
          <p:spPr>
            <a:xfrm flipH="1" rot="10800000">
              <a:off x="2071175" y="2438175"/>
              <a:ext cx="2115000" cy="114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3" name="Google Shape;1193;p86"/>
            <p:cNvCxnSpPr/>
            <p:nvPr/>
          </p:nvCxnSpPr>
          <p:spPr>
            <a:xfrm flipH="1">
              <a:off x="2800525" y="2446800"/>
              <a:ext cx="271500" cy="4992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&lt;math xmlns=&quot;http://www.w3.org/1998/Math/MathML&quot; display=&quot;block&quot; data-is-equatio=&quot;1&quot; data-latex=&quot;3^2\times5^2\times7^3&quot;&gt;&lt;msup&gt;&lt;mn&gt;3&lt;/mn&gt;&lt;mn&gt;2&lt;/mn&gt;&lt;/msup&gt;&lt;mo&gt;×&lt;/mo&gt;&lt;msup&gt;&lt;mn&gt;5&lt;/mn&gt;&lt;mn&gt;2&lt;/mn&gt;&lt;/msup&gt;&lt;mo&gt;×&lt;/mo&gt;&lt;msup&gt;&lt;mn&gt;7&lt;/mn&gt;&lt;mn&gt;3&lt;/mn&gt;&lt;/msup&gt;&lt;/math&gt;" id="1194" name="Google Shape;1194;p86" title="3 squared times 5 squared times 7 cub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6350" y="2826187"/>
            <a:ext cx="2454122" cy="4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86"/>
          <p:cNvSpPr txBox="1"/>
          <p:nvPr>
            <p:ph idx="1" type="body"/>
          </p:nvPr>
        </p:nvSpPr>
        <p:spPr>
          <a:xfrm>
            <a:off x="816575" y="3843300"/>
            <a:ext cx="7465500" cy="47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 is convention to put the </a:t>
            </a:r>
            <a:r>
              <a:rPr b="1" lang="en-GB"/>
              <a:t>bases</a:t>
            </a:r>
            <a:r>
              <a:rPr lang="en-GB"/>
              <a:t> in ascending order.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87"/>
          <p:cNvSpPr txBox="1"/>
          <p:nvPr>
            <p:ph idx="4294967295" type="title"/>
          </p:nvPr>
        </p:nvSpPr>
        <p:spPr>
          <a:xfrm>
            <a:off x="324000" y="748775"/>
            <a:ext cx="6978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S</a:t>
            </a:r>
            <a:r>
              <a:rPr b="0" lang="en-GB"/>
              <a:t>implify the following using </a:t>
            </a:r>
            <a:r>
              <a:rPr lang="en-GB"/>
              <a:t>exponents</a:t>
            </a:r>
            <a:r>
              <a:rPr b="0" lang="en-GB"/>
              <a:t>: </a:t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b="0" lang="en-GB" sz="2600"/>
              <a:t> 2 ✕ 2 ✕ 2 ✕ 3 ✕ 3 ✕ 3 ✕ 3  =</a:t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b="0" lang="en-GB" sz="2600"/>
              <a:t> 2 ✕ 5 ✕ 5 ✕ 7 ✕ 7 ✕ 7 ✕ 7  = </a:t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c)</a:t>
            </a:r>
            <a:r>
              <a:rPr b="0" lang="en-GB" sz="2600"/>
              <a:t> 6 ✕ 8 ✕ 6 ✕ 8 ✕ 6 ✕ 8 ✕ 6  =</a:t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d) </a:t>
            </a:r>
            <a:r>
              <a:rPr b="0" lang="en-GB" sz="2600"/>
              <a:t> 3 ✕ 4 ✕ 4 ✕ 5 ✕ 4 ✕ 4 ✕ 4 ✕ 3 ✕ 3  = </a:t>
            </a:r>
            <a:endParaRPr b="0"/>
          </a:p>
        </p:txBody>
      </p:sp>
      <p:sp>
        <p:nvSpPr>
          <p:cNvPr id="1201" name="Google Shape;1201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Simplifying using power notation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^3\times3^4&quot;&gt;&lt;msup&gt;&lt;mn&gt;2&lt;/mn&gt;&lt;mn&gt;3&lt;/mn&gt;&lt;/msup&gt;&lt;mo&gt;×&lt;/mo&gt;&lt;msup&gt;&lt;mn&gt;3&lt;/mn&gt;&lt;mn&gt;4&lt;/mn&gt;&lt;/msup&gt;&lt;/math&gt;" id="1202" name="Google Shape;1202;p87" title="2 cubed times 3 to the fourth powe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3360" y="1502650"/>
            <a:ext cx="1186592" cy="3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times5^2\times7^4&quot;&gt;&lt;mn&gt;2&lt;/mn&gt;&lt;mo&gt;×&lt;/mo&gt;&lt;msup&gt;&lt;mn&gt;5&lt;/mn&gt;&lt;mn&gt;2&lt;/mn&gt;&lt;/msup&gt;&lt;mo&gt;×&lt;/mo&gt;&lt;msup&gt;&lt;mn&gt;7&lt;/mn&gt;&lt;mn&gt;4&lt;/mn&gt;&lt;/msup&gt;&lt;/math&gt;" id="1203" name="Google Shape;1203;p87" title="2 times 5 squared times 7 to the fourth power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8263" y="2339188"/>
            <a:ext cx="1837074" cy="3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^4\times8^3&quot;&gt;&lt;msup&gt;&lt;mn&gt;6&lt;/mn&gt;&lt;mn&gt;4&lt;/mn&gt;&lt;/msup&gt;&lt;mo&gt;×&lt;/mo&gt;&lt;msup&gt;&lt;mn&gt;8&lt;/mn&gt;&lt;mn&gt;3&lt;/mn&gt;&lt;/msup&gt;&lt;/math&gt;" id="1204" name="Google Shape;1204;p87" title="6 to the fourth power times 8 cub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88250" y="3175725"/>
            <a:ext cx="1172296" cy="3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^3\times4^5\times5&quot;&gt;&lt;msup&gt;&lt;mn&gt;3&lt;/mn&gt;&lt;mn&gt;3&lt;/mn&gt;&lt;/msup&gt;&lt;mo&gt;×&lt;/mo&gt;&lt;msup&gt;&lt;mn&gt;4&lt;/mn&gt;&lt;mn&gt;5&lt;/mn&gt;&lt;/msup&gt;&lt;mo&gt;×&lt;/mo&gt;&lt;mn&gt;5&lt;/mn&gt;&lt;/math&gt;" id="1205" name="Google Shape;1205;p87" title="3 cubed times 4 to the fifth power times 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70488" y="3998725"/>
            <a:ext cx="1837125" cy="386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8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Aisha says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Explain why Aisha is incorrect.</a:t>
            </a:r>
            <a:endParaRPr/>
          </a:p>
        </p:txBody>
      </p:sp>
      <p:sp>
        <p:nvSpPr>
          <p:cNvPr id="1211" name="Google Shape;1211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Simplifying using power notation</a:t>
            </a:r>
            <a:endParaRPr/>
          </a:p>
        </p:txBody>
      </p:sp>
      <p:pic>
        <p:nvPicPr>
          <p:cNvPr id="1212" name="Google Shape;1212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3300" y="1299304"/>
            <a:ext cx="1027791" cy="194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3" name="Google Shape;1213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4875" y="759300"/>
            <a:ext cx="4956826" cy="1812449"/>
          </a:xfrm>
          <a:prstGeom prst="rect">
            <a:avLst/>
          </a:prstGeom>
          <a:noFill/>
          <a:ln>
            <a:noFill/>
          </a:ln>
        </p:spPr>
      </p:pic>
      <p:sp>
        <p:nvSpPr>
          <p:cNvPr id="1214" name="Google Shape;1214;p88"/>
          <p:cNvSpPr txBox="1"/>
          <p:nvPr>
            <p:ph idx="1" type="body"/>
          </p:nvPr>
        </p:nvSpPr>
        <p:spPr>
          <a:xfrm>
            <a:off x="5334875" y="1451700"/>
            <a:ext cx="2139300" cy="47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simplified is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\times5^2&quot;&gt;&lt;mn&gt;2&lt;/mn&gt;&lt;mo&gt;×&lt;/mo&gt;&lt;msup&gt;&lt;mn&gt;5&lt;/mn&gt;&lt;mn&gt;2&lt;/mn&gt;&lt;/msup&gt;&lt;/math&gt;" id="1215" name="Google Shape;1215;p88" title="2 times 5 squa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85625" y="1285238"/>
            <a:ext cx="131445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2&quot;&gt;&lt;msup&gt;&lt;mn&gt;10&lt;/mn&gt;&lt;mn&gt;2&lt;/mn&gt;&lt;/msup&gt;&lt;/math&gt;" id="1216" name="Google Shape;1216;p88" title="10 squar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87500" y="1291388"/>
            <a:ext cx="676275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7" name="Google Shape;1217;p88"/>
          <p:cNvSpPr txBox="1"/>
          <p:nvPr>
            <p:ph idx="1" type="body"/>
          </p:nvPr>
        </p:nvSpPr>
        <p:spPr>
          <a:xfrm>
            <a:off x="1183575" y="3780000"/>
            <a:ext cx="28392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 = 2 ✕ 5 ✕ 5 = 50.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8" name="Google Shape;1218;p88"/>
          <p:cNvSpPr txBox="1"/>
          <p:nvPr>
            <p:ph idx="1" type="body"/>
          </p:nvPr>
        </p:nvSpPr>
        <p:spPr>
          <a:xfrm>
            <a:off x="1265100" y="4284900"/>
            <a:ext cx="28392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 10 ✕ 10 = 100.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2\times5^2&quot;&gt;&lt;mn&gt;2&lt;/mn&gt;&lt;mo&gt;×&lt;/mo&gt;&lt;msup&gt;&lt;mn&gt;5&lt;/mn&gt;&lt;mn&gt;2&lt;/mn&gt;&lt;/msup&gt;&lt;/math&gt;" id="1219" name="Google Shape;1219;p88" title="2 times 5 squa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500" y="3779999"/>
            <a:ext cx="813075" cy="31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2&quot;&gt;&lt;msup&gt;&lt;mn&gt;10&lt;/mn&gt;&lt;mn&gt;2&lt;/mn&gt;&lt;/msup&gt;&lt;/math&gt;" id="1220" name="Google Shape;1220;p88" title="10 squar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4100" y="4284925"/>
            <a:ext cx="418331" cy="31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8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Jacob says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Is Jacob correct? Explain.</a:t>
            </a:r>
            <a:endParaRPr/>
          </a:p>
        </p:txBody>
      </p:sp>
      <p:sp>
        <p:nvSpPr>
          <p:cNvPr id="1226" name="Google Shape;1226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Simplifying using power notation</a:t>
            </a:r>
            <a:endParaRPr/>
          </a:p>
        </p:txBody>
      </p:sp>
      <p:pic>
        <p:nvPicPr>
          <p:cNvPr id="1227" name="Google Shape;1227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0400" y="759300"/>
            <a:ext cx="6411300" cy="216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8" name="Google Shape;1228;p89"/>
          <p:cNvSpPr txBox="1"/>
          <p:nvPr>
            <p:ph idx="1" type="body"/>
          </p:nvPr>
        </p:nvSpPr>
        <p:spPr>
          <a:xfrm>
            <a:off x="4502575" y="1527900"/>
            <a:ext cx="2139300" cy="47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simplified is</a:t>
            </a:r>
            <a:endParaRPr/>
          </a:p>
        </p:txBody>
      </p:sp>
      <p:sp>
        <p:nvSpPr>
          <p:cNvPr id="1229" name="Google Shape;1229;p89"/>
          <p:cNvSpPr txBox="1"/>
          <p:nvPr>
            <p:ph idx="1" type="body"/>
          </p:nvPr>
        </p:nvSpPr>
        <p:spPr>
          <a:xfrm>
            <a:off x="3317175" y="3856200"/>
            <a:ext cx="4887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 = 7 ✕ 7 ✕ 8 ✕ 8 ✕ 7 ✕ 7 ✕ 8 ✕ 8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230" name="Google Shape;1230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500" y="1370425"/>
            <a:ext cx="1079357" cy="13295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7^2\times8^2\times7^2\times8^2&quot;&gt;&lt;msup&gt;&lt;mn&gt;7&lt;/mn&gt;&lt;mn&gt;2&lt;/mn&gt;&lt;/msup&gt;&lt;mo&gt;×&lt;/mo&gt;&lt;msup&gt;&lt;mn&gt;8&lt;/mn&gt;&lt;mn&gt;2&lt;/mn&gt;&lt;/msup&gt;&lt;mo&gt;×&lt;/mo&gt;&lt;msup&gt;&lt;mn&gt;7&lt;/mn&gt;&lt;mn&gt;2&lt;/mn&gt;&lt;/msup&gt;&lt;mo&gt;×&lt;/mo&gt;&lt;msup&gt;&lt;mn&gt;8&lt;/mn&gt;&lt;mn&gt;2&lt;/mn&gt;&lt;/msup&gt;&lt;/math&gt;" id="1231" name="Google Shape;1231;p89" title="7 squared times 8 squared times 7 squared times 8 squa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5225" y="3806831"/>
            <a:ext cx="2487000" cy="3374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7^4\times8^4&quot;&gt;&lt;msup&gt;&lt;mn&gt;7&lt;/mn&gt;&lt;mn&gt;4&lt;/mn&gt;&lt;/msup&gt;&lt;mo&gt;×&lt;/mo&gt;&lt;msup&gt;&lt;mn&gt;8&lt;/mn&gt;&lt;mn&gt;4&lt;/mn&gt;&lt;/msup&gt;&lt;/math&gt;" id="1232" name="Google Shape;1232;p89" title="7 to the fourth power times 8 to the fourth power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65463" y="1925000"/>
            <a:ext cx="158117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7^2\times8^2\times7^2\times8^2&quot;&gt;&lt;msup&gt;&lt;mn&gt;7&lt;/mn&gt;&lt;mn&gt;2&lt;/mn&gt;&lt;/msup&gt;&lt;mo&gt;×&lt;/mo&gt;&lt;msup&gt;&lt;mn&gt;8&lt;/mn&gt;&lt;mn&gt;2&lt;/mn&gt;&lt;/msup&gt;&lt;mo&gt;×&lt;/mo&gt;&lt;msup&gt;&lt;mn&gt;7&lt;/mn&gt;&lt;mn&gt;2&lt;/mn&gt;&lt;/msup&gt;&lt;mo&gt;×&lt;/mo&gt;&lt;msup&gt;&lt;mn&gt;8&lt;/mn&gt;&lt;mn&gt;2&lt;/mn&gt;&lt;/msup&gt;&lt;/math&gt;" id="1233" name="Google Shape;1233;p89" title="7 squared times 8 squared times 7 squared times 8 squa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2225" y="861150"/>
            <a:ext cx="37909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4" name="Google Shape;1234;p89"/>
          <p:cNvSpPr txBox="1"/>
          <p:nvPr>
            <p:ph idx="1" type="body"/>
          </p:nvPr>
        </p:nvSpPr>
        <p:spPr>
          <a:xfrm>
            <a:off x="836200" y="4320000"/>
            <a:ext cx="77673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Yes Jacob is correct because i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t is the same as            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7^4\times8^4&quot;&gt;&lt;msup&gt;&lt;mn&gt;7&lt;/mn&gt;&lt;mn&gt;4&lt;/mn&gt;&lt;/msup&gt;&lt;mo&gt;×&lt;/mo&gt;&lt;msup&gt;&lt;mn&gt;8&lt;/mn&gt;&lt;mn&gt;4&lt;/mn&gt;&lt;/msup&gt;&lt;/math&gt;" id="1235" name="Google Shape;1235;p89" title="7 to the fourth power times 8 to the fourth power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57637" y="4320000"/>
            <a:ext cx="866875" cy="28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Simplifying using power notation</a:t>
            </a:r>
            <a:endParaRPr/>
          </a:p>
        </p:txBody>
      </p:sp>
      <p:sp>
        <p:nvSpPr>
          <p:cNvPr id="1241" name="Google Shape;1241;p9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Simplify the following using </a:t>
            </a:r>
            <a:r>
              <a:rPr b="1" lang="en-GB"/>
              <a:t>exponents</a:t>
            </a:r>
            <a:r>
              <a:rPr lang="en-GB"/>
              <a:t>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\ \times2\ \times\ 2\ \times\ 3\ \times3\ \times3\times3\ =2^{3\ }\times\ 3^4&quot;&gt;&lt;mn&gt;2&lt;/mn&gt;&lt;mtext&gt;&lt;/mtext&gt;&lt;mo&gt;×&lt;/mo&gt;&lt;mn&gt;2&lt;/mn&gt;&lt;mtext&gt;&lt;/mtext&gt;&lt;mo&gt;×&lt;/mo&gt;&lt;mtext&gt;&lt;/mtext&gt;&lt;mn&gt;2&lt;/mn&gt;&lt;mtext&gt;&lt;/mtext&gt;&lt;mo&gt;×&lt;/mo&gt;&lt;mtext&gt;&lt;/mtext&gt;&lt;mn&gt;3&lt;/mn&gt;&lt;mtext&gt;&lt;/mtext&gt;&lt;mo&gt;×&lt;/mo&gt;&lt;mn&gt;3&lt;/mn&gt;&lt;mtext&gt;&lt;/mtext&gt;&lt;mo&gt;×&lt;/mo&gt;&lt;mn&gt;3&lt;/mn&gt;&lt;mo&gt;×&lt;/mo&gt;&lt;mn&gt;3&lt;/mn&gt;&lt;mtext&gt;&lt;/mtext&gt;&lt;mo&gt;=&lt;/mo&gt;&lt;msup&gt;&lt;mn&gt;2&lt;/mn&gt;&lt;mrow data-mjx-texclass=&quot;ORD&quot;&gt;&lt;mn&gt;3&lt;/mn&gt;&lt;mtext&gt;&lt;/mtext&gt;&lt;/mrow&gt;&lt;/msup&gt;&lt;mo&gt;×&lt;/mo&gt;&lt;mtext&gt;&lt;/mtext&gt;&lt;msup&gt;&lt;mn&gt;3&lt;/mn&gt;&lt;mn&gt;4&lt;/mn&gt;&lt;/msup&gt;&lt;/math&gt;" id="1242" name="Google Shape;1242;p90" title="2 times 2 times 2 times 3 times 3 times 3 times 3 equals 2 raised to the 3 power times 3 to the fourth power"/>
          <p:cNvPicPr preferRelativeResize="0"/>
          <p:nvPr/>
        </p:nvPicPr>
        <p:blipFill rotWithShape="1">
          <a:blip r:embed="rId3">
            <a:alphaModFix/>
          </a:blip>
          <a:srcRect b="0" l="0" r="27922" t="0"/>
          <a:stretch/>
        </p:blipFill>
        <p:spPr>
          <a:xfrm>
            <a:off x="717450" y="1622200"/>
            <a:ext cx="4322884" cy="3345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 \times2\ \times\ 2\ \times\ 2\ \times\ 3\ \times3\times\ 3\ \times3\ \times3\times3\ =2^{4\ }\times\ 3^6&quot;&gt;&lt;mn&gt;2&lt;/mn&gt;&lt;mtext&gt;&lt;/mtext&gt;&lt;mo&gt;×&lt;/mo&gt;&lt;mn&gt;2&lt;/mn&gt;&lt;mtext&gt;&lt;/mtext&gt;&lt;mo&gt;×&lt;/mo&gt;&lt;mtext&gt;&lt;/mtext&gt;&lt;mn&gt;2&lt;/mn&gt;&lt;mtext&gt;&lt;/mtext&gt;&lt;mo&gt;×&lt;/mo&gt;&lt;mtext&gt;&lt;/mtext&gt;&lt;mn&gt;2&lt;/mn&gt;&lt;mtext&gt;&lt;/mtext&gt;&lt;mo&gt;×&lt;/mo&gt;&lt;mtext&gt;&lt;/mtext&gt;&lt;mn&gt;3&lt;/mn&gt;&lt;mtext&gt;&lt;/mtext&gt;&lt;mo&gt;×&lt;/mo&gt;&lt;mn&gt;3&lt;/mn&gt;&lt;mo&gt;×&lt;/mo&gt;&lt;mtext&gt;&lt;/mtext&gt;&lt;mn&gt;3&lt;/mn&gt;&lt;mtext&gt;&lt;/mtext&gt;&lt;mo&gt;×&lt;/mo&gt;&lt;mn&gt;3&lt;/mn&gt;&lt;mtext&gt;&lt;/mtext&gt;&lt;mo&gt;×&lt;/mo&gt;&lt;mn&gt;3&lt;/mn&gt;&lt;mo&gt;×&lt;/mo&gt;&lt;mn&gt;3&lt;/mn&gt;&lt;mtext&gt;&lt;/mtext&gt;&lt;mo&gt;=&lt;/mo&gt;&lt;msup&gt;&lt;mn&gt;2&lt;/mn&gt;&lt;mrow data-mjx-texclass=&quot;ORD&quot;&gt;&lt;mn&gt;4&lt;/mn&gt;&lt;mtext&gt;&lt;/mtext&gt;&lt;/mrow&gt;&lt;/msup&gt;&lt;mo&gt;×&lt;/mo&gt;&lt;mtext&gt;&lt;/mtext&gt;&lt;msup&gt;&lt;mn&gt;3&lt;/mn&gt;&lt;mn&gt;6&lt;/mn&gt;&lt;/msup&gt;&lt;/math&gt;" id="1243" name="Google Shape;1243;p90" title="2 times 2 times 2 times 2 times 3 times 3 times 3 times 3 times 3 times 3 equals 2 raised to the 4 power times 3 to the sixth power"/>
          <p:cNvPicPr preferRelativeResize="0"/>
          <p:nvPr/>
        </p:nvPicPr>
        <p:blipFill rotWithShape="1">
          <a:blip r:embed="rId4">
            <a:alphaModFix/>
          </a:blip>
          <a:srcRect b="0" l="0" r="21179" t="0"/>
          <a:stretch/>
        </p:blipFill>
        <p:spPr>
          <a:xfrm>
            <a:off x="655774" y="2672225"/>
            <a:ext cx="6425277" cy="34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 \times2\ \times\ 2\ \times\ 5\ \times\ 5\ \times5\times\ 3\ \times2\ \times3\times3\ =2^{3\ }\times\ 3^3\times\ 5^4&quot;&gt;&lt;mn&gt;5&lt;/mn&gt;&lt;mtext&gt;&lt;/mtext&gt;&lt;mo&gt;×&lt;/mo&gt;&lt;mn&gt;2&lt;/mn&gt;&lt;mtext&gt;&lt;/mtext&gt;&lt;mo&gt;×&lt;/mo&gt;&lt;mtext&gt;&lt;/mtext&gt;&lt;mn&gt;2&lt;/mn&gt;&lt;mtext&gt;&lt;/mtext&gt;&lt;mo&gt;×&lt;/mo&gt;&lt;mtext&gt;&lt;/mtext&gt;&lt;mn&gt;5&lt;/mn&gt;&lt;mtext&gt;&lt;/mtext&gt;&lt;mo&gt;×&lt;/mo&gt;&lt;mtext&gt;&lt;/mtext&gt;&lt;mn&gt;5&lt;/mn&gt;&lt;mtext&gt;&lt;/mtext&gt;&lt;mo&gt;×&lt;/mo&gt;&lt;mn&gt;5&lt;/mn&gt;&lt;mo&gt;×&lt;/mo&gt;&lt;mtext&gt;&lt;/mtext&gt;&lt;mn&gt;3&lt;/mn&gt;&lt;mtext&gt;&lt;/mtext&gt;&lt;mo&gt;×&lt;/mo&gt;&lt;mn&gt;2&lt;/mn&gt;&lt;mtext&gt;&lt;/mtext&gt;&lt;mo&gt;×&lt;/mo&gt;&lt;mn&gt;3&lt;/mn&gt;&lt;mo&gt;×&lt;/mo&gt;&lt;mn&gt;3&lt;/mn&gt;&lt;mtext&gt;&lt;/mtext&gt;&lt;mo&gt;=&lt;/mo&gt;&lt;msup&gt;&lt;mn&gt;2&lt;/mn&gt;&lt;mrow data-mjx-texclass=&quot;ORD&quot;&gt;&lt;mn&gt;3&lt;/mn&gt;&lt;mtext&gt;&lt;/mtext&gt;&lt;/mrow&gt;&lt;/msup&gt;&lt;mo&gt;×&lt;/mo&gt;&lt;mtext&gt;&lt;/mtext&gt;&lt;msup&gt;&lt;mn&gt;3&lt;/mn&gt;&lt;mn&gt;3&lt;/mn&gt;&lt;/msup&gt;&lt;mo&gt;×&lt;/mo&gt;&lt;mtext&gt;&lt;/mtext&gt;&lt;msup&gt;&lt;mn&gt;5&lt;/mn&gt;&lt;mn&gt;4&lt;/mn&gt;&lt;/msup&gt;&lt;/math&gt;" id="1244" name="Google Shape;1244;p90" title="5 times 2 times 2 times 5 times 5 times 5 times 3 times 2 times 3 times 3 equals 2 raised to the 3 power times 3 cubed times 5 to the fourth power"/>
          <p:cNvPicPr preferRelativeResize="0"/>
          <p:nvPr/>
        </p:nvPicPr>
        <p:blipFill rotWithShape="1">
          <a:blip r:embed="rId5">
            <a:alphaModFix/>
          </a:blip>
          <a:srcRect b="0" l="0" r="28443" t="0"/>
          <a:stretch/>
        </p:blipFill>
        <p:spPr>
          <a:xfrm>
            <a:off x="605100" y="3683150"/>
            <a:ext cx="6014624" cy="31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9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2) Pair each statement with the correct simplification.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91"/>
          <p:cNvSpPr txBox="1"/>
          <p:nvPr/>
        </p:nvSpPr>
        <p:spPr>
          <a:xfrm>
            <a:off x="412175" y="1335750"/>
            <a:ext cx="5565300" cy="751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Two squared multiplied by five to the power of three.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1" name="Google Shape;1251;p91"/>
          <p:cNvSpPr txBox="1"/>
          <p:nvPr/>
        </p:nvSpPr>
        <p:spPr>
          <a:xfrm>
            <a:off x="412175" y="2224750"/>
            <a:ext cx="5565300" cy="751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Three squared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multiplied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by two to the power of five.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2" name="Google Shape;1252;p91"/>
          <p:cNvSpPr txBox="1"/>
          <p:nvPr/>
        </p:nvSpPr>
        <p:spPr>
          <a:xfrm>
            <a:off x="412175" y="3113750"/>
            <a:ext cx="5565300" cy="751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Two squared multiplied by two squared multiplied by seven to the power of four.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3" name="Google Shape;1253;p91"/>
          <p:cNvSpPr txBox="1"/>
          <p:nvPr/>
        </p:nvSpPr>
        <p:spPr>
          <a:xfrm>
            <a:off x="412175" y="4002750"/>
            <a:ext cx="5565300" cy="751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Four to the power of seven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multiplied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by seven to the power of four.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^2\times5^3&quot;&gt;&lt;msup&gt;&lt;mn&gt;2&lt;/mn&gt;&lt;mn&gt;2&lt;/mn&gt;&lt;/msup&gt;&lt;mo&gt;×&lt;/mo&gt;&lt;msup&gt;&lt;mn&gt;5&lt;/mn&gt;&lt;mn&gt;3&lt;/mn&gt;&lt;/msup&gt;&lt;/math&gt;" id="1254" name="Google Shape;1254;p91" title="2 squared times 5 cub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1380" y="4223000"/>
            <a:ext cx="1388745" cy="4629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^5\times3^2&quot;&gt;&lt;msup&gt;&lt;mn&gt;2&lt;/mn&gt;&lt;mn&gt;5&lt;/mn&gt;&lt;/msup&gt;&lt;mo&gt;×&lt;/mo&gt;&lt;msup&gt;&lt;mn&gt;3&lt;/mn&gt;&lt;mn&gt;2&lt;/mn&gt;&lt;/msup&gt;&lt;/math&gt;" id="1255" name="Google Shape;1255;p91" title="2 to the fifth power times 3 squa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2808" y="3260583"/>
            <a:ext cx="1405890" cy="4629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^7\times7^4&quot;&gt;&lt;msup&gt;&lt;mn&gt;4&lt;/mn&gt;&lt;mn&gt;7&lt;/mn&gt;&lt;/msup&gt;&lt;mo&gt;×&lt;/mo&gt;&lt;msup&gt;&lt;mn&gt;7&lt;/mn&gt;&lt;mn&gt;4&lt;/mn&gt;&lt;/msup&gt;&lt;/math&gt;" id="1256" name="Google Shape;1256;p91" title="4 to the seventh power times 7 to the fourth power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29938" y="1335750"/>
            <a:ext cx="1431607" cy="4629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^4\times7^4&quot;&gt;&lt;msup&gt;&lt;mn&gt;2&lt;/mn&gt;&lt;mn&gt;4&lt;/mn&gt;&lt;/msup&gt;&lt;mo&gt;×&lt;/mo&gt;&lt;msup&gt;&lt;mn&gt;7&lt;/mn&gt;&lt;mn&gt;4&lt;/mn&gt;&lt;/msup&gt;&lt;/math&gt;" id="1257" name="Google Shape;1257;p91" title="2 to the fourth power times 7 to the fourth power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34235" y="2298167"/>
            <a:ext cx="1423035" cy="462915"/>
          </a:xfrm>
          <a:prstGeom prst="rect">
            <a:avLst/>
          </a:prstGeom>
          <a:noFill/>
          <a:ln>
            <a:noFill/>
          </a:ln>
        </p:spPr>
      </p:pic>
      <p:sp>
        <p:nvSpPr>
          <p:cNvPr id="1258" name="Google Shape;1258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Simplifying using power notation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9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</a:t>
            </a:r>
            <a:r>
              <a:rPr lang="en-GB"/>
              <a:t>) Simplify the following using </a:t>
            </a:r>
            <a:r>
              <a:rPr b="1" lang="en-GB"/>
              <a:t>exponents</a:t>
            </a:r>
            <a:r>
              <a:rPr lang="en-GB"/>
              <a:t> and write the expression in words</a:t>
            </a:r>
            <a:r>
              <a:rPr lang="en-GB"/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\times2\times2\times2\times9\times9&quot;&gt;&lt;mn&gt;2&lt;/mn&gt;&lt;mo&gt;×&lt;/mo&gt;&lt;mn&gt;2&lt;/mn&gt;&lt;mo&gt;×&lt;/mo&gt;&lt;mn&gt;2&lt;/mn&gt;&lt;mo&gt;×&lt;/mo&gt;&lt;mn&gt;2&lt;/mn&gt;&lt;mo&gt;×&lt;/mo&gt;&lt;mn&gt;9&lt;/mn&gt;&lt;mo&gt;×&lt;/mo&gt;&lt;mn&gt;9&lt;/mn&gt;&lt;/math&gt;" id="1264" name="Google Shape;1264;p92" title="2 times 2 times 2 times 2 times 9 times 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167" y="1911600"/>
            <a:ext cx="3706977" cy="3062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times2\times3\times3\times5\times5&quot;&gt;&lt;mn&gt;2&lt;/mn&gt;&lt;mo&gt;×&lt;/mo&gt;&lt;mn&gt;2&lt;/mn&gt;&lt;mo&gt;×&lt;/mo&gt;&lt;mn&gt;3&lt;/mn&gt;&lt;mo&gt;×&lt;/mo&gt;&lt;mn&gt;3&lt;/mn&gt;&lt;mo&gt;×&lt;/mo&gt;&lt;mn&gt;5&lt;/mn&gt;&lt;mo&gt;×&lt;/mo&gt;&lt;mn&gt;5&lt;/mn&gt;&lt;/math&gt;" id="1265" name="Google Shape;1265;p92" title="2 times 2 times 3 times 3 times 5 times 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302" y="3049272"/>
            <a:ext cx="3698684" cy="314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times3\times7\times2\times3\times7\times2&quot;&gt;&lt;mn&gt;2&lt;/mn&gt;&lt;mo&gt;×&lt;/mo&gt;&lt;mn&gt;3&lt;/mn&gt;&lt;mo&gt;×&lt;/mo&gt;&lt;mn&gt;7&lt;/mn&gt;&lt;mo&gt;×&lt;/mo&gt;&lt;mn&gt;2&lt;/mn&gt;&lt;mo&gt;×&lt;/mo&gt;&lt;mn&gt;3&lt;/mn&gt;&lt;mo&gt;×&lt;/mo&gt;&lt;mn&gt;7&lt;/mn&gt;&lt;mo&gt;×&lt;/mo&gt;&lt;mn&gt;2&lt;/mn&gt;&lt;/math&gt;" id="1266" name="Google Shape;1266;p92" title="2 times 3 times 7 times 2 times 3 times 7 times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2350" y="4194990"/>
            <a:ext cx="4248518" cy="306270"/>
          </a:xfrm>
          <a:prstGeom prst="rect">
            <a:avLst/>
          </a:prstGeom>
          <a:noFill/>
          <a:ln>
            <a:noFill/>
          </a:ln>
        </p:spPr>
      </p:pic>
      <p:sp>
        <p:nvSpPr>
          <p:cNvPr id="1267" name="Google Shape;1267;p9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Simplifying using power notation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9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Simplify the following using </a:t>
            </a:r>
            <a:r>
              <a:rPr b="1" lang="en-GB"/>
              <a:t>exponents</a:t>
            </a:r>
            <a:r>
              <a:rPr lang="en-GB"/>
              <a:t>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\ \times2\ \times\ 2\ \times\ 3\ \times3\ \times3\times3\ =2^{3\ }\times\ 3^4&quot;&gt;&lt;mn&gt;2&lt;/mn&gt;&lt;mtext&gt;&lt;/mtext&gt;&lt;mo&gt;×&lt;/mo&gt;&lt;mn&gt;2&lt;/mn&gt;&lt;mtext&gt;&lt;/mtext&gt;&lt;mo&gt;×&lt;/mo&gt;&lt;mtext&gt;&lt;/mtext&gt;&lt;mn&gt;2&lt;/mn&gt;&lt;mtext&gt;&lt;/mtext&gt;&lt;mo&gt;×&lt;/mo&gt;&lt;mtext&gt;&lt;/mtext&gt;&lt;mn&gt;3&lt;/mn&gt;&lt;mtext&gt;&lt;/mtext&gt;&lt;mo&gt;×&lt;/mo&gt;&lt;mn&gt;3&lt;/mn&gt;&lt;mtext&gt;&lt;/mtext&gt;&lt;mo&gt;×&lt;/mo&gt;&lt;mn&gt;3&lt;/mn&gt;&lt;mo&gt;×&lt;/mo&gt;&lt;mn&gt;3&lt;/mn&gt;&lt;mtext&gt;&lt;/mtext&gt;&lt;mo&gt;=&lt;/mo&gt;&lt;msup&gt;&lt;mn&gt;2&lt;/mn&gt;&lt;mrow data-mjx-texclass=&quot;ORD&quot;&gt;&lt;mn&gt;3&lt;/mn&gt;&lt;mtext&gt;&lt;/mtext&gt;&lt;/mrow&gt;&lt;/msup&gt;&lt;mo&gt;×&lt;/mo&gt;&lt;mtext&gt;&lt;/mtext&gt;&lt;msup&gt;&lt;mn&gt;3&lt;/mn&gt;&lt;mn&gt;4&lt;/mn&gt;&lt;/msup&gt;&lt;/math&gt;" id="1273" name="Google Shape;1273;p93" title="2 times 2 times 2 times 3 times 3 times 3 times 3 equals 2 raised to the 3 power times 3 to the fourth power"/>
          <p:cNvPicPr preferRelativeResize="0"/>
          <p:nvPr/>
        </p:nvPicPr>
        <p:blipFill rotWithShape="1">
          <a:blip r:embed="rId3">
            <a:alphaModFix/>
          </a:blip>
          <a:srcRect b="0" l="0" r="27922" t="0"/>
          <a:stretch/>
        </p:blipFill>
        <p:spPr>
          <a:xfrm>
            <a:off x="717450" y="1622200"/>
            <a:ext cx="4322884" cy="3345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 \times2\ \times\ 2\ \times\ 2\ \times\ 3\ \times3\times\ 3\ \times3\ \times3\times3\ =2^{4\ }\times\ 3^6&quot;&gt;&lt;mn&gt;2&lt;/mn&gt;&lt;mtext&gt;&lt;/mtext&gt;&lt;mo&gt;×&lt;/mo&gt;&lt;mn&gt;2&lt;/mn&gt;&lt;mtext&gt;&lt;/mtext&gt;&lt;mo&gt;×&lt;/mo&gt;&lt;mtext&gt;&lt;/mtext&gt;&lt;mn&gt;2&lt;/mn&gt;&lt;mtext&gt;&lt;/mtext&gt;&lt;mo&gt;×&lt;/mo&gt;&lt;mtext&gt;&lt;/mtext&gt;&lt;mn&gt;2&lt;/mn&gt;&lt;mtext&gt;&lt;/mtext&gt;&lt;mo&gt;×&lt;/mo&gt;&lt;mtext&gt;&lt;/mtext&gt;&lt;mn&gt;3&lt;/mn&gt;&lt;mtext&gt;&lt;/mtext&gt;&lt;mo&gt;×&lt;/mo&gt;&lt;mn&gt;3&lt;/mn&gt;&lt;mo&gt;×&lt;/mo&gt;&lt;mtext&gt;&lt;/mtext&gt;&lt;mn&gt;3&lt;/mn&gt;&lt;mtext&gt;&lt;/mtext&gt;&lt;mo&gt;×&lt;/mo&gt;&lt;mn&gt;3&lt;/mn&gt;&lt;mtext&gt;&lt;/mtext&gt;&lt;mo&gt;×&lt;/mo&gt;&lt;mn&gt;3&lt;/mn&gt;&lt;mo&gt;×&lt;/mo&gt;&lt;mn&gt;3&lt;/mn&gt;&lt;mtext&gt;&lt;/mtext&gt;&lt;mo&gt;=&lt;/mo&gt;&lt;msup&gt;&lt;mn&gt;2&lt;/mn&gt;&lt;mrow data-mjx-texclass=&quot;ORD&quot;&gt;&lt;mn&gt;4&lt;/mn&gt;&lt;mtext&gt;&lt;/mtext&gt;&lt;/mrow&gt;&lt;/msup&gt;&lt;mo&gt;×&lt;/mo&gt;&lt;mtext&gt;&lt;/mtext&gt;&lt;msup&gt;&lt;mn&gt;3&lt;/mn&gt;&lt;mn&gt;6&lt;/mn&gt;&lt;/msup&gt;&lt;/math&gt;" id="1274" name="Google Shape;1274;p93" title="2 times 2 times 2 times 2 times 3 times 3 times 3 times 3 times 3 times 3 equals 2 raised to the 4 power times 3 to the sixth power"/>
          <p:cNvPicPr preferRelativeResize="0"/>
          <p:nvPr/>
        </p:nvPicPr>
        <p:blipFill rotWithShape="1">
          <a:blip r:embed="rId4">
            <a:alphaModFix/>
          </a:blip>
          <a:srcRect b="0" l="0" r="21179" t="0"/>
          <a:stretch/>
        </p:blipFill>
        <p:spPr>
          <a:xfrm>
            <a:off x="655774" y="2672225"/>
            <a:ext cx="6425277" cy="34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 \times2\ \times\ 2\ \times\ 5\ \times\ 5\ \times5\times\ 3\ \times2\ \times3\times3\ =2^{3\ }\times\ 3^3\times\ 5^4&quot;&gt;&lt;mn&gt;5&lt;/mn&gt;&lt;mtext&gt;&lt;/mtext&gt;&lt;mo&gt;×&lt;/mo&gt;&lt;mn&gt;2&lt;/mn&gt;&lt;mtext&gt;&lt;/mtext&gt;&lt;mo&gt;×&lt;/mo&gt;&lt;mtext&gt;&lt;/mtext&gt;&lt;mn&gt;2&lt;/mn&gt;&lt;mtext&gt;&lt;/mtext&gt;&lt;mo&gt;×&lt;/mo&gt;&lt;mtext&gt;&lt;/mtext&gt;&lt;mn&gt;5&lt;/mn&gt;&lt;mtext&gt;&lt;/mtext&gt;&lt;mo&gt;×&lt;/mo&gt;&lt;mtext&gt;&lt;/mtext&gt;&lt;mn&gt;5&lt;/mn&gt;&lt;mtext&gt;&lt;/mtext&gt;&lt;mo&gt;×&lt;/mo&gt;&lt;mn&gt;5&lt;/mn&gt;&lt;mo&gt;×&lt;/mo&gt;&lt;mtext&gt;&lt;/mtext&gt;&lt;mn&gt;3&lt;/mn&gt;&lt;mtext&gt;&lt;/mtext&gt;&lt;mo&gt;×&lt;/mo&gt;&lt;mn&gt;2&lt;/mn&gt;&lt;mtext&gt;&lt;/mtext&gt;&lt;mo&gt;×&lt;/mo&gt;&lt;mn&gt;3&lt;/mn&gt;&lt;mo&gt;×&lt;/mo&gt;&lt;mn&gt;3&lt;/mn&gt;&lt;mtext&gt;&lt;/mtext&gt;&lt;mo&gt;=&lt;/mo&gt;&lt;msup&gt;&lt;mn&gt;2&lt;/mn&gt;&lt;mrow data-mjx-texclass=&quot;ORD&quot;&gt;&lt;mn&gt;3&lt;/mn&gt;&lt;mtext&gt;&lt;/mtext&gt;&lt;/mrow&gt;&lt;/msup&gt;&lt;mo&gt;×&lt;/mo&gt;&lt;mtext&gt;&lt;/mtext&gt;&lt;msup&gt;&lt;mn&gt;3&lt;/mn&gt;&lt;mn&gt;3&lt;/mn&gt;&lt;/msup&gt;&lt;mo&gt;×&lt;/mo&gt;&lt;mtext&gt;&lt;/mtext&gt;&lt;msup&gt;&lt;mn&gt;5&lt;/mn&gt;&lt;mn&gt;4&lt;/mn&gt;&lt;/msup&gt;&lt;/math&gt;" id="1275" name="Google Shape;1275;p93" title="5 times 2 times 2 times 5 times 5 times 5 times 3 times 2 times 3 times 3 equals 2 raised to the 3 power times 3 cubed times 5 to the fourth power"/>
          <p:cNvPicPr preferRelativeResize="0"/>
          <p:nvPr/>
        </p:nvPicPr>
        <p:blipFill rotWithShape="1">
          <a:blip r:embed="rId5">
            <a:alphaModFix/>
          </a:blip>
          <a:srcRect b="0" l="0" r="28443" t="0"/>
          <a:stretch/>
        </p:blipFill>
        <p:spPr>
          <a:xfrm>
            <a:off x="655775" y="3683150"/>
            <a:ext cx="6014624" cy="315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 \times2\ \times\ 2\ \times\ 3\ \times3\ \times3\times3\ =2^{3\ }\times\ 3^4&quot;&gt;&lt;mn&gt;2&lt;/mn&gt;&lt;mtext&gt;&lt;/mtext&gt;&lt;mo&gt;×&lt;/mo&gt;&lt;mn&gt;2&lt;/mn&gt;&lt;mtext&gt;&lt;/mtext&gt;&lt;mo&gt;×&lt;/mo&gt;&lt;mtext&gt;&lt;/mtext&gt;&lt;mn&gt;2&lt;/mn&gt;&lt;mtext&gt;&lt;/mtext&gt;&lt;mo&gt;×&lt;/mo&gt;&lt;mtext&gt;&lt;/mtext&gt;&lt;mn&gt;3&lt;/mn&gt;&lt;mtext&gt;&lt;/mtext&gt;&lt;mo&gt;×&lt;/mo&gt;&lt;mn&gt;3&lt;/mn&gt;&lt;mtext&gt;&lt;/mtext&gt;&lt;mo&gt;×&lt;/mo&gt;&lt;mn&gt;3&lt;/mn&gt;&lt;mo&gt;×&lt;/mo&gt;&lt;mn&gt;3&lt;/mn&gt;&lt;mtext&gt;&lt;/mtext&gt;&lt;mo&gt;=&lt;/mo&gt;&lt;msup&gt;&lt;mn&gt;2&lt;/mn&gt;&lt;mrow data-mjx-texclass=&quot;ORD&quot;&gt;&lt;mn&gt;3&lt;/mn&gt;&lt;mtext&gt;&lt;/mtext&gt;&lt;/mrow&gt;&lt;/msup&gt;&lt;mo&gt;×&lt;/mo&gt;&lt;mtext&gt;&lt;/mtext&gt;&lt;msup&gt;&lt;mn&gt;3&lt;/mn&gt;&lt;mn&gt;4&lt;/mn&gt;&lt;/msup&gt;&lt;/math&gt;" id="1276" name="Google Shape;1276;p93" title="2 times 2 times 2 times 3 times 3 times 3 times 3 equals 2 raised to the 3 power times 3 to the fourth power"/>
          <p:cNvPicPr preferRelativeResize="0"/>
          <p:nvPr/>
        </p:nvPicPr>
        <p:blipFill rotWithShape="1">
          <a:blip r:embed="rId3">
            <a:alphaModFix/>
          </a:blip>
          <a:srcRect b="0" l="73419" r="0" t="0"/>
          <a:stretch/>
        </p:blipFill>
        <p:spPr>
          <a:xfrm>
            <a:off x="5059514" y="1631291"/>
            <a:ext cx="1594256" cy="3345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 \times2\ \times\ 2\ \times\ 2\ \times\ 3\ \times3\times\ 3\ \times3\ \times3\times3\ =2^{4\ }\times\ 3^6&quot;&gt;&lt;mn&gt;2&lt;/mn&gt;&lt;mtext&gt;&lt;/mtext&gt;&lt;mo&gt;×&lt;/mo&gt;&lt;mn&gt;2&lt;/mn&gt;&lt;mtext&gt;&lt;/mtext&gt;&lt;mo&gt;×&lt;/mo&gt;&lt;mtext&gt;&lt;/mtext&gt;&lt;mn&gt;2&lt;/mn&gt;&lt;mtext&gt;&lt;/mtext&gt;&lt;mo&gt;×&lt;/mo&gt;&lt;mtext&gt;&lt;/mtext&gt;&lt;mn&gt;2&lt;/mn&gt;&lt;mtext&gt;&lt;/mtext&gt;&lt;mo&gt;×&lt;/mo&gt;&lt;mtext&gt;&lt;/mtext&gt;&lt;mn&gt;3&lt;/mn&gt;&lt;mtext&gt;&lt;/mtext&gt;&lt;mo&gt;×&lt;/mo&gt;&lt;mn&gt;3&lt;/mn&gt;&lt;mo&gt;×&lt;/mo&gt;&lt;mtext&gt;&lt;/mtext&gt;&lt;mn&gt;3&lt;/mn&gt;&lt;mtext&gt;&lt;/mtext&gt;&lt;mo&gt;×&lt;/mo&gt;&lt;mn&gt;3&lt;/mn&gt;&lt;mtext&gt;&lt;/mtext&gt;&lt;mo&gt;×&lt;/mo&gt;&lt;mn&gt;3&lt;/mn&gt;&lt;mo&gt;×&lt;/mo&gt;&lt;mn&gt;3&lt;/mn&gt;&lt;mtext&gt;&lt;/mtext&gt;&lt;mo&gt;=&lt;/mo&gt;&lt;msup&gt;&lt;mn&gt;2&lt;/mn&gt;&lt;mrow data-mjx-texclass=&quot;ORD&quot;&gt;&lt;mn&gt;4&lt;/mn&gt;&lt;mtext&gt;&lt;/mtext&gt;&lt;/mrow&gt;&lt;/msup&gt;&lt;mo&gt;×&lt;/mo&gt;&lt;mtext&gt;&lt;/mtext&gt;&lt;msup&gt;&lt;mn&gt;3&lt;/mn&gt;&lt;mn&gt;6&lt;/mn&gt;&lt;/msup&gt;&lt;/math&gt;" id="1277" name="Google Shape;1277;p93" title="2 times 2 times 2 times 2 times 3 times 3 times 3 times 3 times 3 times 3 equals 2 raised to the 4 power times 3 to the sixth power"/>
          <p:cNvPicPr preferRelativeResize="0"/>
          <p:nvPr/>
        </p:nvPicPr>
        <p:blipFill rotWithShape="1">
          <a:blip r:embed="rId4">
            <a:alphaModFix/>
          </a:blip>
          <a:srcRect b="0" l="79850" r="0" t="0"/>
          <a:stretch/>
        </p:blipFill>
        <p:spPr>
          <a:xfrm>
            <a:off x="7081050" y="2700000"/>
            <a:ext cx="1509727" cy="315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 \times2\ \times\ 2\ \times\ 5\ \times\ 5\ \times5\times\ 3\ \times2\ \times3\times3\ =2^{3\ }\times\ 3^3\times\ 5^4&quot;&gt;&lt;mn&gt;5&lt;/mn&gt;&lt;mtext&gt;&lt;/mtext&gt;&lt;mo&gt;×&lt;/mo&gt;&lt;mn&gt;2&lt;/mn&gt;&lt;mtext&gt;&lt;/mtext&gt;&lt;mo&gt;×&lt;/mo&gt;&lt;mtext&gt;&lt;/mtext&gt;&lt;mn&gt;2&lt;/mn&gt;&lt;mtext&gt;&lt;/mtext&gt;&lt;mo&gt;×&lt;/mo&gt;&lt;mtext&gt;&lt;/mtext&gt;&lt;mn&gt;5&lt;/mn&gt;&lt;mtext&gt;&lt;/mtext&gt;&lt;mo&gt;×&lt;/mo&gt;&lt;mtext&gt;&lt;/mtext&gt;&lt;mn&gt;5&lt;/mn&gt;&lt;mtext&gt;&lt;/mtext&gt;&lt;mo&gt;×&lt;/mo&gt;&lt;mn&gt;5&lt;/mn&gt;&lt;mo&gt;×&lt;/mo&gt;&lt;mtext&gt;&lt;/mtext&gt;&lt;mn&gt;3&lt;/mn&gt;&lt;mtext&gt;&lt;/mtext&gt;&lt;mo&gt;×&lt;/mo&gt;&lt;mn&gt;2&lt;/mn&gt;&lt;mtext&gt;&lt;/mtext&gt;&lt;mo&gt;×&lt;/mo&gt;&lt;mn&gt;3&lt;/mn&gt;&lt;mo&gt;×&lt;/mo&gt;&lt;mn&gt;3&lt;/mn&gt;&lt;mtext&gt;&lt;/mtext&gt;&lt;mo&gt;=&lt;/mo&gt;&lt;msup&gt;&lt;mn&gt;2&lt;/mn&gt;&lt;mrow data-mjx-texclass=&quot;ORD&quot;&gt;&lt;mn&gt;3&lt;/mn&gt;&lt;mtext&gt;&lt;/mtext&gt;&lt;/mrow&gt;&lt;/msup&gt;&lt;mo&gt;×&lt;/mo&gt;&lt;mtext&gt;&lt;/mtext&gt;&lt;msup&gt;&lt;mn&gt;3&lt;/mn&gt;&lt;mn&gt;3&lt;/mn&gt;&lt;/msup&gt;&lt;mo&gt;×&lt;/mo&gt;&lt;mtext&gt;&lt;/mtext&gt;&lt;msup&gt;&lt;mn&gt;5&lt;/mn&gt;&lt;mn&gt;4&lt;/mn&gt;&lt;/msup&gt;&lt;/math&gt;" id="1278" name="Google Shape;1278;p93" title="5 times 2 times 2 times 5 times 5 times 5 times 3 times 2 times 3 times 3 equals 2 raised to the 3 power times 3 cubed times 5 to the fourth power"/>
          <p:cNvPicPr preferRelativeResize="0"/>
          <p:nvPr/>
        </p:nvPicPr>
        <p:blipFill rotWithShape="1">
          <a:blip r:embed="rId5">
            <a:alphaModFix/>
          </a:blip>
          <a:srcRect b="0" l="73152" r="-2" t="0"/>
          <a:stretch/>
        </p:blipFill>
        <p:spPr>
          <a:xfrm>
            <a:off x="6707499" y="3721275"/>
            <a:ext cx="1984391" cy="27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9" name="Google Shape;1279;p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77525" y="1585800"/>
            <a:ext cx="5319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28800" y="1585800"/>
            <a:ext cx="77869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1" name="Google Shape;1281;p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61925" y="2672225"/>
            <a:ext cx="5319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2" name="Google Shape;1282;p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13200" y="2672225"/>
            <a:ext cx="77869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3" name="Google Shape;1283;p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62925" y="3534325"/>
            <a:ext cx="399000" cy="55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4" name="Google Shape;1284;p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70375" y="3505325"/>
            <a:ext cx="62872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5" name="Google Shape;1285;p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14875" y="3553375"/>
            <a:ext cx="628725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6" name="Google Shape;1286;p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Simplifying using power notation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9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2) Pair each statement with the correct simplification.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94"/>
          <p:cNvSpPr txBox="1"/>
          <p:nvPr/>
        </p:nvSpPr>
        <p:spPr>
          <a:xfrm>
            <a:off x="412175" y="1335750"/>
            <a:ext cx="5565300" cy="751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Two squared multiplied by five to the power of three.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3" name="Google Shape;1293;p94"/>
          <p:cNvSpPr txBox="1"/>
          <p:nvPr/>
        </p:nvSpPr>
        <p:spPr>
          <a:xfrm>
            <a:off x="412175" y="2224750"/>
            <a:ext cx="5565300" cy="751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Three squared multiplied by two to the power of five.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4" name="Google Shape;1294;p94"/>
          <p:cNvSpPr txBox="1"/>
          <p:nvPr/>
        </p:nvSpPr>
        <p:spPr>
          <a:xfrm>
            <a:off x="412175" y="3113750"/>
            <a:ext cx="5565300" cy="751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Two squared multiplied by two squared multiplied by seven to the power of four.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94"/>
          <p:cNvSpPr txBox="1"/>
          <p:nvPr/>
        </p:nvSpPr>
        <p:spPr>
          <a:xfrm>
            <a:off x="412175" y="4002750"/>
            <a:ext cx="5565300" cy="751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Four to the power of seven multiplied by seven to the power of four.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^2\times5^3&quot;&gt;&lt;msup&gt;&lt;mn&gt;2&lt;/mn&gt;&lt;mn&gt;2&lt;/mn&gt;&lt;/msup&gt;&lt;mo&gt;×&lt;/mo&gt;&lt;msup&gt;&lt;mn&gt;5&lt;/mn&gt;&lt;mn&gt;3&lt;/mn&gt;&lt;/msup&gt;&lt;/math&gt;" id="1296" name="Google Shape;1296;p94" title="2 squared times 5 cub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3488" y="4044975"/>
            <a:ext cx="15430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^5\times3^2&quot;&gt;&lt;msup&gt;&lt;mn&gt;2&lt;/mn&gt;&lt;mn&gt;5&lt;/mn&gt;&lt;/msup&gt;&lt;mo&gt;×&lt;/mo&gt;&lt;msup&gt;&lt;mn&gt;3&lt;/mn&gt;&lt;mn&gt;2&lt;/mn&gt;&lt;/msup&gt;&lt;/math&gt;" id="1297" name="Google Shape;1297;p94" title="2 to the fifth power times 3 squa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23963" y="3130575"/>
            <a:ext cx="15621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^7\times7^4&quot;&gt;&lt;msup&gt;&lt;mn&gt;4&lt;/mn&gt;&lt;mn&gt;7&lt;/mn&gt;&lt;/msup&gt;&lt;mo&gt;×&lt;/mo&gt;&lt;msup&gt;&lt;mn&gt;7&lt;/mn&gt;&lt;mn&gt;4&lt;/mn&gt;&lt;/msup&gt;&lt;/math&gt;" id="1298" name="Google Shape;1298;p94" title="4 to the seventh power times 7 to the fourth power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09663" y="1377975"/>
            <a:ext cx="159067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^4\times7^4&quot;&gt;&lt;msup&gt;&lt;mn&gt;2&lt;/mn&gt;&lt;mn&gt;4&lt;/mn&gt;&lt;/msup&gt;&lt;mo&gt;×&lt;/mo&gt;&lt;msup&gt;&lt;mn&gt;7&lt;/mn&gt;&lt;mn&gt;4&lt;/mn&gt;&lt;/msup&gt;&lt;/math&gt;" id="1299" name="Google Shape;1299;p94" title="2 to the fourth power times 7 to the fourth power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14438" y="2216175"/>
            <a:ext cx="1581150" cy="514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0" name="Google Shape;1300;p94"/>
          <p:cNvCxnSpPr>
            <a:stCxn id="1292" idx="3"/>
            <a:endCxn id="1296" idx="1"/>
          </p:cNvCxnSpPr>
          <p:nvPr/>
        </p:nvCxnSpPr>
        <p:spPr>
          <a:xfrm>
            <a:off x="5977475" y="1711350"/>
            <a:ext cx="855900" cy="25908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1" name="Google Shape;1301;p94"/>
          <p:cNvCxnSpPr>
            <a:endCxn id="1297" idx="1"/>
          </p:cNvCxnSpPr>
          <p:nvPr/>
        </p:nvCxnSpPr>
        <p:spPr>
          <a:xfrm>
            <a:off x="5977363" y="2510850"/>
            <a:ext cx="846600" cy="8769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2" name="Google Shape;1302;p94"/>
          <p:cNvCxnSpPr>
            <a:endCxn id="1297" idx="1"/>
          </p:cNvCxnSpPr>
          <p:nvPr/>
        </p:nvCxnSpPr>
        <p:spPr>
          <a:xfrm>
            <a:off x="5973763" y="2509050"/>
            <a:ext cx="850200" cy="8787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3" name="Google Shape;1303;p94"/>
          <p:cNvCxnSpPr>
            <a:endCxn id="1299" idx="1"/>
          </p:cNvCxnSpPr>
          <p:nvPr/>
        </p:nvCxnSpPr>
        <p:spPr>
          <a:xfrm flipH="1" rot="10800000">
            <a:off x="5982238" y="2473350"/>
            <a:ext cx="832200" cy="9699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4" name="Google Shape;1304;p94"/>
          <p:cNvCxnSpPr/>
          <p:nvPr/>
        </p:nvCxnSpPr>
        <p:spPr>
          <a:xfrm flipH="1" rot="10800000">
            <a:off x="5968825" y="1797925"/>
            <a:ext cx="847500" cy="2365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5" name="Google Shape;1305;p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Simplifying using power notation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95"/>
          <p:cNvSpPr txBox="1"/>
          <p:nvPr>
            <p:ph idx="1" type="body"/>
          </p:nvPr>
        </p:nvSpPr>
        <p:spPr>
          <a:xfrm>
            <a:off x="324000" y="759300"/>
            <a:ext cx="7731300" cy="36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3) Simplify the following using </a:t>
            </a:r>
            <a:r>
              <a:rPr b="1" lang="en-GB" sz="2000"/>
              <a:t>exponents</a:t>
            </a:r>
            <a:r>
              <a:rPr lang="en-GB" sz="2000"/>
              <a:t> and write the expression in words: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95"/>
          <p:cNvSpPr txBox="1"/>
          <p:nvPr/>
        </p:nvSpPr>
        <p:spPr>
          <a:xfrm>
            <a:off x="693975" y="1900200"/>
            <a:ext cx="76167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Two to the power of four multiplied by nine squared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2" name="Google Shape;1312;p95"/>
          <p:cNvSpPr txBox="1"/>
          <p:nvPr/>
        </p:nvSpPr>
        <p:spPr>
          <a:xfrm>
            <a:off x="706350" y="2962138"/>
            <a:ext cx="77313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Two squared multiplied by three squared multiplied by five squared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3" name="Google Shape;1313;p95"/>
          <p:cNvSpPr txBox="1"/>
          <p:nvPr/>
        </p:nvSpPr>
        <p:spPr>
          <a:xfrm>
            <a:off x="693975" y="4024100"/>
            <a:ext cx="79521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Two cubed multiplied by three squared multiplied by seven squared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2\times2\times2\times2\times9\times9&quot;&gt;&lt;mn&gt;2&lt;/mn&gt;&lt;mo&gt;×&lt;/mo&gt;&lt;mn&gt;2&lt;/mn&gt;&lt;mo&gt;×&lt;/mo&gt;&lt;mn&gt;2&lt;/mn&gt;&lt;mo&gt;×&lt;/mo&gt;&lt;mn&gt;2&lt;/mn&gt;&lt;mo&gt;×&lt;/mo&gt;&lt;mn&gt;9&lt;/mn&gt;&lt;mo&gt;×&lt;/mo&gt;&lt;mn&gt;9&lt;/mn&gt;&lt;/math&gt;" id="1314" name="Google Shape;1314;p95" title="2 times 2 times 2 times 2 times 9 times 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978" y="1475363"/>
            <a:ext cx="3448909" cy="289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times2\times3\times3\times5\times5&quot;&gt;&lt;mn&gt;2&lt;/mn&gt;&lt;mo&gt;×&lt;/mo&gt;&lt;mn&gt;2&lt;/mn&gt;&lt;mo&gt;×&lt;/mo&gt;&lt;mn&gt;3&lt;/mn&gt;&lt;mo&gt;×&lt;/mo&gt;&lt;mn&gt;3&lt;/mn&gt;&lt;mo&gt;×&lt;/mo&gt;&lt;mn&gt;5&lt;/mn&gt;&lt;mo&gt;×&lt;/mo&gt;&lt;mn&gt;5&lt;/mn&gt;&lt;/math&gt;" id="1315" name="Google Shape;1315;p95" title="2 times 2 times 3 times 3 times 5 times 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200" y="2555363"/>
            <a:ext cx="3441193" cy="296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times3\times7\times2\times3\times7\times2&quot;&gt;&lt;mn&gt;2&lt;/mn&gt;&lt;mo&gt;×&lt;/mo&gt;&lt;mn&gt;3&lt;/mn&gt;&lt;mo&gt;×&lt;/mo&gt;&lt;mn&gt;7&lt;/mn&gt;&lt;mo&gt;×&lt;/mo&gt;&lt;mn&gt;2&lt;/mn&gt;&lt;mo&gt;×&lt;/mo&gt;&lt;mn&gt;3&lt;/mn&gt;&lt;mo&gt;×&lt;/mo&gt;&lt;mn&gt;7&lt;/mn&gt;&lt;mo&gt;×&lt;/mo&gt;&lt;mn&gt;2&lt;/mn&gt;&lt;/math&gt;" id="1316" name="Google Shape;1316;p95" title="2 times 3 times 7 times 2 times 3 times 7 times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7200" y="3547301"/>
            <a:ext cx="3952750" cy="289274"/>
          </a:xfrm>
          <a:prstGeom prst="rect">
            <a:avLst/>
          </a:prstGeom>
          <a:noFill/>
          <a:ln>
            <a:noFill/>
          </a:ln>
        </p:spPr>
      </p:pic>
      <p:sp>
        <p:nvSpPr>
          <p:cNvPr id="1317" name="Google Shape;1317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Simplifying using power notation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^4\times9^2&quot;&gt;&lt;msup&gt;&lt;mn&gt;2&lt;/mn&gt;&lt;mn&gt;4&lt;/mn&gt;&lt;/msup&gt;&lt;mo&gt;×&lt;/mo&gt;&lt;msup&gt;&lt;mn&gt;9&lt;/mn&gt;&lt;mn&gt;2&lt;/mn&gt;&lt;/msup&gt;&lt;/math&gt;" id="1318" name="Google Shape;1318;p95" title="2 to the fourth power times 9 squar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75763" y="1425225"/>
            <a:ext cx="1104600" cy="361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^2\times3^2\times5^2&quot;&gt;&lt;msup&gt;&lt;mn&gt;2&lt;/mn&gt;&lt;mn&gt;2&lt;/mn&gt;&lt;/msup&gt;&lt;mo&gt;×&lt;/mo&gt;&lt;msup&gt;&lt;mn&gt;3&lt;/mn&gt;&lt;mn&gt;2&lt;/mn&gt;&lt;/msup&gt;&lt;mo&gt;×&lt;/mo&gt;&lt;msup&gt;&lt;mn&gt;5&lt;/mn&gt;&lt;mn&gt;2&lt;/mn&gt;&lt;/msup&gt;&lt;/math&gt;" id="1319" name="Google Shape;1319;p95" title="2 squared times 3 squared times 5 square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29575" y="2519513"/>
            <a:ext cx="1781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^3\times3^2\times7^2&quot;&gt;&lt;msup&gt;&lt;mn&gt;2&lt;/mn&gt;&lt;mn&gt;3&lt;/mn&gt;&lt;/msup&gt;&lt;mo&gt;×&lt;/mo&gt;&lt;msup&gt;&lt;mn&gt;3&lt;/mn&gt;&lt;mn&gt;2&lt;/mn&gt;&lt;/msup&gt;&lt;mo&gt;×&lt;/mo&gt;&lt;msup&gt;&lt;mn&gt;7&lt;/mn&gt;&lt;mn&gt;2&lt;/mn&gt;&lt;/msup&gt;&lt;/math&gt;" id="1320" name="Google Shape;1320;p95" title="2 cubed times 3 squared times 7 square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29575" y="3520500"/>
            <a:ext cx="178117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96"/>
          <p:cNvSpPr txBox="1"/>
          <p:nvPr/>
        </p:nvSpPr>
        <p:spPr>
          <a:xfrm>
            <a:off x="324000" y="657600"/>
            <a:ext cx="82134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Numbers that have been multiplied by themselves a repeated number of times can be expressed using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base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exponent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26" name="Google Shape;1326;p96"/>
          <p:cNvCxnSpPr/>
          <p:nvPr/>
        </p:nvCxnSpPr>
        <p:spPr>
          <a:xfrm flipH="1">
            <a:off x="4871525" y="1698175"/>
            <a:ext cx="669300" cy="4737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7" name="Google Shape;1327;p96"/>
          <p:cNvSpPr txBox="1"/>
          <p:nvPr/>
        </p:nvSpPr>
        <p:spPr>
          <a:xfrm>
            <a:off x="5671450" y="1485900"/>
            <a:ext cx="27921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 integer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exponent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identifies how many times the base number has been multiplied by itself.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28" name="Google Shape;1328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200" y="1642725"/>
            <a:ext cx="3600300" cy="206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96"/>
          <p:cNvSpPr txBox="1"/>
          <p:nvPr/>
        </p:nvSpPr>
        <p:spPr>
          <a:xfrm>
            <a:off x="720100" y="2506225"/>
            <a:ext cx="27921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base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the number or term that has been multiplied by itself.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30" name="Google Shape;1330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2850" y="2248075"/>
            <a:ext cx="455924" cy="51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1" name="Google Shape;1331;p96"/>
          <p:cNvSpPr txBox="1"/>
          <p:nvPr/>
        </p:nvSpPr>
        <p:spPr>
          <a:xfrm>
            <a:off x="384113" y="3786600"/>
            <a:ext cx="8213400" cy="1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Simplifying using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exponents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presents the mathematics more simply and clearly.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32" name="Google Shape;1332;p96"/>
          <p:cNvCxnSpPr/>
          <p:nvPr/>
        </p:nvCxnSpPr>
        <p:spPr>
          <a:xfrm flipH="1" rot="10800000">
            <a:off x="3558125" y="2583250"/>
            <a:ext cx="552300" cy="2736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3" name="Google Shape;1333;p96"/>
          <p:cNvSpPr txBox="1"/>
          <p:nvPr>
            <p:ph idx="4294967295" type="subTitle"/>
          </p:nvPr>
        </p:nvSpPr>
        <p:spPr>
          <a:xfrm>
            <a:off x="1855175" y="134975"/>
            <a:ext cx="6570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Power notation</a:t>
            </a:r>
            <a:endParaRPr sz="2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97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39" name="Google Shape;1339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