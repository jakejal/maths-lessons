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71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94DC8F-A224-4188-B1E8-DC4A072D6B83}">
  <a:tblStyle styleId="{3A94DC8F-A224-4188-B1E8-DC4A072D6B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1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3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0d43eec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0d43eec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0d43eecf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0d43eecf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81141b0559_1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81141b0559_1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81141b05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81141b05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81141b0559_6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81141b0559_6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86a49ce68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86a49ce68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81141b055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81141b055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e7e806bd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e7e806bd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1e7e806bd0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1e7e806bd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81141b0559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81141b0559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81141b0559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81141b0559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e7e806bd0d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1e7e806bd0d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826a14d9a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826a14d9a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81141b0559_6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81141b0559_6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81141b0559_6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81141b0559_6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81141b0559_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81141b0559_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1e7e806bd0d_0_1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1e7e806bd0d_0_1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81141b0559_6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81141b0559_6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90fbfa797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90fbfa797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90fbfa797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90fbfa797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90fbfa797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90fbfa797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90fbfa797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90fbfa797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e7e806bd0d_0_2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1e7e806bd0d_0_2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81141b0559_6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81141b0559_6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81141b0559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81141b0559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81141b0559_6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81141b0559_6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281141b0559_7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281141b0559_7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81141b0559_7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81141b0559_7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81141b0559_7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81141b0559_7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81141b0559_7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81141b0559_7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81141b0559_7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81141b0559_7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81141b0559_7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281141b0559_7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81141b0559_7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81141b0559_7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84ae98a1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84ae98a1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59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59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59.png"/><Relationship Id="rId4" Type="http://schemas.openxmlformats.org/officeDocument/2006/relationships/image" Target="../media/image26.png"/><Relationship Id="rId11" Type="http://schemas.openxmlformats.org/officeDocument/2006/relationships/image" Target="../media/image22.png"/><Relationship Id="rId10" Type="http://schemas.openxmlformats.org/officeDocument/2006/relationships/image" Target="../media/image39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38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factors, multiples, squares and cubes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3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state the factors and multiples for different numbers and identify square and cube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57494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b="1" lang="en-GB"/>
              <a:t>multiple</a:t>
            </a:r>
            <a:r>
              <a:rPr lang="en-GB"/>
              <a:t> is the </a:t>
            </a:r>
            <a:r>
              <a:rPr b="1" lang="en-GB"/>
              <a:t>product</a:t>
            </a:r>
            <a:r>
              <a:rPr lang="en-GB"/>
              <a:t> of a number and an integer. </a:t>
            </a:r>
            <a:endParaRPr/>
          </a:p>
        </p:txBody>
      </p:sp>
      <p:sp>
        <p:nvSpPr>
          <p:cNvPr id="767" name="Google Shape;767;p67"/>
          <p:cNvSpPr txBox="1"/>
          <p:nvPr>
            <p:ph idx="5" type="subTitle"/>
          </p:nvPr>
        </p:nvSpPr>
        <p:spPr>
          <a:xfrm>
            <a:off x="324000" y="7993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product </a:t>
            </a:r>
            <a:r>
              <a:rPr lang="en-GB"/>
              <a:t>is the result of two or more numbers multiplied together.</a:t>
            </a:r>
            <a:endParaRPr/>
          </a:p>
        </p:txBody>
      </p:sp>
      <p:sp>
        <p:nvSpPr>
          <p:cNvPr id="768" name="Google Shape;768;p67"/>
          <p:cNvSpPr txBox="1"/>
          <p:nvPr>
            <p:ph idx="2" type="subTitle"/>
          </p:nvPr>
        </p:nvSpPr>
        <p:spPr>
          <a:xfrm>
            <a:off x="324000" y="2350563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numerical </a:t>
            </a:r>
            <a:r>
              <a:rPr b="1" lang="en-GB"/>
              <a:t>factor</a:t>
            </a:r>
            <a:r>
              <a:rPr lang="en-GB"/>
              <a:t> is a factor that is an integer.</a:t>
            </a:r>
            <a:endParaRPr/>
          </a:p>
        </p:txBody>
      </p:sp>
      <p:sp>
        <p:nvSpPr>
          <p:cNvPr id="769" name="Google Shape;769;p67"/>
          <p:cNvSpPr txBox="1"/>
          <p:nvPr>
            <p:ph idx="3" type="subTitle"/>
          </p:nvPr>
        </p:nvSpPr>
        <p:spPr>
          <a:xfrm>
            <a:off x="324000" y="31261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square</a:t>
            </a:r>
            <a:r>
              <a:rPr lang="en-GB"/>
              <a:t> number is the </a:t>
            </a:r>
            <a:r>
              <a:rPr b="1" lang="en-GB"/>
              <a:t>product </a:t>
            </a:r>
            <a:r>
              <a:rPr lang="en-GB"/>
              <a:t>of two repeated integers.</a:t>
            </a:r>
            <a:endParaRPr/>
          </a:p>
        </p:txBody>
      </p:sp>
      <p:sp>
        <p:nvSpPr>
          <p:cNvPr id="770" name="Google Shape;770;p67"/>
          <p:cNvSpPr txBox="1"/>
          <p:nvPr>
            <p:ph idx="4" type="subTitle"/>
          </p:nvPr>
        </p:nvSpPr>
        <p:spPr>
          <a:xfrm>
            <a:off x="324000" y="3901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cube</a:t>
            </a:r>
            <a:r>
              <a:rPr lang="en-GB"/>
              <a:t> number is the </a:t>
            </a:r>
            <a:r>
              <a:rPr b="1" lang="en-GB"/>
              <a:t>product </a:t>
            </a:r>
            <a:r>
              <a:rPr lang="en-GB"/>
              <a:t>of three repeated integers.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Multiples</a:t>
            </a:r>
            <a:endParaRPr/>
          </a:p>
        </p:txBody>
      </p:sp>
      <p:sp>
        <p:nvSpPr>
          <p:cNvPr id="776" name="Google Shape;776;p68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777" name="Google Shape;777;p68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778" name="Google Shape;778;p68"/>
          <p:cNvSpPr txBox="1"/>
          <p:nvPr>
            <p:ph idx="4" type="title"/>
          </p:nvPr>
        </p:nvSpPr>
        <p:spPr>
          <a:xfrm>
            <a:off x="324000" y="657600"/>
            <a:ext cx="7920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factors, multiples, squares and cubes</a:t>
            </a:r>
            <a:endParaRPr/>
          </a:p>
        </p:txBody>
      </p:sp>
      <p:pic>
        <p:nvPicPr>
          <p:cNvPr id="779" name="Google Shape;77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2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</a:t>
            </a:r>
            <a:endParaRPr/>
          </a:p>
        </p:txBody>
      </p:sp>
      <p:sp>
        <p:nvSpPr>
          <p:cNvPr id="785" name="Google Shape;785;p69"/>
          <p:cNvSpPr txBox="1"/>
          <p:nvPr>
            <p:ph idx="4294967295" type="subTitle"/>
          </p:nvPr>
        </p:nvSpPr>
        <p:spPr>
          <a:xfrm>
            <a:off x="324000" y="810005"/>
            <a:ext cx="84960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b="1" lang="en-GB"/>
              <a:t>multiple</a:t>
            </a:r>
            <a:r>
              <a:rPr lang="en-GB"/>
              <a:t> is the product of a number and an integer. </a:t>
            </a:r>
            <a:endParaRPr/>
          </a:p>
        </p:txBody>
      </p:sp>
      <p:grpSp>
        <p:nvGrpSpPr>
          <p:cNvPr id="786" name="Google Shape;786;p69"/>
          <p:cNvGrpSpPr/>
          <p:nvPr/>
        </p:nvGrpSpPr>
        <p:grpSpPr>
          <a:xfrm>
            <a:off x="876300" y="3943338"/>
            <a:ext cx="1464600" cy="424513"/>
            <a:chOff x="876300" y="2343138"/>
            <a:chExt cx="1464600" cy="424513"/>
          </a:xfrm>
        </p:grpSpPr>
        <p:sp>
          <p:nvSpPr>
            <p:cNvPr id="787" name="Google Shape;787;p69"/>
            <p:cNvSpPr/>
            <p:nvPr/>
          </p:nvSpPr>
          <p:spPr>
            <a:xfrm>
              <a:off x="876300" y="2343150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9"/>
            <p:cNvSpPr/>
            <p:nvPr/>
          </p:nvSpPr>
          <p:spPr>
            <a:xfrm>
              <a:off x="1396350" y="2343150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1916400" y="2343138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0" name="Google Shape;790;p69"/>
          <p:cNvSpPr txBox="1"/>
          <p:nvPr>
            <p:ph idx="4294967295" type="subTitle"/>
          </p:nvPr>
        </p:nvSpPr>
        <p:spPr>
          <a:xfrm>
            <a:off x="933600" y="1529500"/>
            <a:ext cx="34917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Example</a:t>
            </a:r>
            <a:endParaRPr/>
          </a:p>
        </p:txBody>
      </p:sp>
      <p:grpSp>
        <p:nvGrpSpPr>
          <p:cNvPr id="791" name="Google Shape;791;p69"/>
          <p:cNvGrpSpPr/>
          <p:nvPr/>
        </p:nvGrpSpPr>
        <p:grpSpPr>
          <a:xfrm>
            <a:off x="876300" y="3350063"/>
            <a:ext cx="1464600" cy="424513"/>
            <a:chOff x="876300" y="1826063"/>
            <a:chExt cx="1464600" cy="424513"/>
          </a:xfrm>
        </p:grpSpPr>
        <p:sp>
          <p:nvSpPr>
            <p:cNvPr id="792" name="Google Shape;792;p69"/>
            <p:cNvSpPr/>
            <p:nvPr/>
          </p:nvSpPr>
          <p:spPr>
            <a:xfrm>
              <a:off x="876300" y="1826075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9"/>
            <p:cNvSpPr/>
            <p:nvPr/>
          </p:nvSpPr>
          <p:spPr>
            <a:xfrm>
              <a:off x="1396350" y="1826075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9"/>
            <p:cNvSpPr/>
            <p:nvPr/>
          </p:nvSpPr>
          <p:spPr>
            <a:xfrm>
              <a:off x="1916400" y="1826063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69"/>
          <p:cNvGrpSpPr/>
          <p:nvPr/>
        </p:nvGrpSpPr>
        <p:grpSpPr>
          <a:xfrm>
            <a:off x="876300" y="2790063"/>
            <a:ext cx="1464600" cy="424513"/>
            <a:chOff x="876300" y="1826063"/>
            <a:chExt cx="1464600" cy="424513"/>
          </a:xfrm>
        </p:grpSpPr>
        <p:sp>
          <p:nvSpPr>
            <p:cNvPr id="796" name="Google Shape;796;p69"/>
            <p:cNvSpPr/>
            <p:nvPr/>
          </p:nvSpPr>
          <p:spPr>
            <a:xfrm>
              <a:off x="876300" y="1826075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9"/>
            <p:cNvSpPr/>
            <p:nvPr/>
          </p:nvSpPr>
          <p:spPr>
            <a:xfrm>
              <a:off x="1396350" y="1826075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9"/>
            <p:cNvSpPr/>
            <p:nvPr/>
          </p:nvSpPr>
          <p:spPr>
            <a:xfrm>
              <a:off x="1916400" y="1826063"/>
              <a:ext cx="424500" cy="4245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9" name="Google Shape;799;p69"/>
          <p:cNvSpPr txBox="1"/>
          <p:nvPr>
            <p:ph idx="4294967295" type="subTitle"/>
          </p:nvPr>
        </p:nvSpPr>
        <p:spPr>
          <a:xfrm>
            <a:off x="1094325" y="2329600"/>
            <a:ext cx="320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800" name="Google Shape;800;p69"/>
          <p:cNvSpPr txBox="1"/>
          <p:nvPr>
            <p:ph idx="4294967295" type="subTitle"/>
          </p:nvPr>
        </p:nvSpPr>
        <p:spPr>
          <a:xfrm>
            <a:off x="1246725" y="2329600"/>
            <a:ext cx="320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, 6</a:t>
            </a:r>
            <a:endParaRPr/>
          </a:p>
        </p:txBody>
      </p:sp>
      <p:sp>
        <p:nvSpPr>
          <p:cNvPr id="801" name="Google Shape;801;p69"/>
          <p:cNvSpPr txBox="1"/>
          <p:nvPr>
            <p:ph idx="4294967295" type="subTitle"/>
          </p:nvPr>
        </p:nvSpPr>
        <p:spPr>
          <a:xfrm>
            <a:off x="1570650" y="2329600"/>
            <a:ext cx="78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, 9 …</a:t>
            </a:r>
            <a:endParaRPr/>
          </a:p>
        </p:txBody>
      </p:sp>
      <p:sp>
        <p:nvSpPr>
          <p:cNvPr id="802" name="Google Shape;802;p69"/>
          <p:cNvSpPr txBox="1"/>
          <p:nvPr>
            <p:ph idx="4294967295" type="subTitle"/>
          </p:nvPr>
        </p:nvSpPr>
        <p:spPr>
          <a:xfrm>
            <a:off x="3962400" y="3820867"/>
            <a:ext cx="13806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</a:t>
            </a:r>
            <a:r>
              <a:rPr lang="en-GB"/>
              <a:t> ✕ 5 = 15</a:t>
            </a:r>
            <a:endParaRPr/>
          </a:p>
        </p:txBody>
      </p:sp>
      <p:sp>
        <p:nvSpPr>
          <p:cNvPr id="803" name="Google Shape;803;p69"/>
          <p:cNvSpPr txBox="1"/>
          <p:nvPr>
            <p:ph idx="4294967295" type="subTitle"/>
          </p:nvPr>
        </p:nvSpPr>
        <p:spPr>
          <a:xfrm>
            <a:off x="3962400" y="2842992"/>
            <a:ext cx="13806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 ✕ 1 = 5</a:t>
            </a:r>
            <a:endParaRPr/>
          </a:p>
        </p:txBody>
      </p:sp>
      <p:sp>
        <p:nvSpPr>
          <p:cNvPr id="804" name="Google Shape;804;p69"/>
          <p:cNvSpPr txBox="1"/>
          <p:nvPr>
            <p:ph idx="4294967295" type="subTitle"/>
          </p:nvPr>
        </p:nvSpPr>
        <p:spPr>
          <a:xfrm>
            <a:off x="3962400" y="3298467"/>
            <a:ext cx="13806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</a:t>
            </a:r>
            <a:r>
              <a:rPr lang="en-GB"/>
              <a:t> ✕ 2 = 10</a:t>
            </a:r>
            <a:endParaRPr/>
          </a:p>
        </p:txBody>
      </p:sp>
      <p:sp>
        <p:nvSpPr>
          <p:cNvPr id="805" name="Google Shape;805;p69"/>
          <p:cNvSpPr txBox="1"/>
          <p:nvPr>
            <p:ph idx="4294967295" type="subTitle"/>
          </p:nvPr>
        </p:nvSpPr>
        <p:spPr>
          <a:xfrm>
            <a:off x="628800" y="1931600"/>
            <a:ext cx="34917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m</a:t>
            </a:r>
            <a:r>
              <a:rPr b="1" lang="en-GB"/>
              <a:t>ultiples</a:t>
            </a:r>
            <a:r>
              <a:rPr lang="en-GB"/>
              <a:t> of 3 </a:t>
            </a:r>
            <a:endParaRPr/>
          </a:p>
        </p:txBody>
      </p:sp>
      <p:sp>
        <p:nvSpPr>
          <p:cNvPr id="806" name="Google Shape;806;p69"/>
          <p:cNvSpPr txBox="1"/>
          <p:nvPr>
            <p:ph idx="4294967295" type="subTitle"/>
          </p:nvPr>
        </p:nvSpPr>
        <p:spPr>
          <a:xfrm>
            <a:off x="3905400" y="1546825"/>
            <a:ext cx="1316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807" name="Google Shape;807;p69"/>
          <p:cNvSpPr txBox="1"/>
          <p:nvPr>
            <p:ph idx="4294967295" type="subTitle"/>
          </p:nvPr>
        </p:nvSpPr>
        <p:spPr>
          <a:xfrm>
            <a:off x="3676800" y="1948925"/>
            <a:ext cx="34917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m</a:t>
            </a:r>
            <a:r>
              <a:rPr b="1" lang="en-GB"/>
              <a:t>ultiples</a:t>
            </a:r>
            <a:r>
              <a:rPr lang="en-GB"/>
              <a:t> of 5 </a:t>
            </a:r>
            <a:endParaRPr/>
          </a:p>
        </p:txBody>
      </p:sp>
      <p:sp>
        <p:nvSpPr>
          <p:cNvPr id="808" name="Google Shape;808;p69"/>
          <p:cNvSpPr txBox="1"/>
          <p:nvPr>
            <p:ph idx="4294967295" type="subTitle"/>
          </p:nvPr>
        </p:nvSpPr>
        <p:spPr>
          <a:xfrm>
            <a:off x="3998054" y="2324758"/>
            <a:ext cx="320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809" name="Google Shape;809;p69"/>
          <p:cNvSpPr txBox="1"/>
          <p:nvPr>
            <p:ph idx="4294967295" type="subTitle"/>
          </p:nvPr>
        </p:nvSpPr>
        <p:spPr>
          <a:xfrm>
            <a:off x="4150474" y="2324758"/>
            <a:ext cx="5199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, 10</a:t>
            </a:r>
            <a:endParaRPr/>
          </a:p>
        </p:txBody>
      </p:sp>
      <p:sp>
        <p:nvSpPr>
          <p:cNvPr id="810" name="Google Shape;810;p69"/>
          <p:cNvSpPr txBox="1"/>
          <p:nvPr>
            <p:ph idx="4294967295" type="subTitle"/>
          </p:nvPr>
        </p:nvSpPr>
        <p:spPr>
          <a:xfrm>
            <a:off x="4626779" y="2324758"/>
            <a:ext cx="78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, 15 …</a:t>
            </a:r>
            <a:endParaRPr/>
          </a:p>
        </p:txBody>
      </p:sp>
      <p:sp>
        <p:nvSpPr>
          <p:cNvPr id="811" name="Google Shape;811;p69"/>
          <p:cNvSpPr txBox="1"/>
          <p:nvPr>
            <p:ph idx="4294967295" type="subTitle"/>
          </p:nvPr>
        </p:nvSpPr>
        <p:spPr>
          <a:xfrm>
            <a:off x="6724800" y="1542700"/>
            <a:ext cx="14646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812" name="Google Shape;812;p69"/>
          <p:cNvSpPr txBox="1"/>
          <p:nvPr>
            <p:ph idx="4294967295" type="subTitle"/>
          </p:nvPr>
        </p:nvSpPr>
        <p:spPr>
          <a:xfrm>
            <a:off x="6420000" y="1944800"/>
            <a:ext cx="22476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m</a:t>
            </a:r>
            <a:r>
              <a:rPr b="1" lang="en-GB"/>
              <a:t>ultiples</a:t>
            </a:r>
            <a:r>
              <a:rPr lang="en-GB"/>
              <a:t> of 4 </a:t>
            </a:r>
            <a:endParaRPr/>
          </a:p>
        </p:txBody>
      </p:sp>
      <p:sp>
        <p:nvSpPr>
          <p:cNvPr id="813" name="Google Shape;813;p69"/>
          <p:cNvSpPr txBox="1"/>
          <p:nvPr>
            <p:ph idx="4294967295" type="subTitle"/>
          </p:nvPr>
        </p:nvSpPr>
        <p:spPr>
          <a:xfrm>
            <a:off x="6585750" y="3830175"/>
            <a:ext cx="20058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11</a:t>
            </a:r>
            <a:r>
              <a:rPr lang="en-GB"/>
              <a:t> ✕ 4 = 44</a:t>
            </a:r>
            <a:endParaRPr/>
          </a:p>
        </p:txBody>
      </p:sp>
      <p:sp>
        <p:nvSpPr>
          <p:cNvPr id="814" name="Google Shape;814;p69"/>
          <p:cNvSpPr txBox="1"/>
          <p:nvPr>
            <p:ph idx="4294967295" type="subTitle"/>
          </p:nvPr>
        </p:nvSpPr>
        <p:spPr>
          <a:xfrm>
            <a:off x="6585750" y="2852288"/>
            <a:ext cx="13806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</a:t>
            </a:r>
            <a:r>
              <a:rPr lang="en-GB"/>
              <a:t> ✕ 7 = 28</a:t>
            </a:r>
            <a:endParaRPr/>
          </a:p>
        </p:txBody>
      </p:sp>
      <p:sp>
        <p:nvSpPr>
          <p:cNvPr id="815" name="Google Shape;815;p69"/>
          <p:cNvSpPr txBox="1"/>
          <p:nvPr>
            <p:ph idx="4294967295" type="subTitle"/>
          </p:nvPr>
        </p:nvSpPr>
        <p:spPr>
          <a:xfrm>
            <a:off x="6585750" y="3307775"/>
            <a:ext cx="18534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10</a:t>
            </a:r>
            <a:r>
              <a:rPr lang="en-GB"/>
              <a:t> ✕ 4 = 40</a:t>
            </a:r>
            <a:endParaRPr/>
          </a:p>
        </p:txBody>
      </p:sp>
      <p:sp>
        <p:nvSpPr>
          <p:cNvPr id="816" name="Google Shape;816;p69"/>
          <p:cNvSpPr txBox="1"/>
          <p:nvPr>
            <p:ph idx="4294967295" type="subTitle"/>
          </p:nvPr>
        </p:nvSpPr>
        <p:spPr>
          <a:xfrm>
            <a:off x="6585752" y="2295175"/>
            <a:ext cx="495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28</a:t>
            </a:r>
            <a:endParaRPr/>
          </a:p>
        </p:txBody>
      </p:sp>
      <p:sp>
        <p:nvSpPr>
          <p:cNvPr id="817" name="Google Shape;817;p69"/>
          <p:cNvSpPr txBox="1"/>
          <p:nvPr>
            <p:ph idx="4294967295" type="subTitle"/>
          </p:nvPr>
        </p:nvSpPr>
        <p:spPr>
          <a:xfrm>
            <a:off x="6912658" y="2295175"/>
            <a:ext cx="5199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, 40</a:t>
            </a:r>
            <a:endParaRPr/>
          </a:p>
        </p:txBody>
      </p:sp>
      <p:sp>
        <p:nvSpPr>
          <p:cNvPr id="818" name="Google Shape;818;p69"/>
          <p:cNvSpPr txBox="1"/>
          <p:nvPr>
            <p:ph idx="4294967295" type="subTitle"/>
          </p:nvPr>
        </p:nvSpPr>
        <p:spPr>
          <a:xfrm>
            <a:off x="7388963" y="2295175"/>
            <a:ext cx="78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, 44 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</a:t>
            </a:r>
            <a:endParaRPr/>
          </a:p>
        </p:txBody>
      </p:sp>
      <p:pic>
        <p:nvPicPr>
          <p:cNvPr id="824" name="Google Shape;82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3400" y="2620900"/>
            <a:ext cx="623350" cy="897613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0"/>
          <p:cNvSpPr txBox="1"/>
          <p:nvPr>
            <p:ph idx="4294967295" type="title"/>
          </p:nvPr>
        </p:nvSpPr>
        <p:spPr>
          <a:xfrm>
            <a:off x="324000" y="613150"/>
            <a:ext cx="65646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Three students each make a statement. 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Who is correct? Explain</a:t>
            </a:r>
            <a:endParaRPr b="0" sz="2000"/>
          </a:p>
        </p:txBody>
      </p:sp>
      <p:pic>
        <p:nvPicPr>
          <p:cNvPr id="826" name="Google Shape;82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00" y="2402331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9237" y="20253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0"/>
          <p:cNvSpPr txBox="1"/>
          <p:nvPr>
            <p:ph idx="4294967295" type="title"/>
          </p:nvPr>
        </p:nvSpPr>
        <p:spPr>
          <a:xfrm>
            <a:off x="445900" y="3613500"/>
            <a:ext cx="1375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Aisha</a:t>
            </a:r>
            <a:endParaRPr b="0" sz="2000"/>
          </a:p>
        </p:txBody>
      </p:sp>
      <p:sp>
        <p:nvSpPr>
          <p:cNvPr id="829" name="Google Shape;829;p70"/>
          <p:cNvSpPr txBox="1"/>
          <p:nvPr>
            <p:ph idx="4294967295" type="title"/>
          </p:nvPr>
        </p:nvSpPr>
        <p:spPr>
          <a:xfrm>
            <a:off x="3303400" y="3613500"/>
            <a:ext cx="6591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Sam</a:t>
            </a:r>
            <a:endParaRPr b="0" sz="2000"/>
          </a:p>
        </p:txBody>
      </p:sp>
      <p:sp>
        <p:nvSpPr>
          <p:cNvPr id="830" name="Google Shape;830;p70"/>
          <p:cNvSpPr txBox="1"/>
          <p:nvPr>
            <p:ph idx="4294967295" type="title"/>
          </p:nvPr>
        </p:nvSpPr>
        <p:spPr>
          <a:xfrm>
            <a:off x="7810500" y="3156300"/>
            <a:ext cx="1165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Andeep</a:t>
            </a:r>
            <a:endParaRPr b="0" sz="2000"/>
          </a:p>
        </p:txBody>
      </p:sp>
      <p:pic>
        <p:nvPicPr>
          <p:cNvPr id="831" name="Google Shape;831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1950" y="1350900"/>
            <a:ext cx="2130651" cy="177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8700" y="1320425"/>
            <a:ext cx="1965748" cy="180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159174" y="1325875"/>
            <a:ext cx="1796101" cy="125729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0"/>
          <p:cNvSpPr txBox="1"/>
          <p:nvPr>
            <p:ph idx="4294967295" type="title"/>
          </p:nvPr>
        </p:nvSpPr>
        <p:spPr>
          <a:xfrm>
            <a:off x="1157585" y="1425505"/>
            <a:ext cx="20880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8 ✕ 2 = 16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So 16 is a </a:t>
            </a:r>
            <a:r>
              <a:rPr lang="en-GB" sz="2000"/>
              <a:t>multiple</a:t>
            </a:r>
            <a:r>
              <a:rPr b="0" lang="en-GB" sz="2000"/>
              <a:t> of 8 and 2</a:t>
            </a:r>
            <a:endParaRPr b="0" sz="2000"/>
          </a:p>
        </p:txBody>
      </p:sp>
      <p:sp>
        <p:nvSpPr>
          <p:cNvPr id="835" name="Google Shape;835;p70"/>
          <p:cNvSpPr txBox="1"/>
          <p:nvPr>
            <p:ph idx="4294967295" type="title"/>
          </p:nvPr>
        </p:nvSpPr>
        <p:spPr>
          <a:xfrm>
            <a:off x="4139950" y="1404835"/>
            <a:ext cx="18645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10</a:t>
            </a:r>
            <a:r>
              <a:rPr b="0" lang="en-GB" sz="2000"/>
              <a:t> ✕ 1.5 = 15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So 15 is a </a:t>
            </a:r>
            <a:r>
              <a:rPr lang="en-GB" sz="2000"/>
              <a:t>multiple</a:t>
            </a:r>
            <a:r>
              <a:rPr b="0" lang="en-GB" sz="2000"/>
              <a:t> </a:t>
            </a:r>
            <a:r>
              <a:rPr b="0" lang="en-GB" sz="2000"/>
              <a:t>of 10 and 1.5</a:t>
            </a:r>
            <a:endParaRPr b="0" sz="2000"/>
          </a:p>
        </p:txBody>
      </p:sp>
      <p:sp>
        <p:nvSpPr>
          <p:cNvPr id="836" name="Google Shape;836;p70"/>
          <p:cNvSpPr txBox="1"/>
          <p:nvPr>
            <p:ph idx="4294967295" type="title"/>
          </p:nvPr>
        </p:nvSpPr>
        <p:spPr>
          <a:xfrm>
            <a:off x="6256800" y="1425500"/>
            <a:ext cx="1796100" cy="8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You are both correct</a:t>
            </a:r>
            <a:endParaRPr b="0" sz="2000"/>
          </a:p>
        </p:txBody>
      </p:sp>
      <p:sp>
        <p:nvSpPr>
          <p:cNvPr id="837" name="Google Shape;837;p70"/>
          <p:cNvSpPr txBox="1"/>
          <p:nvPr>
            <p:ph idx="4294967295" type="title"/>
          </p:nvPr>
        </p:nvSpPr>
        <p:spPr>
          <a:xfrm>
            <a:off x="433115" y="3913120"/>
            <a:ext cx="8384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Aisha is correct. 16 is the second multiple of 8 or the 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eighth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 multiple of 2. Sam and Andeep are 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incorrect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 because although 15 is a multiple of 1.5 it is not a multiple of 10.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Multiples</a:t>
            </a:r>
            <a:endParaRPr/>
          </a:p>
        </p:txBody>
      </p:sp>
      <p:sp>
        <p:nvSpPr>
          <p:cNvPr id="843" name="Google Shape;843;p71"/>
          <p:cNvSpPr txBox="1"/>
          <p:nvPr>
            <p:ph idx="4294967295" type="title"/>
          </p:nvPr>
        </p:nvSpPr>
        <p:spPr>
          <a:xfrm>
            <a:off x="324000" y="613150"/>
            <a:ext cx="8368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Lucas writes five random </a:t>
            </a:r>
            <a:r>
              <a:rPr b="0" lang="en-GB" sz="2000"/>
              <a:t>multiples of 5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15         20      30       45       5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Sam writes five random multiples of 2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2          14        20      30      44</a:t>
            </a:r>
            <a:endParaRPr b="0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Put these ten numbers in a Venn Diagram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/>
          </a:p>
        </p:txBody>
      </p:sp>
      <p:sp>
        <p:nvSpPr>
          <p:cNvPr id="844" name="Google Shape;844;p71"/>
          <p:cNvSpPr/>
          <p:nvPr/>
        </p:nvSpPr>
        <p:spPr>
          <a:xfrm>
            <a:off x="1681500" y="3482525"/>
            <a:ext cx="3376200" cy="1224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71"/>
          <p:cNvSpPr/>
          <p:nvPr/>
        </p:nvSpPr>
        <p:spPr>
          <a:xfrm>
            <a:off x="3989625" y="3482525"/>
            <a:ext cx="3376200" cy="1224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6" name="Google Shape;846;p71"/>
          <p:cNvGrpSpPr/>
          <p:nvPr/>
        </p:nvGrpSpPr>
        <p:grpSpPr>
          <a:xfrm>
            <a:off x="756550" y="3216725"/>
            <a:ext cx="7576500" cy="613500"/>
            <a:chOff x="756550" y="3216725"/>
            <a:chExt cx="7576500" cy="613500"/>
          </a:xfrm>
        </p:grpSpPr>
        <p:sp>
          <p:nvSpPr>
            <p:cNvPr id="847" name="Google Shape;847;p71"/>
            <p:cNvSpPr txBox="1"/>
            <p:nvPr/>
          </p:nvSpPr>
          <p:spPr>
            <a:xfrm>
              <a:off x="756550" y="3216725"/>
              <a:ext cx="18615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Kalam"/>
                  <a:ea typeface="Kalam"/>
                  <a:cs typeface="Kalam"/>
                  <a:sym typeface="Kalam"/>
                </a:rPr>
                <a:t>Multiples of 2</a:t>
              </a:r>
              <a:endParaRPr sz="19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48" name="Google Shape;848;p71"/>
            <p:cNvSpPr txBox="1"/>
            <p:nvPr/>
          </p:nvSpPr>
          <p:spPr>
            <a:xfrm>
              <a:off x="6471550" y="3216725"/>
              <a:ext cx="18615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Kalam"/>
                  <a:ea typeface="Kalam"/>
                  <a:cs typeface="Kalam"/>
                  <a:sym typeface="Kalam"/>
                </a:rPr>
                <a:t>Multiples of 5</a:t>
              </a:r>
              <a:endParaRPr sz="19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849" name="Google Shape;849;p71"/>
          <p:cNvSpPr txBox="1"/>
          <p:nvPr/>
        </p:nvSpPr>
        <p:spPr>
          <a:xfrm>
            <a:off x="5389275" y="3625650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2041175" y="3788075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1"/>
          <p:cNvSpPr txBox="1"/>
          <p:nvPr/>
        </p:nvSpPr>
        <p:spPr>
          <a:xfrm>
            <a:off x="4294450" y="3635675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52" name="Google Shape;852;p71"/>
          <p:cNvGrpSpPr/>
          <p:nvPr/>
        </p:nvGrpSpPr>
        <p:grpSpPr>
          <a:xfrm>
            <a:off x="3554200" y="1080007"/>
            <a:ext cx="2008350" cy="1293050"/>
            <a:chOff x="3554200" y="1080007"/>
            <a:chExt cx="2008350" cy="1293050"/>
          </a:xfrm>
        </p:grpSpPr>
        <p:sp>
          <p:nvSpPr>
            <p:cNvPr id="853" name="Google Shape;853;p71"/>
            <p:cNvSpPr/>
            <p:nvPr/>
          </p:nvSpPr>
          <p:spPr>
            <a:xfrm>
              <a:off x="4332525" y="1975757"/>
              <a:ext cx="576900" cy="389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71"/>
            <p:cNvSpPr/>
            <p:nvPr/>
          </p:nvSpPr>
          <p:spPr>
            <a:xfrm>
              <a:off x="3554200" y="1080007"/>
              <a:ext cx="576900" cy="389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71"/>
            <p:cNvSpPr/>
            <p:nvPr/>
          </p:nvSpPr>
          <p:spPr>
            <a:xfrm>
              <a:off x="4218250" y="1080007"/>
              <a:ext cx="576900" cy="389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71"/>
            <p:cNvSpPr/>
            <p:nvPr/>
          </p:nvSpPr>
          <p:spPr>
            <a:xfrm>
              <a:off x="4985650" y="1983357"/>
              <a:ext cx="576900" cy="3897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7" name="Google Shape;857;p71"/>
          <p:cNvSpPr txBox="1"/>
          <p:nvPr/>
        </p:nvSpPr>
        <p:spPr>
          <a:xfrm>
            <a:off x="4150937" y="4011225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8" name="Google Shape;858;p71"/>
          <p:cNvSpPr txBox="1"/>
          <p:nvPr/>
        </p:nvSpPr>
        <p:spPr>
          <a:xfrm>
            <a:off x="3015388" y="3635675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9" name="Google Shape;859;p71"/>
          <p:cNvSpPr txBox="1"/>
          <p:nvPr/>
        </p:nvSpPr>
        <p:spPr>
          <a:xfrm>
            <a:off x="6177675" y="3830225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0" name="Google Shape;860;p71"/>
          <p:cNvSpPr txBox="1"/>
          <p:nvPr/>
        </p:nvSpPr>
        <p:spPr>
          <a:xfrm>
            <a:off x="3464100" y="4011225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44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1" name="Google Shape;861;p71"/>
          <p:cNvSpPr txBox="1"/>
          <p:nvPr/>
        </p:nvSpPr>
        <p:spPr>
          <a:xfrm>
            <a:off x="5287447" y="4055315"/>
            <a:ext cx="576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2"/>
          <p:cNvSpPr txBox="1"/>
          <p:nvPr>
            <p:ph idx="4294967295" type="subTitle"/>
          </p:nvPr>
        </p:nvSpPr>
        <p:spPr>
          <a:xfrm>
            <a:off x="781902" y="2404390"/>
            <a:ext cx="2209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Multiples</a:t>
            </a:r>
            <a:r>
              <a:rPr lang="en-GB"/>
              <a:t> of 5 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72"/>
          <p:cNvSpPr txBox="1"/>
          <p:nvPr>
            <p:ph idx="4294967295" type="title"/>
          </p:nvPr>
        </p:nvSpPr>
        <p:spPr>
          <a:xfrm>
            <a:off x="300076" y="1458800"/>
            <a:ext cx="2786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a)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b)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c)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d)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868" name="Google Shape;868;p72"/>
          <p:cNvSpPr txBox="1"/>
          <p:nvPr>
            <p:ph idx="4294967295" type="title"/>
          </p:nvPr>
        </p:nvSpPr>
        <p:spPr>
          <a:xfrm>
            <a:off x="324000" y="809993"/>
            <a:ext cx="7885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Identif</a:t>
            </a:r>
            <a:r>
              <a:rPr b="0" lang="en-GB"/>
              <a:t>y the:</a:t>
            </a:r>
            <a:endParaRPr b="0"/>
          </a:p>
        </p:txBody>
      </p:sp>
      <p:sp>
        <p:nvSpPr>
          <p:cNvPr id="869" name="Google Shape;869;p72"/>
          <p:cNvSpPr txBox="1"/>
          <p:nvPr>
            <p:ph idx="1" type="body"/>
          </p:nvPr>
        </p:nvSpPr>
        <p:spPr>
          <a:xfrm>
            <a:off x="781902" y="1468737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Multiples</a:t>
            </a:r>
            <a:r>
              <a:rPr lang="en-GB"/>
              <a:t> of 4 </a:t>
            </a:r>
            <a:r>
              <a:rPr lang="en-GB"/>
              <a:t>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870" name="Google Shape;870;p72"/>
          <p:cNvSpPr txBox="1"/>
          <p:nvPr>
            <p:ph idx="4294967295" type="subTitle"/>
          </p:nvPr>
        </p:nvSpPr>
        <p:spPr>
          <a:xfrm>
            <a:off x="781901" y="3332350"/>
            <a:ext cx="2209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Multiples</a:t>
            </a:r>
            <a:r>
              <a:rPr lang="en-GB"/>
              <a:t> of 7 : </a:t>
            </a:r>
            <a:endParaRPr/>
          </a:p>
        </p:txBody>
      </p:sp>
      <p:sp>
        <p:nvSpPr>
          <p:cNvPr id="871" name="Google Shape;871;p72"/>
          <p:cNvSpPr txBox="1"/>
          <p:nvPr>
            <p:ph idx="4294967295" type="subTitle"/>
          </p:nvPr>
        </p:nvSpPr>
        <p:spPr>
          <a:xfrm>
            <a:off x="781901" y="4244075"/>
            <a:ext cx="31695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Multiples</a:t>
            </a:r>
            <a:r>
              <a:rPr lang="en-GB"/>
              <a:t> of </a:t>
            </a:r>
            <a:r>
              <a:rPr lang="en-GB"/>
              <a:t>4 and 5</a:t>
            </a:r>
            <a:r>
              <a:rPr lang="en-GB"/>
              <a:t> :  </a:t>
            </a:r>
            <a:endParaRPr/>
          </a:p>
        </p:txBody>
      </p:sp>
      <p:sp>
        <p:nvSpPr>
          <p:cNvPr id="872" name="Google Shape;872;p72"/>
          <p:cNvSpPr/>
          <p:nvPr/>
        </p:nvSpPr>
        <p:spPr>
          <a:xfrm>
            <a:off x="5020850" y="1352700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Multiples </a:t>
            </a:r>
            <a:endParaRPr/>
          </a:p>
        </p:txBody>
      </p:sp>
      <p:sp>
        <p:nvSpPr>
          <p:cNvPr id="874" name="Google Shape;874;p72"/>
          <p:cNvSpPr txBox="1"/>
          <p:nvPr>
            <p:ph idx="4294967295" type="title"/>
          </p:nvPr>
        </p:nvSpPr>
        <p:spPr>
          <a:xfrm>
            <a:off x="3257725" y="1463368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13</a:t>
            </a:r>
            <a:endParaRPr b="0" sz="2400"/>
          </a:p>
        </p:txBody>
      </p:sp>
      <p:sp>
        <p:nvSpPr>
          <p:cNvPr id="875" name="Google Shape;875;p72"/>
          <p:cNvSpPr txBox="1"/>
          <p:nvPr>
            <p:ph idx="4294967295" type="title"/>
          </p:nvPr>
        </p:nvSpPr>
        <p:spPr>
          <a:xfrm>
            <a:off x="4324525" y="1463368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4.1</a:t>
            </a:r>
            <a:endParaRPr b="0" sz="2400"/>
          </a:p>
        </p:txBody>
      </p:sp>
      <p:sp>
        <p:nvSpPr>
          <p:cNvPr id="876" name="Google Shape;876;p72"/>
          <p:cNvSpPr txBox="1"/>
          <p:nvPr>
            <p:ph idx="4294967295" type="title"/>
          </p:nvPr>
        </p:nvSpPr>
        <p:spPr>
          <a:xfrm>
            <a:off x="5241943" y="1476071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12</a:t>
            </a:r>
            <a:endParaRPr b="0" sz="2400"/>
          </a:p>
        </p:txBody>
      </p:sp>
      <p:sp>
        <p:nvSpPr>
          <p:cNvPr id="877" name="Google Shape;877;p72"/>
          <p:cNvSpPr txBox="1"/>
          <p:nvPr>
            <p:ph idx="4294967295" type="title"/>
          </p:nvPr>
        </p:nvSpPr>
        <p:spPr>
          <a:xfrm>
            <a:off x="6384943" y="1476071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40</a:t>
            </a:r>
            <a:endParaRPr b="0" sz="2400"/>
          </a:p>
        </p:txBody>
      </p:sp>
      <p:pic>
        <p:nvPicPr>
          <p:cNvPr descr="&lt;math xmlns=&quot;http://www.w3.org/1998/Math/MathML&quot; display=&quot;block&quot; data-is-equatio=&quot;1&quot; data-latex=&quot;\begin{array}{l}\frac{4}{8}\\&amp;#13;&amp;#10;\end{array}&quot;&gt;&lt;mtable columnalign=&quot;left&quot; columnspacing=&quot;1em&quot; rowspacing=&quot;4pt&quot;&gt;&lt;mtr&gt;&lt;mtd&gt;&lt;mfrac&gt;&lt;mn&gt;4&lt;/mn&gt;&lt;mn&gt;8&lt;/mn&gt;&lt;/mfrac&gt;&lt;/mtd&gt;&lt;/mtr&gt;&lt;/mtable&gt;&lt;/math&gt;" id="878" name="Google Shape;878;p72" title="1 lines Line 1: 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6351" y="1373862"/>
            <a:ext cx="1905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2"/>
          <p:cNvSpPr/>
          <p:nvPr/>
        </p:nvSpPr>
        <p:spPr>
          <a:xfrm>
            <a:off x="6152475" y="1352700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2"/>
          <p:cNvSpPr txBox="1"/>
          <p:nvPr>
            <p:ph idx="4294967295" type="title"/>
          </p:nvPr>
        </p:nvSpPr>
        <p:spPr>
          <a:xfrm>
            <a:off x="3290838" y="2389755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50</a:t>
            </a:r>
            <a:endParaRPr b="0" sz="2400"/>
          </a:p>
        </p:txBody>
      </p:sp>
      <p:sp>
        <p:nvSpPr>
          <p:cNvPr id="881" name="Google Shape;881;p72"/>
          <p:cNvSpPr txBox="1"/>
          <p:nvPr>
            <p:ph idx="4294967295" type="title"/>
          </p:nvPr>
        </p:nvSpPr>
        <p:spPr>
          <a:xfrm>
            <a:off x="4357638" y="2389755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4</a:t>
            </a:r>
            <a:endParaRPr b="0" sz="2400"/>
          </a:p>
        </p:txBody>
      </p:sp>
      <p:sp>
        <p:nvSpPr>
          <p:cNvPr id="882" name="Google Shape;882;p72"/>
          <p:cNvSpPr txBox="1"/>
          <p:nvPr>
            <p:ph idx="4294967295" type="title"/>
          </p:nvPr>
        </p:nvSpPr>
        <p:spPr>
          <a:xfrm>
            <a:off x="5275055" y="2402459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5</a:t>
            </a:r>
            <a:endParaRPr b="0" sz="2400"/>
          </a:p>
        </p:txBody>
      </p:sp>
      <p:sp>
        <p:nvSpPr>
          <p:cNvPr id="883" name="Google Shape;883;p72"/>
          <p:cNvSpPr txBox="1"/>
          <p:nvPr>
            <p:ph idx="4294967295" type="title"/>
          </p:nvPr>
        </p:nvSpPr>
        <p:spPr>
          <a:xfrm>
            <a:off x="6304872" y="2402450"/>
            <a:ext cx="736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5.55</a:t>
            </a:r>
            <a:endParaRPr b="0" sz="2400"/>
          </a:p>
        </p:txBody>
      </p:sp>
      <p:sp>
        <p:nvSpPr>
          <p:cNvPr id="884" name="Google Shape;884;p72"/>
          <p:cNvSpPr txBox="1"/>
          <p:nvPr>
            <p:ph idx="4294967295" type="title"/>
          </p:nvPr>
        </p:nvSpPr>
        <p:spPr>
          <a:xfrm>
            <a:off x="7411652" y="2412600"/>
            <a:ext cx="1408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50 005</a:t>
            </a:r>
            <a:endParaRPr b="0" sz="2400"/>
          </a:p>
        </p:txBody>
      </p:sp>
      <p:sp>
        <p:nvSpPr>
          <p:cNvPr id="885" name="Google Shape;885;p72"/>
          <p:cNvSpPr/>
          <p:nvPr/>
        </p:nvSpPr>
        <p:spPr>
          <a:xfrm>
            <a:off x="3081150" y="2279088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72"/>
          <p:cNvSpPr/>
          <p:nvPr/>
        </p:nvSpPr>
        <p:spPr>
          <a:xfrm>
            <a:off x="4915950" y="2279100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2"/>
          <p:cNvSpPr/>
          <p:nvPr/>
        </p:nvSpPr>
        <p:spPr>
          <a:xfrm>
            <a:off x="7218707" y="2273507"/>
            <a:ext cx="13320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2"/>
          <p:cNvSpPr/>
          <p:nvPr/>
        </p:nvSpPr>
        <p:spPr>
          <a:xfrm>
            <a:off x="6058938" y="3184900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2"/>
          <p:cNvSpPr txBox="1"/>
          <p:nvPr>
            <p:ph idx="4294967295" type="title"/>
          </p:nvPr>
        </p:nvSpPr>
        <p:spPr>
          <a:xfrm>
            <a:off x="4287388" y="3306518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0.7</a:t>
            </a:r>
            <a:endParaRPr b="0" sz="2400"/>
          </a:p>
        </p:txBody>
      </p:sp>
      <p:sp>
        <p:nvSpPr>
          <p:cNvPr id="890" name="Google Shape;890;p72"/>
          <p:cNvSpPr txBox="1"/>
          <p:nvPr>
            <p:ph idx="4294967295" type="title"/>
          </p:nvPr>
        </p:nvSpPr>
        <p:spPr>
          <a:xfrm>
            <a:off x="5277988" y="3306518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7</a:t>
            </a:r>
            <a:endParaRPr b="0" sz="2400"/>
          </a:p>
        </p:txBody>
      </p:sp>
      <p:sp>
        <p:nvSpPr>
          <p:cNvPr id="891" name="Google Shape;891;p72"/>
          <p:cNvSpPr txBox="1"/>
          <p:nvPr>
            <p:ph idx="4294967295" type="title"/>
          </p:nvPr>
        </p:nvSpPr>
        <p:spPr>
          <a:xfrm>
            <a:off x="6271605" y="3319221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70</a:t>
            </a:r>
            <a:endParaRPr b="0" sz="2400"/>
          </a:p>
        </p:txBody>
      </p:sp>
      <p:sp>
        <p:nvSpPr>
          <p:cNvPr id="892" name="Google Shape;892;p72"/>
          <p:cNvSpPr txBox="1"/>
          <p:nvPr>
            <p:ph idx="4294967295" type="title"/>
          </p:nvPr>
        </p:nvSpPr>
        <p:spPr>
          <a:xfrm>
            <a:off x="7414598" y="3319225"/>
            <a:ext cx="6171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700</a:t>
            </a:r>
            <a:endParaRPr b="0" sz="2400"/>
          </a:p>
        </p:txBody>
      </p:sp>
      <p:sp>
        <p:nvSpPr>
          <p:cNvPr id="893" name="Google Shape;893;p72"/>
          <p:cNvSpPr txBox="1"/>
          <p:nvPr>
            <p:ph idx="4294967295" type="title"/>
          </p:nvPr>
        </p:nvSpPr>
        <p:spPr>
          <a:xfrm>
            <a:off x="3107508" y="3306525"/>
            <a:ext cx="736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0.07</a:t>
            </a:r>
            <a:endParaRPr b="0" sz="2400"/>
          </a:p>
        </p:txBody>
      </p:sp>
      <p:sp>
        <p:nvSpPr>
          <p:cNvPr id="894" name="Google Shape;894;p72"/>
          <p:cNvSpPr/>
          <p:nvPr/>
        </p:nvSpPr>
        <p:spPr>
          <a:xfrm>
            <a:off x="4951300" y="3184900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2"/>
          <p:cNvSpPr/>
          <p:nvPr/>
        </p:nvSpPr>
        <p:spPr>
          <a:xfrm>
            <a:off x="7265188" y="3147475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2"/>
          <p:cNvSpPr txBox="1"/>
          <p:nvPr>
            <p:ph idx="4294967295" type="title"/>
          </p:nvPr>
        </p:nvSpPr>
        <p:spPr>
          <a:xfrm>
            <a:off x="4103800" y="4225058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9</a:t>
            </a:r>
            <a:endParaRPr b="0" sz="2400"/>
          </a:p>
        </p:txBody>
      </p:sp>
      <p:sp>
        <p:nvSpPr>
          <p:cNvPr id="897" name="Google Shape;897;p72"/>
          <p:cNvSpPr txBox="1"/>
          <p:nvPr>
            <p:ph idx="4294967295" type="title"/>
          </p:nvPr>
        </p:nvSpPr>
        <p:spPr>
          <a:xfrm>
            <a:off x="4942000" y="4225058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1</a:t>
            </a:r>
            <a:endParaRPr b="0" sz="2400"/>
          </a:p>
        </p:txBody>
      </p:sp>
      <p:sp>
        <p:nvSpPr>
          <p:cNvPr id="898" name="Google Shape;898;p72"/>
          <p:cNvSpPr txBox="1"/>
          <p:nvPr>
            <p:ph idx="4294967295" type="title"/>
          </p:nvPr>
        </p:nvSpPr>
        <p:spPr>
          <a:xfrm>
            <a:off x="5900325" y="4208283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20</a:t>
            </a:r>
            <a:endParaRPr b="0" sz="2400"/>
          </a:p>
        </p:txBody>
      </p:sp>
      <p:sp>
        <p:nvSpPr>
          <p:cNvPr id="899" name="Google Shape;899;p72"/>
          <p:cNvSpPr txBox="1"/>
          <p:nvPr>
            <p:ph idx="4294967295" type="title"/>
          </p:nvPr>
        </p:nvSpPr>
        <p:spPr>
          <a:xfrm>
            <a:off x="6881400" y="4220530"/>
            <a:ext cx="4707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10</a:t>
            </a:r>
            <a:endParaRPr b="0" sz="2400"/>
          </a:p>
        </p:txBody>
      </p:sp>
      <p:sp>
        <p:nvSpPr>
          <p:cNvPr id="900" name="Google Shape;900;p72"/>
          <p:cNvSpPr txBox="1"/>
          <p:nvPr>
            <p:ph idx="4294967295" type="title"/>
          </p:nvPr>
        </p:nvSpPr>
        <p:spPr>
          <a:xfrm>
            <a:off x="7754000" y="4223533"/>
            <a:ext cx="829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00"/>
              <a:t>100</a:t>
            </a:r>
            <a:endParaRPr b="0" sz="2400"/>
          </a:p>
        </p:txBody>
      </p:sp>
      <p:sp>
        <p:nvSpPr>
          <p:cNvPr id="901" name="Google Shape;901;p72"/>
          <p:cNvSpPr/>
          <p:nvPr/>
        </p:nvSpPr>
        <p:spPr>
          <a:xfrm>
            <a:off x="5649700" y="4111958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2"/>
          <p:cNvSpPr/>
          <p:nvPr/>
        </p:nvSpPr>
        <p:spPr>
          <a:xfrm>
            <a:off x="7630900" y="4120365"/>
            <a:ext cx="8298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3"/>
          <p:cNvSpPr txBox="1"/>
          <p:nvPr>
            <p:ph idx="1" type="body"/>
          </p:nvPr>
        </p:nvSpPr>
        <p:spPr>
          <a:xfrm>
            <a:off x="324000" y="802050"/>
            <a:ext cx="48885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Using the grid:</a:t>
            </a:r>
            <a:endParaRPr sz="1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Draw a circle next to all the </a:t>
            </a:r>
            <a:r>
              <a:rPr b="1" lang="en-GB" sz="2000"/>
              <a:t>multiples</a:t>
            </a:r>
            <a:r>
              <a:rPr lang="en-GB" sz="2000"/>
              <a:t> of 2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Draw a square next to all the </a:t>
            </a:r>
            <a:r>
              <a:rPr b="1" lang="en-GB" sz="2000"/>
              <a:t>multiples </a:t>
            </a:r>
            <a:r>
              <a:rPr lang="en-GB" sz="2000"/>
              <a:t>of 3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Draw a triangle next to all the </a:t>
            </a:r>
            <a:r>
              <a:rPr b="1" lang="en-GB" sz="2000"/>
              <a:t>multiples </a:t>
            </a:r>
            <a:r>
              <a:rPr lang="en-GB" sz="2000"/>
              <a:t>of 5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What the do the numbers with a circle and square represent?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What do the numbers with a circle, square and triangle represent?</a:t>
            </a:r>
            <a:endParaRPr sz="2000"/>
          </a:p>
        </p:txBody>
      </p:sp>
      <p:sp>
        <p:nvSpPr>
          <p:cNvPr id="908" name="Google Shape;908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Multiples </a:t>
            </a:r>
            <a:endParaRPr/>
          </a:p>
        </p:txBody>
      </p:sp>
      <p:graphicFrame>
        <p:nvGraphicFramePr>
          <p:cNvPr id="909" name="Google Shape;909;p73"/>
          <p:cNvGraphicFramePr/>
          <p:nvPr/>
        </p:nvGraphicFramePr>
        <p:xfrm>
          <a:off x="5212625" y="7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{3A94DC8F-A224-4188-B1E8-DC4A072D6B83}</a:tableStyleId>
              </a:tblPr>
              <a:tblGrid>
                <a:gridCol w="704600"/>
                <a:gridCol w="704600"/>
                <a:gridCol w="704600"/>
                <a:gridCol w="704600"/>
                <a:gridCol w="704600"/>
              </a:tblGrid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6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7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8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9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16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17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18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19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20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26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27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28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29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30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74"/>
          <p:cNvSpPr txBox="1"/>
          <p:nvPr>
            <p:ph idx="1" type="body"/>
          </p:nvPr>
        </p:nvSpPr>
        <p:spPr>
          <a:xfrm>
            <a:off x="625375" y="802050"/>
            <a:ext cx="467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Circle next to all the multiples of 2</a:t>
            </a:r>
            <a:endParaRPr sz="2000"/>
          </a:p>
        </p:txBody>
      </p:sp>
      <p:sp>
        <p:nvSpPr>
          <p:cNvPr id="915" name="Google Shape;915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Multiples </a:t>
            </a:r>
            <a:endParaRPr/>
          </a:p>
        </p:txBody>
      </p:sp>
      <p:graphicFrame>
        <p:nvGraphicFramePr>
          <p:cNvPr id="916" name="Google Shape;916;p74"/>
          <p:cNvGraphicFramePr/>
          <p:nvPr/>
        </p:nvGraphicFramePr>
        <p:xfrm>
          <a:off x="5212625" y="7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{3A94DC8F-A224-4188-B1E8-DC4A072D6B83}</a:tableStyleId>
              </a:tblPr>
              <a:tblGrid>
                <a:gridCol w="704600"/>
                <a:gridCol w="704600"/>
                <a:gridCol w="704600"/>
                <a:gridCol w="704600"/>
                <a:gridCol w="704600"/>
              </a:tblGrid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6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7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8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9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16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17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18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19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20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26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27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28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29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30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31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32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33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34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35</a:t>
                      </a:r>
                      <a:endParaRPr sz="18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7" name="Google Shape;917;p74"/>
          <p:cNvSpPr txBox="1"/>
          <p:nvPr/>
        </p:nvSpPr>
        <p:spPr>
          <a:xfrm>
            <a:off x="236205" y="685785"/>
            <a:ext cx="5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918" name="Google Shape;918;p74"/>
          <p:cNvSpPr txBox="1"/>
          <p:nvPr/>
        </p:nvSpPr>
        <p:spPr>
          <a:xfrm>
            <a:off x="236205" y="1254585"/>
            <a:ext cx="5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/>
          </a:p>
        </p:txBody>
      </p:sp>
      <p:sp>
        <p:nvSpPr>
          <p:cNvPr id="919" name="Google Shape;919;p74"/>
          <p:cNvSpPr txBox="1"/>
          <p:nvPr>
            <p:ph idx="1" type="body"/>
          </p:nvPr>
        </p:nvSpPr>
        <p:spPr>
          <a:xfrm>
            <a:off x="546400" y="1355125"/>
            <a:ext cx="4757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r>
              <a:rPr lang="en-GB" sz="2000"/>
              <a:t>Square next to all the </a:t>
            </a:r>
            <a:r>
              <a:rPr b="1" lang="en-GB" sz="2000"/>
              <a:t>multiples</a:t>
            </a:r>
            <a:r>
              <a:rPr lang="en-GB" sz="2000"/>
              <a:t> of 3</a:t>
            </a:r>
            <a:endParaRPr sz="2000"/>
          </a:p>
        </p:txBody>
      </p:sp>
      <p:sp>
        <p:nvSpPr>
          <p:cNvPr id="920" name="Google Shape;920;p74"/>
          <p:cNvSpPr txBox="1"/>
          <p:nvPr/>
        </p:nvSpPr>
        <p:spPr>
          <a:xfrm>
            <a:off x="236205" y="1810160"/>
            <a:ext cx="5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/>
          </a:p>
        </p:txBody>
      </p:sp>
      <p:sp>
        <p:nvSpPr>
          <p:cNvPr id="921" name="Google Shape;921;p74"/>
          <p:cNvSpPr txBox="1"/>
          <p:nvPr>
            <p:ph idx="1" type="body"/>
          </p:nvPr>
        </p:nvSpPr>
        <p:spPr>
          <a:xfrm>
            <a:off x="546475" y="1910700"/>
            <a:ext cx="4757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r>
              <a:rPr lang="en-GB" sz="2000"/>
              <a:t>Triangle next to all the </a:t>
            </a:r>
            <a:r>
              <a:rPr b="1" lang="en-GB" sz="2000"/>
              <a:t>multiples</a:t>
            </a:r>
            <a:r>
              <a:rPr lang="en-GB" sz="2000"/>
              <a:t> of 5</a:t>
            </a:r>
            <a:endParaRPr sz="2000"/>
          </a:p>
        </p:txBody>
      </p:sp>
      <p:sp>
        <p:nvSpPr>
          <p:cNvPr id="922" name="Google Shape;922;p74"/>
          <p:cNvSpPr txBox="1"/>
          <p:nvPr/>
        </p:nvSpPr>
        <p:spPr>
          <a:xfrm>
            <a:off x="236205" y="2365735"/>
            <a:ext cx="5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/>
          </a:p>
        </p:txBody>
      </p:sp>
      <p:sp>
        <p:nvSpPr>
          <p:cNvPr id="923" name="Google Shape;923;p74"/>
          <p:cNvSpPr txBox="1"/>
          <p:nvPr/>
        </p:nvSpPr>
        <p:spPr>
          <a:xfrm>
            <a:off x="546400" y="2365725"/>
            <a:ext cx="4295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the do the numbers with a circle and square represent?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4"/>
          <p:cNvSpPr txBox="1"/>
          <p:nvPr/>
        </p:nvSpPr>
        <p:spPr>
          <a:xfrm>
            <a:off x="506875" y="3098025"/>
            <a:ext cx="252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Multiples of 2 and 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5" name="Google Shape;925;p74"/>
          <p:cNvSpPr txBox="1"/>
          <p:nvPr/>
        </p:nvSpPr>
        <p:spPr>
          <a:xfrm>
            <a:off x="236205" y="3455535"/>
            <a:ext cx="5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/>
          </a:p>
        </p:txBody>
      </p:sp>
      <p:sp>
        <p:nvSpPr>
          <p:cNvPr id="926" name="Google Shape;926;p74"/>
          <p:cNvSpPr txBox="1"/>
          <p:nvPr/>
        </p:nvSpPr>
        <p:spPr>
          <a:xfrm>
            <a:off x="506875" y="3455525"/>
            <a:ext cx="4678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the numbers with a circle, square and triangle represent?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4"/>
          <p:cNvSpPr txBox="1"/>
          <p:nvPr/>
        </p:nvSpPr>
        <p:spPr>
          <a:xfrm>
            <a:off x="506875" y="4115125"/>
            <a:ext cx="324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Multiples of 2, 3 and 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28" name="Google Shape;928;p74"/>
          <p:cNvGrpSpPr/>
          <p:nvPr/>
        </p:nvGrpSpPr>
        <p:grpSpPr>
          <a:xfrm>
            <a:off x="5671423" y="793335"/>
            <a:ext cx="3065590" cy="3324250"/>
            <a:chOff x="5671423" y="793335"/>
            <a:chExt cx="3065590" cy="3324250"/>
          </a:xfrm>
        </p:grpSpPr>
        <p:sp>
          <p:nvSpPr>
            <p:cNvPr id="929" name="Google Shape;929;p74"/>
            <p:cNvSpPr/>
            <p:nvPr/>
          </p:nvSpPr>
          <p:spPr>
            <a:xfrm>
              <a:off x="6372860" y="79333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74"/>
            <p:cNvSpPr/>
            <p:nvPr/>
          </p:nvSpPr>
          <p:spPr>
            <a:xfrm>
              <a:off x="7806188" y="79896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74"/>
            <p:cNvSpPr/>
            <p:nvPr/>
          </p:nvSpPr>
          <p:spPr>
            <a:xfrm>
              <a:off x="5671425" y="131974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74"/>
            <p:cNvSpPr/>
            <p:nvPr/>
          </p:nvSpPr>
          <p:spPr>
            <a:xfrm>
              <a:off x="7104752" y="132537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74"/>
            <p:cNvSpPr/>
            <p:nvPr/>
          </p:nvSpPr>
          <p:spPr>
            <a:xfrm>
              <a:off x="6380470" y="182538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74"/>
            <p:cNvSpPr/>
            <p:nvPr/>
          </p:nvSpPr>
          <p:spPr>
            <a:xfrm>
              <a:off x="7813798" y="183101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74"/>
            <p:cNvSpPr/>
            <p:nvPr/>
          </p:nvSpPr>
          <p:spPr>
            <a:xfrm>
              <a:off x="5671423" y="235094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74"/>
            <p:cNvSpPr/>
            <p:nvPr/>
          </p:nvSpPr>
          <p:spPr>
            <a:xfrm>
              <a:off x="7104750" y="235657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74"/>
            <p:cNvSpPr/>
            <p:nvPr/>
          </p:nvSpPr>
          <p:spPr>
            <a:xfrm>
              <a:off x="6380465" y="285361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74"/>
            <p:cNvSpPr/>
            <p:nvPr/>
          </p:nvSpPr>
          <p:spPr>
            <a:xfrm>
              <a:off x="7813793" y="285924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74"/>
            <p:cNvSpPr/>
            <p:nvPr/>
          </p:nvSpPr>
          <p:spPr>
            <a:xfrm>
              <a:off x="5679045" y="338976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74"/>
            <p:cNvSpPr/>
            <p:nvPr/>
          </p:nvSpPr>
          <p:spPr>
            <a:xfrm>
              <a:off x="7112373" y="338777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74"/>
            <p:cNvSpPr/>
            <p:nvPr/>
          </p:nvSpPr>
          <p:spPr>
            <a:xfrm>
              <a:off x="6379878" y="389708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74"/>
            <p:cNvSpPr/>
            <p:nvPr/>
          </p:nvSpPr>
          <p:spPr>
            <a:xfrm>
              <a:off x="7813205" y="3895095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74"/>
            <p:cNvSpPr/>
            <p:nvPr/>
          </p:nvSpPr>
          <p:spPr>
            <a:xfrm>
              <a:off x="8514513" y="1319740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74"/>
            <p:cNvSpPr/>
            <p:nvPr/>
          </p:nvSpPr>
          <p:spPr>
            <a:xfrm>
              <a:off x="8514513" y="2350940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74"/>
            <p:cNvSpPr/>
            <p:nvPr/>
          </p:nvSpPr>
          <p:spPr>
            <a:xfrm>
              <a:off x="8515913" y="3382140"/>
              <a:ext cx="221100" cy="2205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6" name="Google Shape;946;p74"/>
          <p:cNvGrpSpPr/>
          <p:nvPr/>
        </p:nvGrpSpPr>
        <p:grpSpPr>
          <a:xfrm>
            <a:off x="5694075" y="1063275"/>
            <a:ext cx="3009800" cy="3299500"/>
            <a:chOff x="5694075" y="1063275"/>
            <a:chExt cx="3009800" cy="3299500"/>
          </a:xfrm>
        </p:grpSpPr>
        <p:sp>
          <p:nvSpPr>
            <p:cNvPr id="947" name="Google Shape;947;p74"/>
            <p:cNvSpPr/>
            <p:nvPr/>
          </p:nvSpPr>
          <p:spPr>
            <a:xfrm>
              <a:off x="7095975" y="1063275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74"/>
            <p:cNvSpPr/>
            <p:nvPr/>
          </p:nvSpPr>
          <p:spPr>
            <a:xfrm>
              <a:off x="5694075" y="1586092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74"/>
            <p:cNvSpPr/>
            <p:nvPr/>
          </p:nvSpPr>
          <p:spPr>
            <a:xfrm>
              <a:off x="7807875" y="1588242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74"/>
            <p:cNvSpPr/>
            <p:nvPr/>
          </p:nvSpPr>
          <p:spPr>
            <a:xfrm>
              <a:off x="6398675" y="2107075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74"/>
            <p:cNvSpPr/>
            <p:nvPr/>
          </p:nvSpPr>
          <p:spPr>
            <a:xfrm>
              <a:off x="8512475" y="2109225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74"/>
            <p:cNvSpPr/>
            <p:nvPr/>
          </p:nvSpPr>
          <p:spPr>
            <a:xfrm>
              <a:off x="5694075" y="3143217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74"/>
            <p:cNvSpPr/>
            <p:nvPr/>
          </p:nvSpPr>
          <p:spPr>
            <a:xfrm>
              <a:off x="7807875" y="3145367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4"/>
            <p:cNvSpPr/>
            <p:nvPr/>
          </p:nvSpPr>
          <p:spPr>
            <a:xfrm>
              <a:off x="6398675" y="3662050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74"/>
            <p:cNvSpPr/>
            <p:nvPr/>
          </p:nvSpPr>
          <p:spPr>
            <a:xfrm>
              <a:off x="8512475" y="3664200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74"/>
            <p:cNvSpPr/>
            <p:nvPr/>
          </p:nvSpPr>
          <p:spPr>
            <a:xfrm>
              <a:off x="7110125" y="2617317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74"/>
            <p:cNvSpPr/>
            <p:nvPr/>
          </p:nvSpPr>
          <p:spPr>
            <a:xfrm>
              <a:off x="7110125" y="4171375"/>
              <a:ext cx="191400" cy="191400"/>
            </a:xfrm>
            <a:prstGeom prst="rect">
              <a:avLst/>
            </a:prstGeom>
            <a:solidFill>
              <a:schemeClr val="accent3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8" name="Google Shape;958;p74"/>
          <p:cNvGrpSpPr/>
          <p:nvPr/>
        </p:nvGrpSpPr>
        <p:grpSpPr>
          <a:xfrm>
            <a:off x="8067432" y="1031525"/>
            <a:ext cx="213900" cy="3333150"/>
            <a:chOff x="8067432" y="1031525"/>
            <a:chExt cx="213900" cy="3333150"/>
          </a:xfrm>
        </p:grpSpPr>
        <p:sp>
          <p:nvSpPr>
            <p:cNvPr id="959" name="Google Shape;959;p74"/>
            <p:cNvSpPr/>
            <p:nvPr/>
          </p:nvSpPr>
          <p:spPr>
            <a:xfrm>
              <a:off x="8067432" y="1031525"/>
              <a:ext cx="213900" cy="222000"/>
            </a:xfrm>
            <a:prstGeom prst="triangle">
              <a:avLst>
                <a:gd fmla="val 50000" name="adj"/>
              </a:avLst>
            </a:prstGeom>
            <a:solidFill>
              <a:srgbClr val="FF00FF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74"/>
            <p:cNvSpPr/>
            <p:nvPr/>
          </p:nvSpPr>
          <p:spPr>
            <a:xfrm>
              <a:off x="8067432" y="1550050"/>
              <a:ext cx="213900" cy="222000"/>
            </a:xfrm>
            <a:prstGeom prst="triangle">
              <a:avLst>
                <a:gd fmla="val 50000" name="adj"/>
              </a:avLst>
            </a:prstGeom>
            <a:solidFill>
              <a:srgbClr val="FF00FF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74"/>
            <p:cNvSpPr/>
            <p:nvPr/>
          </p:nvSpPr>
          <p:spPr>
            <a:xfrm>
              <a:off x="8067432" y="2068575"/>
              <a:ext cx="213900" cy="222000"/>
            </a:xfrm>
            <a:prstGeom prst="triangle">
              <a:avLst>
                <a:gd fmla="val 50000" name="adj"/>
              </a:avLst>
            </a:prstGeom>
            <a:solidFill>
              <a:srgbClr val="FF00FF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74"/>
            <p:cNvSpPr/>
            <p:nvPr/>
          </p:nvSpPr>
          <p:spPr>
            <a:xfrm>
              <a:off x="8067432" y="2587100"/>
              <a:ext cx="213900" cy="222000"/>
            </a:xfrm>
            <a:prstGeom prst="triangle">
              <a:avLst>
                <a:gd fmla="val 50000" name="adj"/>
              </a:avLst>
            </a:prstGeom>
            <a:solidFill>
              <a:srgbClr val="FF00FF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74"/>
            <p:cNvSpPr/>
            <p:nvPr/>
          </p:nvSpPr>
          <p:spPr>
            <a:xfrm>
              <a:off x="8067432" y="3105625"/>
              <a:ext cx="213900" cy="222000"/>
            </a:xfrm>
            <a:prstGeom prst="triangle">
              <a:avLst>
                <a:gd fmla="val 50000" name="adj"/>
              </a:avLst>
            </a:prstGeom>
            <a:solidFill>
              <a:srgbClr val="FF00FF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74"/>
            <p:cNvSpPr/>
            <p:nvPr/>
          </p:nvSpPr>
          <p:spPr>
            <a:xfrm>
              <a:off x="8067432" y="3624150"/>
              <a:ext cx="213900" cy="222000"/>
            </a:xfrm>
            <a:prstGeom prst="triangle">
              <a:avLst>
                <a:gd fmla="val 50000" name="adj"/>
              </a:avLst>
            </a:prstGeom>
            <a:solidFill>
              <a:srgbClr val="FF00FF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74"/>
            <p:cNvSpPr/>
            <p:nvPr/>
          </p:nvSpPr>
          <p:spPr>
            <a:xfrm>
              <a:off x="8067432" y="4142675"/>
              <a:ext cx="213900" cy="222000"/>
            </a:xfrm>
            <a:prstGeom prst="triangle">
              <a:avLst>
                <a:gd fmla="val 50000" name="adj"/>
              </a:avLst>
            </a:prstGeom>
            <a:solidFill>
              <a:srgbClr val="FF00FF"/>
            </a:solidFill>
            <a:ln cap="flat" cmpd="sng" w="38100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5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Multiples</a:t>
            </a:r>
            <a:endParaRPr/>
          </a:p>
        </p:txBody>
      </p:sp>
      <p:sp>
        <p:nvSpPr>
          <p:cNvPr id="971" name="Google Shape;971;p75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972" name="Google Shape;972;p75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973" name="Google Shape;973;p75"/>
          <p:cNvSpPr txBox="1"/>
          <p:nvPr>
            <p:ph idx="4" type="title"/>
          </p:nvPr>
        </p:nvSpPr>
        <p:spPr>
          <a:xfrm>
            <a:off x="324000" y="657600"/>
            <a:ext cx="7920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factors, multiples, squares and cubes</a:t>
            </a:r>
            <a:endParaRPr/>
          </a:p>
        </p:txBody>
      </p:sp>
      <p:pic>
        <p:nvPicPr>
          <p:cNvPr id="974" name="Google Shape;97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18" y="276574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980" name="Google Shape;980;p76"/>
          <p:cNvSpPr txBox="1"/>
          <p:nvPr>
            <p:ph idx="4294967295" type="subTitle"/>
          </p:nvPr>
        </p:nvSpPr>
        <p:spPr>
          <a:xfrm>
            <a:off x="324000" y="732750"/>
            <a:ext cx="7290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A numerical </a:t>
            </a:r>
            <a:r>
              <a:rPr b="1" lang="en-GB" sz="2000">
                <a:solidFill>
                  <a:srgbClr val="282828"/>
                </a:solidFill>
              </a:rPr>
              <a:t>factor</a:t>
            </a:r>
            <a:r>
              <a:rPr lang="en-GB" sz="2000">
                <a:solidFill>
                  <a:srgbClr val="282828"/>
                </a:solidFill>
              </a:rPr>
              <a:t> is an integer which exactly divides another integer. </a:t>
            </a:r>
            <a:endParaRPr sz="2000"/>
          </a:p>
        </p:txBody>
      </p:sp>
      <p:sp>
        <p:nvSpPr>
          <p:cNvPr id="981" name="Google Shape;981;p76"/>
          <p:cNvSpPr txBox="1"/>
          <p:nvPr>
            <p:ph idx="4294967295" type="subTitle"/>
          </p:nvPr>
        </p:nvSpPr>
        <p:spPr>
          <a:xfrm>
            <a:off x="324000" y="1533000"/>
            <a:ext cx="34917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Example - </a:t>
            </a:r>
            <a:r>
              <a:rPr b="1" lang="en-GB" sz="2000"/>
              <a:t>Factors</a:t>
            </a:r>
            <a:r>
              <a:rPr lang="en-GB" sz="2000"/>
              <a:t> of 12</a:t>
            </a:r>
            <a:endParaRPr sz="2000"/>
          </a:p>
        </p:txBody>
      </p:sp>
      <p:grpSp>
        <p:nvGrpSpPr>
          <p:cNvPr id="982" name="Google Shape;982;p76"/>
          <p:cNvGrpSpPr/>
          <p:nvPr/>
        </p:nvGrpSpPr>
        <p:grpSpPr>
          <a:xfrm>
            <a:off x="323950" y="1932395"/>
            <a:ext cx="4379274" cy="290771"/>
            <a:chOff x="323950" y="1932395"/>
            <a:chExt cx="4379274" cy="290771"/>
          </a:xfrm>
        </p:grpSpPr>
        <p:grpSp>
          <p:nvGrpSpPr>
            <p:cNvPr id="983" name="Google Shape;983;p76"/>
            <p:cNvGrpSpPr/>
            <p:nvPr/>
          </p:nvGrpSpPr>
          <p:grpSpPr>
            <a:xfrm>
              <a:off x="323950" y="1932395"/>
              <a:ext cx="667082" cy="290771"/>
              <a:chOff x="324003" y="2547600"/>
              <a:chExt cx="729450" cy="333300"/>
            </a:xfrm>
          </p:grpSpPr>
          <p:sp>
            <p:nvSpPr>
              <p:cNvPr id="984" name="Google Shape;984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6" name="Google Shape;986;p76"/>
            <p:cNvGrpSpPr/>
            <p:nvPr/>
          </p:nvGrpSpPr>
          <p:grpSpPr>
            <a:xfrm>
              <a:off x="1064385" y="1932395"/>
              <a:ext cx="667082" cy="290771"/>
              <a:chOff x="324003" y="2547600"/>
              <a:chExt cx="729450" cy="333300"/>
            </a:xfrm>
          </p:grpSpPr>
          <p:sp>
            <p:nvSpPr>
              <p:cNvPr id="987" name="Google Shape;987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9" name="Google Shape;989;p76"/>
            <p:cNvGrpSpPr/>
            <p:nvPr/>
          </p:nvGrpSpPr>
          <p:grpSpPr>
            <a:xfrm>
              <a:off x="1804821" y="1932395"/>
              <a:ext cx="667082" cy="290771"/>
              <a:chOff x="324003" y="2547600"/>
              <a:chExt cx="729450" cy="333300"/>
            </a:xfrm>
          </p:grpSpPr>
          <p:sp>
            <p:nvSpPr>
              <p:cNvPr id="990" name="Google Shape;990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2" name="Google Shape;992;p76"/>
            <p:cNvGrpSpPr/>
            <p:nvPr/>
          </p:nvGrpSpPr>
          <p:grpSpPr>
            <a:xfrm>
              <a:off x="2545256" y="1932395"/>
              <a:ext cx="667082" cy="290771"/>
              <a:chOff x="324003" y="2547600"/>
              <a:chExt cx="729450" cy="333300"/>
            </a:xfrm>
          </p:grpSpPr>
          <p:sp>
            <p:nvSpPr>
              <p:cNvPr id="993" name="Google Shape;993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5" name="Google Shape;995;p76"/>
            <p:cNvGrpSpPr/>
            <p:nvPr/>
          </p:nvGrpSpPr>
          <p:grpSpPr>
            <a:xfrm>
              <a:off x="3294403" y="1932395"/>
              <a:ext cx="667082" cy="290771"/>
              <a:chOff x="324003" y="2547600"/>
              <a:chExt cx="729450" cy="333300"/>
            </a:xfrm>
          </p:grpSpPr>
          <p:sp>
            <p:nvSpPr>
              <p:cNvPr id="996" name="Google Shape;996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8" name="Google Shape;998;p76"/>
            <p:cNvGrpSpPr/>
            <p:nvPr/>
          </p:nvGrpSpPr>
          <p:grpSpPr>
            <a:xfrm>
              <a:off x="4036142" y="1932395"/>
              <a:ext cx="667082" cy="290771"/>
              <a:chOff x="324003" y="2547600"/>
              <a:chExt cx="729450" cy="333300"/>
            </a:xfrm>
          </p:grpSpPr>
          <p:sp>
            <p:nvSpPr>
              <p:cNvPr id="999" name="Google Shape;999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01" name="Google Shape;1001;p76"/>
          <p:cNvSpPr txBox="1"/>
          <p:nvPr>
            <p:ph idx="4294967295" type="subTitle"/>
          </p:nvPr>
        </p:nvSpPr>
        <p:spPr>
          <a:xfrm>
            <a:off x="5214300" y="1896375"/>
            <a:ext cx="10425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12 ÷ 1 = </a:t>
            </a:r>
            <a:endParaRPr sz="2000"/>
          </a:p>
        </p:txBody>
      </p:sp>
      <p:sp>
        <p:nvSpPr>
          <p:cNvPr id="1002" name="Google Shape;1002;p76"/>
          <p:cNvSpPr txBox="1"/>
          <p:nvPr>
            <p:ph idx="4294967295" type="subTitle"/>
          </p:nvPr>
        </p:nvSpPr>
        <p:spPr>
          <a:xfrm>
            <a:off x="6848400" y="1896377"/>
            <a:ext cx="18192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1</a:t>
            </a:r>
            <a:r>
              <a:rPr lang="en-GB" sz="2000"/>
              <a:t> and 12 are factors of 12</a:t>
            </a:r>
            <a:endParaRPr sz="2000"/>
          </a:p>
        </p:txBody>
      </p:sp>
      <p:sp>
        <p:nvSpPr>
          <p:cNvPr id="1003" name="Google Shape;1003;p76"/>
          <p:cNvSpPr txBox="1"/>
          <p:nvPr>
            <p:ph idx="4294967295" type="subTitle"/>
          </p:nvPr>
        </p:nvSpPr>
        <p:spPr>
          <a:xfrm>
            <a:off x="3211525" y="2765150"/>
            <a:ext cx="10425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12 ÷ 2 = </a:t>
            </a:r>
            <a:endParaRPr sz="2000"/>
          </a:p>
        </p:txBody>
      </p:sp>
      <p:sp>
        <p:nvSpPr>
          <p:cNvPr id="1004" name="Google Shape;1004;p76"/>
          <p:cNvSpPr txBox="1"/>
          <p:nvPr>
            <p:ph idx="4294967295" type="subTitle"/>
          </p:nvPr>
        </p:nvSpPr>
        <p:spPr>
          <a:xfrm>
            <a:off x="4834826" y="2765151"/>
            <a:ext cx="18192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</a:t>
            </a:r>
            <a:r>
              <a:rPr lang="en-GB" sz="2000"/>
              <a:t> and 6 are factors </a:t>
            </a:r>
            <a:r>
              <a:rPr lang="en-GB" sz="2000"/>
              <a:t>of 12</a:t>
            </a:r>
            <a:endParaRPr sz="2000"/>
          </a:p>
        </p:txBody>
      </p:sp>
      <p:grpSp>
        <p:nvGrpSpPr>
          <p:cNvPr id="1005" name="Google Shape;1005;p76"/>
          <p:cNvGrpSpPr/>
          <p:nvPr/>
        </p:nvGrpSpPr>
        <p:grpSpPr>
          <a:xfrm>
            <a:off x="323950" y="2524470"/>
            <a:ext cx="2147953" cy="671771"/>
            <a:chOff x="323950" y="2524470"/>
            <a:chExt cx="2147953" cy="671771"/>
          </a:xfrm>
        </p:grpSpPr>
        <p:grpSp>
          <p:nvGrpSpPr>
            <p:cNvPr id="1006" name="Google Shape;1006;p76"/>
            <p:cNvGrpSpPr/>
            <p:nvPr/>
          </p:nvGrpSpPr>
          <p:grpSpPr>
            <a:xfrm>
              <a:off x="323950" y="2524470"/>
              <a:ext cx="667082" cy="290771"/>
              <a:chOff x="324003" y="2547600"/>
              <a:chExt cx="729450" cy="333300"/>
            </a:xfrm>
          </p:grpSpPr>
          <p:sp>
            <p:nvSpPr>
              <p:cNvPr id="1007" name="Google Shape;1007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9" name="Google Shape;1009;p76"/>
            <p:cNvGrpSpPr/>
            <p:nvPr/>
          </p:nvGrpSpPr>
          <p:grpSpPr>
            <a:xfrm>
              <a:off x="1064385" y="2524470"/>
              <a:ext cx="667082" cy="290771"/>
              <a:chOff x="324003" y="2547600"/>
              <a:chExt cx="729450" cy="333300"/>
            </a:xfrm>
          </p:grpSpPr>
          <p:sp>
            <p:nvSpPr>
              <p:cNvPr id="1010" name="Google Shape;1010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2" name="Google Shape;1012;p76"/>
            <p:cNvGrpSpPr/>
            <p:nvPr/>
          </p:nvGrpSpPr>
          <p:grpSpPr>
            <a:xfrm>
              <a:off x="1804821" y="2524470"/>
              <a:ext cx="667082" cy="290771"/>
              <a:chOff x="324003" y="2547600"/>
              <a:chExt cx="729450" cy="333300"/>
            </a:xfrm>
          </p:grpSpPr>
          <p:sp>
            <p:nvSpPr>
              <p:cNvPr id="1013" name="Google Shape;1013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5" name="Google Shape;1015;p76"/>
            <p:cNvGrpSpPr/>
            <p:nvPr/>
          </p:nvGrpSpPr>
          <p:grpSpPr>
            <a:xfrm>
              <a:off x="323950" y="2905470"/>
              <a:ext cx="667082" cy="290771"/>
              <a:chOff x="324003" y="2547600"/>
              <a:chExt cx="729450" cy="333300"/>
            </a:xfrm>
          </p:grpSpPr>
          <p:sp>
            <p:nvSpPr>
              <p:cNvPr id="1016" name="Google Shape;1016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8" name="Google Shape;1018;p76"/>
            <p:cNvGrpSpPr/>
            <p:nvPr/>
          </p:nvGrpSpPr>
          <p:grpSpPr>
            <a:xfrm>
              <a:off x="1064385" y="2905470"/>
              <a:ext cx="667082" cy="290771"/>
              <a:chOff x="324003" y="2547600"/>
              <a:chExt cx="729450" cy="333300"/>
            </a:xfrm>
          </p:grpSpPr>
          <p:sp>
            <p:nvSpPr>
              <p:cNvPr id="1019" name="Google Shape;1019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1" name="Google Shape;1021;p76"/>
            <p:cNvGrpSpPr/>
            <p:nvPr/>
          </p:nvGrpSpPr>
          <p:grpSpPr>
            <a:xfrm>
              <a:off x="1804821" y="2905470"/>
              <a:ext cx="667082" cy="290771"/>
              <a:chOff x="324003" y="2547600"/>
              <a:chExt cx="729450" cy="333300"/>
            </a:xfrm>
          </p:grpSpPr>
          <p:sp>
            <p:nvSpPr>
              <p:cNvPr id="1022" name="Google Shape;1022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4" name="Google Shape;1024;p76"/>
          <p:cNvGrpSpPr/>
          <p:nvPr/>
        </p:nvGrpSpPr>
        <p:grpSpPr>
          <a:xfrm>
            <a:off x="323950" y="3515070"/>
            <a:ext cx="1407568" cy="1052771"/>
            <a:chOff x="323950" y="3515070"/>
            <a:chExt cx="1407568" cy="1052771"/>
          </a:xfrm>
        </p:grpSpPr>
        <p:grpSp>
          <p:nvGrpSpPr>
            <p:cNvPr id="1025" name="Google Shape;1025;p76"/>
            <p:cNvGrpSpPr/>
            <p:nvPr/>
          </p:nvGrpSpPr>
          <p:grpSpPr>
            <a:xfrm>
              <a:off x="323950" y="3515070"/>
              <a:ext cx="667082" cy="290771"/>
              <a:chOff x="324003" y="2547600"/>
              <a:chExt cx="729450" cy="333300"/>
            </a:xfrm>
          </p:grpSpPr>
          <p:sp>
            <p:nvSpPr>
              <p:cNvPr id="1026" name="Google Shape;1026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8" name="Google Shape;1028;p76"/>
            <p:cNvGrpSpPr/>
            <p:nvPr/>
          </p:nvGrpSpPr>
          <p:grpSpPr>
            <a:xfrm>
              <a:off x="1064385" y="3515070"/>
              <a:ext cx="667082" cy="290771"/>
              <a:chOff x="324003" y="2547600"/>
              <a:chExt cx="729450" cy="333300"/>
            </a:xfrm>
          </p:grpSpPr>
          <p:sp>
            <p:nvSpPr>
              <p:cNvPr id="1029" name="Google Shape;1029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1" name="Google Shape;1031;p76"/>
            <p:cNvGrpSpPr/>
            <p:nvPr/>
          </p:nvGrpSpPr>
          <p:grpSpPr>
            <a:xfrm>
              <a:off x="323950" y="3896070"/>
              <a:ext cx="667082" cy="290771"/>
              <a:chOff x="324003" y="2547600"/>
              <a:chExt cx="729450" cy="333300"/>
            </a:xfrm>
          </p:grpSpPr>
          <p:sp>
            <p:nvSpPr>
              <p:cNvPr id="1032" name="Google Shape;1032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4" name="Google Shape;1034;p76"/>
            <p:cNvGrpSpPr/>
            <p:nvPr/>
          </p:nvGrpSpPr>
          <p:grpSpPr>
            <a:xfrm>
              <a:off x="1064385" y="3896070"/>
              <a:ext cx="667082" cy="290771"/>
              <a:chOff x="324003" y="2547600"/>
              <a:chExt cx="729450" cy="333300"/>
            </a:xfrm>
          </p:grpSpPr>
          <p:sp>
            <p:nvSpPr>
              <p:cNvPr id="1035" name="Google Shape;1035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7" name="Google Shape;1037;p76"/>
            <p:cNvGrpSpPr/>
            <p:nvPr/>
          </p:nvGrpSpPr>
          <p:grpSpPr>
            <a:xfrm>
              <a:off x="324000" y="4277070"/>
              <a:ext cx="667082" cy="290771"/>
              <a:chOff x="324003" y="2547600"/>
              <a:chExt cx="729450" cy="333300"/>
            </a:xfrm>
          </p:grpSpPr>
          <p:sp>
            <p:nvSpPr>
              <p:cNvPr id="1038" name="Google Shape;1038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0" name="Google Shape;1040;p76"/>
            <p:cNvGrpSpPr/>
            <p:nvPr/>
          </p:nvGrpSpPr>
          <p:grpSpPr>
            <a:xfrm>
              <a:off x="1064435" y="4277070"/>
              <a:ext cx="667082" cy="290771"/>
              <a:chOff x="324003" y="2547600"/>
              <a:chExt cx="729450" cy="333300"/>
            </a:xfrm>
          </p:grpSpPr>
          <p:sp>
            <p:nvSpPr>
              <p:cNvPr id="1041" name="Google Shape;1041;p76"/>
              <p:cNvSpPr/>
              <p:nvPr/>
            </p:nvSpPr>
            <p:spPr>
              <a:xfrm>
                <a:off x="32400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76"/>
              <p:cNvSpPr/>
              <p:nvPr/>
            </p:nvSpPr>
            <p:spPr>
              <a:xfrm>
                <a:off x="728553" y="2547600"/>
                <a:ext cx="324900" cy="333300"/>
              </a:xfrm>
              <a:prstGeom prst="ellipse">
                <a:avLst/>
              </a:prstGeom>
              <a:solidFill>
                <a:schemeClr val="accent5"/>
              </a:solidFill>
              <a:ln cap="flat" cmpd="sng" w="38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43" name="Google Shape;1043;p76"/>
          <p:cNvSpPr txBox="1"/>
          <p:nvPr>
            <p:ph idx="4294967295" type="subTitle"/>
          </p:nvPr>
        </p:nvSpPr>
        <p:spPr>
          <a:xfrm>
            <a:off x="2069349" y="3822625"/>
            <a:ext cx="10425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12 ÷ 3 =</a:t>
            </a:r>
            <a:endParaRPr sz="2000"/>
          </a:p>
        </p:txBody>
      </p:sp>
      <p:sp>
        <p:nvSpPr>
          <p:cNvPr id="1044" name="Google Shape;1044;p76"/>
          <p:cNvSpPr txBox="1"/>
          <p:nvPr>
            <p:ph idx="4294967295" type="subTitle"/>
          </p:nvPr>
        </p:nvSpPr>
        <p:spPr>
          <a:xfrm>
            <a:off x="3734572" y="3822626"/>
            <a:ext cx="1819200" cy="4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3</a:t>
            </a:r>
            <a:r>
              <a:rPr lang="en-GB" sz="2000"/>
              <a:t> and 4 are factors </a:t>
            </a:r>
            <a:r>
              <a:rPr lang="en-GB" sz="2000"/>
              <a:t>of 12</a:t>
            </a:r>
            <a:endParaRPr sz="2000"/>
          </a:p>
        </p:txBody>
      </p:sp>
      <p:sp>
        <p:nvSpPr>
          <p:cNvPr id="1045" name="Google Shape;1045;p76"/>
          <p:cNvSpPr txBox="1"/>
          <p:nvPr/>
        </p:nvSpPr>
        <p:spPr>
          <a:xfrm>
            <a:off x="6136369" y="1800975"/>
            <a:ext cx="5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/>
          </a:p>
        </p:txBody>
      </p:sp>
      <p:sp>
        <p:nvSpPr>
          <p:cNvPr id="1046" name="Google Shape;1046;p76"/>
          <p:cNvSpPr txBox="1"/>
          <p:nvPr/>
        </p:nvSpPr>
        <p:spPr>
          <a:xfrm>
            <a:off x="4160568" y="2679377"/>
            <a:ext cx="5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/>
          </a:p>
        </p:txBody>
      </p:sp>
      <p:sp>
        <p:nvSpPr>
          <p:cNvPr id="1047" name="Google Shape;1047;p76"/>
          <p:cNvSpPr txBox="1"/>
          <p:nvPr/>
        </p:nvSpPr>
        <p:spPr>
          <a:xfrm>
            <a:off x="3019804" y="3754900"/>
            <a:ext cx="51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053" name="Google Shape;1053;p77"/>
          <p:cNvSpPr txBox="1"/>
          <p:nvPr>
            <p:ph idx="1" type="body"/>
          </p:nvPr>
        </p:nvSpPr>
        <p:spPr>
          <a:xfrm>
            <a:off x="324000" y="1514357"/>
            <a:ext cx="6809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Factors</a:t>
            </a:r>
            <a:r>
              <a:rPr lang="en-GB" sz="2000"/>
              <a:t> and </a:t>
            </a:r>
            <a:r>
              <a:rPr b="1" lang="en-GB" sz="2000"/>
              <a:t>multiples </a:t>
            </a:r>
            <a:r>
              <a:rPr lang="en-GB" sz="2000"/>
              <a:t>are inverse concepts.</a:t>
            </a:r>
            <a:endParaRPr sz="2000"/>
          </a:p>
        </p:txBody>
      </p:sp>
      <p:sp>
        <p:nvSpPr>
          <p:cNvPr id="1054" name="Google Shape;1054;p77"/>
          <p:cNvSpPr txBox="1"/>
          <p:nvPr/>
        </p:nvSpPr>
        <p:spPr>
          <a:xfrm>
            <a:off x="5043075" y="2118963"/>
            <a:ext cx="1183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7"/>
          <p:cNvSpPr txBox="1"/>
          <p:nvPr/>
        </p:nvSpPr>
        <p:spPr>
          <a:xfrm>
            <a:off x="4966879" y="2524863"/>
            <a:ext cx="19101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✕ 2 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7"/>
          <p:cNvSpPr txBox="1"/>
          <p:nvPr/>
        </p:nvSpPr>
        <p:spPr>
          <a:xfrm>
            <a:off x="6247650" y="3420238"/>
            <a:ext cx="143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 is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multiple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of 2 and 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7"/>
          <p:cNvSpPr txBox="1"/>
          <p:nvPr/>
        </p:nvSpPr>
        <p:spPr>
          <a:xfrm>
            <a:off x="542700" y="2111650"/>
            <a:ext cx="1183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7"/>
          <p:cNvSpPr txBox="1"/>
          <p:nvPr/>
        </p:nvSpPr>
        <p:spPr>
          <a:xfrm>
            <a:off x="524938" y="2503350"/>
            <a:ext cx="143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÷ 2 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9" name="Google Shape;1059;p77"/>
          <p:cNvCxnSpPr/>
          <p:nvPr/>
        </p:nvCxnSpPr>
        <p:spPr>
          <a:xfrm>
            <a:off x="1868988" y="2892800"/>
            <a:ext cx="463500" cy="510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77"/>
          <p:cNvCxnSpPr/>
          <p:nvPr/>
        </p:nvCxnSpPr>
        <p:spPr>
          <a:xfrm>
            <a:off x="6297138" y="2874150"/>
            <a:ext cx="463500" cy="510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77"/>
          <p:cNvSpPr txBox="1"/>
          <p:nvPr/>
        </p:nvSpPr>
        <p:spPr>
          <a:xfrm>
            <a:off x="1575250" y="3431400"/>
            <a:ext cx="1978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 remainder, so 2 and 10 are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factors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of 20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7"/>
          <p:cNvSpPr txBox="1"/>
          <p:nvPr>
            <p:ph idx="4294967295" type="subTitle"/>
          </p:nvPr>
        </p:nvSpPr>
        <p:spPr>
          <a:xfrm>
            <a:off x="324000" y="732750"/>
            <a:ext cx="7290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A numerical </a:t>
            </a:r>
            <a:r>
              <a:rPr b="1" lang="en-GB" sz="2000">
                <a:solidFill>
                  <a:srgbClr val="282828"/>
                </a:solidFill>
              </a:rPr>
              <a:t>factor</a:t>
            </a:r>
            <a:r>
              <a:rPr lang="en-GB" sz="2000">
                <a:solidFill>
                  <a:srgbClr val="282828"/>
                </a:solidFill>
              </a:rPr>
              <a:t> is an integer which exactly divides another integer.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068" name="Google Shape;1068;p78"/>
          <p:cNvSpPr txBox="1"/>
          <p:nvPr/>
        </p:nvSpPr>
        <p:spPr>
          <a:xfrm>
            <a:off x="5043075" y="2118963"/>
            <a:ext cx="11838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8"/>
          <p:cNvSpPr txBox="1"/>
          <p:nvPr/>
        </p:nvSpPr>
        <p:spPr>
          <a:xfrm>
            <a:off x="4966879" y="2524863"/>
            <a:ext cx="19101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✕ 2 =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8"/>
          <p:cNvSpPr txBox="1"/>
          <p:nvPr/>
        </p:nvSpPr>
        <p:spPr>
          <a:xfrm>
            <a:off x="6247650" y="3420238"/>
            <a:ext cx="143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 is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multiple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of 2 and 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1" name="Google Shape;1071;p78"/>
          <p:cNvCxnSpPr/>
          <p:nvPr/>
        </p:nvCxnSpPr>
        <p:spPr>
          <a:xfrm>
            <a:off x="6297138" y="2874150"/>
            <a:ext cx="463500" cy="510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78"/>
          <p:cNvCxnSpPr/>
          <p:nvPr/>
        </p:nvCxnSpPr>
        <p:spPr>
          <a:xfrm flipH="1">
            <a:off x="4592463" y="2930763"/>
            <a:ext cx="496800" cy="5058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78"/>
          <p:cNvSpPr txBox="1"/>
          <p:nvPr/>
        </p:nvSpPr>
        <p:spPr>
          <a:xfrm>
            <a:off x="3856350" y="3494300"/>
            <a:ext cx="14313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 and 2 are factors of 20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8"/>
          <p:cNvSpPr txBox="1"/>
          <p:nvPr>
            <p:ph idx="1" type="body"/>
          </p:nvPr>
        </p:nvSpPr>
        <p:spPr>
          <a:xfrm>
            <a:off x="329008" y="1514357"/>
            <a:ext cx="6809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Factors</a:t>
            </a:r>
            <a:r>
              <a:rPr lang="en-GB" sz="2000"/>
              <a:t> and </a:t>
            </a:r>
            <a:r>
              <a:rPr b="1" lang="en-GB" sz="2000"/>
              <a:t>multiples </a:t>
            </a:r>
            <a:r>
              <a:rPr lang="en-GB" sz="2000"/>
              <a:t>are inverse concepts.</a:t>
            </a:r>
            <a:endParaRPr sz="2000"/>
          </a:p>
        </p:txBody>
      </p:sp>
      <p:sp>
        <p:nvSpPr>
          <p:cNvPr id="1075" name="Google Shape;1075;p78"/>
          <p:cNvSpPr txBox="1"/>
          <p:nvPr>
            <p:ph idx="4294967295" type="subTitle"/>
          </p:nvPr>
        </p:nvSpPr>
        <p:spPr>
          <a:xfrm>
            <a:off x="324000" y="732750"/>
            <a:ext cx="7290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A numerical </a:t>
            </a:r>
            <a:r>
              <a:rPr b="1" lang="en-GB" sz="2000">
                <a:solidFill>
                  <a:srgbClr val="282828"/>
                </a:solidFill>
              </a:rPr>
              <a:t>factor</a:t>
            </a:r>
            <a:r>
              <a:rPr lang="en-GB" sz="2000">
                <a:solidFill>
                  <a:srgbClr val="282828"/>
                </a:solidFill>
              </a:rPr>
              <a:t> is an integer which exactly divides another integer.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9"/>
          <p:cNvSpPr txBox="1"/>
          <p:nvPr>
            <p:ph type="title"/>
          </p:nvPr>
        </p:nvSpPr>
        <p:spPr>
          <a:xfrm>
            <a:off x="324000" y="7337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is a </a:t>
            </a:r>
            <a:r>
              <a:rPr b="1" lang="en-GB"/>
              <a:t>factor </a:t>
            </a:r>
            <a:r>
              <a:rPr lang="en-GB"/>
              <a:t>of 20? Explain.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select more than one.</a:t>
            </a:r>
            <a:endParaRPr/>
          </a:p>
        </p:txBody>
      </p:sp>
      <p:sp>
        <p:nvSpPr>
          <p:cNvPr id="1081" name="Google Shape;1081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082" name="Google Shape;1082;p7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40</a:t>
            </a:r>
            <a:endParaRPr/>
          </a:p>
        </p:txBody>
      </p:sp>
      <p:sp>
        <p:nvSpPr>
          <p:cNvPr id="1083" name="Google Shape;1083;p7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084" name="Google Shape;1084;p7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200</a:t>
            </a:r>
            <a:endParaRPr/>
          </a:p>
        </p:txBody>
      </p:sp>
      <p:sp>
        <p:nvSpPr>
          <p:cNvPr id="1085" name="Google Shape;1085;p7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grpSp>
        <p:nvGrpSpPr>
          <p:cNvPr id="1086" name="Google Shape;1086;p79"/>
          <p:cNvGrpSpPr/>
          <p:nvPr/>
        </p:nvGrpSpPr>
        <p:grpSpPr>
          <a:xfrm>
            <a:off x="1684808" y="2450325"/>
            <a:ext cx="396000" cy="2034375"/>
            <a:chOff x="1684808" y="2450325"/>
            <a:chExt cx="396000" cy="2034375"/>
          </a:xfrm>
        </p:grpSpPr>
        <p:pic>
          <p:nvPicPr>
            <p:cNvPr id="1087" name="Google Shape;1087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84808" y="2450325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8" name="Google Shape;1088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84808" y="406560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9" name="Google Shape;1089;p79"/>
          <p:cNvSpPr txBox="1"/>
          <p:nvPr/>
        </p:nvSpPr>
        <p:spPr>
          <a:xfrm>
            <a:off x="2811000" y="1543800"/>
            <a:ext cx="4931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This is a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multiple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of 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0" name="Google Shape;1090;p79"/>
          <p:cNvSpPr txBox="1"/>
          <p:nvPr/>
        </p:nvSpPr>
        <p:spPr>
          <a:xfrm>
            <a:off x="2811000" y="2234700"/>
            <a:ext cx="61752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This is a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factor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because 20 ÷ 4 = 5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 because 4 ✕ 5 = 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79"/>
          <p:cNvSpPr txBox="1"/>
          <p:nvPr/>
        </p:nvSpPr>
        <p:spPr>
          <a:xfrm>
            <a:off x="2734800" y="3225438"/>
            <a:ext cx="61752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This is a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multiple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of 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2" name="Google Shape;1092;p79"/>
          <p:cNvSpPr txBox="1"/>
          <p:nvPr/>
        </p:nvSpPr>
        <p:spPr>
          <a:xfrm>
            <a:off x="2734800" y="3885250"/>
            <a:ext cx="61752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This is a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factor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because 20 ÷ 10 = 2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 because 10 ✕ 2 = 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pic>
        <p:nvPicPr>
          <p:cNvPr id="1098" name="Google Shape;109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2325" y="1205300"/>
            <a:ext cx="2498273" cy="230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80"/>
          <p:cNvSpPr txBox="1"/>
          <p:nvPr/>
        </p:nvSpPr>
        <p:spPr>
          <a:xfrm>
            <a:off x="6304263" y="1690650"/>
            <a:ext cx="2419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All of these pairs have a </a:t>
            </a:r>
            <a:r>
              <a:rPr b="1" lang="en-GB" sz="1900">
                <a:latin typeface="Lexend"/>
                <a:ea typeface="Lexend"/>
                <a:cs typeface="Lexend"/>
                <a:sym typeface="Lexend"/>
              </a:rPr>
              <a:t>product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of 15. So this means they must all be </a:t>
            </a:r>
            <a:r>
              <a:rPr b="1" lang="en-GB" sz="1900">
                <a:latin typeface="Lexend"/>
                <a:ea typeface="Lexend"/>
                <a:cs typeface="Lexend"/>
                <a:sym typeface="Lexend"/>
              </a:rPr>
              <a:t>factors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of 15.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0" name="Google Shape;110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2" y="2243550"/>
            <a:ext cx="1165111" cy="13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0"/>
          <p:cNvSpPr txBox="1"/>
          <p:nvPr>
            <p:ph idx="4294967295" type="title"/>
          </p:nvPr>
        </p:nvSpPr>
        <p:spPr>
          <a:xfrm>
            <a:off x="324000" y="657600"/>
            <a:ext cx="3926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Lucas writes the following</a:t>
            </a:r>
            <a:endParaRPr b="0"/>
          </a:p>
        </p:txBody>
      </p:sp>
      <p:sp>
        <p:nvSpPr>
          <p:cNvPr id="1102" name="Google Shape;1102;p80"/>
          <p:cNvSpPr txBox="1"/>
          <p:nvPr>
            <p:ph idx="4294967295" type="title"/>
          </p:nvPr>
        </p:nvSpPr>
        <p:spPr>
          <a:xfrm>
            <a:off x="4817100" y="682800"/>
            <a:ext cx="3926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Lucas then says</a:t>
            </a:r>
            <a:endParaRPr b="0"/>
          </a:p>
        </p:txBody>
      </p:sp>
      <p:sp>
        <p:nvSpPr>
          <p:cNvPr id="1103" name="Google Shape;1103;p80"/>
          <p:cNvSpPr txBox="1"/>
          <p:nvPr>
            <p:ph idx="4294967295" type="title"/>
          </p:nvPr>
        </p:nvSpPr>
        <p:spPr>
          <a:xfrm>
            <a:off x="324000" y="3618525"/>
            <a:ext cx="3926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Is Lucas correct? Explain</a:t>
            </a:r>
            <a:endParaRPr b="0"/>
          </a:p>
        </p:txBody>
      </p:sp>
      <p:grpSp>
        <p:nvGrpSpPr>
          <p:cNvPr id="1104" name="Google Shape;1104;p80"/>
          <p:cNvGrpSpPr/>
          <p:nvPr/>
        </p:nvGrpSpPr>
        <p:grpSpPr>
          <a:xfrm>
            <a:off x="789225" y="1246425"/>
            <a:ext cx="2792100" cy="2152500"/>
            <a:chOff x="789225" y="1627425"/>
            <a:chExt cx="2792100" cy="2152500"/>
          </a:xfrm>
        </p:grpSpPr>
        <p:sp>
          <p:nvSpPr>
            <p:cNvPr id="1105" name="Google Shape;1105;p80"/>
            <p:cNvSpPr/>
            <p:nvPr/>
          </p:nvSpPr>
          <p:spPr>
            <a:xfrm>
              <a:off x="789225" y="1627425"/>
              <a:ext cx="2792100" cy="2152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6" name="Google Shape;1106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37825" y="1773450"/>
              <a:ext cx="2342175" cy="190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7" name="Google Shape;1107;p80"/>
          <p:cNvSpPr txBox="1"/>
          <p:nvPr>
            <p:ph idx="4294967295" type="title"/>
          </p:nvPr>
        </p:nvSpPr>
        <p:spPr>
          <a:xfrm>
            <a:off x="324000" y="4010400"/>
            <a:ext cx="8106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Kalam"/>
                <a:ea typeface="Kalam"/>
                <a:cs typeface="Kalam"/>
                <a:sym typeface="Kalam"/>
              </a:rPr>
              <a:t>Lucas is incorrect because factors must be integers, so the only factors of 15 are 1, 15, 3 and 5.</a:t>
            </a:r>
            <a:endParaRPr b="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1"/>
          <p:cNvSpPr/>
          <p:nvPr/>
        </p:nvSpPr>
        <p:spPr>
          <a:xfrm>
            <a:off x="13654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81"/>
          <p:cNvSpPr/>
          <p:nvPr/>
        </p:nvSpPr>
        <p:spPr>
          <a:xfrm>
            <a:off x="2140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81"/>
          <p:cNvSpPr/>
          <p:nvPr/>
        </p:nvSpPr>
        <p:spPr>
          <a:xfrm>
            <a:off x="29529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81"/>
          <p:cNvSpPr/>
          <p:nvPr/>
        </p:nvSpPr>
        <p:spPr>
          <a:xfrm>
            <a:off x="37276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81"/>
          <p:cNvSpPr/>
          <p:nvPr/>
        </p:nvSpPr>
        <p:spPr>
          <a:xfrm>
            <a:off x="45023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81"/>
          <p:cNvSpPr/>
          <p:nvPr/>
        </p:nvSpPr>
        <p:spPr>
          <a:xfrm>
            <a:off x="52770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81"/>
          <p:cNvSpPr/>
          <p:nvPr/>
        </p:nvSpPr>
        <p:spPr>
          <a:xfrm>
            <a:off x="60517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1"/>
          <p:cNvSpPr/>
          <p:nvPr/>
        </p:nvSpPr>
        <p:spPr>
          <a:xfrm>
            <a:off x="68264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81"/>
          <p:cNvSpPr/>
          <p:nvPr/>
        </p:nvSpPr>
        <p:spPr>
          <a:xfrm>
            <a:off x="7601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122" name="Google Shape;1122;p81"/>
          <p:cNvSpPr txBox="1"/>
          <p:nvPr>
            <p:ph idx="4294967295" type="title"/>
          </p:nvPr>
        </p:nvSpPr>
        <p:spPr>
          <a:xfrm>
            <a:off x="412900" y="746300"/>
            <a:ext cx="7955700" cy="489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0" lang="en-GB" sz="2000"/>
              <a:t>Only using the following cards once, fill in the gaps.</a:t>
            </a:r>
            <a:endParaRPr b="0" sz="2000"/>
          </a:p>
        </p:txBody>
      </p:sp>
      <p:sp>
        <p:nvSpPr>
          <p:cNvPr id="1123" name="Google Shape;1123;p81"/>
          <p:cNvSpPr txBox="1"/>
          <p:nvPr>
            <p:ph idx="4294967295" type="title"/>
          </p:nvPr>
        </p:nvSpPr>
        <p:spPr>
          <a:xfrm>
            <a:off x="7864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</a:t>
            </a:r>
            <a:endParaRPr b="0" sz="3100"/>
          </a:p>
        </p:txBody>
      </p:sp>
      <p:sp>
        <p:nvSpPr>
          <p:cNvPr id="1124" name="Google Shape;1124;p81"/>
          <p:cNvSpPr/>
          <p:nvPr/>
        </p:nvSpPr>
        <p:spPr>
          <a:xfrm>
            <a:off x="5907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81"/>
          <p:cNvSpPr txBox="1"/>
          <p:nvPr>
            <p:ph idx="4294967295" type="title"/>
          </p:nvPr>
        </p:nvSpPr>
        <p:spPr>
          <a:xfrm>
            <a:off x="15611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3</a:t>
            </a:r>
            <a:endParaRPr b="0" sz="3100"/>
          </a:p>
        </p:txBody>
      </p:sp>
      <p:sp>
        <p:nvSpPr>
          <p:cNvPr id="1126" name="Google Shape;1126;p81"/>
          <p:cNvSpPr txBox="1"/>
          <p:nvPr>
            <p:ph idx="4294967295" type="title"/>
          </p:nvPr>
        </p:nvSpPr>
        <p:spPr>
          <a:xfrm>
            <a:off x="2335800" y="14768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5</a:t>
            </a:r>
            <a:endParaRPr b="0" sz="3100"/>
          </a:p>
        </p:txBody>
      </p:sp>
      <p:sp>
        <p:nvSpPr>
          <p:cNvPr id="1127" name="Google Shape;1127;p81"/>
          <p:cNvSpPr txBox="1"/>
          <p:nvPr>
            <p:ph idx="4294967295" type="title"/>
          </p:nvPr>
        </p:nvSpPr>
        <p:spPr>
          <a:xfrm>
            <a:off x="31486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7</a:t>
            </a:r>
            <a:endParaRPr b="0" sz="3100"/>
          </a:p>
        </p:txBody>
      </p:sp>
      <p:sp>
        <p:nvSpPr>
          <p:cNvPr id="1128" name="Google Shape;1128;p81"/>
          <p:cNvSpPr txBox="1"/>
          <p:nvPr>
            <p:ph idx="4294967295" type="title"/>
          </p:nvPr>
        </p:nvSpPr>
        <p:spPr>
          <a:xfrm>
            <a:off x="3847100" y="14641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11</a:t>
            </a:r>
            <a:endParaRPr b="0" sz="3100"/>
          </a:p>
        </p:txBody>
      </p:sp>
      <p:sp>
        <p:nvSpPr>
          <p:cNvPr id="1129" name="Google Shape;1129;p81"/>
          <p:cNvSpPr txBox="1"/>
          <p:nvPr>
            <p:ph idx="4294967295" type="title"/>
          </p:nvPr>
        </p:nvSpPr>
        <p:spPr>
          <a:xfrm>
            <a:off x="4621800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</a:t>
            </a:r>
            <a:r>
              <a:rPr b="0" lang="en-GB" sz="3100"/>
              <a:t>2</a:t>
            </a:r>
            <a:endParaRPr b="0" sz="3100"/>
          </a:p>
        </p:txBody>
      </p:sp>
      <p:sp>
        <p:nvSpPr>
          <p:cNvPr id="1130" name="Google Shape;1130;p81"/>
          <p:cNvSpPr txBox="1"/>
          <p:nvPr>
            <p:ph idx="4294967295" type="title"/>
          </p:nvPr>
        </p:nvSpPr>
        <p:spPr>
          <a:xfrm>
            <a:off x="5396500" y="14514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13</a:t>
            </a:r>
            <a:endParaRPr b="0" sz="3100"/>
          </a:p>
        </p:txBody>
      </p:sp>
      <p:sp>
        <p:nvSpPr>
          <p:cNvPr id="1131" name="Google Shape;1131;p81"/>
          <p:cNvSpPr txBox="1"/>
          <p:nvPr>
            <p:ph idx="4294967295" type="title"/>
          </p:nvPr>
        </p:nvSpPr>
        <p:spPr>
          <a:xfrm>
            <a:off x="6172925" y="14514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14</a:t>
            </a:r>
            <a:endParaRPr b="0" sz="3100"/>
          </a:p>
        </p:txBody>
      </p:sp>
      <p:sp>
        <p:nvSpPr>
          <p:cNvPr id="1132" name="Google Shape;1132;p81"/>
          <p:cNvSpPr txBox="1"/>
          <p:nvPr>
            <p:ph idx="4294967295" type="title"/>
          </p:nvPr>
        </p:nvSpPr>
        <p:spPr>
          <a:xfrm>
            <a:off x="6899700" y="146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15</a:t>
            </a:r>
            <a:endParaRPr b="0" sz="3100"/>
          </a:p>
        </p:txBody>
      </p:sp>
      <p:sp>
        <p:nvSpPr>
          <p:cNvPr id="1133" name="Google Shape;1133;p81"/>
          <p:cNvSpPr txBox="1"/>
          <p:nvPr>
            <p:ph idx="4294967295" type="title"/>
          </p:nvPr>
        </p:nvSpPr>
        <p:spPr>
          <a:xfrm>
            <a:off x="7697648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22</a:t>
            </a:r>
            <a:endParaRPr b="0" sz="3100"/>
          </a:p>
        </p:txBody>
      </p:sp>
      <p:sp>
        <p:nvSpPr>
          <p:cNvPr id="1134" name="Google Shape;1134;p81"/>
          <p:cNvSpPr txBox="1"/>
          <p:nvPr>
            <p:ph idx="4294967295" type="title"/>
          </p:nvPr>
        </p:nvSpPr>
        <p:spPr>
          <a:xfrm>
            <a:off x="336700" y="2693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b="0" lang="en-GB" sz="2000"/>
              <a:t>        </a:t>
            </a:r>
            <a:r>
              <a:rPr b="0" lang="en-GB" sz="2000"/>
              <a:t>is a multiple of</a:t>
            </a:r>
            <a:endParaRPr b="0" sz="2000"/>
          </a:p>
        </p:txBody>
      </p:sp>
      <p:sp>
        <p:nvSpPr>
          <p:cNvPr id="1135" name="Google Shape;1135;p81"/>
          <p:cNvSpPr txBox="1"/>
          <p:nvPr>
            <p:ph idx="4294967295" type="title"/>
          </p:nvPr>
        </p:nvSpPr>
        <p:spPr>
          <a:xfrm>
            <a:off x="336700" y="3399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b)           is a </a:t>
            </a:r>
            <a:r>
              <a:rPr b="0" lang="en-GB" sz="2000"/>
              <a:t>multiple of</a:t>
            </a:r>
            <a:endParaRPr b="0" sz="2000"/>
          </a:p>
        </p:txBody>
      </p:sp>
      <p:sp>
        <p:nvSpPr>
          <p:cNvPr id="1136" name="Google Shape;1136;p81"/>
          <p:cNvSpPr txBox="1"/>
          <p:nvPr>
            <p:ph idx="4294967295" type="title"/>
          </p:nvPr>
        </p:nvSpPr>
        <p:spPr>
          <a:xfrm>
            <a:off x="362100" y="4152675"/>
            <a:ext cx="312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c)</a:t>
            </a:r>
            <a:r>
              <a:rPr b="0" lang="en-GB" sz="2000"/>
              <a:t>           is a multiple of</a:t>
            </a:r>
            <a:endParaRPr b="0" sz="2000"/>
          </a:p>
        </p:txBody>
      </p:sp>
      <p:sp>
        <p:nvSpPr>
          <p:cNvPr id="1137" name="Google Shape;1137;p81"/>
          <p:cNvSpPr/>
          <p:nvPr/>
        </p:nvSpPr>
        <p:spPr>
          <a:xfrm>
            <a:off x="705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81"/>
          <p:cNvSpPr/>
          <p:nvPr/>
        </p:nvSpPr>
        <p:spPr>
          <a:xfrm>
            <a:off x="3372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81"/>
          <p:cNvSpPr/>
          <p:nvPr/>
        </p:nvSpPr>
        <p:spPr>
          <a:xfrm>
            <a:off x="705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81"/>
          <p:cNvSpPr/>
          <p:nvPr/>
        </p:nvSpPr>
        <p:spPr>
          <a:xfrm>
            <a:off x="3372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81"/>
          <p:cNvSpPr/>
          <p:nvPr/>
        </p:nvSpPr>
        <p:spPr>
          <a:xfrm>
            <a:off x="707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81"/>
          <p:cNvSpPr/>
          <p:nvPr/>
        </p:nvSpPr>
        <p:spPr>
          <a:xfrm>
            <a:off x="3374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81"/>
          <p:cNvSpPr txBox="1"/>
          <p:nvPr>
            <p:ph idx="4294967295" type="title"/>
          </p:nvPr>
        </p:nvSpPr>
        <p:spPr>
          <a:xfrm>
            <a:off x="4667400" y="2700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d)   </a:t>
            </a:r>
            <a:r>
              <a:rPr b="0" lang="en-GB" sz="2000"/>
              <a:t>         is a factor of</a:t>
            </a:r>
            <a:endParaRPr b="0" sz="2000"/>
          </a:p>
        </p:txBody>
      </p:sp>
      <p:sp>
        <p:nvSpPr>
          <p:cNvPr id="1144" name="Google Shape;1144;p81"/>
          <p:cNvSpPr txBox="1"/>
          <p:nvPr>
            <p:ph idx="4294967295" type="title"/>
          </p:nvPr>
        </p:nvSpPr>
        <p:spPr>
          <a:xfrm>
            <a:off x="4667400" y="3406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e)</a:t>
            </a:r>
            <a:r>
              <a:rPr b="0" lang="en-GB" sz="2000"/>
              <a:t>            only has           factors</a:t>
            </a:r>
            <a:endParaRPr b="0" sz="2000"/>
          </a:p>
        </p:txBody>
      </p:sp>
      <p:sp>
        <p:nvSpPr>
          <p:cNvPr id="1145" name="Google Shape;1145;p81"/>
          <p:cNvSpPr/>
          <p:nvPr/>
        </p:nvSpPr>
        <p:spPr>
          <a:xfrm>
            <a:off x="5035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81"/>
          <p:cNvSpPr/>
          <p:nvPr/>
        </p:nvSpPr>
        <p:spPr>
          <a:xfrm>
            <a:off x="74741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81"/>
          <p:cNvSpPr/>
          <p:nvPr/>
        </p:nvSpPr>
        <p:spPr>
          <a:xfrm>
            <a:off x="50357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81"/>
          <p:cNvSpPr/>
          <p:nvPr/>
        </p:nvSpPr>
        <p:spPr>
          <a:xfrm>
            <a:off x="68870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2"/>
          <p:cNvSpPr txBox="1"/>
          <p:nvPr>
            <p:ph idx="1" type="body"/>
          </p:nvPr>
        </p:nvSpPr>
        <p:spPr>
          <a:xfrm>
            <a:off x="324000" y="664050"/>
            <a:ext cx="8240100" cy="5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Are the following always true, sometimes true or never true? When the answer is sometimes or never true, give an example</a:t>
            </a:r>
            <a:endParaRPr sz="2000"/>
          </a:p>
        </p:txBody>
      </p:sp>
      <p:sp>
        <p:nvSpPr>
          <p:cNvPr id="1154" name="Google Shape;1154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graphicFrame>
        <p:nvGraphicFramePr>
          <p:cNvPr id="1155" name="Google Shape;1155;p82"/>
          <p:cNvGraphicFramePr/>
          <p:nvPr/>
        </p:nvGraphicFramePr>
        <p:xfrm>
          <a:off x="323963" y="13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{3A94DC8F-A224-4188-B1E8-DC4A072D6B83}</a:tableStyleId>
              </a:tblPr>
              <a:tblGrid>
                <a:gridCol w="4585125"/>
                <a:gridCol w="1156575"/>
                <a:gridCol w="1368675"/>
                <a:gridCol w="990975"/>
              </a:tblGrid>
              <a:tr h="69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85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Given A,B and C are integers  A ✕ B = C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 is a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A and B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and B are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4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a number is bigger than its largest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product of two integers is an integer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0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is a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every integer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161" name="Google Shape;1161;p83"/>
          <p:cNvSpPr/>
          <p:nvPr/>
        </p:nvSpPr>
        <p:spPr>
          <a:xfrm>
            <a:off x="13654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83"/>
          <p:cNvSpPr/>
          <p:nvPr/>
        </p:nvSpPr>
        <p:spPr>
          <a:xfrm>
            <a:off x="2140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3"/>
          <p:cNvSpPr/>
          <p:nvPr/>
        </p:nvSpPr>
        <p:spPr>
          <a:xfrm>
            <a:off x="29529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83"/>
          <p:cNvSpPr/>
          <p:nvPr/>
        </p:nvSpPr>
        <p:spPr>
          <a:xfrm>
            <a:off x="37276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83"/>
          <p:cNvSpPr/>
          <p:nvPr/>
        </p:nvSpPr>
        <p:spPr>
          <a:xfrm>
            <a:off x="45023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83"/>
          <p:cNvSpPr/>
          <p:nvPr/>
        </p:nvSpPr>
        <p:spPr>
          <a:xfrm>
            <a:off x="52770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3"/>
          <p:cNvSpPr/>
          <p:nvPr/>
        </p:nvSpPr>
        <p:spPr>
          <a:xfrm>
            <a:off x="60517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3"/>
          <p:cNvSpPr/>
          <p:nvPr/>
        </p:nvSpPr>
        <p:spPr>
          <a:xfrm>
            <a:off x="68264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3"/>
          <p:cNvSpPr/>
          <p:nvPr/>
        </p:nvSpPr>
        <p:spPr>
          <a:xfrm>
            <a:off x="7601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3"/>
          <p:cNvSpPr txBox="1"/>
          <p:nvPr>
            <p:ph idx="4294967295" type="title"/>
          </p:nvPr>
        </p:nvSpPr>
        <p:spPr>
          <a:xfrm>
            <a:off x="412900" y="746300"/>
            <a:ext cx="7955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0" lang="en-GB" sz="2000"/>
              <a:t>Only using the following cards once, fill in the gaps.</a:t>
            </a:r>
            <a:endParaRPr b="0" sz="2000"/>
          </a:p>
        </p:txBody>
      </p:sp>
      <p:sp>
        <p:nvSpPr>
          <p:cNvPr id="1171" name="Google Shape;1171;p83"/>
          <p:cNvSpPr txBox="1"/>
          <p:nvPr>
            <p:ph idx="4294967295" type="title"/>
          </p:nvPr>
        </p:nvSpPr>
        <p:spPr>
          <a:xfrm>
            <a:off x="7864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</a:t>
            </a:r>
            <a:endParaRPr b="0" sz="3100"/>
          </a:p>
        </p:txBody>
      </p:sp>
      <p:sp>
        <p:nvSpPr>
          <p:cNvPr id="1172" name="Google Shape;1172;p83"/>
          <p:cNvSpPr/>
          <p:nvPr/>
        </p:nvSpPr>
        <p:spPr>
          <a:xfrm>
            <a:off x="5907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83"/>
          <p:cNvSpPr txBox="1"/>
          <p:nvPr>
            <p:ph idx="4294967295" type="title"/>
          </p:nvPr>
        </p:nvSpPr>
        <p:spPr>
          <a:xfrm>
            <a:off x="15611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3</a:t>
            </a:r>
            <a:endParaRPr b="0" sz="3100"/>
          </a:p>
        </p:txBody>
      </p:sp>
      <p:sp>
        <p:nvSpPr>
          <p:cNvPr id="1174" name="Google Shape;1174;p83"/>
          <p:cNvSpPr txBox="1"/>
          <p:nvPr>
            <p:ph idx="4294967295" type="title"/>
          </p:nvPr>
        </p:nvSpPr>
        <p:spPr>
          <a:xfrm>
            <a:off x="2335800" y="14768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5</a:t>
            </a:r>
            <a:endParaRPr b="0" sz="3100"/>
          </a:p>
        </p:txBody>
      </p:sp>
      <p:sp>
        <p:nvSpPr>
          <p:cNvPr id="1175" name="Google Shape;1175;p83"/>
          <p:cNvSpPr txBox="1"/>
          <p:nvPr>
            <p:ph idx="4294967295" type="title"/>
          </p:nvPr>
        </p:nvSpPr>
        <p:spPr>
          <a:xfrm>
            <a:off x="31486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7</a:t>
            </a:r>
            <a:endParaRPr b="0" sz="3100"/>
          </a:p>
        </p:txBody>
      </p:sp>
      <p:sp>
        <p:nvSpPr>
          <p:cNvPr id="1176" name="Google Shape;1176;p83"/>
          <p:cNvSpPr txBox="1"/>
          <p:nvPr>
            <p:ph idx="4294967295" type="title"/>
          </p:nvPr>
        </p:nvSpPr>
        <p:spPr>
          <a:xfrm>
            <a:off x="3847100" y="14641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11</a:t>
            </a:r>
            <a:endParaRPr b="0" sz="3100"/>
          </a:p>
        </p:txBody>
      </p:sp>
      <p:sp>
        <p:nvSpPr>
          <p:cNvPr id="1177" name="Google Shape;1177;p83"/>
          <p:cNvSpPr txBox="1"/>
          <p:nvPr>
            <p:ph idx="4294967295" type="title"/>
          </p:nvPr>
        </p:nvSpPr>
        <p:spPr>
          <a:xfrm>
            <a:off x="4621800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12</a:t>
            </a:r>
            <a:endParaRPr b="0" sz="3100"/>
          </a:p>
        </p:txBody>
      </p:sp>
      <p:sp>
        <p:nvSpPr>
          <p:cNvPr id="1178" name="Google Shape;1178;p83"/>
          <p:cNvSpPr txBox="1"/>
          <p:nvPr>
            <p:ph idx="4294967295" type="title"/>
          </p:nvPr>
        </p:nvSpPr>
        <p:spPr>
          <a:xfrm>
            <a:off x="5396500" y="14514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13</a:t>
            </a:r>
            <a:endParaRPr b="0" sz="3100"/>
          </a:p>
        </p:txBody>
      </p:sp>
      <p:sp>
        <p:nvSpPr>
          <p:cNvPr id="1179" name="Google Shape;1179;p83"/>
          <p:cNvSpPr txBox="1"/>
          <p:nvPr>
            <p:ph idx="4294967295" type="title"/>
          </p:nvPr>
        </p:nvSpPr>
        <p:spPr>
          <a:xfrm>
            <a:off x="6172925" y="14514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14</a:t>
            </a:r>
            <a:endParaRPr b="0" sz="3100"/>
          </a:p>
        </p:txBody>
      </p:sp>
      <p:sp>
        <p:nvSpPr>
          <p:cNvPr id="1180" name="Google Shape;1180;p83"/>
          <p:cNvSpPr txBox="1"/>
          <p:nvPr>
            <p:ph idx="4294967295" type="title"/>
          </p:nvPr>
        </p:nvSpPr>
        <p:spPr>
          <a:xfrm>
            <a:off x="6899700" y="146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15</a:t>
            </a:r>
            <a:endParaRPr b="0" sz="3100"/>
          </a:p>
        </p:txBody>
      </p:sp>
      <p:sp>
        <p:nvSpPr>
          <p:cNvPr id="1181" name="Google Shape;1181;p83"/>
          <p:cNvSpPr txBox="1"/>
          <p:nvPr>
            <p:ph idx="4294967295" type="title"/>
          </p:nvPr>
        </p:nvSpPr>
        <p:spPr>
          <a:xfrm>
            <a:off x="7697648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22</a:t>
            </a:r>
            <a:endParaRPr b="0" sz="3100"/>
          </a:p>
        </p:txBody>
      </p:sp>
      <p:sp>
        <p:nvSpPr>
          <p:cNvPr id="1182" name="Google Shape;1182;p83"/>
          <p:cNvSpPr txBox="1"/>
          <p:nvPr>
            <p:ph idx="4294967295" type="title"/>
          </p:nvPr>
        </p:nvSpPr>
        <p:spPr>
          <a:xfrm>
            <a:off x="336700" y="2693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is a multiple of</a:t>
            </a:r>
            <a:endParaRPr b="0" sz="2000"/>
          </a:p>
        </p:txBody>
      </p:sp>
      <p:sp>
        <p:nvSpPr>
          <p:cNvPr id="1183" name="Google Shape;1183;p83"/>
          <p:cNvSpPr txBox="1"/>
          <p:nvPr>
            <p:ph idx="4294967295" type="title"/>
          </p:nvPr>
        </p:nvSpPr>
        <p:spPr>
          <a:xfrm>
            <a:off x="641500" y="3399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is a multiple of</a:t>
            </a:r>
            <a:endParaRPr b="0" sz="2000"/>
          </a:p>
        </p:txBody>
      </p:sp>
      <p:sp>
        <p:nvSpPr>
          <p:cNvPr id="1184" name="Google Shape;1184;p83"/>
          <p:cNvSpPr txBox="1"/>
          <p:nvPr>
            <p:ph idx="4294967295" type="title"/>
          </p:nvPr>
        </p:nvSpPr>
        <p:spPr>
          <a:xfrm>
            <a:off x="603400" y="4152675"/>
            <a:ext cx="312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is a multiple of</a:t>
            </a:r>
            <a:endParaRPr b="0" sz="2000"/>
          </a:p>
        </p:txBody>
      </p:sp>
      <p:sp>
        <p:nvSpPr>
          <p:cNvPr id="1185" name="Google Shape;1185;p83"/>
          <p:cNvSpPr/>
          <p:nvPr/>
        </p:nvSpPr>
        <p:spPr>
          <a:xfrm>
            <a:off x="705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3"/>
          <p:cNvSpPr/>
          <p:nvPr/>
        </p:nvSpPr>
        <p:spPr>
          <a:xfrm>
            <a:off x="3372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3"/>
          <p:cNvSpPr/>
          <p:nvPr/>
        </p:nvSpPr>
        <p:spPr>
          <a:xfrm>
            <a:off x="705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83"/>
          <p:cNvSpPr/>
          <p:nvPr/>
        </p:nvSpPr>
        <p:spPr>
          <a:xfrm>
            <a:off x="3372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3"/>
          <p:cNvSpPr/>
          <p:nvPr/>
        </p:nvSpPr>
        <p:spPr>
          <a:xfrm>
            <a:off x="707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83"/>
          <p:cNvSpPr/>
          <p:nvPr/>
        </p:nvSpPr>
        <p:spPr>
          <a:xfrm>
            <a:off x="3374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3"/>
          <p:cNvSpPr txBox="1"/>
          <p:nvPr>
            <p:ph idx="4294967295" type="title"/>
          </p:nvPr>
        </p:nvSpPr>
        <p:spPr>
          <a:xfrm>
            <a:off x="4972200" y="2700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is a factor of</a:t>
            </a:r>
            <a:endParaRPr b="0" sz="2000"/>
          </a:p>
        </p:txBody>
      </p:sp>
      <p:sp>
        <p:nvSpPr>
          <p:cNvPr id="1192" name="Google Shape;1192;p83"/>
          <p:cNvSpPr/>
          <p:nvPr/>
        </p:nvSpPr>
        <p:spPr>
          <a:xfrm>
            <a:off x="5035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83"/>
          <p:cNvSpPr/>
          <p:nvPr/>
        </p:nvSpPr>
        <p:spPr>
          <a:xfrm>
            <a:off x="7702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83"/>
          <p:cNvSpPr txBox="1"/>
          <p:nvPr>
            <p:ph idx="4294967295" type="title"/>
          </p:nvPr>
        </p:nvSpPr>
        <p:spPr>
          <a:xfrm>
            <a:off x="799100" y="3328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5" name="Google Shape;1195;p83"/>
          <p:cNvSpPr txBox="1"/>
          <p:nvPr>
            <p:ph idx="4294967295" type="title"/>
          </p:nvPr>
        </p:nvSpPr>
        <p:spPr>
          <a:xfrm>
            <a:off x="4667400" y="3406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</a:t>
            </a:r>
            <a:r>
              <a:rPr b="0" lang="en-GB" sz="2000"/>
              <a:t>           only has           factors</a:t>
            </a:r>
            <a:endParaRPr b="0" sz="2000"/>
          </a:p>
        </p:txBody>
      </p:sp>
      <p:sp>
        <p:nvSpPr>
          <p:cNvPr id="1196" name="Google Shape;1196;p83"/>
          <p:cNvSpPr/>
          <p:nvPr/>
        </p:nvSpPr>
        <p:spPr>
          <a:xfrm>
            <a:off x="50357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83"/>
          <p:cNvSpPr/>
          <p:nvPr/>
        </p:nvSpPr>
        <p:spPr>
          <a:xfrm>
            <a:off x="68870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83"/>
          <p:cNvSpPr txBox="1"/>
          <p:nvPr>
            <p:ph idx="4294967295" type="title"/>
          </p:nvPr>
        </p:nvSpPr>
        <p:spPr>
          <a:xfrm>
            <a:off x="51350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83"/>
          <p:cNvSpPr txBox="1"/>
          <p:nvPr>
            <p:ph idx="4294967295" type="title"/>
          </p:nvPr>
        </p:nvSpPr>
        <p:spPr>
          <a:xfrm>
            <a:off x="70004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83"/>
          <p:cNvSpPr txBox="1"/>
          <p:nvPr>
            <p:ph idx="4294967295" type="title"/>
          </p:nvPr>
        </p:nvSpPr>
        <p:spPr>
          <a:xfrm>
            <a:off x="5162600" y="2649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11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83"/>
          <p:cNvSpPr txBox="1"/>
          <p:nvPr>
            <p:ph idx="4294967295" type="title"/>
          </p:nvPr>
        </p:nvSpPr>
        <p:spPr>
          <a:xfrm>
            <a:off x="77154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83"/>
          <p:cNvSpPr txBox="1"/>
          <p:nvPr>
            <p:ph idx="4294967295" type="title"/>
          </p:nvPr>
        </p:nvSpPr>
        <p:spPr>
          <a:xfrm>
            <a:off x="3527200" y="3331325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3" name="Google Shape;1203;p83"/>
          <p:cNvSpPr txBox="1"/>
          <p:nvPr>
            <p:ph idx="4294967295" type="title"/>
          </p:nvPr>
        </p:nvSpPr>
        <p:spPr>
          <a:xfrm>
            <a:off x="34736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4" name="Google Shape;1204;p83"/>
          <p:cNvSpPr txBox="1"/>
          <p:nvPr>
            <p:ph idx="4294967295" type="title"/>
          </p:nvPr>
        </p:nvSpPr>
        <p:spPr>
          <a:xfrm>
            <a:off x="7633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83"/>
          <p:cNvSpPr txBox="1"/>
          <p:nvPr>
            <p:ph idx="4294967295" type="title"/>
          </p:nvPr>
        </p:nvSpPr>
        <p:spPr>
          <a:xfrm>
            <a:off x="7967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14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6" name="Google Shape;1206;p83"/>
          <p:cNvSpPr txBox="1"/>
          <p:nvPr>
            <p:ph idx="4294967295" type="title"/>
          </p:nvPr>
        </p:nvSpPr>
        <p:spPr>
          <a:xfrm>
            <a:off x="35272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7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83"/>
          <p:cNvSpPr txBox="1"/>
          <p:nvPr>
            <p:ph idx="4294967295" type="title"/>
          </p:nvPr>
        </p:nvSpPr>
        <p:spPr>
          <a:xfrm>
            <a:off x="694900" y="2207300"/>
            <a:ext cx="2200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Examples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213" name="Google Shape;1213;p84"/>
          <p:cNvSpPr/>
          <p:nvPr/>
        </p:nvSpPr>
        <p:spPr>
          <a:xfrm>
            <a:off x="13654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4"/>
          <p:cNvSpPr/>
          <p:nvPr/>
        </p:nvSpPr>
        <p:spPr>
          <a:xfrm>
            <a:off x="2140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84"/>
          <p:cNvSpPr/>
          <p:nvPr/>
        </p:nvSpPr>
        <p:spPr>
          <a:xfrm>
            <a:off x="29529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4"/>
          <p:cNvSpPr/>
          <p:nvPr/>
        </p:nvSpPr>
        <p:spPr>
          <a:xfrm>
            <a:off x="37276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4"/>
          <p:cNvSpPr/>
          <p:nvPr/>
        </p:nvSpPr>
        <p:spPr>
          <a:xfrm>
            <a:off x="45023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84"/>
          <p:cNvSpPr/>
          <p:nvPr/>
        </p:nvSpPr>
        <p:spPr>
          <a:xfrm>
            <a:off x="52770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84"/>
          <p:cNvSpPr/>
          <p:nvPr/>
        </p:nvSpPr>
        <p:spPr>
          <a:xfrm>
            <a:off x="60517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84"/>
          <p:cNvSpPr/>
          <p:nvPr/>
        </p:nvSpPr>
        <p:spPr>
          <a:xfrm>
            <a:off x="68264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84"/>
          <p:cNvSpPr/>
          <p:nvPr/>
        </p:nvSpPr>
        <p:spPr>
          <a:xfrm>
            <a:off x="7601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84"/>
          <p:cNvSpPr txBox="1"/>
          <p:nvPr>
            <p:ph idx="4294967295" type="title"/>
          </p:nvPr>
        </p:nvSpPr>
        <p:spPr>
          <a:xfrm>
            <a:off x="412900" y="746300"/>
            <a:ext cx="7955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0" lang="en-GB" sz="2000"/>
              <a:t>Only using the following cards once, fill in the gaps.</a:t>
            </a:r>
            <a:endParaRPr b="0" sz="2000"/>
          </a:p>
        </p:txBody>
      </p:sp>
      <p:sp>
        <p:nvSpPr>
          <p:cNvPr id="1223" name="Google Shape;1223;p84"/>
          <p:cNvSpPr txBox="1"/>
          <p:nvPr>
            <p:ph idx="4294967295" type="title"/>
          </p:nvPr>
        </p:nvSpPr>
        <p:spPr>
          <a:xfrm>
            <a:off x="7864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</a:t>
            </a:r>
            <a:endParaRPr b="0" sz="3100"/>
          </a:p>
        </p:txBody>
      </p:sp>
      <p:sp>
        <p:nvSpPr>
          <p:cNvPr id="1224" name="Google Shape;1224;p84"/>
          <p:cNvSpPr/>
          <p:nvPr/>
        </p:nvSpPr>
        <p:spPr>
          <a:xfrm>
            <a:off x="5907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84"/>
          <p:cNvSpPr txBox="1"/>
          <p:nvPr>
            <p:ph idx="4294967295" type="title"/>
          </p:nvPr>
        </p:nvSpPr>
        <p:spPr>
          <a:xfrm>
            <a:off x="15611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3</a:t>
            </a:r>
            <a:endParaRPr b="0" sz="3100"/>
          </a:p>
        </p:txBody>
      </p:sp>
      <p:sp>
        <p:nvSpPr>
          <p:cNvPr id="1226" name="Google Shape;1226;p84"/>
          <p:cNvSpPr txBox="1"/>
          <p:nvPr>
            <p:ph idx="4294967295" type="title"/>
          </p:nvPr>
        </p:nvSpPr>
        <p:spPr>
          <a:xfrm>
            <a:off x="2335800" y="14768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5</a:t>
            </a:r>
            <a:endParaRPr b="0" sz="3100"/>
          </a:p>
        </p:txBody>
      </p:sp>
      <p:sp>
        <p:nvSpPr>
          <p:cNvPr id="1227" name="Google Shape;1227;p84"/>
          <p:cNvSpPr txBox="1"/>
          <p:nvPr>
            <p:ph idx="4294967295" type="title"/>
          </p:nvPr>
        </p:nvSpPr>
        <p:spPr>
          <a:xfrm>
            <a:off x="31486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7</a:t>
            </a:r>
            <a:endParaRPr b="0" sz="3100"/>
          </a:p>
        </p:txBody>
      </p:sp>
      <p:sp>
        <p:nvSpPr>
          <p:cNvPr id="1228" name="Google Shape;1228;p84"/>
          <p:cNvSpPr txBox="1"/>
          <p:nvPr>
            <p:ph idx="4294967295" type="title"/>
          </p:nvPr>
        </p:nvSpPr>
        <p:spPr>
          <a:xfrm>
            <a:off x="3847100" y="14641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11</a:t>
            </a:r>
            <a:endParaRPr b="0" sz="3100"/>
          </a:p>
        </p:txBody>
      </p:sp>
      <p:sp>
        <p:nvSpPr>
          <p:cNvPr id="1229" name="Google Shape;1229;p84"/>
          <p:cNvSpPr txBox="1"/>
          <p:nvPr>
            <p:ph idx="4294967295" type="title"/>
          </p:nvPr>
        </p:nvSpPr>
        <p:spPr>
          <a:xfrm>
            <a:off x="4621800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12</a:t>
            </a:r>
            <a:endParaRPr b="0" sz="3100"/>
          </a:p>
        </p:txBody>
      </p:sp>
      <p:sp>
        <p:nvSpPr>
          <p:cNvPr id="1230" name="Google Shape;1230;p84"/>
          <p:cNvSpPr txBox="1"/>
          <p:nvPr>
            <p:ph idx="4294967295" type="title"/>
          </p:nvPr>
        </p:nvSpPr>
        <p:spPr>
          <a:xfrm>
            <a:off x="5396500" y="14514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13</a:t>
            </a:r>
            <a:endParaRPr b="0" sz="3100"/>
          </a:p>
        </p:txBody>
      </p:sp>
      <p:sp>
        <p:nvSpPr>
          <p:cNvPr id="1231" name="Google Shape;1231;p84"/>
          <p:cNvSpPr txBox="1"/>
          <p:nvPr>
            <p:ph idx="4294967295" type="title"/>
          </p:nvPr>
        </p:nvSpPr>
        <p:spPr>
          <a:xfrm>
            <a:off x="6172925" y="14514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14</a:t>
            </a:r>
            <a:endParaRPr b="0" sz="3100"/>
          </a:p>
        </p:txBody>
      </p:sp>
      <p:sp>
        <p:nvSpPr>
          <p:cNvPr id="1232" name="Google Shape;1232;p84"/>
          <p:cNvSpPr txBox="1"/>
          <p:nvPr>
            <p:ph idx="4294967295" type="title"/>
          </p:nvPr>
        </p:nvSpPr>
        <p:spPr>
          <a:xfrm>
            <a:off x="6899700" y="146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15</a:t>
            </a:r>
            <a:endParaRPr b="0" sz="3100"/>
          </a:p>
        </p:txBody>
      </p:sp>
      <p:sp>
        <p:nvSpPr>
          <p:cNvPr id="1233" name="Google Shape;1233;p84"/>
          <p:cNvSpPr txBox="1"/>
          <p:nvPr>
            <p:ph idx="4294967295" type="title"/>
          </p:nvPr>
        </p:nvSpPr>
        <p:spPr>
          <a:xfrm>
            <a:off x="7697648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22</a:t>
            </a:r>
            <a:endParaRPr b="0" sz="3100"/>
          </a:p>
        </p:txBody>
      </p:sp>
      <p:sp>
        <p:nvSpPr>
          <p:cNvPr id="1234" name="Google Shape;1234;p84"/>
          <p:cNvSpPr txBox="1"/>
          <p:nvPr>
            <p:ph idx="4294967295" type="title"/>
          </p:nvPr>
        </p:nvSpPr>
        <p:spPr>
          <a:xfrm>
            <a:off x="336700" y="2693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is a multiple of</a:t>
            </a:r>
            <a:endParaRPr b="0" sz="2000"/>
          </a:p>
        </p:txBody>
      </p:sp>
      <p:sp>
        <p:nvSpPr>
          <p:cNvPr id="1235" name="Google Shape;1235;p84"/>
          <p:cNvSpPr txBox="1"/>
          <p:nvPr>
            <p:ph idx="4294967295" type="title"/>
          </p:nvPr>
        </p:nvSpPr>
        <p:spPr>
          <a:xfrm>
            <a:off x="641500" y="3399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is a multiple of</a:t>
            </a:r>
            <a:endParaRPr b="0" sz="2000"/>
          </a:p>
        </p:txBody>
      </p:sp>
      <p:sp>
        <p:nvSpPr>
          <p:cNvPr id="1236" name="Google Shape;1236;p84"/>
          <p:cNvSpPr txBox="1"/>
          <p:nvPr>
            <p:ph idx="4294967295" type="title"/>
          </p:nvPr>
        </p:nvSpPr>
        <p:spPr>
          <a:xfrm>
            <a:off x="603400" y="4152675"/>
            <a:ext cx="312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is a multiple of</a:t>
            </a:r>
            <a:endParaRPr b="0" sz="2000"/>
          </a:p>
        </p:txBody>
      </p:sp>
      <p:sp>
        <p:nvSpPr>
          <p:cNvPr id="1237" name="Google Shape;1237;p84"/>
          <p:cNvSpPr/>
          <p:nvPr/>
        </p:nvSpPr>
        <p:spPr>
          <a:xfrm>
            <a:off x="705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4"/>
          <p:cNvSpPr/>
          <p:nvPr/>
        </p:nvSpPr>
        <p:spPr>
          <a:xfrm>
            <a:off x="3372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4"/>
          <p:cNvSpPr/>
          <p:nvPr/>
        </p:nvSpPr>
        <p:spPr>
          <a:xfrm>
            <a:off x="705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4"/>
          <p:cNvSpPr/>
          <p:nvPr/>
        </p:nvSpPr>
        <p:spPr>
          <a:xfrm>
            <a:off x="3372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84"/>
          <p:cNvSpPr/>
          <p:nvPr/>
        </p:nvSpPr>
        <p:spPr>
          <a:xfrm>
            <a:off x="707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84"/>
          <p:cNvSpPr/>
          <p:nvPr/>
        </p:nvSpPr>
        <p:spPr>
          <a:xfrm>
            <a:off x="3374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4"/>
          <p:cNvSpPr txBox="1"/>
          <p:nvPr>
            <p:ph idx="4294967295" type="title"/>
          </p:nvPr>
        </p:nvSpPr>
        <p:spPr>
          <a:xfrm>
            <a:off x="4972200" y="2700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is a factor of</a:t>
            </a:r>
            <a:endParaRPr b="0" sz="2000"/>
          </a:p>
        </p:txBody>
      </p:sp>
      <p:sp>
        <p:nvSpPr>
          <p:cNvPr id="1244" name="Google Shape;1244;p84"/>
          <p:cNvSpPr/>
          <p:nvPr/>
        </p:nvSpPr>
        <p:spPr>
          <a:xfrm>
            <a:off x="5035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84"/>
          <p:cNvSpPr/>
          <p:nvPr/>
        </p:nvSpPr>
        <p:spPr>
          <a:xfrm>
            <a:off x="7702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4"/>
          <p:cNvSpPr txBox="1"/>
          <p:nvPr>
            <p:ph idx="4294967295" type="title"/>
          </p:nvPr>
        </p:nvSpPr>
        <p:spPr>
          <a:xfrm>
            <a:off x="758716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7" name="Google Shape;1247;p84"/>
          <p:cNvSpPr txBox="1"/>
          <p:nvPr>
            <p:ph idx="4294967295" type="title"/>
          </p:nvPr>
        </p:nvSpPr>
        <p:spPr>
          <a:xfrm>
            <a:off x="4667400" y="3406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   only has           factors</a:t>
            </a:r>
            <a:endParaRPr b="0" sz="2000"/>
          </a:p>
        </p:txBody>
      </p:sp>
      <p:sp>
        <p:nvSpPr>
          <p:cNvPr id="1248" name="Google Shape;1248;p84"/>
          <p:cNvSpPr/>
          <p:nvPr/>
        </p:nvSpPr>
        <p:spPr>
          <a:xfrm>
            <a:off x="50357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84"/>
          <p:cNvSpPr/>
          <p:nvPr/>
        </p:nvSpPr>
        <p:spPr>
          <a:xfrm>
            <a:off x="68870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84"/>
          <p:cNvSpPr txBox="1"/>
          <p:nvPr>
            <p:ph idx="4294967295" type="title"/>
          </p:nvPr>
        </p:nvSpPr>
        <p:spPr>
          <a:xfrm>
            <a:off x="51350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1" name="Google Shape;1251;p84"/>
          <p:cNvSpPr txBox="1"/>
          <p:nvPr>
            <p:ph idx="4294967295" type="title"/>
          </p:nvPr>
        </p:nvSpPr>
        <p:spPr>
          <a:xfrm>
            <a:off x="70004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2" name="Google Shape;1252;p84"/>
          <p:cNvSpPr txBox="1"/>
          <p:nvPr>
            <p:ph idx="4294967295" type="title"/>
          </p:nvPr>
        </p:nvSpPr>
        <p:spPr>
          <a:xfrm>
            <a:off x="3473600" y="33283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11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3" name="Google Shape;1253;p84"/>
          <p:cNvSpPr txBox="1"/>
          <p:nvPr>
            <p:ph idx="4294967295" type="title"/>
          </p:nvPr>
        </p:nvSpPr>
        <p:spPr>
          <a:xfrm>
            <a:off x="763300" y="332825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4" name="Google Shape;1254;p84"/>
          <p:cNvSpPr txBox="1"/>
          <p:nvPr>
            <p:ph idx="4294967295" type="title"/>
          </p:nvPr>
        </p:nvSpPr>
        <p:spPr>
          <a:xfrm>
            <a:off x="3478526" y="2659659"/>
            <a:ext cx="5391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5" name="Google Shape;1255;p84"/>
          <p:cNvSpPr txBox="1"/>
          <p:nvPr>
            <p:ph idx="4294967295" type="title"/>
          </p:nvPr>
        </p:nvSpPr>
        <p:spPr>
          <a:xfrm>
            <a:off x="34736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6" name="Google Shape;1256;p84"/>
          <p:cNvSpPr txBox="1"/>
          <p:nvPr>
            <p:ph idx="4294967295" type="title"/>
          </p:nvPr>
        </p:nvSpPr>
        <p:spPr>
          <a:xfrm>
            <a:off x="7633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7" name="Google Shape;1257;p84"/>
          <p:cNvSpPr txBox="1"/>
          <p:nvPr>
            <p:ph idx="4294967295" type="title"/>
          </p:nvPr>
        </p:nvSpPr>
        <p:spPr>
          <a:xfrm>
            <a:off x="7756141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14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8" name="Google Shape;1258;p84"/>
          <p:cNvSpPr txBox="1"/>
          <p:nvPr>
            <p:ph idx="4294967295" type="title"/>
          </p:nvPr>
        </p:nvSpPr>
        <p:spPr>
          <a:xfrm>
            <a:off x="5158911" y="26307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7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9" name="Google Shape;1259;p84"/>
          <p:cNvSpPr txBox="1"/>
          <p:nvPr>
            <p:ph idx="4294967295" type="title"/>
          </p:nvPr>
        </p:nvSpPr>
        <p:spPr>
          <a:xfrm>
            <a:off x="694900" y="2207300"/>
            <a:ext cx="2200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Examples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265" name="Google Shape;1265;p85"/>
          <p:cNvSpPr/>
          <p:nvPr/>
        </p:nvSpPr>
        <p:spPr>
          <a:xfrm>
            <a:off x="13654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85"/>
          <p:cNvSpPr/>
          <p:nvPr/>
        </p:nvSpPr>
        <p:spPr>
          <a:xfrm>
            <a:off x="2140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85"/>
          <p:cNvSpPr/>
          <p:nvPr/>
        </p:nvSpPr>
        <p:spPr>
          <a:xfrm>
            <a:off x="29529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85"/>
          <p:cNvSpPr/>
          <p:nvPr/>
        </p:nvSpPr>
        <p:spPr>
          <a:xfrm>
            <a:off x="37276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5"/>
          <p:cNvSpPr/>
          <p:nvPr/>
        </p:nvSpPr>
        <p:spPr>
          <a:xfrm>
            <a:off x="45023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5"/>
          <p:cNvSpPr/>
          <p:nvPr/>
        </p:nvSpPr>
        <p:spPr>
          <a:xfrm>
            <a:off x="52770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85"/>
          <p:cNvSpPr/>
          <p:nvPr/>
        </p:nvSpPr>
        <p:spPr>
          <a:xfrm>
            <a:off x="60517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85"/>
          <p:cNvSpPr/>
          <p:nvPr/>
        </p:nvSpPr>
        <p:spPr>
          <a:xfrm>
            <a:off x="68264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85"/>
          <p:cNvSpPr/>
          <p:nvPr/>
        </p:nvSpPr>
        <p:spPr>
          <a:xfrm>
            <a:off x="7601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85"/>
          <p:cNvSpPr txBox="1"/>
          <p:nvPr>
            <p:ph idx="4294967295" type="title"/>
          </p:nvPr>
        </p:nvSpPr>
        <p:spPr>
          <a:xfrm>
            <a:off x="412900" y="746300"/>
            <a:ext cx="7955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0" lang="en-GB" sz="2000"/>
              <a:t>Only using the following cards once, fill in the gaps.</a:t>
            </a:r>
            <a:endParaRPr b="0" sz="2000"/>
          </a:p>
        </p:txBody>
      </p:sp>
      <p:sp>
        <p:nvSpPr>
          <p:cNvPr id="1275" name="Google Shape;1275;p85"/>
          <p:cNvSpPr txBox="1"/>
          <p:nvPr>
            <p:ph idx="4294967295" type="title"/>
          </p:nvPr>
        </p:nvSpPr>
        <p:spPr>
          <a:xfrm>
            <a:off x="7864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</a:t>
            </a:r>
            <a:endParaRPr b="0" sz="3100"/>
          </a:p>
        </p:txBody>
      </p:sp>
      <p:sp>
        <p:nvSpPr>
          <p:cNvPr id="1276" name="Google Shape;1276;p85"/>
          <p:cNvSpPr/>
          <p:nvPr/>
        </p:nvSpPr>
        <p:spPr>
          <a:xfrm>
            <a:off x="5907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5"/>
          <p:cNvSpPr txBox="1"/>
          <p:nvPr>
            <p:ph idx="4294967295" type="title"/>
          </p:nvPr>
        </p:nvSpPr>
        <p:spPr>
          <a:xfrm>
            <a:off x="15611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3</a:t>
            </a:r>
            <a:endParaRPr b="0" sz="3100"/>
          </a:p>
        </p:txBody>
      </p:sp>
      <p:sp>
        <p:nvSpPr>
          <p:cNvPr id="1278" name="Google Shape;1278;p85"/>
          <p:cNvSpPr txBox="1"/>
          <p:nvPr>
            <p:ph idx="4294967295" type="title"/>
          </p:nvPr>
        </p:nvSpPr>
        <p:spPr>
          <a:xfrm>
            <a:off x="2335800" y="14768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5</a:t>
            </a:r>
            <a:endParaRPr b="0" sz="3100"/>
          </a:p>
        </p:txBody>
      </p:sp>
      <p:sp>
        <p:nvSpPr>
          <p:cNvPr id="1279" name="Google Shape;1279;p85"/>
          <p:cNvSpPr txBox="1"/>
          <p:nvPr>
            <p:ph idx="4294967295" type="title"/>
          </p:nvPr>
        </p:nvSpPr>
        <p:spPr>
          <a:xfrm>
            <a:off x="31486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7</a:t>
            </a:r>
            <a:endParaRPr b="0" sz="3100"/>
          </a:p>
        </p:txBody>
      </p:sp>
      <p:sp>
        <p:nvSpPr>
          <p:cNvPr id="1280" name="Google Shape;1280;p85"/>
          <p:cNvSpPr txBox="1"/>
          <p:nvPr>
            <p:ph idx="4294967295" type="title"/>
          </p:nvPr>
        </p:nvSpPr>
        <p:spPr>
          <a:xfrm>
            <a:off x="3847100" y="14641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11</a:t>
            </a:r>
            <a:endParaRPr b="0" sz="3100"/>
          </a:p>
        </p:txBody>
      </p:sp>
      <p:sp>
        <p:nvSpPr>
          <p:cNvPr id="1281" name="Google Shape;1281;p85"/>
          <p:cNvSpPr txBox="1"/>
          <p:nvPr>
            <p:ph idx="4294967295" type="title"/>
          </p:nvPr>
        </p:nvSpPr>
        <p:spPr>
          <a:xfrm>
            <a:off x="4621800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12</a:t>
            </a:r>
            <a:endParaRPr b="0" sz="3100"/>
          </a:p>
        </p:txBody>
      </p:sp>
      <p:sp>
        <p:nvSpPr>
          <p:cNvPr id="1282" name="Google Shape;1282;p85"/>
          <p:cNvSpPr txBox="1"/>
          <p:nvPr>
            <p:ph idx="4294967295" type="title"/>
          </p:nvPr>
        </p:nvSpPr>
        <p:spPr>
          <a:xfrm>
            <a:off x="5396500" y="14514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13</a:t>
            </a:r>
            <a:endParaRPr b="0" sz="3100"/>
          </a:p>
        </p:txBody>
      </p:sp>
      <p:sp>
        <p:nvSpPr>
          <p:cNvPr id="1283" name="Google Shape;1283;p85"/>
          <p:cNvSpPr txBox="1"/>
          <p:nvPr>
            <p:ph idx="4294967295" type="title"/>
          </p:nvPr>
        </p:nvSpPr>
        <p:spPr>
          <a:xfrm>
            <a:off x="6172925" y="14514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14</a:t>
            </a:r>
            <a:endParaRPr b="0" sz="3100"/>
          </a:p>
        </p:txBody>
      </p:sp>
      <p:sp>
        <p:nvSpPr>
          <p:cNvPr id="1284" name="Google Shape;1284;p85"/>
          <p:cNvSpPr txBox="1"/>
          <p:nvPr>
            <p:ph idx="4294967295" type="title"/>
          </p:nvPr>
        </p:nvSpPr>
        <p:spPr>
          <a:xfrm>
            <a:off x="6899700" y="146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15</a:t>
            </a:r>
            <a:endParaRPr b="0" sz="3100"/>
          </a:p>
        </p:txBody>
      </p:sp>
      <p:sp>
        <p:nvSpPr>
          <p:cNvPr id="1285" name="Google Shape;1285;p85"/>
          <p:cNvSpPr txBox="1"/>
          <p:nvPr>
            <p:ph idx="4294967295" type="title"/>
          </p:nvPr>
        </p:nvSpPr>
        <p:spPr>
          <a:xfrm>
            <a:off x="7697648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22</a:t>
            </a:r>
            <a:endParaRPr b="0" sz="3100"/>
          </a:p>
        </p:txBody>
      </p:sp>
      <p:sp>
        <p:nvSpPr>
          <p:cNvPr id="1286" name="Google Shape;1286;p85"/>
          <p:cNvSpPr txBox="1"/>
          <p:nvPr>
            <p:ph idx="4294967295" type="title"/>
          </p:nvPr>
        </p:nvSpPr>
        <p:spPr>
          <a:xfrm>
            <a:off x="336700" y="2693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is a multiple of</a:t>
            </a:r>
            <a:endParaRPr b="0" sz="2000"/>
          </a:p>
        </p:txBody>
      </p:sp>
      <p:sp>
        <p:nvSpPr>
          <p:cNvPr id="1287" name="Google Shape;1287;p85"/>
          <p:cNvSpPr txBox="1"/>
          <p:nvPr>
            <p:ph idx="4294967295" type="title"/>
          </p:nvPr>
        </p:nvSpPr>
        <p:spPr>
          <a:xfrm>
            <a:off x="641500" y="3399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is a multiple of</a:t>
            </a:r>
            <a:endParaRPr b="0" sz="2000"/>
          </a:p>
        </p:txBody>
      </p:sp>
      <p:sp>
        <p:nvSpPr>
          <p:cNvPr id="1288" name="Google Shape;1288;p85"/>
          <p:cNvSpPr txBox="1"/>
          <p:nvPr>
            <p:ph idx="4294967295" type="title"/>
          </p:nvPr>
        </p:nvSpPr>
        <p:spPr>
          <a:xfrm>
            <a:off x="603400" y="4152675"/>
            <a:ext cx="312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is a multiple of</a:t>
            </a:r>
            <a:endParaRPr b="0" sz="2000"/>
          </a:p>
        </p:txBody>
      </p:sp>
      <p:sp>
        <p:nvSpPr>
          <p:cNvPr id="1289" name="Google Shape;1289;p85"/>
          <p:cNvSpPr/>
          <p:nvPr/>
        </p:nvSpPr>
        <p:spPr>
          <a:xfrm>
            <a:off x="705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85"/>
          <p:cNvSpPr/>
          <p:nvPr/>
        </p:nvSpPr>
        <p:spPr>
          <a:xfrm>
            <a:off x="3372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85"/>
          <p:cNvSpPr/>
          <p:nvPr/>
        </p:nvSpPr>
        <p:spPr>
          <a:xfrm>
            <a:off x="705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85"/>
          <p:cNvSpPr/>
          <p:nvPr/>
        </p:nvSpPr>
        <p:spPr>
          <a:xfrm>
            <a:off x="3372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85"/>
          <p:cNvSpPr/>
          <p:nvPr/>
        </p:nvSpPr>
        <p:spPr>
          <a:xfrm>
            <a:off x="707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85"/>
          <p:cNvSpPr/>
          <p:nvPr/>
        </p:nvSpPr>
        <p:spPr>
          <a:xfrm>
            <a:off x="3374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85"/>
          <p:cNvSpPr txBox="1"/>
          <p:nvPr>
            <p:ph idx="4294967295" type="title"/>
          </p:nvPr>
        </p:nvSpPr>
        <p:spPr>
          <a:xfrm>
            <a:off x="4972200" y="2700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is a factor of</a:t>
            </a:r>
            <a:endParaRPr b="0" sz="2000"/>
          </a:p>
        </p:txBody>
      </p:sp>
      <p:sp>
        <p:nvSpPr>
          <p:cNvPr id="1296" name="Google Shape;1296;p85"/>
          <p:cNvSpPr/>
          <p:nvPr/>
        </p:nvSpPr>
        <p:spPr>
          <a:xfrm>
            <a:off x="5035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85"/>
          <p:cNvSpPr/>
          <p:nvPr/>
        </p:nvSpPr>
        <p:spPr>
          <a:xfrm>
            <a:off x="7702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85"/>
          <p:cNvSpPr txBox="1"/>
          <p:nvPr>
            <p:ph idx="4294967295" type="title"/>
          </p:nvPr>
        </p:nvSpPr>
        <p:spPr>
          <a:xfrm>
            <a:off x="7756141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9" name="Google Shape;1299;p85"/>
          <p:cNvSpPr txBox="1"/>
          <p:nvPr>
            <p:ph idx="4294967295" type="title"/>
          </p:nvPr>
        </p:nvSpPr>
        <p:spPr>
          <a:xfrm>
            <a:off x="4667400" y="3406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   only has           factors</a:t>
            </a:r>
            <a:endParaRPr b="0" sz="2000"/>
          </a:p>
        </p:txBody>
      </p:sp>
      <p:sp>
        <p:nvSpPr>
          <p:cNvPr id="1300" name="Google Shape;1300;p85"/>
          <p:cNvSpPr/>
          <p:nvPr/>
        </p:nvSpPr>
        <p:spPr>
          <a:xfrm>
            <a:off x="50357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85"/>
          <p:cNvSpPr/>
          <p:nvPr/>
        </p:nvSpPr>
        <p:spPr>
          <a:xfrm>
            <a:off x="68870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85"/>
          <p:cNvSpPr txBox="1"/>
          <p:nvPr>
            <p:ph idx="4294967295" type="title"/>
          </p:nvPr>
        </p:nvSpPr>
        <p:spPr>
          <a:xfrm>
            <a:off x="51350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3" name="Google Shape;1303;p85"/>
          <p:cNvSpPr txBox="1"/>
          <p:nvPr>
            <p:ph idx="4294967295" type="title"/>
          </p:nvPr>
        </p:nvSpPr>
        <p:spPr>
          <a:xfrm>
            <a:off x="70004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85"/>
          <p:cNvSpPr txBox="1"/>
          <p:nvPr>
            <p:ph idx="4294967295" type="title"/>
          </p:nvPr>
        </p:nvSpPr>
        <p:spPr>
          <a:xfrm>
            <a:off x="3473600" y="33283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11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5" name="Google Shape;1305;p85"/>
          <p:cNvSpPr txBox="1"/>
          <p:nvPr>
            <p:ph idx="4294967295" type="title"/>
          </p:nvPr>
        </p:nvSpPr>
        <p:spPr>
          <a:xfrm>
            <a:off x="763300" y="332825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6" name="Google Shape;1306;p85"/>
          <p:cNvSpPr txBox="1"/>
          <p:nvPr>
            <p:ph idx="4294967295" type="title"/>
          </p:nvPr>
        </p:nvSpPr>
        <p:spPr>
          <a:xfrm>
            <a:off x="5138541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7" name="Google Shape;1307;p85"/>
          <p:cNvSpPr txBox="1"/>
          <p:nvPr>
            <p:ph idx="4294967295" type="title"/>
          </p:nvPr>
        </p:nvSpPr>
        <p:spPr>
          <a:xfrm>
            <a:off x="34736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85"/>
          <p:cNvSpPr txBox="1"/>
          <p:nvPr>
            <p:ph idx="4294967295" type="title"/>
          </p:nvPr>
        </p:nvSpPr>
        <p:spPr>
          <a:xfrm>
            <a:off x="7633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9" name="Google Shape;1309;p85"/>
          <p:cNvSpPr txBox="1"/>
          <p:nvPr>
            <p:ph idx="4294967295" type="title"/>
          </p:nvPr>
        </p:nvSpPr>
        <p:spPr>
          <a:xfrm>
            <a:off x="7967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14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0" name="Google Shape;1310;p85"/>
          <p:cNvSpPr txBox="1"/>
          <p:nvPr>
            <p:ph idx="4294967295" type="title"/>
          </p:nvPr>
        </p:nvSpPr>
        <p:spPr>
          <a:xfrm>
            <a:off x="35272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7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1" name="Google Shape;1311;p85"/>
          <p:cNvSpPr txBox="1"/>
          <p:nvPr>
            <p:ph idx="4294967295" type="title"/>
          </p:nvPr>
        </p:nvSpPr>
        <p:spPr>
          <a:xfrm>
            <a:off x="694900" y="2207300"/>
            <a:ext cx="2200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Examples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317" name="Google Shape;1317;p86"/>
          <p:cNvSpPr/>
          <p:nvPr/>
        </p:nvSpPr>
        <p:spPr>
          <a:xfrm>
            <a:off x="13654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86"/>
          <p:cNvSpPr/>
          <p:nvPr/>
        </p:nvSpPr>
        <p:spPr>
          <a:xfrm>
            <a:off x="2140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86"/>
          <p:cNvSpPr/>
          <p:nvPr/>
        </p:nvSpPr>
        <p:spPr>
          <a:xfrm>
            <a:off x="29529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86"/>
          <p:cNvSpPr/>
          <p:nvPr/>
        </p:nvSpPr>
        <p:spPr>
          <a:xfrm>
            <a:off x="37276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86"/>
          <p:cNvSpPr/>
          <p:nvPr/>
        </p:nvSpPr>
        <p:spPr>
          <a:xfrm>
            <a:off x="45023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86"/>
          <p:cNvSpPr/>
          <p:nvPr/>
        </p:nvSpPr>
        <p:spPr>
          <a:xfrm>
            <a:off x="52770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86"/>
          <p:cNvSpPr/>
          <p:nvPr/>
        </p:nvSpPr>
        <p:spPr>
          <a:xfrm>
            <a:off x="60517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86"/>
          <p:cNvSpPr/>
          <p:nvPr/>
        </p:nvSpPr>
        <p:spPr>
          <a:xfrm>
            <a:off x="68264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86"/>
          <p:cNvSpPr/>
          <p:nvPr/>
        </p:nvSpPr>
        <p:spPr>
          <a:xfrm>
            <a:off x="7601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6"/>
          <p:cNvSpPr txBox="1"/>
          <p:nvPr>
            <p:ph idx="4294967295" type="title"/>
          </p:nvPr>
        </p:nvSpPr>
        <p:spPr>
          <a:xfrm>
            <a:off x="412900" y="746300"/>
            <a:ext cx="7955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0" lang="en-GB" sz="2000"/>
              <a:t>Only using the following cards once, fill in the gaps.</a:t>
            </a:r>
            <a:endParaRPr b="0" sz="2000"/>
          </a:p>
        </p:txBody>
      </p:sp>
      <p:sp>
        <p:nvSpPr>
          <p:cNvPr id="1327" name="Google Shape;1327;p86"/>
          <p:cNvSpPr txBox="1"/>
          <p:nvPr>
            <p:ph idx="4294967295" type="title"/>
          </p:nvPr>
        </p:nvSpPr>
        <p:spPr>
          <a:xfrm>
            <a:off x="7864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</a:t>
            </a:r>
            <a:endParaRPr b="0" sz="3100"/>
          </a:p>
        </p:txBody>
      </p:sp>
      <p:sp>
        <p:nvSpPr>
          <p:cNvPr id="1328" name="Google Shape;1328;p86"/>
          <p:cNvSpPr/>
          <p:nvPr/>
        </p:nvSpPr>
        <p:spPr>
          <a:xfrm>
            <a:off x="5907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86"/>
          <p:cNvSpPr txBox="1"/>
          <p:nvPr>
            <p:ph idx="4294967295" type="title"/>
          </p:nvPr>
        </p:nvSpPr>
        <p:spPr>
          <a:xfrm>
            <a:off x="15611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3</a:t>
            </a:r>
            <a:endParaRPr b="0" sz="3100"/>
          </a:p>
        </p:txBody>
      </p:sp>
      <p:sp>
        <p:nvSpPr>
          <p:cNvPr id="1330" name="Google Shape;1330;p86"/>
          <p:cNvSpPr txBox="1"/>
          <p:nvPr>
            <p:ph idx="4294967295" type="title"/>
          </p:nvPr>
        </p:nvSpPr>
        <p:spPr>
          <a:xfrm>
            <a:off x="2335800" y="14768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5</a:t>
            </a:r>
            <a:endParaRPr b="0" sz="3100"/>
          </a:p>
        </p:txBody>
      </p:sp>
      <p:sp>
        <p:nvSpPr>
          <p:cNvPr id="1331" name="Google Shape;1331;p86"/>
          <p:cNvSpPr txBox="1"/>
          <p:nvPr>
            <p:ph idx="4294967295" type="title"/>
          </p:nvPr>
        </p:nvSpPr>
        <p:spPr>
          <a:xfrm>
            <a:off x="31486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7</a:t>
            </a:r>
            <a:endParaRPr b="0" sz="3100"/>
          </a:p>
        </p:txBody>
      </p:sp>
      <p:sp>
        <p:nvSpPr>
          <p:cNvPr id="1332" name="Google Shape;1332;p86"/>
          <p:cNvSpPr txBox="1"/>
          <p:nvPr>
            <p:ph idx="4294967295" type="title"/>
          </p:nvPr>
        </p:nvSpPr>
        <p:spPr>
          <a:xfrm>
            <a:off x="3847100" y="14641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11</a:t>
            </a:r>
            <a:endParaRPr b="0" sz="3100"/>
          </a:p>
        </p:txBody>
      </p:sp>
      <p:sp>
        <p:nvSpPr>
          <p:cNvPr id="1333" name="Google Shape;1333;p86"/>
          <p:cNvSpPr txBox="1"/>
          <p:nvPr>
            <p:ph idx="4294967295" type="title"/>
          </p:nvPr>
        </p:nvSpPr>
        <p:spPr>
          <a:xfrm>
            <a:off x="4621800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12</a:t>
            </a:r>
            <a:endParaRPr b="0" sz="3100"/>
          </a:p>
        </p:txBody>
      </p:sp>
      <p:sp>
        <p:nvSpPr>
          <p:cNvPr id="1334" name="Google Shape;1334;p86"/>
          <p:cNvSpPr txBox="1"/>
          <p:nvPr>
            <p:ph idx="4294967295" type="title"/>
          </p:nvPr>
        </p:nvSpPr>
        <p:spPr>
          <a:xfrm>
            <a:off x="5396500" y="14514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13</a:t>
            </a:r>
            <a:endParaRPr b="0" sz="3100"/>
          </a:p>
        </p:txBody>
      </p:sp>
      <p:sp>
        <p:nvSpPr>
          <p:cNvPr id="1335" name="Google Shape;1335;p86"/>
          <p:cNvSpPr txBox="1"/>
          <p:nvPr>
            <p:ph idx="4294967295" type="title"/>
          </p:nvPr>
        </p:nvSpPr>
        <p:spPr>
          <a:xfrm>
            <a:off x="6172925" y="14514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14</a:t>
            </a:r>
            <a:endParaRPr b="0" sz="3100"/>
          </a:p>
        </p:txBody>
      </p:sp>
      <p:sp>
        <p:nvSpPr>
          <p:cNvPr id="1336" name="Google Shape;1336;p86"/>
          <p:cNvSpPr txBox="1"/>
          <p:nvPr>
            <p:ph idx="4294967295" type="title"/>
          </p:nvPr>
        </p:nvSpPr>
        <p:spPr>
          <a:xfrm>
            <a:off x="6899700" y="146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15</a:t>
            </a:r>
            <a:endParaRPr b="0" sz="3100"/>
          </a:p>
        </p:txBody>
      </p:sp>
      <p:sp>
        <p:nvSpPr>
          <p:cNvPr id="1337" name="Google Shape;1337;p86"/>
          <p:cNvSpPr txBox="1"/>
          <p:nvPr>
            <p:ph idx="4294967295" type="title"/>
          </p:nvPr>
        </p:nvSpPr>
        <p:spPr>
          <a:xfrm>
            <a:off x="7697648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22</a:t>
            </a:r>
            <a:endParaRPr b="0" sz="3100"/>
          </a:p>
        </p:txBody>
      </p:sp>
      <p:sp>
        <p:nvSpPr>
          <p:cNvPr id="1338" name="Google Shape;1338;p86"/>
          <p:cNvSpPr txBox="1"/>
          <p:nvPr>
            <p:ph idx="4294967295" type="title"/>
          </p:nvPr>
        </p:nvSpPr>
        <p:spPr>
          <a:xfrm>
            <a:off x="336700" y="2693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is a multiple of</a:t>
            </a:r>
            <a:endParaRPr b="0" sz="2000"/>
          </a:p>
        </p:txBody>
      </p:sp>
      <p:sp>
        <p:nvSpPr>
          <p:cNvPr id="1339" name="Google Shape;1339;p86"/>
          <p:cNvSpPr txBox="1"/>
          <p:nvPr>
            <p:ph idx="4294967295" type="title"/>
          </p:nvPr>
        </p:nvSpPr>
        <p:spPr>
          <a:xfrm>
            <a:off x="641500" y="3399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is a multiple of</a:t>
            </a:r>
            <a:endParaRPr b="0" sz="2000"/>
          </a:p>
        </p:txBody>
      </p:sp>
      <p:sp>
        <p:nvSpPr>
          <p:cNvPr id="1340" name="Google Shape;1340;p86"/>
          <p:cNvSpPr txBox="1"/>
          <p:nvPr>
            <p:ph idx="4294967295" type="title"/>
          </p:nvPr>
        </p:nvSpPr>
        <p:spPr>
          <a:xfrm>
            <a:off x="603400" y="4152675"/>
            <a:ext cx="312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is a multiple of</a:t>
            </a:r>
            <a:endParaRPr b="0" sz="2000"/>
          </a:p>
        </p:txBody>
      </p:sp>
      <p:sp>
        <p:nvSpPr>
          <p:cNvPr id="1341" name="Google Shape;1341;p86"/>
          <p:cNvSpPr/>
          <p:nvPr/>
        </p:nvSpPr>
        <p:spPr>
          <a:xfrm>
            <a:off x="705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86"/>
          <p:cNvSpPr/>
          <p:nvPr/>
        </p:nvSpPr>
        <p:spPr>
          <a:xfrm>
            <a:off x="3372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86"/>
          <p:cNvSpPr/>
          <p:nvPr/>
        </p:nvSpPr>
        <p:spPr>
          <a:xfrm>
            <a:off x="705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86"/>
          <p:cNvSpPr/>
          <p:nvPr/>
        </p:nvSpPr>
        <p:spPr>
          <a:xfrm>
            <a:off x="3372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86"/>
          <p:cNvSpPr/>
          <p:nvPr/>
        </p:nvSpPr>
        <p:spPr>
          <a:xfrm>
            <a:off x="707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86"/>
          <p:cNvSpPr/>
          <p:nvPr/>
        </p:nvSpPr>
        <p:spPr>
          <a:xfrm>
            <a:off x="3374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86"/>
          <p:cNvSpPr txBox="1"/>
          <p:nvPr>
            <p:ph idx="4294967295" type="title"/>
          </p:nvPr>
        </p:nvSpPr>
        <p:spPr>
          <a:xfrm>
            <a:off x="4972200" y="2700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is a factor of</a:t>
            </a:r>
            <a:endParaRPr b="0" sz="2000"/>
          </a:p>
        </p:txBody>
      </p:sp>
      <p:sp>
        <p:nvSpPr>
          <p:cNvPr id="1348" name="Google Shape;1348;p86"/>
          <p:cNvSpPr/>
          <p:nvPr/>
        </p:nvSpPr>
        <p:spPr>
          <a:xfrm>
            <a:off x="5035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86"/>
          <p:cNvSpPr/>
          <p:nvPr/>
        </p:nvSpPr>
        <p:spPr>
          <a:xfrm>
            <a:off x="7702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86"/>
          <p:cNvSpPr txBox="1"/>
          <p:nvPr>
            <p:ph idx="4294967295" type="title"/>
          </p:nvPr>
        </p:nvSpPr>
        <p:spPr>
          <a:xfrm>
            <a:off x="799100" y="3328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1" name="Google Shape;1351;p86"/>
          <p:cNvSpPr txBox="1"/>
          <p:nvPr>
            <p:ph idx="4294967295" type="title"/>
          </p:nvPr>
        </p:nvSpPr>
        <p:spPr>
          <a:xfrm>
            <a:off x="4667400" y="3406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   only has           factors</a:t>
            </a:r>
            <a:endParaRPr b="0" sz="2000"/>
          </a:p>
        </p:txBody>
      </p:sp>
      <p:sp>
        <p:nvSpPr>
          <p:cNvPr id="1352" name="Google Shape;1352;p86"/>
          <p:cNvSpPr/>
          <p:nvPr/>
        </p:nvSpPr>
        <p:spPr>
          <a:xfrm>
            <a:off x="50357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86"/>
          <p:cNvSpPr/>
          <p:nvPr/>
        </p:nvSpPr>
        <p:spPr>
          <a:xfrm>
            <a:off x="68870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86"/>
          <p:cNvSpPr txBox="1"/>
          <p:nvPr>
            <p:ph idx="4294967295" type="title"/>
          </p:nvPr>
        </p:nvSpPr>
        <p:spPr>
          <a:xfrm>
            <a:off x="51350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5" name="Google Shape;1355;p86"/>
          <p:cNvSpPr txBox="1"/>
          <p:nvPr>
            <p:ph idx="4294967295" type="title"/>
          </p:nvPr>
        </p:nvSpPr>
        <p:spPr>
          <a:xfrm>
            <a:off x="70004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6" name="Google Shape;1356;p86"/>
          <p:cNvSpPr txBox="1"/>
          <p:nvPr>
            <p:ph idx="4294967295" type="title"/>
          </p:nvPr>
        </p:nvSpPr>
        <p:spPr>
          <a:xfrm>
            <a:off x="5162600" y="2649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11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7" name="Google Shape;1357;p86"/>
          <p:cNvSpPr txBox="1"/>
          <p:nvPr>
            <p:ph idx="4294967295" type="title"/>
          </p:nvPr>
        </p:nvSpPr>
        <p:spPr>
          <a:xfrm>
            <a:off x="77154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86"/>
          <p:cNvSpPr txBox="1"/>
          <p:nvPr>
            <p:ph idx="4294967295" type="title"/>
          </p:nvPr>
        </p:nvSpPr>
        <p:spPr>
          <a:xfrm>
            <a:off x="3527200" y="3331325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9" name="Google Shape;1359;p86"/>
          <p:cNvSpPr txBox="1"/>
          <p:nvPr>
            <p:ph idx="4294967295" type="title"/>
          </p:nvPr>
        </p:nvSpPr>
        <p:spPr>
          <a:xfrm>
            <a:off x="34736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0" name="Google Shape;1360;p86"/>
          <p:cNvSpPr txBox="1"/>
          <p:nvPr>
            <p:ph idx="4294967295" type="title"/>
          </p:nvPr>
        </p:nvSpPr>
        <p:spPr>
          <a:xfrm>
            <a:off x="7633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1" name="Google Shape;1361;p86"/>
          <p:cNvSpPr txBox="1"/>
          <p:nvPr>
            <p:ph idx="4294967295" type="title"/>
          </p:nvPr>
        </p:nvSpPr>
        <p:spPr>
          <a:xfrm>
            <a:off x="7967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14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2" name="Google Shape;1362;p86"/>
          <p:cNvSpPr txBox="1"/>
          <p:nvPr>
            <p:ph idx="4294967295" type="title"/>
          </p:nvPr>
        </p:nvSpPr>
        <p:spPr>
          <a:xfrm>
            <a:off x="35272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7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3" name="Google Shape;1363;p86"/>
          <p:cNvSpPr txBox="1"/>
          <p:nvPr>
            <p:ph idx="4294967295" type="title"/>
          </p:nvPr>
        </p:nvSpPr>
        <p:spPr>
          <a:xfrm>
            <a:off x="694900" y="2207300"/>
            <a:ext cx="2200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Examples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369" name="Google Shape;1369;p87"/>
          <p:cNvSpPr/>
          <p:nvPr/>
        </p:nvSpPr>
        <p:spPr>
          <a:xfrm>
            <a:off x="13654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87"/>
          <p:cNvSpPr/>
          <p:nvPr/>
        </p:nvSpPr>
        <p:spPr>
          <a:xfrm>
            <a:off x="2140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87"/>
          <p:cNvSpPr/>
          <p:nvPr/>
        </p:nvSpPr>
        <p:spPr>
          <a:xfrm>
            <a:off x="29529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87"/>
          <p:cNvSpPr/>
          <p:nvPr/>
        </p:nvSpPr>
        <p:spPr>
          <a:xfrm>
            <a:off x="37276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87"/>
          <p:cNvSpPr/>
          <p:nvPr/>
        </p:nvSpPr>
        <p:spPr>
          <a:xfrm>
            <a:off x="45023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87"/>
          <p:cNvSpPr/>
          <p:nvPr/>
        </p:nvSpPr>
        <p:spPr>
          <a:xfrm>
            <a:off x="52770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87"/>
          <p:cNvSpPr/>
          <p:nvPr/>
        </p:nvSpPr>
        <p:spPr>
          <a:xfrm>
            <a:off x="60517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87"/>
          <p:cNvSpPr/>
          <p:nvPr/>
        </p:nvSpPr>
        <p:spPr>
          <a:xfrm>
            <a:off x="6826400" y="13723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87"/>
          <p:cNvSpPr/>
          <p:nvPr/>
        </p:nvSpPr>
        <p:spPr>
          <a:xfrm>
            <a:off x="76011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87"/>
          <p:cNvSpPr txBox="1"/>
          <p:nvPr>
            <p:ph idx="4294967295" type="title"/>
          </p:nvPr>
        </p:nvSpPr>
        <p:spPr>
          <a:xfrm>
            <a:off x="412900" y="746300"/>
            <a:ext cx="7955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b="0" lang="en-GB" sz="2000"/>
              <a:t>Only using the following cards once, fill in the gaps.</a:t>
            </a:r>
            <a:endParaRPr b="0" sz="2000"/>
          </a:p>
        </p:txBody>
      </p:sp>
      <p:sp>
        <p:nvSpPr>
          <p:cNvPr id="1379" name="Google Shape;1379;p87"/>
          <p:cNvSpPr txBox="1"/>
          <p:nvPr>
            <p:ph idx="4294967295" type="title"/>
          </p:nvPr>
        </p:nvSpPr>
        <p:spPr>
          <a:xfrm>
            <a:off x="7864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</a:t>
            </a:r>
            <a:endParaRPr b="0" sz="3100"/>
          </a:p>
        </p:txBody>
      </p:sp>
      <p:sp>
        <p:nvSpPr>
          <p:cNvPr id="1380" name="Google Shape;1380;p87"/>
          <p:cNvSpPr/>
          <p:nvPr/>
        </p:nvSpPr>
        <p:spPr>
          <a:xfrm>
            <a:off x="590700" y="1385000"/>
            <a:ext cx="660300" cy="6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87"/>
          <p:cNvSpPr txBox="1"/>
          <p:nvPr>
            <p:ph idx="4294967295" type="title"/>
          </p:nvPr>
        </p:nvSpPr>
        <p:spPr>
          <a:xfrm>
            <a:off x="15611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3</a:t>
            </a:r>
            <a:endParaRPr b="0" sz="3100"/>
          </a:p>
        </p:txBody>
      </p:sp>
      <p:sp>
        <p:nvSpPr>
          <p:cNvPr id="1382" name="Google Shape;1382;p87"/>
          <p:cNvSpPr txBox="1"/>
          <p:nvPr>
            <p:ph idx="4294967295" type="title"/>
          </p:nvPr>
        </p:nvSpPr>
        <p:spPr>
          <a:xfrm>
            <a:off x="2335800" y="14768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5</a:t>
            </a:r>
            <a:endParaRPr b="0" sz="3100"/>
          </a:p>
        </p:txBody>
      </p:sp>
      <p:sp>
        <p:nvSpPr>
          <p:cNvPr id="1383" name="Google Shape;1383;p87"/>
          <p:cNvSpPr txBox="1"/>
          <p:nvPr>
            <p:ph idx="4294967295" type="title"/>
          </p:nvPr>
        </p:nvSpPr>
        <p:spPr>
          <a:xfrm>
            <a:off x="3148600" y="1464100"/>
            <a:ext cx="340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7</a:t>
            </a:r>
            <a:endParaRPr b="0" sz="3100"/>
          </a:p>
        </p:txBody>
      </p:sp>
      <p:sp>
        <p:nvSpPr>
          <p:cNvPr id="1384" name="Google Shape;1384;p87"/>
          <p:cNvSpPr txBox="1"/>
          <p:nvPr>
            <p:ph idx="4294967295" type="title"/>
          </p:nvPr>
        </p:nvSpPr>
        <p:spPr>
          <a:xfrm>
            <a:off x="3847100" y="14641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11</a:t>
            </a:r>
            <a:endParaRPr b="0" sz="3100"/>
          </a:p>
        </p:txBody>
      </p:sp>
      <p:sp>
        <p:nvSpPr>
          <p:cNvPr id="1385" name="Google Shape;1385;p87"/>
          <p:cNvSpPr txBox="1"/>
          <p:nvPr>
            <p:ph idx="4294967295" type="title"/>
          </p:nvPr>
        </p:nvSpPr>
        <p:spPr>
          <a:xfrm>
            <a:off x="4621800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12</a:t>
            </a:r>
            <a:endParaRPr b="0" sz="3100"/>
          </a:p>
        </p:txBody>
      </p:sp>
      <p:sp>
        <p:nvSpPr>
          <p:cNvPr id="1386" name="Google Shape;1386;p87"/>
          <p:cNvSpPr txBox="1"/>
          <p:nvPr>
            <p:ph idx="4294967295" type="title"/>
          </p:nvPr>
        </p:nvSpPr>
        <p:spPr>
          <a:xfrm>
            <a:off x="5396500" y="14514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13</a:t>
            </a:r>
            <a:endParaRPr b="0" sz="3100"/>
          </a:p>
        </p:txBody>
      </p:sp>
      <p:sp>
        <p:nvSpPr>
          <p:cNvPr id="1387" name="Google Shape;1387;p87"/>
          <p:cNvSpPr txBox="1"/>
          <p:nvPr>
            <p:ph idx="4294967295" type="title"/>
          </p:nvPr>
        </p:nvSpPr>
        <p:spPr>
          <a:xfrm>
            <a:off x="6172925" y="14514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14</a:t>
            </a:r>
            <a:endParaRPr b="0" sz="3100"/>
          </a:p>
        </p:txBody>
      </p:sp>
      <p:sp>
        <p:nvSpPr>
          <p:cNvPr id="1388" name="Google Shape;1388;p87"/>
          <p:cNvSpPr txBox="1"/>
          <p:nvPr>
            <p:ph idx="4294967295" type="title"/>
          </p:nvPr>
        </p:nvSpPr>
        <p:spPr>
          <a:xfrm>
            <a:off x="6899700" y="146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15</a:t>
            </a:r>
            <a:endParaRPr b="0" sz="3100"/>
          </a:p>
        </p:txBody>
      </p:sp>
      <p:sp>
        <p:nvSpPr>
          <p:cNvPr id="1389" name="Google Shape;1389;p87"/>
          <p:cNvSpPr txBox="1"/>
          <p:nvPr>
            <p:ph idx="4294967295" type="title"/>
          </p:nvPr>
        </p:nvSpPr>
        <p:spPr>
          <a:xfrm>
            <a:off x="7697648" y="14768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/>
              <a:t>22</a:t>
            </a:r>
            <a:endParaRPr b="0" sz="3100"/>
          </a:p>
        </p:txBody>
      </p:sp>
      <p:sp>
        <p:nvSpPr>
          <p:cNvPr id="1390" name="Google Shape;1390;p87"/>
          <p:cNvSpPr txBox="1"/>
          <p:nvPr>
            <p:ph idx="4294967295" type="title"/>
          </p:nvPr>
        </p:nvSpPr>
        <p:spPr>
          <a:xfrm>
            <a:off x="336700" y="2693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is a multiple of</a:t>
            </a:r>
            <a:endParaRPr b="0" sz="2000"/>
          </a:p>
        </p:txBody>
      </p:sp>
      <p:sp>
        <p:nvSpPr>
          <p:cNvPr id="1391" name="Google Shape;1391;p87"/>
          <p:cNvSpPr txBox="1"/>
          <p:nvPr>
            <p:ph idx="4294967295" type="title"/>
          </p:nvPr>
        </p:nvSpPr>
        <p:spPr>
          <a:xfrm>
            <a:off x="641500" y="3399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is a multiple of</a:t>
            </a:r>
            <a:endParaRPr b="0" sz="2000"/>
          </a:p>
        </p:txBody>
      </p:sp>
      <p:sp>
        <p:nvSpPr>
          <p:cNvPr id="1392" name="Google Shape;1392;p87"/>
          <p:cNvSpPr txBox="1"/>
          <p:nvPr>
            <p:ph idx="4294967295" type="title"/>
          </p:nvPr>
        </p:nvSpPr>
        <p:spPr>
          <a:xfrm>
            <a:off x="603400" y="4152675"/>
            <a:ext cx="312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is a multiple of</a:t>
            </a:r>
            <a:endParaRPr b="0" sz="2000"/>
          </a:p>
        </p:txBody>
      </p:sp>
      <p:sp>
        <p:nvSpPr>
          <p:cNvPr id="1393" name="Google Shape;1393;p87"/>
          <p:cNvSpPr/>
          <p:nvPr/>
        </p:nvSpPr>
        <p:spPr>
          <a:xfrm>
            <a:off x="705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87"/>
          <p:cNvSpPr/>
          <p:nvPr/>
        </p:nvSpPr>
        <p:spPr>
          <a:xfrm>
            <a:off x="3372000" y="2591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87"/>
          <p:cNvSpPr/>
          <p:nvPr/>
        </p:nvSpPr>
        <p:spPr>
          <a:xfrm>
            <a:off x="705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87"/>
          <p:cNvSpPr/>
          <p:nvPr/>
        </p:nvSpPr>
        <p:spPr>
          <a:xfrm>
            <a:off x="3372000" y="3277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87"/>
          <p:cNvSpPr/>
          <p:nvPr/>
        </p:nvSpPr>
        <p:spPr>
          <a:xfrm>
            <a:off x="707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87"/>
          <p:cNvSpPr/>
          <p:nvPr/>
        </p:nvSpPr>
        <p:spPr>
          <a:xfrm>
            <a:off x="3374800" y="39631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87"/>
          <p:cNvSpPr txBox="1"/>
          <p:nvPr>
            <p:ph idx="4294967295" type="title"/>
          </p:nvPr>
        </p:nvSpPr>
        <p:spPr>
          <a:xfrm>
            <a:off x="4972200" y="2700400"/>
            <a:ext cx="363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is a factor of</a:t>
            </a:r>
            <a:endParaRPr b="0" sz="2000"/>
          </a:p>
        </p:txBody>
      </p:sp>
      <p:sp>
        <p:nvSpPr>
          <p:cNvPr id="1400" name="Google Shape;1400;p87"/>
          <p:cNvSpPr/>
          <p:nvPr/>
        </p:nvSpPr>
        <p:spPr>
          <a:xfrm>
            <a:off x="5035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87"/>
          <p:cNvSpPr/>
          <p:nvPr/>
        </p:nvSpPr>
        <p:spPr>
          <a:xfrm>
            <a:off x="7702700" y="25985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87"/>
          <p:cNvSpPr txBox="1"/>
          <p:nvPr>
            <p:ph idx="4294967295" type="title"/>
          </p:nvPr>
        </p:nvSpPr>
        <p:spPr>
          <a:xfrm>
            <a:off x="799100" y="3328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3" name="Google Shape;1403;p87"/>
          <p:cNvSpPr txBox="1"/>
          <p:nvPr>
            <p:ph idx="4294967295" type="title"/>
          </p:nvPr>
        </p:nvSpPr>
        <p:spPr>
          <a:xfrm>
            <a:off x="4667400" y="3406100"/>
            <a:ext cx="392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               only has           factors</a:t>
            </a:r>
            <a:endParaRPr b="0" sz="2000"/>
          </a:p>
        </p:txBody>
      </p:sp>
      <p:sp>
        <p:nvSpPr>
          <p:cNvPr id="1404" name="Google Shape;1404;p87"/>
          <p:cNvSpPr/>
          <p:nvPr/>
        </p:nvSpPr>
        <p:spPr>
          <a:xfrm>
            <a:off x="50357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7"/>
          <p:cNvSpPr/>
          <p:nvPr/>
        </p:nvSpPr>
        <p:spPr>
          <a:xfrm>
            <a:off x="6887000" y="3284300"/>
            <a:ext cx="539100" cy="59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87"/>
          <p:cNvSpPr txBox="1"/>
          <p:nvPr>
            <p:ph idx="4294967295" type="title"/>
          </p:nvPr>
        </p:nvSpPr>
        <p:spPr>
          <a:xfrm>
            <a:off x="51350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7" name="Google Shape;1407;p87"/>
          <p:cNvSpPr txBox="1"/>
          <p:nvPr>
            <p:ph idx="4294967295" type="title"/>
          </p:nvPr>
        </p:nvSpPr>
        <p:spPr>
          <a:xfrm>
            <a:off x="7000400" y="3328300"/>
            <a:ext cx="464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8" name="Google Shape;1408;p87"/>
          <p:cNvSpPr txBox="1"/>
          <p:nvPr>
            <p:ph idx="4294967295" type="title"/>
          </p:nvPr>
        </p:nvSpPr>
        <p:spPr>
          <a:xfrm>
            <a:off x="3489100" y="40141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11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9" name="Google Shape;1409;p87"/>
          <p:cNvSpPr txBox="1"/>
          <p:nvPr>
            <p:ph idx="4294967295" type="title"/>
          </p:nvPr>
        </p:nvSpPr>
        <p:spPr>
          <a:xfrm>
            <a:off x="728170" y="4014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22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0" name="Google Shape;1410;p87"/>
          <p:cNvSpPr txBox="1"/>
          <p:nvPr>
            <p:ph idx="4294967295" type="title"/>
          </p:nvPr>
        </p:nvSpPr>
        <p:spPr>
          <a:xfrm>
            <a:off x="3527200" y="3331325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3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1" name="Google Shape;1411;p87"/>
          <p:cNvSpPr txBox="1"/>
          <p:nvPr>
            <p:ph idx="4294967295" type="title"/>
          </p:nvPr>
        </p:nvSpPr>
        <p:spPr>
          <a:xfrm>
            <a:off x="5181750" y="2649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2" name="Google Shape;1412;p87"/>
          <p:cNvSpPr txBox="1"/>
          <p:nvPr>
            <p:ph idx="4294967295" type="title"/>
          </p:nvPr>
        </p:nvSpPr>
        <p:spPr>
          <a:xfrm>
            <a:off x="7756141" y="2614041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15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3" name="Google Shape;1413;p87"/>
          <p:cNvSpPr txBox="1"/>
          <p:nvPr>
            <p:ph idx="4294967295" type="title"/>
          </p:nvPr>
        </p:nvSpPr>
        <p:spPr>
          <a:xfrm>
            <a:off x="7967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14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4" name="Google Shape;1414;p87"/>
          <p:cNvSpPr txBox="1"/>
          <p:nvPr>
            <p:ph idx="4294967295" type="title"/>
          </p:nvPr>
        </p:nvSpPr>
        <p:spPr>
          <a:xfrm>
            <a:off x="3527200" y="2642500"/>
            <a:ext cx="5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100">
                <a:latin typeface="Kalam"/>
                <a:ea typeface="Kalam"/>
                <a:cs typeface="Kalam"/>
                <a:sym typeface="Kalam"/>
              </a:rPr>
              <a:t>7</a:t>
            </a:r>
            <a:endParaRPr b="0" sz="3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5" name="Google Shape;1415;p87"/>
          <p:cNvSpPr txBox="1"/>
          <p:nvPr>
            <p:ph idx="4294967295" type="title"/>
          </p:nvPr>
        </p:nvSpPr>
        <p:spPr>
          <a:xfrm>
            <a:off x="694900" y="2207300"/>
            <a:ext cx="2200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Examples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0" name="Google Shape;1420;p88"/>
          <p:cNvGraphicFramePr/>
          <p:nvPr/>
        </p:nvGraphicFramePr>
        <p:xfrm>
          <a:off x="323963" y="13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{3A94DC8F-A224-4188-B1E8-DC4A072D6B83}</a:tableStyleId>
              </a:tblPr>
              <a:tblGrid>
                <a:gridCol w="4616000"/>
                <a:gridCol w="1141150"/>
                <a:gridCol w="1353225"/>
                <a:gridCol w="990975"/>
              </a:tblGrid>
              <a:tr h="69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85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Given A,B and C are integers  A ✕ B = C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 is a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A and B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and B are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factors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4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a number is bigger than its largest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product of two integers is an integer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0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is a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every integer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21" name="Google Shape;1421;p88"/>
          <p:cNvSpPr txBox="1"/>
          <p:nvPr/>
        </p:nvSpPr>
        <p:spPr>
          <a:xfrm>
            <a:off x="6019350" y="3043775"/>
            <a:ext cx="14988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5 is a multiple of 5 and 5 is a factor of 5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2" name="Google Shape;1422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423" name="Google Shape;1423;p88"/>
          <p:cNvSpPr txBox="1"/>
          <p:nvPr>
            <p:ph idx="1" type="body"/>
          </p:nvPr>
        </p:nvSpPr>
        <p:spPr>
          <a:xfrm>
            <a:off x="324000" y="673413"/>
            <a:ext cx="8240100" cy="5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Are the following always true, sometimes true or never true? When the answer is sometimes or never true, give an example</a:t>
            </a:r>
            <a:endParaRPr sz="2000"/>
          </a:p>
        </p:txBody>
      </p:sp>
      <p:pic>
        <p:nvPicPr>
          <p:cNvPr id="1424" name="Google Shape;142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078" y="2464800"/>
            <a:ext cx="242350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078" y="4459200"/>
            <a:ext cx="242350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078" y="3988800"/>
            <a:ext cx="242350" cy="2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89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Multiples</a:t>
            </a:r>
            <a:endParaRPr/>
          </a:p>
        </p:txBody>
      </p:sp>
      <p:sp>
        <p:nvSpPr>
          <p:cNvPr id="1432" name="Google Shape;1432;p89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</a:t>
            </a:r>
            <a:endParaRPr/>
          </a:p>
        </p:txBody>
      </p:sp>
      <p:sp>
        <p:nvSpPr>
          <p:cNvPr id="1433" name="Google Shape;1433;p89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434" name="Google Shape;1434;p89"/>
          <p:cNvSpPr txBox="1"/>
          <p:nvPr>
            <p:ph idx="4" type="title"/>
          </p:nvPr>
        </p:nvSpPr>
        <p:spPr>
          <a:xfrm>
            <a:off x="324000" y="657600"/>
            <a:ext cx="7920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factors, multiples, squares and cubes</a:t>
            </a:r>
            <a:endParaRPr/>
          </a:p>
        </p:txBody>
      </p:sp>
      <p:pic>
        <p:nvPicPr>
          <p:cNvPr id="1435" name="Google Shape;143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18" y="369647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441" name="Google Shape;1441;p90"/>
          <p:cNvSpPr txBox="1"/>
          <p:nvPr>
            <p:ph idx="4294967295" type="subTitle"/>
          </p:nvPr>
        </p:nvSpPr>
        <p:spPr>
          <a:xfrm>
            <a:off x="324000" y="810000"/>
            <a:ext cx="6982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square</a:t>
            </a:r>
            <a:r>
              <a:rPr lang="en-GB"/>
              <a:t> number is the </a:t>
            </a:r>
            <a:r>
              <a:rPr b="1" lang="en-GB"/>
              <a:t>product </a:t>
            </a:r>
            <a:r>
              <a:rPr lang="en-GB"/>
              <a:t>of two repeated integers.</a:t>
            </a:r>
            <a:endParaRPr/>
          </a:p>
        </p:txBody>
      </p:sp>
      <p:sp>
        <p:nvSpPr>
          <p:cNvPr id="1442" name="Google Shape;1442;p90"/>
          <p:cNvSpPr txBox="1"/>
          <p:nvPr>
            <p:ph idx="4294967295" type="subTitle"/>
          </p:nvPr>
        </p:nvSpPr>
        <p:spPr>
          <a:xfrm>
            <a:off x="3761250" y="3109375"/>
            <a:ext cx="4991100" cy="9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work out the next square numbers up to 125?</a:t>
            </a:r>
            <a:endParaRPr/>
          </a:p>
        </p:txBody>
      </p:sp>
      <p:sp>
        <p:nvSpPr>
          <p:cNvPr id="1443" name="Google Shape;1443;p90"/>
          <p:cNvSpPr txBox="1"/>
          <p:nvPr>
            <p:ph idx="4294967295" type="subTitle"/>
          </p:nvPr>
        </p:nvSpPr>
        <p:spPr>
          <a:xfrm>
            <a:off x="3763425" y="1701000"/>
            <a:ext cx="4991100" cy="1155000"/>
          </a:xfrm>
          <a:prstGeom prst="rect">
            <a:avLst/>
          </a:prstGeom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Square numbers</a:t>
            </a:r>
            <a:endParaRPr sz="2000"/>
          </a:p>
        </p:txBody>
      </p:sp>
      <p:sp>
        <p:nvSpPr>
          <p:cNvPr id="1444" name="Google Shape;1444;p90"/>
          <p:cNvSpPr txBox="1"/>
          <p:nvPr>
            <p:ph idx="4294967295" type="subTitle"/>
          </p:nvPr>
        </p:nvSpPr>
        <p:spPr>
          <a:xfrm>
            <a:off x="3873500" y="2275300"/>
            <a:ext cx="241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445" name="Google Shape;1445;p90"/>
          <p:cNvSpPr txBox="1"/>
          <p:nvPr>
            <p:ph idx="4294967295" type="subTitle"/>
          </p:nvPr>
        </p:nvSpPr>
        <p:spPr>
          <a:xfrm>
            <a:off x="4013200" y="2275300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4</a:t>
            </a:r>
            <a:endParaRPr/>
          </a:p>
        </p:txBody>
      </p:sp>
      <p:sp>
        <p:nvSpPr>
          <p:cNvPr id="1446" name="Google Shape;1446;p90"/>
          <p:cNvSpPr txBox="1"/>
          <p:nvPr>
            <p:ph idx="4294967295" type="subTitle"/>
          </p:nvPr>
        </p:nvSpPr>
        <p:spPr>
          <a:xfrm>
            <a:off x="4318000" y="2275300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9</a:t>
            </a:r>
            <a:endParaRPr/>
          </a:p>
        </p:txBody>
      </p:sp>
      <p:sp>
        <p:nvSpPr>
          <p:cNvPr id="1447" name="Google Shape;1447;p90"/>
          <p:cNvSpPr txBox="1"/>
          <p:nvPr>
            <p:ph idx="4294967295" type="subTitle"/>
          </p:nvPr>
        </p:nvSpPr>
        <p:spPr>
          <a:xfrm>
            <a:off x="4622800" y="2275300"/>
            <a:ext cx="588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16</a:t>
            </a:r>
            <a:endParaRPr/>
          </a:p>
        </p:txBody>
      </p:sp>
      <p:sp>
        <p:nvSpPr>
          <p:cNvPr id="1448" name="Google Shape;1448;p90"/>
          <p:cNvSpPr txBox="1"/>
          <p:nvPr>
            <p:ph idx="4294967295" type="subTitle"/>
          </p:nvPr>
        </p:nvSpPr>
        <p:spPr>
          <a:xfrm>
            <a:off x="1897071" y="1636245"/>
            <a:ext cx="9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✕ 1 =</a:t>
            </a:r>
            <a:endParaRPr/>
          </a:p>
        </p:txBody>
      </p:sp>
      <p:sp>
        <p:nvSpPr>
          <p:cNvPr id="1449" name="Google Shape;1449;p90"/>
          <p:cNvSpPr txBox="1"/>
          <p:nvPr>
            <p:ph idx="4294967295" type="subTitle"/>
          </p:nvPr>
        </p:nvSpPr>
        <p:spPr>
          <a:xfrm>
            <a:off x="2893071" y="1636245"/>
            <a:ext cx="241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450" name="Google Shape;1450;p90"/>
          <p:cNvSpPr txBox="1"/>
          <p:nvPr>
            <p:ph idx="4294967295" type="subTitle"/>
          </p:nvPr>
        </p:nvSpPr>
        <p:spPr>
          <a:xfrm>
            <a:off x="1882175" y="2051345"/>
            <a:ext cx="9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✕ 2 =</a:t>
            </a:r>
            <a:endParaRPr/>
          </a:p>
        </p:txBody>
      </p:sp>
      <p:sp>
        <p:nvSpPr>
          <p:cNvPr id="1451" name="Google Shape;1451;p90"/>
          <p:cNvSpPr txBox="1"/>
          <p:nvPr>
            <p:ph idx="4294967295" type="subTitle"/>
          </p:nvPr>
        </p:nvSpPr>
        <p:spPr>
          <a:xfrm>
            <a:off x="2893621" y="2051345"/>
            <a:ext cx="241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452" name="Google Shape;1452;p90"/>
          <p:cNvSpPr txBox="1"/>
          <p:nvPr>
            <p:ph idx="4294967295" type="subTitle"/>
          </p:nvPr>
        </p:nvSpPr>
        <p:spPr>
          <a:xfrm>
            <a:off x="1889348" y="2498295"/>
            <a:ext cx="9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✕ 3 =</a:t>
            </a:r>
            <a:endParaRPr/>
          </a:p>
        </p:txBody>
      </p:sp>
      <p:sp>
        <p:nvSpPr>
          <p:cNvPr id="1453" name="Google Shape;1453;p90"/>
          <p:cNvSpPr txBox="1"/>
          <p:nvPr>
            <p:ph idx="4294967295" type="subTitle"/>
          </p:nvPr>
        </p:nvSpPr>
        <p:spPr>
          <a:xfrm>
            <a:off x="2893071" y="2498295"/>
            <a:ext cx="241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454" name="Google Shape;1454;p90"/>
          <p:cNvSpPr txBox="1"/>
          <p:nvPr>
            <p:ph idx="4294967295" type="subTitle"/>
          </p:nvPr>
        </p:nvSpPr>
        <p:spPr>
          <a:xfrm>
            <a:off x="1837615" y="2968970"/>
            <a:ext cx="9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✕ 4 =</a:t>
            </a:r>
            <a:endParaRPr/>
          </a:p>
        </p:txBody>
      </p:sp>
      <p:sp>
        <p:nvSpPr>
          <p:cNvPr id="1455" name="Google Shape;1455;p90"/>
          <p:cNvSpPr txBox="1"/>
          <p:nvPr>
            <p:ph idx="4294967295" type="subTitle"/>
          </p:nvPr>
        </p:nvSpPr>
        <p:spPr>
          <a:xfrm>
            <a:off x="2895398" y="2968970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461" name="Google Shape;1461;p91"/>
          <p:cNvSpPr txBox="1"/>
          <p:nvPr>
            <p:ph idx="4294967295" type="subTitle"/>
          </p:nvPr>
        </p:nvSpPr>
        <p:spPr>
          <a:xfrm>
            <a:off x="324000" y="810000"/>
            <a:ext cx="6982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square</a:t>
            </a:r>
            <a:r>
              <a:rPr lang="en-GB"/>
              <a:t> number is the </a:t>
            </a:r>
            <a:r>
              <a:rPr b="1" lang="en-GB"/>
              <a:t>product </a:t>
            </a:r>
            <a:r>
              <a:rPr lang="en-GB"/>
              <a:t>of two repeated integers.</a:t>
            </a:r>
            <a:endParaRPr/>
          </a:p>
        </p:txBody>
      </p:sp>
      <p:sp>
        <p:nvSpPr>
          <p:cNvPr id="1462" name="Google Shape;1462;p91"/>
          <p:cNvSpPr txBox="1"/>
          <p:nvPr>
            <p:ph idx="4294967295" type="subTitle"/>
          </p:nvPr>
        </p:nvSpPr>
        <p:spPr>
          <a:xfrm>
            <a:off x="3763425" y="1701000"/>
            <a:ext cx="4991100" cy="1155000"/>
          </a:xfrm>
          <a:prstGeom prst="rect">
            <a:avLst/>
          </a:prstGeom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Square numbers</a:t>
            </a:r>
            <a:endParaRPr sz="2000"/>
          </a:p>
        </p:txBody>
      </p:sp>
      <p:sp>
        <p:nvSpPr>
          <p:cNvPr id="1463" name="Google Shape;1463;p91"/>
          <p:cNvSpPr txBox="1"/>
          <p:nvPr>
            <p:ph idx="4294967295" type="subTitle"/>
          </p:nvPr>
        </p:nvSpPr>
        <p:spPr>
          <a:xfrm>
            <a:off x="3873500" y="2275300"/>
            <a:ext cx="241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464" name="Google Shape;1464;p91"/>
          <p:cNvSpPr txBox="1"/>
          <p:nvPr>
            <p:ph idx="4294967295" type="subTitle"/>
          </p:nvPr>
        </p:nvSpPr>
        <p:spPr>
          <a:xfrm>
            <a:off x="4013200" y="2275300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4</a:t>
            </a:r>
            <a:endParaRPr/>
          </a:p>
        </p:txBody>
      </p:sp>
      <p:sp>
        <p:nvSpPr>
          <p:cNvPr id="1465" name="Google Shape;1465;p91"/>
          <p:cNvSpPr txBox="1"/>
          <p:nvPr>
            <p:ph idx="4294967295" type="subTitle"/>
          </p:nvPr>
        </p:nvSpPr>
        <p:spPr>
          <a:xfrm>
            <a:off x="4318000" y="2275300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9</a:t>
            </a:r>
            <a:endParaRPr/>
          </a:p>
        </p:txBody>
      </p:sp>
      <p:sp>
        <p:nvSpPr>
          <p:cNvPr id="1466" name="Google Shape;1466;p91"/>
          <p:cNvSpPr txBox="1"/>
          <p:nvPr>
            <p:ph idx="4294967295" type="subTitle"/>
          </p:nvPr>
        </p:nvSpPr>
        <p:spPr>
          <a:xfrm>
            <a:off x="4622800" y="2275300"/>
            <a:ext cx="588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16</a:t>
            </a:r>
            <a:endParaRPr/>
          </a:p>
        </p:txBody>
      </p:sp>
      <p:sp>
        <p:nvSpPr>
          <p:cNvPr id="1467" name="Google Shape;1467;p91"/>
          <p:cNvSpPr txBox="1"/>
          <p:nvPr>
            <p:ph idx="4294967295" type="subTitle"/>
          </p:nvPr>
        </p:nvSpPr>
        <p:spPr>
          <a:xfrm>
            <a:off x="5103840" y="2275300"/>
            <a:ext cx="588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25</a:t>
            </a:r>
            <a:endParaRPr/>
          </a:p>
        </p:txBody>
      </p:sp>
      <p:sp>
        <p:nvSpPr>
          <p:cNvPr id="1468" name="Google Shape;1468;p91"/>
          <p:cNvSpPr txBox="1"/>
          <p:nvPr>
            <p:ph idx="4294967295" type="subTitle"/>
          </p:nvPr>
        </p:nvSpPr>
        <p:spPr>
          <a:xfrm>
            <a:off x="5564160" y="2275300"/>
            <a:ext cx="588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36</a:t>
            </a:r>
            <a:endParaRPr/>
          </a:p>
        </p:txBody>
      </p:sp>
      <p:sp>
        <p:nvSpPr>
          <p:cNvPr id="1469" name="Google Shape;1469;p91"/>
          <p:cNvSpPr txBox="1"/>
          <p:nvPr>
            <p:ph idx="4294967295" type="subTitle"/>
          </p:nvPr>
        </p:nvSpPr>
        <p:spPr>
          <a:xfrm>
            <a:off x="6015700" y="2275300"/>
            <a:ext cx="588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49</a:t>
            </a:r>
            <a:endParaRPr/>
          </a:p>
        </p:txBody>
      </p:sp>
      <p:sp>
        <p:nvSpPr>
          <p:cNvPr id="1470" name="Google Shape;1470;p91"/>
          <p:cNvSpPr txBox="1"/>
          <p:nvPr>
            <p:ph idx="4294967295" type="subTitle"/>
          </p:nvPr>
        </p:nvSpPr>
        <p:spPr>
          <a:xfrm>
            <a:off x="6457660" y="2275300"/>
            <a:ext cx="588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64</a:t>
            </a:r>
            <a:endParaRPr/>
          </a:p>
        </p:txBody>
      </p:sp>
      <p:sp>
        <p:nvSpPr>
          <p:cNvPr id="1471" name="Google Shape;1471;p91"/>
          <p:cNvSpPr txBox="1"/>
          <p:nvPr>
            <p:ph idx="4294967295" type="subTitle"/>
          </p:nvPr>
        </p:nvSpPr>
        <p:spPr>
          <a:xfrm>
            <a:off x="7361373" y="2275295"/>
            <a:ext cx="792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</a:t>
            </a:r>
            <a:r>
              <a:rPr lang="en-GB" sz="1200"/>
              <a:t> </a:t>
            </a:r>
            <a:r>
              <a:rPr lang="en-GB"/>
              <a:t>100, </a:t>
            </a:r>
            <a:endParaRPr/>
          </a:p>
        </p:txBody>
      </p:sp>
      <p:sp>
        <p:nvSpPr>
          <p:cNvPr id="1472" name="Google Shape;1472;p91"/>
          <p:cNvSpPr txBox="1"/>
          <p:nvPr>
            <p:ph idx="4294967295" type="subTitle"/>
          </p:nvPr>
        </p:nvSpPr>
        <p:spPr>
          <a:xfrm>
            <a:off x="8046398" y="2275295"/>
            <a:ext cx="792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121… </a:t>
            </a:r>
            <a:endParaRPr/>
          </a:p>
        </p:txBody>
      </p:sp>
      <p:sp>
        <p:nvSpPr>
          <p:cNvPr id="1473" name="Google Shape;1473;p91"/>
          <p:cNvSpPr txBox="1"/>
          <p:nvPr>
            <p:ph idx="4294967295" type="subTitle"/>
          </p:nvPr>
        </p:nvSpPr>
        <p:spPr>
          <a:xfrm>
            <a:off x="6909260" y="2275300"/>
            <a:ext cx="588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81</a:t>
            </a:r>
            <a:endParaRPr/>
          </a:p>
        </p:txBody>
      </p:sp>
      <p:sp>
        <p:nvSpPr>
          <p:cNvPr id="1474" name="Google Shape;1474;p91"/>
          <p:cNvSpPr txBox="1"/>
          <p:nvPr>
            <p:ph idx="4294967295" type="subTitle"/>
          </p:nvPr>
        </p:nvSpPr>
        <p:spPr>
          <a:xfrm>
            <a:off x="1652439" y="2136463"/>
            <a:ext cx="9960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lang="en-GB"/>
              <a:t> ✕ 5 =</a:t>
            </a:r>
            <a:endParaRPr/>
          </a:p>
        </p:txBody>
      </p:sp>
      <p:sp>
        <p:nvSpPr>
          <p:cNvPr id="1475" name="Google Shape;1475;p91"/>
          <p:cNvSpPr txBox="1"/>
          <p:nvPr>
            <p:ph idx="4294967295" type="subTitle"/>
          </p:nvPr>
        </p:nvSpPr>
        <p:spPr>
          <a:xfrm>
            <a:off x="2724639" y="2136463"/>
            <a:ext cx="4614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</a:t>
            </a:r>
            <a:endParaRPr/>
          </a:p>
        </p:txBody>
      </p:sp>
      <p:sp>
        <p:nvSpPr>
          <p:cNvPr id="1476" name="Google Shape;1476;p91"/>
          <p:cNvSpPr txBox="1"/>
          <p:nvPr>
            <p:ph idx="4294967295" type="subTitle"/>
          </p:nvPr>
        </p:nvSpPr>
        <p:spPr>
          <a:xfrm>
            <a:off x="1661957" y="2137094"/>
            <a:ext cx="9960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r>
              <a:rPr lang="en-GB"/>
              <a:t> ✕ 6 =</a:t>
            </a:r>
            <a:endParaRPr/>
          </a:p>
        </p:txBody>
      </p:sp>
      <p:sp>
        <p:nvSpPr>
          <p:cNvPr id="1477" name="Google Shape;1477;p91"/>
          <p:cNvSpPr txBox="1"/>
          <p:nvPr>
            <p:ph idx="4294967295" type="subTitle"/>
          </p:nvPr>
        </p:nvSpPr>
        <p:spPr>
          <a:xfrm>
            <a:off x="2734157" y="2137094"/>
            <a:ext cx="4614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36</a:t>
            </a:r>
            <a:endParaRPr/>
          </a:p>
        </p:txBody>
      </p:sp>
      <p:sp>
        <p:nvSpPr>
          <p:cNvPr id="1478" name="Google Shape;1478;p91"/>
          <p:cNvSpPr txBox="1"/>
          <p:nvPr>
            <p:ph idx="4294967295" type="subTitle"/>
          </p:nvPr>
        </p:nvSpPr>
        <p:spPr>
          <a:xfrm>
            <a:off x="1669964" y="2138168"/>
            <a:ext cx="9960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r>
              <a:rPr lang="en-GB"/>
              <a:t> ✕ 7 =</a:t>
            </a:r>
            <a:endParaRPr/>
          </a:p>
        </p:txBody>
      </p:sp>
      <p:sp>
        <p:nvSpPr>
          <p:cNvPr id="1479" name="Google Shape;1479;p91"/>
          <p:cNvSpPr txBox="1"/>
          <p:nvPr>
            <p:ph idx="4294967295" type="subTitle"/>
          </p:nvPr>
        </p:nvSpPr>
        <p:spPr>
          <a:xfrm>
            <a:off x="2742164" y="2138168"/>
            <a:ext cx="4614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49</a:t>
            </a:r>
            <a:endParaRPr/>
          </a:p>
        </p:txBody>
      </p:sp>
      <p:sp>
        <p:nvSpPr>
          <p:cNvPr id="1480" name="Google Shape;1480;p91"/>
          <p:cNvSpPr txBox="1"/>
          <p:nvPr>
            <p:ph idx="4294967295" type="subTitle"/>
          </p:nvPr>
        </p:nvSpPr>
        <p:spPr>
          <a:xfrm>
            <a:off x="1656532" y="2136524"/>
            <a:ext cx="9960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r>
              <a:rPr lang="en-GB"/>
              <a:t> ✕ 8 =</a:t>
            </a:r>
            <a:endParaRPr/>
          </a:p>
        </p:txBody>
      </p:sp>
      <p:sp>
        <p:nvSpPr>
          <p:cNvPr id="1481" name="Google Shape;1481;p91"/>
          <p:cNvSpPr txBox="1"/>
          <p:nvPr>
            <p:ph idx="4294967295" type="subTitle"/>
          </p:nvPr>
        </p:nvSpPr>
        <p:spPr>
          <a:xfrm>
            <a:off x="2728732" y="2136524"/>
            <a:ext cx="4614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64</a:t>
            </a:r>
            <a:endParaRPr/>
          </a:p>
        </p:txBody>
      </p:sp>
      <p:sp>
        <p:nvSpPr>
          <p:cNvPr id="1482" name="Google Shape;1482;p91"/>
          <p:cNvSpPr txBox="1"/>
          <p:nvPr>
            <p:ph idx="4294967295" type="subTitle"/>
          </p:nvPr>
        </p:nvSpPr>
        <p:spPr>
          <a:xfrm>
            <a:off x="1657783" y="2137161"/>
            <a:ext cx="9960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 </a:t>
            </a:r>
            <a:r>
              <a:rPr lang="en-GB"/>
              <a:t>✕ 9 =</a:t>
            </a:r>
            <a:endParaRPr/>
          </a:p>
        </p:txBody>
      </p:sp>
      <p:sp>
        <p:nvSpPr>
          <p:cNvPr id="1483" name="Google Shape;1483;p91"/>
          <p:cNvSpPr txBox="1"/>
          <p:nvPr>
            <p:ph idx="4294967295" type="subTitle"/>
          </p:nvPr>
        </p:nvSpPr>
        <p:spPr>
          <a:xfrm>
            <a:off x="2729983" y="2137161"/>
            <a:ext cx="4614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81</a:t>
            </a:r>
            <a:endParaRPr/>
          </a:p>
        </p:txBody>
      </p:sp>
      <p:sp>
        <p:nvSpPr>
          <p:cNvPr id="1484" name="Google Shape;1484;p91"/>
          <p:cNvSpPr txBox="1"/>
          <p:nvPr>
            <p:ph idx="4294967295" type="subTitle"/>
          </p:nvPr>
        </p:nvSpPr>
        <p:spPr>
          <a:xfrm>
            <a:off x="1499023" y="2137106"/>
            <a:ext cx="14043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lang="en-GB"/>
              <a:t> ✕ 10 =</a:t>
            </a:r>
            <a:endParaRPr/>
          </a:p>
        </p:txBody>
      </p:sp>
      <p:sp>
        <p:nvSpPr>
          <p:cNvPr id="1485" name="Google Shape;1485;p91"/>
          <p:cNvSpPr txBox="1"/>
          <p:nvPr>
            <p:ph idx="4294967295" type="subTitle"/>
          </p:nvPr>
        </p:nvSpPr>
        <p:spPr>
          <a:xfrm>
            <a:off x="2867478" y="2137106"/>
            <a:ext cx="5883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</a:t>
            </a:r>
            <a:endParaRPr/>
          </a:p>
        </p:txBody>
      </p:sp>
      <p:sp>
        <p:nvSpPr>
          <p:cNvPr id="1486" name="Google Shape;1486;p91"/>
          <p:cNvSpPr txBox="1"/>
          <p:nvPr>
            <p:ph idx="4294967295" type="subTitle"/>
          </p:nvPr>
        </p:nvSpPr>
        <p:spPr>
          <a:xfrm>
            <a:off x="1530896" y="2135382"/>
            <a:ext cx="14043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11 ✕ 11 =</a:t>
            </a:r>
            <a:endParaRPr/>
          </a:p>
        </p:txBody>
      </p:sp>
      <p:sp>
        <p:nvSpPr>
          <p:cNvPr id="1487" name="Google Shape;1487;p91"/>
          <p:cNvSpPr txBox="1"/>
          <p:nvPr>
            <p:ph idx="4294967295" type="subTitle"/>
          </p:nvPr>
        </p:nvSpPr>
        <p:spPr>
          <a:xfrm>
            <a:off x="2810349" y="2121975"/>
            <a:ext cx="5592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92"/>
          <p:cNvSpPr txBox="1"/>
          <p:nvPr>
            <p:ph idx="4294967295" type="subTitle"/>
          </p:nvPr>
        </p:nvSpPr>
        <p:spPr>
          <a:xfrm>
            <a:off x="4320000" y="1866300"/>
            <a:ext cx="3111600" cy="1155000"/>
          </a:xfrm>
          <a:prstGeom prst="rect">
            <a:avLst/>
          </a:prstGeom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Cube numbers</a:t>
            </a:r>
            <a:endParaRPr sz="2000"/>
          </a:p>
        </p:txBody>
      </p:sp>
      <p:sp>
        <p:nvSpPr>
          <p:cNvPr id="1493" name="Google Shape;149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494" name="Google Shape;1494;p92"/>
          <p:cNvSpPr txBox="1"/>
          <p:nvPr>
            <p:ph idx="4294967295" type="subTitle"/>
          </p:nvPr>
        </p:nvSpPr>
        <p:spPr>
          <a:xfrm>
            <a:off x="1246424" y="1866300"/>
            <a:ext cx="1705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 ✕ 1 ✕ 1 =</a:t>
            </a:r>
            <a:endParaRPr/>
          </a:p>
        </p:txBody>
      </p:sp>
      <p:sp>
        <p:nvSpPr>
          <p:cNvPr id="1495" name="Google Shape;1495;p92"/>
          <p:cNvSpPr txBox="1"/>
          <p:nvPr>
            <p:ph idx="4294967295" type="subTitle"/>
          </p:nvPr>
        </p:nvSpPr>
        <p:spPr>
          <a:xfrm>
            <a:off x="2816214" y="1866288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496" name="Google Shape;1496;p92"/>
          <p:cNvSpPr txBox="1"/>
          <p:nvPr>
            <p:ph idx="4294967295" type="subTitle"/>
          </p:nvPr>
        </p:nvSpPr>
        <p:spPr>
          <a:xfrm>
            <a:off x="1207446" y="2307486"/>
            <a:ext cx="1705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 ✕ 2 ✕ 2 =</a:t>
            </a:r>
            <a:endParaRPr/>
          </a:p>
        </p:txBody>
      </p:sp>
      <p:sp>
        <p:nvSpPr>
          <p:cNvPr id="1497" name="Google Shape;1497;p92"/>
          <p:cNvSpPr txBox="1"/>
          <p:nvPr>
            <p:ph idx="4294967295" type="subTitle"/>
          </p:nvPr>
        </p:nvSpPr>
        <p:spPr>
          <a:xfrm>
            <a:off x="2831296" y="2307473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498" name="Google Shape;1498;p92"/>
          <p:cNvSpPr txBox="1"/>
          <p:nvPr>
            <p:ph idx="4294967295" type="subTitle"/>
          </p:nvPr>
        </p:nvSpPr>
        <p:spPr>
          <a:xfrm>
            <a:off x="1230986" y="2800361"/>
            <a:ext cx="1705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 ✕ 3 ✕ 3 =</a:t>
            </a:r>
            <a:endParaRPr/>
          </a:p>
        </p:txBody>
      </p:sp>
      <p:sp>
        <p:nvSpPr>
          <p:cNvPr id="1499" name="Google Shape;1499;p92"/>
          <p:cNvSpPr txBox="1"/>
          <p:nvPr>
            <p:ph idx="4294967295" type="subTitle"/>
          </p:nvPr>
        </p:nvSpPr>
        <p:spPr>
          <a:xfrm>
            <a:off x="2816221" y="2800348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27</a:t>
            </a:r>
            <a:endParaRPr/>
          </a:p>
        </p:txBody>
      </p:sp>
      <p:sp>
        <p:nvSpPr>
          <p:cNvPr id="1500" name="Google Shape;1500;p92"/>
          <p:cNvSpPr txBox="1"/>
          <p:nvPr>
            <p:ph idx="4294967295" type="subTitle"/>
          </p:nvPr>
        </p:nvSpPr>
        <p:spPr>
          <a:xfrm>
            <a:off x="324000" y="818182"/>
            <a:ext cx="7649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cube</a:t>
            </a:r>
            <a:r>
              <a:rPr lang="en-GB"/>
              <a:t> number is the </a:t>
            </a:r>
            <a:r>
              <a:rPr b="1" lang="en-GB"/>
              <a:t>product </a:t>
            </a:r>
            <a:r>
              <a:rPr lang="en-GB"/>
              <a:t>of three repeated integers.</a:t>
            </a:r>
            <a:endParaRPr/>
          </a:p>
        </p:txBody>
      </p:sp>
      <p:sp>
        <p:nvSpPr>
          <p:cNvPr id="1501" name="Google Shape;1501;p92"/>
          <p:cNvSpPr txBox="1"/>
          <p:nvPr>
            <p:ph idx="4294967295" type="subTitle"/>
          </p:nvPr>
        </p:nvSpPr>
        <p:spPr>
          <a:xfrm>
            <a:off x="3761250" y="3109375"/>
            <a:ext cx="4991100" cy="9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work out the next two cube numbers?</a:t>
            </a:r>
            <a:endParaRPr/>
          </a:p>
        </p:txBody>
      </p:sp>
      <p:sp>
        <p:nvSpPr>
          <p:cNvPr id="1502" name="Google Shape;1502;p92"/>
          <p:cNvSpPr txBox="1"/>
          <p:nvPr>
            <p:ph idx="4294967295" type="subTitle"/>
          </p:nvPr>
        </p:nvSpPr>
        <p:spPr>
          <a:xfrm>
            <a:off x="4844009" y="2343777"/>
            <a:ext cx="241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503" name="Google Shape;1503;p92"/>
          <p:cNvSpPr txBox="1"/>
          <p:nvPr>
            <p:ph idx="4294967295" type="subTitle"/>
          </p:nvPr>
        </p:nvSpPr>
        <p:spPr>
          <a:xfrm>
            <a:off x="4983709" y="2343777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8</a:t>
            </a:r>
            <a:endParaRPr/>
          </a:p>
        </p:txBody>
      </p:sp>
      <p:sp>
        <p:nvSpPr>
          <p:cNvPr id="1504" name="Google Shape;1504;p92"/>
          <p:cNvSpPr txBox="1"/>
          <p:nvPr>
            <p:ph idx="4294967295" type="subTitle"/>
          </p:nvPr>
        </p:nvSpPr>
        <p:spPr>
          <a:xfrm>
            <a:off x="5288509" y="2343777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27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93"/>
          <p:cNvSpPr txBox="1"/>
          <p:nvPr>
            <p:ph idx="4294967295" type="subTitle"/>
          </p:nvPr>
        </p:nvSpPr>
        <p:spPr>
          <a:xfrm>
            <a:off x="4320000" y="1866300"/>
            <a:ext cx="3111600" cy="1155000"/>
          </a:xfrm>
          <a:prstGeom prst="rect">
            <a:avLst/>
          </a:prstGeom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Cube numbers</a:t>
            </a:r>
            <a:endParaRPr sz="2000"/>
          </a:p>
        </p:txBody>
      </p:sp>
      <p:sp>
        <p:nvSpPr>
          <p:cNvPr id="1510" name="Google Shape;151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511" name="Google Shape;1511;p93"/>
          <p:cNvSpPr txBox="1"/>
          <p:nvPr>
            <p:ph idx="4294967295" type="subTitle"/>
          </p:nvPr>
        </p:nvSpPr>
        <p:spPr>
          <a:xfrm>
            <a:off x="324000" y="818182"/>
            <a:ext cx="7649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cube</a:t>
            </a:r>
            <a:r>
              <a:rPr lang="en-GB"/>
              <a:t> number is the </a:t>
            </a:r>
            <a:r>
              <a:rPr b="1" lang="en-GB"/>
              <a:t>product </a:t>
            </a:r>
            <a:r>
              <a:rPr lang="en-GB"/>
              <a:t>of three repeated integers.</a:t>
            </a:r>
            <a:endParaRPr/>
          </a:p>
        </p:txBody>
      </p:sp>
      <p:sp>
        <p:nvSpPr>
          <p:cNvPr id="1512" name="Google Shape;1512;p93"/>
          <p:cNvSpPr txBox="1"/>
          <p:nvPr>
            <p:ph idx="4294967295" type="subTitle"/>
          </p:nvPr>
        </p:nvSpPr>
        <p:spPr>
          <a:xfrm>
            <a:off x="4844009" y="2343777"/>
            <a:ext cx="2412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513" name="Google Shape;1513;p93"/>
          <p:cNvSpPr txBox="1"/>
          <p:nvPr>
            <p:ph idx="4294967295" type="subTitle"/>
          </p:nvPr>
        </p:nvSpPr>
        <p:spPr>
          <a:xfrm>
            <a:off x="4983709" y="2343777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8</a:t>
            </a:r>
            <a:endParaRPr/>
          </a:p>
        </p:txBody>
      </p:sp>
      <p:sp>
        <p:nvSpPr>
          <p:cNvPr id="1514" name="Google Shape;1514;p93"/>
          <p:cNvSpPr txBox="1"/>
          <p:nvPr>
            <p:ph idx="4294967295" type="subTitle"/>
          </p:nvPr>
        </p:nvSpPr>
        <p:spPr>
          <a:xfrm>
            <a:off x="5288509" y="2343777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, 27</a:t>
            </a:r>
            <a:endParaRPr/>
          </a:p>
        </p:txBody>
      </p:sp>
      <p:sp>
        <p:nvSpPr>
          <p:cNvPr id="1515" name="Google Shape;1515;p93"/>
          <p:cNvSpPr txBox="1"/>
          <p:nvPr>
            <p:ph idx="4294967295" type="subTitle"/>
          </p:nvPr>
        </p:nvSpPr>
        <p:spPr>
          <a:xfrm>
            <a:off x="5708797" y="2338550"/>
            <a:ext cx="6285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, </a:t>
            </a:r>
            <a:r>
              <a:rPr lang="en-GB"/>
              <a:t>64</a:t>
            </a:r>
            <a:endParaRPr/>
          </a:p>
        </p:txBody>
      </p:sp>
      <p:sp>
        <p:nvSpPr>
          <p:cNvPr id="1516" name="Google Shape;1516;p93"/>
          <p:cNvSpPr txBox="1"/>
          <p:nvPr>
            <p:ph idx="4294967295" type="subTitle"/>
          </p:nvPr>
        </p:nvSpPr>
        <p:spPr>
          <a:xfrm>
            <a:off x="6157113" y="2343775"/>
            <a:ext cx="133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, </a:t>
            </a:r>
            <a:r>
              <a:rPr lang="en-GB"/>
              <a:t>125 …</a:t>
            </a:r>
            <a:endParaRPr/>
          </a:p>
        </p:txBody>
      </p:sp>
      <p:sp>
        <p:nvSpPr>
          <p:cNvPr id="1517" name="Google Shape;1517;p93"/>
          <p:cNvSpPr txBox="1"/>
          <p:nvPr>
            <p:ph idx="4294967295" type="subTitle"/>
          </p:nvPr>
        </p:nvSpPr>
        <p:spPr>
          <a:xfrm>
            <a:off x="1284138" y="2071123"/>
            <a:ext cx="1705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r>
              <a:rPr lang="en-GB"/>
              <a:t> ✕ 4 ✕ 4 =</a:t>
            </a:r>
            <a:endParaRPr/>
          </a:p>
        </p:txBody>
      </p:sp>
      <p:sp>
        <p:nvSpPr>
          <p:cNvPr id="1518" name="Google Shape;1518;p93"/>
          <p:cNvSpPr txBox="1"/>
          <p:nvPr>
            <p:ph idx="4294967295" type="subTitle"/>
          </p:nvPr>
        </p:nvSpPr>
        <p:spPr>
          <a:xfrm>
            <a:off x="1322661" y="2543692"/>
            <a:ext cx="1705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lang="en-GB"/>
              <a:t> ✕ 5 ✕ 5 =</a:t>
            </a:r>
            <a:endParaRPr/>
          </a:p>
        </p:txBody>
      </p:sp>
      <p:sp>
        <p:nvSpPr>
          <p:cNvPr id="1519" name="Google Shape;1519;p93"/>
          <p:cNvSpPr txBox="1"/>
          <p:nvPr>
            <p:ph idx="4294967295" type="subTitle"/>
          </p:nvPr>
        </p:nvSpPr>
        <p:spPr>
          <a:xfrm>
            <a:off x="2877096" y="2073086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64</a:t>
            </a:r>
            <a:endParaRPr/>
          </a:p>
        </p:txBody>
      </p:sp>
      <p:sp>
        <p:nvSpPr>
          <p:cNvPr id="1520" name="Google Shape;1520;p93"/>
          <p:cNvSpPr txBox="1"/>
          <p:nvPr>
            <p:ph idx="4294967295" type="subTitle"/>
          </p:nvPr>
        </p:nvSpPr>
        <p:spPr>
          <a:xfrm>
            <a:off x="2884728" y="2543679"/>
            <a:ext cx="461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94"/>
          <p:cNvSpPr txBox="1"/>
          <p:nvPr>
            <p:ph type="title"/>
          </p:nvPr>
        </p:nvSpPr>
        <p:spPr>
          <a:xfrm>
            <a:off x="324000" y="7338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statements is true? Justify your answer.</a:t>
            </a:r>
            <a:endParaRPr/>
          </a:p>
        </p:txBody>
      </p:sp>
      <p:sp>
        <p:nvSpPr>
          <p:cNvPr id="1526" name="Google Shape;1526;p9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Every number is a square number and cube number</a:t>
            </a:r>
            <a:endParaRPr/>
          </a:p>
        </p:txBody>
      </p:sp>
      <p:sp>
        <p:nvSpPr>
          <p:cNvPr id="1527" name="Google Shape;1527;p9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are no numbers that are both square and cube</a:t>
            </a:r>
            <a:endParaRPr/>
          </a:p>
        </p:txBody>
      </p:sp>
      <p:sp>
        <p:nvSpPr>
          <p:cNvPr id="1528" name="Google Shape;1528;p94"/>
          <p:cNvSpPr txBox="1"/>
          <p:nvPr>
            <p:ph idx="4" type="subTitle"/>
          </p:nvPr>
        </p:nvSpPr>
        <p:spPr>
          <a:xfrm>
            <a:off x="1034425" y="3309775"/>
            <a:ext cx="5339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64 is a square and cube number</a:t>
            </a:r>
            <a:endParaRPr/>
          </a:p>
        </p:txBody>
      </p:sp>
      <p:sp>
        <p:nvSpPr>
          <p:cNvPr id="1529" name="Google Shape;1529;p9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100</a:t>
            </a:r>
            <a:r>
              <a:rPr lang="en-GB"/>
              <a:t> is a square and cube number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530" name="Google Shape;153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258" y="34342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94"/>
          <p:cNvSpPr txBox="1"/>
          <p:nvPr>
            <p:ph idx="3" type="subTitle"/>
          </p:nvPr>
        </p:nvSpPr>
        <p:spPr>
          <a:xfrm>
            <a:off x="5649300" y="3240000"/>
            <a:ext cx="3224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 is the product of 8✕8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64 is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product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✕4✕4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2" name="Google Shape;1532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numbers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95"/>
          <p:cNvSpPr/>
          <p:nvPr/>
        </p:nvSpPr>
        <p:spPr>
          <a:xfrm>
            <a:off x="810900" y="2939150"/>
            <a:ext cx="36849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95"/>
          <p:cNvSpPr/>
          <p:nvPr/>
        </p:nvSpPr>
        <p:spPr>
          <a:xfrm>
            <a:off x="5078104" y="1186550"/>
            <a:ext cx="34152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95"/>
          <p:cNvSpPr txBox="1"/>
          <p:nvPr/>
        </p:nvSpPr>
        <p:spPr>
          <a:xfrm>
            <a:off x="5221750" y="2952600"/>
            <a:ext cx="34152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factor of every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95"/>
          <p:cNvSpPr txBox="1"/>
          <p:nvPr/>
        </p:nvSpPr>
        <p:spPr>
          <a:xfrm>
            <a:off x="967950" y="2985225"/>
            <a:ext cx="37731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factor of 24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multiple of 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number less than 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95"/>
          <p:cNvSpPr txBox="1"/>
          <p:nvPr/>
        </p:nvSpPr>
        <p:spPr>
          <a:xfrm>
            <a:off x="946179" y="1273413"/>
            <a:ext cx="3576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greater than 50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odd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95"/>
          <p:cNvSpPr txBox="1"/>
          <p:nvPr/>
        </p:nvSpPr>
        <p:spPr>
          <a:xfrm>
            <a:off x="5235154" y="1308825"/>
            <a:ext cx="34152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sum of my digits is 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multiple of 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95"/>
          <p:cNvSpPr txBox="1"/>
          <p:nvPr>
            <p:ph idx="1" type="body"/>
          </p:nvPr>
        </p:nvSpPr>
        <p:spPr>
          <a:xfrm>
            <a:off x="324000" y="759300"/>
            <a:ext cx="72579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unknown number given the clues.</a:t>
            </a:r>
            <a:endParaRPr/>
          </a:p>
        </p:txBody>
      </p:sp>
      <p:sp>
        <p:nvSpPr>
          <p:cNvPr id="1544" name="Google Shape;1544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and cube numbers</a:t>
            </a:r>
            <a:endParaRPr/>
          </a:p>
        </p:txBody>
      </p:sp>
      <p:sp>
        <p:nvSpPr>
          <p:cNvPr id="1545" name="Google Shape;1545;p95"/>
          <p:cNvSpPr txBox="1"/>
          <p:nvPr>
            <p:ph idx="1" type="body"/>
          </p:nvPr>
        </p:nvSpPr>
        <p:spPr>
          <a:xfrm>
            <a:off x="411000" y="3056050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546" name="Google Shape;1546;p95"/>
          <p:cNvSpPr/>
          <p:nvPr/>
        </p:nvSpPr>
        <p:spPr>
          <a:xfrm>
            <a:off x="797929" y="1186550"/>
            <a:ext cx="36849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95"/>
          <p:cNvSpPr txBox="1"/>
          <p:nvPr>
            <p:ph idx="1" type="body"/>
          </p:nvPr>
        </p:nvSpPr>
        <p:spPr>
          <a:xfrm>
            <a:off x="389229" y="1344238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1548" name="Google Shape;1548;p95"/>
          <p:cNvSpPr txBox="1"/>
          <p:nvPr>
            <p:ph idx="1" type="body"/>
          </p:nvPr>
        </p:nvSpPr>
        <p:spPr>
          <a:xfrm>
            <a:off x="4678204" y="1303450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549" name="Google Shape;1549;p95"/>
          <p:cNvSpPr/>
          <p:nvPr/>
        </p:nvSpPr>
        <p:spPr>
          <a:xfrm>
            <a:off x="5140900" y="2939150"/>
            <a:ext cx="34152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95"/>
          <p:cNvSpPr txBox="1"/>
          <p:nvPr>
            <p:ph idx="1" type="body"/>
          </p:nvPr>
        </p:nvSpPr>
        <p:spPr>
          <a:xfrm>
            <a:off x="4741000" y="2947225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96"/>
          <p:cNvSpPr txBox="1"/>
          <p:nvPr>
            <p:ph idx="1" type="body"/>
          </p:nvPr>
        </p:nvSpPr>
        <p:spPr>
          <a:xfrm>
            <a:off x="324000" y="759300"/>
            <a:ext cx="72579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Complete the Venn diagram showing all the square and cube numbers up to 200.</a:t>
            </a:r>
            <a:endParaRPr/>
          </a:p>
        </p:txBody>
      </p:sp>
      <p:sp>
        <p:nvSpPr>
          <p:cNvPr id="1556" name="Google Shape;1556;p96"/>
          <p:cNvSpPr/>
          <p:nvPr/>
        </p:nvSpPr>
        <p:spPr>
          <a:xfrm>
            <a:off x="1556650" y="2242500"/>
            <a:ext cx="3902400" cy="238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96"/>
          <p:cNvSpPr/>
          <p:nvPr/>
        </p:nvSpPr>
        <p:spPr>
          <a:xfrm>
            <a:off x="4136700" y="2242500"/>
            <a:ext cx="3902400" cy="238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96"/>
          <p:cNvSpPr txBox="1"/>
          <p:nvPr>
            <p:ph idx="1" type="body"/>
          </p:nvPr>
        </p:nvSpPr>
        <p:spPr>
          <a:xfrm>
            <a:off x="2065800" y="1821925"/>
            <a:ext cx="23376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559" name="Google Shape;1559;p96"/>
          <p:cNvSpPr txBox="1"/>
          <p:nvPr>
            <p:ph idx="1" type="body"/>
          </p:nvPr>
        </p:nvSpPr>
        <p:spPr>
          <a:xfrm>
            <a:off x="5141000" y="1848450"/>
            <a:ext cx="23376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</a:t>
            </a:r>
            <a:r>
              <a:rPr lang="en-GB"/>
              <a:t> numbers</a:t>
            </a:r>
            <a:endParaRPr/>
          </a:p>
        </p:txBody>
      </p:sp>
      <p:sp>
        <p:nvSpPr>
          <p:cNvPr id="1560" name="Google Shape;1560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and cube numbers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97"/>
          <p:cNvSpPr/>
          <p:nvPr/>
        </p:nvSpPr>
        <p:spPr>
          <a:xfrm>
            <a:off x="5078104" y="1186550"/>
            <a:ext cx="34152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97"/>
          <p:cNvSpPr txBox="1"/>
          <p:nvPr/>
        </p:nvSpPr>
        <p:spPr>
          <a:xfrm>
            <a:off x="5221750" y="2952600"/>
            <a:ext cx="34152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factor of every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7"/>
          <p:cNvSpPr txBox="1"/>
          <p:nvPr/>
        </p:nvSpPr>
        <p:spPr>
          <a:xfrm>
            <a:off x="967950" y="2985225"/>
            <a:ext cx="3576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factor of 24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multiple of 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number less than 10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7"/>
          <p:cNvSpPr txBox="1"/>
          <p:nvPr/>
        </p:nvSpPr>
        <p:spPr>
          <a:xfrm>
            <a:off x="946179" y="1273413"/>
            <a:ext cx="3576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greater than 50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odd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7"/>
          <p:cNvSpPr txBox="1"/>
          <p:nvPr/>
        </p:nvSpPr>
        <p:spPr>
          <a:xfrm>
            <a:off x="5235154" y="1308825"/>
            <a:ext cx="34152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sum of my digits is 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a multiple of 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7"/>
          <p:cNvSpPr txBox="1"/>
          <p:nvPr>
            <p:ph idx="1" type="body"/>
          </p:nvPr>
        </p:nvSpPr>
        <p:spPr>
          <a:xfrm>
            <a:off x="324000" y="759300"/>
            <a:ext cx="72579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unknown number given the clues.</a:t>
            </a:r>
            <a:endParaRPr/>
          </a:p>
        </p:txBody>
      </p:sp>
      <p:sp>
        <p:nvSpPr>
          <p:cNvPr id="1571" name="Google Shape;1571;p97"/>
          <p:cNvSpPr/>
          <p:nvPr/>
        </p:nvSpPr>
        <p:spPr>
          <a:xfrm>
            <a:off x="810900" y="2939150"/>
            <a:ext cx="36849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97"/>
          <p:cNvSpPr txBox="1"/>
          <p:nvPr>
            <p:ph idx="1" type="body"/>
          </p:nvPr>
        </p:nvSpPr>
        <p:spPr>
          <a:xfrm>
            <a:off x="411000" y="3056050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573" name="Google Shape;1573;p97"/>
          <p:cNvSpPr/>
          <p:nvPr/>
        </p:nvSpPr>
        <p:spPr>
          <a:xfrm>
            <a:off x="797929" y="1186550"/>
            <a:ext cx="36849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97"/>
          <p:cNvSpPr txBox="1"/>
          <p:nvPr>
            <p:ph idx="1" type="body"/>
          </p:nvPr>
        </p:nvSpPr>
        <p:spPr>
          <a:xfrm>
            <a:off x="389229" y="1344238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575" name="Google Shape;1575;p97"/>
          <p:cNvSpPr txBox="1"/>
          <p:nvPr>
            <p:ph idx="1" type="body"/>
          </p:nvPr>
        </p:nvSpPr>
        <p:spPr>
          <a:xfrm>
            <a:off x="4678204" y="1303450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576" name="Google Shape;1576;p97"/>
          <p:cNvSpPr/>
          <p:nvPr/>
        </p:nvSpPr>
        <p:spPr>
          <a:xfrm>
            <a:off x="5140900" y="2939150"/>
            <a:ext cx="3415200" cy="158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97"/>
          <p:cNvSpPr txBox="1"/>
          <p:nvPr>
            <p:ph idx="1" type="body"/>
          </p:nvPr>
        </p:nvSpPr>
        <p:spPr>
          <a:xfrm>
            <a:off x="4741000" y="2947225"/>
            <a:ext cx="5880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578" name="Google Shape;1578;p97"/>
          <p:cNvSpPr txBox="1"/>
          <p:nvPr/>
        </p:nvSpPr>
        <p:spPr>
          <a:xfrm>
            <a:off x="3720150" y="1198600"/>
            <a:ext cx="767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81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9" name="Google Shape;1579;p97"/>
          <p:cNvSpPr txBox="1"/>
          <p:nvPr/>
        </p:nvSpPr>
        <p:spPr>
          <a:xfrm>
            <a:off x="7647225" y="1926550"/>
            <a:ext cx="909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27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0" name="Google Shape;1580;p97"/>
          <p:cNvSpPr txBox="1"/>
          <p:nvPr/>
        </p:nvSpPr>
        <p:spPr>
          <a:xfrm>
            <a:off x="8048950" y="3679150"/>
            <a:ext cx="588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1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1" name="Google Shape;1581;p97"/>
          <p:cNvSpPr txBox="1"/>
          <p:nvPr/>
        </p:nvSpPr>
        <p:spPr>
          <a:xfrm>
            <a:off x="3810000" y="2951200"/>
            <a:ext cx="588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4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2" name="Google Shape;1582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and cube numbers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98"/>
          <p:cNvSpPr txBox="1"/>
          <p:nvPr>
            <p:ph idx="1" type="body"/>
          </p:nvPr>
        </p:nvSpPr>
        <p:spPr>
          <a:xfrm>
            <a:off x="324000" y="759300"/>
            <a:ext cx="72579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Complete the Venn diagram showing all the square and cube numbers up to 200.</a:t>
            </a:r>
            <a:endParaRPr/>
          </a:p>
        </p:txBody>
      </p:sp>
      <p:sp>
        <p:nvSpPr>
          <p:cNvPr id="1588" name="Google Shape;1588;p98"/>
          <p:cNvSpPr/>
          <p:nvPr/>
        </p:nvSpPr>
        <p:spPr>
          <a:xfrm>
            <a:off x="1556650" y="2242500"/>
            <a:ext cx="3902400" cy="238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98"/>
          <p:cNvSpPr/>
          <p:nvPr/>
        </p:nvSpPr>
        <p:spPr>
          <a:xfrm>
            <a:off x="4136700" y="2242500"/>
            <a:ext cx="3902400" cy="23823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98"/>
          <p:cNvSpPr txBox="1"/>
          <p:nvPr>
            <p:ph idx="1" type="body"/>
          </p:nvPr>
        </p:nvSpPr>
        <p:spPr>
          <a:xfrm>
            <a:off x="2065800" y="1821925"/>
            <a:ext cx="23376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Square numbers</a:t>
            </a:r>
            <a:endParaRPr/>
          </a:p>
        </p:txBody>
      </p:sp>
      <p:sp>
        <p:nvSpPr>
          <p:cNvPr id="1591" name="Google Shape;1591;p98"/>
          <p:cNvSpPr txBox="1"/>
          <p:nvPr>
            <p:ph idx="1" type="body"/>
          </p:nvPr>
        </p:nvSpPr>
        <p:spPr>
          <a:xfrm>
            <a:off x="5141000" y="1848450"/>
            <a:ext cx="2337600" cy="6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Cube numbers</a:t>
            </a:r>
            <a:endParaRPr/>
          </a:p>
        </p:txBody>
      </p:sp>
      <p:sp>
        <p:nvSpPr>
          <p:cNvPr id="1592" name="Google Shape;1592;p98"/>
          <p:cNvSpPr txBox="1"/>
          <p:nvPr/>
        </p:nvSpPr>
        <p:spPr>
          <a:xfrm>
            <a:off x="4648200" y="2876550"/>
            <a:ext cx="384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3" name="Google Shape;1593;p98"/>
          <p:cNvSpPr txBox="1"/>
          <p:nvPr/>
        </p:nvSpPr>
        <p:spPr>
          <a:xfrm>
            <a:off x="1932200" y="2700000"/>
            <a:ext cx="384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4" name="Google Shape;1594;p98"/>
          <p:cNvSpPr txBox="1"/>
          <p:nvPr/>
        </p:nvSpPr>
        <p:spPr>
          <a:xfrm>
            <a:off x="2411175" y="2388450"/>
            <a:ext cx="384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5" name="Google Shape;1595;p98"/>
          <p:cNvSpPr txBox="1"/>
          <p:nvPr/>
        </p:nvSpPr>
        <p:spPr>
          <a:xfrm>
            <a:off x="1725525" y="3323100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6" name="Google Shape;1596;p98"/>
          <p:cNvSpPr txBox="1"/>
          <p:nvPr/>
        </p:nvSpPr>
        <p:spPr>
          <a:xfrm>
            <a:off x="2544888" y="2928450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7" name="Google Shape;1597;p98"/>
          <p:cNvSpPr txBox="1"/>
          <p:nvPr/>
        </p:nvSpPr>
        <p:spPr>
          <a:xfrm>
            <a:off x="2652300" y="3946200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36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8" name="Google Shape;1598;p98"/>
          <p:cNvSpPr txBox="1"/>
          <p:nvPr/>
        </p:nvSpPr>
        <p:spPr>
          <a:xfrm>
            <a:off x="2795175" y="2388450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9" name="Google Shape;1599;p98"/>
          <p:cNvSpPr txBox="1"/>
          <p:nvPr/>
        </p:nvSpPr>
        <p:spPr>
          <a:xfrm>
            <a:off x="3364275" y="3240000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0" name="Google Shape;1600;p98"/>
          <p:cNvSpPr txBox="1"/>
          <p:nvPr/>
        </p:nvSpPr>
        <p:spPr>
          <a:xfrm>
            <a:off x="4499200" y="3233250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1" name="Google Shape;1601;p98"/>
          <p:cNvSpPr txBox="1"/>
          <p:nvPr/>
        </p:nvSpPr>
        <p:spPr>
          <a:xfrm>
            <a:off x="3664950" y="2260200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100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2" name="Google Shape;1602;p98"/>
          <p:cNvSpPr txBox="1"/>
          <p:nvPr/>
        </p:nvSpPr>
        <p:spPr>
          <a:xfrm>
            <a:off x="3217200" y="3718575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3" name="Google Shape;1603;p98"/>
          <p:cNvSpPr txBox="1"/>
          <p:nvPr/>
        </p:nvSpPr>
        <p:spPr>
          <a:xfrm>
            <a:off x="2207850" y="3468450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144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4" name="Google Shape;1604;p98"/>
          <p:cNvSpPr txBox="1"/>
          <p:nvPr/>
        </p:nvSpPr>
        <p:spPr>
          <a:xfrm>
            <a:off x="3491588" y="2745975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169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5" name="Google Shape;1605;p98"/>
          <p:cNvSpPr txBox="1"/>
          <p:nvPr/>
        </p:nvSpPr>
        <p:spPr>
          <a:xfrm>
            <a:off x="3832650" y="3946200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196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6" name="Google Shape;1606;p98"/>
          <p:cNvSpPr txBox="1"/>
          <p:nvPr/>
        </p:nvSpPr>
        <p:spPr>
          <a:xfrm>
            <a:off x="5634125" y="3011550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7" name="Google Shape;1607;p98"/>
          <p:cNvSpPr txBox="1"/>
          <p:nvPr/>
        </p:nvSpPr>
        <p:spPr>
          <a:xfrm>
            <a:off x="6406550" y="3560700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8" name="Google Shape;1608;p98"/>
          <p:cNvSpPr txBox="1"/>
          <p:nvPr/>
        </p:nvSpPr>
        <p:spPr>
          <a:xfrm>
            <a:off x="6294525" y="2608763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27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9" name="Google Shape;1609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Square and cube numbers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99"/>
          <p:cNvSpPr txBox="1"/>
          <p:nvPr>
            <p:ph idx="1" type="body"/>
          </p:nvPr>
        </p:nvSpPr>
        <p:spPr>
          <a:xfrm>
            <a:off x="307500" y="1312750"/>
            <a:ext cx="84960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product</a:t>
            </a:r>
            <a:r>
              <a:rPr lang="en-GB"/>
              <a:t> i</a:t>
            </a:r>
            <a:r>
              <a:rPr lang="en-GB"/>
              <a:t>s the result of two or more numbers multiplied together.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9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factors, multiples, squares and cubes</a:t>
            </a:r>
            <a:endParaRPr/>
          </a:p>
        </p:txBody>
      </p:sp>
      <p:sp>
        <p:nvSpPr>
          <p:cNvPr id="1616" name="Google Shape;1616;p99"/>
          <p:cNvSpPr txBox="1"/>
          <p:nvPr>
            <p:ph idx="1" type="body"/>
          </p:nvPr>
        </p:nvSpPr>
        <p:spPr>
          <a:xfrm>
            <a:off x="307500" y="2291400"/>
            <a:ext cx="84960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multiplying or dividing integers, we can identify </a:t>
            </a:r>
            <a:r>
              <a:rPr b="1" lang="en-GB"/>
              <a:t>factors </a:t>
            </a:r>
            <a:r>
              <a:rPr lang="en-GB"/>
              <a:t>and </a:t>
            </a:r>
            <a:r>
              <a:rPr b="1" lang="en-GB"/>
              <a:t>multiples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99"/>
          <p:cNvSpPr txBox="1"/>
          <p:nvPr>
            <p:ph idx="1" type="body"/>
          </p:nvPr>
        </p:nvSpPr>
        <p:spPr>
          <a:xfrm>
            <a:off x="307500" y="3270050"/>
            <a:ext cx="84960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 </a:t>
            </a:r>
            <a:r>
              <a:rPr b="1" lang="en-GB"/>
              <a:t>product</a:t>
            </a:r>
            <a:r>
              <a:rPr lang="en-GB"/>
              <a:t> of </a:t>
            </a:r>
            <a:r>
              <a:rPr lang="en-GB"/>
              <a:t>two repeated integers </a:t>
            </a:r>
            <a:r>
              <a:rPr lang="en-GB"/>
              <a:t>is a </a:t>
            </a:r>
            <a:r>
              <a:rPr b="1" lang="en-GB"/>
              <a:t>square</a:t>
            </a:r>
            <a:r>
              <a:rPr lang="en-GB"/>
              <a:t>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99"/>
          <p:cNvSpPr txBox="1"/>
          <p:nvPr>
            <p:ph idx="1" type="body"/>
          </p:nvPr>
        </p:nvSpPr>
        <p:spPr>
          <a:xfrm>
            <a:off x="307500" y="3957175"/>
            <a:ext cx="81138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 </a:t>
            </a:r>
            <a:r>
              <a:rPr b="1" lang="en-GB"/>
              <a:t>product </a:t>
            </a:r>
            <a:r>
              <a:rPr lang="en-GB"/>
              <a:t>of</a:t>
            </a:r>
            <a:r>
              <a:rPr b="1" lang="en-GB"/>
              <a:t> </a:t>
            </a:r>
            <a:r>
              <a:rPr lang="en-GB"/>
              <a:t>three repeated integers </a:t>
            </a:r>
            <a:r>
              <a:rPr lang="en-GB"/>
              <a:t>is a </a:t>
            </a:r>
            <a:r>
              <a:rPr b="1" lang="en-GB"/>
              <a:t>cube</a:t>
            </a:r>
            <a:r>
              <a:rPr lang="en-GB"/>
              <a:t> number.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24" name="Google Shape;162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