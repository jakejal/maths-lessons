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FBE4DB7-6900-4176-A0E8-7BBB729E60F6}">
  <a:tblStyle styleId="{4FBE4DB7-6900-4176-A0E8-7BBB729E60F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e87d8970ac_0_144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e87d8970ac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70763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factors, multiples, squares and cubes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390625" y="1320800"/>
            <a:ext cx="69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Multiples</a:t>
            </a:r>
            <a:endParaRPr sz="1500"/>
          </a:p>
        </p:txBody>
      </p:sp>
      <p:pic>
        <p:nvPicPr>
          <p:cNvPr id="174" name="Google Shape;17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8985" y="2361610"/>
            <a:ext cx="3013025" cy="3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451500" y="1777275"/>
            <a:ext cx="3771600" cy="56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exend"/>
              <a:buAutoNum type="arabicParenR"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the grid: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exend"/>
              <a:buAutoNum type="alphaLcParenR"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a circle next to all the </a:t>
            </a:r>
            <a:r>
              <a:rPr b="1"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multiples</a:t>
            </a: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2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exend"/>
              <a:buAutoNum type="alphaLcParenR"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a square next to all the </a:t>
            </a:r>
            <a:r>
              <a:rPr b="1"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multiples </a:t>
            </a: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of 3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exend"/>
              <a:buAutoNum type="alphaLcParenR"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a triangle next to all the </a:t>
            </a:r>
            <a:r>
              <a:rPr b="1"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multiples </a:t>
            </a: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of 5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exend"/>
              <a:buAutoNum type="alphaLcParenR"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the do the numbers with a circle and square represent?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0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Multiples of 2 and 3</a:t>
            </a:r>
            <a:endParaRPr b="1" sz="100"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exend"/>
              <a:buAutoNum type="alphaLcParenR"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do the numbers with a circle, squ</a:t>
            </a: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 and triangle represent?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00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Multiples of 2, 3 and 5</a:t>
            </a:r>
            <a:endParaRPr b="1" sz="10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6" name="Google Shape;176;p20"/>
          <p:cNvCxnSpPr/>
          <p:nvPr/>
        </p:nvCxnSpPr>
        <p:spPr>
          <a:xfrm>
            <a:off x="489325" y="9905325"/>
            <a:ext cx="6597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>
            <p:ph idx="1" type="subTitle"/>
          </p:nvPr>
        </p:nvSpPr>
        <p:spPr>
          <a:xfrm>
            <a:off x="1463400" y="360000"/>
            <a:ext cx="4782600" cy="29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factors, multiples, squares and cubes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466825" y="720000"/>
            <a:ext cx="6916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Factors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-178899" lvl="0" marL="269999" rtl="0" algn="l">
              <a:spcBef>
                <a:spcPts val="0"/>
              </a:spcBef>
              <a:spcAft>
                <a:spcPts val="0"/>
              </a:spcAft>
              <a:buSzPts val="1400"/>
              <a:buFont typeface="Lexend"/>
              <a:buAutoNum type="arabicParenR"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Only using the following cards once, fill in the gaps.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417813" y="2865776"/>
            <a:ext cx="30183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xend"/>
              <a:buAutoNum type="alphaLcParenR"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is a multiple of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494013" y="3452542"/>
            <a:ext cx="32610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          is a multiple of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515132" y="4079114"/>
            <a:ext cx="26025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          is a multiple of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745090" y="2603413"/>
            <a:ext cx="448200" cy="492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1"/>
          <p:cNvSpPr/>
          <p:nvPr/>
        </p:nvSpPr>
        <p:spPr>
          <a:xfrm>
            <a:off x="2650100" y="2603413"/>
            <a:ext cx="448200" cy="492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4094826" y="2871597"/>
            <a:ext cx="30183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           is a factor of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4094826" y="3534562"/>
            <a:ext cx="32610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           only has           factors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" name="Google Shape;19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400" y="1613400"/>
            <a:ext cx="6179200" cy="65281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/>
          <p:nvPr/>
        </p:nvSpPr>
        <p:spPr>
          <a:xfrm>
            <a:off x="745090" y="3289213"/>
            <a:ext cx="448200" cy="492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1"/>
          <p:cNvSpPr/>
          <p:nvPr/>
        </p:nvSpPr>
        <p:spPr>
          <a:xfrm>
            <a:off x="2650100" y="3289213"/>
            <a:ext cx="448200" cy="492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1"/>
          <p:cNvSpPr/>
          <p:nvPr/>
        </p:nvSpPr>
        <p:spPr>
          <a:xfrm>
            <a:off x="750365" y="3975013"/>
            <a:ext cx="448200" cy="492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1"/>
          <p:cNvSpPr/>
          <p:nvPr/>
        </p:nvSpPr>
        <p:spPr>
          <a:xfrm>
            <a:off x="2655375" y="3975013"/>
            <a:ext cx="448200" cy="492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1"/>
          <p:cNvSpPr/>
          <p:nvPr/>
        </p:nvSpPr>
        <p:spPr>
          <a:xfrm>
            <a:off x="4355390" y="2702388"/>
            <a:ext cx="448200" cy="492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1"/>
          <p:cNvSpPr/>
          <p:nvPr/>
        </p:nvSpPr>
        <p:spPr>
          <a:xfrm>
            <a:off x="6031800" y="2702388"/>
            <a:ext cx="448200" cy="492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1"/>
          <p:cNvSpPr/>
          <p:nvPr/>
        </p:nvSpPr>
        <p:spPr>
          <a:xfrm>
            <a:off x="4355390" y="3374088"/>
            <a:ext cx="448200" cy="492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1"/>
          <p:cNvSpPr/>
          <p:nvPr/>
        </p:nvSpPr>
        <p:spPr>
          <a:xfrm>
            <a:off x="5650800" y="3374088"/>
            <a:ext cx="448200" cy="492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417875" y="4866325"/>
            <a:ext cx="66954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Are the following always true, sometimes true or never true? When the answer is sometimes or never true, give an example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2" name="Google Shape;202;p21"/>
          <p:cNvGraphicFramePr/>
          <p:nvPr/>
        </p:nvGraphicFramePr>
        <p:xfrm>
          <a:off x="466825" y="5582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{4FBE4DB7-6900-4176-A0E8-7BBB729E60F6}</a:tableStyleId>
              </a:tblPr>
              <a:tblGrid>
                <a:gridCol w="3955700"/>
                <a:gridCol w="808850"/>
                <a:gridCol w="1120950"/>
                <a:gridCol w="760900"/>
              </a:tblGrid>
              <a:tr h="919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Always true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Sometimes true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Never true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037B7D"/>
                    </a:solidFill>
                  </a:tcPr>
                </a:tc>
              </a:tr>
              <a:tr h="802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Given A, B and C are integers  A ✕ B = C</a:t>
                      </a:r>
                      <a:endParaRPr sz="15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 is a </a:t>
                      </a:r>
                      <a:r>
                        <a:rPr b="1" lang="en-GB" sz="15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multiple </a:t>
                      </a:r>
                      <a:r>
                        <a:rPr lang="en-GB" sz="15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A and B</a:t>
                      </a:r>
                      <a:endParaRPr sz="15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and B are </a:t>
                      </a:r>
                      <a:r>
                        <a:rPr b="1" lang="en-GB" sz="15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factors</a:t>
                      </a:r>
                      <a:r>
                        <a:rPr lang="en-GB" sz="15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of C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/>
                </a:tc>
              </a:tr>
              <a:tr h="56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</a:t>
                      </a:r>
                      <a:r>
                        <a:rPr b="1"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multiple</a:t>
                      </a: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of a number is bigger than its largest </a:t>
                      </a:r>
                      <a:r>
                        <a:rPr b="1"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factor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5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 is a multiple of 5 and 5 is a factor of 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/>
                </a:tc>
              </a:tr>
              <a:tr h="419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product of two integers is an integer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/>
                </a:tc>
              </a:tr>
              <a:tr h="419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 is a </a:t>
                      </a:r>
                      <a:r>
                        <a:rPr b="1" lang="en-GB" sz="15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factor</a:t>
                      </a:r>
                      <a:r>
                        <a:rPr lang="en-GB" sz="15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of every integer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203" name="Google Shape;203;p21"/>
          <p:cNvCxnSpPr/>
          <p:nvPr/>
        </p:nvCxnSpPr>
        <p:spPr>
          <a:xfrm>
            <a:off x="489325" y="9905325"/>
            <a:ext cx="6597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" name="Google Shape;204;p21"/>
          <p:cNvSpPr txBox="1"/>
          <p:nvPr/>
        </p:nvSpPr>
        <p:spPr>
          <a:xfrm>
            <a:off x="799100" y="3328500"/>
            <a:ext cx="5391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endParaRPr sz="3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6047211" y="2743334"/>
            <a:ext cx="5391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22</a:t>
            </a:r>
            <a:endParaRPr sz="29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4394929" y="3381200"/>
            <a:ext cx="4647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13</a:t>
            </a:r>
            <a:endParaRPr sz="3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5713211" y="3369356"/>
            <a:ext cx="4647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3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4422529" y="2702400"/>
            <a:ext cx="5391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</a:t>
            </a:r>
            <a:endParaRPr sz="3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2758250" y="3324488"/>
            <a:ext cx="5391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3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2704650" y="4007263"/>
            <a:ext cx="5391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3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763300" y="4014100"/>
            <a:ext cx="5391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15</a:t>
            </a:r>
            <a:endParaRPr sz="3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796700" y="2642500"/>
            <a:ext cx="5391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14</a:t>
            </a:r>
            <a:endParaRPr sz="3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2758250" y="2635663"/>
            <a:ext cx="5391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endParaRPr sz="3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14" name="Google Shape;21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1253" y="6832950"/>
            <a:ext cx="242350" cy="2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1253" y="8733000"/>
            <a:ext cx="242350" cy="2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1253" y="9166763"/>
            <a:ext cx="242350" cy="25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GB" sz="895"/>
              <a:t>Mathematics in Education and Industry</a:t>
            </a:r>
            <a:endParaRPr sz="895"/>
          </a:p>
        </p:txBody>
      </p:sp>
      <p:cxnSp>
        <p:nvCxnSpPr>
          <p:cNvPr id="223" name="Google Shape;223;p22"/>
          <p:cNvCxnSpPr/>
          <p:nvPr/>
        </p:nvCxnSpPr>
        <p:spPr>
          <a:xfrm>
            <a:off x="489325" y="9905325"/>
            <a:ext cx="6597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p22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cxnSp>
        <p:nvCxnSpPr>
          <p:cNvPr id="225" name="Google Shape;225;p22"/>
          <p:cNvCxnSpPr/>
          <p:nvPr/>
        </p:nvCxnSpPr>
        <p:spPr>
          <a:xfrm>
            <a:off x="489325" y="9905325"/>
            <a:ext cx="6597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22"/>
          <p:cNvSpPr txBox="1"/>
          <p:nvPr/>
        </p:nvSpPr>
        <p:spPr>
          <a:xfrm>
            <a:off x="1387200" y="360000"/>
            <a:ext cx="47826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Checking understanding of factors, multiples, squares and cubes</a:t>
            </a:r>
            <a:endParaRPr sz="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2"/>
          <p:cNvSpPr txBox="1"/>
          <p:nvPr/>
        </p:nvSpPr>
        <p:spPr>
          <a:xfrm>
            <a:off x="466825" y="720000"/>
            <a:ext cx="6916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Square and cube numbers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-178899" lvl="0" marL="269999" rtl="0" algn="l">
              <a:spcBef>
                <a:spcPts val="0"/>
              </a:spcBef>
              <a:spcAft>
                <a:spcPts val="0"/>
              </a:spcAft>
              <a:buSzPts val="1400"/>
              <a:buFont typeface="Lexend"/>
              <a:buAutoNum type="arabicParenR"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Work out the unknown number given the clues.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4498825" y="3587450"/>
            <a:ext cx="2614500" cy="12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I am a cube number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I am a square number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I am a factor of every number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778425" y="3543875"/>
            <a:ext cx="2793000" cy="12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I am a factor of 24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I am a multiple of 2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I am a number less than 10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I am a square number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909054" y="1755863"/>
            <a:ext cx="3576000" cy="12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I am less than 100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I am greater than 50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I am a square number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I am odd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2"/>
          <p:cNvSpPr txBox="1"/>
          <p:nvPr/>
        </p:nvSpPr>
        <p:spPr>
          <a:xfrm>
            <a:off x="4436026" y="1791275"/>
            <a:ext cx="2614500" cy="12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I am a cube number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The sum of my digits is 9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I am a multiple of 9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I am less than 100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2"/>
          <p:cNvSpPr txBox="1"/>
          <p:nvPr/>
        </p:nvSpPr>
        <p:spPr>
          <a:xfrm>
            <a:off x="466825" y="3446900"/>
            <a:ext cx="5880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760800" y="1669000"/>
            <a:ext cx="2793000" cy="1512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34" name="Google Shape;234;p22"/>
          <p:cNvSpPr txBox="1"/>
          <p:nvPr/>
        </p:nvSpPr>
        <p:spPr>
          <a:xfrm>
            <a:off x="489329" y="1668988"/>
            <a:ext cx="5880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4031479" y="1633500"/>
            <a:ext cx="5880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4094275" y="3353475"/>
            <a:ext cx="5880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760800" y="3421775"/>
            <a:ext cx="2793000" cy="1512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38" name="Google Shape;238;p22"/>
          <p:cNvSpPr/>
          <p:nvPr/>
        </p:nvSpPr>
        <p:spPr>
          <a:xfrm>
            <a:off x="4375045" y="3421775"/>
            <a:ext cx="2793000" cy="1512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39" name="Google Shape;239;p22"/>
          <p:cNvSpPr/>
          <p:nvPr/>
        </p:nvSpPr>
        <p:spPr>
          <a:xfrm>
            <a:off x="4375045" y="1669175"/>
            <a:ext cx="2793000" cy="1512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40" name="Google Shape;240;p22"/>
          <p:cNvSpPr txBox="1"/>
          <p:nvPr/>
        </p:nvSpPr>
        <p:spPr>
          <a:xfrm>
            <a:off x="530725" y="5447850"/>
            <a:ext cx="65973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Complete the Venn diagram showing all the square and cube numbers up to 200.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683700" y="6649163"/>
            <a:ext cx="3902400" cy="2382300"/>
          </a:xfrm>
          <a:prstGeom prst="ellipse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42" name="Google Shape;242;p22"/>
          <p:cNvSpPr/>
          <p:nvPr/>
        </p:nvSpPr>
        <p:spPr>
          <a:xfrm>
            <a:off x="3263750" y="6649163"/>
            <a:ext cx="3902400" cy="2382300"/>
          </a:xfrm>
          <a:prstGeom prst="ellipse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43" name="Google Shape;243;p22"/>
          <p:cNvSpPr txBox="1"/>
          <p:nvPr/>
        </p:nvSpPr>
        <p:spPr>
          <a:xfrm>
            <a:off x="1632000" y="6352288"/>
            <a:ext cx="23376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Square numbers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2"/>
          <p:cNvSpPr txBox="1"/>
          <p:nvPr/>
        </p:nvSpPr>
        <p:spPr>
          <a:xfrm>
            <a:off x="4561250" y="6352288"/>
            <a:ext cx="23376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Cube numbers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2"/>
          <p:cNvSpPr txBox="1"/>
          <p:nvPr/>
        </p:nvSpPr>
        <p:spPr>
          <a:xfrm>
            <a:off x="2689600" y="2443563"/>
            <a:ext cx="7677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>
                <a:latin typeface="Kalam"/>
                <a:ea typeface="Kalam"/>
                <a:cs typeface="Kalam"/>
                <a:sym typeface="Kalam"/>
              </a:rPr>
              <a:t>81</a:t>
            </a:r>
            <a:endParaRPr sz="4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6259050" y="2443563"/>
            <a:ext cx="9090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>
                <a:latin typeface="Kalam"/>
                <a:ea typeface="Kalam"/>
                <a:cs typeface="Kalam"/>
                <a:sym typeface="Kalam"/>
              </a:rPr>
              <a:t>27</a:t>
            </a:r>
            <a:endParaRPr sz="4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7" name="Google Shape;247;p22"/>
          <p:cNvSpPr txBox="1"/>
          <p:nvPr/>
        </p:nvSpPr>
        <p:spPr>
          <a:xfrm>
            <a:off x="6578150" y="4168638"/>
            <a:ext cx="5880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>
                <a:latin typeface="Kalam"/>
                <a:ea typeface="Kalam"/>
                <a:cs typeface="Kalam"/>
                <a:sym typeface="Kalam"/>
              </a:rPr>
              <a:t>1</a:t>
            </a:r>
            <a:endParaRPr sz="4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8" name="Google Shape;248;p22"/>
          <p:cNvSpPr txBox="1"/>
          <p:nvPr/>
        </p:nvSpPr>
        <p:spPr>
          <a:xfrm>
            <a:off x="2779450" y="4168638"/>
            <a:ext cx="5880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>
                <a:latin typeface="Kalam"/>
                <a:ea typeface="Kalam"/>
                <a:cs typeface="Kalam"/>
                <a:sym typeface="Kalam"/>
              </a:rPr>
              <a:t>4</a:t>
            </a:r>
            <a:endParaRPr sz="4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9" name="Google Shape;249;p22"/>
          <p:cNvSpPr txBox="1"/>
          <p:nvPr/>
        </p:nvSpPr>
        <p:spPr>
          <a:xfrm>
            <a:off x="3817857" y="7322875"/>
            <a:ext cx="3840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1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0" name="Google Shape;250;p22"/>
          <p:cNvSpPr txBox="1"/>
          <p:nvPr/>
        </p:nvSpPr>
        <p:spPr>
          <a:xfrm>
            <a:off x="1101857" y="7146325"/>
            <a:ext cx="3840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4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1" name="Google Shape;251;p22"/>
          <p:cNvSpPr txBox="1"/>
          <p:nvPr/>
        </p:nvSpPr>
        <p:spPr>
          <a:xfrm>
            <a:off x="1580832" y="6834775"/>
            <a:ext cx="3840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9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895182" y="7769425"/>
            <a:ext cx="5907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16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3" name="Google Shape;253;p22"/>
          <p:cNvSpPr txBox="1"/>
          <p:nvPr/>
        </p:nvSpPr>
        <p:spPr>
          <a:xfrm>
            <a:off x="1714544" y="7374775"/>
            <a:ext cx="5907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25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4" name="Google Shape;254;p22"/>
          <p:cNvSpPr txBox="1"/>
          <p:nvPr/>
        </p:nvSpPr>
        <p:spPr>
          <a:xfrm>
            <a:off x="1821957" y="8392525"/>
            <a:ext cx="5907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36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5" name="Google Shape;255;p22"/>
          <p:cNvSpPr txBox="1"/>
          <p:nvPr/>
        </p:nvSpPr>
        <p:spPr>
          <a:xfrm>
            <a:off x="1964832" y="6834775"/>
            <a:ext cx="5907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49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6" name="Google Shape;256;p22"/>
          <p:cNvSpPr txBox="1"/>
          <p:nvPr/>
        </p:nvSpPr>
        <p:spPr>
          <a:xfrm>
            <a:off x="2533932" y="7686325"/>
            <a:ext cx="5907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81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3668857" y="7679575"/>
            <a:ext cx="5907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64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2834607" y="6706525"/>
            <a:ext cx="9747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100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9" name="Google Shape;259;p22"/>
          <p:cNvSpPr txBox="1"/>
          <p:nvPr/>
        </p:nvSpPr>
        <p:spPr>
          <a:xfrm>
            <a:off x="2386857" y="8164900"/>
            <a:ext cx="9747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121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0" name="Google Shape;260;p22"/>
          <p:cNvSpPr txBox="1"/>
          <p:nvPr/>
        </p:nvSpPr>
        <p:spPr>
          <a:xfrm>
            <a:off x="1377507" y="7914775"/>
            <a:ext cx="9747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144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1" name="Google Shape;261;p22"/>
          <p:cNvSpPr txBox="1"/>
          <p:nvPr/>
        </p:nvSpPr>
        <p:spPr>
          <a:xfrm>
            <a:off x="2661244" y="7192300"/>
            <a:ext cx="9747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169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3002307" y="8392525"/>
            <a:ext cx="9747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196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3" name="Google Shape;263;p22"/>
          <p:cNvSpPr txBox="1"/>
          <p:nvPr/>
        </p:nvSpPr>
        <p:spPr>
          <a:xfrm>
            <a:off x="4803782" y="7457875"/>
            <a:ext cx="9747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125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4" name="Google Shape;264;p22"/>
          <p:cNvSpPr txBox="1"/>
          <p:nvPr/>
        </p:nvSpPr>
        <p:spPr>
          <a:xfrm>
            <a:off x="5576207" y="8007025"/>
            <a:ext cx="9747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8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5" name="Google Shape;265;p22"/>
          <p:cNvSpPr txBox="1"/>
          <p:nvPr/>
        </p:nvSpPr>
        <p:spPr>
          <a:xfrm>
            <a:off x="5464182" y="7055088"/>
            <a:ext cx="9747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27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