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7D92517-20D2-4280-97C6-0273E6EC745E}">
  <a:tblStyle styleId="{97D92517-20D2-4280-97C6-0273E6EC745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887016fee4_1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887016fee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707630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Checking understanding of factors, multiples, squares and cubes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390625" y="1473200"/>
            <a:ext cx="69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Multiples</a:t>
            </a:r>
            <a:endParaRPr sz="1500"/>
          </a:p>
        </p:txBody>
      </p:sp>
      <p:sp>
        <p:nvSpPr>
          <p:cNvPr id="164" name="Google Shape;164;p20"/>
          <p:cNvSpPr txBox="1"/>
          <p:nvPr/>
        </p:nvSpPr>
        <p:spPr>
          <a:xfrm>
            <a:off x="451500" y="1929675"/>
            <a:ext cx="37716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rabi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the grid: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lphaL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 circle next to all the </a:t>
            </a:r>
            <a:r>
              <a:rPr b="1"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multiples</a:t>
            </a: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2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lphaL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 square next to all the </a:t>
            </a:r>
            <a:r>
              <a:rPr b="1"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multiples </a:t>
            </a: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3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lphaL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 triangle next to all the </a:t>
            </a:r>
            <a:r>
              <a:rPr b="1"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multiples </a:t>
            </a: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5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lphaL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the do the numbers with a circle and square represent?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lphaL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do the numbers with a circle, square and triangle represent?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5" name="Google Shape;165;p20"/>
          <p:cNvGraphicFramePr/>
          <p:nvPr/>
        </p:nvGraphicFramePr>
        <p:xfrm>
          <a:off x="4042885" y="23996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{97D92517-20D2-4280-97C6-0273E6EC745E}</a:tableStyleId>
              </a:tblPr>
              <a:tblGrid>
                <a:gridCol w="558550"/>
                <a:gridCol w="558550"/>
                <a:gridCol w="558550"/>
                <a:gridCol w="558550"/>
                <a:gridCol w="558550"/>
              </a:tblGrid>
              <a:tr h="40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5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7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8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10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11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12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13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14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15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16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17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18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19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20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21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22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23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24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25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26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27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28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29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30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31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32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33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34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35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66" name="Google Shape;166;p20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72" name="Google Shape;172;p21"/>
          <p:cNvSpPr txBox="1"/>
          <p:nvPr/>
        </p:nvSpPr>
        <p:spPr>
          <a:xfrm>
            <a:off x="472800" y="360000"/>
            <a:ext cx="47826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Checking understanding of factors, multiples, squares and cubes</a:t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466825" y="720000"/>
            <a:ext cx="6916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Factors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-178899" lvl="0" marL="269999" rtl="0" algn="l">
              <a:spcBef>
                <a:spcPts val="0"/>
              </a:spcBef>
              <a:spcAft>
                <a:spcPts val="0"/>
              </a:spcAft>
              <a:buSzPts val="1400"/>
              <a:buFont typeface="Lexend"/>
              <a:buAutoNum type="arabicParenR"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Only using the following cards once, fill in the gaps.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417813" y="2865776"/>
            <a:ext cx="30183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xend"/>
              <a:buAutoNum type="alphaLcParenR"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is a multiple of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494013" y="3452542"/>
            <a:ext cx="32610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          is a multiple of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515132" y="4079114"/>
            <a:ext cx="26025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          is a multiple of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745090" y="2603413"/>
            <a:ext cx="448200" cy="492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1"/>
          <p:cNvSpPr/>
          <p:nvPr/>
        </p:nvSpPr>
        <p:spPr>
          <a:xfrm>
            <a:off x="2650100" y="2603413"/>
            <a:ext cx="448200" cy="492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4094826" y="2871597"/>
            <a:ext cx="30183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          is a factor of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4094826" y="3534562"/>
            <a:ext cx="32610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           only has           factors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400" y="1613400"/>
            <a:ext cx="6179200" cy="65281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/>
          <p:nvPr/>
        </p:nvSpPr>
        <p:spPr>
          <a:xfrm>
            <a:off x="745090" y="3289213"/>
            <a:ext cx="448200" cy="492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2650100" y="3289213"/>
            <a:ext cx="448200" cy="492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"/>
          <p:cNvSpPr/>
          <p:nvPr/>
        </p:nvSpPr>
        <p:spPr>
          <a:xfrm>
            <a:off x="750365" y="3975013"/>
            <a:ext cx="448200" cy="492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2655375" y="3975013"/>
            <a:ext cx="448200" cy="492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1"/>
          <p:cNvSpPr/>
          <p:nvPr/>
        </p:nvSpPr>
        <p:spPr>
          <a:xfrm>
            <a:off x="4355390" y="2702388"/>
            <a:ext cx="448200" cy="492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6031800" y="2702388"/>
            <a:ext cx="448200" cy="492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4355390" y="3374088"/>
            <a:ext cx="448200" cy="492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1"/>
          <p:cNvSpPr/>
          <p:nvPr/>
        </p:nvSpPr>
        <p:spPr>
          <a:xfrm>
            <a:off x="5650800" y="3374088"/>
            <a:ext cx="448200" cy="492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417875" y="4866325"/>
            <a:ext cx="66954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Are the following always true, sometimes true or never true? When the answer is sometimes or never true, give an example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2" name="Google Shape;192;p21"/>
          <p:cNvGraphicFramePr/>
          <p:nvPr/>
        </p:nvGraphicFramePr>
        <p:xfrm>
          <a:off x="466825" y="5582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{97D92517-20D2-4280-97C6-0273E6EC745E}</a:tableStyleId>
              </a:tblPr>
              <a:tblGrid>
                <a:gridCol w="3957975"/>
                <a:gridCol w="806575"/>
                <a:gridCol w="1120950"/>
                <a:gridCol w="760900"/>
              </a:tblGrid>
              <a:tr h="91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Always true</a:t>
                      </a:r>
                      <a:endParaRPr sz="13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Sometimes true</a:t>
                      </a:r>
                      <a:endParaRPr sz="13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Never true</a:t>
                      </a:r>
                      <a:endParaRPr sz="13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575756"/>
                    </a:solidFill>
                  </a:tcPr>
                </a:tc>
              </a:tr>
              <a:tr h="802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Given A, B and C are integers  A ✕ B = C</a:t>
                      </a:r>
                      <a:endParaRPr sz="15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 is a </a:t>
                      </a:r>
                      <a:r>
                        <a:rPr b="1"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 </a:t>
                      </a:r>
                      <a:r>
                        <a:rPr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A and B</a:t>
                      </a:r>
                      <a:endParaRPr sz="15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and B are </a:t>
                      </a:r>
                      <a:r>
                        <a:rPr b="1"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factors</a:t>
                      </a:r>
                      <a:r>
                        <a:rPr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of C</a:t>
                      </a:r>
                      <a:endParaRPr sz="15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56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</a:t>
                      </a:r>
                      <a:r>
                        <a:rPr b="1"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</a:t>
                      </a: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of a number is bigger than its largest </a:t>
                      </a:r>
                      <a:r>
                        <a:rPr b="1"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factor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product of two integers is an integer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is a </a:t>
                      </a:r>
                      <a:r>
                        <a:rPr b="1"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factor</a:t>
                      </a:r>
                      <a:r>
                        <a:rPr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of every integer</a:t>
                      </a:r>
                      <a:endParaRPr sz="15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93" name="Google Shape;193;p21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99" name="Google Shape;199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95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895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cxnSp>
        <p:nvCxnSpPr>
          <p:cNvPr id="201" name="Google Shape;201;p22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" name="Google Shape;202;p22"/>
          <p:cNvSpPr txBox="1"/>
          <p:nvPr/>
        </p:nvSpPr>
        <p:spPr>
          <a:xfrm>
            <a:off x="472800" y="360000"/>
            <a:ext cx="47826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Checking understanding of factors, multiples, squares and cubes</a:t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466825" y="720000"/>
            <a:ext cx="6916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Square and cube numbers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-178899" lvl="0" marL="269999" rtl="0" algn="l">
              <a:spcBef>
                <a:spcPts val="0"/>
              </a:spcBef>
              <a:spcAft>
                <a:spcPts val="0"/>
              </a:spcAft>
              <a:buSzPts val="1400"/>
              <a:buFont typeface="Lexend"/>
              <a:buAutoNum type="arabicParenR"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Work out the unknown number given the clues.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4498825" y="3587450"/>
            <a:ext cx="26145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I am a cube number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I am a square number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I am a factor of every number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778425" y="3543875"/>
            <a:ext cx="27930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I am a factor of 24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I am a multiple of 2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I am a number less than 10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I am a square number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909054" y="1755863"/>
            <a:ext cx="35760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I am less than 100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I am greater than 50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I am a square number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I am odd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4436026" y="1791275"/>
            <a:ext cx="26145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I am a cube number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The sum of my digits is 9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I am a multiple of 9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I am less than 100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466825" y="3446900"/>
            <a:ext cx="5880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760800" y="1669000"/>
            <a:ext cx="2793000" cy="1512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10" name="Google Shape;210;p22"/>
          <p:cNvSpPr txBox="1"/>
          <p:nvPr/>
        </p:nvSpPr>
        <p:spPr>
          <a:xfrm>
            <a:off x="489329" y="1668988"/>
            <a:ext cx="5880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4031479" y="1633500"/>
            <a:ext cx="5880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4094275" y="3353475"/>
            <a:ext cx="5880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760800" y="3421775"/>
            <a:ext cx="2793000" cy="1512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14" name="Google Shape;214;p22"/>
          <p:cNvSpPr/>
          <p:nvPr/>
        </p:nvSpPr>
        <p:spPr>
          <a:xfrm>
            <a:off x="4375045" y="3421775"/>
            <a:ext cx="2793000" cy="1512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15" name="Google Shape;215;p22"/>
          <p:cNvSpPr/>
          <p:nvPr/>
        </p:nvSpPr>
        <p:spPr>
          <a:xfrm>
            <a:off x="4375045" y="1669175"/>
            <a:ext cx="2793000" cy="1512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16" name="Google Shape;216;p22"/>
          <p:cNvSpPr txBox="1"/>
          <p:nvPr/>
        </p:nvSpPr>
        <p:spPr>
          <a:xfrm>
            <a:off x="530725" y="5447850"/>
            <a:ext cx="65973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Complete the Venn diagram showing all the square and cube numbers up to 200.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683700" y="6649163"/>
            <a:ext cx="3902400" cy="2382300"/>
          </a:xfrm>
          <a:prstGeom prst="ellipse">
            <a:avLst/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18" name="Google Shape;218;p22"/>
          <p:cNvSpPr/>
          <p:nvPr/>
        </p:nvSpPr>
        <p:spPr>
          <a:xfrm>
            <a:off x="3263750" y="6649163"/>
            <a:ext cx="3902400" cy="2382300"/>
          </a:xfrm>
          <a:prstGeom prst="ellipse">
            <a:avLst/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19" name="Google Shape;219;p22"/>
          <p:cNvSpPr txBox="1"/>
          <p:nvPr/>
        </p:nvSpPr>
        <p:spPr>
          <a:xfrm>
            <a:off x="1632000" y="6352288"/>
            <a:ext cx="23376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 numbers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4561250" y="6352288"/>
            <a:ext cx="23376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Cube numbers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