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2880efd1ab9_0_4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2880efd1ab9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880efd1ab9_0_5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2880efd1ab9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hyperlink" Target="https://www.nationalarchives.gov.uk/doc/open-government-licence/version/3/" TargetMode="External"/><Relationship Id="rId7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Relationship Id="rId5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1.png"/><Relationship Id="rId10" Type="http://schemas.openxmlformats.org/officeDocument/2006/relationships/image" Target="../media/image17.png"/><Relationship Id="rId13" Type="http://schemas.openxmlformats.org/officeDocument/2006/relationships/image" Target="../media/image23.png"/><Relationship Id="rId12" Type="http://schemas.openxmlformats.org/officeDocument/2006/relationships/image" Target="../media/image15.png"/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4" Type="http://schemas.openxmlformats.org/officeDocument/2006/relationships/image" Target="../media/image21.png"/><Relationship Id="rId9" Type="http://schemas.openxmlformats.org/officeDocument/2006/relationships/image" Target="../media/image10.png"/><Relationship Id="rId14" Type="http://schemas.openxmlformats.org/officeDocument/2006/relationships/image" Target="../media/image18.png"/><Relationship Id="rId5" Type="http://schemas.openxmlformats.org/officeDocument/2006/relationships/image" Target="../media/image22.png"/><Relationship Id="rId6" Type="http://schemas.openxmlformats.org/officeDocument/2006/relationships/image" Target="../media/image25.png"/><Relationship Id="rId7" Type="http://schemas.openxmlformats.org/officeDocument/2006/relationships/image" Target="../media/image13.png"/><Relationship Id="rId8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 txBox="1"/>
          <p:nvPr>
            <p:ph type="title"/>
          </p:nvPr>
        </p:nvSpPr>
        <p:spPr>
          <a:xfrm>
            <a:off x="468000" y="864000"/>
            <a:ext cx="6624000" cy="55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Listing multiples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0"/>
          <p:cNvSpPr txBox="1"/>
          <p:nvPr/>
        </p:nvSpPr>
        <p:spPr>
          <a:xfrm>
            <a:off x="390625" y="1320800"/>
            <a:ext cx="69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Listing multiples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515975" y="1676150"/>
            <a:ext cx="5323500" cy="15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Lexend"/>
              <a:buAutoNum type="arabicParenR"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List the first five multiples of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302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Lexend"/>
              <a:buAutoNum type="alphaLcParenR"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8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302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Lexend"/>
              <a:buAutoNum type="alphaLcParenR"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302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Lexend"/>
              <a:buAutoNum type="alphaLcParenR"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12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302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Lexend"/>
              <a:buAutoNum type="alphaLcParenR"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15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4" name="Google Shape;17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32525" y="3295900"/>
            <a:ext cx="2814952" cy="896049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0"/>
          <p:cNvSpPr txBox="1"/>
          <p:nvPr/>
        </p:nvSpPr>
        <p:spPr>
          <a:xfrm>
            <a:off x="468000" y="3295900"/>
            <a:ext cx="21348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Alex says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2895900" y="3437050"/>
            <a:ext cx="2488200" cy="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30 is a multiple of 4 because 4 ✕ 7.5 = 30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7" name="Google Shape;17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1757351" y="3295900"/>
            <a:ext cx="845450" cy="89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/>
        </p:nvSpPr>
        <p:spPr>
          <a:xfrm>
            <a:off x="667200" y="4438900"/>
            <a:ext cx="5835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Is Alex correct? Explain your answer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526775" y="5603800"/>
            <a:ext cx="6426300" cy="127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Jacob started listing the first multiples of some numbers. He then spilled ink all over his work.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 the multiples Jacob was working out and the missing numbers.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466285" y="6933154"/>
            <a:ext cx="30615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Lexend"/>
              <a:buAutoNum type="alphaLcParenR"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Multiples of 111  :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468009" y="7585429"/>
            <a:ext cx="39363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b)   Multiples of             :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479047" y="8275621"/>
            <a:ext cx="35757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c)   Multiples of 324 :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479047" y="8965234"/>
            <a:ext cx="35757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d)   Multiples of           :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4" name="Google Shape;184;p20"/>
          <p:cNvCxnSpPr/>
          <p:nvPr/>
        </p:nvCxnSpPr>
        <p:spPr>
          <a:xfrm>
            <a:off x="641725" y="9905325"/>
            <a:ext cx="65973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5" name="Google Shape;185;p20"/>
          <p:cNvSpPr txBox="1"/>
          <p:nvPr/>
        </p:nvSpPr>
        <p:spPr>
          <a:xfrm>
            <a:off x="1434650" y="1941060"/>
            <a:ext cx="2488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5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8, 16, 24, 32, 40</a:t>
            </a:r>
            <a:endParaRPr b="1" sz="15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1426221" y="2252830"/>
            <a:ext cx="2488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5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10, 20, 30, 40, 50</a:t>
            </a:r>
            <a:endParaRPr b="1" sz="15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7" name="Google Shape;187;p20"/>
          <p:cNvSpPr txBox="1"/>
          <p:nvPr/>
        </p:nvSpPr>
        <p:spPr>
          <a:xfrm>
            <a:off x="1417792" y="2564499"/>
            <a:ext cx="2488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5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12, 24, 36, 48, 60</a:t>
            </a:r>
            <a:endParaRPr b="1" sz="15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1394550" y="2876171"/>
            <a:ext cx="24882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5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15, 30, 45, 60, 75</a:t>
            </a:r>
            <a:endParaRPr b="1" sz="15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667199" y="4805475"/>
            <a:ext cx="51768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6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 multiple is the product of two integers</a:t>
            </a:r>
            <a:endParaRPr b="1" sz="16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0" name="Google Shape;190;p20"/>
          <p:cNvSpPr txBox="1"/>
          <p:nvPr/>
        </p:nvSpPr>
        <p:spPr>
          <a:xfrm>
            <a:off x="2658450" y="7028513"/>
            <a:ext cx="4590300" cy="171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111,        ,        , 444, 555, …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, 46,       , 92, 115,         …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324,        ,        ,        , 1620, …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,          ,          ,         , 4225, …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 txBox="1"/>
          <p:nvPr/>
        </p:nvSpPr>
        <p:spPr>
          <a:xfrm>
            <a:off x="3619346" y="6940041"/>
            <a:ext cx="7587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Kalam"/>
                <a:ea typeface="Kalam"/>
                <a:cs typeface="Kalam"/>
                <a:sym typeface="Kalam"/>
              </a:rPr>
              <a:t>222</a:t>
            </a:r>
            <a:endParaRPr sz="23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4300496" y="6952320"/>
            <a:ext cx="7587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Kalam"/>
                <a:ea typeface="Kalam"/>
                <a:cs typeface="Kalam"/>
                <a:sym typeface="Kalam"/>
              </a:rPr>
              <a:t>333</a:t>
            </a:r>
            <a:endParaRPr sz="23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2985271" y="7619091"/>
            <a:ext cx="7587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Kalam"/>
                <a:ea typeface="Kalam"/>
                <a:cs typeface="Kalam"/>
                <a:sym typeface="Kalam"/>
              </a:rPr>
              <a:t>23</a:t>
            </a:r>
            <a:endParaRPr sz="23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3990249" y="7619088"/>
            <a:ext cx="5826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Kalam"/>
                <a:ea typeface="Kalam"/>
                <a:cs typeface="Kalam"/>
                <a:sym typeface="Kalam"/>
              </a:rPr>
              <a:t>69</a:t>
            </a:r>
            <a:endParaRPr sz="23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5" name="Google Shape;195;p20"/>
          <p:cNvSpPr txBox="1"/>
          <p:nvPr/>
        </p:nvSpPr>
        <p:spPr>
          <a:xfrm>
            <a:off x="3619346" y="8298141"/>
            <a:ext cx="7587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Kalam"/>
                <a:ea typeface="Kalam"/>
                <a:cs typeface="Kalam"/>
                <a:sym typeface="Kalam"/>
              </a:rPr>
              <a:t>648</a:t>
            </a:r>
            <a:endParaRPr sz="23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6" name="Google Shape;196;p20"/>
          <p:cNvSpPr txBox="1"/>
          <p:nvPr/>
        </p:nvSpPr>
        <p:spPr>
          <a:xfrm>
            <a:off x="4335921" y="8285870"/>
            <a:ext cx="7587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Kalam"/>
                <a:ea typeface="Kalam"/>
                <a:cs typeface="Kalam"/>
                <a:sym typeface="Kalam"/>
              </a:rPr>
              <a:t>972</a:t>
            </a:r>
            <a:endParaRPr sz="23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7" name="Google Shape;197;p20"/>
          <p:cNvSpPr txBox="1"/>
          <p:nvPr/>
        </p:nvSpPr>
        <p:spPr>
          <a:xfrm>
            <a:off x="4983321" y="8285858"/>
            <a:ext cx="7587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Kalam"/>
                <a:ea typeface="Kalam"/>
                <a:cs typeface="Kalam"/>
                <a:sym typeface="Kalam"/>
              </a:rPr>
              <a:t>1296</a:t>
            </a:r>
            <a:endParaRPr sz="23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8" name="Google Shape;198;p20"/>
          <p:cNvSpPr txBox="1"/>
          <p:nvPr/>
        </p:nvSpPr>
        <p:spPr>
          <a:xfrm>
            <a:off x="2985271" y="8977191"/>
            <a:ext cx="7587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Kalam"/>
                <a:ea typeface="Kalam"/>
                <a:cs typeface="Kalam"/>
                <a:sym typeface="Kalam"/>
              </a:rPr>
              <a:t>845</a:t>
            </a:r>
            <a:endParaRPr sz="23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99" name="Google Shape;199;p20"/>
          <p:cNvSpPr txBox="1"/>
          <p:nvPr/>
        </p:nvSpPr>
        <p:spPr>
          <a:xfrm>
            <a:off x="3683046" y="8977187"/>
            <a:ext cx="7587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Kalam"/>
                <a:ea typeface="Kalam"/>
                <a:cs typeface="Kalam"/>
                <a:sym typeface="Kalam"/>
              </a:rPr>
              <a:t>1690</a:t>
            </a:r>
            <a:endParaRPr sz="23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4521438" y="8993133"/>
            <a:ext cx="8643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Kalam"/>
                <a:ea typeface="Kalam"/>
                <a:cs typeface="Kalam"/>
                <a:sym typeface="Kalam"/>
              </a:rPr>
              <a:t>2535</a:t>
            </a:r>
            <a:endParaRPr sz="23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5304450" y="8993150"/>
            <a:ext cx="8643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Kalam"/>
                <a:ea typeface="Kalam"/>
                <a:cs typeface="Kalam"/>
                <a:sym typeface="Kalam"/>
              </a:rPr>
              <a:t>3380</a:t>
            </a:r>
            <a:endParaRPr sz="23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2108256" y="7542891"/>
            <a:ext cx="7587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Kalam"/>
                <a:ea typeface="Kalam"/>
                <a:cs typeface="Kalam"/>
                <a:sym typeface="Kalam"/>
              </a:rPr>
              <a:t>23</a:t>
            </a:r>
            <a:endParaRPr sz="23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2061646" y="8938066"/>
            <a:ext cx="7587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Kalam"/>
                <a:ea typeface="Kalam"/>
                <a:cs typeface="Kalam"/>
                <a:sym typeface="Kalam"/>
              </a:rPr>
              <a:t>845</a:t>
            </a:r>
            <a:endParaRPr sz="23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5696156" y="7584491"/>
            <a:ext cx="758700" cy="2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latin typeface="Kalam"/>
                <a:ea typeface="Kalam"/>
                <a:cs typeface="Kalam"/>
                <a:sym typeface="Kalam"/>
              </a:rPr>
              <a:t>138,</a:t>
            </a:r>
            <a:endParaRPr sz="23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1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Listing multiples</a:t>
            </a:r>
            <a:endParaRPr/>
          </a:p>
        </p:txBody>
      </p:sp>
      <p:cxnSp>
        <p:nvCxnSpPr>
          <p:cNvPr id="210" name="Google Shape;210;p21"/>
          <p:cNvCxnSpPr/>
          <p:nvPr/>
        </p:nvCxnSpPr>
        <p:spPr>
          <a:xfrm>
            <a:off x="641725" y="9905325"/>
            <a:ext cx="65973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1" name="Google Shape;211;p21"/>
          <p:cNvSpPr txBox="1"/>
          <p:nvPr/>
        </p:nvSpPr>
        <p:spPr>
          <a:xfrm>
            <a:off x="396600" y="663900"/>
            <a:ext cx="69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Using listing to find common multiples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476400" y="1216500"/>
            <a:ext cx="60645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Lexend"/>
              <a:buAutoNum type="arabicParenR"/>
            </a:pP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 all the </a:t>
            </a:r>
            <a:r>
              <a:rPr b="1"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common multiples </a:t>
            </a: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of 7 and 5 which are less than 100. 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Lexend"/>
              <a:ea typeface="Lexend"/>
              <a:cs typeface="Lexend"/>
              <a:sym typeface="Lexend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Lexend"/>
              <a:buAutoNum type="arabicParenR"/>
            </a:pP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 all the </a:t>
            </a:r>
            <a:r>
              <a:rPr b="1"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common multiples</a:t>
            </a: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5, 8 and 10 which are less than 100.  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578200" y="5014325"/>
            <a:ext cx="70692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 Using the numbers, fill in the missing gaps. You can only use each number once.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659150" y="6841600"/>
            <a:ext cx="53013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Lexend"/>
              <a:buAutoNum type="alphaLcParenR"/>
            </a:pP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is a </a:t>
            </a:r>
            <a:r>
              <a:rPr b="1"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common multiple</a:t>
            </a: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         and     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Lexend"/>
              <a:buAutoNum type="alphaLcParenR"/>
            </a:pP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is a </a:t>
            </a:r>
            <a:r>
              <a:rPr b="1"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common multiple</a:t>
            </a: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         and      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Lexend"/>
              <a:buAutoNum type="alphaLcParenR"/>
            </a:pP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  is a </a:t>
            </a:r>
            <a:r>
              <a:rPr b="1"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common multiple</a:t>
            </a:r>
            <a:r>
              <a:rPr lang="en-GB" sz="1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of          and      </a:t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1122200" y="6708925"/>
            <a:ext cx="366900" cy="441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16" name="Google Shape;216;p21"/>
          <p:cNvSpPr/>
          <p:nvPr/>
        </p:nvSpPr>
        <p:spPr>
          <a:xfrm>
            <a:off x="4062211" y="6703471"/>
            <a:ext cx="366900" cy="441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17" name="Google Shape;217;p21"/>
          <p:cNvSpPr/>
          <p:nvPr/>
        </p:nvSpPr>
        <p:spPr>
          <a:xfrm>
            <a:off x="4929758" y="6703471"/>
            <a:ext cx="366900" cy="441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18" name="Google Shape;218;p21"/>
          <p:cNvSpPr/>
          <p:nvPr/>
        </p:nvSpPr>
        <p:spPr>
          <a:xfrm>
            <a:off x="1122200" y="7509738"/>
            <a:ext cx="366900" cy="441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19" name="Google Shape;219;p21"/>
          <p:cNvSpPr/>
          <p:nvPr/>
        </p:nvSpPr>
        <p:spPr>
          <a:xfrm>
            <a:off x="4062211" y="7504284"/>
            <a:ext cx="366900" cy="441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20" name="Google Shape;220;p21"/>
          <p:cNvSpPr/>
          <p:nvPr/>
        </p:nvSpPr>
        <p:spPr>
          <a:xfrm>
            <a:off x="4929758" y="7504284"/>
            <a:ext cx="366900" cy="441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21" name="Google Shape;221;p21"/>
          <p:cNvSpPr/>
          <p:nvPr/>
        </p:nvSpPr>
        <p:spPr>
          <a:xfrm>
            <a:off x="1122200" y="8310551"/>
            <a:ext cx="366900" cy="441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22" name="Google Shape;222;p21"/>
          <p:cNvSpPr/>
          <p:nvPr/>
        </p:nvSpPr>
        <p:spPr>
          <a:xfrm>
            <a:off x="4062211" y="8305097"/>
            <a:ext cx="366900" cy="441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23" name="Google Shape;223;p21"/>
          <p:cNvSpPr/>
          <p:nvPr/>
        </p:nvSpPr>
        <p:spPr>
          <a:xfrm>
            <a:off x="4929758" y="8305097"/>
            <a:ext cx="366900" cy="441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037B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pic>
        <p:nvPicPr>
          <p:cNvPr id="224" name="Google Shape;22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200" y="5650800"/>
            <a:ext cx="6284972" cy="71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1"/>
          <p:cNvSpPr txBox="1"/>
          <p:nvPr/>
        </p:nvSpPr>
        <p:spPr>
          <a:xfrm>
            <a:off x="2016150" y="1932300"/>
            <a:ext cx="41613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Common multiples: </a:t>
            </a:r>
            <a:r>
              <a:rPr lang="en-GB" sz="18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35 and 70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2084762" y="3883700"/>
            <a:ext cx="41613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8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Common multiples: </a:t>
            </a:r>
            <a:r>
              <a:rPr lang="en-GB" sz="18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40, 80</a:t>
            </a:r>
            <a:endParaRPr sz="18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7" name="Google Shape;227;p21"/>
          <p:cNvSpPr txBox="1"/>
          <p:nvPr/>
        </p:nvSpPr>
        <p:spPr>
          <a:xfrm>
            <a:off x="1045993" y="6660075"/>
            <a:ext cx="4956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Kalam"/>
                <a:ea typeface="Kalam"/>
                <a:cs typeface="Kalam"/>
                <a:sym typeface="Kalam"/>
              </a:rPr>
              <a:t>12</a:t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8" name="Google Shape;228;p21"/>
          <p:cNvSpPr txBox="1"/>
          <p:nvPr/>
        </p:nvSpPr>
        <p:spPr>
          <a:xfrm>
            <a:off x="1025550" y="8255695"/>
            <a:ext cx="6321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Kalam"/>
                <a:ea typeface="Kalam"/>
                <a:cs typeface="Kalam"/>
                <a:sym typeface="Kalam"/>
              </a:rPr>
              <a:t>27</a:t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9" name="Google Shape;229;p21"/>
          <p:cNvSpPr txBox="1"/>
          <p:nvPr/>
        </p:nvSpPr>
        <p:spPr>
          <a:xfrm>
            <a:off x="3979767" y="8260900"/>
            <a:ext cx="6321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Kalam"/>
                <a:ea typeface="Kalam"/>
                <a:cs typeface="Kalam"/>
                <a:sym typeface="Kalam"/>
              </a:rPr>
              <a:t>27</a:t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4906538" y="8260900"/>
            <a:ext cx="6321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Kalam"/>
                <a:ea typeface="Kalam"/>
                <a:cs typeface="Kalam"/>
                <a:sym typeface="Kalam"/>
              </a:rPr>
              <a:t>9</a:t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1" name="Google Shape;231;p21"/>
          <p:cNvSpPr txBox="1"/>
          <p:nvPr/>
        </p:nvSpPr>
        <p:spPr>
          <a:xfrm>
            <a:off x="1037160" y="7452138"/>
            <a:ext cx="6321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Kalam"/>
                <a:ea typeface="Kalam"/>
                <a:cs typeface="Kalam"/>
                <a:sym typeface="Kalam"/>
              </a:rPr>
              <a:t>50</a:t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2" name="Google Shape;232;p21"/>
          <p:cNvSpPr txBox="1"/>
          <p:nvPr/>
        </p:nvSpPr>
        <p:spPr>
          <a:xfrm>
            <a:off x="4024938" y="7472650"/>
            <a:ext cx="6321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Kalam"/>
                <a:ea typeface="Kalam"/>
                <a:cs typeface="Kalam"/>
                <a:sym typeface="Kalam"/>
              </a:rPr>
              <a:t>5</a:t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>
            <a:off x="4863138" y="7472650"/>
            <a:ext cx="6321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Kalam"/>
                <a:ea typeface="Kalam"/>
                <a:cs typeface="Kalam"/>
                <a:sym typeface="Kalam"/>
              </a:rPr>
              <a:t>10</a:t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4" name="Google Shape;234;p21"/>
          <p:cNvSpPr txBox="1"/>
          <p:nvPr/>
        </p:nvSpPr>
        <p:spPr>
          <a:xfrm>
            <a:off x="4056070" y="6645667"/>
            <a:ext cx="4956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Kalam"/>
                <a:ea typeface="Kalam"/>
                <a:cs typeface="Kalam"/>
                <a:sym typeface="Kalam"/>
              </a:rPr>
              <a:t>6</a:t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4855180" y="6643397"/>
            <a:ext cx="4956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latin typeface="Kalam"/>
                <a:ea typeface="Kalam"/>
                <a:cs typeface="Kalam"/>
                <a:sym typeface="Kalam"/>
              </a:rPr>
              <a:t>12</a:t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0" name="Google Shape;240;p22"/>
          <p:cNvCxnSpPr/>
          <p:nvPr/>
        </p:nvCxnSpPr>
        <p:spPr>
          <a:xfrm>
            <a:off x="641725" y="9905325"/>
            <a:ext cx="65973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1" name="Google Shape;241;p22"/>
          <p:cNvSpPr txBox="1"/>
          <p:nvPr/>
        </p:nvSpPr>
        <p:spPr>
          <a:xfrm>
            <a:off x="324000" y="1103100"/>
            <a:ext cx="7818600" cy="7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 A path is made up from 100 steps, numbered 1 to 100.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22"/>
          <p:cNvSpPr txBox="1"/>
          <p:nvPr/>
        </p:nvSpPr>
        <p:spPr>
          <a:xfrm>
            <a:off x="468000" y="3842625"/>
            <a:ext cx="6771000" cy="4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Which numbered steps will all three robots have stepped on?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22"/>
          <p:cNvSpPr txBox="1"/>
          <p:nvPr/>
        </p:nvSpPr>
        <p:spPr>
          <a:xfrm>
            <a:off x="476400" y="5502450"/>
            <a:ext cx="6597300" cy="4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Robot D steps on every 2nd step. Will this change your answer to part a? Explain why.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2"/>
          <p:cNvSpPr txBox="1"/>
          <p:nvPr/>
        </p:nvSpPr>
        <p:spPr>
          <a:xfrm>
            <a:off x="760475" y="2350425"/>
            <a:ext cx="1367100" cy="12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Robot A steps on every 8th step.</a:t>
            </a:r>
            <a:endParaRPr sz="1600"/>
          </a:p>
        </p:txBody>
      </p:sp>
      <p:pic>
        <p:nvPicPr>
          <p:cNvPr id="245" name="Google Shape;24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8648" y="1546725"/>
            <a:ext cx="958051" cy="973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22"/>
          <p:cNvPicPr preferRelativeResize="0"/>
          <p:nvPr/>
        </p:nvPicPr>
        <p:blipFill rotWithShape="1">
          <a:blip r:embed="rId4">
            <a:alphaModFix/>
          </a:blip>
          <a:srcRect b="14118" l="31478" r="0" t="0"/>
          <a:stretch/>
        </p:blipFill>
        <p:spPr>
          <a:xfrm>
            <a:off x="3383876" y="1546725"/>
            <a:ext cx="554723" cy="7803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2"/>
          <p:cNvSpPr txBox="1"/>
          <p:nvPr/>
        </p:nvSpPr>
        <p:spPr>
          <a:xfrm>
            <a:off x="3230025" y="2353800"/>
            <a:ext cx="1251000" cy="12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Robot B steps on every 3rd step.</a:t>
            </a:r>
            <a:endParaRPr sz="1600"/>
          </a:p>
        </p:txBody>
      </p:sp>
      <p:pic>
        <p:nvPicPr>
          <p:cNvPr id="248" name="Google Shape;248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77250" y="1550074"/>
            <a:ext cx="554724" cy="701266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2"/>
          <p:cNvSpPr txBox="1"/>
          <p:nvPr/>
        </p:nvSpPr>
        <p:spPr>
          <a:xfrm>
            <a:off x="5560550" y="2336975"/>
            <a:ext cx="1367100" cy="12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Robot C steps on every 6th  step.</a:t>
            </a:r>
            <a:endParaRPr sz="1600"/>
          </a:p>
        </p:txBody>
      </p:sp>
      <p:sp>
        <p:nvSpPr>
          <p:cNvPr id="250" name="Google Shape;250;p22"/>
          <p:cNvSpPr txBox="1"/>
          <p:nvPr/>
        </p:nvSpPr>
        <p:spPr>
          <a:xfrm>
            <a:off x="2925225" y="4489050"/>
            <a:ext cx="23304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Kalam"/>
                <a:ea typeface="Kalam"/>
                <a:cs typeface="Kalam"/>
                <a:sym typeface="Kalam"/>
              </a:rPr>
              <a:t>24, 48 and 72</a:t>
            </a:r>
            <a:endParaRPr b="1"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1" name="Google Shape;251;p22"/>
          <p:cNvSpPr txBox="1"/>
          <p:nvPr/>
        </p:nvSpPr>
        <p:spPr>
          <a:xfrm>
            <a:off x="441449" y="6333750"/>
            <a:ext cx="64065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Kalam"/>
                <a:ea typeface="Kalam"/>
                <a:cs typeface="Kalam"/>
                <a:sym typeface="Kalam"/>
              </a:rPr>
              <a:t>No because multiples of 2 are also common multiples of 8 and 6 so it will make no difference.</a:t>
            </a:r>
            <a:endParaRPr b="1"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2" name="Google Shape;252;p22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Listing multiples</a:t>
            </a:r>
            <a:endParaRPr/>
          </a:p>
        </p:txBody>
      </p:sp>
      <p:sp>
        <p:nvSpPr>
          <p:cNvPr id="253" name="Google Shape;253;p22"/>
          <p:cNvSpPr txBox="1"/>
          <p:nvPr/>
        </p:nvSpPr>
        <p:spPr>
          <a:xfrm>
            <a:off x="396600" y="663900"/>
            <a:ext cx="69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Using listing to find common multiples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3"/>
          <p:cNvSpPr txBox="1"/>
          <p:nvPr/>
        </p:nvSpPr>
        <p:spPr>
          <a:xfrm>
            <a:off x="552600" y="9017775"/>
            <a:ext cx="5890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Who is the best player? You must show your working out.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23"/>
          <p:cNvSpPr txBox="1"/>
          <p:nvPr/>
        </p:nvSpPr>
        <p:spPr>
          <a:xfrm>
            <a:off x="563250" y="9522638"/>
            <a:ext cx="6433500" cy="4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State a fractional success rate in between Sam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’s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Alex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’s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61" name="Google Shape;261;p23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3"/>
          <p:cNvSpPr txBox="1"/>
          <p:nvPr/>
        </p:nvSpPr>
        <p:spPr>
          <a:xfrm>
            <a:off x="396600" y="663900"/>
            <a:ext cx="6916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Using common multiples to compare fractions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" name="Google Shape;263;p23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Listing multiples</a:t>
            </a:r>
            <a:endParaRPr/>
          </a:p>
        </p:txBody>
      </p:sp>
      <p:sp>
        <p:nvSpPr>
          <p:cNvPr descr="&lt;math xmlns=&quot;http://www.w3.org/1998/Math/MathML&quot; display=&quot;block&quot; data-is-equatio=&quot;1&quot; data-latex=&quot;\frac{3}{8}&quot;&gt;&lt;mfrac&gt;&lt;mn&gt;3&lt;/mn&gt;&lt;mn&gt;8&lt;/mn&gt;&lt;/mfrac&gt;&lt;/math&gt;" id="264" name="Google Shape;264;p23" title="three eighths"/>
          <p:cNvSpPr txBox="1"/>
          <p:nvPr/>
        </p:nvSpPr>
        <p:spPr>
          <a:xfrm>
            <a:off x="552600" y="1140300"/>
            <a:ext cx="62829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Lexend"/>
              <a:buAutoNum type="arabicParenR"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Using </a:t>
            </a:r>
            <a:r>
              <a:rPr b="1"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common multiples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to compare fraction</a:t>
            </a: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s, i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dentify the largest fraction. You must show your working out.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Lexend"/>
              <a:buAutoNum type="alphaLcParenR"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 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nd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           and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           and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265" name="Google Shape;265;p23" title="three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8375" y="1926050"/>
            <a:ext cx="204425" cy="68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7}&quot;&gt;&lt;mfrac&gt;&lt;mn&gt;2&lt;/mn&gt;&lt;mn&gt;7&lt;/mn&gt;&lt;/mfrac&gt;&lt;/math&gt;" id="266" name="Google Shape;266;p23" title="two seve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10548" y="1930987"/>
            <a:ext cx="204425" cy="6643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&quot;&gt;&lt;mfrac&gt;&lt;mn&gt;4&lt;/mn&gt;&lt;mn&gt;5&lt;/mn&gt;&lt;/mfrac&gt;&lt;/math&gt;" id="267" name="Google Shape;267;p23" title="four fif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74023" y="3333033"/>
            <a:ext cx="204425" cy="6814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10}&quot;&gt;&lt;mfrac&gt;&lt;mn&gt;7&lt;/mn&gt;&lt;mn&gt;10&lt;/mn&gt;&lt;/mfrac&gt;&lt;/math&gt;" id="268" name="Google Shape;268;p23" title="seven ten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74156" y="4577184"/>
            <a:ext cx="379419" cy="691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6}&quot;&gt;&lt;mfrac&gt;&lt;mn&gt;5&lt;/mn&gt;&lt;mn&gt;6&lt;/mn&gt;&lt;/mfrac&gt;&lt;/math&gt;" id="269" name="Google Shape;269;p23" title="five six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96201" y="3321725"/>
            <a:ext cx="204425" cy="691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991553" y="4584908"/>
            <a:ext cx="204425" cy="671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2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238582" y="1832000"/>
            <a:ext cx="3263892" cy="12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3"/>
          <p:cNvSpPr/>
          <p:nvPr/>
        </p:nvSpPr>
        <p:spPr>
          <a:xfrm>
            <a:off x="942325" y="1814525"/>
            <a:ext cx="443100" cy="904500"/>
          </a:xfrm>
          <a:prstGeom prst="rect">
            <a:avLst/>
          </a:prstGeom>
          <a:noFill/>
          <a:ln cap="flat" cmpd="sng" w="38100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3" name="Google Shape;273;p2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309138" y="3175388"/>
            <a:ext cx="2900123" cy="1263175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3"/>
          <p:cNvSpPr/>
          <p:nvPr/>
        </p:nvSpPr>
        <p:spPr>
          <a:xfrm>
            <a:off x="1876854" y="3221499"/>
            <a:ext cx="443100" cy="904500"/>
          </a:xfrm>
          <a:prstGeom prst="rect">
            <a:avLst/>
          </a:prstGeom>
          <a:noFill/>
          <a:ln cap="flat" cmpd="sng" w="38100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5" name="Google Shape;275;p2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309150" y="4620375"/>
            <a:ext cx="2492675" cy="140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3"/>
          <p:cNvSpPr/>
          <p:nvPr/>
        </p:nvSpPr>
        <p:spPr>
          <a:xfrm>
            <a:off x="942337" y="4470879"/>
            <a:ext cx="443100" cy="904500"/>
          </a:xfrm>
          <a:prstGeom prst="rect">
            <a:avLst/>
          </a:prstGeom>
          <a:noFill/>
          <a:ln cap="flat" cmpd="sng" w="38100">
            <a:solidFill>
              <a:srgbClr val="374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3"/>
          <p:cNvSpPr txBox="1"/>
          <p:nvPr/>
        </p:nvSpPr>
        <p:spPr>
          <a:xfrm>
            <a:off x="552600" y="6131000"/>
            <a:ext cx="6433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Three students have the following success rates on a game.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" name="Google Shape;278;p23"/>
          <p:cNvSpPr txBox="1"/>
          <p:nvPr/>
        </p:nvSpPr>
        <p:spPr>
          <a:xfrm>
            <a:off x="6155513" y="8880650"/>
            <a:ext cx="8769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Kalam"/>
                <a:ea typeface="Kalam"/>
                <a:cs typeface="Kalam"/>
                <a:sym typeface="Kalam"/>
              </a:rPr>
              <a:t>Lucas</a:t>
            </a:r>
            <a:endParaRPr b="1" sz="16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279" name="Google Shape;279;p23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935975" y="6558776"/>
            <a:ext cx="5607450" cy="1556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3"/>
          <p:cNvPicPr preferRelativeResize="0"/>
          <p:nvPr/>
        </p:nvPicPr>
        <p:blipFill rotWithShape="1">
          <a:blip r:embed="rId13">
            <a:alphaModFix/>
          </a:blip>
          <a:srcRect b="0" l="0" r="70274" t="0"/>
          <a:stretch/>
        </p:blipFill>
        <p:spPr>
          <a:xfrm>
            <a:off x="709941" y="8157300"/>
            <a:ext cx="1826826" cy="6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3"/>
          <p:cNvPicPr preferRelativeResize="0"/>
          <p:nvPr/>
        </p:nvPicPr>
        <p:blipFill rotWithShape="1">
          <a:blip r:embed="rId13">
            <a:alphaModFix/>
          </a:blip>
          <a:srcRect b="0" l="35605" r="39830" t="0"/>
          <a:stretch/>
        </p:blipFill>
        <p:spPr>
          <a:xfrm>
            <a:off x="2933775" y="8157300"/>
            <a:ext cx="1509651" cy="6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3"/>
          <p:cNvPicPr preferRelativeResize="0"/>
          <p:nvPr/>
        </p:nvPicPr>
        <p:blipFill rotWithShape="1">
          <a:blip r:embed="rId13">
            <a:alphaModFix/>
          </a:blip>
          <a:srcRect b="0" l="62777" r="-145" t="0"/>
          <a:stretch/>
        </p:blipFill>
        <p:spPr>
          <a:xfrm>
            <a:off x="4688025" y="8157300"/>
            <a:ext cx="2296526" cy="66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3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6521000" y="9294050"/>
            <a:ext cx="379425" cy="47198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4" name="Google Shape;284;p23"/>
          <p:cNvCxnSpPr/>
          <p:nvPr/>
        </p:nvCxnSpPr>
        <p:spPr>
          <a:xfrm>
            <a:off x="489325" y="9905325"/>
            <a:ext cx="65973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5" name="Google Shape;285;p2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95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Mathematics in Education and Industry</a:t>
            </a:r>
            <a:endParaRPr sz="895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Answers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LD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