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B38EDC-99A1-46B2-8C7F-05C275221894}">
  <a:tblStyle styleId="{19B38EDC-99A1-46B2-8C7F-05C2752218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47668980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47668980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476689801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476689801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87117d8f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7117d8f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476689801e_0_1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476689801e_0_1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476689801e_0_1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476689801e_0_1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476689801e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476689801e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476689801e_0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476689801e_0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476689801e_0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476689801e_0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476689801e_0_1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476689801e_0_1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476689801e_0_1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476689801e_0_1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476689801e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476689801e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476689801e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476689801e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476689801e_0_1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476689801e_0_1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476689801e_0_1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476689801e_0_1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476689801e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476689801e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476689801e_0_1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476689801e_0_1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476689801e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476689801e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476689801e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476689801e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827a1b7e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827a1b7e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476689801e_0_2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476689801e_0_2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476689801e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476689801e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827a1b7ed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827a1b7ed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827a1b7ed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827a1b7ed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827a1b7e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827a1b7e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827a1b7ed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827a1b7ed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827a1b7ed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827a1b7ed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1e8065873f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1e8065873f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e8065873f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1e8065873f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1e8065873f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1e8065873f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1e8065873f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1e8065873f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e8065873f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e8065873f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284a2f4e45a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284a2f4e45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84a2f4e45a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84a2f4e45a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84a2f4e4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84a2f4e4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84a2f4e45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84a2f4e45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476689801e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476689801e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109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9.png"/><Relationship Id="rId4" Type="http://schemas.openxmlformats.org/officeDocument/2006/relationships/image" Target="../media/image22.png"/><Relationship Id="rId9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09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41.pn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Relationship Id="rId7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6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Relationship Id="rId9" Type="http://schemas.openxmlformats.org/officeDocument/2006/relationships/image" Target="../media/image71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Relationship Id="rId8" Type="http://schemas.openxmlformats.org/officeDocument/2006/relationships/image" Target="../media/image75.png"/><Relationship Id="rId11" Type="http://schemas.openxmlformats.org/officeDocument/2006/relationships/image" Target="../media/image79.png"/><Relationship Id="rId10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0.png"/><Relationship Id="rId4" Type="http://schemas.openxmlformats.org/officeDocument/2006/relationships/image" Target="../media/image72.png"/><Relationship Id="rId9" Type="http://schemas.openxmlformats.org/officeDocument/2006/relationships/image" Target="../media/image81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3.png"/><Relationship Id="rId8" Type="http://schemas.openxmlformats.org/officeDocument/2006/relationships/image" Target="../media/image76.png"/><Relationship Id="rId11" Type="http://schemas.openxmlformats.org/officeDocument/2006/relationships/image" Target="../media/image83.png"/><Relationship Id="rId10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0.png"/><Relationship Id="rId4" Type="http://schemas.openxmlformats.org/officeDocument/2006/relationships/image" Target="../media/image87.png"/><Relationship Id="rId9" Type="http://schemas.openxmlformats.org/officeDocument/2006/relationships/image" Target="../media/image43.png"/><Relationship Id="rId5" Type="http://schemas.openxmlformats.org/officeDocument/2006/relationships/image" Target="../media/image48.png"/><Relationship Id="rId6" Type="http://schemas.openxmlformats.org/officeDocument/2006/relationships/image" Target="../media/image89.png"/><Relationship Id="rId7" Type="http://schemas.openxmlformats.org/officeDocument/2006/relationships/image" Target="../media/image85.png"/><Relationship Id="rId8" Type="http://schemas.openxmlformats.org/officeDocument/2006/relationships/image" Target="../media/image8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Relationship Id="rId4" Type="http://schemas.openxmlformats.org/officeDocument/2006/relationships/image" Target="../media/image91.png"/><Relationship Id="rId5" Type="http://schemas.openxmlformats.org/officeDocument/2006/relationships/image" Target="../media/image94.png"/><Relationship Id="rId6" Type="http://schemas.openxmlformats.org/officeDocument/2006/relationships/image" Target="../media/image85.png"/><Relationship Id="rId7" Type="http://schemas.openxmlformats.org/officeDocument/2006/relationships/image" Target="../media/image95.png"/><Relationship Id="rId8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1.png"/><Relationship Id="rId4" Type="http://schemas.openxmlformats.org/officeDocument/2006/relationships/image" Target="../media/image98.png"/><Relationship Id="rId5" Type="http://schemas.openxmlformats.org/officeDocument/2006/relationships/image" Target="../media/image9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7.png"/><Relationship Id="rId4" Type="http://schemas.openxmlformats.org/officeDocument/2006/relationships/image" Target="../media/image99.png"/><Relationship Id="rId9" Type="http://schemas.openxmlformats.org/officeDocument/2006/relationships/image" Target="../media/image95.png"/><Relationship Id="rId5" Type="http://schemas.openxmlformats.org/officeDocument/2006/relationships/image" Target="../media/image67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85.png"/><Relationship Id="rId10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9" Type="http://schemas.openxmlformats.org/officeDocument/2006/relationships/image" Target="../media/image95.png"/><Relationship Id="rId5" Type="http://schemas.openxmlformats.org/officeDocument/2006/relationships/image" Target="../media/image67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85.png"/><Relationship Id="rId10" Type="http://schemas.openxmlformats.org/officeDocument/2006/relationships/image" Target="../media/image10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9" Type="http://schemas.openxmlformats.org/officeDocument/2006/relationships/image" Target="../media/image95.png"/><Relationship Id="rId5" Type="http://schemas.openxmlformats.org/officeDocument/2006/relationships/image" Target="../media/image67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85.png"/><Relationship Id="rId10" Type="http://schemas.openxmlformats.org/officeDocument/2006/relationships/image" Target="../media/image10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5.png"/><Relationship Id="rId4" Type="http://schemas.openxmlformats.org/officeDocument/2006/relationships/image" Target="../media/image110.png"/><Relationship Id="rId5" Type="http://schemas.openxmlformats.org/officeDocument/2006/relationships/image" Target="../media/image107.png"/><Relationship Id="rId6" Type="http://schemas.openxmlformats.org/officeDocument/2006/relationships/image" Target="../media/image10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620000"/>
            <a:ext cx="5502000" cy="19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27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</a:t>
            </a:r>
            <a:r>
              <a:rPr lang="en-GB"/>
              <a:t>can state what a multiple is and can list multiples and common multiples of two or more numbers.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400200" y="1025075"/>
            <a:ext cx="7523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multiple is the </a:t>
            </a:r>
            <a:r>
              <a:rPr b="0" lang="en-GB"/>
              <a:t>product</a:t>
            </a:r>
            <a:r>
              <a:rPr b="0" lang="en-GB"/>
              <a:t> of a number and an integer.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A </a:t>
            </a:r>
            <a:r>
              <a:rPr lang="en-GB"/>
              <a:t>common multiple</a:t>
            </a:r>
            <a:r>
              <a:rPr b="0" lang="en-GB"/>
              <a:t> is a number that is a multiple of two or more numbers.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777" name="Google Shape;777;p6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</a:t>
            </a:r>
            <a:endParaRPr/>
          </a:p>
        </p:txBody>
      </p:sp>
      <p:sp>
        <p:nvSpPr>
          <p:cNvPr id="778" name="Google Shape;778;p69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common multiples to compare fractions</a:t>
            </a:r>
            <a:endParaRPr/>
          </a:p>
        </p:txBody>
      </p:sp>
      <p:sp>
        <p:nvSpPr>
          <p:cNvPr id="779" name="Google Shape;779;p6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pic>
        <p:nvPicPr>
          <p:cNvPr id="780" name="Google Shape;7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63" y="17483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/>
          <p:nvPr>
            <p:ph idx="1" type="body"/>
          </p:nvPr>
        </p:nvSpPr>
        <p:spPr>
          <a:xfrm>
            <a:off x="324000" y="759300"/>
            <a:ext cx="8016900" cy="4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lots of different ways to list a multiple of a number.</a:t>
            </a:r>
            <a:endParaRPr sz="1800"/>
          </a:p>
        </p:txBody>
      </p:sp>
      <p:sp>
        <p:nvSpPr>
          <p:cNvPr id="786" name="Google Shape;78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787" name="Google Shape;787;p70"/>
          <p:cNvSpPr txBox="1"/>
          <p:nvPr>
            <p:ph idx="1" type="body"/>
          </p:nvPr>
        </p:nvSpPr>
        <p:spPr>
          <a:xfrm>
            <a:off x="3670200" y="1236300"/>
            <a:ext cx="1324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sz="1800"/>
          </a:p>
        </p:txBody>
      </p:sp>
      <p:sp>
        <p:nvSpPr>
          <p:cNvPr id="788" name="Google Shape;788;p70"/>
          <p:cNvSpPr txBox="1"/>
          <p:nvPr/>
        </p:nvSpPr>
        <p:spPr>
          <a:xfrm>
            <a:off x="2493075" y="1473900"/>
            <a:ext cx="34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the first six multiples of 5</a:t>
            </a:r>
            <a:endParaRPr sz="1000"/>
          </a:p>
        </p:txBody>
      </p:sp>
      <p:grpSp>
        <p:nvGrpSpPr>
          <p:cNvPr id="789" name="Google Shape;789;p70"/>
          <p:cNvGrpSpPr/>
          <p:nvPr/>
        </p:nvGrpSpPr>
        <p:grpSpPr>
          <a:xfrm>
            <a:off x="3246900" y="4196825"/>
            <a:ext cx="1689000" cy="297600"/>
            <a:chOff x="686800" y="3876700"/>
            <a:chExt cx="1689000" cy="297600"/>
          </a:xfrm>
        </p:grpSpPr>
        <p:sp>
          <p:nvSpPr>
            <p:cNvPr id="790" name="Google Shape;790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70"/>
          <p:cNvGrpSpPr/>
          <p:nvPr/>
        </p:nvGrpSpPr>
        <p:grpSpPr>
          <a:xfrm>
            <a:off x="3246900" y="3802525"/>
            <a:ext cx="1689000" cy="297600"/>
            <a:chOff x="686800" y="3876700"/>
            <a:chExt cx="1689000" cy="297600"/>
          </a:xfrm>
        </p:grpSpPr>
        <p:sp>
          <p:nvSpPr>
            <p:cNvPr id="796" name="Google Shape;796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70"/>
          <p:cNvGrpSpPr/>
          <p:nvPr/>
        </p:nvGrpSpPr>
        <p:grpSpPr>
          <a:xfrm>
            <a:off x="3246900" y="3451475"/>
            <a:ext cx="1689000" cy="297600"/>
            <a:chOff x="686800" y="3876700"/>
            <a:chExt cx="1689000" cy="297600"/>
          </a:xfrm>
        </p:grpSpPr>
        <p:sp>
          <p:nvSpPr>
            <p:cNvPr id="802" name="Google Shape;802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7" name="Google Shape;807;p70"/>
          <p:cNvGrpSpPr/>
          <p:nvPr/>
        </p:nvGrpSpPr>
        <p:grpSpPr>
          <a:xfrm>
            <a:off x="3246900" y="3100425"/>
            <a:ext cx="1689000" cy="297600"/>
            <a:chOff x="686800" y="3876700"/>
            <a:chExt cx="1689000" cy="297600"/>
          </a:xfrm>
        </p:grpSpPr>
        <p:sp>
          <p:nvSpPr>
            <p:cNvPr id="808" name="Google Shape;808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70"/>
          <p:cNvGrpSpPr/>
          <p:nvPr/>
        </p:nvGrpSpPr>
        <p:grpSpPr>
          <a:xfrm>
            <a:off x="3246900" y="2727825"/>
            <a:ext cx="1689000" cy="297600"/>
            <a:chOff x="686800" y="3876700"/>
            <a:chExt cx="1689000" cy="297600"/>
          </a:xfrm>
        </p:grpSpPr>
        <p:sp>
          <p:nvSpPr>
            <p:cNvPr id="814" name="Google Shape;814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9" name="Google Shape;819;p70"/>
          <p:cNvGrpSpPr/>
          <p:nvPr/>
        </p:nvGrpSpPr>
        <p:grpSpPr>
          <a:xfrm>
            <a:off x="3246900" y="2355150"/>
            <a:ext cx="1689000" cy="297600"/>
            <a:chOff x="686800" y="3876700"/>
            <a:chExt cx="1689000" cy="297600"/>
          </a:xfrm>
        </p:grpSpPr>
        <p:sp>
          <p:nvSpPr>
            <p:cNvPr id="820" name="Google Shape;820;p70"/>
            <p:cNvSpPr/>
            <p:nvPr/>
          </p:nvSpPr>
          <p:spPr>
            <a:xfrm>
              <a:off x="6868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70"/>
            <p:cNvSpPr/>
            <p:nvPr/>
          </p:nvSpPr>
          <p:spPr>
            <a:xfrm>
              <a:off x="103082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70"/>
            <p:cNvSpPr/>
            <p:nvPr/>
          </p:nvSpPr>
          <p:spPr>
            <a:xfrm>
              <a:off x="137485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70"/>
            <p:cNvSpPr/>
            <p:nvPr/>
          </p:nvSpPr>
          <p:spPr>
            <a:xfrm>
              <a:off x="1718875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70"/>
            <p:cNvSpPr/>
            <p:nvPr/>
          </p:nvSpPr>
          <p:spPr>
            <a:xfrm>
              <a:off x="2062900" y="3876700"/>
              <a:ext cx="312900" cy="2976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5" name="Google Shape;825;p70"/>
          <p:cNvSpPr txBox="1"/>
          <p:nvPr/>
        </p:nvSpPr>
        <p:spPr>
          <a:xfrm>
            <a:off x="2683800" y="1773000"/>
            <a:ext cx="37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2845074" y="1773000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32983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 txBox="1"/>
          <p:nvPr/>
        </p:nvSpPr>
        <p:spPr>
          <a:xfrm>
            <a:off x="37555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/>
        </p:nvSpPr>
        <p:spPr>
          <a:xfrm>
            <a:off x="4208999" y="1779296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4706226" y="1779300"/>
            <a:ext cx="1324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and 30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552600" y="2652750"/>
            <a:ext cx="25068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an array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324000" y="759300"/>
            <a:ext cx="8016900" cy="4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are lots of different ways to list a multiple of a number.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7" name="Google Shape;83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838" name="Google Shape;838;p71"/>
          <p:cNvSpPr txBox="1"/>
          <p:nvPr>
            <p:ph idx="1" type="body"/>
          </p:nvPr>
        </p:nvSpPr>
        <p:spPr>
          <a:xfrm>
            <a:off x="3670200" y="1236300"/>
            <a:ext cx="1324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sz="1800"/>
          </a:p>
        </p:txBody>
      </p:sp>
      <p:sp>
        <p:nvSpPr>
          <p:cNvPr id="839" name="Google Shape;839;p71"/>
          <p:cNvSpPr txBox="1"/>
          <p:nvPr/>
        </p:nvSpPr>
        <p:spPr>
          <a:xfrm>
            <a:off x="2493075" y="1473900"/>
            <a:ext cx="34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the first six multiples of 5</a:t>
            </a:r>
            <a:endParaRPr sz="1000"/>
          </a:p>
        </p:txBody>
      </p:sp>
      <p:sp>
        <p:nvSpPr>
          <p:cNvPr id="840" name="Google Shape;840;p71"/>
          <p:cNvSpPr txBox="1"/>
          <p:nvPr/>
        </p:nvSpPr>
        <p:spPr>
          <a:xfrm>
            <a:off x="2683800" y="1773000"/>
            <a:ext cx="37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2845074" y="1773000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32983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37555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 txBox="1"/>
          <p:nvPr/>
        </p:nvSpPr>
        <p:spPr>
          <a:xfrm>
            <a:off x="4208999" y="1779296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>
            <a:off x="4706226" y="1779300"/>
            <a:ext cx="1324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and 30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 txBox="1"/>
          <p:nvPr/>
        </p:nvSpPr>
        <p:spPr>
          <a:xfrm>
            <a:off x="2848028" y="3291258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10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 txBox="1"/>
          <p:nvPr/>
        </p:nvSpPr>
        <p:spPr>
          <a:xfrm>
            <a:off x="2086028" y="3291258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3838957" y="3294038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15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4825070" y="3287338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20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 txBox="1"/>
          <p:nvPr/>
        </p:nvSpPr>
        <p:spPr>
          <a:xfrm>
            <a:off x="5841128" y="3288213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 txBox="1"/>
          <p:nvPr/>
        </p:nvSpPr>
        <p:spPr>
          <a:xfrm>
            <a:off x="6833440" y="3294037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30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2" name="Google Shape;852;p71"/>
          <p:cNvGrpSpPr/>
          <p:nvPr/>
        </p:nvGrpSpPr>
        <p:grpSpPr>
          <a:xfrm>
            <a:off x="2045328" y="2523600"/>
            <a:ext cx="1171824" cy="981919"/>
            <a:chOff x="2045328" y="2523600"/>
            <a:chExt cx="1171824" cy="981919"/>
          </a:xfrm>
        </p:grpSpPr>
        <p:sp>
          <p:nvSpPr>
            <p:cNvPr id="853" name="Google Shape;853;p71"/>
            <p:cNvSpPr txBox="1"/>
            <p:nvPr/>
          </p:nvSpPr>
          <p:spPr>
            <a:xfrm>
              <a:off x="2417825" y="2523600"/>
              <a:ext cx="556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4" name="Google Shape;854;p7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>
              <a:off x="2045328" y="2753517"/>
              <a:ext cx="1171824" cy="752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5" name="Google Shape;855;p71"/>
          <p:cNvGrpSpPr/>
          <p:nvPr/>
        </p:nvGrpSpPr>
        <p:grpSpPr>
          <a:xfrm>
            <a:off x="3064803" y="2573225"/>
            <a:ext cx="1171824" cy="974769"/>
            <a:chOff x="3064803" y="2573225"/>
            <a:chExt cx="1171824" cy="974769"/>
          </a:xfrm>
        </p:grpSpPr>
        <p:sp>
          <p:nvSpPr>
            <p:cNvPr id="856" name="Google Shape;856;p71"/>
            <p:cNvSpPr txBox="1"/>
            <p:nvPr/>
          </p:nvSpPr>
          <p:spPr>
            <a:xfrm>
              <a:off x="3429996" y="2573225"/>
              <a:ext cx="556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7" name="Google Shape;857;p7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>
              <a:off x="3064803" y="2795992"/>
              <a:ext cx="1171824" cy="752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8" name="Google Shape;858;p71"/>
          <p:cNvGrpSpPr/>
          <p:nvPr/>
        </p:nvGrpSpPr>
        <p:grpSpPr>
          <a:xfrm>
            <a:off x="4018808" y="2566525"/>
            <a:ext cx="1171824" cy="981469"/>
            <a:chOff x="4018808" y="2566525"/>
            <a:chExt cx="1171824" cy="981469"/>
          </a:xfrm>
        </p:grpSpPr>
        <p:sp>
          <p:nvSpPr>
            <p:cNvPr id="859" name="Google Shape;859;p71"/>
            <p:cNvSpPr txBox="1"/>
            <p:nvPr/>
          </p:nvSpPr>
          <p:spPr>
            <a:xfrm>
              <a:off x="4416108" y="2566525"/>
              <a:ext cx="556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0" name="Google Shape;860;p7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>
              <a:off x="4018808" y="2795992"/>
              <a:ext cx="1171824" cy="752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1" name="Google Shape;861;p71"/>
          <p:cNvGrpSpPr/>
          <p:nvPr/>
        </p:nvGrpSpPr>
        <p:grpSpPr>
          <a:xfrm>
            <a:off x="5032328" y="2567400"/>
            <a:ext cx="1171824" cy="980594"/>
            <a:chOff x="5032328" y="2567400"/>
            <a:chExt cx="1171824" cy="980594"/>
          </a:xfrm>
        </p:grpSpPr>
        <p:sp>
          <p:nvSpPr>
            <p:cNvPr id="862" name="Google Shape;862;p71"/>
            <p:cNvSpPr txBox="1"/>
            <p:nvPr/>
          </p:nvSpPr>
          <p:spPr>
            <a:xfrm>
              <a:off x="5432167" y="2567400"/>
              <a:ext cx="556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3" name="Google Shape;863;p7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>
              <a:off x="5032328" y="2795992"/>
              <a:ext cx="1171824" cy="752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4" name="Google Shape;864;p71"/>
          <p:cNvGrpSpPr/>
          <p:nvPr/>
        </p:nvGrpSpPr>
        <p:grpSpPr>
          <a:xfrm>
            <a:off x="6019741" y="2573225"/>
            <a:ext cx="1171824" cy="983198"/>
            <a:chOff x="6019741" y="2573225"/>
            <a:chExt cx="1171824" cy="983198"/>
          </a:xfrm>
        </p:grpSpPr>
        <p:sp>
          <p:nvSpPr>
            <p:cNvPr id="865" name="Google Shape;865;p71"/>
            <p:cNvSpPr txBox="1"/>
            <p:nvPr/>
          </p:nvSpPr>
          <p:spPr>
            <a:xfrm>
              <a:off x="6424479" y="2573225"/>
              <a:ext cx="5562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66" name="Google Shape;866;p71"/>
            <p:cNvPicPr preferRelativeResize="0"/>
            <p:nvPr/>
          </p:nvPicPr>
          <p:blipFill rotWithShape="1">
            <a:blip r:embed="rId3">
              <a:alphaModFix/>
            </a:blip>
            <a:srcRect b="84458" l="57225" r="18284" t="0"/>
            <a:stretch/>
          </p:blipFill>
          <p:spPr>
            <a:xfrm>
              <a:off x="6019741" y="2804421"/>
              <a:ext cx="1171824" cy="7520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7" name="Google Shape;867;p71"/>
          <p:cNvSpPr txBox="1"/>
          <p:nvPr/>
        </p:nvSpPr>
        <p:spPr>
          <a:xfrm>
            <a:off x="552600" y="2652750"/>
            <a:ext cx="1926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counting 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324000" y="759300"/>
            <a:ext cx="8016900" cy="4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There are lots of different ways to list a multiple of a number.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3" name="Google Shape;87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3670200" y="1236300"/>
            <a:ext cx="1324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sz="1800"/>
          </a:p>
        </p:txBody>
      </p:sp>
      <p:sp>
        <p:nvSpPr>
          <p:cNvPr id="875" name="Google Shape;875;p72"/>
          <p:cNvSpPr txBox="1"/>
          <p:nvPr/>
        </p:nvSpPr>
        <p:spPr>
          <a:xfrm>
            <a:off x="2493075" y="1473900"/>
            <a:ext cx="34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the first six multiples of 5</a:t>
            </a:r>
            <a:endParaRPr sz="1000"/>
          </a:p>
        </p:txBody>
      </p:sp>
      <p:sp>
        <p:nvSpPr>
          <p:cNvPr id="876" name="Google Shape;876;p72"/>
          <p:cNvSpPr txBox="1"/>
          <p:nvPr/>
        </p:nvSpPr>
        <p:spPr>
          <a:xfrm>
            <a:off x="2683800" y="1773000"/>
            <a:ext cx="37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 txBox="1"/>
          <p:nvPr/>
        </p:nvSpPr>
        <p:spPr>
          <a:xfrm>
            <a:off x="2845074" y="1773000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2"/>
          <p:cNvSpPr txBox="1"/>
          <p:nvPr/>
        </p:nvSpPr>
        <p:spPr>
          <a:xfrm>
            <a:off x="32983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 txBox="1"/>
          <p:nvPr/>
        </p:nvSpPr>
        <p:spPr>
          <a:xfrm>
            <a:off x="37555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 txBox="1"/>
          <p:nvPr/>
        </p:nvSpPr>
        <p:spPr>
          <a:xfrm>
            <a:off x="4208999" y="1779296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4706226" y="1779300"/>
            <a:ext cx="1324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and 30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2" name="Google Shape;882;p72"/>
          <p:cNvGraphicFramePr/>
          <p:nvPr/>
        </p:nvGraphicFramePr>
        <p:xfrm>
          <a:off x="3156825" y="242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{19B38EDC-99A1-46B2-8C7F-05C275221894}</a:tableStyleId>
              </a:tblPr>
              <a:tblGrid>
                <a:gridCol w="344925"/>
                <a:gridCol w="344925"/>
                <a:gridCol w="344925"/>
                <a:gridCol w="344925"/>
                <a:gridCol w="344925"/>
                <a:gridCol w="344925"/>
                <a:gridCol w="344925"/>
              </a:tblGrid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883" name="Google Shape;883;p72"/>
          <p:cNvSpPr/>
          <p:nvPr/>
        </p:nvSpPr>
        <p:spPr>
          <a:xfrm>
            <a:off x="4898338" y="27299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72"/>
          <p:cNvSpPr/>
          <p:nvPr/>
        </p:nvSpPr>
        <p:spPr>
          <a:xfrm>
            <a:off x="4898338" y="30146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72"/>
          <p:cNvSpPr/>
          <p:nvPr/>
        </p:nvSpPr>
        <p:spPr>
          <a:xfrm>
            <a:off x="4898338" y="32993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2"/>
          <p:cNvSpPr/>
          <p:nvPr/>
        </p:nvSpPr>
        <p:spPr>
          <a:xfrm>
            <a:off x="4898338" y="35840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2"/>
          <p:cNvSpPr/>
          <p:nvPr/>
        </p:nvSpPr>
        <p:spPr>
          <a:xfrm>
            <a:off x="4898338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2"/>
          <p:cNvSpPr/>
          <p:nvPr/>
        </p:nvSpPr>
        <p:spPr>
          <a:xfrm>
            <a:off x="4898338" y="41534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2"/>
          <p:cNvSpPr txBox="1"/>
          <p:nvPr/>
        </p:nvSpPr>
        <p:spPr>
          <a:xfrm>
            <a:off x="552600" y="2652750"/>
            <a:ext cx="1926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multiplication table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2"/>
          <p:cNvSpPr/>
          <p:nvPr/>
        </p:nvSpPr>
        <p:spPr>
          <a:xfrm>
            <a:off x="3524433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72"/>
          <p:cNvSpPr/>
          <p:nvPr/>
        </p:nvSpPr>
        <p:spPr>
          <a:xfrm>
            <a:off x="3855113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2"/>
          <p:cNvSpPr/>
          <p:nvPr/>
        </p:nvSpPr>
        <p:spPr>
          <a:xfrm>
            <a:off x="4211396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2"/>
          <p:cNvSpPr/>
          <p:nvPr/>
        </p:nvSpPr>
        <p:spPr>
          <a:xfrm>
            <a:off x="4554883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2"/>
          <p:cNvSpPr/>
          <p:nvPr/>
        </p:nvSpPr>
        <p:spPr>
          <a:xfrm>
            <a:off x="5241833" y="3868738"/>
            <a:ext cx="313800" cy="251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3"/>
          <p:cNvSpPr txBox="1"/>
          <p:nvPr>
            <p:ph idx="1" type="body"/>
          </p:nvPr>
        </p:nvSpPr>
        <p:spPr>
          <a:xfrm>
            <a:off x="324000" y="759300"/>
            <a:ext cx="8016900" cy="4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are lots of different ways to list a multiple of a number.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0" name="Google Shape;90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901" name="Google Shape;901;p73"/>
          <p:cNvSpPr txBox="1"/>
          <p:nvPr>
            <p:ph idx="1" type="body"/>
          </p:nvPr>
        </p:nvSpPr>
        <p:spPr>
          <a:xfrm>
            <a:off x="3670200" y="1236300"/>
            <a:ext cx="13245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sz="1800"/>
          </a:p>
        </p:txBody>
      </p:sp>
      <p:sp>
        <p:nvSpPr>
          <p:cNvPr id="902" name="Google Shape;902;p73"/>
          <p:cNvSpPr txBox="1"/>
          <p:nvPr/>
        </p:nvSpPr>
        <p:spPr>
          <a:xfrm>
            <a:off x="2493075" y="1473900"/>
            <a:ext cx="34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the first six multiples of 5</a:t>
            </a:r>
            <a:endParaRPr sz="1000"/>
          </a:p>
        </p:txBody>
      </p:sp>
      <p:sp>
        <p:nvSpPr>
          <p:cNvPr id="903" name="Google Shape;903;p73"/>
          <p:cNvSpPr txBox="1"/>
          <p:nvPr/>
        </p:nvSpPr>
        <p:spPr>
          <a:xfrm>
            <a:off x="2683800" y="1773000"/>
            <a:ext cx="37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3"/>
          <p:cNvSpPr txBox="1"/>
          <p:nvPr/>
        </p:nvSpPr>
        <p:spPr>
          <a:xfrm>
            <a:off x="2845074" y="1773000"/>
            <a:ext cx="631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3"/>
          <p:cNvSpPr txBox="1"/>
          <p:nvPr/>
        </p:nvSpPr>
        <p:spPr>
          <a:xfrm>
            <a:off x="32983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15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3"/>
          <p:cNvSpPr txBox="1"/>
          <p:nvPr/>
        </p:nvSpPr>
        <p:spPr>
          <a:xfrm>
            <a:off x="3755549" y="1773000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3"/>
          <p:cNvSpPr txBox="1"/>
          <p:nvPr/>
        </p:nvSpPr>
        <p:spPr>
          <a:xfrm>
            <a:off x="4208999" y="1779296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, 25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3"/>
          <p:cNvSpPr txBox="1"/>
          <p:nvPr/>
        </p:nvSpPr>
        <p:spPr>
          <a:xfrm>
            <a:off x="4706226" y="1779300"/>
            <a:ext cx="1324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and 30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 txBox="1"/>
          <p:nvPr/>
        </p:nvSpPr>
        <p:spPr>
          <a:xfrm>
            <a:off x="3298350" y="2377200"/>
            <a:ext cx="14079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1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 txBox="1"/>
          <p:nvPr/>
        </p:nvSpPr>
        <p:spPr>
          <a:xfrm>
            <a:off x="4436661" y="2376867"/>
            <a:ext cx="37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 txBox="1"/>
          <p:nvPr/>
        </p:nvSpPr>
        <p:spPr>
          <a:xfrm>
            <a:off x="3298350" y="2689800"/>
            <a:ext cx="15138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2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3"/>
          <p:cNvSpPr txBox="1"/>
          <p:nvPr/>
        </p:nvSpPr>
        <p:spPr>
          <a:xfrm>
            <a:off x="4436651" y="2689475"/>
            <a:ext cx="671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10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 txBox="1"/>
          <p:nvPr/>
        </p:nvSpPr>
        <p:spPr>
          <a:xfrm>
            <a:off x="3298350" y="2994600"/>
            <a:ext cx="1472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3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 txBox="1"/>
          <p:nvPr/>
        </p:nvSpPr>
        <p:spPr>
          <a:xfrm>
            <a:off x="4436646" y="2994275"/>
            <a:ext cx="5028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3"/>
          <p:cNvSpPr txBox="1"/>
          <p:nvPr/>
        </p:nvSpPr>
        <p:spPr>
          <a:xfrm>
            <a:off x="3298351" y="3299400"/>
            <a:ext cx="15258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4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3"/>
          <p:cNvSpPr txBox="1"/>
          <p:nvPr/>
        </p:nvSpPr>
        <p:spPr>
          <a:xfrm>
            <a:off x="4436645" y="3299075"/>
            <a:ext cx="5580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20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3"/>
          <p:cNvSpPr txBox="1"/>
          <p:nvPr/>
        </p:nvSpPr>
        <p:spPr>
          <a:xfrm>
            <a:off x="3298351" y="3604200"/>
            <a:ext cx="1582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5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3"/>
          <p:cNvSpPr txBox="1"/>
          <p:nvPr/>
        </p:nvSpPr>
        <p:spPr>
          <a:xfrm>
            <a:off x="4436644" y="3603875"/>
            <a:ext cx="5580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3"/>
          <p:cNvSpPr txBox="1"/>
          <p:nvPr/>
        </p:nvSpPr>
        <p:spPr>
          <a:xfrm>
            <a:off x="3298350" y="3909000"/>
            <a:ext cx="14727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5 ✕ 6 =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3"/>
          <p:cNvSpPr txBox="1"/>
          <p:nvPr/>
        </p:nvSpPr>
        <p:spPr>
          <a:xfrm>
            <a:off x="4436644" y="3908675"/>
            <a:ext cx="5580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30</a:t>
            </a:r>
            <a:endParaRPr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3"/>
          <p:cNvSpPr txBox="1"/>
          <p:nvPr/>
        </p:nvSpPr>
        <p:spPr>
          <a:xfrm>
            <a:off x="552600" y="2652750"/>
            <a:ext cx="17148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products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4"/>
          <p:cNvSpPr txBox="1"/>
          <p:nvPr>
            <p:ph type="title"/>
          </p:nvPr>
        </p:nvSpPr>
        <p:spPr>
          <a:xfrm>
            <a:off x="324000" y="810006"/>
            <a:ext cx="8179200" cy="7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Which of the following set of numbers are the first six multiples of 8? Explain what the other sets of numbers represent.</a:t>
            </a:r>
            <a:endParaRPr sz="1900"/>
          </a:p>
        </p:txBody>
      </p:sp>
      <p:sp>
        <p:nvSpPr>
          <p:cNvPr id="927" name="Google Shape;927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928" name="Google Shape;928;p74"/>
          <p:cNvSpPr txBox="1"/>
          <p:nvPr>
            <p:ph idx="1" type="subTitle"/>
          </p:nvPr>
        </p:nvSpPr>
        <p:spPr>
          <a:xfrm>
            <a:off x="1034425" y="1685375"/>
            <a:ext cx="2750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6, 12, 18, 24, 30, 36</a:t>
            </a:r>
            <a:endParaRPr/>
          </a:p>
        </p:txBody>
      </p:sp>
      <p:sp>
        <p:nvSpPr>
          <p:cNvPr id="929" name="Google Shape;929;p74"/>
          <p:cNvSpPr txBox="1"/>
          <p:nvPr>
            <p:ph idx="3" type="subTitle"/>
          </p:nvPr>
        </p:nvSpPr>
        <p:spPr>
          <a:xfrm>
            <a:off x="1034425" y="2489450"/>
            <a:ext cx="1578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1, 8, 2, 4</a:t>
            </a:r>
            <a:endParaRPr/>
          </a:p>
        </p:txBody>
      </p:sp>
      <p:sp>
        <p:nvSpPr>
          <p:cNvPr id="930" name="Google Shape;930;p74"/>
          <p:cNvSpPr txBox="1"/>
          <p:nvPr>
            <p:ph idx="4" type="subTitle"/>
          </p:nvPr>
        </p:nvSpPr>
        <p:spPr>
          <a:xfrm>
            <a:off x="1034425" y="3309775"/>
            <a:ext cx="47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8, 80, 800, 8000, 80 000, 800 000</a:t>
            </a:r>
            <a:endParaRPr/>
          </a:p>
        </p:txBody>
      </p:sp>
      <p:sp>
        <p:nvSpPr>
          <p:cNvPr id="931" name="Google Shape;931;p7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8, 16, 24, 32, 40, 48</a:t>
            </a:r>
            <a:endParaRPr/>
          </a:p>
        </p:txBody>
      </p:sp>
      <p:sp>
        <p:nvSpPr>
          <p:cNvPr id="932" name="Google Shape;932;p74"/>
          <p:cNvSpPr txBox="1"/>
          <p:nvPr>
            <p:ph type="title"/>
          </p:nvPr>
        </p:nvSpPr>
        <p:spPr>
          <a:xfrm>
            <a:off x="5837425" y="1685375"/>
            <a:ext cx="2507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These are the first six multiples of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3" name="Google Shape;93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833" y="40550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4"/>
          <p:cNvSpPr txBox="1"/>
          <p:nvPr>
            <p:ph type="title"/>
          </p:nvPr>
        </p:nvSpPr>
        <p:spPr>
          <a:xfrm>
            <a:off x="5798100" y="2627679"/>
            <a:ext cx="3246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These are factors of 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4"/>
          <p:cNvSpPr txBox="1"/>
          <p:nvPr>
            <p:ph type="title"/>
          </p:nvPr>
        </p:nvSpPr>
        <p:spPr>
          <a:xfrm>
            <a:off x="5798100" y="3353725"/>
            <a:ext cx="3322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These are multiples of 8, but not the first 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5"/>
          <p:cNvSpPr txBox="1"/>
          <p:nvPr>
            <p:ph idx="1" type="body"/>
          </p:nvPr>
        </p:nvSpPr>
        <p:spPr>
          <a:xfrm>
            <a:off x="560300" y="4134900"/>
            <a:ext cx="9573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</a:t>
            </a:r>
            <a:endParaRPr/>
          </a:p>
        </p:txBody>
      </p:sp>
      <p:sp>
        <p:nvSpPr>
          <p:cNvPr id="941" name="Google Shape;94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multiples</a:t>
            </a:r>
            <a:endParaRPr/>
          </a:p>
        </p:txBody>
      </p:sp>
      <p:pic>
        <p:nvPicPr>
          <p:cNvPr id="942" name="Google Shape;94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23" y="1039300"/>
            <a:ext cx="1083675" cy="2959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5"/>
          <p:cNvSpPr txBox="1"/>
          <p:nvPr>
            <p:ph idx="1" type="body"/>
          </p:nvPr>
        </p:nvSpPr>
        <p:spPr>
          <a:xfrm>
            <a:off x="1681600" y="1773000"/>
            <a:ext cx="61359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 wrote a list </a:t>
            </a:r>
            <a:r>
              <a:rPr lang="en-GB"/>
              <a:t>of</a:t>
            </a:r>
            <a:r>
              <a:rPr lang="en-GB"/>
              <a:t> consecutive multiples</a:t>
            </a:r>
            <a:endParaRPr/>
          </a:p>
        </p:txBody>
      </p:sp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1822200" y="2362500"/>
            <a:ext cx="61359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work out the missing multiples?</a:t>
            </a:r>
            <a:endParaRPr/>
          </a:p>
        </p:txBody>
      </p:sp>
      <p:sp>
        <p:nvSpPr>
          <p:cNvPr id="945" name="Google Shape;945;p75"/>
          <p:cNvSpPr/>
          <p:nvPr/>
        </p:nvSpPr>
        <p:spPr>
          <a:xfrm>
            <a:off x="2326450" y="3221750"/>
            <a:ext cx="3641400" cy="78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3650" y="3274063"/>
            <a:ext cx="3399951" cy="6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5"/>
          <p:cNvSpPr txBox="1"/>
          <p:nvPr/>
        </p:nvSpPr>
        <p:spPr>
          <a:xfrm>
            <a:off x="3293400" y="3344725"/>
            <a:ext cx="845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262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5122750" y="3309400"/>
            <a:ext cx="845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524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idx="1" type="body"/>
          </p:nvPr>
        </p:nvSpPr>
        <p:spPr>
          <a:xfrm>
            <a:off x="372500" y="786050"/>
            <a:ext cx="5323500" cy="20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first five multiples of: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8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</a:t>
            </a:r>
            <a:r>
              <a:rPr lang="en-GB"/>
              <a:t>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54" name="Google Shape;95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050" y="2924950"/>
            <a:ext cx="2814952" cy="11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956" name="Google Shape;956;p76"/>
          <p:cNvSpPr txBox="1"/>
          <p:nvPr>
            <p:ph idx="1" type="body"/>
          </p:nvPr>
        </p:nvSpPr>
        <p:spPr>
          <a:xfrm>
            <a:off x="324000" y="2806800"/>
            <a:ext cx="21348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Alex says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6"/>
          <p:cNvSpPr txBox="1"/>
          <p:nvPr>
            <p:ph idx="1" type="body"/>
          </p:nvPr>
        </p:nvSpPr>
        <p:spPr>
          <a:xfrm>
            <a:off x="2172425" y="3147425"/>
            <a:ext cx="24882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30 is a multiple of 4 </a:t>
            </a:r>
            <a:r>
              <a:rPr lang="en-GB" sz="1800"/>
              <a:t>because</a:t>
            </a:r>
            <a:r>
              <a:rPr lang="en-GB" sz="1800"/>
              <a:t> 4 ✕ 7.5 = 30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58" name="Google Shape;95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41876" y="3331975"/>
            <a:ext cx="845450" cy="8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6"/>
          <p:cNvSpPr txBox="1"/>
          <p:nvPr>
            <p:ph idx="1" type="body"/>
          </p:nvPr>
        </p:nvSpPr>
        <p:spPr>
          <a:xfrm>
            <a:off x="5106625" y="2924950"/>
            <a:ext cx="29769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Alex correct? Explain your answer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36083">
            <a:off x="5033267" y="2774653"/>
            <a:ext cx="537840" cy="38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800" y="2759800"/>
            <a:ext cx="579900" cy="409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097" y="2067275"/>
            <a:ext cx="604785" cy="4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1322" y="2067275"/>
            <a:ext cx="604785" cy="4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7"/>
          <p:cNvSpPr txBox="1"/>
          <p:nvPr>
            <p:ph idx="1" type="body"/>
          </p:nvPr>
        </p:nvSpPr>
        <p:spPr>
          <a:xfrm>
            <a:off x="344775" y="690950"/>
            <a:ext cx="7958400" cy="12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) Jacob started listing the first multiples of some numbers. He then </a:t>
            </a:r>
            <a:r>
              <a:rPr lang="en-GB" sz="1900"/>
              <a:t>spilled</a:t>
            </a:r>
            <a:r>
              <a:rPr lang="en-GB" sz="1900"/>
              <a:t> ink all over his work.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Find the multiples Jacob was working out and the missing numbers.</a:t>
            </a:r>
            <a:endParaRPr sz="1900"/>
          </a:p>
        </p:txBody>
      </p:sp>
      <p:sp>
        <p:nvSpPr>
          <p:cNvPr id="969" name="Google Shape;969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pic>
        <p:nvPicPr>
          <p:cNvPr id="970" name="Google Shape;97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87140">
            <a:off x="6708109" y="2745896"/>
            <a:ext cx="619226" cy="43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3213" y="3424375"/>
            <a:ext cx="606325" cy="37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9513" y="3424375"/>
            <a:ext cx="606325" cy="372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56834">
            <a:off x="6013038" y="3424375"/>
            <a:ext cx="606325" cy="372508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7"/>
          <p:cNvSpPr txBox="1"/>
          <p:nvPr>
            <p:ph idx="1" type="body"/>
          </p:nvPr>
        </p:nvSpPr>
        <p:spPr>
          <a:xfrm>
            <a:off x="3753000" y="2109425"/>
            <a:ext cx="4590300" cy="17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111,      ,      , 444, 555,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, 46,      , 92, 115,       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324,       ,       ,       , 1620,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,          ,          ,         , 4225,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6588" y="4112925"/>
            <a:ext cx="606325" cy="4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69672">
            <a:off x="4810633" y="4035980"/>
            <a:ext cx="606335" cy="463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814071">
            <a:off x="5640558" y="4028754"/>
            <a:ext cx="606335" cy="463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8650" y="4008438"/>
            <a:ext cx="579900" cy="518396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7"/>
          <p:cNvSpPr txBox="1"/>
          <p:nvPr/>
        </p:nvSpPr>
        <p:spPr>
          <a:xfrm>
            <a:off x="323375" y="2007933"/>
            <a:ext cx="30615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Multiples of 111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7"/>
          <p:cNvSpPr txBox="1"/>
          <p:nvPr/>
        </p:nvSpPr>
        <p:spPr>
          <a:xfrm>
            <a:off x="286009" y="2672579"/>
            <a:ext cx="3936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Multiples of      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7"/>
          <p:cNvSpPr txBox="1"/>
          <p:nvPr/>
        </p:nvSpPr>
        <p:spPr>
          <a:xfrm>
            <a:off x="297047" y="3362771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   Multiples of 324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2" name="Google Shape;98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6288" y="2721838"/>
            <a:ext cx="606325" cy="4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87139">
            <a:off x="2478218" y="4110291"/>
            <a:ext cx="549713" cy="388519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77"/>
          <p:cNvSpPr txBox="1"/>
          <p:nvPr/>
        </p:nvSpPr>
        <p:spPr>
          <a:xfrm>
            <a:off x="297047" y="4052384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   Multiples of     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8"/>
          <p:cNvSpPr txBox="1"/>
          <p:nvPr>
            <p:ph idx="1" type="body"/>
          </p:nvPr>
        </p:nvSpPr>
        <p:spPr>
          <a:xfrm>
            <a:off x="324000" y="759300"/>
            <a:ext cx="5323500" cy="20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List the first five multiples of: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8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991" name="Google Shape;991;p78"/>
          <p:cNvSpPr txBox="1"/>
          <p:nvPr/>
        </p:nvSpPr>
        <p:spPr>
          <a:xfrm>
            <a:off x="1304100" y="1171650"/>
            <a:ext cx="3363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2" name="Google Shape;99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050" y="2924950"/>
            <a:ext cx="2814952" cy="11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8"/>
          <p:cNvSpPr txBox="1"/>
          <p:nvPr>
            <p:ph idx="1" type="body"/>
          </p:nvPr>
        </p:nvSpPr>
        <p:spPr>
          <a:xfrm>
            <a:off x="276025" y="2806800"/>
            <a:ext cx="21348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Alex says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8"/>
          <p:cNvSpPr txBox="1"/>
          <p:nvPr>
            <p:ph idx="1" type="body"/>
          </p:nvPr>
        </p:nvSpPr>
        <p:spPr>
          <a:xfrm>
            <a:off x="2172425" y="3147425"/>
            <a:ext cx="24882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30 is a multiple of 4 because 4 ✕ 7.5 = 30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95" name="Google Shape;99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41876" y="3331975"/>
            <a:ext cx="845450" cy="8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78"/>
          <p:cNvSpPr txBox="1"/>
          <p:nvPr>
            <p:ph idx="1" type="body"/>
          </p:nvPr>
        </p:nvSpPr>
        <p:spPr>
          <a:xfrm>
            <a:off x="5106625" y="2924950"/>
            <a:ext cx="29769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Alex correct? Explain your answer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8"/>
          <p:cNvSpPr txBox="1"/>
          <p:nvPr>
            <p:ph idx="1" type="body"/>
          </p:nvPr>
        </p:nvSpPr>
        <p:spPr>
          <a:xfrm>
            <a:off x="1608900" y="1137933"/>
            <a:ext cx="248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8, 16, 24, 32, 40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78"/>
          <p:cNvSpPr txBox="1"/>
          <p:nvPr>
            <p:ph idx="1" type="body"/>
          </p:nvPr>
        </p:nvSpPr>
        <p:spPr>
          <a:xfrm>
            <a:off x="1600471" y="1521729"/>
            <a:ext cx="248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10, 20, 30, 40, 50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8"/>
          <p:cNvSpPr txBox="1"/>
          <p:nvPr>
            <p:ph idx="1" type="body"/>
          </p:nvPr>
        </p:nvSpPr>
        <p:spPr>
          <a:xfrm>
            <a:off x="1592042" y="1905400"/>
            <a:ext cx="248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12, 24, 36, 48, 60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8"/>
          <p:cNvSpPr txBox="1"/>
          <p:nvPr>
            <p:ph idx="1" type="body"/>
          </p:nvPr>
        </p:nvSpPr>
        <p:spPr>
          <a:xfrm>
            <a:off x="1568800" y="2289075"/>
            <a:ext cx="248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15, 30, 45, 60, 75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78"/>
          <p:cNvSpPr txBox="1"/>
          <p:nvPr>
            <p:ph idx="1" type="body"/>
          </p:nvPr>
        </p:nvSpPr>
        <p:spPr>
          <a:xfrm>
            <a:off x="5106625" y="3780000"/>
            <a:ext cx="322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4 has not been multiplied by an integer.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9"/>
          <p:cNvSpPr txBox="1"/>
          <p:nvPr>
            <p:ph idx="1" type="body"/>
          </p:nvPr>
        </p:nvSpPr>
        <p:spPr>
          <a:xfrm>
            <a:off x="3753000" y="2109425"/>
            <a:ext cx="4590300" cy="17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111,        ,        , 444, 555,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, 46,       , 92, 115,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324,        ,        ,        , 1620,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 ,          ,          ,         , 4225,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9"/>
          <p:cNvSpPr txBox="1"/>
          <p:nvPr/>
        </p:nvSpPr>
        <p:spPr>
          <a:xfrm>
            <a:off x="4713896" y="2020954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222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79"/>
          <p:cNvSpPr txBox="1"/>
          <p:nvPr/>
        </p:nvSpPr>
        <p:spPr>
          <a:xfrm>
            <a:off x="5395046" y="2033233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333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9" name="Google Shape;1009;p79"/>
          <p:cNvSpPr txBox="1"/>
          <p:nvPr/>
        </p:nvSpPr>
        <p:spPr>
          <a:xfrm>
            <a:off x="4079821" y="2700004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79"/>
          <p:cNvSpPr txBox="1"/>
          <p:nvPr/>
        </p:nvSpPr>
        <p:spPr>
          <a:xfrm>
            <a:off x="5084799" y="2700000"/>
            <a:ext cx="58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69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79"/>
          <p:cNvSpPr txBox="1"/>
          <p:nvPr/>
        </p:nvSpPr>
        <p:spPr>
          <a:xfrm>
            <a:off x="4713896" y="3379054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648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79"/>
          <p:cNvSpPr txBox="1"/>
          <p:nvPr/>
        </p:nvSpPr>
        <p:spPr>
          <a:xfrm>
            <a:off x="5430471" y="3366783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972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79"/>
          <p:cNvSpPr txBox="1"/>
          <p:nvPr/>
        </p:nvSpPr>
        <p:spPr>
          <a:xfrm>
            <a:off x="6077871" y="336677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1296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79"/>
          <p:cNvSpPr txBox="1"/>
          <p:nvPr/>
        </p:nvSpPr>
        <p:spPr>
          <a:xfrm>
            <a:off x="4079821" y="4058104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845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79"/>
          <p:cNvSpPr txBox="1"/>
          <p:nvPr/>
        </p:nvSpPr>
        <p:spPr>
          <a:xfrm>
            <a:off x="4777596" y="4058100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1690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79"/>
          <p:cNvSpPr txBox="1"/>
          <p:nvPr/>
        </p:nvSpPr>
        <p:spPr>
          <a:xfrm>
            <a:off x="5615988" y="4074046"/>
            <a:ext cx="86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2535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79"/>
          <p:cNvSpPr txBox="1"/>
          <p:nvPr/>
        </p:nvSpPr>
        <p:spPr>
          <a:xfrm>
            <a:off x="6399000" y="4074062"/>
            <a:ext cx="86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3380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79"/>
          <p:cNvSpPr txBox="1"/>
          <p:nvPr>
            <p:ph idx="1" type="body"/>
          </p:nvPr>
        </p:nvSpPr>
        <p:spPr>
          <a:xfrm>
            <a:off x="344775" y="690950"/>
            <a:ext cx="7958400" cy="12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Jacob started listing the first multiples of some numbers. He then spilled ink all over his work.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Find the multiples Jacob was working out and the missing numbers.</a:t>
            </a:r>
            <a:endParaRPr sz="1900"/>
          </a:p>
        </p:txBody>
      </p:sp>
      <p:sp>
        <p:nvSpPr>
          <p:cNvPr id="1019" name="Google Shape;1019;p79"/>
          <p:cNvSpPr txBox="1"/>
          <p:nvPr/>
        </p:nvSpPr>
        <p:spPr>
          <a:xfrm>
            <a:off x="323375" y="2007933"/>
            <a:ext cx="30615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Multiples of 111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9"/>
          <p:cNvSpPr txBox="1"/>
          <p:nvPr/>
        </p:nvSpPr>
        <p:spPr>
          <a:xfrm>
            <a:off x="286009" y="2672579"/>
            <a:ext cx="3936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b)   Multiples of      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9"/>
          <p:cNvSpPr txBox="1"/>
          <p:nvPr/>
        </p:nvSpPr>
        <p:spPr>
          <a:xfrm>
            <a:off x="297047" y="3362771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c)   Multiples of 324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9"/>
          <p:cNvSpPr txBox="1"/>
          <p:nvPr/>
        </p:nvSpPr>
        <p:spPr>
          <a:xfrm>
            <a:off x="297047" y="4052384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d)   Multiples of        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9"/>
          <p:cNvSpPr txBox="1"/>
          <p:nvPr/>
        </p:nvSpPr>
        <p:spPr>
          <a:xfrm>
            <a:off x="2507846" y="2685354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79"/>
          <p:cNvSpPr txBox="1"/>
          <p:nvPr/>
        </p:nvSpPr>
        <p:spPr>
          <a:xfrm>
            <a:off x="2415796" y="4045750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845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25" name="Google Shape;102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663" y="20209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813" y="20209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63" y="27063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413" y="27063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513" y="2693871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4663" y="3414484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263" y="3375996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638" y="3303284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838" y="40740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913" y="4074059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950" y="4058134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563" y="4058134"/>
            <a:ext cx="637175" cy="51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563" y="4074059"/>
            <a:ext cx="637175" cy="51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1044" name="Google Shape;1044;p8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</a:t>
            </a:r>
            <a:endParaRPr/>
          </a:p>
        </p:txBody>
      </p:sp>
      <p:sp>
        <p:nvSpPr>
          <p:cNvPr id="1045" name="Google Shape;1045;p8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common multiples to compare fractions</a:t>
            </a:r>
            <a:endParaRPr/>
          </a:p>
        </p:txBody>
      </p:sp>
      <p:sp>
        <p:nvSpPr>
          <p:cNvPr id="1046" name="Google Shape;1046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pic>
        <p:nvPicPr>
          <p:cNvPr id="1047" name="Google Shape;104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84" y="277485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</a:t>
            </a:r>
            <a:r>
              <a:rPr lang="en-GB" sz="1800"/>
              <a:t>ommon multiples</a:t>
            </a:r>
            <a:endParaRPr/>
          </a:p>
        </p:txBody>
      </p:sp>
      <p:sp>
        <p:nvSpPr>
          <p:cNvPr id="1053" name="Google Shape;1053;p81"/>
          <p:cNvSpPr txBox="1"/>
          <p:nvPr>
            <p:ph idx="4294967295" type="subTitle"/>
          </p:nvPr>
        </p:nvSpPr>
        <p:spPr>
          <a:xfrm>
            <a:off x="383325" y="809999"/>
            <a:ext cx="7215900" cy="8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b="1" lang="en-GB"/>
              <a:t>common multiple</a:t>
            </a:r>
            <a:r>
              <a:rPr b="0" lang="en-GB"/>
              <a:t> is number that is a multiple of two or more numbers.</a:t>
            </a:r>
            <a:endParaRPr b="0"/>
          </a:p>
        </p:txBody>
      </p:sp>
      <p:sp>
        <p:nvSpPr>
          <p:cNvPr id="1054" name="Google Shape;1054;p81"/>
          <p:cNvSpPr txBox="1"/>
          <p:nvPr>
            <p:ph idx="4294967295" type="subTitle"/>
          </p:nvPr>
        </p:nvSpPr>
        <p:spPr>
          <a:xfrm>
            <a:off x="417700" y="1899300"/>
            <a:ext cx="14706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Example</a:t>
            </a:r>
            <a:endParaRPr b="0"/>
          </a:p>
        </p:txBody>
      </p:sp>
      <p:sp>
        <p:nvSpPr>
          <p:cNvPr id="1055" name="Google Shape;1055;p81"/>
          <p:cNvSpPr txBox="1"/>
          <p:nvPr>
            <p:ph idx="4294967295" type="subTitle"/>
          </p:nvPr>
        </p:nvSpPr>
        <p:spPr>
          <a:xfrm>
            <a:off x="417700" y="2387700"/>
            <a:ext cx="46146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List the first ten multiples of 3 :</a:t>
            </a:r>
            <a:endParaRPr b="0"/>
          </a:p>
        </p:txBody>
      </p:sp>
      <p:sp>
        <p:nvSpPr>
          <p:cNvPr id="1056" name="Google Shape;1056;p81"/>
          <p:cNvSpPr txBox="1"/>
          <p:nvPr>
            <p:ph idx="4294967295" type="subTitle"/>
          </p:nvPr>
        </p:nvSpPr>
        <p:spPr>
          <a:xfrm>
            <a:off x="417700" y="2876100"/>
            <a:ext cx="46146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List the first ten multiples of 4 :</a:t>
            </a:r>
            <a:endParaRPr b="0"/>
          </a:p>
        </p:txBody>
      </p:sp>
      <p:sp>
        <p:nvSpPr>
          <p:cNvPr id="1057" name="Google Shape;1057;p81"/>
          <p:cNvSpPr txBox="1"/>
          <p:nvPr>
            <p:ph idx="4294967295" type="subTitle"/>
          </p:nvPr>
        </p:nvSpPr>
        <p:spPr>
          <a:xfrm>
            <a:off x="4722850" y="2404558"/>
            <a:ext cx="46146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3, 6, 9, 12, 15, 18, 21, 24, 27, 30</a:t>
            </a:r>
            <a:endParaRPr b="0" sz="2100"/>
          </a:p>
        </p:txBody>
      </p:sp>
      <p:sp>
        <p:nvSpPr>
          <p:cNvPr id="1058" name="Google Shape;1058;p81"/>
          <p:cNvSpPr txBox="1"/>
          <p:nvPr>
            <p:ph idx="4294967295" type="subTitle"/>
          </p:nvPr>
        </p:nvSpPr>
        <p:spPr>
          <a:xfrm>
            <a:off x="4722850" y="2890654"/>
            <a:ext cx="46146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4</a:t>
            </a:r>
            <a:r>
              <a:rPr lang="en-GB" sz="2100"/>
              <a:t>, 8, 12, 16, 20, 24, 28, 32, 38, 40</a:t>
            </a:r>
            <a:endParaRPr b="0" sz="2100"/>
          </a:p>
        </p:txBody>
      </p:sp>
      <p:sp>
        <p:nvSpPr>
          <p:cNvPr id="1059" name="Google Shape;1059;p81"/>
          <p:cNvSpPr txBox="1"/>
          <p:nvPr>
            <p:ph idx="4294967295" type="subTitle"/>
          </p:nvPr>
        </p:nvSpPr>
        <p:spPr>
          <a:xfrm>
            <a:off x="383325" y="3500050"/>
            <a:ext cx="8315700" cy="4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the </a:t>
            </a:r>
            <a:r>
              <a:rPr b="1" lang="en-GB"/>
              <a:t>common multiples</a:t>
            </a:r>
            <a:r>
              <a:rPr lang="en-GB"/>
              <a:t>?</a:t>
            </a:r>
            <a:endParaRPr/>
          </a:p>
        </p:txBody>
      </p:sp>
      <p:grpSp>
        <p:nvGrpSpPr>
          <p:cNvPr id="1060" name="Google Shape;1060;p81"/>
          <p:cNvGrpSpPr/>
          <p:nvPr/>
        </p:nvGrpSpPr>
        <p:grpSpPr>
          <a:xfrm>
            <a:off x="5285804" y="2368600"/>
            <a:ext cx="639850" cy="871400"/>
            <a:chOff x="5285804" y="2368600"/>
            <a:chExt cx="639850" cy="871400"/>
          </a:xfrm>
        </p:grpSpPr>
        <p:sp>
          <p:nvSpPr>
            <p:cNvPr id="1061" name="Google Shape;1061;p81"/>
            <p:cNvSpPr/>
            <p:nvPr/>
          </p:nvSpPr>
          <p:spPr>
            <a:xfrm>
              <a:off x="5554854" y="23686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1"/>
            <p:cNvSpPr/>
            <p:nvPr/>
          </p:nvSpPr>
          <p:spPr>
            <a:xfrm>
              <a:off x="5285804" y="28719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3" name="Google Shape;1063;p81"/>
          <p:cNvSpPr/>
          <p:nvPr/>
        </p:nvSpPr>
        <p:spPr>
          <a:xfrm>
            <a:off x="7282233" y="2368600"/>
            <a:ext cx="370800" cy="368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81"/>
          <p:cNvSpPr/>
          <p:nvPr/>
        </p:nvSpPr>
        <p:spPr>
          <a:xfrm>
            <a:off x="6617008" y="2871900"/>
            <a:ext cx="370800" cy="368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81"/>
          <p:cNvSpPr txBox="1"/>
          <p:nvPr>
            <p:ph idx="4294967295" type="subTitle"/>
          </p:nvPr>
        </p:nvSpPr>
        <p:spPr>
          <a:xfrm>
            <a:off x="1989700" y="3970750"/>
            <a:ext cx="1470600" cy="4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 and 24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2950" y="1080000"/>
            <a:ext cx="2543050" cy="12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2"/>
          <p:cNvSpPr txBox="1"/>
          <p:nvPr>
            <p:ph idx="1" type="body"/>
          </p:nvPr>
        </p:nvSpPr>
        <p:spPr>
          <a:xfrm>
            <a:off x="324000" y="831600"/>
            <a:ext cx="45000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lists the multiples of 8 and 7.</a:t>
            </a:r>
            <a:endParaRPr/>
          </a:p>
        </p:txBody>
      </p:sp>
      <p:pic>
        <p:nvPicPr>
          <p:cNvPr id="1072" name="Google Shape;107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312" y="168746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82"/>
          <p:cNvSpPr txBox="1"/>
          <p:nvPr>
            <p:ph idx="1" type="body"/>
          </p:nvPr>
        </p:nvSpPr>
        <p:spPr>
          <a:xfrm>
            <a:off x="366825" y="1620000"/>
            <a:ext cx="45000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8 : 8, 16, 24, 32, 40, 48, … </a:t>
            </a:r>
            <a:endParaRPr sz="1800"/>
          </a:p>
        </p:txBody>
      </p:sp>
      <p:sp>
        <p:nvSpPr>
          <p:cNvPr id="1074" name="Google Shape;1074;p82"/>
          <p:cNvSpPr txBox="1"/>
          <p:nvPr>
            <p:ph idx="1" type="body"/>
          </p:nvPr>
        </p:nvSpPr>
        <p:spPr>
          <a:xfrm>
            <a:off x="366825" y="2074675"/>
            <a:ext cx="45000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7 : 7, 14, 21, 28, 35, 42, 47, … </a:t>
            </a:r>
            <a:endParaRPr sz="1800"/>
          </a:p>
        </p:txBody>
      </p:sp>
      <p:sp>
        <p:nvSpPr>
          <p:cNvPr id="1075" name="Google Shape;1075;p82"/>
          <p:cNvSpPr txBox="1"/>
          <p:nvPr>
            <p:ph idx="1" type="body"/>
          </p:nvPr>
        </p:nvSpPr>
        <p:spPr>
          <a:xfrm>
            <a:off x="6119875" y="1190650"/>
            <a:ext cx="22692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no </a:t>
            </a:r>
            <a:r>
              <a:rPr b="1" lang="en-GB" sz="1800"/>
              <a:t>common multiples</a:t>
            </a:r>
            <a:r>
              <a:rPr lang="en-GB" sz="1800"/>
              <a:t> of 8 and 7</a:t>
            </a:r>
            <a:endParaRPr sz="1800"/>
          </a:p>
        </p:txBody>
      </p:sp>
      <p:sp>
        <p:nvSpPr>
          <p:cNvPr id="1076" name="Google Shape;1076;p82"/>
          <p:cNvSpPr txBox="1"/>
          <p:nvPr>
            <p:ph idx="1" type="body"/>
          </p:nvPr>
        </p:nvSpPr>
        <p:spPr>
          <a:xfrm>
            <a:off x="324000" y="2948025"/>
            <a:ext cx="45000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Jun correct? Explain</a:t>
            </a:r>
            <a:endParaRPr/>
          </a:p>
        </p:txBody>
      </p:sp>
      <p:sp>
        <p:nvSpPr>
          <p:cNvPr id="1077" name="Google Shape;1077;p82"/>
          <p:cNvSpPr txBox="1"/>
          <p:nvPr>
            <p:ph idx="1" type="body"/>
          </p:nvPr>
        </p:nvSpPr>
        <p:spPr>
          <a:xfrm>
            <a:off x="324000" y="3407175"/>
            <a:ext cx="79704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Jun is incorrect. He needed to continue listing the multiples and he would have found 56 is the first common multiple of 7 and 8. There are also an infinite number of common multiples.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Common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3"/>
          <p:cNvSpPr txBox="1"/>
          <p:nvPr>
            <p:ph idx="1" type="subTitle"/>
          </p:nvPr>
        </p:nvSpPr>
        <p:spPr>
          <a:xfrm>
            <a:off x="287250" y="810000"/>
            <a:ext cx="4130400" cy="8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List all the </a:t>
            </a:r>
            <a:r>
              <a:rPr b="1" lang="en-GB" sz="2100"/>
              <a:t>common multiples </a:t>
            </a:r>
            <a:r>
              <a:rPr lang="en-GB" sz="2100"/>
              <a:t>of </a:t>
            </a:r>
            <a:r>
              <a:rPr lang="en-GB" sz="2100"/>
              <a:t>3 and 5</a:t>
            </a:r>
            <a:r>
              <a:rPr lang="en-GB" sz="2100"/>
              <a:t> that are less than 50 </a:t>
            </a:r>
            <a:endParaRPr sz="2100"/>
          </a:p>
        </p:txBody>
      </p:sp>
      <p:sp>
        <p:nvSpPr>
          <p:cNvPr id="1084" name="Google Shape;1084;p83"/>
          <p:cNvSpPr txBox="1"/>
          <p:nvPr>
            <p:ph idx="2" type="subTitle"/>
          </p:nvPr>
        </p:nvSpPr>
        <p:spPr>
          <a:xfrm>
            <a:off x="4824000" y="810000"/>
            <a:ext cx="4065300" cy="39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List all the </a:t>
            </a:r>
            <a:r>
              <a:rPr b="1" lang="en-GB" sz="2100"/>
              <a:t>common multiples </a:t>
            </a:r>
            <a:r>
              <a:rPr lang="en-GB" sz="2100"/>
              <a:t> of 6</a:t>
            </a:r>
            <a:r>
              <a:rPr lang="en-GB" sz="2100"/>
              <a:t> and </a:t>
            </a:r>
            <a:r>
              <a:rPr lang="en-GB" sz="2100"/>
              <a:t>4 that are less than 50</a:t>
            </a:r>
            <a:endParaRPr/>
          </a:p>
        </p:txBody>
      </p:sp>
      <p:sp>
        <p:nvSpPr>
          <p:cNvPr id="1085" name="Google Shape;1085;p83"/>
          <p:cNvSpPr txBox="1"/>
          <p:nvPr>
            <p:ph idx="4294967295" type="body"/>
          </p:nvPr>
        </p:nvSpPr>
        <p:spPr>
          <a:xfrm>
            <a:off x="337825" y="2203200"/>
            <a:ext cx="42342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 of 3 : 3, 6, 9, 12, 15, 18, 21, 24, 27, 30, 33, 36, 39, 42, 45, 48 </a:t>
            </a:r>
            <a:r>
              <a:rPr lang="en-GB" sz="1900"/>
              <a:t> </a:t>
            </a:r>
            <a:endParaRPr sz="1900"/>
          </a:p>
        </p:txBody>
      </p:sp>
      <p:sp>
        <p:nvSpPr>
          <p:cNvPr id="1086" name="Google Shape;1086;p83"/>
          <p:cNvSpPr txBox="1"/>
          <p:nvPr>
            <p:ph idx="4294967295" type="body"/>
          </p:nvPr>
        </p:nvSpPr>
        <p:spPr>
          <a:xfrm>
            <a:off x="287250" y="3208800"/>
            <a:ext cx="42342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 of 5 : 5, 10, 15, 20, 25, 30, 35, 40, 45</a:t>
            </a:r>
            <a:endParaRPr sz="1900"/>
          </a:p>
        </p:txBody>
      </p:sp>
      <p:sp>
        <p:nvSpPr>
          <p:cNvPr id="1087" name="Google Shape;1087;p83"/>
          <p:cNvSpPr txBox="1"/>
          <p:nvPr>
            <p:ph idx="4294967295" type="body"/>
          </p:nvPr>
        </p:nvSpPr>
        <p:spPr>
          <a:xfrm>
            <a:off x="287250" y="4160125"/>
            <a:ext cx="42342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Common multiples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15, 30 and 45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900"/>
              <a:t> </a:t>
            </a:r>
            <a:endParaRPr sz="1900"/>
          </a:p>
        </p:txBody>
      </p:sp>
      <p:grpSp>
        <p:nvGrpSpPr>
          <p:cNvPr id="1088" name="Google Shape;1088;p83"/>
          <p:cNvGrpSpPr/>
          <p:nvPr/>
        </p:nvGrpSpPr>
        <p:grpSpPr>
          <a:xfrm>
            <a:off x="2670642" y="2160000"/>
            <a:ext cx="1052900" cy="1371850"/>
            <a:chOff x="2670642" y="2160000"/>
            <a:chExt cx="1052900" cy="1371850"/>
          </a:xfrm>
        </p:grpSpPr>
        <p:sp>
          <p:nvSpPr>
            <p:cNvPr id="1089" name="Google Shape;1089;p83"/>
            <p:cNvSpPr/>
            <p:nvPr/>
          </p:nvSpPr>
          <p:spPr>
            <a:xfrm>
              <a:off x="3352742" y="21600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83"/>
            <p:cNvSpPr/>
            <p:nvPr/>
          </p:nvSpPr>
          <p:spPr>
            <a:xfrm>
              <a:off x="2670642" y="316375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83"/>
          <p:cNvGrpSpPr/>
          <p:nvPr/>
        </p:nvGrpSpPr>
        <p:grpSpPr>
          <a:xfrm>
            <a:off x="1111908" y="2580179"/>
            <a:ext cx="2620067" cy="1367012"/>
            <a:chOff x="1111908" y="2580179"/>
            <a:chExt cx="2620067" cy="1367012"/>
          </a:xfrm>
        </p:grpSpPr>
        <p:sp>
          <p:nvSpPr>
            <p:cNvPr id="1092" name="Google Shape;1092;p83"/>
            <p:cNvSpPr/>
            <p:nvPr/>
          </p:nvSpPr>
          <p:spPr>
            <a:xfrm>
              <a:off x="3361175" y="2580179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83"/>
            <p:cNvSpPr/>
            <p:nvPr/>
          </p:nvSpPr>
          <p:spPr>
            <a:xfrm>
              <a:off x="1111908" y="3579092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4" name="Google Shape;1094;p83"/>
          <p:cNvSpPr txBox="1"/>
          <p:nvPr>
            <p:ph idx="4294967295" type="body"/>
          </p:nvPr>
        </p:nvSpPr>
        <p:spPr>
          <a:xfrm>
            <a:off x="4874575" y="2160000"/>
            <a:ext cx="42342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 of 4 : 4, 8, 12, 16, 20, 24, 28, 32, 36, 40, 48</a:t>
            </a:r>
            <a:r>
              <a:rPr lang="en-GB" sz="1900"/>
              <a:t> </a:t>
            </a:r>
            <a:endParaRPr sz="1900"/>
          </a:p>
        </p:txBody>
      </p:sp>
      <p:sp>
        <p:nvSpPr>
          <p:cNvPr id="1095" name="Google Shape;1095;p83"/>
          <p:cNvSpPr txBox="1"/>
          <p:nvPr>
            <p:ph idx="4294967295" type="body"/>
          </p:nvPr>
        </p:nvSpPr>
        <p:spPr>
          <a:xfrm>
            <a:off x="4824000" y="3165600"/>
            <a:ext cx="39960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 of 6 : 6, 12, 18, 24, 30, 36, 42, 48</a:t>
            </a:r>
            <a:endParaRPr sz="1900"/>
          </a:p>
        </p:txBody>
      </p:sp>
      <p:sp>
        <p:nvSpPr>
          <p:cNvPr id="1096" name="Google Shape;1096;p83"/>
          <p:cNvSpPr txBox="1"/>
          <p:nvPr>
            <p:ph idx="4294967295" type="body"/>
          </p:nvPr>
        </p:nvSpPr>
        <p:spPr>
          <a:xfrm>
            <a:off x="4824000" y="4116925"/>
            <a:ext cx="4065300" cy="49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Common multiples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12, 24, 36 and 48 </a:t>
            </a:r>
            <a:r>
              <a:rPr lang="en-GB" sz="1900"/>
              <a:t> </a:t>
            </a:r>
            <a:endParaRPr sz="1900"/>
          </a:p>
        </p:txBody>
      </p:sp>
      <p:grpSp>
        <p:nvGrpSpPr>
          <p:cNvPr id="1097" name="Google Shape;1097;p83"/>
          <p:cNvGrpSpPr/>
          <p:nvPr/>
        </p:nvGrpSpPr>
        <p:grpSpPr>
          <a:xfrm>
            <a:off x="7652817" y="2110100"/>
            <a:ext cx="1153375" cy="1364100"/>
            <a:chOff x="7652817" y="2110100"/>
            <a:chExt cx="1153375" cy="1364100"/>
          </a:xfrm>
        </p:grpSpPr>
        <p:sp>
          <p:nvSpPr>
            <p:cNvPr id="1098" name="Google Shape;1098;p83"/>
            <p:cNvSpPr/>
            <p:nvPr/>
          </p:nvSpPr>
          <p:spPr>
            <a:xfrm>
              <a:off x="8435392" y="2110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83"/>
            <p:cNvSpPr/>
            <p:nvPr/>
          </p:nvSpPr>
          <p:spPr>
            <a:xfrm>
              <a:off x="7652817" y="3106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0" name="Google Shape;1100;p83"/>
          <p:cNvGrpSpPr/>
          <p:nvPr/>
        </p:nvGrpSpPr>
        <p:grpSpPr>
          <a:xfrm>
            <a:off x="5693796" y="2515950"/>
            <a:ext cx="1306696" cy="1384000"/>
            <a:chOff x="5693796" y="2515950"/>
            <a:chExt cx="1306696" cy="1384000"/>
          </a:xfrm>
        </p:grpSpPr>
        <p:sp>
          <p:nvSpPr>
            <p:cNvPr id="1101" name="Google Shape;1101;p83"/>
            <p:cNvSpPr/>
            <p:nvPr/>
          </p:nvSpPr>
          <p:spPr>
            <a:xfrm>
              <a:off x="6629692" y="251595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83"/>
            <p:cNvSpPr/>
            <p:nvPr/>
          </p:nvSpPr>
          <p:spPr>
            <a:xfrm>
              <a:off x="5693796" y="353185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3" name="Google Shape;1103;p83"/>
          <p:cNvGrpSpPr/>
          <p:nvPr/>
        </p:nvGrpSpPr>
        <p:grpSpPr>
          <a:xfrm>
            <a:off x="1177536" y="2565737"/>
            <a:ext cx="3117700" cy="990850"/>
            <a:chOff x="3352742" y="2160000"/>
            <a:chExt cx="3117700" cy="990850"/>
          </a:xfrm>
        </p:grpSpPr>
        <p:sp>
          <p:nvSpPr>
            <p:cNvPr id="1104" name="Google Shape;1104;p83"/>
            <p:cNvSpPr/>
            <p:nvPr/>
          </p:nvSpPr>
          <p:spPr>
            <a:xfrm>
              <a:off x="3352742" y="21600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83"/>
            <p:cNvSpPr/>
            <p:nvPr/>
          </p:nvSpPr>
          <p:spPr>
            <a:xfrm>
              <a:off x="6099642" y="278275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6" name="Google Shape;1106;p83"/>
          <p:cNvGrpSpPr/>
          <p:nvPr/>
        </p:nvGrpSpPr>
        <p:grpSpPr>
          <a:xfrm>
            <a:off x="6872179" y="2120550"/>
            <a:ext cx="696175" cy="1364100"/>
            <a:chOff x="8110017" y="2110100"/>
            <a:chExt cx="696175" cy="1364100"/>
          </a:xfrm>
        </p:grpSpPr>
        <p:sp>
          <p:nvSpPr>
            <p:cNvPr id="1107" name="Google Shape;1107;p83"/>
            <p:cNvSpPr/>
            <p:nvPr/>
          </p:nvSpPr>
          <p:spPr>
            <a:xfrm>
              <a:off x="8435392" y="2110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83"/>
            <p:cNvSpPr/>
            <p:nvPr/>
          </p:nvSpPr>
          <p:spPr>
            <a:xfrm>
              <a:off x="8110017" y="3106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9" name="Google Shape;1109;p83"/>
          <p:cNvGrpSpPr/>
          <p:nvPr/>
        </p:nvGrpSpPr>
        <p:grpSpPr>
          <a:xfrm>
            <a:off x="4786979" y="2533185"/>
            <a:ext cx="1352833" cy="1364100"/>
            <a:chOff x="7453358" y="2110100"/>
            <a:chExt cx="1352833" cy="1364100"/>
          </a:xfrm>
        </p:grpSpPr>
        <p:sp>
          <p:nvSpPr>
            <p:cNvPr id="1110" name="Google Shape;1110;p83"/>
            <p:cNvSpPr/>
            <p:nvPr/>
          </p:nvSpPr>
          <p:spPr>
            <a:xfrm>
              <a:off x="8435392" y="2110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83"/>
            <p:cNvSpPr/>
            <p:nvPr/>
          </p:nvSpPr>
          <p:spPr>
            <a:xfrm>
              <a:off x="7453358" y="3106100"/>
              <a:ext cx="370800" cy="368100"/>
            </a:xfrm>
            <a:prstGeom prst="rect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Common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84"/>
          <p:cNvSpPr txBox="1"/>
          <p:nvPr>
            <p:ph idx="1" type="body"/>
          </p:nvPr>
        </p:nvSpPr>
        <p:spPr>
          <a:xfrm>
            <a:off x="324000" y="759300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all the </a:t>
            </a:r>
            <a:r>
              <a:rPr b="1" lang="en-GB"/>
              <a:t>common multiples</a:t>
            </a:r>
            <a:r>
              <a:rPr lang="en-GB"/>
              <a:t> of 7 and 5 which are less than 100.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all the </a:t>
            </a:r>
            <a:r>
              <a:rPr b="1" lang="en-GB"/>
              <a:t>common multiples</a:t>
            </a:r>
            <a:r>
              <a:rPr lang="en-GB"/>
              <a:t> of 5, 8 and 10 which are less than 100. </a:t>
            </a:r>
            <a:r>
              <a:rPr lang="en-GB"/>
              <a:t> </a:t>
            </a:r>
            <a:endParaRPr/>
          </a:p>
        </p:txBody>
      </p:sp>
      <p:sp>
        <p:nvSpPr>
          <p:cNvPr id="1118" name="Google Shape;111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5"/>
          <p:cNvSpPr/>
          <p:nvPr/>
        </p:nvSpPr>
        <p:spPr>
          <a:xfrm>
            <a:off x="5778666" y="132795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85"/>
          <p:cNvSpPr/>
          <p:nvPr/>
        </p:nvSpPr>
        <p:spPr>
          <a:xfrm>
            <a:off x="4956490" y="133180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85"/>
          <p:cNvSpPr/>
          <p:nvPr/>
        </p:nvSpPr>
        <p:spPr>
          <a:xfrm>
            <a:off x="4169191" y="134382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85"/>
          <p:cNvSpPr/>
          <p:nvPr/>
        </p:nvSpPr>
        <p:spPr>
          <a:xfrm>
            <a:off x="3341782" y="134791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85"/>
          <p:cNvSpPr/>
          <p:nvPr/>
        </p:nvSpPr>
        <p:spPr>
          <a:xfrm>
            <a:off x="2502066" y="134430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85"/>
          <p:cNvSpPr txBox="1"/>
          <p:nvPr>
            <p:ph idx="1" type="body"/>
          </p:nvPr>
        </p:nvSpPr>
        <p:spPr>
          <a:xfrm>
            <a:off x="324000" y="683100"/>
            <a:ext cx="8025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 </a:t>
            </a:r>
            <a:r>
              <a:rPr lang="en-GB" sz="1800"/>
              <a:t>Using the numbers, fill in the missing gaps. You can only use each number once.</a:t>
            </a:r>
            <a:endParaRPr sz="1800"/>
          </a:p>
        </p:txBody>
      </p:sp>
      <p:sp>
        <p:nvSpPr>
          <p:cNvPr id="1129" name="Google Shape;1129;p85"/>
          <p:cNvSpPr txBox="1"/>
          <p:nvPr/>
        </p:nvSpPr>
        <p:spPr>
          <a:xfrm>
            <a:off x="894107" y="143180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5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5"/>
          <p:cNvSpPr txBox="1"/>
          <p:nvPr/>
        </p:nvSpPr>
        <p:spPr>
          <a:xfrm>
            <a:off x="1698082" y="143180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6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5"/>
          <p:cNvSpPr txBox="1"/>
          <p:nvPr/>
        </p:nvSpPr>
        <p:spPr>
          <a:xfrm>
            <a:off x="2536280" y="1424109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9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3327607" y="14279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10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5"/>
          <p:cNvSpPr txBox="1"/>
          <p:nvPr/>
        </p:nvSpPr>
        <p:spPr>
          <a:xfrm>
            <a:off x="6646182" y="14279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27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5"/>
          <p:cNvSpPr txBox="1"/>
          <p:nvPr/>
        </p:nvSpPr>
        <p:spPr>
          <a:xfrm>
            <a:off x="7484380" y="1420259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50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/>
          <p:nvPr/>
        </p:nvSpPr>
        <p:spPr>
          <a:xfrm>
            <a:off x="892591" y="136018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85"/>
          <p:cNvSpPr/>
          <p:nvPr/>
        </p:nvSpPr>
        <p:spPr>
          <a:xfrm>
            <a:off x="1679890" y="134815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85"/>
          <p:cNvSpPr/>
          <p:nvPr/>
        </p:nvSpPr>
        <p:spPr>
          <a:xfrm>
            <a:off x="6643681" y="133589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85"/>
          <p:cNvSpPr/>
          <p:nvPr/>
        </p:nvSpPr>
        <p:spPr>
          <a:xfrm>
            <a:off x="7465857" y="133204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5"/>
          <p:cNvSpPr txBox="1"/>
          <p:nvPr>
            <p:ph idx="1" type="body"/>
          </p:nvPr>
        </p:nvSpPr>
        <p:spPr>
          <a:xfrm>
            <a:off x="1553700" y="2444264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40" name="Google Shape;1140;p85"/>
          <p:cNvSpPr/>
          <p:nvPr/>
        </p:nvSpPr>
        <p:spPr>
          <a:xfrm>
            <a:off x="2092453" y="23012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85"/>
          <p:cNvSpPr/>
          <p:nvPr/>
        </p:nvSpPr>
        <p:spPr>
          <a:xfrm>
            <a:off x="5551953" y="23012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85"/>
          <p:cNvSpPr/>
          <p:nvPr/>
        </p:nvSpPr>
        <p:spPr>
          <a:xfrm>
            <a:off x="6542553" y="23012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85"/>
          <p:cNvSpPr/>
          <p:nvPr/>
        </p:nvSpPr>
        <p:spPr>
          <a:xfrm>
            <a:off x="2092453" y="32156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85"/>
          <p:cNvSpPr/>
          <p:nvPr/>
        </p:nvSpPr>
        <p:spPr>
          <a:xfrm>
            <a:off x="5551953" y="32156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85"/>
          <p:cNvSpPr/>
          <p:nvPr/>
        </p:nvSpPr>
        <p:spPr>
          <a:xfrm>
            <a:off x="6542553" y="32156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85"/>
          <p:cNvSpPr/>
          <p:nvPr/>
        </p:nvSpPr>
        <p:spPr>
          <a:xfrm>
            <a:off x="2092453" y="41300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85"/>
          <p:cNvSpPr/>
          <p:nvPr/>
        </p:nvSpPr>
        <p:spPr>
          <a:xfrm>
            <a:off x="5551953" y="41300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85"/>
          <p:cNvSpPr/>
          <p:nvPr/>
        </p:nvSpPr>
        <p:spPr>
          <a:xfrm>
            <a:off x="6542553" y="41300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85"/>
          <p:cNvSpPr txBox="1"/>
          <p:nvPr/>
        </p:nvSpPr>
        <p:spPr>
          <a:xfrm>
            <a:off x="4170707" y="14154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12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5"/>
          <p:cNvSpPr txBox="1"/>
          <p:nvPr/>
        </p:nvSpPr>
        <p:spPr>
          <a:xfrm>
            <a:off x="4974682" y="14154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12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5"/>
          <p:cNvSpPr txBox="1"/>
          <p:nvPr/>
        </p:nvSpPr>
        <p:spPr>
          <a:xfrm>
            <a:off x="5812880" y="14077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27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6"/>
          <p:cNvSpPr txBox="1"/>
          <p:nvPr/>
        </p:nvSpPr>
        <p:spPr>
          <a:xfrm>
            <a:off x="760475" y="2198025"/>
            <a:ext cx="2559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A steps on every 8th step.</a:t>
            </a:r>
            <a:endParaRPr sz="1800"/>
          </a:p>
        </p:txBody>
      </p:sp>
      <p:pic>
        <p:nvPicPr>
          <p:cNvPr id="1158" name="Google Shape;115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638" y="1165725"/>
            <a:ext cx="1187049" cy="1206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86"/>
          <p:cNvPicPr preferRelativeResize="0"/>
          <p:nvPr/>
        </p:nvPicPr>
        <p:blipFill rotWithShape="1">
          <a:blip r:embed="rId4">
            <a:alphaModFix/>
          </a:blip>
          <a:srcRect b="14118" l="31478" r="0" t="0"/>
          <a:stretch/>
        </p:blipFill>
        <p:spPr>
          <a:xfrm>
            <a:off x="3917280" y="1165725"/>
            <a:ext cx="805423" cy="11329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86"/>
          <p:cNvSpPr txBox="1"/>
          <p:nvPr/>
        </p:nvSpPr>
        <p:spPr>
          <a:xfrm>
            <a:off x="3230025" y="2201400"/>
            <a:ext cx="2152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B steps on every 3rd step.</a:t>
            </a:r>
            <a:endParaRPr sz="1800"/>
          </a:p>
        </p:txBody>
      </p:sp>
      <p:pic>
        <p:nvPicPr>
          <p:cNvPr id="1161" name="Google Shape;116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6850" y="1245272"/>
            <a:ext cx="770338" cy="973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6"/>
          <p:cNvSpPr txBox="1"/>
          <p:nvPr/>
        </p:nvSpPr>
        <p:spPr>
          <a:xfrm>
            <a:off x="5560550" y="2184575"/>
            <a:ext cx="27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C steps on every 6th step.</a:t>
            </a:r>
            <a:endParaRPr sz="1800"/>
          </a:p>
        </p:txBody>
      </p:sp>
      <p:sp>
        <p:nvSpPr>
          <p:cNvPr id="1163" name="Google Shape;1163;p86"/>
          <p:cNvSpPr txBox="1"/>
          <p:nvPr>
            <p:ph idx="1" type="body"/>
          </p:nvPr>
        </p:nvSpPr>
        <p:spPr>
          <a:xfrm>
            <a:off x="324000" y="722100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 A path is made up from 100 steps, numbered 1 to 100.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164" name="Google Shape;1164;p86"/>
          <p:cNvSpPr txBox="1"/>
          <p:nvPr>
            <p:ph idx="1" type="body"/>
          </p:nvPr>
        </p:nvSpPr>
        <p:spPr>
          <a:xfrm>
            <a:off x="324000" y="3049225"/>
            <a:ext cx="7959600" cy="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Which</a:t>
            </a:r>
            <a:r>
              <a:rPr lang="en-GB" sz="1800"/>
              <a:t> numbered steps will all three robots have stepped on?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165" name="Google Shape;1165;p86"/>
          <p:cNvSpPr txBox="1"/>
          <p:nvPr>
            <p:ph idx="1" type="body"/>
          </p:nvPr>
        </p:nvSpPr>
        <p:spPr>
          <a:xfrm>
            <a:off x="324000" y="3902250"/>
            <a:ext cx="7889100" cy="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Robot D steps on every 2nd step. Will this change your answer to part a? Explain why.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166" name="Google Shape;1166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7"/>
          <p:cNvSpPr txBox="1"/>
          <p:nvPr>
            <p:ph idx="1" type="body"/>
          </p:nvPr>
        </p:nvSpPr>
        <p:spPr>
          <a:xfrm>
            <a:off x="324000" y="759300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all the </a:t>
            </a:r>
            <a:r>
              <a:rPr b="1" lang="en-GB"/>
              <a:t>common multiples </a:t>
            </a:r>
            <a:r>
              <a:rPr lang="en-GB"/>
              <a:t>of 7 and 5 which are less than 100.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all the </a:t>
            </a:r>
            <a:r>
              <a:rPr b="1" lang="en-GB"/>
              <a:t>common multiples</a:t>
            </a:r>
            <a:r>
              <a:rPr lang="en-GB"/>
              <a:t> of 5, 8 and 10 which are less than 100. </a:t>
            </a:r>
            <a:endParaRPr/>
          </a:p>
        </p:txBody>
      </p:sp>
      <p:sp>
        <p:nvSpPr>
          <p:cNvPr id="1172" name="Google Shape;1172;p87"/>
          <p:cNvSpPr txBox="1"/>
          <p:nvPr>
            <p:ph idx="1" type="body"/>
          </p:nvPr>
        </p:nvSpPr>
        <p:spPr>
          <a:xfrm>
            <a:off x="2216050" y="1701775"/>
            <a:ext cx="3786000" cy="3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latin typeface="Kalam"/>
                <a:ea typeface="Kalam"/>
                <a:cs typeface="Kalam"/>
                <a:sym typeface="Kalam"/>
              </a:rPr>
              <a:t>Common multiples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35 and 70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7"/>
          <p:cNvSpPr txBox="1"/>
          <p:nvPr>
            <p:ph idx="1" type="body"/>
          </p:nvPr>
        </p:nvSpPr>
        <p:spPr>
          <a:xfrm>
            <a:off x="2278475" y="3653175"/>
            <a:ext cx="3786000" cy="3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latin typeface="Kalam"/>
                <a:ea typeface="Kalam"/>
                <a:cs typeface="Kalam"/>
                <a:sym typeface="Kalam"/>
              </a:rPr>
              <a:t>Common multiples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40 and 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8"/>
          <p:cNvSpPr txBox="1"/>
          <p:nvPr>
            <p:ph idx="1" type="body"/>
          </p:nvPr>
        </p:nvSpPr>
        <p:spPr>
          <a:xfrm>
            <a:off x="324000" y="683100"/>
            <a:ext cx="8025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 Using the numbers, fill in the missing gaps. You can only use each number once.</a:t>
            </a:r>
            <a:endParaRPr sz="1800"/>
          </a:p>
        </p:txBody>
      </p:sp>
      <p:sp>
        <p:nvSpPr>
          <p:cNvPr id="1180" name="Google Shape;1180;p88"/>
          <p:cNvSpPr txBox="1"/>
          <p:nvPr>
            <p:ph idx="1" type="body"/>
          </p:nvPr>
        </p:nvSpPr>
        <p:spPr>
          <a:xfrm>
            <a:off x="1553700" y="2444264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          is a </a:t>
            </a:r>
            <a:r>
              <a:rPr b="1" lang="en-GB" sz="1800"/>
              <a:t>common multiple</a:t>
            </a:r>
            <a:r>
              <a:rPr lang="en-GB" sz="1800"/>
              <a:t> of          and 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1" name="Google Shape;1181;p88"/>
          <p:cNvSpPr/>
          <p:nvPr/>
        </p:nvSpPr>
        <p:spPr>
          <a:xfrm>
            <a:off x="2092453" y="23012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8"/>
          <p:cNvSpPr/>
          <p:nvPr/>
        </p:nvSpPr>
        <p:spPr>
          <a:xfrm>
            <a:off x="2092453" y="32156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8"/>
          <p:cNvSpPr/>
          <p:nvPr/>
        </p:nvSpPr>
        <p:spPr>
          <a:xfrm>
            <a:off x="2092453" y="41300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8"/>
          <p:cNvSpPr/>
          <p:nvPr/>
        </p:nvSpPr>
        <p:spPr>
          <a:xfrm>
            <a:off x="5566278" y="22868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8"/>
          <p:cNvSpPr/>
          <p:nvPr/>
        </p:nvSpPr>
        <p:spPr>
          <a:xfrm>
            <a:off x="5566278" y="32012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8"/>
          <p:cNvSpPr/>
          <p:nvPr/>
        </p:nvSpPr>
        <p:spPr>
          <a:xfrm>
            <a:off x="5566278" y="4115614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8"/>
          <p:cNvSpPr/>
          <p:nvPr/>
        </p:nvSpPr>
        <p:spPr>
          <a:xfrm>
            <a:off x="6633078" y="2292257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8"/>
          <p:cNvSpPr/>
          <p:nvPr/>
        </p:nvSpPr>
        <p:spPr>
          <a:xfrm>
            <a:off x="6633078" y="3206657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8"/>
          <p:cNvSpPr/>
          <p:nvPr/>
        </p:nvSpPr>
        <p:spPr>
          <a:xfrm>
            <a:off x="6633078" y="4121057"/>
            <a:ext cx="419100" cy="50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8"/>
          <p:cNvSpPr txBox="1"/>
          <p:nvPr/>
        </p:nvSpPr>
        <p:spPr>
          <a:xfrm>
            <a:off x="2084243" y="2269775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88"/>
          <p:cNvSpPr txBox="1"/>
          <p:nvPr/>
        </p:nvSpPr>
        <p:spPr>
          <a:xfrm>
            <a:off x="2048650" y="410897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88"/>
          <p:cNvSpPr/>
          <p:nvPr/>
        </p:nvSpPr>
        <p:spPr>
          <a:xfrm>
            <a:off x="5778666" y="132795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8"/>
          <p:cNvSpPr/>
          <p:nvPr/>
        </p:nvSpPr>
        <p:spPr>
          <a:xfrm>
            <a:off x="4956490" y="133180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8"/>
          <p:cNvSpPr/>
          <p:nvPr/>
        </p:nvSpPr>
        <p:spPr>
          <a:xfrm>
            <a:off x="4169191" y="134382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8"/>
          <p:cNvSpPr/>
          <p:nvPr/>
        </p:nvSpPr>
        <p:spPr>
          <a:xfrm>
            <a:off x="3341782" y="134791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88"/>
          <p:cNvSpPr/>
          <p:nvPr/>
        </p:nvSpPr>
        <p:spPr>
          <a:xfrm>
            <a:off x="2502066" y="134430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8"/>
          <p:cNvSpPr txBox="1"/>
          <p:nvPr/>
        </p:nvSpPr>
        <p:spPr>
          <a:xfrm>
            <a:off x="894107" y="143180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5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8"/>
          <p:cNvSpPr txBox="1"/>
          <p:nvPr/>
        </p:nvSpPr>
        <p:spPr>
          <a:xfrm>
            <a:off x="1698082" y="143180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6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8"/>
          <p:cNvSpPr txBox="1"/>
          <p:nvPr/>
        </p:nvSpPr>
        <p:spPr>
          <a:xfrm>
            <a:off x="2536280" y="1424109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9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8"/>
          <p:cNvSpPr txBox="1"/>
          <p:nvPr/>
        </p:nvSpPr>
        <p:spPr>
          <a:xfrm>
            <a:off x="3327607" y="14279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10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8"/>
          <p:cNvSpPr txBox="1"/>
          <p:nvPr/>
        </p:nvSpPr>
        <p:spPr>
          <a:xfrm>
            <a:off x="6646182" y="14279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27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8"/>
          <p:cNvSpPr txBox="1"/>
          <p:nvPr/>
        </p:nvSpPr>
        <p:spPr>
          <a:xfrm>
            <a:off x="7484380" y="1420259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50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8"/>
          <p:cNvSpPr/>
          <p:nvPr/>
        </p:nvSpPr>
        <p:spPr>
          <a:xfrm>
            <a:off x="892591" y="136018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88"/>
          <p:cNvSpPr/>
          <p:nvPr/>
        </p:nvSpPr>
        <p:spPr>
          <a:xfrm>
            <a:off x="1679890" y="1348157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8"/>
          <p:cNvSpPr/>
          <p:nvPr/>
        </p:nvSpPr>
        <p:spPr>
          <a:xfrm>
            <a:off x="6643681" y="133589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8"/>
          <p:cNvSpPr/>
          <p:nvPr/>
        </p:nvSpPr>
        <p:spPr>
          <a:xfrm>
            <a:off x="7465857" y="1332042"/>
            <a:ext cx="632100" cy="71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8"/>
          <p:cNvSpPr txBox="1"/>
          <p:nvPr/>
        </p:nvSpPr>
        <p:spPr>
          <a:xfrm>
            <a:off x="4170707" y="14154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12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8"/>
          <p:cNvSpPr txBox="1"/>
          <p:nvPr/>
        </p:nvSpPr>
        <p:spPr>
          <a:xfrm>
            <a:off x="4974682" y="14154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12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8"/>
          <p:cNvSpPr txBox="1"/>
          <p:nvPr/>
        </p:nvSpPr>
        <p:spPr>
          <a:xfrm>
            <a:off x="5812880" y="140775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Lexend"/>
                <a:ea typeface="Lexend"/>
                <a:cs typeface="Lexend"/>
                <a:sym typeface="Lexend"/>
              </a:rPr>
              <a:t>27</a:t>
            </a: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8"/>
          <p:cNvSpPr txBox="1"/>
          <p:nvPr/>
        </p:nvSpPr>
        <p:spPr>
          <a:xfrm>
            <a:off x="5503175" y="411562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1" name="Google Shape;1211;p88"/>
          <p:cNvSpPr txBox="1"/>
          <p:nvPr/>
        </p:nvSpPr>
        <p:spPr>
          <a:xfrm>
            <a:off x="6646175" y="411562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88"/>
          <p:cNvSpPr txBox="1"/>
          <p:nvPr/>
        </p:nvSpPr>
        <p:spPr>
          <a:xfrm>
            <a:off x="2048650" y="319990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88"/>
          <p:cNvSpPr txBox="1"/>
          <p:nvPr/>
        </p:nvSpPr>
        <p:spPr>
          <a:xfrm>
            <a:off x="5535975" y="317497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88"/>
          <p:cNvSpPr txBox="1"/>
          <p:nvPr/>
        </p:nvSpPr>
        <p:spPr>
          <a:xfrm>
            <a:off x="6602775" y="317497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5" name="Google Shape;1215;p88"/>
          <p:cNvSpPr txBox="1"/>
          <p:nvPr/>
        </p:nvSpPr>
        <p:spPr>
          <a:xfrm>
            <a:off x="5604218" y="2284163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6" name="Google Shape;1216;p88"/>
          <p:cNvSpPr txBox="1"/>
          <p:nvPr/>
        </p:nvSpPr>
        <p:spPr>
          <a:xfrm>
            <a:off x="6594818" y="2294263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9"/>
          <p:cNvSpPr txBox="1"/>
          <p:nvPr>
            <p:ph idx="1" type="body"/>
          </p:nvPr>
        </p:nvSpPr>
        <p:spPr>
          <a:xfrm>
            <a:off x="324000" y="722100"/>
            <a:ext cx="78186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 A path is made up from 100 steps, numbered 1 to 100.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223" name="Google Shape;1223;p89"/>
          <p:cNvSpPr txBox="1"/>
          <p:nvPr>
            <p:ph idx="1" type="body"/>
          </p:nvPr>
        </p:nvSpPr>
        <p:spPr>
          <a:xfrm>
            <a:off x="324000" y="2744425"/>
            <a:ext cx="7959600" cy="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Which numbered steps will all three robots have stepped on?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224" name="Google Shape;1224;p89"/>
          <p:cNvSpPr txBox="1"/>
          <p:nvPr>
            <p:ph idx="1" type="body"/>
          </p:nvPr>
        </p:nvSpPr>
        <p:spPr>
          <a:xfrm>
            <a:off x="324000" y="3597450"/>
            <a:ext cx="7889100" cy="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/>
              <a:t>Robot D steps on every 2nd step. Will this change your answer to part a? Explain why.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1225" name="Google Shape;1225;p89"/>
          <p:cNvSpPr txBox="1"/>
          <p:nvPr/>
        </p:nvSpPr>
        <p:spPr>
          <a:xfrm>
            <a:off x="760475" y="1969425"/>
            <a:ext cx="2559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A steps on every 8th step.</a:t>
            </a:r>
            <a:endParaRPr sz="1800"/>
          </a:p>
        </p:txBody>
      </p:sp>
      <p:pic>
        <p:nvPicPr>
          <p:cNvPr id="1226" name="Google Shape;122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648" y="1165725"/>
            <a:ext cx="958051" cy="9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89"/>
          <p:cNvPicPr preferRelativeResize="0"/>
          <p:nvPr/>
        </p:nvPicPr>
        <p:blipFill rotWithShape="1">
          <a:blip r:embed="rId4">
            <a:alphaModFix/>
          </a:blip>
          <a:srcRect b="14118" l="31478" r="0" t="0"/>
          <a:stretch/>
        </p:blipFill>
        <p:spPr>
          <a:xfrm>
            <a:off x="3917276" y="1165725"/>
            <a:ext cx="554723" cy="7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89"/>
          <p:cNvSpPr txBox="1"/>
          <p:nvPr/>
        </p:nvSpPr>
        <p:spPr>
          <a:xfrm>
            <a:off x="3230025" y="1972800"/>
            <a:ext cx="2152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B steps on every 3rd step.</a:t>
            </a:r>
            <a:endParaRPr sz="1800"/>
          </a:p>
        </p:txBody>
      </p:sp>
      <p:pic>
        <p:nvPicPr>
          <p:cNvPr id="1229" name="Google Shape;122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6850" y="1245274"/>
            <a:ext cx="554724" cy="7012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89"/>
          <p:cNvSpPr txBox="1"/>
          <p:nvPr/>
        </p:nvSpPr>
        <p:spPr>
          <a:xfrm>
            <a:off x="5560550" y="1955975"/>
            <a:ext cx="27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Robot C steps on every 6th step.</a:t>
            </a:r>
            <a:endParaRPr sz="1800"/>
          </a:p>
        </p:txBody>
      </p:sp>
      <p:sp>
        <p:nvSpPr>
          <p:cNvPr id="1231" name="Google Shape;1231;p89"/>
          <p:cNvSpPr txBox="1"/>
          <p:nvPr/>
        </p:nvSpPr>
        <p:spPr>
          <a:xfrm>
            <a:off x="3230025" y="3041250"/>
            <a:ext cx="2330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24, 48 and 72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89"/>
          <p:cNvSpPr txBox="1"/>
          <p:nvPr/>
        </p:nvSpPr>
        <p:spPr>
          <a:xfrm>
            <a:off x="2813950" y="3879450"/>
            <a:ext cx="5957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because multiples of 2 are also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common multiples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8 and 6 so it will make no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3" name="Google Shape;1233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</a:t>
            </a:r>
            <a:r>
              <a:rPr lang="en-GB"/>
              <a:t>ommon multiples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1239" name="Google Shape;1239;p9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multiples</a:t>
            </a:r>
            <a:endParaRPr/>
          </a:p>
        </p:txBody>
      </p:sp>
      <p:sp>
        <p:nvSpPr>
          <p:cNvPr id="1240" name="Google Shape;1240;p9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common multiples to compare fractions</a:t>
            </a:r>
            <a:endParaRPr/>
          </a:p>
        </p:txBody>
      </p:sp>
      <p:sp>
        <p:nvSpPr>
          <p:cNvPr id="1241" name="Google Shape;1241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pic>
        <p:nvPicPr>
          <p:cNvPr id="1242" name="Google Shape;124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" y="369501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1"/>
          <p:cNvSpPr txBox="1"/>
          <p:nvPr>
            <p:ph idx="1" type="body"/>
          </p:nvPr>
        </p:nvSpPr>
        <p:spPr>
          <a:xfrm>
            <a:off x="324000" y="927600"/>
            <a:ext cx="8237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</a:t>
            </a:r>
            <a:r>
              <a:rPr b="1" lang="en-GB"/>
              <a:t>common multiples</a:t>
            </a:r>
            <a:r>
              <a:rPr lang="en-GB"/>
              <a:t> to compare fractions b</a:t>
            </a:r>
            <a:r>
              <a:rPr lang="en-GB"/>
              <a:t>y writing the equivalent fraction where the denominator is the </a:t>
            </a:r>
            <a:r>
              <a:rPr b="1" lang="en-GB"/>
              <a:t>common multiple</a:t>
            </a:r>
            <a:r>
              <a:rPr lang="en-GB"/>
              <a:t>.</a:t>
            </a:r>
            <a:endParaRPr/>
          </a:p>
        </p:txBody>
      </p:sp>
      <p:sp>
        <p:nvSpPr>
          <p:cNvPr id="1248" name="Google Shape;124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common multiples to compare fractions</a:t>
            </a:r>
            <a:endParaRPr/>
          </a:p>
        </p:txBody>
      </p:sp>
      <p:sp>
        <p:nvSpPr>
          <p:cNvPr id="1249" name="Google Shape;1249;p91"/>
          <p:cNvSpPr txBox="1"/>
          <p:nvPr>
            <p:ph idx="1" type="body"/>
          </p:nvPr>
        </p:nvSpPr>
        <p:spPr>
          <a:xfrm>
            <a:off x="324000" y="2495550"/>
            <a:ext cx="8237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there is a common denominator, we can make comparisons more easily.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/>
          </a:p>
        </p:txBody>
      </p:sp>
      <p:sp>
        <p:nvSpPr>
          <p:cNvPr id="1255" name="Google Shape;1255;p92"/>
          <p:cNvSpPr txBox="1"/>
          <p:nvPr>
            <p:ph idx="1" type="body"/>
          </p:nvPr>
        </p:nvSpPr>
        <p:spPr>
          <a:xfrm>
            <a:off x="324000" y="438600"/>
            <a:ext cx="43842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Sofia</a:t>
            </a:r>
            <a:r>
              <a:rPr lang="en-GB" sz="2000"/>
              <a:t> is a good tennis player. She generally wins 2 out of 3 games played.</a:t>
            </a:r>
            <a:endParaRPr sz="2000"/>
          </a:p>
        </p:txBody>
      </p:sp>
      <p:sp>
        <p:nvSpPr>
          <p:cNvPr id="1256" name="Google Shape;1256;p92"/>
          <p:cNvSpPr txBox="1"/>
          <p:nvPr>
            <p:ph idx="1" type="body"/>
          </p:nvPr>
        </p:nvSpPr>
        <p:spPr>
          <a:xfrm>
            <a:off x="4917775" y="426850"/>
            <a:ext cx="39021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Jacob </a:t>
            </a:r>
            <a:r>
              <a:rPr lang="en-GB" sz="2000"/>
              <a:t>is also a good tennis player. He generally wins 3 out of 5 games played.</a:t>
            </a:r>
            <a:endParaRPr sz="2000"/>
          </a:p>
        </p:txBody>
      </p:sp>
      <p:sp>
        <p:nvSpPr>
          <p:cNvPr id="1257" name="Google Shape;1257;p92"/>
          <p:cNvSpPr txBox="1"/>
          <p:nvPr>
            <p:ph idx="1" type="body"/>
          </p:nvPr>
        </p:nvSpPr>
        <p:spPr>
          <a:xfrm>
            <a:off x="324000" y="3469425"/>
            <a:ext cx="8496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is the better tennis player? You must show your working out.</a:t>
            </a:r>
            <a:endParaRPr sz="2000"/>
          </a:p>
        </p:txBody>
      </p:sp>
      <p:pic>
        <p:nvPicPr>
          <p:cNvPr id="1258" name="Google Shape;125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0" y="1184213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59" name="Google Shape;1259;p92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700" y="1185733"/>
            <a:ext cx="2667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60" name="Google Shape;1260;p92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2025" y="1195258"/>
            <a:ext cx="2571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2425" y="1184387"/>
            <a:ext cx="727175" cy="895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2" name="Google Shape;1262;p92"/>
          <p:cNvGrpSpPr/>
          <p:nvPr/>
        </p:nvGrpSpPr>
        <p:grpSpPr>
          <a:xfrm>
            <a:off x="1640538" y="1195245"/>
            <a:ext cx="717588" cy="857250"/>
            <a:chOff x="1640538" y="1195245"/>
            <a:chExt cx="717588" cy="857250"/>
          </a:xfrm>
        </p:grpSpPr>
        <p:pic>
          <p:nvPicPr>
            <p:cNvPr descr="&lt;math xmlns=&quot;http://www.w3.org/1998/Math/MathML&quot; display=&quot;block&quot; data-is-equatio=&quot;1&quot; data-latex=&quot;\frac{4}{6}&quot;&gt;&lt;mfrac&gt;&lt;mn&gt;4&lt;/mn&gt;&lt;mn&gt;6&lt;/mn&gt;&lt;/mfrac&gt;&lt;/math&gt;" id="1263" name="Google Shape;1263;p92" title="four six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100950" y="1195245"/>
              <a:ext cx="257175" cy="85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92"/>
            <p:cNvSpPr txBox="1"/>
            <p:nvPr/>
          </p:nvSpPr>
          <p:spPr>
            <a:xfrm>
              <a:off x="1640538" y="1323432"/>
              <a:ext cx="466800" cy="5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92"/>
          <p:cNvGrpSpPr/>
          <p:nvPr/>
        </p:nvGrpSpPr>
        <p:grpSpPr>
          <a:xfrm>
            <a:off x="2386209" y="1197583"/>
            <a:ext cx="715679" cy="866775"/>
            <a:chOff x="2386209" y="1197583"/>
            <a:chExt cx="715679" cy="866775"/>
          </a:xfrm>
        </p:grpSpPr>
        <p:pic>
          <p:nvPicPr>
            <p:cNvPr descr="&lt;math xmlns=&quot;http://www.w3.org/1998/Math/MathML&quot; display=&quot;block&quot; data-is-equatio=&quot;1&quot; data-latex=&quot;\frac{6}{9}&quot;&gt;&lt;mfrac&gt;&lt;mn&gt;6&lt;/mn&gt;&lt;mn&gt;9&lt;/mn&gt;&lt;/mfrac&gt;&lt;/math&gt;" id="1266" name="Google Shape;1266;p92" title="six nin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844713" y="1197583"/>
              <a:ext cx="257175" cy="866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92"/>
            <p:cNvSpPr txBox="1"/>
            <p:nvPr/>
          </p:nvSpPr>
          <p:spPr>
            <a:xfrm>
              <a:off x="2386209" y="1323432"/>
              <a:ext cx="466800" cy="5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92"/>
          <p:cNvGrpSpPr/>
          <p:nvPr/>
        </p:nvGrpSpPr>
        <p:grpSpPr>
          <a:xfrm>
            <a:off x="6441149" y="1176208"/>
            <a:ext cx="890851" cy="895350"/>
            <a:chOff x="6441149" y="1176208"/>
            <a:chExt cx="890851" cy="895350"/>
          </a:xfrm>
        </p:grpSpPr>
        <p:pic>
          <p:nvPicPr>
            <p:cNvPr descr="&lt;math xmlns=&quot;http://www.w3.org/1998/Math/MathML&quot; display=&quot;block&quot; data-is-equatio=&quot;1&quot; data-latex=&quot;\frac{6}{10}&quot;&gt;&lt;mfrac&gt;&lt;mn&gt;6&lt;/mn&gt;&lt;mn&gt;10&lt;/mn&gt;&lt;/mfrac&gt;&lt;/math&gt;" id="1269" name="Google Shape;1269;p92" title="six ten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846225" y="1176208"/>
              <a:ext cx="485775" cy="895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92"/>
            <p:cNvSpPr txBox="1"/>
            <p:nvPr/>
          </p:nvSpPr>
          <p:spPr>
            <a:xfrm>
              <a:off x="6441149" y="1323425"/>
              <a:ext cx="430800" cy="5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92"/>
          <p:cNvGrpSpPr/>
          <p:nvPr/>
        </p:nvGrpSpPr>
        <p:grpSpPr>
          <a:xfrm>
            <a:off x="7357858" y="1187990"/>
            <a:ext cx="845117" cy="866775"/>
            <a:chOff x="7357858" y="1187990"/>
            <a:chExt cx="845117" cy="866775"/>
          </a:xfrm>
        </p:grpSpPr>
        <p:pic>
          <p:nvPicPr>
            <p:cNvPr descr="&lt;math xmlns=&quot;http://www.w3.org/1998/Math/MathML&quot; display=&quot;block&quot; data-is-equatio=&quot;1&quot; data-latex=&quot;\frac{9}{15}&quot;&gt;&lt;mfrac&gt;&lt;mn&gt;9&lt;/mn&gt;&lt;mn&gt;15&lt;/mn&gt;&lt;/mfrac&gt;&lt;/math&gt;" id="1272" name="Google Shape;1272;p92" title="9 over 1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736250" y="1187990"/>
              <a:ext cx="466725" cy="866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92"/>
            <p:cNvSpPr txBox="1"/>
            <p:nvPr/>
          </p:nvSpPr>
          <p:spPr>
            <a:xfrm>
              <a:off x="7357858" y="1323425"/>
              <a:ext cx="430800" cy="5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92"/>
          <p:cNvGrpSpPr/>
          <p:nvPr/>
        </p:nvGrpSpPr>
        <p:grpSpPr>
          <a:xfrm>
            <a:off x="3148209" y="1198876"/>
            <a:ext cx="830816" cy="866775"/>
            <a:chOff x="3148209" y="1198876"/>
            <a:chExt cx="830816" cy="866775"/>
          </a:xfrm>
        </p:grpSpPr>
        <p:pic>
          <p:nvPicPr>
            <p:cNvPr id="1275" name="Google Shape;1275;p9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512300" y="1198876"/>
              <a:ext cx="466725" cy="866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92"/>
            <p:cNvSpPr txBox="1"/>
            <p:nvPr/>
          </p:nvSpPr>
          <p:spPr>
            <a:xfrm>
              <a:off x="3148209" y="1323432"/>
              <a:ext cx="466800" cy="5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7" name="Google Shape;1277;p92"/>
          <p:cNvSpPr txBox="1"/>
          <p:nvPr>
            <p:ph idx="1" type="body"/>
          </p:nvPr>
        </p:nvSpPr>
        <p:spPr>
          <a:xfrm>
            <a:off x="324000" y="3862800"/>
            <a:ext cx="82704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Sofia because if they both played 15 games, Sofia would win 10 and Jacob would win 9.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92"/>
          <p:cNvSpPr txBox="1"/>
          <p:nvPr/>
        </p:nvSpPr>
        <p:spPr>
          <a:xfrm>
            <a:off x="324000" y="60787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/>
          </a:p>
        </p:txBody>
      </p:sp>
      <p:sp>
        <p:nvSpPr>
          <p:cNvPr id="1279" name="Google Shape;1279;p92"/>
          <p:cNvSpPr/>
          <p:nvPr/>
        </p:nvSpPr>
        <p:spPr>
          <a:xfrm>
            <a:off x="3483424" y="1072250"/>
            <a:ext cx="605100" cy="1110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92"/>
          <p:cNvSpPr/>
          <p:nvPr/>
        </p:nvSpPr>
        <p:spPr>
          <a:xfrm>
            <a:off x="7716048" y="1077113"/>
            <a:ext cx="605100" cy="1110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3"/>
          <p:cNvSpPr txBox="1"/>
          <p:nvPr/>
        </p:nvSpPr>
        <p:spPr>
          <a:xfrm>
            <a:off x="283811" y="3642300"/>
            <a:ext cx="86370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                       or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could have compared    and    . The smaller fraction is   .    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93"/>
          <p:cNvSpPr txBox="1"/>
          <p:nvPr>
            <p:ph idx="1" type="body"/>
          </p:nvPr>
        </p:nvSpPr>
        <p:spPr>
          <a:xfrm>
            <a:off x="324000" y="650450"/>
            <a:ext cx="8709900" cy="26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does the following working out to find which fraction is smaller.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or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Which equivalent fractions should she use to compare?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Which fraction is the smallest fraction?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287" name="Google Shape;128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/>
          </a:p>
        </p:txBody>
      </p:sp>
      <p:pic>
        <p:nvPicPr>
          <p:cNvPr id="1288" name="Google Shape;128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943" y="1400445"/>
            <a:ext cx="596672" cy="1086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4573" y="1018612"/>
            <a:ext cx="5037440" cy="17931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93"/>
          <p:cNvSpPr txBox="1"/>
          <p:nvPr/>
        </p:nvSpPr>
        <p:spPr>
          <a:xfrm>
            <a:off x="283800" y="3621000"/>
            <a:ext cx="863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could have compared   with           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3"/>
          <p:cNvSpPr/>
          <p:nvPr/>
        </p:nvSpPr>
        <p:spPr>
          <a:xfrm>
            <a:off x="2707702" y="1949646"/>
            <a:ext cx="399600" cy="736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93"/>
          <p:cNvSpPr/>
          <p:nvPr/>
        </p:nvSpPr>
        <p:spPr>
          <a:xfrm>
            <a:off x="4204627" y="1178334"/>
            <a:ext cx="399600" cy="736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3" name="Google Shape;1293;p93"/>
          <p:cNvGrpSpPr/>
          <p:nvPr/>
        </p:nvGrpSpPr>
        <p:grpSpPr>
          <a:xfrm>
            <a:off x="3471524" y="1134991"/>
            <a:ext cx="3926640" cy="1551455"/>
            <a:chOff x="2328524" y="1134991"/>
            <a:chExt cx="3926640" cy="1551455"/>
          </a:xfrm>
        </p:grpSpPr>
        <p:sp>
          <p:nvSpPr>
            <p:cNvPr id="1294" name="Google Shape;1294;p93"/>
            <p:cNvSpPr/>
            <p:nvPr/>
          </p:nvSpPr>
          <p:spPr>
            <a:xfrm>
              <a:off x="2328524" y="1949646"/>
              <a:ext cx="399600" cy="7368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93"/>
            <p:cNvSpPr/>
            <p:nvPr/>
          </p:nvSpPr>
          <p:spPr>
            <a:xfrm>
              <a:off x="5855564" y="1134991"/>
              <a:ext cx="399600" cy="7368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6" name="Google Shape;1296;p93"/>
          <p:cNvGrpSpPr/>
          <p:nvPr/>
        </p:nvGrpSpPr>
        <p:grpSpPr>
          <a:xfrm>
            <a:off x="3471517" y="3614798"/>
            <a:ext cx="1008783" cy="513615"/>
            <a:chOff x="3001430" y="3607473"/>
            <a:chExt cx="1008783" cy="513615"/>
          </a:xfrm>
        </p:grpSpPr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297" name="Google Shape;1297;p93" title="five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858463" y="3607473"/>
              <a:ext cx="151750" cy="5136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6}{9}&quot;&gt;&lt;mfrac&gt;&lt;mn&gt;6&lt;/mn&gt;&lt;mn&gt;9&lt;/mn&gt;&lt;/mfrac&gt;&lt;/math&gt;" id="1298" name="Google Shape;1298;p93" title="six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01430" y="3608796"/>
              <a:ext cx="151754" cy="511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6}{9}&quot;&gt;&lt;mfrac&gt;&lt;mn&gt;6&lt;/mn&gt;&lt;mn&gt;9&lt;/mn&gt;&lt;/mfrac&gt;&lt;/math&gt;" id="1299" name="Google Shape;1299;p93" title="six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131400" y="81622"/>
            <a:ext cx="21000" cy="707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0" name="Google Shape;1300;p93"/>
          <p:cNvGrpSpPr/>
          <p:nvPr/>
        </p:nvGrpSpPr>
        <p:grpSpPr>
          <a:xfrm>
            <a:off x="3241525" y="4140462"/>
            <a:ext cx="1194175" cy="511475"/>
            <a:chOff x="2754575" y="4167600"/>
            <a:chExt cx="1194175" cy="511475"/>
          </a:xfrm>
        </p:grpSpPr>
        <p:pic>
          <p:nvPicPr>
            <p:cNvPr descr="&lt;math xmlns=&quot;http://www.w3.org/1998/Math/MathML&quot; display=&quot;block&quot; data-is-equatio=&quot;1&quot; data-latex=&quot;\frac{10}{18}&quot;&gt;&lt;mfrac&gt;&lt;mn&gt;10&lt;/mn&gt;&lt;mn&gt;18&lt;/mn&gt;&lt;/mfrac&gt;&lt;/math&gt;" id="1301" name="Google Shape;1301;p93" title="10 over 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671250" y="4167600"/>
              <a:ext cx="277500" cy="5114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2}{18}&quot;&gt;&lt;mfrac&gt;&lt;mn&gt;12&lt;/mn&gt;&lt;mn&gt;18&lt;/mn&gt;&lt;/mfrac&gt;&lt;/math&gt;" id="1302" name="Google Shape;1302;p93" title="12 over 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754575" y="4167600"/>
              <a:ext cx="277500" cy="511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303" name="Google Shape;1303;p93" title="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2625" y="1018600"/>
            <a:ext cx="155493" cy="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9}\\&amp;#13;&amp;#10;\end{array}&quot;&gt;&lt;mtable columnalign=&quot;left&quot; columnspacing=&quot;1em&quot; rowspacing=&quot;4pt&quot;&gt;&lt;mtr&gt;&lt;mtd&gt;&lt;mfrac&gt;&lt;mn&gt;5&lt;/mn&gt;&lt;mn&gt;9&lt;/mn&gt;&lt;/mfrac&gt;&lt;/mtd&gt;&lt;/mtr&gt;&lt;/mtable&gt;&lt;/math&gt;" id="1304" name="Google Shape;1304;p93" title="1 lines Line 1: five ni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10800000">
            <a:off x="131411" y="246497"/>
            <a:ext cx="20989" cy="58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305" name="Google Shape;1305;p93" title="five ni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8117" y="1021263"/>
            <a:ext cx="155500" cy="509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306" name="Google Shape;1306;p93" title="five ni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42667" y="4141550"/>
            <a:ext cx="155500" cy="50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20" y="1658038"/>
            <a:ext cx="4035999" cy="2418976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2" name="Google Shape;131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/>
          </a:p>
        </p:txBody>
      </p:sp>
      <p:pic>
        <p:nvPicPr>
          <p:cNvPr id="1313" name="Google Shape;131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4650" y="1660475"/>
            <a:ext cx="2844566" cy="2414101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4" name="Google Shape;1314;p94"/>
          <p:cNvSpPr txBox="1"/>
          <p:nvPr>
            <p:ph idx="4294967295" type="title"/>
          </p:nvPr>
        </p:nvSpPr>
        <p:spPr>
          <a:xfrm>
            <a:off x="6042525" y="4156464"/>
            <a:ext cx="2704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latin typeface="Kalam"/>
                <a:ea typeface="Kalam"/>
                <a:cs typeface="Kalam"/>
                <a:sym typeface="Kalam"/>
              </a:rPr>
              <a:t>Andeep is not writing equivalent fractions</a:t>
            </a:r>
            <a:endParaRPr b="0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15" name="Google Shape;13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008" y="33978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316" name="Google Shape;1316;p94" title="three four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0125" y="703597"/>
            <a:ext cx="18876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17" name="Google Shape;1317;p94" title="seven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3028" y="703598"/>
            <a:ext cx="33645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6875" y="1850150"/>
            <a:ext cx="188775" cy="24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9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Andeep compares        and        . Which is the correct working out? Explain.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320" name="Google Shape;1320;p94"/>
          <p:cNvGrpSpPr/>
          <p:nvPr/>
        </p:nvGrpSpPr>
        <p:grpSpPr>
          <a:xfrm>
            <a:off x="514516" y="4320000"/>
            <a:ext cx="457200" cy="457200"/>
            <a:chOff x="1020916" y="1442088"/>
            <a:chExt cx="457200" cy="457200"/>
          </a:xfrm>
        </p:grpSpPr>
        <p:pic>
          <p:nvPicPr>
            <p:cNvPr id="1321" name="Google Shape;1321;p9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94"/>
          <p:cNvGrpSpPr/>
          <p:nvPr/>
        </p:nvGrpSpPr>
        <p:grpSpPr>
          <a:xfrm>
            <a:off x="5545791" y="4320000"/>
            <a:ext cx="457200" cy="457200"/>
            <a:chOff x="1020916" y="1442088"/>
            <a:chExt cx="457200" cy="457200"/>
          </a:xfrm>
        </p:grpSpPr>
        <p:pic>
          <p:nvPicPr>
            <p:cNvPr id="1324" name="Google Shape;1324;p9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1330" name="Google Shape;1330;p95" title="three eighths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</a:t>
            </a:r>
            <a:r>
              <a:rPr b="1" lang="en-GB"/>
              <a:t>common multiples</a:t>
            </a:r>
            <a:r>
              <a:rPr lang="en-GB"/>
              <a:t> to compare fractions, identify the largest fraction. </a:t>
            </a:r>
            <a:r>
              <a:rPr lang="en-GB"/>
              <a:t>You must show your working out.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r>
              <a:rPr lang="en-GB"/>
              <a:t>  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r>
              <a:rPr lang="en-GB"/>
              <a:t>         and</a:t>
            </a:r>
            <a:endParaRPr/>
          </a:p>
        </p:txBody>
      </p:sp>
      <p:sp>
        <p:nvSpPr>
          <p:cNvPr id="1331" name="Google Shape;1331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32" name="Google Shape;1332;p95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775" y="184985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333" name="Google Shape;1333;p95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348" y="185478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334" name="Google Shape;1334;p95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73" y="2875833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35" name="Google Shape;1335;p95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275" y="3901775"/>
            <a:ext cx="379419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336" name="Google Shape;1336;p95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34350" y="2864525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42073" y="3909499"/>
            <a:ext cx="204425" cy="6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6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Three students have the following success rates on a game.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96"/>
          <p:cNvSpPr txBox="1"/>
          <p:nvPr/>
        </p:nvSpPr>
        <p:spPr>
          <a:xfrm>
            <a:off x="234557" y="1526700"/>
            <a:ext cx="29391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 DONE SAM!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SUCCESS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6"/>
          <p:cNvSpPr txBox="1"/>
          <p:nvPr>
            <p:ph idx="1" type="body"/>
          </p:nvPr>
        </p:nvSpPr>
        <p:spPr>
          <a:xfrm>
            <a:off x="453150" y="36657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Who is the best player? You must show your working out.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346" name="Google Shape;1346;p96"/>
          <p:cNvSpPr txBox="1"/>
          <p:nvPr/>
        </p:nvSpPr>
        <p:spPr>
          <a:xfrm>
            <a:off x="3097500" y="1537575"/>
            <a:ext cx="29391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 DONE LUCAS!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SUCCESS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96"/>
          <p:cNvSpPr txBox="1"/>
          <p:nvPr/>
        </p:nvSpPr>
        <p:spPr>
          <a:xfrm>
            <a:off x="5873357" y="1537575"/>
            <a:ext cx="29391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WELL DONE ALEX!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SUCCESS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RATE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96"/>
          <p:cNvSpPr/>
          <p:nvPr/>
        </p:nvSpPr>
        <p:spPr>
          <a:xfrm>
            <a:off x="3336943" y="1469575"/>
            <a:ext cx="2503800" cy="207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96"/>
          <p:cNvSpPr/>
          <p:nvPr/>
        </p:nvSpPr>
        <p:spPr>
          <a:xfrm>
            <a:off x="517543" y="1469575"/>
            <a:ext cx="2503800" cy="207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96"/>
          <p:cNvSpPr/>
          <p:nvPr/>
        </p:nvSpPr>
        <p:spPr>
          <a:xfrm>
            <a:off x="6080143" y="1469575"/>
            <a:ext cx="2503800" cy="207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96"/>
          <p:cNvSpPr txBox="1"/>
          <p:nvPr>
            <p:ph idx="1" type="body"/>
          </p:nvPr>
        </p:nvSpPr>
        <p:spPr>
          <a:xfrm>
            <a:off x="470000" y="4065250"/>
            <a:ext cx="8237700" cy="7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State a fractional success rate </a:t>
            </a:r>
            <a:r>
              <a:rPr lang="en-GB" sz="2100"/>
              <a:t>in between</a:t>
            </a:r>
            <a:r>
              <a:rPr lang="en-GB" sz="2100"/>
              <a:t> Sam’s and Alex’s success rates.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352" name="Google Shape;1352;p96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325" y="2807792"/>
            <a:ext cx="201550" cy="667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&quot;&gt;&lt;mfrac&gt;&lt;mn&gt;11&lt;/mn&gt;&lt;mn&gt;15&lt;/mn&gt;&lt;/mfrac&gt;&lt;/math&gt;" id="1353" name="Google Shape;1353;p96" title="11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8023" y="2814978"/>
            <a:ext cx="357756" cy="6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54" name="Google Shape;1354;p96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6150" y="2832900"/>
            <a:ext cx="201550" cy="647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1359" name="Google Shape;1359;p97" title="three eighths"/>
          <p:cNvSpPr txBox="1"/>
          <p:nvPr>
            <p:ph idx="1" type="body"/>
          </p:nvPr>
        </p:nvSpPr>
        <p:spPr>
          <a:xfrm>
            <a:off x="324000" y="759300"/>
            <a:ext cx="8354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Using </a:t>
            </a:r>
            <a:r>
              <a:rPr b="1" lang="en-GB" sz="1900"/>
              <a:t>common multiples</a:t>
            </a:r>
            <a:r>
              <a:rPr lang="en-GB" sz="1900"/>
              <a:t> to compare fractions, identify the larger fraction in each pair below. You must show your working out.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and</a:t>
            </a:r>
            <a:endParaRPr/>
          </a:p>
        </p:txBody>
      </p:sp>
      <p:sp>
        <p:nvSpPr>
          <p:cNvPr id="1360" name="Google Shape;1360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=\frac{6}{10}=\frac{9}{15}=\frac{12}{20}=\frac{15}{25}=\frac{18}{30}=\frac{21}{35}&quot;&gt;&lt;mfrac&gt;&lt;mn&gt;3&lt;/mn&gt;&lt;mn&gt;5&lt;/mn&gt;&lt;/mfrac&gt;&lt;mo&gt;=&lt;/mo&gt;&lt;mfrac&gt;&lt;mn&gt;6&lt;/mn&gt;&lt;mn&gt;10&lt;/mn&gt;&lt;/mfrac&gt;&lt;mo&gt;=&lt;/mo&gt;&lt;mfrac&gt;&lt;mn&gt;9&lt;/mn&gt;&lt;mn&gt;15&lt;/mn&gt;&lt;/mfrac&gt;&lt;mo&gt;=&lt;/mo&gt;&lt;mfrac&gt;&lt;mn&gt;12&lt;/mn&gt;&lt;mn&gt;20&lt;/mn&gt;&lt;/mfrac&gt;&lt;mo&gt;=&lt;/mo&gt;&lt;mfrac&gt;&lt;mn&gt;15&lt;/mn&gt;&lt;mn&gt;25&lt;/mn&gt;&lt;/mfrac&gt;&lt;mo&gt;=&lt;/mo&gt;&lt;mfrac&gt;&lt;mn&gt;18&lt;/mn&gt;&lt;mn&gt;30&lt;/mn&gt;&lt;/mfrac&gt;&lt;mo&gt;=&lt;/mo&gt;&lt;mfrac&gt;&lt;mn&gt;21&lt;/mn&gt;&lt;mn&gt;35&lt;/mn&gt;&lt;/mfrac&gt;&lt;/math&gt;" id="1361" name="Google Shape;1361;p97" title="three fifths equals six tenths equals 9 over 15 equals 12 over 20 equals 15 over 25 equals 18 over 30 equals 21 over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919" y="1933868"/>
            <a:ext cx="4572518" cy="653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=\frac{4}{14}=\frac{6}{21}=\frac{8}{28}=\frac{10}{35}&quot;&gt;&lt;mfrac&gt;&lt;mn&gt;2&lt;/mn&gt;&lt;mn&gt;7&lt;/mn&gt;&lt;/mfrac&gt;&lt;mo&gt;=&lt;/mo&gt;&lt;mfrac&gt;&lt;mn&gt;4&lt;/mn&gt;&lt;mn&gt;14&lt;/mn&gt;&lt;/mfrac&gt;&lt;mo&gt;=&lt;/mo&gt;&lt;mfrac&gt;&lt;mn&gt;6&lt;/mn&gt;&lt;mn&gt;21&lt;/mn&gt;&lt;/mfrac&gt;&lt;mo&gt;=&lt;/mo&gt;&lt;mfrac&gt;&lt;mn&gt;8&lt;/mn&gt;&lt;mn&gt;28&lt;/mn&gt;&lt;/mfrac&gt;&lt;mo&gt;=&lt;/mo&gt;&lt;mfrac&gt;&lt;mn&gt;10&lt;/mn&gt;&lt;mn&gt;35&lt;/mn&gt;&lt;/mfrac&gt;&lt;/math&gt;" id="1362" name="Google Shape;1362;p97" title="two sevenths equals 4 over 14 equals 6 over 21 equals 8 over 28 equals 10 over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925" y="2776483"/>
            <a:ext cx="3116635" cy="653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97"/>
          <p:cNvSpPr/>
          <p:nvPr/>
        </p:nvSpPr>
        <p:spPr>
          <a:xfrm>
            <a:off x="7790142" y="1848600"/>
            <a:ext cx="450300" cy="835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97"/>
          <p:cNvSpPr/>
          <p:nvPr/>
        </p:nvSpPr>
        <p:spPr>
          <a:xfrm>
            <a:off x="6343809" y="2704481"/>
            <a:ext cx="450300" cy="8358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65" name="Google Shape;1365;p97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75" y="184985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366" name="Google Shape;1366;p97" title="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4348" y="185478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367" name="Google Shape;1367;p97" title="four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773" y="2875833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68" name="Google Shape;1368;p97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275" y="3901775"/>
            <a:ext cx="379419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369" name="Google Shape;1369;p97" title="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34350" y="2864525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42073" y="3909499"/>
            <a:ext cx="204425" cy="6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97"/>
          <p:cNvSpPr/>
          <p:nvPr/>
        </p:nvSpPr>
        <p:spPr>
          <a:xfrm>
            <a:off x="741412" y="1729600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5}=\frac{8}{10}=\frac{12}{15}=\frac{16}{20}=\frac{20}{25}=\frac{24}{30}&quot;&gt;&lt;mfrac&gt;&lt;mn&gt;4&lt;/mn&gt;&lt;mn&gt;5&lt;/mn&gt;&lt;/mfrac&gt;&lt;mo&gt;=&lt;/mo&gt;&lt;mfrac&gt;&lt;mn&gt;8&lt;/mn&gt;&lt;mn&gt;10&lt;/mn&gt;&lt;/mfrac&gt;&lt;mo&gt;=&lt;/mo&gt;&lt;mfrac&gt;&lt;mn&gt;12&lt;/mn&gt;&lt;mn&gt;15&lt;/mn&gt;&lt;/mfrac&gt;&lt;mo&gt;=&lt;/mo&gt;&lt;mfrac&gt;&lt;mn&gt;16&lt;/mn&gt;&lt;mn&gt;20&lt;/mn&gt;&lt;/mfrac&gt;&lt;mo&gt;=&lt;/mo&gt;&lt;mfrac&gt;&lt;mn&gt;20&lt;/mn&gt;&lt;mn&gt;25&lt;/mn&gt;&lt;/mfrac&gt;&lt;mo&gt;=&lt;/mo&gt;&lt;mfrac&gt;&lt;mn&gt;24&lt;/mn&gt;&lt;mn&gt;30&lt;/mn&gt;&lt;/mfrac&gt;&lt;/math&gt;" id="1377" name="Google Shape;1377;p98" title="four fifths equals eight tenths equals 12 over 15 equals 16 over 20 equals 20 over 25 equals 24 over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1558" y="1969139"/>
            <a:ext cx="3924201" cy="65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=\frac{10}{12}=\frac{15}{18}=\frac{20}{24}=\frac{25}{30}&quot;&gt;&lt;mfrac&gt;&lt;mn&gt;5&lt;/mn&gt;&lt;mn&gt;6&lt;/mn&gt;&lt;/mfrac&gt;&lt;mo&gt;=&lt;/mo&gt;&lt;mfrac&gt;&lt;mn&gt;10&lt;/mn&gt;&lt;mn&gt;12&lt;/mn&gt;&lt;/mfrac&gt;&lt;mo&gt;=&lt;/mo&gt;&lt;mfrac&gt;&lt;mn&gt;15&lt;/mn&gt;&lt;mn&gt;18&lt;/mn&gt;&lt;/mfrac&gt;&lt;mo&gt;=&lt;/mo&gt;&lt;mfrac&gt;&lt;mn&gt;20&lt;/mn&gt;&lt;mn&gt;24&lt;/mn&gt;&lt;/mfrac&gt;&lt;mo&gt;=&lt;/mo&gt;&lt;mfrac&gt;&lt;mn&gt;25&lt;/mn&gt;&lt;mn&gt;30&lt;/mn&gt;&lt;/mfrac&gt;&lt;/math&gt;" id="1378" name="Google Shape;1378;p98" title="five sixths equals 10 over 12 equals 15 over 18 equals 20 over 24 equals 25 over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550" y="2854477"/>
            <a:ext cx="3168426" cy="6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98"/>
          <p:cNvSpPr/>
          <p:nvPr/>
        </p:nvSpPr>
        <p:spPr>
          <a:xfrm>
            <a:off x="7395218" y="1877352"/>
            <a:ext cx="458700" cy="8397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98"/>
          <p:cNvSpPr/>
          <p:nvPr/>
        </p:nvSpPr>
        <p:spPr>
          <a:xfrm>
            <a:off x="6633218" y="2762715"/>
            <a:ext cx="458700" cy="8397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1381" name="Google Shape;1381;p98" title="three eighths"/>
          <p:cNvSpPr txBox="1"/>
          <p:nvPr>
            <p:ph idx="1" type="body"/>
          </p:nvPr>
        </p:nvSpPr>
        <p:spPr>
          <a:xfrm>
            <a:off x="324000" y="759300"/>
            <a:ext cx="832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Using </a:t>
            </a:r>
            <a:r>
              <a:rPr b="1" lang="en-GB" sz="1900"/>
              <a:t>common multiples</a:t>
            </a:r>
            <a:r>
              <a:rPr lang="en-GB" sz="1900"/>
              <a:t> to compare fractions, identify the larger fraction in each pair below. You must show your working out.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and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82" name="Google Shape;1382;p98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75" y="184985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383" name="Google Shape;1383;p98" title="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4348" y="185478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384" name="Google Shape;1384;p98" title="four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773" y="2875833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385" name="Google Shape;1385;p98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275" y="3901775"/>
            <a:ext cx="379419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386" name="Google Shape;1386;p98" title="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34350" y="2864525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42073" y="3909499"/>
            <a:ext cx="204425" cy="6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98"/>
          <p:cNvSpPr/>
          <p:nvPr/>
        </p:nvSpPr>
        <p:spPr>
          <a:xfrm>
            <a:off x="1807142" y="2776336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98"/>
          <p:cNvSpPr/>
          <p:nvPr/>
        </p:nvSpPr>
        <p:spPr>
          <a:xfrm>
            <a:off x="741412" y="1729600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1394" name="Google Shape;1394;p99" title="three eighths"/>
          <p:cNvSpPr txBox="1"/>
          <p:nvPr>
            <p:ph idx="1" type="body"/>
          </p:nvPr>
        </p:nvSpPr>
        <p:spPr>
          <a:xfrm>
            <a:off x="324000" y="759300"/>
            <a:ext cx="8362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Using </a:t>
            </a:r>
            <a:r>
              <a:rPr b="1" lang="en-GB" sz="1900"/>
              <a:t>common multiples</a:t>
            </a:r>
            <a:r>
              <a:rPr lang="en-GB" sz="1900"/>
              <a:t> to compare fractions, identify the larger fraction in each pair below. You must show your working out.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     and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and</a:t>
            </a:r>
            <a:endParaRPr/>
          </a:p>
        </p:txBody>
      </p:sp>
      <p:sp>
        <p:nvSpPr>
          <p:cNvPr id="1395" name="Google Shape;139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396" name="Google Shape;139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951" y="1989722"/>
            <a:ext cx="2443700" cy="605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=\frac{6}{16}=\frac{9}{24}=\frac{12}{32}=\frac{15}{40}&quot;&gt;&lt;mfrac&gt;&lt;mn&gt;3&lt;/mn&gt;&lt;mn&gt;8&lt;/mn&gt;&lt;/mfrac&gt;&lt;mo&gt;=&lt;/mo&gt;&lt;mfrac&gt;&lt;mn&gt;6&lt;/mn&gt;&lt;mn&gt;16&lt;/mn&gt;&lt;/mfrac&gt;&lt;mo&gt;=&lt;/mo&gt;&lt;mfrac&gt;&lt;mn&gt;9&lt;/mn&gt;&lt;mn&gt;24&lt;/mn&gt;&lt;/mfrac&gt;&lt;mo&gt;=&lt;/mo&gt;&lt;mfrac&gt;&lt;mn&gt;12&lt;/mn&gt;&lt;mn&gt;32&lt;/mn&gt;&lt;/mfrac&gt;&lt;mo&gt;=&lt;/mo&gt;&lt;mfrac&gt;&lt;mn&gt;15&lt;/mn&gt;&lt;mn&gt;40&lt;/mn&gt;&lt;/mfrac&gt;&lt;/math&gt;" id="1397" name="Google Shape;1397;p99" title="three eighths equals 6 over 16 equals 9 over 24 equals 12 over 32 equals 15 over 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034" y="2853577"/>
            <a:ext cx="3006399" cy="605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99"/>
          <p:cNvSpPr/>
          <p:nvPr/>
        </p:nvSpPr>
        <p:spPr>
          <a:xfrm>
            <a:off x="6445360" y="1905002"/>
            <a:ext cx="435300" cy="7749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99"/>
          <p:cNvSpPr/>
          <p:nvPr/>
        </p:nvSpPr>
        <p:spPr>
          <a:xfrm>
            <a:off x="7130200" y="2807939"/>
            <a:ext cx="435300" cy="7749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99"/>
          <p:cNvSpPr/>
          <p:nvPr/>
        </p:nvSpPr>
        <p:spPr>
          <a:xfrm>
            <a:off x="760187" y="3845904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99"/>
          <p:cNvSpPr/>
          <p:nvPr/>
        </p:nvSpPr>
        <p:spPr>
          <a:xfrm>
            <a:off x="1807142" y="2776336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99"/>
          <p:cNvSpPr/>
          <p:nvPr/>
        </p:nvSpPr>
        <p:spPr>
          <a:xfrm>
            <a:off x="741412" y="1729600"/>
            <a:ext cx="443100" cy="9045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403" name="Google Shape;1403;p99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775" y="184985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404" name="Google Shape;1404;p99" title="two sev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4348" y="185478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405" name="Google Shape;1405;p99" title="four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773" y="2875833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406" name="Google Shape;1406;p99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000" y="3902400"/>
            <a:ext cx="378000" cy="69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407" name="Google Shape;1407;p99" title="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34350" y="2864525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42073" y="3909499"/>
            <a:ext cx="204425" cy="6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00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Three students have the following success rates on a game.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Using common multiples to compare fractions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00"/>
          <p:cNvSpPr txBox="1"/>
          <p:nvPr>
            <p:ph idx="1" type="body"/>
          </p:nvPr>
        </p:nvSpPr>
        <p:spPr>
          <a:xfrm>
            <a:off x="453150" y="3589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Who is the best player? You must show your working out.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17" name="Google Shape;1417;p100"/>
          <p:cNvSpPr txBox="1"/>
          <p:nvPr>
            <p:ph idx="1" type="body"/>
          </p:nvPr>
        </p:nvSpPr>
        <p:spPr>
          <a:xfrm>
            <a:off x="470000" y="4281900"/>
            <a:ext cx="68553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State a fractional success rate in between Sam’s and Alex’s success rates.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18" name="Google Shape;141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875" y="997900"/>
            <a:ext cx="5939850" cy="1593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5}=\frac{22}{30}=\frac{33}{45}&quot;&gt;&lt;mfrac&gt;&lt;mn&gt;11&lt;/mn&gt;&lt;mn&gt;15&lt;/mn&gt;&lt;/mfrac&gt;&lt;mo&gt;=&lt;/mo&gt;&lt;mfrac&gt;&lt;mn&gt;22&lt;/mn&gt;&lt;mn&gt;30&lt;/mn&gt;&lt;/mfrac&gt;&lt;mo&gt;=&lt;/mo&gt;&lt;mfrac&gt;&lt;mn&gt;33&lt;/mn&gt;&lt;mn&gt;45&lt;/mn&gt;&lt;/mfrac&gt;&lt;/math&gt;" id="1419" name="Google Shape;1419;p100" title="11 over 15 equals 22 over 30 equals 33 over 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3950" y="2822266"/>
            <a:ext cx="1696182" cy="56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=\frac{6}{10}=\frac{9}{15}...=\frac{18}{30}&quot;&gt;&lt;mfrac&gt;&lt;mn&gt;3&lt;/mn&gt;&lt;mn&gt;5&lt;/mn&gt;&lt;/mfrac&gt;&lt;mo&gt;=&lt;/mo&gt;&lt;mfrac&gt;&lt;mn&gt;6&lt;/mn&gt;&lt;mn&gt;10&lt;/mn&gt;&lt;/mfrac&gt;&lt;mo&gt;=&lt;/mo&gt;&lt;mfrac&gt;&lt;mn&gt;9&lt;/mn&gt;&lt;mn&gt;15&lt;/mn&gt;&lt;/mfrac&gt;&lt;mo&gt;.&lt;/mo&gt;&lt;mo&gt;.&lt;/mo&gt;&lt;mo&gt;.&lt;/mo&gt;&lt;mo&gt;=&lt;/mo&gt;&lt;mfrac&gt;&lt;mn&gt;18&lt;/mn&gt;&lt;mn&gt;30&lt;/mn&gt;&lt;/mfrac&gt;&lt;/math&gt;" id="1420" name="Google Shape;1420;p100" title="three fifths equals six tenths equals 9 over 15 period period period equals 18 over 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3095" y="2811199"/>
            <a:ext cx="2519487" cy="56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=\frac{4}{6}=\frac{6}{9}...\frac{20}{30}&quot;&gt;&lt;mfrac&gt;&lt;mn&gt;2&lt;/mn&gt;&lt;mn&gt;3&lt;/mn&gt;&lt;/mfrac&gt;&lt;mo&gt;=&lt;/mo&gt;&lt;mfrac&gt;&lt;mn&gt;4&lt;/mn&gt;&lt;mn&gt;6&lt;/mn&gt;&lt;/mfrac&gt;&lt;mo&gt;=&lt;/mo&gt;&lt;mfrac&gt;&lt;mn&gt;6&lt;/mn&gt;&lt;mn&gt;9&lt;/mn&gt;&lt;/mfrac&gt;&lt;mo&gt;.&lt;/mo&gt;&lt;mo&gt;.&lt;/mo&gt;&lt;mo&gt;.&lt;/mo&gt;&lt;mfrac&gt;&lt;mn&gt;20&lt;/mn&gt;&lt;mn&gt;30&lt;/mn&gt;&lt;/mfrac&gt;&lt;/math&gt;" id="1421" name="Google Shape;1421;p100" title="two thirds equals four sixths equals six ninths period period period 20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050" y="2811204"/>
            <a:ext cx="2005694" cy="5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100"/>
          <p:cNvSpPr/>
          <p:nvPr/>
        </p:nvSpPr>
        <p:spPr>
          <a:xfrm>
            <a:off x="2542352" y="2760022"/>
            <a:ext cx="339300" cy="660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00"/>
          <p:cNvSpPr/>
          <p:nvPr/>
        </p:nvSpPr>
        <p:spPr>
          <a:xfrm>
            <a:off x="8246466" y="2760022"/>
            <a:ext cx="339300" cy="660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00"/>
          <p:cNvSpPr/>
          <p:nvPr/>
        </p:nvSpPr>
        <p:spPr>
          <a:xfrm>
            <a:off x="4463680" y="2760022"/>
            <a:ext cx="339300" cy="660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00"/>
          <p:cNvSpPr txBox="1"/>
          <p:nvPr/>
        </p:nvSpPr>
        <p:spPr>
          <a:xfrm>
            <a:off x="3281900" y="3851250"/>
            <a:ext cx="876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Lucas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6" name="Google Shape;1426;p100"/>
          <p:cNvSpPr txBox="1"/>
          <p:nvPr/>
        </p:nvSpPr>
        <p:spPr>
          <a:xfrm>
            <a:off x="7262650" y="4046500"/>
            <a:ext cx="876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19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7" name="Google Shape;1427;p100"/>
          <p:cNvCxnSpPr/>
          <p:nvPr/>
        </p:nvCxnSpPr>
        <p:spPr>
          <a:xfrm flipH="1" rot="10800000">
            <a:off x="7242450" y="4450200"/>
            <a:ext cx="433500" cy="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1433" name="Google Shape;1433;p101"/>
          <p:cNvSpPr txBox="1"/>
          <p:nvPr>
            <p:ph idx="4294967295" type="subTitle"/>
          </p:nvPr>
        </p:nvSpPr>
        <p:spPr>
          <a:xfrm>
            <a:off x="383850" y="898569"/>
            <a:ext cx="7215900" cy="10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b="1" lang="en-GB"/>
              <a:t>common multiple</a:t>
            </a:r>
            <a:r>
              <a:rPr b="0" lang="en-GB"/>
              <a:t> is a number that is a multiple of two or more numbers.</a:t>
            </a:r>
            <a:endParaRPr b="0"/>
          </a:p>
        </p:txBody>
      </p:sp>
      <p:sp>
        <p:nvSpPr>
          <p:cNvPr id="1434" name="Google Shape;1434;p101"/>
          <p:cNvSpPr txBox="1"/>
          <p:nvPr>
            <p:ph idx="4294967295" type="subTitle"/>
          </p:nvPr>
        </p:nvSpPr>
        <p:spPr>
          <a:xfrm>
            <a:off x="383850" y="2071325"/>
            <a:ext cx="8156100" cy="10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Common multiples</a:t>
            </a:r>
            <a:r>
              <a:rPr lang="en-GB"/>
              <a:t> can be found by listing multiples of each number and then </a:t>
            </a:r>
            <a:r>
              <a:rPr lang="en-GB"/>
              <a:t>identifying the </a:t>
            </a:r>
            <a:r>
              <a:rPr b="1" lang="en-GB"/>
              <a:t>common multiple</a:t>
            </a:r>
            <a:r>
              <a:rPr lang="en-GB"/>
              <a:t> from each list.</a:t>
            </a:r>
            <a:endParaRPr/>
          </a:p>
        </p:txBody>
      </p:sp>
      <p:sp>
        <p:nvSpPr>
          <p:cNvPr id="1435" name="Google Shape;1435;p101"/>
          <p:cNvSpPr txBox="1"/>
          <p:nvPr/>
        </p:nvSpPr>
        <p:spPr>
          <a:xfrm>
            <a:off x="324000" y="3570600"/>
            <a:ext cx="805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used to compare fractions.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41" name="Google Shape;1441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