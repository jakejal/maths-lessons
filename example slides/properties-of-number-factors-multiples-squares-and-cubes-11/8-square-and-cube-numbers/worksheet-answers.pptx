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5E0E69-73C3-421F-ACAE-47195940F8F9}">
  <a:tblStyle styleId="{015E0E69-73C3-421F-ACAE-47195940F8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e9696f3fe2_0_16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e9696f3fe2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1680250" y="3584600"/>
            <a:ext cx="444300" cy="3690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2" name="Google Shape;172;p20"/>
          <p:cNvSpPr/>
          <p:nvPr/>
        </p:nvSpPr>
        <p:spPr>
          <a:xfrm>
            <a:off x="2934378" y="3686975"/>
            <a:ext cx="444300" cy="3690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3" name="Google Shape;173;p20"/>
          <p:cNvSpPr/>
          <p:nvPr/>
        </p:nvSpPr>
        <p:spPr>
          <a:xfrm>
            <a:off x="3685488" y="3407220"/>
            <a:ext cx="444300" cy="3690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4" name="Google Shape;174;p20"/>
          <p:cNvSpPr/>
          <p:nvPr/>
        </p:nvSpPr>
        <p:spPr>
          <a:xfrm>
            <a:off x="5643218" y="3471194"/>
            <a:ext cx="444300" cy="369000"/>
          </a:xfrm>
          <a:prstGeom prst="rect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5" name="Google Shape;175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</a:t>
            </a:r>
            <a:r>
              <a:rPr lang="en-GB"/>
              <a:t> and cube numbers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14009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 numbers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1738125"/>
            <a:ext cx="66240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up the arrays with the correct square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0350" y="2126783"/>
            <a:ext cx="849808" cy="86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 rotWithShape="1">
          <a:blip r:embed="rId3">
            <a:alphaModFix/>
          </a:blip>
          <a:srcRect b="26535" l="0" r="28274" t="0"/>
          <a:stretch/>
        </p:blipFill>
        <p:spPr>
          <a:xfrm>
            <a:off x="2978051" y="2359672"/>
            <a:ext cx="609525" cy="6383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20"/>
          <p:cNvGrpSpPr/>
          <p:nvPr/>
        </p:nvGrpSpPr>
        <p:grpSpPr>
          <a:xfrm>
            <a:off x="4008520" y="2042869"/>
            <a:ext cx="898916" cy="932222"/>
            <a:chOff x="4524173" y="1244768"/>
            <a:chExt cx="1531895" cy="1588654"/>
          </a:xfrm>
        </p:grpSpPr>
        <p:grpSp>
          <p:nvGrpSpPr>
            <p:cNvPr id="182" name="Google Shape;182;p20"/>
            <p:cNvGrpSpPr/>
            <p:nvPr/>
          </p:nvGrpSpPr>
          <p:grpSpPr>
            <a:xfrm flipH="1">
              <a:off x="5330266" y="1244768"/>
              <a:ext cx="725801" cy="750454"/>
              <a:chOff x="2510100" y="3950561"/>
              <a:chExt cx="725801" cy="750454"/>
            </a:xfrm>
          </p:grpSpPr>
          <p:sp>
            <p:nvSpPr>
              <p:cNvPr id="183" name="Google Shape;183;p20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20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20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20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20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20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20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20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20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20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20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20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20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0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0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" name="Google Shape;199;p20"/>
            <p:cNvGrpSpPr/>
            <p:nvPr/>
          </p:nvGrpSpPr>
          <p:grpSpPr>
            <a:xfrm flipH="1">
              <a:off x="5330266" y="2082968"/>
              <a:ext cx="725801" cy="750454"/>
              <a:chOff x="2510100" y="3950561"/>
              <a:chExt cx="725801" cy="750454"/>
            </a:xfrm>
          </p:grpSpPr>
          <p:sp>
            <p:nvSpPr>
              <p:cNvPr id="200" name="Google Shape;200;p20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20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0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20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20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0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0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0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0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0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0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20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20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0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6" name="Google Shape;216;p20"/>
            <p:cNvGrpSpPr/>
            <p:nvPr/>
          </p:nvGrpSpPr>
          <p:grpSpPr>
            <a:xfrm flipH="1">
              <a:off x="4524173" y="1244768"/>
              <a:ext cx="725801" cy="750454"/>
              <a:chOff x="2510100" y="3950561"/>
              <a:chExt cx="725801" cy="750454"/>
            </a:xfrm>
          </p:grpSpPr>
          <p:sp>
            <p:nvSpPr>
              <p:cNvPr id="217" name="Google Shape;217;p20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20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20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20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20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20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20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20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0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20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20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0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20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20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0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0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3" name="Google Shape;233;p20"/>
            <p:cNvGrpSpPr/>
            <p:nvPr/>
          </p:nvGrpSpPr>
          <p:grpSpPr>
            <a:xfrm flipH="1">
              <a:off x="4524173" y="2082968"/>
              <a:ext cx="725801" cy="750454"/>
              <a:chOff x="2510100" y="3950561"/>
              <a:chExt cx="725801" cy="750454"/>
            </a:xfrm>
          </p:grpSpPr>
          <p:sp>
            <p:nvSpPr>
              <p:cNvPr id="234" name="Google Shape;234;p20"/>
              <p:cNvSpPr/>
              <p:nvPr/>
            </p:nvSpPr>
            <p:spPr>
              <a:xfrm>
                <a:off x="2510100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20"/>
              <p:cNvSpPr/>
              <p:nvPr/>
            </p:nvSpPr>
            <p:spPr>
              <a:xfrm>
                <a:off x="2709334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20"/>
              <p:cNvSpPr/>
              <p:nvPr/>
            </p:nvSpPr>
            <p:spPr>
              <a:xfrm>
                <a:off x="2510100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20"/>
              <p:cNvSpPr/>
              <p:nvPr/>
            </p:nvSpPr>
            <p:spPr>
              <a:xfrm>
                <a:off x="2709334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20"/>
              <p:cNvSpPr/>
              <p:nvPr/>
            </p:nvSpPr>
            <p:spPr>
              <a:xfrm>
                <a:off x="2510100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20"/>
              <p:cNvSpPr/>
              <p:nvPr/>
            </p:nvSpPr>
            <p:spPr>
              <a:xfrm>
                <a:off x="2709334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0"/>
              <p:cNvSpPr/>
              <p:nvPr/>
            </p:nvSpPr>
            <p:spPr>
              <a:xfrm>
                <a:off x="2908568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20"/>
              <p:cNvSpPr/>
              <p:nvPr/>
            </p:nvSpPr>
            <p:spPr>
              <a:xfrm>
                <a:off x="2908568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20"/>
              <p:cNvSpPr/>
              <p:nvPr/>
            </p:nvSpPr>
            <p:spPr>
              <a:xfrm>
                <a:off x="2908568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3107801" y="4158712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3107801" y="3950561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3107801" y="4366863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2510100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0"/>
              <p:cNvSpPr/>
              <p:nvPr/>
            </p:nvSpPr>
            <p:spPr>
              <a:xfrm>
                <a:off x="2709334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0"/>
              <p:cNvSpPr/>
              <p:nvPr/>
            </p:nvSpPr>
            <p:spPr>
              <a:xfrm>
                <a:off x="2908568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3107801" y="4575014"/>
                <a:ext cx="128100" cy="126000"/>
              </a:xfrm>
              <a:prstGeom prst="ellipse">
                <a:avLst/>
              </a:prstGeom>
              <a:solidFill>
                <a:srgbClr val="845AD9"/>
              </a:solidFill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0" name="Google Shape;250;p20"/>
          <p:cNvGrpSpPr/>
          <p:nvPr/>
        </p:nvGrpSpPr>
        <p:grpSpPr>
          <a:xfrm>
            <a:off x="5393199" y="2519697"/>
            <a:ext cx="425900" cy="440366"/>
            <a:chOff x="2510100" y="3950561"/>
            <a:chExt cx="725801" cy="750454"/>
          </a:xfrm>
        </p:grpSpPr>
        <p:sp>
          <p:nvSpPr>
            <p:cNvPr id="251" name="Google Shape;251;p20"/>
            <p:cNvSpPr/>
            <p:nvPr/>
          </p:nvSpPr>
          <p:spPr>
            <a:xfrm>
              <a:off x="2510100" y="4158712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2709334" y="4158712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2510100" y="3950561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2709334" y="3950561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2510100" y="4366863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0"/>
            <p:cNvSpPr/>
            <p:nvPr/>
          </p:nvSpPr>
          <p:spPr>
            <a:xfrm>
              <a:off x="2709334" y="4366863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2908568" y="4158712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2908568" y="3950561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2908568" y="4366863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3107801" y="4158712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3107801" y="3950561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3107801" y="4366863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2510100" y="4575014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2709334" y="4575014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2908568" y="4575014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3107801" y="4575014"/>
              <a:ext cx="128100" cy="126000"/>
            </a:xfrm>
            <a:prstGeom prst="ellipse">
              <a:avLst/>
            </a:prstGeom>
            <a:solidFill>
              <a:srgbClr val="845AD9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7" name="Google Shape;267;p20"/>
          <p:cNvSpPr txBox="1"/>
          <p:nvPr/>
        </p:nvSpPr>
        <p:spPr>
          <a:xfrm>
            <a:off x="3060668" y="3793736"/>
            <a:ext cx="444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5768015" y="3560909"/>
            <a:ext cx="444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1804190" y="3678538"/>
            <a:ext cx="444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3814908" y="3508838"/>
            <a:ext cx="444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1" name="Google Shape;271;p20"/>
          <p:cNvCxnSpPr>
            <a:stCxn id="249" idx="5"/>
            <a:endCxn id="171" idx="0"/>
          </p:cNvCxnSpPr>
          <p:nvPr/>
        </p:nvCxnSpPr>
        <p:spPr>
          <a:xfrm flipH="1">
            <a:off x="1902429" y="2964263"/>
            <a:ext cx="2117100" cy="6204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20"/>
          <p:cNvCxnSpPr>
            <a:endCxn id="172" idx="0"/>
          </p:cNvCxnSpPr>
          <p:nvPr/>
        </p:nvCxnSpPr>
        <p:spPr>
          <a:xfrm>
            <a:off x="1930428" y="2932775"/>
            <a:ext cx="1226100" cy="7542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20"/>
          <p:cNvCxnSpPr/>
          <p:nvPr/>
        </p:nvCxnSpPr>
        <p:spPr>
          <a:xfrm>
            <a:off x="3564178" y="2922784"/>
            <a:ext cx="2090100" cy="5694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0"/>
          <p:cNvCxnSpPr>
            <a:endCxn id="263" idx="3"/>
          </p:cNvCxnSpPr>
          <p:nvPr/>
        </p:nvCxnSpPr>
        <p:spPr>
          <a:xfrm flipH="1" rot="10800000">
            <a:off x="3984607" y="2949235"/>
            <a:ext cx="1419600" cy="4632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5" name="Google Shape;27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323548" y="4728250"/>
            <a:ext cx="2757902" cy="137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500" y="4725757"/>
            <a:ext cx="1920676" cy="151032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0"/>
          <p:cNvSpPr txBox="1"/>
          <p:nvPr/>
        </p:nvSpPr>
        <p:spPr>
          <a:xfrm>
            <a:off x="769200" y="4810813"/>
            <a:ext cx="16428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My teacher’s age is: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square number,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multiple of 3,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less than 70.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4458675" y="4765063"/>
            <a:ext cx="26337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is a student at Oak Academy.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Alex’s age is: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less than a square number and is an even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468000" y="6638412"/>
            <a:ext cx="275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Teacher’s age is 36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468000" y="6286788"/>
            <a:ext cx="360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old is the teacher?</a:t>
            </a:r>
            <a:endParaRPr sz="1200"/>
          </a:p>
        </p:txBody>
      </p:sp>
      <p:sp>
        <p:nvSpPr>
          <p:cNvPr id="281" name="Google Shape;281;p20"/>
          <p:cNvSpPr txBox="1"/>
          <p:nvPr/>
        </p:nvSpPr>
        <p:spPr>
          <a:xfrm>
            <a:off x="4396575" y="6643630"/>
            <a:ext cx="27579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Alex’s age is 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4323550" y="6323988"/>
            <a:ext cx="275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old is Alex?</a:t>
            </a:r>
            <a:endParaRPr sz="1200"/>
          </a:p>
        </p:txBody>
      </p:sp>
      <p:sp>
        <p:nvSpPr>
          <p:cNvPr id="283" name="Google Shape;283;p20"/>
          <p:cNvSpPr txBox="1"/>
          <p:nvPr/>
        </p:nvSpPr>
        <p:spPr>
          <a:xfrm>
            <a:off x="468000" y="4147413"/>
            <a:ext cx="77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age given the clues.</a:t>
            </a:r>
            <a:endParaRPr sz="1200"/>
          </a:p>
        </p:txBody>
      </p:sp>
      <p:sp>
        <p:nvSpPr>
          <p:cNvPr id="284" name="Google Shape;284;p20"/>
          <p:cNvSpPr txBox="1"/>
          <p:nvPr/>
        </p:nvSpPr>
        <p:spPr>
          <a:xfrm>
            <a:off x="3429725" y="4417588"/>
            <a:ext cx="690000" cy="2596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85" name="Google Shape;285;p20"/>
          <p:cNvGraphicFramePr/>
          <p:nvPr/>
        </p:nvGraphicFramePr>
        <p:xfrm>
          <a:off x="468000" y="748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{015E0E69-73C3-421F-ACAE-47195940F8F9}</a:tableStyleId>
              </a:tblPr>
              <a:tblGrid>
                <a:gridCol w="2591925"/>
                <a:gridCol w="559600"/>
                <a:gridCol w="639675"/>
                <a:gridCol w="2832800"/>
              </a:tblGrid>
              <a:tr h="39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Justification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9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121 is a square number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7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 ✕ 13 = 169 so 13 is a square number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7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add 3 then multiply by 7 gives a square number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 multiplied by 4 then add 3 gives a square number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6" name="Google Shape;286;p20"/>
          <p:cNvSpPr txBox="1"/>
          <p:nvPr/>
        </p:nvSpPr>
        <p:spPr>
          <a:xfrm>
            <a:off x="468000" y="7141838"/>
            <a:ext cx="66240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Identify if the following statements are true or false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4362513" y="7938142"/>
            <a:ext cx="19260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 ✕ 11 = 121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88" name="Google Shape;28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1253" y="7907688"/>
            <a:ext cx="309750" cy="32238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0"/>
          <p:cNvSpPr txBox="1"/>
          <p:nvPr/>
        </p:nvSpPr>
        <p:spPr>
          <a:xfrm>
            <a:off x="4326600" y="8345575"/>
            <a:ext cx="25089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169 is the square number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90" name="Google Shape;29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21302" y="8399490"/>
            <a:ext cx="309750" cy="322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1253" y="8931994"/>
            <a:ext cx="309750" cy="322387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0"/>
          <p:cNvSpPr txBox="1"/>
          <p:nvPr/>
        </p:nvSpPr>
        <p:spPr>
          <a:xfrm>
            <a:off x="4362525" y="8935525"/>
            <a:ext cx="26337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4+3 = 7  then 7 ✕ 7 = 49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49 is a square number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93" name="Google Shape;29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21302" y="9508576"/>
            <a:ext cx="309750" cy="322387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0"/>
          <p:cNvSpPr txBox="1"/>
          <p:nvPr/>
        </p:nvSpPr>
        <p:spPr>
          <a:xfrm>
            <a:off x="4326577" y="9446373"/>
            <a:ext cx="23313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✕ 4 =28  then 28 + 3 = 31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31 is not a square number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0" name="Google Shape;30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</a:t>
            </a:r>
            <a:r>
              <a:rPr lang="en-GB"/>
              <a:t> and cube numbers</a:t>
            </a:r>
            <a:endParaRPr/>
          </a:p>
        </p:txBody>
      </p:sp>
      <p:sp>
        <p:nvSpPr>
          <p:cNvPr id="301" name="Google Shape;301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</a:t>
            </a:r>
            <a:r>
              <a:rPr lang="en-GB"/>
              <a:t> in Education and Industry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468000" y="720000"/>
            <a:ext cx="66240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Jun discovers he can sum two different square numbers to make a third square number.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find the missing square numbers to complete this table?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3" name="Google Shape;303;p21"/>
          <p:cNvGraphicFramePr/>
          <p:nvPr/>
        </p:nvGraphicFramePr>
        <p:xfrm>
          <a:off x="468000" y="1546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{015E0E69-73C3-421F-ACAE-47195940F8F9}</a:tableStyleId>
              </a:tblPr>
              <a:tblGrid>
                <a:gridCol w="2021225"/>
                <a:gridCol w="2127975"/>
                <a:gridCol w="2474825"/>
              </a:tblGrid>
              <a:tr h="302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1st square number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2nd square number 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Resultant square number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02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18000" marR="91425" marL="91425"/>
                </a:tc>
              </a:tr>
              <a:tr h="37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18000" marR="91425" marL="91425"/>
                </a:tc>
              </a:tr>
              <a:tr h="37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144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54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18000" marR="91425" marL="91425"/>
                </a:tc>
              </a:tr>
            </a:tbl>
          </a:graphicData>
        </a:graphic>
      </p:graphicFrame>
      <p:sp>
        <p:nvSpPr>
          <p:cNvPr id="304" name="Google Shape;304;p21"/>
          <p:cNvSpPr txBox="1"/>
          <p:nvPr/>
        </p:nvSpPr>
        <p:spPr>
          <a:xfrm>
            <a:off x="1668616" y="3337368"/>
            <a:ext cx="616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many out there. E.g. 81+144=225 and 64+225=289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468013" y="36338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How many squares can you see on an 8 by 8 chess board?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468025" y="3825775"/>
            <a:ext cx="6624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204 squares.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This is because you have to calculate how many 1 x 1 squares, 2 x 2 square, 3 x 3 squares and so on.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These numbers end up being the square numbers: 64, 49, 36, 25, 16, 9, 4, 1. Summing these gives 204 squares on a chessboard,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07" name="Google Shape;307;p21"/>
          <p:cNvCxnSpPr/>
          <p:nvPr/>
        </p:nvCxnSpPr>
        <p:spPr>
          <a:xfrm>
            <a:off x="474750" y="52857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1"/>
          <p:cNvSpPr txBox="1"/>
          <p:nvPr/>
        </p:nvSpPr>
        <p:spPr>
          <a:xfrm>
            <a:off x="468000" y="5389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Cube numbers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468000" y="5726775"/>
            <a:ext cx="66105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all the cube numbers from the list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1          2          3          4          8          9          10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16          25          27          36          40          49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64          100          121          125          169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1000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1983139" y="5968816"/>
            <a:ext cx="411600" cy="395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1" name="Google Shape;311;p21"/>
          <p:cNvSpPr/>
          <p:nvPr/>
        </p:nvSpPr>
        <p:spPr>
          <a:xfrm>
            <a:off x="2400589" y="6614891"/>
            <a:ext cx="411600" cy="395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2" name="Google Shape;312;p21"/>
          <p:cNvSpPr/>
          <p:nvPr/>
        </p:nvSpPr>
        <p:spPr>
          <a:xfrm>
            <a:off x="3398721" y="6283325"/>
            <a:ext cx="411600" cy="395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3" name="Google Shape;313;p21"/>
          <p:cNvSpPr/>
          <p:nvPr/>
        </p:nvSpPr>
        <p:spPr>
          <a:xfrm>
            <a:off x="3567456" y="6926500"/>
            <a:ext cx="648600" cy="395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4" name="Google Shape;314;p21"/>
          <p:cNvSpPr/>
          <p:nvPr/>
        </p:nvSpPr>
        <p:spPr>
          <a:xfrm>
            <a:off x="4445846" y="6614893"/>
            <a:ext cx="411600" cy="395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5" name="Google Shape;315;p21"/>
          <p:cNvSpPr/>
          <p:nvPr/>
        </p:nvSpPr>
        <p:spPr>
          <a:xfrm>
            <a:off x="4034257" y="5953650"/>
            <a:ext cx="411600" cy="395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6" name="Google Shape;316;p21"/>
          <p:cNvSpPr txBox="1"/>
          <p:nvPr/>
        </p:nvSpPr>
        <p:spPr>
          <a:xfrm>
            <a:off x="468000" y="7465750"/>
            <a:ext cx="66105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Put the following numbers in the Venn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iagram: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474500" y="7676050"/>
            <a:ext cx="66240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1         3          4          8          9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16          25          27          36          40          49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64          125          216    1000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1929000" y="8781275"/>
            <a:ext cx="3688500" cy="1136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9" name="Google Shape;319;p21"/>
          <p:cNvSpPr/>
          <p:nvPr/>
        </p:nvSpPr>
        <p:spPr>
          <a:xfrm>
            <a:off x="2406942" y="8956642"/>
            <a:ext cx="1749600" cy="785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0" name="Google Shape;320;p21"/>
          <p:cNvSpPr/>
          <p:nvPr/>
        </p:nvSpPr>
        <p:spPr>
          <a:xfrm>
            <a:off x="3299720" y="8956642"/>
            <a:ext cx="1645200" cy="785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1" name="Google Shape;321;p21"/>
          <p:cNvSpPr txBox="1"/>
          <p:nvPr/>
        </p:nvSpPr>
        <p:spPr>
          <a:xfrm>
            <a:off x="1876988" y="8662384"/>
            <a:ext cx="9438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 numbers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3299725" y="8944825"/>
            <a:ext cx="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1753950" y="9546650"/>
            <a:ext cx="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2489213" y="8952150"/>
            <a:ext cx="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3812379" y="9428296"/>
            <a:ext cx="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2606388" y="9204725"/>
            <a:ext cx="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2606400" y="9393000"/>
            <a:ext cx="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2365800" y="9321450"/>
            <a:ext cx="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2152380" y="9158875"/>
            <a:ext cx="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49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3299713" y="9204725"/>
            <a:ext cx="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64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4034250" y="8952150"/>
            <a:ext cx="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125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4156550" y="9321450"/>
            <a:ext cx="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216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2697450" y="8944825"/>
            <a:ext cx="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4324200" y="9164825"/>
            <a:ext cx="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4860100" y="9546638"/>
            <a:ext cx="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3903375" y="9164825"/>
            <a:ext cx="8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1000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4847438" y="8805375"/>
            <a:ext cx="13884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numbers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74500" y="3156200"/>
            <a:ext cx="6624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find another set of two different square numbers to make a third square number?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numbers</a:t>
            </a:r>
            <a:endParaRPr/>
          </a:p>
        </p:txBody>
      </p:sp>
      <p:sp>
        <p:nvSpPr>
          <p:cNvPr id="344" name="Google Shape;344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</a:t>
            </a:r>
            <a:r>
              <a:rPr lang="en-GB"/>
              <a:t> in Education and Industry</a:t>
            </a:r>
            <a:endParaRPr/>
          </a:p>
        </p:txBody>
      </p:sp>
      <p:sp>
        <p:nvSpPr>
          <p:cNvPr id="345" name="Google Shape;345;p22"/>
          <p:cNvSpPr txBox="1"/>
          <p:nvPr/>
        </p:nvSpPr>
        <p:spPr>
          <a:xfrm>
            <a:off x="468000" y="726775"/>
            <a:ext cx="6624000" cy="15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number to make the calculation 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in the SQUARE is a square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in the CUBE is a cube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2"/>
          <p:cNvSpPr txBox="1"/>
          <p:nvPr/>
        </p:nvSpPr>
        <p:spPr>
          <a:xfrm>
            <a:off x="468000" y="1751250"/>
            <a:ext cx="7057200" cy="15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⬜ + 🧊 = 31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⬜ + 🧊 = 33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⬜ + 🧊 = 225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⬜ + ⬜ + 🧊 = 104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🧊 + 🧊 + 🧊 = 36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468000" y="3324106"/>
            <a:ext cx="6624000" cy="15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 + 27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31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 + 8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33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 + 125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36 + 4 + 64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104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+ 8 +27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36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