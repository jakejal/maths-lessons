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8633DF-37CE-4B57-ADA7-9943F8E29D69}">
  <a:tblStyle styleId="{688633DF-37CE-4B57-ADA7-9943F8E29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3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868ea82d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868ea82d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868ea82dd5_0_3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868ea82dd5_0_3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868ea82dd5_0_3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868ea82dd5_0_3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868ea82dd5_0_3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868ea82dd5_0_3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868ea82dd5_0_3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868ea82dd5_0_3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2868ea82dd5_0_3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868ea82dd5_0_3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2868ea82dd5_0_3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2868ea82dd5_0_3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868ea82dd5_0_4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868ea82dd5_0_4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868ea82dd5_0_4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2868ea82dd5_0_4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868ea82dd5_0_4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868ea82dd5_0_4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868ea82dd5_0_4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868ea82dd5_0_4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868ea82dd5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868ea82dd5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868ea82dd5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868ea82dd5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868ea82dd5_1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868ea82dd5_1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2868ea82dd5_1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2868ea82dd5_1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868ea82dd5_1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868ea82dd5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868ea82dd5_1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868ea82dd5_1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68ea82dd5_1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68ea82dd5_1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g2868ea82dd5_1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1" name="Google Shape;2151;g2868ea82dd5_1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2868ea82dd5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2868ea82dd5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2868ea82dd5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2868ea82dd5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2868ea82dd5_1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2868ea82dd5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g2899ecf11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1" name="Google Shape;2231;g2899ecf1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2868ea82dd5_1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2868ea82dd5_1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g2868ea82dd5_1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3" name="Google Shape;2353;g2868ea82dd5_1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2868ea82dd5_1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2868ea82dd5_1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2885c22042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2885c22042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2868ea82dd5_1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2868ea82dd5_1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2868ea82dd5_1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2868ea82dd5_1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2868ea82dd5_1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2868ea82dd5_1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g2868ea82dd5_1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2" name="Google Shape;2512;g2868ea82dd5_1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2868ea82dd5_1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4" name="Google Shape;2524;g2868ea82dd5_1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g2868ea82dd5_1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1" name="Google Shape;2551;g2868ea82dd5_1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g2868ea82dd5_0_1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0" name="Google Shape;2570;g2868ea82dd5_0_1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g2868ea82dd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9" name="Google Shape;2579;g2868ea82d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8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33.png"/><Relationship Id="rId11" Type="http://schemas.openxmlformats.org/officeDocument/2006/relationships/image" Target="../media/image12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8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33.png"/><Relationship Id="rId11" Type="http://schemas.openxmlformats.org/officeDocument/2006/relationships/image" Target="../media/image12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14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png"/><Relationship Id="rId4" Type="http://schemas.openxmlformats.org/officeDocument/2006/relationships/image" Target="../media/image9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2.png"/><Relationship Id="rId4" Type="http://schemas.openxmlformats.org/officeDocument/2006/relationships/image" Target="../media/image9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1251850"/>
            <a:ext cx="5502000" cy="23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90850" y="725950"/>
            <a:ext cx="233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explain the concept of </a:t>
            </a:r>
            <a:r>
              <a:rPr lang="en-GB"/>
              <a:t>squared and cubed</a:t>
            </a:r>
            <a:r>
              <a:rPr lang="en-GB"/>
              <a:t> numbers and calculate them.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>
            <p:ph idx="3" type="subTitle"/>
          </p:nvPr>
        </p:nvSpPr>
        <p:spPr>
          <a:xfrm>
            <a:off x="324000" y="9163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number is the product of two repeated integers.</a:t>
            </a:r>
            <a:endParaRPr/>
          </a:p>
        </p:txBody>
      </p:sp>
      <p:sp>
        <p:nvSpPr>
          <p:cNvPr id="1508" name="Google Shape;1508;p130"/>
          <p:cNvSpPr txBox="1"/>
          <p:nvPr>
            <p:ph idx="4" type="subTitle"/>
          </p:nvPr>
        </p:nvSpPr>
        <p:spPr>
          <a:xfrm>
            <a:off x="324000" y="2911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cube number is the product of three repeated integers.</a:t>
            </a:r>
            <a:endParaRPr/>
          </a:p>
        </p:txBody>
      </p:sp>
      <p:sp>
        <p:nvSpPr>
          <p:cNvPr id="1509" name="Google Shape;1509;p130"/>
          <p:cNvSpPr txBox="1"/>
          <p:nvPr/>
        </p:nvSpPr>
        <p:spPr>
          <a:xfrm>
            <a:off x="527950" y="1344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30"/>
          <p:cNvSpPr txBox="1"/>
          <p:nvPr/>
        </p:nvSpPr>
        <p:spPr>
          <a:xfrm>
            <a:off x="527950" y="1801575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30"/>
          <p:cNvSpPr txBox="1"/>
          <p:nvPr/>
        </p:nvSpPr>
        <p:spPr>
          <a:xfrm>
            <a:off x="527950" y="2182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 is a square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30"/>
          <p:cNvSpPr txBox="1"/>
          <p:nvPr/>
        </p:nvSpPr>
        <p:spPr>
          <a:xfrm>
            <a:off x="1594750" y="1801575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0"/>
          <p:cNvSpPr txBox="1"/>
          <p:nvPr/>
        </p:nvSpPr>
        <p:spPr>
          <a:xfrm>
            <a:off x="5404750" y="1344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30"/>
          <p:cNvSpPr txBox="1"/>
          <p:nvPr/>
        </p:nvSpPr>
        <p:spPr>
          <a:xfrm>
            <a:off x="5404750" y="1801575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✕ 5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30"/>
          <p:cNvSpPr txBox="1"/>
          <p:nvPr/>
        </p:nvSpPr>
        <p:spPr>
          <a:xfrm>
            <a:off x="5404750" y="2182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25 is a square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30"/>
          <p:cNvSpPr txBox="1"/>
          <p:nvPr/>
        </p:nvSpPr>
        <p:spPr>
          <a:xfrm>
            <a:off x="6471550" y="1801575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30"/>
          <p:cNvSpPr txBox="1"/>
          <p:nvPr/>
        </p:nvSpPr>
        <p:spPr>
          <a:xfrm>
            <a:off x="527950" y="3249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30"/>
          <p:cNvSpPr txBox="1"/>
          <p:nvPr/>
        </p:nvSpPr>
        <p:spPr>
          <a:xfrm>
            <a:off x="527950" y="3706575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2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30"/>
          <p:cNvSpPr txBox="1"/>
          <p:nvPr/>
        </p:nvSpPr>
        <p:spPr>
          <a:xfrm>
            <a:off x="527950" y="4087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30"/>
          <p:cNvSpPr txBox="1"/>
          <p:nvPr/>
        </p:nvSpPr>
        <p:spPr>
          <a:xfrm>
            <a:off x="2051950" y="3706575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30"/>
          <p:cNvSpPr txBox="1"/>
          <p:nvPr/>
        </p:nvSpPr>
        <p:spPr>
          <a:xfrm>
            <a:off x="5404750" y="3249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0"/>
          <p:cNvSpPr txBox="1"/>
          <p:nvPr/>
        </p:nvSpPr>
        <p:spPr>
          <a:xfrm>
            <a:off x="5404750" y="3706575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✕ 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0"/>
          <p:cNvSpPr txBox="1"/>
          <p:nvPr/>
        </p:nvSpPr>
        <p:spPr>
          <a:xfrm>
            <a:off x="5404750" y="4087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30"/>
          <p:cNvSpPr txBox="1"/>
          <p:nvPr/>
        </p:nvSpPr>
        <p:spPr>
          <a:xfrm>
            <a:off x="6928750" y="3706575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530" name="Google Shape;1530;p131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1531" name="Google Shape;1531;p131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pic>
        <p:nvPicPr>
          <p:cNvPr id="1532" name="Google Shape;153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2" y="206336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538" name="Google Shape;1538;p132"/>
          <p:cNvSpPr txBox="1"/>
          <p:nvPr>
            <p:ph idx="4294967295" type="subTitle"/>
          </p:nvPr>
        </p:nvSpPr>
        <p:spPr>
          <a:xfrm>
            <a:off x="324000" y="10476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number is the product of two repeated integers.</a:t>
            </a:r>
            <a:endParaRPr/>
          </a:p>
        </p:txBody>
      </p:sp>
      <p:sp>
        <p:nvSpPr>
          <p:cNvPr id="1539" name="Google Shape;1539;p132"/>
          <p:cNvSpPr txBox="1"/>
          <p:nvPr>
            <p:ph idx="4294967295" type="subTitle"/>
          </p:nvPr>
        </p:nvSpPr>
        <p:spPr>
          <a:xfrm>
            <a:off x="324000" y="25056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use 4 dots and 25 dots to show why they are called ‘square’ numbers?</a:t>
            </a:r>
            <a:endParaRPr/>
          </a:p>
        </p:txBody>
      </p:sp>
      <p:sp>
        <p:nvSpPr>
          <p:cNvPr id="1540" name="Google Shape;1540;p132"/>
          <p:cNvSpPr txBox="1"/>
          <p:nvPr/>
        </p:nvSpPr>
        <p:spPr>
          <a:xfrm>
            <a:off x="832750" y="1411200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2"/>
          <p:cNvSpPr txBox="1"/>
          <p:nvPr/>
        </p:nvSpPr>
        <p:spPr>
          <a:xfrm>
            <a:off x="832750" y="186840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2"/>
          <p:cNvSpPr txBox="1"/>
          <p:nvPr/>
        </p:nvSpPr>
        <p:spPr>
          <a:xfrm>
            <a:off x="1899550" y="186840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2"/>
          <p:cNvSpPr txBox="1"/>
          <p:nvPr/>
        </p:nvSpPr>
        <p:spPr>
          <a:xfrm>
            <a:off x="5709550" y="1411200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2"/>
          <p:cNvSpPr txBox="1"/>
          <p:nvPr/>
        </p:nvSpPr>
        <p:spPr>
          <a:xfrm>
            <a:off x="5709550" y="1868400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✕ 5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2"/>
          <p:cNvSpPr txBox="1"/>
          <p:nvPr/>
        </p:nvSpPr>
        <p:spPr>
          <a:xfrm>
            <a:off x="6776350" y="186840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132"/>
          <p:cNvGrpSpPr/>
          <p:nvPr/>
        </p:nvGrpSpPr>
        <p:grpSpPr>
          <a:xfrm>
            <a:off x="925275" y="3631950"/>
            <a:ext cx="1139100" cy="224700"/>
            <a:chOff x="963375" y="3320150"/>
            <a:chExt cx="1139100" cy="224700"/>
          </a:xfrm>
        </p:grpSpPr>
        <p:sp>
          <p:nvSpPr>
            <p:cNvPr id="1547" name="Google Shape;1547;p132"/>
            <p:cNvSpPr/>
            <p:nvPr/>
          </p:nvSpPr>
          <p:spPr>
            <a:xfrm>
              <a:off x="9633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32"/>
            <p:cNvSpPr/>
            <p:nvPr/>
          </p:nvSpPr>
          <p:spPr>
            <a:xfrm>
              <a:off x="12681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32"/>
            <p:cNvSpPr/>
            <p:nvPr/>
          </p:nvSpPr>
          <p:spPr>
            <a:xfrm>
              <a:off x="15729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32"/>
            <p:cNvSpPr/>
            <p:nvPr/>
          </p:nvSpPr>
          <p:spPr>
            <a:xfrm>
              <a:off x="18777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1" name="Google Shape;1551;p132"/>
          <p:cNvGrpSpPr/>
          <p:nvPr/>
        </p:nvGrpSpPr>
        <p:grpSpPr>
          <a:xfrm>
            <a:off x="4811475" y="3327150"/>
            <a:ext cx="2967900" cy="834300"/>
            <a:chOff x="4849575" y="3015350"/>
            <a:chExt cx="2967900" cy="834300"/>
          </a:xfrm>
        </p:grpSpPr>
        <p:sp>
          <p:nvSpPr>
            <p:cNvPr id="1552" name="Google Shape;1552;p132"/>
            <p:cNvSpPr/>
            <p:nvPr/>
          </p:nvSpPr>
          <p:spPr>
            <a:xfrm>
              <a:off x="72879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32"/>
            <p:cNvSpPr/>
            <p:nvPr/>
          </p:nvSpPr>
          <p:spPr>
            <a:xfrm>
              <a:off x="75927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32"/>
            <p:cNvSpPr/>
            <p:nvPr/>
          </p:nvSpPr>
          <p:spPr>
            <a:xfrm>
              <a:off x="4849575" y="36249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32"/>
            <p:cNvSpPr/>
            <p:nvPr/>
          </p:nvSpPr>
          <p:spPr>
            <a:xfrm>
              <a:off x="5154375" y="36249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32"/>
            <p:cNvSpPr/>
            <p:nvPr/>
          </p:nvSpPr>
          <p:spPr>
            <a:xfrm>
              <a:off x="60687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32"/>
            <p:cNvSpPr/>
            <p:nvPr/>
          </p:nvSpPr>
          <p:spPr>
            <a:xfrm>
              <a:off x="63735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32"/>
            <p:cNvSpPr/>
            <p:nvPr/>
          </p:nvSpPr>
          <p:spPr>
            <a:xfrm>
              <a:off x="66783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32"/>
            <p:cNvSpPr/>
            <p:nvPr/>
          </p:nvSpPr>
          <p:spPr>
            <a:xfrm>
              <a:off x="69831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32"/>
            <p:cNvSpPr/>
            <p:nvPr/>
          </p:nvSpPr>
          <p:spPr>
            <a:xfrm>
              <a:off x="48495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32"/>
            <p:cNvSpPr/>
            <p:nvPr/>
          </p:nvSpPr>
          <p:spPr>
            <a:xfrm>
              <a:off x="51543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32"/>
            <p:cNvSpPr/>
            <p:nvPr/>
          </p:nvSpPr>
          <p:spPr>
            <a:xfrm>
              <a:off x="54591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32"/>
            <p:cNvSpPr/>
            <p:nvPr/>
          </p:nvSpPr>
          <p:spPr>
            <a:xfrm>
              <a:off x="57639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32"/>
            <p:cNvSpPr/>
            <p:nvPr/>
          </p:nvSpPr>
          <p:spPr>
            <a:xfrm>
              <a:off x="63735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32"/>
            <p:cNvSpPr/>
            <p:nvPr/>
          </p:nvSpPr>
          <p:spPr>
            <a:xfrm>
              <a:off x="66783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32"/>
            <p:cNvSpPr/>
            <p:nvPr/>
          </p:nvSpPr>
          <p:spPr>
            <a:xfrm>
              <a:off x="69831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32"/>
            <p:cNvSpPr/>
            <p:nvPr/>
          </p:nvSpPr>
          <p:spPr>
            <a:xfrm>
              <a:off x="72879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32"/>
            <p:cNvSpPr/>
            <p:nvPr/>
          </p:nvSpPr>
          <p:spPr>
            <a:xfrm>
              <a:off x="51543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32"/>
            <p:cNvSpPr/>
            <p:nvPr/>
          </p:nvSpPr>
          <p:spPr>
            <a:xfrm>
              <a:off x="54591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32"/>
            <p:cNvSpPr/>
            <p:nvPr/>
          </p:nvSpPr>
          <p:spPr>
            <a:xfrm>
              <a:off x="57639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32"/>
            <p:cNvSpPr/>
            <p:nvPr/>
          </p:nvSpPr>
          <p:spPr>
            <a:xfrm>
              <a:off x="60687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32"/>
            <p:cNvSpPr/>
            <p:nvPr/>
          </p:nvSpPr>
          <p:spPr>
            <a:xfrm>
              <a:off x="48495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3" name="Google Shape;1573;p132"/>
          <p:cNvGrpSpPr/>
          <p:nvPr/>
        </p:nvGrpSpPr>
        <p:grpSpPr>
          <a:xfrm>
            <a:off x="5421075" y="3631950"/>
            <a:ext cx="2358300" cy="529500"/>
            <a:chOff x="5459175" y="3015350"/>
            <a:chExt cx="2358300" cy="529500"/>
          </a:xfrm>
        </p:grpSpPr>
        <p:sp>
          <p:nvSpPr>
            <p:cNvPr id="1574" name="Google Shape;1574;p132"/>
            <p:cNvSpPr/>
            <p:nvPr/>
          </p:nvSpPr>
          <p:spPr>
            <a:xfrm>
              <a:off x="7592775" y="3015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32"/>
            <p:cNvSpPr/>
            <p:nvPr/>
          </p:nvSpPr>
          <p:spPr>
            <a:xfrm>
              <a:off x="54591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32"/>
            <p:cNvSpPr/>
            <p:nvPr/>
          </p:nvSpPr>
          <p:spPr>
            <a:xfrm>
              <a:off x="5763975" y="3320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7" name="Google Shape;1577;p132"/>
          <p:cNvSpPr/>
          <p:nvPr/>
        </p:nvSpPr>
        <p:spPr>
          <a:xfrm>
            <a:off x="6030675" y="3936750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583" name="Google Shape;1583;p133"/>
          <p:cNvSpPr txBox="1"/>
          <p:nvPr>
            <p:ph idx="4294967295" type="subTitle"/>
          </p:nvPr>
        </p:nvSpPr>
        <p:spPr>
          <a:xfrm>
            <a:off x="324000" y="104603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number is the product of two repeated integers.</a:t>
            </a:r>
            <a:endParaRPr/>
          </a:p>
        </p:txBody>
      </p:sp>
      <p:sp>
        <p:nvSpPr>
          <p:cNvPr id="1584" name="Google Shape;1584;p133"/>
          <p:cNvSpPr txBox="1"/>
          <p:nvPr>
            <p:ph idx="4294967295" type="subTitle"/>
          </p:nvPr>
        </p:nvSpPr>
        <p:spPr>
          <a:xfrm>
            <a:off x="324000" y="2507056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use 4 dots and 25 dots to show why they are called ‘square’ numbers?</a:t>
            </a:r>
            <a:endParaRPr/>
          </a:p>
        </p:txBody>
      </p:sp>
      <p:sp>
        <p:nvSpPr>
          <p:cNvPr id="1585" name="Google Shape;1585;p133"/>
          <p:cNvSpPr/>
          <p:nvPr/>
        </p:nvSpPr>
        <p:spPr>
          <a:xfrm>
            <a:off x="1344375" y="3463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33"/>
          <p:cNvSpPr/>
          <p:nvPr/>
        </p:nvSpPr>
        <p:spPr>
          <a:xfrm>
            <a:off x="1649175" y="3463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33"/>
          <p:cNvSpPr txBox="1"/>
          <p:nvPr/>
        </p:nvSpPr>
        <p:spPr>
          <a:xfrm>
            <a:off x="832750" y="1411050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3"/>
          <p:cNvSpPr txBox="1"/>
          <p:nvPr/>
        </p:nvSpPr>
        <p:spPr>
          <a:xfrm>
            <a:off x="832750" y="186825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3"/>
          <p:cNvSpPr txBox="1"/>
          <p:nvPr/>
        </p:nvSpPr>
        <p:spPr>
          <a:xfrm>
            <a:off x="1899550" y="186825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3"/>
          <p:cNvSpPr txBox="1"/>
          <p:nvPr/>
        </p:nvSpPr>
        <p:spPr>
          <a:xfrm>
            <a:off x="5709550" y="1411050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3"/>
          <p:cNvSpPr txBox="1"/>
          <p:nvPr/>
        </p:nvSpPr>
        <p:spPr>
          <a:xfrm>
            <a:off x="5709550" y="1868250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✕ 5 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3"/>
          <p:cNvSpPr txBox="1"/>
          <p:nvPr/>
        </p:nvSpPr>
        <p:spPr>
          <a:xfrm>
            <a:off x="6776350" y="186825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3"/>
          <p:cNvSpPr/>
          <p:nvPr/>
        </p:nvSpPr>
        <p:spPr>
          <a:xfrm>
            <a:off x="1344375" y="3767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33"/>
          <p:cNvSpPr/>
          <p:nvPr/>
        </p:nvSpPr>
        <p:spPr>
          <a:xfrm>
            <a:off x="1649175" y="3767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33"/>
          <p:cNvSpPr/>
          <p:nvPr/>
        </p:nvSpPr>
        <p:spPr>
          <a:xfrm>
            <a:off x="6983175" y="3082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33"/>
          <p:cNvSpPr/>
          <p:nvPr/>
        </p:nvSpPr>
        <p:spPr>
          <a:xfrm>
            <a:off x="5763975" y="3082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33"/>
          <p:cNvSpPr/>
          <p:nvPr/>
        </p:nvSpPr>
        <p:spPr>
          <a:xfrm>
            <a:off x="6068775" y="3082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33"/>
          <p:cNvSpPr/>
          <p:nvPr/>
        </p:nvSpPr>
        <p:spPr>
          <a:xfrm>
            <a:off x="6373575" y="3082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33"/>
          <p:cNvSpPr/>
          <p:nvPr/>
        </p:nvSpPr>
        <p:spPr>
          <a:xfrm>
            <a:off x="6678375" y="30820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33"/>
          <p:cNvSpPr txBox="1"/>
          <p:nvPr/>
        </p:nvSpPr>
        <p:spPr>
          <a:xfrm>
            <a:off x="1429112" y="39964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3"/>
          <p:cNvSpPr txBox="1"/>
          <p:nvPr/>
        </p:nvSpPr>
        <p:spPr>
          <a:xfrm>
            <a:off x="971912" y="34630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33"/>
          <p:cNvSpPr/>
          <p:nvPr/>
        </p:nvSpPr>
        <p:spPr>
          <a:xfrm>
            <a:off x="6983175" y="3386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33"/>
          <p:cNvSpPr/>
          <p:nvPr/>
        </p:nvSpPr>
        <p:spPr>
          <a:xfrm>
            <a:off x="5763975" y="3386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33"/>
          <p:cNvSpPr/>
          <p:nvPr/>
        </p:nvSpPr>
        <p:spPr>
          <a:xfrm>
            <a:off x="6068775" y="3386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33"/>
          <p:cNvSpPr/>
          <p:nvPr/>
        </p:nvSpPr>
        <p:spPr>
          <a:xfrm>
            <a:off x="6373575" y="3386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33"/>
          <p:cNvSpPr/>
          <p:nvPr/>
        </p:nvSpPr>
        <p:spPr>
          <a:xfrm>
            <a:off x="6678375" y="33868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33"/>
          <p:cNvSpPr/>
          <p:nvPr/>
        </p:nvSpPr>
        <p:spPr>
          <a:xfrm>
            <a:off x="6983175" y="36916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33"/>
          <p:cNvSpPr/>
          <p:nvPr/>
        </p:nvSpPr>
        <p:spPr>
          <a:xfrm>
            <a:off x="5763975" y="36916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33"/>
          <p:cNvSpPr/>
          <p:nvPr/>
        </p:nvSpPr>
        <p:spPr>
          <a:xfrm>
            <a:off x="6068775" y="36916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33"/>
          <p:cNvSpPr/>
          <p:nvPr/>
        </p:nvSpPr>
        <p:spPr>
          <a:xfrm>
            <a:off x="6373575" y="36916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33"/>
          <p:cNvSpPr/>
          <p:nvPr/>
        </p:nvSpPr>
        <p:spPr>
          <a:xfrm>
            <a:off x="6678375" y="36916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33"/>
          <p:cNvSpPr/>
          <p:nvPr/>
        </p:nvSpPr>
        <p:spPr>
          <a:xfrm>
            <a:off x="6983175" y="39964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33"/>
          <p:cNvSpPr/>
          <p:nvPr/>
        </p:nvSpPr>
        <p:spPr>
          <a:xfrm>
            <a:off x="5763975" y="39964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33"/>
          <p:cNvSpPr/>
          <p:nvPr/>
        </p:nvSpPr>
        <p:spPr>
          <a:xfrm>
            <a:off x="6068775" y="39964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33"/>
          <p:cNvSpPr/>
          <p:nvPr/>
        </p:nvSpPr>
        <p:spPr>
          <a:xfrm>
            <a:off x="6373575" y="39964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33"/>
          <p:cNvSpPr/>
          <p:nvPr/>
        </p:nvSpPr>
        <p:spPr>
          <a:xfrm>
            <a:off x="6678375" y="39964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33"/>
          <p:cNvSpPr/>
          <p:nvPr/>
        </p:nvSpPr>
        <p:spPr>
          <a:xfrm>
            <a:off x="6983175" y="43012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33"/>
          <p:cNvSpPr/>
          <p:nvPr/>
        </p:nvSpPr>
        <p:spPr>
          <a:xfrm>
            <a:off x="5763975" y="43012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33"/>
          <p:cNvSpPr/>
          <p:nvPr/>
        </p:nvSpPr>
        <p:spPr>
          <a:xfrm>
            <a:off x="6068775" y="43012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33"/>
          <p:cNvSpPr/>
          <p:nvPr/>
        </p:nvSpPr>
        <p:spPr>
          <a:xfrm>
            <a:off x="6373575" y="43012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33"/>
          <p:cNvSpPr/>
          <p:nvPr/>
        </p:nvSpPr>
        <p:spPr>
          <a:xfrm>
            <a:off x="6678375" y="4301225"/>
            <a:ext cx="224700" cy="2247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33"/>
          <p:cNvSpPr txBox="1"/>
          <p:nvPr/>
        </p:nvSpPr>
        <p:spPr>
          <a:xfrm>
            <a:off x="5351462" y="34828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3"/>
          <p:cNvSpPr txBox="1"/>
          <p:nvPr/>
        </p:nvSpPr>
        <p:spPr>
          <a:xfrm>
            <a:off x="6326300" y="4430700"/>
            <a:ext cx="405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8" name="Google Shape;1628;p134"/>
          <p:cNvGraphicFramePr/>
          <p:nvPr/>
        </p:nvGraphicFramePr>
        <p:xfrm>
          <a:off x="444713" y="112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1176350"/>
                <a:gridCol w="2378150"/>
                <a:gridCol w="2282900"/>
                <a:gridCol w="2191500"/>
              </a:tblGrid>
              <a:tr h="45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Array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81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742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85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29" name="Google Shape;1629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630" name="Google Shape;1630;p134"/>
          <p:cNvSpPr txBox="1"/>
          <p:nvPr/>
        </p:nvSpPr>
        <p:spPr>
          <a:xfrm>
            <a:off x="4800600" y="3219376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 ✕ 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34"/>
          <p:cNvSpPr/>
          <p:nvPr/>
        </p:nvSpPr>
        <p:spPr>
          <a:xfrm>
            <a:off x="2610726" y="1831345"/>
            <a:ext cx="128100" cy="1260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34"/>
          <p:cNvSpPr txBox="1"/>
          <p:nvPr/>
        </p:nvSpPr>
        <p:spPr>
          <a:xfrm>
            <a:off x="4800600" y="40091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4"/>
          <p:cNvSpPr txBox="1"/>
          <p:nvPr/>
        </p:nvSpPr>
        <p:spPr>
          <a:xfrm>
            <a:off x="7178400" y="3221957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4" name="Google Shape;1634;p134"/>
          <p:cNvGrpSpPr/>
          <p:nvPr/>
        </p:nvGrpSpPr>
        <p:grpSpPr>
          <a:xfrm>
            <a:off x="2610724" y="2479486"/>
            <a:ext cx="327334" cy="334151"/>
            <a:chOff x="2659067" y="2473054"/>
            <a:chExt cx="327334" cy="334151"/>
          </a:xfrm>
        </p:grpSpPr>
        <p:sp>
          <p:nvSpPr>
            <p:cNvPr id="1635" name="Google Shape;1635;p134"/>
            <p:cNvSpPr/>
            <p:nvPr/>
          </p:nvSpPr>
          <p:spPr>
            <a:xfrm>
              <a:off x="2659067" y="2681205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34"/>
            <p:cNvSpPr/>
            <p:nvPr/>
          </p:nvSpPr>
          <p:spPr>
            <a:xfrm>
              <a:off x="2858300" y="2681205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34"/>
            <p:cNvSpPr/>
            <p:nvPr/>
          </p:nvSpPr>
          <p:spPr>
            <a:xfrm>
              <a:off x="2659067" y="247305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34"/>
            <p:cNvSpPr/>
            <p:nvPr/>
          </p:nvSpPr>
          <p:spPr>
            <a:xfrm>
              <a:off x="2858300" y="247305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9" name="Google Shape;1639;p134"/>
          <p:cNvSpPr txBox="1"/>
          <p:nvPr/>
        </p:nvSpPr>
        <p:spPr>
          <a:xfrm>
            <a:off x="7178400" y="40117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4"/>
          <p:cNvSpPr txBox="1"/>
          <p:nvPr/>
        </p:nvSpPr>
        <p:spPr>
          <a:xfrm>
            <a:off x="4800600" y="16469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4"/>
          <p:cNvSpPr txBox="1"/>
          <p:nvPr/>
        </p:nvSpPr>
        <p:spPr>
          <a:xfrm>
            <a:off x="4800600" y="24851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4"/>
          <p:cNvSpPr txBox="1"/>
          <p:nvPr/>
        </p:nvSpPr>
        <p:spPr>
          <a:xfrm>
            <a:off x="7178400" y="16495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4"/>
          <p:cNvSpPr txBox="1"/>
          <p:nvPr/>
        </p:nvSpPr>
        <p:spPr>
          <a:xfrm>
            <a:off x="7178400" y="24877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4" name="Google Shape;1644;p134"/>
          <p:cNvGrpSpPr/>
          <p:nvPr/>
        </p:nvGrpSpPr>
        <p:grpSpPr>
          <a:xfrm>
            <a:off x="2610723" y="3929068"/>
            <a:ext cx="725801" cy="750454"/>
            <a:chOff x="2510100" y="3950561"/>
            <a:chExt cx="725801" cy="750454"/>
          </a:xfrm>
        </p:grpSpPr>
        <p:sp>
          <p:nvSpPr>
            <p:cNvPr id="1645" name="Google Shape;1645;p134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34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34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34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34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34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34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34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34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34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34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34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34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34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34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34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134"/>
          <p:cNvGrpSpPr/>
          <p:nvPr/>
        </p:nvGrpSpPr>
        <p:grpSpPr>
          <a:xfrm>
            <a:off x="2625793" y="3175175"/>
            <a:ext cx="526568" cy="542302"/>
            <a:chOff x="2586300" y="3196667"/>
            <a:chExt cx="526568" cy="542302"/>
          </a:xfrm>
        </p:grpSpPr>
        <p:sp>
          <p:nvSpPr>
            <p:cNvPr id="1662" name="Google Shape;1662;p134"/>
            <p:cNvSpPr/>
            <p:nvPr/>
          </p:nvSpPr>
          <p:spPr>
            <a:xfrm>
              <a:off x="2586300" y="340481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34"/>
            <p:cNvSpPr/>
            <p:nvPr/>
          </p:nvSpPr>
          <p:spPr>
            <a:xfrm>
              <a:off x="2785534" y="340481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34"/>
            <p:cNvSpPr/>
            <p:nvPr/>
          </p:nvSpPr>
          <p:spPr>
            <a:xfrm>
              <a:off x="2586300" y="319666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34"/>
            <p:cNvSpPr/>
            <p:nvPr/>
          </p:nvSpPr>
          <p:spPr>
            <a:xfrm>
              <a:off x="2785534" y="319666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34"/>
            <p:cNvSpPr/>
            <p:nvPr/>
          </p:nvSpPr>
          <p:spPr>
            <a:xfrm>
              <a:off x="2586300" y="3612970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34"/>
            <p:cNvSpPr/>
            <p:nvPr/>
          </p:nvSpPr>
          <p:spPr>
            <a:xfrm>
              <a:off x="2785534" y="3612970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34"/>
            <p:cNvSpPr/>
            <p:nvPr/>
          </p:nvSpPr>
          <p:spPr>
            <a:xfrm>
              <a:off x="2984768" y="340481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34"/>
            <p:cNvSpPr/>
            <p:nvPr/>
          </p:nvSpPr>
          <p:spPr>
            <a:xfrm>
              <a:off x="2984768" y="319666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34"/>
            <p:cNvSpPr/>
            <p:nvPr/>
          </p:nvSpPr>
          <p:spPr>
            <a:xfrm>
              <a:off x="2984768" y="3612970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5" name="Google Shape;1675;p135"/>
          <p:cNvGraphicFramePr/>
          <p:nvPr/>
        </p:nvGraphicFramePr>
        <p:xfrm>
          <a:off x="446400" y="11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1197650"/>
                <a:gridCol w="2294425"/>
                <a:gridCol w="2451025"/>
                <a:gridCol w="2073325"/>
              </a:tblGrid>
              <a:tr h="40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Array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92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42679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09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293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76" name="Google Shape;167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41" y="2532283"/>
            <a:ext cx="1039097" cy="10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678" name="Google Shape;1678;p135"/>
          <p:cNvSpPr txBox="1"/>
          <p:nvPr/>
        </p:nvSpPr>
        <p:spPr>
          <a:xfrm>
            <a:off x="4800600" y="2871033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35"/>
          <p:cNvSpPr txBox="1"/>
          <p:nvPr/>
        </p:nvSpPr>
        <p:spPr>
          <a:xfrm>
            <a:off x="4800600" y="3965601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7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135"/>
          <p:cNvSpPr txBox="1"/>
          <p:nvPr/>
        </p:nvSpPr>
        <p:spPr>
          <a:xfrm>
            <a:off x="7101675" y="3968182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49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35"/>
          <p:cNvSpPr txBox="1"/>
          <p:nvPr/>
        </p:nvSpPr>
        <p:spPr>
          <a:xfrm>
            <a:off x="4800600" y="1755801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5"/>
          <p:cNvSpPr txBox="1"/>
          <p:nvPr/>
        </p:nvSpPr>
        <p:spPr>
          <a:xfrm>
            <a:off x="7101675" y="1758382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35"/>
          <p:cNvSpPr txBox="1"/>
          <p:nvPr/>
        </p:nvSpPr>
        <p:spPr>
          <a:xfrm>
            <a:off x="7101675" y="2901382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4" name="Google Shape;1684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450" y="1616470"/>
            <a:ext cx="851700" cy="8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35"/>
          <p:cNvSpPr txBox="1"/>
          <p:nvPr>
            <p:ph idx="4294967295" type="subTitle"/>
          </p:nvPr>
        </p:nvSpPr>
        <p:spPr>
          <a:xfrm>
            <a:off x="400200" y="748819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fill in the rest of the table?</a:t>
            </a:r>
            <a:endParaRPr sz="2000"/>
          </a:p>
        </p:txBody>
      </p:sp>
      <p:pic>
        <p:nvPicPr>
          <p:cNvPr id="1686" name="Google Shape;1686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2450" y="3647280"/>
            <a:ext cx="1189450" cy="12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pic>
        <p:nvPicPr>
          <p:cNvPr id="1692" name="Google Shape;169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675" y="1363375"/>
            <a:ext cx="3996099" cy="227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36"/>
          <p:cNvSpPr txBox="1"/>
          <p:nvPr/>
        </p:nvSpPr>
        <p:spPr>
          <a:xfrm>
            <a:off x="4605050" y="1448200"/>
            <a:ext cx="38346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 have made a square number because I have used an array with 3.5 dots by 3.5 dots. This means 12.25 is a square number.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4" name="Google Shape;1694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058724" y="2331899"/>
            <a:ext cx="1232326" cy="1123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5" name="Google Shape;1695;p136"/>
          <p:cNvGrpSpPr/>
          <p:nvPr/>
        </p:nvGrpSpPr>
        <p:grpSpPr>
          <a:xfrm>
            <a:off x="394775" y="1379125"/>
            <a:ext cx="2502300" cy="2077200"/>
            <a:chOff x="394775" y="1379125"/>
            <a:chExt cx="2502300" cy="2077200"/>
          </a:xfrm>
        </p:grpSpPr>
        <p:sp>
          <p:nvSpPr>
            <p:cNvPr id="1696" name="Google Shape;1696;p136"/>
            <p:cNvSpPr/>
            <p:nvPr/>
          </p:nvSpPr>
          <p:spPr>
            <a:xfrm>
              <a:off x="394775" y="1379125"/>
              <a:ext cx="2502300" cy="207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7" name="Google Shape;1697;p1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48950" y="1448013"/>
              <a:ext cx="1833440" cy="193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8" name="Google Shape;1698;p136"/>
          <p:cNvSpPr txBox="1"/>
          <p:nvPr/>
        </p:nvSpPr>
        <p:spPr>
          <a:xfrm>
            <a:off x="394775" y="769525"/>
            <a:ext cx="80541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 drew this array. She then says: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36"/>
          <p:cNvSpPr txBox="1"/>
          <p:nvPr/>
        </p:nvSpPr>
        <p:spPr>
          <a:xfrm>
            <a:off x="324000" y="3768200"/>
            <a:ext cx="342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Is she correct? Explain.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36"/>
          <p:cNvSpPr txBox="1"/>
          <p:nvPr>
            <p:ph idx="4294967295" type="subTitle"/>
          </p:nvPr>
        </p:nvSpPr>
        <p:spPr>
          <a:xfrm>
            <a:off x="400200" y="42691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No.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A square number is the product of two repeated integers.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pic>
        <p:nvPicPr>
          <p:cNvPr id="1706" name="Google Shape;1706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675" y="1363375"/>
            <a:ext cx="3996099" cy="227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37"/>
          <p:cNvSpPr txBox="1"/>
          <p:nvPr/>
        </p:nvSpPr>
        <p:spPr>
          <a:xfrm>
            <a:off x="4572000" y="1861850"/>
            <a:ext cx="38346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This array shows 3 is the square number.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7"/>
          <p:cNvSpPr/>
          <p:nvPr/>
        </p:nvSpPr>
        <p:spPr>
          <a:xfrm>
            <a:off x="394775" y="1379125"/>
            <a:ext cx="2502300" cy="207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9" name="Google Shape;1709;p137"/>
          <p:cNvPicPr preferRelativeResize="0"/>
          <p:nvPr/>
        </p:nvPicPr>
        <p:blipFill rotWithShape="1">
          <a:blip r:embed="rId4">
            <a:alphaModFix/>
          </a:blip>
          <a:srcRect b="15447" l="0" r="15160" t="0"/>
          <a:stretch/>
        </p:blipFill>
        <p:spPr>
          <a:xfrm>
            <a:off x="839200" y="1600075"/>
            <a:ext cx="1555500" cy="16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137"/>
          <p:cNvSpPr txBox="1"/>
          <p:nvPr/>
        </p:nvSpPr>
        <p:spPr>
          <a:xfrm>
            <a:off x="394775" y="769525"/>
            <a:ext cx="80541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Lucas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drew this array. He then says: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37"/>
          <p:cNvSpPr txBox="1"/>
          <p:nvPr/>
        </p:nvSpPr>
        <p:spPr>
          <a:xfrm>
            <a:off x="324000" y="3768200"/>
            <a:ext cx="342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Is he correct? Explain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37"/>
          <p:cNvSpPr txBox="1"/>
          <p:nvPr>
            <p:ph idx="4294967295" type="subTitle"/>
          </p:nvPr>
        </p:nvSpPr>
        <p:spPr>
          <a:xfrm>
            <a:off x="400200" y="42691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9 is the square number as it is the product of 3 and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13" name="Google Shape;1713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5721" y="2539450"/>
            <a:ext cx="798316" cy="896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38"/>
          <p:cNvSpPr txBox="1"/>
          <p:nvPr>
            <p:ph idx="1" type="body"/>
          </p:nvPr>
        </p:nvSpPr>
        <p:spPr>
          <a:xfrm>
            <a:off x="324000" y="1027563"/>
            <a:ext cx="82377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up the arrays with the correct square number.</a:t>
            </a:r>
            <a:endParaRPr/>
          </a:p>
        </p:txBody>
      </p:sp>
      <p:sp>
        <p:nvSpPr>
          <p:cNvPr id="1719" name="Google Shape;1719;p13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grpSp>
        <p:nvGrpSpPr>
          <p:cNvPr id="1720" name="Google Shape;1720;p138"/>
          <p:cNvGrpSpPr/>
          <p:nvPr/>
        </p:nvGrpSpPr>
        <p:grpSpPr>
          <a:xfrm>
            <a:off x="4600373" y="1589231"/>
            <a:ext cx="1531895" cy="1588654"/>
            <a:chOff x="4524173" y="1244768"/>
            <a:chExt cx="1531895" cy="1588654"/>
          </a:xfrm>
        </p:grpSpPr>
        <p:grpSp>
          <p:nvGrpSpPr>
            <p:cNvPr id="1721" name="Google Shape;1721;p138"/>
            <p:cNvGrpSpPr/>
            <p:nvPr/>
          </p:nvGrpSpPr>
          <p:grpSpPr>
            <a:xfrm flipH="1">
              <a:off x="5330266" y="1244768"/>
              <a:ext cx="725801" cy="750454"/>
              <a:chOff x="2510100" y="3950561"/>
              <a:chExt cx="725801" cy="750454"/>
            </a:xfrm>
          </p:grpSpPr>
          <p:sp>
            <p:nvSpPr>
              <p:cNvPr id="1722" name="Google Shape;1722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8" name="Google Shape;1738;p138"/>
            <p:cNvGrpSpPr/>
            <p:nvPr/>
          </p:nvGrpSpPr>
          <p:grpSpPr>
            <a:xfrm flipH="1">
              <a:off x="5330266" y="2082968"/>
              <a:ext cx="725801" cy="750454"/>
              <a:chOff x="2510100" y="3950561"/>
              <a:chExt cx="725801" cy="750454"/>
            </a:xfrm>
          </p:grpSpPr>
          <p:sp>
            <p:nvSpPr>
              <p:cNvPr id="1739" name="Google Shape;1739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5" name="Google Shape;1755;p138"/>
            <p:cNvGrpSpPr/>
            <p:nvPr/>
          </p:nvGrpSpPr>
          <p:grpSpPr>
            <a:xfrm flipH="1">
              <a:off x="4524173" y="1244768"/>
              <a:ext cx="725801" cy="750454"/>
              <a:chOff x="2510100" y="3950561"/>
              <a:chExt cx="725801" cy="750454"/>
            </a:xfrm>
          </p:grpSpPr>
          <p:sp>
            <p:nvSpPr>
              <p:cNvPr id="1756" name="Google Shape;1756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2" name="Google Shape;1772;p138"/>
            <p:cNvGrpSpPr/>
            <p:nvPr/>
          </p:nvGrpSpPr>
          <p:grpSpPr>
            <a:xfrm flipH="1">
              <a:off x="4524173" y="2082968"/>
              <a:ext cx="725801" cy="750454"/>
              <a:chOff x="2510100" y="3950561"/>
              <a:chExt cx="725801" cy="750454"/>
            </a:xfrm>
          </p:grpSpPr>
          <p:sp>
            <p:nvSpPr>
              <p:cNvPr id="1773" name="Google Shape;1773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9" name="Google Shape;1789;p138"/>
          <p:cNvGrpSpPr/>
          <p:nvPr/>
        </p:nvGrpSpPr>
        <p:grpSpPr>
          <a:xfrm>
            <a:off x="6959973" y="2401856"/>
            <a:ext cx="725801" cy="750454"/>
            <a:chOff x="2510100" y="3950561"/>
            <a:chExt cx="725801" cy="750454"/>
          </a:xfrm>
        </p:grpSpPr>
        <p:sp>
          <p:nvSpPr>
            <p:cNvPr id="1790" name="Google Shape;1790;p138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38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38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38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138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38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38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38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138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138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38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138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138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38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38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38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6" name="Google Shape;1806;p138"/>
          <p:cNvSpPr txBox="1"/>
          <p:nvPr>
            <p:ph idx="1" type="body"/>
          </p:nvPr>
        </p:nvSpPr>
        <p:spPr>
          <a:xfrm>
            <a:off x="3252263" y="3590300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49</a:t>
            </a:r>
            <a:endParaRPr sz="2700"/>
          </a:p>
        </p:txBody>
      </p:sp>
      <p:sp>
        <p:nvSpPr>
          <p:cNvPr id="1807" name="Google Shape;1807;p138"/>
          <p:cNvSpPr txBox="1"/>
          <p:nvPr>
            <p:ph idx="1" type="body"/>
          </p:nvPr>
        </p:nvSpPr>
        <p:spPr>
          <a:xfrm>
            <a:off x="6615420" y="3798438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25</a:t>
            </a:r>
            <a:endParaRPr sz="2700"/>
          </a:p>
        </p:txBody>
      </p:sp>
      <p:sp>
        <p:nvSpPr>
          <p:cNvPr id="1808" name="Google Shape;1808;p138"/>
          <p:cNvSpPr txBox="1"/>
          <p:nvPr>
            <p:ph idx="1" type="body"/>
          </p:nvPr>
        </p:nvSpPr>
        <p:spPr>
          <a:xfrm>
            <a:off x="1684788" y="3936525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64</a:t>
            </a:r>
            <a:endParaRPr sz="2700"/>
          </a:p>
        </p:txBody>
      </p:sp>
      <p:sp>
        <p:nvSpPr>
          <p:cNvPr id="1809" name="Google Shape;1809;p138"/>
          <p:cNvSpPr txBox="1"/>
          <p:nvPr>
            <p:ph idx="1" type="body"/>
          </p:nvPr>
        </p:nvSpPr>
        <p:spPr>
          <a:xfrm>
            <a:off x="4933838" y="3936525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16</a:t>
            </a:r>
            <a:endParaRPr sz="2700"/>
          </a:p>
        </p:txBody>
      </p:sp>
      <p:sp>
        <p:nvSpPr>
          <p:cNvPr id="1810" name="Google Shape;1810;p138"/>
          <p:cNvSpPr/>
          <p:nvPr/>
        </p:nvSpPr>
        <p:spPr>
          <a:xfrm>
            <a:off x="1409925" y="3772325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38"/>
          <p:cNvSpPr/>
          <p:nvPr/>
        </p:nvSpPr>
        <p:spPr>
          <a:xfrm>
            <a:off x="3011013" y="34047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38"/>
          <p:cNvSpPr/>
          <p:nvPr/>
        </p:nvSpPr>
        <p:spPr>
          <a:xfrm>
            <a:off x="4687413" y="37857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138"/>
          <p:cNvSpPr/>
          <p:nvPr/>
        </p:nvSpPr>
        <p:spPr>
          <a:xfrm>
            <a:off x="6363813" y="36333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4" name="Google Shape;1814;p138"/>
          <p:cNvGrpSpPr/>
          <p:nvPr/>
        </p:nvGrpSpPr>
        <p:grpSpPr>
          <a:xfrm>
            <a:off x="782223" y="1620006"/>
            <a:ext cx="1332661" cy="1380502"/>
            <a:chOff x="782223" y="1620006"/>
            <a:chExt cx="1332661" cy="1380502"/>
          </a:xfrm>
        </p:grpSpPr>
        <p:sp>
          <p:nvSpPr>
            <p:cNvPr id="1815" name="Google Shape;1815;p138"/>
            <p:cNvSpPr/>
            <p:nvPr/>
          </p:nvSpPr>
          <p:spPr>
            <a:xfrm flipH="1">
              <a:off x="1986784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38"/>
            <p:cNvSpPr/>
            <p:nvPr/>
          </p:nvSpPr>
          <p:spPr>
            <a:xfrm flipH="1">
              <a:off x="1986784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38"/>
            <p:cNvSpPr/>
            <p:nvPr/>
          </p:nvSpPr>
          <p:spPr>
            <a:xfrm flipH="1">
              <a:off x="1986784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38"/>
            <p:cNvSpPr/>
            <p:nvPr/>
          </p:nvSpPr>
          <p:spPr>
            <a:xfrm flipH="1">
              <a:off x="1787550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38"/>
            <p:cNvSpPr/>
            <p:nvPr/>
          </p:nvSpPr>
          <p:spPr>
            <a:xfrm flipH="1">
              <a:off x="1787550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38"/>
            <p:cNvSpPr/>
            <p:nvPr/>
          </p:nvSpPr>
          <p:spPr>
            <a:xfrm flipH="1">
              <a:off x="1787550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38"/>
            <p:cNvSpPr/>
            <p:nvPr/>
          </p:nvSpPr>
          <p:spPr>
            <a:xfrm flipH="1">
              <a:off x="1588316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38"/>
            <p:cNvSpPr/>
            <p:nvPr/>
          </p:nvSpPr>
          <p:spPr>
            <a:xfrm flipH="1">
              <a:off x="1588316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38"/>
            <p:cNvSpPr/>
            <p:nvPr/>
          </p:nvSpPr>
          <p:spPr>
            <a:xfrm flipH="1">
              <a:off x="1588316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38"/>
            <p:cNvSpPr/>
            <p:nvPr/>
          </p:nvSpPr>
          <p:spPr>
            <a:xfrm flipH="1">
              <a:off x="1986784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38"/>
            <p:cNvSpPr/>
            <p:nvPr/>
          </p:nvSpPr>
          <p:spPr>
            <a:xfrm flipH="1">
              <a:off x="1787550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38"/>
            <p:cNvSpPr/>
            <p:nvPr/>
          </p:nvSpPr>
          <p:spPr>
            <a:xfrm flipH="1">
              <a:off x="1588316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38"/>
            <p:cNvSpPr/>
            <p:nvPr/>
          </p:nvSpPr>
          <p:spPr>
            <a:xfrm flipH="1">
              <a:off x="1986784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38"/>
            <p:cNvSpPr/>
            <p:nvPr/>
          </p:nvSpPr>
          <p:spPr>
            <a:xfrm flipH="1">
              <a:off x="1986784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38"/>
            <p:cNvSpPr/>
            <p:nvPr/>
          </p:nvSpPr>
          <p:spPr>
            <a:xfrm flipH="1">
              <a:off x="1986784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38"/>
            <p:cNvSpPr/>
            <p:nvPr/>
          </p:nvSpPr>
          <p:spPr>
            <a:xfrm flipH="1">
              <a:off x="1787550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38"/>
            <p:cNvSpPr/>
            <p:nvPr/>
          </p:nvSpPr>
          <p:spPr>
            <a:xfrm flipH="1">
              <a:off x="1787550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38"/>
            <p:cNvSpPr/>
            <p:nvPr/>
          </p:nvSpPr>
          <p:spPr>
            <a:xfrm flipH="1">
              <a:off x="1787550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38"/>
            <p:cNvSpPr/>
            <p:nvPr/>
          </p:nvSpPr>
          <p:spPr>
            <a:xfrm flipH="1">
              <a:off x="1588316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38"/>
            <p:cNvSpPr/>
            <p:nvPr/>
          </p:nvSpPr>
          <p:spPr>
            <a:xfrm flipH="1">
              <a:off x="1588316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138"/>
            <p:cNvSpPr/>
            <p:nvPr/>
          </p:nvSpPr>
          <p:spPr>
            <a:xfrm flipH="1">
              <a:off x="1588316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6" name="Google Shape;1836;p138"/>
            <p:cNvGrpSpPr/>
            <p:nvPr/>
          </p:nvGrpSpPr>
          <p:grpSpPr>
            <a:xfrm flipH="1">
              <a:off x="782223" y="1620006"/>
              <a:ext cx="725801" cy="750454"/>
              <a:chOff x="2510100" y="3950561"/>
              <a:chExt cx="725801" cy="750454"/>
            </a:xfrm>
          </p:grpSpPr>
          <p:sp>
            <p:nvSpPr>
              <p:cNvPr id="1837" name="Google Shape;1837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3" name="Google Shape;1853;p138"/>
            <p:cNvSpPr/>
            <p:nvPr/>
          </p:nvSpPr>
          <p:spPr>
            <a:xfrm flipH="1">
              <a:off x="1379924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138"/>
            <p:cNvSpPr/>
            <p:nvPr/>
          </p:nvSpPr>
          <p:spPr>
            <a:xfrm flipH="1">
              <a:off x="1180691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138"/>
            <p:cNvSpPr/>
            <p:nvPr/>
          </p:nvSpPr>
          <p:spPr>
            <a:xfrm flipH="1">
              <a:off x="1379924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138"/>
            <p:cNvSpPr/>
            <p:nvPr/>
          </p:nvSpPr>
          <p:spPr>
            <a:xfrm flipH="1">
              <a:off x="1180691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138"/>
            <p:cNvSpPr/>
            <p:nvPr/>
          </p:nvSpPr>
          <p:spPr>
            <a:xfrm flipH="1">
              <a:off x="1379924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38"/>
            <p:cNvSpPr/>
            <p:nvPr/>
          </p:nvSpPr>
          <p:spPr>
            <a:xfrm flipH="1">
              <a:off x="1180691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138"/>
            <p:cNvSpPr/>
            <p:nvPr/>
          </p:nvSpPr>
          <p:spPr>
            <a:xfrm flipH="1">
              <a:off x="981457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38"/>
            <p:cNvSpPr/>
            <p:nvPr/>
          </p:nvSpPr>
          <p:spPr>
            <a:xfrm flipH="1">
              <a:off x="981457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38"/>
            <p:cNvSpPr/>
            <p:nvPr/>
          </p:nvSpPr>
          <p:spPr>
            <a:xfrm flipH="1">
              <a:off x="981457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38"/>
            <p:cNvSpPr/>
            <p:nvPr/>
          </p:nvSpPr>
          <p:spPr>
            <a:xfrm flipH="1">
              <a:off x="782223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38"/>
            <p:cNvSpPr/>
            <p:nvPr/>
          </p:nvSpPr>
          <p:spPr>
            <a:xfrm flipH="1">
              <a:off x="782223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38"/>
            <p:cNvSpPr/>
            <p:nvPr/>
          </p:nvSpPr>
          <p:spPr>
            <a:xfrm flipH="1">
              <a:off x="782223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5" name="Google Shape;1865;p138"/>
          <p:cNvGrpSpPr/>
          <p:nvPr/>
        </p:nvGrpSpPr>
        <p:grpSpPr>
          <a:xfrm>
            <a:off x="2788098" y="1814400"/>
            <a:ext cx="927426" cy="950400"/>
            <a:chOff x="2788098" y="1814400"/>
            <a:chExt cx="927426" cy="950400"/>
          </a:xfrm>
        </p:grpSpPr>
        <p:grpSp>
          <p:nvGrpSpPr>
            <p:cNvPr id="1866" name="Google Shape;1866;p138"/>
            <p:cNvGrpSpPr/>
            <p:nvPr/>
          </p:nvGrpSpPr>
          <p:grpSpPr>
            <a:xfrm flipH="1">
              <a:off x="2788098" y="1816056"/>
              <a:ext cx="725801" cy="750454"/>
              <a:chOff x="2510100" y="3950561"/>
              <a:chExt cx="725801" cy="750454"/>
            </a:xfrm>
          </p:grpSpPr>
          <p:sp>
            <p:nvSpPr>
              <p:cNvPr id="1867" name="Google Shape;1867;p138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138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138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138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138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138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138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138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138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138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138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138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138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138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138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138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3" name="Google Shape;1883;p138"/>
            <p:cNvGrpSpPr/>
            <p:nvPr/>
          </p:nvGrpSpPr>
          <p:grpSpPr>
            <a:xfrm>
              <a:off x="2788098" y="1814400"/>
              <a:ext cx="927426" cy="950400"/>
              <a:chOff x="2788098" y="1814400"/>
              <a:chExt cx="927426" cy="950400"/>
            </a:xfrm>
          </p:grpSpPr>
          <p:sp>
            <p:nvSpPr>
              <p:cNvPr id="1884" name="Google Shape;1884;p138"/>
              <p:cNvSpPr/>
              <p:nvPr/>
            </p:nvSpPr>
            <p:spPr>
              <a:xfrm flipH="1">
                <a:off x="3385799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138"/>
              <p:cNvSpPr/>
              <p:nvPr/>
            </p:nvSpPr>
            <p:spPr>
              <a:xfrm flipH="1">
                <a:off x="3186566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138"/>
              <p:cNvSpPr/>
              <p:nvPr/>
            </p:nvSpPr>
            <p:spPr>
              <a:xfrm flipH="1">
                <a:off x="3585024" y="263880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138"/>
              <p:cNvSpPr/>
              <p:nvPr/>
            </p:nvSpPr>
            <p:spPr>
              <a:xfrm flipH="1">
                <a:off x="2987332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138"/>
              <p:cNvSpPr/>
              <p:nvPr/>
            </p:nvSpPr>
            <p:spPr>
              <a:xfrm flipH="1">
                <a:off x="2788098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138"/>
              <p:cNvSpPr/>
              <p:nvPr/>
            </p:nvSpPr>
            <p:spPr>
              <a:xfrm flipH="1" rot="5400000">
                <a:off x="3588474" y="24418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138"/>
              <p:cNvSpPr/>
              <p:nvPr/>
            </p:nvSpPr>
            <p:spPr>
              <a:xfrm flipH="1" rot="5400000">
                <a:off x="3588474" y="22330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138"/>
              <p:cNvSpPr/>
              <p:nvPr/>
            </p:nvSpPr>
            <p:spPr>
              <a:xfrm flipH="1" rot="5400000">
                <a:off x="3588474" y="20242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138"/>
              <p:cNvSpPr/>
              <p:nvPr/>
            </p:nvSpPr>
            <p:spPr>
              <a:xfrm flipH="1" rot="5400000">
                <a:off x="3585024" y="18154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7" name="Google Shape;1897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2002" y="1253400"/>
            <a:ext cx="4247898" cy="25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8" name="Google Shape;1898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00" y="1253400"/>
            <a:ext cx="3822935" cy="25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139"/>
          <p:cNvSpPr txBox="1"/>
          <p:nvPr>
            <p:ph idx="1" type="body"/>
          </p:nvPr>
        </p:nvSpPr>
        <p:spPr>
          <a:xfrm>
            <a:off x="1006325" y="1355550"/>
            <a:ext cx="3471000" cy="21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teacher’s age is: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square number,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multiple of 3,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 less than 70.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901" name="Google Shape;1901;p139"/>
          <p:cNvSpPr txBox="1"/>
          <p:nvPr>
            <p:ph idx="1" type="body"/>
          </p:nvPr>
        </p:nvSpPr>
        <p:spPr>
          <a:xfrm>
            <a:off x="4710250" y="1359025"/>
            <a:ext cx="3971400" cy="21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 is a student at Oak Academy.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Alex’s age is: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less than a square number and is an even number.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39"/>
          <p:cNvSpPr txBox="1"/>
          <p:nvPr/>
        </p:nvSpPr>
        <p:spPr>
          <a:xfrm>
            <a:off x="400200" y="3850025"/>
            <a:ext cx="36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old is the teacher?</a:t>
            </a:r>
            <a:endParaRPr/>
          </a:p>
        </p:txBody>
      </p:sp>
      <p:sp>
        <p:nvSpPr>
          <p:cNvPr id="1903" name="Google Shape;1903;p139"/>
          <p:cNvSpPr txBox="1"/>
          <p:nvPr/>
        </p:nvSpPr>
        <p:spPr>
          <a:xfrm>
            <a:off x="4819800" y="3850025"/>
            <a:ext cx="36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old is Alex?</a:t>
            </a:r>
            <a:endParaRPr/>
          </a:p>
        </p:txBody>
      </p:sp>
      <p:sp>
        <p:nvSpPr>
          <p:cNvPr id="1904" name="Google Shape;1904;p139"/>
          <p:cNvSpPr txBox="1"/>
          <p:nvPr/>
        </p:nvSpPr>
        <p:spPr>
          <a:xfrm>
            <a:off x="324000" y="654000"/>
            <a:ext cx="772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Work out the age given the clues.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9" name="Google Shape;1909;p140"/>
          <p:cNvGraphicFramePr/>
          <p:nvPr/>
        </p:nvGraphicFramePr>
        <p:xfrm>
          <a:off x="324000" y="147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3045600"/>
                <a:gridCol w="685575"/>
                <a:gridCol w="768825"/>
                <a:gridCol w="3672700"/>
              </a:tblGrid>
              <a:tr h="45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58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121 is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1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 ✕ 13 = 169 so 13 is 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1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add 3 then multiply by 7 gives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1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multiplied by 4 add 3 gives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0" name="Google Shape;1910;p140"/>
          <p:cNvSpPr txBox="1"/>
          <p:nvPr>
            <p:ph idx="1" type="body"/>
          </p:nvPr>
        </p:nvSpPr>
        <p:spPr>
          <a:xfrm>
            <a:off x="324000" y="750425"/>
            <a:ext cx="7038900" cy="6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</a:t>
            </a:r>
            <a:r>
              <a:rPr lang="en-GB" sz="1900"/>
              <a:t>Identify if the following statements are true or false. Justify your answer.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11" name="Google Shape;1911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41"/>
          <p:cNvSpPr txBox="1"/>
          <p:nvPr>
            <p:ph idx="1" type="body"/>
          </p:nvPr>
        </p:nvSpPr>
        <p:spPr>
          <a:xfrm>
            <a:off x="324000" y="759300"/>
            <a:ext cx="8237700" cy="12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4) </a:t>
            </a:r>
            <a:r>
              <a:rPr lang="en-GB" sz="1900"/>
              <a:t>Jun discovers he can sum two different square numbers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to make a third square number.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Can you find the missing square numbers to complete this table?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17" name="Google Shape;1917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graphicFrame>
        <p:nvGraphicFramePr>
          <p:cNvPr id="1918" name="Google Shape;1918;p141"/>
          <p:cNvGraphicFramePr/>
          <p:nvPr/>
        </p:nvGraphicFramePr>
        <p:xfrm>
          <a:off x="323988" y="194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2592425"/>
                <a:gridCol w="2729350"/>
                <a:gridCol w="317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s</a:t>
                      </a: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s</a:t>
                      </a: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Resultant square number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9" name="Google Shape;1919;p141"/>
          <p:cNvSpPr txBox="1"/>
          <p:nvPr>
            <p:ph idx="1" type="body"/>
          </p:nvPr>
        </p:nvSpPr>
        <p:spPr>
          <a:xfrm>
            <a:off x="324000" y="3792900"/>
            <a:ext cx="8237700" cy="60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 startAt="2"/>
            </a:pPr>
            <a:r>
              <a:rPr lang="en-GB" sz="1900"/>
              <a:t>Can you find another set of two different square numbers to make a third square number?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42"/>
          <p:cNvSpPr txBox="1"/>
          <p:nvPr>
            <p:ph idx="1" type="body"/>
          </p:nvPr>
        </p:nvSpPr>
        <p:spPr>
          <a:xfrm>
            <a:off x="324000" y="759300"/>
            <a:ext cx="70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5) How many squares can you see on an 8 by 8 chess board?</a:t>
            </a:r>
            <a:endParaRPr/>
          </a:p>
        </p:txBody>
      </p:sp>
      <p:sp>
        <p:nvSpPr>
          <p:cNvPr id="1925" name="Google Shape;1925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graphicFrame>
        <p:nvGraphicFramePr>
          <p:cNvPr id="1926" name="Google Shape;1926;p142"/>
          <p:cNvGraphicFramePr/>
          <p:nvPr/>
        </p:nvGraphicFramePr>
        <p:xfrm>
          <a:off x="3083500" y="143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388575"/>
                <a:gridCol w="388575"/>
                <a:gridCol w="388575"/>
                <a:gridCol w="388575"/>
                <a:gridCol w="388575"/>
                <a:gridCol w="388575"/>
                <a:gridCol w="388575"/>
                <a:gridCol w="388575"/>
              </a:tblGrid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932" name="Google Shape;1932;p143"/>
          <p:cNvSpPr txBox="1"/>
          <p:nvPr>
            <p:ph idx="1" type="body"/>
          </p:nvPr>
        </p:nvSpPr>
        <p:spPr>
          <a:xfrm>
            <a:off x="324000" y="759300"/>
            <a:ext cx="7000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up the arrays with the correct square number.</a:t>
            </a:r>
            <a:endParaRPr/>
          </a:p>
        </p:txBody>
      </p:sp>
      <p:grpSp>
        <p:nvGrpSpPr>
          <p:cNvPr id="1933" name="Google Shape;1933;p143"/>
          <p:cNvGrpSpPr/>
          <p:nvPr/>
        </p:nvGrpSpPr>
        <p:grpSpPr>
          <a:xfrm>
            <a:off x="4600373" y="1320968"/>
            <a:ext cx="1531895" cy="1588654"/>
            <a:chOff x="4524173" y="1244768"/>
            <a:chExt cx="1531895" cy="1588654"/>
          </a:xfrm>
        </p:grpSpPr>
        <p:grpSp>
          <p:nvGrpSpPr>
            <p:cNvPr id="1934" name="Google Shape;1934;p143"/>
            <p:cNvGrpSpPr/>
            <p:nvPr/>
          </p:nvGrpSpPr>
          <p:grpSpPr>
            <a:xfrm flipH="1">
              <a:off x="5330266" y="1244768"/>
              <a:ext cx="725801" cy="750454"/>
              <a:chOff x="2510100" y="3950561"/>
              <a:chExt cx="725801" cy="750454"/>
            </a:xfrm>
          </p:grpSpPr>
          <p:sp>
            <p:nvSpPr>
              <p:cNvPr id="1935" name="Google Shape;1935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1" name="Google Shape;1951;p143"/>
            <p:cNvGrpSpPr/>
            <p:nvPr/>
          </p:nvGrpSpPr>
          <p:grpSpPr>
            <a:xfrm flipH="1">
              <a:off x="5330266" y="2082968"/>
              <a:ext cx="725801" cy="750454"/>
              <a:chOff x="2510100" y="3950561"/>
              <a:chExt cx="725801" cy="750454"/>
            </a:xfrm>
          </p:grpSpPr>
          <p:sp>
            <p:nvSpPr>
              <p:cNvPr id="1952" name="Google Shape;1952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8" name="Google Shape;1968;p143"/>
            <p:cNvGrpSpPr/>
            <p:nvPr/>
          </p:nvGrpSpPr>
          <p:grpSpPr>
            <a:xfrm flipH="1">
              <a:off x="4524173" y="1244768"/>
              <a:ext cx="725801" cy="750454"/>
              <a:chOff x="2510100" y="3950561"/>
              <a:chExt cx="725801" cy="750454"/>
            </a:xfrm>
          </p:grpSpPr>
          <p:sp>
            <p:nvSpPr>
              <p:cNvPr id="1969" name="Google Shape;1969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5" name="Google Shape;1985;p143"/>
            <p:cNvGrpSpPr/>
            <p:nvPr/>
          </p:nvGrpSpPr>
          <p:grpSpPr>
            <a:xfrm flipH="1">
              <a:off x="4524173" y="2082968"/>
              <a:ext cx="725801" cy="750454"/>
              <a:chOff x="2510100" y="3950561"/>
              <a:chExt cx="725801" cy="750454"/>
            </a:xfrm>
          </p:grpSpPr>
          <p:sp>
            <p:nvSpPr>
              <p:cNvPr id="1986" name="Google Shape;1986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02" name="Google Shape;2002;p143"/>
          <p:cNvGrpSpPr/>
          <p:nvPr/>
        </p:nvGrpSpPr>
        <p:grpSpPr>
          <a:xfrm>
            <a:off x="6959973" y="2133593"/>
            <a:ext cx="725801" cy="750454"/>
            <a:chOff x="2510100" y="3950561"/>
            <a:chExt cx="725801" cy="750454"/>
          </a:xfrm>
        </p:grpSpPr>
        <p:sp>
          <p:nvSpPr>
            <p:cNvPr id="2003" name="Google Shape;2003;p143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143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43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143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143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143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143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143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143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143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143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143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143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143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143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143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9" name="Google Shape;2019;p143"/>
          <p:cNvSpPr txBox="1"/>
          <p:nvPr>
            <p:ph idx="1" type="body"/>
          </p:nvPr>
        </p:nvSpPr>
        <p:spPr>
          <a:xfrm>
            <a:off x="3252263" y="4047500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49</a:t>
            </a:r>
            <a:endParaRPr sz="2700"/>
          </a:p>
        </p:txBody>
      </p:sp>
      <p:sp>
        <p:nvSpPr>
          <p:cNvPr id="2020" name="Google Shape;2020;p143"/>
          <p:cNvSpPr txBox="1"/>
          <p:nvPr>
            <p:ph idx="1" type="body"/>
          </p:nvPr>
        </p:nvSpPr>
        <p:spPr>
          <a:xfrm>
            <a:off x="6615420" y="3798438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25</a:t>
            </a:r>
            <a:endParaRPr sz="2700"/>
          </a:p>
        </p:txBody>
      </p:sp>
      <p:sp>
        <p:nvSpPr>
          <p:cNvPr id="2021" name="Google Shape;2021;p143"/>
          <p:cNvSpPr txBox="1"/>
          <p:nvPr>
            <p:ph idx="1" type="body"/>
          </p:nvPr>
        </p:nvSpPr>
        <p:spPr>
          <a:xfrm>
            <a:off x="1684788" y="3936525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64</a:t>
            </a:r>
            <a:endParaRPr sz="2700"/>
          </a:p>
        </p:txBody>
      </p:sp>
      <p:sp>
        <p:nvSpPr>
          <p:cNvPr id="2022" name="Google Shape;2022;p143"/>
          <p:cNvSpPr txBox="1"/>
          <p:nvPr>
            <p:ph idx="1" type="body"/>
          </p:nvPr>
        </p:nvSpPr>
        <p:spPr>
          <a:xfrm>
            <a:off x="4933838" y="3936525"/>
            <a:ext cx="5448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16</a:t>
            </a:r>
            <a:endParaRPr sz="2700"/>
          </a:p>
        </p:txBody>
      </p:sp>
      <p:sp>
        <p:nvSpPr>
          <p:cNvPr id="2023" name="Google Shape;2023;p143"/>
          <p:cNvSpPr/>
          <p:nvPr/>
        </p:nvSpPr>
        <p:spPr>
          <a:xfrm>
            <a:off x="1409925" y="3772325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43"/>
          <p:cNvSpPr/>
          <p:nvPr/>
        </p:nvSpPr>
        <p:spPr>
          <a:xfrm>
            <a:off x="3048663" y="38978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43"/>
          <p:cNvSpPr/>
          <p:nvPr/>
        </p:nvSpPr>
        <p:spPr>
          <a:xfrm>
            <a:off x="4687413" y="37857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43"/>
          <p:cNvSpPr/>
          <p:nvPr/>
        </p:nvSpPr>
        <p:spPr>
          <a:xfrm>
            <a:off x="6363813" y="3633300"/>
            <a:ext cx="9042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7" name="Google Shape;2027;p143"/>
          <p:cNvCxnSpPr>
            <a:endCxn id="2023" idx="0"/>
          </p:cNvCxnSpPr>
          <p:nvPr/>
        </p:nvCxnSpPr>
        <p:spPr>
          <a:xfrm flipH="1">
            <a:off x="1862025" y="2884025"/>
            <a:ext cx="2698800" cy="88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143"/>
          <p:cNvCxnSpPr>
            <a:stCxn id="2029" idx="4"/>
            <a:endCxn id="2024" idx="0"/>
          </p:cNvCxnSpPr>
          <p:nvPr/>
        </p:nvCxnSpPr>
        <p:spPr>
          <a:xfrm>
            <a:off x="2050834" y="3000508"/>
            <a:ext cx="1449900" cy="897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0" name="Google Shape;2030;p143"/>
          <p:cNvCxnSpPr/>
          <p:nvPr/>
        </p:nvCxnSpPr>
        <p:spPr>
          <a:xfrm>
            <a:off x="3395875" y="2834500"/>
            <a:ext cx="2986500" cy="82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1" name="Google Shape;2031;p143"/>
          <p:cNvCxnSpPr/>
          <p:nvPr/>
        </p:nvCxnSpPr>
        <p:spPr>
          <a:xfrm flipH="1" rot="10800000">
            <a:off x="5063313" y="2865600"/>
            <a:ext cx="1839300" cy="920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2" name="Google Shape;2032;p143"/>
          <p:cNvGrpSpPr/>
          <p:nvPr/>
        </p:nvGrpSpPr>
        <p:grpSpPr>
          <a:xfrm>
            <a:off x="782223" y="1620006"/>
            <a:ext cx="1332661" cy="1380502"/>
            <a:chOff x="782223" y="1620006"/>
            <a:chExt cx="1332661" cy="1380502"/>
          </a:xfrm>
        </p:grpSpPr>
        <p:sp>
          <p:nvSpPr>
            <p:cNvPr id="2033" name="Google Shape;2033;p143"/>
            <p:cNvSpPr/>
            <p:nvPr/>
          </p:nvSpPr>
          <p:spPr>
            <a:xfrm flipH="1">
              <a:off x="1986784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143"/>
            <p:cNvSpPr/>
            <p:nvPr/>
          </p:nvSpPr>
          <p:spPr>
            <a:xfrm flipH="1">
              <a:off x="1986784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43"/>
            <p:cNvSpPr/>
            <p:nvPr/>
          </p:nvSpPr>
          <p:spPr>
            <a:xfrm flipH="1">
              <a:off x="1986784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143"/>
            <p:cNvSpPr/>
            <p:nvPr/>
          </p:nvSpPr>
          <p:spPr>
            <a:xfrm flipH="1">
              <a:off x="1787550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143"/>
            <p:cNvSpPr/>
            <p:nvPr/>
          </p:nvSpPr>
          <p:spPr>
            <a:xfrm flipH="1">
              <a:off x="1787550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143"/>
            <p:cNvSpPr/>
            <p:nvPr/>
          </p:nvSpPr>
          <p:spPr>
            <a:xfrm flipH="1">
              <a:off x="1787550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143"/>
            <p:cNvSpPr/>
            <p:nvPr/>
          </p:nvSpPr>
          <p:spPr>
            <a:xfrm flipH="1">
              <a:off x="1588316" y="18281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143"/>
            <p:cNvSpPr/>
            <p:nvPr/>
          </p:nvSpPr>
          <p:spPr>
            <a:xfrm flipH="1">
              <a:off x="1588316" y="16200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143"/>
            <p:cNvSpPr/>
            <p:nvPr/>
          </p:nvSpPr>
          <p:spPr>
            <a:xfrm flipH="1">
              <a:off x="1588316" y="20363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143"/>
            <p:cNvSpPr/>
            <p:nvPr/>
          </p:nvSpPr>
          <p:spPr>
            <a:xfrm flipH="1">
              <a:off x="1986784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143"/>
            <p:cNvSpPr/>
            <p:nvPr/>
          </p:nvSpPr>
          <p:spPr>
            <a:xfrm flipH="1">
              <a:off x="1787550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143"/>
            <p:cNvSpPr/>
            <p:nvPr/>
          </p:nvSpPr>
          <p:spPr>
            <a:xfrm flipH="1">
              <a:off x="1588316" y="2244459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143"/>
            <p:cNvSpPr/>
            <p:nvPr/>
          </p:nvSpPr>
          <p:spPr>
            <a:xfrm flipH="1">
              <a:off x="1986784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143"/>
            <p:cNvSpPr/>
            <p:nvPr/>
          </p:nvSpPr>
          <p:spPr>
            <a:xfrm flipH="1">
              <a:off x="1986784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143"/>
            <p:cNvSpPr/>
            <p:nvPr/>
          </p:nvSpPr>
          <p:spPr>
            <a:xfrm flipH="1">
              <a:off x="1986784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143"/>
            <p:cNvSpPr/>
            <p:nvPr/>
          </p:nvSpPr>
          <p:spPr>
            <a:xfrm flipH="1">
              <a:off x="1787550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143"/>
            <p:cNvSpPr/>
            <p:nvPr/>
          </p:nvSpPr>
          <p:spPr>
            <a:xfrm flipH="1">
              <a:off x="1787550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143"/>
            <p:cNvSpPr/>
            <p:nvPr/>
          </p:nvSpPr>
          <p:spPr>
            <a:xfrm flipH="1">
              <a:off x="1787550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143"/>
            <p:cNvSpPr/>
            <p:nvPr/>
          </p:nvSpPr>
          <p:spPr>
            <a:xfrm flipH="1">
              <a:off x="1588316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143"/>
            <p:cNvSpPr/>
            <p:nvPr/>
          </p:nvSpPr>
          <p:spPr>
            <a:xfrm flipH="1">
              <a:off x="1588316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143"/>
            <p:cNvSpPr/>
            <p:nvPr/>
          </p:nvSpPr>
          <p:spPr>
            <a:xfrm flipH="1">
              <a:off x="1588316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3" name="Google Shape;2053;p143"/>
            <p:cNvGrpSpPr/>
            <p:nvPr/>
          </p:nvGrpSpPr>
          <p:grpSpPr>
            <a:xfrm flipH="1">
              <a:off x="782223" y="1620006"/>
              <a:ext cx="725801" cy="750454"/>
              <a:chOff x="2510100" y="3950561"/>
              <a:chExt cx="725801" cy="750454"/>
            </a:xfrm>
          </p:grpSpPr>
          <p:sp>
            <p:nvSpPr>
              <p:cNvPr id="2054" name="Google Shape;2054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70" name="Google Shape;2070;p143"/>
            <p:cNvSpPr/>
            <p:nvPr/>
          </p:nvSpPr>
          <p:spPr>
            <a:xfrm flipH="1">
              <a:off x="1379924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143"/>
            <p:cNvSpPr/>
            <p:nvPr/>
          </p:nvSpPr>
          <p:spPr>
            <a:xfrm flipH="1">
              <a:off x="1180691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143"/>
            <p:cNvSpPr/>
            <p:nvPr/>
          </p:nvSpPr>
          <p:spPr>
            <a:xfrm flipH="1">
              <a:off x="1379924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143"/>
            <p:cNvSpPr/>
            <p:nvPr/>
          </p:nvSpPr>
          <p:spPr>
            <a:xfrm flipH="1">
              <a:off x="1180691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143"/>
            <p:cNvSpPr/>
            <p:nvPr/>
          </p:nvSpPr>
          <p:spPr>
            <a:xfrm flipH="1">
              <a:off x="1379924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143"/>
            <p:cNvSpPr/>
            <p:nvPr/>
          </p:nvSpPr>
          <p:spPr>
            <a:xfrm flipH="1">
              <a:off x="1180691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143"/>
            <p:cNvSpPr/>
            <p:nvPr/>
          </p:nvSpPr>
          <p:spPr>
            <a:xfrm flipH="1">
              <a:off x="981457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143"/>
            <p:cNvSpPr/>
            <p:nvPr/>
          </p:nvSpPr>
          <p:spPr>
            <a:xfrm flipH="1">
              <a:off x="981457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143"/>
            <p:cNvSpPr/>
            <p:nvPr/>
          </p:nvSpPr>
          <p:spPr>
            <a:xfrm flipH="1">
              <a:off x="981457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143"/>
            <p:cNvSpPr/>
            <p:nvPr/>
          </p:nvSpPr>
          <p:spPr>
            <a:xfrm flipH="1">
              <a:off x="782223" y="2666357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143"/>
            <p:cNvSpPr/>
            <p:nvPr/>
          </p:nvSpPr>
          <p:spPr>
            <a:xfrm flipH="1">
              <a:off x="782223" y="2458206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143"/>
            <p:cNvSpPr/>
            <p:nvPr/>
          </p:nvSpPr>
          <p:spPr>
            <a:xfrm flipH="1">
              <a:off x="782223" y="2874508"/>
              <a:ext cx="128100" cy="1260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2" name="Google Shape;2082;p143"/>
          <p:cNvGrpSpPr/>
          <p:nvPr/>
        </p:nvGrpSpPr>
        <p:grpSpPr>
          <a:xfrm>
            <a:off x="2788098" y="1814400"/>
            <a:ext cx="927426" cy="950400"/>
            <a:chOff x="2788098" y="1814400"/>
            <a:chExt cx="927426" cy="950400"/>
          </a:xfrm>
        </p:grpSpPr>
        <p:grpSp>
          <p:nvGrpSpPr>
            <p:cNvPr id="2083" name="Google Shape;2083;p143"/>
            <p:cNvGrpSpPr/>
            <p:nvPr/>
          </p:nvGrpSpPr>
          <p:grpSpPr>
            <a:xfrm flipH="1">
              <a:off x="2788098" y="1816056"/>
              <a:ext cx="725801" cy="750454"/>
              <a:chOff x="2510100" y="3950561"/>
              <a:chExt cx="725801" cy="750454"/>
            </a:xfrm>
          </p:grpSpPr>
          <p:sp>
            <p:nvSpPr>
              <p:cNvPr id="2084" name="Google Shape;2084;p143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143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143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143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143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143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143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143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143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143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143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143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143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143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143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143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0" name="Google Shape;2100;p143"/>
            <p:cNvGrpSpPr/>
            <p:nvPr/>
          </p:nvGrpSpPr>
          <p:grpSpPr>
            <a:xfrm>
              <a:off x="2788098" y="1814400"/>
              <a:ext cx="927426" cy="950400"/>
              <a:chOff x="2788098" y="1814400"/>
              <a:chExt cx="927426" cy="950400"/>
            </a:xfrm>
          </p:grpSpPr>
          <p:sp>
            <p:nvSpPr>
              <p:cNvPr id="2101" name="Google Shape;2101;p143"/>
              <p:cNvSpPr/>
              <p:nvPr/>
            </p:nvSpPr>
            <p:spPr>
              <a:xfrm flipH="1">
                <a:off x="3385799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143"/>
              <p:cNvSpPr/>
              <p:nvPr/>
            </p:nvSpPr>
            <p:spPr>
              <a:xfrm flipH="1">
                <a:off x="3186566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143"/>
              <p:cNvSpPr/>
              <p:nvPr/>
            </p:nvSpPr>
            <p:spPr>
              <a:xfrm flipH="1">
                <a:off x="3585024" y="263880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143"/>
              <p:cNvSpPr/>
              <p:nvPr/>
            </p:nvSpPr>
            <p:spPr>
              <a:xfrm flipH="1">
                <a:off x="2987332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143"/>
              <p:cNvSpPr/>
              <p:nvPr/>
            </p:nvSpPr>
            <p:spPr>
              <a:xfrm flipH="1">
                <a:off x="2788098" y="2637006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143"/>
              <p:cNvSpPr/>
              <p:nvPr/>
            </p:nvSpPr>
            <p:spPr>
              <a:xfrm flipH="1" rot="5400000">
                <a:off x="3588474" y="24418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143"/>
              <p:cNvSpPr/>
              <p:nvPr/>
            </p:nvSpPr>
            <p:spPr>
              <a:xfrm flipH="1" rot="5400000">
                <a:off x="3588474" y="22330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143"/>
              <p:cNvSpPr/>
              <p:nvPr/>
            </p:nvSpPr>
            <p:spPr>
              <a:xfrm flipH="1" rot="5400000">
                <a:off x="3588474" y="20242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143"/>
              <p:cNvSpPr/>
              <p:nvPr/>
            </p:nvSpPr>
            <p:spPr>
              <a:xfrm flipH="1" rot="5400000">
                <a:off x="3585024" y="1815450"/>
                <a:ext cx="128100" cy="1260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pic>
        <p:nvPicPr>
          <p:cNvPr id="2115" name="Google Shape;2115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84390" y="1253400"/>
            <a:ext cx="3935510" cy="25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00" y="1253400"/>
            <a:ext cx="3204675" cy="25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p144"/>
          <p:cNvSpPr txBox="1"/>
          <p:nvPr>
            <p:ph idx="1" type="body"/>
          </p:nvPr>
        </p:nvSpPr>
        <p:spPr>
          <a:xfrm>
            <a:off x="701525" y="1355550"/>
            <a:ext cx="3471000" cy="21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teacher’s age is: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square number,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multiple of 3,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 less than 70.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44"/>
          <p:cNvSpPr txBox="1"/>
          <p:nvPr>
            <p:ph idx="1" type="body"/>
          </p:nvPr>
        </p:nvSpPr>
        <p:spPr>
          <a:xfrm>
            <a:off x="5086350" y="1292700"/>
            <a:ext cx="3604500" cy="21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 is a student at Oak Academy.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Alex’s age is: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less than a square number and is an even number.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144"/>
          <p:cNvSpPr txBox="1"/>
          <p:nvPr>
            <p:ph idx="1" type="body"/>
          </p:nvPr>
        </p:nvSpPr>
        <p:spPr>
          <a:xfrm>
            <a:off x="476400" y="4389600"/>
            <a:ext cx="2757900" cy="8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Teacher’s age is 36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0" name="Google Shape;2120;p144"/>
          <p:cNvSpPr txBox="1"/>
          <p:nvPr/>
        </p:nvSpPr>
        <p:spPr>
          <a:xfrm>
            <a:off x="400200" y="3850025"/>
            <a:ext cx="36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old is the teacher?</a:t>
            </a:r>
            <a:endParaRPr/>
          </a:p>
        </p:txBody>
      </p:sp>
      <p:sp>
        <p:nvSpPr>
          <p:cNvPr id="2121" name="Google Shape;2121;p144"/>
          <p:cNvSpPr txBox="1"/>
          <p:nvPr>
            <p:ph idx="1" type="body"/>
          </p:nvPr>
        </p:nvSpPr>
        <p:spPr>
          <a:xfrm>
            <a:off x="5124600" y="4389600"/>
            <a:ext cx="2757900" cy="8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Alex’s age is 12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2" name="Google Shape;2122;p144"/>
          <p:cNvSpPr txBox="1"/>
          <p:nvPr/>
        </p:nvSpPr>
        <p:spPr>
          <a:xfrm>
            <a:off x="5048400" y="3850025"/>
            <a:ext cx="36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old is Alex?</a:t>
            </a:r>
            <a:endParaRPr/>
          </a:p>
        </p:txBody>
      </p:sp>
      <p:sp>
        <p:nvSpPr>
          <p:cNvPr id="2123" name="Google Shape;2123;p144"/>
          <p:cNvSpPr txBox="1"/>
          <p:nvPr/>
        </p:nvSpPr>
        <p:spPr>
          <a:xfrm>
            <a:off x="324000" y="654000"/>
            <a:ext cx="772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Work out the age given the clues.</a:t>
            </a:r>
            <a:endParaRPr/>
          </a:p>
        </p:txBody>
      </p:sp>
      <p:sp>
        <p:nvSpPr>
          <p:cNvPr id="2124" name="Google Shape;2124;p144"/>
          <p:cNvSpPr txBox="1"/>
          <p:nvPr>
            <p:ph idx="1" type="body"/>
          </p:nvPr>
        </p:nvSpPr>
        <p:spPr>
          <a:xfrm>
            <a:off x="3852300" y="1292700"/>
            <a:ext cx="895500" cy="3527700"/>
          </a:xfrm>
          <a:prstGeom prst="rect">
            <a:avLst/>
          </a:prstGeom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49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graphicFrame>
        <p:nvGraphicFramePr>
          <p:cNvPr id="2130" name="Google Shape;2130;p145"/>
          <p:cNvGraphicFramePr/>
          <p:nvPr/>
        </p:nvGraphicFramePr>
        <p:xfrm>
          <a:off x="324000" y="14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3197925"/>
                <a:gridCol w="690425"/>
                <a:gridCol w="789225"/>
                <a:gridCol w="3495125"/>
              </a:tblGrid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62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121 is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 ✕ 13 = 169 so 13 is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add 3 then multiply by 7 gives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multiplied by 4 then add 3 gives a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31" name="Google Shape;2131;p145"/>
          <p:cNvSpPr txBox="1"/>
          <p:nvPr>
            <p:ph idx="1" type="body"/>
          </p:nvPr>
        </p:nvSpPr>
        <p:spPr>
          <a:xfrm>
            <a:off x="324000" y="672675"/>
            <a:ext cx="68553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Identify if the following statements are true or false justifying your answer.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132" name="Google Shape;2132;p145"/>
          <p:cNvSpPr txBox="1"/>
          <p:nvPr>
            <p:ph idx="1" type="body"/>
          </p:nvPr>
        </p:nvSpPr>
        <p:spPr>
          <a:xfrm>
            <a:off x="5060675" y="2075050"/>
            <a:ext cx="19260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✕ 11 = 121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3" name="Google Shape;2133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325" y="2118994"/>
            <a:ext cx="382751" cy="398365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145"/>
          <p:cNvSpPr txBox="1"/>
          <p:nvPr>
            <p:ph idx="1" type="body"/>
          </p:nvPr>
        </p:nvSpPr>
        <p:spPr>
          <a:xfrm>
            <a:off x="5024750" y="2700000"/>
            <a:ext cx="34437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169 is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square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5" name="Google Shape;2135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650" y="2801661"/>
            <a:ext cx="382751" cy="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6" name="Google Shape;2136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325" y="3459663"/>
            <a:ext cx="382751" cy="398365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45"/>
          <p:cNvSpPr txBox="1"/>
          <p:nvPr>
            <p:ph idx="1" type="body"/>
          </p:nvPr>
        </p:nvSpPr>
        <p:spPr>
          <a:xfrm>
            <a:off x="5060675" y="3289950"/>
            <a:ext cx="34437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+ 3 = 7  then 7 ✕ 7 = 49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49 is a square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8" name="Google Shape;2138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650" y="4172129"/>
            <a:ext cx="382751" cy="398365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45"/>
          <p:cNvSpPr txBox="1"/>
          <p:nvPr>
            <p:ph idx="1" type="body"/>
          </p:nvPr>
        </p:nvSpPr>
        <p:spPr>
          <a:xfrm>
            <a:off x="5024744" y="4060088"/>
            <a:ext cx="34437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✕ 4 = 28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then 28 + 3 = 31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31 is not a square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46"/>
          <p:cNvSpPr txBox="1"/>
          <p:nvPr>
            <p:ph idx="1" type="body"/>
          </p:nvPr>
        </p:nvSpPr>
        <p:spPr>
          <a:xfrm>
            <a:off x="324000" y="759300"/>
            <a:ext cx="8237700" cy="16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4) Jun discovers he can sum two different square numbers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to make a third square number.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Can you find the missing square numbers to complete this table?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145" name="Google Shape;2145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graphicFrame>
        <p:nvGraphicFramePr>
          <p:cNvPr id="2146" name="Google Shape;2146;p146"/>
          <p:cNvGraphicFramePr/>
          <p:nvPr/>
        </p:nvGraphicFramePr>
        <p:xfrm>
          <a:off x="324000" y="193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2592425"/>
                <a:gridCol w="2729350"/>
                <a:gridCol w="3174225"/>
              </a:tblGrid>
              <a:tr h="41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 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Resultant square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39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24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endParaRPr sz="24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24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Kalam"/>
                          <a:ea typeface="Kalam"/>
                          <a:cs typeface="Kalam"/>
                          <a:sym typeface="Kalam"/>
                        </a:rPr>
                        <a:t>144</a:t>
                      </a:r>
                      <a:endParaRPr sz="24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</a:tbl>
          </a:graphicData>
        </a:graphic>
      </p:graphicFrame>
      <p:sp>
        <p:nvSpPr>
          <p:cNvPr id="2147" name="Google Shape;2147;p146"/>
          <p:cNvSpPr txBox="1"/>
          <p:nvPr>
            <p:ph idx="1" type="body"/>
          </p:nvPr>
        </p:nvSpPr>
        <p:spPr>
          <a:xfrm>
            <a:off x="3571875" y="4148550"/>
            <a:ext cx="47772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many out there.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81 + 144 = 225 and 64 + 225 = 289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8" name="Google Shape;2148;p146"/>
          <p:cNvSpPr txBox="1"/>
          <p:nvPr>
            <p:ph idx="1" type="body"/>
          </p:nvPr>
        </p:nvSpPr>
        <p:spPr>
          <a:xfrm>
            <a:off x="324000" y="3792900"/>
            <a:ext cx="8237700" cy="60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 startAt="2"/>
            </a:pPr>
            <a:r>
              <a:rPr lang="en-GB" sz="1900"/>
              <a:t>Can you find another set of two different square numbers to make a third square number?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2154" name="Google Shape;2154;p147"/>
          <p:cNvSpPr txBox="1"/>
          <p:nvPr>
            <p:ph idx="1" type="body"/>
          </p:nvPr>
        </p:nvSpPr>
        <p:spPr>
          <a:xfrm>
            <a:off x="324000" y="759300"/>
            <a:ext cx="6915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5) How many squares can you see on an 8 by 8 chess board?</a:t>
            </a:r>
            <a:endParaRPr/>
          </a:p>
        </p:txBody>
      </p:sp>
      <p:graphicFrame>
        <p:nvGraphicFramePr>
          <p:cNvPr id="2155" name="Google Shape;2155;p147"/>
          <p:cNvGraphicFramePr/>
          <p:nvPr/>
        </p:nvGraphicFramePr>
        <p:xfrm>
          <a:off x="683200" y="155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388575"/>
                <a:gridCol w="388575"/>
                <a:gridCol w="388575"/>
                <a:gridCol w="388575"/>
                <a:gridCol w="388575"/>
                <a:gridCol w="388575"/>
                <a:gridCol w="388575"/>
                <a:gridCol w="388575"/>
              </a:tblGrid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6" name="Google Shape;2156;p147"/>
          <p:cNvSpPr txBox="1"/>
          <p:nvPr/>
        </p:nvSpPr>
        <p:spPr>
          <a:xfrm>
            <a:off x="4161750" y="1202075"/>
            <a:ext cx="4399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204 squares.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you have to calculate how many 1 x 1 squares, 2 x 2 square, 3 x 3 squares and so 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numbers end up being the square numbers: 64, 49, 36, 25, 16, 9, 4, 1. Summing these gives 204 squares on a chessboard.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4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2162" name="Google Shape;2162;p14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163" name="Google Shape;2163;p14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pic>
        <p:nvPicPr>
          <p:cNvPr id="2164" name="Google Shape;2164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2" y="29893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170" name="Google Shape;2170;p149"/>
          <p:cNvSpPr txBox="1"/>
          <p:nvPr>
            <p:ph idx="4294967295" type="subTitle"/>
          </p:nvPr>
        </p:nvSpPr>
        <p:spPr>
          <a:xfrm>
            <a:off x="284425" y="710675"/>
            <a:ext cx="7030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cube number is the product of three repeated integers.</a:t>
            </a:r>
            <a:endParaRPr/>
          </a:p>
        </p:txBody>
      </p:sp>
      <p:sp>
        <p:nvSpPr>
          <p:cNvPr id="2171" name="Google Shape;2171;p149"/>
          <p:cNvSpPr txBox="1"/>
          <p:nvPr/>
        </p:nvSpPr>
        <p:spPr>
          <a:xfrm>
            <a:off x="532800" y="1500063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49"/>
          <p:cNvSpPr txBox="1"/>
          <p:nvPr/>
        </p:nvSpPr>
        <p:spPr>
          <a:xfrm>
            <a:off x="532800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49"/>
          <p:cNvSpPr txBox="1"/>
          <p:nvPr/>
        </p:nvSpPr>
        <p:spPr>
          <a:xfrm>
            <a:off x="5403600" y="150052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49"/>
          <p:cNvSpPr txBox="1"/>
          <p:nvPr/>
        </p:nvSpPr>
        <p:spPr>
          <a:xfrm>
            <a:off x="5403600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49"/>
          <p:cNvSpPr txBox="1"/>
          <p:nvPr/>
        </p:nvSpPr>
        <p:spPr>
          <a:xfrm>
            <a:off x="569850" y="2571738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2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49"/>
          <p:cNvSpPr txBox="1"/>
          <p:nvPr/>
        </p:nvSpPr>
        <p:spPr>
          <a:xfrm>
            <a:off x="2093850" y="2571738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149"/>
          <p:cNvSpPr txBox="1"/>
          <p:nvPr/>
        </p:nvSpPr>
        <p:spPr>
          <a:xfrm>
            <a:off x="5446650" y="2571738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✕ 3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3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49"/>
          <p:cNvSpPr txBox="1"/>
          <p:nvPr/>
        </p:nvSpPr>
        <p:spPr>
          <a:xfrm>
            <a:off x="6894450" y="2571738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149"/>
          <p:cNvSpPr txBox="1"/>
          <p:nvPr/>
        </p:nvSpPr>
        <p:spPr>
          <a:xfrm>
            <a:off x="3192975" y="3497000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xample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49"/>
          <p:cNvSpPr txBox="1"/>
          <p:nvPr/>
        </p:nvSpPr>
        <p:spPr>
          <a:xfrm>
            <a:off x="3222050" y="3820613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80 is not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149"/>
          <p:cNvSpPr txBox="1"/>
          <p:nvPr/>
        </p:nvSpPr>
        <p:spPr>
          <a:xfrm>
            <a:off x="3222050" y="4201613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✕ 4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149"/>
          <p:cNvSpPr txBox="1"/>
          <p:nvPr/>
        </p:nvSpPr>
        <p:spPr>
          <a:xfrm>
            <a:off x="4824000" y="4201613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188" name="Google Shape;2188;p150"/>
          <p:cNvSpPr txBox="1"/>
          <p:nvPr>
            <p:ph idx="4294967295" type="subTitle"/>
          </p:nvPr>
        </p:nvSpPr>
        <p:spPr>
          <a:xfrm>
            <a:off x="324000" y="12024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cube number is the product of three repeated integers.</a:t>
            </a:r>
            <a:endParaRPr/>
          </a:p>
        </p:txBody>
      </p:sp>
      <p:sp>
        <p:nvSpPr>
          <p:cNvPr id="2189" name="Google Shape;2189;p150"/>
          <p:cNvSpPr txBox="1"/>
          <p:nvPr/>
        </p:nvSpPr>
        <p:spPr>
          <a:xfrm>
            <a:off x="525600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50"/>
          <p:cNvSpPr txBox="1"/>
          <p:nvPr/>
        </p:nvSpPr>
        <p:spPr>
          <a:xfrm>
            <a:off x="5403600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50"/>
          <p:cNvSpPr txBox="1"/>
          <p:nvPr>
            <p:ph idx="4294967295" type="subTitle"/>
          </p:nvPr>
        </p:nvSpPr>
        <p:spPr>
          <a:xfrm>
            <a:off x="324000" y="22879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use 8 cubes and 27 cubes to show why they are called ‘cube’ numbers?</a:t>
            </a:r>
            <a:endParaRPr/>
          </a:p>
        </p:txBody>
      </p:sp>
      <p:grpSp>
        <p:nvGrpSpPr>
          <p:cNvPr id="2192" name="Google Shape;2192;p150"/>
          <p:cNvGrpSpPr/>
          <p:nvPr/>
        </p:nvGrpSpPr>
        <p:grpSpPr>
          <a:xfrm>
            <a:off x="376625" y="3350701"/>
            <a:ext cx="2958466" cy="389700"/>
            <a:chOff x="376625" y="3350701"/>
            <a:chExt cx="2958466" cy="389700"/>
          </a:xfrm>
        </p:grpSpPr>
        <p:sp>
          <p:nvSpPr>
            <p:cNvPr id="2193" name="Google Shape;2193;p150"/>
            <p:cNvSpPr/>
            <p:nvPr/>
          </p:nvSpPr>
          <p:spPr>
            <a:xfrm>
              <a:off x="376625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150"/>
            <p:cNvSpPr/>
            <p:nvPr/>
          </p:nvSpPr>
          <p:spPr>
            <a:xfrm>
              <a:off x="735150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150"/>
            <p:cNvSpPr/>
            <p:nvPr/>
          </p:nvSpPr>
          <p:spPr>
            <a:xfrm>
              <a:off x="1110634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150"/>
            <p:cNvSpPr/>
            <p:nvPr/>
          </p:nvSpPr>
          <p:spPr>
            <a:xfrm>
              <a:off x="1469159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150"/>
            <p:cNvSpPr/>
            <p:nvPr/>
          </p:nvSpPr>
          <p:spPr>
            <a:xfrm>
              <a:off x="1852858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150"/>
            <p:cNvSpPr/>
            <p:nvPr/>
          </p:nvSpPr>
          <p:spPr>
            <a:xfrm>
              <a:off x="2211383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150"/>
            <p:cNvSpPr/>
            <p:nvPr/>
          </p:nvSpPr>
          <p:spPr>
            <a:xfrm>
              <a:off x="2586866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150"/>
            <p:cNvSpPr/>
            <p:nvPr/>
          </p:nvSpPr>
          <p:spPr>
            <a:xfrm>
              <a:off x="2945391" y="335070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1" name="Google Shape;2201;p150"/>
          <p:cNvGrpSpPr/>
          <p:nvPr/>
        </p:nvGrpSpPr>
        <p:grpSpPr>
          <a:xfrm>
            <a:off x="4588132" y="2825051"/>
            <a:ext cx="3359672" cy="1478806"/>
            <a:chOff x="4588132" y="2825051"/>
            <a:chExt cx="3359672" cy="1478806"/>
          </a:xfrm>
        </p:grpSpPr>
        <p:sp>
          <p:nvSpPr>
            <p:cNvPr id="2202" name="Google Shape;2202;p150"/>
            <p:cNvSpPr/>
            <p:nvPr/>
          </p:nvSpPr>
          <p:spPr>
            <a:xfrm>
              <a:off x="4608338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150"/>
            <p:cNvSpPr/>
            <p:nvPr/>
          </p:nvSpPr>
          <p:spPr>
            <a:xfrm>
              <a:off x="4966863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150"/>
            <p:cNvSpPr/>
            <p:nvPr/>
          </p:nvSpPr>
          <p:spPr>
            <a:xfrm>
              <a:off x="5342346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150"/>
            <p:cNvSpPr/>
            <p:nvPr/>
          </p:nvSpPr>
          <p:spPr>
            <a:xfrm>
              <a:off x="5700871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150"/>
            <p:cNvSpPr/>
            <p:nvPr/>
          </p:nvSpPr>
          <p:spPr>
            <a:xfrm>
              <a:off x="6084570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150"/>
            <p:cNvSpPr/>
            <p:nvPr/>
          </p:nvSpPr>
          <p:spPr>
            <a:xfrm>
              <a:off x="6443095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150"/>
            <p:cNvSpPr/>
            <p:nvPr/>
          </p:nvSpPr>
          <p:spPr>
            <a:xfrm>
              <a:off x="6818579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150"/>
            <p:cNvSpPr/>
            <p:nvPr/>
          </p:nvSpPr>
          <p:spPr>
            <a:xfrm>
              <a:off x="7177104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150"/>
            <p:cNvSpPr/>
            <p:nvPr/>
          </p:nvSpPr>
          <p:spPr>
            <a:xfrm>
              <a:off x="4608338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150"/>
            <p:cNvSpPr/>
            <p:nvPr/>
          </p:nvSpPr>
          <p:spPr>
            <a:xfrm>
              <a:off x="4966863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150"/>
            <p:cNvSpPr/>
            <p:nvPr/>
          </p:nvSpPr>
          <p:spPr>
            <a:xfrm>
              <a:off x="5342346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150"/>
            <p:cNvSpPr/>
            <p:nvPr/>
          </p:nvSpPr>
          <p:spPr>
            <a:xfrm>
              <a:off x="5700871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150"/>
            <p:cNvSpPr/>
            <p:nvPr/>
          </p:nvSpPr>
          <p:spPr>
            <a:xfrm>
              <a:off x="6084570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150"/>
            <p:cNvSpPr/>
            <p:nvPr/>
          </p:nvSpPr>
          <p:spPr>
            <a:xfrm>
              <a:off x="6443095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150"/>
            <p:cNvSpPr/>
            <p:nvPr/>
          </p:nvSpPr>
          <p:spPr>
            <a:xfrm>
              <a:off x="6818579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150"/>
            <p:cNvSpPr/>
            <p:nvPr/>
          </p:nvSpPr>
          <p:spPr>
            <a:xfrm>
              <a:off x="7177104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150"/>
            <p:cNvSpPr/>
            <p:nvPr/>
          </p:nvSpPr>
          <p:spPr>
            <a:xfrm>
              <a:off x="4588132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150"/>
            <p:cNvSpPr/>
            <p:nvPr/>
          </p:nvSpPr>
          <p:spPr>
            <a:xfrm>
              <a:off x="4946657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150"/>
            <p:cNvSpPr/>
            <p:nvPr/>
          </p:nvSpPr>
          <p:spPr>
            <a:xfrm>
              <a:off x="5322140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150"/>
            <p:cNvSpPr/>
            <p:nvPr/>
          </p:nvSpPr>
          <p:spPr>
            <a:xfrm>
              <a:off x="5680665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150"/>
            <p:cNvSpPr/>
            <p:nvPr/>
          </p:nvSpPr>
          <p:spPr>
            <a:xfrm>
              <a:off x="6064364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150"/>
            <p:cNvSpPr/>
            <p:nvPr/>
          </p:nvSpPr>
          <p:spPr>
            <a:xfrm>
              <a:off x="6422889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150"/>
            <p:cNvSpPr/>
            <p:nvPr/>
          </p:nvSpPr>
          <p:spPr>
            <a:xfrm>
              <a:off x="6798373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150"/>
            <p:cNvSpPr/>
            <p:nvPr/>
          </p:nvSpPr>
          <p:spPr>
            <a:xfrm>
              <a:off x="7156898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150"/>
            <p:cNvSpPr/>
            <p:nvPr/>
          </p:nvSpPr>
          <p:spPr>
            <a:xfrm>
              <a:off x="7558104" y="282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150"/>
            <p:cNvSpPr/>
            <p:nvPr/>
          </p:nvSpPr>
          <p:spPr>
            <a:xfrm>
              <a:off x="7558104" y="3362126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150"/>
            <p:cNvSpPr/>
            <p:nvPr/>
          </p:nvSpPr>
          <p:spPr>
            <a:xfrm>
              <a:off x="7537898" y="3914157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3" name="Google Shape;2233;p151"/>
          <p:cNvGrpSpPr/>
          <p:nvPr/>
        </p:nvGrpSpPr>
        <p:grpSpPr>
          <a:xfrm>
            <a:off x="1217026" y="3055356"/>
            <a:ext cx="672025" cy="694500"/>
            <a:chOff x="1436568" y="2580243"/>
            <a:chExt cx="672025" cy="694500"/>
          </a:xfrm>
        </p:grpSpPr>
        <p:sp>
          <p:nvSpPr>
            <p:cNvPr id="2234" name="Google Shape;2234;p151"/>
            <p:cNvSpPr/>
            <p:nvPr/>
          </p:nvSpPr>
          <p:spPr>
            <a:xfrm>
              <a:off x="1436568" y="28850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151"/>
            <p:cNvSpPr/>
            <p:nvPr/>
          </p:nvSpPr>
          <p:spPr>
            <a:xfrm>
              <a:off x="1718893" y="28850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151"/>
            <p:cNvSpPr/>
            <p:nvPr/>
          </p:nvSpPr>
          <p:spPr>
            <a:xfrm>
              <a:off x="1436568" y="25802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151"/>
            <p:cNvSpPr/>
            <p:nvPr/>
          </p:nvSpPr>
          <p:spPr>
            <a:xfrm>
              <a:off x="1718893" y="25802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8" name="Google Shape;223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239" name="Google Shape;2239;p151"/>
          <p:cNvSpPr txBox="1"/>
          <p:nvPr>
            <p:ph idx="4294967295" type="subTitle"/>
          </p:nvPr>
        </p:nvSpPr>
        <p:spPr>
          <a:xfrm>
            <a:off x="324000" y="120271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cube number is the product of three repeated integers.</a:t>
            </a:r>
            <a:endParaRPr/>
          </a:p>
        </p:txBody>
      </p:sp>
      <p:sp>
        <p:nvSpPr>
          <p:cNvPr id="2240" name="Google Shape;2240;p151"/>
          <p:cNvSpPr txBox="1"/>
          <p:nvPr/>
        </p:nvSpPr>
        <p:spPr>
          <a:xfrm>
            <a:off x="526475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51"/>
          <p:cNvSpPr txBox="1"/>
          <p:nvPr/>
        </p:nvSpPr>
        <p:spPr>
          <a:xfrm>
            <a:off x="5403275" y="1821600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is a cube number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2" name="Google Shape;2242;p151"/>
          <p:cNvGrpSpPr/>
          <p:nvPr/>
        </p:nvGrpSpPr>
        <p:grpSpPr>
          <a:xfrm>
            <a:off x="1116792" y="3153678"/>
            <a:ext cx="389700" cy="694500"/>
            <a:chOff x="1544875" y="2470651"/>
            <a:chExt cx="389700" cy="694500"/>
          </a:xfrm>
        </p:grpSpPr>
        <p:sp>
          <p:nvSpPr>
            <p:cNvPr id="2243" name="Google Shape;2243;p151"/>
            <p:cNvSpPr/>
            <p:nvPr/>
          </p:nvSpPr>
          <p:spPr>
            <a:xfrm>
              <a:off x="1544875" y="27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151"/>
            <p:cNvSpPr/>
            <p:nvPr/>
          </p:nvSpPr>
          <p:spPr>
            <a:xfrm>
              <a:off x="1544875" y="24706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5" name="Google Shape;2245;p151"/>
          <p:cNvGrpSpPr/>
          <p:nvPr/>
        </p:nvGrpSpPr>
        <p:grpSpPr>
          <a:xfrm>
            <a:off x="1399117" y="3153678"/>
            <a:ext cx="389700" cy="694500"/>
            <a:chOff x="1827200" y="2470651"/>
            <a:chExt cx="389700" cy="694500"/>
          </a:xfrm>
        </p:grpSpPr>
        <p:sp>
          <p:nvSpPr>
            <p:cNvPr id="2246" name="Google Shape;2246;p151"/>
            <p:cNvSpPr/>
            <p:nvPr/>
          </p:nvSpPr>
          <p:spPr>
            <a:xfrm>
              <a:off x="1827200" y="27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151"/>
            <p:cNvSpPr/>
            <p:nvPr/>
          </p:nvSpPr>
          <p:spPr>
            <a:xfrm>
              <a:off x="1827200" y="24706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8" name="Google Shape;2248;p151"/>
          <p:cNvSpPr txBox="1"/>
          <p:nvPr/>
        </p:nvSpPr>
        <p:spPr>
          <a:xfrm>
            <a:off x="1194037" y="3830100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51"/>
          <p:cNvSpPr txBox="1"/>
          <p:nvPr/>
        </p:nvSpPr>
        <p:spPr>
          <a:xfrm>
            <a:off x="679278" y="3309625"/>
            <a:ext cx="30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151"/>
          <p:cNvSpPr txBox="1"/>
          <p:nvPr/>
        </p:nvSpPr>
        <p:spPr>
          <a:xfrm>
            <a:off x="1928303" y="3755250"/>
            <a:ext cx="306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51"/>
          <p:cNvSpPr txBox="1"/>
          <p:nvPr/>
        </p:nvSpPr>
        <p:spPr>
          <a:xfrm>
            <a:off x="564575" y="4262688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✕ 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2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2" name="Google Shape;2252;p151"/>
          <p:cNvSpPr txBox="1"/>
          <p:nvPr/>
        </p:nvSpPr>
        <p:spPr>
          <a:xfrm>
            <a:off x="2088575" y="4262688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3" name="Google Shape;2253;p151"/>
          <p:cNvGrpSpPr/>
          <p:nvPr/>
        </p:nvGrpSpPr>
        <p:grpSpPr>
          <a:xfrm>
            <a:off x="6776425" y="2566178"/>
            <a:ext cx="971309" cy="999300"/>
            <a:chOff x="6054533" y="2383758"/>
            <a:chExt cx="971309" cy="999300"/>
          </a:xfrm>
        </p:grpSpPr>
        <p:sp>
          <p:nvSpPr>
            <p:cNvPr id="2254" name="Google Shape;2254;p151"/>
            <p:cNvSpPr/>
            <p:nvPr/>
          </p:nvSpPr>
          <p:spPr>
            <a:xfrm>
              <a:off x="6054533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151"/>
            <p:cNvSpPr/>
            <p:nvPr/>
          </p:nvSpPr>
          <p:spPr>
            <a:xfrm>
              <a:off x="6336858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151"/>
            <p:cNvSpPr/>
            <p:nvPr/>
          </p:nvSpPr>
          <p:spPr>
            <a:xfrm>
              <a:off x="6636142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151"/>
            <p:cNvSpPr/>
            <p:nvPr/>
          </p:nvSpPr>
          <p:spPr>
            <a:xfrm>
              <a:off x="6054533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151"/>
            <p:cNvSpPr/>
            <p:nvPr/>
          </p:nvSpPr>
          <p:spPr>
            <a:xfrm>
              <a:off x="6336858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151"/>
            <p:cNvSpPr/>
            <p:nvPr/>
          </p:nvSpPr>
          <p:spPr>
            <a:xfrm>
              <a:off x="6636142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151"/>
            <p:cNvSpPr/>
            <p:nvPr/>
          </p:nvSpPr>
          <p:spPr>
            <a:xfrm>
              <a:off x="6054533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151"/>
            <p:cNvSpPr/>
            <p:nvPr/>
          </p:nvSpPr>
          <p:spPr>
            <a:xfrm>
              <a:off x="6336858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151"/>
            <p:cNvSpPr/>
            <p:nvPr/>
          </p:nvSpPr>
          <p:spPr>
            <a:xfrm>
              <a:off x="6636142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3" name="Google Shape;2263;p151"/>
          <p:cNvGrpSpPr/>
          <p:nvPr/>
        </p:nvGrpSpPr>
        <p:grpSpPr>
          <a:xfrm>
            <a:off x="6676414" y="2664332"/>
            <a:ext cx="971309" cy="999300"/>
            <a:chOff x="8820008" y="2481399"/>
            <a:chExt cx="971309" cy="999300"/>
          </a:xfrm>
        </p:grpSpPr>
        <p:sp>
          <p:nvSpPr>
            <p:cNvPr id="2264" name="Google Shape;2264;p151"/>
            <p:cNvSpPr/>
            <p:nvPr/>
          </p:nvSpPr>
          <p:spPr>
            <a:xfrm>
              <a:off x="8820008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151"/>
            <p:cNvSpPr/>
            <p:nvPr/>
          </p:nvSpPr>
          <p:spPr>
            <a:xfrm>
              <a:off x="9102333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151"/>
            <p:cNvSpPr/>
            <p:nvPr/>
          </p:nvSpPr>
          <p:spPr>
            <a:xfrm>
              <a:off x="9401616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151"/>
            <p:cNvSpPr/>
            <p:nvPr/>
          </p:nvSpPr>
          <p:spPr>
            <a:xfrm>
              <a:off x="8820008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151"/>
            <p:cNvSpPr/>
            <p:nvPr/>
          </p:nvSpPr>
          <p:spPr>
            <a:xfrm>
              <a:off x="9102333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151"/>
            <p:cNvSpPr/>
            <p:nvPr/>
          </p:nvSpPr>
          <p:spPr>
            <a:xfrm>
              <a:off x="9401616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151"/>
            <p:cNvSpPr/>
            <p:nvPr/>
          </p:nvSpPr>
          <p:spPr>
            <a:xfrm>
              <a:off x="8820008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151"/>
            <p:cNvSpPr/>
            <p:nvPr/>
          </p:nvSpPr>
          <p:spPr>
            <a:xfrm>
              <a:off x="9102333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151"/>
            <p:cNvSpPr/>
            <p:nvPr/>
          </p:nvSpPr>
          <p:spPr>
            <a:xfrm>
              <a:off x="9401616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3" name="Google Shape;2273;p151"/>
          <p:cNvSpPr txBox="1"/>
          <p:nvPr/>
        </p:nvSpPr>
        <p:spPr>
          <a:xfrm>
            <a:off x="6819437" y="37532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51"/>
          <p:cNvSpPr txBox="1"/>
          <p:nvPr/>
        </p:nvSpPr>
        <p:spPr>
          <a:xfrm>
            <a:off x="6165287" y="3021400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151"/>
          <p:cNvSpPr txBox="1"/>
          <p:nvPr/>
        </p:nvSpPr>
        <p:spPr>
          <a:xfrm>
            <a:off x="7719937" y="34627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151"/>
          <p:cNvSpPr txBox="1"/>
          <p:nvPr/>
        </p:nvSpPr>
        <p:spPr>
          <a:xfrm>
            <a:off x="6086250" y="4273438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✕ 3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3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=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51"/>
          <p:cNvSpPr txBox="1"/>
          <p:nvPr/>
        </p:nvSpPr>
        <p:spPr>
          <a:xfrm>
            <a:off x="7610250" y="4273438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8" name="Google Shape;2278;p151"/>
          <p:cNvCxnSpPr/>
          <p:nvPr/>
        </p:nvCxnSpPr>
        <p:spPr>
          <a:xfrm>
            <a:off x="1022675" y="3281500"/>
            <a:ext cx="0" cy="579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9" name="Google Shape;2279;p151"/>
          <p:cNvCxnSpPr/>
          <p:nvPr/>
        </p:nvCxnSpPr>
        <p:spPr>
          <a:xfrm rot="10800000">
            <a:off x="1096675" y="3932325"/>
            <a:ext cx="600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0" name="Google Shape;2280;p151"/>
          <p:cNvCxnSpPr/>
          <p:nvPr/>
        </p:nvCxnSpPr>
        <p:spPr>
          <a:xfrm flipH="1">
            <a:off x="1761350" y="3697325"/>
            <a:ext cx="209400" cy="222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281" name="Google Shape;2281;p151"/>
          <p:cNvGrpSpPr/>
          <p:nvPr/>
        </p:nvGrpSpPr>
        <p:grpSpPr>
          <a:xfrm>
            <a:off x="6574838" y="2766701"/>
            <a:ext cx="389700" cy="999300"/>
            <a:chOff x="6152138" y="2275451"/>
            <a:chExt cx="389700" cy="999300"/>
          </a:xfrm>
        </p:grpSpPr>
        <p:sp>
          <p:nvSpPr>
            <p:cNvPr id="2282" name="Google Shape;2282;p151"/>
            <p:cNvSpPr/>
            <p:nvPr/>
          </p:nvSpPr>
          <p:spPr>
            <a:xfrm>
              <a:off x="6152138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151"/>
            <p:cNvSpPr/>
            <p:nvPr/>
          </p:nvSpPr>
          <p:spPr>
            <a:xfrm>
              <a:off x="6152138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151"/>
            <p:cNvSpPr/>
            <p:nvPr/>
          </p:nvSpPr>
          <p:spPr>
            <a:xfrm>
              <a:off x="6152138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151"/>
          <p:cNvGrpSpPr/>
          <p:nvPr/>
        </p:nvGrpSpPr>
        <p:grpSpPr>
          <a:xfrm>
            <a:off x="6857163" y="2766701"/>
            <a:ext cx="688984" cy="999300"/>
            <a:chOff x="6434463" y="2275451"/>
            <a:chExt cx="688984" cy="999300"/>
          </a:xfrm>
        </p:grpSpPr>
        <p:sp>
          <p:nvSpPr>
            <p:cNvPr id="2286" name="Google Shape;2286;p151"/>
            <p:cNvSpPr/>
            <p:nvPr/>
          </p:nvSpPr>
          <p:spPr>
            <a:xfrm>
              <a:off x="6434463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151"/>
            <p:cNvSpPr/>
            <p:nvPr/>
          </p:nvSpPr>
          <p:spPr>
            <a:xfrm>
              <a:off x="6733746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151"/>
            <p:cNvSpPr/>
            <p:nvPr/>
          </p:nvSpPr>
          <p:spPr>
            <a:xfrm>
              <a:off x="6434463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151"/>
            <p:cNvSpPr/>
            <p:nvPr/>
          </p:nvSpPr>
          <p:spPr>
            <a:xfrm>
              <a:off x="6733746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151"/>
            <p:cNvSpPr/>
            <p:nvPr/>
          </p:nvSpPr>
          <p:spPr>
            <a:xfrm>
              <a:off x="6434463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151"/>
            <p:cNvSpPr/>
            <p:nvPr/>
          </p:nvSpPr>
          <p:spPr>
            <a:xfrm>
              <a:off x="6733746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92" name="Google Shape;2292;p151"/>
          <p:cNvCxnSpPr/>
          <p:nvPr/>
        </p:nvCxnSpPr>
        <p:spPr>
          <a:xfrm>
            <a:off x="6498300" y="2880225"/>
            <a:ext cx="0" cy="873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3" name="Google Shape;2293;p151"/>
          <p:cNvCxnSpPr/>
          <p:nvPr/>
        </p:nvCxnSpPr>
        <p:spPr>
          <a:xfrm flipH="1">
            <a:off x="7546125" y="3501025"/>
            <a:ext cx="253500" cy="277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4" name="Google Shape;2294;p151"/>
          <p:cNvCxnSpPr/>
          <p:nvPr/>
        </p:nvCxnSpPr>
        <p:spPr>
          <a:xfrm rot="10800000">
            <a:off x="6570925" y="3849425"/>
            <a:ext cx="887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295" name="Google Shape;2295;p151"/>
          <p:cNvGrpSpPr/>
          <p:nvPr/>
        </p:nvGrpSpPr>
        <p:grpSpPr>
          <a:xfrm>
            <a:off x="597457" y="2336294"/>
            <a:ext cx="641678" cy="334207"/>
            <a:chOff x="635557" y="2127194"/>
            <a:chExt cx="641678" cy="334207"/>
          </a:xfrm>
        </p:grpSpPr>
        <p:sp>
          <p:nvSpPr>
            <p:cNvPr id="2296" name="Google Shape;2296;p151"/>
            <p:cNvSpPr/>
            <p:nvPr/>
          </p:nvSpPr>
          <p:spPr>
            <a:xfrm>
              <a:off x="635557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151"/>
            <p:cNvSpPr/>
            <p:nvPr/>
          </p:nvSpPr>
          <p:spPr>
            <a:xfrm>
              <a:off x="943028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8" name="Google Shape;2298;p151"/>
          <p:cNvGrpSpPr/>
          <p:nvPr/>
        </p:nvGrpSpPr>
        <p:grpSpPr>
          <a:xfrm>
            <a:off x="1226943" y="2336294"/>
            <a:ext cx="641678" cy="334207"/>
            <a:chOff x="1265043" y="2127194"/>
            <a:chExt cx="641678" cy="334207"/>
          </a:xfrm>
        </p:grpSpPr>
        <p:sp>
          <p:nvSpPr>
            <p:cNvPr id="2299" name="Google Shape;2299;p151"/>
            <p:cNvSpPr/>
            <p:nvPr/>
          </p:nvSpPr>
          <p:spPr>
            <a:xfrm>
              <a:off x="1265043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151"/>
            <p:cNvSpPr/>
            <p:nvPr/>
          </p:nvSpPr>
          <p:spPr>
            <a:xfrm>
              <a:off x="1572514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151"/>
          <p:cNvGrpSpPr/>
          <p:nvPr/>
        </p:nvGrpSpPr>
        <p:grpSpPr>
          <a:xfrm>
            <a:off x="1863474" y="2336294"/>
            <a:ext cx="1271164" cy="334207"/>
            <a:chOff x="1901574" y="2127194"/>
            <a:chExt cx="1271164" cy="334207"/>
          </a:xfrm>
        </p:grpSpPr>
        <p:sp>
          <p:nvSpPr>
            <p:cNvPr id="2302" name="Google Shape;2302;p151"/>
            <p:cNvSpPr/>
            <p:nvPr/>
          </p:nvSpPr>
          <p:spPr>
            <a:xfrm>
              <a:off x="1901574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151"/>
            <p:cNvSpPr/>
            <p:nvPr/>
          </p:nvSpPr>
          <p:spPr>
            <a:xfrm>
              <a:off x="2209045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151"/>
            <p:cNvSpPr/>
            <p:nvPr/>
          </p:nvSpPr>
          <p:spPr>
            <a:xfrm>
              <a:off x="2531060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151"/>
            <p:cNvSpPr/>
            <p:nvPr/>
          </p:nvSpPr>
          <p:spPr>
            <a:xfrm>
              <a:off x="2838531" y="2127194"/>
              <a:ext cx="334207" cy="334207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6" name="Google Shape;2306;p151"/>
          <p:cNvGrpSpPr/>
          <p:nvPr/>
        </p:nvGrpSpPr>
        <p:grpSpPr>
          <a:xfrm>
            <a:off x="3562997" y="2336310"/>
            <a:ext cx="1929737" cy="1288040"/>
            <a:chOff x="3601097" y="2127210"/>
            <a:chExt cx="1929737" cy="1288040"/>
          </a:xfrm>
        </p:grpSpPr>
        <p:sp>
          <p:nvSpPr>
            <p:cNvPr id="2307" name="Google Shape;2307;p151"/>
            <p:cNvSpPr/>
            <p:nvPr/>
          </p:nvSpPr>
          <p:spPr>
            <a:xfrm>
              <a:off x="3618468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151"/>
            <p:cNvSpPr/>
            <p:nvPr/>
          </p:nvSpPr>
          <p:spPr>
            <a:xfrm>
              <a:off x="3926692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151"/>
            <p:cNvSpPr/>
            <p:nvPr/>
          </p:nvSpPr>
          <p:spPr>
            <a:xfrm>
              <a:off x="4249495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151"/>
            <p:cNvSpPr/>
            <p:nvPr/>
          </p:nvSpPr>
          <p:spPr>
            <a:xfrm>
              <a:off x="3618468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151"/>
            <p:cNvSpPr/>
            <p:nvPr/>
          </p:nvSpPr>
          <p:spPr>
            <a:xfrm>
              <a:off x="3926692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151"/>
            <p:cNvSpPr/>
            <p:nvPr/>
          </p:nvSpPr>
          <p:spPr>
            <a:xfrm>
              <a:off x="4249495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151"/>
            <p:cNvSpPr/>
            <p:nvPr/>
          </p:nvSpPr>
          <p:spPr>
            <a:xfrm>
              <a:off x="3601097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151"/>
            <p:cNvSpPr/>
            <p:nvPr/>
          </p:nvSpPr>
          <p:spPr>
            <a:xfrm>
              <a:off x="3909321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151"/>
            <p:cNvSpPr/>
            <p:nvPr/>
          </p:nvSpPr>
          <p:spPr>
            <a:xfrm>
              <a:off x="4232124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151"/>
            <p:cNvSpPr/>
            <p:nvPr/>
          </p:nvSpPr>
          <p:spPr>
            <a:xfrm>
              <a:off x="4557719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151"/>
            <p:cNvSpPr/>
            <p:nvPr/>
          </p:nvSpPr>
          <p:spPr>
            <a:xfrm>
              <a:off x="4887585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151"/>
            <p:cNvSpPr/>
            <p:nvPr/>
          </p:nvSpPr>
          <p:spPr>
            <a:xfrm>
              <a:off x="5195809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151"/>
            <p:cNvSpPr/>
            <p:nvPr/>
          </p:nvSpPr>
          <p:spPr>
            <a:xfrm>
              <a:off x="4557719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151"/>
            <p:cNvSpPr/>
            <p:nvPr/>
          </p:nvSpPr>
          <p:spPr>
            <a:xfrm>
              <a:off x="4887585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151"/>
            <p:cNvSpPr/>
            <p:nvPr/>
          </p:nvSpPr>
          <p:spPr>
            <a:xfrm>
              <a:off x="5195809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151"/>
            <p:cNvSpPr/>
            <p:nvPr/>
          </p:nvSpPr>
          <p:spPr>
            <a:xfrm>
              <a:off x="4540348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151"/>
            <p:cNvSpPr/>
            <p:nvPr/>
          </p:nvSpPr>
          <p:spPr>
            <a:xfrm>
              <a:off x="4870214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151"/>
            <p:cNvSpPr/>
            <p:nvPr/>
          </p:nvSpPr>
          <p:spPr>
            <a:xfrm>
              <a:off x="5178438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5" name="Google Shape;2325;p151"/>
          <p:cNvGrpSpPr/>
          <p:nvPr/>
        </p:nvGrpSpPr>
        <p:grpSpPr>
          <a:xfrm>
            <a:off x="5463141" y="2336310"/>
            <a:ext cx="660620" cy="1288040"/>
            <a:chOff x="5501241" y="2127210"/>
            <a:chExt cx="660620" cy="1288040"/>
          </a:xfrm>
        </p:grpSpPr>
        <p:sp>
          <p:nvSpPr>
            <p:cNvPr id="2326" name="Google Shape;2326;p151"/>
            <p:cNvSpPr/>
            <p:nvPr/>
          </p:nvSpPr>
          <p:spPr>
            <a:xfrm>
              <a:off x="5518612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151"/>
            <p:cNvSpPr/>
            <p:nvPr/>
          </p:nvSpPr>
          <p:spPr>
            <a:xfrm>
              <a:off x="5826836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151"/>
            <p:cNvSpPr/>
            <p:nvPr/>
          </p:nvSpPr>
          <p:spPr>
            <a:xfrm>
              <a:off x="5518612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151"/>
            <p:cNvSpPr/>
            <p:nvPr/>
          </p:nvSpPr>
          <p:spPr>
            <a:xfrm>
              <a:off x="5826836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151"/>
            <p:cNvSpPr/>
            <p:nvPr/>
          </p:nvSpPr>
          <p:spPr>
            <a:xfrm>
              <a:off x="5501241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151"/>
            <p:cNvSpPr/>
            <p:nvPr/>
          </p:nvSpPr>
          <p:spPr>
            <a:xfrm>
              <a:off x="5809465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2" name="Google Shape;2332;p151"/>
          <p:cNvGrpSpPr/>
          <p:nvPr/>
        </p:nvGrpSpPr>
        <p:grpSpPr>
          <a:xfrm>
            <a:off x="6098911" y="2336310"/>
            <a:ext cx="352396" cy="1288040"/>
            <a:chOff x="6137011" y="2127210"/>
            <a:chExt cx="352396" cy="1288040"/>
          </a:xfrm>
        </p:grpSpPr>
        <p:sp>
          <p:nvSpPr>
            <p:cNvPr id="2333" name="Google Shape;2333;p151"/>
            <p:cNvSpPr/>
            <p:nvPr/>
          </p:nvSpPr>
          <p:spPr>
            <a:xfrm>
              <a:off x="6154382" y="2127210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151"/>
            <p:cNvSpPr/>
            <p:nvPr/>
          </p:nvSpPr>
          <p:spPr>
            <a:xfrm>
              <a:off x="6154382" y="2595003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151"/>
            <p:cNvSpPr/>
            <p:nvPr/>
          </p:nvSpPr>
          <p:spPr>
            <a:xfrm>
              <a:off x="6137011" y="3075822"/>
              <a:ext cx="335025" cy="339429"/>
            </a:xfrm>
            <a:prstGeom prst="cube">
              <a:avLst>
                <a:gd fmla="val 25000" name="adj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341" name="Google Shape;2341;p152"/>
          <p:cNvSpPr txBox="1"/>
          <p:nvPr>
            <p:ph idx="4294967295" type="subTitle"/>
          </p:nvPr>
        </p:nvSpPr>
        <p:spPr>
          <a:xfrm>
            <a:off x="505850" y="710675"/>
            <a:ext cx="6704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find all the cube numbers up to 250 and fill in the table below? The first two have been done for you.</a:t>
            </a:r>
            <a:endParaRPr sz="1800"/>
          </a:p>
        </p:txBody>
      </p:sp>
      <p:graphicFrame>
        <p:nvGraphicFramePr>
          <p:cNvPr id="2342" name="Google Shape;2342;p152"/>
          <p:cNvGraphicFramePr/>
          <p:nvPr/>
        </p:nvGraphicFramePr>
        <p:xfrm>
          <a:off x="434688" y="13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{688633DF-37CE-4B57-ADA7-9943F8E29D69}</a:tableStyleId>
              </a:tblPr>
              <a:tblGrid>
                <a:gridCol w="1687000"/>
                <a:gridCol w="3055375"/>
                <a:gridCol w="3142850"/>
              </a:tblGrid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✕ 1 ✕ 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✕ 2 ✕ 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3" name="Google Shape;2343;p152"/>
          <p:cNvSpPr txBox="1"/>
          <p:nvPr/>
        </p:nvSpPr>
        <p:spPr>
          <a:xfrm>
            <a:off x="2135724" y="2747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✕ 3 ✕ 3</a:t>
            </a:r>
            <a:endParaRPr/>
          </a:p>
        </p:txBody>
      </p:sp>
      <p:sp>
        <p:nvSpPr>
          <p:cNvPr id="2344" name="Google Shape;2344;p152"/>
          <p:cNvSpPr txBox="1"/>
          <p:nvPr/>
        </p:nvSpPr>
        <p:spPr>
          <a:xfrm>
            <a:off x="2135724" y="320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✕ 4 ✕ 4</a:t>
            </a:r>
            <a:endParaRPr/>
          </a:p>
        </p:txBody>
      </p:sp>
      <p:sp>
        <p:nvSpPr>
          <p:cNvPr id="2345" name="Google Shape;2345;p152"/>
          <p:cNvSpPr txBox="1"/>
          <p:nvPr/>
        </p:nvSpPr>
        <p:spPr>
          <a:xfrm>
            <a:off x="2135724" y="3661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✕ 5</a:t>
            </a:r>
            <a:endParaRPr/>
          </a:p>
        </p:txBody>
      </p:sp>
      <p:sp>
        <p:nvSpPr>
          <p:cNvPr id="2346" name="Google Shape;2346;p152"/>
          <p:cNvSpPr txBox="1"/>
          <p:nvPr/>
        </p:nvSpPr>
        <p:spPr>
          <a:xfrm>
            <a:off x="2135724" y="4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✕ 6 ✕ 6</a:t>
            </a:r>
            <a:endParaRPr/>
          </a:p>
        </p:txBody>
      </p:sp>
      <p:sp>
        <p:nvSpPr>
          <p:cNvPr id="2347" name="Google Shape;2347;p152"/>
          <p:cNvSpPr txBox="1"/>
          <p:nvPr/>
        </p:nvSpPr>
        <p:spPr>
          <a:xfrm>
            <a:off x="5177075" y="2747025"/>
            <a:ext cx="31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/>
          </a:p>
        </p:txBody>
      </p:sp>
      <p:sp>
        <p:nvSpPr>
          <p:cNvPr id="2348" name="Google Shape;2348;p152"/>
          <p:cNvSpPr txBox="1"/>
          <p:nvPr/>
        </p:nvSpPr>
        <p:spPr>
          <a:xfrm>
            <a:off x="5177075" y="3204225"/>
            <a:ext cx="31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</a:t>
            </a:r>
            <a:endParaRPr/>
          </a:p>
        </p:txBody>
      </p:sp>
      <p:sp>
        <p:nvSpPr>
          <p:cNvPr id="2349" name="Google Shape;2349;p152"/>
          <p:cNvSpPr txBox="1"/>
          <p:nvPr/>
        </p:nvSpPr>
        <p:spPr>
          <a:xfrm>
            <a:off x="5177075" y="3661425"/>
            <a:ext cx="31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</a:t>
            </a:r>
            <a:endParaRPr/>
          </a:p>
        </p:txBody>
      </p:sp>
      <p:sp>
        <p:nvSpPr>
          <p:cNvPr id="2350" name="Google Shape;2350;p152"/>
          <p:cNvSpPr txBox="1"/>
          <p:nvPr/>
        </p:nvSpPr>
        <p:spPr>
          <a:xfrm>
            <a:off x="5209200" y="4118625"/>
            <a:ext cx="30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p153"/>
          <p:cNvSpPr txBox="1"/>
          <p:nvPr>
            <p:ph idx="1" type="body"/>
          </p:nvPr>
        </p:nvSpPr>
        <p:spPr>
          <a:xfrm>
            <a:off x="324700" y="810000"/>
            <a:ext cx="5621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has put </a:t>
            </a:r>
            <a:r>
              <a:rPr lang="en-GB"/>
              <a:t>together</a:t>
            </a:r>
            <a:r>
              <a:rPr lang="en-GB"/>
              <a:t> these cubes.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counted them and said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 have made a cube with 48 cubes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 48 is a cube number.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Where is her mistake?</a:t>
            </a:r>
            <a:endParaRPr/>
          </a:p>
        </p:txBody>
      </p:sp>
      <p:sp>
        <p:nvSpPr>
          <p:cNvPr id="2356" name="Google Shape;235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pic>
        <p:nvPicPr>
          <p:cNvPr id="2357" name="Google Shape;2357;p153"/>
          <p:cNvPicPr preferRelativeResize="0"/>
          <p:nvPr/>
        </p:nvPicPr>
        <p:blipFill rotWithShape="1">
          <a:blip r:embed="rId3">
            <a:alphaModFix/>
          </a:blip>
          <a:srcRect b="0" l="0" r="70374" t="56280"/>
          <a:stretch/>
        </p:blipFill>
        <p:spPr>
          <a:xfrm flipH="1">
            <a:off x="174501" y="1875125"/>
            <a:ext cx="5386849" cy="1192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153"/>
          <p:cNvSpPr/>
          <p:nvPr/>
        </p:nvSpPr>
        <p:spPr>
          <a:xfrm>
            <a:off x="7006100" y="23537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153"/>
          <p:cNvSpPr/>
          <p:nvPr/>
        </p:nvSpPr>
        <p:spPr>
          <a:xfrm>
            <a:off x="7288425" y="23537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153"/>
          <p:cNvSpPr/>
          <p:nvPr/>
        </p:nvSpPr>
        <p:spPr>
          <a:xfrm>
            <a:off x="7006100" y="20489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153"/>
          <p:cNvSpPr/>
          <p:nvPr/>
        </p:nvSpPr>
        <p:spPr>
          <a:xfrm>
            <a:off x="7288425" y="20489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153"/>
          <p:cNvSpPr/>
          <p:nvPr/>
        </p:nvSpPr>
        <p:spPr>
          <a:xfrm>
            <a:off x="6897793" y="24633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153"/>
          <p:cNvSpPr/>
          <p:nvPr/>
        </p:nvSpPr>
        <p:spPr>
          <a:xfrm>
            <a:off x="7180118" y="24633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153"/>
          <p:cNvSpPr/>
          <p:nvPr/>
        </p:nvSpPr>
        <p:spPr>
          <a:xfrm>
            <a:off x="6897793" y="21585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153"/>
          <p:cNvSpPr/>
          <p:nvPr/>
        </p:nvSpPr>
        <p:spPr>
          <a:xfrm>
            <a:off x="7180118" y="21585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53"/>
          <p:cNvSpPr/>
          <p:nvPr/>
        </p:nvSpPr>
        <p:spPr>
          <a:xfrm>
            <a:off x="7006100" y="176580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153"/>
          <p:cNvSpPr/>
          <p:nvPr/>
        </p:nvSpPr>
        <p:spPr>
          <a:xfrm>
            <a:off x="7288425" y="176580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153"/>
          <p:cNvSpPr/>
          <p:nvPr/>
        </p:nvSpPr>
        <p:spPr>
          <a:xfrm>
            <a:off x="7006100" y="146100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153"/>
          <p:cNvSpPr/>
          <p:nvPr/>
        </p:nvSpPr>
        <p:spPr>
          <a:xfrm>
            <a:off x="7288425" y="146100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153"/>
          <p:cNvSpPr/>
          <p:nvPr/>
        </p:nvSpPr>
        <p:spPr>
          <a:xfrm>
            <a:off x="6897793" y="18753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153"/>
          <p:cNvSpPr/>
          <p:nvPr/>
        </p:nvSpPr>
        <p:spPr>
          <a:xfrm>
            <a:off x="7180118" y="18753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153"/>
          <p:cNvSpPr/>
          <p:nvPr/>
        </p:nvSpPr>
        <p:spPr>
          <a:xfrm>
            <a:off x="6897793" y="15705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153"/>
          <p:cNvSpPr/>
          <p:nvPr/>
        </p:nvSpPr>
        <p:spPr>
          <a:xfrm>
            <a:off x="7180118" y="15705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153"/>
          <p:cNvSpPr/>
          <p:nvPr/>
        </p:nvSpPr>
        <p:spPr>
          <a:xfrm>
            <a:off x="7587932" y="234925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153"/>
          <p:cNvSpPr/>
          <p:nvPr/>
        </p:nvSpPr>
        <p:spPr>
          <a:xfrm>
            <a:off x="7870257" y="234925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153"/>
          <p:cNvSpPr/>
          <p:nvPr/>
        </p:nvSpPr>
        <p:spPr>
          <a:xfrm>
            <a:off x="7587932" y="204445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153"/>
          <p:cNvSpPr/>
          <p:nvPr/>
        </p:nvSpPr>
        <p:spPr>
          <a:xfrm>
            <a:off x="7870257" y="204445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153"/>
          <p:cNvSpPr/>
          <p:nvPr/>
        </p:nvSpPr>
        <p:spPr>
          <a:xfrm>
            <a:off x="7479625" y="245884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153"/>
          <p:cNvSpPr/>
          <p:nvPr/>
        </p:nvSpPr>
        <p:spPr>
          <a:xfrm>
            <a:off x="7761950" y="245884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153"/>
          <p:cNvSpPr/>
          <p:nvPr/>
        </p:nvSpPr>
        <p:spPr>
          <a:xfrm>
            <a:off x="7479625" y="215404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153"/>
          <p:cNvSpPr/>
          <p:nvPr/>
        </p:nvSpPr>
        <p:spPr>
          <a:xfrm>
            <a:off x="7761950" y="215404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153"/>
          <p:cNvSpPr/>
          <p:nvPr/>
        </p:nvSpPr>
        <p:spPr>
          <a:xfrm>
            <a:off x="7587932" y="176128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153"/>
          <p:cNvSpPr/>
          <p:nvPr/>
        </p:nvSpPr>
        <p:spPr>
          <a:xfrm>
            <a:off x="7870257" y="176128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153"/>
          <p:cNvSpPr/>
          <p:nvPr/>
        </p:nvSpPr>
        <p:spPr>
          <a:xfrm>
            <a:off x="7587932" y="145648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153"/>
          <p:cNvSpPr/>
          <p:nvPr/>
        </p:nvSpPr>
        <p:spPr>
          <a:xfrm>
            <a:off x="7870257" y="145648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153"/>
          <p:cNvSpPr/>
          <p:nvPr/>
        </p:nvSpPr>
        <p:spPr>
          <a:xfrm>
            <a:off x="7479625" y="187087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153"/>
          <p:cNvSpPr/>
          <p:nvPr/>
        </p:nvSpPr>
        <p:spPr>
          <a:xfrm>
            <a:off x="7761950" y="187087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153"/>
          <p:cNvSpPr/>
          <p:nvPr/>
        </p:nvSpPr>
        <p:spPr>
          <a:xfrm>
            <a:off x="7479625" y="156607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153"/>
          <p:cNvSpPr/>
          <p:nvPr/>
        </p:nvSpPr>
        <p:spPr>
          <a:xfrm>
            <a:off x="7761950" y="156607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153"/>
          <p:cNvSpPr/>
          <p:nvPr/>
        </p:nvSpPr>
        <p:spPr>
          <a:xfrm>
            <a:off x="6783584" y="25813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153"/>
          <p:cNvSpPr/>
          <p:nvPr/>
        </p:nvSpPr>
        <p:spPr>
          <a:xfrm>
            <a:off x="7065909" y="25813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153"/>
          <p:cNvSpPr/>
          <p:nvPr/>
        </p:nvSpPr>
        <p:spPr>
          <a:xfrm>
            <a:off x="6783584" y="22765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153"/>
          <p:cNvSpPr/>
          <p:nvPr/>
        </p:nvSpPr>
        <p:spPr>
          <a:xfrm>
            <a:off x="7065909" y="22765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153"/>
          <p:cNvSpPr/>
          <p:nvPr/>
        </p:nvSpPr>
        <p:spPr>
          <a:xfrm>
            <a:off x="6783584" y="19933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153"/>
          <p:cNvSpPr/>
          <p:nvPr/>
        </p:nvSpPr>
        <p:spPr>
          <a:xfrm>
            <a:off x="7065909" y="19933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53"/>
          <p:cNvSpPr/>
          <p:nvPr/>
        </p:nvSpPr>
        <p:spPr>
          <a:xfrm>
            <a:off x="6783584" y="16885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153"/>
          <p:cNvSpPr/>
          <p:nvPr/>
        </p:nvSpPr>
        <p:spPr>
          <a:xfrm>
            <a:off x="7065909" y="16885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153"/>
          <p:cNvSpPr/>
          <p:nvPr/>
        </p:nvSpPr>
        <p:spPr>
          <a:xfrm>
            <a:off x="7365417" y="25768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153"/>
          <p:cNvSpPr/>
          <p:nvPr/>
        </p:nvSpPr>
        <p:spPr>
          <a:xfrm>
            <a:off x="7647742" y="25768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153"/>
          <p:cNvSpPr/>
          <p:nvPr/>
        </p:nvSpPr>
        <p:spPr>
          <a:xfrm>
            <a:off x="7365417" y="22720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153"/>
          <p:cNvSpPr/>
          <p:nvPr/>
        </p:nvSpPr>
        <p:spPr>
          <a:xfrm>
            <a:off x="7647742" y="22720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153"/>
          <p:cNvSpPr/>
          <p:nvPr/>
        </p:nvSpPr>
        <p:spPr>
          <a:xfrm>
            <a:off x="7365417" y="198887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153"/>
          <p:cNvSpPr/>
          <p:nvPr/>
        </p:nvSpPr>
        <p:spPr>
          <a:xfrm>
            <a:off x="7647742" y="198887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153"/>
          <p:cNvSpPr/>
          <p:nvPr/>
        </p:nvSpPr>
        <p:spPr>
          <a:xfrm>
            <a:off x="7365417" y="168407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153"/>
          <p:cNvSpPr/>
          <p:nvPr/>
        </p:nvSpPr>
        <p:spPr>
          <a:xfrm>
            <a:off x="7647742" y="168407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6" name="Google Shape;2406;p153"/>
          <p:cNvGrpSpPr/>
          <p:nvPr/>
        </p:nvGrpSpPr>
        <p:grpSpPr>
          <a:xfrm>
            <a:off x="276200" y="2236888"/>
            <a:ext cx="8244786" cy="2159288"/>
            <a:chOff x="276200" y="2236888"/>
            <a:chExt cx="8244786" cy="2159288"/>
          </a:xfrm>
        </p:grpSpPr>
        <p:sp>
          <p:nvSpPr>
            <p:cNvPr id="2407" name="Google Shape;2407;p153"/>
            <p:cNvSpPr txBox="1"/>
            <p:nvPr/>
          </p:nvSpPr>
          <p:spPr>
            <a:xfrm>
              <a:off x="7118448" y="3041325"/>
              <a:ext cx="469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8" name="Google Shape;2408;p153"/>
            <p:cNvSpPr txBox="1"/>
            <p:nvPr/>
          </p:nvSpPr>
          <p:spPr>
            <a:xfrm>
              <a:off x="6317387" y="2236888"/>
              <a:ext cx="405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9" name="Google Shape;2409;p153"/>
            <p:cNvSpPr txBox="1"/>
            <p:nvPr/>
          </p:nvSpPr>
          <p:spPr>
            <a:xfrm>
              <a:off x="8115387" y="2827625"/>
              <a:ext cx="405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0" name="Google Shape;2410;p153"/>
            <p:cNvSpPr txBox="1"/>
            <p:nvPr/>
          </p:nvSpPr>
          <p:spPr>
            <a:xfrm>
              <a:off x="276200" y="3906275"/>
              <a:ext cx="6621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Kalam"/>
                  <a:ea typeface="Kalam"/>
                  <a:cs typeface="Kalam"/>
                  <a:sym typeface="Kalam"/>
                </a:rPr>
                <a:t>It is not a cube so 48 is not a cube number. She made a cuboid with lengths 4 by 4 by 3.</a:t>
              </a:r>
              <a:endParaRPr sz="21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154"/>
          <p:cNvSpPr txBox="1"/>
          <p:nvPr>
            <p:ph idx="1" type="body"/>
          </p:nvPr>
        </p:nvSpPr>
        <p:spPr>
          <a:xfrm>
            <a:off x="324000" y="759300"/>
            <a:ext cx="5040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has put together these cubes.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counted them and said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27 is not a cube number because I do not have a cube.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Explain why she is wrong.</a:t>
            </a:r>
            <a:endParaRPr/>
          </a:p>
        </p:txBody>
      </p:sp>
      <p:sp>
        <p:nvSpPr>
          <p:cNvPr id="2416" name="Google Shape;2416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pic>
        <p:nvPicPr>
          <p:cNvPr id="2417" name="Google Shape;2417;p154"/>
          <p:cNvPicPr preferRelativeResize="0"/>
          <p:nvPr/>
        </p:nvPicPr>
        <p:blipFill rotWithShape="1">
          <a:blip r:embed="rId3">
            <a:alphaModFix/>
          </a:blip>
          <a:srcRect b="0" l="0" r="70434" t="56280"/>
          <a:stretch/>
        </p:blipFill>
        <p:spPr>
          <a:xfrm flipH="1">
            <a:off x="184651" y="1620000"/>
            <a:ext cx="5375949" cy="145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154"/>
          <p:cNvSpPr/>
          <p:nvPr/>
        </p:nvSpPr>
        <p:spPr>
          <a:xfrm>
            <a:off x="7073018" y="257426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154"/>
          <p:cNvSpPr txBox="1"/>
          <p:nvPr/>
        </p:nvSpPr>
        <p:spPr>
          <a:xfrm>
            <a:off x="6925648" y="3055650"/>
            <a:ext cx="469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0" name="Google Shape;2420;p154"/>
          <p:cNvSpPr txBox="1"/>
          <p:nvPr/>
        </p:nvSpPr>
        <p:spPr>
          <a:xfrm>
            <a:off x="6462112" y="2130863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1" name="Google Shape;2421;p154"/>
          <p:cNvSpPr txBox="1"/>
          <p:nvPr/>
        </p:nvSpPr>
        <p:spPr>
          <a:xfrm>
            <a:off x="7687512" y="2779500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2" name="Google Shape;2422;p154"/>
          <p:cNvSpPr txBox="1"/>
          <p:nvPr/>
        </p:nvSpPr>
        <p:spPr>
          <a:xfrm>
            <a:off x="324000" y="3634100"/>
            <a:ext cx="6621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She did not arrange them correctly. All the lengths should be the same. Each length of the cube must be 3 to make the cube number 27.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3" name="Google Shape;2423;p154"/>
          <p:cNvSpPr/>
          <p:nvPr/>
        </p:nvSpPr>
        <p:spPr>
          <a:xfrm>
            <a:off x="7073018" y="228569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154"/>
          <p:cNvSpPr/>
          <p:nvPr/>
        </p:nvSpPr>
        <p:spPr>
          <a:xfrm>
            <a:off x="7073018" y="19788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154"/>
          <p:cNvSpPr/>
          <p:nvPr/>
        </p:nvSpPr>
        <p:spPr>
          <a:xfrm>
            <a:off x="7069025" y="167635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154"/>
          <p:cNvSpPr/>
          <p:nvPr/>
        </p:nvSpPr>
        <p:spPr>
          <a:xfrm>
            <a:off x="7376667" y="257740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154"/>
          <p:cNvSpPr/>
          <p:nvPr/>
        </p:nvSpPr>
        <p:spPr>
          <a:xfrm>
            <a:off x="7376667" y="228883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154"/>
          <p:cNvSpPr/>
          <p:nvPr/>
        </p:nvSpPr>
        <p:spPr>
          <a:xfrm>
            <a:off x="7376667" y="198201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154"/>
          <p:cNvSpPr/>
          <p:nvPr/>
        </p:nvSpPr>
        <p:spPr>
          <a:xfrm>
            <a:off x="7372675" y="167949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154"/>
          <p:cNvSpPr/>
          <p:nvPr/>
        </p:nvSpPr>
        <p:spPr>
          <a:xfrm>
            <a:off x="6969543" y="26710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154"/>
          <p:cNvSpPr/>
          <p:nvPr/>
        </p:nvSpPr>
        <p:spPr>
          <a:xfrm>
            <a:off x="6969543" y="238250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154"/>
          <p:cNvSpPr/>
          <p:nvPr/>
        </p:nvSpPr>
        <p:spPr>
          <a:xfrm>
            <a:off x="6969543" y="2075685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154"/>
          <p:cNvSpPr/>
          <p:nvPr/>
        </p:nvSpPr>
        <p:spPr>
          <a:xfrm>
            <a:off x="6965551" y="177316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154"/>
          <p:cNvSpPr/>
          <p:nvPr/>
        </p:nvSpPr>
        <p:spPr>
          <a:xfrm>
            <a:off x="7273192" y="267421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154"/>
          <p:cNvSpPr/>
          <p:nvPr/>
        </p:nvSpPr>
        <p:spPr>
          <a:xfrm>
            <a:off x="7273192" y="23856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154"/>
          <p:cNvSpPr/>
          <p:nvPr/>
        </p:nvSpPr>
        <p:spPr>
          <a:xfrm>
            <a:off x="7273192" y="207882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154"/>
          <p:cNvSpPr/>
          <p:nvPr/>
        </p:nvSpPr>
        <p:spPr>
          <a:xfrm>
            <a:off x="7269200" y="177630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154"/>
          <p:cNvSpPr/>
          <p:nvPr/>
        </p:nvSpPr>
        <p:spPr>
          <a:xfrm>
            <a:off x="6858909" y="277635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154"/>
          <p:cNvSpPr/>
          <p:nvPr/>
        </p:nvSpPr>
        <p:spPr>
          <a:xfrm>
            <a:off x="6858909" y="248778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154"/>
          <p:cNvSpPr/>
          <p:nvPr/>
        </p:nvSpPr>
        <p:spPr>
          <a:xfrm>
            <a:off x="6858909" y="21809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54"/>
          <p:cNvSpPr/>
          <p:nvPr/>
        </p:nvSpPr>
        <p:spPr>
          <a:xfrm>
            <a:off x="6854917" y="187844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154"/>
          <p:cNvSpPr/>
          <p:nvPr/>
        </p:nvSpPr>
        <p:spPr>
          <a:xfrm>
            <a:off x="7162559" y="2779494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154"/>
          <p:cNvSpPr/>
          <p:nvPr/>
        </p:nvSpPr>
        <p:spPr>
          <a:xfrm>
            <a:off x="7162559" y="249093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154"/>
          <p:cNvSpPr/>
          <p:nvPr/>
        </p:nvSpPr>
        <p:spPr>
          <a:xfrm>
            <a:off x="7162559" y="218411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154"/>
          <p:cNvSpPr/>
          <p:nvPr/>
        </p:nvSpPr>
        <p:spPr>
          <a:xfrm>
            <a:off x="7158566" y="1881585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154"/>
          <p:cNvSpPr/>
          <p:nvPr/>
        </p:nvSpPr>
        <p:spPr>
          <a:xfrm>
            <a:off x="8064003" y="2829595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154"/>
          <p:cNvSpPr/>
          <p:nvPr/>
        </p:nvSpPr>
        <p:spPr>
          <a:xfrm>
            <a:off x="7894453" y="233055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154"/>
          <p:cNvSpPr/>
          <p:nvPr/>
        </p:nvSpPr>
        <p:spPr>
          <a:xfrm>
            <a:off x="8068400" y="1881573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55"/>
          <p:cNvSpPr txBox="1"/>
          <p:nvPr>
            <p:ph idx="1" type="body"/>
          </p:nvPr>
        </p:nvSpPr>
        <p:spPr>
          <a:xfrm>
            <a:off x="324000" y="987900"/>
            <a:ext cx="5932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27 is a cube number as it makes this cube.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455" name="Google Shape;2455;p155"/>
          <p:cNvSpPr/>
          <p:nvPr/>
        </p:nvSpPr>
        <p:spPr>
          <a:xfrm>
            <a:off x="7073018" y="257426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155"/>
          <p:cNvSpPr txBox="1"/>
          <p:nvPr/>
        </p:nvSpPr>
        <p:spPr>
          <a:xfrm>
            <a:off x="7118398" y="3100163"/>
            <a:ext cx="469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7" name="Google Shape;2457;p155"/>
          <p:cNvSpPr txBox="1"/>
          <p:nvPr/>
        </p:nvSpPr>
        <p:spPr>
          <a:xfrm>
            <a:off x="6462112" y="2130863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8" name="Google Shape;2458;p155"/>
          <p:cNvSpPr txBox="1"/>
          <p:nvPr/>
        </p:nvSpPr>
        <p:spPr>
          <a:xfrm>
            <a:off x="8070937" y="27347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9" name="Google Shape;2459;p155"/>
          <p:cNvSpPr/>
          <p:nvPr/>
        </p:nvSpPr>
        <p:spPr>
          <a:xfrm>
            <a:off x="7073018" y="228569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155"/>
          <p:cNvSpPr/>
          <p:nvPr/>
        </p:nvSpPr>
        <p:spPr>
          <a:xfrm>
            <a:off x="7073018" y="197887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155"/>
          <p:cNvSpPr/>
          <p:nvPr/>
        </p:nvSpPr>
        <p:spPr>
          <a:xfrm>
            <a:off x="7376667" y="2577402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155"/>
          <p:cNvSpPr/>
          <p:nvPr/>
        </p:nvSpPr>
        <p:spPr>
          <a:xfrm>
            <a:off x="7376667" y="228883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155"/>
          <p:cNvSpPr/>
          <p:nvPr/>
        </p:nvSpPr>
        <p:spPr>
          <a:xfrm>
            <a:off x="7376667" y="198201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155"/>
          <p:cNvSpPr/>
          <p:nvPr/>
        </p:nvSpPr>
        <p:spPr>
          <a:xfrm>
            <a:off x="6969543" y="26710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155"/>
          <p:cNvSpPr/>
          <p:nvPr/>
        </p:nvSpPr>
        <p:spPr>
          <a:xfrm>
            <a:off x="6969543" y="238250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155"/>
          <p:cNvSpPr/>
          <p:nvPr/>
        </p:nvSpPr>
        <p:spPr>
          <a:xfrm>
            <a:off x="6969543" y="2075685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155"/>
          <p:cNvSpPr/>
          <p:nvPr/>
        </p:nvSpPr>
        <p:spPr>
          <a:xfrm>
            <a:off x="7273192" y="267421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155"/>
          <p:cNvSpPr/>
          <p:nvPr/>
        </p:nvSpPr>
        <p:spPr>
          <a:xfrm>
            <a:off x="7273192" y="238564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155"/>
          <p:cNvSpPr/>
          <p:nvPr/>
        </p:nvSpPr>
        <p:spPr>
          <a:xfrm>
            <a:off x="7273192" y="207882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155"/>
          <p:cNvSpPr/>
          <p:nvPr/>
        </p:nvSpPr>
        <p:spPr>
          <a:xfrm>
            <a:off x="6858909" y="277635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155"/>
          <p:cNvSpPr/>
          <p:nvPr/>
        </p:nvSpPr>
        <p:spPr>
          <a:xfrm>
            <a:off x="6858909" y="248778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155"/>
          <p:cNvSpPr/>
          <p:nvPr/>
        </p:nvSpPr>
        <p:spPr>
          <a:xfrm>
            <a:off x="6858909" y="218096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155"/>
          <p:cNvSpPr/>
          <p:nvPr/>
        </p:nvSpPr>
        <p:spPr>
          <a:xfrm>
            <a:off x="7162559" y="2779494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155"/>
          <p:cNvSpPr/>
          <p:nvPr/>
        </p:nvSpPr>
        <p:spPr>
          <a:xfrm>
            <a:off x="7162559" y="249093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155"/>
          <p:cNvSpPr/>
          <p:nvPr/>
        </p:nvSpPr>
        <p:spPr>
          <a:xfrm>
            <a:off x="7162559" y="218411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155"/>
          <p:cNvSpPr/>
          <p:nvPr/>
        </p:nvSpPr>
        <p:spPr>
          <a:xfrm>
            <a:off x="7654209" y="2584201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155"/>
          <p:cNvSpPr/>
          <p:nvPr/>
        </p:nvSpPr>
        <p:spPr>
          <a:xfrm>
            <a:off x="7654209" y="229563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155"/>
          <p:cNvSpPr/>
          <p:nvPr/>
        </p:nvSpPr>
        <p:spPr>
          <a:xfrm>
            <a:off x="7654209" y="1988818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155"/>
          <p:cNvSpPr/>
          <p:nvPr/>
        </p:nvSpPr>
        <p:spPr>
          <a:xfrm>
            <a:off x="7571980" y="2666430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155"/>
          <p:cNvSpPr/>
          <p:nvPr/>
        </p:nvSpPr>
        <p:spPr>
          <a:xfrm>
            <a:off x="7571980" y="237786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155"/>
          <p:cNvSpPr/>
          <p:nvPr/>
        </p:nvSpPr>
        <p:spPr>
          <a:xfrm>
            <a:off x="7571980" y="2071046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155"/>
          <p:cNvSpPr/>
          <p:nvPr/>
        </p:nvSpPr>
        <p:spPr>
          <a:xfrm>
            <a:off x="7467808" y="2784829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155"/>
          <p:cNvSpPr/>
          <p:nvPr/>
        </p:nvSpPr>
        <p:spPr>
          <a:xfrm>
            <a:off x="7467808" y="2496267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155"/>
          <p:cNvSpPr/>
          <p:nvPr/>
        </p:nvSpPr>
        <p:spPr>
          <a:xfrm>
            <a:off x="7467808" y="2189445"/>
            <a:ext cx="389700" cy="389700"/>
          </a:xfrm>
          <a:prstGeom prst="cube">
            <a:avLst>
              <a:gd fmla="val 25000" name="adj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156"/>
          <p:cNvSpPr txBox="1"/>
          <p:nvPr>
            <p:ph idx="1" type="body"/>
          </p:nvPr>
        </p:nvSpPr>
        <p:spPr>
          <a:xfrm>
            <a:off x="324000" y="759300"/>
            <a:ext cx="82377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Identify all the cube numbers from the list below.</a:t>
            </a:r>
            <a:endParaRPr sz="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1          2</a:t>
            </a:r>
            <a:r>
              <a:rPr lang="en-GB" sz="2800"/>
              <a:t>          3          4          8          9          10 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  16          25          27          36          40          49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     64          100          121          125          169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1000</a:t>
            </a:r>
            <a:r>
              <a:rPr lang="en-GB"/>
              <a:t>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57"/>
          <p:cNvSpPr txBox="1"/>
          <p:nvPr>
            <p:ph idx="1" type="body"/>
          </p:nvPr>
        </p:nvSpPr>
        <p:spPr>
          <a:xfrm>
            <a:off x="324000" y="759300"/>
            <a:ext cx="82377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Put the following numbers in the Venn diagram: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497" name="Google Shape;2497;p157"/>
          <p:cNvSpPr txBox="1"/>
          <p:nvPr/>
        </p:nvSpPr>
        <p:spPr>
          <a:xfrm>
            <a:off x="389600" y="1209150"/>
            <a:ext cx="72735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1         3          4          8          9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64       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     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216        1000    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8" name="Google Shape;2498;p157"/>
          <p:cNvSpPr/>
          <p:nvPr/>
        </p:nvSpPr>
        <p:spPr>
          <a:xfrm>
            <a:off x="1458350" y="2636875"/>
            <a:ext cx="6603000" cy="2034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157"/>
          <p:cNvSpPr/>
          <p:nvPr/>
        </p:nvSpPr>
        <p:spPr>
          <a:xfrm>
            <a:off x="2313975" y="2950825"/>
            <a:ext cx="3132000" cy="140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157"/>
          <p:cNvSpPr/>
          <p:nvPr/>
        </p:nvSpPr>
        <p:spPr>
          <a:xfrm>
            <a:off x="3912250" y="2950825"/>
            <a:ext cx="2945400" cy="140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157"/>
          <p:cNvSpPr txBox="1"/>
          <p:nvPr/>
        </p:nvSpPr>
        <p:spPr>
          <a:xfrm>
            <a:off x="1610100" y="254760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2" name="Google Shape;2502;p157"/>
          <p:cNvSpPr txBox="1"/>
          <p:nvPr/>
        </p:nvSpPr>
        <p:spPr>
          <a:xfrm>
            <a:off x="6672950" y="262380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58"/>
          <p:cNvSpPr txBox="1"/>
          <p:nvPr>
            <p:ph idx="1" type="body"/>
          </p:nvPr>
        </p:nvSpPr>
        <p:spPr>
          <a:xfrm>
            <a:off x="324000" y="759300"/>
            <a:ext cx="7135200" cy="15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</a:t>
            </a:r>
            <a:r>
              <a:rPr lang="en-GB" sz="2000"/>
              <a:t>Fill in the number to make the calculation correct.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number in the SQUARE is a square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number in the CUBE is a cube number.</a:t>
            </a:r>
            <a:endParaRPr sz="2000"/>
          </a:p>
        </p:txBody>
      </p:sp>
      <p:sp>
        <p:nvSpPr>
          <p:cNvPr id="2508" name="Google Shape;2508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509" name="Google Shape;2509;p158"/>
          <p:cNvSpPr txBox="1"/>
          <p:nvPr>
            <p:ph idx="1" type="body"/>
          </p:nvPr>
        </p:nvSpPr>
        <p:spPr>
          <a:xfrm>
            <a:off x="428400" y="2365525"/>
            <a:ext cx="5382300" cy="23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🧊 = 31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</a:t>
            </a:r>
            <a:r>
              <a:rPr lang="en-GB" sz="2600"/>
              <a:t>🧊</a:t>
            </a:r>
            <a:r>
              <a:rPr lang="en-GB" sz="2600"/>
              <a:t> = 33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</a:t>
            </a:r>
            <a:r>
              <a:rPr lang="en-GB" sz="2600"/>
              <a:t>🧊</a:t>
            </a:r>
            <a:r>
              <a:rPr lang="en-GB" sz="2600"/>
              <a:t> = 225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⬜ + </a:t>
            </a:r>
            <a:r>
              <a:rPr lang="en-GB" sz="2600"/>
              <a:t>🧊</a:t>
            </a:r>
            <a:r>
              <a:rPr lang="en-GB" sz="2600"/>
              <a:t> = 104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</a:t>
            </a:r>
            <a:r>
              <a:rPr lang="en-GB" sz="2600"/>
              <a:t>🧊</a:t>
            </a:r>
            <a:r>
              <a:rPr lang="en-GB" sz="2600"/>
              <a:t> + </a:t>
            </a:r>
            <a:r>
              <a:rPr lang="en-GB" sz="2600"/>
              <a:t>🧊</a:t>
            </a:r>
            <a:r>
              <a:rPr lang="en-GB" sz="2600"/>
              <a:t> + </a:t>
            </a:r>
            <a:r>
              <a:rPr lang="en-GB" sz="2600"/>
              <a:t>🧊</a:t>
            </a:r>
            <a:r>
              <a:rPr lang="en-GB" sz="2600"/>
              <a:t> = 36</a:t>
            </a:r>
            <a:endParaRPr sz="2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515" name="Google Shape;2515;p159"/>
          <p:cNvSpPr txBox="1"/>
          <p:nvPr>
            <p:ph idx="1" type="body"/>
          </p:nvPr>
        </p:nvSpPr>
        <p:spPr>
          <a:xfrm>
            <a:off x="324000" y="759300"/>
            <a:ext cx="82377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Identify all the cube numbers from the list below.</a:t>
            </a:r>
            <a:endParaRPr sz="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1          2          3          4          8          9          10 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  16          25          27          36          40          49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     64          100          121          125          169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     1000</a:t>
            </a:r>
            <a:r>
              <a:rPr lang="en-GB"/>
              <a:t>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159"/>
          <p:cNvSpPr/>
          <p:nvPr/>
        </p:nvSpPr>
        <p:spPr>
          <a:xfrm>
            <a:off x="376700" y="1108550"/>
            <a:ext cx="8073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159"/>
          <p:cNvSpPr/>
          <p:nvPr/>
        </p:nvSpPr>
        <p:spPr>
          <a:xfrm>
            <a:off x="5130150" y="1108550"/>
            <a:ext cx="8073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159"/>
          <p:cNvSpPr/>
          <p:nvPr/>
        </p:nvSpPr>
        <p:spPr>
          <a:xfrm>
            <a:off x="3619725" y="2010675"/>
            <a:ext cx="8073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159"/>
          <p:cNvSpPr/>
          <p:nvPr/>
        </p:nvSpPr>
        <p:spPr>
          <a:xfrm>
            <a:off x="1382800" y="2938000"/>
            <a:ext cx="8073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59"/>
          <p:cNvSpPr/>
          <p:nvPr/>
        </p:nvSpPr>
        <p:spPr>
          <a:xfrm>
            <a:off x="6055925" y="2938000"/>
            <a:ext cx="8073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159"/>
          <p:cNvSpPr/>
          <p:nvPr/>
        </p:nvSpPr>
        <p:spPr>
          <a:xfrm>
            <a:off x="4168350" y="3856200"/>
            <a:ext cx="1083900" cy="77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527" name="Google Shape;2527;p160"/>
          <p:cNvSpPr txBox="1"/>
          <p:nvPr>
            <p:ph idx="1" type="body"/>
          </p:nvPr>
        </p:nvSpPr>
        <p:spPr>
          <a:xfrm>
            <a:off x="324000" y="759300"/>
            <a:ext cx="82377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Put the following numbers in the Venn diagram: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160"/>
          <p:cNvSpPr txBox="1"/>
          <p:nvPr/>
        </p:nvSpPr>
        <p:spPr>
          <a:xfrm>
            <a:off x="389600" y="1209150"/>
            <a:ext cx="72735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1         3          4          8          9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64          125          216       1000    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9" name="Google Shape;2529;p160"/>
          <p:cNvSpPr/>
          <p:nvPr/>
        </p:nvSpPr>
        <p:spPr>
          <a:xfrm>
            <a:off x="1458350" y="2636875"/>
            <a:ext cx="6603000" cy="2034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160"/>
          <p:cNvSpPr/>
          <p:nvPr/>
        </p:nvSpPr>
        <p:spPr>
          <a:xfrm>
            <a:off x="2313975" y="2950825"/>
            <a:ext cx="3132000" cy="140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160"/>
          <p:cNvSpPr/>
          <p:nvPr/>
        </p:nvSpPr>
        <p:spPr>
          <a:xfrm>
            <a:off x="3912250" y="2950825"/>
            <a:ext cx="2945400" cy="140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160"/>
          <p:cNvSpPr txBox="1"/>
          <p:nvPr/>
        </p:nvSpPr>
        <p:spPr>
          <a:xfrm>
            <a:off x="1610100" y="254760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3" name="Google Shape;2533;p160"/>
          <p:cNvSpPr txBox="1"/>
          <p:nvPr/>
        </p:nvSpPr>
        <p:spPr>
          <a:xfrm>
            <a:off x="4220700" y="31500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4" name="Google Shape;2534;p160"/>
          <p:cNvSpPr txBox="1"/>
          <p:nvPr/>
        </p:nvSpPr>
        <p:spPr>
          <a:xfrm>
            <a:off x="1570025" y="40275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5" name="Google Shape;2535;p160"/>
          <p:cNvSpPr txBox="1"/>
          <p:nvPr/>
        </p:nvSpPr>
        <p:spPr>
          <a:xfrm>
            <a:off x="3454713" y="386445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6" name="Google Shape;2536;p160"/>
          <p:cNvSpPr txBox="1"/>
          <p:nvPr/>
        </p:nvSpPr>
        <p:spPr>
          <a:xfrm>
            <a:off x="5034600" y="38112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7" name="Google Shape;2537;p160"/>
          <p:cNvSpPr txBox="1"/>
          <p:nvPr/>
        </p:nvSpPr>
        <p:spPr>
          <a:xfrm>
            <a:off x="2967738" y="38874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8" name="Google Shape;2538;p160"/>
          <p:cNvSpPr txBox="1"/>
          <p:nvPr/>
        </p:nvSpPr>
        <p:spPr>
          <a:xfrm>
            <a:off x="2994575" y="304405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9" name="Google Shape;2539;p160"/>
          <p:cNvSpPr txBox="1"/>
          <p:nvPr/>
        </p:nvSpPr>
        <p:spPr>
          <a:xfrm>
            <a:off x="2811425" y="3352525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0" name="Google Shape;2540;p160"/>
          <p:cNvSpPr txBox="1"/>
          <p:nvPr/>
        </p:nvSpPr>
        <p:spPr>
          <a:xfrm>
            <a:off x="2512375" y="378145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49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1" name="Google Shape;2541;p160"/>
          <p:cNvSpPr txBox="1"/>
          <p:nvPr/>
        </p:nvSpPr>
        <p:spPr>
          <a:xfrm>
            <a:off x="4168938" y="362905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2" name="Google Shape;2542;p160"/>
          <p:cNvSpPr txBox="1"/>
          <p:nvPr/>
        </p:nvSpPr>
        <p:spPr>
          <a:xfrm>
            <a:off x="5090700" y="2882775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125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3" name="Google Shape;2543;p160"/>
          <p:cNvSpPr txBox="1"/>
          <p:nvPr/>
        </p:nvSpPr>
        <p:spPr>
          <a:xfrm>
            <a:off x="5370625" y="33351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216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4" name="Google Shape;2544;p160"/>
          <p:cNvSpPr txBox="1"/>
          <p:nvPr/>
        </p:nvSpPr>
        <p:spPr>
          <a:xfrm>
            <a:off x="3444975" y="2882775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5" name="Google Shape;2545;p160"/>
          <p:cNvSpPr txBox="1"/>
          <p:nvPr/>
        </p:nvSpPr>
        <p:spPr>
          <a:xfrm>
            <a:off x="5961900" y="3200125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6" name="Google Shape;2546;p160"/>
          <p:cNvSpPr txBox="1"/>
          <p:nvPr/>
        </p:nvSpPr>
        <p:spPr>
          <a:xfrm>
            <a:off x="6932150" y="378145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7" name="Google Shape;2547;p160"/>
          <p:cNvSpPr txBox="1"/>
          <p:nvPr/>
        </p:nvSpPr>
        <p:spPr>
          <a:xfrm>
            <a:off x="5825525" y="3658800"/>
            <a:ext cx="8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1000</a:t>
            </a: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8" name="Google Shape;2548;p160"/>
          <p:cNvSpPr txBox="1"/>
          <p:nvPr/>
        </p:nvSpPr>
        <p:spPr>
          <a:xfrm>
            <a:off x="6575200" y="2636875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2554" name="Google Shape;2554;p161"/>
          <p:cNvSpPr txBox="1"/>
          <p:nvPr>
            <p:ph idx="1" type="body"/>
          </p:nvPr>
        </p:nvSpPr>
        <p:spPr>
          <a:xfrm>
            <a:off x="324000" y="759300"/>
            <a:ext cx="7135200" cy="15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</a:t>
            </a:r>
            <a:r>
              <a:rPr lang="en-GB" sz="2000"/>
              <a:t>Fill in the number to make the calculation correct.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number in the SQUARE is a square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number in the CUBE is a cube number.</a:t>
            </a:r>
            <a:endParaRPr sz="2000"/>
          </a:p>
        </p:txBody>
      </p:sp>
      <p:sp>
        <p:nvSpPr>
          <p:cNvPr id="2555" name="Google Shape;2555;p161"/>
          <p:cNvSpPr txBox="1"/>
          <p:nvPr>
            <p:ph idx="1" type="body"/>
          </p:nvPr>
        </p:nvSpPr>
        <p:spPr>
          <a:xfrm>
            <a:off x="392400" y="2430000"/>
            <a:ext cx="4887000" cy="23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🧊   = 31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🧊   = 33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🧊   = 225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⬜ + ⬜  + 🧊   = 104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lphaLcParenR"/>
            </a:pPr>
            <a:r>
              <a:rPr lang="en-GB" sz="2600"/>
              <a:t> 🧊 + 🧊  + 🧊    = 36</a:t>
            </a:r>
            <a:endParaRPr sz="2600"/>
          </a:p>
        </p:txBody>
      </p:sp>
      <p:sp>
        <p:nvSpPr>
          <p:cNvPr id="2556" name="Google Shape;2556;p161"/>
          <p:cNvSpPr txBox="1"/>
          <p:nvPr/>
        </p:nvSpPr>
        <p:spPr>
          <a:xfrm>
            <a:off x="791052" y="2429071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7" name="Google Shape;2557;p161"/>
          <p:cNvSpPr txBox="1"/>
          <p:nvPr/>
        </p:nvSpPr>
        <p:spPr>
          <a:xfrm>
            <a:off x="791050" y="3348524"/>
            <a:ext cx="613500" cy="495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100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8" name="Google Shape;2558;p161"/>
          <p:cNvSpPr txBox="1"/>
          <p:nvPr/>
        </p:nvSpPr>
        <p:spPr>
          <a:xfrm>
            <a:off x="1651650" y="2445227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27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9" name="Google Shape;2559;p161"/>
          <p:cNvSpPr txBox="1"/>
          <p:nvPr/>
        </p:nvSpPr>
        <p:spPr>
          <a:xfrm>
            <a:off x="791050" y="2884899"/>
            <a:ext cx="613500" cy="4722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0" name="Google Shape;2560;p161"/>
          <p:cNvSpPr txBox="1"/>
          <p:nvPr/>
        </p:nvSpPr>
        <p:spPr>
          <a:xfrm>
            <a:off x="1651652" y="2910116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1" name="Google Shape;2561;p161"/>
          <p:cNvSpPr txBox="1"/>
          <p:nvPr/>
        </p:nvSpPr>
        <p:spPr>
          <a:xfrm>
            <a:off x="1650552" y="3370094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125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2" name="Google Shape;2562;p161"/>
          <p:cNvSpPr txBox="1"/>
          <p:nvPr/>
        </p:nvSpPr>
        <p:spPr>
          <a:xfrm>
            <a:off x="773608" y="3828295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36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3" name="Google Shape;2563;p161"/>
          <p:cNvSpPr txBox="1"/>
          <p:nvPr/>
        </p:nvSpPr>
        <p:spPr>
          <a:xfrm>
            <a:off x="1574350" y="3796700"/>
            <a:ext cx="613500" cy="4722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4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4" name="Google Shape;2564;p161"/>
          <p:cNvSpPr txBox="1"/>
          <p:nvPr/>
        </p:nvSpPr>
        <p:spPr>
          <a:xfrm>
            <a:off x="2415527" y="3807870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64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5" name="Google Shape;2565;p161"/>
          <p:cNvSpPr txBox="1"/>
          <p:nvPr/>
        </p:nvSpPr>
        <p:spPr>
          <a:xfrm>
            <a:off x="772151" y="4268100"/>
            <a:ext cx="5562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6" name="Google Shape;2566;p161"/>
          <p:cNvSpPr txBox="1"/>
          <p:nvPr/>
        </p:nvSpPr>
        <p:spPr>
          <a:xfrm>
            <a:off x="1570026" y="4268100"/>
            <a:ext cx="5562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7" name="Google Shape;2567;p161"/>
          <p:cNvSpPr txBox="1"/>
          <p:nvPr/>
        </p:nvSpPr>
        <p:spPr>
          <a:xfrm>
            <a:off x="2398456" y="4273553"/>
            <a:ext cx="613500" cy="429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27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162"/>
          <p:cNvSpPr txBox="1"/>
          <p:nvPr>
            <p:ph type="title"/>
          </p:nvPr>
        </p:nvSpPr>
        <p:spPr>
          <a:xfrm>
            <a:off x="1955350" y="157500"/>
            <a:ext cx="54171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Square and cube numbers</a:t>
            </a:r>
            <a:endParaRPr sz="2000"/>
          </a:p>
        </p:txBody>
      </p:sp>
      <p:sp>
        <p:nvSpPr>
          <p:cNvPr id="2573" name="Google Shape;2573;p162"/>
          <p:cNvSpPr txBox="1"/>
          <p:nvPr/>
        </p:nvSpPr>
        <p:spPr>
          <a:xfrm>
            <a:off x="324000" y="1215175"/>
            <a:ext cx="8113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two repeated integers, the product is a square number.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4" name="Google Shape;2574;p162"/>
          <p:cNvSpPr txBox="1"/>
          <p:nvPr/>
        </p:nvSpPr>
        <p:spPr>
          <a:xfrm>
            <a:off x="324000" y="2803425"/>
            <a:ext cx="8113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three repeated integers, the product is a cube number.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5" name="Google Shape;2575;p162"/>
          <p:cNvSpPr txBox="1"/>
          <p:nvPr>
            <p:ph idx="4294967295" type="subTitle"/>
          </p:nvPr>
        </p:nvSpPr>
        <p:spPr>
          <a:xfrm>
            <a:off x="324000" y="22117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 square array can help identify a square number.</a:t>
            </a:r>
            <a:endParaRPr/>
          </a:p>
        </p:txBody>
      </p:sp>
      <p:sp>
        <p:nvSpPr>
          <p:cNvPr id="2576" name="Google Shape;2576;p162"/>
          <p:cNvSpPr txBox="1"/>
          <p:nvPr>
            <p:ph idx="4294967295" type="subTitle"/>
          </p:nvPr>
        </p:nvSpPr>
        <p:spPr>
          <a:xfrm>
            <a:off x="284425" y="391106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 cube using blocks can help identify a cube number.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6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82" name="Google Shape;2582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