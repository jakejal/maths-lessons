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908177-4D3A-4080-8E20-78EA83EE1E3E}">
  <a:tblStyle styleId="{13908177-4D3A-4080-8E20-78EA83EE1E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90af1c61ab_0_15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90af1c61a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1680250" y="3584600"/>
            <a:ext cx="444300" cy="369000"/>
          </a:xfrm>
          <a:prstGeom prst="rect">
            <a:avLst/>
          </a:prstGeom>
          <a:noFill/>
          <a:ln cap="flat" cmpd="sng" w="381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4" name="Google Shape;164;p20"/>
          <p:cNvSpPr/>
          <p:nvPr/>
        </p:nvSpPr>
        <p:spPr>
          <a:xfrm>
            <a:off x="2934378" y="3686975"/>
            <a:ext cx="444300" cy="369000"/>
          </a:xfrm>
          <a:prstGeom prst="rect">
            <a:avLst/>
          </a:prstGeom>
          <a:noFill/>
          <a:ln cap="flat" cmpd="sng" w="381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5" name="Google Shape;165;p20"/>
          <p:cNvSpPr/>
          <p:nvPr/>
        </p:nvSpPr>
        <p:spPr>
          <a:xfrm>
            <a:off x="4150751" y="3274132"/>
            <a:ext cx="444300" cy="369000"/>
          </a:xfrm>
          <a:prstGeom prst="rect">
            <a:avLst/>
          </a:prstGeom>
          <a:noFill/>
          <a:ln cap="flat" cmpd="sng" w="381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6" name="Google Shape;166;p20"/>
          <p:cNvSpPr/>
          <p:nvPr/>
        </p:nvSpPr>
        <p:spPr>
          <a:xfrm>
            <a:off x="5719418" y="3471194"/>
            <a:ext cx="444300" cy="369000"/>
          </a:xfrm>
          <a:prstGeom prst="rect">
            <a:avLst/>
          </a:prstGeom>
          <a:noFill/>
          <a:ln cap="flat" cmpd="sng" w="381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" name="Google Shape;167;p20"/>
          <p:cNvSpPr txBox="1"/>
          <p:nvPr/>
        </p:nvSpPr>
        <p:spPr>
          <a:xfrm>
            <a:off x="468000" y="14009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Square numbers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1738125"/>
            <a:ext cx="66240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up the arrays with the correct square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" name="Google Shape;169;p20"/>
          <p:cNvGrpSpPr/>
          <p:nvPr/>
        </p:nvGrpSpPr>
        <p:grpSpPr>
          <a:xfrm>
            <a:off x="4008520" y="2042869"/>
            <a:ext cx="898916" cy="932222"/>
            <a:chOff x="4524173" y="1244768"/>
            <a:chExt cx="1531895" cy="1588654"/>
          </a:xfrm>
        </p:grpSpPr>
        <p:grpSp>
          <p:nvGrpSpPr>
            <p:cNvPr id="170" name="Google Shape;170;p20"/>
            <p:cNvGrpSpPr/>
            <p:nvPr/>
          </p:nvGrpSpPr>
          <p:grpSpPr>
            <a:xfrm flipH="1">
              <a:off x="5330266" y="1244768"/>
              <a:ext cx="725801" cy="750454"/>
              <a:chOff x="2510100" y="3950561"/>
              <a:chExt cx="725801" cy="750454"/>
            </a:xfrm>
          </p:grpSpPr>
          <p:sp>
            <p:nvSpPr>
              <p:cNvPr id="171" name="Google Shape;171;p20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20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20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20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20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20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20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20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20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20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20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20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0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20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20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7" name="Google Shape;187;p20"/>
            <p:cNvGrpSpPr/>
            <p:nvPr/>
          </p:nvGrpSpPr>
          <p:grpSpPr>
            <a:xfrm flipH="1">
              <a:off x="5330266" y="2082968"/>
              <a:ext cx="725801" cy="750454"/>
              <a:chOff x="2510100" y="3950561"/>
              <a:chExt cx="725801" cy="750454"/>
            </a:xfrm>
          </p:grpSpPr>
          <p:sp>
            <p:nvSpPr>
              <p:cNvPr id="188" name="Google Shape;188;p20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20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20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0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20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0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0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0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0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20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0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0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4" name="Google Shape;204;p20"/>
            <p:cNvGrpSpPr/>
            <p:nvPr/>
          </p:nvGrpSpPr>
          <p:grpSpPr>
            <a:xfrm flipH="1">
              <a:off x="4524173" y="1244768"/>
              <a:ext cx="725801" cy="750454"/>
              <a:chOff x="2510100" y="3950561"/>
              <a:chExt cx="725801" cy="750454"/>
            </a:xfrm>
          </p:grpSpPr>
          <p:sp>
            <p:nvSpPr>
              <p:cNvPr id="205" name="Google Shape;205;p20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0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0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0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0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0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0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0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0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0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0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20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20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" name="Google Shape;221;p20"/>
            <p:cNvGrpSpPr/>
            <p:nvPr/>
          </p:nvGrpSpPr>
          <p:grpSpPr>
            <a:xfrm flipH="1">
              <a:off x="4524173" y="2082968"/>
              <a:ext cx="725801" cy="750454"/>
              <a:chOff x="2510100" y="3950561"/>
              <a:chExt cx="725801" cy="750454"/>
            </a:xfrm>
          </p:grpSpPr>
          <p:sp>
            <p:nvSpPr>
              <p:cNvPr id="222" name="Google Shape;222;p20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0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0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0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0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0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0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0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0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0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0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0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0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0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0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20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8" name="Google Shape;238;p20"/>
          <p:cNvGrpSpPr/>
          <p:nvPr/>
        </p:nvGrpSpPr>
        <p:grpSpPr>
          <a:xfrm>
            <a:off x="5393199" y="2519697"/>
            <a:ext cx="425900" cy="440366"/>
            <a:chOff x="2510100" y="3950561"/>
            <a:chExt cx="725801" cy="750454"/>
          </a:xfrm>
        </p:grpSpPr>
        <p:sp>
          <p:nvSpPr>
            <p:cNvPr id="239" name="Google Shape;239;p20"/>
            <p:cNvSpPr/>
            <p:nvPr/>
          </p:nvSpPr>
          <p:spPr>
            <a:xfrm>
              <a:off x="2510100" y="4158712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2709334" y="4158712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2510100" y="3950561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2709334" y="3950561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2510100" y="4366863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2709334" y="4366863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2908568" y="4158712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2908568" y="3950561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2908568" y="4366863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3107801" y="4158712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3107801" y="3950561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3107801" y="4366863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2510100" y="4575014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2709334" y="4575014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2908568" y="4575014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3107801" y="4575014"/>
              <a:ext cx="128100" cy="1260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5" name="Google Shape;255;p20"/>
          <p:cNvSpPr txBox="1"/>
          <p:nvPr/>
        </p:nvSpPr>
        <p:spPr>
          <a:xfrm>
            <a:off x="3059918" y="3772173"/>
            <a:ext cx="444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5844240" y="3560909"/>
            <a:ext cx="444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1831615" y="3695588"/>
            <a:ext cx="444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276120" y="3373763"/>
            <a:ext cx="444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9" name="Google Shape;2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323548" y="4728249"/>
            <a:ext cx="2757902" cy="1385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500" y="4725757"/>
            <a:ext cx="1920676" cy="151032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/>
        </p:nvSpPr>
        <p:spPr>
          <a:xfrm>
            <a:off x="769200" y="4765063"/>
            <a:ext cx="16428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My teacher’s age is: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square number,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multiple of 3,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less than 70.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4458675" y="4765063"/>
            <a:ext cx="26337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is a student at Oak Academy.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Alex’s age is: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less than a square number and is an even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468000" y="6286788"/>
            <a:ext cx="360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old is the teacher?</a:t>
            </a:r>
            <a:endParaRPr sz="1200"/>
          </a:p>
        </p:txBody>
      </p:sp>
      <p:sp>
        <p:nvSpPr>
          <p:cNvPr id="264" name="Google Shape;264;p20"/>
          <p:cNvSpPr txBox="1"/>
          <p:nvPr/>
        </p:nvSpPr>
        <p:spPr>
          <a:xfrm>
            <a:off x="4323550" y="6323988"/>
            <a:ext cx="275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old is Alex?</a:t>
            </a:r>
            <a:endParaRPr sz="1200"/>
          </a:p>
        </p:txBody>
      </p:sp>
      <p:sp>
        <p:nvSpPr>
          <p:cNvPr id="265" name="Google Shape;265;p20"/>
          <p:cNvSpPr txBox="1"/>
          <p:nvPr/>
        </p:nvSpPr>
        <p:spPr>
          <a:xfrm>
            <a:off x="468000" y="4147413"/>
            <a:ext cx="77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age given the clues.</a:t>
            </a:r>
            <a:endParaRPr sz="1200"/>
          </a:p>
        </p:txBody>
      </p:sp>
      <p:graphicFrame>
        <p:nvGraphicFramePr>
          <p:cNvPr id="266" name="Google Shape;266;p20"/>
          <p:cNvGraphicFramePr/>
          <p:nvPr/>
        </p:nvGraphicFramePr>
        <p:xfrm>
          <a:off x="468000" y="748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{13908177-4D3A-4080-8E20-78EA83EE1E3E}</a:tableStyleId>
              </a:tblPr>
              <a:tblGrid>
                <a:gridCol w="2591925"/>
                <a:gridCol w="559600"/>
                <a:gridCol w="639675"/>
                <a:gridCol w="2832800"/>
              </a:tblGrid>
              <a:tr h="39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Justification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9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121 is a square number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7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 ✕ 13 = 169 so 13 is a square number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7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add 3 then multiply by 7 gives a square number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 multiplied by 4 then add 3 gives a square number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7" name="Google Shape;267;p20"/>
          <p:cNvSpPr txBox="1"/>
          <p:nvPr/>
        </p:nvSpPr>
        <p:spPr>
          <a:xfrm>
            <a:off x="468000" y="7141838"/>
            <a:ext cx="66240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Identify if the following statements are true or false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8" name="Google Shape;268;p20"/>
          <p:cNvGrpSpPr/>
          <p:nvPr/>
        </p:nvGrpSpPr>
        <p:grpSpPr>
          <a:xfrm>
            <a:off x="2907095" y="2409319"/>
            <a:ext cx="548185" cy="565793"/>
            <a:chOff x="2707070" y="2141919"/>
            <a:chExt cx="548185" cy="565793"/>
          </a:xfrm>
        </p:grpSpPr>
        <p:sp>
          <p:nvSpPr>
            <p:cNvPr id="269" name="Google Shape;269;p20"/>
            <p:cNvSpPr/>
            <p:nvPr/>
          </p:nvSpPr>
          <p:spPr>
            <a:xfrm flipH="1">
              <a:off x="3180086" y="2264062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 flipH="1">
              <a:off x="3180086" y="2141919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/>
            <p:nvPr/>
          </p:nvSpPr>
          <p:spPr>
            <a:xfrm flipH="1">
              <a:off x="3180086" y="2386205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 flipH="1">
              <a:off x="3180086" y="2508348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 flipH="1">
              <a:off x="3180086" y="2633774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4" name="Google Shape;274;p20"/>
            <p:cNvGrpSpPr/>
            <p:nvPr/>
          </p:nvGrpSpPr>
          <p:grpSpPr>
            <a:xfrm flipH="1">
              <a:off x="2707070" y="2141919"/>
              <a:ext cx="425900" cy="440366"/>
              <a:chOff x="2510100" y="3950561"/>
              <a:chExt cx="725801" cy="750454"/>
            </a:xfrm>
          </p:grpSpPr>
          <p:sp>
            <p:nvSpPr>
              <p:cNvPr id="275" name="Google Shape;275;p20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0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0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0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0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0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0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0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0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0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0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0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0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0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1" name="Google Shape;291;p20"/>
            <p:cNvSpPr/>
            <p:nvPr/>
          </p:nvSpPr>
          <p:spPr>
            <a:xfrm flipH="1">
              <a:off x="3057802" y="2633774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 flipH="1">
              <a:off x="2940891" y="2633774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 flipH="1">
              <a:off x="2823981" y="2633774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 flipH="1">
              <a:off x="2707070" y="2633774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" name="Google Shape;295;p20"/>
          <p:cNvGrpSpPr/>
          <p:nvPr/>
        </p:nvGrpSpPr>
        <p:grpSpPr>
          <a:xfrm>
            <a:off x="1493920" y="2230369"/>
            <a:ext cx="782005" cy="810079"/>
            <a:chOff x="1493920" y="2154169"/>
            <a:chExt cx="782005" cy="810079"/>
          </a:xfrm>
        </p:grpSpPr>
        <p:sp>
          <p:nvSpPr>
            <p:cNvPr id="296" name="Google Shape;296;p20"/>
            <p:cNvSpPr/>
            <p:nvPr/>
          </p:nvSpPr>
          <p:spPr>
            <a:xfrm flipH="1">
              <a:off x="2200757" y="2276312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 flipH="1">
              <a:off x="2200757" y="2154169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 flipH="1">
              <a:off x="2200757" y="2398455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 flipH="1">
              <a:off x="2083846" y="2276312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/>
            <p:nvPr/>
          </p:nvSpPr>
          <p:spPr>
            <a:xfrm flipH="1">
              <a:off x="2083846" y="2154169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/>
            <p:nvPr/>
          </p:nvSpPr>
          <p:spPr>
            <a:xfrm flipH="1">
              <a:off x="2083846" y="2398455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0"/>
            <p:cNvSpPr/>
            <p:nvPr/>
          </p:nvSpPr>
          <p:spPr>
            <a:xfrm flipH="1">
              <a:off x="1966936" y="2276312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 flipH="1">
              <a:off x="1966936" y="2154169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 flipH="1">
              <a:off x="1966936" y="2398455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0"/>
            <p:cNvSpPr/>
            <p:nvPr/>
          </p:nvSpPr>
          <p:spPr>
            <a:xfrm flipH="1">
              <a:off x="2200757" y="2520598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 flipH="1">
              <a:off x="2083846" y="2520598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 flipH="1">
              <a:off x="1966936" y="2520598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 flipH="1">
              <a:off x="2200757" y="2768167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 flipH="1">
              <a:off x="2200757" y="2646024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 flipH="1">
              <a:off x="2200757" y="2890311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 flipH="1">
              <a:off x="2083846" y="2768167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0"/>
            <p:cNvSpPr/>
            <p:nvPr/>
          </p:nvSpPr>
          <p:spPr>
            <a:xfrm flipH="1">
              <a:off x="2083846" y="2646024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0"/>
            <p:cNvSpPr/>
            <p:nvPr/>
          </p:nvSpPr>
          <p:spPr>
            <a:xfrm flipH="1">
              <a:off x="2083846" y="2890311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 flipH="1">
              <a:off x="1966936" y="2768167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 flipH="1">
              <a:off x="1966936" y="2646024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/>
            <p:nvPr/>
          </p:nvSpPr>
          <p:spPr>
            <a:xfrm flipH="1">
              <a:off x="1966936" y="2890311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7" name="Google Shape;317;p20"/>
            <p:cNvGrpSpPr/>
            <p:nvPr/>
          </p:nvGrpSpPr>
          <p:grpSpPr>
            <a:xfrm flipH="1">
              <a:off x="1493920" y="2154169"/>
              <a:ext cx="425900" cy="440366"/>
              <a:chOff x="2510100" y="3950561"/>
              <a:chExt cx="725801" cy="750454"/>
            </a:xfrm>
          </p:grpSpPr>
          <p:sp>
            <p:nvSpPr>
              <p:cNvPr id="318" name="Google Shape;318;p20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0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20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20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0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0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20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20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20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20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20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0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0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0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0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0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rgbClr val="9E9E9E"/>
              </a:solidFill>
              <a:ln cap="flat" cmpd="sng" w="3810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4" name="Google Shape;334;p20"/>
            <p:cNvSpPr/>
            <p:nvPr/>
          </p:nvSpPr>
          <p:spPr>
            <a:xfrm flipH="1">
              <a:off x="1844652" y="2768167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 flipH="1">
              <a:off x="1727741" y="2768167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 flipH="1">
              <a:off x="1844652" y="2646024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 flipH="1">
              <a:off x="1727741" y="2646024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 flipH="1">
              <a:off x="1844652" y="2890311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 flipH="1">
              <a:off x="1727741" y="2890311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 flipH="1">
              <a:off x="1610831" y="2768167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 flipH="1">
              <a:off x="1610831" y="2646024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1610831" y="2890311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 flipH="1">
              <a:off x="1493920" y="2768167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 flipH="1">
              <a:off x="1493920" y="2646024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 flipH="1">
              <a:off x="1493920" y="2890311"/>
              <a:ext cx="75169" cy="73937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1" name="Google Shape;35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352" name="Google Shape;35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468000" y="720000"/>
            <a:ext cx="6624000" cy="11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Jun discovers he can sum two different square numbers to make a third square number.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find the missing square numbers to complete this table?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55" name="Google Shape;355;p21"/>
          <p:cNvGraphicFramePr/>
          <p:nvPr/>
        </p:nvGraphicFramePr>
        <p:xfrm>
          <a:off x="468000" y="1546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{13908177-4D3A-4080-8E20-78EA83EE1E3E}</a:tableStyleId>
              </a:tblPr>
              <a:tblGrid>
                <a:gridCol w="2021225"/>
                <a:gridCol w="2127975"/>
                <a:gridCol w="2474825"/>
              </a:tblGrid>
              <a:tr h="30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1st square number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2nd square number 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Resultant square number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0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</a:tr>
            </a:tbl>
          </a:graphicData>
        </a:graphic>
      </p:graphicFrame>
      <p:sp>
        <p:nvSpPr>
          <p:cNvPr id="356" name="Google Shape;356;p21"/>
          <p:cNvSpPr txBox="1"/>
          <p:nvPr/>
        </p:nvSpPr>
        <p:spPr>
          <a:xfrm>
            <a:off x="468013" y="36338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How many squares can you see on an 8 by 8 chess board?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7" name="Google Shape;357;p21"/>
          <p:cNvCxnSpPr/>
          <p:nvPr/>
        </p:nvCxnSpPr>
        <p:spPr>
          <a:xfrm>
            <a:off x="474750" y="52857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21"/>
          <p:cNvSpPr txBox="1"/>
          <p:nvPr/>
        </p:nvSpPr>
        <p:spPr>
          <a:xfrm>
            <a:off x="468000" y="5389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Cube numbers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468000" y="5726775"/>
            <a:ext cx="66105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all the cube numbers from the list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1          2          3          4          8          9          10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16          25          27          36          40          49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64          100          121          125          169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1000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468000" y="7465750"/>
            <a:ext cx="66105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Put the following numbers in the Venn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iagram: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474500" y="7676050"/>
            <a:ext cx="66240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1         3          4          8          9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16          25          27          36          40          49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64          125          216    1000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1929000" y="8781275"/>
            <a:ext cx="3688500" cy="11364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3" name="Google Shape;363;p21"/>
          <p:cNvSpPr/>
          <p:nvPr/>
        </p:nvSpPr>
        <p:spPr>
          <a:xfrm>
            <a:off x="2406942" y="8956642"/>
            <a:ext cx="1749600" cy="7854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4" name="Google Shape;364;p21"/>
          <p:cNvSpPr/>
          <p:nvPr/>
        </p:nvSpPr>
        <p:spPr>
          <a:xfrm>
            <a:off x="3299720" y="8956642"/>
            <a:ext cx="1645200" cy="7854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5" name="Google Shape;365;p21"/>
          <p:cNvSpPr txBox="1"/>
          <p:nvPr/>
        </p:nvSpPr>
        <p:spPr>
          <a:xfrm>
            <a:off x="1876988" y="8662384"/>
            <a:ext cx="943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 numbers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4847438" y="8805375"/>
            <a:ext cx="13884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numbers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7" name="Google Shape;3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8900" y="3731239"/>
            <a:ext cx="1486724" cy="149345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1"/>
          <p:cNvSpPr txBox="1"/>
          <p:nvPr/>
        </p:nvSpPr>
        <p:spPr>
          <a:xfrm>
            <a:off x="474500" y="3156200"/>
            <a:ext cx="6624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find another set of two different square numbers to make a third square number?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374" name="Google Shape;374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468000" y="726775"/>
            <a:ext cx="6624000" cy="1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number to make the calculation 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in the SQUARE is a square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in the CUBE is a cube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468000" y="1751250"/>
            <a:ext cx="6624000" cy="1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⬜ + 🧊 = 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⬜ + 🧊 = 33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⬜ + 🧊 = 225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⬜ + ⬜ + 🧊 = 104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🧊 + 🧊 + 🧊 = 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