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A7BC45-79A2-41B1-9926-98CD6A859069}">
  <a:tblStyle styleId="{64A7BC45-79A2-41B1-9926-98CD6A8590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84fdbd299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84fdbd299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84fdbd299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84fdbd299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84fdbd299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84fdbd299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4fdbd299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4fdbd299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84fdbd299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84fdbd299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84fdbd299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84fdbd299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84fdbd299d_0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84fdbd299d_0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84fdbd299d_0_1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84fdbd299d_0_1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84fdbd299d_0_1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84fdbd299d_0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84fdbd299d_0_1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84fdbd299d_0_1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84fdbd299d_0_1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84fdbd299d_0_1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84fdbd299d_0_1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84fdbd299d_0_1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284fdbd299d_0_2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84fdbd299d_0_2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84fdbd299d_0_1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84fdbd299d_0_1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84fdbd299d_0_3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84fdbd299d_0_3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84fdbd299d_0_2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84fdbd299d_0_2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84fdbd299d_0_2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284fdbd299d_0_2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84fdbd299d_0_2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84fdbd299d_0_2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84fdbd299d_0_3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84fdbd299d_0_3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84fdbd299d_0_3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84fdbd299d_0_3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84fdbd299d_0_3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84fdbd299d_0_3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84fdbd299d_0_3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84fdbd299d_0_3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84fdbd299d_0_3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84fdbd299d_0_3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84fdbd299d_0_3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84fdbd299d_0_3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84fdbd299d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84fdbd299d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55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5.png"/><Relationship Id="rId4" Type="http://schemas.openxmlformats.org/officeDocument/2006/relationships/image" Target="../media/image24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5.png"/><Relationship Id="rId4" Type="http://schemas.openxmlformats.org/officeDocument/2006/relationships/image" Target="../media/image31.png"/><Relationship Id="rId11" Type="http://schemas.openxmlformats.org/officeDocument/2006/relationships/image" Target="../media/image20.png"/><Relationship Id="rId10" Type="http://schemas.openxmlformats.org/officeDocument/2006/relationships/image" Target="../media/image38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44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5" Type="http://schemas.openxmlformats.org/officeDocument/2006/relationships/image" Target="../media/image49.png"/><Relationship Id="rId6" Type="http://schemas.openxmlformats.org/officeDocument/2006/relationships/image" Target="../media/image53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5" Type="http://schemas.openxmlformats.org/officeDocument/2006/relationships/image" Target="../media/image49.png"/><Relationship Id="rId6" Type="http://schemas.openxmlformats.org/officeDocument/2006/relationships/image" Target="../media/image53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1170225"/>
            <a:ext cx="5502000" cy="238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6 and 9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3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identify and explain whether a number is or is not a multiple of 6 or 9.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3994" y="7650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Divisibility</a:t>
            </a:r>
            <a:r>
              <a:rPr b="0" lang="en-GB"/>
              <a:t> is a mathematical concept that refers to one number's ability to be exactly divided by another, leaving no remainder</a:t>
            </a:r>
            <a:endParaRPr b="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1238395" y="2289050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sp>
        <p:nvSpPr>
          <p:cNvPr id="768" name="Google Shape;768;p67"/>
          <p:cNvSpPr txBox="1"/>
          <p:nvPr>
            <p:ph idx="1" type="subTitle"/>
          </p:nvPr>
        </p:nvSpPr>
        <p:spPr>
          <a:xfrm>
            <a:off x="1238400" y="2776250"/>
            <a:ext cx="268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45 is divisible by 5</a:t>
            </a:r>
            <a:endParaRPr b="0"/>
          </a:p>
        </p:txBody>
      </p:sp>
      <p:sp>
        <p:nvSpPr>
          <p:cNvPr id="769" name="Google Shape;769;p67"/>
          <p:cNvSpPr txBox="1"/>
          <p:nvPr>
            <p:ph idx="1" type="subTitle"/>
          </p:nvPr>
        </p:nvSpPr>
        <p:spPr>
          <a:xfrm>
            <a:off x="1238400" y="3233450"/>
            <a:ext cx="1673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45 ÷ 5 = 9</a:t>
            </a:r>
            <a:endParaRPr b="0"/>
          </a:p>
        </p:txBody>
      </p:sp>
      <p:sp>
        <p:nvSpPr>
          <p:cNvPr id="770" name="Google Shape;770;p67"/>
          <p:cNvSpPr txBox="1"/>
          <p:nvPr>
            <p:ph idx="1" type="subTitle"/>
          </p:nvPr>
        </p:nvSpPr>
        <p:spPr>
          <a:xfrm>
            <a:off x="5353200" y="2289050"/>
            <a:ext cx="2337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Non example</a:t>
            </a:r>
            <a:endParaRPr b="0"/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5353200" y="2776250"/>
            <a:ext cx="3466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8 is not divisible by 5</a:t>
            </a:r>
            <a:endParaRPr b="0"/>
          </a:p>
        </p:txBody>
      </p:sp>
      <p:sp>
        <p:nvSpPr>
          <p:cNvPr id="772" name="Google Shape;772;p67"/>
          <p:cNvSpPr txBox="1"/>
          <p:nvPr>
            <p:ph idx="1" type="subTitle"/>
          </p:nvPr>
        </p:nvSpPr>
        <p:spPr>
          <a:xfrm>
            <a:off x="5353200" y="3233450"/>
            <a:ext cx="1673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8 ÷ 5 = 1.6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6</a:t>
            </a:r>
            <a:endParaRPr/>
          </a:p>
        </p:txBody>
      </p:sp>
      <p:sp>
        <p:nvSpPr>
          <p:cNvPr id="778" name="Google Shape;778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</a:t>
            </a:r>
            <a:r>
              <a:rPr lang="en-GB"/>
              <a:t>multiples of 9</a:t>
            </a:r>
            <a:endParaRPr/>
          </a:p>
        </p:txBody>
      </p:sp>
      <p:sp>
        <p:nvSpPr>
          <p:cNvPr id="779" name="Google Shape;779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6 and 9</a:t>
            </a:r>
            <a:endParaRPr/>
          </a:p>
        </p:txBody>
      </p:sp>
      <p:pic>
        <p:nvPicPr>
          <p:cNvPr id="780" name="Google Shape;78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89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6</a:t>
            </a:r>
            <a:endParaRPr/>
          </a:p>
        </p:txBody>
      </p:sp>
      <p:sp>
        <p:nvSpPr>
          <p:cNvPr id="786" name="Google Shape;786;p69"/>
          <p:cNvSpPr txBox="1"/>
          <p:nvPr/>
        </p:nvSpPr>
        <p:spPr>
          <a:xfrm>
            <a:off x="324001" y="966450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divisibility test checks if a number can be divided into another number without a remainder.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9"/>
          <p:cNvSpPr txBox="1"/>
          <p:nvPr/>
        </p:nvSpPr>
        <p:spPr>
          <a:xfrm>
            <a:off x="384600" y="2160000"/>
            <a:ext cx="808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 tests are quick processes to identify if a number is divisible. We use divisibility tests instead of working out as it saves time.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6</a:t>
            </a:r>
            <a:endParaRPr/>
          </a:p>
        </p:txBody>
      </p:sp>
      <p:sp>
        <p:nvSpPr>
          <p:cNvPr id="793" name="Google Shape;793;p70"/>
          <p:cNvSpPr txBox="1"/>
          <p:nvPr>
            <p:ph idx="4294967295" type="subTitle"/>
          </p:nvPr>
        </p:nvSpPr>
        <p:spPr>
          <a:xfrm>
            <a:off x="5167320" y="2340950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900"/>
              <a:t>Example</a:t>
            </a:r>
            <a:endParaRPr b="0" sz="1900"/>
          </a:p>
        </p:txBody>
      </p:sp>
      <p:sp>
        <p:nvSpPr>
          <p:cNvPr id="794" name="Google Shape;794;p70"/>
          <p:cNvSpPr txBox="1"/>
          <p:nvPr>
            <p:ph idx="4294967295" type="subTitle"/>
          </p:nvPr>
        </p:nvSpPr>
        <p:spPr>
          <a:xfrm>
            <a:off x="5167326" y="1008900"/>
            <a:ext cx="283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Divisibility</a:t>
            </a:r>
            <a:r>
              <a:rPr b="0" lang="en-GB" sz="1900"/>
              <a:t> test</a:t>
            </a:r>
            <a:r>
              <a:rPr lang="en-GB" sz="1900"/>
              <a:t> for 3</a:t>
            </a:r>
            <a:endParaRPr b="0" sz="1900"/>
          </a:p>
        </p:txBody>
      </p:sp>
      <p:sp>
        <p:nvSpPr>
          <p:cNvPr id="795" name="Google Shape;795;p70"/>
          <p:cNvSpPr txBox="1"/>
          <p:nvPr/>
        </p:nvSpPr>
        <p:spPr>
          <a:xfrm>
            <a:off x="5090400" y="1419900"/>
            <a:ext cx="33810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sum of the digits is a multiple of 3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>
            <p:ph idx="4294967295" type="subTitle"/>
          </p:nvPr>
        </p:nvSpPr>
        <p:spPr>
          <a:xfrm>
            <a:off x="5164625" y="3308200"/>
            <a:ext cx="2764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 + 4 + 6 + 6 = 18</a:t>
            </a:r>
            <a:endParaRPr sz="1900"/>
          </a:p>
        </p:txBody>
      </p:sp>
      <p:sp>
        <p:nvSpPr>
          <p:cNvPr id="797" name="Google Shape;797;p70"/>
          <p:cNvSpPr txBox="1"/>
          <p:nvPr>
            <p:ph idx="4294967295" type="subTitle"/>
          </p:nvPr>
        </p:nvSpPr>
        <p:spPr>
          <a:xfrm>
            <a:off x="5164625" y="3689200"/>
            <a:ext cx="2764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18 is a multiple of 3</a:t>
            </a:r>
            <a:endParaRPr sz="1900"/>
          </a:p>
        </p:txBody>
      </p:sp>
      <p:sp>
        <p:nvSpPr>
          <p:cNvPr id="798" name="Google Shape;798;p70"/>
          <p:cNvSpPr txBox="1"/>
          <p:nvPr>
            <p:ph idx="4294967295" type="subTitle"/>
          </p:nvPr>
        </p:nvSpPr>
        <p:spPr>
          <a:xfrm>
            <a:off x="677786" y="1017000"/>
            <a:ext cx="283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Divisibility</a:t>
            </a:r>
            <a:r>
              <a:rPr b="0" lang="en-GB" sz="1900"/>
              <a:t> test</a:t>
            </a:r>
            <a:r>
              <a:rPr lang="en-GB" sz="1900"/>
              <a:t> for 2</a:t>
            </a:r>
            <a:endParaRPr b="0" sz="1900"/>
          </a:p>
        </p:txBody>
      </p:sp>
      <p:sp>
        <p:nvSpPr>
          <p:cNvPr id="799" name="Google Shape;799;p70"/>
          <p:cNvSpPr txBox="1"/>
          <p:nvPr/>
        </p:nvSpPr>
        <p:spPr>
          <a:xfrm>
            <a:off x="593275" y="1428000"/>
            <a:ext cx="3597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digit in the ones column is always 0, 2, 4, 6 or 8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70"/>
          <p:cNvSpPr txBox="1"/>
          <p:nvPr>
            <p:ph idx="4294967295" type="subTitle"/>
          </p:nvPr>
        </p:nvSpPr>
        <p:spPr>
          <a:xfrm>
            <a:off x="704995" y="2349050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900"/>
              <a:t>Example</a:t>
            </a:r>
            <a:endParaRPr b="0" sz="1900"/>
          </a:p>
        </p:txBody>
      </p:sp>
      <p:sp>
        <p:nvSpPr>
          <p:cNvPr id="801" name="Google Shape;801;p70"/>
          <p:cNvSpPr txBox="1"/>
          <p:nvPr>
            <p:ph idx="4294967295" type="subTitle"/>
          </p:nvPr>
        </p:nvSpPr>
        <p:spPr>
          <a:xfrm>
            <a:off x="702300" y="2935300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2466 is a multiple of 2</a:t>
            </a:r>
            <a:endParaRPr b="0" sz="1900"/>
          </a:p>
        </p:txBody>
      </p:sp>
      <p:sp>
        <p:nvSpPr>
          <p:cNvPr id="802" name="Google Shape;802;p70"/>
          <p:cNvSpPr txBox="1"/>
          <p:nvPr>
            <p:ph idx="4294967295" type="subTitle"/>
          </p:nvPr>
        </p:nvSpPr>
        <p:spPr>
          <a:xfrm>
            <a:off x="5164625" y="2910871"/>
            <a:ext cx="93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2466</a:t>
            </a:r>
            <a:endParaRPr b="0" sz="1900"/>
          </a:p>
        </p:txBody>
      </p:sp>
      <p:sp>
        <p:nvSpPr>
          <p:cNvPr id="803" name="Google Shape;803;p70"/>
          <p:cNvSpPr txBox="1"/>
          <p:nvPr/>
        </p:nvSpPr>
        <p:spPr>
          <a:xfrm>
            <a:off x="5719625" y="2820307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 multiple of 3</a:t>
            </a:r>
            <a:endParaRPr/>
          </a:p>
        </p:txBody>
      </p:sp>
      <p:cxnSp>
        <p:nvCxnSpPr>
          <p:cNvPr id="804" name="Google Shape;804;p70"/>
          <p:cNvCxnSpPr/>
          <p:nvPr/>
        </p:nvCxnSpPr>
        <p:spPr>
          <a:xfrm flipH="1">
            <a:off x="4571925" y="810900"/>
            <a:ext cx="7800" cy="3166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6</a:t>
            </a:r>
            <a:endParaRPr/>
          </a:p>
        </p:txBody>
      </p:sp>
      <p:sp>
        <p:nvSpPr>
          <p:cNvPr id="810" name="Google Shape;810;p71"/>
          <p:cNvSpPr txBox="1"/>
          <p:nvPr>
            <p:ph idx="4294967295" type="subTitle"/>
          </p:nvPr>
        </p:nvSpPr>
        <p:spPr>
          <a:xfrm>
            <a:off x="677786" y="1017000"/>
            <a:ext cx="283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Divisibility</a:t>
            </a:r>
            <a:r>
              <a:rPr b="0" lang="en-GB" sz="1900"/>
              <a:t> test</a:t>
            </a:r>
            <a:r>
              <a:rPr lang="en-GB" sz="1900"/>
              <a:t> for 2</a:t>
            </a:r>
            <a:endParaRPr b="0" sz="1900"/>
          </a:p>
        </p:txBody>
      </p:sp>
      <p:sp>
        <p:nvSpPr>
          <p:cNvPr id="811" name="Google Shape;811;p71"/>
          <p:cNvSpPr txBox="1"/>
          <p:nvPr/>
        </p:nvSpPr>
        <p:spPr>
          <a:xfrm>
            <a:off x="593275" y="1428000"/>
            <a:ext cx="3597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digit in the one's column is always 0, 2, 4, 6 or 8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1"/>
          <p:cNvSpPr txBox="1"/>
          <p:nvPr>
            <p:ph idx="4294967295" type="subTitle"/>
          </p:nvPr>
        </p:nvSpPr>
        <p:spPr>
          <a:xfrm>
            <a:off x="5166000" y="2340000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900"/>
              <a:t>Example</a:t>
            </a:r>
            <a:endParaRPr b="0" sz="1900"/>
          </a:p>
        </p:txBody>
      </p:sp>
      <p:sp>
        <p:nvSpPr>
          <p:cNvPr id="813" name="Google Shape;813;p71"/>
          <p:cNvSpPr txBox="1"/>
          <p:nvPr>
            <p:ph idx="4294967295" type="subTitle"/>
          </p:nvPr>
        </p:nvSpPr>
        <p:spPr>
          <a:xfrm>
            <a:off x="5166000" y="1008000"/>
            <a:ext cx="283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Divisibility</a:t>
            </a:r>
            <a:r>
              <a:rPr b="0" lang="en-GB" sz="1900"/>
              <a:t> test</a:t>
            </a:r>
            <a:r>
              <a:rPr lang="en-GB" sz="1900"/>
              <a:t> for 3</a:t>
            </a:r>
            <a:endParaRPr b="0" sz="1900"/>
          </a:p>
        </p:txBody>
      </p:sp>
      <p:sp>
        <p:nvSpPr>
          <p:cNvPr id="814" name="Google Shape;814;p71"/>
          <p:cNvSpPr txBox="1"/>
          <p:nvPr/>
        </p:nvSpPr>
        <p:spPr>
          <a:xfrm>
            <a:off x="5090400" y="1418400"/>
            <a:ext cx="31899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sum of the digits is a multiple of 3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1"/>
          <p:cNvSpPr txBox="1"/>
          <p:nvPr>
            <p:ph idx="4294967295" type="subTitle"/>
          </p:nvPr>
        </p:nvSpPr>
        <p:spPr>
          <a:xfrm>
            <a:off x="704995" y="2349050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900"/>
              <a:t>Example</a:t>
            </a:r>
            <a:endParaRPr b="0" sz="1900"/>
          </a:p>
        </p:txBody>
      </p:sp>
      <p:sp>
        <p:nvSpPr>
          <p:cNvPr id="816" name="Google Shape;816;p71"/>
          <p:cNvSpPr txBox="1"/>
          <p:nvPr>
            <p:ph idx="4294967295" type="subTitle"/>
          </p:nvPr>
        </p:nvSpPr>
        <p:spPr>
          <a:xfrm>
            <a:off x="702300" y="2935300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2466 is a multiple of 2</a:t>
            </a:r>
            <a:endParaRPr b="0" sz="1900"/>
          </a:p>
        </p:txBody>
      </p:sp>
      <p:sp>
        <p:nvSpPr>
          <p:cNvPr id="817" name="Google Shape;817;p71"/>
          <p:cNvSpPr txBox="1"/>
          <p:nvPr>
            <p:ph idx="4294967295" type="subTitle"/>
          </p:nvPr>
        </p:nvSpPr>
        <p:spPr>
          <a:xfrm>
            <a:off x="5168754" y="2918971"/>
            <a:ext cx="93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2466</a:t>
            </a:r>
            <a:endParaRPr b="0" sz="1900"/>
          </a:p>
        </p:txBody>
      </p:sp>
      <p:sp>
        <p:nvSpPr>
          <p:cNvPr id="818" name="Google Shape;818;p71"/>
          <p:cNvSpPr txBox="1"/>
          <p:nvPr/>
        </p:nvSpPr>
        <p:spPr>
          <a:xfrm>
            <a:off x="5723753" y="2828407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 multiple of 3</a:t>
            </a:r>
            <a:endParaRPr/>
          </a:p>
        </p:txBody>
      </p:sp>
      <p:sp>
        <p:nvSpPr>
          <p:cNvPr id="819" name="Google Shape;819;p71"/>
          <p:cNvSpPr txBox="1"/>
          <p:nvPr>
            <p:ph idx="4294967295" type="subTitle"/>
          </p:nvPr>
        </p:nvSpPr>
        <p:spPr>
          <a:xfrm>
            <a:off x="702300" y="32782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34 is a multiple of 2</a:t>
            </a:r>
            <a:endParaRPr b="0" sz="1900"/>
          </a:p>
        </p:txBody>
      </p:sp>
      <p:sp>
        <p:nvSpPr>
          <p:cNvPr id="820" name="Google Shape;820;p71"/>
          <p:cNvSpPr txBox="1"/>
          <p:nvPr>
            <p:ph idx="4294967295" type="subTitle"/>
          </p:nvPr>
        </p:nvSpPr>
        <p:spPr>
          <a:xfrm>
            <a:off x="702300" y="36289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18 is a multiple of 2</a:t>
            </a:r>
            <a:endParaRPr b="0" sz="1900"/>
          </a:p>
        </p:txBody>
      </p:sp>
      <p:sp>
        <p:nvSpPr>
          <p:cNvPr id="821" name="Google Shape;821;p71"/>
          <p:cNvSpPr txBox="1"/>
          <p:nvPr>
            <p:ph idx="4294967295" type="subTitle"/>
          </p:nvPr>
        </p:nvSpPr>
        <p:spPr>
          <a:xfrm>
            <a:off x="702300" y="40029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12 is a multiple of 2</a:t>
            </a:r>
            <a:endParaRPr b="0" sz="1900"/>
          </a:p>
        </p:txBody>
      </p:sp>
      <p:sp>
        <p:nvSpPr>
          <p:cNvPr id="822" name="Google Shape;822;p71"/>
          <p:cNvSpPr txBox="1"/>
          <p:nvPr>
            <p:ph idx="4294967295" type="subTitle"/>
          </p:nvPr>
        </p:nvSpPr>
        <p:spPr>
          <a:xfrm>
            <a:off x="699547" y="43748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30 is a multiple of 2</a:t>
            </a:r>
            <a:endParaRPr b="0" sz="1900"/>
          </a:p>
        </p:txBody>
      </p:sp>
      <p:sp>
        <p:nvSpPr>
          <p:cNvPr id="823" name="Google Shape;823;p71"/>
          <p:cNvSpPr txBox="1"/>
          <p:nvPr>
            <p:ph idx="4294967295" type="subTitle"/>
          </p:nvPr>
        </p:nvSpPr>
        <p:spPr>
          <a:xfrm>
            <a:off x="5168754" y="32782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33 is a multiple of 3</a:t>
            </a:r>
            <a:endParaRPr b="0" sz="1900"/>
          </a:p>
        </p:txBody>
      </p:sp>
      <p:sp>
        <p:nvSpPr>
          <p:cNvPr id="824" name="Google Shape;824;p71"/>
          <p:cNvSpPr txBox="1"/>
          <p:nvPr>
            <p:ph idx="4294967295" type="subTitle"/>
          </p:nvPr>
        </p:nvSpPr>
        <p:spPr>
          <a:xfrm>
            <a:off x="5168754" y="36289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18 is a multiple of 3</a:t>
            </a:r>
            <a:endParaRPr b="0" sz="1900"/>
          </a:p>
        </p:txBody>
      </p:sp>
      <p:sp>
        <p:nvSpPr>
          <p:cNvPr id="825" name="Google Shape;825;p71"/>
          <p:cNvSpPr txBox="1"/>
          <p:nvPr>
            <p:ph idx="4294967295" type="subTitle"/>
          </p:nvPr>
        </p:nvSpPr>
        <p:spPr>
          <a:xfrm>
            <a:off x="5168754" y="40029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12 is a multiple of 3</a:t>
            </a:r>
            <a:endParaRPr b="0" sz="1900"/>
          </a:p>
        </p:txBody>
      </p:sp>
      <p:sp>
        <p:nvSpPr>
          <p:cNvPr id="826" name="Google Shape;826;p71"/>
          <p:cNvSpPr txBox="1"/>
          <p:nvPr>
            <p:ph idx="4294967295" type="subTitle"/>
          </p:nvPr>
        </p:nvSpPr>
        <p:spPr>
          <a:xfrm>
            <a:off x="5166000" y="43748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30 is a multiple of 3</a:t>
            </a:r>
            <a:endParaRPr b="0"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6</a:t>
            </a:r>
            <a:endParaRPr/>
          </a:p>
        </p:txBody>
      </p:sp>
      <p:sp>
        <p:nvSpPr>
          <p:cNvPr id="832" name="Google Shape;832;p72"/>
          <p:cNvSpPr txBox="1"/>
          <p:nvPr>
            <p:ph idx="4294967295" type="subTitle"/>
          </p:nvPr>
        </p:nvSpPr>
        <p:spPr>
          <a:xfrm>
            <a:off x="702300" y="2935300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2466 is a </a:t>
            </a:r>
            <a:r>
              <a:rPr lang="en-GB" sz="1900"/>
              <a:t>multiple of 2</a:t>
            </a:r>
            <a:endParaRPr b="0" sz="1900"/>
          </a:p>
        </p:txBody>
      </p:sp>
      <p:sp>
        <p:nvSpPr>
          <p:cNvPr id="833" name="Google Shape;833;p72"/>
          <p:cNvSpPr txBox="1"/>
          <p:nvPr>
            <p:ph idx="4294967295" type="subTitle"/>
          </p:nvPr>
        </p:nvSpPr>
        <p:spPr>
          <a:xfrm>
            <a:off x="5168754" y="2918971"/>
            <a:ext cx="93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2466</a:t>
            </a:r>
            <a:endParaRPr b="0" sz="1900"/>
          </a:p>
        </p:txBody>
      </p:sp>
      <p:sp>
        <p:nvSpPr>
          <p:cNvPr id="834" name="Google Shape;834;p72"/>
          <p:cNvSpPr txBox="1"/>
          <p:nvPr/>
        </p:nvSpPr>
        <p:spPr>
          <a:xfrm>
            <a:off x="5723753" y="2828407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 multiple of 3</a:t>
            </a:r>
            <a:endParaRPr/>
          </a:p>
        </p:txBody>
      </p:sp>
      <p:sp>
        <p:nvSpPr>
          <p:cNvPr id="835" name="Google Shape;835;p72"/>
          <p:cNvSpPr txBox="1"/>
          <p:nvPr>
            <p:ph idx="4294967295" type="subTitle"/>
          </p:nvPr>
        </p:nvSpPr>
        <p:spPr>
          <a:xfrm>
            <a:off x="702300" y="32782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34 is a multiple of 2</a:t>
            </a:r>
            <a:endParaRPr b="0" sz="1900"/>
          </a:p>
        </p:txBody>
      </p:sp>
      <p:sp>
        <p:nvSpPr>
          <p:cNvPr id="836" name="Google Shape;836;p72"/>
          <p:cNvSpPr txBox="1"/>
          <p:nvPr>
            <p:ph idx="4294967295" type="subTitle"/>
          </p:nvPr>
        </p:nvSpPr>
        <p:spPr>
          <a:xfrm>
            <a:off x="702300" y="36289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18 is a multiple of 2</a:t>
            </a:r>
            <a:endParaRPr b="0" sz="1900"/>
          </a:p>
        </p:txBody>
      </p:sp>
      <p:sp>
        <p:nvSpPr>
          <p:cNvPr id="837" name="Google Shape;837;p72"/>
          <p:cNvSpPr txBox="1"/>
          <p:nvPr>
            <p:ph idx="4294967295" type="subTitle"/>
          </p:nvPr>
        </p:nvSpPr>
        <p:spPr>
          <a:xfrm>
            <a:off x="702300" y="40029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12 is a multiple of 2</a:t>
            </a:r>
            <a:endParaRPr b="0" sz="1900"/>
          </a:p>
        </p:txBody>
      </p:sp>
      <p:sp>
        <p:nvSpPr>
          <p:cNvPr id="838" name="Google Shape;838;p72"/>
          <p:cNvSpPr txBox="1"/>
          <p:nvPr>
            <p:ph idx="4294967295" type="subTitle"/>
          </p:nvPr>
        </p:nvSpPr>
        <p:spPr>
          <a:xfrm>
            <a:off x="699547" y="43748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30 is a multiple of 2</a:t>
            </a:r>
            <a:endParaRPr b="0" sz="1900"/>
          </a:p>
        </p:txBody>
      </p:sp>
      <p:sp>
        <p:nvSpPr>
          <p:cNvPr id="839" name="Google Shape;839;p72"/>
          <p:cNvSpPr txBox="1"/>
          <p:nvPr>
            <p:ph idx="4294967295" type="subTitle"/>
          </p:nvPr>
        </p:nvSpPr>
        <p:spPr>
          <a:xfrm>
            <a:off x="5168754" y="32782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33 is a multiple of 3</a:t>
            </a:r>
            <a:endParaRPr b="0" sz="1900"/>
          </a:p>
        </p:txBody>
      </p:sp>
      <p:sp>
        <p:nvSpPr>
          <p:cNvPr id="840" name="Google Shape;840;p72"/>
          <p:cNvSpPr txBox="1"/>
          <p:nvPr>
            <p:ph idx="4294967295" type="subTitle"/>
          </p:nvPr>
        </p:nvSpPr>
        <p:spPr>
          <a:xfrm>
            <a:off x="5168754" y="36289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18 is a multiple of 3</a:t>
            </a:r>
            <a:endParaRPr b="0" sz="1900"/>
          </a:p>
        </p:txBody>
      </p:sp>
      <p:sp>
        <p:nvSpPr>
          <p:cNvPr id="841" name="Google Shape;841;p72"/>
          <p:cNvSpPr txBox="1"/>
          <p:nvPr>
            <p:ph idx="4294967295" type="subTitle"/>
          </p:nvPr>
        </p:nvSpPr>
        <p:spPr>
          <a:xfrm>
            <a:off x="5168754" y="40029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12 is a multiple of 3</a:t>
            </a:r>
            <a:endParaRPr b="0" sz="1900"/>
          </a:p>
        </p:txBody>
      </p:sp>
      <p:sp>
        <p:nvSpPr>
          <p:cNvPr id="842" name="Google Shape;842;p72"/>
          <p:cNvSpPr txBox="1"/>
          <p:nvPr>
            <p:ph idx="4294967295" type="subTitle"/>
          </p:nvPr>
        </p:nvSpPr>
        <p:spPr>
          <a:xfrm>
            <a:off x="5166000" y="4374829"/>
            <a:ext cx="3282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30 is a multiple of 3</a:t>
            </a:r>
            <a:endParaRPr b="0" sz="1900"/>
          </a:p>
        </p:txBody>
      </p:sp>
      <p:sp>
        <p:nvSpPr>
          <p:cNvPr id="843" name="Google Shape;843;p72"/>
          <p:cNvSpPr/>
          <p:nvPr/>
        </p:nvSpPr>
        <p:spPr>
          <a:xfrm>
            <a:off x="3107875" y="1491350"/>
            <a:ext cx="4351200" cy="1187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72"/>
          <p:cNvSpPr/>
          <p:nvPr/>
        </p:nvSpPr>
        <p:spPr>
          <a:xfrm>
            <a:off x="1238350" y="1491350"/>
            <a:ext cx="4514700" cy="1187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72"/>
          <p:cNvSpPr txBox="1"/>
          <p:nvPr/>
        </p:nvSpPr>
        <p:spPr>
          <a:xfrm>
            <a:off x="540300" y="11430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ultiples of 2</a:t>
            </a:r>
            <a:endParaRPr/>
          </a:p>
        </p:txBody>
      </p:sp>
      <p:sp>
        <p:nvSpPr>
          <p:cNvPr id="846" name="Google Shape;846;p72"/>
          <p:cNvSpPr txBox="1"/>
          <p:nvPr/>
        </p:nvSpPr>
        <p:spPr>
          <a:xfrm>
            <a:off x="6178800" y="1145900"/>
            <a:ext cx="1996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Multiples of 3</a:t>
            </a:r>
            <a:endParaRPr/>
          </a:p>
        </p:txBody>
      </p:sp>
      <p:sp>
        <p:nvSpPr>
          <p:cNvPr id="847" name="Google Shape;847;p72"/>
          <p:cNvSpPr txBox="1"/>
          <p:nvPr/>
        </p:nvSpPr>
        <p:spPr>
          <a:xfrm>
            <a:off x="3920850" y="1560125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2466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8" name="Google Shape;848;p72"/>
          <p:cNvSpPr txBox="1"/>
          <p:nvPr/>
        </p:nvSpPr>
        <p:spPr>
          <a:xfrm>
            <a:off x="2088900" y="1774400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34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9" name="Google Shape;849;p72"/>
          <p:cNvSpPr txBox="1"/>
          <p:nvPr/>
        </p:nvSpPr>
        <p:spPr>
          <a:xfrm>
            <a:off x="4118050" y="214723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18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0" name="Google Shape;850;p72"/>
          <p:cNvSpPr txBox="1"/>
          <p:nvPr/>
        </p:nvSpPr>
        <p:spPr>
          <a:xfrm>
            <a:off x="3426400" y="186148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12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1" name="Google Shape;851;p72"/>
          <p:cNvSpPr txBox="1"/>
          <p:nvPr/>
        </p:nvSpPr>
        <p:spPr>
          <a:xfrm>
            <a:off x="5026600" y="186148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30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2" name="Google Shape;852;p72"/>
          <p:cNvSpPr txBox="1"/>
          <p:nvPr/>
        </p:nvSpPr>
        <p:spPr>
          <a:xfrm>
            <a:off x="6135150" y="177438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33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3" name="Google Shape;853;p72"/>
          <p:cNvSpPr txBox="1"/>
          <p:nvPr>
            <p:ph idx="4294967295" type="subTitle"/>
          </p:nvPr>
        </p:nvSpPr>
        <p:spPr>
          <a:xfrm>
            <a:off x="607257" y="719571"/>
            <a:ext cx="7885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Insert the multiples into the Venn diagram</a:t>
            </a:r>
            <a:endParaRPr b="0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6</a:t>
            </a:r>
            <a:endParaRPr/>
          </a:p>
        </p:txBody>
      </p:sp>
      <p:sp>
        <p:nvSpPr>
          <p:cNvPr id="859" name="Google Shape;859;p73"/>
          <p:cNvSpPr txBox="1"/>
          <p:nvPr>
            <p:ph idx="4294967295" type="subTitle"/>
          </p:nvPr>
        </p:nvSpPr>
        <p:spPr>
          <a:xfrm>
            <a:off x="727650" y="2947000"/>
            <a:ext cx="7184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do all these numbers that are multiples of 2 and 3 represent?</a:t>
            </a:r>
            <a:endParaRPr b="0" sz="2100"/>
          </a:p>
        </p:txBody>
      </p:sp>
      <p:sp>
        <p:nvSpPr>
          <p:cNvPr id="860" name="Google Shape;860;p73"/>
          <p:cNvSpPr/>
          <p:nvPr/>
        </p:nvSpPr>
        <p:spPr>
          <a:xfrm>
            <a:off x="3107875" y="1491350"/>
            <a:ext cx="4351200" cy="1187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73"/>
          <p:cNvSpPr/>
          <p:nvPr/>
        </p:nvSpPr>
        <p:spPr>
          <a:xfrm>
            <a:off x="1238350" y="1491350"/>
            <a:ext cx="4514700" cy="1187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73"/>
          <p:cNvSpPr txBox="1"/>
          <p:nvPr/>
        </p:nvSpPr>
        <p:spPr>
          <a:xfrm>
            <a:off x="540300" y="11430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Multiples of 2</a:t>
            </a:r>
            <a:endParaRPr/>
          </a:p>
        </p:txBody>
      </p:sp>
      <p:sp>
        <p:nvSpPr>
          <p:cNvPr id="863" name="Google Shape;863;p73"/>
          <p:cNvSpPr txBox="1"/>
          <p:nvPr/>
        </p:nvSpPr>
        <p:spPr>
          <a:xfrm>
            <a:off x="6178800" y="1145900"/>
            <a:ext cx="1996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Multiples of 3</a:t>
            </a:r>
            <a:endParaRPr/>
          </a:p>
        </p:txBody>
      </p:sp>
      <p:sp>
        <p:nvSpPr>
          <p:cNvPr id="864" name="Google Shape;864;p73"/>
          <p:cNvSpPr txBox="1"/>
          <p:nvPr/>
        </p:nvSpPr>
        <p:spPr>
          <a:xfrm>
            <a:off x="3920850" y="1560125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2466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5" name="Google Shape;865;p73"/>
          <p:cNvSpPr txBox="1"/>
          <p:nvPr/>
        </p:nvSpPr>
        <p:spPr>
          <a:xfrm>
            <a:off x="2088900" y="1774400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34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6" name="Google Shape;866;p73"/>
          <p:cNvSpPr txBox="1"/>
          <p:nvPr/>
        </p:nvSpPr>
        <p:spPr>
          <a:xfrm>
            <a:off x="4118050" y="214723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18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7" name="Google Shape;867;p73"/>
          <p:cNvSpPr txBox="1"/>
          <p:nvPr/>
        </p:nvSpPr>
        <p:spPr>
          <a:xfrm>
            <a:off x="3426400" y="186148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12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8" name="Google Shape;868;p73"/>
          <p:cNvSpPr txBox="1"/>
          <p:nvPr/>
        </p:nvSpPr>
        <p:spPr>
          <a:xfrm>
            <a:off x="5026600" y="186148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30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9" name="Google Shape;869;p73"/>
          <p:cNvSpPr txBox="1"/>
          <p:nvPr/>
        </p:nvSpPr>
        <p:spPr>
          <a:xfrm>
            <a:off x="6135150" y="177438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33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6</a:t>
            </a:r>
            <a:endParaRPr/>
          </a:p>
        </p:txBody>
      </p:sp>
      <p:sp>
        <p:nvSpPr>
          <p:cNvPr id="875" name="Google Shape;875;p74"/>
          <p:cNvSpPr txBox="1"/>
          <p:nvPr>
            <p:ph idx="4294967295" type="subTitle"/>
          </p:nvPr>
        </p:nvSpPr>
        <p:spPr>
          <a:xfrm>
            <a:off x="727650" y="2947000"/>
            <a:ext cx="7184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Numbers that are divisible by 2 and </a:t>
            </a:r>
            <a:r>
              <a:rPr lang="en-GB" sz="2100"/>
              <a:t>divisible</a:t>
            </a:r>
            <a:r>
              <a:rPr lang="en-GB" sz="2100"/>
              <a:t> by 3 are divisible by 6.</a:t>
            </a:r>
            <a:endParaRPr b="0" sz="2100"/>
          </a:p>
        </p:txBody>
      </p:sp>
      <p:sp>
        <p:nvSpPr>
          <p:cNvPr id="876" name="Google Shape;876;p74"/>
          <p:cNvSpPr/>
          <p:nvPr/>
        </p:nvSpPr>
        <p:spPr>
          <a:xfrm>
            <a:off x="3107875" y="1491350"/>
            <a:ext cx="4351200" cy="1187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4"/>
          <p:cNvSpPr/>
          <p:nvPr/>
        </p:nvSpPr>
        <p:spPr>
          <a:xfrm>
            <a:off x="1238350" y="1491350"/>
            <a:ext cx="4514700" cy="1187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74"/>
          <p:cNvSpPr txBox="1"/>
          <p:nvPr/>
        </p:nvSpPr>
        <p:spPr>
          <a:xfrm>
            <a:off x="540300" y="11430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Multiples of 2</a:t>
            </a:r>
            <a:endParaRPr/>
          </a:p>
        </p:txBody>
      </p:sp>
      <p:sp>
        <p:nvSpPr>
          <p:cNvPr id="879" name="Google Shape;879;p74"/>
          <p:cNvSpPr txBox="1"/>
          <p:nvPr/>
        </p:nvSpPr>
        <p:spPr>
          <a:xfrm>
            <a:off x="6178800" y="1145900"/>
            <a:ext cx="1996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Multiples of 3</a:t>
            </a:r>
            <a:endParaRPr/>
          </a:p>
        </p:txBody>
      </p:sp>
      <p:sp>
        <p:nvSpPr>
          <p:cNvPr id="880" name="Google Shape;880;p74"/>
          <p:cNvSpPr txBox="1"/>
          <p:nvPr/>
        </p:nvSpPr>
        <p:spPr>
          <a:xfrm>
            <a:off x="3920850" y="1560125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2466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1" name="Google Shape;881;p74"/>
          <p:cNvSpPr txBox="1"/>
          <p:nvPr/>
        </p:nvSpPr>
        <p:spPr>
          <a:xfrm>
            <a:off x="2088900" y="1774400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34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2" name="Google Shape;882;p74"/>
          <p:cNvSpPr txBox="1"/>
          <p:nvPr/>
        </p:nvSpPr>
        <p:spPr>
          <a:xfrm>
            <a:off x="4118050" y="214723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18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3" name="Google Shape;883;p74"/>
          <p:cNvSpPr txBox="1"/>
          <p:nvPr/>
        </p:nvSpPr>
        <p:spPr>
          <a:xfrm>
            <a:off x="3426400" y="186148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12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4" name="Google Shape;884;p74"/>
          <p:cNvSpPr txBox="1"/>
          <p:nvPr/>
        </p:nvSpPr>
        <p:spPr>
          <a:xfrm>
            <a:off x="5026600" y="186148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30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5" name="Google Shape;885;p74"/>
          <p:cNvSpPr txBox="1"/>
          <p:nvPr/>
        </p:nvSpPr>
        <p:spPr>
          <a:xfrm>
            <a:off x="6135150" y="1774388"/>
            <a:ext cx="7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33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6</a:t>
            </a:r>
            <a:endParaRPr/>
          </a:p>
        </p:txBody>
      </p:sp>
      <p:sp>
        <p:nvSpPr>
          <p:cNvPr id="891" name="Google Shape;891;p75"/>
          <p:cNvSpPr txBox="1"/>
          <p:nvPr>
            <p:ph idx="4294967295" type="subTitle"/>
          </p:nvPr>
        </p:nvSpPr>
        <p:spPr>
          <a:xfrm>
            <a:off x="433750" y="954900"/>
            <a:ext cx="7964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Which of the following numbers are divisible by 6?</a:t>
            </a:r>
            <a:endParaRPr b="0" sz="2100"/>
          </a:p>
        </p:txBody>
      </p:sp>
      <p:sp>
        <p:nvSpPr>
          <p:cNvPr id="892" name="Google Shape;892;p75"/>
          <p:cNvSpPr txBox="1"/>
          <p:nvPr>
            <p:ph idx="4294967295" type="subTitle"/>
          </p:nvPr>
        </p:nvSpPr>
        <p:spPr>
          <a:xfrm>
            <a:off x="1217550" y="1672800"/>
            <a:ext cx="934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3691</a:t>
            </a:r>
            <a:endParaRPr b="0" sz="2600"/>
          </a:p>
        </p:txBody>
      </p:sp>
      <p:sp>
        <p:nvSpPr>
          <p:cNvPr id="893" name="Google Shape;893;p75"/>
          <p:cNvSpPr txBox="1"/>
          <p:nvPr>
            <p:ph idx="4294967295" type="subTitle"/>
          </p:nvPr>
        </p:nvSpPr>
        <p:spPr>
          <a:xfrm>
            <a:off x="2251700" y="2700000"/>
            <a:ext cx="934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7895</a:t>
            </a:r>
            <a:endParaRPr b="0" sz="2600"/>
          </a:p>
        </p:txBody>
      </p:sp>
      <p:sp>
        <p:nvSpPr>
          <p:cNvPr id="894" name="Google Shape;894;p75"/>
          <p:cNvSpPr txBox="1"/>
          <p:nvPr>
            <p:ph idx="4294967295" type="subTitle"/>
          </p:nvPr>
        </p:nvSpPr>
        <p:spPr>
          <a:xfrm>
            <a:off x="4123550" y="1672800"/>
            <a:ext cx="1118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9388</a:t>
            </a:r>
            <a:endParaRPr b="0" sz="2600"/>
          </a:p>
        </p:txBody>
      </p:sp>
      <p:sp>
        <p:nvSpPr>
          <p:cNvPr id="895" name="Google Shape;895;p75"/>
          <p:cNvSpPr txBox="1"/>
          <p:nvPr>
            <p:ph idx="4294967295" type="subTitle"/>
          </p:nvPr>
        </p:nvSpPr>
        <p:spPr>
          <a:xfrm>
            <a:off x="4663175" y="2819250"/>
            <a:ext cx="1340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19 386</a:t>
            </a:r>
            <a:endParaRPr b="0" sz="2600"/>
          </a:p>
        </p:txBody>
      </p:sp>
      <p:sp>
        <p:nvSpPr>
          <p:cNvPr id="896" name="Google Shape;896;p75"/>
          <p:cNvSpPr txBox="1"/>
          <p:nvPr>
            <p:ph idx="4294967295" type="subTitle"/>
          </p:nvPr>
        </p:nvSpPr>
        <p:spPr>
          <a:xfrm>
            <a:off x="6660400" y="1707600"/>
            <a:ext cx="1340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521 238</a:t>
            </a:r>
            <a:endParaRPr b="0" sz="2600"/>
          </a:p>
        </p:txBody>
      </p:sp>
      <p:sp>
        <p:nvSpPr>
          <p:cNvPr id="897" name="Google Shape;897;p75"/>
          <p:cNvSpPr txBox="1"/>
          <p:nvPr>
            <p:ph idx="4294967295" type="subTitle"/>
          </p:nvPr>
        </p:nvSpPr>
        <p:spPr>
          <a:xfrm>
            <a:off x="6788850" y="3536400"/>
            <a:ext cx="1340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9837</a:t>
            </a:r>
            <a:endParaRPr b="0" sz="2600"/>
          </a:p>
        </p:txBody>
      </p:sp>
      <p:sp>
        <p:nvSpPr>
          <p:cNvPr id="898" name="Google Shape;898;p75"/>
          <p:cNvSpPr txBox="1"/>
          <p:nvPr>
            <p:ph idx="4294967295" type="subTitle"/>
          </p:nvPr>
        </p:nvSpPr>
        <p:spPr>
          <a:xfrm>
            <a:off x="918200" y="3619850"/>
            <a:ext cx="1026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78 969</a:t>
            </a:r>
            <a:endParaRPr b="0" sz="2600"/>
          </a:p>
        </p:txBody>
      </p:sp>
      <p:sp>
        <p:nvSpPr>
          <p:cNvPr id="899" name="Google Shape;899;p75"/>
          <p:cNvSpPr txBox="1"/>
          <p:nvPr/>
        </p:nvSpPr>
        <p:spPr>
          <a:xfrm>
            <a:off x="2016300" y="4076400"/>
            <a:ext cx="1894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Divisible by 2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00" name="Google Shape;900;p75"/>
          <p:cNvCxnSpPr/>
          <p:nvPr/>
        </p:nvCxnSpPr>
        <p:spPr>
          <a:xfrm flipH="1">
            <a:off x="1115825" y="1529450"/>
            <a:ext cx="881700" cy="734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75"/>
          <p:cNvCxnSpPr/>
          <p:nvPr/>
        </p:nvCxnSpPr>
        <p:spPr>
          <a:xfrm flipH="1">
            <a:off x="6759275" y="3288900"/>
            <a:ext cx="881700" cy="734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75"/>
          <p:cNvCxnSpPr/>
          <p:nvPr/>
        </p:nvCxnSpPr>
        <p:spPr>
          <a:xfrm flipH="1">
            <a:off x="2278100" y="2571750"/>
            <a:ext cx="881700" cy="734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75"/>
          <p:cNvCxnSpPr/>
          <p:nvPr/>
        </p:nvCxnSpPr>
        <p:spPr>
          <a:xfrm flipH="1">
            <a:off x="944600" y="3496100"/>
            <a:ext cx="881700" cy="734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4" name="Google Shape;904;p75"/>
          <p:cNvSpPr txBox="1"/>
          <p:nvPr/>
        </p:nvSpPr>
        <p:spPr>
          <a:xfrm>
            <a:off x="4988579" y="4063507"/>
            <a:ext cx="1894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Divisible by 3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5" name="Google Shape;905;p75"/>
          <p:cNvSpPr txBox="1"/>
          <p:nvPr/>
        </p:nvSpPr>
        <p:spPr>
          <a:xfrm>
            <a:off x="3493138" y="2125638"/>
            <a:ext cx="21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9+3+8+8 = 28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06" name="Google Shape;906;p75"/>
          <p:cNvCxnSpPr/>
          <p:nvPr/>
        </p:nvCxnSpPr>
        <p:spPr>
          <a:xfrm flipH="1">
            <a:off x="3695850" y="1529450"/>
            <a:ext cx="1401600" cy="1012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75"/>
          <p:cNvSpPr txBox="1"/>
          <p:nvPr/>
        </p:nvSpPr>
        <p:spPr>
          <a:xfrm>
            <a:off x="6177963" y="2125638"/>
            <a:ext cx="2842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5+2+1+2+3+8=21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8" name="Google Shape;908;p75"/>
          <p:cNvSpPr/>
          <p:nvPr/>
        </p:nvSpPr>
        <p:spPr>
          <a:xfrm>
            <a:off x="6406350" y="1653200"/>
            <a:ext cx="1723200" cy="487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75"/>
          <p:cNvSpPr txBox="1"/>
          <p:nvPr/>
        </p:nvSpPr>
        <p:spPr>
          <a:xfrm>
            <a:off x="4212438" y="3265363"/>
            <a:ext cx="2063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1+9+3+8+6=27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0" name="Google Shape;910;p75"/>
          <p:cNvSpPr/>
          <p:nvPr/>
        </p:nvSpPr>
        <p:spPr>
          <a:xfrm>
            <a:off x="4363400" y="2776200"/>
            <a:ext cx="1723200" cy="487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75"/>
          <p:cNvSpPr txBox="1"/>
          <p:nvPr/>
        </p:nvSpPr>
        <p:spPr>
          <a:xfrm>
            <a:off x="2016300" y="4076400"/>
            <a:ext cx="5173800" cy="4872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Divisible by 6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76"/>
          <p:cNvSpPr txBox="1"/>
          <p:nvPr>
            <p:ph idx="1" type="body"/>
          </p:nvPr>
        </p:nvSpPr>
        <p:spPr>
          <a:xfrm>
            <a:off x="482275" y="759300"/>
            <a:ext cx="83376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Circle the </a:t>
            </a:r>
            <a:r>
              <a:rPr lang="en-GB"/>
              <a:t>number(s)</a:t>
            </a:r>
            <a:r>
              <a:rPr lang="en-GB"/>
              <a:t> from each list that are divisible by 6.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400050" lvl="0" marL="457200" rtl="0" algn="l">
              <a:spcBef>
                <a:spcPts val="1000"/>
              </a:spcBef>
              <a:spcAft>
                <a:spcPts val="0"/>
              </a:spcAft>
              <a:buSzPts val="2700"/>
              <a:buAutoNum type="alphaLcParenR"/>
            </a:pPr>
            <a:r>
              <a:rPr lang="en-GB" sz="2700"/>
              <a:t>389      232      890 382         348 997     </a:t>
            </a:r>
            <a:endParaRPr sz="2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400050" lvl="0" marL="457200" rtl="0" algn="l">
              <a:spcBef>
                <a:spcPts val="1000"/>
              </a:spcBef>
              <a:spcAft>
                <a:spcPts val="0"/>
              </a:spcAft>
              <a:buSzPts val="2700"/>
              <a:buAutoNum type="alphaLcParenR"/>
            </a:pPr>
            <a:r>
              <a:rPr lang="en-GB" sz="2700"/>
              <a:t>8992</a:t>
            </a:r>
            <a:r>
              <a:rPr lang="en-GB" sz="2700"/>
              <a:t>      </a:t>
            </a:r>
            <a:r>
              <a:rPr lang="en-GB" sz="2700"/>
              <a:t>9374</a:t>
            </a:r>
            <a:r>
              <a:rPr lang="en-GB" sz="2700"/>
              <a:t>      </a:t>
            </a:r>
            <a:r>
              <a:rPr lang="en-GB" sz="2700"/>
              <a:t>380 000</a:t>
            </a:r>
            <a:r>
              <a:rPr lang="en-GB" sz="2700"/>
              <a:t>      </a:t>
            </a:r>
            <a:r>
              <a:rPr lang="en-GB" sz="2700"/>
              <a:t>34 830</a:t>
            </a:r>
            <a:endParaRPr sz="2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-400050" lvl="0" marL="457200" rtl="0" algn="l">
              <a:spcBef>
                <a:spcPts val="1000"/>
              </a:spcBef>
              <a:spcAft>
                <a:spcPts val="0"/>
              </a:spcAft>
              <a:buSzPts val="2700"/>
              <a:buAutoNum type="alphaLcParenR"/>
            </a:pPr>
            <a:r>
              <a:rPr lang="en-GB" sz="2700"/>
              <a:t>4</a:t>
            </a:r>
            <a:r>
              <a:rPr lang="en-GB" sz="2700"/>
              <a:t>      </a:t>
            </a:r>
            <a:r>
              <a:rPr lang="en-GB" sz="2700"/>
              <a:t>44</a:t>
            </a:r>
            <a:r>
              <a:rPr lang="en-GB" sz="2700"/>
              <a:t>      </a:t>
            </a:r>
            <a:r>
              <a:rPr lang="en-GB" sz="2700"/>
              <a:t>444</a:t>
            </a:r>
            <a:r>
              <a:rPr lang="en-GB" sz="2700"/>
              <a:t>      </a:t>
            </a:r>
            <a:r>
              <a:rPr lang="en-GB" sz="2700"/>
              <a:t>4444</a:t>
            </a:r>
            <a:r>
              <a:rPr lang="en-GB" sz="2700"/>
              <a:t>      </a:t>
            </a:r>
            <a:r>
              <a:rPr lang="en-GB" sz="2700"/>
              <a:t>444 444  </a:t>
            </a:r>
            <a:endParaRPr sz="2700"/>
          </a:p>
        </p:txBody>
      </p:sp>
      <p:sp>
        <p:nvSpPr>
          <p:cNvPr id="917" name="Google Shape;917;p76"/>
          <p:cNvSpPr txBox="1"/>
          <p:nvPr>
            <p:ph idx="4294967295" type="title"/>
          </p:nvPr>
        </p:nvSpPr>
        <p:spPr>
          <a:xfrm>
            <a:off x="1418000" y="141522"/>
            <a:ext cx="7885200" cy="3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chemeClr val="lt1"/>
                </a:solidFill>
              </a:rPr>
              <a:t>Divisibility test for multiples of 6</a:t>
            </a:r>
            <a:endParaRPr b="0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7"/>
          <p:cNvSpPr txBox="1"/>
          <p:nvPr>
            <p:ph idx="1" type="body"/>
          </p:nvPr>
        </p:nvSpPr>
        <p:spPr>
          <a:xfrm>
            <a:off x="482275" y="759300"/>
            <a:ext cx="8128200" cy="10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Four students play a computer game. The game has 200 levels. Every time a student moves onto the next level they score 6 points.</a:t>
            </a:r>
            <a:endParaRPr sz="1900"/>
          </a:p>
        </p:txBody>
      </p:sp>
      <p:pic>
        <p:nvPicPr>
          <p:cNvPr id="923" name="Google Shape;92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71" y="2123700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6200" y="2074889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457" y="336720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7"/>
          <p:cNvSpPr txBox="1"/>
          <p:nvPr/>
        </p:nvSpPr>
        <p:spPr>
          <a:xfrm>
            <a:off x="476400" y="2877107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7"/>
          <p:cNvSpPr txBox="1"/>
          <p:nvPr/>
        </p:nvSpPr>
        <p:spPr>
          <a:xfrm>
            <a:off x="541714" y="4248707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7"/>
          <p:cNvSpPr txBox="1"/>
          <p:nvPr/>
        </p:nvSpPr>
        <p:spPr>
          <a:xfrm>
            <a:off x="7551788" y="2844370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7"/>
          <p:cNvSpPr txBox="1"/>
          <p:nvPr/>
        </p:nvSpPr>
        <p:spPr>
          <a:xfrm>
            <a:off x="7627988" y="4215970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0" name="Google Shape;930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5902" y="3335288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198000" y="1772400"/>
            <a:ext cx="2401700" cy="63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5153224" y="3516325"/>
            <a:ext cx="2401701" cy="55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7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18000" y="1822000"/>
            <a:ext cx="2277601" cy="6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65600" y="3684700"/>
            <a:ext cx="2473648" cy="5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7"/>
          <p:cNvSpPr txBox="1"/>
          <p:nvPr/>
        </p:nvSpPr>
        <p:spPr>
          <a:xfrm>
            <a:off x="1434613" y="1836913"/>
            <a:ext cx="2182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918 points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7"/>
          <p:cNvSpPr txBox="1"/>
          <p:nvPr/>
        </p:nvSpPr>
        <p:spPr>
          <a:xfrm>
            <a:off x="1363625" y="3703563"/>
            <a:ext cx="22776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1195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points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7"/>
          <p:cNvSpPr txBox="1"/>
          <p:nvPr/>
        </p:nvSpPr>
        <p:spPr>
          <a:xfrm>
            <a:off x="5202175" y="1790825"/>
            <a:ext cx="24018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1114 points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7"/>
          <p:cNvSpPr txBox="1"/>
          <p:nvPr/>
        </p:nvSpPr>
        <p:spPr>
          <a:xfrm>
            <a:off x="5230622" y="3519600"/>
            <a:ext cx="22776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1194 points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7"/>
          <p:cNvSpPr txBox="1"/>
          <p:nvPr/>
        </p:nvSpPr>
        <p:spPr>
          <a:xfrm>
            <a:off x="3869823" y="1684525"/>
            <a:ext cx="12084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 is telling the truth?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Justify your answer for each person.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7"/>
          <p:cNvSpPr txBox="1"/>
          <p:nvPr>
            <p:ph idx="4294967295" type="title"/>
          </p:nvPr>
        </p:nvSpPr>
        <p:spPr>
          <a:xfrm>
            <a:off x="1418000" y="141522"/>
            <a:ext cx="7885200" cy="3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chemeClr val="lt1"/>
                </a:solidFill>
              </a:rPr>
              <a:t>Divisibility test for multiples of 6</a:t>
            </a:r>
            <a:endParaRPr b="0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8"/>
          <p:cNvSpPr txBox="1"/>
          <p:nvPr>
            <p:ph idx="1" type="body"/>
          </p:nvPr>
        </p:nvSpPr>
        <p:spPr>
          <a:xfrm>
            <a:off x="324000" y="759300"/>
            <a:ext cx="8237700" cy="38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Circle the number(s) from each list that are divisible by 6.</a:t>
            </a:r>
            <a:endParaRPr sz="2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400050" lvl="0" marL="457200" rtl="0" algn="l">
              <a:spcBef>
                <a:spcPts val="1000"/>
              </a:spcBef>
              <a:spcAft>
                <a:spcPts val="0"/>
              </a:spcAft>
              <a:buSzPts val="2700"/>
              <a:buAutoNum type="alphaLcParenR"/>
            </a:pPr>
            <a:r>
              <a:rPr lang="en-GB" sz="2700"/>
              <a:t>389         232          890 382            348 997     </a:t>
            </a:r>
            <a:endParaRPr sz="2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400050" lvl="0" marL="457200" rtl="0" algn="l">
              <a:spcBef>
                <a:spcPts val="1000"/>
              </a:spcBef>
              <a:spcAft>
                <a:spcPts val="0"/>
              </a:spcAft>
              <a:buSzPts val="2700"/>
              <a:buAutoNum type="alphaLcParenR"/>
            </a:pPr>
            <a:r>
              <a:rPr lang="en-GB" sz="2700"/>
              <a:t>8992       9374        380 000         34 830</a:t>
            </a:r>
            <a:endParaRPr sz="2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400050" lvl="0" marL="457200" rtl="0" algn="l">
              <a:spcBef>
                <a:spcPts val="1000"/>
              </a:spcBef>
              <a:spcAft>
                <a:spcPts val="0"/>
              </a:spcAft>
              <a:buSzPts val="2700"/>
              <a:buAutoNum type="alphaLcParenR"/>
            </a:pPr>
            <a:r>
              <a:rPr lang="en-GB" sz="2700"/>
              <a:t>4       44        444        4444         444 444  </a:t>
            </a:r>
            <a:endParaRPr sz="2700"/>
          </a:p>
        </p:txBody>
      </p:sp>
      <p:sp>
        <p:nvSpPr>
          <p:cNvPr id="946" name="Google Shape;946;p78"/>
          <p:cNvSpPr/>
          <p:nvPr/>
        </p:nvSpPr>
        <p:spPr>
          <a:xfrm>
            <a:off x="3358013" y="1381138"/>
            <a:ext cx="1977300" cy="492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78"/>
          <p:cNvSpPr txBox="1"/>
          <p:nvPr/>
        </p:nvSpPr>
        <p:spPr>
          <a:xfrm>
            <a:off x="573150" y="1754963"/>
            <a:ext cx="83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2+3+2       8+9+0+3+8+2         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8" name="Google Shape;948;p78"/>
          <p:cNvSpPr txBox="1"/>
          <p:nvPr/>
        </p:nvSpPr>
        <p:spPr>
          <a:xfrm>
            <a:off x="2613300" y="1754963"/>
            <a:ext cx="6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=7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9" name="Google Shape;949;p78"/>
          <p:cNvSpPr txBox="1"/>
          <p:nvPr/>
        </p:nvSpPr>
        <p:spPr>
          <a:xfrm>
            <a:off x="5080675" y="1754963"/>
            <a:ext cx="6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=30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0" name="Google Shape;950;p78"/>
          <p:cNvSpPr txBox="1"/>
          <p:nvPr/>
        </p:nvSpPr>
        <p:spPr>
          <a:xfrm>
            <a:off x="324000" y="2825250"/>
            <a:ext cx="843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8+9+9+2      9+3+7+4         3+8           3+4+8+3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1" name="Google Shape;951;p78"/>
          <p:cNvSpPr txBox="1"/>
          <p:nvPr/>
        </p:nvSpPr>
        <p:spPr>
          <a:xfrm>
            <a:off x="1354050" y="2808075"/>
            <a:ext cx="6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=28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2" name="Google Shape;952;p78"/>
          <p:cNvSpPr txBox="1"/>
          <p:nvPr/>
        </p:nvSpPr>
        <p:spPr>
          <a:xfrm>
            <a:off x="6462943" y="2806607"/>
            <a:ext cx="6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=18  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3" name="Google Shape;953;p78"/>
          <p:cNvSpPr txBox="1"/>
          <p:nvPr/>
        </p:nvSpPr>
        <p:spPr>
          <a:xfrm>
            <a:off x="2995200" y="2825250"/>
            <a:ext cx="6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=23  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4" name="Google Shape;954;p78"/>
          <p:cNvSpPr txBox="1"/>
          <p:nvPr/>
        </p:nvSpPr>
        <p:spPr>
          <a:xfrm>
            <a:off x="4362100" y="2806600"/>
            <a:ext cx="6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=11  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5" name="Google Shape;955;p78"/>
          <p:cNvSpPr/>
          <p:nvPr/>
        </p:nvSpPr>
        <p:spPr>
          <a:xfrm>
            <a:off x="5480325" y="2431949"/>
            <a:ext cx="1927200" cy="492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78"/>
          <p:cNvSpPr txBox="1"/>
          <p:nvPr/>
        </p:nvSpPr>
        <p:spPr>
          <a:xfrm>
            <a:off x="1290450" y="3858225"/>
            <a:ext cx="701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4+4      4+4+4      4+4+4+4       4+4+4+4+4+4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7" name="Google Shape;957;p78"/>
          <p:cNvSpPr txBox="1"/>
          <p:nvPr/>
        </p:nvSpPr>
        <p:spPr>
          <a:xfrm>
            <a:off x="1737743" y="3861179"/>
            <a:ext cx="6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=8  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8" name="Google Shape;958;p78"/>
          <p:cNvSpPr txBox="1"/>
          <p:nvPr/>
        </p:nvSpPr>
        <p:spPr>
          <a:xfrm>
            <a:off x="3071250" y="3858226"/>
            <a:ext cx="6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=12  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9" name="Google Shape;959;p78"/>
          <p:cNvSpPr txBox="1"/>
          <p:nvPr/>
        </p:nvSpPr>
        <p:spPr>
          <a:xfrm>
            <a:off x="4724868" y="3858229"/>
            <a:ext cx="6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=16 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0" name="Google Shape;960;p78"/>
          <p:cNvSpPr txBox="1"/>
          <p:nvPr/>
        </p:nvSpPr>
        <p:spPr>
          <a:xfrm>
            <a:off x="7053414" y="3832650"/>
            <a:ext cx="6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=24 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1" name="Google Shape;961;p78"/>
          <p:cNvSpPr/>
          <p:nvPr/>
        </p:nvSpPr>
        <p:spPr>
          <a:xfrm>
            <a:off x="2610875" y="3551550"/>
            <a:ext cx="1122000" cy="408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78"/>
          <p:cNvSpPr/>
          <p:nvPr/>
        </p:nvSpPr>
        <p:spPr>
          <a:xfrm>
            <a:off x="5640050" y="3462625"/>
            <a:ext cx="2041500" cy="492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3" name="Google Shape;963;p78"/>
          <p:cNvCxnSpPr/>
          <p:nvPr/>
        </p:nvCxnSpPr>
        <p:spPr>
          <a:xfrm flipH="1">
            <a:off x="2043750" y="1324038"/>
            <a:ext cx="620400" cy="4083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78"/>
          <p:cNvCxnSpPr/>
          <p:nvPr/>
        </p:nvCxnSpPr>
        <p:spPr>
          <a:xfrm flipH="1">
            <a:off x="5910825" y="1452975"/>
            <a:ext cx="1345500" cy="2793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78"/>
          <p:cNvCxnSpPr/>
          <p:nvPr/>
        </p:nvCxnSpPr>
        <p:spPr>
          <a:xfrm flipH="1">
            <a:off x="761850" y="1324050"/>
            <a:ext cx="620400" cy="4083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78"/>
          <p:cNvCxnSpPr/>
          <p:nvPr/>
        </p:nvCxnSpPr>
        <p:spPr>
          <a:xfrm flipH="1">
            <a:off x="847950" y="2467688"/>
            <a:ext cx="620400" cy="4083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78"/>
          <p:cNvCxnSpPr/>
          <p:nvPr/>
        </p:nvCxnSpPr>
        <p:spPr>
          <a:xfrm flipH="1">
            <a:off x="2218150" y="2540300"/>
            <a:ext cx="654900" cy="3057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78"/>
          <p:cNvCxnSpPr/>
          <p:nvPr/>
        </p:nvCxnSpPr>
        <p:spPr>
          <a:xfrm flipH="1">
            <a:off x="3813275" y="2570288"/>
            <a:ext cx="1066800" cy="2847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" name="Google Shape;969;p78"/>
          <p:cNvCxnSpPr/>
          <p:nvPr/>
        </p:nvCxnSpPr>
        <p:spPr>
          <a:xfrm flipH="1">
            <a:off x="670050" y="3611350"/>
            <a:ext cx="620400" cy="4083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78"/>
          <p:cNvCxnSpPr/>
          <p:nvPr/>
        </p:nvCxnSpPr>
        <p:spPr>
          <a:xfrm flipH="1">
            <a:off x="1600275" y="3551550"/>
            <a:ext cx="620400" cy="4083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78"/>
          <p:cNvCxnSpPr/>
          <p:nvPr/>
        </p:nvCxnSpPr>
        <p:spPr>
          <a:xfrm flipH="1">
            <a:off x="4095700" y="3586375"/>
            <a:ext cx="1082700" cy="3135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78"/>
          <p:cNvSpPr txBox="1"/>
          <p:nvPr>
            <p:ph idx="4294967295" type="title"/>
          </p:nvPr>
        </p:nvSpPr>
        <p:spPr>
          <a:xfrm>
            <a:off x="1418000" y="141522"/>
            <a:ext cx="7885200" cy="3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chemeClr val="lt1"/>
                </a:solidFill>
              </a:rPr>
              <a:t>Divisibility test for multiples of 6</a:t>
            </a:r>
            <a:endParaRPr b="0" sz="18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Four students play a computer game. The game has 200 levels. Every time a student moves onto the next level they score 6 points.</a:t>
            </a:r>
            <a:endParaRPr sz="1800"/>
          </a:p>
        </p:txBody>
      </p:sp>
      <p:pic>
        <p:nvPicPr>
          <p:cNvPr id="978" name="Google Shape;97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71" y="2123700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6200" y="2074889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457" y="336720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79"/>
          <p:cNvSpPr txBox="1"/>
          <p:nvPr/>
        </p:nvSpPr>
        <p:spPr>
          <a:xfrm>
            <a:off x="476400" y="2877107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9"/>
          <p:cNvSpPr txBox="1"/>
          <p:nvPr/>
        </p:nvSpPr>
        <p:spPr>
          <a:xfrm>
            <a:off x="541714" y="4248707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9"/>
          <p:cNvSpPr txBox="1"/>
          <p:nvPr/>
        </p:nvSpPr>
        <p:spPr>
          <a:xfrm>
            <a:off x="7551788" y="2844370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9"/>
          <p:cNvSpPr txBox="1"/>
          <p:nvPr/>
        </p:nvSpPr>
        <p:spPr>
          <a:xfrm>
            <a:off x="7627988" y="4215970"/>
            <a:ext cx="120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5" name="Google Shape;985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5902" y="3335288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198000" y="1467600"/>
            <a:ext cx="2401700" cy="63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5153224" y="3211525"/>
            <a:ext cx="2401701" cy="55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7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18000" y="1517200"/>
            <a:ext cx="2277601" cy="6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65600" y="3379900"/>
            <a:ext cx="2473648" cy="5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79"/>
          <p:cNvSpPr txBox="1"/>
          <p:nvPr/>
        </p:nvSpPr>
        <p:spPr>
          <a:xfrm>
            <a:off x="3869823" y="1684525"/>
            <a:ext cx="12084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 is telling the truth?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Justify your answer for each person.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9"/>
          <p:cNvSpPr txBox="1"/>
          <p:nvPr/>
        </p:nvSpPr>
        <p:spPr>
          <a:xfrm>
            <a:off x="1434613" y="1532113"/>
            <a:ext cx="2182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918 points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9"/>
          <p:cNvSpPr txBox="1"/>
          <p:nvPr/>
        </p:nvSpPr>
        <p:spPr>
          <a:xfrm>
            <a:off x="1363625" y="3398763"/>
            <a:ext cx="22776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1195 points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9"/>
          <p:cNvSpPr txBox="1"/>
          <p:nvPr/>
        </p:nvSpPr>
        <p:spPr>
          <a:xfrm>
            <a:off x="5202175" y="1486025"/>
            <a:ext cx="24018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1114 points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9"/>
          <p:cNvSpPr txBox="1"/>
          <p:nvPr/>
        </p:nvSpPr>
        <p:spPr>
          <a:xfrm>
            <a:off x="5230622" y="3214800"/>
            <a:ext cx="22776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have 1194 points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9"/>
          <p:cNvSpPr txBox="1"/>
          <p:nvPr/>
        </p:nvSpPr>
        <p:spPr>
          <a:xfrm>
            <a:off x="1513500" y="2162350"/>
            <a:ext cx="218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Truth because 918 is divisible by 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6" name="Google Shape;996;p79"/>
          <p:cNvSpPr txBox="1"/>
          <p:nvPr/>
        </p:nvSpPr>
        <p:spPr>
          <a:xfrm>
            <a:off x="1541750" y="3835975"/>
            <a:ext cx="21825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Not true as odd numbers are not multiples of 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7" name="Google Shape;997;p79"/>
          <p:cNvSpPr txBox="1"/>
          <p:nvPr/>
        </p:nvSpPr>
        <p:spPr>
          <a:xfrm>
            <a:off x="5198000" y="2028300"/>
            <a:ext cx="218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Not true because 1114 is not 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divisible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by 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8" name="Google Shape;998;p79"/>
          <p:cNvSpPr txBox="1"/>
          <p:nvPr/>
        </p:nvSpPr>
        <p:spPr>
          <a:xfrm>
            <a:off x="5198000" y="3835975"/>
            <a:ext cx="218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Truth because 1194 is divisible by 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9" name="Google Shape;999;p79"/>
          <p:cNvSpPr txBox="1"/>
          <p:nvPr>
            <p:ph idx="4294967295" type="title"/>
          </p:nvPr>
        </p:nvSpPr>
        <p:spPr>
          <a:xfrm>
            <a:off x="1418000" y="141522"/>
            <a:ext cx="7885200" cy="3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chemeClr val="lt1"/>
                </a:solidFill>
              </a:rPr>
              <a:t>Divisibility test for multiples of 6</a:t>
            </a:r>
            <a:endParaRPr b="0" sz="18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0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6</a:t>
            </a:r>
            <a:endParaRPr/>
          </a:p>
        </p:txBody>
      </p:sp>
      <p:sp>
        <p:nvSpPr>
          <p:cNvPr id="1005" name="Google Shape;1005;p80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9</a:t>
            </a:r>
            <a:endParaRPr/>
          </a:p>
        </p:txBody>
      </p:sp>
      <p:sp>
        <p:nvSpPr>
          <p:cNvPr id="1006" name="Google Shape;1006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6 and 9</a:t>
            </a:r>
            <a:endParaRPr/>
          </a:p>
        </p:txBody>
      </p:sp>
      <p:pic>
        <p:nvPicPr>
          <p:cNvPr id="1007" name="Google Shape;100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89" y="299012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9</a:t>
            </a:r>
            <a:endParaRPr/>
          </a:p>
        </p:txBody>
      </p:sp>
      <p:sp>
        <p:nvSpPr>
          <p:cNvPr id="1013" name="Google Shape;1013;p81"/>
          <p:cNvSpPr txBox="1"/>
          <p:nvPr>
            <p:ph idx="4294967295" type="subTitle"/>
          </p:nvPr>
        </p:nvSpPr>
        <p:spPr>
          <a:xfrm>
            <a:off x="324000" y="798350"/>
            <a:ext cx="7580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</a:t>
            </a:r>
            <a:r>
              <a:rPr lang="en-GB"/>
              <a:t>ivisibility</a:t>
            </a:r>
            <a:r>
              <a:rPr lang="en-GB"/>
              <a:t> test for multiples of 9 is similar to the divisibility test for multiples of 3.</a:t>
            </a:r>
            <a:endParaRPr/>
          </a:p>
        </p:txBody>
      </p:sp>
      <p:sp>
        <p:nvSpPr>
          <p:cNvPr id="1014" name="Google Shape;1014;p81"/>
          <p:cNvSpPr txBox="1"/>
          <p:nvPr>
            <p:ph idx="4294967295" type="subTitle"/>
          </p:nvPr>
        </p:nvSpPr>
        <p:spPr>
          <a:xfrm>
            <a:off x="324000" y="3541550"/>
            <a:ext cx="8570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you look at the individual digits, do you think you can spot a method to identify if a number is a multiple of 9?</a:t>
            </a:r>
            <a:endParaRPr/>
          </a:p>
        </p:txBody>
      </p:sp>
      <p:sp>
        <p:nvSpPr>
          <p:cNvPr id="1015" name="Google Shape;1015;p81"/>
          <p:cNvSpPr txBox="1"/>
          <p:nvPr/>
        </p:nvSpPr>
        <p:spPr>
          <a:xfrm>
            <a:off x="2153526" y="2501400"/>
            <a:ext cx="741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&amp;5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1"/>
          <p:cNvSpPr txBox="1"/>
          <p:nvPr/>
        </p:nvSpPr>
        <p:spPr>
          <a:xfrm>
            <a:off x="3494408" y="2492765"/>
            <a:ext cx="1195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&amp;3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1"/>
          <p:cNvSpPr txBox="1"/>
          <p:nvPr>
            <p:ph idx="4294967295" type="subTitle"/>
          </p:nvPr>
        </p:nvSpPr>
        <p:spPr>
          <a:xfrm>
            <a:off x="19200" y="2135200"/>
            <a:ext cx="7885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9,  18,  27,  36,  45,  54,  63,  72,  81, … 189, …  505 953</a:t>
            </a:r>
            <a:endParaRPr b="0" sz="2300"/>
          </a:p>
        </p:txBody>
      </p:sp>
      <p:sp>
        <p:nvSpPr>
          <p:cNvPr id="1018" name="Google Shape;1018;p81"/>
          <p:cNvSpPr/>
          <p:nvPr/>
        </p:nvSpPr>
        <p:spPr>
          <a:xfrm>
            <a:off x="5460771" y="2062525"/>
            <a:ext cx="548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81"/>
          <p:cNvSpPr/>
          <p:nvPr/>
        </p:nvSpPr>
        <p:spPr>
          <a:xfrm>
            <a:off x="6298970" y="2062525"/>
            <a:ext cx="13917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81"/>
          <p:cNvSpPr/>
          <p:nvPr/>
        </p:nvSpPr>
        <p:spPr>
          <a:xfrm>
            <a:off x="3545650" y="2062525"/>
            <a:ext cx="548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81"/>
          <p:cNvSpPr/>
          <p:nvPr/>
        </p:nvSpPr>
        <p:spPr>
          <a:xfrm>
            <a:off x="2362754" y="2046196"/>
            <a:ext cx="548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9</a:t>
            </a:r>
            <a:endParaRPr/>
          </a:p>
        </p:txBody>
      </p:sp>
      <p:sp>
        <p:nvSpPr>
          <p:cNvPr id="1027" name="Google Shape;1027;p82"/>
          <p:cNvSpPr txBox="1"/>
          <p:nvPr>
            <p:ph idx="4294967295" type="subTitle"/>
          </p:nvPr>
        </p:nvSpPr>
        <p:spPr>
          <a:xfrm>
            <a:off x="324000" y="798350"/>
            <a:ext cx="7366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</a:t>
            </a:r>
            <a:r>
              <a:rPr lang="en-GB"/>
              <a:t>ivisibility </a:t>
            </a:r>
            <a:r>
              <a:rPr lang="en-GB"/>
              <a:t>test for multiples of 9 is similar to the divisibility test for multiples of 3.</a:t>
            </a:r>
            <a:endParaRPr/>
          </a:p>
        </p:txBody>
      </p:sp>
      <p:sp>
        <p:nvSpPr>
          <p:cNvPr id="1028" name="Google Shape;1028;p82"/>
          <p:cNvSpPr txBox="1"/>
          <p:nvPr>
            <p:ph idx="4294967295" type="subTitle"/>
          </p:nvPr>
        </p:nvSpPr>
        <p:spPr>
          <a:xfrm>
            <a:off x="19200" y="2135200"/>
            <a:ext cx="7885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9,  18,  27,  36,  45,  54,  63,  72,  81, … 189, …  505 953</a:t>
            </a:r>
            <a:endParaRPr b="0" sz="2300"/>
          </a:p>
        </p:txBody>
      </p:sp>
      <p:sp>
        <p:nvSpPr>
          <p:cNvPr id="1029" name="Google Shape;1029;p82"/>
          <p:cNvSpPr txBox="1"/>
          <p:nvPr/>
        </p:nvSpPr>
        <p:spPr>
          <a:xfrm>
            <a:off x="2153526" y="2501400"/>
            <a:ext cx="741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4+5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2"/>
          <p:cNvSpPr/>
          <p:nvPr/>
        </p:nvSpPr>
        <p:spPr>
          <a:xfrm>
            <a:off x="5460771" y="2062525"/>
            <a:ext cx="548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82"/>
          <p:cNvSpPr txBox="1"/>
          <p:nvPr/>
        </p:nvSpPr>
        <p:spPr>
          <a:xfrm>
            <a:off x="3494408" y="2492765"/>
            <a:ext cx="1195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6+3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2"/>
          <p:cNvSpPr/>
          <p:nvPr/>
        </p:nvSpPr>
        <p:spPr>
          <a:xfrm>
            <a:off x="6298970" y="2062525"/>
            <a:ext cx="13917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82"/>
          <p:cNvSpPr/>
          <p:nvPr/>
        </p:nvSpPr>
        <p:spPr>
          <a:xfrm>
            <a:off x="3545650" y="2062525"/>
            <a:ext cx="548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82"/>
          <p:cNvSpPr/>
          <p:nvPr/>
        </p:nvSpPr>
        <p:spPr>
          <a:xfrm>
            <a:off x="2362754" y="2046196"/>
            <a:ext cx="548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82"/>
          <p:cNvSpPr txBox="1"/>
          <p:nvPr/>
        </p:nvSpPr>
        <p:spPr>
          <a:xfrm>
            <a:off x="324000" y="3541550"/>
            <a:ext cx="8570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sum the digits, the sum is a multiple of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This means the number is divisible by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2"/>
          <p:cNvSpPr txBox="1"/>
          <p:nvPr/>
        </p:nvSpPr>
        <p:spPr>
          <a:xfrm>
            <a:off x="5247008" y="2492765"/>
            <a:ext cx="1195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1+8+9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2"/>
          <p:cNvSpPr txBox="1"/>
          <p:nvPr/>
        </p:nvSpPr>
        <p:spPr>
          <a:xfrm>
            <a:off x="6298975" y="2492775"/>
            <a:ext cx="24639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5+0+5+9+5+3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3"/>
          <p:cNvSpPr txBox="1"/>
          <p:nvPr>
            <p:ph idx="4294967295" type="subTitle"/>
          </p:nvPr>
        </p:nvSpPr>
        <p:spPr>
          <a:xfrm>
            <a:off x="324000" y="672050"/>
            <a:ext cx="8570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You need to enter a maze through entrance A, B, C, D or E. You are </a:t>
            </a:r>
            <a:r>
              <a:rPr lang="en-GB" sz="1800"/>
              <a:t>only allowed to step on numbers that are multiples of 9. You can only step vertically or horizontally. You must exit through either F, G, H, I or J.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What entrance do you use?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Draw your path.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What exit do you use?</a:t>
            </a:r>
            <a:endParaRPr sz="1800"/>
          </a:p>
        </p:txBody>
      </p:sp>
      <p:sp>
        <p:nvSpPr>
          <p:cNvPr id="1043" name="Google Shape;1043;p83"/>
          <p:cNvSpPr txBox="1"/>
          <p:nvPr>
            <p:ph idx="4294967295" type="title"/>
          </p:nvPr>
        </p:nvSpPr>
        <p:spPr>
          <a:xfrm>
            <a:off x="1307786" y="153096"/>
            <a:ext cx="6437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</a:rPr>
              <a:t>Divisibility test for multiples of 9</a:t>
            </a:r>
            <a:endParaRPr b="0" sz="1800">
              <a:solidFill>
                <a:srgbClr val="FFFFFF"/>
              </a:solidFill>
            </a:endParaRPr>
          </a:p>
        </p:txBody>
      </p:sp>
      <p:sp>
        <p:nvSpPr>
          <p:cNvPr id="1044" name="Google Shape;1044;p83"/>
          <p:cNvSpPr txBox="1"/>
          <p:nvPr/>
        </p:nvSpPr>
        <p:spPr>
          <a:xfrm>
            <a:off x="3795214" y="1766954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3"/>
          <p:cNvSpPr txBox="1"/>
          <p:nvPr/>
        </p:nvSpPr>
        <p:spPr>
          <a:xfrm>
            <a:off x="3795214" y="2376554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3"/>
          <p:cNvSpPr txBox="1"/>
          <p:nvPr/>
        </p:nvSpPr>
        <p:spPr>
          <a:xfrm>
            <a:off x="3795214" y="2986154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3"/>
          <p:cNvSpPr txBox="1"/>
          <p:nvPr/>
        </p:nvSpPr>
        <p:spPr>
          <a:xfrm>
            <a:off x="3795214" y="3595754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8" name="Google Shape;1048;p83"/>
          <p:cNvGrpSpPr/>
          <p:nvPr/>
        </p:nvGrpSpPr>
        <p:grpSpPr>
          <a:xfrm>
            <a:off x="4256314" y="1937654"/>
            <a:ext cx="321000" cy="2699700"/>
            <a:chOff x="4381500" y="1692725"/>
            <a:chExt cx="321000" cy="2699700"/>
          </a:xfrm>
        </p:grpSpPr>
        <p:sp>
          <p:nvSpPr>
            <p:cNvPr id="1049" name="Google Shape;1049;p83"/>
            <p:cNvSpPr/>
            <p:nvPr/>
          </p:nvSpPr>
          <p:spPr>
            <a:xfrm>
              <a:off x="4381500" y="16927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83"/>
            <p:cNvSpPr/>
            <p:nvPr/>
          </p:nvSpPr>
          <p:spPr>
            <a:xfrm>
              <a:off x="4381500" y="23023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83"/>
            <p:cNvSpPr/>
            <p:nvPr/>
          </p:nvSpPr>
          <p:spPr>
            <a:xfrm>
              <a:off x="4381500" y="29119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83"/>
            <p:cNvSpPr/>
            <p:nvPr/>
          </p:nvSpPr>
          <p:spPr>
            <a:xfrm>
              <a:off x="4381500" y="35215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83"/>
            <p:cNvSpPr/>
            <p:nvPr/>
          </p:nvSpPr>
          <p:spPr>
            <a:xfrm>
              <a:off x="4381500" y="41311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4" name="Google Shape;1054;p83"/>
          <p:cNvSpPr txBox="1"/>
          <p:nvPr/>
        </p:nvSpPr>
        <p:spPr>
          <a:xfrm>
            <a:off x="3795214" y="4205354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3"/>
          <p:cNvSpPr txBox="1"/>
          <p:nvPr/>
        </p:nvSpPr>
        <p:spPr>
          <a:xfrm>
            <a:off x="7969886" y="1766954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3"/>
          <p:cNvSpPr txBox="1"/>
          <p:nvPr/>
        </p:nvSpPr>
        <p:spPr>
          <a:xfrm>
            <a:off x="7969886" y="2376554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3"/>
          <p:cNvSpPr txBox="1"/>
          <p:nvPr/>
        </p:nvSpPr>
        <p:spPr>
          <a:xfrm>
            <a:off x="7969886" y="2986154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3"/>
          <p:cNvSpPr txBox="1"/>
          <p:nvPr/>
        </p:nvSpPr>
        <p:spPr>
          <a:xfrm>
            <a:off x="7969886" y="3595754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3"/>
          <p:cNvSpPr txBox="1"/>
          <p:nvPr/>
        </p:nvSpPr>
        <p:spPr>
          <a:xfrm>
            <a:off x="7969886" y="4205354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0" name="Google Shape;1060;p83"/>
          <p:cNvGrpSpPr/>
          <p:nvPr/>
        </p:nvGrpSpPr>
        <p:grpSpPr>
          <a:xfrm>
            <a:off x="7641771" y="1861454"/>
            <a:ext cx="321000" cy="2699700"/>
            <a:chOff x="4381500" y="1692725"/>
            <a:chExt cx="321000" cy="2699700"/>
          </a:xfrm>
        </p:grpSpPr>
        <p:sp>
          <p:nvSpPr>
            <p:cNvPr id="1061" name="Google Shape;1061;p83"/>
            <p:cNvSpPr/>
            <p:nvPr/>
          </p:nvSpPr>
          <p:spPr>
            <a:xfrm>
              <a:off x="4381500" y="16927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83"/>
            <p:cNvSpPr/>
            <p:nvPr/>
          </p:nvSpPr>
          <p:spPr>
            <a:xfrm>
              <a:off x="4381500" y="23023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83"/>
            <p:cNvSpPr/>
            <p:nvPr/>
          </p:nvSpPr>
          <p:spPr>
            <a:xfrm>
              <a:off x="4381500" y="29119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83"/>
            <p:cNvSpPr/>
            <p:nvPr/>
          </p:nvSpPr>
          <p:spPr>
            <a:xfrm>
              <a:off x="4381500" y="35215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83"/>
            <p:cNvSpPr/>
            <p:nvPr/>
          </p:nvSpPr>
          <p:spPr>
            <a:xfrm>
              <a:off x="4381500" y="41311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1066" name="Google Shape;1066;p83"/>
          <p:cNvGraphicFramePr/>
          <p:nvPr/>
        </p:nvGraphicFramePr>
        <p:xfrm>
          <a:off x="4577427" y="17669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{64A7BC45-79A2-41B1-9926-98CD6A859069}</a:tableStyleId>
              </a:tblPr>
              <a:tblGrid>
                <a:gridCol w="608500"/>
                <a:gridCol w="608500"/>
                <a:gridCol w="608500"/>
                <a:gridCol w="608500"/>
                <a:gridCol w="608500"/>
              </a:tblGrid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84"/>
          <p:cNvSpPr txBox="1"/>
          <p:nvPr/>
        </p:nvSpPr>
        <p:spPr>
          <a:xfrm>
            <a:off x="286800" y="912600"/>
            <a:ext cx="8570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 Using the numbers below, fill in the Venn diagram.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4"/>
          <p:cNvSpPr txBox="1"/>
          <p:nvPr/>
        </p:nvSpPr>
        <p:spPr>
          <a:xfrm>
            <a:off x="789200" y="1328050"/>
            <a:ext cx="81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849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4"/>
          <p:cNvSpPr txBox="1"/>
          <p:nvPr/>
        </p:nvSpPr>
        <p:spPr>
          <a:xfrm>
            <a:off x="1856000" y="1328050"/>
            <a:ext cx="117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32 377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4"/>
          <p:cNvSpPr txBox="1"/>
          <p:nvPr/>
        </p:nvSpPr>
        <p:spPr>
          <a:xfrm>
            <a:off x="3075200" y="1328050"/>
            <a:ext cx="117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8676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4"/>
          <p:cNvSpPr txBox="1"/>
          <p:nvPr/>
        </p:nvSpPr>
        <p:spPr>
          <a:xfrm>
            <a:off x="4141973" y="1333475"/>
            <a:ext cx="139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7 498 342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4"/>
          <p:cNvSpPr txBox="1"/>
          <p:nvPr/>
        </p:nvSpPr>
        <p:spPr>
          <a:xfrm>
            <a:off x="5818374" y="1338907"/>
            <a:ext cx="590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4"/>
          <p:cNvSpPr txBox="1"/>
          <p:nvPr/>
        </p:nvSpPr>
        <p:spPr>
          <a:xfrm>
            <a:off x="6656577" y="1338907"/>
            <a:ext cx="1578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222 222 222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4"/>
          <p:cNvSpPr txBox="1"/>
          <p:nvPr/>
        </p:nvSpPr>
        <p:spPr>
          <a:xfrm>
            <a:off x="1763413" y="1910975"/>
            <a:ext cx="81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9090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4"/>
          <p:cNvSpPr txBox="1"/>
          <p:nvPr/>
        </p:nvSpPr>
        <p:spPr>
          <a:xfrm>
            <a:off x="3369597" y="1910975"/>
            <a:ext cx="85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984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4"/>
          <p:cNvSpPr txBox="1"/>
          <p:nvPr/>
        </p:nvSpPr>
        <p:spPr>
          <a:xfrm>
            <a:off x="4588822" y="1910975"/>
            <a:ext cx="85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117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4"/>
          <p:cNvSpPr txBox="1"/>
          <p:nvPr/>
        </p:nvSpPr>
        <p:spPr>
          <a:xfrm>
            <a:off x="5687778" y="1916400"/>
            <a:ext cx="105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7931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4"/>
          <p:cNvSpPr/>
          <p:nvPr/>
        </p:nvSpPr>
        <p:spPr>
          <a:xfrm>
            <a:off x="527950" y="2509150"/>
            <a:ext cx="7952100" cy="2073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84"/>
          <p:cNvSpPr/>
          <p:nvPr/>
        </p:nvSpPr>
        <p:spPr>
          <a:xfrm>
            <a:off x="1206000" y="2909350"/>
            <a:ext cx="4155300" cy="1501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84"/>
          <p:cNvSpPr/>
          <p:nvPr/>
        </p:nvSpPr>
        <p:spPr>
          <a:xfrm>
            <a:off x="3777350" y="2920200"/>
            <a:ext cx="4071300" cy="1501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84"/>
          <p:cNvSpPr txBox="1"/>
          <p:nvPr/>
        </p:nvSpPr>
        <p:spPr>
          <a:xfrm>
            <a:off x="707575" y="2571739"/>
            <a:ext cx="1721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Multiples of 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4"/>
          <p:cNvSpPr txBox="1"/>
          <p:nvPr/>
        </p:nvSpPr>
        <p:spPr>
          <a:xfrm>
            <a:off x="6836232" y="2571739"/>
            <a:ext cx="1721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Multiples of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4"/>
          <p:cNvSpPr txBox="1"/>
          <p:nvPr>
            <p:ph idx="4294967295" type="title"/>
          </p:nvPr>
        </p:nvSpPr>
        <p:spPr>
          <a:xfrm>
            <a:off x="1307786" y="153096"/>
            <a:ext cx="6437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</a:rPr>
              <a:t>Divisibility test for multiples of 9</a:t>
            </a:r>
            <a:endParaRPr b="0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5"/>
          <p:cNvSpPr txBox="1"/>
          <p:nvPr>
            <p:ph idx="4294967295" type="subTitle"/>
          </p:nvPr>
        </p:nvSpPr>
        <p:spPr>
          <a:xfrm>
            <a:off x="324000" y="672050"/>
            <a:ext cx="8570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You need to enter a maze through entrance A, B, C, D or E. You are only allowed to step on numbers that are multiples of 9. You can only step vertically or horizontally. You must exit through either F, G, H, I or J.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What entrance do you use?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Draw your path.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What exit do you use?</a:t>
            </a:r>
            <a:endParaRPr sz="1800"/>
          </a:p>
        </p:txBody>
      </p:sp>
      <p:graphicFrame>
        <p:nvGraphicFramePr>
          <p:cNvPr id="1093" name="Google Shape;1093;p85"/>
          <p:cNvGraphicFramePr/>
          <p:nvPr/>
        </p:nvGraphicFramePr>
        <p:xfrm>
          <a:off x="4550213" y="175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{64A7BC45-79A2-41B1-9926-98CD6A859069}</a:tableStyleId>
              </a:tblPr>
              <a:tblGrid>
                <a:gridCol w="608500"/>
                <a:gridCol w="608500"/>
                <a:gridCol w="608500"/>
                <a:gridCol w="608500"/>
                <a:gridCol w="608500"/>
              </a:tblGrid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4" name="Google Shape;1094;p85"/>
          <p:cNvSpPr txBox="1"/>
          <p:nvPr/>
        </p:nvSpPr>
        <p:spPr>
          <a:xfrm>
            <a:off x="3768000" y="17506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5"/>
          <p:cNvSpPr txBox="1"/>
          <p:nvPr/>
        </p:nvSpPr>
        <p:spPr>
          <a:xfrm>
            <a:off x="3768000" y="23602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5"/>
          <p:cNvSpPr txBox="1"/>
          <p:nvPr/>
        </p:nvSpPr>
        <p:spPr>
          <a:xfrm>
            <a:off x="3768000" y="29698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5"/>
          <p:cNvSpPr txBox="1"/>
          <p:nvPr/>
        </p:nvSpPr>
        <p:spPr>
          <a:xfrm>
            <a:off x="3768000" y="35794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8" name="Google Shape;1098;p85"/>
          <p:cNvGrpSpPr/>
          <p:nvPr/>
        </p:nvGrpSpPr>
        <p:grpSpPr>
          <a:xfrm>
            <a:off x="4229100" y="1921325"/>
            <a:ext cx="321000" cy="2699700"/>
            <a:chOff x="4381500" y="1692725"/>
            <a:chExt cx="321000" cy="2699700"/>
          </a:xfrm>
        </p:grpSpPr>
        <p:sp>
          <p:nvSpPr>
            <p:cNvPr id="1099" name="Google Shape;1099;p85"/>
            <p:cNvSpPr/>
            <p:nvPr/>
          </p:nvSpPr>
          <p:spPr>
            <a:xfrm>
              <a:off x="4381500" y="16927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85"/>
            <p:cNvSpPr/>
            <p:nvPr/>
          </p:nvSpPr>
          <p:spPr>
            <a:xfrm>
              <a:off x="4381500" y="23023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85"/>
            <p:cNvSpPr/>
            <p:nvPr/>
          </p:nvSpPr>
          <p:spPr>
            <a:xfrm>
              <a:off x="4381500" y="29119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85"/>
            <p:cNvSpPr/>
            <p:nvPr/>
          </p:nvSpPr>
          <p:spPr>
            <a:xfrm>
              <a:off x="4381500" y="35215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85"/>
            <p:cNvSpPr/>
            <p:nvPr/>
          </p:nvSpPr>
          <p:spPr>
            <a:xfrm>
              <a:off x="4381500" y="41311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4" name="Google Shape;1104;p85"/>
          <p:cNvSpPr txBox="1"/>
          <p:nvPr/>
        </p:nvSpPr>
        <p:spPr>
          <a:xfrm>
            <a:off x="3768000" y="41890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5"/>
          <p:cNvSpPr txBox="1"/>
          <p:nvPr/>
        </p:nvSpPr>
        <p:spPr>
          <a:xfrm>
            <a:off x="7942671" y="17506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5"/>
          <p:cNvSpPr txBox="1"/>
          <p:nvPr/>
        </p:nvSpPr>
        <p:spPr>
          <a:xfrm>
            <a:off x="7942671" y="23602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5"/>
          <p:cNvSpPr txBox="1"/>
          <p:nvPr/>
        </p:nvSpPr>
        <p:spPr>
          <a:xfrm>
            <a:off x="7942671" y="29698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5"/>
          <p:cNvSpPr txBox="1"/>
          <p:nvPr/>
        </p:nvSpPr>
        <p:spPr>
          <a:xfrm>
            <a:off x="7942671" y="35794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5"/>
          <p:cNvSpPr txBox="1"/>
          <p:nvPr/>
        </p:nvSpPr>
        <p:spPr>
          <a:xfrm>
            <a:off x="7942671" y="41890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0" name="Google Shape;1110;p85"/>
          <p:cNvGrpSpPr/>
          <p:nvPr/>
        </p:nvGrpSpPr>
        <p:grpSpPr>
          <a:xfrm>
            <a:off x="7614557" y="1845125"/>
            <a:ext cx="321000" cy="2699700"/>
            <a:chOff x="4381500" y="1692725"/>
            <a:chExt cx="321000" cy="2699700"/>
          </a:xfrm>
        </p:grpSpPr>
        <p:sp>
          <p:nvSpPr>
            <p:cNvPr id="1111" name="Google Shape;1111;p85"/>
            <p:cNvSpPr/>
            <p:nvPr/>
          </p:nvSpPr>
          <p:spPr>
            <a:xfrm>
              <a:off x="4381500" y="16927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85"/>
            <p:cNvSpPr/>
            <p:nvPr/>
          </p:nvSpPr>
          <p:spPr>
            <a:xfrm>
              <a:off x="4381500" y="23023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85"/>
            <p:cNvSpPr/>
            <p:nvPr/>
          </p:nvSpPr>
          <p:spPr>
            <a:xfrm>
              <a:off x="4381500" y="29119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85"/>
            <p:cNvSpPr/>
            <p:nvPr/>
          </p:nvSpPr>
          <p:spPr>
            <a:xfrm>
              <a:off x="4381500" y="35215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85"/>
            <p:cNvSpPr/>
            <p:nvPr/>
          </p:nvSpPr>
          <p:spPr>
            <a:xfrm>
              <a:off x="4381500" y="41311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6" name="Google Shape;1116;p85"/>
          <p:cNvSpPr txBox="1"/>
          <p:nvPr/>
        </p:nvSpPr>
        <p:spPr>
          <a:xfrm>
            <a:off x="1578950" y="2341025"/>
            <a:ext cx="941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E</a:t>
            </a:r>
            <a:endParaRPr sz="26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17" name="Google Shape;1117;p85"/>
          <p:cNvGrpSpPr/>
          <p:nvPr/>
        </p:nvGrpSpPr>
        <p:grpSpPr>
          <a:xfrm>
            <a:off x="4597400" y="1772480"/>
            <a:ext cx="2949474" cy="2887120"/>
            <a:chOff x="4597400" y="1772480"/>
            <a:chExt cx="2949474" cy="2887120"/>
          </a:xfrm>
        </p:grpSpPr>
        <p:sp>
          <p:nvSpPr>
            <p:cNvPr id="1118" name="Google Shape;1118;p85"/>
            <p:cNvSpPr/>
            <p:nvPr/>
          </p:nvSpPr>
          <p:spPr>
            <a:xfrm>
              <a:off x="4597400" y="4142025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85"/>
            <p:cNvSpPr/>
            <p:nvPr/>
          </p:nvSpPr>
          <p:spPr>
            <a:xfrm>
              <a:off x="5192345" y="4142025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85"/>
            <p:cNvSpPr/>
            <p:nvPr/>
          </p:nvSpPr>
          <p:spPr>
            <a:xfrm>
              <a:off x="5192345" y="3543901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85"/>
            <p:cNvSpPr/>
            <p:nvPr/>
          </p:nvSpPr>
          <p:spPr>
            <a:xfrm>
              <a:off x="5192345" y="2968729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85"/>
            <p:cNvSpPr/>
            <p:nvPr/>
          </p:nvSpPr>
          <p:spPr>
            <a:xfrm>
              <a:off x="5813421" y="2968729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85"/>
            <p:cNvSpPr/>
            <p:nvPr/>
          </p:nvSpPr>
          <p:spPr>
            <a:xfrm>
              <a:off x="6423021" y="2968729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85"/>
            <p:cNvSpPr/>
            <p:nvPr/>
          </p:nvSpPr>
          <p:spPr>
            <a:xfrm>
              <a:off x="6411545" y="1772480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85"/>
            <p:cNvSpPr/>
            <p:nvPr/>
          </p:nvSpPr>
          <p:spPr>
            <a:xfrm>
              <a:off x="7021145" y="1772480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85"/>
            <p:cNvSpPr/>
            <p:nvPr/>
          </p:nvSpPr>
          <p:spPr>
            <a:xfrm>
              <a:off x="6411545" y="2359129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85"/>
            <p:cNvSpPr/>
            <p:nvPr/>
          </p:nvSpPr>
          <p:spPr>
            <a:xfrm>
              <a:off x="6419774" y="3543900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85"/>
            <p:cNvSpPr/>
            <p:nvPr/>
          </p:nvSpPr>
          <p:spPr>
            <a:xfrm>
              <a:off x="7029374" y="4153500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85"/>
            <p:cNvSpPr/>
            <p:nvPr/>
          </p:nvSpPr>
          <p:spPr>
            <a:xfrm>
              <a:off x="4597906" y="1788804"/>
              <a:ext cx="517500" cy="5061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0" name="Google Shape;1130;p85"/>
          <p:cNvSpPr txBox="1"/>
          <p:nvPr>
            <p:ph idx="4294967295" type="title"/>
          </p:nvPr>
        </p:nvSpPr>
        <p:spPr>
          <a:xfrm>
            <a:off x="1307786" y="153096"/>
            <a:ext cx="6437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</a:rPr>
              <a:t>Divisibility test for multiples of 9</a:t>
            </a:r>
            <a:endParaRPr b="0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6"/>
          <p:cNvSpPr txBox="1"/>
          <p:nvPr>
            <p:ph idx="4294967295" type="subTitle"/>
          </p:nvPr>
        </p:nvSpPr>
        <p:spPr>
          <a:xfrm>
            <a:off x="324000" y="672050"/>
            <a:ext cx="8570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You need to enter a maze through entrance A, B, C, D or E. You are only allowed to step on numbers that are multiples of 9. You can only step vertically or horizontally. You must exit through either F, G, H, I or J.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What entrance do you use?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Draw your path.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What exit do you use?</a:t>
            </a:r>
            <a:endParaRPr sz="1800"/>
          </a:p>
        </p:txBody>
      </p:sp>
      <p:graphicFrame>
        <p:nvGraphicFramePr>
          <p:cNvPr id="1136" name="Google Shape;1136;p86"/>
          <p:cNvGraphicFramePr/>
          <p:nvPr/>
        </p:nvGraphicFramePr>
        <p:xfrm>
          <a:off x="4550213" y="175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{64A7BC45-79A2-41B1-9926-98CD6A859069}</a:tableStyleId>
              </a:tblPr>
              <a:tblGrid>
                <a:gridCol w="608500"/>
                <a:gridCol w="608500"/>
                <a:gridCol w="608500"/>
                <a:gridCol w="608500"/>
                <a:gridCol w="608500"/>
              </a:tblGrid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7" name="Google Shape;1137;p86"/>
          <p:cNvSpPr txBox="1"/>
          <p:nvPr/>
        </p:nvSpPr>
        <p:spPr>
          <a:xfrm>
            <a:off x="3768000" y="17506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86"/>
          <p:cNvSpPr txBox="1"/>
          <p:nvPr/>
        </p:nvSpPr>
        <p:spPr>
          <a:xfrm>
            <a:off x="3768000" y="23602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6"/>
          <p:cNvSpPr txBox="1"/>
          <p:nvPr/>
        </p:nvSpPr>
        <p:spPr>
          <a:xfrm>
            <a:off x="3768000" y="29698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6"/>
          <p:cNvSpPr txBox="1"/>
          <p:nvPr/>
        </p:nvSpPr>
        <p:spPr>
          <a:xfrm>
            <a:off x="3768000" y="35794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1" name="Google Shape;1141;p86"/>
          <p:cNvGrpSpPr/>
          <p:nvPr/>
        </p:nvGrpSpPr>
        <p:grpSpPr>
          <a:xfrm>
            <a:off x="4229100" y="1921325"/>
            <a:ext cx="321000" cy="2699700"/>
            <a:chOff x="4381500" y="1692725"/>
            <a:chExt cx="321000" cy="2699700"/>
          </a:xfrm>
        </p:grpSpPr>
        <p:sp>
          <p:nvSpPr>
            <p:cNvPr id="1142" name="Google Shape;1142;p86"/>
            <p:cNvSpPr/>
            <p:nvPr/>
          </p:nvSpPr>
          <p:spPr>
            <a:xfrm>
              <a:off x="4381500" y="16927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86"/>
            <p:cNvSpPr/>
            <p:nvPr/>
          </p:nvSpPr>
          <p:spPr>
            <a:xfrm>
              <a:off x="4381500" y="23023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86"/>
            <p:cNvSpPr/>
            <p:nvPr/>
          </p:nvSpPr>
          <p:spPr>
            <a:xfrm>
              <a:off x="4381500" y="29119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86"/>
            <p:cNvSpPr/>
            <p:nvPr/>
          </p:nvSpPr>
          <p:spPr>
            <a:xfrm>
              <a:off x="4381500" y="35215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86"/>
            <p:cNvSpPr/>
            <p:nvPr/>
          </p:nvSpPr>
          <p:spPr>
            <a:xfrm>
              <a:off x="4381500" y="41311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7" name="Google Shape;1147;p86"/>
          <p:cNvSpPr txBox="1"/>
          <p:nvPr/>
        </p:nvSpPr>
        <p:spPr>
          <a:xfrm>
            <a:off x="3768000" y="41890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6"/>
          <p:cNvSpPr txBox="1"/>
          <p:nvPr/>
        </p:nvSpPr>
        <p:spPr>
          <a:xfrm>
            <a:off x="7942671" y="17506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6"/>
          <p:cNvSpPr txBox="1"/>
          <p:nvPr/>
        </p:nvSpPr>
        <p:spPr>
          <a:xfrm>
            <a:off x="7942671" y="23602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6"/>
          <p:cNvSpPr txBox="1"/>
          <p:nvPr/>
        </p:nvSpPr>
        <p:spPr>
          <a:xfrm>
            <a:off x="7942671" y="29698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6"/>
          <p:cNvSpPr txBox="1"/>
          <p:nvPr/>
        </p:nvSpPr>
        <p:spPr>
          <a:xfrm>
            <a:off x="7942671" y="35794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6"/>
          <p:cNvSpPr txBox="1"/>
          <p:nvPr/>
        </p:nvSpPr>
        <p:spPr>
          <a:xfrm>
            <a:off x="7942671" y="4189025"/>
            <a:ext cx="461100" cy="506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3" name="Google Shape;1153;p86"/>
          <p:cNvGrpSpPr/>
          <p:nvPr/>
        </p:nvGrpSpPr>
        <p:grpSpPr>
          <a:xfrm>
            <a:off x="7614557" y="1845125"/>
            <a:ext cx="321000" cy="2699700"/>
            <a:chOff x="4381500" y="1692725"/>
            <a:chExt cx="321000" cy="2699700"/>
          </a:xfrm>
        </p:grpSpPr>
        <p:sp>
          <p:nvSpPr>
            <p:cNvPr id="1154" name="Google Shape;1154;p86"/>
            <p:cNvSpPr/>
            <p:nvPr/>
          </p:nvSpPr>
          <p:spPr>
            <a:xfrm>
              <a:off x="4381500" y="16927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86"/>
            <p:cNvSpPr/>
            <p:nvPr/>
          </p:nvSpPr>
          <p:spPr>
            <a:xfrm>
              <a:off x="4381500" y="23023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86"/>
            <p:cNvSpPr/>
            <p:nvPr/>
          </p:nvSpPr>
          <p:spPr>
            <a:xfrm>
              <a:off x="4381500" y="29119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86"/>
            <p:cNvSpPr/>
            <p:nvPr/>
          </p:nvSpPr>
          <p:spPr>
            <a:xfrm>
              <a:off x="4381500" y="35215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86"/>
            <p:cNvSpPr/>
            <p:nvPr/>
          </p:nvSpPr>
          <p:spPr>
            <a:xfrm>
              <a:off x="4381500" y="4131125"/>
              <a:ext cx="321000" cy="261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9" name="Google Shape;1159;p86"/>
          <p:cNvSpPr txBox="1"/>
          <p:nvPr/>
        </p:nvSpPr>
        <p:spPr>
          <a:xfrm>
            <a:off x="1578950" y="2341025"/>
            <a:ext cx="941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E</a:t>
            </a:r>
            <a:endParaRPr sz="2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0" name="Google Shape;1160;p86"/>
          <p:cNvSpPr txBox="1"/>
          <p:nvPr/>
        </p:nvSpPr>
        <p:spPr>
          <a:xfrm>
            <a:off x="1502750" y="3941925"/>
            <a:ext cx="9411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Kalam"/>
                <a:ea typeface="Kalam"/>
                <a:cs typeface="Kalam"/>
                <a:sym typeface="Kalam"/>
              </a:rPr>
              <a:t>F</a:t>
            </a:r>
            <a:endParaRPr sz="2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1" name="Google Shape;1161;p86"/>
          <p:cNvSpPr/>
          <p:nvPr/>
        </p:nvSpPr>
        <p:spPr>
          <a:xfrm>
            <a:off x="4597400" y="4142025"/>
            <a:ext cx="517500" cy="5061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86"/>
          <p:cNvSpPr/>
          <p:nvPr/>
        </p:nvSpPr>
        <p:spPr>
          <a:xfrm>
            <a:off x="5192345" y="4142025"/>
            <a:ext cx="517500" cy="5061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86"/>
          <p:cNvSpPr/>
          <p:nvPr/>
        </p:nvSpPr>
        <p:spPr>
          <a:xfrm>
            <a:off x="5192345" y="3543901"/>
            <a:ext cx="517500" cy="5061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86"/>
          <p:cNvSpPr/>
          <p:nvPr/>
        </p:nvSpPr>
        <p:spPr>
          <a:xfrm>
            <a:off x="5192345" y="2968729"/>
            <a:ext cx="517500" cy="5061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86"/>
          <p:cNvSpPr/>
          <p:nvPr/>
        </p:nvSpPr>
        <p:spPr>
          <a:xfrm>
            <a:off x="5813421" y="2968729"/>
            <a:ext cx="517500" cy="5061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86"/>
          <p:cNvSpPr/>
          <p:nvPr/>
        </p:nvSpPr>
        <p:spPr>
          <a:xfrm>
            <a:off x="6423021" y="2968729"/>
            <a:ext cx="517500" cy="5061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86"/>
          <p:cNvSpPr/>
          <p:nvPr/>
        </p:nvSpPr>
        <p:spPr>
          <a:xfrm>
            <a:off x="6411545" y="1772480"/>
            <a:ext cx="517500" cy="5061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86"/>
          <p:cNvSpPr/>
          <p:nvPr/>
        </p:nvSpPr>
        <p:spPr>
          <a:xfrm>
            <a:off x="7021145" y="1772480"/>
            <a:ext cx="517500" cy="5061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86"/>
          <p:cNvSpPr/>
          <p:nvPr/>
        </p:nvSpPr>
        <p:spPr>
          <a:xfrm>
            <a:off x="6411545" y="2359129"/>
            <a:ext cx="517500" cy="5061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86"/>
          <p:cNvSpPr txBox="1"/>
          <p:nvPr>
            <p:ph idx="4294967295" type="title"/>
          </p:nvPr>
        </p:nvSpPr>
        <p:spPr>
          <a:xfrm>
            <a:off x="1307786" y="153096"/>
            <a:ext cx="6437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</a:rPr>
              <a:t>Divisibility test for multiples of 9</a:t>
            </a:r>
            <a:endParaRPr b="0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7"/>
          <p:cNvSpPr txBox="1"/>
          <p:nvPr/>
        </p:nvSpPr>
        <p:spPr>
          <a:xfrm>
            <a:off x="286800" y="912600"/>
            <a:ext cx="8570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 Using the numbers below, fill in the Venn diagram.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7"/>
          <p:cNvSpPr txBox="1"/>
          <p:nvPr/>
        </p:nvSpPr>
        <p:spPr>
          <a:xfrm>
            <a:off x="789200" y="1328050"/>
            <a:ext cx="81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849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7"/>
          <p:cNvSpPr txBox="1"/>
          <p:nvPr/>
        </p:nvSpPr>
        <p:spPr>
          <a:xfrm>
            <a:off x="1856000" y="1328050"/>
            <a:ext cx="117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32 377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7"/>
          <p:cNvSpPr txBox="1"/>
          <p:nvPr/>
        </p:nvSpPr>
        <p:spPr>
          <a:xfrm>
            <a:off x="3075200" y="1328050"/>
            <a:ext cx="117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8676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7"/>
          <p:cNvSpPr txBox="1"/>
          <p:nvPr/>
        </p:nvSpPr>
        <p:spPr>
          <a:xfrm>
            <a:off x="4141973" y="1333475"/>
            <a:ext cx="139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7 498 342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7"/>
          <p:cNvSpPr txBox="1"/>
          <p:nvPr/>
        </p:nvSpPr>
        <p:spPr>
          <a:xfrm>
            <a:off x="5818374" y="1338907"/>
            <a:ext cx="590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7"/>
          <p:cNvSpPr txBox="1"/>
          <p:nvPr/>
        </p:nvSpPr>
        <p:spPr>
          <a:xfrm>
            <a:off x="6656577" y="1338907"/>
            <a:ext cx="1578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222 222 222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7"/>
          <p:cNvSpPr txBox="1"/>
          <p:nvPr/>
        </p:nvSpPr>
        <p:spPr>
          <a:xfrm>
            <a:off x="1763413" y="1910975"/>
            <a:ext cx="81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9090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7"/>
          <p:cNvSpPr txBox="1"/>
          <p:nvPr/>
        </p:nvSpPr>
        <p:spPr>
          <a:xfrm>
            <a:off x="3369597" y="1910975"/>
            <a:ext cx="85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984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7"/>
          <p:cNvSpPr txBox="1"/>
          <p:nvPr/>
        </p:nvSpPr>
        <p:spPr>
          <a:xfrm>
            <a:off x="4588822" y="1910975"/>
            <a:ext cx="85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117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7"/>
          <p:cNvSpPr txBox="1"/>
          <p:nvPr/>
        </p:nvSpPr>
        <p:spPr>
          <a:xfrm>
            <a:off x="5687778" y="1916400"/>
            <a:ext cx="105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7931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7"/>
          <p:cNvSpPr/>
          <p:nvPr/>
        </p:nvSpPr>
        <p:spPr>
          <a:xfrm>
            <a:off x="527950" y="2509150"/>
            <a:ext cx="7952100" cy="2073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87"/>
          <p:cNvSpPr/>
          <p:nvPr/>
        </p:nvSpPr>
        <p:spPr>
          <a:xfrm>
            <a:off x="1437675" y="2909350"/>
            <a:ext cx="4155300" cy="1501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87"/>
          <p:cNvSpPr/>
          <p:nvPr/>
        </p:nvSpPr>
        <p:spPr>
          <a:xfrm>
            <a:off x="3507050" y="2920200"/>
            <a:ext cx="4071300" cy="1501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87"/>
          <p:cNvSpPr txBox="1"/>
          <p:nvPr/>
        </p:nvSpPr>
        <p:spPr>
          <a:xfrm>
            <a:off x="707575" y="2609364"/>
            <a:ext cx="1721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Multiples of 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7"/>
          <p:cNvSpPr txBox="1"/>
          <p:nvPr/>
        </p:nvSpPr>
        <p:spPr>
          <a:xfrm>
            <a:off x="6836232" y="2609364"/>
            <a:ext cx="1721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Multiples of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7"/>
          <p:cNvSpPr txBox="1"/>
          <p:nvPr/>
        </p:nvSpPr>
        <p:spPr>
          <a:xfrm>
            <a:off x="707575" y="3855575"/>
            <a:ext cx="81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849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2" name="Google Shape;1192;p87"/>
          <p:cNvSpPr txBox="1"/>
          <p:nvPr/>
        </p:nvSpPr>
        <p:spPr>
          <a:xfrm>
            <a:off x="7309750" y="4076400"/>
            <a:ext cx="117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32 377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3" name="Google Shape;1193;p87"/>
          <p:cNvSpPr txBox="1"/>
          <p:nvPr/>
        </p:nvSpPr>
        <p:spPr>
          <a:xfrm>
            <a:off x="4200000" y="3097525"/>
            <a:ext cx="1170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8676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4" name="Google Shape;1194;p87"/>
          <p:cNvSpPr txBox="1"/>
          <p:nvPr/>
        </p:nvSpPr>
        <p:spPr>
          <a:xfrm>
            <a:off x="3804548" y="2504250"/>
            <a:ext cx="139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7 498 342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5" name="Google Shape;1195;p87"/>
          <p:cNvSpPr txBox="1"/>
          <p:nvPr/>
        </p:nvSpPr>
        <p:spPr>
          <a:xfrm>
            <a:off x="5479049" y="2493907"/>
            <a:ext cx="590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6" name="Google Shape;1196;p87"/>
          <p:cNvSpPr txBox="1"/>
          <p:nvPr/>
        </p:nvSpPr>
        <p:spPr>
          <a:xfrm>
            <a:off x="3694374" y="3416350"/>
            <a:ext cx="2648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222 222 222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7" name="Google Shape;1197;p87"/>
          <p:cNvSpPr txBox="1"/>
          <p:nvPr/>
        </p:nvSpPr>
        <p:spPr>
          <a:xfrm>
            <a:off x="4165038" y="3690800"/>
            <a:ext cx="81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9090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8" name="Google Shape;1198;p87"/>
          <p:cNvSpPr txBox="1"/>
          <p:nvPr/>
        </p:nvSpPr>
        <p:spPr>
          <a:xfrm>
            <a:off x="2219660" y="3427200"/>
            <a:ext cx="85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984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9" name="Google Shape;1199;p87"/>
          <p:cNvSpPr txBox="1"/>
          <p:nvPr/>
        </p:nvSpPr>
        <p:spPr>
          <a:xfrm>
            <a:off x="5827047" y="3302350"/>
            <a:ext cx="85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0" name="Google Shape;1200;p87"/>
          <p:cNvSpPr txBox="1"/>
          <p:nvPr/>
        </p:nvSpPr>
        <p:spPr>
          <a:xfrm>
            <a:off x="2841590" y="2453825"/>
            <a:ext cx="105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7931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1" name="Google Shape;1201;p87"/>
          <p:cNvSpPr txBox="1"/>
          <p:nvPr>
            <p:ph idx="4294967295" type="title"/>
          </p:nvPr>
        </p:nvSpPr>
        <p:spPr>
          <a:xfrm>
            <a:off x="1307786" y="153096"/>
            <a:ext cx="6437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FFFF"/>
                </a:solidFill>
              </a:rPr>
              <a:t>Divisibility test for multiples of 9</a:t>
            </a:r>
            <a:endParaRPr b="0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88"/>
          <p:cNvSpPr txBox="1"/>
          <p:nvPr/>
        </p:nvSpPr>
        <p:spPr>
          <a:xfrm>
            <a:off x="1684800" y="1575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 tests for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8"/>
          <p:cNvSpPr txBox="1"/>
          <p:nvPr/>
        </p:nvSpPr>
        <p:spPr>
          <a:xfrm>
            <a:off x="400425" y="973050"/>
            <a:ext cx="808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tests are quick processes to identify if a number is divisible by another.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8"/>
          <p:cNvSpPr txBox="1"/>
          <p:nvPr/>
        </p:nvSpPr>
        <p:spPr>
          <a:xfrm>
            <a:off x="400200" y="2322350"/>
            <a:ext cx="829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number is divisible by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it is divisible by 2 and divisible by 3.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8"/>
          <p:cNvSpPr txBox="1"/>
          <p:nvPr/>
        </p:nvSpPr>
        <p:spPr>
          <a:xfrm>
            <a:off x="400200" y="3312950"/>
            <a:ext cx="7895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number is divisible by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if we sum the digits and the sum is a multiple of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8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15" name="Google Shape;1215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