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54adeb3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54adeb3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854adeb3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e854adeb3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854adeb3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854adeb3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8a15e54d7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a15e54d7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8a15e54d7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8a15e54d7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8a15e54d7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a15e54d7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87fdf4b6a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87fdf4b6a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87fdf4b6a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87fdf4b6a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87fdf4b6a8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87fdf4b6a8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87fdf4b6a8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87fdf4b6a8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88755633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88755633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e854adeb3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e854adeb3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885cf037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885cf037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1e854adeb3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1e854adeb3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e854adeb3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e854adeb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e854adeb3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e854adeb3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87018830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87018830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854adeb3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e854adeb3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e854adeb3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1e854adeb3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e854adeb3e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1e854adeb3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1e854adeb3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1e854adeb3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1e854adeb3e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1e854adeb3e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1e854adeb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1e854adeb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1e854adeb3e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1e854adeb3e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87018830d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87018830d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e854adeb3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e854adeb3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87018830d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87018830d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e854adeb3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e854adeb3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2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2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2.png"/><Relationship Id="rId4" Type="http://schemas.openxmlformats.org/officeDocument/2006/relationships/image" Target="../media/image30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prime factorisation of two or more positive integers to efficiently find their lowest common multiple.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2238725"/>
            <a:ext cx="728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LCM </a:t>
            </a:r>
            <a:r>
              <a:rPr lang="en-GB"/>
              <a:t>is an abbreviation for </a:t>
            </a:r>
            <a:r>
              <a:rPr b="1" lang="en-GB"/>
              <a:t>lowest common multiple.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b="1" lang="en-GB"/>
              <a:t>lowest common multiple </a:t>
            </a:r>
            <a:r>
              <a:rPr lang="en-GB"/>
              <a:t>is the lowest number that is a multiple of two or more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Low</a:t>
            </a:r>
            <a:r>
              <a:rPr lang="en-GB"/>
              <a:t>est common multiple using prime factorisation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Low</a:t>
            </a:r>
            <a:r>
              <a:rPr lang="en-GB"/>
              <a:t>est common multiple of more than two numbers</a:t>
            </a:r>
            <a:endParaRPr/>
          </a:p>
        </p:txBody>
      </p:sp>
      <p:sp>
        <p:nvSpPr>
          <p:cNvPr id="775" name="Google Shape;77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46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732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do we find the first five multiples of a number?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1314600" y="1785625"/>
            <a:ext cx="3571500" cy="22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</a:t>
            </a:r>
            <a:r>
              <a:rPr baseline="30000" lang="en-GB" sz="2000"/>
              <a:t>st</a:t>
            </a:r>
            <a:r>
              <a:rPr lang="en-GB" sz="2000"/>
              <a:t> multiple = 1 ×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nd</a:t>
            </a:r>
            <a:r>
              <a:rPr lang="en-GB" sz="2000"/>
              <a:t> </a:t>
            </a:r>
            <a:r>
              <a:rPr lang="en-GB" sz="2000"/>
              <a:t>multiple = 2 ×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baseline="30000" lang="en-GB" sz="2000"/>
              <a:t>rd</a:t>
            </a:r>
            <a:r>
              <a:rPr lang="en-GB" sz="2000"/>
              <a:t> multiple = 3 ×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</a:t>
            </a:r>
            <a:r>
              <a:rPr baseline="30000" lang="en-GB" sz="2000"/>
              <a:t>th</a:t>
            </a:r>
            <a:r>
              <a:rPr lang="en-GB" sz="2000"/>
              <a:t> multiple = 4 × number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5</a:t>
            </a:r>
            <a:r>
              <a:rPr baseline="30000" lang="en-GB" sz="2000"/>
              <a:t>th</a:t>
            </a:r>
            <a:r>
              <a:rPr lang="en-GB" sz="2000"/>
              <a:t> multiple = 5 × number</a:t>
            </a:r>
            <a:endParaRPr sz="2000"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5942650" y="1841725"/>
            <a:ext cx="1708500" cy="21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 × 3 =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× 3 = 6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 × 3 = 9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× 3 = 12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5 × 3 = 15</a:t>
            </a:r>
            <a:endParaRPr sz="2000"/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5637850" y="1299300"/>
            <a:ext cx="257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Multiples of 3</a:t>
            </a:r>
            <a:endParaRPr sz="2000"/>
          </a:p>
        </p:txBody>
      </p:sp>
      <p:sp>
        <p:nvSpPr>
          <p:cNvPr id="786" name="Google Shape;786;p69"/>
          <p:cNvSpPr/>
          <p:nvPr/>
        </p:nvSpPr>
        <p:spPr>
          <a:xfrm>
            <a:off x="1329825" y="1766400"/>
            <a:ext cx="33966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/>
          <p:nvPr/>
        </p:nvSpPr>
        <p:spPr>
          <a:xfrm>
            <a:off x="1329827" y="2251050"/>
            <a:ext cx="34941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/>
          <p:nvPr/>
        </p:nvSpPr>
        <p:spPr>
          <a:xfrm>
            <a:off x="1316575" y="2717425"/>
            <a:ext cx="34941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/>
          <p:nvPr/>
        </p:nvSpPr>
        <p:spPr>
          <a:xfrm>
            <a:off x="1294125" y="3240000"/>
            <a:ext cx="34941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/>
          <p:nvPr/>
        </p:nvSpPr>
        <p:spPr>
          <a:xfrm>
            <a:off x="1329825" y="3684925"/>
            <a:ext cx="30033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/>
          <p:nvPr/>
        </p:nvSpPr>
        <p:spPr>
          <a:xfrm>
            <a:off x="5652100" y="2000275"/>
            <a:ext cx="22896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5649150" y="1300529"/>
            <a:ext cx="1876800" cy="46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/>
          <p:nvPr/>
        </p:nvSpPr>
        <p:spPr>
          <a:xfrm>
            <a:off x="5774400" y="2308250"/>
            <a:ext cx="16263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/>
          <p:nvPr/>
        </p:nvSpPr>
        <p:spPr>
          <a:xfrm>
            <a:off x="5774400" y="2774750"/>
            <a:ext cx="16263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5774400" y="3241250"/>
            <a:ext cx="16263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5774400" y="3707750"/>
            <a:ext cx="1626300" cy="32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5774400" y="1785925"/>
            <a:ext cx="1876800" cy="46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1629900" y="1299800"/>
            <a:ext cx="2227200" cy="22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2</a:t>
            </a:r>
            <a:r>
              <a:rPr baseline="30000" lang="en-GB" sz="2000"/>
              <a:t>3</a:t>
            </a:r>
            <a:r>
              <a:rPr lang="en-GB" sz="2000"/>
              <a:t> ×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r>
              <a:rPr baseline="30000" lang="en-GB" sz="2000"/>
              <a:t>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2</a:t>
            </a:r>
            <a:r>
              <a:rPr baseline="30000" lang="en-GB" sz="2000"/>
              <a:t>2</a:t>
            </a:r>
            <a:r>
              <a:rPr lang="en-GB" sz="2000"/>
              <a:t> × 2</a:t>
            </a:r>
            <a:r>
              <a:rPr baseline="30000" lang="en-GB" sz="2000"/>
              <a:t>2</a:t>
            </a:r>
            <a:r>
              <a:rPr lang="en-GB" sz="2000"/>
              <a:t> × 3 =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2</a:t>
            </a:r>
            <a:r>
              <a:rPr baseline="30000" lang="en-GB" sz="2000"/>
              <a:t>2</a:t>
            </a:r>
            <a:r>
              <a:rPr lang="en-GB" sz="2000"/>
              <a:t> × 3 × 5</a:t>
            </a:r>
            <a:endParaRPr sz="2000"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329400" y="1299800"/>
            <a:ext cx="1958100" cy="22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 × 2</a:t>
            </a:r>
            <a:r>
              <a:rPr baseline="30000" lang="en-GB" sz="2000"/>
              <a:t>2</a:t>
            </a:r>
            <a:r>
              <a:rPr lang="en-GB" sz="2000"/>
              <a:t> × 3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× 2</a:t>
            </a:r>
            <a:r>
              <a:rPr baseline="30000" lang="en-GB" sz="2000"/>
              <a:t>2</a:t>
            </a:r>
            <a:r>
              <a:rPr lang="en-GB" sz="2000"/>
              <a:t> × 3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 × 2</a:t>
            </a:r>
            <a:r>
              <a:rPr baseline="30000" lang="en-GB" sz="2000"/>
              <a:t>2</a:t>
            </a:r>
            <a:r>
              <a:rPr lang="en-GB" sz="2000"/>
              <a:t> × 3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× 2</a:t>
            </a:r>
            <a:r>
              <a:rPr baseline="30000" lang="en-GB" sz="2000"/>
              <a:t>2</a:t>
            </a:r>
            <a:r>
              <a:rPr lang="en-GB" sz="2000"/>
              <a:t> × 3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5 × 2</a:t>
            </a:r>
            <a:r>
              <a:rPr baseline="30000" lang="en-GB" sz="2000"/>
              <a:t>2</a:t>
            </a:r>
            <a:r>
              <a:rPr lang="en-GB" sz="2000"/>
              <a:t> × 3 = </a:t>
            </a:r>
            <a:endParaRPr sz="2000"/>
          </a:p>
        </p:txBody>
      </p:sp>
      <p:sp>
        <p:nvSpPr>
          <p:cNvPr id="804" name="Google Shape;80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24000" y="759300"/>
            <a:ext cx="2687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Multiples of 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endParaRPr sz="2000"/>
          </a:p>
        </p:txBody>
      </p:sp>
      <p:sp>
        <p:nvSpPr>
          <p:cNvPr id="806" name="Google Shape;806;p70"/>
          <p:cNvSpPr txBox="1"/>
          <p:nvPr/>
        </p:nvSpPr>
        <p:spPr>
          <a:xfrm>
            <a:off x="3115500" y="2734225"/>
            <a:ext cx="10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/>
          <p:nvPr/>
        </p:nvSpPr>
        <p:spPr>
          <a:xfrm>
            <a:off x="310400" y="1308050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/>
          <p:nvPr/>
        </p:nvSpPr>
        <p:spPr>
          <a:xfrm>
            <a:off x="310400" y="1771575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/>
          <p:nvPr/>
        </p:nvSpPr>
        <p:spPr>
          <a:xfrm>
            <a:off x="310400" y="2734225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/>
          <p:nvPr/>
        </p:nvSpPr>
        <p:spPr>
          <a:xfrm>
            <a:off x="310400" y="2252900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/>
          <p:nvPr/>
        </p:nvSpPr>
        <p:spPr>
          <a:xfrm>
            <a:off x="310400" y="3197750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/>
          <p:nvPr/>
        </p:nvSpPr>
        <p:spPr>
          <a:xfrm>
            <a:off x="1677450" y="1308050"/>
            <a:ext cx="6783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/>
          <p:nvPr/>
        </p:nvSpPr>
        <p:spPr>
          <a:xfrm>
            <a:off x="1677450" y="1771575"/>
            <a:ext cx="6783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0"/>
          <p:cNvSpPr/>
          <p:nvPr/>
        </p:nvSpPr>
        <p:spPr>
          <a:xfrm>
            <a:off x="1677450" y="2252900"/>
            <a:ext cx="7779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3115450" y="2734225"/>
            <a:ext cx="9438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/>
          <p:nvPr/>
        </p:nvSpPr>
        <p:spPr>
          <a:xfrm>
            <a:off x="1677450" y="3197750"/>
            <a:ext cx="10857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/>
          <p:nvPr/>
        </p:nvSpPr>
        <p:spPr>
          <a:xfrm>
            <a:off x="323625" y="1784675"/>
            <a:ext cx="6486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/>
          <p:nvPr/>
        </p:nvSpPr>
        <p:spPr>
          <a:xfrm>
            <a:off x="1677450" y="1787075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317005" y="2259500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1190955" y="2259500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1511400" y="2725325"/>
            <a:ext cx="16041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2161287" y="2255050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317005" y="2731925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1668227" y="2731925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3178062" y="2740825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1668247" y="2731925"/>
            <a:ext cx="7779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1626807" y="2725325"/>
            <a:ext cx="10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1"/>
          <p:cNvSpPr txBox="1"/>
          <p:nvPr>
            <p:ph idx="1" type="body"/>
          </p:nvPr>
        </p:nvSpPr>
        <p:spPr>
          <a:xfrm>
            <a:off x="6073800" y="1299800"/>
            <a:ext cx="2218200" cy="22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 × 3 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 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× 3</a:t>
            </a:r>
            <a:r>
              <a:rPr baseline="30000" lang="en-GB" sz="2000"/>
              <a:t>2 </a:t>
            </a:r>
            <a:r>
              <a:rPr lang="en-GB" sz="2000"/>
              <a:t>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2 × 3</a:t>
            </a:r>
            <a:r>
              <a:rPr baseline="30000" lang="en-GB" sz="2000"/>
              <a:t> </a:t>
            </a:r>
            <a:r>
              <a:rPr lang="en-GB" sz="2000"/>
              <a:t>× 5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 × 3 × 5</a:t>
            </a:r>
            <a:r>
              <a:rPr baseline="30000" lang="en-GB" sz="2000"/>
              <a:t>2</a:t>
            </a:r>
            <a:endParaRPr sz="2000"/>
          </a:p>
        </p:txBody>
      </p:sp>
      <p:sp>
        <p:nvSpPr>
          <p:cNvPr id="833" name="Google Shape;833;p71"/>
          <p:cNvSpPr/>
          <p:nvPr/>
        </p:nvSpPr>
        <p:spPr>
          <a:xfrm>
            <a:off x="6066450" y="2252900"/>
            <a:ext cx="10371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1"/>
          <p:cNvSpPr txBox="1"/>
          <p:nvPr>
            <p:ph idx="1" type="body"/>
          </p:nvPr>
        </p:nvSpPr>
        <p:spPr>
          <a:xfrm>
            <a:off x="7734300" y="2727775"/>
            <a:ext cx="108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3</a:t>
            </a:r>
            <a:r>
              <a:rPr lang="en-GB" sz="2000"/>
              <a:t> × 3 × 5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35" name="Google Shape;835;p71"/>
          <p:cNvSpPr/>
          <p:nvPr/>
        </p:nvSpPr>
        <p:spPr>
          <a:xfrm>
            <a:off x="7709250" y="2734225"/>
            <a:ext cx="10857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4418200" y="1299800"/>
            <a:ext cx="2218200" cy="24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 × 2 × 3 × 5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× 2 × 3 × 5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 × 2 × 3 × 5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× 2 × 3 × 5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5 × 2 × 3 × 5 =</a:t>
            </a:r>
            <a:endParaRPr sz="2000"/>
          </a:p>
        </p:txBody>
      </p:sp>
      <p:sp>
        <p:nvSpPr>
          <p:cNvPr id="837" name="Google Shape;83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4418200" y="759300"/>
            <a:ext cx="304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Multiples of 2 × 3 × 5</a:t>
            </a:r>
            <a:endParaRPr sz="2000"/>
          </a:p>
        </p:txBody>
      </p:sp>
      <p:sp>
        <p:nvSpPr>
          <p:cNvPr id="839" name="Google Shape;839;p71"/>
          <p:cNvSpPr/>
          <p:nvPr/>
        </p:nvSpPr>
        <p:spPr>
          <a:xfrm>
            <a:off x="4362225" y="1279638"/>
            <a:ext cx="16485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/>
          <p:nvPr/>
        </p:nvSpPr>
        <p:spPr>
          <a:xfrm>
            <a:off x="4349000" y="1771575"/>
            <a:ext cx="16848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/>
          <p:nvPr/>
        </p:nvSpPr>
        <p:spPr>
          <a:xfrm>
            <a:off x="4349000" y="2734225"/>
            <a:ext cx="16380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/>
          <p:nvPr/>
        </p:nvSpPr>
        <p:spPr>
          <a:xfrm>
            <a:off x="4349000" y="2252900"/>
            <a:ext cx="16488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/>
          <p:nvPr/>
        </p:nvSpPr>
        <p:spPr>
          <a:xfrm>
            <a:off x="4349000" y="3197750"/>
            <a:ext cx="16380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>
            <a:off x="6066450" y="1308050"/>
            <a:ext cx="10062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/>
          <p:nvPr/>
        </p:nvSpPr>
        <p:spPr>
          <a:xfrm>
            <a:off x="6030175" y="1748775"/>
            <a:ext cx="12636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6066450" y="3197750"/>
            <a:ext cx="11163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4362225" y="1773836"/>
            <a:ext cx="6486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/>
          <p:nvPr/>
        </p:nvSpPr>
        <p:spPr>
          <a:xfrm>
            <a:off x="6040709" y="1773836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/>
          <p:nvPr/>
        </p:nvSpPr>
        <p:spPr>
          <a:xfrm>
            <a:off x="4388704" y="2259500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5203077" y="2259500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/>
          <p:nvPr/>
        </p:nvSpPr>
        <p:spPr>
          <a:xfrm>
            <a:off x="6043900" y="2725325"/>
            <a:ext cx="16905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/>
          <p:nvPr/>
        </p:nvSpPr>
        <p:spPr>
          <a:xfrm>
            <a:off x="6428487" y="2255050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>
            <a:off x="4411946" y="2731925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/>
          <p:nvPr/>
        </p:nvSpPr>
        <p:spPr>
          <a:xfrm>
            <a:off x="5978549" y="2731925"/>
            <a:ext cx="7779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/>
          <p:nvPr/>
        </p:nvSpPr>
        <p:spPr>
          <a:xfrm>
            <a:off x="6044725" y="2731925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>
            <a:off x="7703725" y="2740825"/>
            <a:ext cx="281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>
            <p:ph idx="1" type="body"/>
          </p:nvPr>
        </p:nvSpPr>
        <p:spPr>
          <a:xfrm>
            <a:off x="6062400" y="2728800"/>
            <a:ext cx="108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3</a:t>
            </a:r>
            <a:r>
              <a:rPr lang="en-GB" sz="2000"/>
              <a:t> × 3 × 5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58" name="Google Shape;858;p71"/>
          <p:cNvSpPr/>
          <p:nvPr/>
        </p:nvSpPr>
        <p:spPr>
          <a:xfrm>
            <a:off x="4395316" y="3208930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/>
          <p:nvPr/>
        </p:nvSpPr>
        <p:spPr>
          <a:xfrm>
            <a:off x="5613471" y="3215555"/>
            <a:ext cx="1854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/>
          <p:nvPr/>
        </p:nvSpPr>
        <p:spPr>
          <a:xfrm>
            <a:off x="6831628" y="3197750"/>
            <a:ext cx="327000" cy="29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1629900" y="1299800"/>
            <a:ext cx="1485600" cy="22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3</a:t>
            </a:r>
            <a:r>
              <a:rPr lang="en-GB" sz="2000"/>
              <a:t> ×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r>
              <a:rPr baseline="30000" lang="en-GB" sz="2000"/>
              <a:t>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4</a:t>
            </a:r>
            <a:r>
              <a:rPr lang="en-GB" sz="2000"/>
              <a:t> × 3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 × 5</a:t>
            </a:r>
            <a:endParaRPr sz="2000"/>
          </a:p>
        </p:txBody>
      </p:sp>
      <p:sp>
        <p:nvSpPr>
          <p:cNvPr id="866" name="Google Shape;86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324000" y="759300"/>
            <a:ext cx="25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Multiples of 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endParaRPr sz="2000"/>
          </a:p>
        </p:txBody>
      </p:sp>
      <p:sp>
        <p:nvSpPr>
          <p:cNvPr id="868" name="Google Shape;868;p72"/>
          <p:cNvSpPr/>
          <p:nvPr/>
        </p:nvSpPr>
        <p:spPr>
          <a:xfrm>
            <a:off x="310400" y="3197750"/>
            <a:ext cx="1319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6073800" y="1299800"/>
            <a:ext cx="1625700" cy="22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 × 3 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 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× 3</a:t>
            </a:r>
            <a:r>
              <a:rPr baseline="30000" lang="en-GB" sz="2000"/>
              <a:t>2 </a:t>
            </a:r>
            <a:r>
              <a:rPr lang="en-GB" sz="2000"/>
              <a:t>×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baseline="30000" lang="en-GB" sz="2000"/>
              <a:t>3</a:t>
            </a:r>
            <a:r>
              <a:rPr lang="en-GB" sz="2000"/>
              <a:t> × 3</a:t>
            </a:r>
            <a:r>
              <a:rPr baseline="30000" lang="en-GB" sz="2000"/>
              <a:t> </a:t>
            </a:r>
            <a:r>
              <a:rPr lang="en-GB" sz="2000"/>
              <a:t>× 5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 × 3 × 5</a:t>
            </a:r>
            <a:r>
              <a:rPr baseline="30000" lang="en-GB" sz="2000"/>
              <a:t>2</a:t>
            </a:r>
            <a:endParaRPr sz="2000"/>
          </a:p>
        </p:txBody>
      </p:sp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4418200" y="759300"/>
            <a:ext cx="307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Multiples of 2 × 3 × 5</a:t>
            </a:r>
            <a:endParaRPr sz="2000"/>
          </a:p>
        </p:txBody>
      </p:sp>
      <p:sp>
        <p:nvSpPr>
          <p:cNvPr id="871" name="Google Shape;871;p72"/>
          <p:cNvSpPr/>
          <p:nvPr/>
        </p:nvSpPr>
        <p:spPr>
          <a:xfrm>
            <a:off x="1594600" y="3194675"/>
            <a:ext cx="1105500" cy="31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/>
          <p:nvPr/>
        </p:nvSpPr>
        <p:spPr>
          <a:xfrm>
            <a:off x="6029950" y="1764975"/>
            <a:ext cx="1105500" cy="31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324000" y="4200100"/>
            <a:ext cx="8059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multiples of 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 will always be common multiples of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 &amp; 2 × 3 × 5  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329400" y="3796625"/>
            <a:ext cx="74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 is a common multiple of 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and 2 × 3 × 5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3985200" y="4512600"/>
            <a:ext cx="178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3"/>
          <p:cNvSpPr txBox="1"/>
          <p:nvPr>
            <p:ph idx="1" type="body"/>
          </p:nvPr>
        </p:nvSpPr>
        <p:spPr>
          <a:xfrm>
            <a:off x="324000" y="759300"/>
            <a:ext cx="291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Multiples of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881" name="Google Shape;88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882" name="Google Shape;882;p73"/>
          <p:cNvSpPr txBox="1"/>
          <p:nvPr>
            <p:ph idx="1" type="body"/>
          </p:nvPr>
        </p:nvSpPr>
        <p:spPr>
          <a:xfrm>
            <a:off x="1019700" y="1299300"/>
            <a:ext cx="133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examples</a:t>
            </a:r>
            <a:r>
              <a:rPr lang="en-GB"/>
              <a:t> </a:t>
            </a:r>
            <a:endParaRPr/>
          </a:p>
        </p:txBody>
      </p:sp>
      <p:sp>
        <p:nvSpPr>
          <p:cNvPr id="883" name="Google Shape;883;p73"/>
          <p:cNvSpPr txBox="1"/>
          <p:nvPr>
            <p:ph idx="1" type="body"/>
          </p:nvPr>
        </p:nvSpPr>
        <p:spPr>
          <a:xfrm>
            <a:off x="4572000" y="1299300"/>
            <a:ext cx="207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non-</a:t>
            </a:r>
            <a:r>
              <a:rPr lang="en-GB"/>
              <a:t>examples </a:t>
            </a:r>
            <a:endParaRPr/>
          </a:p>
        </p:txBody>
      </p:sp>
      <p:sp>
        <p:nvSpPr>
          <p:cNvPr id="884" name="Google Shape;884;p73"/>
          <p:cNvSpPr txBox="1"/>
          <p:nvPr>
            <p:ph idx="1" type="body"/>
          </p:nvPr>
        </p:nvSpPr>
        <p:spPr>
          <a:xfrm>
            <a:off x="324000" y="1851375"/>
            <a:ext cx="3448500" cy="8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</a:t>
            </a:r>
            <a:r>
              <a:rPr lang="en-GB"/>
              <a:t>×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It’s the 2</a:t>
            </a:r>
            <a:r>
              <a:rPr baseline="30000" lang="en-GB"/>
              <a:t>nd</a:t>
            </a:r>
            <a:r>
              <a:rPr lang="en-GB"/>
              <a:t> multiple</a:t>
            </a:r>
            <a:endParaRPr/>
          </a:p>
        </p:txBody>
      </p:sp>
      <p:sp>
        <p:nvSpPr>
          <p:cNvPr id="885" name="Google Shape;885;p73"/>
          <p:cNvSpPr txBox="1"/>
          <p:nvPr>
            <p:ph idx="1" type="body"/>
          </p:nvPr>
        </p:nvSpPr>
        <p:spPr>
          <a:xfrm>
            <a:off x="324000" y="2908100"/>
            <a:ext cx="3764100" cy="8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It’s the 5</a:t>
            </a:r>
            <a:r>
              <a:rPr baseline="30000" lang="en-GB"/>
              <a:t>th</a:t>
            </a:r>
            <a:r>
              <a:rPr lang="en-GB"/>
              <a:t> multiple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86" name="Google Shape;886;p73"/>
          <p:cNvSpPr txBox="1"/>
          <p:nvPr>
            <p:ph idx="1" type="body"/>
          </p:nvPr>
        </p:nvSpPr>
        <p:spPr>
          <a:xfrm>
            <a:off x="324000" y="3964800"/>
            <a:ext cx="4500000" cy="8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3</a:t>
            </a:r>
            <a:r>
              <a:rPr baseline="30000" lang="en-GB"/>
              <a:t> </a:t>
            </a:r>
            <a:r>
              <a:rPr lang="en-GB"/>
              <a:t> × 5</a:t>
            </a:r>
            <a:r>
              <a:rPr baseline="30000" lang="en-GB"/>
              <a:t>2 </a:t>
            </a:r>
            <a:r>
              <a:rPr lang="en-GB"/>
              <a:t>=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3 × 5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It’s the 75</a:t>
            </a:r>
            <a:r>
              <a:rPr baseline="30000" lang="en-GB"/>
              <a:t>th</a:t>
            </a:r>
            <a:r>
              <a:rPr lang="en-GB"/>
              <a:t> multiple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87" name="Google Shape;887;p73"/>
          <p:cNvSpPr txBox="1"/>
          <p:nvPr>
            <p:ph idx="1" type="body"/>
          </p:nvPr>
        </p:nvSpPr>
        <p:spPr>
          <a:xfrm>
            <a:off x="4572000" y="1974675"/>
            <a:ext cx="41982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× 3</a:t>
            </a:r>
            <a:r>
              <a:rPr baseline="30000" lang="en-GB"/>
              <a:t>2</a:t>
            </a:r>
            <a:r>
              <a:rPr lang="en-GB"/>
              <a:t>,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   </a:t>
            </a:r>
            <a:r>
              <a:rPr lang="en-GB"/>
              <a:t>is not a factor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3"/>
          <p:cNvSpPr txBox="1"/>
          <p:nvPr>
            <p:ph idx="1" type="body"/>
          </p:nvPr>
        </p:nvSpPr>
        <p:spPr>
          <a:xfrm>
            <a:off x="4572000" y="2607325"/>
            <a:ext cx="41982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3, </a:t>
            </a: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   </a:t>
            </a:r>
            <a:r>
              <a:rPr lang="en-GB"/>
              <a:t>is not a factor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4572000" y="3240000"/>
            <a:ext cx="43374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</a:t>
            </a:r>
            <a:r>
              <a:rPr lang="en-GB"/>
              <a:t>× 3 × </a:t>
            </a:r>
            <a:r>
              <a:rPr lang="en-GB"/>
              <a:t>5</a:t>
            </a:r>
            <a:r>
              <a:rPr lang="en-GB"/>
              <a:t>, </a:t>
            </a: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   </a:t>
            </a:r>
            <a:r>
              <a:rPr lang="en-GB"/>
              <a:t>is not a factor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73"/>
          <p:cNvSpPr/>
          <p:nvPr/>
        </p:nvSpPr>
        <p:spPr>
          <a:xfrm>
            <a:off x="250825" y="1773780"/>
            <a:ext cx="1354500" cy="44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3"/>
          <p:cNvSpPr/>
          <p:nvPr/>
        </p:nvSpPr>
        <p:spPr>
          <a:xfrm>
            <a:off x="324000" y="1833700"/>
            <a:ext cx="8073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3"/>
          <p:cNvSpPr/>
          <p:nvPr/>
        </p:nvSpPr>
        <p:spPr>
          <a:xfrm>
            <a:off x="324000" y="2899250"/>
            <a:ext cx="8073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3"/>
          <p:cNvSpPr/>
          <p:nvPr/>
        </p:nvSpPr>
        <p:spPr>
          <a:xfrm>
            <a:off x="324000" y="2317175"/>
            <a:ext cx="3088200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3"/>
          <p:cNvSpPr/>
          <p:nvPr/>
        </p:nvSpPr>
        <p:spPr>
          <a:xfrm>
            <a:off x="1932720" y="3972821"/>
            <a:ext cx="8469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3"/>
          <p:cNvSpPr/>
          <p:nvPr/>
        </p:nvSpPr>
        <p:spPr>
          <a:xfrm>
            <a:off x="290700" y="2834080"/>
            <a:ext cx="1354500" cy="44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/>
          <p:nvPr/>
        </p:nvSpPr>
        <p:spPr>
          <a:xfrm>
            <a:off x="324000" y="3406775"/>
            <a:ext cx="2563200" cy="37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3"/>
          <p:cNvSpPr/>
          <p:nvPr/>
        </p:nvSpPr>
        <p:spPr>
          <a:xfrm>
            <a:off x="324000" y="3964775"/>
            <a:ext cx="1482000" cy="3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/>
          <p:nvPr/>
        </p:nvSpPr>
        <p:spPr>
          <a:xfrm>
            <a:off x="1702625" y="3902383"/>
            <a:ext cx="2070000" cy="44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/>
          <p:nvPr/>
        </p:nvSpPr>
        <p:spPr>
          <a:xfrm>
            <a:off x="327150" y="4477575"/>
            <a:ext cx="3088200" cy="41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/>
          <p:nvPr/>
        </p:nvSpPr>
        <p:spPr>
          <a:xfrm>
            <a:off x="2806025" y="3982400"/>
            <a:ext cx="966600" cy="30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4"/>
          <p:cNvSpPr txBox="1"/>
          <p:nvPr>
            <p:ph idx="1" type="body"/>
          </p:nvPr>
        </p:nvSpPr>
        <p:spPr>
          <a:xfrm>
            <a:off x="3681900" y="1187625"/>
            <a:ext cx="228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 = 2 × 3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18</a:t>
            </a:r>
            <a:r>
              <a:rPr lang="en-GB"/>
              <a:t> = 2 × 3 × 3</a:t>
            </a:r>
            <a:endParaRPr/>
          </a:p>
        </p:txBody>
      </p:sp>
      <p:sp>
        <p:nvSpPr>
          <p:cNvPr id="906" name="Google Shape;90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07" name="Google Shape;907;p74"/>
          <p:cNvSpPr txBox="1"/>
          <p:nvPr>
            <p:ph idx="1" type="body"/>
          </p:nvPr>
        </p:nvSpPr>
        <p:spPr>
          <a:xfrm>
            <a:off x="324000" y="2571750"/>
            <a:ext cx="8496000" cy="7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two products?</a:t>
            </a:r>
            <a:endParaRPr/>
          </a:p>
        </p:txBody>
      </p:sp>
      <p:sp>
        <p:nvSpPr>
          <p:cNvPr id="908" name="Google Shape;908;p74"/>
          <p:cNvSpPr txBox="1"/>
          <p:nvPr>
            <p:ph idx="1" type="body"/>
          </p:nvPr>
        </p:nvSpPr>
        <p:spPr>
          <a:xfrm>
            <a:off x="324000" y="3468600"/>
            <a:ext cx="52887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Both of them have factors of 2 and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9" name="Google Shape;909;p74"/>
          <p:cNvSpPr txBox="1"/>
          <p:nvPr>
            <p:ph idx="1" type="body"/>
          </p:nvPr>
        </p:nvSpPr>
        <p:spPr>
          <a:xfrm>
            <a:off x="795521" y="3960300"/>
            <a:ext cx="52410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Both of them are the product of 3 integers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0" name="Google Shape;910;p74"/>
          <p:cNvSpPr txBox="1"/>
          <p:nvPr>
            <p:ph idx="1" type="body"/>
          </p:nvPr>
        </p:nvSpPr>
        <p:spPr>
          <a:xfrm>
            <a:off x="755179" y="4423800"/>
            <a:ext cx="53343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3rd integer is different in each of them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5"/>
          <p:cNvSpPr txBox="1"/>
          <p:nvPr>
            <p:ph idx="1" type="body"/>
          </p:nvPr>
        </p:nvSpPr>
        <p:spPr>
          <a:xfrm>
            <a:off x="3681900" y="782700"/>
            <a:ext cx="24309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 = 2 × 3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18 = 2 × 3 × 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114 = 6 × 19</a:t>
            </a:r>
            <a:endParaRPr/>
          </a:p>
        </p:txBody>
      </p:sp>
      <p:sp>
        <p:nvSpPr>
          <p:cNvPr id="916" name="Google Shape;91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17" name="Google Shape;917;p75"/>
          <p:cNvSpPr txBox="1"/>
          <p:nvPr>
            <p:ph idx="1" type="body"/>
          </p:nvPr>
        </p:nvSpPr>
        <p:spPr>
          <a:xfrm>
            <a:off x="324000" y="2266950"/>
            <a:ext cx="8496000" cy="7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three products?</a:t>
            </a:r>
            <a:endParaRPr/>
          </a:p>
        </p:txBody>
      </p:sp>
      <p:sp>
        <p:nvSpPr>
          <p:cNvPr id="918" name="Google Shape;918;p75"/>
          <p:cNvSpPr txBox="1"/>
          <p:nvPr>
            <p:ph idx="1" type="body"/>
          </p:nvPr>
        </p:nvSpPr>
        <p:spPr>
          <a:xfrm>
            <a:off x="825000" y="3162550"/>
            <a:ext cx="27483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They are all products.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5"/>
          <p:cNvSpPr txBox="1"/>
          <p:nvPr>
            <p:ph idx="1" type="body"/>
          </p:nvPr>
        </p:nvSpPr>
        <p:spPr>
          <a:xfrm>
            <a:off x="324000" y="3162539"/>
            <a:ext cx="4389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5"/>
          <p:cNvSpPr txBox="1"/>
          <p:nvPr>
            <p:ph idx="1" type="body"/>
          </p:nvPr>
        </p:nvSpPr>
        <p:spPr>
          <a:xfrm>
            <a:off x="806700" y="4257050"/>
            <a:ext cx="7487100" cy="5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top two only use prime numbers but the bottom one uses a composite number and a prime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1" name="Google Shape;921;p75"/>
          <p:cNvSpPr txBox="1"/>
          <p:nvPr>
            <p:ph idx="1" type="body"/>
          </p:nvPr>
        </p:nvSpPr>
        <p:spPr>
          <a:xfrm>
            <a:off x="806700" y="3586200"/>
            <a:ext cx="8034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top two are products of three integers and the bottom one is a product of only two integers.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27" name="Google Shape;927;p76"/>
          <p:cNvSpPr txBox="1"/>
          <p:nvPr>
            <p:ph idx="1" type="body"/>
          </p:nvPr>
        </p:nvSpPr>
        <p:spPr>
          <a:xfrm>
            <a:off x="324000" y="2571750"/>
            <a:ext cx="8496000" cy="7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can we rewrite the third product to be more similar to the original two?</a:t>
            </a:r>
            <a:endParaRPr/>
          </a:p>
        </p:txBody>
      </p:sp>
      <p:sp>
        <p:nvSpPr>
          <p:cNvPr id="928" name="Google Shape;928;p76"/>
          <p:cNvSpPr txBox="1"/>
          <p:nvPr>
            <p:ph idx="1" type="body"/>
          </p:nvPr>
        </p:nvSpPr>
        <p:spPr>
          <a:xfrm>
            <a:off x="3681900" y="782700"/>
            <a:ext cx="24003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 = 2 × 3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18 = 2 × 3 × 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114 = 6 × 19</a:t>
            </a:r>
            <a:endParaRPr/>
          </a:p>
        </p:txBody>
      </p:sp>
      <p:sp>
        <p:nvSpPr>
          <p:cNvPr id="929" name="Google Shape;929;p76"/>
          <p:cNvSpPr txBox="1"/>
          <p:nvPr>
            <p:ph idx="1" type="body"/>
          </p:nvPr>
        </p:nvSpPr>
        <p:spPr>
          <a:xfrm>
            <a:off x="3959600" y="3413075"/>
            <a:ext cx="21225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114 = 6 × 19</a:t>
            </a:r>
            <a:endParaRPr/>
          </a:p>
        </p:txBody>
      </p:sp>
      <p:sp>
        <p:nvSpPr>
          <p:cNvPr id="930" name="Google Shape;930;p76"/>
          <p:cNvSpPr/>
          <p:nvPr/>
        </p:nvSpPr>
        <p:spPr>
          <a:xfrm>
            <a:off x="4692625" y="3413075"/>
            <a:ext cx="2316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 txBox="1"/>
          <p:nvPr>
            <p:ph idx="1" type="body"/>
          </p:nvPr>
        </p:nvSpPr>
        <p:spPr>
          <a:xfrm>
            <a:off x="3962250" y="3806475"/>
            <a:ext cx="240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114 = 2 × 3 × 19</a:t>
            </a:r>
            <a:endParaRPr/>
          </a:p>
        </p:txBody>
      </p:sp>
      <p:sp>
        <p:nvSpPr>
          <p:cNvPr id="932" name="Google Shape;932;p76"/>
          <p:cNvSpPr/>
          <p:nvPr/>
        </p:nvSpPr>
        <p:spPr>
          <a:xfrm>
            <a:off x="4725725" y="3843395"/>
            <a:ext cx="628800" cy="2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6"/>
          <p:cNvSpPr/>
          <p:nvPr/>
        </p:nvSpPr>
        <p:spPr>
          <a:xfrm>
            <a:off x="4708200" y="3826275"/>
            <a:ext cx="6462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7"/>
          <p:cNvSpPr txBox="1"/>
          <p:nvPr/>
        </p:nvSpPr>
        <p:spPr>
          <a:xfrm>
            <a:off x="859975" y="2277475"/>
            <a:ext cx="197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 = 6 ×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= 2 × 3 × 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=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7"/>
          <p:cNvSpPr/>
          <p:nvPr/>
        </p:nvSpPr>
        <p:spPr>
          <a:xfrm>
            <a:off x="859975" y="2295600"/>
            <a:ext cx="13569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7"/>
          <p:cNvSpPr/>
          <p:nvPr/>
        </p:nvSpPr>
        <p:spPr>
          <a:xfrm>
            <a:off x="857250" y="2605475"/>
            <a:ext cx="18138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7"/>
          <p:cNvSpPr/>
          <p:nvPr/>
        </p:nvSpPr>
        <p:spPr>
          <a:xfrm>
            <a:off x="1426500" y="2600046"/>
            <a:ext cx="675300" cy="317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are all multiples of 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them as products of 2 × 3</a:t>
            </a:r>
            <a:endParaRPr/>
          </a:p>
        </p:txBody>
      </p:sp>
      <p:sp>
        <p:nvSpPr>
          <p:cNvPr id="943" name="Google Shape;94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44" name="Google Shape;944;p77"/>
          <p:cNvSpPr/>
          <p:nvPr/>
        </p:nvSpPr>
        <p:spPr>
          <a:xfrm>
            <a:off x="1210825" y="1779000"/>
            <a:ext cx="595800" cy="35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/>
          <p:nvPr/>
        </p:nvSpPr>
        <p:spPr>
          <a:xfrm>
            <a:off x="3633650" y="1779000"/>
            <a:ext cx="595800" cy="35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7"/>
          <p:cNvSpPr/>
          <p:nvPr/>
        </p:nvSpPr>
        <p:spPr>
          <a:xfrm>
            <a:off x="6685300" y="1779000"/>
            <a:ext cx="820500" cy="35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7"/>
          <p:cNvSpPr txBox="1"/>
          <p:nvPr/>
        </p:nvSpPr>
        <p:spPr>
          <a:xfrm>
            <a:off x="3057875" y="2277475"/>
            <a:ext cx="2125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78 = 6 × 13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 = 2 × 3 × 13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7"/>
          <p:cNvSpPr txBox="1"/>
          <p:nvPr/>
        </p:nvSpPr>
        <p:spPr>
          <a:xfrm>
            <a:off x="6288425" y="2319000"/>
            <a:ext cx="23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102 = 6 × 17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102 = 2 × 3 × 17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7"/>
          <p:cNvSpPr/>
          <p:nvPr/>
        </p:nvSpPr>
        <p:spPr>
          <a:xfrm>
            <a:off x="1442367" y="2314254"/>
            <a:ext cx="258300" cy="24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7"/>
          <p:cNvSpPr/>
          <p:nvPr/>
        </p:nvSpPr>
        <p:spPr>
          <a:xfrm>
            <a:off x="1459675" y="2647052"/>
            <a:ext cx="595800" cy="2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7"/>
          <p:cNvSpPr/>
          <p:nvPr/>
        </p:nvSpPr>
        <p:spPr>
          <a:xfrm>
            <a:off x="857250" y="2957450"/>
            <a:ext cx="1516500" cy="31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7"/>
          <p:cNvSpPr/>
          <p:nvPr/>
        </p:nvSpPr>
        <p:spPr>
          <a:xfrm>
            <a:off x="3018125" y="2642425"/>
            <a:ext cx="18933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/>
          <p:nvPr/>
        </p:nvSpPr>
        <p:spPr>
          <a:xfrm>
            <a:off x="3625350" y="2643325"/>
            <a:ext cx="6435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7"/>
          <p:cNvSpPr/>
          <p:nvPr/>
        </p:nvSpPr>
        <p:spPr>
          <a:xfrm>
            <a:off x="3641008" y="2609228"/>
            <a:ext cx="675300" cy="317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7"/>
          <p:cNvSpPr/>
          <p:nvPr/>
        </p:nvSpPr>
        <p:spPr>
          <a:xfrm>
            <a:off x="3637016" y="2316816"/>
            <a:ext cx="258300" cy="24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7"/>
          <p:cNvSpPr/>
          <p:nvPr/>
        </p:nvSpPr>
        <p:spPr>
          <a:xfrm>
            <a:off x="6288425" y="3065850"/>
            <a:ext cx="19722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7"/>
          <p:cNvSpPr/>
          <p:nvPr/>
        </p:nvSpPr>
        <p:spPr>
          <a:xfrm>
            <a:off x="7023350" y="2684850"/>
            <a:ext cx="675300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7"/>
          <p:cNvSpPr/>
          <p:nvPr/>
        </p:nvSpPr>
        <p:spPr>
          <a:xfrm>
            <a:off x="7018306" y="2653578"/>
            <a:ext cx="675300" cy="317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7"/>
          <p:cNvSpPr/>
          <p:nvPr/>
        </p:nvSpPr>
        <p:spPr>
          <a:xfrm>
            <a:off x="7014315" y="2361166"/>
            <a:ext cx="258300" cy="24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65" name="Google Shape;965;p78"/>
          <p:cNvSpPr txBox="1"/>
          <p:nvPr>
            <p:ph idx="1" type="subTitle"/>
          </p:nvPr>
        </p:nvSpPr>
        <p:spPr>
          <a:xfrm>
            <a:off x="845700" y="311038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 </a:t>
            </a:r>
            <a:r>
              <a:rPr lang="en-GB"/>
              <a:t>=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2, so it’s the second multiple of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endParaRPr/>
          </a:p>
        </p:txBody>
      </p:sp>
      <p:sp>
        <p:nvSpPr>
          <p:cNvPr id="966" name="Google Shape;966;p7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is a multiple of </a:t>
            </a: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967" name="Google Shape;967;p78"/>
          <p:cNvSpPr txBox="1"/>
          <p:nvPr>
            <p:ph idx="3" type="subTitle"/>
          </p:nvPr>
        </p:nvSpPr>
        <p:spPr>
          <a:xfrm>
            <a:off x="845700" y="395462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exponent of 2 is odd so it is not a multiple.</a:t>
            </a:r>
            <a:endParaRPr/>
          </a:p>
        </p:txBody>
      </p:sp>
      <p:pic>
        <p:nvPicPr>
          <p:cNvPr id="968" name="Google Shape;96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273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883" y="3154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9"/>
          <p:cNvSpPr txBox="1"/>
          <p:nvPr>
            <p:ph idx="1" type="body"/>
          </p:nvPr>
        </p:nvSpPr>
        <p:spPr>
          <a:xfrm>
            <a:off x="324000" y="759300"/>
            <a:ext cx="8237700" cy="39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	Write the first eight multiples of the following as products: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 × 5</a:t>
            </a:r>
            <a:br>
              <a:rPr lang="en-GB" sz="2000"/>
            </a:br>
            <a:br>
              <a:rPr lang="en-GB" sz="2000"/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 × 3</a:t>
            </a:r>
            <a:r>
              <a:rPr baseline="30000" lang="en-GB" sz="2000"/>
              <a:t>2 </a:t>
            </a:r>
            <a:r>
              <a:rPr lang="en-GB" sz="2000"/>
              <a:t>× 5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What is the first common multiple of 15 and 12? </a:t>
            </a:r>
            <a:endParaRPr sz="2000"/>
          </a:p>
        </p:txBody>
      </p:sp>
      <p:sp>
        <p:nvSpPr>
          <p:cNvPr id="975" name="Google Shape;97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0"/>
          <p:cNvSpPr txBox="1"/>
          <p:nvPr>
            <p:ph idx="1" type="body"/>
          </p:nvPr>
        </p:nvSpPr>
        <p:spPr>
          <a:xfrm>
            <a:off x="324000" y="759300"/>
            <a:ext cx="8237700" cy="39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	Write the first eight multiples of the following as products: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 × 5</a:t>
            </a:r>
            <a:br>
              <a:rPr lang="en-GB" sz="2000"/>
            </a:br>
            <a:br>
              <a:rPr lang="en-GB" sz="2000"/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</a:t>
            </a:r>
            <a:r>
              <a:rPr baseline="30000" lang="en-GB" sz="2000"/>
              <a:t>2</a:t>
            </a:r>
            <a:r>
              <a:rPr lang="en-GB" sz="2000"/>
              <a:t> × 3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 × 3</a:t>
            </a:r>
            <a:r>
              <a:rPr baseline="30000" lang="en-GB" sz="2000"/>
              <a:t>2 </a:t>
            </a:r>
            <a:r>
              <a:rPr lang="en-GB" sz="2000"/>
              <a:t>× 5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What is the first common multiple of 15 and 12? </a:t>
            </a:r>
            <a:endParaRPr sz="2000"/>
          </a:p>
        </p:txBody>
      </p:sp>
      <p:sp>
        <p:nvSpPr>
          <p:cNvPr id="981" name="Google Shape;981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82" name="Google Shape;982;p80"/>
          <p:cNvSpPr txBox="1"/>
          <p:nvPr/>
        </p:nvSpPr>
        <p:spPr>
          <a:xfrm>
            <a:off x="2170000" y="1176450"/>
            <a:ext cx="6592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5, 2 ×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5,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          2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5, 3 × 5 × 7,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2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       2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5, 2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 × 7,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80"/>
          <p:cNvSpPr txBox="1"/>
          <p:nvPr/>
        </p:nvSpPr>
        <p:spPr>
          <a:xfrm>
            <a:off x="2170000" y="4422425"/>
            <a:ext cx="4973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d) the common multiple is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60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0"/>
          <p:cNvSpPr/>
          <p:nvPr/>
        </p:nvSpPr>
        <p:spPr>
          <a:xfrm>
            <a:off x="5487950" y="1144950"/>
            <a:ext cx="12435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0"/>
          <p:cNvSpPr/>
          <p:nvPr/>
        </p:nvSpPr>
        <p:spPr>
          <a:xfrm>
            <a:off x="6126800" y="2034875"/>
            <a:ext cx="1243500" cy="3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840600" y="1425725"/>
            <a:ext cx="844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911325" y="2571750"/>
            <a:ext cx="844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993" name="Google Shape;993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of more than two numbers</a:t>
            </a:r>
            <a:endParaRPr/>
          </a:p>
        </p:txBody>
      </p:sp>
      <p:sp>
        <p:nvSpPr>
          <p:cNvPr id="995" name="Google Shape;995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pic>
        <p:nvPicPr>
          <p:cNvPr id="996" name="Google Shape;9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46" y="276876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2"/>
          <p:cNvSpPr txBox="1"/>
          <p:nvPr>
            <p:ph idx="1" type="body"/>
          </p:nvPr>
        </p:nvSpPr>
        <p:spPr>
          <a:xfrm>
            <a:off x="2720508" y="2812891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5</a:t>
            </a:r>
            <a:endParaRPr/>
          </a:p>
        </p:txBody>
      </p:sp>
      <p:sp>
        <p:nvSpPr>
          <p:cNvPr id="1002" name="Google Shape;100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</p:txBody>
      </p:sp>
      <p:sp>
        <p:nvSpPr>
          <p:cNvPr id="1003" name="Google Shape;1003;p82"/>
          <p:cNvSpPr txBox="1"/>
          <p:nvPr>
            <p:ph idx="1" type="body"/>
          </p:nvPr>
        </p:nvSpPr>
        <p:spPr>
          <a:xfrm>
            <a:off x="324000" y="759300"/>
            <a:ext cx="6718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What would the </a:t>
            </a:r>
            <a:r>
              <a:rPr b="1" lang="en-GB" sz="1900"/>
              <a:t>lowest common multiple</a:t>
            </a:r>
            <a:r>
              <a:rPr lang="en-GB" sz="1900"/>
              <a:t> of 24 and 40?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</p:txBody>
      </p:sp>
      <p:sp>
        <p:nvSpPr>
          <p:cNvPr id="1004" name="Google Shape;1004;p82"/>
          <p:cNvSpPr txBox="1"/>
          <p:nvPr>
            <p:ph idx="1" type="body"/>
          </p:nvPr>
        </p:nvSpPr>
        <p:spPr>
          <a:xfrm>
            <a:off x="324000" y="1631400"/>
            <a:ext cx="3362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factor × factor = product</a:t>
            </a:r>
            <a:endParaRPr sz="1900"/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2276654" y="1631400"/>
            <a:ext cx="1091700" cy="35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</a:t>
            </a:r>
            <a:endParaRPr sz="1900"/>
          </a:p>
        </p:txBody>
      </p:sp>
      <p:sp>
        <p:nvSpPr>
          <p:cNvPr id="1006" name="Google Shape;1006;p82"/>
          <p:cNvSpPr txBox="1"/>
          <p:nvPr>
            <p:ph idx="1" type="body"/>
          </p:nvPr>
        </p:nvSpPr>
        <p:spPr>
          <a:xfrm>
            <a:off x="1956900" y="2822425"/>
            <a:ext cx="88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endParaRPr/>
          </a:p>
        </p:txBody>
      </p:sp>
      <p:sp>
        <p:nvSpPr>
          <p:cNvPr id="1007" name="Google Shape;1007;p82"/>
          <p:cNvSpPr txBox="1"/>
          <p:nvPr>
            <p:ph idx="1" type="body"/>
          </p:nvPr>
        </p:nvSpPr>
        <p:spPr>
          <a:xfrm>
            <a:off x="1956900" y="3282925"/>
            <a:ext cx="978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5</a:t>
            </a:r>
            <a:endParaRPr/>
          </a:p>
        </p:txBody>
      </p:sp>
      <p:sp>
        <p:nvSpPr>
          <p:cNvPr id="1008" name="Google Shape;1008;p82"/>
          <p:cNvSpPr txBox="1"/>
          <p:nvPr>
            <p:ph idx="1" type="body"/>
          </p:nvPr>
        </p:nvSpPr>
        <p:spPr>
          <a:xfrm>
            <a:off x="324000" y="2017350"/>
            <a:ext cx="84960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For an integer to be a common multiple of </a:t>
            </a:r>
            <a:r>
              <a:rPr lang="en-GB" sz="1900">
                <a:solidFill>
                  <a:schemeClr val="accent5"/>
                </a:solidFill>
              </a:rPr>
              <a:t>both</a:t>
            </a:r>
            <a:r>
              <a:rPr lang="en-GB" sz="1900"/>
              <a:t> numbers it must be a product of two common factors.</a:t>
            </a:r>
            <a:endParaRPr sz="1900"/>
          </a:p>
        </p:txBody>
      </p:sp>
      <p:sp>
        <p:nvSpPr>
          <p:cNvPr id="1009" name="Google Shape;1009;p82"/>
          <p:cNvSpPr/>
          <p:nvPr/>
        </p:nvSpPr>
        <p:spPr>
          <a:xfrm>
            <a:off x="1892350" y="2813700"/>
            <a:ext cx="350700" cy="8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0" name="Google Shape;1010;p82"/>
          <p:cNvGrpSpPr/>
          <p:nvPr/>
        </p:nvGrpSpPr>
        <p:grpSpPr>
          <a:xfrm>
            <a:off x="2435152" y="2991732"/>
            <a:ext cx="701700" cy="132300"/>
            <a:chOff x="4652902" y="3949300"/>
            <a:chExt cx="701700" cy="132300"/>
          </a:xfrm>
        </p:grpSpPr>
        <p:cxnSp>
          <p:nvCxnSpPr>
            <p:cNvPr id="1011" name="Google Shape;1011;p82"/>
            <p:cNvCxnSpPr/>
            <p:nvPr/>
          </p:nvCxnSpPr>
          <p:spPr>
            <a:xfrm>
              <a:off x="4672761" y="3949300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82"/>
            <p:cNvCxnSpPr/>
            <p:nvPr/>
          </p:nvCxnSpPr>
          <p:spPr>
            <a:xfrm>
              <a:off x="5334896" y="3949300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82"/>
            <p:cNvCxnSpPr/>
            <p:nvPr/>
          </p:nvCxnSpPr>
          <p:spPr>
            <a:xfrm>
              <a:off x="4652902" y="4081600"/>
              <a:ext cx="701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14" name="Google Shape;1014;p82"/>
          <p:cNvGrpSpPr/>
          <p:nvPr/>
        </p:nvGrpSpPr>
        <p:grpSpPr>
          <a:xfrm>
            <a:off x="2435152" y="3448632"/>
            <a:ext cx="701700" cy="132300"/>
            <a:chOff x="4652902" y="3949300"/>
            <a:chExt cx="701700" cy="132300"/>
          </a:xfrm>
        </p:grpSpPr>
        <p:cxnSp>
          <p:nvCxnSpPr>
            <p:cNvPr id="1015" name="Google Shape;1015;p82"/>
            <p:cNvCxnSpPr/>
            <p:nvPr/>
          </p:nvCxnSpPr>
          <p:spPr>
            <a:xfrm>
              <a:off x="4672761" y="3949300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82"/>
            <p:cNvCxnSpPr/>
            <p:nvPr/>
          </p:nvCxnSpPr>
          <p:spPr>
            <a:xfrm>
              <a:off x="5334896" y="3949300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82"/>
            <p:cNvCxnSpPr/>
            <p:nvPr/>
          </p:nvCxnSpPr>
          <p:spPr>
            <a:xfrm>
              <a:off x="4652902" y="4081600"/>
              <a:ext cx="701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8" name="Google Shape;1018;p82"/>
          <p:cNvSpPr txBox="1"/>
          <p:nvPr>
            <p:ph idx="1" type="body"/>
          </p:nvPr>
        </p:nvSpPr>
        <p:spPr>
          <a:xfrm>
            <a:off x="2709504" y="3277198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3</a:t>
            </a:r>
            <a:endParaRPr/>
          </a:p>
        </p:txBody>
      </p:sp>
      <p:sp>
        <p:nvSpPr>
          <p:cNvPr id="1019" name="Google Shape;1019;p82"/>
          <p:cNvSpPr txBox="1"/>
          <p:nvPr>
            <p:ph idx="1" type="body"/>
          </p:nvPr>
        </p:nvSpPr>
        <p:spPr>
          <a:xfrm>
            <a:off x="324000" y="3804675"/>
            <a:ext cx="43023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So, the </a:t>
            </a:r>
            <a:r>
              <a:rPr b="1" lang="en-GB" sz="1900"/>
              <a:t>LCM</a:t>
            </a:r>
            <a:r>
              <a:rPr lang="en-GB" sz="1900"/>
              <a:t> of 24 and 40 is 2</a:t>
            </a:r>
            <a:r>
              <a:rPr baseline="30000" lang="en-GB" sz="1900"/>
              <a:t>3</a:t>
            </a:r>
            <a:r>
              <a:rPr lang="en-GB" sz="1900"/>
              <a:t> × 3 × 5</a:t>
            </a:r>
            <a:endParaRPr sz="1900"/>
          </a:p>
        </p:txBody>
      </p:sp>
      <p:sp>
        <p:nvSpPr>
          <p:cNvPr id="1020" name="Google Shape;1020;p82"/>
          <p:cNvSpPr txBox="1"/>
          <p:nvPr>
            <p:ph idx="1" type="body"/>
          </p:nvPr>
        </p:nvSpPr>
        <p:spPr>
          <a:xfrm>
            <a:off x="4678800" y="3804679"/>
            <a:ext cx="827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= 120</a:t>
            </a:r>
            <a:endParaRPr sz="1900"/>
          </a:p>
        </p:txBody>
      </p:sp>
      <p:sp>
        <p:nvSpPr>
          <p:cNvPr id="1021" name="Google Shape;1021;p82"/>
          <p:cNvSpPr/>
          <p:nvPr/>
        </p:nvSpPr>
        <p:spPr>
          <a:xfrm>
            <a:off x="5360800" y="28348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82"/>
          <p:cNvSpPr/>
          <p:nvPr/>
        </p:nvSpPr>
        <p:spPr>
          <a:xfrm>
            <a:off x="6472097" y="28348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2"/>
          <p:cNvSpPr txBox="1"/>
          <p:nvPr/>
        </p:nvSpPr>
        <p:spPr>
          <a:xfrm>
            <a:off x="4685800" y="2598275"/>
            <a:ext cx="2069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2"/>
          <p:cNvSpPr txBox="1"/>
          <p:nvPr/>
        </p:nvSpPr>
        <p:spPr>
          <a:xfrm>
            <a:off x="6914926" y="2575350"/>
            <a:ext cx="2069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2"/>
          <p:cNvSpPr txBox="1"/>
          <p:nvPr/>
        </p:nvSpPr>
        <p:spPr>
          <a:xfrm>
            <a:off x="6901950" y="3203700"/>
            <a:ext cx="35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2"/>
          <p:cNvSpPr txBox="1"/>
          <p:nvPr/>
        </p:nvSpPr>
        <p:spPr>
          <a:xfrm>
            <a:off x="5906100" y="3216600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2"/>
          <p:cNvSpPr txBox="1"/>
          <p:nvPr/>
        </p:nvSpPr>
        <p:spPr>
          <a:xfrm>
            <a:off x="7847075" y="3216600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2"/>
          <p:cNvSpPr txBox="1"/>
          <p:nvPr>
            <p:ph idx="1" type="body"/>
          </p:nvPr>
        </p:nvSpPr>
        <p:spPr>
          <a:xfrm>
            <a:off x="2280900" y="1187100"/>
            <a:ext cx="1212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 = 2</a:t>
            </a:r>
            <a:r>
              <a:rPr baseline="30000" lang="en-GB" sz="1900"/>
              <a:t>3</a:t>
            </a:r>
            <a:r>
              <a:rPr lang="en-GB" sz="1900"/>
              <a:t> × 3</a:t>
            </a:r>
            <a:endParaRPr sz="1900"/>
          </a:p>
        </p:txBody>
      </p:sp>
      <p:sp>
        <p:nvSpPr>
          <p:cNvPr id="1029" name="Google Shape;1029;p82"/>
          <p:cNvSpPr txBox="1"/>
          <p:nvPr>
            <p:ph idx="1" type="body"/>
          </p:nvPr>
        </p:nvSpPr>
        <p:spPr>
          <a:xfrm>
            <a:off x="5650500" y="1167600"/>
            <a:ext cx="1847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40 = 2</a:t>
            </a:r>
            <a:r>
              <a:rPr baseline="30000" lang="en-GB" sz="1900"/>
              <a:t>3</a:t>
            </a:r>
            <a:r>
              <a:rPr lang="en-GB" sz="1900"/>
              <a:t> × 5</a:t>
            </a:r>
            <a:endParaRPr sz="1900"/>
          </a:p>
        </p:txBody>
      </p:sp>
      <p:sp>
        <p:nvSpPr>
          <p:cNvPr id="1030" name="Google Shape;1030;p82"/>
          <p:cNvSpPr txBox="1"/>
          <p:nvPr>
            <p:ph idx="1" type="body"/>
          </p:nvPr>
        </p:nvSpPr>
        <p:spPr>
          <a:xfrm>
            <a:off x="324000" y="4194019"/>
            <a:ext cx="8194800" cy="626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Hopefully you have noticed that the </a:t>
            </a:r>
            <a:r>
              <a:rPr b="1" lang="en-GB" sz="1900"/>
              <a:t>LCM</a:t>
            </a:r>
            <a:r>
              <a:rPr lang="en-GB" sz="1900"/>
              <a:t> is the product of </a:t>
            </a:r>
            <a:r>
              <a:rPr lang="en-GB" sz="1900">
                <a:solidFill>
                  <a:schemeClr val="accent5"/>
                </a:solidFill>
              </a:rPr>
              <a:t>all</a:t>
            </a:r>
            <a:r>
              <a:rPr lang="en-GB" sz="1900"/>
              <a:t> of the prime </a:t>
            </a:r>
            <a:r>
              <a:rPr lang="en-GB" sz="1900"/>
              <a:t>factors</a:t>
            </a:r>
            <a:r>
              <a:rPr lang="en-GB" sz="1900"/>
              <a:t> in the Venn diagram.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3"/>
          <p:cNvSpPr/>
          <p:nvPr/>
        </p:nvSpPr>
        <p:spPr>
          <a:xfrm>
            <a:off x="345996" y="2670075"/>
            <a:ext cx="11961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83"/>
          <p:cNvSpPr txBox="1"/>
          <p:nvPr>
            <p:ph idx="1" type="body"/>
          </p:nvPr>
        </p:nvSpPr>
        <p:spPr>
          <a:xfrm>
            <a:off x="3744450" y="1704650"/>
            <a:ext cx="1385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3"/>
          <p:cNvSpPr txBox="1"/>
          <p:nvPr>
            <p:ph idx="1" type="body"/>
          </p:nvPr>
        </p:nvSpPr>
        <p:spPr>
          <a:xfrm>
            <a:off x="1634579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2</a:t>
            </a:r>
            <a:endParaRPr/>
          </a:p>
        </p:txBody>
      </p:sp>
      <p:sp>
        <p:nvSpPr>
          <p:cNvPr id="1038" name="Google Shape;1038;p83"/>
          <p:cNvSpPr/>
          <p:nvPr/>
        </p:nvSpPr>
        <p:spPr>
          <a:xfrm>
            <a:off x="4244068" y="1685325"/>
            <a:ext cx="293100" cy="8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83"/>
          <p:cNvSpPr/>
          <p:nvPr/>
        </p:nvSpPr>
        <p:spPr>
          <a:xfrm>
            <a:off x="3681604" y="1685325"/>
            <a:ext cx="350700" cy="8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83"/>
          <p:cNvSpPr txBox="1"/>
          <p:nvPr>
            <p:ph idx="1" type="body"/>
          </p:nvPr>
        </p:nvSpPr>
        <p:spPr>
          <a:xfrm>
            <a:off x="2051111" y="2697996"/>
            <a:ext cx="455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3</a:t>
            </a:r>
            <a:endParaRPr baseline="30000"/>
          </a:p>
        </p:txBody>
      </p:sp>
      <p:sp>
        <p:nvSpPr>
          <p:cNvPr id="1041" name="Google Shape;104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</p:txBody>
      </p:sp>
      <p:sp>
        <p:nvSpPr>
          <p:cNvPr id="1042" name="Google Shape;1042;p83"/>
          <p:cNvSpPr txBox="1"/>
          <p:nvPr>
            <p:ph idx="1" type="body"/>
          </p:nvPr>
        </p:nvSpPr>
        <p:spPr>
          <a:xfrm>
            <a:off x="324000" y="759300"/>
            <a:ext cx="7479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</a:t>
            </a:r>
            <a:r>
              <a:rPr lang="en-GB"/>
              <a:t>the </a:t>
            </a:r>
            <a:r>
              <a:rPr b="1" lang="en-GB"/>
              <a:t>lowest common multiple</a:t>
            </a:r>
            <a:r>
              <a:rPr lang="en-GB"/>
              <a:t> of 360 and 2100</a:t>
            </a:r>
            <a:endParaRPr/>
          </a:p>
        </p:txBody>
      </p:sp>
      <p:sp>
        <p:nvSpPr>
          <p:cNvPr id="1043" name="Google Shape;1043;p83"/>
          <p:cNvSpPr txBox="1"/>
          <p:nvPr>
            <p:ph idx="1" type="body"/>
          </p:nvPr>
        </p:nvSpPr>
        <p:spPr>
          <a:xfrm>
            <a:off x="401275" y="2697996"/>
            <a:ext cx="293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endParaRPr/>
          </a:p>
        </p:txBody>
      </p:sp>
      <p:sp>
        <p:nvSpPr>
          <p:cNvPr id="1044" name="Google Shape;1044;p83"/>
          <p:cNvSpPr txBox="1"/>
          <p:nvPr>
            <p:ph idx="1" type="body"/>
          </p:nvPr>
        </p:nvSpPr>
        <p:spPr>
          <a:xfrm>
            <a:off x="701729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3</a:t>
            </a:r>
            <a:endParaRPr/>
          </a:p>
        </p:txBody>
      </p:sp>
      <p:sp>
        <p:nvSpPr>
          <p:cNvPr id="1045" name="Google Shape;1045;p83"/>
          <p:cNvSpPr txBox="1"/>
          <p:nvPr>
            <p:ph idx="1" type="body"/>
          </p:nvPr>
        </p:nvSpPr>
        <p:spPr>
          <a:xfrm>
            <a:off x="539250" y="1167600"/>
            <a:ext cx="2830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360</a:t>
            </a:r>
            <a:r>
              <a:rPr lang="en-GB"/>
              <a:t> =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endParaRPr/>
          </a:p>
        </p:txBody>
      </p:sp>
      <p:sp>
        <p:nvSpPr>
          <p:cNvPr id="1046" name="Google Shape;1046;p83"/>
          <p:cNvSpPr txBox="1"/>
          <p:nvPr>
            <p:ph idx="1" type="body"/>
          </p:nvPr>
        </p:nvSpPr>
        <p:spPr>
          <a:xfrm>
            <a:off x="5774400" y="1156700"/>
            <a:ext cx="3095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210</a:t>
            </a:r>
            <a:r>
              <a:rPr lang="en-GB"/>
              <a:t>0 = </a:t>
            </a: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 × 5</a:t>
            </a:r>
            <a:r>
              <a:rPr baseline="30000" lang="en-GB"/>
              <a:t>2 </a:t>
            </a:r>
            <a:r>
              <a:rPr lang="en-GB"/>
              <a:t>× 7</a:t>
            </a:r>
            <a:endParaRPr/>
          </a:p>
        </p:txBody>
      </p:sp>
      <p:sp>
        <p:nvSpPr>
          <p:cNvPr id="1047" name="Google Shape;1047;p83"/>
          <p:cNvSpPr txBox="1"/>
          <p:nvPr>
            <p:ph idx="1" type="body"/>
          </p:nvPr>
        </p:nvSpPr>
        <p:spPr>
          <a:xfrm>
            <a:off x="3744450" y="2149000"/>
            <a:ext cx="1905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  × 5</a:t>
            </a:r>
            <a:r>
              <a:rPr baseline="30000" lang="en-GB"/>
              <a:t>2 </a:t>
            </a:r>
            <a:r>
              <a:rPr lang="en-GB"/>
              <a:t>× 7</a:t>
            </a:r>
            <a:endParaRPr/>
          </a:p>
        </p:txBody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5582725" y="2697996"/>
            <a:ext cx="293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endParaRPr/>
          </a:p>
        </p:txBody>
      </p:sp>
      <p:sp>
        <p:nvSpPr>
          <p:cNvPr id="1049" name="Google Shape;1049;p83"/>
          <p:cNvSpPr txBox="1"/>
          <p:nvPr>
            <p:ph idx="1" type="body"/>
          </p:nvPr>
        </p:nvSpPr>
        <p:spPr>
          <a:xfrm>
            <a:off x="5905775" y="2697996"/>
            <a:ext cx="455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3</a:t>
            </a:r>
            <a:endParaRPr/>
          </a:p>
        </p:txBody>
      </p:sp>
      <p:sp>
        <p:nvSpPr>
          <p:cNvPr id="1050" name="Google Shape;1050;p83"/>
          <p:cNvSpPr/>
          <p:nvPr/>
        </p:nvSpPr>
        <p:spPr>
          <a:xfrm>
            <a:off x="4768801" y="1685325"/>
            <a:ext cx="293100" cy="8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83"/>
          <p:cNvSpPr txBox="1"/>
          <p:nvPr>
            <p:ph idx="1" type="body"/>
          </p:nvPr>
        </p:nvSpPr>
        <p:spPr>
          <a:xfrm>
            <a:off x="1152017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5</a:t>
            </a:r>
            <a:endParaRPr/>
          </a:p>
        </p:txBody>
      </p:sp>
      <p:sp>
        <p:nvSpPr>
          <p:cNvPr id="1052" name="Google Shape;1052;p83"/>
          <p:cNvSpPr txBox="1"/>
          <p:nvPr>
            <p:ph idx="1" type="body"/>
          </p:nvPr>
        </p:nvSpPr>
        <p:spPr>
          <a:xfrm>
            <a:off x="6305229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5</a:t>
            </a:r>
            <a:endParaRPr/>
          </a:p>
        </p:txBody>
      </p:sp>
      <p:sp>
        <p:nvSpPr>
          <p:cNvPr id="1053" name="Google Shape;1053;p83"/>
          <p:cNvSpPr/>
          <p:nvPr/>
        </p:nvSpPr>
        <p:spPr>
          <a:xfrm>
            <a:off x="5259373" y="2169068"/>
            <a:ext cx="293100" cy="35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83"/>
          <p:cNvSpPr txBox="1"/>
          <p:nvPr>
            <p:ph idx="1" type="body"/>
          </p:nvPr>
        </p:nvSpPr>
        <p:spPr>
          <a:xfrm>
            <a:off x="7147517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7</a:t>
            </a:r>
            <a:endParaRPr/>
          </a:p>
        </p:txBody>
      </p:sp>
      <p:sp>
        <p:nvSpPr>
          <p:cNvPr id="1055" name="Google Shape;1055;p83"/>
          <p:cNvSpPr txBox="1"/>
          <p:nvPr>
            <p:ph idx="1" type="body"/>
          </p:nvPr>
        </p:nvSpPr>
        <p:spPr>
          <a:xfrm>
            <a:off x="6755429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5</a:t>
            </a:r>
            <a:endParaRPr/>
          </a:p>
        </p:txBody>
      </p:sp>
      <p:grpSp>
        <p:nvGrpSpPr>
          <p:cNvPr id="1056" name="Google Shape;1056;p83"/>
          <p:cNvGrpSpPr/>
          <p:nvPr/>
        </p:nvGrpSpPr>
        <p:grpSpPr>
          <a:xfrm>
            <a:off x="2171200" y="3108614"/>
            <a:ext cx="5287999" cy="1302937"/>
            <a:chOff x="2171200" y="3108614"/>
            <a:chExt cx="5287999" cy="1302937"/>
          </a:xfrm>
        </p:grpSpPr>
        <p:sp>
          <p:nvSpPr>
            <p:cNvPr id="1057" name="Google Shape;1057;p83"/>
            <p:cNvSpPr/>
            <p:nvPr/>
          </p:nvSpPr>
          <p:spPr>
            <a:xfrm>
              <a:off x="2846200" y="3335152"/>
              <a:ext cx="2208000" cy="10764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83"/>
            <p:cNvSpPr/>
            <p:nvPr/>
          </p:nvSpPr>
          <p:spPr>
            <a:xfrm>
              <a:off x="3957497" y="3335152"/>
              <a:ext cx="2208000" cy="10764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3"/>
            <p:cNvSpPr txBox="1"/>
            <p:nvPr/>
          </p:nvSpPr>
          <p:spPr>
            <a:xfrm>
              <a:off x="2171200" y="3108614"/>
              <a:ext cx="1385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factors of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360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83"/>
            <p:cNvSpPr txBox="1"/>
            <p:nvPr/>
          </p:nvSpPr>
          <p:spPr>
            <a:xfrm>
              <a:off x="6073799" y="3108614"/>
              <a:ext cx="1385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factors of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2100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1" name="Google Shape;1061;p83"/>
          <p:cNvSpPr txBox="1"/>
          <p:nvPr/>
        </p:nvSpPr>
        <p:spPr>
          <a:xfrm>
            <a:off x="4262675" y="3485552"/>
            <a:ext cx="35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4662475" y="3677202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3"/>
          <p:cNvSpPr txBox="1"/>
          <p:nvPr/>
        </p:nvSpPr>
        <p:spPr>
          <a:xfrm>
            <a:off x="4326900" y="3905902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4" name="Google Shape;1064;p83"/>
          <p:cNvGrpSpPr/>
          <p:nvPr/>
        </p:nvGrpSpPr>
        <p:grpSpPr>
          <a:xfrm>
            <a:off x="1568494" y="2903250"/>
            <a:ext cx="1761341" cy="132300"/>
            <a:chOff x="7173482" y="3035546"/>
            <a:chExt cx="1638000" cy="132300"/>
          </a:xfrm>
        </p:grpSpPr>
        <p:cxnSp>
          <p:nvCxnSpPr>
            <p:cNvPr id="1065" name="Google Shape;1065;p83"/>
            <p:cNvCxnSpPr/>
            <p:nvPr/>
          </p:nvCxnSpPr>
          <p:spPr>
            <a:xfrm>
              <a:off x="7191181" y="303554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83"/>
            <p:cNvCxnSpPr/>
            <p:nvPr/>
          </p:nvCxnSpPr>
          <p:spPr>
            <a:xfrm>
              <a:off x="8796887" y="303554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83"/>
            <p:cNvCxnSpPr/>
            <p:nvPr/>
          </p:nvCxnSpPr>
          <p:spPr>
            <a:xfrm>
              <a:off x="7173482" y="3167846"/>
              <a:ext cx="1638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68" name="Google Shape;1068;p83"/>
          <p:cNvSpPr txBox="1"/>
          <p:nvPr>
            <p:ph idx="1" type="body"/>
          </p:nvPr>
        </p:nvSpPr>
        <p:spPr>
          <a:xfrm>
            <a:off x="2901221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7</a:t>
            </a:r>
            <a:endParaRPr/>
          </a:p>
        </p:txBody>
      </p:sp>
      <p:sp>
        <p:nvSpPr>
          <p:cNvPr id="1069" name="Google Shape;1069;p83"/>
          <p:cNvSpPr txBox="1"/>
          <p:nvPr>
            <p:ph idx="1" type="body"/>
          </p:nvPr>
        </p:nvSpPr>
        <p:spPr>
          <a:xfrm>
            <a:off x="2482654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5</a:t>
            </a:r>
            <a:endParaRPr/>
          </a:p>
        </p:txBody>
      </p:sp>
      <p:grpSp>
        <p:nvGrpSpPr>
          <p:cNvPr id="1070" name="Google Shape;1070;p83"/>
          <p:cNvGrpSpPr/>
          <p:nvPr/>
        </p:nvGrpSpPr>
        <p:grpSpPr>
          <a:xfrm>
            <a:off x="6697319" y="2922400"/>
            <a:ext cx="1761341" cy="132300"/>
            <a:chOff x="7173482" y="3035546"/>
            <a:chExt cx="1638000" cy="132300"/>
          </a:xfrm>
        </p:grpSpPr>
        <p:cxnSp>
          <p:nvCxnSpPr>
            <p:cNvPr id="1071" name="Google Shape;1071;p83"/>
            <p:cNvCxnSpPr/>
            <p:nvPr/>
          </p:nvCxnSpPr>
          <p:spPr>
            <a:xfrm>
              <a:off x="7191181" y="303554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83"/>
            <p:cNvCxnSpPr/>
            <p:nvPr/>
          </p:nvCxnSpPr>
          <p:spPr>
            <a:xfrm>
              <a:off x="8796887" y="303554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83"/>
            <p:cNvCxnSpPr/>
            <p:nvPr/>
          </p:nvCxnSpPr>
          <p:spPr>
            <a:xfrm>
              <a:off x="7173482" y="3167846"/>
              <a:ext cx="1638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4" name="Google Shape;1074;p83"/>
          <p:cNvSpPr txBox="1"/>
          <p:nvPr>
            <p:ph idx="1" type="body"/>
          </p:nvPr>
        </p:nvSpPr>
        <p:spPr>
          <a:xfrm>
            <a:off x="7542079" y="2697996"/>
            <a:ext cx="392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2</a:t>
            </a:r>
            <a:endParaRPr/>
          </a:p>
        </p:txBody>
      </p:sp>
      <p:sp>
        <p:nvSpPr>
          <p:cNvPr id="1075" name="Google Shape;1075;p83"/>
          <p:cNvSpPr txBox="1"/>
          <p:nvPr>
            <p:ph idx="1" type="body"/>
          </p:nvPr>
        </p:nvSpPr>
        <p:spPr>
          <a:xfrm>
            <a:off x="7958611" y="2697996"/>
            <a:ext cx="455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3</a:t>
            </a:r>
            <a:endParaRPr baseline="30000"/>
          </a:p>
        </p:txBody>
      </p:sp>
      <p:sp>
        <p:nvSpPr>
          <p:cNvPr id="1076" name="Google Shape;1076;p83"/>
          <p:cNvSpPr txBox="1"/>
          <p:nvPr/>
        </p:nvSpPr>
        <p:spPr>
          <a:xfrm>
            <a:off x="3461100" y="3905902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3"/>
          <p:cNvSpPr txBox="1"/>
          <p:nvPr/>
        </p:nvSpPr>
        <p:spPr>
          <a:xfrm>
            <a:off x="3149100" y="3567202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3"/>
          <p:cNvSpPr txBox="1"/>
          <p:nvPr/>
        </p:nvSpPr>
        <p:spPr>
          <a:xfrm>
            <a:off x="5129850" y="4015902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3"/>
          <p:cNvSpPr txBox="1"/>
          <p:nvPr/>
        </p:nvSpPr>
        <p:spPr>
          <a:xfrm>
            <a:off x="5529950" y="3515477"/>
            <a:ext cx="2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3"/>
          <p:cNvSpPr txBox="1"/>
          <p:nvPr>
            <p:ph idx="1" type="body"/>
          </p:nvPr>
        </p:nvSpPr>
        <p:spPr>
          <a:xfrm>
            <a:off x="324000" y="4463700"/>
            <a:ext cx="7317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LCM of 360 and 2100 is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r>
              <a:rPr lang="en-GB"/>
              <a:t> × 7 = 12 600</a:t>
            </a:r>
            <a:endParaRPr/>
          </a:p>
        </p:txBody>
      </p:sp>
      <p:sp>
        <p:nvSpPr>
          <p:cNvPr id="1081" name="Google Shape;1081;p83"/>
          <p:cNvSpPr/>
          <p:nvPr/>
        </p:nvSpPr>
        <p:spPr>
          <a:xfrm>
            <a:off x="5500171" y="2670075"/>
            <a:ext cx="11961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</p:txBody>
      </p:sp>
      <p:sp>
        <p:nvSpPr>
          <p:cNvPr id="1087" name="Google Shape;1087;p84"/>
          <p:cNvSpPr txBox="1"/>
          <p:nvPr>
            <p:ph idx="1" type="subTitle"/>
          </p:nvPr>
        </p:nvSpPr>
        <p:spPr>
          <a:xfrm>
            <a:off x="337825" y="810000"/>
            <a:ext cx="3982200" cy="12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</a:t>
            </a:r>
            <a:r>
              <a:rPr b="1" lang="en-GB"/>
              <a:t>LCM</a:t>
            </a:r>
            <a:r>
              <a:rPr lang="en-GB"/>
              <a:t> of 300 and 504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300 = 2</a:t>
            </a:r>
            <a:r>
              <a:rPr baseline="30000" lang="en-GB"/>
              <a:t>2</a:t>
            </a:r>
            <a:r>
              <a:rPr lang="en-GB"/>
              <a:t> × 3 × 5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504 =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7 </a:t>
            </a:r>
            <a:endParaRPr/>
          </a:p>
        </p:txBody>
      </p:sp>
      <p:sp>
        <p:nvSpPr>
          <p:cNvPr id="1088" name="Google Shape;1088;p84"/>
          <p:cNvSpPr txBox="1"/>
          <p:nvPr>
            <p:ph idx="2" type="subTitle"/>
          </p:nvPr>
        </p:nvSpPr>
        <p:spPr>
          <a:xfrm>
            <a:off x="4824000" y="810000"/>
            <a:ext cx="39822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</a:t>
            </a:r>
            <a:r>
              <a:rPr b="1" lang="en-GB"/>
              <a:t>LCM</a:t>
            </a:r>
            <a:r>
              <a:rPr lang="en-GB"/>
              <a:t> of 648 and 540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648 =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4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540 =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3</a:t>
            </a:r>
            <a:r>
              <a:rPr lang="en-GB"/>
              <a:t> × 5</a:t>
            </a:r>
            <a:endParaRPr/>
          </a:p>
        </p:txBody>
      </p:sp>
      <p:sp>
        <p:nvSpPr>
          <p:cNvPr id="1089" name="Google Shape;1089;p84"/>
          <p:cNvSpPr/>
          <p:nvPr/>
        </p:nvSpPr>
        <p:spPr>
          <a:xfrm>
            <a:off x="669275" y="28483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4"/>
          <p:cNvSpPr/>
          <p:nvPr/>
        </p:nvSpPr>
        <p:spPr>
          <a:xfrm>
            <a:off x="1780572" y="28483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4"/>
          <p:cNvSpPr txBox="1"/>
          <p:nvPr/>
        </p:nvSpPr>
        <p:spPr>
          <a:xfrm>
            <a:off x="337825" y="2509753"/>
            <a:ext cx="2057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4"/>
          <p:cNvSpPr txBox="1"/>
          <p:nvPr/>
        </p:nvSpPr>
        <p:spPr>
          <a:xfrm>
            <a:off x="2547101" y="2509750"/>
            <a:ext cx="2208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4"/>
          <p:cNvSpPr txBox="1"/>
          <p:nvPr/>
        </p:nvSpPr>
        <p:spPr>
          <a:xfrm>
            <a:off x="2186575" y="3018600"/>
            <a:ext cx="28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4"/>
          <p:cNvSpPr/>
          <p:nvPr/>
        </p:nvSpPr>
        <p:spPr>
          <a:xfrm>
            <a:off x="958975" y="1261354"/>
            <a:ext cx="2847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4"/>
          <p:cNvSpPr/>
          <p:nvPr/>
        </p:nvSpPr>
        <p:spPr>
          <a:xfrm>
            <a:off x="958975" y="1738104"/>
            <a:ext cx="2847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4"/>
          <p:cNvSpPr txBox="1"/>
          <p:nvPr/>
        </p:nvSpPr>
        <p:spPr>
          <a:xfrm>
            <a:off x="3174000" y="2947775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4"/>
          <p:cNvSpPr/>
          <p:nvPr/>
        </p:nvSpPr>
        <p:spPr>
          <a:xfrm>
            <a:off x="1400100" y="1268100"/>
            <a:ext cx="1956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84"/>
          <p:cNvSpPr/>
          <p:nvPr/>
        </p:nvSpPr>
        <p:spPr>
          <a:xfrm>
            <a:off x="1400100" y="1744861"/>
            <a:ext cx="2847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84"/>
          <p:cNvSpPr txBox="1"/>
          <p:nvPr/>
        </p:nvSpPr>
        <p:spPr>
          <a:xfrm>
            <a:off x="2231125" y="3444400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4"/>
          <p:cNvSpPr txBox="1"/>
          <p:nvPr/>
        </p:nvSpPr>
        <p:spPr>
          <a:xfrm>
            <a:off x="3141175" y="3471025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4"/>
          <p:cNvSpPr txBox="1"/>
          <p:nvPr/>
        </p:nvSpPr>
        <p:spPr>
          <a:xfrm>
            <a:off x="1199150" y="3224300"/>
            <a:ext cx="28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4"/>
          <p:cNvSpPr/>
          <p:nvPr/>
        </p:nvSpPr>
        <p:spPr>
          <a:xfrm>
            <a:off x="1841225" y="1744850"/>
            <a:ext cx="1956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4"/>
          <p:cNvSpPr/>
          <p:nvPr/>
        </p:nvSpPr>
        <p:spPr>
          <a:xfrm>
            <a:off x="1752125" y="1268111"/>
            <a:ext cx="284700" cy="33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84"/>
          <p:cNvSpPr txBox="1"/>
          <p:nvPr/>
        </p:nvSpPr>
        <p:spPr>
          <a:xfrm>
            <a:off x="337825" y="4064125"/>
            <a:ext cx="309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300 and 504 is:  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4"/>
          <p:cNvSpPr txBox="1"/>
          <p:nvPr/>
        </p:nvSpPr>
        <p:spPr>
          <a:xfrm>
            <a:off x="324000" y="4428225"/>
            <a:ext cx="164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7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4"/>
          <p:cNvSpPr txBox="1"/>
          <p:nvPr/>
        </p:nvSpPr>
        <p:spPr>
          <a:xfrm>
            <a:off x="1828325" y="4428225"/>
            <a:ext cx="96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12 600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4"/>
          <p:cNvSpPr/>
          <p:nvPr/>
        </p:nvSpPr>
        <p:spPr>
          <a:xfrm>
            <a:off x="4936975" y="28483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84"/>
          <p:cNvSpPr/>
          <p:nvPr/>
        </p:nvSpPr>
        <p:spPr>
          <a:xfrm>
            <a:off x="6048272" y="2848350"/>
            <a:ext cx="2208000" cy="10764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84"/>
          <p:cNvSpPr txBox="1"/>
          <p:nvPr/>
        </p:nvSpPr>
        <p:spPr>
          <a:xfrm>
            <a:off x="4605525" y="2513550"/>
            <a:ext cx="2057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648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4"/>
          <p:cNvSpPr txBox="1"/>
          <p:nvPr/>
        </p:nvSpPr>
        <p:spPr>
          <a:xfrm>
            <a:off x="6814801" y="2513550"/>
            <a:ext cx="2329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 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540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4"/>
          <p:cNvSpPr txBox="1"/>
          <p:nvPr/>
        </p:nvSpPr>
        <p:spPr>
          <a:xfrm>
            <a:off x="7503550" y="3255800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4"/>
          <p:cNvSpPr txBox="1"/>
          <p:nvPr/>
        </p:nvSpPr>
        <p:spPr>
          <a:xfrm>
            <a:off x="6426775" y="2980875"/>
            <a:ext cx="28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4"/>
          <p:cNvSpPr txBox="1"/>
          <p:nvPr/>
        </p:nvSpPr>
        <p:spPr>
          <a:xfrm>
            <a:off x="5296850" y="3124763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4"/>
          <p:cNvSpPr txBox="1"/>
          <p:nvPr/>
        </p:nvSpPr>
        <p:spPr>
          <a:xfrm>
            <a:off x="6496150" y="3417750"/>
            <a:ext cx="28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4"/>
          <p:cNvSpPr txBox="1"/>
          <p:nvPr/>
        </p:nvSpPr>
        <p:spPr>
          <a:xfrm>
            <a:off x="4862101" y="4074250"/>
            <a:ext cx="31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LCM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of 648 and 540 is :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4"/>
          <p:cNvSpPr txBox="1"/>
          <p:nvPr/>
        </p:nvSpPr>
        <p:spPr>
          <a:xfrm>
            <a:off x="4872050" y="4428225"/>
            <a:ext cx="11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5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4"/>
          <p:cNvSpPr txBox="1"/>
          <p:nvPr/>
        </p:nvSpPr>
        <p:spPr>
          <a:xfrm>
            <a:off x="6128278" y="4428225"/>
            <a:ext cx="93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3240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4"/>
          <p:cNvSpPr txBox="1"/>
          <p:nvPr/>
        </p:nvSpPr>
        <p:spPr>
          <a:xfrm>
            <a:off x="3584050" y="3185150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4"/>
          <p:cNvSpPr txBox="1"/>
          <p:nvPr/>
        </p:nvSpPr>
        <p:spPr>
          <a:xfrm>
            <a:off x="5774400" y="3471025"/>
            <a:ext cx="1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Lowest common multiple using prime factorisation</a:t>
            </a:r>
            <a:endParaRPr/>
          </a:p>
        </p:txBody>
      </p:sp>
      <p:sp>
        <p:nvSpPr>
          <p:cNvPr id="1125" name="Google Shape;1125;p85"/>
          <p:cNvSpPr txBox="1"/>
          <p:nvPr/>
        </p:nvSpPr>
        <p:spPr>
          <a:xfrm>
            <a:off x="592318" y="1080000"/>
            <a:ext cx="17274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5"/>
          <p:cNvSpPr txBox="1"/>
          <p:nvPr/>
        </p:nvSpPr>
        <p:spPr>
          <a:xfrm>
            <a:off x="4871875" y="1080000"/>
            <a:ext cx="2500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2 × 3 × 7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5"/>
          <p:cNvSpPr txBox="1"/>
          <p:nvPr/>
        </p:nvSpPr>
        <p:spPr>
          <a:xfrm>
            <a:off x="675125" y="3780000"/>
            <a:ext cx="2083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= 2</a:t>
            </a:r>
            <a:r>
              <a:rPr baseline="30000"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8" name="Google Shape;1128;p85"/>
          <p:cNvGrpSpPr/>
          <p:nvPr/>
        </p:nvGrpSpPr>
        <p:grpSpPr>
          <a:xfrm>
            <a:off x="628800" y="1761100"/>
            <a:ext cx="2786578" cy="1148700"/>
            <a:chOff x="628800" y="1887021"/>
            <a:chExt cx="2786578" cy="1148700"/>
          </a:xfrm>
        </p:grpSpPr>
        <p:sp>
          <p:nvSpPr>
            <p:cNvPr id="1129" name="Google Shape;1129;p85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85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1" name="Google Shape;1131;p85"/>
          <p:cNvSpPr txBox="1"/>
          <p:nvPr/>
        </p:nvSpPr>
        <p:spPr>
          <a:xfrm>
            <a:off x="324000" y="10800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4618800" y="1080000"/>
            <a:ext cx="326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3" name="Google Shape;1133;p85"/>
          <p:cNvGrpSpPr/>
          <p:nvPr/>
        </p:nvGrpSpPr>
        <p:grpSpPr>
          <a:xfrm>
            <a:off x="4863513" y="1761100"/>
            <a:ext cx="2786578" cy="1148700"/>
            <a:chOff x="4863513" y="1988621"/>
            <a:chExt cx="2786578" cy="1148700"/>
          </a:xfrm>
        </p:grpSpPr>
        <p:sp>
          <p:nvSpPr>
            <p:cNvPr id="1134" name="Google Shape;1134;p85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85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6" name="Google Shape;1136;p85"/>
          <p:cNvSpPr txBox="1"/>
          <p:nvPr/>
        </p:nvSpPr>
        <p:spPr>
          <a:xfrm>
            <a:off x="563550" y="2988475"/>
            <a:ext cx="344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 u="sng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 txBox="1"/>
          <p:nvPr/>
        </p:nvSpPr>
        <p:spPr>
          <a:xfrm>
            <a:off x="4830750" y="3027871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7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5"/>
          <p:cNvSpPr txBox="1"/>
          <p:nvPr/>
        </p:nvSpPr>
        <p:spPr>
          <a:xfrm>
            <a:off x="324000" y="3748025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85"/>
          <p:cNvGrpSpPr/>
          <p:nvPr/>
        </p:nvGrpSpPr>
        <p:grpSpPr>
          <a:xfrm>
            <a:off x="2502850" y="3551225"/>
            <a:ext cx="2786578" cy="1148700"/>
            <a:chOff x="628800" y="1887021"/>
            <a:chExt cx="2786578" cy="1148700"/>
          </a:xfrm>
        </p:grpSpPr>
        <p:sp>
          <p:nvSpPr>
            <p:cNvPr id="1140" name="Google Shape;1140;p85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85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2" name="Google Shape;1142;p85"/>
          <p:cNvSpPr txBox="1"/>
          <p:nvPr/>
        </p:nvSpPr>
        <p:spPr>
          <a:xfrm>
            <a:off x="5374325" y="3967675"/>
            <a:ext cx="3660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2016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5"/>
          <p:cNvSpPr txBox="1"/>
          <p:nvPr/>
        </p:nvSpPr>
        <p:spPr>
          <a:xfrm>
            <a:off x="287150" y="759300"/>
            <a:ext cx="619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86"/>
          <p:cNvSpPr txBox="1"/>
          <p:nvPr/>
        </p:nvSpPr>
        <p:spPr>
          <a:xfrm>
            <a:off x="363441" y="759300"/>
            <a:ext cx="8436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420 and another number is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represented in the Venn diagram is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1260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was the other number?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0" name="Google Shape;1150;p86"/>
          <p:cNvGrpSpPr/>
          <p:nvPr/>
        </p:nvGrpSpPr>
        <p:grpSpPr>
          <a:xfrm>
            <a:off x="3178712" y="2764800"/>
            <a:ext cx="2786578" cy="1148700"/>
            <a:chOff x="628800" y="1887021"/>
            <a:chExt cx="2786578" cy="1148700"/>
          </a:xfrm>
        </p:grpSpPr>
        <p:sp>
          <p:nvSpPr>
            <p:cNvPr id="1151" name="Google Shape;1151;p86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86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3" name="Google Shape;1153;p86"/>
          <p:cNvSpPr txBox="1"/>
          <p:nvPr/>
        </p:nvSpPr>
        <p:spPr>
          <a:xfrm>
            <a:off x="4334313" y="29569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6"/>
          <p:cNvSpPr txBox="1"/>
          <p:nvPr/>
        </p:nvSpPr>
        <p:spPr>
          <a:xfrm>
            <a:off x="4671831" y="3142475"/>
            <a:ext cx="3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6"/>
          <p:cNvSpPr txBox="1"/>
          <p:nvPr/>
        </p:nvSpPr>
        <p:spPr>
          <a:xfrm>
            <a:off x="4436913" y="34196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6"/>
          <p:cNvSpPr txBox="1"/>
          <p:nvPr/>
        </p:nvSpPr>
        <p:spPr>
          <a:xfrm>
            <a:off x="5228563" y="31740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Lowest common multiple using prime factorisation</a:t>
            </a:r>
            <a:endParaRPr/>
          </a:p>
        </p:txBody>
      </p:sp>
      <p:sp>
        <p:nvSpPr>
          <p:cNvPr id="1162" name="Google Shape;1162;p87"/>
          <p:cNvSpPr txBox="1"/>
          <p:nvPr/>
        </p:nvSpPr>
        <p:spPr>
          <a:xfrm>
            <a:off x="592318" y="1080000"/>
            <a:ext cx="17274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7"/>
          <p:cNvSpPr txBox="1"/>
          <p:nvPr/>
        </p:nvSpPr>
        <p:spPr>
          <a:xfrm>
            <a:off x="4871875" y="1080000"/>
            <a:ext cx="2500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2 × 3 × 7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7"/>
          <p:cNvSpPr txBox="1"/>
          <p:nvPr/>
        </p:nvSpPr>
        <p:spPr>
          <a:xfrm>
            <a:off x="675125" y="3780000"/>
            <a:ext cx="2083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201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= 2</a:t>
            </a:r>
            <a:r>
              <a:rPr baseline="30000"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5" name="Google Shape;1165;p87"/>
          <p:cNvGrpSpPr/>
          <p:nvPr/>
        </p:nvGrpSpPr>
        <p:grpSpPr>
          <a:xfrm>
            <a:off x="628800" y="1761100"/>
            <a:ext cx="2786578" cy="1148700"/>
            <a:chOff x="628800" y="1887021"/>
            <a:chExt cx="2786578" cy="1148700"/>
          </a:xfrm>
        </p:grpSpPr>
        <p:sp>
          <p:nvSpPr>
            <p:cNvPr id="1166" name="Google Shape;1166;p87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87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8" name="Google Shape;1168;p87"/>
          <p:cNvSpPr txBox="1"/>
          <p:nvPr/>
        </p:nvSpPr>
        <p:spPr>
          <a:xfrm>
            <a:off x="324000" y="10800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7"/>
          <p:cNvSpPr txBox="1"/>
          <p:nvPr/>
        </p:nvSpPr>
        <p:spPr>
          <a:xfrm>
            <a:off x="4618800" y="1080000"/>
            <a:ext cx="30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0" name="Google Shape;1170;p87"/>
          <p:cNvGrpSpPr/>
          <p:nvPr/>
        </p:nvGrpSpPr>
        <p:grpSpPr>
          <a:xfrm>
            <a:off x="4863513" y="1761100"/>
            <a:ext cx="2786578" cy="1148700"/>
            <a:chOff x="4863513" y="1988621"/>
            <a:chExt cx="2786578" cy="1148700"/>
          </a:xfrm>
        </p:grpSpPr>
        <p:sp>
          <p:nvSpPr>
            <p:cNvPr id="1171" name="Google Shape;1171;p87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87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87"/>
          <p:cNvSpPr txBox="1"/>
          <p:nvPr/>
        </p:nvSpPr>
        <p:spPr>
          <a:xfrm>
            <a:off x="563550" y="2988475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280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7"/>
          <p:cNvSpPr txBox="1"/>
          <p:nvPr/>
        </p:nvSpPr>
        <p:spPr>
          <a:xfrm>
            <a:off x="1784400" y="195329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7"/>
          <p:cNvSpPr txBox="1"/>
          <p:nvPr/>
        </p:nvSpPr>
        <p:spPr>
          <a:xfrm>
            <a:off x="2045700" y="2138771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87"/>
          <p:cNvSpPr txBox="1"/>
          <p:nvPr/>
        </p:nvSpPr>
        <p:spPr>
          <a:xfrm>
            <a:off x="944000" y="195329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7"/>
          <p:cNvSpPr txBox="1"/>
          <p:nvPr/>
        </p:nvSpPr>
        <p:spPr>
          <a:xfrm>
            <a:off x="1887000" y="2415971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7"/>
          <p:cNvSpPr txBox="1"/>
          <p:nvPr/>
        </p:nvSpPr>
        <p:spPr>
          <a:xfrm>
            <a:off x="2678650" y="2170371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7"/>
          <p:cNvSpPr txBox="1"/>
          <p:nvPr/>
        </p:nvSpPr>
        <p:spPr>
          <a:xfrm>
            <a:off x="4830750" y="3027871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7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420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7"/>
          <p:cNvSpPr txBox="1"/>
          <p:nvPr/>
        </p:nvSpPr>
        <p:spPr>
          <a:xfrm>
            <a:off x="6019675" y="201624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7"/>
          <p:cNvSpPr txBox="1"/>
          <p:nvPr/>
        </p:nvSpPr>
        <p:spPr>
          <a:xfrm>
            <a:off x="5129400" y="216864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7"/>
          <p:cNvSpPr txBox="1"/>
          <p:nvPr/>
        </p:nvSpPr>
        <p:spPr>
          <a:xfrm>
            <a:off x="5410800" y="2548021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7"/>
          <p:cNvSpPr txBox="1"/>
          <p:nvPr/>
        </p:nvSpPr>
        <p:spPr>
          <a:xfrm>
            <a:off x="7214450" y="2236634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6154200" y="244584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87"/>
          <p:cNvSpPr txBox="1"/>
          <p:nvPr/>
        </p:nvSpPr>
        <p:spPr>
          <a:xfrm>
            <a:off x="324000" y="3748025"/>
            <a:ext cx="20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6" name="Google Shape;1186;p87"/>
          <p:cNvGrpSpPr/>
          <p:nvPr/>
        </p:nvGrpSpPr>
        <p:grpSpPr>
          <a:xfrm>
            <a:off x="2502850" y="3551225"/>
            <a:ext cx="2786578" cy="1148700"/>
            <a:chOff x="628800" y="1887021"/>
            <a:chExt cx="2786578" cy="1148700"/>
          </a:xfrm>
        </p:grpSpPr>
        <p:sp>
          <p:nvSpPr>
            <p:cNvPr id="1187" name="Google Shape;1187;p87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87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9" name="Google Shape;1189;p87"/>
          <p:cNvSpPr txBox="1"/>
          <p:nvPr/>
        </p:nvSpPr>
        <p:spPr>
          <a:xfrm>
            <a:off x="3658450" y="3743425"/>
            <a:ext cx="26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0" name="Google Shape;1190;p87"/>
          <p:cNvSpPr txBox="1"/>
          <p:nvPr/>
        </p:nvSpPr>
        <p:spPr>
          <a:xfrm>
            <a:off x="3966250" y="3960500"/>
            <a:ext cx="26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87"/>
          <p:cNvSpPr txBox="1"/>
          <p:nvPr/>
        </p:nvSpPr>
        <p:spPr>
          <a:xfrm>
            <a:off x="2915454" y="3861200"/>
            <a:ext cx="26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87"/>
          <p:cNvSpPr txBox="1"/>
          <p:nvPr/>
        </p:nvSpPr>
        <p:spPr>
          <a:xfrm>
            <a:off x="3761050" y="4282296"/>
            <a:ext cx="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87"/>
          <p:cNvSpPr txBox="1"/>
          <p:nvPr/>
        </p:nvSpPr>
        <p:spPr>
          <a:xfrm>
            <a:off x="4813725" y="3861188"/>
            <a:ext cx="26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87"/>
          <p:cNvSpPr txBox="1"/>
          <p:nvPr/>
        </p:nvSpPr>
        <p:spPr>
          <a:xfrm>
            <a:off x="5374318" y="3967667"/>
            <a:ext cx="333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2016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6048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7"/>
          <p:cNvSpPr txBox="1"/>
          <p:nvPr/>
        </p:nvSpPr>
        <p:spPr>
          <a:xfrm>
            <a:off x="287150" y="759300"/>
            <a:ext cx="5969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Lowest common multiple using prime factorisation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8"/>
          <p:cNvSpPr txBox="1"/>
          <p:nvPr/>
        </p:nvSpPr>
        <p:spPr>
          <a:xfrm>
            <a:off x="363441" y="759300"/>
            <a:ext cx="8436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420 and another number is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represented in the Venn diagram is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1260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was the other number?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2" name="Google Shape;1202;p88"/>
          <p:cNvGrpSpPr/>
          <p:nvPr/>
        </p:nvGrpSpPr>
        <p:grpSpPr>
          <a:xfrm>
            <a:off x="3178712" y="2764800"/>
            <a:ext cx="2786578" cy="1148700"/>
            <a:chOff x="628800" y="1887021"/>
            <a:chExt cx="2786578" cy="1148700"/>
          </a:xfrm>
        </p:grpSpPr>
        <p:sp>
          <p:nvSpPr>
            <p:cNvPr id="1203" name="Google Shape;1203;p88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88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5" name="Google Shape;1205;p88"/>
          <p:cNvSpPr txBox="1"/>
          <p:nvPr/>
        </p:nvSpPr>
        <p:spPr>
          <a:xfrm>
            <a:off x="4334313" y="295699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8"/>
          <p:cNvSpPr txBox="1"/>
          <p:nvPr/>
        </p:nvSpPr>
        <p:spPr>
          <a:xfrm>
            <a:off x="4671831" y="3142475"/>
            <a:ext cx="3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8"/>
          <p:cNvSpPr txBox="1"/>
          <p:nvPr/>
        </p:nvSpPr>
        <p:spPr>
          <a:xfrm>
            <a:off x="4436913" y="34196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8"/>
          <p:cNvSpPr txBox="1"/>
          <p:nvPr/>
        </p:nvSpPr>
        <p:spPr>
          <a:xfrm>
            <a:off x="5228563" y="3174071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8"/>
          <p:cNvSpPr txBox="1"/>
          <p:nvPr/>
        </p:nvSpPr>
        <p:spPr>
          <a:xfrm>
            <a:off x="396550" y="4105200"/>
            <a:ext cx="589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 × 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1260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other number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252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0" name="Google Shape;1210;p88"/>
          <p:cNvSpPr/>
          <p:nvPr/>
        </p:nvSpPr>
        <p:spPr>
          <a:xfrm>
            <a:off x="2961943" y="4091961"/>
            <a:ext cx="2514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8"/>
          <p:cNvSpPr txBox="1"/>
          <p:nvPr/>
        </p:nvSpPr>
        <p:spPr>
          <a:xfrm>
            <a:off x="3645263" y="3228546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88"/>
          <p:cNvSpPr txBox="1"/>
          <p:nvPr/>
        </p:nvSpPr>
        <p:spPr>
          <a:xfrm>
            <a:off x="6001775" y="2589900"/>
            <a:ext cx="1630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Prime factors of 420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 using prime factorisation</a:t>
            </a:r>
            <a:endParaRPr/>
          </a:p>
        </p:txBody>
      </p:sp>
      <p:sp>
        <p:nvSpPr>
          <p:cNvPr id="1218" name="Google Shape;1218;p8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using prime factorisation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9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of more than two numbers</a:t>
            </a:r>
            <a:endParaRPr/>
          </a:p>
        </p:txBody>
      </p:sp>
      <p:sp>
        <p:nvSpPr>
          <p:cNvPr id="1220" name="Google Shape;1220;p8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pic>
        <p:nvPicPr>
          <p:cNvPr id="1221" name="Google Shape;122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62" y="36996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0"/>
          <p:cNvSpPr txBox="1"/>
          <p:nvPr>
            <p:ph idx="1" type="body"/>
          </p:nvPr>
        </p:nvSpPr>
        <p:spPr>
          <a:xfrm>
            <a:off x="324000" y="1292700"/>
            <a:ext cx="23298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84 = 2</a:t>
            </a:r>
            <a:r>
              <a:rPr baseline="30000" lang="en-GB"/>
              <a:t>2</a:t>
            </a:r>
            <a:r>
              <a:rPr lang="en-GB"/>
              <a:t> × 3 × 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900 = 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r>
              <a:rPr baseline="30000" lang="en-GB"/>
              <a:t>2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225</a:t>
            </a:r>
            <a:r>
              <a:rPr lang="en-GB"/>
              <a:t> = 3</a:t>
            </a:r>
            <a:r>
              <a:rPr baseline="30000" lang="en-GB"/>
              <a:t>2</a:t>
            </a:r>
            <a:r>
              <a:rPr lang="en-GB"/>
              <a:t> × </a:t>
            </a:r>
            <a:r>
              <a:rPr lang="en-GB"/>
              <a:t>5</a:t>
            </a:r>
            <a:r>
              <a:rPr baseline="30000" lang="en-GB"/>
              <a:t>2</a:t>
            </a:r>
            <a:endParaRPr/>
          </a:p>
        </p:txBody>
      </p:sp>
      <p:sp>
        <p:nvSpPr>
          <p:cNvPr id="1227" name="Google Shape;1227;p90"/>
          <p:cNvSpPr/>
          <p:nvPr/>
        </p:nvSpPr>
        <p:spPr>
          <a:xfrm>
            <a:off x="1591749" y="231080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90"/>
          <p:cNvSpPr/>
          <p:nvPr/>
        </p:nvSpPr>
        <p:spPr>
          <a:xfrm>
            <a:off x="2154730" y="180175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</a:t>
            </a:r>
            <a:r>
              <a:rPr lang="en-GB"/>
              <a:t>est common multiple of more than two numbers</a:t>
            </a:r>
            <a:endParaRPr/>
          </a:p>
        </p:txBody>
      </p:sp>
      <p:grpSp>
        <p:nvGrpSpPr>
          <p:cNvPr id="1230" name="Google Shape;1230;p90"/>
          <p:cNvGrpSpPr/>
          <p:nvPr/>
        </p:nvGrpSpPr>
        <p:grpSpPr>
          <a:xfrm>
            <a:off x="3314800" y="1261175"/>
            <a:ext cx="5669200" cy="3036095"/>
            <a:chOff x="3314800" y="1243875"/>
            <a:chExt cx="5669200" cy="3036095"/>
          </a:xfrm>
        </p:grpSpPr>
        <p:sp>
          <p:nvSpPr>
            <p:cNvPr id="1231" name="Google Shape;1231;p90"/>
            <p:cNvSpPr/>
            <p:nvPr/>
          </p:nvSpPr>
          <p:spPr>
            <a:xfrm>
              <a:off x="3778500" y="1526501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90"/>
            <p:cNvSpPr/>
            <p:nvPr/>
          </p:nvSpPr>
          <p:spPr>
            <a:xfrm>
              <a:off x="4977000" y="1573179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90"/>
            <p:cNvSpPr/>
            <p:nvPr/>
          </p:nvSpPr>
          <p:spPr>
            <a:xfrm>
              <a:off x="4447756" y="2430170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90"/>
            <p:cNvSpPr txBox="1"/>
            <p:nvPr/>
          </p:nvSpPr>
          <p:spPr>
            <a:xfrm>
              <a:off x="7170250" y="3669350"/>
              <a:ext cx="1662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225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90"/>
            <p:cNvSpPr txBox="1"/>
            <p:nvPr/>
          </p:nvSpPr>
          <p:spPr>
            <a:xfrm>
              <a:off x="3314800" y="1243875"/>
              <a:ext cx="1662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84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90"/>
            <p:cNvSpPr txBox="1"/>
            <p:nvPr/>
          </p:nvSpPr>
          <p:spPr>
            <a:xfrm>
              <a:off x="7279700" y="1243875"/>
              <a:ext cx="1704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900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7" name="Google Shape;1237;p90"/>
          <p:cNvSpPr txBox="1"/>
          <p:nvPr/>
        </p:nvSpPr>
        <p:spPr>
          <a:xfrm>
            <a:off x="5710986" y="1848600"/>
            <a:ext cx="3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0"/>
          <p:cNvSpPr txBox="1"/>
          <p:nvPr/>
        </p:nvSpPr>
        <p:spPr>
          <a:xfrm>
            <a:off x="5638325" y="2609875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0"/>
          <p:cNvSpPr txBox="1"/>
          <p:nvPr/>
        </p:nvSpPr>
        <p:spPr>
          <a:xfrm>
            <a:off x="6334320" y="3070650"/>
            <a:ext cx="30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0"/>
          <p:cNvSpPr txBox="1"/>
          <p:nvPr/>
        </p:nvSpPr>
        <p:spPr>
          <a:xfrm>
            <a:off x="402725" y="4432550"/>
            <a:ext cx="605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84, 900 and 225 is 2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>
            <a:off x="6638000" y="27762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0"/>
          <p:cNvSpPr/>
          <p:nvPr/>
        </p:nvSpPr>
        <p:spPr>
          <a:xfrm>
            <a:off x="929325" y="129270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90"/>
          <p:cNvSpPr/>
          <p:nvPr/>
        </p:nvSpPr>
        <p:spPr>
          <a:xfrm>
            <a:off x="1048625" y="180175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90"/>
          <p:cNvSpPr/>
          <p:nvPr/>
        </p:nvSpPr>
        <p:spPr>
          <a:xfrm>
            <a:off x="1472450" y="129270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90"/>
          <p:cNvSpPr/>
          <p:nvPr/>
        </p:nvSpPr>
        <p:spPr>
          <a:xfrm>
            <a:off x="1598350" y="180175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90"/>
          <p:cNvSpPr/>
          <p:nvPr/>
        </p:nvSpPr>
        <p:spPr>
          <a:xfrm>
            <a:off x="1029350" y="2310800"/>
            <a:ext cx="3585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90"/>
          <p:cNvSpPr/>
          <p:nvPr/>
        </p:nvSpPr>
        <p:spPr>
          <a:xfrm>
            <a:off x="1922750" y="129270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90"/>
          <p:cNvSpPr txBox="1"/>
          <p:nvPr/>
        </p:nvSpPr>
        <p:spPr>
          <a:xfrm>
            <a:off x="6522000" y="4432550"/>
            <a:ext cx="9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6300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0"/>
          <p:cNvSpPr txBox="1"/>
          <p:nvPr/>
        </p:nvSpPr>
        <p:spPr>
          <a:xfrm>
            <a:off x="4385700" y="221925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0"/>
          <p:cNvSpPr txBox="1"/>
          <p:nvPr>
            <p:ph idx="1" type="body"/>
          </p:nvPr>
        </p:nvSpPr>
        <p:spPr>
          <a:xfrm>
            <a:off x="324000" y="810000"/>
            <a:ext cx="50976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</a:t>
            </a:r>
            <a:r>
              <a:rPr b="1" lang="en-GB"/>
              <a:t>LCM</a:t>
            </a:r>
            <a:r>
              <a:rPr lang="en-GB"/>
              <a:t> of 84, 900 and 225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5" name="Google Shape;1255;p91"/>
          <p:cNvGrpSpPr/>
          <p:nvPr/>
        </p:nvGrpSpPr>
        <p:grpSpPr>
          <a:xfrm>
            <a:off x="3314800" y="1261175"/>
            <a:ext cx="5627200" cy="3036095"/>
            <a:chOff x="3314800" y="1243875"/>
            <a:chExt cx="5627200" cy="3036095"/>
          </a:xfrm>
        </p:grpSpPr>
        <p:sp>
          <p:nvSpPr>
            <p:cNvPr id="1256" name="Google Shape;1256;p91"/>
            <p:cNvSpPr/>
            <p:nvPr/>
          </p:nvSpPr>
          <p:spPr>
            <a:xfrm>
              <a:off x="3778500" y="1526501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91"/>
            <p:cNvSpPr/>
            <p:nvPr/>
          </p:nvSpPr>
          <p:spPr>
            <a:xfrm>
              <a:off x="4977000" y="1573179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91"/>
            <p:cNvSpPr/>
            <p:nvPr/>
          </p:nvSpPr>
          <p:spPr>
            <a:xfrm>
              <a:off x="4447756" y="2430170"/>
              <a:ext cx="2793300" cy="184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91"/>
            <p:cNvSpPr txBox="1"/>
            <p:nvPr/>
          </p:nvSpPr>
          <p:spPr>
            <a:xfrm>
              <a:off x="7170250" y="3669350"/>
              <a:ext cx="1728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1350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91"/>
            <p:cNvSpPr txBox="1"/>
            <p:nvPr/>
          </p:nvSpPr>
          <p:spPr>
            <a:xfrm>
              <a:off x="3314800" y="1243875"/>
              <a:ext cx="1662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198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91"/>
            <p:cNvSpPr txBox="1"/>
            <p:nvPr/>
          </p:nvSpPr>
          <p:spPr>
            <a:xfrm>
              <a:off x="7279700" y="1243875"/>
              <a:ext cx="1662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factors of 270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91"/>
          <p:cNvSpPr txBox="1"/>
          <p:nvPr>
            <p:ph idx="1" type="body"/>
          </p:nvPr>
        </p:nvSpPr>
        <p:spPr>
          <a:xfrm>
            <a:off x="324000" y="1368900"/>
            <a:ext cx="2660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198</a:t>
            </a:r>
            <a:r>
              <a:rPr lang="en-GB"/>
              <a:t> = 2 × 3</a:t>
            </a:r>
            <a:r>
              <a:rPr baseline="30000" lang="en-GB"/>
              <a:t>2</a:t>
            </a:r>
            <a:r>
              <a:rPr lang="en-GB"/>
              <a:t> × </a:t>
            </a:r>
            <a:r>
              <a:rPr lang="en-GB"/>
              <a:t>11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270 = 2 × 3</a:t>
            </a:r>
            <a:r>
              <a:rPr baseline="30000" lang="en-GB"/>
              <a:t>3</a:t>
            </a:r>
            <a:r>
              <a:rPr lang="en-GB"/>
              <a:t> × 5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1350</a:t>
            </a:r>
            <a:r>
              <a:rPr lang="en-GB"/>
              <a:t> = </a:t>
            </a:r>
            <a:r>
              <a:rPr lang="en-GB"/>
              <a:t>2 × </a:t>
            </a:r>
            <a:r>
              <a:rPr lang="en-GB"/>
              <a:t>3</a:t>
            </a:r>
            <a:r>
              <a:rPr baseline="30000" lang="en-GB"/>
              <a:t>3</a:t>
            </a:r>
            <a:r>
              <a:rPr lang="en-GB"/>
              <a:t> × 5</a:t>
            </a:r>
            <a:r>
              <a:rPr baseline="30000" lang="en-GB"/>
              <a:t>2</a:t>
            </a:r>
            <a:endParaRPr/>
          </a:p>
        </p:txBody>
      </p:sp>
      <p:sp>
        <p:nvSpPr>
          <p:cNvPr id="1263" name="Google Shape;1263;p91"/>
          <p:cNvSpPr/>
          <p:nvPr/>
        </p:nvSpPr>
        <p:spPr>
          <a:xfrm>
            <a:off x="1667950" y="2387000"/>
            <a:ext cx="2991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91"/>
          <p:cNvSpPr/>
          <p:nvPr/>
        </p:nvSpPr>
        <p:spPr>
          <a:xfrm>
            <a:off x="2058670" y="187795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91"/>
          <p:cNvSpPr/>
          <p:nvPr/>
        </p:nvSpPr>
        <p:spPr>
          <a:xfrm>
            <a:off x="1061875" y="136890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91"/>
          <p:cNvSpPr/>
          <p:nvPr/>
        </p:nvSpPr>
        <p:spPr>
          <a:xfrm>
            <a:off x="1101105" y="187795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91"/>
          <p:cNvSpPr/>
          <p:nvPr/>
        </p:nvSpPr>
        <p:spPr>
          <a:xfrm>
            <a:off x="1492309" y="1368900"/>
            <a:ext cx="2991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91"/>
          <p:cNvSpPr/>
          <p:nvPr/>
        </p:nvSpPr>
        <p:spPr>
          <a:xfrm>
            <a:off x="1525523" y="1877950"/>
            <a:ext cx="2991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91"/>
          <p:cNvSpPr/>
          <p:nvPr/>
        </p:nvSpPr>
        <p:spPr>
          <a:xfrm>
            <a:off x="1231791" y="2387000"/>
            <a:ext cx="2124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of more than two numbers</a:t>
            </a:r>
            <a:endParaRPr/>
          </a:p>
        </p:txBody>
      </p:sp>
      <p:sp>
        <p:nvSpPr>
          <p:cNvPr id="1271" name="Google Shape;1271;p91"/>
          <p:cNvSpPr txBox="1"/>
          <p:nvPr/>
        </p:nvSpPr>
        <p:spPr>
          <a:xfrm>
            <a:off x="5774404" y="2571750"/>
            <a:ext cx="21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1"/>
          <p:cNvSpPr txBox="1"/>
          <p:nvPr/>
        </p:nvSpPr>
        <p:spPr>
          <a:xfrm>
            <a:off x="5366050" y="2759050"/>
            <a:ext cx="2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1"/>
          <p:cNvSpPr txBox="1"/>
          <p:nvPr/>
        </p:nvSpPr>
        <p:spPr>
          <a:xfrm>
            <a:off x="6364200" y="3038700"/>
            <a:ext cx="26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1"/>
          <p:cNvSpPr txBox="1"/>
          <p:nvPr/>
        </p:nvSpPr>
        <p:spPr>
          <a:xfrm>
            <a:off x="4423975" y="2189650"/>
            <a:ext cx="3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1"/>
          <p:cNvSpPr txBox="1"/>
          <p:nvPr/>
        </p:nvSpPr>
        <p:spPr>
          <a:xfrm>
            <a:off x="402725" y="4432550"/>
            <a:ext cx="64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198, 270 and 1350 is 2 ×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1"/>
          <p:cNvSpPr txBox="1"/>
          <p:nvPr/>
        </p:nvSpPr>
        <p:spPr>
          <a:xfrm>
            <a:off x="6638000" y="2776200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1"/>
          <p:cNvSpPr txBox="1"/>
          <p:nvPr/>
        </p:nvSpPr>
        <p:spPr>
          <a:xfrm>
            <a:off x="6750300" y="4432550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14 850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1"/>
          <p:cNvSpPr txBox="1"/>
          <p:nvPr/>
        </p:nvSpPr>
        <p:spPr>
          <a:xfrm>
            <a:off x="5751258" y="3547264"/>
            <a:ext cx="1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1"/>
          <p:cNvSpPr txBox="1"/>
          <p:nvPr>
            <p:ph idx="1" type="body"/>
          </p:nvPr>
        </p:nvSpPr>
        <p:spPr>
          <a:xfrm>
            <a:off x="324000" y="810000"/>
            <a:ext cx="51300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</a:t>
            </a:r>
            <a:r>
              <a:rPr b="1" lang="en-GB"/>
              <a:t>LCM </a:t>
            </a:r>
            <a:r>
              <a:rPr lang="en-GB"/>
              <a:t>of 198, 270 and 1350</a:t>
            </a:r>
            <a:endParaRPr/>
          </a:p>
        </p:txBody>
      </p:sp>
      <p:sp>
        <p:nvSpPr>
          <p:cNvPr id="1280" name="Google Shape;1280;p91"/>
          <p:cNvSpPr/>
          <p:nvPr/>
        </p:nvSpPr>
        <p:spPr>
          <a:xfrm>
            <a:off x="2190795" y="2387000"/>
            <a:ext cx="2991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91"/>
          <p:cNvSpPr/>
          <p:nvPr/>
        </p:nvSpPr>
        <p:spPr>
          <a:xfrm>
            <a:off x="2032105" y="1378925"/>
            <a:ext cx="354600" cy="31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91"/>
          <p:cNvSpPr txBox="1"/>
          <p:nvPr/>
        </p:nvSpPr>
        <p:spPr>
          <a:xfrm>
            <a:off x="5711950" y="3644625"/>
            <a:ext cx="26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of more than two numbers</a:t>
            </a:r>
            <a:endParaRPr/>
          </a:p>
        </p:txBody>
      </p:sp>
      <p:grpSp>
        <p:nvGrpSpPr>
          <p:cNvPr id="1288" name="Google Shape;1288;p92"/>
          <p:cNvGrpSpPr/>
          <p:nvPr/>
        </p:nvGrpSpPr>
        <p:grpSpPr>
          <a:xfrm>
            <a:off x="1146213" y="575850"/>
            <a:ext cx="6851576" cy="2267967"/>
            <a:chOff x="2476600" y="1243875"/>
            <a:chExt cx="6851576" cy="2267967"/>
          </a:xfrm>
        </p:grpSpPr>
        <p:sp>
          <p:nvSpPr>
            <p:cNvPr id="1289" name="Google Shape;1289;p92"/>
            <p:cNvSpPr/>
            <p:nvPr/>
          </p:nvSpPr>
          <p:spPr>
            <a:xfrm>
              <a:off x="3778500" y="1526500"/>
              <a:ext cx="2793300" cy="1333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92"/>
            <p:cNvSpPr/>
            <p:nvPr/>
          </p:nvSpPr>
          <p:spPr>
            <a:xfrm>
              <a:off x="4977000" y="1560155"/>
              <a:ext cx="2793300" cy="1333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92"/>
            <p:cNvSpPr/>
            <p:nvPr/>
          </p:nvSpPr>
          <p:spPr>
            <a:xfrm>
              <a:off x="4447756" y="2178042"/>
              <a:ext cx="2793300" cy="1333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92"/>
            <p:cNvSpPr txBox="1"/>
            <p:nvPr/>
          </p:nvSpPr>
          <p:spPr>
            <a:xfrm>
              <a:off x="7287024" y="2885650"/>
              <a:ext cx="1769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Prime factors of  210 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92"/>
            <p:cNvSpPr txBox="1"/>
            <p:nvPr/>
          </p:nvSpPr>
          <p:spPr>
            <a:xfrm>
              <a:off x="2476600" y="1243875"/>
              <a:ext cx="1612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Prime factors of 60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92"/>
            <p:cNvSpPr txBox="1"/>
            <p:nvPr/>
          </p:nvSpPr>
          <p:spPr>
            <a:xfrm>
              <a:off x="7715676" y="1310500"/>
              <a:ext cx="1612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Prime factors of 50 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5" name="Google Shape;1295;p92"/>
          <p:cNvSpPr txBox="1"/>
          <p:nvPr/>
        </p:nvSpPr>
        <p:spPr>
          <a:xfrm>
            <a:off x="4076213" y="159677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2"/>
          <p:cNvSpPr txBox="1"/>
          <p:nvPr/>
        </p:nvSpPr>
        <p:spPr>
          <a:xfrm>
            <a:off x="2944713" y="134507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2"/>
          <p:cNvSpPr txBox="1"/>
          <p:nvPr/>
        </p:nvSpPr>
        <p:spPr>
          <a:xfrm>
            <a:off x="3454588" y="177497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2"/>
          <p:cNvSpPr txBox="1"/>
          <p:nvPr/>
        </p:nvSpPr>
        <p:spPr>
          <a:xfrm>
            <a:off x="4613363" y="159962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2"/>
          <p:cNvSpPr txBox="1"/>
          <p:nvPr/>
        </p:nvSpPr>
        <p:spPr>
          <a:xfrm>
            <a:off x="5660838" y="125807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2"/>
          <p:cNvSpPr txBox="1"/>
          <p:nvPr/>
        </p:nvSpPr>
        <p:spPr>
          <a:xfrm>
            <a:off x="4601963" y="2356075"/>
            <a:ext cx="2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92"/>
          <p:cNvSpPr txBox="1"/>
          <p:nvPr/>
        </p:nvSpPr>
        <p:spPr>
          <a:xfrm>
            <a:off x="645025" y="4512600"/>
            <a:ext cx="63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Alex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2" name="Google Shape;130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4" y="3208725"/>
            <a:ext cx="1069701" cy="1239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92"/>
          <p:cNvGrpSpPr/>
          <p:nvPr/>
        </p:nvGrpSpPr>
        <p:grpSpPr>
          <a:xfrm>
            <a:off x="1317498" y="2810825"/>
            <a:ext cx="2216177" cy="877800"/>
            <a:chOff x="1684798" y="3085475"/>
            <a:chExt cx="2216177" cy="877800"/>
          </a:xfrm>
        </p:grpSpPr>
        <p:pic>
          <p:nvPicPr>
            <p:cNvPr id="1304" name="Google Shape;1304;p92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684798" y="3085475"/>
              <a:ext cx="2216177" cy="87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92"/>
            <p:cNvSpPr txBox="1"/>
            <p:nvPr/>
          </p:nvSpPr>
          <p:spPr>
            <a:xfrm>
              <a:off x="1846575" y="3164400"/>
              <a:ext cx="205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LCM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of 60, 50 and 210 is 10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6" name="Google Shape;1306;p92"/>
          <p:cNvSpPr txBox="1"/>
          <p:nvPr/>
        </p:nvSpPr>
        <p:spPr>
          <a:xfrm>
            <a:off x="4320000" y="3151150"/>
            <a:ext cx="367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 you agree with Alex?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2"/>
          <p:cNvSpPr txBox="1"/>
          <p:nvPr/>
        </p:nvSpPr>
        <p:spPr>
          <a:xfrm>
            <a:off x="4320000" y="3611350"/>
            <a:ext cx="4220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 has found the HCF not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LCM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a common mistake.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should have found the product of </a:t>
            </a:r>
            <a:r>
              <a:rPr lang="en-GB"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all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factors.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 of more than two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93"/>
          <p:cNvSpPr txBox="1"/>
          <p:nvPr/>
        </p:nvSpPr>
        <p:spPr>
          <a:xfrm>
            <a:off x="324000" y="759300"/>
            <a:ext cx="2659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3"/>
          <p:cNvSpPr/>
          <p:nvPr/>
        </p:nvSpPr>
        <p:spPr>
          <a:xfrm>
            <a:off x="4464300" y="963550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93"/>
          <p:cNvSpPr/>
          <p:nvPr/>
        </p:nvSpPr>
        <p:spPr>
          <a:xfrm>
            <a:off x="5662801" y="1017188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93"/>
          <p:cNvSpPr/>
          <p:nvPr/>
        </p:nvSpPr>
        <p:spPr>
          <a:xfrm>
            <a:off x="5133556" y="2001942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93"/>
          <p:cNvSpPr txBox="1"/>
          <p:nvPr/>
        </p:nvSpPr>
        <p:spPr>
          <a:xfrm>
            <a:off x="7654975" y="17166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3"/>
          <p:cNvSpPr txBox="1"/>
          <p:nvPr/>
        </p:nvSpPr>
        <p:spPr>
          <a:xfrm>
            <a:off x="324000" y="1299300"/>
            <a:ext cx="30117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baseline="30000"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3"/>
          <p:cNvSpPr txBox="1"/>
          <p:nvPr/>
        </p:nvSpPr>
        <p:spPr>
          <a:xfrm>
            <a:off x="6348025" y="25306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3"/>
          <p:cNvSpPr txBox="1"/>
          <p:nvPr/>
        </p:nvSpPr>
        <p:spPr>
          <a:xfrm>
            <a:off x="5494475" y="26242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3"/>
          <p:cNvSpPr txBox="1"/>
          <p:nvPr/>
        </p:nvSpPr>
        <p:spPr>
          <a:xfrm>
            <a:off x="4693475" y="1620000"/>
            <a:ext cx="116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93"/>
          <p:cNvSpPr txBox="1"/>
          <p:nvPr/>
        </p:nvSpPr>
        <p:spPr>
          <a:xfrm>
            <a:off x="324000" y="4227900"/>
            <a:ext cx="610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93"/>
          <p:cNvSpPr txBox="1"/>
          <p:nvPr/>
        </p:nvSpPr>
        <p:spPr>
          <a:xfrm>
            <a:off x="6030600" y="2160000"/>
            <a:ext cx="116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93"/>
          <p:cNvSpPr txBox="1"/>
          <p:nvPr/>
        </p:nvSpPr>
        <p:spPr>
          <a:xfrm>
            <a:off x="5986875" y="3406900"/>
            <a:ext cx="116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aseline="30000" sz="2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Lowest common multiple of more than two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94"/>
          <p:cNvSpPr txBox="1"/>
          <p:nvPr/>
        </p:nvSpPr>
        <p:spPr>
          <a:xfrm>
            <a:off x="324000" y="759300"/>
            <a:ext cx="2745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4"/>
          <p:cNvSpPr/>
          <p:nvPr/>
        </p:nvSpPr>
        <p:spPr>
          <a:xfrm>
            <a:off x="4464300" y="963550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94"/>
          <p:cNvSpPr/>
          <p:nvPr/>
        </p:nvSpPr>
        <p:spPr>
          <a:xfrm>
            <a:off x="5662801" y="1017188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94"/>
          <p:cNvSpPr/>
          <p:nvPr/>
        </p:nvSpPr>
        <p:spPr>
          <a:xfrm>
            <a:off x="5133556" y="2001942"/>
            <a:ext cx="2793300" cy="21258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94"/>
          <p:cNvSpPr txBox="1"/>
          <p:nvPr/>
        </p:nvSpPr>
        <p:spPr>
          <a:xfrm>
            <a:off x="7654975" y="17166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4"/>
          <p:cNvSpPr txBox="1"/>
          <p:nvPr/>
        </p:nvSpPr>
        <p:spPr>
          <a:xfrm>
            <a:off x="324000" y="1299300"/>
            <a:ext cx="2634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140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baseline="30000"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660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4"/>
          <p:cNvSpPr txBox="1"/>
          <p:nvPr/>
        </p:nvSpPr>
        <p:spPr>
          <a:xfrm>
            <a:off x="6304950" y="20553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7" name="Google Shape;1337;p94"/>
          <p:cNvSpPr txBox="1"/>
          <p:nvPr/>
        </p:nvSpPr>
        <p:spPr>
          <a:xfrm>
            <a:off x="6304950" y="344130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8" name="Google Shape;1338;p94"/>
          <p:cNvSpPr txBox="1"/>
          <p:nvPr/>
        </p:nvSpPr>
        <p:spPr>
          <a:xfrm>
            <a:off x="6348025" y="25306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4"/>
          <p:cNvSpPr txBox="1"/>
          <p:nvPr/>
        </p:nvSpPr>
        <p:spPr>
          <a:xfrm>
            <a:off x="5494475" y="2624250"/>
            <a:ext cx="3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4"/>
          <p:cNvSpPr txBox="1"/>
          <p:nvPr/>
        </p:nvSpPr>
        <p:spPr>
          <a:xfrm>
            <a:off x="4998275" y="1620000"/>
            <a:ext cx="39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94"/>
          <p:cNvSpPr txBox="1"/>
          <p:nvPr/>
        </p:nvSpPr>
        <p:spPr>
          <a:xfrm>
            <a:off x="324000" y="4227900"/>
            <a:ext cx="528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140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660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13 860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Common multiples can be found using </a:t>
            </a:r>
            <a:r>
              <a:rPr b="1" lang="en-GB"/>
              <a:t>prime factorisation.</a:t>
            </a:r>
            <a:br>
              <a:rPr lang="en-GB"/>
            </a:br>
            <a:br>
              <a:rPr lang="en-GB"/>
            </a:br>
            <a:r>
              <a:rPr lang="en-GB"/>
              <a:t>The </a:t>
            </a:r>
            <a:r>
              <a:rPr b="1" lang="en-GB"/>
              <a:t>lowest common multiple</a:t>
            </a:r>
            <a:r>
              <a:rPr lang="en-GB"/>
              <a:t> of numbers can be found using </a:t>
            </a:r>
            <a:r>
              <a:rPr b="1" lang="en-GB"/>
              <a:t>prime factorisation</a:t>
            </a:r>
            <a:r>
              <a:rPr lang="en-GB"/>
              <a:t> and maybe a Venn diagram.</a:t>
            </a:r>
            <a:br>
              <a:rPr lang="en-GB"/>
            </a:br>
            <a:br>
              <a:rPr lang="en-GB"/>
            </a:br>
            <a:r>
              <a:rPr lang="en-GB"/>
              <a:t>E.g. </a:t>
            </a:r>
            <a:endParaRPr/>
          </a:p>
        </p:txBody>
      </p:sp>
      <p:sp>
        <p:nvSpPr>
          <p:cNvPr id="1347" name="Google Shape;1347;p9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pic>
        <p:nvPicPr>
          <p:cNvPr id="1348" name="Google Shape;134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150" y="3029049"/>
            <a:ext cx="3574475" cy="174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4" name="Google Shape;135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