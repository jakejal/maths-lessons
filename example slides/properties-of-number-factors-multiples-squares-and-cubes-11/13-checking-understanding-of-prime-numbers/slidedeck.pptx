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1e7ea2754fa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1e7ea2754f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287fd5b8c7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287fd5b8c7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1e7ea2754f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1e7ea2754f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1e7ea2754f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1e7ea2754f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1e7ea2754f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1e7ea2754f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2827bc59f9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2827bc59f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1e7ea2754fa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1e7ea2754fa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1e7ea2754fa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1e7ea2754fa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1e7ea2754fa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Google Shape;895;g1e7ea2754fa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1e7ea2754fa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1e7ea2754fa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1e7ea2754fa_0_6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1e7ea2754fa_0_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289f2662356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289f2662356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289f266235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289f266235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1e7ea2754fa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1e7ea2754fa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1e7ea2754fa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9" name="Google Shape;989;g1e7ea2754fa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1e7ea2754fa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8" name="Google Shape;998;g1e7ea2754fa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g1e7ea2754fa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3" name="Google Shape;1183;g1e7ea2754fa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1e7ea2754fa_0_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3" name="Google Shape;1193;g1e7ea2754fa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g286a88789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1" name="Google Shape;1281;g286a88789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g2830fbd9be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8" name="Google Shape;1308;g2830fbd9be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g2830fbd9bea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6" name="Google Shape;1416;g2830fbd9bea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g287fd5b8c7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3" name="Google Shape;1443;g287fd5b8c7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1" name="Google Shape;1461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8" name="Google Shape;1468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22.png"/><Relationship Id="rId5" Type="http://schemas.openxmlformats.org/officeDocument/2006/relationships/image" Target="../media/image1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6.png"/><Relationship Id="rId4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14.png"/><Relationship Id="rId7" Type="http://schemas.openxmlformats.org/officeDocument/2006/relationships/image" Target="../media/image2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0.png"/><Relationship Id="rId4" Type="http://schemas.openxmlformats.org/officeDocument/2006/relationships/image" Target="../media/image55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1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55.png"/><Relationship Id="rId4" Type="http://schemas.openxmlformats.org/officeDocument/2006/relationships/image" Target="../media/image24.png"/><Relationship Id="rId9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30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55.png"/><Relationship Id="rId4" Type="http://schemas.openxmlformats.org/officeDocument/2006/relationships/image" Target="../media/image27.png"/><Relationship Id="rId11" Type="http://schemas.openxmlformats.org/officeDocument/2006/relationships/image" Target="../media/image17.png"/><Relationship Id="rId10" Type="http://schemas.openxmlformats.org/officeDocument/2006/relationships/image" Target="../media/image39.png"/><Relationship Id="rId9" Type="http://schemas.openxmlformats.org/officeDocument/2006/relationships/image" Target="../media/image33.png"/><Relationship Id="rId5" Type="http://schemas.openxmlformats.org/officeDocument/2006/relationships/image" Target="../media/image24.png"/><Relationship Id="rId6" Type="http://schemas.openxmlformats.org/officeDocument/2006/relationships/image" Target="../media/image20.png"/><Relationship Id="rId7" Type="http://schemas.openxmlformats.org/officeDocument/2006/relationships/image" Target="../media/image30.png"/><Relationship Id="rId8" Type="http://schemas.openxmlformats.org/officeDocument/2006/relationships/image" Target="../media/image3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360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7.png"/><Relationship Id="rId4" Type="http://schemas.openxmlformats.org/officeDocument/2006/relationships/image" Target="../media/image52.png"/><Relationship Id="rId5" Type="http://schemas.openxmlformats.org/officeDocument/2006/relationships/image" Target="../media/image5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prime numbers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number: factors, multiples, squares and cubes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90850" y="725950"/>
            <a:ext cx="227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</a:t>
            </a:r>
            <a:r>
              <a:rPr lang="en-GB"/>
              <a:t> can state the properties of a prime number and can identify prime numbers.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993650"/>
            <a:ext cx="8496000" cy="77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b="1" lang="en-GB"/>
              <a:t>prime</a:t>
            </a:r>
            <a:r>
              <a:rPr lang="en-GB"/>
              <a:t> number is an integer greater than one with exactly two factors.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8"/>
          <p:cNvSpPr txBox="1"/>
          <p:nvPr>
            <p:ph idx="2" type="subTitle"/>
          </p:nvPr>
        </p:nvSpPr>
        <p:spPr>
          <a:xfrm>
            <a:off x="324001" y="976423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multiple is the product of a </a:t>
            </a:r>
            <a:r>
              <a:rPr lang="en-GB"/>
              <a:t>number</a:t>
            </a:r>
            <a:r>
              <a:rPr lang="en-GB"/>
              <a:t> and an integer.  </a:t>
            </a:r>
            <a:endParaRPr/>
          </a:p>
        </p:txBody>
      </p:sp>
      <p:sp>
        <p:nvSpPr>
          <p:cNvPr id="772" name="Google Shape;772;p68"/>
          <p:cNvSpPr txBox="1"/>
          <p:nvPr>
            <p:ph idx="3" type="subTitle"/>
          </p:nvPr>
        </p:nvSpPr>
        <p:spPr>
          <a:xfrm>
            <a:off x="324001" y="2221523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numerical factor is a factor that is an integer.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primes</a:t>
            </a:r>
            <a:endParaRPr/>
          </a:p>
        </p:txBody>
      </p:sp>
      <p:sp>
        <p:nvSpPr>
          <p:cNvPr id="778" name="Google Shape;778;p69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primes</a:t>
            </a:r>
            <a:endParaRPr/>
          </a:p>
        </p:txBody>
      </p:sp>
      <p:sp>
        <p:nvSpPr>
          <p:cNvPr id="779" name="Google Shape;779;p6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prime numbers</a:t>
            </a:r>
            <a:endParaRPr/>
          </a:p>
        </p:txBody>
      </p:sp>
      <p:pic>
        <p:nvPicPr>
          <p:cNvPr id="780" name="Google Shape;780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575" y="20594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primes</a:t>
            </a:r>
            <a:endParaRPr/>
          </a:p>
        </p:txBody>
      </p:sp>
      <p:sp>
        <p:nvSpPr>
          <p:cNvPr id="786" name="Google Shape;786;p70"/>
          <p:cNvSpPr txBox="1"/>
          <p:nvPr>
            <p:ph idx="1" type="body"/>
          </p:nvPr>
        </p:nvSpPr>
        <p:spPr>
          <a:xfrm>
            <a:off x="324000" y="759300"/>
            <a:ext cx="8496000" cy="7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Jacob is thinking about the numbers 1 to 10 and their factors.</a:t>
            </a:r>
            <a:endParaRPr/>
          </a:p>
        </p:txBody>
      </p:sp>
      <p:pic>
        <p:nvPicPr>
          <p:cNvPr id="787" name="Google Shape;787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99" y="3388400"/>
            <a:ext cx="1162500" cy="14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70"/>
          <p:cNvSpPr txBox="1"/>
          <p:nvPr>
            <p:ph idx="1" type="body"/>
          </p:nvPr>
        </p:nvSpPr>
        <p:spPr>
          <a:xfrm>
            <a:off x="324000" y="1630650"/>
            <a:ext cx="8496000" cy="7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He loves drawing arrays and noticed </a:t>
            </a:r>
            <a:r>
              <a:rPr lang="en-GB"/>
              <a:t>something</a:t>
            </a:r>
            <a:r>
              <a:rPr lang="en-GB"/>
              <a:t> when he was drawing them for different integers.</a:t>
            </a:r>
            <a:endParaRPr/>
          </a:p>
        </p:txBody>
      </p:sp>
      <p:pic>
        <p:nvPicPr>
          <p:cNvPr id="789" name="Google Shape;789;p70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1556177" y="2502000"/>
            <a:ext cx="3015823" cy="1528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70"/>
          <p:cNvSpPr txBox="1"/>
          <p:nvPr>
            <p:ph idx="1" type="body"/>
          </p:nvPr>
        </p:nvSpPr>
        <p:spPr>
          <a:xfrm>
            <a:off x="1853357" y="2578200"/>
            <a:ext cx="2827500" cy="152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I’ve noticed that some integers only have one array.</a:t>
            </a:r>
            <a:endParaRPr/>
          </a:p>
        </p:txBody>
      </p:sp>
      <p:sp>
        <p:nvSpPr>
          <p:cNvPr id="791" name="Google Shape;791;p70"/>
          <p:cNvSpPr txBox="1"/>
          <p:nvPr>
            <p:ph idx="1" type="body"/>
          </p:nvPr>
        </p:nvSpPr>
        <p:spPr>
          <a:xfrm>
            <a:off x="4824000" y="3566100"/>
            <a:ext cx="3996000" cy="7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Can you think of any integers which only have one array?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primes</a:t>
            </a:r>
            <a:endParaRPr/>
          </a:p>
        </p:txBody>
      </p:sp>
      <p:sp>
        <p:nvSpPr>
          <p:cNvPr id="797" name="Google Shape;797;p71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Let’s take a look at some of those integers.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71"/>
          <p:cNvSpPr txBox="1"/>
          <p:nvPr>
            <p:ph idx="1" type="body"/>
          </p:nvPr>
        </p:nvSpPr>
        <p:spPr>
          <a:xfrm>
            <a:off x="324000" y="129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We’ll look at 5, 6, 7 and 9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71"/>
          <p:cNvSpPr txBox="1"/>
          <p:nvPr>
            <p:ph idx="1" type="body"/>
          </p:nvPr>
        </p:nvSpPr>
        <p:spPr>
          <a:xfrm>
            <a:off x="324000" y="1839300"/>
            <a:ext cx="1706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Arrays for 5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71"/>
          <p:cNvSpPr txBox="1"/>
          <p:nvPr>
            <p:ph idx="1" type="body"/>
          </p:nvPr>
        </p:nvSpPr>
        <p:spPr>
          <a:xfrm>
            <a:off x="324000" y="2919300"/>
            <a:ext cx="1706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Arrays for 6</a:t>
            </a:r>
            <a:endParaRPr/>
          </a:p>
        </p:txBody>
      </p:sp>
      <p:sp>
        <p:nvSpPr>
          <p:cNvPr id="801" name="Google Shape;801;p71"/>
          <p:cNvSpPr txBox="1"/>
          <p:nvPr>
            <p:ph idx="1" type="body"/>
          </p:nvPr>
        </p:nvSpPr>
        <p:spPr>
          <a:xfrm>
            <a:off x="4572000" y="1839300"/>
            <a:ext cx="1706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Arrays for 7</a:t>
            </a:r>
            <a:endParaRPr/>
          </a:p>
        </p:txBody>
      </p:sp>
      <p:sp>
        <p:nvSpPr>
          <p:cNvPr id="802" name="Google Shape;802;p71"/>
          <p:cNvSpPr txBox="1"/>
          <p:nvPr>
            <p:ph idx="1" type="body"/>
          </p:nvPr>
        </p:nvSpPr>
        <p:spPr>
          <a:xfrm>
            <a:off x="4572000" y="2953200"/>
            <a:ext cx="1706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Arrays for 9</a:t>
            </a:r>
            <a:endParaRPr/>
          </a:p>
        </p:txBody>
      </p:sp>
      <p:sp>
        <p:nvSpPr>
          <p:cNvPr id="803" name="Google Shape;803;p71"/>
          <p:cNvSpPr/>
          <p:nvPr/>
        </p:nvSpPr>
        <p:spPr>
          <a:xfrm>
            <a:off x="311650" y="2246388"/>
            <a:ext cx="281700" cy="281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71"/>
          <p:cNvSpPr/>
          <p:nvPr/>
        </p:nvSpPr>
        <p:spPr>
          <a:xfrm>
            <a:off x="653200" y="2246388"/>
            <a:ext cx="281700" cy="281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71"/>
          <p:cNvSpPr/>
          <p:nvPr/>
        </p:nvSpPr>
        <p:spPr>
          <a:xfrm>
            <a:off x="994750" y="2246388"/>
            <a:ext cx="281700" cy="281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71"/>
          <p:cNvSpPr/>
          <p:nvPr/>
        </p:nvSpPr>
        <p:spPr>
          <a:xfrm>
            <a:off x="1336300" y="2246388"/>
            <a:ext cx="281700" cy="281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71"/>
          <p:cNvSpPr/>
          <p:nvPr/>
        </p:nvSpPr>
        <p:spPr>
          <a:xfrm>
            <a:off x="1677850" y="2246388"/>
            <a:ext cx="281700" cy="281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71"/>
          <p:cNvSpPr/>
          <p:nvPr/>
        </p:nvSpPr>
        <p:spPr>
          <a:xfrm>
            <a:off x="4572000" y="2278488"/>
            <a:ext cx="281700" cy="281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71"/>
          <p:cNvSpPr/>
          <p:nvPr/>
        </p:nvSpPr>
        <p:spPr>
          <a:xfrm>
            <a:off x="324000" y="3311713"/>
            <a:ext cx="281700" cy="281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71"/>
          <p:cNvSpPr/>
          <p:nvPr/>
        </p:nvSpPr>
        <p:spPr>
          <a:xfrm>
            <a:off x="665550" y="3311713"/>
            <a:ext cx="281700" cy="281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71"/>
          <p:cNvSpPr/>
          <p:nvPr/>
        </p:nvSpPr>
        <p:spPr>
          <a:xfrm>
            <a:off x="1007100" y="3311713"/>
            <a:ext cx="281700" cy="281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71"/>
          <p:cNvSpPr/>
          <p:nvPr/>
        </p:nvSpPr>
        <p:spPr>
          <a:xfrm>
            <a:off x="1348650" y="3311713"/>
            <a:ext cx="281700" cy="281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71"/>
          <p:cNvSpPr/>
          <p:nvPr/>
        </p:nvSpPr>
        <p:spPr>
          <a:xfrm>
            <a:off x="1690200" y="3311713"/>
            <a:ext cx="281700" cy="281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71"/>
          <p:cNvSpPr/>
          <p:nvPr/>
        </p:nvSpPr>
        <p:spPr>
          <a:xfrm>
            <a:off x="2031750" y="3311713"/>
            <a:ext cx="281700" cy="281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71"/>
          <p:cNvSpPr/>
          <p:nvPr/>
        </p:nvSpPr>
        <p:spPr>
          <a:xfrm>
            <a:off x="344307" y="4017288"/>
            <a:ext cx="281700" cy="281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71"/>
          <p:cNvSpPr/>
          <p:nvPr/>
        </p:nvSpPr>
        <p:spPr>
          <a:xfrm>
            <a:off x="685857" y="4017288"/>
            <a:ext cx="281700" cy="281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71"/>
          <p:cNvSpPr/>
          <p:nvPr/>
        </p:nvSpPr>
        <p:spPr>
          <a:xfrm>
            <a:off x="1027407" y="4017288"/>
            <a:ext cx="281700" cy="281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71"/>
          <p:cNvSpPr/>
          <p:nvPr/>
        </p:nvSpPr>
        <p:spPr>
          <a:xfrm>
            <a:off x="344307" y="4367816"/>
            <a:ext cx="281700" cy="281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71"/>
          <p:cNvSpPr/>
          <p:nvPr/>
        </p:nvSpPr>
        <p:spPr>
          <a:xfrm>
            <a:off x="685857" y="4367816"/>
            <a:ext cx="281700" cy="281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71"/>
          <p:cNvSpPr/>
          <p:nvPr/>
        </p:nvSpPr>
        <p:spPr>
          <a:xfrm>
            <a:off x="1027407" y="4367816"/>
            <a:ext cx="281700" cy="281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71"/>
          <p:cNvSpPr/>
          <p:nvPr/>
        </p:nvSpPr>
        <p:spPr>
          <a:xfrm>
            <a:off x="4913554" y="2278488"/>
            <a:ext cx="281700" cy="281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71"/>
          <p:cNvSpPr/>
          <p:nvPr/>
        </p:nvSpPr>
        <p:spPr>
          <a:xfrm>
            <a:off x="5255107" y="2278488"/>
            <a:ext cx="281700" cy="281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71"/>
          <p:cNvSpPr/>
          <p:nvPr/>
        </p:nvSpPr>
        <p:spPr>
          <a:xfrm>
            <a:off x="5596661" y="2278488"/>
            <a:ext cx="281700" cy="281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71"/>
          <p:cNvSpPr/>
          <p:nvPr/>
        </p:nvSpPr>
        <p:spPr>
          <a:xfrm>
            <a:off x="5938214" y="2278488"/>
            <a:ext cx="281700" cy="281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71"/>
          <p:cNvSpPr/>
          <p:nvPr/>
        </p:nvSpPr>
        <p:spPr>
          <a:xfrm>
            <a:off x="6279768" y="2278488"/>
            <a:ext cx="281700" cy="281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71"/>
          <p:cNvSpPr/>
          <p:nvPr/>
        </p:nvSpPr>
        <p:spPr>
          <a:xfrm>
            <a:off x="6621321" y="2278488"/>
            <a:ext cx="281700" cy="281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71"/>
          <p:cNvSpPr/>
          <p:nvPr/>
        </p:nvSpPr>
        <p:spPr>
          <a:xfrm>
            <a:off x="4572025" y="3311713"/>
            <a:ext cx="281700" cy="281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71"/>
          <p:cNvSpPr/>
          <p:nvPr/>
        </p:nvSpPr>
        <p:spPr>
          <a:xfrm>
            <a:off x="4913575" y="3311713"/>
            <a:ext cx="281700" cy="281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71"/>
          <p:cNvSpPr/>
          <p:nvPr/>
        </p:nvSpPr>
        <p:spPr>
          <a:xfrm>
            <a:off x="5255125" y="3311713"/>
            <a:ext cx="281700" cy="281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71"/>
          <p:cNvSpPr/>
          <p:nvPr/>
        </p:nvSpPr>
        <p:spPr>
          <a:xfrm>
            <a:off x="5596675" y="3311713"/>
            <a:ext cx="281700" cy="281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71"/>
          <p:cNvSpPr/>
          <p:nvPr/>
        </p:nvSpPr>
        <p:spPr>
          <a:xfrm>
            <a:off x="5938225" y="3311713"/>
            <a:ext cx="281700" cy="281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71"/>
          <p:cNvSpPr/>
          <p:nvPr/>
        </p:nvSpPr>
        <p:spPr>
          <a:xfrm>
            <a:off x="6279775" y="3311713"/>
            <a:ext cx="281700" cy="281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71"/>
          <p:cNvSpPr/>
          <p:nvPr/>
        </p:nvSpPr>
        <p:spPr>
          <a:xfrm>
            <a:off x="6621325" y="3311713"/>
            <a:ext cx="281700" cy="281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71"/>
          <p:cNvSpPr/>
          <p:nvPr/>
        </p:nvSpPr>
        <p:spPr>
          <a:xfrm>
            <a:off x="6962875" y="3311713"/>
            <a:ext cx="281700" cy="281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71"/>
          <p:cNvSpPr/>
          <p:nvPr/>
        </p:nvSpPr>
        <p:spPr>
          <a:xfrm>
            <a:off x="4586868" y="4200552"/>
            <a:ext cx="281700" cy="281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71"/>
          <p:cNvSpPr/>
          <p:nvPr/>
        </p:nvSpPr>
        <p:spPr>
          <a:xfrm>
            <a:off x="4928418" y="4200552"/>
            <a:ext cx="281700" cy="281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71"/>
          <p:cNvSpPr/>
          <p:nvPr/>
        </p:nvSpPr>
        <p:spPr>
          <a:xfrm>
            <a:off x="5269968" y="4200552"/>
            <a:ext cx="281700" cy="281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71"/>
          <p:cNvSpPr/>
          <p:nvPr/>
        </p:nvSpPr>
        <p:spPr>
          <a:xfrm>
            <a:off x="4586868" y="4543079"/>
            <a:ext cx="281700" cy="281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71"/>
          <p:cNvSpPr/>
          <p:nvPr/>
        </p:nvSpPr>
        <p:spPr>
          <a:xfrm>
            <a:off x="4928418" y="4543079"/>
            <a:ext cx="281700" cy="281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71"/>
          <p:cNvSpPr/>
          <p:nvPr/>
        </p:nvSpPr>
        <p:spPr>
          <a:xfrm>
            <a:off x="5269968" y="4543079"/>
            <a:ext cx="281700" cy="281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71"/>
          <p:cNvSpPr/>
          <p:nvPr/>
        </p:nvSpPr>
        <p:spPr>
          <a:xfrm>
            <a:off x="7304425" y="3311713"/>
            <a:ext cx="281700" cy="281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71"/>
          <p:cNvSpPr/>
          <p:nvPr/>
        </p:nvSpPr>
        <p:spPr>
          <a:xfrm>
            <a:off x="4586868" y="3858025"/>
            <a:ext cx="281700" cy="281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71"/>
          <p:cNvSpPr/>
          <p:nvPr/>
        </p:nvSpPr>
        <p:spPr>
          <a:xfrm>
            <a:off x="4928418" y="3858025"/>
            <a:ext cx="281700" cy="281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71"/>
          <p:cNvSpPr/>
          <p:nvPr/>
        </p:nvSpPr>
        <p:spPr>
          <a:xfrm>
            <a:off x="5269968" y="3858025"/>
            <a:ext cx="281700" cy="281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primes</a:t>
            </a:r>
            <a:endParaRPr/>
          </a:p>
        </p:txBody>
      </p:sp>
      <p:sp>
        <p:nvSpPr>
          <p:cNvPr id="850" name="Google Shape;850;p72"/>
          <p:cNvSpPr txBox="1"/>
          <p:nvPr>
            <p:ph idx="1" type="body"/>
          </p:nvPr>
        </p:nvSpPr>
        <p:spPr>
          <a:xfrm>
            <a:off x="4572000" y="3240000"/>
            <a:ext cx="4248000" cy="7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No, the sum of the digits is not  divisible by 3.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51" name="Google Shape;851;p72"/>
          <p:cNvSpPr txBox="1"/>
          <p:nvPr>
            <p:ph idx="1" type="body"/>
          </p:nvPr>
        </p:nvSpPr>
        <p:spPr>
          <a:xfrm>
            <a:off x="4572000" y="3240000"/>
            <a:ext cx="4248000" cy="12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If it’s not a multiple of 2 then it isn’t a multiple of any other even number.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52" name="Google Shape;852;p72"/>
          <p:cNvSpPr txBox="1"/>
          <p:nvPr>
            <p:ph idx="1" type="body"/>
          </p:nvPr>
        </p:nvSpPr>
        <p:spPr>
          <a:xfrm>
            <a:off x="4572000" y="3240000"/>
            <a:ext cx="4248000" cy="7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No, 7 does not divide into 11 without leaving a remainder.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53" name="Google Shape;853;p72"/>
          <p:cNvSpPr txBox="1"/>
          <p:nvPr>
            <p:ph idx="1" type="body"/>
          </p:nvPr>
        </p:nvSpPr>
        <p:spPr>
          <a:xfrm>
            <a:off x="4571993" y="2582900"/>
            <a:ext cx="2563200" cy="34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Is 2 a factor of 11?</a:t>
            </a:r>
            <a:endParaRPr/>
          </a:p>
        </p:txBody>
      </p:sp>
      <p:sp>
        <p:nvSpPr>
          <p:cNvPr id="854" name="Google Shape;854;p72"/>
          <p:cNvSpPr txBox="1"/>
          <p:nvPr>
            <p:ph idx="1" type="body"/>
          </p:nvPr>
        </p:nvSpPr>
        <p:spPr>
          <a:xfrm>
            <a:off x="4572000" y="3240000"/>
            <a:ext cx="2563200" cy="34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No, 11 is not even.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55" name="Google Shape;855;p72"/>
          <p:cNvSpPr txBox="1"/>
          <p:nvPr>
            <p:ph idx="1" type="body"/>
          </p:nvPr>
        </p:nvSpPr>
        <p:spPr>
          <a:xfrm>
            <a:off x="4571993" y="2582888"/>
            <a:ext cx="2563200" cy="34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Is 3 a factor of 11?</a:t>
            </a:r>
            <a:endParaRPr/>
          </a:p>
        </p:txBody>
      </p:sp>
      <p:sp>
        <p:nvSpPr>
          <p:cNvPr id="856" name="Google Shape;856;p72"/>
          <p:cNvSpPr txBox="1"/>
          <p:nvPr>
            <p:ph idx="1" type="body"/>
          </p:nvPr>
        </p:nvSpPr>
        <p:spPr>
          <a:xfrm>
            <a:off x="4571993" y="2582900"/>
            <a:ext cx="4569600" cy="34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Why don’t we need to check 4?</a:t>
            </a:r>
            <a:endParaRPr/>
          </a:p>
        </p:txBody>
      </p:sp>
      <p:sp>
        <p:nvSpPr>
          <p:cNvPr id="857" name="Google Shape;857;p72"/>
          <p:cNvSpPr txBox="1"/>
          <p:nvPr>
            <p:ph idx="1" type="body"/>
          </p:nvPr>
        </p:nvSpPr>
        <p:spPr>
          <a:xfrm>
            <a:off x="4571993" y="2569850"/>
            <a:ext cx="2563200" cy="34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Is 5 a factor of 11?</a:t>
            </a:r>
            <a:endParaRPr/>
          </a:p>
        </p:txBody>
      </p:sp>
      <p:sp>
        <p:nvSpPr>
          <p:cNvPr id="858" name="Google Shape;858;p72"/>
          <p:cNvSpPr txBox="1"/>
          <p:nvPr>
            <p:ph idx="1" type="body"/>
          </p:nvPr>
        </p:nvSpPr>
        <p:spPr>
          <a:xfrm>
            <a:off x="4572000" y="3240000"/>
            <a:ext cx="3045600" cy="34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No, the ones digit is neither 0 nor 5.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59" name="Google Shape;859;p72"/>
          <p:cNvSpPr txBox="1"/>
          <p:nvPr>
            <p:ph idx="1" type="body"/>
          </p:nvPr>
        </p:nvSpPr>
        <p:spPr>
          <a:xfrm>
            <a:off x="4571993" y="2582888"/>
            <a:ext cx="2563200" cy="34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Is 7 a factor of 11?</a:t>
            </a:r>
            <a:endParaRPr/>
          </a:p>
        </p:txBody>
      </p:sp>
      <p:sp>
        <p:nvSpPr>
          <p:cNvPr id="860" name="Google Shape;860;p72"/>
          <p:cNvSpPr txBox="1"/>
          <p:nvPr>
            <p:ph idx="1" type="body"/>
          </p:nvPr>
        </p:nvSpPr>
        <p:spPr>
          <a:xfrm>
            <a:off x="4572000" y="2581200"/>
            <a:ext cx="4166700" cy="15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8, 9 and 10 will not be factors due to the other tests of divisibility we have considered.</a:t>
            </a:r>
            <a:endParaRPr/>
          </a:p>
        </p:txBody>
      </p:sp>
      <p:sp>
        <p:nvSpPr>
          <p:cNvPr id="861" name="Google Shape;861;p72"/>
          <p:cNvSpPr txBox="1"/>
          <p:nvPr>
            <p:ph idx="1" type="body"/>
          </p:nvPr>
        </p:nvSpPr>
        <p:spPr>
          <a:xfrm>
            <a:off x="1297050" y="2547300"/>
            <a:ext cx="775500" cy="34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 × 11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72"/>
          <p:cNvSpPr txBox="1"/>
          <p:nvPr>
            <p:ph idx="1" type="body"/>
          </p:nvPr>
        </p:nvSpPr>
        <p:spPr>
          <a:xfrm>
            <a:off x="324000" y="759300"/>
            <a:ext cx="8237700" cy="34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Integers with exactly one factor pair are </a:t>
            </a:r>
            <a:r>
              <a:rPr b="1" lang="en-GB"/>
              <a:t>prime</a:t>
            </a:r>
            <a:r>
              <a:rPr lang="en-GB"/>
              <a:t> numbers.</a:t>
            </a:r>
            <a:endParaRPr/>
          </a:p>
        </p:txBody>
      </p:sp>
      <p:sp>
        <p:nvSpPr>
          <p:cNvPr id="863" name="Google Shape;863;p72"/>
          <p:cNvSpPr txBox="1"/>
          <p:nvPr>
            <p:ph idx="1" type="body"/>
          </p:nvPr>
        </p:nvSpPr>
        <p:spPr>
          <a:xfrm>
            <a:off x="324000" y="1215200"/>
            <a:ext cx="8237700" cy="34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also find </a:t>
            </a:r>
            <a:r>
              <a:rPr b="1" lang="en-GB"/>
              <a:t>prime</a:t>
            </a:r>
            <a:r>
              <a:rPr lang="en-GB"/>
              <a:t> numbers by listing their factors.</a:t>
            </a:r>
            <a:endParaRPr/>
          </a:p>
        </p:txBody>
      </p:sp>
      <p:sp>
        <p:nvSpPr>
          <p:cNvPr id="864" name="Google Shape;864;p72"/>
          <p:cNvSpPr txBox="1"/>
          <p:nvPr>
            <p:ph idx="1" type="body"/>
          </p:nvPr>
        </p:nvSpPr>
        <p:spPr>
          <a:xfrm>
            <a:off x="324000" y="1671100"/>
            <a:ext cx="8237700" cy="34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Let’s look at the number 11.</a:t>
            </a:r>
            <a:endParaRPr/>
          </a:p>
        </p:txBody>
      </p:sp>
      <p:sp>
        <p:nvSpPr>
          <p:cNvPr id="865" name="Google Shape;865;p72"/>
          <p:cNvSpPr txBox="1"/>
          <p:nvPr>
            <p:ph idx="1" type="body"/>
          </p:nvPr>
        </p:nvSpPr>
        <p:spPr>
          <a:xfrm>
            <a:off x="324000" y="2109200"/>
            <a:ext cx="2563200" cy="34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Factor pairs of 11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" name="Google Shape;870;p73"/>
          <p:cNvPicPr preferRelativeResize="0"/>
          <p:nvPr/>
        </p:nvPicPr>
        <p:blipFill rotWithShape="1">
          <a:blip r:embed="rId3">
            <a:alphaModFix/>
          </a:blip>
          <a:srcRect b="0" l="0" r="70143" t="56280"/>
          <a:stretch/>
        </p:blipFill>
        <p:spPr>
          <a:xfrm>
            <a:off x="4572000" y="992100"/>
            <a:ext cx="2593802" cy="240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Google Shape;871;p73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2049898" y="1197325"/>
            <a:ext cx="2522102" cy="1733099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primes</a:t>
            </a:r>
            <a:endParaRPr/>
          </a:p>
        </p:txBody>
      </p:sp>
      <p:pic>
        <p:nvPicPr>
          <p:cNvPr id="873" name="Google Shape;873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79598" y="1634963"/>
            <a:ext cx="1322177" cy="1798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9675" y="1634963"/>
            <a:ext cx="1529986" cy="1798875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73"/>
          <p:cNvSpPr txBox="1"/>
          <p:nvPr/>
        </p:nvSpPr>
        <p:spPr>
          <a:xfrm>
            <a:off x="2275100" y="1145325"/>
            <a:ext cx="22968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 is </a:t>
            </a:r>
            <a:r>
              <a:rPr b="1" lang="en-GB" sz="2200">
                <a:latin typeface="Lexend"/>
                <a:ea typeface="Lexend"/>
                <a:cs typeface="Lexend"/>
                <a:sym typeface="Lexend"/>
              </a:rPr>
              <a:t>prime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because it can only be divided by itself and 1.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6" name="Google Shape;876;p73"/>
          <p:cNvSpPr txBox="1"/>
          <p:nvPr/>
        </p:nvSpPr>
        <p:spPr>
          <a:xfrm>
            <a:off x="4777350" y="1191000"/>
            <a:ext cx="22968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 it not </a:t>
            </a:r>
            <a:r>
              <a:rPr b="1" lang="en-GB" sz="2200">
                <a:latin typeface="Lexend"/>
                <a:ea typeface="Lexend"/>
                <a:cs typeface="Lexend"/>
                <a:sym typeface="Lexend"/>
              </a:rPr>
              <a:t>prime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as it only has 1 factor.  A prime has exactly one factor pair.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7" name="Google Shape;877;p73"/>
          <p:cNvSpPr txBox="1"/>
          <p:nvPr/>
        </p:nvSpPr>
        <p:spPr>
          <a:xfrm>
            <a:off x="324000" y="3856200"/>
            <a:ext cx="3502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Who do you agree with?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8" name="Google Shape;878;p73"/>
          <p:cNvSpPr txBox="1"/>
          <p:nvPr/>
        </p:nvSpPr>
        <p:spPr>
          <a:xfrm>
            <a:off x="908113" y="3486150"/>
            <a:ext cx="753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9" name="Google Shape;879;p73"/>
          <p:cNvSpPr txBox="1"/>
          <p:nvPr/>
        </p:nvSpPr>
        <p:spPr>
          <a:xfrm>
            <a:off x="7455151" y="3486150"/>
            <a:ext cx="1062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0" name="Google Shape;880;p73"/>
          <p:cNvSpPr txBox="1"/>
          <p:nvPr/>
        </p:nvSpPr>
        <p:spPr>
          <a:xfrm>
            <a:off x="324000" y="4320000"/>
            <a:ext cx="8047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Andeep is right. Prime numbers have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exactly two</a:t>
            </a:r>
            <a:r>
              <a:rPr lang="en-GB" sz="22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factors.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81" name="Google Shape;881;p73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Sofia &amp; Andeep are talking about </a:t>
            </a:r>
            <a:r>
              <a:rPr b="1" lang="en-GB"/>
              <a:t>prime</a:t>
            </a:r>
            <a:r>
              <a:rPr lang="en-GB"/>
              <a:t> numbers.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74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15 is only divisible by 1 and 15.</a:t>
            </a:r>
            <a:endParaRPr/>
          </a:p>
        </p:txBody>
      </p:sp>
      <p:sp>
        <p:nvSpPr>
          <p:cNvPr id="887" name="Google Shape;887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primes</a:t>
            </a:r>
            <a:endParaRPr/>
          </a:p>
        </p:txBody>
      </p:sp>
      <p:sp>
        <p:nvSpPr>
          <p:cNvPr id="888" name="Google Shape;888;p74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15 is a </a:t>
            </a:r>
            <a:r>
              <a:rPr b="1" lang="en-GB"/>
              <a:t>prime </a:t>
            </a:r>
            <a:r>
              <a:rPr lang="en-GB"/>
              <a:t>number</a:t>
            </a:r>
            <a:endParaRPr/>
          </a:p>
        </p:txBody>
      </p:sp>
      <p:sp>
        <p:nvSpPr>
          <p:cNvPr id="889" name="Google Shape;889;p7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15 has more than two factors.</a:t>
            </a:r>
            <a:endParaRPr/>
          </a:p>
        </p:txBody>
      </p:sp>
      <p:pic>
        <p:nvPicPr>
          <p:cNvPr id="890" name="Google Shape;890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5883" y="17970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9258" y="39810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74"/>
          <p:cNvSpPr txBox="1"/>
          <p:nvPr/>
        </p:nvSpPr>
        <p:spPr>
          <a:xfrm>
            <a:off x="5583725" y="3744450"/>
            <a:ext cx="2990700" cy="8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15 has two factor pairs, 1 &amp; 15 and 3 &amp; 5.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75"/>
          <p:cNvSpPr txBox="1"/>
          <p:nvPr>
            <p:ph idx="1" type="body"/>
          </p:nvPr>
        </p:nvSpPr>
        <p:spPr>
          <a:xfrm>
            <a:off x="324000" y="759300"/>
            <a:ext cx="8237700" cy="77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List the factors of the following and decide which are </a:t>
            </a:r>
            <a:r>
              <a:rPr b="1" lang="en-GB"/>
              <a:t>prime</a:t>
            </a:r>
            <a:r>
              <a:rPr lang="en-GB"/>
              <a:t> numbers.</a:t>
            </a:r>
            <a:endParaRPr/>
          </a:p>
        </p:txBody>
      </p:sp>
      <p:sp>
        <p:nvSpPr>
          <p:cNvPr id="898" name="Google Shape;898;p7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Properties of primes</a:t>
            </a:r>
            <a:endParaRPr/>
          </a:p>
        </p:txBody>
      </p:sp>
      <p:sp>
        <p:nvSpPr>
          <p:cNvPr id="899" name="Google Shape;899;p75"/>
          <p:cNvSpPr txBox="1"/>
          <p:nvPr>
            <p:ph idx="1" type="body"/>
          </p:nvPr>
        </p:nvSpPr>
        <p:spPr>
          <a:xfrm>
            <a:off x="324000" y="1619275"/>
            <a:ext cx="318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sp>
        <p:nvSpPr>
          <p:cNvPr id="900" name="Google Shape;900;p75"/>
          <p:cNvSpPr txBox="1"/>
          <p:nvPr/>
        </p:nvSpPr>
        <p:spPr>
          <a:xfrm>
            <a:off x="772900" y="1619275"/>
            <a:ext cx="522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5"/>
          <p:cNvSpPr txBox="1"/>
          <p:nvPr>
            <p:ph idx="1" type="body"/>
          </p:nvPr>
        </p:nvSpPr>
        <p:spPr>
          <a:xfrm>
            <a:off x="2702400" y="1619275"/>
            <a:ext cx="318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r>
              <a:rPr lang="en-GB"/>
              <a:t>)</a:t>
            </a:r>
            <a:endParaRPr/>
          </a:p>
        </p:txBody>
      </p:sp>
      <p:sp>
        <p:nvSpPr>
          <p:cNvPr id="902" name="Google Shape;902;p75"/>
          <p:cNvSpPr txBox="1"/>
          <p:nvPr/>
        </p:nvSpPr>
        <p:spPr>
          <a:xfrm>
            <a:off x="3151300" y="1619275"/>
            <a:ext cx="522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3" name="Google Shape;903;p75"/>
          <p:cNvSpPr txBox="1"/>
          <p:nvPr>
            <p:ph idx="1" type="body"/>
          </p:nvPr>
        </p:nvSpPr>
        <p:spPr>
          <a:xfrm>
            <a:off x="5080800" y="1619275"/>
            <a:ext cx="318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r>
              <a:rPr lang="en-GB"/>
              <a:t>)</a:t>
            </a:r>
            <a:endParaRPr/>
          </a:p>
        </p:txBody>
      </p:sp>
      <p:sp>
        <p:nvSpPr>
          <p:cNvPr id="904" name="Google Shape;904;p75"/>
          <p:cNvSpPr txBox="1"/>
          <p:nvPr/>
        </p:nvSpPr>
        <p:spPr>
          <a:xfrm>
            <a:off x="5529700" y="1619275"/>
            <a:ext cx="522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75"/>
          <p:cNvSpPr txBox="1"/>
          <p:nvPr>
            <p:ph idx="1" type="body"/>
          </p:nvPr>
        </p:nvSpPr>
        <p:spPr>
          <a:xfrm>
            <a:off x="7459200" y="1619275"/>
            <a:ext cx="318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</a:t>
            </a:r>
            <a:r>
              <a:rPr lang="en-GB"/>
              <a:t>)</a:t>
            </a:r>
            <a:endParaRPr/>
          </a:p>
        </p:txBody>
      </p:sp>
      <p:sp>
        <p:nvSpPr>
          <p:cNvPr id="906" name="Google Shape;906;p75"/>
          <p:cNvSpPr txBox="1"/>
          <p:nvPr/>
        </p:nvSpPr>
        <p:spPr>
          <a:xfrm>
            <a:off x="7908100" y="1619275"/>
            <a:ext cx="522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76"/>
          <p:cNvSpPr txBox="1"/>
          <p:nvPr>
            <p:ph idx="1" type="body"/>
          </p:nvPr>
        </p:nvSpPr>
        <p:spPr>
          <a:xfrm>
            <a:off x="324000" y="759300"/>
            <a:ext cx="8237700" cy="206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2)  Alex writes out the first seven </a:t>
            </a:r>
            <a:r>
              <a:rPr b="1" lang="en-GB" sz="2000"/>
              <a:t>prime</a:t>
            </a:r>
            <a:r>
              <a:rPr lang="en-GB" sz="2000"/>
              <a:t> numbers:</a:t>
            </a:r>
            <a:endParaRPr sz="2000"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2, 3, 5, 7, 11, 13, 17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He uses these numbers to make the following statements.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Do you agree with them?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Give examples to support your answer.</a:t>
            </a:r>
            <a:endParaRPr sz="2000"/>
          </a:p>
        </p:txBody>
      </p:sp>
      <p:sp>
        <p:nvSpPr>
          <p:cNvPr id="912" name="Google Shape;912;p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Properties of primes</a:t>
            </a:r>
            <a:endParaRPr/>
          </a:p>
        </p:txBody>
      </p:sp>
      <p:grpSp>
        <p:nvGrpSpPr>
          <p:cNvPr id="913" name="Google Shape;913;p76"/>
          <p:cNvGrpSpPr/>
          <p:nvPr/>
        </p:nvGrpSpPr>
        <p:grpSpPr>
          <a:xfrm>
            <a:off x="438700" y="2668800"/>
            <a:ext cx="1246100" cy="1405175"/>
            <a:chOff x="324000" y="3184850"/>
            <a:chExt cx="1246100" cy="1405175"/>
          </a:xfrm>
        </p:grpSpPr>
        <p:pic>
          <p:nvPicPr>
            <p:cNvPr id="914" name="Google Shape;914;p76"/>
            <p:cNvPicPr preferRelativeResize="0"/>
            <p:nvPr/>
          </p:nvPicPr>
          <p:blipFill rotWithShape="1">
            <a:blip r:embed="rId3">
              <a:alphaModFix/>
            </a:blip>
            <a:srcRect b="0" l="0" r="70143" t="56280"/>
            <a:stretch/>
          </p:blipFill>
          <p:spPr>
            <a:xfrm>
              <a:off x="324000" y="3184850"/>
              <a:ext cx="1246024" cy="1405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5" name="Google Shape;915;p76"/>
            <p:cNvSpPr txBox="1"/>
            <p:nvPr/>
          </p:nvSpPr>
          <p:spPr>
            <a:xfrm>
              <a:off x="446300" y="3220825"/>
              <a:ext cx="1123800" cy="129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Most </a:t>
              </a:r>
              <a:r>
                <a:rPr b="1" lang="en-GB" sz="1800">
                  <a:latin typeface="Lexend"/>
                  <a:ea typeface="Lexend"/>
                  <a:cs typeface="Lexend"/>
                  <a:sym typeface="Lexend"/>
                </a:rPr>
                <a:t>prime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numbers are odd.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16" name="Google Shape;916;p76"/>
          <p:cNvGrpSpPr/>
          <p:nvPr/>
        </p:nvGrpSpPr>
        <p:grpSpPr>
          <a:xfrm>
            <a:off x="5523352" y="1913700"/>
            <a:ext cx="1767373" cy="1194624"/>
            <a:chOff x="7581759" y="857281"/>
            <a:chExt cx="1767373" cy="857283"/>
          </a:xfrm>
        </p:grpSpPr>
        <p:pic>
          <p:nvPicPr>
            <p:cNvPr id="917" name="Google Shape;917;p76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 flipH="1">
              <a:off x="7581759" y="857281"/>
              <a:ext cx="1767373" cy="8572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8" name="Google Shape;918;p76"/>
            <p:cNvSpPr txBox="1"/>
            <p:nvPr/>
          </p:nvSpPr>
          <p:spPr>
            <a:xfrm>
              <a:off x="7722513" y="899128"/>
              <a:ext cx="1551300" cy="7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Numbers ending in 5 can be </a:t>
              </a:r>
              <a:r>
                <a:rPr b="1" lang="en-GB" sz="1800">
                  <a:latin typeface="Lexend"/>
                  <a:ea typeface="Lexend"/>
                  <a:cs typeface="Lexend"/>
                  <a:sym typeface="Lexend"/>
                </a:rPr>
                <a:t>prime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19" name="Google Shape;919;p76"/>
          <p:cNvGrpSpPr/>
          <p:nvPr/>
        </p:nvGrpSpPr>
        <p:grpSpPr>
          <a:xfrm>
            <a:off x="2779278" y="2821213"/>
            <a:ext cx="1649597" cy="1405150"/>
            <a:chOff x="2746603" y="3077425"/>
            <a:chExt cx="1649597" cy="1405150"/>
          </a:xfrm>
        </p:grpSpPr>
        <p:pic>
          <p:nvPicPr>
            <p:cNvPr id="920" name="Google Shape;920;p76"/>
            <p:cNvPicPr preferRelativeResize="0"/>
            <p:nvPr/>
          </p:nvPicPr>
          <p:blipFill rotWithShape="1">
            <a:blip r:embed="rId3">
              <a:alphaModFix/>
            </a:blip>
            <a:srcRect b="0" l="0" r="70143" t="56280"/>
            <a:stretch/>
          </p:blipFill>
          <p:spPr>
            <a:xfrm>
              <a:off x="2746603" y="3077425"/>
              <a:ext cx="1551299" cy="1405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1" name="Google Shape;921;p76"/>
            <p:cNvSpPr txBox="1"/>
            <p:nvPr/>
          </p:nvSpPr>
          <p:spPr>
            <a:xfrm>
              <a:off x="2844900" y="3184838"/>
              <a:ext cx="15513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All numbers ending in 3 are </a:t>
              </a:r>
              <a:r>
                <a:rPr b="1" lang="en-GB" sz="1800">
                  <a:latin typeface="Lexend"/>
                  <a:ea typeface="Lexend"/>
                  <a:cs typeface="Lexend"/>
                  <a:sym typeface="Lexend"/>
                </a:rPr>
                <a:t>prime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22" name="Google Shape;922;p76"/>
          <p:cNvGrpSpPr/>
          <p:nvPr/>
        </p:nvGrpSpPr>
        <p:grpSpPr>
          <a:xfrm>
            <a:off x="4713052" y="3108325"/>
            <a:ext cx="2281048" cy="828299"/>
            <a:chOff x="5774402" y="3722700"/>
            <a:chExt cx="2281048" cy="828299"/>
          </a:xfrm>
        </p:grpSpPr>
        <p:pic>
          <p:nvPicPr>
            <p:cNvPr id="923" name="Google Shape;923;p76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 flipH="1">
              <a:off x="5774402" y="3722700"/>
              <a:ext cx="2166723" cy="828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4" name="Google Shape;924;p76"/>
            <p:cNvSpPr txBox="1"/>
            <p:nvPr/>
          </p:nvSpPr>
          <p:spPr>
            <a:xfrm>
              <a:off x="6030450" y="3735900"/>
              <a:ext cx="20250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latin typeface="Lexend"/>
                  <a:ea typeface="Lexend"/>
                  <a:cs typeface="Lexend"/>
                  <a:sym typeface="Lexend"/>
                </a:rPr>
                <a:t>Prime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numbers don’t end in 9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25" name="Google Shape;925;p76"/>
          <p:cNvGrpSpPr/>
          <p:nvPr/>
        </p:nvGrpSpPr>
        <p:grpSpPr>
          <a:xfrm>
            <a:off x="6994100" y="2926487"/>
            <a:ext cx="1735537" cy="1194626"/>
            <a:chOff x="6476850" y="2571750"/>
            <a:chExt cx="1735537" cy="1194626"/>
          </a:xfrm>
        </p:grpSpPr>
        <p:pic>
          <p:nvPicPr>
            <p:cNvPr id="926" name="Google Shape;926;p76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 flipH="1">
              <a:off x="6476850" y="2571750"/>
              <a:ext cx="1656100" cy="11946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7" name="Google Shape;927;p76"/>
            <p:cNvSpPr txBox="1"/>
            <p:nvPr/>
          </p:nvSpPr>
          <p:spPr>
            <a:xfrm>
              <a:off x="6661088" y="2661163"/>
              <a:ext cx="15513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7 and 17 are </a:t>
              </a:r>
              <a:r>
                <a:rPr b="1" lang="en-GB" sz="1800">
                  <a:latin typeface="Lexend"/>
                  <a:ea typeface="Lexend"/>
                  <a:cs typeface="Lexend"/>
                  <a:sym typeface="Lexend"/>
                </a:rPr>
                <a:t>prime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so 27 will be too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28" name="Google Shape;928;p76"/>
          <p:cNvSpPr txBox="1"/>
          <p:nvPr/>
        </p:nvSpPr>
        <p:spPr>
          <a:xfrm>
            <a:off x="370100" y="4066550"/>
            <a:ext cx="8373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Create statements about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prime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numbers.  Find one that is always true, one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that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sometimes true and one that is never true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7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List the factors of the following and decide which are </a:t>
            </a:r>
            <a:r>
              <a:rPr b="1" lang="en-GB"/>
              <a:t>prime</a:t>
            </a:r>
            <a:r>
              <a:rPr lang="en-GB"/>
              <a:t> numbers.</a:t>
            </a:r>
            <a:endParaRPr/>
          </a:p>
        </p:txBody>
      </p:sp>
      <p:sp>
        <p:nvSpPr>
          <p:cNvPr id="934" name="Google Shape;934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Properties of primes</a:t>
            </a:r>
            <a:endParaRPr/>
          </a:p>
        </p:txBody>
      </p:sp>
      <p:sp>
        <p:nvSpPr>
          <p:cNvPr id="935" name="Google Shape;935;p77"/>
          <p:cNvSpPr txBox="1"/>
          <p:nvPr>
            <p:ph idx="1" type="body"/>
          </p:nvPr>
        </p:nvSpPr>
        <p:spPr>
          <a:xfrm>
            <a:off x="324000" y="1619275"/>
            <a:ext cx="318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sp>
        <p:nvSpPr>
          <p:cNvPr id="936" name="Google Shape;936;p77"/>
          <p:cNvSpPr txBox="1"/>
          <p:nvPr/>
        </p:nvSpPr>
        <p:spPr>
          <a:xfrm>
            <a:off x="772900" y="1619275"/>
            <a:ext cx="522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7" name="Google Shape;937;p77"/>
          <p:cNvSpPr txBox="1"/>
          <p:nvPr>
            <p:ph idx="1" type="body"/>
          </p:nvPr>
        </p:nvSpPr>
        <p:spPr>
          <a:xfrm>
            <a:off x="2702400" y="1619275"/>
            <a:ext cx="318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sp>
        <p:nvSpPr>
          <p:cNvPr id="938" name="Google Shape;938;p77"/>
          <p:cNvSpPr txBox="1"/>
          <p:nvPr/>
        </p:nvSpPr>
        <p:spPr>
          <a:xfrm>
            <a:off x="3151300" y="1619275"/>
            <a:ext cx="522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9" name="Google Shape;939;p77"/>
          <p:cNvSpPr txBox="1"/>
          <p:nvPr>
            <p:ph idx="1" type="body"/>
          </p:nvPr>
        </p:nvSpPr>
        <p:spPr>
          <a:xfrm>
            <a:off x="5080800" y="1619275"/>
            <a:ext cx="318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sp>
        <p:nvSpPr>
          <p:cNvPr id="940" name="Google Shape;940;p77"/>
          <p:cNvSpPr txBox="1"/>
          <p:nvPr/>
        </p:nvSpPr>
        <p:spPr>
          <a:xfrm>
            <a:off x="5529700" y="1619275"/>
            <a:ext cx="522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1" name="Google Shape;941;p77"/>
          <p:cNvSpPr txBox="1"/>
          <p:nvPr>
            <p:ph idx="1" type="body"/>
          </p:nvPr>
        </p:nvSpPr>
        <p:spPr>
          <a:xfrm>
            <a:off x="7459200" y="1619275"/>
            <a:ext cx="318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d)</a:t>
            </a:r>
            <a:endParaRPr/>
          </a:p>
        </p:txBody>
      </p:sp>
      <p:sp>
        <p:nvSpPr>
          <p:cNvPr id="942" name="Google Shape;942;p77"/>
          <p:cNvSpPr txBox="1"/>
          <p:nvPr/>
        </p:nvSpPr>
        <p:spPr>
          <a:xfrm>
            <a:off x="7908100" y="1619275"/>
            <a:ext cx="522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3" name="Google Shape;943;p77"/>
          <p:cNvSpPr txBox="1"/>
          <p:nvPr/>
        </p:nvSpPr>
        <p:spPr>
          <a:xfrm>
            <a:off x="519840" y="2160000"/>
            <a:ext cx="1028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 × 27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9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4" name="Google Shape;944;p77"/>
          <p:cNvSpPr txBox="1"/>
          <p:nvPr/>
        </p:nvSpPr>
        <p:spPr>
          <a:xfrm>
            <a:off x="2898240" y="2160000"/>
            <a:ext cx="102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 × 37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5" name="Google Shape;945;p77"/>
          <p:cNvSpPr txBox="1"/>
          <p:nvPr/>
        </p:nvSpPr>
        <p:spPr>
          <a:xfrm>
            <a:off x="5260040" y="2160000"/>
            <a:ext cx="1028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 × 87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29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6" name="Google Shape;946;p77"/>
          <p:cNvSpPr txBox="1"/>
          <p:nvPr/>
        </p:nvSpPr>
        <p:spPr>
          <a:xfrm>
            <a:off x="7655040" y="2160000"/>
            <a:ext cx="1028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 × 57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 × 19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7" name="Google Shape;947;p77"/>
          <p:cNvSpPr txBox="1"/>
          <p:nvPr/>
        </p:nvSpPr>
        <p:spPr>
          <a:xfrm>
            <a:off x="324000" y="3518400"/>
            <a:ext cx="4442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37 is the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only </a:t>
            </a:r>
            <a:r>
              <a:rPr b="1" lang="en-GB" sz="2200">
                <a:latin typeface="Kalam"/>
                <a:ea typeface="Kalam"/>
                <a:cs typeface="Kalam"/>
                <a:sym typeface="Kalam"/>
              </a:rPr>
              <a:t>prime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number.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Properties of primes</a:t>
            </a:r>
            <a:endParaRPr/>
          </a:p>
        </p:txBody>
      </p:sp>
      <p:grpSp>
        <p:nvGrpSpPr>
          <p:cNvPr id="953" name="Google Shape;953;p78"/>
          <p:cNvGrpSpPr/>
          <p:nvPr/>
        </p:nvGrpSpPr>
        <p:grpSpPr>
          <a:xfrm>
            <a:off x="324000" y="754825"/>
            <a:ext cx="1246100" cy="1405175"/>
            <a:chOff x="324000" y="3184850"/>
            <a:chExt cx="1246100" cy="1405175"/>
          </a:xfrm>
        </p:grpSpPr>
        <p:pic>
          <p:nvPicPr>
            <p:cNvPr id="954" name="Google Shape;954;p78"/>
            <p:cNvPicPr preferRelativeResize="0"/>
            <p:nvPr/>
          </p:nvPicPr>
          <p:blipFill rotWithShape="1">
            <a:blip r:embed="rId3">
              <a:alphaModFix/>
            </a:blip>
            <a:srcRect b="0" l="0" r="70143" t="56280"/>
            <a:stretch/>
          </p:blipFill>
          <p:spPr>
            <a:xfrm>
              <a:off x="324000" y="3184850"/>
              <a:ext cx="1246024" cy="1405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5" name="Google Shape;955;p78"/>
            <p:cNvSpPr txBox="1"/>
            <p:nvPr/>
          </p:nvSpPr>
          <p:spPr>
            <a:xfrm>
              <a:off x="446300" y="3220825"/>
              <a:ext cx="1123800" cy="129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Most </a:t>
              </a:r>
              <a:r>
                <a:rPr b="1" lang="en-GB" sz="1800">
                  <a:latin typeface="Lexend"/>
                  <a:ea typeface="Lexend"/>
                  <a:cs typeface="Lexend"/>
                  <a:sym typeface="Lexend"/>
                </a:rPr>
                <a:t>prime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numbers are odd.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56" name="Google Shape;956;p78"/>
          <p:cNvGrpSpPr/>
          <p:nvPr/>
        </p:nvGrpSpPr>
        <p:grpSpPr>
          <a:xfrm>
            <a:off x="324002" y="3625775"/>
            <a:ext cx="1767373" cy="1194624"/>
            <a:chOff x="7581759" y="857281"/>
            <a:chExt cx="1767373" cy="857283"/>
          </a:xfrm>
        </p:grpSpPr>
        <p:pic>
          <p:nvPicPr>
            <p:cNvPr id="957" name="Google Shape;957;p78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 flipH="1">
              <a:off x="7581759" y="857281"/>
              <a:ext cx="1767373" cy="8572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8" name="Google Shape;958;p78"/>
            <p:cNvSpPr txBox="1"/>
            <p:nvPr/>
          </p:nvSpPr>
          <p:spPr>
            <a:xfrm>
              <a:off x="7722513" y="899128"/>
              <a:ext cx="1551300" cy="7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Numbers ending in 5 can be </a:t>
              </a:r>
              <a:r>
                <a:rPr b="1" lang="en-GB" sz="1800">
                  <a:latin typeface="Lexend"/>
                  <a:ea typeface="Lexend"/>
                  <a:cs typeface="Lexend"/>
                  <a:sym typeface="Lexend"/>
                </a:rPr>
                <a:t>prime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59" name="Google Shape;959;p78"/>
          <p:cNvGrpSpPr/>
          <p:nvPr/>
        </p:nvGrpSpPr>
        <p:grpSpPr>
          <a:xfrm>
            <a:off x="324003" y="2251913"/>
            <a:ext cx="1649597" cy="1405150"/>
            <a:chOff x="2746603" y="3077425"/>
            <a:chExt cx="1649597" cy="1405150"/>
          </a:xfrm>
        </p:grpSpPr>
        <p:pic>
          <p:nvPicPr>
            <p:cNvPr id="960" name="Google Shape;960;p78"/>
            <p:cNvPicPr preferRelativeResize="0"/>
            <p:nvPr/>
          </p:nvPicPr>
          <p:blipFill rotWithShape="1">
            <a:blip r:embed="rId3">
              <a:alphaModFix/>
            </a:blip>
            <a:srcRect b="0" l="0" r="70143" t="56280"/>
            <a:stretch/>
          </p:blipFill>
          <p:spPr>
            <a:xfrm>
              <a:off x="2746603" y="3077425"/>
              <a:ext cx="1551299" cy="1405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1" name="Google Shape;961;p78"/>
            <p:cNvSpPr txBox="1"/>
            <p:nvPr/>
          </p:nvSpPr>
          <p:spPr>
            <a:xfrm>
              <a:off x="2844900" y="3184838"/>
              <a:ext cx="15513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All numbers ending in 3 are </a:t>
              </a:r>
              <a:r>
                <a:rPr b="1" lang="en-GB" sz="1800">
                  <a:latin typeface="Lexend"/>
                  <a:ea typeface="Lexend"/>
                  <a:cs typeface="Lexend"/>
                  <a:sym typeface="Lexend"/>
                </a:rPr>
                <a:t>prime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62" name="Google Shape;962;p78"/>
          <p:cNvSpPr txBox="1"/>
          <p:nvPr/>
        </p:nvSpPr>
        <p:spPr>
          <a:xfrm>
            <a:off x="1684800" y="1288063"/>
            <a:ext cx="598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e.g. I agree, all prime numbers are odd except 2.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3" name="Google Shape;963;p78"/>
          <p:cNvSpPr txBox="1"/>
          <p:nvPr/>
        </p:nvSpPr>
        <p:spPr>
          <a:xfrm>
            <a:off x="1929883" y="2598229"/>
            <a:ext cx="69432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e.g. I don’t agree, 33 ends in a 3 but is not prime because it has two factor pairs, 1 × 33 and 3 × 11.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4" name="Google Shape;964;p78"/>
          <p:cNvSpPr txBox="1"/>
          <p:nvPr/>
        </p:nvSpPr>
        <p:spPr>
          <a:xfrm>
            <a:off x="2221150" y="3752688"/>
            <a:ext cx="5986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e.g. I agree, 5 ends in 5 and is prime.  However, this is the only prime ending in 5 as all other numbers ending in 5 are multiples of 5.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Properties of primes</a:t>
            </a:r>
            <a:endParaRPr/>
          </a:p>
        </p:txBody>
      </p:sp>
      <p:grpSp>
        <p:nvGrpSpPr>
          <p:cNvPr id="970" name="Google Shape;970;p79"/>
          <p:cNvGrpSpPr/>
          <p:nvPr/>
        </p:nvGrpSpPr>
        <p:grpSpPr>
          <a:xfrm>
            <a:off x="324002" y="759750"/>
            <a:ext cx="2281048" cy="828299"/>
            <a:chOff x="5774402" y="3722700"/>
            <a:chExt cx="2281048" cy="828299"/>
          </a:xfrm>
        </p:grpSpPr>
        <p:pic>
          <p:nvPicPr>
            <p:cNvPr id="971" name="Google Shape;971;p79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 flipH="1">
              <a:off x="5774402" y="3722700"/>
              <a:ext cx="2166723" cy="828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2" name="Google Shape;972;p79"/>
            <p:cNvSpPr txBox="1"/>
            <p:nvPr/>
          </p:nvSpPr>
          <p:spPr>
            <a:xfrm>
              <a:off x="6030450" y="3735900"/>
              <a:ext cx="20250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latin typeface="Lexend"/>
                  <a:ea typeface="Lexend"/>
                  <a:cs typeface="Lexend"/>
                  <a:sym typeface="Lexend"/>
                </a:rPr>
                <a:t>Prime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numbers don’t end in 9.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73" name="Google Shape;973;p79"/>
          <p:cNvGrpSpPr/>
          <p:nvPr/>
        </p:nvGrpSpPr>
        <p:grpSpPr>
          <a:xfrm>
            <a:off x="324000" y="1619988"/>
            <a:ext cx="1735537" cy="1194626"/>
            <a:chOff x="6476850" y="2571750"/>
            <a:chExt cx="1735537" cy="1194626"/>
          </a:xfrm>
        </p:grpSpPr>
        <p:pic>
          <p:nvPicPr>
            <p:cNvPr id="974" name="Google Shape;974;p79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 flipH="1">
              <a:off x="6476850" y="2571750"/>
              <a:ext cx="1656100" cy="11946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5" name="Google Shape;975;p79"/>
            <p:cNvSpPr txBox="1"/>
            <p:nvPr/>
          </p:nvSpPr>
          <p:spPr>
            <a:xfrm>
              <a:off x="6661088" y="2661163"/>
              <a:ext cx="15513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7 and 17 are </a:t>
              </a:r>
              <a:r>
                <a:rPr b="1" lang="en-GB" sz="1800">
                  <a:latin typeface="Lexend"/>
                  <a:ea typeface="Lexend"/>
                  <a:cs typeface="Lexend"/>
                  <a:sym typeface="Lexend"/>
                </a:rPr>
                <a:t>prime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so 27 will be too.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76" name="Google Shape;976;p79"/>
          <p:cNvSpPr txBox="1"/>
          <p:nvPr/>
        </p:nvSpPr>
        <p:spPr>
          <a:xfrm>
            <a:off x="2592695" y="977388"/>
            <a:ext cx="532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e.g. I don’t agree, 29 is a </a:t>
            </a:r>
            <a:r>
              <a:rPr b="1" lang="en-GB" sz="2200">
                <a:latin typeface="Kalam"/>
                <a:ea typeface="Kalam"/>
                <a:cs typeface="Kalam"/>
                <a:sym typeface="Kalam"/>
              </a:rPr>
              <a:t>prime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number.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7" name="Google Shape;977;p79"/>
          <p:cNvSpPr txBox="1"/>
          <p:nvPr/>
        </p:nvSpPr>
        <p:spPr>
          <a:xfrm>
            <a:off x="2092139" y="1821300"/>
            <a:ext cx="68172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e.g.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I don’t agree, 27 is not </a:t>
            </a:r>
            <a:r>
              <a:rPr b="1" lang="en-GB" sz="2200">
                <a:latin typeface="Kalam"/>
                <a:ea typeface="Kalam"/>
                <a:cs typeface="Kalam"/>
                <a:sym typeface="Kalam"/>
              </a:rPr>
              <a:t>prime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because it has 2 factor pairs, 1 × 27 and 3 × 9.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8" name="Google Shape;978;p79"/>
          <p:cNvSpPr txBox="1"/>
          <p:nvPr/>
        </p:nvSpPr>
        <p:spPr>
          <a:xfrm>
            <a:off x="324000" y="3070650"/>
            <a:ext cx="7235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e.g. </a:t>
            </a:r>
            <a:r>
              <a:rPr b="1" lang="en-GB" sz="2200">
                <a:latin typeface="Kalam"/>
                <a:ea typeface="Kalam"/>
                <a:cs typeface="Kalam"/>
                <a:sym typeface="Kalam"/>
              </a:rPr>
              <a:t>Prime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numbers always have two factors - always true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e.g. </a:t>
            </a:r>
            <a:r>
              <a:rPr b="1" lang="en-GB" sz="2200">
                <a:latin typeface="Kalam"/>
                <a:ea typeface="Kalam"/>
                <a:cs typeface="Kalam"/>
                <a:sym typeface="Kalam"/>
              </a:rPr>
              <a:t>Prime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numbers end in 9 - sometimes true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e.g. Numbers ending in 0 are prime - never true     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80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primes</a:t>
            </a:r>
            <a:endParaRPr/>
          </a:p>
        </p:txBody>
      </p:sp>
      <p:sp>
        <p:nvSpPr>
          <p:cNvPr id="984" name="Google Shape;984;p80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primes</a:t>
            </a:r>
            <a:endParaRPr/>
          </a:p>
        </p:txBody>
      </p:sp>
      <p:sp>
        <p:nvSpPr>
          <p:cNvPr id="985" name="Google Shape;985;p8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prime numbers</a:t>
            </a:r>
            <a:endParaRPr/>
          </a:p>
        </p:txBody>
      </p:sp>
      <p:pic>
        <p:nvPicPr>
          <p:cNvPr id="986" name="Google Shape;986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575" y="301432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primes</a:t>
            </a:r>
            <a:endParaRPr/>
          </a:p>
        </p:txBody>
      </p:sp>
      <p:sp>
        <p:nvSpPr>
          <p:cNvPr id="992" name="Google Shape;992;p81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Prime</a:t>
            </a:r>
            <a:r>
              <a:rPr lang="en-GB"/>
              <a:t> numbers can also be found using multiples.</a:t>
            </a:r>
            <a:endParaRPr/>
          </a:p>
        </p:txBody>
      </p:sp>
      <p:sp>
        <p:nvSpPr>
          <p:cNvPr id="993" name="Google Shape;993;p81"/>
          <p:cNvSpPr txBox="1"/>
          <p:nvPr>
            <p:ph idx="1" type="body"/>
          </p:nvPr>
        </p:nvSpPr>
        <p:spPr>
          <a:xfrm>
            <a:off x="324000" y="1347900"/>
            <a:ext cx="8237700" cy="112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mathematician, Eratosthenes, who was born in modern day Libya developed an </a:t>
            </a:r>
            <a:r>
              <a:rPr lang="en-GB"/>
              <a:t>algorithm</a:t>
            </a:r>
            <a:r>
              <a:rPr lang="en-GB"/>
              <a:t> to identify </a:t>
            </a:r>
            <a:r>
              <a:rPr b="1" lang="en-GB"/>
              <a:t>prime</a:t>
            </a:r>
            <a:r>
              <a:rPr lang="en-GB"/>
              <a:t> numbers using multiples.</a:t>
            </a:r>
            <a:endParaRPr/>
          </a:p>
        </p:txBody>
      </p:sp>
      <p:sp>
        <p:nvSpPr>
          <p:cNvPr id="994" name="Google Shape;994;p81"/>
          <p:cNvSpPr txBox="1"/>
          <p:nvPr>
            <p:ph idx="1" type="body"/>
          </p:nvPr>
        </p:nvSpPr>
        <p:spPr>
          <a:xfrm>
            <a:off x="324000" y="2736900"/>
            <a:ext cx="8237700" cy="81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This is called the sieve of </a:t>
            </a:r>
            <a:r>
              <a:rPr lang="en-GB"/>
              <a:t>Eratosthenes and is one of the most efficient ways of identifying </a:t>
            </a:r>
            <a:r>
              <a:rPr b="1" lang="en-GB"/>
              <a:t>prime</a:t>
            </a:r>
            <a:r>
              <a:rPr lang="en-GB"/>
              <a:t> numbers.</a:t>
            </a:r>
            <a:endParaRPr/>
          </a:p>
        </p:txBody>
      </p:sp>
      <p:sp>
        <p:nvSpPr>
          <p:cNvPr id="995" name="Google Shape;995;p81"/>
          <p:cNvSpPr txBox="1"/>
          <p:nvPr/>
        </p:nvSpPr>
        <p:spPr>
          <a:xfrm>
            <a:off x="324000" y="3817800"/>
            <a:ext cx="7750500" cy="13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works on the idea that the multiples of a </a:t>
            </a: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prime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number are themselves not </a:t>
            </a: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prime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primes</a:t>
            </a:r>
            <a:endParaRPr/>
          </a:p>
        </p:txBody>
      </p:sp>
      <p:sp>
        <p:nvSpPr>
          <p:cNvPr id="1001" name="Google Shape;1001;p82"/>
          <p:cNvSpPr/>
          <p:nvPr/>
        </p:nvSpPr>
        <p:spPr>
          <a:xfrm>
            <a:off x="5720400" y="43002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2" name="Google Shape;1002;p82"/>
          <p:cNvSpPr/>
          <p:nvPr/>
        </p:nvSpPr>
        <p:spPr>
          <a:xfrm>
            <a:off x="5132700" y="43002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3" name="Google Shape;1003;p82"/>
          <p:cNvSpPr/>
          <p:nvPr/>
        </p:nvSpPr>
        <p:spPr>
          <a:xfrm>
            <a:off x="5720400" y="38919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4" name="Google Shape;1004;p82"/>
          <p:cNvSpPr/>
          <p:nvPr/>
        </p:nvSpPr>
        <p:spPr>
          <a:xfrm>
            <a:off x="5132700" y="38919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5" name="Google Shape;1005;p82"/>
          <p:cNvSpPr/>
          <p:nvPr/>
        </p:nvSpPr>
        <p:spPr>
          <a:xfrm>
            <a:off x="5720400" y="34968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6" name="Google Shape;1006;p82"/>
          <p:cNvSpPr/>
          <p:nvPr/>
        </p:nvSpPr>
        <p:spPr>
          <a:xfrm>
            <a:off x="5132700" y="34968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7" name="Google Shape;1007;p82"/>
          <p:cNvSpPr/>
          <p:nvPr/>
        </p:nvSpPr>
        <p:spPr>
          <a:xfrm>
            <a:off x="5720400" y="30885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8" name="Google Shape;1008;p82"/>
          <p:cNvSpPr/>
          <p:nvPr/>
        </p:nvSpPr>
        <p:spPr>
          <a:xfrm>
            <a:off x="5132700" y="30885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9" name="Google Shape;1009;p82"/>
          <p:cNvSpPr/>
          <p:nvPr/>
        </p:nvSpPr>
        <p:spPr>
          <a:xfrm>
            <a:off x="5720400" y="26934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82"/>
          <p:cNvSpPr/>
          <p:nvPr/>
        </p:nvSpPr>
        <p:spPr>
          <a:xfrm>
            <a:off x="5132700" y="26934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1" name="Google Shape;1011;p82"/>
          <p:cNvSpPr/>
          <p:nvPr/>
        </p:nvSpPr>
        <p:spPr>
          <a:xfrm>
            <a:off x="5720400" y="22983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2" name="Google Shape;1012;p82"/>
          <p:cNvSpPr/>
          <p:nvPr/>
        </p:nvSpPr>
        <p:spPr>
          <a:xfrm>
            <a:off x="5132700" y="22983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3" name="Google Shape;1013;p82"/>
          <p:cNvSpPr/>
          <p:nvPr/>
        </p:nvSpPr>
        <p:spPr>
          <a:xfrm>
            <a:off x="5720400" y="18900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4" name="Google Shape;1014;p82"/>
          <p:cNvSpPr/>
          <p:nvPr/>
        </p:nvSpPr>
        <p:spPr>
          <a:xfrm>
            <a:off x="5132700" y="18900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5" name="Google Shape;1015;p82"/>
          <p:cNvSpPr/>
          <p:nvPr/>
        </p:nvSpPr>
        <p:spPr>
          <a:xfrm>
            <a:off x="5720400" y="14949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6" name="Google Shape;1016;p82"/>
          <p:cNvSpPr/>
          <p:nvPr/>
        </p:nvSpPr>
        <p:spPr>
          <a:xfrm>
            <a:off x="5132700" y="14949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7" name="Google Shape;1017;p82"/>
          <p:cNvSpPr/>
          <p:nvPr/>
        </p:nvSpPr>
        <p:spPr>
          <a:xfrm>
            <a:off x="5720400" y="10998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p82"/>
          <p:cNvSpPr/>
          <p:nvPr/>
        </p:nvSpPr>
        <p:spPr>
          <a:xfrm>
            <a:off x="5132700" y="10998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9" name="Google Shape;1019;p82"/>
          <p:cNvSpPr/>
          <p:nvPr/>
        </p:nvSpPr>
        <p:spPr>
          <a:xfrm>
            <a:off x="5720400" y="6915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82"/>
          <p:cNvSpPr/>
          <p:nvPr/>
        </p:nvSpPr>
        <p:spPr>
          <a:xfrm>
            <a:off x="5132700" y="6915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82"/>
          <p:cNvSpPr/>
          <p:nvPr/>
        </p:nvSpPr>
        <p:spPr>
          <a:xfrm>
            <a:off x="4545000" y="43002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82"/>
          <p:cNvSpPr/>
          <p:nvPr/>
        </p:nvSpPr>
        <p:spPr>
          <a:xfrm>
            <a:off x="3957300" y="43002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82"/>
          <p:cNvSpPr/>
          <p:nvPr/>
        </p:nvSpPr>
        <p:spPr>
          <a:xfrm>
            <a:off x="4545000" y="38919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82"/>
          <p:cNvSpPr/>
          <p:nvPr/>
        </p:nvSpPr>
        <p:spPr>
          <a:xfrm>
            <a:off x="3957300" y="38919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5" name="Google Shape;1025;p82"/>
          <p:cNvSpPr/>
          <p:nvPr/>
        </p:nvSpPr>
        <p:spPr>
          <a:xfrm>
            <a:off x="4545000" y="34968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6" name="Google Shape;1026;p82"/>
          <p:cNvSpPr/>
          <p:nvPr/>
        </p:nvSpPr>
        <p:spPr>
          <a:xfrm>
            <a:off x="3957300" y="34968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7" name="Google Shape;1027;p82"/>
          <p:cNvSpPr/>
          <p:nvPr/>
        </p:nvSpPr>
        <p:spPr>
          <a:xfrm>
            <a:off x="4545000" y="30885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82"/>
          <p:cNvSpPr/>
          <p:nvPr/>
        </p:nvSpPr>
        <p:spPr>
          <a:xfrm>
            <a:off x="3957300" y="30885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82"/>
          <p:cNvSpPr/>
          <p:nvPr/>
        </p:nvSpPr>
        <p:spPr>
          <a:xfrm>
            <a:off x="4545000" y="26934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82"/>
          <p:cNvSpPr/>
          <p:nvPr/>
        </p:nvSpPr>
        <p:spPr>
          <a:xfrm>
            <a:off x="3957300" y="26934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1" name="Google Shape;1031;p82"/>
          <p:cNvSpPr/>
          <p:nvPr/>
        </p:nvSpPr>
        <p:spPr>
          <a:xfrm>
            <a:off x="4545000" y="22983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82"/>
          <p:cNvSpPr/>
          <p:nvPr/>
        </p:nvSpPr>
        <p:spPr>
          <a:xfrm>
            <a:off x="3957300" y="22983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82"/>
          <p:cNvSpPr/>
          <p:nvPr/>
        </p:nvSpPr>
        <p:spPr>
          <a:xfrm>
            <a:off x="4545000" y="18900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82"/>
          <p:cNvSpPr/>
          <p:nvPr/>
        </p:nvSpPr>
        <p:spPr>
          <a:xfrm>
            <a:off x="3957300" y="18900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82"/>
          <p:cNvSpPr/>
          <p:nvPr/>
        </p:nvSpPr>
        <p:spPr>
          <a:xfrm>
            <a:off x="4545000" y="14949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82"/>
          <p:cNvSpPr/>
          <p:nvPr/>
        </p:nvSpPr>
        <p:spPr>
          <a:xfrm>
            <a:off x="3957300" y="14949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82"/>
          <p:cNvSpPr/>
          <p:nvPr/>
        </p:nvSpPr>
        <p:spPr>
          <a:xfrm>
            <a:off x="4545000" y="10998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82"/>
          <p:cNvSpPr/>
          <p:nvPr/>
        </p:nvSpPr>
        <p:spPr>
          <a:xfrm>
            <a:off x="3957300" y="10998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82"/>
          <p:cNvSpPr/>
          <p:nvPr/>
        </p:nvSpPr>
        <p:spPr>
          <a:xfrm>
            <a:off x="4545000" y="6915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82"/>
          <p:cNvSpPr/>
          <p:nvPr/>
        </p:nvSpPr>
        <p:spPr>
          <a:xfrm>
            <a:off x="3957300" y="6915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82"/>
          <p:cNvSpPr/>
          <p:nvPr/>
        </p:nvSpPr>
        <p:spPr>
          <a:xfrm>
            <a:off x="3369600" y="43002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82"/>
          <p:cNvSpPr/>
          <p:nvPr/>
        </p:nvSpPr>
        <p:spPr>
          <a:xfrm>
            <a:off x="2781900" y="43002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82"/>
          <p:cNvSpPr/>
          <p:nvPr/>
        </p:nvSpPr>
        <p:spPr>
          <a:xfrm>
            <a:off x="3369600" y="38919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4" name="Google Shape;1044;p82"/>
          <p:cNvSpPr/>
          <p:nvPr/>
        </p:nvSpPr>
        <p:spPr>
          <a:xfrm>
            <a:off x="2781900" y="38919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5" name="Google Shape;1045;p82"/>
          <p:cNvSpPr/>
          <p:nvPr/>
        </p:nvSpPr>
        <p:spPr>
          <a:xfrm>
            <a:off x="3369600" y="34968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6" name="Google Shape;1046;p82"/>
          <p:cNvSpPr/>
          <p:nvPr/>
        </p:nvSpPr>
        <p:spPr>
          <a:xfrm>
            <a:off x="2781900" y="34968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7" name="Google Shape;1047;p82"/>
          <p:cNvSpPr/>
          <p:nvPr/>
        </p:nvSpPr>
        <p:spPr>
          <a:xfrm>
            <a:off x="3369600" y="30885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8" name="Google Shape;1048;p82"/>
          <p:cNvSpPr/>
          <p:nvPr/>
        </p:nvSpPr>
        <p:spPr>
          <a:xfrm>
            <a:off x="2781900" y="30885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82"/>
          <p:cNvSpPr/>
          <p:nvPr/>
        </p:nvSpPr>
        <p:spPr>
          <a:xfrm>
            <a:off x="3369600" y="26934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0" name="Google Shape;1050;p82"/>
          <p:cNvSpPr/>
          <p:nvPr/>
        </p:nvSpPr>
        <p:spPr>
          <a:xfrm>
            <a:off x="2781900" y="26934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1" name="Google Shape;1051;p82"/>
          <p:cNvSpPr/>
          <p:nvPr/>
        </p:nvSpPr>
        <p:spPr>
          <a:xfrm>
            <a:off x="3369600" y="22983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82"/>
          <p:cNvSpPr/>
          <p:nvPr/>
        </p:nvSpPr>
        <p:spPr>
          <a:xfrm>
            <a:off x="2781900" y="22983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82"/>
          <p:cNvSpPr/>
          <p:nvPr/>
        </p:nvSpPr>
        <p:spPr>
          <a:xfrm>
            <a:off x="3369600" y="18900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82"/>
          <p:cNvSpPr/>
          <p:nvPr/>
        </p:nvSpPr>
        <p:spPr>
          <a:xfrm>
            <a:off x="2781900" y="18900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82"/>
          <p:cNvSpPr/>
          <p:nvPr/>
        </p:nvSpPr>
        <p:spPr>
          <a:xfrm>
            <a:off x="3369600" y="14949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82"/>
          <p:cNvSpPr/>
          <p:nvPr/>
        </p:nvSpPr>
        <p:spPr>
          <a:xfrm>
            <a:off x="2781900" y="14949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7" name="Google Shape;1057;p82"/>
          <p:cNvSpPr/>
          <p:nvPr/>
        </p:nvSpPr>
        <p:spPr>
          <a:xfrm>
            <a:off x="3369600" y="10998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82"/>
          <p:cNvSpPr/>
          <p:nvPr/>
        </p:nvSpPr>
        <p:spPr>
          <a:xfrm>
            <a:off x="2781900" y="10998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82"/>
          <p:cNvSpPr/>
          <p:nvPr/>
        </p:nvSpPr>
        <p:spPr>
          <a:xfrm>
            <a:off x="3369600" y="6915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0" name="Google Shape;1060;p82"/>
          <p:cNvSpPr/>
          <p:nvPr/>
        </p:nvSpPr>
        <p:spPr>
          <a:xfrm>
            <a:off x="2781900" y="6915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1" name="Google Shape;1061;p82"/>
          <p:cNvSpPr/>
          <p:nvPr/>
        </p:nvSpPr>
        <p:spPr>
          <a:xfrm>
            <a:off x="2194200" y="43002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82"/>
          <p:cNvSpPr/>
          <p:nvPr/>
        </p:nvSpPr>
        <p:spPr>
          <a:xfrm>
            <a:off x="1606500" y="43002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3" name="Google Shape;1063;p82"/>
          <p:cNvSpPr/>
          <p:nvPr/>
        </p:nvSpPr>
        <p:spPr>
          <a:xfrm>
            <a:off x="2194200" y="38919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4" name="Google Shape;1064;p82"/>
          <p:cNvSpPr/>
          <p:nvPr/>
        </p:nvSpPr>
        <p:spPr>
          <a:xfrm>
            <a:off x="1606500" y="38919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82"/>
          <p:cNvSpPr/>
          <p:nvPr/>
        </p:nvSpPr>
        <p:spPr>
          <a:xfrm>
            <a:off x="2194200" y="34968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6" name="Google Shape;1066;p82"/>
          <p:cNvSpPr/>
          <p:nvPr/>
        </p:nvSpPr>
        <p:spPr>
          <a:xfrm>
            <a:off x="1606500" y="34968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82"/>
          <p:cNvSpPr/>
          <p:nvPr/>
        </p:nvSpPr>
        <p:spPr>
          <a:xfrm>
            <a:off x="2194200" y="30885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8" name="Google Shape;1068;p82"/>
          <p:cNvSpPr/>
          <p:nvPr/>
        </p:nvSpPr>
        <p:spPr>
          <a:xfrm>
            <a:off x="1606500" y="30885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9" name="Google Shape;1069;p82"/>
          <p:cNvSpPr/>
          <p:nvPr/>
        </p:nvSpPr>
        <p:spPr>
          <a:xfrm>
            <a:off x="2194200" y="26934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82"/>
          <p:cNvSpPr/>
          <p:nvPr/>
        </p:nvSpPr>
        <p:spPr>
          <a:xfrm>
            <a:off x="1606500" y="26934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1" name="Google Shape;1071;p82"/>
          <p:cNvSpPr/>
          <p:nvPr/>
        </p:nvSpPr>
        <p:spPr>
          <a:xfrm>
            <a:off x="2194200" y="22983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2" name="Google Shape;1072;p82"/>
          <p:cNvSpPr/>
          <p:nvPr/>
        </p:nvSpPr>
        <p:spPr>
          <a:xfrm>
            <a:off x="1606500" y="22983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82"/>
          <p:cNvSpPr/>
          <p:nvPr/>
        </p:nvSpPr>
        <p:spPr>
          <a:xfrm>
            <a:off x="2194200" y="18900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82"/>
          <p:cNvSpPr/>
          <p:nvPr/>
        </p:nvSpPr>
        <p:spPr>
          <a:xfrm>
            <a:off x="1606500" y="18900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82"/>
          <p:cNvSpPr/>
          <p:nvPr/>
        </p:nvSpPr>
        <p:spPr>
          <a:xfrm>
            <a:off x="2194200" y="14949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82"/>
          <p:cNvSpPr/>
          <p:nvPr/>
        </p:nvSpPr>
        <p:spPr>
          <a:xfrm>
            <a:off x="1606500" y="14949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82"/>
          <p:cNvSpPr/>
          <p:nvPr/>
        </p:nvSpPr>
        <p:spPr>
          <a:xfrm>
            <a:off x="2194200" y="10998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82"/>
          <p:cNvSpPr/>
          <p:nvPr/>
        </p:nvSpPr>
        <p:spPr>
          <a:xfrm>
            <a:off x="1606500" y="10998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9" name="Google Shape;1079;p82"/>
          <p:cNvSpPr/>
          <p:nvPr/>
        </p:nvSpPr>
        <p:spPr>
          <a:xfrm>
            <a:off x="2194200" y="6915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82"/>
          <p:cNvSpPr/>
          <p:nvPr/>
        </p:nvSpPr>
        <p:spPr>
          <a:xfrm>
            <a:off x="1606500" y="6915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82"/>
          <p:cNvSpPr/>
          <p:nvPr/>
        </p:nvSpPr>
        <p:spPr>
          <a:xfrm>
            <a:off x="1018800" y="43002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82"/>
          <p:cNvSpPr/>
          <p:nvPr/>
        </p:nvSpPr>
        <p:spPr>
          <a:xfrm>
            <a:off x="431100" y="43002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3" name="Google Shape;1083;p82"/>
          <p:cNvSpPr/>
          <p:nvPr/>
        </p:nvSpPr>
        <p:spPr>
          <a:xfrm>
            <a:off x="1018800" y="38919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4" name="Google Shape;1084;p82"/>
          <p:cNvSpPr/>
          <p:nvPr/>
        </p:nvSpPr>
        <p:spPr>
          <a:xfrm>
            <a:off x="431100" y="38919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5" name="Google Shape;1085;p82"/>
          <p:cNvSpPr/>
          <p:nvPr/>
        </p:nvSpPr>
        <p:spPr>
          <a:xfrm>
            <a:off x="1018800" y="34968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6" name="Google Shape;1086;p82"/>
          <p:cNvSpPr/>
          <p:nvPr/>
        </p:nvSpPr>
        <p:spPr>
          <a:xfrm>
            <a:off x="431100" y="34968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7" name="Google Shape;1087;p82"/>
          <p:cNvSpPr/>
          <p:nvPr/>
        </p:nvSpPr>
        <p:spPr>
          <a:xfrm>
            <a:off x="1018800" y="30885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8" name="Google Shape;1088;p82"/>
          <p:cNvSpPr/>
          <p:nvPr/>
        </p:nvSpPr>
        <p:spPr>
          <a:xfrm>
            <a:off x="431100" y="30885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9" name="Google Shape;1089;p82"/>
          <p:cNvSpPr/>
          <p:nvPr/>
        </p:nvSpPr>
        <p:spPr>
          <a:xfrm>
            <a:off x="1018800" y="26934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0" name="Google Shape;1090;p82"/>
          <p:cNvSpPr/>
          <p:nvPr/>
        </p:nvSpPr>
        <p:spPr>
          <a:xfrm>
            <a:off x="431100" y="26934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1" name="Google Shape;1091;p82"/>
          <p:cNvSpPr/>
          <p:nvPr/>
        </p:nvSpPr>
        <p:spPr>
          <a:xfrm>
            <a:off x="1018800" y="22983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2" name="Google Shape;1092;p82"/>
          <p:cNvSpPr/>
          <p:nvPr/>
        </p:nvSpPr>
        <p:spPr>
          <a:xfrm>
            <a:off x="431100" y="22983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82"/>
          <p:cNvSpPr/>
          <p:nvPr/>
        </p:nvSpPr>
        <p:spPr>
          <a:xfrm>
            <a:off x="1018800" y="18900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4" name="Google Shape;1094;p82"/>
          <p:cNvSpPr/>
          <p:nvPr/>
        </p:nvSpPr>
        <p:spPr>
          <a:xfrm>
            <a:off x="431100" y="18900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82"/>
          <p:cNvSpPr/>
          <p:nvPr/>
        </p:nvSpPr>
        <p:spPr>
          <a:xfrm>
            <a:off x="1018800" y="14949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82"/>
          <p:cNvSpPr/>
          <p:nvPr/>
        </p:nvSpPr>
        <p:spPr>
          <a:xfrm>
            <a:off x="431100" y="14949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82"/>
          <p:cNvSpPr/>
          <p:nvPr/>
        </p:nvSpPr>
        <p:spPr>
          <a:xfrm>
            <a:off x="1018800" y="109595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8" name="Google Shape;1098;p82"/>
          <p:cNvSpPr/>
          <p:nvPr/>
        </p:nvSpPr>
        <p:spPr>
          <a:xfrm>
            <a:off x="431100" y="109595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82"/>
          <p:cNvSpPr/>
          <p:nvPr/>
        </p:nvSpPr>
        <p:spPr>
          <a:xfrm>
            <a:off x="1018800" y="6915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82"/>
          <p:cNvSpPr/>
          <p:nvPr/>
        </p:nvSpPr>
        <p:spPr>
          <a:xfrm>
            <a:off x="431100" y="691500"/>
            <a:ext cx="5877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18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01" name="Google Shape;1101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8688" y="680042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02" name="Google Shape;1102;p82"/>
          <p:cNvSpPr txBox="1"/>
          <p:nvPr/>
        </p:nvSpPr>
        <p:spPr>
          <a:xfrm>
            <a:off x="6392400" y="615300"/>
            <a:ext cx="24276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We are going to cross out all of the multiples of the </a:t>
            </a:r>
            <a:r>
              <a:rPr b="1" lang="en-GB" sz="2100">
                <a:latin typeface="Lexend"/>
                <a:ea typeface="Lexend"/>
                <a:cs typeface="Lexend"/>
                <a:sym typeface="Lexend"/>
              </a:rPr>
              <a:t>prime</a:t>
            </a: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 numbers we know.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82"/>
          <p:cNvSpPr txBox="1"/>
          <p:nvPr/>
        </p:nvSpPr>
        <p:spPr>
          <a:xfrm>
            <a:off x="6392401" y="2388250"/>
            <a:ext cx="24276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REMEMBER not the </a:t>
            </a:r>
            <a:r>
              <a:rPr b="1" lang="en-GB" sz="2200">
                <a:latin typeface="Lexend"/>
                <a:ea typeface="Lexend"/>
                <a:cs typeface="Lexend"/>
                <a:sym typeface="Lexend"/>
              </a:rPr>
              <a:t>prime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itself.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82"/>
          <p:cNvSpPr txBox="1"/>
          <p:nvPr/>
        </p:nvSpPr>
        <p:spPr>
          <a:xfrm>
            <a:off x="6392400" y="3309600"/>
            <a:ext cx="2427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first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prime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is 2.  Cross out the multiples of 2.  But not 2 itself.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05" name="Google Shape;1105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7738" y="680042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6" name="Google Shape;1106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0838" y="68286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7" name="Google Shape;1107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6238" y="680042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8" name="Google Shape;1108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3563" y="1096772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9" name="Google Shape;110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8688" y="1104294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0" name="Google Shape;1110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7738" y="1104294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1" name="Google Shape;1111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0838" y="1083594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2" name="Google Shape;1112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6238" y="1104294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3" name="Google Shape;1113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3563" y="1889438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4" name="Google Shape;1114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8688" y="1892285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5" name="Google Shape;1115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7738" y="1892285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6" name="Google Shape;1116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0838" y="1892285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7" name="Google Shape;1117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6238" y="1892285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" name="Google Shape;1118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4375" y="1487926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9" name="Google Shape;111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8688" y="1490585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0" name="Google Shape;1120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7738" y="1490585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1" name="Google Shape;1121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0838" y="1490585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2" name="Google Shape;1122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6238" y="1490585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3" name="Google Shape;1123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3563" y="2295822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4" name="Google Shape;1124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8688" y="2298669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5" name="Google Shape;1125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7738" y="2298669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6" name="Google Shape;1126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0838" y="2298669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7" name="Google Shape;1127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6238" y="2298669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8" name="Google Shape;1128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3563" y="3083813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9" name="Google Shape;112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8688" y="3086660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0" name="Google Shape;1130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7738" y="3086660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1" name="Google Shape;1131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0838" y="3086660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2" name="Google Shape;1132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6238" y="3086660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3" name="Google Shape;1133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3563" y="2682113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4" name="Google Shape;1134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8688" y="2684960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5" name="Google Shape;1135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7738" y="2684960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6" name="Google Shape;1136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0838" y="2684960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7" name="Google Shape;1137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6238" y="2684960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8" name="Google Shape;1138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3563" y="3477622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9" name="Google Shape;113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8688" y="3480469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0" name="Google Shape;1140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7738" y="3480469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1" name="Google Shape;1141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0838" y="3480469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2" name="Google Shape;1142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6238" y="3480469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3" name="Google Shape;1143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3563" y="4265613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4" name="Google Shape;1144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8688" y="4268460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5" name="Google Shape;1145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7738" y="4268460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6" name="Google Shape;1146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0838" y="4268460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7" name="Google Shape;1147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6238" y="4268460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8" name="Google Shape;1148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3563" y="3863913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9" name="Google Shape;114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8688" y="3866760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0" name="Google Shape;1150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7738" y="3866760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1" name="Google Shape;1151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0838" y="3866760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2" name="Google Shape;1152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6238" y="3866760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53" name="Google Shape;1153;p82"/>
          <p:cNvSpPr txBox="1"/>
          <p:nvPr/>
        </p:nvSpPr>
        <p:spPr>
          <a:xfrm>
            <a:off x="6391931" y="3309600"/>
            <a:ext cx="2427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next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prime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is 3.  Cross out the multiples of 3.  But not 3 itself.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54" name="Google Shape;1154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8538" y="680042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5" name="Google Shape;1155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7738" y="1075142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6" name="Google Shape;1156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938" y="148916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7" name="Google Shape;1157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3138" y="148916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8" name="Google Shape;1158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2338" y="189086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9" name="Google Shape;115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8538" y="189086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0" name="Google Shape;1160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7738" y="229256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1" name="Google Shape;1161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938" y="268766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2" name="Google Shape;1162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3138" y="268766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3" name="Google Shape;1163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2338" y="308936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4" name="Google Shape;1164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8538" y="308936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5" name="Google Shape;1165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7738" y="349106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6" name="Google Shape;1166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938" y="3878692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7" name="Google Shape;1167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3138" y="3878692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8" name="Google Shape;1168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2338" y="4300192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9" name="Google Shape;116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8538" y="4287867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70" name="Google Shape;1170;p82"/>
          <p:cNvSpPr txBox="1"/>
          <p:nvPr/>
        </p:nvSpPr>
        <p:spPr>
          <a:xfrm>
            <a:off x="6388687" y="3309599"/>
            <a:ext cx="2427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next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prime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is 5.  Cross out the multiples of 5.  But not 5 itself.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71" name="Google Shape;1171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7738" y="1486304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2" name="Google Shape;1172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7738" y="188426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3" name="Google Shape;1173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7738" y="2690529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4" name="Google Shape;1174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7738" y="3092229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5" name="Google Shape;1175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7738" y="3891892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6" name="Google Shape;1176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7738" y="4291592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77" name="Google Shape;1177;p82"/>
          <p:cNvSpPr txBox="1"/>
          <p:nvPr/>
        </p:nvSpPr>
        <p:spPr>
          <a:xfrm>
            <a:off x="6395188" y="3315537"/>
            <a:ext cx="2427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next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prime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is 7.  Cross out the multiples of 7.  But not 7 itself.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78" name="Google Shape;1178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8538" y="2298292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9" name="Google Shape;117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3138" y="349106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0" name="Google Shape;1180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938" y="4294467"/>
            <a:ext cx="396000" cy="419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8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Because it is even.</a:t>
            </a:r>
            <a:endParaRPr/>
          </a:p>
        </p:txBody>
      </p:sp>
      <p:sp>
        <p:nvSpPr>
          <p:cNvPr id="1186" name="Google Shape;1186;p8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primes</a:t>
            </a:r>
            <a:endParaRPr/>
          </a:p>
        </p:txBody>
      </p:sp>
      <p:sp>
        <p:nvSpPr>
          <p:cNvPr id="1187" name="Google Shape;1187;p8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is 2 the only even </a:t>
            </a:r>
            <a:r>
              <a:rPr b="1" lang="en-GB"/>
              <a:t>prime</a:t>
            </a:r>
            <a:r>
              <a:rPr lang="en-GB"/>
              <a:t> number?</a:t>
            </a:r>
            <a:endParaRPr/>
          </a:p>
        </p:txBody>
      </p:sp>
      <p:sp>
        <p:nvSpPr>
          <p:cNvPr id="1188" name="Google Shape;1188;p8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Because it has only 1 factor.</a:t>
            </a:r>
            <a:endParaRPr/>
          </a:p>
        </p:txBody>
      </p:sp>
      <p:sp>
        <p:nvSpPr>
          <p:cNvPr id="1189" name="Google Shape;1189;p8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Because all other even numbers are </a:t>
            </a:r>
            <a:r>
              <a:rPr lang="en-GB"/>
              <a:t>multiples</a:t>
            </a:r>
            <a:r>
              <a:rPr lang="en-GB"/>
              <a:t> of 2.</a:t>
            </a:r>
            <a:endParaRPr/>
          </a:p>
        </p:txBody>
      </p:sp>
      <p:pic>
        <p:nvPicPr>
          <p:cNvPr id="1190" name="Google Shape;1190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7208" y="37197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Identifying primes</a:t>
            </a:r>
            <a:endParaRPr/>
          </a:p>
        </p:txBody>
      </p:sp>
      <p:sp>
        <p:nvSpPr>
          <p:cNvPr id="1196" name="Google Shape;1196;p84"/>
          <p:cNvSpPr txBox="1"/>
          <p:nvPr>
            <p:ph idx="1" type="body"/>
          </p:nvPr>
        </p:nvSpPr>
        <p:spPr>
          <a:xfrm>
            <a:off x="324000" y="759300"/>
            <a:ext cx="8237700" cy="73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Find your way through the maze.  You can only move vertically and horizontally and can only move to a </a:t>
            </a:r>
            <a:r>
              <a:rPr b="1" lang="en-GB" sz="2000"/>
              <a:t>prime</a:t>
            </a:r>
            <a:r>
              <a:rPr lang="en-GB" sz="2000"/>
              <a:t> number.</a:t>
            </a:r>
            <a:endParaRPr sz="2000"/>
          </a:p>
        </p:txBody>
      </p:sp>
      <p:grpSp>
        <p:nvGrpSpPr>
          <p:cNvPr id="1197" name="Google Shape;1197;p84"/>
          <p:cNvGrpSpPr/>
          <p:nvPr/>
        </p:nvGrpSpPr>
        <p:grpSpPr>
          <a:xfrm>
            <a:off x="1472375" y="1529800"/>
            <a:ext cx="6199238" cy="3115600"/>
            <a:chOff x="1472375" y="1682200"/>
            <a:chExt cx="6199238" cy="3115600"/>
          </a:xfrm>
        </p:grpSpPr>
        <p:sp>
          <p:nvSpPr>
            <p:cNvPr id="1198" name="Google Shape;1198;p84"/>
            <p:cNvSpPr/>
            <p:nvPr/>
          </p:nvSpPr>
          <p:spPr>
            <a:xfrm>
              <a:off x="1472375" y="4018943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13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9" name="Google Shape;1199;p84"/>
            <p:cNvSpPr/>
            <p:nvPr/>
          </p:nvSpPr>
          <p:spPr>
            <a:xfrm>
              <a:off x="1472375" y="44084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0" name="Google Shape;1200;p84"/>
            <p:cNvSpPr/>
            <p:nvPr/>
          </p:nvSpPr>
          <p:spPr>
            <a:xfrm>
              <a:off x="2092313" y="4018943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19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1" name="Google Shape;1201;p84"/>
            <p:cNvSpPr/>
            <p:nvPr/>
          </p:nvSpPr>
          <p:spPr>
            <a:xfrm>
              <a:off x="2092313" y="44084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2" name="Google Shape;1202;p84"/>
            <p:cNvSpPr/>
            <p:nvPr/>
          </p:nvSpPr>
          <p:spPr>
            <a:xfrm>
              <a:off x="2712250" y="4018943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3" name="Google Shape;1203;p84"/>
            <p:cNvSpPr/>
            <p:nvPr/>
          </p:nvSpPr>
          <p:spPr>
            <a:xfrm>
              <a:off x="2712250" y="44084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51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4" name="Google Shape;1204;p84"/>
            <p:cNvSpPr/>
            <p:nvPr/>
          </p:nvSpPr>
          <p:spPr>
            <a:xfrm>
              <a:off x="1472375" y="3240029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11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5" name="Google Shape;1205;p84"/>
            <p:cNvSpPr/>
            <p:nvPr/>
          </p:nvSpPr>
          <p:spPr>
            <a:xfrm>
              <a:off x="1472375" y="3629486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6" name="Google Shape;1206;p84"/>
            <p:cNvSpPr/>
            <p:nvPr/>
          </p:nvSpPr>
          <p:spPr>
            <a:xfrm>
              <a:off x="2092313" y="3240029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89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7" name="Google Shape;1207;p84"/>
            <p:cNvSpPr/>
            <p:nvPr/>
          </p:nvSpPr>
          <p:spPr>
            <a:xfrm>
              <a:off x="2092313" y="3629486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16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8" name="Google Shape;1208;p84"/>
            <p:cNvSpPr/>
            <p:nvPr/>
          </p:nvSpPr>
          <p:spPr>
            <a:xfrm>
              <a:off x="2712250" y="3240029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35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9" name="Google Shape;1209;p84"/>
            <p:cNvSpPr/>
            <p:nvPr/>
          </p:nvSpPr>
          <p:spPr>
            <a:xfrm>
              <a:off x="2712250" y="3629486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15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0" name="Google Shape;1210;p84"/>
            <p:cNvSpPr/>
            <p:nvPr/>
          </p:nvSpPr>
          <p:spPr>
            <a:xfrm>
              <a:off x="3332188" y="4018943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31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1" name="Google Shape;1211;p84"/>
            <p:cNvSpPr/>
            <p:nvPr/>
          </p:nvSpPr>
          <p:spPr>
            <a:xfrm>
              <a:off x="3332188" y="44084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27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2" name="Google Shape;1212;p84"/>
            <p:cNvSpPr/>
            <p:nvPr/>
          </p:nvSpPr>
          <p:spPr>
            <a:xfrm>
              <a:off x="3952125" y="4018943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88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3" name="Google Shape;1213;p84"/>
            <p:cNvSpPr/>
            <p:nvPr/>
          </p:nvSpPr>
          <p:spPr>
            <a:xfrm>
              <a:off x="3952125" y="44084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21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4" name="Google Shape;1214;p84"/>
            <p:cNvSpPr/>
            <p:nvPr/>
          </p:nvSpPr>
          <p:spPr>
            <a:xfrm>
              <a:off x="4572063" y="4018943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15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5" name="Google Shape;1215;p84"/>
            <p:cNvSpPr/>
            <p:nvPr/>
          </p:nvSpPr>
          <p:spPr>
            <a:xfrm>
              <a:off x="4572063" y="44084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19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6" name="Google Shape;1216;p84"/>
            <p:cNvSpPr/>
            <p:nvPr/>
          </p:nvSpPr>
          <p:spPr>
            <a:xfrm>
              <a:off x="3332188" y="3240029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43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7" name="Google Shape;1217;p84"/>
            <p:cNvSpPr/>
            <p:nvPr/>
          </p:nvSpPr>
          <p:spPr>
            <a:xfrm>
              <a:off x="3332188" y="3629486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61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8" name="Google Shape;1218;p84"/>
            <p:cNvSpPr/>
            <p:nvPr/>
          </p:nvSpPr>
          <p:spPr>
            <a:xfrm>
              <a:off x="3952125" y="3240029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9" name="Google Shape;1219;p84"/>
            <p:cNvSpPr/>
            <p:nvPr/>
          </p:nvSpPr>
          <p:spPr>
            <a:xfrm>
              <a:off x="3952125" y="3629486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55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0" name="Google Shape;1220;p84"/>
            <p:cNvSpPr/>
            <p:nvPr/>
          </p:nvSpPr>
          <p:spPr>
            <a:xfrm>
              <a:off x="4572063" y="3240029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1" name="Google Shape;1221;p84"/>
            <p:cNvSpPr/>
            <p:nvPr/>
          </p:nvSpPr>
          <p:spPr>
            <a:xfrm>
              <a:off x="4572063" y="3629486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17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2" name="Google Shape;1222;p84"/>
            <p:cNvSpPr/>
            <p:nvPr/>
          </p:nvSpPr>
          <p:spPr>
            <a:xfrm>
              <a:off x="1472375" y="2461114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3" name="Google Shape;1223;p84"/>
            <p:cNvSpPr/>
            <p:nvPr/>
          </p:nvSpPr>
          <p:spPr>
            <a:xfrm>
              <a:off x="1472375" y="2850571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45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4" name="Google Shape;1224;p84"/>
            <p:cNvSpPr/>
            <p:nvPr/>
          </p:nvSpPr>
          <p:spPr>
            <a:xfrm>
              <a:off x="2092313" y="2461114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17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5" name="Google Shape;1225;p84"/>
            <p:cNvSpPr/>
            <p:nvPr/>
          </p:nvSpPr>
          <p:spPr>
            <a:xfrm>
              <a:off x="2092313" y="2850571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53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6" name="Google Shape;1226;p84"/>
            <p:cNvSpPr/>
            <p:nvPr/>
          </p:nvSpPr>
          <p:spPr>
            <a:xfrm>
              <a:off x="2712250" y="2461114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18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7" name="Google Shape;1227;p84"/>
            <p:cNvSpPr/>
            <p:nvPr/>
          </p:nvSpPr>
          <p:spPr>
            <a:xfrm>
              <a:off x="2712250" y="2850571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75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8" name="Google Shape;1228;p84"/>
            <p:cNvSpPr/>
            <p:nvPr/>
          </p:nvSpPr>
          <p:spPr>
            <a:xfrm>
              <a:off x="1472375" y="16822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27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9" name="Google Shape;1229;p84"/>
            <p:cNvSpPr/>
            <p:nvPr/>
          </p:nvSpPr>
          <p:spPr>
            <a:xfrm>
              <a:off x="1472375" y="2071657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12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0" name="Google Shape;1230;p84"/>
            <p:cNvSpPr/>
            <p:nvPr/>
          </p:nvSpPr>
          <p:spPr>
            <a:xfrm>
              <a:off x="2092313" y="16822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65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1" name="Google Shape;1231;p84"/>
            <p:cNvSpPr/>
            <p:nvPr/>
          </p:nvSpPr>
          <p:spPr>
            <a:xfrm>
              <a:off x="2092313" y="2071657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61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2" name="Google Shape;1232;p84"/>
            <p:cNvSpPr/>
            <p:nvPr/>
          </p:nvSpPr>
          <p:spPr>
            <a:xfrm>
              <a:off x="2712250" y="16822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21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3" name="Google Shape;1233;p84"/>
            <p:cNvSpPr/>
            <p:nvPr/>
          </p:nvSpPr>
          <p:spPr>
            <a:xfrm>
              <a:off x="2712250" y="2071657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4" name="Google Shape;1234;p84"/>
            <p:cNvSpPr/>
            <p:nvPr/>
          </p:nvSpPr>
          <p:spPr>
            <a:xfrm>
              <a:off x="3332188" y="2461114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49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5" name="Google Shape;1235;p84"/>
            <p:cNvSpPr/>
            <p:nvPr/>
          </p:nvSpPr>
          <p:spPr>
            <a:xfrm>
              <a:off x="3332188" y="2850571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6" name="Google Shape;1236;p84"/>
            <p:cNvSpPr/>
            <p:nvPr/>
          </p:nvSpPr>
          <p:spPr>
            <a:xfrm>
              <a:off x="3952125" y="2461114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53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7" name="Google Shape;1237;p84"/>
            <p:cNvSpPr/>
            <p:nvPr/>
          </p:nvSpPr>
          <p:spPr>
            <a:xfrm>
              <a:off x="3952125" y="2850571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79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8" name="Google Shape;1238;p84"/>
            <p:cNvSpPr/>
            <p:nvPr/>
          </p:nvSpPr>
          <p:spPr>
            <a:xfrm>
              <a:off x="4572063" y="2461114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51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9" name="Google Shape;1239;p84"/>
            <p:cNvSpPr/>
            <p:nvPr/>
          </p:nvSpPr>
          <p:spPr>
            <a:xfrm>
              <a:off x="4572063" y="2850571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81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0" name="Google Shape;1240;p84"/>
            <p:cNvSpPr/>
            <p:nvPr/>
          </p:nvSpPr>
          <p:spPr>
            <a:xfrm>
              <a:off x="3332188" y="16822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19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1" name="Google Shape;1241;p84"/>
            <p:cNvSpPr/>
            <p:nvPr/>
          </p:nvSpPr>
          <p:spPr>
            <a:xfrm>
              <a:off x="3332188" y="2071657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12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2" name="Google Shape;1242;p84"/>
            <p:cNvSpPr/>
            <p:nvPr/>
          </p:nvSpPr>
          <p:spPr>
            <a:xfrm>
              <a:off x="3952125" y="16822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21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3" name="Google Shape;1243;p84"/>
            <p:cNvSpPr/>
            <p:nvPr/>
          </p:nvSpPr>
          <p:spPr>
            <a:xfrm>
              <a:off x="3952125" y="2071657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29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4" name="Google Shape;1244;p84"/>
            <p:cNvSpPr/>
            <p:nvPr/>
          </p:nvSpPr>
          <p:spPr>
            <a:xfrm>
              <a:off x="4572063" y="16822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5" name="Google Shape;1245;p84"/>
            <p:cNvSpPr/>
            <p:nvPr/>
          </p:nvSpPr>
          <p:spPr>
            <a:xfrm>
              <a:off x="4572063" y="2071657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97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6" name="Google Shape;1246;p84"/>
            <p:cNvSpPr/>
            <p:nvPr/>
          </p:nvSpPr>
          <p:spPr>
            <a:xfrm>
              <a:off x="5192000" y="4018943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19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7" name="Google Shape;1247;p84"/>
            <p:cNvSpPr/>
            <p:nvPr/>
          </p:nvSpPr>
          <p:spPr>
            <a:xfrm>
              <a:off x="5192000" y="44084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61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8" name="Google Shape;1248;p84"/>
            <p:cNvSpPr/>
            <p:nvPr/>
          </p:nvSpPr>
          <p:spPr>
            <a:xfrm>
              <a:off x="5192000" y="3240029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22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9" name="Google Shape;1249;p84"/>
            <p:cNvSpPr/>
            <p:nvPr/>
          </p:nvSpPr>
          <p:spPr>
            <a:xfrm>
              <a:off x="5192000" y="3629486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37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0" name="Google Shape;1250;p84"/>
            <p:cNvSpPr/>
            <p:nvPr/>
          </p:nvSpPr>
          <p:spPr>
            <a:xfrm>
              <a:off x="5811938" y="4018943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47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1" name="Google Shape;1251;p84"/>
            <p:cNvSpPr/>
            <p:nvPr/>
          </p:nvSpPr>
          <p:spPr>
            <a:xfrm>
              <a:off x="5811938" y="44084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13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2" name="Google Shape;1252;p84"/>
            <p:cNvSpPr/>
            <p:nvPr/>
          </p:nvSpPr>
          <p:spPr>
            <a:xfrm>
              <a:off x="6431875" y="4018943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3" name="Google Shape;1253;p84"/>
            <p:cNvSpPr/>
            <p:nvPr/>
          </p:nvSpPr>
          <p:spPr>
            <a:xfrm>
              <a:off x="6431875" y="44084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4" name="Google Shape;1254;p84"/>
            <p:cNvSpPr/>
            <p:nvPr/>
          </p:nvSpPr>
          <p:spPr>
            <a:xfrm>
              <a:off x="7051813" y="4018943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36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5" name="Google Shape;1255;p84"/>
            <p:cNvSpPr/>
            <p:nvPr/>
          </p:nvSpPr>
          <p:spPr>
            <a:xfrm>
              <a:off x="7051813" y="44084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11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6" name="Google Shape;1256;p84"/>
            <p:cNvSpPr/>
            <p:nvPr/>
          </p:nvSpPr>
          <p:spPr>
            <a:xfrm>
              <a:off x="5811938" y="3240029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65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7" name="Google Shape;1257;p84"/>
            <p:cNvSpPr/>
            <p:nvPr/>
          </p:nvSpPr>
          <p:spPr>
            <a:xfrm>
              <a:off x="5811938" y="3629486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49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8" name="Google Shape;1258;p84"/>
            <p:cNvSpPr/>
            <p:nvPr/>
          </p:nvSpPr>
          <p:spPr>
            <a:xfrm>
              <a:off x="6431875" y="3240029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89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9" name="Google Shape;1259;p84"/>
            <p:cNvSpPr/>
            <p:nvPr/>
          </p:nvSpPr>
          <p:spPr>
            <a:xfrm>
              <a:off x="6431875" y="3629486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23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0" name="Google Shape;1260;p84"/>
            <p:cNvSpPr/>
            <p:nvPr/>
          </p:nvSpPr>
          <p:spPr>
            <a:xfrm>
              <a:off x="7051813" y="3240029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14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1" name="Google Shape;1261;p84"/>
            <p:cNvSpPr/>
            <p:nvPr/>
          </p:nvSpPr>
          <p:spPr>
            <a:xfrm>
              <a:off x="7051813" y="3629486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17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2" name="Google Shape;1262;p84"/>
            <p:cNvSpPr/>
            <p:nvPr/>
          </p:nvSpPr>
          <p:spPr>
            <a:xfrm>
              <a:off x="5192000" y="2461114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67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3" name="Google Shape;1263;p84"/>
            <p:cNvSpPr/>
            <p:nvPr/>
          </p:nvSpPr>
          <p:spPr>
            <a:xfrm>
              <a:off x="5192000" y="2850571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83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4" name="Google Shape;1264;p84"/>
            <p:cNvSpPr/>
            <p:nvPr/>
          </p:nvSpPr>
          <p:spPr>
            <a:xfrm>
              <a:off x="5192000" y="16822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49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5" name="Google Shape;1265;p84"/>
            <p:cNvSpPr/>
            <p:nvPr/>
          </p:nvSpPr>
          <p:spPr>
            <a:xfrm>
              <a:off x="5192000" y="2071657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6" name="Google Shape;1266;p84"/>
            <p:cNvSpPr/>
            <p:nvPr/>
          </p:nvSpPr>
          <p:spPr>
            <a:xfrm>
              <a:off x="5811938" y="2461114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91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7" name="Google Shape;1267;p84"/>
            <p:cNvSpPr/>
            <p:nvPr/>
          </p:nvSpPr>
          <p:spPr>
            <a:xfrm>
              <a:off x="5811938" y="2850571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11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8" name="Google Shape;1268;p84"/>
            <p:cNvSpPr/>
            <p:nvPr/>
          </p:nvSpPr>
          <p:spPr>
            <a:xfrm>
              <a:off x="6431875" y="2461114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58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9" name="Google Shape;1269;p84"/>
            <p:cNvSpPr/>
            <p:nvPr/>
          </p:nvSpPr>
          <p:spPr>
            <a:xfrm>
              <a:off x="6431875" y="2850571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71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0" name="Google Shape;1270;p84"/>
            <p:cNvSpPr/>
            <p:nvPr/>
          </p:nvSpPr>
          <p:spPr>
            <a:xfrm>
              <a:off x="7051813" y="2461114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14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1" name="Google Shape;1271;p84"/>
            <p:cNvSpPr/>
            <p:nvPr/>
          </p:nvSpPr>
          <p:spPr>
            <a:xfrm>
              <a:off x="7051813" y="2850571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57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2" name="Google Shape;1272;p84"/>
            <p:cNvSpPr/>
            <p:nvPr/>
          </p:nvSpPr>
          <p:spPr>
            <a:xfrm>
              <a:off x="5811938" y="16822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17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3" name="Google Shape;1273;p84"/>
            <p:cNvSpPr/>
            <p:nvPr/>
          </p:nvSpPr>
          <p:spPr>
            <a:xfrm>
              <a:off x="5811938" y="2071657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21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4" name="Google Shape;1274;p84"/>
            <p:cNvSpPr/>
            <p:nvPr/>
          </p:nvSpPr>
          <p:spPr>
            <a:xfrm>
              <a:off x="6431875" y="16822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79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5" name="Google Shape;1275;p84"/>
            <p:cNvSpPr/>
            <p:nvPr/>
          </p:nvSpPr>
          <p:spPr>
            <a:xfrm>
              <a:off x="6431875" y="2071657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29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6" name="Google Shape;1276;p84"/>
            <p:cNvSpPr/>
            <p:nvPr/>
          </p:nvSpPr>
          <p:spPr>
            <a:xfrm>
              <a:off x="7051813" y="16822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11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7" name="Google Shape;1277;p84"/>
            <p:cNvSpPr/>
            <p:nvPr/>
          </p:nvSpPr>
          <p:spPr>
            <a:xfrm>
              <a:off x="7051813" y="2071657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78" name="Google Shape;1278;p84"/>
          <p:cNvSpPr txBox="1"/>
          <p:nvPr/>
        </p:nvSpPr>
        <p:spPr>
          <a:xfrm>
            <a:off x="658325" y="4167600"/>
            <a:ext cx="1140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Start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Identifying primes</a:t>
            </a:r>
            <a:endParaRPr/>
          </a:p>
        </p:txBody>
      </p:sp>
      <p:sp>
        <p:nvSpPr>
          <p:cNvPr id="1284" name="Google Shape;1284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2)	</a:t>
            </a:r>
            <a:r>
              <a:rPr lang="en-GB" sz="1900"/>
              <a:t>Use the numbers on the cards to complete the sentences.</a:t>
            </a:r>
            <a:endParaRPr sz="19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Use each card only once.</a:t>
            </a:r>
            <a:endParaRPr sz="1900"/>
          </a:p>
        </p:txBody>
      </p:sp>
      <p:sp>
        <p:nvSpPr>
          <p:cNvPr id="1285" name="Google Shape;1285;p85"/>
          <p:cNvSpPr txBox="1"/>
          <p:nvPr>
            <p:ph idx="1" type="body"/>
          </p:nvPr>
        </p:nvSpPr>
        <p:spPr>
          <a:xfrm>
            <a:off x="641580" y="2094919"/>
            <a:ext cx="4715700" cy="175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sng">
                <a:latin typeface="Kalam"/>
                <a:ea typeface="Kalam"/>
                <a:cs typeface="Kalam"/>
                <a:sym typeface="Kalam"/>
              </a:rPr>
              <a:t>        </a:t>
            </a:r>
            <a:r>
              <a:rPr lang="en-GB" sz="1800"/>
              <a:t> has an odd number of factors.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 u="sng">
                <a:latin typeface="Kalam"/>
                <a:ea typeface="Kalam"/>
                <a:cs typeface="Kalam"/>
                <a:sym typeface="Kalam"/>
              </a:rPr>
              <a:t>        </a:t>
            </a:r>
            <a:r>
              <a:rPr lang="en-GB" sz="1800"/>
              <a:t> has exactly two factors.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 u="sng">
                <a:latin typeface="Kalam"/>
                <a:ea typeface="Kalam"/>
                <a:cs typeface="Kalam"/>
                <a:sym typeface="Kalam"/>
              </a:rPr>
              <a:t>        </a:t>
            </a:r>
            <a:r>
              <a:rPr lang="en-GB" sz="1800"/>
              <a:t> has exactly four factors.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u="sng">
                <a:latin typeface="Kalam"/>
                <a:ea typeface="Kalam"/>
                <a:cs typeface="Kalam"/>
                <a:sym typeface="Kalam"/>
              </a:rPr>
              <a:t>        </a:t>
            </a:r>
            <a:r>
              <a:rPr lang="en-GB" sz="1800"/>
              <a:t> has 2 as a factor.</a:t>
            </a:r>
            <a:endParaRPr sz="1800"/>
          </a:p>
        </p:txBody>
      </p:sp>
      <p:grpSp>
        <p:nvGrpSpPr>
          <p:cNvPr id="1286" name="Google Shape;1286;p85"/>
          <p:cNvGrpSpPr/>
          <p:nvPr/>
        </p:nvGrpSpPr>
        <p:grpSpPr>
          <a:xfrm>
            <a:off x="1662800" y="1589470"/>
            <a:ext cx="5818402" cy="337198"/>
            <a:chOff x="1311725" y="1543585"/>
            <a:chExt cx="5818402" cy="565200"/>
          </a:xfrm>
        </p:grpSpPr>
        <p:sp>
          <p:nvSpPr>
            <p:cNvPr id="1287" name="Google Shape;1287;p85"/>
            <p:cNvSpPr/>
            <p:nvPr/>
          </p:nvSpPr>
          <p:spPr>
            <a:xfrm>
              <a:off x="1311725" y="1543585"/>
              <a:ext cx="554400" cy="5652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8" name="Google Shape;1288;p85"/>
            <p:cNvSpPr/>
            <p:nvPr/>
          </p:nvSpPr>
          <p:spPr>
            <a:xfrm>
              <a:off x="2063727" y="1543585"/>
              <a:ext cx="554400" cy="5652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9" name="Google Shape;1289;p85"/>
            <p:cNvSpPr/>
            <p:nvPr/>
          </p:nvSpPr>
          <p:spPr>
            <a:xfrm>
              <a:off x="2815725" y="1543585"/>
              <a:ext cx="554400" cy="5652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11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0" name="Google Shape;1290;p85"/>
            <p:cNvSpPr/>
            <p:nvPr/>
          </p:nvSpPr>
          <p:spPr>
            <a:xfrm>
              <a:off x="3567727" y="1543585"/>
              <a:ext cx="554400" cy="5652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12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1" name="Google Shape;1291;p85"/>
            <p:cNvSpPr/>
            <p:nvPr/>
          </p:nvSpPr>
          <p:spPr>
            <a:xfrm>
              <a:off x="4319725" y="1543585"/>
              <a:ext cx="554400" cy="5652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13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2" name="Google Shape;1292;p85"/>
            <p:cNvSpPr/>
            <p:nvPr/>
          </p:nvSpPr>
          <p:spPr>
            <a:xfrm>
              <a:off x="5071727" y="1543585"/>
              <a:ext cx="554400" cy="5652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14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3" name="Google Shape;1293;p85"/>
            <p:cNvSpPr/>
            <p:nvPr/>
          </p:nvSpPr>
          <p:spPr>
            <a:xfrm>
              <a:off x="5823725" y="1543585"/>
              <a:ext cx="554400" cy="5652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15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4" name="Google Shape;1294;p85"/>
            <p:cNvSpPr/>
            <p:nvPr/>
          </p:nvSpPr>
          <p:spPr>
            <a:xfrm>
              <a:off x="6575727" y="1543585"/>
              <a:ext cx="554400" cy="5652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16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95" name="Google Shape;1295;p85"/>
          <p:cNvSpPr txBox="1"/>
          <p:nvPr/>
        </p:nvSpPr>
        <p:spPr>
          <a:xfrm>
            <a:off x="5165939" y="1997950"/>
            <a:ext cx="3717000" cy="1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prime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square.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has two pairs of factors.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has exactly six factors.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6" name="Google Shape;1296;p85"/>
          <p:cNvSpPr txBox="1"/>
          <p:nvPr/>
        </p:nvSpPr>
        <p:spPr>
          <a:xfrm>
            <a:off x="324000" y="1994910"/>
            <a:ext cx="34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7" name="Google Shape;1297;p85"/>
          <p:cNvSpPr txBox="1"/>
          <p:nvPr/>
        </p:nvSpPr>
        <p:spPr>
          <a:xfrm>
            <a:off x="324000" y="2475681"/>
            <a:ext cx="34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8" name="Google Shape;1298;p85"/>
          <p:cNvSpPr txBox="1"/>
          <p:nvPr/>
        </p:nvSpPr>
        <p:spPr>
          <a:xfrm>
            <a:off x="324000" y="2932342"/>
            <a:ext cx="34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9" name="Google Shape;1299;p85"/>
          <p:cNvSpPr txBox="1"/>
          <p:nvPr/>
        </p:nvSpPr>
        <p:spPr>
          <a:xfrm>
            <a:off x="324000" y="3415476"/>
            <a:ext cx="34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0" name="Google Shape;1300;p85"/>
          <p:cNvSpPr txBox="1"/>
          <p:nvPr/>
        </p:nvSpPr>
        <p:spPr>
          <a:xfrm>
            <a:off x="4902475" y="1975051"/>
            <a:ext cx="34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1" name="Google Shape;1301;p85"/>
          <p:cNvSpPr txBox="1"/>
          <p:nvPr/>
        </p:nvSpPr>
        <p:spPr>
          <a:xfrm>
            <a:off x="4902475" y="2469061"/>
            <a:ext cx="34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2" name="Google Shape;1302;p85"/>
          <p:cNvSpPr txBox="1"/>
          <p:nvPr/>
        </p:nvSpPr>
        <p:spPr>
          <a:xfrm>
            <a:off x="4902475" y="2892624"/>
            <a:ext cx="34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3" name="Google Shape;1303;p85"/>
          <p:cNvSpPr txBox="1"/>
          <p:nvPr/>
        </p:nvSpPr>
        <p:spPr>
          <a:xfrm>
            <a:off x="4902475" y="3362518"/>
            <a:ext cx="34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4" name="Google Shape;1304;p85"/>
          <p:cNvSpPr txBox="1"/>
          <p:nvPr/>
        </p:nvSpPr>
        <p:spPr>
          <a:xfrm>
            <a:off x="324000" y="3802591"/>
            <a:ext cx="34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5" name="Google Shape;1305;p85"/>
          <p:cNvSpPr txBox="1"/>
          <p:nvPr/>
        </p:nvSpPr>
        <p:spPr>
          <a:xfrm>
            <a:off x="627678" y="3817943"/>
            <a:ext cx="8044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Write a sentence that is true for all of these numbers, true for some numbers and not true for any numbers.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Identifying primes</a:t>
            </a:r>
            <a:endParaRPr/>
          </a:p>
        </p:txBody>
      </p:sp>
      <p:sp>
        <p:nvSpPr>
          <p:cNvPr id="1311" name="Google Shape;1311;p86"/>
          <p:cNvSpPr txBox="1"/>
          <p:nvPr>
            <p:ph idx="1" type="body"/>
          </p:nvPr>
        </p:nvSpPr>
        <p:spPr>
          <a:xfrm>
            <a:off x="324000" y="759300"/>
            <a:ext cx="8237700" cy="67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Find your way through the maze.  You can only move vertically and horizontally and can only move to a </a:t>
            </a:r>
            <a:r>
              <a:rPr b="1" lang="en-GB" sz="2000"/>
              <a:t>prime</a:t>
            </a:r>
            <a:r>
              <a:rPr lang="en-GB" sz="2000"/>
              <a:t> number.</a:t>
            </a:r>
            <a:endParaRPr sz="2000"/>
          </a:p>
        </p:txBody>
      </p:sp>
      <p:grpSp>
        <p:nvGrpSpPr>
          <p:cNvPr id="1312" name="Google Shape;1312;p86"/>
          <p:cNvGrpSpPr/>
          <p:nvPr/>
        </p:nvGrpSpPr>
        <p:grpSpPr>
          <a:xfrm>
            <a:off x="1472375" y="1529800"/>
            <a:ext cx="6199238" cy="3115600"/>
            <a:chOff x="1472375" y="1682200"/>
            <a:chExt cx="6199238" cy="3115600"/>
          </a:xfrm>
        </p:grpSpPr>
        <p:sp>
          <p:nvSpPr>
            <p:cNvPr id="1313" name="Google Shape;1313;p86"/>
            <p:cNvSpPr/>
            <p:nvPr/>
          </p:nvSpPr>
          <p:spPr>
            <a:xfrm>
              <a:off x="1472375" y="4018943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13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4" name="Google Shape;1314;p86"/>
            <p:cNvSpPr/>
            <p:nvPr/>
          </p:nvSpPr>
          <p:spPr>
            <a:xfrm>
              <a:off x="1472375" y="44084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5" name="Google Shape;1315;p86"/>
            <p:cNvSpPr/>
            <p:nvPr/>
          </p:nvSpPr>
          <p:spPr>
            <a:xfrm>
              <a:off x="2092313" y="4018943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19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6" name="Google Shape;1316;p86"/>
            <p:cNvSpPr/>
            <p:nvPr/>
          </p:nvSpPr>
          <p:spPr>
            <a:xfrm>
              <a:off x="2092313" y="44084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7" name="Google Shape;1317;p86"/>
            <p:cNvSpPr/>
            <p:nvPr/>
          </p:nvSpPr>
          <p:spPr>
            <a:xfrm>
              <a:off x="2712250" y="4018943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8" name="Google Shape;1318;p86"/>
            <p:cNvSpPr/>
            <p:nvPr/>
          </p:nvSpPr>
          <p:spPr>
            <a:xfrm>
              <a:off x="2712250" y="44084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51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9" name="Google Shape;1319;p86"/>
            <p:cNvSpPr/>
            <p:nvPr/>
          </p:nvSpPr>
          <p:spPr>
            <a:xfrm>
              <a:off x="1472375" y="3240029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11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0" name="Google Shape;1320;p86"/>
            <p:cNvSpPr/>
            <p:nvPr/>
          </p:nvSpPr>
          <p:spPr>
            <a:xfrm>
              <a:off x="1472375" y="3629486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1" name="Google Shape;1321;p86"/>
            <p:cNvSpPr/>
            <p:nvPr/>
          </p:nvSpPr>
          <p:spPr>
            <a:xfrm>
              <a:off x="2092313" y="3240029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89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2" name="Google Shape;1322;p86"/>
            <p:cNvSpPr/>
            <p:nvPr/>
          </p:nvSpPr>
          <p:spPr>
            <a:xfrm>
              <a:off x="2092313" y="3629486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16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3" name="Google Shape;1323;p86"/>
            <p:cNvSpPr/>
            <p:nvPr/>
          </p:nvSpPr>
          <p:spPr>
            <a:xfrm>
              <a:off x="2712250" y="3240029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35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4" name="Google Shape;1324;p86"/>
            <p:cNvSpPr/>
            <p:nvPr/>
          </p:nvSpPr>
          <p:spPr>
            <a:xfrm>
              <a:off x="2712250" y="3629486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15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5" name="Google Shape;1325;p86"/>
            <p:cNvSpPr/>
            <p:nvPr/>
          </p:nvSpPr>
          <p:spPr>
            <a:xfrm>
              <a:off x="3332188" y="4018943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31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6" name="Google Shape;1326;p86"/>
            <p:cNvSpPr/>
            <p:nvPr/>
          </p:nvSpPr>
          <p:spPr>
            <a:xfrm>
              <a:off x="3332188" y="44084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27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7" name="Google Shape;1327;p86"/>
            <p:cNvSpPr/>
            <p:nvPr/>
          </p:nvSpPr>
          <p:spPr>
            <a:xfrm>
              <a:off x="3952125" y="4018943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88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8" name="Google Shape;1328;p86"/>
            <p:cNvSpPr/>
            <p:nvPr/>
          </p:nvSpPr>
          <p:spPr>
            <a:xfrm>
              <a:off x="3952125" y="44084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21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9" name="Google Shape;1329;p86"/>
            <p:cNvSpPr/>
            <p:nvPr/>
          </p:nvSpPr>
          <p:spPr>
            <a:xfrm>
              <a:off x="4572063" y="4018943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15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0" name="Google Shape;1330;p86"/>
            <p:cNvSpPr/>
            <p:nvPr/>
          </p:nvSpPr>
          <p:spPr>
            <a:xfrm>
              <a:off x="4572063" y="44084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19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1" name="Google Shape;1331;p86"/>
            <p:cNvSpPr/>
            <p:nvPr/>
          </p:nvSpPr>
          <p:spPr>
            <a:xfrm>
              <a:off x="3332188" y="3240029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43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2" name="Google Shape;1332;p86"/>
            <p:cNvSpPr/>
            <p:nvPr/>
          </p:nvSpPr>
          <p:spPr>
            <a:xfrm>
              <a:off x="3332188" y="3629486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61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3" name="Google Shape;1333;p86"/>
            <p:cNvSpPr/>
            <p:nvPr/>
          </p:nvSpPr>
          <p:spPr>
            <a:xfrm>
              <a:off x="3952125" y="3240029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4" name="Google Shape;1334;p86"/>
            <p:cNvSpPr/>
            <p:nvPr/>
          </p:nvSpPr>
          <p:spPr>
            <a:xfrm>
              <a:off x="3952125" y="3629486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55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5" name="Google Shape;1335;p86"/>
            <p:cNvSpPr/>
            <p:nvPr/>
          </p:nvSpPr>
          <p:spPr>
            <a:xfrm>
              <a:off x="4572063" y="3240029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6" name="Google Shape;1336;p86"/>
            <p:cNvSpPr/>
            <p:nvPr/>
          </p:nvSpPr>
          <p:spPr>
            <a:xfrm>
              <a:off x="4572063" y="3629486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17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7" name="Google Shape;1337;p86"/>
            <p:cNvSpPr/>
            <p:nvPr/>
          </p:nvSpPr>
          <p:spPr>
            <a:xfrm>
              <a:off x="1472375" y="2461114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8" name="Google Shape;1338;p86"/>
            <p:cNvSpPr/>
            <p:nvPr/>
          </p:nvSpPr>
          <p:spPr>
            <a:xfrm>
              <a:off x="1472375" y="2850571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45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9" name="Google Shape;1339;p86"/>
            <p:cNvSpPr/>
            <p:nvPr/>
          </p:nvSpPr>
          <p:spPr>
            <a:xfrm>
              <a:off x="2092313" y="2461114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17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0" name="Google Shape;1340;p86"/>
            <p:cNvSpPr/>
            <p:nvPr/>
          </p:nvSpPr>
          <p:spPr>
            <a:xfrm>
              <a:off x="2092313" y="2850571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53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1" name="Google Shape;1341;p86"/>
            <p:cNvSpPr/>
            <p:nvPr/>
          </p:nvSpPr>
          <p:spPr>
            <a:xfrm>
              <a:off x="2712250" y="2461114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18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2" name="Google Shape;1342;p86"/>
            <p:cNvSpPr/>
            <p:nvPr/>
          </p:nvSpPr>
          <p:spPr>
            <a:xfrm>
              <a:off x="2712250" y="2850571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75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3" name="Google Shape;1343;p86"/>
            <p:cNvSpPr/>
            <p:nvPr/>
          </p:nvSpPr>
          <p:spPr>
            <a:xfrm>
              <a:off x="1472375" y="16822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27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4" name="Google Shape;1344;p86"/>
            <p:cNvSpPr/>
            <p:nvPr/>
          </p:nvSpPr>
          <p:spPr>
            <a:xfrm>
              <a:off x="1472375" y="2071657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12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5" name="Google Shape;1345;p86"/>
            <p:cNvSpPr/>
            <p:nvPr/>
          </p:nvSpPr>
          <p:spPr>
            <a:xfrm>
              <a:off x="2092313" y="16822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65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6" name="Google Shape;1346;p86"/>
            <p:cNvSpPr/>
            <p:nvPr/>
          </p:nvSpPr>
          <p:spPr>
            <a:xfrm>
              <a:off x="2092313" y="2071657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61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7" name="Google Shape;1347;p86"/>
            <p:cNvSpPr/>
            <p:nvPr/>
          </p:nvSpPr>
          <p:spPr>
            <a:xfrm>
              <a:off x="2712250" y="16822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21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8" name="Google Shape;1348;p86"/>
            <p:cNvSpPr/>
            <p:nvPr/>
          </p:nvSpPr>
          <p:spPr>
            <a:xfrm>
              <a:off x="2712250" y="2071657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9" name="Google Shape;1349;p86"/>
            <p:cNvSpPr/>
            <p:nvPr/>
          </p:nvSpPr>
          <p:spPr>
            <a:xfrm>
              <a:off x="3332188" y="2461114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49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0" name="Google Shape;1350;p86"/>
            <p:cNvSpPr/>
            <p:nvPr/>
          </p:nvSpPr>
          <p:spPr>
            <a:xfrm>
              <a:off x="3332188" y="2850571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1" name="Google Shape;1351;p86"/>
            <p:cNvSpPr/>
            <p:nvPr/>
          </p:nvSpPr>
          <p:spPr>
            <a:xfrm>
              <a:off x="3952125" y="2461114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53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2" name="Google Shape;1352;p86"/>
            <p:cNvSpPr/>
            <p:nvPr/>
          </p:nvSpPr>
          <p:spPr>
            <a:xfrm>
              <a:off x="3952125" y="2850571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79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3" name="Google Shape;1353;p86"/>
            <p:cNvSpPr/>
            <p:nvPr/>
          </p:nvSpPr>
          <p:spPr>
            <a:xfrm>
              <a:off x="4572063" y="2461114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51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4" name="Google Shape;1354;p86"/>
            <p:cNvSpPr/>
            <p:nvPr/>
          </p:nvSpPr>
          <p:spPr>
            <a:xfrm>
              <a:off x="4572063" y="2850571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81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5" name="Google Shape;1355;p86"/>
            <p:cNvSpPr/>
            <p:nvPr/>
          </p:nvSpPr>
          <p:spPr>
            <a:xfrm>
              <a:off x="3332188" y="16822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19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6" name="Google Shape;1356;p86"/>
            <p:cNvSpPr/>
            <p:nvPr/>
          </p:nvSpPr>
          <p:spPr>
            <a:xfrm>
              <a:off x="3332188" y="2071657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12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7" name="Google Shape;1357;p86"/>
            <p:cNvSpPr/>
            <p:nvPr/>
          </p:nvSpPr>
          <p:spPr>
            <a:xfrm>
              <a:off x="3952125" y="16822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21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8" name="Google Shape;1358;p86"/>
            <p:cNvSpPr/>
            <p:nvPr/>
          </p:nvSpPr>
          <p:spPr>
            <a:xfrm>
              <a:off x="3952125" y="2071657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29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9" name="Google Shape;1359;p86"/>
            <p:cNvSpPr/>
            <p:nvPr/>
          </p:nvSpPr>
          <p:spPr>
            <a:xfrm>
              <a:off x="4572063" y="16822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0" name="Google Shape;1360;p86"/>
            <p:cNvSpPr/>
            <p:nvPr/>
          </p:nvSpPr>
          <p:spPr>
            <a:xfrm>
              <a:off x="4572063" y="2071657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97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1" name="Google Shape;1361;p86"/>
            <p:cNvSpPr/>
            <p:nvPr/>
          </p:nvSpPr>
          <p:spPr>
            <a:xfrm>
              <a:off x="5192000" y="4018943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19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2" name="Google Shape;1362;p86"/>
            <p:cNvSpPr/>
            <p:nvPr/>
          </p:nvSpPr>
          <p:spPr>
            <a:xfrm>
              <a:off x="5192000" y="44084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61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3" name="Google Shape;1363;p86"/>
            <p:cNvSpPr/>
            <p:nvPr/>
          </p:nvSpPr>
          <p:spPr>
            <a:xfrm>
              <a:off x="5192000" y="3240029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22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4" name="Google Shape;1364;p86"/>
            <p:cNvSpPr/>
            <p:nvPr/>
          </p:nvSpPr>
          <p:spPr>
            <a:xfrm>
              <a:off x="5192000" y="3629486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37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5" name="Google Shape;1365;p86"/>
            <p:cNvSpPr/>
            <p:nvPr/>
          </p:nvSpPr>
          <p:spPr>
            <a:xfrm>
              <a:off x="5811938" y="4018943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47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6" name="Google Shape;1366;p86"/>
            <p:cNvSpPr/>
            <p:nvPr/>
          </p:nvSpPr>
          <p:spPr>
            <a:xfrm>
              <a:off x="5811938" y="44084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13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7" name="Google Shape;1367;p86"/>
            <p:cNvSpPr/>
            <p:nvPr/>
          </p:nvSpPr>
          <p:spPr>
            <a:xfrm>
              <a:off x="6431875" y="4018943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8" name="Google Shape;1368;p86"/>
            <p:cNvSpPr/>
            <p:nvPr/>
          </p:nvSpPr>
          <p:spPr>
            <a:xfrm>
              <a:off x="6431875" y="44084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9" name="Google Shape;1369;p86"/>
            <p:cNvSpPr/>
            <p:nvPr/>
          </p:nvSpPr>
          <p:spPr>
            <a:xfrm>
              <a:off x="7051813" y="4018943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36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0" name="Google Shape;1370;p86"/>
            <p:cNvSpPr/>
            <p:nvPr/>
          </p:nvSpPr>
          <p:spPr>
            <a:xfrm>
              <a:off x="7051813" y="44084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11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1" name="Google Shape;1371;p86"/>
            <p:cNvSpPr/>
            <p:nvPr/>
          </p:nvSpPr>
          <p:spPr>
            <a:xfrm>
              <a:off x="5811938" y="3240029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65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2" name="Google Shape;1372;p86"/>
            <p:cNvSpPr/>
            <p:nvPr/>
          </p:nvSpPr>
          <p:spPr>
            <a:xfrm>
              <a:off x="5811938" y="3629486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49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3" name="Google Shape;1373;p86"/>
            <p:cNvSpPr/>
            <p:nvPr/>
          </p:nvSpPr>
          <p:spPr>
            <a:xfrm>
              <a:off x="6431875" y="3240029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89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4" name="Google Shape;1374;p86"/>
            <p:cNvSpPr/>
            <p:nvPr/>
          </p:nvSpPr>
          <p:spPr>
            <a:xfrm>
              <a:off x="6431875" y="3629486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23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5" name="Google Shape;1375;p86"/>
            <p:cNvSpPr/>
            <p:nvPr/>
          </p:nvSpPr>
          <p:spPr>
            <a:xfrm>
              <a:off x="7051813" y="3240029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14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6" name="Google Shape;1376;p86"/>
            <p:cNvSpPr/>
            <p:nvPr/>
          </p:nvSpPr>
          <p:spPr>
            <a:xfrm>
              <a:off x="7051813" y="3629486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17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7" name="Google Shape;1377;p86"/>
            <p:cNvSpPr/>
            <p:nvPr/>
          </p:nvSpPr>
          <p:spPr>
            <a:xfrm>
              <a:off x="5192000" y="2461114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67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8" name="Google Shape;1378;p86"/>
            <p:cNvSpPr/>
            <p:nvPr/>
          </p:nvSpPr>
          <p:spPr>
            <a:xfrm>
              <a:off x="5192000" y="2850571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83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9" name="Google Shape;1379;p86"/>
            <p:cNvSpPr/>
            <p:nvPr/>
          </p:nvSpPr>
          <p:spPr>
            <a:xfrm>
              <a:off x="5192000" y="16822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49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0" name="Google Shape;1380;p86"/>
            <p:cNvSpPr/>
            <p:nvPr/>
          </p:nvSpPr>
          <p:spPr>
            <a:xfrm>
              <a:off x="5192000" y="2071657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1" name="Google Shape;1381;p86"/>
            <p:cNvSpPr/>
            <p:nvPr/>
          </p:nvSpPr>
          <p:spPr>
            <a:xfrm>
              <a:off x="5811938" y="2461114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91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2" name="Google Shape;1382;p86"/>
            <p:cNvSpPr/>
            <p:nvPr/>
          </p:nvSpPr>
          <p:spPr>
            <a:xfrm>
              <a:off x="5811938" y="2850571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11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3" name="Google Shape;1383;p86"/>
            <p:cNvSpPr/>
            <p:nvPr/>
          </p:nvSpPr>
          <p:spPr>
            <a:xfrm>
              <a:off x="6431875" y="2461114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58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4" name="Google Shape;1384;p86"/>
            <p:cNvSpPr/>
            <p:nvPr/>
          </p:nvSpPr>
          <p:spPr>
            <a:xfrm>
              <a:off x="6431875" y="2850571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71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5" name="Google Shape;1385;p86"/>
            <p:cNvSpPr/>
            <p:nvPr/>
          </p:nvSpPr>
          <p:spPr>
            <a:xfrm>
              <a:off x="7051813" y="2461114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14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6" name="Google Shape;1386;p86"/>
            <p:cNvSpPr/>
            <p:nvPr/>
          </p:nvSpPr>
          <p:spPr>
            <a:xfrm>
              <a:off x="7051813" y="2850571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57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7" name="Google Shape;1387;p86"/>
            <p:cNvSpPr/>
            <p:nvPr/>
          </p:nvSpPr>
          <p:spPr>
            <a:xfrm>
              <a:off x="5811938" y="16822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17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8" name="Google Shape;1388;p86"/>
            <p:cNvSpPr/>
            <p:nvPr/>
          </p:nvSpPr>
          <p:spPr>
            <a:xfrm>
              <a:off x="5811938" y="2071657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21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9" name="Google Shape;1389;p86"/>
            <p:cNvSpPr/>
            <p:nvPr/>
          </p:nvSpPr>
          <p:spPr>
            <a:xfrm>
              <a:off x="6431875" y="16822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79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0" name="Google Shape;1390;p86"/>
            <p:cNvSpPr/>
            <p:nvPr/>
          </p:nvSpPr>
          <p:spPr>
            <a:xfrm>
              <a:off x="6431875" y="2071657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29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1" name="Google Shape;1391;p86"/>
            <p:cNvSpPr/>
            <p:nvPr/>
          </p:nvSpPr>
          <p:spPr>
            <a:xfrm>
              <a:off x="7051813" y="16822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11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2" name="Google Shape;1392;p86"/>
            <p:cNvSpPr/>
            <p:nvPr/>
          </p:nvSpPr>
          <p:spPr>
            <a:xfrm>
              <a:off x="7051813" y="2071657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93" name="Google Shape;1393;p86"/>
          <p:cNvSpPr txBox="1"/>
          <p:nvPr/>
        </p:nvSpPr>
        <p:spPr>
          <a:xfrm>
            <a:off x="658325" y="4167600"/>
            <a:ext cx="715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Start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4" name="Google Shape;1394;p86"/>
          <p:cNvSpPr/>
          <p:nvPr/>
        </p:nvSpPr>
        <p:spPr>
          <a:xfrm>
            <a:off x="1482175" y="4267050"/>
            <a:ext cx="615600" cy="3708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p86"/>
          <p:cNvSpPr/>
          <p:nvPr/>
        </p:nvSpPr>
        <p:spPr>
          <a:xfrm>
            <a:off x="1482175" y="3856625"/>
            <a:ext cx="615600" cy="410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86"/>
          <p:cNvSpPr/>
          <p:nvPr/>
        </p:nvSpPr>
        <p:spPr>
          <a:xfrm>
            <a:off x="2097775" y="3856625"/>
            <a:ext cx="615600" cy="410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86"/>
          <p:cNvSpPr/>
          <p:nvPr/>
        </p:nvSpPr>
        <p:spPr>
          <a:xfrm>
            <a:off x="2713375" y="3856625"/>
            <a:ext cx="615600" cy="410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8" name="Google Shape;1398;p86"/>
          <p:cNvSpPr/>
          <p:nvPr/>
        </p:nvSpPr>
        <p:spPr>
          <a:xfrm>
            <a:off x="3328975" y="3856625"/>
            <a:ext cx="615600" cy="410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p86"/>
          <p:cNvSpPr/>
          <p:nvPr/>
        </p:nvSpPr>
        <p:spPr>
          <a:xfrm>
            <a:off x="3328975" y="3474675"/>
            <a:ext cx="615600" cy="3708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86"/>
          <p:cNvSpPr/>
          <p:nvPr/>
        </p:nvSpPr>
        <p:spPr>
          <a:xfrm>
            <a:off x="3328975" y="3092725"/>
            <a:ext cx="615600" cy="3708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86"/>
          <p:cNvSpPr/>
          <p:nvPr/>
        </p:nvSpPr>
        <p:spPr>
          <a:xfrm>
            <a:off x="3944575" y="3092725"/>
            <a:ext cx="615600" cy="3708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p86"/>
          <p:cNvSpPr/>
          <p:nvPr/>
        </p:nvSpPr>
        <p:spPr>
          <a:xfrm>
            <a:off x="3944575" y="2680150"/>
            <a:ext cx="615600" cy="410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86"/>
          <p:cNvSpPr/>
          <p:nvPr/>
        </p:nvSpPr>
        <p:spPr>
          <a:xfrm>
            <a:off x="3944575" y="2313842"/>
            <a:ext cx="615600" cy="3708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86"/>
          <p:cNvSpPr/>
          <p:nvPr/>
        </p:nvSpPr>
        <p:spPr>
          <a:xfrm>
            <a:off x="3944575" y="1907874"/>
            <a:ext cx="615600" cy="410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86"/>
          <p:cNvSpPr/>
          <p:nvPr/>
        </p:nvSpPr>
        <p:spPr>
          <a:xfrm>
            <a:off x="4572000" y="1907874"/>
            <a:ext cx="615600" cy="410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86"/>
          <p:cNvSpPr/>
          <p:nvPr/>
        </p:nvSpPr>
        <p:spPr>
          <a:xfrm>
            <a:off x="5187600" y="1907874"/>
            <a:ext cx="615600" cy="410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86"/>
          <p:cNvSpPr/>
          <p:nvPr/>
        </p:nvSpPr>
        <p:spPr>
          <a:xfrm>
            <a:off x="5187600" y="2294199"/>
            <a:ext cx="615600" cy="410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86"/>
          <p:cNvSpPr/>
          <p:nvPr/>
        </p:nvSpPr>
        <p:spPr>
          <a:xfrm>
            <a:off x="5187600" y="2680149"/>
            <a:ext cx="615600" cy="410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86"/>
          <p:cNvSpPr/>
          <p:nvPr/>
        </p:nvSpPr>
        <p:spPr>
          <a:xfrm>
            <a:off x="5803200" y="2680150"/>
            <a:ext cx="615600" cy="410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Google Shape;1410;p86"/>
          <p:cNvSpPr/>
          <p:nvPr/>
        </p:nvSpPr>
        <p:spPr>
          <a:xfrm>
            <a:off x="6430625" y="2682500"/>
            <a:ext cx="615600" cy="410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1" name="Google Shape;1411;p86"/>
          <p:cNvSpPr/>
          <p:nvPr/>
        </p:nvSpPr>
        <p:spPr>
          <a:xfrm>
            <a:off x="6430625" y="3073075"/>
            <a:ext cx="615600" cy="410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86"/>
          <p:cNvSpPr/>
          <p:nvPr/>
        </p:nvSpPr>
        <p:spPr>
          <a:xfrm>
            <a:off x="6430625" y="3483175"/>
            <a:ext cx="615600" cy="3708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86"/>
          <p:cNvSpPr/>
          <p:nvPr/>
        </p:nvSpPr>
        <p:spPr>
          <a:xfrm>
            <a:off x="7056025" y="3483175"/>
            <a:ext cx="615600" cy="3708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Identifying primes</a:t>
            </a:r>
            <a:endParaRPr/>
          </a:p>
        </p:txBody>
      </p:sp>
      <p:sp>
        <p:nvSpPr>
          <p:cNvPr id="1419" name="Google Shape;1419;p87"/>
          <p:cNvSpPr txBox="1"/>
          <p:nvPr>
            <p:ph idx="1" type="body"/>
          </p:nvPr>
        </p:nvSpPr>
        <p:spPr>
          <a:xfrm>
            <a:off x="324000" y="759300"/>
            <a:ext cx="8237700" cy="76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2)	Use the numbers on the cards to complete the sentences.</a:t>
            </a:r>
            <a:endParaRPr sz="1600"/>
          </a:p>
          <a:p>
            <a:pPr indent="45720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Use each card only once.</a:t>
            </a:r>
            <a:endParaRPr sz="1600"/>
          </a:p>
        </p:txBody>
      </p:sp>
      <p:sp>
        <p:nvSpPr>
          <p:cNvPr id="1420" name="Google Shape;1420;p87"/>
          <p:cNvSpPr txBox="1"/>
          <p:nvPr>
            <p:ph idx="1" type="body"/>
          </p:nvPr>
        </p:nvSpPr>
        <p:spPr>
          <a:xfrm>
            <a:off x="641580" y="2094919"/>
            <a:ext cx="4715700" cy="175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 or 16</a:t>
            </a:r>
            <a:r>
              <a:rPr lang="en-GB" sz="1800"/>
              <a:t> has an odd number of factors.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11 or 13</a:t>
            </a:r>
            <a:r>
              <a:rPr lang="en-GB" sz="1800"/>
              <a:t> has exactly two factors.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10, 14 or 15</a:t>
            </a:r>
            <a:r>
              <a:rPr lang="en-GB" sz="1800"/>
              <a:t> has exactly four factors.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 or 14</a:t>
            </a:r>
            <a:r>
              <a:rPr lang="en-GB" sz="1800"/>
              <a:t> has 2 as a factor.</a:t>
            </a:r>
            <a:endParaRPr sz="1800"/>
          </a:p>
        </p:txBody>
      </p:sp>
      <p:grpSp>
        <p:nvGrpSpPr>
          <p:cNvPr id="1421" name="Google Shape;1421;p87"/>
          <p:cNvGrpSpPr/>
          <p:nvPr/>
        </p:nvGrpSpPr>
        <p:grpSpPr>
          <a:xfrm>
            <a:off x="1662800" y="1589470"/>
            <a:ext cx="5818402" cy="337198"/>
            <a:chOff x="1311725" y="1543585"/>
            <a:chExt cx="5818402" cy="565200"/>
          </a:xfrm>
        </p:grpSpPr>
        <p:sp>
          <p:nvSpPr>
            <p:cNvPr id="1422" name="Google Shape;1422;p87"/>
            <p:cNvSpPr/>
            <p:nvPr/>
          </p:nvSpPr>
          <p:spPr>
            <a:xfrm>
              <a:off x="1311725" y="1543585"/>
              <a:ext cx="554400" cy="5652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23" name="Google Shape;1423;p87"/>
            <p:cNvSpPr/>
            <p:nvPr/>
          </p:nvSpPr>
          <p:spPr>
            <a:xfrm>
              <a:off x="2063727" y="1543585"/>
              <a:ext cx="554400" cy="5652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24" name="Google Shape;1424;p87"/>
            <p:cNvSpPr/>
            <p:nvPr/>
          </p:nvSpPr>
          <p:spPr>
            <a:xfrm>
              <a:off x="2815725" y="1543585"/>
              <a:ext cx="554400" cy="5652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11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25" name="Google Shape;1425;p87"/>
            <p:cNvSpPr/>
            <p:nvPr/>
          </p:nvSpPr>
          <p:spPr>
            <a:xfrm>
              <a:off x="3567727" y="1543585"/>
              <a:ext cx="554400" cy="5652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12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26" name="Google Shape;1426;p87"/>
            <p:cNvSpPr/>
            <p:nvPr/>
          </p:nvSpPr>
          <p:spPr>
            <a:xfrm>
              <a:off x="4319725" y="1543585"/>
              <a:ext cx="554400" cy="5652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13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27" name="Google Shape;1427;p87"/>
            <p:cNvSpPr/>
            <p:nvPr/>
          </p:nvSpPr>
          <p:spPr>
            <a:xfrm>
              <a:off x="5071727" y="1543585"/>
              <a:ext cx="554400" cy="5652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14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28" name="Google Shape;1428;p87"/>
            <p:cNvSpPr/>
            <p:nvPr/>
          </p:nvSpPr>
          <p:spPr>
            <a:xfrm>
              <a:off x="5823725" y="1543585"/>
              <a:ext cx="554400" cy="5652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15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29" name="Google Shape;1429;p87"/>
            <p:cNvSpPr/>
            <p:nvPr/>
          </p:nvSpPr>
          <p:spPr>
            <a:xfrm>
              <a:off x="6575727" y="1543585"/>
              <a:ext cx="554400" cy="5652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16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30" name="Google Shape;1430;p87"/>
          <p:cNvSpPr txBox="1"/>
          <p:nvPr/>
        </p:nvSpPr>
        <p:spPr>
          <a:xfrm>
            <a:off x="5044200" y="2018275"/>
            <a:ext cx="3978000" cy="18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11 or 13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prime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 or 16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square.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10, 14 or 15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has two pairs of factors.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has exactly 6 factors.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1" name="Google Shape;1431;p87"/>
          <p:cNvSpPr txBox="1"/>
          <p:nvPr/>
        </p:nvSpPr>
        <p:spPr>
          <a:xfrm>
            <a:off x="324000" y="1994910"/>
            <a:ext cx="34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2" name="Google Shape;1432;p87"/>
          <p:cNvSpPr txBox="1"/>
          <p:nvPr/>
        </p:nvSpPr>
        <p:spPr>
          <a:xfrm>
            <a:off x="324000" y="2475681"/>
            <a:ext cx="34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3" name="Google Shape;1433;p87"/>
          <p:cNvSpPr txBox="1"/>
          <p:nvPr/>
        </p:nvSpPr>
        <p:spPr>
          <a:xfrm>
            <a:off x="324000" y="2932342"/>
            <a:ext cx="34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87"/>
          <p:cNvSpPr txBox="1"/>
          <p:nvPr/>
        </p:nvSpPr>
        <p:spPr>
          <a:xfrm>
            <a:off x="324000" y="3415476"/>
            <a:ext cx="34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5" name="Google Shape;1435;p87"/>
          <p:cNvSpPr txBox="1"/>
          <p:nvPr/>
        </p:nvSpPr>
        <p:spPr>
          <a:xfrm>
            <a:off x="4826225" y="2047988"/>
            <a:ext cx="34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6" name="Google Shape;1436;p87"/>
          <p:cNvSpPr txBox="1"/>
          <p:nvPr/>
        </p:nvSpPr>
        <p:spPr>
          <a:xfrm>
            <a:off x="4826225" y="2541999"/>
            <a:ext cx="34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7" name="Google Shape;1437;p87"/>
          <p:cNvSpPr txBox="1"/>
          <p:nvPr/>
        </p:nvSpPr>
        <p:spPr>
          <a:xfrm>
            <a:off x="4826225" y="2965562"/>
            <a:ext cx="34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8" name="Google Shape;1438;p87"/>
          <p:cNvSpPr txBox="1"/>
          <p:nvPr/>
        </p:nvSpPr>
        <p:spPr>
          <a:xfrm>
            <a:off x="4826225" y="3435456"/>
            <a:ext cx="34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9" name="Google Shape;1439;p87"/>
          <p:cNvSpPr txBox="1"/>
          <p:nvPr/>
        </p:nvSpPr>
        <p:spPr>
          <a:xfrm>
            <a:off x="324000" y="3802591"/>
            <a:ext cx="34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0" name="Google Shape;1440;p87"/>
          <p:cNvSpPr txBox="1"/>
          <p:nvPr/>
        </p:nvSpPr>
        <p:spPr>
          <a:xfrm>
            <a:off x="627678" y="3817943"/>
            <a:ext cx="8044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Write a sentence that is true for all of these numbers, true for some numbers and not true for any numbers.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p8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Identifying primes</a:t>
            </a:r>
            <a:endParaRPr/>
          </a:p>
        </p:txBody>
      </p:sp>
      <p:sp>
        <p:nvSpPr>
          <p:cNvPr id="1446" name="Google Shape;1446;p88"/>
          <p:cNvSpPr txBox="1"/>
          <p:nvPr>
            <p:ph idx="1" type="body"/>
          </p:nvPr>
        </p:nvSpPr>
        <p:spPr>
          <a:xfrm>
            <a:off x="324000" y="759300"/>
            <a:ext cx="8237700" cy="76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2)	</a:t>
            </a:r>
            <a:r>
              <a:rPr lang="en-GB" sz="1900"/>
              <a:t>Use the numbers on the cards to complete the sentences.</a:t>
            </a:r>
            <a:endParaRPr sz="19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Use each card only once.</a:t>
            </a:r>
            <a:endParaRPr sz="1900"/>
          </a:p>
        </p:txBody>
      </p:sp>
      <p:grpSp>
        <p:nvGrpSpPr>
          <p:cNvPr id="1447" name="Google Shape;1447;p88"/>
          <p:cNvGrpSpPr/>
          <p:nvPr/>
        </p:nvGrpSpPr>
        <p:grpSpPr>
          <a:xfrm>
            <a:off x="1662800" y="1589470"/>
            <a:ext cx="5818402" cy="337198"/>
            <a:chOff x="1311725" y="1543585"/>
            <a:chExt cx="5818402" cy="565200"/>
          </a:xfrm>
        </p:grpSpPr>
        <p:sp>
          <p:nvSpPr>
            <p:cNvPr id="1448" name="Google Shape;1448;p88"/>
            <p:cNvSpPr/>
            <p:nvPr/>
          </p:nvSpPr>
          <p:spPr>
            <a:xfrm>
              <a:off x="1311725" y="1543585"/>
              <a:ext cx="554400" cy="5652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9" name="Google Shape;1449;p88"/>
            <p:cNvSpPr/>
            <p:nvPr/>
          </p:nvSpPr>
          <p:spPr>
            <a:xfrm>
              <a:off x="2063727" y="1543585"/>
              <a:ext cx="554400" cy="5652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0" name="Google Shape;1450;p88"/>
            <p:cNvSpPr/>
            <p:nvPr/>
          </p:nvSpPr>
          <p:spPr>
            <a:xfrm>
              <a:off x="2815725" y="1543585"/>
              <a:ext cx="554400" cy="5652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11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1" name="Google Shape;1451;p88"/>
            <p:cNvSpPr/>
            <p:nvPr/>
          </p:nvSpPr>
          <p:spPr>
            <a:xfrm>
              <a:off x="3567727" y="1543585"/>
              <a:ext cx="554400" cy="5652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12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2" name="Google Shape;1452;p88"/>
            <p:cNvSpPr/>
            <p:nvPr/>
          </p:nvSpPr>
          <p:spPr>
            <a:xfrm>
              <a:off x="4319725" y="1543585"/>
              <a:ext cx="554400" cy="5652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13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3" name="Google Shape;1453;p88"/>
            <p:cNvSpPr/>
            <p:nvPr/>
          </p:nvSpPr>
          <p:spPr>
            <a:xfrm>
              <a:off x="5071727" y="1543585"/>
              <a:ext cx="554400" cy="5652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14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4" name="Google Shape;1454;p88"/>
            <p:cNvSpPr/>
            <p:nvPr/>
          </p:nvSpPr>
          <p:spPr>
            <a:xfrm>
              <a:off x="5823725" y="1543585"/>
              <a:ext cx="554400" cy="5652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15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5" name="Google Shape;1455;p88"/>
            <p:cNvSpPr/>
            <p:nvPr/>
          </p:nvSpPr>
          <p:spPr>
            <a:xfrm>
              <a:off x="6575727" y="1543585"/>
              <a:ext cx="554400" cy="5652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16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56" name="Google Shape;1456;p88"/>
          <p:cNvSpPr txBox="1"/>
          <p:nvPr/>
        </p:nvSpPr>
        <p:spPr>
          <a:xfrm>
            <a:off x="324000" y="2049991"/>
            <a:ext cx="34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7" name="Google Shape;1457;p88"/>
          <p:cNvSpPr txBox="1"/>
          <p:nvPr/>
        </p:nvSpPr>
        <p:spPr>
          <a:xfrm>
            <a:off x="627678" y="2065343"/>
            <a:ext cx="8044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Write a sentence that is true for all of these numbers, true for some numbers and not true for any numbers.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8" name="Google Shape;1458;p88"/>
          <p:cNvSpPr txBox="1"/>
          <p:nvPr/>
        </p:nvSpPr>
        <p:spPr>
          <a:xfrm>
            <a:off x="666903" y="3084943"/>
            <a:ext cx="8044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e.g. All of the numbers have two or more factors.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Some of the numbers are </a:t>
            </a:r>
            <a:r>
              <a:rPr b="1" lang="en-GB" sz="2200">
                <a:latin typeface="Kalam"/>
                <a:ea typeface="Kalam"/>
                <a:cs typeface="Kalam"/>
                <a:sym typeface="Kalam"/>
              </a:rPr>
              <a:t>prime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numbers.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None of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the numbers have more than six factors.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8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Prime numbers have exactly two factors.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Prime numbers can be </a:t>
            </a:r>
            <a:r>
              <a:rPr lang="en-GB"/>
              <a:t>identified</a:t>
            </a:r>
            <a:r>
              <a:rPr lang="en-GB"/>
              <a:t> using arrays, factor pairs, the sieve of </a:t>
            </a:r>
            <a:r>
              <a:rPr lang="en-GB"/>
              <a:t>Eratosthenes.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E.g. 7 is a prime number it only has one array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	 7 has only one factor pair, 1 × 7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p89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prime numbers</a:t>
            </a:r>
            <a:endParaRPr/>
          </a:p>
        </p:txBody>
      </p:sp>
      <p:pic>
        <p:nvPicPr>
          <p:cNvPr id="1465" name="Google Shape;1465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7125" y="3014600"/>
            <a:ext cx="2190400" cy="34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p90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71" name="Google Shape;1471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