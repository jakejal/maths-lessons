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prime numbers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308225" y="1715800"/>
            <a:ext cx="6527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List the factors of the following and decide which are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7975" y="2000275"/>
            <a:ext cx="252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823671" y="2000275"/>
            <a:ext cx="41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2352554" y="2000275"/>
            <a:ext cx="252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708250" y="2000275"/>
            <a:ext cx="41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4237133" y="2000275"/>
            <a:ext cx="252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4592829" y="2000275"/>
            <a:ext cx="41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6121712" y="2000275"/>
            <a:ext cx="252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6477408" y="2000275"/>
            <a:ext cx="41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623153" y="2236200"/>
            <a:ext cx="81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× 27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507732" y="2236200"/>
            <a:ext cx="815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× 37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4379158" y="2236200"/>
            <a:ext cx="81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1 × 87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29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6276890" y="2236200"/>
            <a:ext cx="81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× 57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× 19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467975" y="2680200"/>
            <a:ext cx="1969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37 is the only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prime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number.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468000" y="1320800"/>
            <a:ext cx="2654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Properties of primes</a:t>
            </a:r>
            <a:endParaRPr b="1">
              <a:solidFill>
                <a:schemeClr val="dk1"/>
              </a:solidFill>
            </a:endParaRPr>
          </a:p>
        </p:txBody>
      </p:sp>
      <p:grpSp>
        <p:nvGrpSpPr>
          <p:cNvPr id="188" name="Google Shape;188;p20"/>
          <p:cNvGrpSpPr/>
          <p:nvPr/>
        </p:nvGrpSpPr>
        <p:grpSpPr>
          <a:xfrm>
            <a:off x="484676" y="4736527"/>
            <a:ext cx="965478" cy="760902"/>
            <a:chOff x="324000" y="3184850"/>
            <a:chExt cx="1246100" cy="1405175"/>
          </a:xfrm>
        </p:grpSpPr>
        <p:pic>
          <p:nvPicPr>
            <p:cNvPr id="189" name="Google Shape;189;p20"/>
            <p:cNvPicPr preferRelativeResize="0"/>
            <p:nvPr/>
          </p:nvPicPr>
          <p:blipFill rotWithShape="1">
            <a:blip r:embed="rId3">
              <a:alphaModFix/>
            </a:blip>
            <a:srcRect b="0" l="0" r="70143" t="56280"/>
            <a:stretch/>
          </p:blipFill>
          <p:spPr>
            <a:xfrm>
              <a:off x="324000" y="3184850"/>
              <a:ext cx="1246024" cy="14051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20"/>
            <p:cNvSpPr txBox="1"/>
            <p:nvPr/>
          </p:nvSpPr>
          <p:spPr>
            <a:xfrm>
              <a:off x="446300" y="3220825"/>
              <a:ext cx="1123800" cy="136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Most </a:t>
              </a:r>
              <a:r>
                <a:rPr b="1" lang="en-GB" sz="12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numbers are odd.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1" name="Google Shape;191;p20"/>
          <p:cNvGrpSpPr/>
          <p:nvPr/>
        </p:nvGrpSpPr>
        <p:grpSpPr>
          <a:xfrm>
            <a:off x="484670" y="6388202"/>
            <a:ext cx="1369360" cy="835251"/>
            <a:chOff x="7581759" y="857281"/>
            <a:chExt cx="1767373" cy="857283"/>
          </a:xfrm>
        </p:grpSpPr>
        <p:pic>
          <p:nvPicPr>
            <p:cNvPr id="192" name="Google Shape;192;p20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7581759" y="857281"/>
              <a:ext cx="1767373" cy="85728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3" name="Google Shape;193;p20"/>
            <p:cNvSpPr txBox="1"/>
            <p:nvPr/>
          </p:nvSpPr>
          <p:spPr>
            <a:xfrm>
              <a:off x="7722513" y="899128"/>
              <a:ext cx="1551300" cy="75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Numbers ending in 5 can be </a:t>
              </a:r>
              <a:r>
                <a:rPr b="1" lang="en-GB" sz="12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94" name="Google Shape;194;p20"/>
          <p:cNvGrpSpPr/>
          <p:nvPr/>
        </p:nvGrpSpPr>
        <p:grpSpPr>
          <a:xfrm>
            <a:off x="484638" y="5547782"/>
            <a:ext cx="1278108" cy="835221"/>
            <a:chOff x="2746603" y="3077425"/>
            <a:chExt cx="1649597" cy="1405150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3">
              <a:alphaModFix/>
            </a:blip>
            <a:srcRect b="0" l="0" r="70143" t="56280"/>
            <a:stretch/>
          </p:blipFill>
          <p:spPr>
            <a:xfrm>
              <a:off x="2746603" y="3077425"/>
              <a:ext cx="1551299" cy="14051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 txBox="1"/>
            <p:nvPr/>
          </p:nvSpPr>
          <p:spPr>
            <a:xfrm>
              <a:off x="2844900" y="3133880"/>
              <a:ext cx="1551300" cy="12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All numbers ending in 3 are </a:t>
              </a:r>
              <a:r>
                <a:rPr b="1" lang="en-GB" sz="12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97" name="Google Shape;197;p20"/>
          <p:cNvSpPr txBox="1"/>
          <p:nvPr/>
        </p:nvSpPr>
        <p:spPr>
          <a:xfrm>
            <a:off x="1539047" y="4979982"/>
            <a:ext cx="4638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I agree, all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prime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numbers are odd except 2.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1728942" y="5741604"/>
            <a:ext cx="537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I don’t agree, 33 ends in a 3 but is not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prime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because it has two factor pairs, 1 × 33 and 3 × 11.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1954622" y="6591263"/>
            <a:ext cx="46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I agree, 5 ends in 5 and is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prime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.  However, this is the only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prime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ending in 5 as all other numbers ending in 5 are multiples of 5.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67975" y="3258298"/>
            <a:ext cx="6624000" cy="14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Alex writes out the first seven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2, 3, 5, 7, 11, 13, 17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uses these numbers to make the following statements.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 you agree with them?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Give examples to support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" name="Google Shape;201;p20"/>
          <p:cNvGrpSpPr/>
          <p:nvPr/>
        </p:nvGrpSpPr>
        <p:grpSpPr>
          <a:xfrm>
            <a:off x="400194" y="7236894"/>
            <a:ext cx="2204848" cy="562964"/>
            <a:chOff x="5774402" y="3722700"/>
            <a:chExt cx="2204848" cy="841500"/>
          </a:xfrm>
        </p:grpSpPr>
        <p:pic>
          <p:nvPicPr>
            <p:cNvPr id="202" name="Google Shape;202;p20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5774402" y="3722700"/>
              <a:ext cx="2166723" cy="8282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" name="Google Shape;203;p20"/>
            <p:cNvSpPr txBox="1"/>
            <p:nvPr/>
          </p:nvSpPr>
          <p:spPr>
            <a:xfrm>
              <a:off x="5954250" y="3735900"/>
              <a:ext cx="2025000" cy="82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latin typeface="Lexend"/>
                  <a:ea typeface="Lexend"/>
                  <a:cs typeface="Lexend"/>
                  <a:sym typeface="Lexend"/>
                </a:rPr>
                <a:t>Prime 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numbers don’t end in 9.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" name="Google Shape;204;p20"/>
          <p:cNvGrpSpPr/>
          <p:nvPr/>
        </p:nvGrpSpPr>
        <p:grpSpPr>
          <a:xfrm>
            <a:off x="414819" y="7945422"/>
            <a:ext cx="1735537" cy="625028"/>
            <a:chOff x="6476850" y="2571750"/>
            <a:chExt cx="1735537" cy="1194626"/>
          </a:xfrm>
        </p:grpSpPr>
        <p:pic>
          <p:nvPicPr>
            <p:cNvPr id="205" name="Google Shape;205;p20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6476850" y="2571750"/>
              <a:ext cx="1656100" cy="1194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20"/>
            <p:cNvSpPr txBox="1"/>
            <p:nvPr/>
          </p:nvSpPr>
          <p:spPr>
            <a:xfrm>
              <a:off x="6661088" y="2661163"/>
              <a:ext cx="1551300" cy="105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0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 and 17 are </a:t>
              </a:r>
              <a:r>
                <a:rPr b="1" lang="en-GB" sz="1200">
                  <a:latin typeface="Lexend"/>
                  <a:ea typeface="Lexend"/>
                  <a:cs typeface="Lexend"/>
                  <a:sym typeface="Lexend"/>
                </a:rPr>
                <a:t>prime</a:t>
              </a: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 so 27 will be too.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07" name="Google Shape;207;p20"/>
          <p:cNvSpPr txBox="1"/>
          <p:nvPr/>
        </p:nvSpPr>
        <p:spPr>
          <a:xfrm>
            <a:off x="2628023" y="7424111"/>
            <a:ext cx="3921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I don’t agree, 29 is a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prime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number.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2080522" y="8070002"/>
            <a:ext cx="5016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I don’t agree, 27 is not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prime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because it has two factor pairs, 1 × 27 and 3 × 9.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9" name="Google Shape;209;p20"/>
          <p:cNvSpPr txBox="1"/>
          <p:nvPr/>
        </p:nvSpPr>
        <p:spPr>
          <a:xfrm>
            <a:off x="468000" y="8709450"/>
            <a:ext cx="662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Prime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numbers always have two factors - always true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Prime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numbers end in 9 - sometimes true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Numbers ending in 0 are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prime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- never true    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10" name="Google Shape;210;p20"/>
          <p:cNvCxnSpPr/>
          <p:nvPr/>
        </p:nvCxnSpPr>
        <p:spPr>
          <a:xfrm>
            <a:off x="480750" y="94792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6" name="Google Shape;216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understanding of prime numbers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476400" y="1292700"/>
            <a:ext cx="6615600" cy="6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your way through the maze.  You can only move vertically and horizontally and can only move to a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number.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1"/>
          <p:cNvGrpSpPr/>
          <p:nvPr/>
        </p:nvGrpSpPr>
        <p:grpSpPr>
          <a:xfrm>
            <a:off x="1398664" y="2063200"/>
            <a:ext cx="4978608" cy="3115600"/>
            <a:chOff x="1472375" y="1682200"/>
            <a:chExt cx="6199238" cy="3115600"/>
          </a:xfrm>
        </p:grpSpPr>
        <p:sp>
          <p:nvSpPr>
            <p:cNvPr id="221" name="Google Shape;221;p21"/>
            <p:cNvSpPr/>
            <p:nvPr/>
          </p:nvSpPr>
          <p:spPr>
            <a:xfrm>
              <a:off x="1472375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" name="Google Shape;222;p21"/>
            <p:cNvSpPr/>
            <p:nvPr/>
          </p:nvSpPr>
          <p:spPr>
            <a:xfrm>
              <a:off x="1472375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" name="Google Shape;223;p21"/>
            <p:cNvSpPr/>
            <p:nvPr/>
          </p:nvSpPr>
          <p:spPr>
            <a:xfrm>
              <a:off x="2092313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4" name="Google Shape;224;p21"/>
            <p:cNvSpPr/>
            <p:nvPr/>
          </p:nvSpPr>
          <p:spPr>
            <a:xfrm>
              <a:off x="2092313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5" name="Google Shape;225;p21"/>
            <p:cNvSpPr/>
            <p:nvPr/>
          </p:nvSpPr>
          <p:spPr>
            <a:xfrm>
              <a:off x="2712250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6" name="Google Shape;226;p21"/>
            <p:cNvSpPr/>
            <p:nvPr/>
          </p:nvSpPr>
          <p:spPr>
            <a:xfrm>
              <a:off x="2712250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21"/>
            <p:cNvSpPr/>
            <p:nvPr/>
          </p:nvSpPr>
          <p:spPr>
            <a:xfrm>
              <a:off x="1472375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8" name="Google Shape;228;p21"/>
            <p:cNvSpPr/>
            <p:nvPr/>
          </p:nvSpPr>
          <p:spPr>
            <a:xfrm>
              <a:off x="1472375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9" name="Google Shape;229;p21"/>
            <p:cNvSpPr/>
            <p:nvPr/>
          </p:nvSpPr>
          <p:spPr>
            <a:xfrm>
              <a:off x="2092313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0" name="Google Shape;230;p21"/>
            <p:cNvSpPr/>
            <p:nvPr/>
          </p:nvSpPr>
          <p:spPr>
            <a:xfrm>
              <a:off x="2092313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2712250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2" name="Google Shape;232;p21"/>
            <p:cNvSpPr/>
            <p:nvPr/>
          </p:nvSpPr>
          <p:spPr>
            <a:xfrm>
              <a:off x="2712250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1"/>
            <p:cNvSpPr/>
            <p:nvPr/>
          </p:nvSpPr>
          <p:spPr>
            <a:xfrm>
              <a:off x="3332188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3332188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5" name="Google Shape;235;p21"/>
            <p:cNvSpPr/>
            <p:nvPr/>
          </p:nvSpPr>
          <p:spPr>
            <a:xfrm>
              <a:off x="3952125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6" name="Google Shape;236;p21"/>
            <p:cNvSpPr/>
            <p:nvPr/>
          </p:nvSpPr>
          <p:spPr>
            <a:xfrm>
              <a:off x="3952125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4572063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4572063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3332188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3332188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3952125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3952125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3" name="Google Shape;243;p21"/>
            <p:cNvSpPr/>
            <p:nvPr/>
          </p:nvSpPr>
          <p:spPr>
            <a:xfrm>
              <a:off x="4572063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4572063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1472375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6" name="Google Shape;246;p21"/>
            <p:cNvSpPr/>
            <p:nvPr/>
          </p:nvSpPr>
          <p:spPr>
            <a:xfrm>
              <a:off x="1472375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7" name="Google Shape;247;p21"/>
            <p:cNvSpPr/>
            <p:nvPr/>
          </p:nvSpPr>
          <p:spPr>
            <a:xfrm>
              <a:off x="2092313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8" name="Google Shape;248;p21"/>
            <p:cNvSpPr/>
            <p:nvPr/>
          </p:nvSpPr>
          <p:spPr>
            <a:xfrm>
              <a:off x="2092313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9" name="Google Shape;249;p21"/>
            <p:cNvSpPr/>
            <p:nvPr/>
          </p:nvSpPr>
          <p:spPr>
            <a:xfrm>
              <a:off x="2712250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2712250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1472375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1472375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3" name="Google Shape;253;p21"/>
            <p:cNvSpPr/>
            <p:nvPr/>
          </p:nvSpPr>
          <p:spPr>
            <a:xfrm>
              <a:off x="2092313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4" name="Google Shape;254;p21"/>
            <p:cNvSpPr/>
            <p:nvPr/>
          </p:nvSpPr>
          <p:spPr>
            <a:xfrm>
              <a:off x="2092313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5" name="Google Shape;255;p21"/>
            <p:cNvSpPr/>
            <p:nvPr/>
          </p:nvSpPr>
          <p:spPr>
            <a:xfrm>
              <a:off x="2712250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6" name="Google Shape;256;p21"/>
            <p:cNvSpPr/>
            <p:nvPr/>
          </p:nvSpPr>
          <p:spPr>
            <a:xfrm>
              <a:off x="2712250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7" name="Google Shape;257;p21"/>
            <p:cNvSpPr/>
            <p:nvPr/>
          </p:nvSpPr>
          <p:spPr>
            <a:xfrm>
              <a:off x="3332188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8" name="Google Shape;258;p21"/>
            <p:cNvSpPr/>
            <p:nvPr/>
          </p:nvSpPr>
          <p:spPr>
            <a:xfrm>
              <a:off x="3332188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59" name="Google Shape;259;p21"/>
            <p:cNvSpPr/>
            <p:nvPr/>
          </p:nvSpPr>
          <p:spPr>
            <a:xfrm>
              <a:off x="3952125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0" name="Google Shape;260;p21"/>
            <p:cNvSpPr/>
            <p:nvPr/>
          </p:nvSpPr>
          <p:spPr>
            <a:xfrm>
              <a:off x="3952125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4572063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2" name="Google Shape;262;p21"/>
            <p:cNvSpPr/>
            <p:nvPr/>
          </p:nvSpPr>
          <p:spPr>
            <a:xfrm>
              <a:off x="4572063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3" name="Google Shape;263;p21"/>
            <p:cNvSpPr/>
            <p:nvPr/>
          </p:nvSpPr>
          <p:spPr>
            <a:xfrm>
              <a:off x="3332188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4" name="Google Shape;264;p21"/>
            <p:cNvSpPr/>
            <p:nvPr/>
          </p:nvSpPr>
          <p:spPr>
            <a:xfrm>
              <a:off x="3332188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5" name="Google Shape;265;p21"/>
            <p:cNvSpPr/>
            <p:nvPr/>
          </p:nvSpPr>
          <p:spPr>
            <a:xfrm>
              <a:off x="3952125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6" name="Google Shape;266;p21"/>
            <p:cNvSpPr/>
            <p:nvPr/>
          </p:nvSpPr>
          <p:spPr>
            <a:xfrm>
              <a:off x="3952125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7" name="Google Shape;267;p21"/>
            <p:cNvSpPr/>
            <p:nvPr/>
          </p:nvSpPr>
          <p:spPr>
            <a:xfrm>
              <a:off x="4572063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8" name="Google Shape;268;p21"/>
            <p:cNvSpPr/>
            <p:nvPr/>
          </p:nvSpPr>
          <p:spPr>
            <a:xfrm>
              <a:off x="4572063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9" name="Google Shape;269;p21"/>
            <p:cNvSpPr/>
            <p:nvPr/>
          </p:nvSpPr>
          <p:spPr>
            <a:xfrm>
              <a:off x="5192000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0" name="Google Shape;270;p21"/>
            <p:cNvSpPr/>
            <p:nvPr/>
          </p:nvSpPr>
          <p:spPr>
            <a:xfrm>
              <a:off x="5192000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1" name="Google Shape;271;p21"/>
            <p:cNvSpPr/>
            <p:nvPr/>
          </p:nvSpPr>
          <p:spPr>
            <a:xfrm>
              <a:off x="5192000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2" name="Google Shape;272;p21"/>
            <p:cNvSpPr/>
            <p:nvPr/>
          </p:nvSpPr>
          <p:spPr>
            <a:xfrm>
              <a:off x="5192000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5811938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4" name="Google Shape;274;p21"/>
            <p:cNvSpPr/>
            <p:nvPr/>
          </p:nvSpPr>
          <p:spPr>
            <a:xfrm>
              <a:off x="5811938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5" name="Google Shape;275;p21"/>
            <p:cNvSpPr/>
            <p:nvPr/>
          </p:nvSpPr>
          <p:spPr>
            <a:xfrm>
              <a:off x="6431875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6" name="Google Shape;276;p21"/>
            <p:cNvSpPr/>
            <p:nvPr/>
          </p:nvSpPr>
          <p:spPr>
            <a:xfrm>
              <a:off x="6431875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7" name="Google Shape;277;p21"/>
            <p:cNvSpPr/>
            <p:nvPr/>
          </p:nvSpPr>
          <p:spPr>
            <a:xfrm>
              <a:off x="7051813" y="4018943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36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7051813" y="44084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79" name="Google Shape;279;p21"/>
            <p:cNvSpPr/>
            <p:nvPr/>
          </p:nvSpPr>
          <p:spPr>
            <a:xfrm>
              <a:off x="5811938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0" name="Google Shape;280;p21"/>
            <p:cNvSpPr/>
            <p:nvPr/>
          </p:nvSpPr>
          <p:spPr>
            <a:xfrm>
              <a:off x="5811938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1" name="Google Shape;281;p21"/>
            <p:cNvSpPr/>
            <p:nvPr/>
          </p:nvSpPr>
          <p:spPr>
            <a:xfrm>
              <a:off x="6431875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2" name="Google Shape;282;p21"/>
            <p:cNvSpPr/>
            <p:nvPr/>
          </p:nvSpPr>
          <p:spPr>
            <a:xfrm>
              <a:off x="6431875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3" name="Google Shape;283;p21"/>
            <p:cNvSpPr/>
            <p:nvPr/>
          </p:nvSpPr>
          <p:spPr>
            <a:xfrm>
              <a:off x="7051813" y="3240029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4" name="Google Shape;284;p21"/>
            <p:cNvSpPr/>
            <p:nvPr/>
          </p:nvSpPr>
          <p:spPr>
            <a:xfrm>
              <a:off x="7051813" y="3629486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5" name="Google Shape;285;p21"/>
            <p:cNvSpPr/>
            <p:nvPr/>
          </p:nvSpPr>
          <p:spPr>
            <a:xfrm>
              <a:off x="5192000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67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6" name="Google Shape;286;p21"/>
            <p:cNvSpPr/>
            <p:nvPr/>
          </p:nvSpPr>
          <p:spPr>
            <a:xfrm>
              <a:off x="5192000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83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7" name="Google Shape;287;p21"/>
            <p:cNvSpPr/>
            <p:nvPr/>
          </p:nvSpPr>
          <p:spPr>
            <a:xfrm>
              <a:off x="5192000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49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8" name="Google Shape;288;p21"/>
            <p:cNvSpPr/>
            <p:nvPr/>
          </p:nvSpPr>
          <p:spPr>
            <a:xfrm>
              <a:off x="5192000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89" name="Google Shape;289;p21"/>
            <p:cNvSpPr/>
            <p:nvPr/>
          </p:nvSpPr>
          <p:spPr>
            <a:xfrm>
              <a:off x="5811938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0" name="Google Shape;290;p21"/>
            <p:cNvSpPr/>
            <p:nvPr/>
          </p:nvSpPr>
          <p:spPr>
            <a:xfrm>
              <a:off x="5811938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1" name="Google Shape;291;p21"/>
            <p:cNvSpPr/>
            <p:nvPr/>
          </p:nvSpPr>
          <p:spPr>
            <a:xfrm>
              <a:off x="6431875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58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2" name="Google Shape;292;p21"/>
            <p:cNvSpPr/>
            <p:nvPr/>
          </p:nvSpPr>
          <p:spPr>
            <a:xfrm>
              <a:off x="6431875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3" name="Google Shape;293;p21"/>
            <p:cNvSpPr/>
            <p:nvPr/>
          </p:nvSpPr>
          <p:spPr>
            <a:xfrm>
              <a:off x="7051813" y="2461114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4" name="Google Shape;294;p21"/>
            <p:cNvSpPr/>
            <p:nvPr/>
          </p:nvSpPr>
          <p:spPr>
            <a:xfrm>
              <a:off x="7051813" y="2850571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57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5" name="Google Shape;295;p21"/>
            <p:cNvSpPr/>
            <p:nvPr/>
          </p:nvSpPr>
          <p:spPr>
            <a:xfrm>
              <a:off x="5811938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17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6" name="Google Shape;296;p21"/>
            <p:cNvSpPr/>
            <p:nvPr/>
          </p:nvSpPr>
          <p:spPr>
            <a:xfrm>
              <a:off x="5811938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7" name="Google Shape;297;p21"/>
            <p:cNvSpPr/>
            <p:nvPr/>
          </p:nvSpPr>
          <p:spPr>
            <a:xfrm>
              <a:off x="6431875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79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8" name="Google Shape;298;p21"/>
            <p:cNvSpPr/>
            <p:nvPr/>
          </p:nvSpPr>
          <p:spPr>
            <a:xfrm>
              <a:off x="6431875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99" name="Google Shape;299;p21"/>
            <p:cNvSpPr/>
            <p:nvPr/>
          </p:nvSpPr>
          <p:spPr>
            <a:xfrm>
              <a:off x="7051813" y="1682200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00" name="Google Shape;300;p21"/>
            <p:cNvSpPr/>
            <p:nvPr/>
          </p:nvSpPr>
          <p:spPr>
            <a:xfrm>
              <a:off x="7051813" y="2071657"/>
              <a:ext cx="619800" cy="3894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01" name="Google Shape;301;p21"/>
          <p:cNvSpPr txBox="1"/>
          <p:nvPr/>
        </p:nvSpPr>
        <p:spPr>
          <a:xfrm>
            <a:off x="744892" y="4701000"/>
            <a:ext cx="57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Start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1406517" y="4800450"/>
            <a:ext cx="494400" cy="3708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3" name="Google Shape;303;p21"/>
          <p:cNvSpPr/>
          <p:nvPr/>
        </p:nvSpPr>
        <p:spPr>
          <a:xfrm>
            <a:off x="1406517" y="4390025"/>
            <a:ext cx="494400" cy="4101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4" name="Google Shape;304;p21"/>
          <p:cNvSpPr/>
          <p:nvPr/>
        </p:nvSpPr>
        <p:spPr>
          <a:xfrm>
            <a:off x="1900898" y="4390025"/>
            <a:ext cx="494400" cy="4101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5" name="Google Shape;305;p21"/>
          <p:cNvSpPr/>
          <p:nvPr/>
        </p:nvSpPr>
        <p:spPr>
          <a:xfrm>
            <a:off x="2395279" y="4390025"/>
            <a:ext cx="494400" cy="4101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6" name="Google Shape;306;p21"/>
          <p:cNvSpPr/>
          <p:nvPr/>
        </p:nvSpPr>
        <p:spPr>
          <a:xfrm>
            <a:off x="2889660" y="4390025"/>
            <a:ext cx="494400" cy="4101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7" name="Google Shape;307;p21"/>
          <p:cNvSpPr/>
          <p:nvPr/>
        </p:nvSpPr>
        <p:spPr>
          <a:xfrm>
            <a:off x="2889660" y="4008075"/>
            <a:ext cx="494400" cy="3708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8" name="Google Shape;308;p21"/>
          <p:cNvSpPr/>
          <p:nvPr/>
        </p:nvSpPr>
        <p:spPr>
          <a:xfrm>
            <a:off x="2889660" y="3626125"/>
            <a:ext cx="494400" cy="3708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09" name="Google Shape;309;p21"/>
          <p:cNvSpPr/>
          <p:nvPr/>
        </p:nvSpPr>
        <p:spPr>
          <a:xfrm>
            <a:off x="3384041" y="3626125"/>
            <a:ext cx="494400" cy="3708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0" name="Google Shape;310;p21"/>
          <p:cNvSpPr/>
          <p:nvPr/>
        </p:nvSpPr>
        <p:spPr>
          <a:xfrm>
            <a:off x="3384041" y="3213550"/>
            <a:ext cx="494400" cy="4101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1" name="Google Shape;311;p21"/>
          <p:cNvSpPr/>
          <p:nvPr/>
        </p:nvSpPr>
        <p:spPr>
          <a:xfrm>
            <a:off x="3384041" y="2847242"/>
            <a:ext cx="494400" cy="3708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2" name="Google Shape;312;p21"/>
          <p:cNvSpPr/>
          <p:nvPr/>
        </p:nvSpPr>
        <p:spPr>
          <a:xfrm>
            <a:off x="3384041" y="2441274"/>
            <a:ext cx="494400" cy="4101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3" name="Google Shape;313;p21"/>
          <p:cNvSpPr/>
          <p:nvPr/>
        </p:nvSpPr>
        <p:spPr>
          <a:xfrm>
            <a:off x="3887919" y="2441274"/>
            <a:ext cx="494400" cy="4101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4" name="Google Shape;314;p21"/>
          <p:cNvSpPr/>
          <p:nvPr/>
        </p:nvSpPr>
        <p:spPr>
          <a:xfrm>
            <a:off x="4382300" y="2441274"/>
            <a:ext cx="494400" cy="4101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5" name="Google Shape;315;p21"/>
          <p:cNvSpPr/>
          <p:nvPr/>
        </p:nvSpPr>
        <p:spPr>
          <a:xfrm>
            <a:off x="4382300" y="2827599"/>
            <a:ext cx="494400" cy="4101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6" name="Google Shape;316;p21"/>
          <p:cNvSpPr/>
          <p:nvPr/>
        </p:nvSpPr>
        <p:spPr>
          <a:xfrm>
            <a:off x="4382300" y="3213549"/>
            <a:ext cx="494400" cy="4101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7" name="Google Shape;317;p21"/>
          <p:cNvSpPr/>
          <p:nvPr/>
        </p:nvSpPr>
        <p:spPr>
          <a:xfrm>
            <a:off x="4876681" y="3213550"/>
            <a:ext cx="494400" cy="4101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8" name="Google Shape;318;p21"/>
          <p:cNvSpPr/>
          <p:nvPr/>
        </p:nvSpPr>
        <p:spPr>
          <a:xfrm>
            <a:off x="5380559" y="3215900"/>
            <a:ext cx="494400" cy="4101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19" name="Google Shape;319;p21"/>
          <p:cNvSpPr/>
          <p:nvPr/>
        </p:nvSpPr>
        <p:spPr>
          <a:xfrm>
            <a:off x="5380559" y="3606475"/>
            <a:ext cx="494400" cy="4101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0" name="Google Shape;320;p21"/>
          <p:cNvSpPr/>
          <p:nvPr/>
        </p:nvSpPr>
        <p:spPr>
          <a:xfrm>
            <a:off x="5380559" y="4016575"/>
            <a:ext cx="494400" cy="3708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1" name="Google Shape;321;p21"/>
          <p:cNvSpPr/>
          <p:nvPr/>
        </p:nvSpPr>
        <p:spPr>
          <a:xfrm>
            <a:off x="5882810" y="4016575"/>
            <a:ext cx="494400" cy="370800"/>
          </a:xfrm>
          <a:prstGeom prst="rect">
            <a:avLst/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322" name="Google Shape;322;p21"/>
          <p:cNvSpPr txBox="1"/>
          <p:nvPr/>
        </p:nvSpPr>
        <p:spPr>
          <a:xfrm>
            <a:off x="479725" y="5624125"/>
            <a:ext cx="63672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	Use the numbers on the cards to complete the sentences.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Use each card only once.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725197" y="6959747"/>
            <a:ext cx="3645000" cy="17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or 16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has an odd number of factors.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 or 13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has exactly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factors.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10, 14 or 15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has exactly four factors.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 or 14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has 2 as a factor.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4" name="Google Shape;324;p21"/>
          <p:cNvGrpSpPr/>
          <p:nvPr/>
        </p:nvGrpSpPr>
        <p:grpSpPr>
          <a:xfrm>
            <a:off x="1514485" y="6454295"/>
            <a:ext cx="4497043" cy="337198"/>
            <a:chOff x="1311725" y="1543585"/>
            <a:chExt cx="5818402" cy="565200"/>
          </a:xfrm>
        </p:grpSpPr>
        <p:sp>
          <p:nvSpPr>
            <p:cNvPr id="325" name="Google Shape;325;p21"/>
            <p:cNvSpPr/>
            <p:nvPr/>
          </p:nvSpPr>
          <p:spPr>
            <a:xfrm>
              <a:off x="1311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rgbClr val="F0F0F0"/>
            </a:solidFill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9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6" name="Google Shape;326;p21"/>
            <p:cNvSpPr/>
            <p:nvPr/>
          </p:nvSpPr>
          <p:spPr>
            <a:xfrm>
              <a:off x="2063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rgbClr val="F0F0F0"/>
            </a:solidFill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10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7" name="Google Shape;327;p21"/>
            <p:cNvSpPr/>
            <p:nvPr/>
          </p:nvSpPr>
          <p:spPr>
            <a:xfrm>
              <a:off x="2815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rgbClr val="F0F0F0"/>
            </a:solidFill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11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8" name="Google Shape;328;p21"/>
            <p:cNvSpPr/>
            <p:nvPr/>
          </p:nvSpPr>
          <p:spPr>
            <a:xfrm>
              <a:off x="3567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rgbClr val="F0F0F0"/>
            </a:solidFill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12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29" name="Google Shape;329;p21"/>
            <p:cNvSpPr/>
            <p:nvPr/>
          </p:nvSpPr>
          <p:spPr>
            <a:xfrm>
              <a:off x="4319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rgbClr val="F0F0F0"/>
            </a:solidFill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13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5071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rgbClr val="F0F0F0"/>
            </a:solidFill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14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1" name="Google Shape;331;p21"/>
            <p:cNvSpPr/>
            <p:nvPr/>
          </p:nvSpPr>
          <p:spPr>
            <a:xfrm>
              <a:off x="5823725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rgbClr val="F0F0F0"/>
            </a:solidFill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15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2" name="Google Shape;332;p21"/>
            <p:cNvSpPr/>
            <p:nvPr/>
          </p:nvSpPr>
          <p:spPr>
            <a:xfrm>
              <a:off x="6575727" y="1543585"/>
              <a:ext cx="554400" cy="565200"/>
            </a:xfrm>
            <a:prstGeom prst="roundRect">
              <a:avLst>
                <a:gd fmla="val 16667" name="adj"/>
              </a:avLst>
            </a:prstGeom>
            <a:solidFill>
              <a:srgbClr val="F0F0F0"/>
            </a:solidFill>
            <a:ln cap="flat" cmpd="sng" w="38100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Lexend"/>
                  <a:ea typeface="Lexend"/>
                  <a:cs typeface="Lexend"/>
                  <a:sym typeface="Lexend"/>
                </a:rPr>
                <a:t>16</a:t>
              </a:r>
              <a:endParaRPr sz="1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333" name="Google Shape;333;p21"/>
          <p:cNvSpPr txBox="1"/>
          <p:nvPr/>
        </p:nvSpPr>
        <p:spPr>
          <a:xfrm>
            <a:off x="4222284" y="6862778"/>
            <a:ext cx="28731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11 or 13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</a:t>
            </a:r>
            <a:r>
              <a:rPr b="1"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prime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 or 16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square.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10, 14 or 15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two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pairs of factors.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has exactly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six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factors.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4" name="Google Shape;334;p21"/>
          <p:cNvSpPr txBox="1"/>
          <p:nvPr/>
        </p:nvSpPr>
        <p:spPr>
          <a:xfrm>
            <a:off x="479725" y="6859737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21"/>
          <p:cNvSpPr txBox="1"/>
          <p:nvPr/>
        </p:nvSpPr>
        <p:spPr>
          <a:xfrm>
            <a:off x="479725" y="7188109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 txBox="1"/>
          <p:nvPr/>
        </p:nvSpPr>
        <p:spPr>
          <a:xfrm>
            <a:off x="479725" y="7524122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 txBox="1"/>
          <p:nvPr/>
        </p:nvSpPr>
        <p:spPr>
          <a:xfrm>
            <a:off x="479725" y="7854856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21"/>
          <p:cNvSpPr txBox="1"/>
          <p:nvPr/>
        </p:nvSpPr>
        <p:spPr>
          <a:xfrm>
            <a:off x="4018640" y="6839878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21"/>
          <p:cNvSpPr txBox="1"/>
          <p:nvPr/>
        </p:nvSpPr>
        <p:spPr>
          <a:xfrm>
            <a:off x="4018640" y="7181490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4018640" y="7522504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21"/>
          <p:cNvSpPr txBox="1"/>
          <p:nvPr/>
        </p:nvSpPr>
        <p:spPr>
          <a:xfrm>
            <a:off x="4018640" y="7865398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479725" y="8210222"/>
            <a:ext cx="26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714451" y="8225574"/>
            <a:ext cx="6218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Write a sentence that is true for all of these numbers, true for some numbers and not true for any numbers.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479725" y="8747050"/>
            <a:ext cx="6615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e.g. 	All of the numbers have two or more factors.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Some of the numbers are </a:t>
            </a:r>
            <a:r>
              <a:rPr b="1" lang="en-GB" sz="1200">
                <a:latin typeface="Kalam"/>
                <a:ea typeface="Kalam"/>
                <a:cs typeface="Kalam"/>
                <a:sym typeface="Kalam"/>
              </a:rPr>
              <a:t>prime 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numbers.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Kalam"/>
                <a:ea typeface="Kalam"/>
                <a:cs typeface="Kalam"/>
                <a:sym typeface="Kalam"/>
              </a:rPr>
              <a:t>None of the numbers have more than six factors. </a:t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345" name="Google Shape;345;p21"/>
          <p:cNvCxnSpPr/>
          <p:nvPr/>
        </p:nvCxnSpPr>
        <p:spPr>
          <a:xfrm>
            <a:off x="480750" y="9555400"/>
            <a:ext cx="6598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21"/>
          <p:cNvSpPr txBox="1"/>
          <p:nvPr/>
        </p:nvSpPr>
        <p:spPr>
          <a:xfrm>
            <a:off x="480750" y="5643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Identifying primes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