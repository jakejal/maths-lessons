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D59A9C-1D7B-4947-9CD7-93DB74204CEE}">
  <a:tblStyle styleId="{F8D59A9C-1D7B-4947-9CD7-93DB74204C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282828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e6be0382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6be0382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7b8331b62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7b8331b6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7d5831e0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7d5831e0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7d5831e03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7d5831e03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7c52af403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7c52af403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7c52af403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7c52af403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7c52af403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7c52af403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7b833f3de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7b833f3d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7c52af40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7c52af40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81b01f82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81b01f82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7c4718a45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7c4718a45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7c52af403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7c52af403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7d5831e03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7d5831e03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7b833f3de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7b833f3de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7d5831e03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7d5831e03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7b833f3de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7b833f3de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7b8331b62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7b8331b62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7d5831e0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7d5831e0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81b01f825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81b01f825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7b833f3de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7b833f3de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7b833f3de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7b833f3de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27c52af403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7c52af403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7b833f3de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7b833f3de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7c52af403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7c52af403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56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6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6.png"/><Relationship Id="rId4" Type="http://schemas.openxmlformats.org/officeDocument/2006/relationships/image" Target="../media/image32.png"/><Relationship Id="rId11" Type="http://schemas.openxmlformats.org/officeDocument/2006/relationships/image" Target="../media/image21.png"/><Relationship Id="rId10" Type="http://schemas.openxmlformats.org/officeDocument/2006/relationships/image" Target="../media/image35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integers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understanding of place value to create numbers that meet certain conditions.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779" name="Google Shape;779;p67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780" name="Google Shape;780;p67"/>
          <p:cNvSpPr txBox="1"/>
          <p:nvPr>
            <p:ph idx="3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integers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2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8"/>
          <p:cNvSpPr txBox="1"/>
          <p:nvPr>
            <p:ph idx="1" type="subTitle"/>
          </p:nvPr>
        </p:nvSpPr>
        <p:spPr>
          <a:xfrm>
            <a:off x="324000" y="1075800"/>
            <a:ext cx="8496000" cy="8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digit </a:t>
            </a:r>
            <a:r>
              <a:rPr lang="en-GB"/>
              <a:t>is one of the symbols of a number system. In our number system we use the digits 0, 1, 2, 3, 4, 5, 6, 7, 8 and 9.</a:t>
            </a:r>
            <a:endParaRPr/>
          </a:p>
        </p:txBody>
      </p:sp>
      <p:sp>
        <p:nvSpPr>
          <p:cNvPr id="787" name="Google Shape;787;p68"/>
          <p:cNvSpPr txBox="1"/>
          <p:nvPr>
            <p:ph idx="2" type="subTitle"/>
          </p:nvPr>
        </p:nvSpPr>
        <p:spPr>
          <a:xfrm>
            <a:off x="324000" y="2238725"/>
            <a:ext cx="8496000" cy="10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b="1" lang="en-GB"/>
              <a:t>integer </a:t>
            </a:r>
            <a:r>
              <a:rPr lang="en-GB"/>
              <a:t>is any positive or negative whole number or zero. E.g. -2, 0, 153 are all examples of integers.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4000" y="759300"/>
            <a:ext cx="8496000" cy="8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about these two </a:t>
            </a:r>
            <a:r>
              <a:rPr b="1" lang="en-GB"/>
              <a:t>integers</a:t>
            </a:r>
            <a:r>
              <a:rPr lang="en-GB"/>
              <a:t>?</a:t>
            </a:r>
            <a:endParaRPr/>
          </a:p>
        </p:txBody>
      </p:sp>
      <p:sp>
        <p:nvSpPr>
          <p:cNvPr id="794" name="Google Shape;794;p69"/>
          <p:cNvSpPr txBox="1"/>
          <p:nvPr/>
        </p:nvSpPr>
        <p:spPr>
          <a:xfrm>
            <a:off x="1925837" y="1762700"/>
            <a:ext cx="1167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123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5546562" y="1762700"/>
            <a:ext cx="1167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321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992" y="2578888"/>
            <a:ext cx="1558421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0900" y="3094351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9825" y="3550238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6238" y="3951450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3300" y="3683975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4838" y="3416488"/>
            <a:ext cx="434625" cy="2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1275" y="2826876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05" y="2916750"/>
            <a:ext cx="1558421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880" y="3240000"/>
            <a:ext cx="1558421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04" y="2785550"/>
            <a:ext cx="1558421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7575" y="3184226"/>
            <a:ext cx="359625" cy="15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7950" y="2916751"/>
            <a:ext cx="359625" cy="15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Show this </a:t>
            </a:r>
            <a:r>
              <a:rPr b="1" lang="en-GB" sz="2200"/>
              <a:t>integer</a:t>
            </a:r>
            <a:r>
              <a:rPr b="1" lang="en-GB" sz="2200"/>
              <a:t> </a:t>
            </a:r>
            <a:r>
              <a:rPr lang="en-GB" sz="2200"/>
              <a:t>in a place value chart.</a:t>
            </a:r>
            <a:endParaRPr sz="2200"/>
          </a:p>
        </p:txBody>
      </p:sp>
      <p:sp>
        <p:nvSpPr>
          <p:cNvPr id="813" name="Google Shape;813;p7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814" name="Google Shape;814;p7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Show this </a:t>
            </a:r>
            <a:r>
              <a:rPr b="1" lang="en-GB" sz="2200"/>
              <a:t>integer </a:t>
            </a:r>
            <a:r>
              <a:rPr lang="en-GB" sz="2200"/>
              <a:t>in a place value chart.</a:t>
            </a:r>
            <a:endParaRPr sz="2200"/>
          </a:p>
        </p:txBody>
      </p:sp>
      <p:graphicFrame>
        <p:nvGraphicFramePr>
          <p:cNvPr id="815" name="Google Shape;815;p70"/>
          <p:cNvGraphicFramePr/>
          <p:nvPr/>
        </p:nvGraphicFramePr>
        <p:xfrm>
          <a:off x="1435850" y="2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{F8D59A9C-1D7B-4947-9CD7-93DB74204CEE}</a:tableStyleId>
              </a:tblPr>
              <a:tblGrid>
                <a:gridCol w="715850"/>
                <a:gridCol w="715850"/>
                <a:gridCol w="715850"/>
              </a:tblGrid>
              <a:tr h="54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816" name="Google Shape;816;p70"/>
          <p:cNvGraphicFramePr/>
          <p:nvPr/>
        </p:nvGraphicFramePr>
        <p:xfrm>
          <a:off x="5056575" y="2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{F8D59A9C-1D7B-4947-9CD7-93DB74204CEE}</a:tableStyleId>
              </a:tblPr>
              <a:tblGrid>
                <a:gridCol w="715850"/>
                <a:gridCol w="715850"/>
                <a:gridCol w="715850"/>
              </a:tblGrid>
              <a:tr h="54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817" name="Google Shape;817;p70"/>
          <p:cNvSpPr/>
          <p:nvPr/>
        </p:nvSpPr>
        <p:spPr>
          <a:xfrm>
            <a:off x="5112413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70"/>
          <p:cNvSpPr/>
          <p:nvPr/>
        </p:nvSpPr>
        <p:spPr>
          <a:xfrm>
            <a:off x="5821613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70"/>
          <p:cNvSpPr/>
          <p:nvPr/>
        </p:nvSpPr>
        <p:spPr>
          <a:xfrm>
            <a:off x="6163113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0"/>
          <p:cNvSpPr/>
          <p:nvPr/>
        </p:nvSpPr>
        <p:spPr>
          <a:xfrm>
            <a:off x="6530813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0"/>
          <p:cNvSpPr/>
          <p:nvPr/>
        </p:nvSpPr>
        <p:spPr>
          <a:xfrm>
            <a:off x="5112425" y="365400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70"/>
          <p:cNvSpPr/>
          <p:nvPr/>
        </p:nvSpPr>
        <p:spPr>
          <a:xfrm>
            <a:off x="5429963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70"/>
          <p:cNvSpPr/>
          <p:nvPr/>
        </p:nvSpPr>
        <p:spPr>
          <a:xfrm>
            <a:off x="1488850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70"/>
          <p:cNvSpPr/>
          <p:nvPr/>
        </p:nvSpPr>
        <p:spPr>
          <a:xfrm>
            <a:off x="2198050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70"/>
          <p:cNvSpPr/>
          <p:nvPr/>
        </p:nvSpPr>
        <p:spPr>
          <a:xfrm>
            <a:off x="2539550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70"/>
          <p:cNvSpPr/>
          <p:nvPr/>
        </p:nvSpPr>
        <p:spPr>
          <a:xfrm>
            <a:off x="2907250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70"/>
          <p:cNvSpPr/>
          <p:nvPr/>
        </p:nvSpPr>
        <p:spPr>
          <a:xfrm>
            <a:off x="3272713" y="33037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70"/>
          <p:cNvSpPr/>
          <p:nvPr/>
        </p:nvSpPr>
        <p:spPr>
          <a:xfrm>
            <a:off x="2907250" y="365400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70"/>
          <p:cNvSpPr txBox="1"/>
          <p:nvPr/>
        </p:nvSpPr>
        <p:spPr>
          <a:xfrm>
            <a:off x="1925837" y="1762700"/>
            <a:ext cx="1167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123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5546562" y="1762700"/>
            <a:ext cx="1167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321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integer place value</a:t>
            </a:r>
            <a:endParaRPr/>
          </a:p>
        </p:txBody>
      </p:sp>
      <p:graphicFrame>
        <p:nvGraphicFramePr>
          <p:cNvPr id="836" name="Google Shape;836;p71"/>
          <p:cNvGraphicFramePr/>
          <p:nvPr/>
        </p:nvGraphicFramePr>
        <p:xfrm>
          <a:off x="1350663" y="166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{F8D59A9C-1D7B-4947-9CD7-93DB74204CEE}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433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1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837" name="Google Shape;837;p71"/>
          <p:cNvSpPr/>
          <p:nvPr/>
        </p:nvSpPr>
        <p:spPr>
          <a:xfrm>
            <a:off x="3572725" y="21907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71"/>
          <p:cNvSpPr/>
          <p:nvPr/>
        </p:nvSpPr>
        <p:spPr>
          <a:xfrm>
            <a:off x="4286200" y="21907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1"/>
          <p:cNvSpPr/>
          <p:nvPr/>
        </p:nvSpPr>
        <p:spPr>
          <a:xfrm>
            <a:off x="3895525" y="21907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71"/>
          <p:cNvSpPr/>
          <p:nvPr/>
        </p:nvSpPr>
        <p:spPr>
          <a:xfrm>
            <a:off x="2133954" y="2190742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71"/>
          <p:cNvSpPr/>
          <p:nvPr/>
        </p:nvSpPr>
        <p:spPr>
          <a:xfrm>
            <a:off x="2482654" y="2190742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71"/>
          <p:cNvSpPr/>
          <p:nvPr/>
        </p:nvSpPr>
        <p:spPr>
          <a:xfrm>
            <a:off x="2133954" y="2478742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71"/>
          <p:cNvSpPr/>
          <p:nvPr/>
        </p:nvSpPr>
        <p:spPr>
          <a:xfrm>
            <a:off x="3572725" y="251551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71"/>
          <p:cNvSpPr/>
          <p:nvPr/>
        </p:nvSpPr>
        <p:spPr>
          <a:xfrm>
            <a:off x="3895525" y="25155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71"/>
          <p:cNvSpPr/>
          <p:nvPr/>
        </p:nvSpPr>
        <p:spPr>
          <a:xfrm>
            <a:off x="3572725" y="284027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71"/>
          <p:cNvSpPr/>
          <p:nvPr/>
        </p:nvSpPr>
        <p:spPr>
          <a:xfrm>
            <a:off x="3895525" y="284027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71"/>
          <p:cNvSpPr/>
          <p:nvPr/>
        </p:nvSpPr>
        <p:spPr>
          <a:xfrm>
            <a:off x="3572725" y="31650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71"/>
          <p:cNvSpPr/>
          <p:nvPr/>
        </p:nvSpPr>
        <p:spPr>
          <a:xfrm>
            <a:off x="3895525" y="31650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1"/>
          <p:cNvSpPr/>
          <p:nvPr/>
        </p:nvSpPr>
        <p:spPr>
          <a:xfrm>
            <a:off x="3572725" y="348980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71"/>
          <p:cNvSpPr/>
          <p:nvPr/>
        </p:nvSpPr>
        <p:spPr>
          <a:xfrm>
            <a:off x="5733100" y="21907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71"/>
          <p:cNvSpPr/>
          <p:nvPr/>
        </p:nvSpPr>
        <p:spPr>
          <a:xfrm>
            <a:off x="6055900" y="21907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71"/>
          <p:cNvSpPr/>
          <p:nvPr/>
        </p:nvSpPr>
        <p:spPr>
          <a:xfrm>
            <a:off x="5733100" y="251550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1"/>
          <p:cNvSpPr/>
          <p:nvPr/>
        </p:nvSpPr>
        <p:spPr>
          <a:xfrm>
            <a:off x="7149108" y="21907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1"/>
          <p:cNvSpPr/>
          <p:nvPr/>
        </p:nvSpPr>
        <p:spPr>
          <a:xfrm>
            <a:off x="7471908" y="21907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71"/>
          <p:cNvSpPr/>
          <p:nvPr/>
        </p:nvSpPr>
        <p:spPr>
          <a:xfrm>
            <a:off x="7149108" y="251551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1"/>
          <p:cNvSpPr/>
          <p:nvPr/>
        </p:nvSpPr>
        <p:spPr>
          <a:xfrm>
            <a:off x="7471908" y="25155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1"/>
          <p:cNvSpPr/>
          <p:nvPr/>
        </p:nvSpPr>
        <p:spPr>
          <a:xfrm>
            <a:off x="6456550" y="21907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1"/>
          <p:cNvSpPr/>
          <p:nvPr/>
        </p:nvSpPr>
        <p:spPr>
          <a:xfrm>
            <a:off x="6779350" y="21907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1"/>
          <p:cNvSpPr/>
          <p:nvPr/>
        </p:nvSpPr>
        <p:spPr>
          <a:xfrm>
            <a:off x="6456550" y="251551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1"/>
          <p:cNvSpPr/>
          <p:nvPr/>
        </p:nvSpPr>
        <p:spPr>
          <a:xfrm>
            <a:off x="6779350" y="25155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71"/>
          <p:cNvSpPr/>
          <p:nvPr/>
        </p:nvSpPr>
        <p:spPr>
          <a:xfrm>
            <a:off x="6456550" y="284027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71"/>
          <p:cNvSpPr/>
          <p:nvPr/>
        </p:nvSpPr>
        <p:spPr>
          <a:xfrm>
            <a:off x="6779350" y="284027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71"/>
          <p:cNvSpPr/>
          <p:nvPr/>
        </p:nvSpPr>
        <p:spPr>
          <a:xfrm>
            <a:off x="6456550" y="31650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71"/>
          <p:cNvSpPr/>
          <p:nvPr/>
        </p:nvSpPr>
        <p:spPr>
          <a:xfrm>
            <a:off x="2874013" y="21907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71"/>
          <p:cNvSpPr/>
          <p:nvPr/>
        </p:nvSpPr>
        <p:spPr>
          <a:xfrm>
            <a:off x="3196813" y="21907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1"/>
          <p:cNvSpPr txBox="1"/>
          <p:nvPr/>
        </p:nvSpPr>
        <p:spPr>
          <a:xfrm>
            <a:off x="324000" y="809700"/>
            <a:ext cx="84960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 is thirty-two million, nine hundred and ten thousand, three hundred and seventy four.</a:t>
            </a:r>
            <a:endParaRPr sz="2200">
              <a:highlight>
                <a:srgbClr val="EA9999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1"/>
          <p:cNvSpPr txBox="1"/>
          <p:nvPr/>
        </p:nvSpPr>
        <p:spPr>
          <a:xfrm>
            <a:off x="324000" y="4054500"/>
            <a:ext cx="849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 write this as 32 910 374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873" name="Google Shape;873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the correct way to write the </a:t>
            </a:r>
            <a:r>
              <a:rPr b="1" lang="en-GB"/>
              <a:t>integer</a:t>
            </a:r>
            <a:r>
              <a:rPr b="1" lang="en-GB"/>
              <a:t> </a:t>
            </a:r>
            <a:r>
              <a:rPr lang="en-GB"/>
              <a:t>that is represented in this place value chart?</a:t>
            </a:r>
            <a:endParaRPr/>
          </a:p>
        </p:txBody>
      </p:sp>
      <p:grpSp>
        <p:nvGrpSpPr>
          <p:cNvPr id="874" name="Google Shape;874;p72"/>
          <p:cNvGrpSpPr/>
          <p:nvPr/>
        </p:nvGrpSpPr>
        <p:grpSpPr>
          <a:xfrm>
            <a:off x="323916" y="3828750"/>
            <a:ext cx="457200" cy="457200"/>
            <a:chOff x="1020916" y="1442088"/>
            <a:chExt cx="457200" cy="457200"/>
          </a:xfrm>
        </p:grpSpPr>
        <p:pic>
          <p:nvPicPr>
            <p:cNvPr id="875" name="Google Shape;875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7" name="Google Shape;877;p72"/>
          <p:cNvGrpSpPr/>
          <p:nvPr/>
        </p:nvGrpSpPr>
        <p:grpSpPr>
          <a:xfrm>
            <a:off x="3369516" y="3828750"/>
            <a:ext cx="457200" cy="457200"/>
            <a:chOff x="1020916" y="1442088"/>
            <a:chExt cx="457200" cy="457200"/>
          </a:xfrm>
        </p:grpSpPr>
        <p:pic>
          <p:nvPicPr>
            <p:cNvPr id="878" name="Google Shape;878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0" name="Google Shape;880;p72"/>
          <p:cNvGrpSpPr/>
          <p:nvPr/>
        </p:nvGrpSpPr>
        <p:grpSpPr>
          <a:xfrm>
            <a:off x="6256716" y="3828750"/>
            <a:ext cx="457200" cy="457200"/>
            <a:chOff x="1020916" y="1442088"/>
            <a:chExt cx="457200" cy="457200"/>
          </a:xfrm>
        </p:grpSpPr>
        <p:pic>
          <p:nvPicPr>
            <p:cNvPr id="881" name="Google Shape;881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2" name="Google Shape;882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3" name="Google Shape;88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1283" y="38478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2"/>
          <p:cNvSpPr txBox="1"/>
          <p:nvPr/>
        </p:nvSpPr>
        <p:spPr>
          <a:xfrm>
            <a:off x="934400" y="3825275"/>
            <a:ext cx="16992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145 307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2"/>
          <p:cNvSpPr txBox="1"/>
          <p:nvPr/>
        </p:nvSpPr>
        <p:spPr>
          <a:xfrm>
            <a:off x="3913275" y="3825275"/>
            <a:ext cx="18612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14 537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 txBox="1"/>
          <p:nvPr/>
        </p:nvSpPr>
        <p:spPr>
          <a:xfrm>
            <a:off x="6800475" y="3825275"/>
            <a:ext cx="20196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000 145 307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7" name="Google Shape;887;p72"/>
          <p:cNvGraphicFramePr/>
          <p:nvPr/>
        </p:nvGraphicFramePr>
        <p:xfrm>
          <a:off x="1350663" y="166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{F8D59A9C-1D7B-4947-9CD7-93DB74204CEE}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4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888" name="Google Shape;888;p72"/>
          <p:cNvSpPr/>
          <p:nvPr/>
        </p:nvSpPr>
        <p:spPr>
          <a:xfrm>
            <a:off x="5725375" y="216556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2"/>
          <p:cNvSpPr/>
          <p:nvPr/>
        </p:nvSpPr>
        <p:spPr>
          <a:xfrm>
            <a:off x="6048175" y="216556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72"/>
          <p:cNvSpPr/>
          <p:nvPr/>
        </p:nvSpPr>
        <p:spPr>
          <a:xfrm>
            <a:off x="5725375" y="24903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72"/>
          <p:cNvSpPr/>
          <p:nvPr/>
        </p:nvSpPr>
        <p:spPr>
          <a:xfrm>
            <a:off x="7141383" y="216557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72"/>
          <p:cNvSpPr/>
          <p:nvPr/>
        </p:nvSpPr>
        <p:spPr>
          <a:xfrm>
            <a:off x="7464183" y="216557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2"/>
          <p:cNvSpPr/>
          <p:nvPr/>
        </p:nvSpPr>
        <p:spPr>
          <a:xfrm>
            <a:off x="7141383" y="24903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2"/>
          <p:cNvSpPr/>
          <p:nvPr/>
        </p:nvSpPr>
        <p:spPr>
          <a:xfrm>
            <a:off x="7464183" y="24903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2"/>
          <p:cNvSpPr/>
          <p:nvPr/>
        </p:nvSpPr>
        <p:spPr>
          <a:xfrm>
            <a:off x="5001925" y="216558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2"/>
          <p:cNvSpPr/>
          <p:nvPr/>
        </p:nvSpPr>
        <p:spPr>
          <a:xfrm>
            <a:off x="5324725" y="216558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2"/>
          <p:cNvSpPr/>
          <p:nvPr/>
        </p:nvSpPr>
        <p:spPr>
          <a:xfrm>
            <a:off x="5001925" y="24903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2"/>
          <p:cNvSpPr/>
          <p:nvPr/>
        </p:nvSpPr>
        <p:spPr>
          <a:xfrm>
            <a:off x="5324725" y="249036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2"/>
          <p:cNvSpPr/>
          <p:nvPr/>
        </p:nvSpPr>
        <p:spPr>
          <a:xfrm>
            <a:off x="5001925" y="281511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72"/>
          <p:cNvSpPr/>
          <p:nvPr/>
        </p:nvSpPr>
        <p:spPr>
          <a:xfrm>
            <a:off x="7141375" y="2815125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72"/>
          <p:cNvSpPr/>
          <p:nvPr/>
        </p:nvSpPr>
        <p:spPr>
          <a:xfrm>
            <a:off x="7464175" y="281513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2"/>
          <p:cNvSpPr/>
          <p:nvPr/>
        </p:nvSpPr>
        <p:spPr>
          <a:xfrm>
            <a:off x="7141375" y="313988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2"/>
          <p:cNvSpPr/>
          <p:nvPr/>
        </p:nvSpPr>
        <p:spPr>
          <a:xfrm>
            <a:off x="3567000" y="216556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72"/>
          <p:cNvSpPr/>
          <p:nvPr/>
        </p:nvSpPr>
        <p:spPr>
          <a:xfrm>
            <a:off x="4284471" y="216048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2"/>
          <p:cNvSpPr/>
          <p:nvPr/>
        </p:nvSpPr>
        <p:spPr>
          <a:xfrm>
            <a:off x="4607271" y="2160488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2"/>
          <p:cNvSpPr/>
          <p:nvPr/>
        </p:nvSpPr>
        <p:spPr>
          <a:xfrm>
            <a:off x="4284471" y="2485250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2"/>
          <p:cNvSpPr/>
          <p:nvPr/>
        </p:nvSpPr>
        <p:spPr>
          <a:xfrm>
            <a:off x="4607271" y="2485263"/>
            <a:ext cx="252000" cy="252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3"/>
          <p:cNvSpPr txBox="1"/>
          <p:nvPr>
            <p:ph idx="1" type="body"/>
          </p:nvPr>
        </p:nvSpPr>
        <p:spPr>
          <a:xfrm>
            <a:off x="324000" y="759300"/>
            <a:ext cx="8496000" cy="7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find the value of a </a:t>
            </a:r>
            <a:r>
              <a:rPr b="1" lang="en-GB"/>
              <a:t>digit </a:t>
            </a:r>
            <a:r>
              <a:rPr lang="en-GB"/>
              <a:t>in an </a:t>
            </a:r>
            <a:r>
              <a:rPr b="1" lang="en-GB"/>
              <a:t>integer </a:t>
            </a:r>
            <a:r>
              <a:rPr lang="en-GB"/>
              <a:t>you can use a place value chart.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</a:t>
            </a:r>
            <a:r>
              <a:rPr lang="en-GB"/>
              <a:t>nteger place value</a:t>
            </a:r>
            <a:endParaRPr/>
          </a:p>
        </p:txBody>
      </p:sp>
      <p:graphicFrame>
        <p:nvGraphicFramePr>
          <p:cNvPr id="914" name="Google Shape;914;p73"/>
          <p:cNvGraphicFramePr/>
          <p:nvPr/>
        </p:nvGraphicFramePr>
        <p:xfrm>
          <a:off x="1350663" y="241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{F8D59A9C-1D7B-4947-9CD7-93DB74204CEE}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915" name="Google Shape;915;p73"/>
          <p:cNvSpPr txBox="1"/>
          <p:nvPr/>
        </p:nvSpPr>
        <p:spPr>
          <a:xfrm>
            <a:off x="324000" y="3780000"/>
            <a:ext cx="84960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is in the ten thousands place so its value is 80 000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6" name="Google Shape;916;p73"/>
          <p:cNvGraphicFramePr/>
          <p:nvPr/>
        </p:nvGraphicFramePr>
        <p:xfrm>
          <a:off x="1350663" y="2411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{F8D59A9C-1D7B-4947-9CD7-93DB74204CEE}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917" name="Google Shape;917;p73"/>
          <p:cNvSpPr txBox="1"/>
          <p:nvPr/>
        </p:nvSpPr>
        <p:spPr>
          <a:xfrm>
            <a:off x="324000" y="1552325"/>
            <a:ext cx="8496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value of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in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6 180 254?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923" name="Google Shape;923;p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924" name="Google Shape;924;p74"/>
          <p:cNvSpPr txBox="1"/>
          <p:nvPr>
            <p:ph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value of the </a:t>
            </a:r>
            <a:r>
              <a:rPr b="1" lang="en-GB"/>
              <a:t>digit </a:t>
            </a:r>
            <a:r>
              <a:rPr lang="en-GB"/>
              <a:t>3 in the </a:t>
            </a:r>
            <a:r>
              <a:rPr b="1" lang="en-GB"/>
              <a:t>integer </a:t>
            </a:r>
            <a:r>
              <a:rPr lang="en-GB"/>
              <a:t>20 653 409?</a:t>
            </a:r>
            <a:endParaRPr/>
          </a:p>
        </p:txBody>
      </p:sp>
      <p:sp>
        <p:nvSpPr>
          <p:cNvPr id="925" name="Google Shape;925;p7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thousands</a:t>
            </a:r>
            <a:endParaRPr/>
          </a:p>
        </p:txBody>
      </p:sp>
      <p:sp>
        <p:nvSpPr>
          <p:cNvPr id="926" name="Google Shape;926;p7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3000</a:t>
            </a:r>
            <a:endParaRPr/>
          </a:p>
        </p:txBody>
      </p:sp>
      <p:pic>
        <p:nvPicPr>
          <p:cNvPr id="927" name="Google Shape;92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45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8" name="Google Shape;928;p74"/>
          <p:cNvGraphicFramePr/>
          <p:nvPr/>
        </p:nvGraphicFramePr>
        <p:xfrm>
          <a:off x="3995313" y="1504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{F8D59A9C-1D7B-4947-9CD7-93DB74204CEE}</a:tableStyleId>
              </a:tblPr>
              <a:tblGrid>
                <a:gridCol w="536075"/>
                <a:gridCol w="536075"/>
                <a:gridCol w="536075"/>
                <a:gridCol w="536075"/>
                <a:gridCol w="536075"/>
                <a:gridCol w="536075"/>
                <a:gridCol w="536075"/>
                <a:gridCol w="536075"/>
                <a:gridCol w="536075"/>
              </a:tblGrid>
              <a:tr h="35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5"/>
          <p:cNvSpPr txBox="1"/>
          <p:nvPr>
            <p:ph idx="1" type="body"/>
          </p:nvPr>
        </p:nvSpPr>
        <p:spPr>
          <a:xfrm>
            <a:off x="324025" y="759350"/>
            <a:ext cx="8496000" cy="7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partition an </a:t>
            </a:r>
            <a:r>
              <a:rPr b="1" lang="en-GB"/>
              <a:t>integer </a:t>
            </a:r>
            <a:r>
              <a:rPr lang="en-GB"/>
              <a:t>using place value to show the value of the </a:t>
            </a:r>
            <a:r>
              <a:rPr b="1" lang="en-GB"/>
              <a:t>digits</a:t>
            </a:r>
            <a:r>
              <a:rPr lang="en-GB"/>
              <a:t>.</a:t>
            </a:r>
            <a:endParaRPr/>
          </a:p>
        </p:txBody>
      </p:sp>
      <p:sp>
        <p:nvSpPr>
          <p:cNvPr id="934" name="Google Shape;93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935" name="Google Shape;935;p75"/>
          <p:cNvSpPr/>
          <p:nvPr/>
        </p:nvSpPr>
        <p:spPr>
          <a:xfrm>
            <a:off x="2152850" y="1744450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681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5"/>
          <p:cNvSpPr/>
          <p:nvPr/>
        </p:nvSpPr>
        <p:spPr>
          <a:xfrm>
            <a:off x="857388" y="3189571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5"/>
          <p:cNvSpPr/>
          <p:nvPr/>
        </p:nvSpPr>
        <p:spPr>
          <a:xfrm>
            <a:off x="2152856" y="3189571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8" name="Google Shape;938;p75"/>
          <p:cNvCxnSpPr>
            <a:stCxn id="935" idx="3"/>
            <a:endCxn id="936" idx="0"/>
          </p:cNvCxnSpPr>
          <p:nvPr/>
        </p:nvCxnSpPr>
        <p:spPr>
          <a:xfrm flipH="1">
            <a:off x="1397512" y="2666288"/>
            <a:ext cx="913500" cy="523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75"/>
          <p:cNvCxnSpPr>
            <a:stCxn id="935" idx="5"/>
            <a:endCxn id="940" idx="0"/>
          </p:cNvCxnSpPr>
          <p:nvPr/>
        </p:nvCxnSpPr>
        <p:spPr>
          <a:xfrm>
            <a:off x="3074687" y="2666288"/>
            <a:ext cx="913500" cy="523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75"/>
          <p:cNvSpPr/>
          <p:nvPr/>
        </p:nvSpPr>
        <p:spPr>
          <a:xfrm>
            <a:off x="3448300" y="3189575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1" name="Google Shape;941;p75"/>
          <p:cNvCxnSpPr>
            <a:stCxn id="935" idx="4"/>
            <a:endCxn id="937" idx="0"/>
          </p:cNvCxnSpPr>
          <p:nvPr/>
        </p:nvCxnSpPr>
        <p:spPr>
          <a:xfrm>
            <a:off x="2692850" y="2824450"/>
            <a:ext cx="0" cy="365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2" name="Google Shape;942;p75"/>
          <p:cNvSpPr/>
          <p:nvPr/>
        </p:nvSpPr>
        <p:spPr>
          <a:xfrm>
            <a:off x="6109791" y="1744450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5"/>
          <p:cNvSpPr/>
          <p:nvPr/>
        </p:nvSpPr>
        <p:spPr>
          <a:xfrm>
            <a:off x="6792094" y="3189567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5"/>
          <p:cNvSpPr/>
          <p:nvPr/>
        </p:nvSpPr>
        <p:spPr>
          <a:xfrm>
            <a:off x="5399548" y="3215217"/>
            <a:ext cx="1085100" cy="1028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5" name="Google Shape;945;p75"/>
          <p:cNvCxnSpPr/>
          <p:nvPr/>
        </p:nvCxnSpPr>
        <p:spPr>
          <a:xfrm flipH="1">
            <a:off x="6132200" y="2772550"/>
            <a:ext cx="254700" cy="48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75"/>
          <p:cNvCxnSpPr/>
          <p:nvPr/>
        </p:nvCxnSpPr>
        <p:spPr>
          <a:xfrm>
            <a:off x="6853879" y="2772562"/>
            <a:ext cx="228000" cy="4788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6"/>
          <p:cNvSpPr txBox="1"/>
          <p:nvPr>
            <p:ph idx="1" type="body"/>
          </p:nvPr>
        </p:nvSpPr>
        <p:spPr>
          <a:xfrm>
            <a:off x="324025" y="75935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partition an </a:t>
            </a:r>
            <a:r>
              <a:rPr b="1" lang="en-GB"/>
              <a:t>integer </a:t>
            </a:r>
            <a:r>
              <a:rPr lang="en-GB"/>
              <a:t>using place value to show the value of the </a:t>
            </a:r>
            <a:r>
              <a:rPr b="1" lang="en-GB"/>
              <a:t>digits</a:t>
            </a:r>
            <a:r>
              <a:rPr lang="en-GB"/>
              <a:t>.</a:t>
            </a:r>
            <a:endParaRPr/>
          </a:p>
        </p:txBody>
      </p:sp>
      <p:sp>
        <p:nvSpPr>
          <p:cNvPr id="952" name="Google Shape;95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953" name="Google Shape;953;p76"/>
          <p:cNvSpPr/>
          <p:nvPr/>
        </p:nvSpPr>
        <p:spPr>
          <a:xfrm>
            <a:off x="4032000" y="1790800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5703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6"/>
          <p:cNvSpPr/>
          <p:nvPr/>
        </p:nvSpPr>
        <p:spPr>
          <a:xfrm>
            <a:off x="2736538" y="3235921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6"/>
          <p:cNvSpPr/>
          <p:nvPr/>
        </p:nvSpPr>
        <p:spPr>
          <a:xfrm>
            <a:off x="4032006" y="3235921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6" name="Google Shape;956;p76"/>
          <p:cNvCxnSpPr>
            <a:stCxn id="953" idx="3"/>
            <a:endCxn id="954" idx="0"/>
          </p:cNvCxnSpPr>
          <p:nvPr/>
        </p:nvCxnSpPr>
        <p:spPr>
          <a:xfrm flipH="1">
            <a:off x="3276662" y="2712638"/>
            <a:ext cx="913500" cy="523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76"/>
          <p:cNvCxnSpPr>
            <a:stCxn id="953" idx="5"/>
            <a:endCxn id="958" idx="0"/>
          </p:cNvCxnSpPr>
          <p:nvPr/>
        </p:nvCxnSpPr>
        <p:spPr>
          <a:xfrm>
            <a:off x="4953837" y="2712638"/>
            <a:ext cx="913500" cy="523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76"/>
          <p:cNvSpPr/>
          <p:nvPr/>
        </p:nvSpPr>
        <p:spPr>
          <a:xfrm>
            <a:off x="5327450" y="3235925"/>
            <a:ext cx="1080000" cy="108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9" name="Google Shape;959;p76"/>
          <p:cNvCxnSpPr>
            <a:stCxn id="953" idx="4"/>
            <a:endCxn id="955" idx="0"/>
          </p:cNvCxnSpPr>
          <p:nvPr/>
        </p:nvCxnSpPr>
        <p:spPr>
          <a:xfrm>
            <a:off x="4572000" y="2870800"/>
            <a:ext cx="0" cy="365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965" name="Google Shape;965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Jacob and Sofia are looking at the </a:t>
            </a:r>
            <a:r>
              <a:rPr b="1" lang="en-GB"/>
              <a:t>integer </a:t>
            </a:r>
            <a:r>
              <a:rPr lang="en-GB"/>
              <a:t>107.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/>
              <a:t>Who </a:t>
            </a:r>
            <a:r>
              <a:rPr lang="en-GB"/>
              <a:t>is correct?</a:t>
            </a:r>
            <a:endParaRPr/>
          </a:p>
        </p:txBody>
      </p:sp>
      <p:pic>
        <p:nvPicPr>
          <p:cNvPr id="966" name="Google Shape;96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75" y="239123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6790" y="253008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2550" y="1903738"/>
            <a:ext cx="2629427" cy="903926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7"/>
          <p:cNvSpPr/>
          <p:nvPr/>
        </p:nvSpPr>
        <p:spPr>
          <a:xfrm>
            <a:off x="2357538" y="2922725"/>
            <a:ext cx="720000" cy="72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7"/>
          <p:cNvSpPr/>
          <p:nvPr/>
        </p:nvSpPr>
        <p:spPr>
          <a:xfrm>
            <a:off x="3329688" y="4083075"/>
            <a:ext cx="720000" cy="72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7"/>
          <p:cNvSpPr/>
          <p:nvPr/>
        </p:nvSpPr>
        <p:spPr>
          <a:xfrm>
            <a:off x="2357300" y="4097900"/>
            <a:ext cx="720000" cy="72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7"/>
          <p:cNvSpPr/>
          <p:nvPr/>
        </p:nvSpPr>
        <p:spPr>
          <a:xfrm>
            <a:off x="1397600" y="4083075"/>
            <a:ext cx="720000" cy="72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3" name="Google Shape;973;p77"/>
          <p:cNvCxnSpPr>
            <a:stCxn id="969" idx="3"/>
            <a:endCxn id="972" idx="0"/>
          </p:cNvCxnSpPr>
          <p:nvPr/>
        </p:nvCxnSpPr>
        <p:spPr>
          <a:xfrm flipH="1">
            <a:off x="1757679" y="3537283"/>
            <a:ext cx="705300" cy="545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77"/>
          <p:cNvCxnSpPr>
            <a:stCxn id="969" idx="4"/>
            <a:endCxn id="971" idx="0"/>
          </p:cNvCxnSpPr>
          <p:nvPr/>
        </p:nvCxnSpPr>
        <p:spPr>
          <a:xfrm flipH="1">
            <a:off x="2717238" y="3642725"/>
            <a:ext cx="300" cy="455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77"/>
          <p:cNvCxnSpPr>
            <a:stCxn id="969" idx="5"/>
            <a:endCxn id="970" idx="0"/>
          </p:cNvCxnSpPr>
          <p:nvPr/>
        </p:nvCxnSpPr>
        <p:spPr>
          <a:xfrm>
            <a:off x="2972096" y="3537283"/>
            <a:ext cx="717600" cy="545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6" name="Google Shape;976;p77"/>
          <p:cNvSpPr/>
          <p:nvPr/>
        </p:nvSpPr>
        <p:spPr>
          <a:xfrm>
            <a:off x="6464238" y="2904613"/>
            <a:ext cx="720000" cy="72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7"/>
          <p:cNvSpPr/>
          <p:nvPr/>
        </p:nvSpPr>
        <p:spPr>
          <a:xfrm>
            <a:off x="7060600" y="4099063"/>
            <a:ext cx="720000" cy="72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7"/>
          <p:cNvSpPr/>
          <p:nvPr/>
        </p:nvSpPr>
        <p:spPr>
          <a:xfrm>
            <a:off x="5961550" y="4099063"/>
            <a:ext cx="720000" cy="7200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9" name="Google Shape;979;p77"/>
          <p:cNvCxnSpPr/>
          <p:nvPr/>
        </p:nvCxnSpPr>
        <p:spPr>
          <a:xfrm flipH="1">
            <a:off x="6457150" y="3606463"/>
            <a:ext cx="222600" cy="501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77"/>
          <p:cNvCxnSpPr/>
          <p:nvPr/>
        </p:nvCxnSpPr>
        <p:spPr>
          <a:xfrm>
            <a:off x="6958900" y="3613063"/>
            <a:ext cx="336600" cy="514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81" name="Google Shape;98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296500" y="1786623"/>
            <a:ext cx="2744550" cy="1021024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77"/>
          <p:cNvSpPr txBox="1"/>
          <p:nvPr/>
        </p:nvSpPr>
        <p:spPr>
          <a:xfrm>
            <a:off x="1233900" y="1911850"/>
            <a:ext cx="2486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have partitioned 107 like this: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7"/>
          <p:cNvSpPr txBox="1"/>
          <p:nvPr/>
        </p:nvSpPr>
        <p:spPr>
          <a:xfrm>
            <a:off x="-86947" y="31524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7"/>
          <p:cNvSpPr txBox="1"/>
          <p:nvPr/>
        </p:nvSpPr>
        <p:spPr>
          <a:xfrm>
            <a:off x="7696713" y="33255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7"/>
          <p:cNvSpPr txBox="1"/>
          <p:nvPr/>
        </p:nvSpPr>
        <p:spPr>
          <a:xfrm>
            <a:off x="5425425" y="1821738"/>
            <a:ext cx="2486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have partitioned 107 like this: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6" name="Google Shape;98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6808" y="39258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i</a:t>
            </a:r>
            <a:r>
              <a:rPr lang="en-GB"/>
              <a:t>nteger place value</a:t>
            </a:r>
            <a:endParaRPr/>
          </a:p>
        </p:txBody>
      </p:sp>
      <p:sp>
        <p:nvSpPr>
          <p:cNvPr id="992" name="Google Shape;992;p78"/>
          <p:cNvSpPr txBox="1"/>
          <p:nvPr/>
        </p:nvSpPr>
        <p:spPr>
          <a:xfrm>
            <a:off x="324000" y="808500"/>
            <a:ext cx="4248000" cy="3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Write down the value of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digit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 in each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integer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285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2805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20 805 205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5 000 308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58 353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20 805 205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in words.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8"/>
          <p:cNvSpPr txBox="1"/>
          <p:nvPr/>
        </p:nvSpPr>
        <p:spPr>
          <a:xfrm>
            <a:off x="4824000" y="810000"/>
            <a:ext cx="39960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3) Write these using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digits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could use a place value chart to help.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Five hundred and sixteen thousand, two hundred and twelve.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Forty-two million, ninety-three thousand, seven hundred and one.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9"/>
          <p:cNvSpPr txBox="1"/>
          <p:nvPr>
            <p:ph idx="1" type="body"/>
          </p:nvPr>
        </p:nvSpPr>
        <p:spPr>
          <a:xfrm>
            <a:off x="324000" y="8100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lang="en-GB"/>
              <a:t>) Give an example of an </a:t>
            </a:r>
            <a:r>
              <a:rPr b="1" lang="en-GB"/>
              <a:t>integer </a:t>
            </a:r>
            <a:r>
              <a:rPr lang="en-GB"/>
              <a:t>which: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is greater than 1000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and is less than 2000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and has a 5 in the tens place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and contains the </a:t>
            </a:r>
            <a:r>
              <a:rPr b="1" lang="en-GB"/>
              <a:t>digits </a:t>
            </a:r>
            <a:r>
              <a:rPr lang="en-GB"/>
              <a:t>3 and 9</a:t>
            </a:r>
            <a:endParaRPr/>
          </a:p>
        </p:txBody>
      </p:sp>
      <p:sp>
        <p:nvSpPr>
          <p:cNvPr id="999" name="Google Shape;99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integer place value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integer place value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80"/>
          <p:cNvSpPr txBox="1"/>
          <p:nvPr/>
        </p:nvSpPr>
        <p:spPr>
          <a:xfrm>
            <a:off x="324000" y="808500"/>
            <a:ext cx="42480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Write down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value of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digit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 in each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integer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285           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2805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20 805 205      </a:t>
            </a:r>
            <a:r>
              <a:rPr lang="en-GB" sz="1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800 000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5 000 308       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58 353              </a:t>
            </a:r>
            <a:r>
              <a:rPr lang="en-GB" sz="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8000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20 805 205 in words.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Twenty million, eight hundred and five thousand, two hundred and five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6" name="Google Shape;1006;p80"/>
          <p:cNvSpPr txBox="1"/>
          <p:nvPr/>
        </p:nvSpPr>
        <p:spPr>
          <a:xfrm>
            <a:off x="4824000" y="808500"/>
            <a:ext cx="39960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Write these using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digits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Five hundred and sixteen thousand, two hundred and twelve.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Forty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-two million, ninety-three thousand, seven hundred and one.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0"/>
          <p:cNvSpPr txBox="1"/>
          <p:nvPr/>
        </p:nvSpPr>
        <p:spPr>
          <a:xfrm>
            <a:off x="6995075" y="2549400"/>
            <a:ext cx="1561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516 212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80"/>
          <p:cNvSpPr txBox="1"/>
          <p:nvPr/>
        </p:nvSpPr>
        <p:spPr>
          <a:xfrm>
            <a:off x="6883450" y="4320000"/>
            <a:ext cx="14604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42 093 701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integer place value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1"/>
          <p:cNvSpPr txBox="1"/>
          <p:nvPr>
            <p:ph idx="1" type="body"/>
          </p:nvPr>
        </p:nvSpPr>
        <p:spPr>
          <a:xfrm>
            <a:off x="324000" y="8100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Give an example of an </a:t>
            </a:r>
            <a:r>
              <a:rPr b="1" lang="en-GB"/>
              <a:t>integer </a:t>
            </a:r>
            <a:r>
              <a:rPr lang="en-GB"/>
              <a:t>which: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is greater than 1000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35 678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and is less than 2000</a:t>
            </a:r>
            <a:r>
              <a:rPr lang="en-GB"/>
              <a:t>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1678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and has a 5 in the tens place</a:t>
            </a:r>
            <a:r>
              <a:rPr lang="en-GB"/>
              <a:t>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1658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and contains the </a:t>
            </a:r>
            <a:r>
              <a:rPr b="1" lang="en-GB"/>
              <a:t>digits </a:t>
            </a:r>
            <a:r>
              <a:rPr lang="en-GB"/>
              <a:t>3 and 9 </a:t>
            </a:r>
            <a:r>
              <a:rPr lang="en-GB"/>
              <a:t>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1359 or 1953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integer place value</a:t>
            </a:r>
            <a:endParaRPr/>
          </a:p>
        </p:txBody>
      </p:sp>
      <p:sp>
        <p:nvSpPr>
          <p:cNvPr id="1020" name="Google Shape;1020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1021" name="Google Shape;1021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integers</a:t>
            </a:r>
            <a:endParaRPr/>
          </a:p>
        </p:txBody>
      </p:sp>
      <p:pic>
        <p:nvPicPr>
          <p:cNvPr id="1022" name="Google Shape;1022;p82"/>
          <p:cNvPicPr preferRelativeResize="0"/>
          <p:nvPr/>
        </p:nvPicPr>
        <p:blipFill rotWithShape="1">
          <a:blip r:embed="rId3">
            <a:alphaModFix/>
          </a:blip>
          <a:srcRect b="-13923" l="0" r="0" t="-9183"/>
          <a:stretch/>
        </p:blipFill>
        <p:spPr>
          <a:xfrm>
            <a:off x="413748" y="2954977"/>
            <a:ext cx="450575" cy="5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lang="en-GB"/>
              <a:t>place</a:t>
            </a:r>
            <a:r>
              <a:rPr lang="en-GB"/>
              <a:t> value</a:t>
            </a:r>
            <a:endParaRPr/>
          </a:p>
        </p:txBody>
      </p:sp>
      <p:sp>
        <p:nvSpPr>
          <p:cNvPr id="1028" name="Google Shape;1028;p83"/>
          <p:cNvSpPr txBox="1"/>
          <p:nvPr>
            <p:ph idx="1" type="body"/>
          </p:nvPr>
        </p:nvSpPr>
        <p:spPr>
          <a:xfrm>
            <a:off x="324000" y="759300"/>
            <a:ext cx="84960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you place a </a:t>
            </a:r>
            <a:r>
              <a:rPr b="1" lang="en-GB"/>
              <a:t>digit </a:t>
            </a:r>
            <a:r>
              <a:rPr lang="en-GB"/>
              <a:t>in an </a:t>
            </a:r>
            <a:r>
              <a:rPr b="1" lang="en-GB"/>
              <a:t>integer</a:t>
            </a:r>
            <a:r>
              <a:rPr b="1" lang="en-GB"/>
              <a:t> </a:t>
            </a:r>
            <a:r>
              <a:rPr lang="en-GB"/>
              <a:t>affects its overall value.</a:t>
            </a:r>
            <a:endParaRPr/>
          </a:p>
        </p:txBody>
      </p:sp>
      <p:sp>
        <p:nvSpPr>
          <p:cNvPr id="1029" name="Google Shape;1029;p83"/>
          <p:cNvSpPr/>
          <p:nvPr/>
        </p:nvSpPr>
        <p:spPr>
          <a:xfrm>
            <a:off x="3547650" y="14958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4</a:t>
            </a:r>
            <a:endParaRPr sz="3000"/>
          </a:p>
        </p:txBody>
      </p:sp>
      <p:sp>
        <p:nvSpPr>
          <p:cNvPr id="1030" name="Google Shape;1030;p83"/>
          <p:cNvSpPr/>
          <p:nvPr/>
        </p:nvSpPr>
        <p:spPr>
          <a:xfrm>
            <a:off x="4283550" y="14958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2</a:t>
            </a:r>
            <a:endParaRPr sz="3000"/>
          </a:p>
        </p:txBody>
      </p:sp>
      <p:sp>
        <p:nvSpPr>
          <p:cNvPr id="1031" name="Google Shape;1031;p83"/>
          <p:cNvSpPr/>
          <p:nvPr/>
        </p:nvSpPr>
        <p:spPr>
          <a:xfrm>
            <a:off x="5019450" y="14958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sp>
        <p:nvSpPr>
          <p:cNvPr id="1032" name="Google Shape;1032;p83"/>
          <p:cNvSpPr txBox="1"/>
          <p:nvPr>
            <p:ph idx="1" type="body"/>
          </p:nvPr>
        </p:nvSpPr>
        <p:spPr>
          <a:xfrm>
            <a:off x="324000" y="2600975"/>
            <a:ext cx="82377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largest 2-</a:t>
            </a:r>
            <a:r>
              <a:rPr b="1" lang="en-GB"/>
              <a:t>digit</a:t>
            </a:r>
            <a:r>
              <a:rPr lang="en-GB"/>
              <a:t> number you can make from these cards?</a:t>
            </a:r>
            <a:endParaRPr/>
          </a:p>
        </p:txBody>
      </p:sp>
      <p:sp>
        <p:nvSpPr>
          <p:cNvPr id="1033" name="Google Shape;1033;p83"/>
          <p:cNvSpPr/>
          <p:nvPr/>
        </p:nvSpPr>
        <p:spPr>
          <a:xfrm>
            <a:off x="3902625" y="3273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sp>
        <p:nvSpPr>
          <p:cNvPr id="1034" name="Google Shape;1034;p83"/>
          <p:cNvSpPr/>
          <p:nvPr/>
        </p:nvSpPr>
        <p:spPr>
          <a:xfrm>
            <a:off x="4741725" y="3273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4</a:t>
            </a:r>
            <a:endParaRPr sz="3000"/>
          </a:p>
        </p:txBody>
      </p:sp>
      <p:cxnSp>
        <p:nvCxnSpPr>
          <p:cNvPr id="1035" name="Google Shape;1035;p83"/>
          <p:cNvCxnSpPr/>
          <p:nvPr/>
        </p:nvCxnSpPr>
        <p:spPr>
          <a:xfrm>
            <a:off x="4685913" y="4035375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83"/>
          <p:cNvCxnSpPr/>
          <p:nvPr/>
        </p:nvCxnSpPr>
        <p:spPr>
          <a:xfrm>
            <a:off x="3846813" y="4035375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1042" name="Google Shape;1042;p84"/>
          <p:cNvSpPr txBox="1"/>
          <p:nvPr>
            <p:ph idx="1" type="body"/>
          </p:nvPr>
        </p:nvSpPr>
        <p:spPr>
          <a:xfrm>
            <a:off x="324000" y="1963500"/>
            <a:ext cx="82377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largest 2-digit </a:t>
            </a:r>
            <a:r>
              <a:rPr lang="en-GB">
                <a:solidFill>
                  <a:schemeClr val="accent5"/>
                </a:solidFill>
              </a:rPr>
              <a:t>odd </a:t>
            </a:r>
            <a:r>
              <a:rPr b="1" lang="en-GB"/>
              <a:t>integer </a:t>
            </a:r>
            <a:r>
              <a:rPr lang="en-GB"/>
              <a:t>you can make from these cards?</a:t>
            </a:r>
            <a:endParaRPr/>
          </a:p>
        </p:txBody>
      </p:sp>
      <p:sp>
        <p:nvSpPr>
          <p:cNvPr id="1043" name="Google Shape;1043;p84"/>
          <p:cNvSpPr/>
          <p:nvPr/>
        </p:nvSpPr>
        <p:spPr>
          <a:xfrm>
            <a:off x="3586275" y="92115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4</a:t>
            </a:r>
            <a:endParaRPr sz="3000"/>
          </a:p>
        </p:txBody>
      </p:sp>
      <p:sp>
        <p:nvSpPr>
          <p:cNvPr id="1044" name="Google Shape;1044;p84"/>
          <p:cNvSpPr/>
          <p:nvPr/>
        </p:nvSpPr>
        <p:spPr>
          <a:xfrm>
            <a:off x="4322175" y="92115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2</a:t>
            </a:r>
            <a:endParaRPr sz="3000"/>
          </a:p>
        </p:txBody>
      </p:sp>
      <p:sp>
        <p:nvSpPr>
          <p:cNvPr id="1045" name="Google Shape;1045;p84"/>
          <p:cNvSpPr/>
          <p:nvPr/>
        </p:nvSpPr>
        <p:spPr>
          <a:xfrm>
            <a:off x="5058075" y="92115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cxnSp>
        <p:nvCxnSpPr>
          <p:cNvPr id="1046" name="Google Shape;1046;p84"/>
          <p:cNvCxnSpPr/>
          <p:nvPr/>
        </p:nvCxnSpPr>
        <p:spPr>
          <a:xfrm>
            <a:off x="4685913" y="3554000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84"/>
          <p:cNvCxnSpPr/>
          <p:nvPr/>
        </p:nvCxnSpPr>
        <p:spPr>
          <a:xfrm>
            <a:off x="3846813" y="3554000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8" name="Google Shape;1048;p84"/>
          <p:cNvSpPr/>
          <p:nvPr/>
        </p:nvSpPr>
        <p:spPr>
          <a:xfrm>
            <a:off x="4741725" y="2790142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sp>
        <p:nvSpPr>
          <p:cNvPr id="1049" name="Google Shape;1049;p84"/>
          <p:cNvSpPr/>
          <p:nvPr/>
        </p:nvSpPr>
        <p:spPr>
          <a:xfrm>
            <a:off x="3902625" y="2790142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4</a:t>
            </a:r>
            <a:endParaRPr sz="3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1055" name="Google Shape;1055;p85"/>
          <p:cNvSpPr txBox="1"/>
          <p:nvPr>
            <p:ph idx="1" type="body"/>
          </p:nvPr>
        </p:nvSpPr>
        <p:spPr>
          <a:xfrm>
            <a:off x="324000" y="759300"/>
            <a:ext cx="84960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are a different set of </a:t>
            </a:r>
            <a:r>
              <a:rPr b="1" lang="en-GB"/>
              <a:t>digit </a:t>
            </a:r>
            <a:r>
              <a:rPr lang="en-GB"/>
              <a:t>cards.</a:t>
            </a:r>
            <a:endParaRPr/>
          </a:p>
        </p:txBody>
      </p:sp>
      <p:sp>
        <p:nvSpPr>
          <p:cNvPr id="1056" name="Google Shape;1056;p85"/>
          <p:cNvSpPr/>
          <p:nvPr/>
        </p:nvSpPr>
        <p:spPr>
          <a:xfrm>
            <a:off x="3179700" y="14958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7</a:t>
            </a:r>
            <a:endParaRPr sz="3000"/>
          </a:p>
        </p:txBody>
      </p:sp>
      <p:sp>
        <p:nvSpPr>
          <p:cNvPr id="1057" name="Google Shape;1057;p85"/>
          <p:cNvSpPr/>
          <p:nvPr/>
        </p:nvSpPr>
        <p:spPr>
          <a:xfrm>
            <a:off x="3915600" y="14958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3</a:t>
            </a:r>
            <a:endParaRPr sz="3000"/>
          </a:p>
        </p:txBody>
      </p:sp>
      <p:sp>
        <p:nvSpPr>
          <p:cNvPr id="1058" name="Google Shape;1058;p85"/>
          <p:cNvSpPr/>
          <p:nvPr/>
        </p:nvSpPr>
        <p:spPr>
          <a:xfrm>
            <a:off x="4651500" y="14958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059" name="Google Shape;1059;p85"/>
          <p:cNvSpPr txBox="1"/>
          <p:nvPr>
            <p:ph idx="1" type="body"/>
          </p:nvPr>
        </p:nvSpPr>
        <p:spPr>
          <a:xfrm>
            <a:off x="324000" y="2600975"/>
            <a:ext cx="82377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smallest 4-</a:t>
            </a:r>
            <a:r>
              <a:rPr b="1" lang="en-GB"/>
              <a:t>digit</a:t>
            </a:r>
            <a:r>
              <a:rPr lang="en-GB"/>
              <a:t> number you can make from these cards?</a:t>
            </a:r>
            <a:endParaRPr/>
          </a:p>
        </p:txBody>
      </p:sp>
      <p:cxnSp>
        <p:nvCxnSpPr>
          <p:cNvPr id="1060" name="Google Shape;1060;p85"/>
          <p:cNvCxnSpPr/>
          <p:nvPr/>
        </p:nvCxnSpPr>
        <p:spPr>
          <a:xfrm>
            <a:off x="4685913" y="4035375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85"/>
          <p:cNvCxnSpPr/>
          <p:nvPr/>
        </p:nvCxnSpPr>
        <p:spPr>
          <a:xfrm>
            <a:off x="3846813" y="4035375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85"/>
          <p:cNvSpPr/>
          <p:nvPr/>
        </p:nvSpPr>
        <p:spPr>
          <a:xfrm>
            <a:off x="5387400" y="14958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8</a:t>
            </a:r>
            <a:endParaRPr sz="3000"/>
          </a:p>
        </p:txBody>
      </p:sp>
      <p:cxnSp>
        <p:nvCxnSpPr>
          <p:cNvPr id="1063" name="Google Shape;1063;p85"/>
          <p:cNvCxnSpPr/>
          <p:nvPr/>
        </p:nvCxnSpPr>
        <p:spPr>
          <a:xfrm>
            <a:off x="3007713" y="4035375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85"/>
          <p:cNvCxnSpPr/>
          <p:nvPr/>
        </p:nvCxnSpPr>
        <p:spPr>
          <a:xfrm>
            <a:off x="5525013" y="4035375"/>
            <a:ext cx="688500" cy="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5" name="Google Shape;1065;p85"/>
          <p:cNvSpPr/>
          <p:nvPr/>
        </p:nvSpPr>
        <p:spPr>
          <a:xfrm>
            <a:off x="3063525" y="3273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066" name="Google Shape;1066;p85"/>
          <p:cNvSpPr/>
          <p:nvPr/>
        </p:nvSpPr>
        <p:spPr>
          <a:xfrm>
            <a:off x="3063525" y="3273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3</a:t>
            </a:r>
            <a:endParaRPr sz="3000"/>
          </a:p>
        </p:txBody>
      </p:sp>
      <p:sp>
        <p:nvSpPr>
          <p:cNvPr id="1067" name="Google Shape;1067;p85"/>
          <p:cNvSpPr/>
          <p:nvPr/>
        </p:nvSpPr>
        <p:spPr>
          <a:xfrm>
            <a:off x="3902625" y="3273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068" name="Google Shape;1068;p85"/>
          <p:cNvSpPr/>
          <p:nvPr/>
        </p:nvSpPr>
        <p:spPr>
          <a:xfrm>
            <a:off x="4741725" y="3273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7</a:t>
            </a:r>
            <a:endParaRPr sz="3000"/>
          </a:p>
        </p:txBody>
      </p:sp>
      <p:sp>
        <p:nvSpPr>
          <p:cNvPr id="1069" name="Google Shape;1069;p85"/>
          <p:cNvSpPr/>
          <p:nvPr/>
        </p:nvSpPr>
        <p:spPr>
          <a:xfrm>
            <a:off x="5580825" y="3273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8</a:t>
            </a:r>
            <a:endParaRPr sz="3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1075" name="Google Shape;1075;p8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570</a:t>
            </a:r>
            <a:endParaRPr/>
          </a:p>
        </p:txBody>
      </p:sp>
      <p:sp>
        <p:nvSpPr>
          <p:cNvPr id="1076" name="Google Shape;1076;p86"/>
          <p:cNvSpPr/>
          <p:nvPr/>
        </p:nvSpPr>
        <p:spPr>
          <a:xfrm>
            <a:off x="6160500" y="135587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7</a:t>
            </a:r>
            <a:endParaRPr sz="3000"/>
          </a:p>
        </p:txBody>
      </p:sp>
      <p:sp>
        <p:nvSpPr>
          <p:cNvPr id="1077" name="Google Shape;1077;p86"/>
          <p:cNvSpPr/>
          <p:nvPr/>
        </p:nvSpPr>
        <p:spPr>
          <a:xfrm>
            <a:off x="6896400" y="135587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078" name="Google Shape;1078;p86"/>
          <p:cNvSpPr/>
          <p:nvPr/>
        </p:nvSpPr>
        <p:spPr>
          <a:xfrm>
            <a:off x="7632300" y="135587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5</a:t>
            </a:r>
            <a:endParaRPr sz="3000"/>
          </a:p>
        </p:txBody>
      </p:sp>
      <p:sp>
        <p:nvSpPr>
          <p:cNvPr id="1079" name="Google Shape;1079;p86"/>
          <p:cNvSpPr txBox="1"/>
          <p:nvPr>
            <p:ph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these </a:t>
            </a:r>
            <a:r>
              <a:rPr b="1" lang="en-GB"/>
              <a:t>digit </a:t>
            </a:r>
            <a:r>
              <a:rPr lang="en-GB"/>
              <a:t>cards what is the smallest 3-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 </a:t>
            </a:r>
            <a:r>
              <a:rPr lang="en-GB"/>
              <a:t>you can make?</a:t>
            </a:r>
            <a:endParaRPr/>
          </a:p>
        </p:txBody>
      </p:sp>
      <p:sp>
        <p:nvSpPr>
          <p:cNvPr id="1080" name="Google Shape;1080;p8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507</a:t>
            </a:r>
            <a:endParaRPr/>
          </a:p>
        </p:txBody>
      </p:sp>
      <p:sp>
        <p:nvSpPr>
          <p:cNvPr id="1081" name="Google Shape;1081;p8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057</a:t>
            </a:r>
            <a:endParaRPr/>
          </a:p>
        </p:txBody>
      </p:sp>
      <p:pic>
        <p:nvPicPr>
          <p:cNvPr id="1082" name="Google Shape;108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86"/>
          <p:cNvSpPr txBox="1"/>
          <p:nvPr/>
        </p:nvSpPr>
        <p:spPr>
          <a:xfrm>
            <a:off x="1931700" y="3606625"/>
            <a:ext cx="5784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Although this uses 3 digits this is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integer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57 which is a 2-digit integer.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1089" name="Google Shape;1089;p8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Use the </a:t>
            </a:r>
            <a:r>
              <a:rPr b="1" lang="en-GB"/>
              <a:t>digit </a:t>
            </a:r>
            <a:r>
              <a:rPr lang="en-GB"/>
              <a:t>cards to create: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a)  the largest possible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b) the smallest possible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c) the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 </a:t>
            </a:r>
            <a:r>
              <a:rPr lang="en-GB"/>
              <a:t>that is closest to 90 000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d) the smallest possible 5-</a:t>
            </a:r>
            <a:r>
              <a:rPr b="1" lang="en-GB"/>
              <a:t>digit</a:t>
            </a:r>
            <a:r>
              <a:rPr lang="en-GB"/>
              <a:t> </a:t>
            </a:r>
            <a:r>
              <a:rPr lang="en-GB">
                <a:solidFill>
                  <a:schemeClr val="accent5"/>
                </a:solidFill>
              </a:rPr>
              <a:t>even </a:t>
            </a:r>
            <a:r>
              <a:rPr b="1" lang="en-GB"/>
              <a:t>integer</a:t>
            </a:r>
            <a:endParaRPr b="1"/>
          </a:p>
        </p:txBody>
      </p:sp>
      <p:sp>
        <p:nvSpPr>
          <p:cNvPr id="1090" name="Google Shape;1090;p87"/>
          <p:cNvSpPr/>
          <p:nvPr/>
        </p:nvSpPr>
        <p:spPr>
          <a:xfrm>
            <a:off x="2811750" y="13815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sp>
        <p:nvSpPr>
          <p:cNvPr id="1091" name="Google Shape;1091;p87"/>
          <p:cNvSpPr/>
          <p:nvPr/>
        </p:nvSpPr>
        <p:spPr>
          <a:xfrm>
            <a:off x="3547650" y="13815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7</a:t>
            </a:r>
            <a:endParaRPr sz="3000"/>
          </a:p>
        </p:txBody>
      </p:sp>
      <p:sp>
        <p:nvSpPr>
          <p:cNvPr id="1092" name="Google Shape;1092;p87"/>
          <p:cNvSpPr/>
          <p:nvPr/>
        </p:nvSpPr>
        <p:spPr>
          <a:xfrm>
            <a:off x="4283550" y="13815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6</a:t>
            </a:r>
            <a:endParaRPr sz="3000"/>
          </a:p>
        </p:txBody>
      </p:sp>
      <p:sp>
        <p:nvSpPr>
          <p:cNvPr id="1093" name="Google Shape;1093;p87"/>
          <p:cNvSpPr/>
          <p:nvPr/>
        </p:nvSpPr>
        <p:spPr>
          <a:xfrm>
            <a:off x="5019450" y="13815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094" name="Google Shape;1094;p87"/>
          <p:cNvSpPr/>
          <p:nvPr/>
        </p:nvSpPr>
        <p:spPr>
          <a:xfrm>
            <a:off x="5755350" y="13815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8</a:t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2)  Using these cards, how many different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integers </a:t>
            </a:r>
            <a:r>
              <a:rPr lang="en-GB"/>
              <a:t>can you create between 50 000 and 70 000?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do you know?</a:t>
            </a:r>
            <a:endParaRPr/>
          </a:p>
        </p:txBody>
      </p:sp>
      <p:sp>
        <p:nvSpPr>
          <p:cNvPr id="1100" name="Google Shape;1100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</a:t>
            </a:r>
            <a:r>
              <a:rPr lang="en-GB"/>
              <a:t>place value</a:t>
            </a:r>
            <a:endParaRPr/>
          </a:p>
        </p:txBody>
      </p:sp>
      <p:sp>
        <p:nvSpPr>
          <p:cNvPr id="1101" name="Google Shape;1101;p88"/>
          <p:cNvSpPr/>
          <p:nvPr/>
        </p:nvSpPr>
        <p:spPr>
          <a:xfrm>
            <a:off x="28117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sp>
        <p:nvSpPr>
          <p:cNvPr id="1102" name="Google Shape;1102;p88"/>
          <p:cNvSpPr/>
          <p:nvPr/>
        </p:nvSpPr>
        <p:spPr>
          <a:xfrm>
            <a:off x="35476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7</a:t>
            </a:r>
            <a:endParaRPr sz="3000"/>
          </a:p>
        </p:txBody>
      </p:sp>
      <p:sp>
        <p:nvSpPr>
          <p:cNvPr id="1103" name="Google Shape;1103;p88"/>
          <p:cNvSpPr/>
          <p:nvPr/>
        </p:nvSpPr>
        <p:spPr>
          <a:xfrm>
            <a:off x="42835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6</a:t>
            </a:r>
            <a:endParaRPr sz="3000"/>
          </a:p>
        </p:txBody>
      </p:sp>
      <p:sp>
        <p:nvSpPr>
          <p:cNvPr id="1104" name="Google Shape;1104;p88"/>
          <p:cNvSpPr/>
          <p:nvPr/>
        </p:nvSpPr>
        <p:spPr>
          <a:xfrm>
            <a:off x="50194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105" name="Google Shape;1105;p88"/>
          <p:cNvSpPr/>
          <p:nvPr/>
        </p:nvSpPr>
        <p:spPr>
          <a:xfrm>
            <a:off x="57553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8</a:t>
            </a:r>
            <a:endParaRPr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1111" name="Google Shape;1111;p89"/>
          <p:cNvSpPr txBox="1"/>
          <p:nvPr>
            <p:ph idx="1" type="body"/>
          </p:nvPr>
        </p:nvSpPr>
        <p:spPr>
          <a:xfrm>
            <a:off x="324000" y="810000"/>
            <a:ext cx="8237700" cy="35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Use the </a:t>
            </a:r>
            <a:r>
              <a:rPr b="1" lang="en-GB"/>
              <a:t>digit </a:t>
            </a:r>
            <a:r>
              <a:rPr lang="en-GB"/>
              <a:t>cards to create: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a)  the largest possible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 </a:t>
            </a:r>
            <a:r>
              <a:rPr lang="en-GB"/>
              <a:t>                 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98 760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b) the smallest possible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 </a:t>
            </a:r>
            <a:r>
              <a:rPr lang="en-GB"/>
              <a:t>                        </a:t>
            </a:r>
            <a:r>
              <a:rPr lang="en-GB" sz="1900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60 789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c) the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 </a:t>
            </a:r>
            <a:r>
              <a:rPr lang="en-GB"/>
              <a:t>that is closest to 90 000     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89 760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d) the smallest possible 5-</a:t>
            </a:r>
            <a:r>
              <a:rPr b="1" lang="en-GB"/>
              <a:t>digit</a:t>
            </a:r>
            <a:r>
              <a:rPr lang="en-GB"/>
              <a:t> </a:t>
            </a:r>
            <a:r>
              <a:rPr lang="en-GB">
                <a:solidFill>
                  <a:schemeClr val="accent5"/>
                </a:solidFill>
              </a:rPr>
              <a:t>even </a:t>
            </a:r>
            <a:r>
              <a:rPr b="1" lang="en-GB"/>
              <a:t>integer</a:t>
            </a:r>
            <a:r>
              <a:rPr b="1" lang="en-GB"/>
              <a:t> </a:t>
            </a:r>
            <a:r>
              <a:rPr lang="en-GB"/>
              <a:t>            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60 798</a:t>
            </a:r>
            <a:endParaRPr/>
          </a:p>
        </p:txBody>
      </p:sp>
      <p:sp>
        <p:nvSpPr>
          <p:cNvPr id="1112" name="Google Shape;1112;p89"/>
          <p:cNvSpPr/>
          <p:nvPr/>
        </p:nvSpPr>
        <p:spPr>
          <a:xfrm>
            <a:off x="2811750" y="138201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sp>
        <p:nvSpPr>
          <p:cNvPr id="1113" name="Google Shape;1113;p89"/>
          <p:cNvSpPr/>
          <p:nvPr/>
        </p:nvSpPr>
        <p:spPr>
          <a:xfrm>
            <a:off x="3547650" y="138201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7</a:t>
            </a:r>
            <a:endParaRPr sz="3000"/>
          </a:p>
        </p:txBody>
      </p:sp>
      <p:sp>
        <p:nvSpPr>
          <p:cNvPr id="1114" name="Google Shape;1114;p89"/>
          <p:cNvSpPr/>
          <p:nvPr/>
        </p:nvSpPr>
        <p:spPr>
          <a:xfrm>
            <a:off x="4283550" y="138201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6</a:t>
            </a:r>
            <a:endParaRPr sz="3000"/>
          </a:p>
        </p:txBody>
      </p:sp>
      <p:sp>
        <p:nvSpPr>
          <p:cNvPr id="1115" name="Google Shape;1115;p89"/>
          <p:cNvSpPr/>
          <p:nvPr/>
        </p:nvSpPr>
        <p:spPr>
          <a:xfrm>
            <a:off x="5019450" y="138201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116" name="Google Shape;1116;p89"/>
          <p:cNvSpPr/>
          <p:nvPr/>
        </p:nvSpPr>
        <p:spPr>
          <a:xfrm>
            <a:off x="5755350" y="1382015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8</a:t>
            </a:r>
            <a:endParaRPr sz="3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place value</a:t>
            </a:r>
            <a:endParaRPr/>
          </a:p>
        </p:txBody>
      </p:sp>
      <p:sp>
        <p:nvSpPr>
          <p:cNvPr id="1122" name="Google Shape;1122;p90"/>
          <p:cNvSpPr/>
          <p:nvPr/>
        </p:nvSpPr>
        <p:spPr>
          <a:xfrm>
            <a:off x="28117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9</a:t>
            </a:r>
            <a:endParaRPr sz="3000"/>
          </a:p>
        </p:txBody>
      </p:sp>
      <p:sp>
        <p:nvSpPr>
          <p:cNvPr id="1123" name="Google Shape;1123;p90"/>
          <p:cNvSpPr/>
          <p:nvPr/>
        </p:nvSpPr>
        <p:spPr>
          <a:xfrm>
            <a:off x="35476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7</a:t>
            </a:r>
            <a:endParaRPr sz="3000"/>
          </a:p>
        </p:txBody>
      </p:sp>
      <p:sp>
        <p:nvSpPr>
          <p:cNvPr id="1124" name="Google Shape;1124;p90"/>
          <p:cNvSpPr/>
          <p:nvPr/>
        </p:nvSpPr>
        <p:spPr>
          <a:xfrm>
            <a:off x="42835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6</a:t>
            </a:r>
            <a:endParaRPr sz="3000"/>
          </a:p>
        </p:txBody>
      </p:sp>
      <p:sp>
        <p:nvSpPr>
          <p:cNvPr id="1125" name="Google Shape;1125;p90"/>
          <p:cNvSpPr/>
          <p:nvPr/>
        </p:nvSpPr>
        <p:spPr>
          <a:xfrm>
            <a:off x="50194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0</a:t>
            </a:r>
            <a:endParaRPr sz="3000"/>
          </a:p>
        </p:txBody>
      </p:sp>
      <p:sp>
        <p:nvSpPr>
          <p:cNvPr id="1126" name="Google Shape;1126;p90"/>
          <p:cNvSpPr/>
          <p:nvPr/>
        </p:nvSpPr>
        <p:spPr>
          <a:xfrm>
            <a:off x="5755350" y="810000"/>
            <a:ext cx="576900" cy="6960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8</a:t>
            </a:r>
            <a:endParaRPr sz="3000"/>
          </a:p>
        </p:txBody>
      </p:sp>
      <p:sp>
        <p:nvSpPr>
          <p:cNvPr id="1127" name="Google Shape;1127;p90"/>
          <p:cNvSpPr txBox="1"/>
          <p:nvPr/>
        </p:nvSpPr>
        <p:spPr>
          <a:xfrm>
            <a:off x="324000" y="3169950"/>
            <a:ext cx="51054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60 789, 60 798, 60 879, 60 897, 60 978,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60 987, 67 089, 67 098, 67 809, 67 890,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67 908, 67 980, 68 079, 68 097, 68 709,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68 790, 68 907, 68 970, 69 078, 69 087,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69 708, 69 780, 69 807, 69 870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90"/>
          <p:cNvSpPr txBox="1"/>
          <p:nvPr>
            <p:ph idx="1" type="body"/>
          </p:nvPr>
        </p:nvSpPr>
        <p:spPr>
          <a:xfrm>
            <a:off x="324000" y="759300"/>
            <a:ext cx="8237700" cy="23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2)  Using these cards, how many different 5-</a:t>
            </a:r>
            <a:r>
              <a:rPr b="1" lang="en-GB"/>
              <a:t>digit</a:t>
            </a:r>
            <a:r>
              <a:rPr lang="en-GB"/>
              <a:t> </a:t>
            </a:r>
            <a:r>
              <a:rPr b="1" lang="en-GB"/>
              <a:t>integers </a:t>
            </a:r>
            <a:r>
              <a:rPr lang="en-GB"/>
              <a:t>can you create between 50 000 and 70 000?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do you know?</a:t>
            </a:r>
            <a:endParaRPr/>
          </a:p>
        </p:txBody>
      </p:sp>
      <p:sp>
        <p:nvSpPr>
          <p:cNvPr id="1129" name="Google Shape;1129;p90"/>
          <p:cNvSpPr txBox="1"/>
          <p:nvPr/>
        </p:nvSpPr>
        <p:spPr>
          <a:xfrm>
            <a:off x="5429400" y="3169950"/>
            <a:ext cx="30861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know the only digit I can start with is the 6.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then used the other digits, writing the integers in ascending order.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9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</a:t>
            </a:r>
            <a:r>
              <a:rPr b="1" lang="en-GB"/>
              <a:t>igits </a:t>
            </a:r>
            <a:r>
              <a:rPr lang="en-GB"/>
              <a:t>can have different values depending on their place value.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place value of a digit affects the overall value of an </a:t>
            </a:r>
            <a:r>
              <a:rPr b="1" lang="en-GB"/>
              <a:t>integer</a:t>
            </a:r>
            <a:r>
              <a:rPr lang="en-GB"/>
              <a:t>.</a:t>
            </a:r>
            <a:endParaRPr/>
          </a:p>
        </p:txBody>
      </p:sp>
      <p:sp>
        <p:nvSpPr>
          <p:cNvPr id="1135" name="Google Shape;1135;p9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place value in integers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41" name="Google Shape;114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