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68A86D-E4F5-49A4-82F7-3D1C960BCAE5}">
  <a:tblStyle styleId="{5468A86D-E4F5-49A4-82F7-3D1C960BCA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d6d1a8e42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d6d1a8e4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7f1c2d0b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7f1c2d0b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7c2c17f1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7c2c17f1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7d6d1a8e42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7d6d1a8e42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7c2c17f14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7c2c17f1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7c2c17f14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7c2c17f14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7dd375486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7dd375486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7c2c17f14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7c2c17f14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7dd375486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7dd375486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7dd375486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7dd375486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7dd375486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7dd375486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7dd375486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7dd375486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7c6f9743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7c6f9743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7dd375486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7dd375486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7d6d1a8e42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7d6d1a8e42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7d6d1a8e4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7d6d1a8e4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7d6d1a8e4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7d6d1a8e4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7d6d1a8e42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7d6d1a8e42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7d6d1a8e42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7d6d1a8e42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7d6d1a8e42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7d6d1a8e42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7d6d1a8e42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7d6d1a8e42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7d6d1a8e42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7d6d1a8e42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7dd375486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7dd375486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7dd375486e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7dd375486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6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2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2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52.png"/><Relationship Id="rId5" Type="http://schemas.openxmlformats.org/officeDocument/2006/relationships/image" Target="../media/image61.png"/><Relationship Id="rId6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50.png"/><Relationship Id="rId7" Type="http://schemas.openxmlformats.org/officeDocument/2006/relationships/image" Target="../media/image56.png"/><Relationship Id="rId8" Type="http://schemas.openxmlformats.org/officeDocument/2006/relationships/image" Target="../media/image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place value in integers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23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</a:rPr>
              <a:t>I can state the value of any digit in any given integer in any given form.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1075800"/>
            <a:ext cx="8496000" cy="8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digit </a:t>
            </a:r>
            <a:r>
              <a:rPr lang="en-GB"/>
              <a:t>is one of the symbols of a number system. In our number system we use the digits 0, 1, 2, 3, 4, 5, 6, 7, 8 and 9.</a:t>
            </a:r>
            <a:endParaRPr/>
          </a:p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324000" y="2238725"/>
            <a:ext cx="8496000" cy="10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integer</a:t>
            </a:r>
            <a:r>
              <a:rPr b="1" lang="en-GB"/>
              <a:t> </a:t>
            </a:r>
            <a:r>
              <a:rPr lang="en-GB"/>
              <a:t>is any positive or negative whole number or zero. E.g. -2, 0, 153 are all examples of integers.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</a:t>
            </a:r>
            <a:r>
              <a:rPr lang="en-GB"/>
              <a:t>ead integers aloud and consider the context</a:t>
            </a:r>
            <a:endParaRPr/>
          </a:p>
        </p:txBody>
      </p:sp>
      <p:sp>
        <p:nvSpPr>
          <p:cNvPr id="785" name="Google Shape;785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an integer described in different ways</a:t>
            </a:r>
            <a:endParaRPr/>
          </a:p>
        </p:txBody>
      </p:sp>
      <p:sp>
        <p:nvSpPr>
          <p:cNvPr id="786" name="Google Shape;786;p68"/>
          <p:cNvSpPr txBox="1"/>
          <p:nvPr>
            <p:ph idx="3" type="title"/>
          </p:nvPr>
        </p:nvSpPr>
        <p:spPr>
          <a:xfrm>
            <a:off x="324000" y="657600"/>
            <a:ext cx="74925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place value in integers</a:t>
            </a:r>
            <a:endParaRPr/>
          </a:p>
        </p:txBody>
      </p:sp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7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793" name="Google Shape;793;p69"/>
          <p:cNvSpPr txBox="1"/>
          <p:nvPr/>
        </p:nvSpPr>
        <p:spPr>
          <a:xfrm>
            <a:off x="379200" y="7593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ay this integer 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loud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1 000 000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9"/>
          <p:cNvSpPr txBox="1"/>
          <p:nvPr/>
        </p:nvSpPr>
        <p:spPr>
          <a:xfrm>
            <a:off x="303000" y="1649250"/>
            <a:ext cx="8538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Lucas, Aisha and Laura read this integer aloud.  Who says it correctly?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5" name="Google Shape;795;p69"/>
          <p:cNvGrpSpPr/>
          <p:nvPr/>
        </p:nvGrpSpPr>
        <p:grpSpPr>
          <a:xfrm>
            <a:off x="309200" y="2847325"/>
            <a:ext cx="2291187" cy="1995875"/>
            <a:chOff x="309200" y="2847325"/>
            <a:chExt cx="2291187" cy="1995875"/>
          </a:xfrm>
        </p:grpSpPr>
        <p:pic>
          <p:nvPicPr>
            <p:cNvPr id="796" name="Google Shape;796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9200" y="3151472"/>
              <a:ext cx="1119379" cy="12621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7" name="Google Shape;797;p69"/>
            <p:cNvGrpSpPr/>
            <p:nvPr/>
          </p:nvGrpSpPr>
          <p:grpSpPr>
            <a:xfrm>
              <a:off x="1408740" y="2847325"/>
              <a:ext cx="1191647" cy="1042351"/>
              <a:chOff x="1112903" y="2844750"/>
              <a:chExt cx="1191647" cy="1042351"/>
            </a:xfrm>
          </p:grpSpPr>
          <p:pic>
            <p:nvPicPr>
              <p:cNvPr id="798" name="Google Shape;798;p6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117975" y="2847325"/>
                <a:ext cx="1186575" cy="10397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9" name="Google Shape;799;p69"/>
              <p:cNvSpPr txBox="1"/>
              <p:nvPr/>
            </p:nvSpPr>
            <p:spPr>
              <a:xfrm>
                <a:off x="1112903" y="2844750"/>
                <a:ext cx="1186500" cy="86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It’s 1 million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00" name="Google Shape;800;p69"/>
            <p:cNvSpPr txBox="1"/>
            <p:nvPr/>
          </p:nvSpPr>
          <p:spPr>
            <a:xfrm>
              <a:off x="428188" y="4320000"/>
              <a:ext cx="103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1" name="Google Shape;801;p69"/>
          <p:cNvGrpSpPr/>
          <p:nvPr/>
        </p:nvGrpSpPr>
        <p:grpSpPr>
          <a:xfrm>
            <a:off x="2976250" y="2409450"/>
            <a:ext cx="2815537" cy="2433750"/>
            <a:chOff x="2976250" y="2409450"/>
            <a:chExt cx="2815537" cy="2433750"/>
          </a:xfrm>
        </p:grpSpPr>
        <p:pic>
          <p:nvPicPr>
            <p:cNvPr id="802" name="Google Shape;802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05951" y="3046076"/>
              <a:ext cx="737900" cy="1393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69"/>
            <p:cNvGrpSpPr/>
            <p:nvPr/>
          </p:nvGrpSpPr>
          <p:grpSpPr>
            <a:xfrm>
              <a:off x="2976250" y="2409450"/>
              <a:ext cx="2467511" cy="1578149"/>
              <a:chOff x="2519050" y="2561850"/>
              <a:chExt cx="2467511" cy="1578149"/>
            </a:xfrm>
          </p:grpSpPr>
          <p:pic>
            <p:nvPicPr>
              <p:cNvPr id="804" name="Google Shape;804;p6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flipH="1">
                <a:off x="2519050" y="2561850"/>
                <a:ext cx="1871350" cy="15781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5" name="Google Shape;805;p69"/>
              <p:cNvSpPr txBox="1"/>
              <p:nvPr/>
            </p:nvSpPr>
            <p:spPr>
              <a:xfrm>
                <a:off x="2596461" y="2608950"/>
                <a:ext cx="2390100" cy="12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I think it’s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1000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thousands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06" name="Google Shape;806;p69"/>
            <p:cNvSpPr txBox="1"/>
            <p:nvPr/>
          </p:nvSpPr>
          <p:spPr>
            <a:xfrm>
              <a:off x="4757988" y="4320000"/>
              <a:ext cx="103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Aisha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5796250" y="2450925"/>
            <a:ext cx="2773850" cy="2392275"/>
            <a:chOff x="5796250" y="2450925"/>
            <a:chExt cx="2773850" cy="2392275"/>
          </a:xfrm>
        </p:grpSpPr>
        <p:pic>
          <p:nvPicPr>
            <p:cNvPr id="808" name="Google Shape;808;p6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497350" y="3111686"/>
              <a:ext cx="959318" cy="1262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9" name="Google Shape;809;p69"/>
            <p:cNvGrpSpPr/>
            <p:nvPr/>
          </p:nvGrpSpPr>
          <p:grpSpPr>
            <a:xfrm>
              <a:off x="5796250" y="2450925"/>
              <a:ext cx="1785900" cy="1578149"/>
              <a:chOff x="5339050" y="2450925"/>
              <a:chExt cx="1785900" cy="1578149"/>
            </a:xfrm>
          </p:grpSpPr>
          <p:pic>
            <p:nvPicPr>
              <p:cNvPr id="810" name="Google Shape;810;p6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flipH="1">
                <a:off x="5339050" y="2450925"/>
                <a:ext cx="1709700" cy="15781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" name="Google Shape;811;p69"/>
              <p:cNvSpPr txBox="1"/>
              <p:nvPr/>
            </p:nvSpPr>
            <p:spPr>
              <a:xfrm>
                <a:off x="5415250" y="2502775"/>
                <a:ext cx="1709700" cy="12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That’s 10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hundred thousands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12" name="Google Shape;812;p69"/>
            <p:cNvSpPr txBox="1"/>
            <p:nvPr/>
          </p:nvSpPr>
          <p:spPr>
            <a:xfrm>
              <a:off x="7536300" y="4320000"/>
              <a:ext cx="1033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7" name="Google Shape;817;p70"/>
          <p:cNvGraphicFramePr/>
          <p:nvPr/>
        </p:nvGraphicFramePr>
        <p:xfrm>
          <a:off x="2369338" y="76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68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0" marB="180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18" name="Google Shape;818;p70"/>
          <p:cNvSpPr/>
          <p:nvPr/>
        </p:nvSpPr>
        <p:spPr>
          <a:xfrm>
            <a:off x="3801050" y="1539750"/>
            <a:ext cx="715800" cy="683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70"/>
          <p:cNvSpPr/>
          <p:nvPr/>
        </p:nvSpPr>
        <p:spPr>
          <a:xfrm>
            <a:off x="3801050" y="3608250"/>
            <a:ext cx="1427700" cy="683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0"/>
          <p:cNvSpPr/>
          <p:nvPr/>
        </p:nvSpPr>
        <p:spPr>
          <a:xfrm>
            <a:off x="3801088" y="2563275"/>
            <a:ext cx="2875200" cy="683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0"/>
          <p:cNvSpPr txBox="1"/>
          <p:nvPr/>
        </p:nvSpPr>
        <p:spPr>
          <a:xfrm>
            <a:off x="3982500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 txBox="1"/>
          <p:nvPr/>
        </p:nvSpPr>
        <p:spPr>
          <a:xfrm>
            <a:off x="289650" y="1620000"/>
            <a:ext cx="163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million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289650" y="2436073"/>
            <a:ext cx="2007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1000 thousands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289650" y="3510190"/>
            <a:ext cx="2007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 hundred thousands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4697050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>
            <a:off x="5420763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6126150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 txBox="1"/>
          <p:nvPr/>
        </p:nvSpPr>
        <p:spPr>
          <a:xfrm>
            <a:off x="6840700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7555250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8269800" y="162000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6840700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7555250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8269800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3982500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 txBox="1"/>
          <p:nvPr/>
        </p:nvSpPr>
        <p:spPr>
          <a:xfrm>
            <a:off x="4697050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0"/>
          <p:cNvSpPr txBox="1"/>
          <p:nvPr/>
        </p:nvSpPr>
        <p:spPr>
          <a:xfrm>
            <a:off x="5420763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0"/>
          <p:cNvSpPr txBox="1"/>
          <p:nvPr/>
        </p:nvSpPr>
        <p:spPr>
          <a:xfrm>
            <a:off x="6126150" y="264217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0"/>
          <p:cNvSpPr txBox="1"/>
          <p:nvPr/>
        </p:nvSpPr>
        <p:spPr>
          <a:xfrm>
            <a:off x="6840700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0"/>
          <p:cNvSpPr txBox="1"/>
          <p:nvPr/>
        </p:nvSpPr>
        <p:spPr>
          <a:xfrm>
            <a:off x="7555250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0"/>
          <p:cNvSpPr txBox="1"/>
          <p:nvPr/>
        </p:nvSpPr>
        <p:spPr>
          <a:xfrm>
            <a:off x="8269800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0"/>
          <p:cNvSpPr txBox="1"/>
          <p:nvPr/>
        </p:nvSpPr>
        <p:spPr>
          <a:xfrm>
            <a:off x="5420763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0"/>
          <p:cNvSpPr txBox="1"/>
          <p:nvPr/>
        </p:nvSpPr>
        <p:spPr>
          <a:xfrm>
            <a:off x="6126150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0"/>
          <p:cNvSpPr txBox="1"/>
          <p:nvPr/>
        </p:nvSpPr>
        <p:spPr>
          <a:xfrm>
            <a:off x="3982500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 txBox="1"/>
          <p:nvPr/>
        </p:nvSpPr>
        <p:spPr>
          <a:xfrm>
            <a:off x="4697050" y="368743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846" name="Google Shape;846;p70"/>
          <p:cNvSpPr/>
          <p:nvPr/>
        </p:nvSpPr>
        <p:spPr>
          <a:xfrm>
            <a:off x="3801050" y="760750"/>
            <a:ext cx="715800" cy="683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70"/>
          <p:cNvSpPr/>
          <p:nvPr/>
        </p:nvSpPr>
        <p:spPr>
          <a:xfrm>
            <a:off x="4513050" y="760750"/>
            <a:ext cx="715800" cy="683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70"/>
          <p:cNvSpPr/>
          <p:nvPr/>
        </p:nvSpPr>
        <p:spPr>
          <a:xfrm>
            <a:off x="5960500" y="760750"/>
            <a:ext cx="715800" cy="683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one million two hundred and fifty thousand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1"/>
          <p:cNvSpPr txBox="1"/>
          <p:nvPr>
            <p:ph type="title"/>
          </p:nvPr>
        </p:nvSpPr>
        <p:spPr>
          <a:xfrm>
            <a:off x="324000" y="8100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Select the correct ways of saying 1 250 000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55" name="Google Shape;855;p7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one thousand two hundred and fifty hundreds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twelve thousand five hundred hundreds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one thousand two hundred and fifty thousands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58" name="Google Shape;8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208" y="1608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208" y="322137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208" y="40273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2"/>
          <p:cNvSpPr txBox="1"/>
          <p:nvPr/>
        </p:nvSpPr>
        <p:spPr>
          <a:xfrm>
            <a:off x="379200" y="759300"/>
            <a:ext cx="84408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 is opening a bank account and needs to give their mobile number.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7" name="Google Shape;86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574" y="2178575"/>
            <a:ext cx="1390201" cy="2010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8" name="Google Shape;868;p72"/>
          <p:cNvGrpSpPr/>
          <p:nvPr/>
        </p:nvGrpSpPr>
        <p:grpSpPr>
          <a:xfrm>
            <a:off x="4572000" y="1347600"/>
            <a:ext cx="3027000" cy="1845000"/>
            <a:chOff x="4572000" y="1500000"/>
            <a:chExt cx="3027000" cy="1845000"/>
          </a:xfrm>
        </p:grpSpPr>
        <p:pic>
          <p:nvPicPr>
            <p:cNvPr id="869" name="Google Shape;869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572002" y="1556775"/>
              <a:ext cx="2887198" cy="1788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72"/>
            <p:cNvSpPr txBox="1"/>
            <p:nvPr/>
          </p:nvSpPr>
          <p:spPr>
            <a:xfrm>
              <a:off x="4572000" y="1500000"/>
              <a:ext cx="3027000" cy="15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It’s 7 million, 3 hundred thousand.  Wait, no that’s not right.  Hmm?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1" name="Google Shape;87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872" name="Google Shape;872;p72"/>
          <p:cNvSpPr txBox="1"/>
          <p:nvPr/>
        </p:nvSpPr>
        <p:spPr>
          <a:xfrm>
            <a:off x="312900" y="3116400"/>
            <a:ext cx="6614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Would you be able to say your mobile number as an integer?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312900" y="3958500"/>
            <a:ext cx="6614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Sometimes we adapt the way we say numbers based on the situation.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3"/>
          <p:cNvSpPr txBox="1"/>
          <p:nvPr/>
        </p:nvSpPr>
        <p:spPr>
          <a:xfrm>
            <a:off x="379200" y="759300"/>
            <a:ext cx="844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Jun asks Alex to measure their height.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9" name="Google Shape;879;p73"/>
          <p:cNvGrpSpPr/>
          <p:nvPr/>
        </p:nvGrpSpPr>
        <p:grpSpPr>
          <a:xfrm>
            <a:off x="1059598" y="1629958"/>
            <a:ext cx="2890422" cy="1253476"/>
            <a:chOff x="1508300" y="2278813"/>
            <a:chExt cx="2638450" cy="854099"/>
          </a:xfrm>
        </p:grpSpPr>
        <p:pic>
          <p:nvPicPr>
            <p:cNvPr id="880" name="Google Shape;88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08300" y="2278813"/>
              <a:ext cx="2638450" cy="854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1" name="Google Shape;881;p73"/>
            <p:cNvSpPr txBox="1"/>
            <p:nvPr/>
          </p:nvSpPr>
          <p:spPr>
            <a:xfrm>
              <a:off x="1545316" y="2304431"/>
              <a:ext cx="2564400" cy="5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You’re one five seven centimetres tall.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2" name="Google Shape;88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pic>
        <p:nvPicPr>
          <p:cNvPr id="883" name="Google Shape;88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00" y="2215350"/>
            <a:ext cx="711300" cy="2415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3675" y="2051650"/>
            <a:ext cx="1029329" cy="2655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73"/>
          <p:cNvGrpSpPr/>
          <p:nvPr/>
        </p:nvGrpSpPr>
        <p:grpSpPr>
          <a:xfrm>
            <a:off x="4474250" y="1225686"/>
            <a:ext cx="3027000" cy="1253493"/>
            <a:chOff x="3960725" y="2571750"/>
            <a:chExt cx="3027000" cy="1845000"/>
          </a:xfrm>
        </p:grpSpPr>
        <p:pic>
          <p:nvPicPr>
            <p:cNvPr id="886" name="Google Shape;886;p7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960727" y="2628525"/>
              <a:ext cx="2887198" cy="1788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7" name="Google Shape;887;p73"/>
            <p:cNvSpPr txBox="1"/>
            <p:nvPr/>
          </p:nvSpPr>
          <p:spPr>
            <a:xfrm>
              <a:off x="3960725" y="2571750"/>
              <a:ext cx="3027000" cy="16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You mean I am one hundred and fifty seven centimetres tall.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63" y="2672725"/>
            <a:ext cx="3613074" cy="11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4"/>
          <p:cNvSpPr txBox="1"/>
          <p:nvPr/>
        </p:nvSpPr>
        <p:spPr>
          <a:xfrm>
            <a:off x="324000" y="679800"/>
            <a:ext cx="72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the integers referred to in each of these statements?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74"/>
          <p:cNvGrpSpPr/>
          <p:nvPr/>
        </p:nvGrpSpPr>
        <p:grpSpPr>
          <a:xfrm>
            <a:off x="2439670" y="1149698"/>
            <a:ext cx="1987763" cy="974074"/>
            <a:chOff x="1312719" y="2719264"/>
            <a:chExt cx="2709231" cy="1669936"/>
          </a:xfrm>
        </p:grpSpPr>
        <p:pic>
          <p:nvPicPr>
            <p:cNvPr id="895" name="Google Shape;895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7625" y="2849900"/>
              <a:ext cx="2684325" cy="153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74"/>
            <p:cNvSpPr txBox="1"/>
            <p:nvPr/>
          </p:nvSpPr>
          <p:spPr>
            <a:xfrm>
              <a:off x="1312719" y="2719264"/>
              <a:ext cx="2615700" cy="13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ran 5k at the weekend.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97" name="Google Shape;89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575" y="1403031"/>
            <a:ext cx="1467190" cy="122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0639" y="3676150"/>
            <a:ext cx="1314070" cy="12549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9" name="Google Shape;899;p74"/>
          <p:cNvGrpSpPr/>
          <p:nvPr/>
        </p:nvGrpSpPr>
        <p:grpSpPr>
          <a:xfrm>
            <a:off x="4141077" y="3850712"/>
            <a:ext cx="2773731" cy="1108204"/>
            <a:chOff x="984502" y="3114501"/>
            <a:chExt cx="2887198" cy="974074"/>
          </a:xfrm>
        </p:grpSpPr>
        <p:pic>
          <p:nvPicPr>
            <p:cNvPr id="900" name="Google Shape;900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984502" y="3114501"/>
              <a:ext cx="2887198" cy="97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1" name="Google Shape;901;p74"/>
            <p:cNvSpPr txBox="1"/>
            <p:nvPr/>
          </p:nvSpPr>
          <p:spPr>
            <a:xfrm>
              <a:off x="1056650" y="3115600"/>
              <a:ext cx="27429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2" name="Google Shape;902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8105" y="1532512"/>
            <a:ext cx="1183449" cy="12549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p74"/>
          <p:cNvGrpSpPr/>
          <p:nvPr/>
        </p:nvGrpSpPr>
        <p:grpSpPr>
          <a:xfrm>
            <a:off x="6598515" y="1080000"/>
            <a:ext cx="2487540" cy="1376500"/>
            <a:chOff x="6963625" y="1932953"/>
            <a:chExt cx="2261400" cy="1665658"/>
          </a:xfrm>
        </p:grpSpPr>
        <p:pic>
          <p:nvPicPr>
            <p:cNvPr id="904" name="Google Shape;904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73700" y="1944236"/>
              <a:ext cx="2186925" cy="1654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5" name="Google Shape;905;p74"/>
            <p:cNvSpPr txBox="1"/>
            <p:nvPr/>
          </p:nvSpPr>
          <p:spPr>
            <a:xfrm>
              <a:off x="6963625" y="1932953"/>
              <a:ext cx="22614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My mum’s new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car cost 10 grand.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6" name="Google Shape;906;p74"/>
          <p:cNvSpPr txBox="1"/>
          <p:nvPr/>
        </p:nvSpPr>
        <p:spPr>
          <a:xfrm>
            <a:off x="1297250" y="2659975"/>
            <a:ext cx="361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running the fifteen hundred metres on sports day.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7" name="Google Shape;907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001" y="3496661"/>
            <a:ext cx="973251" cy="12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909" name="Google Shape;909;p74"/>
          <p:cNvSpPr txBox="1"/>
          <p:nvPr/>
        </p:nvSpPr>
        <p:spPr>
          <a:xfrm>
            <a:off x="4141075" y="3941375"/>
            <a:ext cx="277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My new house cost a quarter of a million.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4"/>
          <p:cNvSpPr txBox="1"/>
          <p:nvPr/>
        </p:nvSpPr>
        <p:spPr>
          <a:xfrm>
            <a:off x="433788" y="2160000"/>
            <a:ext cx="103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6503952" y="2438400"/>
            <a:ext cx="118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4"/>
          <p:cNvSpPr txBox="1"/>
          <p:nvPr/>
        </p:nvSpPr>
        <p:spPr>
          <a:xfrm>
            <a:off x="7979913" y="3327500"/>
            <a:ext cx="103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 txBox="1"/>
          <p:nvPr/>
        </p:nvSpPr>
        <p:spPr>
          <a:xfrm>
            <a:off x="1297255" y="4304375"/>
            <a:ext cx="142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5"/>
          <p:cNvSpPr txBox="1"/>
          <p:nvPr/>
        </p:nvSpPr>
        <p:spPr>
          <a:xfrm>
            <a:off x="324000" y="679800"/>
            <a:ext cx="72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9" name="Google Shape;919;p75"/>
          <p:cNvGrpSpPr/>
          <p:nvPr/>
        </p:nvGrpSpPr>
        <p:grpSpPr>
          <a:xfrm>
            <a:off x="1989569" y="809997"/>
            <a:ext cx="2207211" cy="974074"/>
            <a:chOff x="1312719" y="2719264"/>
            <a:chExt cx="2709231" cy="1669936"/>
          </a:xfrm>
        </p:grpSpPr>
        <p:pic>
          <p:nvPicPr>
            <p:cNvPr id="920" name="Google Shape;920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7625" y="2849900"/>
              <a:ext cx="2684325" cy="153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75"/>
            <p:cNvSpPr txBox="1"/>
            <p:nvPr/>
          </p:nvSpPr>
          <p:spPr>
            <a:xfrm>
              <a:off x="1312719" y="2719264"/>
              <a:ext cx="2615700" cy="14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ran 5k at the weekend.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2" name="Google Shape;92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75" y="1250631"/>
            <a:ext cx="1467190" cy="1222343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924" name="Google Shape;924;p75"/>
          <p:cNvSpPr txBox="1"/>
          <p:nvPr/>
        </p:nvSpPr>
        <p:spPr>
          <a:xfrm>
            <a:off x="324000" y="3054862"/>
            <a:ext cx="849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Often, when talking about distance, people use the letter ‘k’ to represent 1000.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5"/>
          <p:cNvSpPr txBox="1"/>
          <p:nvPr/>
        </p:nvSpPr>
        <p:spPr>
          <a:xfrm>
            <a:off x="324000" y="4041450"/>
            <a:ext cx="84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Izzy ran 5000 metres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5"/>
          <p:cNvSpPr txBox="1"/>
          <p:nvPr/>
        </p:nvSpPr>
        <p:spPr>
          <a:xfrm>
            <a:off x="995638" y="2375325"/>
            <a:ext cx="103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6"/>
          <p:cNvSpPr txBox="1"/>
          <p:nvPr/>
        </p:nvSpPr>
        <p:spPr>
          <a:xfrm>
            <a:off x="324000" y="679800"/>
            <a:ext cx="72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933" name="Google Shape;933;p76"/>
          <p:cNvSpPr txBox="1"/>
          <p:nvPr/>
        </p:nvSpPr>
        <p:spPr>
          <a:xfrm>
            <a:off x="324000" y="3101123"/>
            <a:ext cx="849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Sometimes,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when talking about money, people use the word ‘grand’ to represent 1000.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 txBox="1"/>
          <p:nvPr/>
        </p:nvSpPr>
        <p:spPr>
          <a:xfrm>
            <a:off x="324000" y="4117650"/>
            <a:ext cx="84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Jacob’s mum’s car cost £10 000.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5" name="Google Shape;93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180" y="1386712"/>
            <a:ext cx="1183449" cy="12549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6" name="Google Shape;936;p76"/>
          <p:cNvGrpSpPr/>
          <p:nvPr/>
        </p:nvGrpSpPr>
        <p:grpSpPr>
          <a:xfrm>
            <a:off x="6504113" y="774350"/>
            <a:ext cx="2207100" cy="1376500"/>
            <a:chOff x="6963613" y="1932953"/>
            <a:chExt cx="2207100" cy="1665658"/>
          </a:xfrm>
        </p:grpSpPr>
        <p:pic>
          <p:nvPicPr>
            <p:cNvPr id="937" name="Google Shape;937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73700" y="1944236"/>
              <a:ext cx="2186925" cy="1654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6"/>
            <p:cNvSpPr txBox="1"/>
            <p:nvPr/>
          </p:nvSpPr>
          <p:spPr>
            <a:xfrm>
              <a:off x="6963613" y="1932953"/>
              <a:ext cx="2207100" cy="14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My mum’s new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car cost 10 grand.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9" name="Google Shape;939;p76"/>
          <p:cNvSpPr txBox="1"/>
          <p:nvPr/>
        </p:nvSpPr>
        <p:spPr>
          <a:xfrm>
            <a:off x="5491453" y="2527725"/>
            <a:ext cx="126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7"/>
          <p:cNvSpPr txBox="1"/>
          <p:nvPr/>
        </p:nvSpPr>
        <p:spPr>
          <a:xfrm>
            <a:off x="324000" y="679800"/>
            <a:ext cx="72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946" name="Google Shape;946;p77"/>
          <p:cNvSpPr txBox="1"/>
          <p:nvPr/>
        </p:nvSpPr>
        <p:spPr>
          <a:xfrm>
            <a:off x="324000" y="2807654"/>
            <a:ext cx="849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talking about bigger integers we sometimes compare them to a million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7"/>
          <p:cNvSpPr txBox="1"/>
          <p:nvPr/>
        </p:nvSpPr>
        <p:spPr>
          <a:xfrm>
            <a:off x="324000" y="3889050"/>
            <a:ext cx="8233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Sofia’s house cost one quarter of £1 000 000, which is £250 000.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8" name="Google Shape;94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777" y="810000"/>
            <a:ext cx="1314070" cy="12549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9" name="Google Shape;949;p77"/>
          <p:cNvGrpSpPr/>
          <p:nvPr/>
        </p:nvGrpSpPr>
        <p:grpSpPr>
          <a:xfrm>
            <a:off x="4232567" y="997446"/>
            <a:ext cx="3221824" cy="974074"/>
            <a:chOff x="984502" y="3114501"/>
            <a:chExt cx="2887198" cy="974074"/>
          </a:xfrm>
        </p:grpSpPr>
        <p:pic>
          <p:nvPicPr>
            <p:cNvPr id="950" name="Google Shape;950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84502" y="3114501"/>
              <a:ext cx="2887198" cy="97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77"/>
            <p:cNvSpPr txBox="1"/>
            <p:nvPr/>
          </p:nvSpPr>
          <p:spPr>
            <a:xfrm>
              <a:off x="1056650" y="3115600"/>
              <a:ext cx="2742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2" name="Google Shape;952;p77"/>
          <p:cNvSpPr txBox="1"/>
          <p:nvPr/>
        </p:nvSpPr>
        <p:spPr>
          <a:xfrm>
            <a:off x="4340425" y="975038"/>
            <a:ext cx="3510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My new house cost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quarter of a million.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7"/>
          <p:cNvSpPr txBox="1"/>
          <p:nvPr/>
        </p:nvSpPr>
        <p:spPr>
          <a:xfrm>
            <a:off x="7710363" y="2064975"/>
            <a:ext cx="103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8"/>
          <p:cNvSpPr txBox="1"/>
          <p:nvPr/>
        </p:nvSpPr>
        <p:spPr>
          <a:xfrm>
            <a:off x="324000" y="679800"/>
            <a:ext cx="72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  <p:sp>
        <p:nvSpPr>
          <p:cNvPr id="960" name="Google Shape;960;p78"/>
          <p:cNvSpPr txBox="1"/>
          <p:nvPr/>
        </p:nvSpPr>
        <p:spPr>
          <a:xfrm>
            <a:off x="324000" y="3403543"/>
            <a:ext cx="84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far will Andeep run?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8"/>
          <p:cNvSpPr txBox="1"/>
          <p:nvPr/>
        </p:nvSpPr>
        <p:spPr>
          <a:xfrm>
            <a:off x="324000" y="4117650"/>
            <a:ext cx="84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will run 1500 metres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62" name="Google Shape;96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950" y="792175"/>
            <a:ext cx="3221701" cy="1255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8"/>
          <p:cNvSpPr txBox="1"/>
          <p:nvPr/>
        </p:nvSpPr>
        <p:spPr>
          <a:xfrm>
            <a:off x="1483948" y="766275"/>
            <a:ext cx="3221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running the fifteen hundred metres on sports day.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4" name="Google Shape;96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951" y="1652836"/>
            <a:ext cx="973251" cy="12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78"/>
          <p:cNvSpPr txBox="1"/>
          <p:nvPr/>
        </p:nvSpPr>
        <p:spPr>
          <a:xfrm>
            <a:off x="574805" y="2831625"/>
            <a:ext cx="142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9"/>
          <p:cNvSpPr txBox="1"/>
          <p:nvPr>
            <p:ph idx="1" type="body"/>
          </p:nvPr>
        </p:nvSpPr>
        <p:spPr>
          <a:xfrm>
            <a:off x="324000" y="759300"/>
            <a:ext cx="82377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 the pairs.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9"/>
          <p:cNvSpPr txBox="1"/>
          <p:nvPr/>
        </p:nvSpPr>
        <p:spPr>
          <a:xfrm>
            <a:off x="1324200" y="1764900"/>
            <a:ext cx="204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50k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half a million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 grand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5483550" y="1764900"/>
            <a:ext cx="204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500 000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50 000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3" name="Google Shape;973;p79"/>
          <p:cNvCxnSpPr/>
          <p:nvPr/>
        </p:nvCxnSpPr>
        <p:spPr>
          <a:xfrm>
            <a:off x="3399350" y="2010950"/>
            <a:ext cx="2030700" cy="2015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79"/>
          <p:cNvCxnSpPr>
            <a:stCxn id="971" idx="3"/>
          </p:cNvCxnSpPr>
          <p:nvPr/>
        </p:nvCxnSpPr>
        <p:spPr>
          <a:xfrm flipH="1" rot="10800000">
            <a:off x="3369600" y="2040450"/>
            <a:ext cx="2134500" cy="1002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79"/>
          <p:cNvCxnSpPr/>
          <p:nvPr/>
        </p:nvCxnSpPr>
        <p:spPr>
          <a:xfrm flipH="1" rot="10800000">
            <a:off x="3375600" y="3111875"/>
            <a:ext cx="2134500" cy="1002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6" name="Google Shape;97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0"/>
          <p:cNvSpPr txBox="1"/>
          <p:nvPr>
            <p:ph idx="1" type="body"/>
          </p:nvPr>
        </p:nvSpPr>
        <p:spPr>
          <a:xfrm>
            <a:off x="324000" y="759300"/>
            <a:ext cx="8237700" cy="48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missing integers or words.</a:t>
            </a:r>
            <a:endParaRPr/>
          </a:p>
        </p:txBody>
      </p:sp>
      <p:sp>
        <p:nvSpPr>
          <p:cNvPr id="982" name="Google Shape;982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Read integers aloud and consider the context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80"/>
          <p:cNvSpPr txBox="1"/>
          <p:nvPr/>
        </p:nvSpPr>
        <p:spPr>
          <a:xfrm>
            <a:off x="226800" y="1338075"/>
            <a:ext cx="85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300 000  =  300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  =  30 000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0"/>
          <p:cNvSpPr txBox="1"/>
          <p:nvPr/>
        </p:nvSpPr>
        <p:spPr>
          <a:xfrm>
            <a:off x="226800" y="2231354"/>
            <a:ext cx="85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45 000 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0"/>
          <p:cNvSpPr txBox="1"/>
          <p:nvPr/>
        </p:nvSpPr>
        <p:spPr>
          <a:xfrm>
            <a:off x="226800" y="3140225"/>
            <a:ext cx="89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5 600 000 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100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0"/>
          <p:cNvSpPr txBox="1"/>
          <p:nvPr/>
        </p:nvSpPr>
        <p:spPr>
          <a:xfrm>
            <a:off x="226800" y="4034290"/>
            <a:ext cx="855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84 500 000  =  8450 </a:t>
            </a:r>
            <a:r>
              <a:rPr lang="en-GB" sz="1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  =  </a:t>
            </a:r>
            <a:r>
              <a:rPr lang="en-GB" sz="1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millions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Fill in the missing integers or words.</a:t>
            </a:r>
            <a:endParaRPr/>
          </a:p>
        </p:txBody>
      </p:sp>
      <p:sp>
        <p:nvSpPr>
          <p:cNvPr id="992" name="Google Shape;992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Read integers aloud and consider the context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81"/>
          <p:cNvSpPr txBox="1"/>
          <p:nvPr/>
        </p:nvSpPr>
        <p:spPr>
          <a:xfrm>
            <a:off x="226800" y="1338075"/>
            <a:ext cx="85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300 000  =  300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thousands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3000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  =  30 000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tens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1"/>
          <p:cNvSpPr txBox="1"/>
          <p:nvPr/>
        </p:nvSpPr>
        <p:spPr>
          <a:xfrm>
            <a:off x="226800" y="2231354"/>
            <a:ext cx="85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45 000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hundreds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4500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1"/>
          <p:cNvSpPr txBox="1"/>
          <p:nvPr/>
        </p:nvSpPr>
        <p:spPr>
          <a:xfrm>
            <a:off x="226800" y="3140233"/>
            <a:ext cx="85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5 600 000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100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10 thousands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56 000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1"/>
          <p:cNvSpPr txBox="1"/>
          <p:nvPr/>
        </p:nvSpPr>
        <p:spPr>
          <a:xfrm>
            <a:off x="226800" y="4049113"/>
            <a:ext cx="85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84 500 000  =  8450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thousands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8 450 000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84.5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millions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integers aloud and consider the context</a:t>
            </a:r>
            <a:endParaRPr/>
          </a:p>
        </p:txBody>
      </p:sp>
      <p:sp>
        <p:nvSpPr>
          <p:cNvPr id="1002" name="Google Shape;1002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an integer described in different ways</a:t>
            </a:r>
            <a:endParaRPr/>
          </a:p>
        </p:txBody>
      </p:sp>
      <p:sp>
        <p:nvSpPr>
          <p:cNvPr id="1003" name="Google Shape;1003;p82"/>
          <p:cNvSpPr txBox="1"/>
          <p:nvPr>
            <p:ph idx="3" type="title"/>
          </p:nvPr>
        </p:nvSpPr>
        <p:spPr>
          <a:xfrm>
            <a:off x="324000" y="657600"/>
            <a:ext cx="74925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place value in integers</a:t>
            </a:r>
            <a:endParaRPr/>
          </a:p>
        </p:txBody>
      </p:sp>
      <p:pic>
        <p:nvPicPr>
          <p:cNvPr id="1004" name="Google Shape;100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75" y="299143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9" name="Google Shape;1009;p83"/>
          <p:cNvGraphicFramePr/>
          <p:nvPr/>
        </p:nvGraphicFramePr>
        <p:xfrm>
          <a:off x="1359240" y="188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28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010" name="Google Shape;1010;p8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Write 19 </a:t>
            </a:r>
            <a:r>
              <a:rPr lang="en-GB">
                <a:solidFill>
                  <a:schemeClr val="accent5"/>
                </a:solidFill>
              </a:rPr>
              <a:t>hundreds</a:t>
            </a:r>
            <a:r>
              <a:rPr lang="en-GB">
                <a:solidFill>
                  <a:srgbClr val="000000"/>
                </a:solidFill>
              </a:rPr>
              <a:t> as an </a:t>
            </a:r>
            <a:r>
              <a:rPr lang="en-GB">
                <a:solidFill>
                  <a:schemeClr val="accent5"/>
                </a:solidFill>
              </a:rPr>
              <a:t>integer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an integer described in different ways</a:t>
            </a:r>
            <a:endParaRPr sz="1800"/>
          </a:p>
        </p:txBody>
      </p:sp>
      <p:sp>
        <p:nvSpPr>
          <p:cNvPr id="1012" name="Google Shape;1012;p83"/>
          <p:cNvSpPr/>
          <p:nvPr/>
        </p:nvSpPr>
        <p:spPr>
          <a:xfrm>
            <a:off x="5656186" y="1891115"/>
            <a:ext cx="715800" cy="523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3"/>
          <p:cNvSpPr/>
          <p:nvPr/>
        </p:nvSpPr>
        <p:spPr>
          <a:xfrm>
            <a:off x="4938508" y="2409900"/>
            <a:ext cx="1431600" cy="846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3"/>
          <p:cNvSpPr txBox="1"/>
          <p:nvPr/>
        </p:nvSpPr>
        <p:spPr>
          <a:xfrm>
            <a:off x="5127425" y="2571750"/>
            <a:ext cx="32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3"/>
          <p:cNvSpPr txBox="1"/>
          <p:nvPr/>
        </p:nvSpPr>
        <p:spPr>
          <a:xfrm>
            <a:off x="5858325" y="2571750"/>
            <a:ext cx="32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3"/>
          <p:cNvSpPr txBox="1"/>
          <p:nvPr/>
        </p:nvSpPr>
        <p:spPr>
          <a:xfrm>
            <a:off x="6557000" y="2571750"/>
            <a:ext cx="32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3"/>
          <p:cNvSpPr txBox="1"/>
          <p:nvPr/>
        </p:nvSpPr>
        <p:spPr>
          <a:xfrm>
            <a:off x="7296150" y="2571750"/>
            <a:ext cx="32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3"/>
          <p:cNvSpPr txBox="1"/>
          <p:nvPr>
            <p:ph idx="1" type="body"/>
          </p:nvPr>
        </p:nvSpPr>
        <p:spPr>
          <a:xfrm>
            <a:off x="453150" y="408377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19 </a:t>
            </a:r>
            <a:r>
              <a:rPr lang="en-GB"/>
              <a:t>hundreds as an integer</a:t>
            </a:r>
            <a:r>
              <a:rPr lang="en-GB"/>
              <a:t> is one thousand nine hundred.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3" name="Google Shape;1023;p84"/>
          <p:cNvGraphicFramePr/>
          <p:nvPr/>
        </p:nvGraphicFramePr>
        <p:xfrm>
          <a:off x="1353206" y="189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28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024" name="Google Shape;1024;p8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Write </a:t>
            </a:r>
            <a:r>
              <a:rPr lang="en-GB">
                <a:solidFill>
                  <a:srgbClr val="000000"/>
                </a:solidFill>
              </a:rPr>
              <a:t>145 </a:t>
            </a:r>
            <a:r>
              <a:rPr lang="en-GB">
                <a:solidFill>
                  <a:schemeClr val="accent5"/>
                </a:solidFill>
              </a:rPr>
              <a:t>tens</a:t>
            </a:r>
            <a:r>
              <a:rPr lang="en-GB">
                <a:solidFill>
                  <a:srgbClr val="000000"/>
                </a:solidFill>
              </a:rPr>
              <a:t> as an </a:t>
            </a:r>
            <a:r>
              <a:rPr lang="en-GB">
                <a:solidFill>
                  <a:schemeClr val="accent5"/>
                </a:solidFill>
              </a:rPr>
              <a:t>integer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84"/>
          <p:cNvSpPr txBox="1"/>
          <p:nvPr/>
        </p:nvSpPr>
        <p:spPr>
          <a:xfrm>
            <a:off x="7256567" y="2569185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4"/>
          <p:cNvSpPr txBox="1"/>
          <p:nvPr/>
        </p:nvSpPr>
        <p:spPr>
          <a:xfrm>
            <a:off x="6534163" y="2565246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4"/>
          <p:cNvSpPr txBox="1"/>
          <p:nvPr/>
        </p:nvSpPr>
        <p:spPr>
          <a:xfrm>
            <a:off x="5120836" y="2565246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4"/>
          <p:cNvSpPr txBox="1"/>
          <p:nvPr/>
        </p:nvSpPr>
        <p:spPr>
          <a:xfrm>
            <a:off x="5831142" y="2568592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an integer described in different ways</a:t>
            </a:r>
            <a:endParaRPr sz="1800"/>
          </a:p>
        </p:txBody>
      </p:sp>
      <p:sp>
        <p:nvSpPr>
          <p:cNvPr id="1030" name="Google Shape;1030;p84"/>
          <p:cNvSpPr txBox="1"/>
          <p:nvPr>
            <p:ph idx="1" type="body"/>
          </p:nvPr>
        </p:nvSpPr>
        <p:spPr>
          <a:xfrm>
            <a:off x="453150" y="4083775"/>
            <a:ext cx="8237700" cy="7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145 tens</a:t>
            </a:r>
            <a:r>
              <a:rPr lang="en-GB"/>
              <a:t> as an integer is one thousand, four hundred and fifty.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84"/>
          <p:cNvSpPr/>
          <p:nvPr/>
        </p:nvSpPr>
        <p:spPr>
          <a:xfrm>
            <a:off x="4922431" y="2416788"/>
            <a:ext cx="2144400" cy="846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84"/>
          <p:cNvSpPr/>
          <p:nvPr/>
        </p:nvSpPr>
        <p:spPr>
          <a:xfrm>
            <a:off x="6351081" y="1900088"/>
            <a:ext cx="715800" cy="523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" name="Google Shape;1037;p85"/>
          <p:cNvGraphicFramePr/>
          <p:nvPr/>
        </p:nvGraphicFramePr>
        <p:xfrm>
          <a:off x="1345377" y="19041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  <a:gridCol w="715850"/>
              </a:tblGrid>
              <a:tr h="28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038" name="Google Shape;1038;p85"/>
          <p:cNvSpPr/>
          <p:nvPr/>
        </p:nvSpPr>
        <p:spPr>
          <a:xfrm>
            <a:off x="3492939" y="2424060"/>
            <a:ext cx="1422300" cy="846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8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Write </a:t>
            </a:r>
            <a:r>
              <a:rPr lang="en-GB">
                <a:solidFill>
                  <a:srgbClr val="000000"/>
                </a:solidFill>
              </a:rPr>
              <a:t>54 </a:t>
            </a:r>
            <a:r>
              <a:rPr lang="en-GB">
                <a:solidFill>
                  <a:schemeClr val="accent5"/>
                </a:solidFill>
              </a:rPr>
              <a:t>ten thousands</a:t>
            </a:r>
            <a:r>
              <a:rPr lang="en-GB">
                <a:solidFill>
                  <a:srgbClr val="000000"/>
                </a:solidFill>
              </a:rPr>
              <a:t> as an </a:t>
            </a:r>
            <a:r>
              <a:rPr lang="en-GB">
                <a:solidFill>
                  <a:schemeClr val="accent5"/>
                </a:solidFill>
              </a:rPr>
              <a:t>integer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85"/>
          <p:cNvSpPr txBox="1"/>
          <p:nvPr/>
        </p:nvSpPr>
        <p:spPr>
          <a:xfrm>
            <a:off x="7234167" y="258315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5"/>
          <p:cNvSpPr txBox="1"/>
          <p:nvPr/>
        </p:nvSpPr>
        <p:spPr>
          <a:xfrm>
            <a:off x="6533873" y="258315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5"/>
          <p:cNvSpPr txBox="1"/>
          <p:nvPr/>
        </p:nvSpPr>
        <p:spPr>
          <a:xfrm>
            <a:off x="5804437" y="258315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5"/>
          <p:cNvSpPr txBox="1"/>
          <p:nvPr/>
        </p:nvSpPr>
        <p:spPr>
          <a:xfrm>
            <a:off x="5104144" y="258315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an integer described in different ways</a:t>
            </a:r>
            <a:endParaRPr sz="1800"/>
          </a:p>
        </p:txBody>
      </p:sp>
      <p:sp>
        <p:nvSpPr>
          <p:cNvPr id="1045" name="Google Shape;1045;p85"/>
          <p:cNvSpPr txBox="1"/>
          <p:nvPr/>
        </p:nvSpPr>
        <p:spPr>
          <a:xfrm>
            <a:off x="3652546" y="258315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5"/>
          <p:cNvSpPr txBox="1"/>
          <p:nvPr/>
        </p:nvSpPr>
        <p:spPr>
          <a:xfrm>
            <a:off x="4360731" y="2583150"/>
            <a:ext cx="33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5"/>
          <p:cNvSpPr txBox="1"/>
          <p:nvPr>
            <p:ph idx="1" type="body"/>
          </p:nvPr>
        </p:nvSpPr>
        <p:spPr>
          <a:xfrm>
            <a:off x="453150" y="408377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54</a:t>
            </a:r>
            <a:r>
              <a:rPr lang="en-GB">
                <a:solidFill>
                  <a:srgbClr val="000000"/>
                </a:solidFill>
              </a:rPr>
              <a:t> </a:t>
            </a:r>
            <a:r>
              <a:rPr lang="en-GB"/>
              <a:t>ten thousands</a:t>
            </a:r>
            <a:r>
              <a:rPr lang="en-GB"/>
              <a:t> as an integer is five hundred and forty thousand.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85"/>
          <p:cNvSpPr/>
          <p:nvPr/>
        </p:nvSpPr>
        <p:spPr>
          <a:xfrm>
            <a:off x="4199858" y="1904100"/>
            <a:ext cx="715800" cy="523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2s do not have the same </a:t>
            </a:r>
            <a:r>
              <a:rPr lang="en-GB" sz="2000"/>
              <a:t>place value.</a:t>
            </a:r>
            <a:endParaRPr sz="2000"/>
          </a:p>
        </p:txBody>
      </p:sp>
      <p:sp>
        <p:nvSpPr>
          <p:cNvPr id="1054" name="Google Shape;1054;p86"/>
          <p:cNvSpPr txBox="1"/>
          <p:nvPr>
            <p:ph idx="1" type="subTitle"/>
          </p:nvPr>
        </p:nvSpPr>
        <p:spPr>
          <a:xfrm>
            <a:off x="324000" y="1080000"/>
            <a:ext cx="3464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25 ten thousands is equal to 2500 tens</a:t>
            </a:r>
            <a:endParaRPr sz="2000"/>
          </a:p>
        </p:txBody>
      </p:sp>
      <p:sp>
        <p:nvSpPr>
          <p:cNvPr id="1055" name="Google Shape;1055;p8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2s have the same place value.</a:t>
            </a:r>
            <a:endParaRPr sz="2000"/>
          </a:p>
        </p:txBody>
      </p:sp>
      <p:pic>
        <p:nvPicPr>
          <p:cNvPr id="1056" name="Google Shape;105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258" y="16952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303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an integer described in different ways</a:t>
            </a:r>
            <a:endParaRPr sz="1800"/>
          </a:p>
        </p:txBody>
      </p:sp>
      <p:graphicFrame>
        <p:nvGraphicFramePr>
          <p:cNvPr id="1059" name="Google Shape;1059;p86"/>
          <p:cNvGraphicFramePr/>
          <p:nvPr/>
        </p:nvGraphicFramePr>
        <p:xfrm>
          <a:off x="4524575" y="74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486175"/>
                <a:gridCol w="486175"/>
                <a:gridCol w="486175"/>
                <a:gridCol w="486175"/>
                <a:gridCol w="486175"/>
                <a:gridCol w="486175"/>
                <a:gridCol w="486175"/>
                <a:gridCol w="486175"/>
                <a:gridCol w="486175"/>
              </a:tblGrid>
              <a:tr h="43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0000" marB="91425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7"/>
          <p:cNvSpPr txBox="1"/>
          <p:nvPr>
            <p:ph idx="1" type="body"/>
          </p:nvPr>
        </p:nvSpPr>
        <p:spPr>
          <a:xfrm>
            <a:off x="324000" y="683100"/>
            <a:ext cx="82377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	Find the odd one out in each set.</a:t>
            </a:r>
            <a:endParaRPr sz="2000"/>
          </a:p>
        </p:txBody>
      </p:sp>
      <p:sp>
        <p:nvSpPr>
          <p:cNvPr id="1065" name="Google Shape;1065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an integer described in different ways</a:t>
            </a:r>
            <a:endParaRPr sz="1800"/>
          </a:p>
        </p:txBody>
      </p:sp>
      <p:graphicFrame>
        <p:nvGraphicFramePr>
          <p:cNvPr id="1066" name="Google Shape;1066;p87"/>
          <p:cNvGraphicFramePr/>
          <p:nvPr/>
        </p:nvGraphicFramePr>
        <p:xfrm>
          <a:off x="810863" y="110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1640375"/>
                <a:gridCol w="1869750"/>
                <a:gridCol w="2138825"/>
                <a:gridCol w="1965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million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600 000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hundred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5780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5 780 000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578 000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million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 million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 hundred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1067" name="Google Shape;1067;p87"/>
          <p:cNvSpPr txBox="1"/>
          <p:nvPr/>
        </p:nvSpPr>
        <p:spPr>
          <a:xfrm>
            <a:off x="447504" y="1085700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7"/>
          <p:cNvSpPr txBox="1"/>
          <p:nvPr/>
        </p:nvSpPr>
        <p:spPr>
          <a:xfrm>
            <a:off x="447504" y="1838000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7"/>
          <p:cNvSpPr txBox="1"/>
          <p:nvPr/>
        </p:nvSpPr>
        <p:spPr>
          <a:xfrm>
            <a:off x="462950" y="2553073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7"/>
          <p:cNvSpPr txBox="1"/>
          <p:nvPr/>
        </p:nvSpPr>
        <p:spPr>
          <a:xfrm>
            <a:off x="447504" y="3302196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7"/>
          <p:cNvSpPr txBox="1"/>
          <p:nvPr/>
        </p:nvSpPr>
        <p:spPr>
          <a:xfrm>
            <a:off x="447504" y="4028169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8"/>
          <p:cNvSpPr txBox="1"/>
          <p:nvPr/>
        </p:nvSpPr>
        <p:spPr>
          <a:xfrm>
            <a:off x="303000" y="668550"/>
            <a:ext cx="85380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	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Use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the digit cards to create: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 integer with 76 hundreds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an integer with 976 hundreds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an integer with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 tens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an integer with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 hundreds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8"/>
          <p:cNvSpPr/>
          <p:nvPr/>
        </p:nvSpPr>
        <p:spPr>
          <a:xfrm flipH="1">
            <a:off x="46897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8"/>
          <p:cNvSpPr/>
          <p:nvPr/>
        </p:nvSpPr>
        <p:spPr>
          <a:xfrm flipH="1">
            <a:off x="130322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8"/>
          <p:cNvSpPr/>
          <p:nvPr/>
        </p:nvSpPr>
        <p:spPr>
          <a:xfrm flipH="1">
            <a:off x="213747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8"/>
          <p:cNvSpPr/>
          <p:nvPr/>
        </p:nvSpPr>
        <p:spPr>
          <a:xfrm flipH="1">
            <a:off x="297172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8"/>
          <p:cNvSpPr/>
          <p:nvPr/>
        </p:nvSpPr>
        <p:spPr>
          <a:xfrm flipH="1">
            <a:off x="380597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an integer described in different ways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89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	Find the odd one out in each set.</a:t>
            </a:r>
            <a:endParaRPr sz="2000"/>
          </a:p>
        </p:txBody>
      </p:sp>
      <p:sp>
        <p:nvSpPr>
          <p:cNvPr id="1088" name="Google Shape;1088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an integer described in different ways</a:t>
            </a:r>
            <a:endParaRPr sz="1800"/>
          </a:p>
        </p:txBody>
      </p:sp>
      <p:graphicFrame>
        <p:nvGraphicFramePr>
          <p:cNvPr id="1089" name="Google Shape;1089;p89"/>
          <p:cNvGraphicFramePr/>
          <p:nvPr/>
        </p:nvGraphicFramePr>
        <p:xfrm>
          <a:off x="810863" y="110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{5468A86D-E4F5-49A4-82F7-3D1C960BCAE5}</a:tableStyleId>
              </a:tblPr>
              <a:tblGrid>
                <a:gridCol w="1640375"/>
                <a:gridCol w="1869750"/>
                <a:gridCol w="2138825"/>
                <a:gridCol w="1965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million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600 000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hundred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5780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5 780 000 tens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578 000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578 million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 million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 ten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8400 hundreds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 hundred thousands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1090" name="Google Shape;1090;p89"/>
          <p:cNvSpPr/>
          <p:nvPr/>
        </p:nvSpPr>
        <p:spPr>
          <a:xfrm>
            <a:off x="2451175" y="1106525"/>
            <a:ext cx="1870200" cy="716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89"/>
          <p:cNvSpPr/>
          <p:nvPr/>
        </p:nvSpPr>
        <p:spPr>
          <a:xfrm>
            <a:off x="4321000" y="1838000"/>
            <a:ext cx="2137800" cy="716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89"/>
          <p:cNvSpPr/>
          <p:nvPr/>
        </p:nvSpPr>
        <p:spPr>
          <a:xfrm>
            <a:off x="835075" y="2575475"/>
            <a:ext cx="1616100" cy="716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89"/>
          <p:cNvSpPr/>
          <p:nvPr/>
        </p:nvSpPr>
        <p:spPr>
          <a:xfrm>
            <a:off x="6458850" y="3302200"/>
            <a:ext cx="1966500" cy="716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89"/>
          <p:cNvSpPr/>
          <p:nvPr/>
        </p:nvSpPr>
        <p:spPr>
          <a:xfrm>
            <a:off x="4320000" y="4032425"/>
            <a:ext cx="2137800" cy="716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9"/>
          <p:cNvSpPr txBox="1"/>
          <p:nvPr/>
        </p:nvSpPr>
        <p:spPr>
          <a:xfrm>
            <a:off x="447504" y="1085700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9"/>
          <p:cNvSpPr txBox="1"/>
          <p:nvPr/>
        </p:nvSpPr>
        <p:spPr>
          <a:xfrm>
            <a:off x="447504" y="1838000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9"/>
          <p:cNvSpPr txBox="1"/>
          <p:nvPr/>
        </p:nvSpPr>
        <p:spPr>
          <a:xfrm>
            <a:off x="462950" y="2553073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9"/>
          <p:cNvSpPr txBox="1"/>
          <p:nvPr/>
        </p:nvSpPr>
        <p:spPr>
          <a:xfrm>
            <a:off x="447504" y="3302196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9"/>
          <p:cNvSpPr txBox="1"/>
          <p:nvPr/>
        </p:nvSpPr>
        <p:spPr>
          <a:xfrm>
            <a:off x="447504" y="4028169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90"/>
          <p:cNvSpPr txBox="1"/>
          <p:nvPr/>
        </p:nvSpPr>
        <p:spPr>
          <a:xfrm>
            <a:off x="303000" y="668550"/>
            <a:ext cx="85380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	Use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the digit cards to create: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 integer with 76 hundreds		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87 609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integer with 976 hundreds		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97 680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an integer with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 tens				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90 768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integer with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90 hundreds 		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79 068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0"/>
          <p:cNvSpPr/>
          <p:nvPr/>
        </p:nvSpPr>
        <p:spPr>
          <a:xfrm flipH="1">
            <a:off x="46897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0"/>
          <p:cNvSpPr/>
          <p:nvPr/>
        </p:nvSpPr>
        <p:spPr>
          <a:xfrm flipH="1">
            <a:off x="130322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0"/>
          <p:cNvSpPr/>
          <p:nvPr/>
        </p:nvSpPr>
        <p:spPr>
          <a:xfrm flipH="1">
            <a:off x="213747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0"/>
          <p:cNvSpPr/>
          <p:nvPr/>
        </p:nvSpPr>
        <p:spPr>
          <a:xfrm flipH="1">
            <a:off x="297172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0"/>
          <p:cNvSpPr/>
          <p:nvPr/>
        </p:nvSpPr>
        <p:spPr>
          <a:xfrm flipH="1">
            <a:off x="3805975" y="1375875"/>
            <a:ext cx="533700" cy="8670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an integer described in different ways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can be read aloud in different ways.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way integers can be read aloud may be affected by context.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By using its digits, an integer can be written </a:t>
            </a:r>
            <a:r>
              <a:rPr lang="en-GB"/>
              <a:t>in different ways </a:t>
            </a:r>
            <a:r>
              <a:rPr lang="en-GB"/>
              <a:t>when described.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116" name="Google Shape;1116;p91"/>
          <p:cNvSpPr txBox="1"/>
          <p:nvPr>
            <p:ph type="title"/>
          </p:nvPr>
        </p:nvSpPr>
        <p:spPr>
          <a:xfrm>
            <a:off x="1684800" y="157525"/>
            <a:ext cx="659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Deepening understanding of place value in integers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22" name="Google Shape;112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