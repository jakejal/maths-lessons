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7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7C89ED-1750-4A84-9EC8-FB378A7FD0FC}">
  <a:tblStyle styleId="{9B7C89ED-1750-4A84-9EC8-FB378A7FD0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7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7c4fac5330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7c4fac5330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7c4fac533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7c4fac533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7c4fac5330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7c4fac5330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7c4fac5330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7c4fac5330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7c4fac5330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7c4fac5330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7c4fac5330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7c4fac5330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7c4fac5330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7c4fac5330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1e6f09fc04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1e6f09fc04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e6f09fc04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1e6f09fc04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7c4fac533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7c4fac533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7c4fac5330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7c4fac5330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7c4fac533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27c4fac533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27c4fac533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27c4fac533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7c4fac533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27c4fac533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7c4fac533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7c4fac533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7c4fac5330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7c4fac5330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27c4fac5330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7c4fac5330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27c4fac5330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27c4fac5330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7c4fac5330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7c4fac5330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7c4fac5330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7c4fac5330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27d72bfe9f4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7d72bfe9f4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7d72bfe9f4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7d72bfe9f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7d72bfe9f4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7d72bfe9f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7d72bfe9f4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7d72bfe9f4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7d72bfe9f4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7d72bfe9f4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27d72bfe9f4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27d72bfe9f4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7d72bfe9f4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7d72bfe9f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27c4fac533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7c4fac533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27c4fac533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27c4fac533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1e6f09fc04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1e6f09fc04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7d72bfe9f4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7d72bfe9f4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7c4fac533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7c4fac533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62.png"/><Relationship Id="rId5" Type="http://schemas.openxmlformats.org/officeDocument/2006/relationships/image" Target="../media/image26.png"/><Relationship Id="rId6" Type="http://schemas.openxmlformats.org/officeDocument/2006/relationships/image" Target="../media/image33.png"/><Relationship Id="rId7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2.png"/><Relationship Id="rId4" Type="http://schemas.openxmlformats.org/officeDocument/2006/relationships/image" Target="../media/image24.png"/><Relationship Id="rId9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2.png"/><Relationship Id="rId4" Type="http://schemas.openxmlformats.org/officeDocument/2006/relationships/image" Target="../media/image31.png"/><Relationship Id="rId11" Type="http://schemas.openxmlformats.org/officeDocument/2006/relationships/image" Target="../media/image13.png"/><Relationship Id="rId10" Type="http://schemas.openxmlformats.org/officeDocument/2006/relationships/image" Target="../media/image36.png"/><Relationship Id="rId9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8" name="Google Shape;558;p42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42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42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61" name="Google Shape;561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7" name="Google Shape;567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8" name="Google Shape;568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9" name="Google Shape;569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4" name="Google Shape;5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8" name="Google Shape;578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9" name="Google Shape;579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80" name="Google Shape;580;p4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p4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4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3" name="Google Shape;583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6" name="Google Shape;586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7" name="Google Shape;587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9" name="Google Shape;589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0" name="Google Shape;590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6" name="Google Shape;5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8" name="Google Shape;598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9" name="Google Shape;599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0" name="Google Shape;600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2" name="Google Shape;602;p4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3" name="Google Shape;603;p4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4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5" name="Google Shape;605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06" name="Google Shape;606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8" name="Google Shape;608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9" name="Google Shape;609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0" name="Google Shape;610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1" name="Google Shape;611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8" name="Google Shape;618;p4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4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4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1" name="Google Shape;62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3" name="Google Shape;623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4" name="Google Shape;624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26" name="Google Shape;626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27" name="Google Shape;627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28" name="Google Shape;628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31" name="Google Shape;631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3" name="Google Shape;633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34" name="Google Shape;63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7" name="Google Shape;63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0" name="Google Shape;6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2" name="Google Shape;642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7" name="Google Shape;64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8" name="Google Shape;718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9" name="Google Shape;71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4" name="Google Shape;724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5" name="Google Shape;725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6" name="Google Shape;726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0" name="Google Shape;730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2" name="Google Shape;732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6" name="Google Shape;736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38" name="Google Shape;738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6.jpg"/><Relationship Id="rId4" Type="http://schemas.openxmlformats.org/officeDocument/2006/relationships/image" Target="../media/image47.png"/><Relationship Id="rId5" Type="http://schemas.openxmlformats.org/officeDocument/2006/relationships/image" Target="../media/image51.png"/><Relationship Id="rId6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5.png"/><Relationship Id="rId4" Type="http://schemas.openxmlformats.org/officeDocument/2006/relationships/image" Target="../media/image54.png"/><Relationship Id="rId5" Type="http://schemas.openxmlformats.org/officeDocument/2006/relationships/image" Target="../media/image5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jpg"/><Relationship Id="rId4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9.jp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imperial units</a:t>
            </a:r>
            <a:endParaRPr/>
          </a:p>
        </p:txBody>
      </p:sp>
      <p:sp>
        <p:nvSpPr>
          <p:cNvPr id="763" name="Google Shape;763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interpret place value in the context of measure (imperial).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324002" y="993650"/>
            <a:ext cx="8496000" cy="171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Imperial </a:t>
            </a:r>
            <a:r>
              <a:rPr b="0" lang="en-GB"/>
              <a:t>is a system of units for measuring, which was created in the early 1800s during the British Empire (e.g. feet, miles, ounces, gallons).</a:t>
            </a:r>
            <a:endParaRPr b="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784" name="Google Shape;784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785" name="Google Shape;785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imperial units</a:t>
            </a:r>
            <a:endParaRPr/>
          </a:p>
        </p:txBody>
      </p:sp>
      <p:pic>
        <p:nvPicPr>
          <p:cNvPr id="786" name="Google Shape;7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850" y="20658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9"/>
          <p:cNvSpPr txBox="1"/>
          <p:nvPr>
            <p:ph idx="1" type="body"/>
          </p:nvPr>
        </p:nvSpPr>
        <p:spPr>
          <a:xfrm>
            <a:off x="324000" y="759300"/>
            <a:ext cx="8496000" cy="15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Imperial</a:t>
            </a:r>
            <a:r>
              <a:rPr lang="en-GB"/>
              <a:t> measures come from an older system for measuring.</a:t>
            </a:r>
            <a:endParaRPr/>
          </a:p>
        </p:txBody>
      </p:sp>
      <p:sp>
        <p:nvSpPr>
          <p:cNvPr id="792" name="Google Shape;79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</a:t>
            </a:r>
            <a:r>
              <a:rPr lang="en-GB"/>
              <a:t> imperial units</a:t>
            </a:r>
            <a:endParaRPr/>
          </a:p>
        </p:txBody>
      </p:sp>
      <p:sp>
        <p:nvSpPr>
          <p:cNvPr id="793" name="Google Shape;793;p69"/>
          <p:cNvSpPr txBox="1"/>
          <p:nvPr/>
        </p:nvSpPr>
        <p:spPr>
          <a:xfrm>
            <a:off x="228600" y="1371600"/>
            <a:ext cx="694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Examples of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imperial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measurements for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lengths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/>
          </a:p>
        </p:txBody>
      </p:sp>
      <p:grpSp>
        <p:nvGrpSpPr>
          <p:cNvPr id="794" name="Google Shape;794;p69"/>
          <p:cNvGrpSpPr/>
          <p:nvPr/>
        </p:nvGrpSpPr>
        <p:grpSpPr>
          <a:xfrm>
            <a:off x="288725" y="2081550"/>
            <a:ext cx="1396075" cy="2601900"/>
            <a:chOff x="288725" y="2310150"/>
            <a:chExt cx="1396075" cy="2601900"/>
          </a:xfrm>
        </p:grpSpPr>
        <p:pic>
          <p:nvPicPr>
            <p:cNvPr id="795" name="Google Shape;795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8725" y="2813018"/>
              <a:ext cx="1396075" cy="13310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96" name="Google Shape;796;p69"/>
            <p:cNvGrpSpPr/>
            <p:nvPr/>
          </p:nvGrpSpPr>
          <p:grpSpPr>
            <a:xfrm>
              <a:off x="441725" y="2310150"/>
              <a:ext cx="1188600" cy="2601900"/>
              <a:chOff x="442800" y="2310150"/>
              <a:chExt cx="1188600" cy="2601900"/>
            </a:xfrm>
          </p:grpSpPr>
          <p:grpSp>
            <p:nvGrpSpPr>
              <p:cNvPr id="797" name="Google Shape;797;p69"/>
              <p:cNvGrpSpPr/>
              <p:nvPr/>
            </p:nvGrpSpPr>
            <p:grpSpPr>
              <a:xfrm>
                <a:off x="442800" y="2310150"/>
                <a:ext cx="1188600" cy="2601900"/>
                <a:chOff x="442800" y="2310150"/>
                <a:chExt cx="1188600" cy="2601900"/>
              </a:xfrm>
            </p:grpSpPr>
            <p:sp>
              <p:nvSpPr>
                <p:cNvPr id="798" name="Google Shape;798;p69"/>
                <p:cNvSpPr txBox="1"/>
                <p:nvPr/>
              </p:nvSpPr>
              <p:spPr>
                <a:xfrm>
                  <a:off x="442800" y="2310150"/>
                  <a:ext cx="11886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None/>
                  </a:pPr>
                  <a:r>
                    <a:rPr lang="en-GB" sz="2200">
                      <a:solidFill>
                        <a:schemeClr val="accent4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inches</a:t>
                  </a:r>
                  <a:endParaRPr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799" name="Google Shape;799;p69"/>
                <p:cNvSpPr txBox="1"/>
                <p:nvPr/>
              </p:nvSpPr>
              <p:spPr>
                <a:xfrm>
                  <a:off x="519000" y="4131750"/>
                  <a:ext cx="1036200" cy="78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size</a:t>
                  </a: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 of a pizza</a:t>
                  </a:r>
                  <a:endParaRPr sz="1000">
                    <a:solidFill>
                      <a:schemeClr val="dk1"/>
                    </a:solidFill>
                  </a:endParaRPr>
                </a:p>
              </p:txBody>
            </p:sp>
          </p:grpSp>
          <p:cxnSp>
            <p:nvCxnSpPr>
              <p:cNvPr id="800" name="Google Shape;800;p69"/>
              <p:cNvCxnSpPr/>
              <p:nvPr/>
            </p:nvCxnSpPr>
            <p:spPr>
              <a:xfrm flipH="1" rot="10800000">
                <a:off x="479163" y="3478350"/>
                <a:ext cx="1015200" cy="8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</p:grpSp>
      <p:grpSp>
        <p:nvGrpSpPr>
          <p:cNvPr id="801" name="Google Shape;801;p69"/>
          <p:cNvGrpSpPr/>
          <p:nvPr/>
        </p:nvGrpSpPr>
        <p:grpSpPr>
          <a:xfrm>
            <a:off x="6877675" y="2081550"/>
            <a:ext cx="1545250" cy="2601900"/>
            <a:chOff x="6877675" y="2310150"/>
            <a:chExt cx="1545250" cy="2601900"/>
          </a:xfrm>
        </p:grpSpPr>
        <p:pic>
          <p:nvPicPr>
            <p:cNvPr id="802" name="Google Shape;802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77675" y="2958702"/>
              <a:ext cx="1545250" cy="104614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69"/>
            <p:cNvGrpSpPr/>
            <p:nvPr/>
          </p:nvGrpSpPr>
          <p:grpSpPr>
            <a:xfrm>
              <a:off x="6953875" y="2310150"/>
              <a:ext cx="1468500" cy="2601900"/>
              <a:chOff x="6953875" y="2310150"/>
              <a:chExt cx="1468500" cy="2601900"/>
            </a:xfrm>
          </p:grpSpPr>
          <p:sp>
            <p:nvSpPr>
              <p:cNvPr id="804" name="Google Shape;804;p69"/>
              <p:cNvSpPr txBox="1"/>
              <p:nvPr/>
            </p:nvSpPr>
            <p:spPr>
              <a:xfrm>
                <a:off x="7123550" y="2310150"/>
                <a:ext cx="10641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miles</a:t>
                </a:r>
                <a:endParaRPr>
                  <a:solidFill>
                    <a:schemeClr val="accent4"/>
                  </a:solidFill>
                </a:endParaRPr>
              </a:p>
            </p:txBody>
          </p:sp>
          <p:sp>
            <p:nvSpPr>
              <p:cNvPr id="805" name="Google Shape;805;p69"/>
              <p:cNvSpPr txBox="1"/>
              <p:nvPr/>
            </p:nvSpPr>
            <p:spPr>
              <a:xfrm>
                <a:off x="6953875" y="4131750"/>
                <a:ext cx="1468500" cy="78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istance of a journey</a:t>
                </a:r>
                <a:endParaRPr sz="1000">
                  <a:solidFill>
                    <a:schemeClr val="dk1"/>
                  </a:solidFill>
                </a:endParaRPr>
              </a:p>
            </p:txBody>
          </p:sp>
        </p:grpSp>
      </p:grpSp>
      <p:grpSp>
        <p:nvGrpSpPr>
          <p:cNvPr id="806" name="Google Shape;806;p69"/>
          <p:cNvGrpSpPr/>
          <p:nvPr/>
        </p:nvGrpSpPr>
        <p:grpSpPr>
          <a:xfrm>
            <a:off x="4418175" y="2081550"/>
            <a:ext cx="1572100" cy="2601900"/>
            <a:chOff x="4418175" y="2310150"/>
            <a:chExt cx="1572100" cy="2601900"/>
          </a:xfrm>
        </p:grpSpPr>
        <p:grpSp>
          <p:nvGrpSpPr>
            <p:cNvPr id="807" name="Google Shape;807;p69"/>
            <p:cNvGrpSpPr/>
            <p:nvPr/>
          </p:nvGrpSpPr>
          <p:grpSpPr>
            <a:xfrm>
              <a:off x="4487275" y="2310150"/>
              <a:ext cx="1503000" cy="2601900"/>
              <a:chOff x="4487275" y="2310150"/>
              <a:chExt cx="1503000" cy="2601900"/>
            </a:xfrm>
          </p:grpSpPr>
          <p:sp>
            <p:nvSpPr>
              <p:cNvPr id="808" name="Google Shape;808;p69"/>
              <p:cNvSpPr txBox="1"/>
              <p:nvPr/>
            </p:nvSpPr>
            <p:spPr>
              <a:xfrm>
                <a:off x="4625733" y="2310150"/>
                <a:ext cx="10641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yards</a:t>
                </a:r>
                <a:endParaRPr>
                  <a:solidFill>
                    <a:schemeClr val="accent4"/>
                  </a:solidFill>
                </a:endParaRPr>
              </a:p>
            </p:txBody>
          </p:sp>
          <p:sp>
            <p:nvSpPr>
              <p:cNvPr id="809" name="Google Shape;809;p69"/>
              <p:cNvSpPr txBox="1"/>
              <p:nvPr/>
            </p:nvSpPr>
            <p:spPr>
              <a:xfrm>
                <a:off x="4487275" y="4131750"/>
                <a:ext cx="1503000" cy="78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length of a sports field</a:t>
                </a:r>
                <a:endParaRPr sz="1000">
                  <a:solidFill>
                    <a:schemeClr val="dk1"/>
                  </a:solidFill>
                </a:endParaRPr>
              </a:p>
            </p:txBody>
          </p:sp>
        </p:grpSp>
        <p:pic>
          <p:nvPicPr>
            <p:cNvPr id="810" name="Google Shape;810;p6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18175" y="2935200"/>
              <a:ext cx="1495226" cy="10623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1" name="Google Shape;811;p69"/>
          <p:cNvGrpSpPr/>
          <p:nvPr/>
        </p:nvGrpSpPr>
        <p:grpSpPr>
          <a:xfrm>
            <a:off x="2429938" y="2081550"/>
            <a:ext cx="1188600" cy="2601900"/>
            <a:chOff x="2429938" y="2310150"/>
            <a:chExt cx="1188600" cy="2601900"/>
          </a:xfrm>
        </p:grpSpPr>
        <p:grpSp>
          <p:nvGrpSpPr>
            <p:cNvPr id="812" name="Google Shape;812;p69"/>
            <p:cNvGrpSpPr/>
            <p:nvPr/>
          </p:nvGrpSpPr>
          <p:grpSpPr>
            <a:xfrm>
              <a:off x="2429938" y="2310150"/>
              <a:ext cx="1188600" cy="2601900"/>
              <a:chOff x="2429938" y="2310150"/>
              <a:chExt cx="1188600" cy="2601900"/>
            </a:xfrm>
          </p:grpSpPr>
          <p:grpSp>
            <p:nvGrpSpPr>
              <p:cNvPr id="813" name="Google Shape;813;p69"/>
              <p:cNvGrpSpPr/>
              <p:nvPr/>
            </p:nvGrpSpPr>
            <p:grpSpPr>
              <a:xfrm>
                <a:off x="2429938" y="2310150"/>
                <a:ext cx="1188600" cy="2601900"/>
                <a:chOff x="2434350" y="2310150"/>
                <a:chExt cx="1188600" cy="2601900"/>
              </a:xfrm>
            </p:grpSpPr>
            <p:sp>
              <p:nvSpPr>
                <p:cNvPr id="814" name="Google Shape;814;p69"/>
                <p:cNvSpPr txBox="1"/>
                <p:nvPr/>
              </p:nvSpPr>
              <p:spPr>
                <a:xfrm>
                  <a:off x="2559617" y="2310150"/>
                  <a:ext cx="784800" cy="52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None/>
                  </a:pPr>
                  <a:r>
                    <a:rPr lang="en-GB" sz="2200">
                      <a:solidFill>
                        <a:schemeClr val="accent4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feet</a:t>
                  </a:r>
                  <a:endParaRPr>
                    <a:solidFill>
                      <a:schemeClr val="accent4"/>
                    </a:solidFill>
                  </a:endParaRPr>
                </a:p>
              </p:txBody>
            </p:sp>
            <p:sp>
              <p:nvSpPr>
                <p:cNvPr id="815" name="Google Shape;815;p69"/>
                <p:cNvSpPr txBox="1"/>
                <p:nvPr/>
              </p:nvSpPr>
              <p:spPr>
                <a:xfrm>
                  <a:off x="2434350" y="4131750"/>
                  <a:ext cx="1188600" cy="78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1000"/>
                    </a:spcAft>
                    <a:buNone/>
                  </a:pP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height</a:t>
                  </a:r>
                  <a:r>
                    <a:rPr lang="en-GB" sz="1800">
                      <a:solidFill>
                        <a:schemeClr val="dk1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 of a person</a:t>
                  </a:r>
                  <a:endParaRPr sz="1000">
                    <a:solidFill>
                      <a:schemeClr val="dk1"/>
                    </a:solidFill>
                  </a:endParaRPr>
                </a:p>
              </p:txBody>
            </p:sp>
          </p:grpSp>
          <p:cxnSp>
            <p:nvCxnSpPr>
              <p:cNvPr id="816" name="Google Shape;816;p69"/>
              <p:cNvCxnSpPr/>
              <p:nvPr/>
            </p:nvCxnSpPr>
            <p:spPr>
              <a:xfrm>
                <a:off x="2681650" y="2956500"/>
                <a:ext cx="4800" cy="10374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pic>
          <p:nvPicPr>
            <p:cNvPr id="817" name="Google Shape;817;p6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766649" y="2935200"/>
              <a:ext cx="395509" cy="10799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0"/>
          <p:cNvSpPr txBox="1"/>
          <p:nvPr>
            <p:ph idx="1" type="body"/>
          </p:nvPr>
        </p:nvSpPr>
        <p:spPr>
          <a:xfrm>
            <a:off x="324000" y="759300"/>
            <a:ext cx="8496000" cy="15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Imperial</a:t>
            </a:r>
            <a:r>
              <a:rPr lang="en-GB"/>
              <a:t> measures come from an older system for measuring.</a:t>
            </a:r>
            <a:endParaRPr/>
          </a:p>
        </p:txBody>
      </p:sp>
      <p:sp>
        <p:nvSpPr>
          <p:cNvPr id="823" name="Google Shape;823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824" name="Google Shape;824;p70"/>
          <p:cNvSpPr txBox="1"/>
          <p:nvPr/>
        </p:nvSpPr>
        <p:spPr>
          <a:xfrm>
            <a:off x="228600" y="1600200"/>
            <a:ext cx="694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Examples of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imperial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measurements for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mass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/>
          </a:p>
        </p:txBody>
      </p:sp>
      <p:grpSp>
        <p:nvGrpSpPr>
          <p:cNvPr id="825" name="Google Shape;825;p70"/>
          <p:cNvGrpSpPr/>
          <p:nvPr/>
        </p:nvGrpSpPr>
        <p:grpSpPr>
          <a:xfrm>
            <a:off x="3448875" y="2310150"/>
            <a:ext cx="1620640" cy="2601900"/>
            <a:chOff x="3067875" y="2310150"/>
            <a:chExt cx="1620640" cy="2601900"/>
          </a:xfrm>
        </p:grpSpPr>
        <p:sp>
          <p:nvSpPr>
            <p:cNvPr id="826" name="Google Shape;826;p70"/>
            <p:cNvSpPr txBox="1"/>
            <p:nvPr/>
          </p:nvSpPr>
          <p:spPr>
            <a:xfrm>
              <a:off x="3245424" y="2310150"/>
              <a:ext cx="1289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pounds</a:t>
              </a: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827" name="Google Shape;827;p70"/>
            <p:cNvSpPr txBox="1"/>
            <p:nvPr/>
          </p:nvSpPr>
          <p:spPr>
            <a:xfrm>
              <a:off x="3272550" y="4131750"/>
              <a:ext cx="1289100" cy="7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weighing a baby</a:t>
              </a:r>
              <a:endParaRPr sz="1000">
                <a:solidFill>
                  <a:schemeClr val="dk1"/>
                </a:solidFill>
              </a:endParaRPr>
            </a:p>
          </p:txBody>
        </p:sp>
        <p:pic>
          <p:nvPicPr>
            <p:cNvPr id="828" name="Google Shape;828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67875" y="2935200"/>
              <a:ext cx="1620640" cy="1080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9" name="Google Shape;829;p70"/>
          <p:cNvGrpSpPr/>
          <p:nvPr/>
        </p:nvGrpSpPr>
        <p:grpSpPr>
          <a:xfrm>
            <a:off x="6431475" y="2310150"/>
            <a:ext cx="1887900" cy="2601900"/>
            <a:chOff x="6050475" y="2310150"/>
            <a:chExt cx="1887900" cy="2601900"/>
          </a:xfrm>
        </p:grpSpPr>
        <p:sp>
          <p:nvSpPr>
            <p:cNvPr id="830" name="Google Shape;830;p70"/>
            <p:cNvSpPr txBox="1"/>
            <p:nvPr/>
          </p:nvSpPr>
          <p:spPr>
            <a:xfrm>
              <a:off x="6149733" y="2310150"/>
              <a:ext cx="1064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stone</a:t>
              </a: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831" name="Google Shape;831;p70"/>
            <p:cNvSpPr txBox="1"/>
            <p:nvPr/>
          </p:nvSpPr>
          <p:spPr>
            <a:xfrm>
              <a:off x="6050475" y="4131750"/>
              <a:ext cx="1887900" cy="7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eighing a child or adult</a:t>
              </a:r>
              <a:endParaRPr sz="1000">
                <a:solidFill>
                  <a:schemeClr val="dk1"/>
                </a:solidFill>
              </a:endParaRPr>
            </a:p>
          </p:txBody>
        </p:sp>
        <p:pic>
          <p:nvPicPr>
            <p:cNvPr id="832" name="Google Shape;832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67803" y="2935205"/>
              <a:ext cx="418601" cy="10800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3" name="Google Shape;833;p70"/>
          <p:cNvGrpSpPr/>
          <p:nvPr/>
        </p:nvGrpSpPr>
        <p:grpSpPr>
          <a:xfrm>
            <a:off x="705000" y="2310150"/>
            <a:ext cx="1576200" cy="2601900"/>
            <a:chOff x="324000" y="2310150"/>
            <a:chExt cx="1576200" cy="2601900"/>
          </a:xfrm>
        </p:grpSpPr>
        <p:pic>
          <p:nvPicPr>
            <p:cNvPr id="834" name="Google Shape;834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4000" y="2935200"/>
              <a:ext cx="1419302" cy="1080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35" name="Google Shape;835;p70"/>
            <p:cNvGrpSpPr/>
            <p:nvPr/>
          </p:nvGrpSpPr>
          <p:grpSpPr>
            <a:xfrm>
              <a:off x="324000" y="2310150"/>
              <a:ext cx="1576200" cy="2601900"/>
              <a:chOff x="324000" y="2310150"/>
              <a:chExt cx="1576200" cy="2601900"/>
            </a:xfrm>
          </p:grpSpPr>
          <p:sp>
            <p:nvSpPr>
              <p:cNvPr id="836" name="Google Shape;836;p70"/>
              <p:cNvSpPr txBox="1"/>
              <p:nvPr/>
            </p:nvSpPr>
            <p:spPr>
              <a:xfrm>
                <a:off x="400200" y="2310150"/>
                <a:ext cx="12237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ounces</a:t>
                </a:r>
                <a:endParaRPr>
                  <a:solidFill>
                    <a:schemeClr val="accent4"/>
                  </a:solidFill>
                </a:endParaRPr>
              </a:p>
            </p:txBody>
          </p:sp>
          <p:sp>
            <p:nvSpPr>
              <p:cNvPr id="837" name="Google Shape;837;p70"/>
              <p:cNvSpPr txBox="1"/>
              <p:nvPr/>
            </p:nvSpPr>
            <p:spPr>
              <a:xfrm>
                <a:off x="324000" y="4131750"/>
                <a:ext cx="1576200" cy="78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w</a:t>
                </a: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eighing ingredients</a:t>
                </a:r>
                <a:endParaRPr sz="1000">
                  <a:solidFill>
                    <a:schemeClr val="dk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1"/>
          <p:cNvSpPr txBox="1"/>
          <p:nvPr>
            <p:ph idx="1" type="body"/>
          </p:nvPr>
        </p:nvSpPr>
        <p:spPr>
          <a:xfrm>
            <a:off x="324000" y="759300"/>
            <a:ext cx="8496000" cy="152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Imperial</a:t>
            </a:r>
            <a:r>
              <a:rPr lang="en-GB"/>
              <a:t> measures come from an older system for measuring.</a:t>
            </a:r>
            <a:endParaRPr/>
          </a:p>
        </p:txBody>
      </p:sp>
      <p:sp>
        <p:nvSpPr>
          <p:cNvPr id="843" name="Google Shape;84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844" name="Google Shape;844;p71"/>
          <p:cNvSpPr txBox="1"/>
          <p:nvPr/>
        </p:nvSpPr>
        <p:spPr>
          <a:xfrm>
            <a:off x="228600" y="1600200"/>
            <a:ext cx="730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Examples of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imperial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measurements for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capacity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/>
          </a:p>
        </p:txBody>
      </p:sp>
      <p:grpSp>
        <p:nvGrpSpPr>
          <p:cNvPr id="845" name="Google Shape;845;p71"/>
          <p:cNvGrpSpPr/>
          <p:nvPr/>
        </p:nvGrpSpPr>
        <p:grpSpPr>
          <a:xfrm>
            <a:off x="5778250" y="2286000"/>
            <a:ext cx="2156075" cy="2601900"/>
            <a:chOff x="4312375" y="2310150"/>
            <a:chExt cx="2156075" cy="2601900"/>
          </a:xfrm>
        </p:grpSpPr>
        <p:sp>
          <p:nvSpPr>
            <p:cNvPr id="846" name="Google Shape;846;p71"/>
            <p:cNvSpPr txBox="1"/>
            <p:nvPr/>
          </p:nvSpPr>
          <p:spPr>
            <a:xfrm>
              <a:off x="4617024" y="2310150"/>
              <a:ext cx="1289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accent4"/>
                  </a:solidFill>
                  <a:latin typeface="Lexend"/>
                  <a:ea typeface="Lexend"/>
                  <a:cs typeface="Lexend"/>
                  <a:sym typeface="Lexend"/>
                </a:rPr>
                <a:t>gallons</a:t>
              </a: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847" name="Google Shape;847;p71"/>
            <p:cNvSpPr txBox="1"/>
            <p:nvPr/>
          </p:nvSpPr>
          <p:spPr>
            <a:xfrm>
              <a:off x="4491750" y="4131750"/>
              <a:ext cx="1976700" cy="7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amount of petrol in a car</a:t>
              </a:r>
              <a:endParaRPr sz="1000">
                <a:solidFill>
                  <a:schemeClr val="dk1"/>
                </a:solidFill>
              </a:endParaRPr>
            </a:p>
          </p:txBody>
        </p:sp>
        <p:pic>
          <p:nvPicPr>
            <p:cNvPr id="848" name="Google Shape;848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12375" y="2933550"/>
              <a:ext cx="2039173" cy="11181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9" name="Google Shape;849;p71"/>
          <p:cNvGrpSpPr/>
          <p:nvPr/>
        </p:nvGrpSpPr>
        <p:grpSpPr>
          <a:xfrm>
            <a:off x="1713675" y="2286000"/>
            <a:ext cx="1901100" cy="2601900"/>
            <a:chOff x="247800" y="2310150"/>
            <a:chExt cx="1901100" cy="2601900"/>
          </a:xfrm>
        </p:grpSpPr>
        <p:grpSp>
          <p:nvGrpSpPr>
            <p:cNvPr id="850" name="Google Shape;850;p71"/>
            <p:cNvGrpSpPr/>
            <p:nvPr/>
          </p:nvGrpSpPr>
          <p:grpSpPr>
            <a:xfrm>
              <a:off x="247800" y="2310150"/>
              <a:ext cx="1901100" cy="2601900"/>
              <a:chOff x="247800" y="2310150"/>
              <a:chExt cx="1901100" cy="2601900"/>
            </a:xfrm>
          </p:grpSpPr>
          <p:sp>
            <p:nvSpPr>
              <p:cNvPr id="851" name="Google Shape;851;p71"/>
              <p:cNvSpPr txBox="1"/>
              <p:nvPr/>
            </p:nvSpPr>
            <p:spPr>
              <a:xfrm>
                <a:off x="552600" y="2310150"/>
                <a:ext cx="12237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solidFill>
                      <a:schemeClr val="accent4"/>
                    </a:solidFill>
                    <a:latin typeface="Lexend"/>
                    <a:ea typeface="Lexend"/>
                    <a:cs typeface="Lexend"/>
                    <a:sym typeface="Lexend"/>
                  </a:rPr>
                  <a:t>pints</a:t>
                </a:r>
                <a:endParaRPr>
                  <a:solidFill>
                    <a:schemeClr val="accent4"/>
                  </a:solidFill>
                </a:endParaRPr>
              </a:p>
            </p:txBody>
          </p:sp>
          <p:sp>
            <p:nvSpPr>
              <p:cNvPr id="852" name="Google Shape;852;p71"/>
              <p:cNvSpPr txBox="1"/>
              <p:nvPr/>
            </p:nvSpPr>
            <p:spPr>
              <a:xfrm>
                <a:off x="247800" y="4131750"/>
                <a:ext cx="1901100" cy="78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amount of milk in a bottle</a:t>
                </a:r>
                <a:endParaRPr sz="1000">
                  <a:solidFill>
                    <a:schemeClr val="dk1"/>
                  </a:solidFill>
                </a:endParaRPr>
              </a:p>
            </p:txBody>
          </p:sp>
        </p:grpSp>
        <p:pic>
          <p:nvPicPr>
            <p:cNvPr id="853" name="Google Shape;853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60075" y="2947000"/>
              <a:ext cx="474569" cy="108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can be measured in </a:t>
            </a:r>
            <a:r>
              <a:rPr lang="en-GB"/>
              <a:t>miles</a:t>
            </a:r>
            <a:r>
              <a:rPr lang="en-GB"/>
              <a:t>?</a:t>
            </a:r>
            <a:endParaRPr/>
          </a:p>
        </p:txBody>
      </p:sp>
      <p:sp>
        <p:nvSpPr>
          <p:cNvPr id="859" name="Google Shape;859;p7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860" name="Google Shape;860;p7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length</a:t>
            </a:r>
            <a:endParaRPr/>
          </a:p>
        </p:txBody>
      </p:sp>
      <p:sp>
        <p:nvSpPr>
          <p:cNvPr id="861" name="Google Shape;861;p7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mass</a:t>
            </a:r>
            <a:endParaRPr/>
          </a:p>
        </p:txBody>
      </p:sp>
      <p:sp>
        <p:nvSpPr>
          <p:cNvPr id="862" name="Google Shape;862;p7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capacity</a:t>
            </a:r>
            <a:endParaRPr/>
          </a:p>
        </p:txBody>
      </p:sp>
      <p:pic>
        <p:nvPicPr>
          <p:cNvPr id="863" name="Google Shape;86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4733" y="17432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can be measured in pints?</a:t>
            </a:r>
            <a:endParaRPr/>
          </a:p>
        </p:txBody>
      </p:sp>
      <p:sp>
        <p:nvSpPr>
          <p:cNvPr id="869" name="Google Shape;869;p7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870" name="Google Shape;870;p7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length</a:t>
            </a:r>
            <a:endParaRPr/>
          </a:p>
        </p:txBody>
      </p:sp>
      <p:sp>
        <p:nvSpPr>
          <p:cNvPr id="871" name="Google Shape;871;p7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mass</a:t>
            </a:r>
            <a:endParaRPr/>
          </a:p>
        </p:txBody>
      </p:sp>
      <p:sp>
        <p:nvSpPr>
          <p:cNvPr id="872" name="Google Shape;872;p7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capacity</a:t>
            </a:r>
            <a:endParaRPr/>
          </a:p>
        </p:txBody>
      </p:sp>
      <p:pic>
        <p:nvPicPr>
          <p:cNvPr id="873" name="Google Shape;87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583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can be measured in pounds?</a:t>
            </a:r>
            <a:endParaRPr/>
          </a:p>
        </p:txBody>
      </p:sp>
      <p:sp>
        <p:nvSpPr>
          <p:cNvPr id="879" name="Google Shape;879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880" name="Google Shape;880;p7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mount of space inside a large box</a:t>
            </a:r>
            <a:endParaRPr/>
          </a:p>
        </p:txBody>
      </p:sp>
      <p:sp>
        <p:nvSpPr>
          <p:cNvPr id="881" name="Google Shape;881;p7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</a:t>
            </a:r>
            <a:r>
              <a:rPr lang="en-GB"/>
              <a:t>eight of a milk bottle</a:t>
            </a:r>
            <a:endParaRPr/>
          </a:p>
        </p:txBody>
      </p:sp>
      <p:sp>
        <p:nvSpPr>
          <p:cNvPr id="882" name="Google Shape;882;p7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weight of a cat</a:t>
            </a:r>
            <a:endParaRPr/>
          </a:p>
        </p:txBody>
      </p:sp>
      <p:pic>
        <p:nvPicPr>
          <p:cNvPr id="883" name="Google Shape;88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333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Which can be measured in gallons?</a:t>
            </a:r>
            <a:endParaRPr/>
          </a:p>
        </p:txBody>
      </p:sp>
      <p:sp>
        <p:nvSpPr>
          <p:cNvPr id="889" name="Google Shape;889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890" name="Google Shape;890;p7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amount of space inside a large box</a:t>
            </a:r>
            <a:endParaRPr/>
          </a:p>
        </p:txBody>
      </p:sp>
      <p:sp>
        <p:nvSpPr>
          <p:cNvPr id="891" name="Google Shape;891;p7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height of a milk bottle</a:t>
            </a:r>
            <a:endParaRPr/>
          </a:p>
        </p:txBody>
      </p:sp>
      <p:sp>
        <p:nvSpPr>
          <p:cNvPr id="892" name="Google Shape;892;p7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weight of a cat</a:t>
            </a:r>
            <a:endParaRPr/>
          </a:p>
        </p:txBody>
      </p:sp>
      <p:pic>
        <p:nvPicPr>
          <p:cNvPr id="893" name="Google Shape;89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2583" y="180676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6"/>
          <p:cNvSpPr txBox="1"/>
          <p:nvPr>
            <p:ph idx="1" type="body"/>
          </p:nvPr>
        </p:nvSpPr>
        <p:spPr>
          <a:xfrm>
            <a:off x="324000" y="759300"/>
            <a:ext cx="8386200" cy="8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Many units were </a:t>
            </a:r>
            <a:r>
              <a:rPr lang="en-GB"/>
              <a:t>originally </a:t>
            </a:r>
            <a:r>
              <a:rPr lang="en-GB"/>
              <a:t>based on </a:t>
            </a:r>
            <a:r>
              <a:rPr lang="en-GB">
                <a:solidFill>
                  <a:schemeClr val="accent4"/>
                </a:solidFill>
              </a:rPr>
              <a:t>practical ways</a:t>
            </a:r>
            <a:r>
              <a:rPr lang="en-GB"/>
              <a:t> to</a:t>
            </a:r>
            <a:r>
              <a:rPr lang="en-GB"/>
              <a:t> measure things by comparing them to objects. </a:t>
            </a:r>
            <a:endParaRPr/>
          </a:p>
        </p:txBody>
      </p:sp>
      <p:sp>
        <p:nvSpPr>
          <p:cNvPr id="899" name="Google Shape;899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900" name="Google Shape;900;p76"/>
          <p:cNvSpPr txBox="1"/>
          <p:nvPr/>
        </p:nvSpPr>
        <p:spPr>
          <a:xfrm>
            <a:off x="243325" y="1653000"/>
            <a:ext cx="8466900" cy="1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example, the unit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feet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was originally based on the length of a human foot. However, people have different sized feet!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1" name="Google Shape;90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4375" y="3324550"/>
            <a:ext cx="2551349" cy="14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76"/>
          <p:cNvSpPr txBox="1"/>
          <p:nvPr/>
        </p:nvSpPr>
        <p:spPr>
          <a:xfrm>
            <a:off x="243275" y="2648075"/>
            <a:ext cx="8466900" cy="1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During the 1800s, many of these units were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standardised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create 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imperial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system of measurements.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 foot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equal to exactly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12 inches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7"/>
          <p:cNvSpPr txBox="1"/>
          <p:nvPr>
            <p:ph idx="1" type="body"/>
          </p:nvPr>
        </p:nvSpPr>
        <p:spPr>
          <a:xfrm>
            <a:off x="324000" y="759300"/>
            <a:ext cx="8237700" cy="19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Most</a:t>
            </a:r>
            <a:r>
              <a:rPr lang="en-GB"/>
              <a:t> countries in the world use metric units.</a:t>
            </a:r>
            <a:endParaRPr/>
          </a:p>
        </p:txBody>
      </p:sp>
      <p:sp>
        <p:nvSpPr>
          <p:cNvPr id="908" name="Google Shape;90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909" name="Google Shape;909;p77"/>
          <p:cNvSpPr txBox="1"/>
          <p:nvPr>
            <p:ph idx="1" type="body"/>
          </p:nvPr>
        </p:nvSpPr>
        <p:spPr>
          <a:xfrm>
            <a:off x="304800" y="4340700"/>
            <a:ext cx="38100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running </a:t>
            </a:r>
            <a:r>
              <a:rPr lang="en-GB"/>
              <a:t>a </a:t>
            </a:r>
            <a:r>
              <a:rPr lang="en-GB"/>
              <a:t>50 </a:t>
            </a:r>
            <a:r>
              <a:rPr lang="en-GB">
                <a:solidFill>
                  <a:schemeClr val="accent4"/>
                </a:solidFill>
              </a:rPr>
              <a:t>metre</a:t>
            </a:r>
            <a:r>
              <a:rPr lang="en-GB">
                <a:solidFill>
                  <a:schemeClr val="accent4"/>
                </a:solidFill>
              </a:rPr>
              <a:t> </a:t>
            </a:r>
            <a:r>
              <a:rPr lang="en-GB"/>
              <a:t>race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77"/>
          <p:cNvSpPr txBox="1"/>
          <p:nvPr>
            <p:ph idx="1" type="body"/>
          </p:nvPr>
        </p:nvSpPr>
        <p:spPr>
          <a:xfrm>
            <a:off x="4800600" y="4340700"/>
            <a:ext cx="35814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</a:t>
            </a:r>
            <a:r>
              <a:rPr lang="en-GB"/>
              <a:t>riving 5 </a:t>
            </a:r>
            <a:r>
              <a:rPr lang="en-GB">
                <a:solidFill>
                  <a:schemeClr val="accent4"/>
                </a:solidFill>
              </a:rPr>
              <a:t>miles </a:t>
            </a:r>
            <a:r>
              <a:rPr lang="en-GB"/>
              <a:t>to school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77"/>
          <p:cNvSpPr txBox="1"/>
          <p:nvPr>
            <p:ph idx="1" type="body"/>
          </p:nvPr>
        </p:nvSpPr>
        <p:spPr>
          <a:xfrm>
            <a:off x="304800" y="1292700"/>
            <a:ext cx="8237700" cy="19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USA use </a:t>
            </a:r>
            <a:r>
              <a:rPr b="1" lang="en-GB"/>
              <a:t>imperial</a:t>
            </a:r>
            <a:r>
              <a:rPr lang="en-GB"/>
              <a:t> units.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UK uses </a:t>
            </a:r>
            <a:r>
              <a:rPr lang="en-GB">
                <a:solidFill>
                  <a:schemeClr val="accent4"/>
                </a:solidFill>
              </a:rPr>
              <a:t>both</a:t>
            </a:r>
            <a:r>
              <a:rPr lang="en-GB"/>
              <a:t> </a:t>
            </a:r>
            <a:r>
              <a:rPr lang="en-GB"/>
              <a:t>metric and </a:t>
            </a:r>
            <a:r>
              <a:rPr b="1" lang="en-GB"/>
              <a:t>imperial</a:t>
            </a:r>
            <a:r>
              <a:rPr lang="en-GB"/>
              <a:t> units, depending on the context.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12" name="Google Shape;91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038" y="3042525"/>
            <a:ext cx="2039173" cy="1118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3" name="Google Shape;913;p77"/>
          <p:cNvGrpSpPr/>
          <p:nvPr/>
        </p:nvGrpSpPr>
        <p:grpSpPr>
          <a:xfrm>
            <a:off x="853398" y="2793250"/>
            <a:ext cx="1888076" cy="1421200"/>
            <a:chOff x="1230073" y="2793250"/>
            <a:chExt cx="1888076" cy="1421200"/>
          </a:xfrm>
        </p:grpSpPr>
        <p:pic>
          <p:nvPicPr>
            <p:cNvPr id="914" name="Google Shape;914;p7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30073" y="2793250"/>
              <a:ext cx="1762125" cy="142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5" name="Google Shape;915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254850" y="2986344"/>
              <a:ext cx="863300" cy="1035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78"/>
          <p:cNvSpPr txBox="1"/>
          <p:nvPr>
            <p:ph idx="1" type="body"/>
          </p:nvPr>
        </p:nvSpPr>
        <p:spPr>
          <a:xfrm>
            <a:off x="324000" y="759300"/>
            <a:ext cx="8542200" cy="9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Imperial</a:t>
            </a:r>
            <a:r>
              <a:rPr lang="en-GB"/>
              <a:t> units </a:t>
            </a:r>
            <a:r>
              <a:rPr lang="en-GB">
                <a:solidFill>
                  <a:schemeClr val="accent4"/>
                </a:solidFill>
              </a:rPr>
              <a:t>do not</a:t>
            </a:r>
            <a:r>
              <a:rPr lang="en-GB"/>
              <a:t> use the ‘kilo’, ‘centi’ or ‘milli’ </a:t>
            </a:r>
            <a:r>
              <a:rPr lang="en-GB"/>
              <a:t>prefixes, </a:t>
            </a:r>
            <a:r>
              <a:rPr lang="en-GB"/>
              <a:t>like metric units do.</a:t>
            </a:r>
            <a:endParaRPr/>
          </a:p>
        </p:txBody>
      </p:sp>
      <p:sp>
        <p:nvSpPr>
          <p:cNvPr id="921" name="Google Shape;92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922" name="Google Shape;922;p78"/>
          <p:cNvSpPr txBox="1"/>
          <p:nvPr>
            <p:ph idx="1" type="body"/>
          </p:nvPr>
        </p:nvSpPr>
        <p:spPr>
          <a:xfrm>
            <a:off x="308600" y="2158150"/>
            <a:ext cx="8401800" cy="179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Examples: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>
                <a:solidFill>
                  <a:schemeClr val="accent4"/>
                </a:solidFill>
              </a:rPr>
              <a:t>metric</a:t>
            </a:r>
            <a:r>
              <a:rPr lang="en-GB"/>
              <a:t> </a:t>
            </a:r>
            <a:r>
              <a:rPr lang="en-GB"/>
              <a:t>units of length: </a:t>
            </a:r>
            <a:r>
              <a:rPr lang="en-GB">
                <a:solidFill>
                  <a:schemeClr val="accent4"/>
                </a:solidFill>
              </a:rPr>
              <a:t>kilo</a:t>
            </a:r>
            <a:r>
              <a:rPr lang="en-GB"/>
              <a:t>metres, </a:t>
            </a:r>
            <a:r>
              <a:rPr lang="en-GB">
                <a:solidFill>
                  <a:schemeClr val="accent4"/>
                </a:solidFill>
              </a:rPr>
              <a:t>centi</a:t>
            </a:r>
            <a:r>
              <a:rPr lang="en-GB"/>
              <a:t>metres, </a:t>
            </a:r>
            <a:r>
              <a:rPr lang="en-GB">
                <a:solidFill>
                  <a:schemeClr val="accent4"/>
                </a:solidFill>
              </a:rPr>
              <a:t>milli</a:t>
            </a:r>
            <a:r>
              <a:rPr lang="en-GB"/>
              <a:t>metres</a:t>
            </a:r>
            <a:endParaRPr b="1"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/>
              <a:t>i</a:t>
            </a:r>
            <a:r>
              <a:rPr b="1" lang="en-GB"/>
              <a:t>mperial</a:t>
            </a:r>
            <a:r>
              <a:rPr lang="en-GB"/>
              <a:t> units of length: miles, yards, feet, inches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7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is an </a:t>
            </a:r>
            <a:r>
              <a:rPr b="1" lang="en-GB"/>
              <a:t>imperial</a:t>
            </a:r>
            <a:r>
              <a:rPr lang="en-GB"/>
              <a:t> unit of length?</a:t>
            </a:r>
            <a:endParaRPr/>
          </a:p>
        </p:txBody>
      </p:sp>
      <p:sp>
        <p:nvSpPr>
          <p:cNvPr id="928" name="Google Shape;928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929" name="Google Shape;929;p7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centimetres</a:t>
            </a:r>
            <a:endParaRPr/>
          </a:p>
        </p:txBody>
      </p:sp>
      <p:sp>
        <p:nvSpPr>
          <p:cNvPr id="930" name="Google Shape;930;p7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inches</a:t>
            </a:r>
            <a:endParaRPr/>
          </a:p>
        </p:txBody>
      </p:sp>
      <p:sp>
        <p:nvSpPr>
          <p:cNvPr id="931" name="Google Shape;931;p7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millimetres</a:t>
            </a:r>
            <a:endParaRPr/>
          </a:p>
        </p:txBody>
      </p:sp>
      <p:pic>
        <p:nvPicPr>
          <p:cNvPr id="932" name="Google Shape;93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2783" y="27506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8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is an</a:t>
            </a:r>
            <a:r>
              <a:rPr lang="en-GB"/>
              <a:t> </a:t>
            </a:r>
            <a:r>
              <a:rPr b="1" lang="en-GB"/>
              <a:t>imperial</a:t>
            </a:r>
            <a:r>
              <a:rPr lang="en-GB"/>
              <a:t> unit of mass?</a:t>
            </a:r>
            <a:endParaRPr/>
          </a:p>
        </p:txBody>
      </p:sp>
      <p:sp>
        <p:nvSpPr>
          <p:cNvPr id="938" name="Google Shape;938;p8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939" name="Google Shape;939;p8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kilograms</a:t>
            </a:r>
            <a:endParaRPr/>
          </a:p>
        </p:txBody>
      </p:sp>
      <p:sp>
        <p:nvSpPr>
          <p:cNvPr id="940" name="Google Shape;940;p8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grams</a:t>
            </a:r>
            <a:endParaRPr/>
          </a:p>
        </p:txBody>
      </p:sp>
      <p:sp>
        <p:nvSpPr>
          <p:cNvPr id="941" name="Google Shape;941;p8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pounds</a:t>
            </a:r>
            <a:endParaRPr/>
          </a:p>
        </p:txBody>
      </p:sp>
      <p:pic>
        <p:nvPicPr>
          <p:cNvPr id="942" name="Google Shape;94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0233" y="37155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8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is an</a:t>
            </a:r>
            <a:r>
              <a:rPr lang="en-GB"/>
              <a:t> </a:t>
            </a:r>
            <a:r>
              <a:rPr b="1" lang="en-GB"/>
              <a:t>imperial</a:t>
            </a:r>
            <a:r>
              <a:rPr lang="en-GB"/>
              <a:t> unit of capacity?</a:t>
            </a:r>
            <a:endParaRPr/>
          </a:p>
        </p:txBody>
      </p:sp>
      <p:sp>
        <p:nvSpPr>
          <p:cNvPr id="948" name="Google Shape;948;p8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949" name="Google Shape;949;p8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pints</a:t>
            </a:r>
            <a:endParaRPr/>
          </a:p>
        </p:txBody>
      </p:sp>
      <p:sp>
        <p:nvSpPr>
          <p:cNvPr id="950" name="Google Shape;950;p8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litres</a:t>
            </a:r>
            <a:endParaRPr/>
          </a:p>
        </p:txBody>
      </p:sp>
      <p:sp>
        <p:nvSpPr>
          <p:cNvPr id="951" name="Google Shape;951;p8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millilitres</a:t>
            </a:r>
            <a:endParaRPr/>
          </a:p>
        </p:txBody>
      </p:sp>
      <p:pic>
        <p:nvPicPr>
          <p:cNvPr id="952" name="Google Shape;95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133" y="18276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82"/>
          <p:cNvSpPr txBox="1"/>
          <p:nvPr>
            <p:ph idx="1" type="body"/>
          </p:nvPr>
        </p:nvSpPr>
        <p:spPr>
          <a:xfrm>
            <a:off x="324000" y="759300"/>
            <a:ext cx="82377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Sort </a:t>
            </a:r>
            <a:r>
              <a:rPr lang="en-GB"/>
              <a:t>the units into </a:t>
            </a:r>
            <a:r>
              <a:rPr lang="en-GB"/>
              <a:t>the correct columns.</a:t>
            </a:r>
            <a:endParaRPr/>
          </a:p>
        </p:txBody>
      </p:sp>
      <p:sp>
        <p:nvSpPr>
          <p:cNvPr id="958" name="Google Shape;958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959" name="Google Shape;959;p82"/>
          <p:cNvSpPr txBox="1"/>
          <p:nvPr/>
        </p:nvSpPr>
        <p:spPr>
          <a:xfrm>
            <a:off x="5029200" y="1436700"/>
            <a:ext cx="1647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metres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miles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millilitres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centimetres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82"/>
          <p:cNvSpPr txBox="1"/>
          <p:nvPr/>
        </p:nvSpPr>
        <p:spPr>
          <a:xfrm>
            <a:off x="6858000" y="1436700"/>
            <a:ext cx="1851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inches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kilograms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feet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hands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kilowatts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metric tonnes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1" name="Google Shape;961;p82"/>
          <p:cNvGraphicFramePr/>
          <p:nvPr/>
        </p:nvGraphicFramePr>
        <p:xfrm>
          <a:off x="762000" y="13718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1739100"/>
                <a:gridCol w="173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metric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imperial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83"/>
          <p:cNvSpPr txBox="1"/>
          <p:nvPr>
            <p:ph idx="1" type="body"/>
          </p:nvPr>
        </p:nvSpPr>
        <p:spPr>
          <a:xfrm>
            <a:off x="324000" y="759300"/>
            <a:ext cx="8237700" cy="41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/>
              <a:t>Sort</a:t>
            </a:r>
            <a:r>
              <a:rPr lang="en-GB"/>
              <a:t> the </a:t>
            </a:r>
            <a:r>
              <a:rPr b="1" lang="en-GB"/>
              <a:t>imperial</a:t>
            </a:r>
            <a:r>
              <a:rPr lang="en-GB"/>
              <a:t> units according to what they measure.</a:t>
            </a:r>
            <a:endParaRPr/>
          </a:p>
        </p:txBody>
      </p:sp>
      <p:sp>
        <p:nvSpPr>
          <p:cNvPr id="967" name="Google Shape;967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968" name="Google Shape;968;p83"/>
          <p:cNvSpPr txBox="1"/>
          <p:nvPr/>
        </p:nvSpPr>
        <p:spPr>
          <a:xfrm>
            <a:off x="5410200" y="1447800"/>
            <a:ext cx="1371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inches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stone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gallons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feet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pounds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3"/>
          <p:cNvSpPr txBox="1"/>
          <p:nvPr/>
        </p:nvSpPr>
        <p:spPr>
          <a:xfrm>
            <a:off x="7239000" y="1447800"/>
            <a:ext cx="1600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pints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yards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ounces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miles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fluid ounces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0" name="Google Shape;970;p83"/>
          <p:cNvGraphicFramePr/>
          <p:nvPr/>
        </p:nvGraphicFramePr>
        <p:xfrm>
          <a:off x="7620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1398350"/>
                <a:gridCol w="1398350"/>
                <a:gridCol w="1398350"/>
              </a:tblGrid>
              <a:tr h="4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capacity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Sort </a:t>
            </a:r>
            <a:r>
              <a:rPr lang="en-GB"/>
              <a:t>the units into the correct columns.</a:t>
            </a:r>
            <a:endParaRPr/>
          </a:p>
        </p:txBody>
      </p:sp>
      <p:sp>
        <p:nvSpPr>
          <p:cNvPr id="976" name="Google Shape;976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graphicFrame>
        <p:nvGraphicFramePr>
          <p:cNvPr id="977" name="Google Shape;977;p84"/>
          <p:cNvGraphicFramePr/>
          <p:nvPr/>
        </p:nvGraphicFramePr>
        <p:xfrm>
          <a:off x="762000" y="1448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1739100"/>
                <a:gridCol w="173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metric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imperial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metres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inches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kilograms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miles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millilitres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feet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centimetres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hands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kilowatts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acres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metric tonnes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tons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/>
              <a:t>Sort</a:t>
            </a:r>
            <a:r>
              <a:rPr lang="en-GB"/>
              <a:t> the </a:t>
            </a:r>
            <a:r>
              <a:rPr b="1" lang="en-GB"/>
              <a:t>imperial</a:t>
            </a:r>
            <a:r>
              <a:rPr lang="en-GB"/>
              <a:t> units according to what they measure.</a:t>
            </a:r>
            <a:endParaRPr/>
          </a:p>
        </p:txBody>
      </p:sp>
      <p:sp>
        <p:nvSpPr>
          <p:cNvPr id="983" name="Google Shape;983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graphicFrame>
        <p:nvGraphicFramePr>
          <p:cNvPr id="984" name="Google Shape;984;p85"/>
          <p:cNvGraphicFramePr/>
          <p:nvPr/>
        </p:nvGraphicFramePr>
        <p:xfrm>
          <a:off x="7620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1398350"/>
                <a:gridCol w="1398350"/>
                <a:gridCol w="1398350"/>
              </a:tblGrid>
              <a:tr h="45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capacity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inches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ounces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fluid ounces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yards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pounds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pints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feet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stone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gallons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47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miles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86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Understanding imperial units</a:t>
            </a:r>
            <a:endParaRPr/>
          </a:p>
        </p:txBody>
      </p:sp>
      <p:sp>
        <p:nvSpPr>
          <p:cNvPr id="990" name="Google Shape;990;p86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991" name="Google Shape;991;p8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imperial units</a:t>
            </a:r>
            <a:endParaRPr/>
          </a:p>
        </p:txBody>
      </p:sp>
      <p:pic>
        <p:nvPicPr>
          <p:cNvPr id="992" name="Google Shape;99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25" y="300555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7"/>
          <p:cNvSpPr txBox="1"/>
          <p:nvPr>
            <p:ph idx="1" type="body"/>
          </p:nvPr>
        </p:nvSpPr>
        <p:spPr>
          <a:xfrm>
            <a:off x="324000" y="759300"/>
            <a:ext cx="84960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I</a:t>
            </a:r>
            <a:r>
              <a:rPr b="1" lang="en-GB"/>
              <a:t>mperial</a:t>
            </a:r>
            <a:r>
              <a:rPr lang="en-GB"/>
              <a:t> measures use </a:t>
            </a:r>
            <a:r>
              <a:rPr lang="en-GB">
                <a:solidFill>
                  <a:schemeClr val="accent5"/>
                </a:solidFill>
              </a:rPr>
              <a:t>different multipliers </a:t>
            </a:r>
            <a:r>
              <a:rPr lang="en-GB"/>
              <a:t>to convert between </a:t>
            </a:r>
            <a:r>
              <a:rPr lang="en-GB"/>
              <a:t>different units.</a:t>
            </a:r>
            <a:endParaRPr/>
          </a:p>
        </p:txBody>
      </p:sp>
      <p:sp>
        <p:nvSpPr>
          <p:cNvPr id="998" name="Google Shape;99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999" name="Google Shape;999;p87"/>
          <p:cNvSpPr txBox="1"/>
          <p:nvPr>
            <p:ph idx="1" type="body"/>
          </p:nvPr>
        </p:nvSpPr>
        <p:spPr>
          <a:xfrm>
            <a:off x="324000" y="1662625"/>
            <a:ext cx="8237700" cy="16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</a:t>
            </a:r>
            <a:r>
              <a:rPr lang="en-GB">
                <a:solidFill>
                  <a:schemeClr val="accent5"/>
                </a:solidFill>
              </a:rPr>
              <a:t>unlike</a:t>
            </a:r>
            <a:r>
              <a:rPr lang="en-GB"/>
              <a:t> </a:t>
            </a:r>
            <a:r>
              <a:rPr lang="en-GB"/>
              <a:t>the metric system, where we convert between units by multiplying or dividing by 10, 100 or 1000.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It is more like when we convert between different units of time (although units of time are </a:t>
            </a:r>
            <a:r>
              <a:rPr lang="en-GB">
                <a:solidFill>
                  <a:schemeClr val="accent5"/>
                </a:solidFill>
              </a:rPr>
              <a:t>not</a:t>
            </a:r>
            <a:r>
              <a:rPr lang="en-GB"/>
              <a:t> </a:t>
            </a:r>
            <a:r>
              <a:rPr b="1" lang="en-GB"/>
              <a:t>imperial</a:t>
            </a:r>
            <a:r>
              <a:rPr lang="en-GB"/>
              <a:t>).</a:t>
            </a:r>
            <a:endParaRPr/>
          </a:p>
        </p:txBody>
      </p:sp>
      <p:graphicFrame>
        <p:nvGraphicFramePr>
          <p:cNvPr id="1000" name="Google Shape;1000;p87"/>
          <p:cNvGraphicFramePr/>
          <p:nvPr/>
        </p:nvGraphicFramePr>
        <p:xfrm>
          <a:off x="1754375" y="384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1127050"/>
                <a:gridCol w="1127050"/>
                <a:gridCol w="1127050"/>
                <a:gridCol w="1127050"/>
                <a:gridCol w="1127050"/>
              </a:tblGrid>
              <a:tr h="42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days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2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1" name="Google Shape;1001;p87"/>
          <p:cNvSpPr txBox="1"/>
          <p:nvPr>
            <p:ph idx="1" type="body"/>
          </p:nvPr>
        </p:nvSpPr>
        <p:spPr>
          <a:xfrm>
            <a:off x="2682900" y="3476763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7</a:t>
            </a:r>
            <a:endParaRPr sz="1800"/>
          </a:p>
        </p:txBody>
      </p:sp>
      <p:sp>
        <p:nvSpPr>
          <p:cNvPr id="1002" name="Google Shape;1002;p87"/>
          <p:cNvSpPr txBox="1"/>
          <p:nvPr>
            <p:ph idx="1" type="body"/>
          </p:nvPr>
        </p:nvSpPr>
        <p:spPr>
          <a:xfrm>
            <a:off x="3664150" y="3471413"/>
            <a:ext cx="4596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24</a:t>
            </a:r>
            <a:endParaRPr sz="1800"/>
          </a:p>
        </p:txBody>
      </p:sp>
      <p:sp>
        <p:nvSpPr>
          <p:cNvPr id="1003" name="Google Shape;1003;p87"/>
          <p:cNvSpPr txBox="1"/>
          <p:nvPr>
            <p:ph idx="1" type="body"/>
          </p:nvPr>
        </p:nvSpPr>
        <p:spPr>
          <a:xfrm>
            <a:off x="4791050" y="3471413"/>
            <a:ext cx="5343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60</a:t>
            </a:r>
            <a:endParaRPr sz="1800"/>
          </a:p>
        </p:txBody>
      </p:sp>
      <p:cxnSp>
        <p:nvCxnSpPr>
          <p:cNvPr id="1004" name="Google Shape;1004;p87"/>
          <p:cNvCxnSpPr/>
          <p:nvPr/>
        </p:nvCxnSpPr>
        <p:spPr>
          <a:xfrm>
            <a:off x="2606700" y="3763263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5" name="Google Shape;1005;p87"/>
          <p:cNvCxnSpPr/>
          <p:nvPr/>
        </p:nvCxnSpPr>
        <p:spPr>
          <a:xfrm>
            <a:off x="3678000" y="3763263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6" name="Google Shape;1006;p87"/>
          <p:cNvCxnSpPr/>
          <p:nvPr/>
        </p:nvCxnSpPr>
        <p:spPr>
          <a:xfrm>
            <a:off x="4804800" y="3763263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7" name="Google Shape;1007;p87"/>
          <p:cNvSpPr txBox="1"/>
          <p:nvPr>
            <p:ph idx="1" type="body"/>
          </p:nvPr>
        </p:nvSpPr>
        <p:spPr>
          <a:xfrm>
            <a:off x="5931600" y="3476763"/>
            <a:ext cx="5343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60</a:t>
            </a:r>
            <a:endParaRPr sz="1800"/>
          </a:p>
        </p:txBody>
      </p:sp>
      <p:cxnSp>
        <p:nvCxnSpPr>
          <p:cNvPr id="1008" name="Google Shape;1008;p87"/>
          <p:cNvCxnSpPr/>
          <p:nvPr/>
        </p:nvCxnSpPr>
        <p:spPr>
          <a:xfrm>
            <a:off x="5945350" y="3768613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88"/>
          <p:cNvSpPr txBox="1"/>
          <p:nvPr>
            <p:ph idx="1" type="body"/>
          </p:nvPr>
        </p:nvSpPr>
        <p:spPr>
          <a:xfrm>
            <a:off x="324000" y="759300"/>
            <a:ext cx="8496000" cy="24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Imperial</a:t>
            </a:r>
            <a:r>
              <a:rPr lang="en-GB"/>
              <a:t> measures use </a:t>
            </a:r>
            <a:r>
              <a:rPr lang="en-GB">
                <a:solidFill>
                  <a:schemeClr val="accent5"/>
                </a:solidFill>
              </a:rPr>
              <a:t>different multipliers </a:t>
            </a:r>
            <a:r>
              <a:rPr lang="en-GB"/>
              <a:t>to convert between different units.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Convert 5 feet to inches.</a:t>
            </a:r>
            <a:endParaRPr/>
          </a:p>
        </p:txBody>
      </p:sp>
      <p:sp>
        <p:nvSpPr>
          <p:cNvPr id="1014" name="Google Shape;1014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1015" name="Google Shape;1015;p88"/>
          <p:cNvSpPr txBox="1"/>
          <p:nvPr>
            <p:ph idx="1" type="body"/>
          </p:nvPr>
        </p:nvSpPr>
        <p:spPr>
          <a:xfrm>
            <a:off x="714525" y="3487250"/>
            <a:ext cx="2961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6" name="Google Shape;1016;p88"/>
          <p:cNvSpPr txBox="1"/>
          <p:nvPr>
            <p:ph idx="1" type="body"/>
          </p:nvPr>
        </p:nvSpPr>
        <p:spPr>
          <a:xfrm>
            <a:off x="1588025" y="3464488"/>
            <a:ext cx="6744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60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7" name="Google Shape;1017;p88"/>
          <p:cNvSpPr txBox="1"/>
          <p:nvPr>
            <p:ph idx="1" type="body"/>
          </p:nvPr>
        </p:nvSpPr>
        <p:spPr>
          <a:xfrm>
            <a:off x="728400" y="3995100"/>
            <a:ext cx="35916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feet = 60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inches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18" name="Google Shape;1018;p88"/>
          <p:cNvGraphicFramePr/>
          <p:nvPr/>
        </p:nvGraphicFramePr>
        <p:xfrm>
          <a:off x="4824000" y="272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999000"/>
                <a:gridCol w="999000"/>
                <a:gridCol w="999000"/>
                <a:gridCol w="99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yards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feet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inches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19" name="Google Shape;1019;p88"/>
          <p:cNvSpPr txBox="1"/>
          <p:nvPr>
            <p:ph idx="1" type="body"/>
          </p:nvPr>
        </p:nvSpPr>
        <p:spPr>
          <a:xfrm>
            <a:off x="5403975" y="2355850"/>
            <a:ext cx="7872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1760</a:t>
            </a:r>
            <a:endParaRPr sz="1800"/>
          </a:p>
        </p:txBody>
      </p:sp>
      <p:sp>
        <p:nvSpPr>
          <p:cNvPr id="1020" name="Google Shape;1020;p88"/>
          <p:cNvSpPr txBox="1"/>
          <p:nvPr>
            <p:ph idx="1" type="body"/>
          </p:nvPr>
        </p:nvSpPr>
        <p:spPr>
          <a:xfrm>
            <a:off x="6623350" y="2360025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3</a:t>
            </a:r>
            <a:endParaRPr sz="1800"/>
          </a:p>
        </p:txBody>
      </p:sp>
      <p:sp>
        <p:nvSpPr>
          <p:cNvPr id="1021" name="Google Shape;1021;p88"/>
          <p:cNvSpPr txBox="1"/>
          <p:nvPr>
            <p:ph idx="1" type="body"/>
          </p:nvPr>
        </p:nvSpPr>
        <p:spPr>
          <a:xfrm>
            <a:off x="7521650" y="23505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12</a:t>
            </a:r>
            <a:endParaRPr sz="1800"/>
          </a:p>
        </p:txBody>
      </p:sp>
      <p:sp>
        <p:nvSpPr>
          <p:cNvPr id="1022" name="Google Shape;1022;p88"/>
          <p:cNvSpPr txBox="1"/>
          <p:nvPr>
            <p:ph idx="1" type="body"/>
          </p:nvPr>
        </p:nvSpPr>
        <p:spPr>
          <a:xfrm>
            <a:off x="7587950" y="38193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12</a:t>
            </a:r>
            <a:endParaRPr sz="1800"/>
          </a:p>
        </p:txBody>
      </p:sp>
      <p:sp>
        <p:nvSpPr>
          <p:cNvPr id="1023" name="Google Shape;1023;p88"/>
          <p:cNvSpPr txBox="1"/>
          <p:nvPr>
            <p:ph idx="1" type="body"/>
          </p:nvPr>
        </p:nvSpPr>
        <p:spPr>
          <a:xfrm>
            <a:off x="6637200" y="38193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3</a:t>
            </a:r>
            <a:endParaRPr sz="1800"/>
          </a:p>
        </p:txBody>
      </p:sp>
      <p:sp>
        <p:nvSpPr>
          <p:cNvPr id="1024" name="Google Shape;1024;p88"/>
          <p:cNvSpPr txBox="1"/>
          <p:nvPr>
            <p:ph idx="1" type="body"/>
          </p:nvPr>
        </p:nvSpPr>
        <p:spPr>
          <a:xfrm>
            <a:off x="5468250" y="3819350"/>
            <a:ext cx="7872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1760</a:t>
            </a:r>
            <a:endParaRPr sz="1800"/>
          </a:p>
        </p:txBody>
      </p:sp>
      <p:cxnSp>
        <p:nvCxnSpPr>
          <p:cNvPr id="1025" name="Google Shape;1025;p88"/>
          <p:cNvCxnSpPr/>
          <p:nvPr/>
        </p:nvCxnSpPr>
        <p:spPr>
          <a:xfrm>
            <a:off x="5489700" y="26804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6" name="Google Shape;1026;p88"/>
          <p:cNvCxnSpPr/>
          <p:nvPr/>
        </p:nvCxnSpPr>
        <p:spPr>
          <a:xfrm>
            <a:off x="6484800" y="26804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7" name="Google Shape;1027;p88"/>
          <p:cNvCxnSpPr/>
          <p:nvPr/>
        </p:nvCxnSpPr>
        <p:spPr>
          <a:xfrm>
            <a:off x="7459200" y="26804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8" name="Google Shape;1028;p88"/>
          <p:cNvCxnSpPr/>
          <p:nvPr/>
        </p:nvCxnSpPr>
        <p:spPr>
          <a:xfrm>
            <a:off x="5511400" y="37431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29" name="Google Shape;1029;p88"/>
          <p:cNvCxnSpPr/>
          <p:nvPr/>
        </p:nvCxnSpPr>
        <p:spPr>
          <a:xfrm>
            <a:off x="6506500" y="37431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30" name="Google Shape;1030;p88"/>
          <p:cNvCxnSpPr/>
          <p:nvPr/>
        </p:nvCxnSpPr>
        <p:spPr>
          <a:xfrm>
            <a:off x="7480900" y="37431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31" name="Google Shape;1031;p88"/>
          <p:cNvSpPr txBox="1"/>
          <p:nvPr>
            <p:ph idx="1" type="body"/>
          </p:nvPr>
        </p:nvSpPr>
        <p:spPr>
          <a:xfrm>
            <a:off x="6913550" y="3291150"/>
            <a:ext cx="5541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2" name="Google Shape;1032;p88"/>
          <p:cNvSpPr/>
          <p:nvPr/>
        </p:nvSpPr>
        <p:spPr>
          <a:xfrm>
            <a:off x="7296300" y="2297500"/>
            <a:ext cx="1000200" cy="399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8"/>
          <p:cNvSpPr txBox="1"/>
          <p:nvPr>
            <p:ph idx="1" type="body"/>
          </p:nvPr>
        </p:nvSpPr>
        <p:spPr>
          <a:xfrm>
            <a:off x="7941650" y="3291150"/>
            <a:ext cx="5541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4" name="Google Shape;1034;p88"/>
          <p:cNvSpPr txBox="1"/>
          <p:nvPr>
            <p:ph idx="1" type="body"/>
          </p:nvPr>
        </p:nvSpPr>
        <p:spPr>
          <a:xfrm>
            <a:off x="1010625" y="3487250"/>
            <a:ext cx="7248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× 12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89"/>
          <p:cNvSpPr txBox="1"/>
          <p:nvPr>
            <p:ph idx="1" type="body"/>
          </p:nvPr>
        </p:nvSpPr>
        <p:spPr>
          <a:xfrm>
            <a:off x="324000" y="759300"/>
            <a:ext cx="8496000" cy="243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Imperial</a:t>
            </a:r>
            <a:r>
              <a:rPr lang="en-GB"/>
              <a:t> measures use </a:t>
            </a:r>
            <a:r>
              <a:rPr lang="en-GB">
                <a:solidFill>
                  <a:schemeClr val="accent5"/>
                </a:solidFill>
              </a:rPr>
              <a:t>different multipliers </a:t>
            </a:r>
            <a:r>
              <a:rPr lang="en-GB"/>
              <a:t>to convert between different units.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Example: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Convert 140 pounds to stone.</a:t>
            </a:r>
            <a:endParaRPr/>
          </a:p>
        </p:txBody>
      </p:sp>
      <p:sp>
        <p:nvSpPr>
          <p:cNvPr id="1040" name="Google Shape;104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1041" name="Google Shape;1041;p89"/>
          <p:cNvSpPr txBox="1"/>
          <p:nvPr>
            <p:ph idx="1" type="body"/>
          </p:nvPr>
        </p:nvSpPr>
        <p:spPr>
          <a:xfrm>
            <a:off x="734075" y="3456375"/>
            <a:ext cx="5367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140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2" name="Google Shape;1042;p89"/>
          <p:cNvSpPr txBox="1"/>
          <p:nvPr>
            <p:ph idx="1" type="body"/>
          </p:nvPr>
        </p:nvSpPr>
        <p:spPr>
          <a:xfrm>
            <a:off x="1883875" y="3433613"/>
            <a:ext cx="6744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 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3" name="Google Shape;1043;p89"/>
          <p:cNvSpPr txBox="1"/>
          <p:nvPr>
            <p:ph idx="1" type="body"/>
          </p:nvPr>
        </p:nvSpPr>
        <p:spPr>
          <a:xfrm>
            <a:off x="473550" y="3995100"/>
            <a:ext cx="3117900" cy="3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140 pounds = 10 stone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44" name="Google Shape;1044;p89"/>
          <p:cNvGraphicFramePr/>
          <p:nvPr/>
        </p:nvGraphicFramePr>
        <p:xfrm>
          <a:off x="4824000" y="272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1332000"/>
                <a:gridCol w="1332000"/>
                <a:gridCol w="1332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stone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pounds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ounces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45" name="Google Shape;1045;p89"/>
          <p:cNvSpPr txBox="1"/>
          <p:nvPr>
            <p:ph idx="1" type="body"/>
          </p:nvPr>
        </p:nvSpPr>
        <p:spPr>
          <a:xfrm>
            <a:off x="5820700" y="2388600"/>
            <a:ext cx="5367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14</a:t>
            </a:r>
            <a:endParaRPr sz="1800"/>
          </a:p>
        </p:txBody>
      </p:sp>
      <p:sp>
        <p:nvSpPr>
          <p:cNvPr id="1046" name="Google Shape;1046;p89"/>
          <p:cNvSpPr txBox="1"/>
          <p:nvPr>
            <p:ph idx="1" type="body"/>
          </p:nvPr>
        </p:nvSpPr>
        <p:spPr>
          <a:xfrm>
            <a:off x="7216850" y="23886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16</a:t>
            </a:r>
            <a:endParaRPr sz="1800"/>
          </a:p>
        </p:txBody>
      </p:sp>
      <p:sp>
        <p:nvSpPr>
          <p:cNvPr id="1047" name="Google Shape;1047;p89"/>
          <p:cNvSpPr txBox="1"/>
          <p:nvPr>
            <p:ph idx="1" type="body"/>
          </p:nvPr>
        </p:nvSpPr>
        <p:spPr>
          <a:xfrm>
            <a:off x="7283150" y="38193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16</a:t>
            </a:r>
            <a:endParaRPr sz="1800"/>
          </a:p>
        </p:txBody>
      </p:sp>
      <p:sp>
        <p:nvSpPr>
          <p:cNvPr id="1048" name="Google Shape;1048;p89"/>
          <p:cNvSpPr txBox="1"/>
          <p:nvPr>
            <p:ph idx="1" type="body"/>
          </p:nvPr>
        </p:nvSpPr>
        <p:spPr>
          <a:xfrm>
            <a:off x="5951400" y="38193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14</a:t>
            </a:r>
            <a:endParaRPr sz="1800"/>
          </a:p>
        </p:txBody>
      </p:sp>
      <p:cxnSp>
        <p:nvCxnSpPr>
          <p:cNvPr id="1049" name="Google Shape;1049;p89"/>
          <p:cNvCxnSpPr/>
          <p:nvPr/>
        </p:nvCxnSpPr>
        <p:spPr>
          <a:xfrm>
            <a:off x="5799000" y="26804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0" name="Google Shape;1050;p89"/>
          <p:cNvCxnSpPr/>
          <p:nvPr/>
        </p:nvCxnSpPr>
        <p:spPr>
          <a:xfrm>
            <a:off x="7154400" y="26804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1" name="Google Shape;1051;p89"/>
          <p:cNvCxnSpPr/>
          <p:nvPr/>
        </p:nvCxnSpPr>
        <p:spPr>
          <a:xfrm>
            <a:off x="5820700" y="37431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52" name="Google Shape;1052;p89"/>
          <p:cNvCxnSpPr/>
          <p:nvPr/>
        </p:nvCxnSpPr>
        <p:spPr>
          <a:xfrm>
            <a:off x="7176100" y="37431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53" name="Google Shape;1053;p89"/>
          <p:cNvSpPr txBox="1"/>
          <p:nvPr>
            <p:ph idx="1" type="body"/>
          </p:nvPr>
        </p:nvSpPr>
        <p:spPr>
          <a:xfrm>
            <a:off x="6256800" y="3285150"/>
            <a:ext cx="5541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4" name="Google Shape;1054;p89"/>
          <p:cNvSpPr txBox="1"/>
          <p:nvPr>
            <p:ph idx="1" type="body"/>
          </p:nvPr>
        </p:nvSpPr>
        <p:spPr>
          <a:xfrm>
            <a:off x="4893650" y="3285150"/>
            <a:ext cx="5541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5" name="Google Shape;1055;p89"/>
          <p:cNvSpPr/>
          <p:nvPr/>
        </p:nvSpPr>
        <p:spPr>
          <a:xfrm>
            <a:off x="5657800" y="3703800"/>
            <a:ext cx="1000200" cy="489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9"/>
          <p:cNvSpPr txBox="1"/>
          <p:nvPr>
            <p:ph idx="1" type="body"/>
          </p:nvPr>
        </p:nvSpPr>
        <p:spPr>
          <a:xfrm>
            <a:off x="1230275" y="3456375"/>
            <a:ext cx="724800" cy="40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÷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14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9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the smallest unit of length.</a:t>
            </a:r>
            <a:endParaRPr/>
          </a:p>
        </p:txBody>
      </p:sp>
      <p:sp>
        <p:nvSpPr>
          <p:cNvPr id="1062" name="Google Shape;1062;p9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1063" name="Google Shape;1063;p9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yard</a:t>
            </a:r>
            <a:endParaRPr/>
          </a:p>
        </p:txBody>
      </p:sp>
      <p:sp>
        <p:nvSpPr>
          <p:cNvPr id="1064" name="Google Shape;1064;p9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foot</a:t>
            </a:r>
            <a:endParaRPr/>
          </a:p>
        </p:txBody>
      </p:sp>
      <p:sp>
        <p:nvSpPr>
          <p:cNvPr id="1065" name="Google Shape;1065;p9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inch</a:t>
            </a:r>
            <a:endParaRPr/>
          </a:p>
        </p:txBody>
      </p:sp>
      <p:sp>
        <p:nvSpPr>
          <p:cNvPr id="1066" name="Google Shape;1066;p9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mile</a:t>
            </a:r>
            <a:endParaRPr/>
          </a:p>
        </p:txBody>
      </p:sp>
      <p:pic>
        <p:nvPicPr>
          <p:cNvPr id="1067" name="Google Shape;106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708" y="3296000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8" name="Google Shape;1068;p90"/>
          <p:cNvGraphicFramePr/>
          <p:nvPr/>
        </p:nvGraphicFramePr>
        <p:xfrm>
          <a:off x="42906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999000"/>
                <a:gridCol w="999000"/>
                <a:gridCol w="999000"/>
                <a:gridCol w="99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yards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feet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inches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69" name="Google Shape;1069;p90"/>
          <p:cNvSpPr txBox="1"/>
          <p:nvPr>
            <p:ph idx="4294967295" type="body"/>
          </p:nvPr>
        </p:nvSpPr>
        <p:spPr>
          <a:xfrm>
            <a:off x="4880100" y="1784350"/>
            <a:ext cx="7872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1760</a:t>
            </a:r>
            <a:endParaRPr sz="1800"/>
          </a:p>
        </p:txBody>
      </p:sp>
      <p:sp>
        <p:nvSpPr>
          <p:cNvPr id="1070" name="Google Shape;1070;p90"/>
          <p:cNvSpPr txBox="1"/>
          <p:nvPr>
            <p:ph idx="4294967295" type="body"/>
          </p:nvPr>
        </p:nvSpPr>
        <p:spPr>
          <a:xfrm>
            <a:off x="6089950" y="17790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3</a:t>
            </a:r>
            <a:endParaRPr sz="1800"/>
          </a:p>
        </p:txBody>
      </p:sp>
      <p:sp>
        <p:nvSpPr>
          <p:cNvPr id="1071" name="Google Shape;1071;p90"/>
          <p:cNvSpPr txBox="1"/>
          <p:nvPr>
            <p:ph idx="4294967295" type="body"/>
          </p:nvPr>
        </p:nvSpPr>
        <p:spPr>
          <a:xfrm>
            <a:off x="6988250" y="17790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12</a:t>
            </a:r>
            <a:endParaRPr sz="1800"/>
          </a:p>
        </p:txBody>
      </p:sp>
      <p:sp>
        <p:nvSpPr>
          <p:cNvPr id="1072" name="Google Shape;1072;p90"/>
          <p:cNvSpPr txBox="1"/>
          <p:nvPr>
            <p:ph idx="4294967295" type="body"/>
          </p:nvPr>
        </p:nvSpPr>
        <p:spPr>
          <a:xfrm>
            <a:off x="7054550" y="32859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12</a:t>
            </a:r>
            <a:endParaRPr sz="1800"/>
          </a:p>
        </p:txBody>
      </p:sp>
      <p:sp>
        <p:nvSpPr>
          <p:cNvPr id="1073" name="Google Shape;1073;p90"/>
          <p:cNvSpPr txBox="1"/>
          <p:nvPr>
            <p:ph idx="4294967295" type="body"/>
          </p:nvPr>
        </p:nvSpPr>
        <p:spPr>
          <a:xfrm>
            <a:off x="6103800" y="32859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3</a:t>
            </a:r>
            <a:endParaRPr sz="1800"/>
          </a:p>
        </p:txBody>
      </p:sp>
      <p:sp>
        <p:nvSpPr>
          <p:cNvPr id="1074" name="Google Shape;1074;p90"/>
          <p:cNvSpPr txBox="1"/>
          <p:nvPr>
            <p:ph idx="4294967295" type="body"/>
          </p:nvPr>
        </p:nvSpPr>
        <p:spPr>
          <a:xfrm>
            <a:off x="5011050" y="3285950"/>
            <a:ext cx="7872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1760</a:t>
            </a:r>
            <a:endParaRPr sz="1800"/>
          </a:p>
        </p:txBody>
      </p:sp>
      <p:cxnSp>
        <p:nvCxnSpPr>
          <p:cNvPr id="1075" name="Google Shape;1075;p90"/>
          <p:cNvCxnSpPr/>
          <p:nvPr/>
        </p:nvCxnSpPr>
        <p:spPr>
          <a:xfrm>
            <a:off x="4956300" y="21470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6" name="Google Shape;1076;p90"/>
          <p:cNvCxnSpPr/>
          <p:nvPr/>
        </p:nvCxnSpPr>
        <p:spPr>
          <a:xfrm>
            <a:off x="5951400" y="21470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7" name="Google Shape;1077;p90"/>
          <p:cNvCxnSpPr/>
          <p:nvPr/>
        </p:nvCxnSpPr>
        <p:spPr>
          <a:xfrm>
            <a:off x="6925800" y="21470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8" name="Google Shape;1078;p90"/>
          <p:cNvCxnSpPr/>
          <p:nvPr/>
        </p:nvCxnSpPr>
        <p:spPr>
          <a:xfrm>
            <a:off x="4978000" y="32097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79" name="Google Shape;1079;p90"/>
          <p:cNvCxnSpPr/>
          <p:nvPr/>
        </p:nvCxnSpPr>
        <p:spPr>
          <a:xfrm>
            <a:off x="5973100" y="32097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80" name="Google Shape;1080;p90"/>
          <p:cNvCxnSpPr/>
          <p:nvPr/>
        </p:nvCxnSpPr>
        <p:spPr>
          <a:xfrm>
            <a:off x="6947500" y="32097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9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1 mile into yards.</a:t>
            </a:r>
            <a:endParaRPr/>
          </a:p>
        </p:txBody>
      </p:sp>
      <p:sp>
        <p:nvSpPr>
          <p:cNvPr id="1086" name="Google Shape;1086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1087" name="Google Shape;1087;p91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100 yards</a:t>
            </a:r>
            <a:endParaRPr/>
          </a:p>
        </p:txBody>
      </p:sp>
      <p:sp>
        <p:nvSpPr>
          <p:cNvPr id="1088" name="Google Shape;1088;p91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1000 yards</a:t>
            </a:r>
            <a:endParaRPr/>
          </a:p>
        </p:txBody>
      </p:sp>
      <p:sp>
        <p:nvSpPr>
          <p:cNvPr id="1089" name="Google Shape;1089;p91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1760 yards</a:t>
            </a:r>
            <a:endParaRPr/>
          </a:p>
        </p:txBody>
      </p:sp>
      <p:pic>
        <p:nvPicPr>
          <p:cNvPr id="1090" name="Google Shape;109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2000" y="3771900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91" name="Google Shape;1091;p91"/>
          <p:cNvGraphicFramePr/>
          <p:nvPr/>
        </p:nvGraphicFramePr>
        <p:xfrm>
          <a:off x="42906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999000"/>
                <a:gridCol w="999000"/>
                <a:gridCol w="999000"/>
                <a:gridCol w="99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yards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feet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inches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92" name="Google Shape;1092;p91"/>
          <p:cNvSpPr txBox="1"/>
          <p:nvPr>
            <p:ph idx="4294967295" type="body"/>
          </p:nvPr>
        </p:nvSpPr>
        <p:spPr>
          <a:xfrm>
            <a:off x="4880100" y="1784350"/>
            <a:ext cx="7506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1760</a:t>
            </a:r>
            <a:endParaRPr sz="1800"/>
          </a:p>
        </p:txBody>
      </p:sp>
      <p:sp>
        <p:nvSpPr>
          <p:cNvPr id="1093" name="Google Shape;1093;p91"/>
          <p:cNvSpPr txBox="1"/>
          <p:nvPr>
            <p:ph idx="4294967295" type="body"/>
          </p:nvPr>
        </p:nvSpPr>
        <p:spPr>
          <a:xfrm>
            <a:off x="6089950" y="17790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3</a:t>
            </a:r>
            <a:endParaRPr sz="1800"/>
          </a:p>
        </p:txBody>
      </p:sp>
      <p:sp>
        <p:nvSpPr>
          <p:cNvPr id="1094" name="Google Shape;1094;p91"/>
          <p:cNvSpPr txBox="1"/>
          <p:nvPr>
            <p:ph idx="4294967295" type="body"/>
          </p:nvPr>
        </p:nvSpPr>
        <p:spPr>
          <a:xfrm>
            <a:off x="6988250" y="17790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12</a:t>
            </a:r>
            <a:endParaRPr sz="1800"/>
          </a:p>
        </p:txBody>
      </p:sp>
      <p:sp>
        <p:nvSpPr>
          <p:cNvPr id="1095" name="Google Shape;1095;p91"/>
          <p:cNvSpPr txBox="1"/>
          <p:nvPr>
            <p:ph idx="4294967295" type="body"/>
          </p:nvPr>
        </p:nvSpPr>
        <p:spPr>
          <a:xfrm>
            <a:off x="7054550" y="32859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12</a:t>
            </a:r>
            <a:endParaRPr sz="1800"/>
          </a:p>
        </p:txBody>
      </p:sp>
      <p:sp>
        <p:nvSpPr>
          <p:cNvPr id="1096" name="Google Shape;1096;p91"/>
          <p:cNvSpPr txBox="1"/>
          <p:nvPr>
            <p:ph idx="4294967295" type="body"/>
          </p:nvPr>
        </p:nvSpPr>
        <p:spPr>
          <a:xfrm>
            <a:off x="6103800" y="32859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3</a:t>
            </a:r>
            <a:endParaRPr sz="1800"/>
          </a:p>
        </p:txBody>
      </p:sp>
      <p:sp>
        <p:nvSpPr>
          <p:cNvPr id="1097" name="Google Shape;1097;p91"/>
          <p:cNvSpPr txBox="1"/>
          <p:nvPr>
            <p:ph idx="4294967295" type="body"/>
          </p:nvPr>
        </p:nvSpPr>
        <p:spPr>
          <a:xfrm>
            <a:off x="5011050" y="3285950"/>
            <a:ext cx="7872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1760</a:t>
            </a:r>
            <a:endParaRPr sz="1800"/>
          </a:p>
        </p:txBody>
      </p:sp>
      <p:cxnSp>
        <p:nvCxnSpPr>
          <p:cNvPr id="1098" name="Google Shape;1098;p91"/>
          <p:cNvCxnSpPr/>
          <p:nvPr/>
        </p:nvCxnSpPr>
        <p:spPr>
          <a:xfrm>
            <a:off x="4956300" y="21470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9" name="Google Shape;1099;p91"/>
          <p:cNvCxnSpPr/>
          <p:nvPr/>
        </p:nvCxnSpPr>
        <p:spPr>
          <a:xfrm>
            <a:off x="5951400" y="21470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0" name="Google Shape;1100;p91"/>
          <p:cNvCxnSpPr/>
          <p:nvPr/>
        </p:nvCxnSpPr>
        <p:spPr>
          <a:xfrm>
            <a:off x="6925800" y="21470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1" name="Google Shape;1101;p91"/>
          <p:cNvCxnSpPr/>
          <p:nvPr/>
        </p:nvCxnSpPr>
        <p:spPr>
          <a:xfrm>
            <a:off x="4978000" y="32097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02" name="Google Shape;1102;p91"/>
          <p:cNvCxnSpPr/>
          <p:nvPr/>
        </p:nvCxnSpPr>
        <p:spPr>
          <a:xfrm>
            <a:off x="5973100" y="32097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03" name="Google Shape;1103;p91"/>
          <p:cNvCxnSpPr/>
          <p:nvPr/>
        </p:nvCxnSpPr>
        <p:spPr>
          <a:xfrm>
            <a:off x="6947500" y="32097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9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6 yards to feet.</a:t>
            </a:r>
            <a:endParaRPr/>
          </a:p>
        </p:txBody>
      </p:sp>
      <p:sp>
        <p:nvSpPr>
          <p:cNvPr id="1109" name="Google Shape;1109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1110" name="Google Shape;1110;p9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 feet</a:t>
            </a:r>
            <a:endParaRPr/>
          </a:p>
        </p:txBody>
      </p:sp>
      <p:sp>
        <p:nvSpPr>
          <p:cNvPr id="1111" name="Google Shape;1111;p9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18 feet</a:t>
            </a:r>
            <a:endParaRPr/>
          </a:p>
        </p:txBody>
      </p:sp>
      <p:sp>
        <p:nvSpPr>
          <p:cNvPr id="1112" name="Google Shape;1112;p9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48</a:t>
            </a:r>
            <a:r>
              <a:rPr lang="en-GB"/>
              <a:t> feet</a:t>
            </a:r>
            <a:endParaRPr/>
          </a:p>
        </p:txBody>
      </p:sp>
      <p:sp>
        <p:nvSpPr>
          <p:cNvPr id="1113" name="Google Shape;1113;p9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600</a:t>
            </a:r>
            <a:r>
              <a:rPr lang="en-GB"/>
              <a:t> feet</a:t>
            </a:r>
            <a:endParaRPr/>
          </a:p>
        </p:txBody>
      </p:sp>
      <p:pic>
        <p:nvPicPr>
          <p:cNvPr id="1114" name="Google Shape;111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2400" y="2438400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5" name="Google Shape;1115;p92"/>
          <p:cNvGraphicFramePr/>
          <p:nvPr/>
        </p:nvGraphicFramePr>
        <p:xfrm>
          <a:off x="42906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999000"/>
                <a:gridCol w="999000"/>
                <a:gridCol w="999000"/>
                <a:gridCol w="99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yards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feet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inches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6" name="Google Shape;1116;p92"/>
          <p:cNvSpPr txBox="1"/>
          <p:nvPr>
            <p:ph idx="4294967295" type="body"/>
          </p:nvPr>
        </p:nvSpPr>
        <p:spPr>
          <a:xfrm>
            <a:off x="4880100" y="1784350"/>
            <a:ext cx="7506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1760</a:t>
            </a:r>
            <a:endParaRPr sz="1800"/>
          </a:p>
        </p:txBody>
      </p:sp>
      <p:sp>
        <p:nvSpPr>
          <p:cNvPr id="1117" name="Google Shape;1117;p92"/>
          <p:cNvSpPr txBox="1"/>
          <p:nvPr>
            <p:ph idx="4294967295" type="body"/>
          </p:nvPr>
        </p:nvSpPr>
        <p:spPr>
          <a:xfrm>
            <a:off x="6089950" y="17790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3</a:t>
            </a:r>
            <a:endParaRPr sz="1800"/>
          </a:p>
        </p:txBody>
      </p:sp>
      <p:sp>
        <p:nvSpPr>
          <p:cNvPr id="1118" name="Google Shape;1118;p92"/>
          <p:cNvSpPr txBox="1"/>
          <p:nvPr>
            <p:ph idx="4294967295" type="body"/>
          </p:nvPr>
        </p:nvSpPr>
        <p:spPr>
          <a:xfrm>
            <a:off x="6988250" y="17790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12</a:t>
            </a:r>
            <a:endParaRPr sz="1800"/>
          </a:p>
        </p:txBody>
      </p:sp>
      <p:sp>
        <p:nvSpPr>
          <p:cNvPr id="1119" name="Google Shape;1119;p92"/>
          <p:cNvSpPr txBox="1"/>
          <p:nvPr>
            <p:ph idx="4294967295" type="body"/>
          </p:nvPr>
        </p:nvSpPr>
        <p:spPr>
          <a:xfrm>
            <a:off x="7054550" y="32859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12</a:t>
            </a:r>
            <a:endParaRPr sz="1800"/>
          </a:p>
        </p:txBody>
      </p:sp>
      <p:sp>
        <p:nvSpPr>
          <p:cNvPr id="1120" name="Google Shape;1120;p92"/>
          <p:cNvSpPr txBox="1"/>
          <p:nvPr>
            <p:ph idx="4294967295" type="body"/>
          </p:nvPr>
        </p:nvSpPr>
        <p:spPr>
          <a:xfrm>
            <a:off x="6103800" y="32859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3</a:t>
            </a:r>
            <a:endParaRPr sz="1800"/>
          </a:p>
        </p:txBody>
      </p:sp>
      <p:sp>
        <p:nvSpPr>
          <p:cNvPr id="1121" name="Google Shape;1121;p92"/>
          <p:cNvSpPr txBox="1"/>
          <p:nvPr>
            <p:ph idx="4294967295" type="body"/>
          </p:nvPr>
        </p:nvSpPr>
        <p:spPr>
          <a:xfrm>
            <a:off x="5011050" y="3285950"/>
            <a:ext cx="7872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1760</a:t>
            </a:r>
            <a:endParaRPr sz="1800"/>
          </a:p>
        </p:txBody>
      </p:sp>
      <p:cxnSp>
        <p:nvCxnSpPr>
          <p:cNvPr id="1122" name="Google Shape;1122;p92"/>
          <p:cNvCxnSpPr/>
          <p:nvPr/>
        </p:nvCxnSpPr>
        <p:spPr>
          <a:xfrm>
            <a:off x="4956300" y="21470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92"/>
          <p:cNvCxnSpPr/>
          <p:nvPr/>
        </p:nvCxnSpPr>
        <p:spPr>
          <a:xfrm>
            <a:off x="5951400" y="21470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4" name="Google Shape;1124;p92"/>
          <p:cNvCxnSpPr/>
          <p:nvPr/>
        </p:nvCxnSpPr>
        <p:spPr>
          <a:xfrm>
            <a:off x="6925800" y="21470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5" name="Google Shape;1125;p92"/>
          <p:cNvCxnSpPr/>
          <p:nvPr/>
        </p:nvCxnSpPr>
        <p:spPr>
          <a:xfrm>
            <a:off x="4978000" y="32097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26" name="Google Shape;1126;p92"/>
          <p:cNvCxnSpPr/>
          <p:nvPr/>
        </p:nvCxnSpPr>
        <p:spPr>
          <a:xfrm>
            <a:off x="5973100" y="32097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27" name="Google Shape;1127;p92"/>
          <p:cNvCxnSpPr/>
          <p:nvPr/>
        </p:nvCxnSpPr>
        <p:spPr>
          <a:xfrm>
            <a:off x="6947500" y="32097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9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6 feet to yards.</a:t>
            </a:r>
            <a:endParaRPr/>
          </a:p>
        </p:txBody>
      </p:sp>
      <p:sp>
        <p:nvSpPr>
          <p:cNvPr id="1133" name="Google Shape;1133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1134" name="Google Shape;1134;p9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0.06 yards</a:t>
            </a:r>
            <a:endParaRPr/>
          </a:p>
        </p:txBody>
      </p:sp>
      <p:sp>
        <p:nvSpPr>
          <p:cNvPr id="1135" name="Google Shape;1135;p9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 yards</a:t>
            </a:r>
            <a:endParaRPr/>
          </a:p>
        </p:txBody>
      </p:sp>
      <p:sp>
        <p:nvSpPr>
          <p:cNvPr id="1136" name="Google Shape;1136;p9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18</a:t>
            </a:r>
            <a:r>
              <a:rPr lang="en-GB"/>
              <a:t> yards</a:t>
            </a:r>
            <a:endParaRPr/>
          </a:p>
        </p:txBody>
      </p:sp>
      <p:sp>
        <p:nvSpPr>
          <p:cNvPr id="1137" name="Google Shape;1137;p9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48 yards</a:t>
            </a:r>
            <a:endParaRPr/>
          </a:p>
        </p:txBody>
      </p:sp>
      <p:pic>
        <p:nvPicPr>
          <p:cNvPr id="1138" name="Google Shape;113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8250" y="2524638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9" name="Google Shape;1139;p93"/>
          <p:cNvGraphicFramePr/>
          <p:nvPr/>
        </p:nvGraphicFramePr>
        <p:xfrm>
          <a:off x="42906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999000"/>
                <a:gridCol w="999000"/>
                <a:gridCol w="999000"/>
                <a:gridCol w="99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yards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feet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inches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40" name="Google Shape;1140;p93"/>
          <p:cNvSpPr txBox="1"/>
          <p:nvPr>
            <p:ph idx="4294967295" type="body"/>
          </p:nvPr>
        </p:nvSpPr>
        <p:spPr>
          <a:xfrm>
            <a:off x="4880100" y="1784350"/>
            <a:ext cx="7506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1760</a:t>
            </a:r>
            <a:endParaRPr sz="1800"/>
          </a:p>
        </p:txBody>
      </p:sp>
      <p:sp>
        <p:nvSpPr>
          <p:cNvPr id="1141" name="Google Shape;1141;p93"/>
          <p:cNvSpPr txBox="1"/>
          <p:nvPr>
            <p:ph idx="4294967295" type="body"/>
          </p:nvPr>
        </p:nvSpPr>
        <p:spPr>
          <a:xfrm>
            <a:off x="6089950" y="17790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3</a:t>
            </a:r>
            <a:endParaRPr sz="1800"/>
          </a:p>
        </p:txBody>
      </p:sp>
      <p:sp>
        <p:nvSpPr>
          <p:cNvPr id="1142" name="Google Shape;1142;p93"/>
          <p:cNvSpPr txBox="1"/>
          <p:nvPr>
            <p:ph idx="4294967295" type="body"/>
          </p:nvPr>
        </p:nvSpPr>
        <p:spPr>
          <a:xfrm>
            <a:off x="6988250" y="17790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12</a:t>
            </a:r>
            <a:endParaRPr sz="1800"/>
          </a:p>
        </p:txBody>
      </p:sp>
      <p:sp>
        <p:nvSpPr>
          <p:cNvPr id="1143" name="Google Shape;1143;p93"/>
          <p:cNvSpPr txBox="1"/>
          <p:nvPr>
            <p:ph idx="4294967295" type="body"/>
          </p:nvPr>
        </p:nvSpPr>
        <p:spPr>
          <a:xfrm>
            <a:off x="7054550" y="32859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12</a:t>
            </a:r>
            <a:endParaRPr sz="1800"/>
          </a:p>
        </p:txBody>
      </p:sp>
      <p:sp>
        <p:nvSpPr>
          <p:cNvPr id="1144" name="Google Shape;1144;p93"/>
          <p:cNvSpPr txBox="1"/>
          <p:nvPr>
            <p:ph idx="4294967295" type="body"/>
          </p:nvPr>
        </p:nvSpPr>
        <p:spPr>
          <a:xfrm>
            <a:off x="6103800" y="32859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3</a:t>
            </a:r>
            <a:endParaRPr sz="1800"/>
          </a:p>
        </p:txBody>
      </p:sp>
      <p:sp>
        <p:nvSpPr>
          <p:cNvPr id="1145" name="Google Shape;1145;p93"/>
          <p:cNvSpPr txBox="1"/>
          <p:nvPr>
            <p:ph idx="4294967295" type="body"/>
          </p:nvPr>
        </p:nvSpPr>
        <p:spPr>
          <a:xfrm>
            <a:off x="5011050" y="3285950"/>
            <a:ext cx="7872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1760</a:t>
            </a:r>
            <a:endParaRPr sz="1800"/>
          </a:p>
        </p:txBody>
      </p:sp>
      <p:cxnSp>
        <p:nvCxnSpPr>
          <p:cNvPr id="1146" name="Google Shape;1146;p93"/>
          <p:cNvCxnSpPr/>
          <p:nvPr/>
        </p:nvCxnSpPr>
        <p:spPr>
          <a:xfrm>
            <a:off x="4956300" y="21470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7" name="Google Shape;1147;p93"/>
          <p:cNvCxnSpPr/>
          <p:nvPr/>
        </p:nvCxnSpPr>
        <p:spPr>
          <a:xfrm>
            <a:off x="5951400" y="21470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8" name="Google Shape;1148;p93"/>
          <p:cNvCxnSpPr/>
          <p:nvPr/>
        </p:nvCxnSpPr>
        <p:spPr>
          <a:xfrm>
            <a:off x="6925800" y="21470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9" name="Google Shape;1149;p93"/>
          <p:cNvCxnSpPr/>
          <p:nvPr/>
        </p:nvCxnSpPr>
        <p:spPr>
          <a:xfrm>
            <a:off x="4978000" y="32097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50" name="Google Shape;1150;p93"/>
          <p:cNvCxnSpPr/>
          <p:nvPr/>
        </p:nvCxnSpPr>
        <p:spPr>
          <a:xfrm>
            <a:off x="5973100" y="32097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51" name="Google Shape;1151;p93"/>
          <p:cNvCxnSpPr/>
          <p:nvPr/>
        </p:nvCxnSpPr>
        <p:spPr>
          <a:xfrm>
            <a:off x="6947500" y="3209750"/>
            <a:ext cx="674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94"/>
          <p:cNvSpPr txBox="1"/>
          <p:nvPr>
            <p:ph idx="1" type="body"/>
          </p:nvPr>
        </p:nvSpPr>
        <p:spPr>
          <a:xfrm>
            <a:off x="324000" y="759300"/>
            <a:ext cx="8168100" cy="181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Starting with the smallest, sort the</a:t>
            </a:r>
            <a:r>
              <a:rPr lang="en-GB"/>
              <a:t> </a:t>
            </a:r>
            <a:r>
              <a:rPr b="1" lang="en-GB"/>
              <a:t>imperial</a:t>
            </a:r>
            <a:r>
              <a:rPr lang="en-GB"/>
              <a:t> units in </a:t>
            </a:r>
            <a:r>
              <a:rPr lang="en-GB">
                <a:solidFill>
                  <a:schemeClr val="accent5"/>
                </a:solidFill>
              </a:rPr>
              <a:t>ascending</a:t>
            </a:r>
            <a:r>
              <a:rPr lang="en-GB"/>
              <a:t> order </a:t>
            </a:r>
            <a:r>
              <a:rPr lang="en-GB"/>
              <a:t>of size.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yards          miles          inches          feet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7" name="Google Shape;1157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1158" name="Google Shape;1158;p94"/>
          <p:cNvSpPr txBox="1"/>
          <p:nvPr/>
        </p:nvSpPr>
        <p:spPr>
          <a:xfrm>
            <a:off x="228600" y="2829000"/>
            <a:ext cx="826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Fill in the missing words.</a:t>
            </a:r>
            <a:endParaRPr/>
          </a:p>
        </p:txBody>
      </p:sp>
      <p:sp>
        <p:nvSpPr>
          <p:cNvPr id="1159" name="Google Shape;1159;p94"/>
          <p:cNvSpPr txBox="1"/>
          <p:nvPr/>
        </p:nvSpPr>
        <p:spPr>
          <a:xfrm>
            <a:off x="1441950" y="4396200"/>
            <a:ext cx="652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</a:t>
            </a: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ards    miles    inches    feet</a:t>
            </a:r>
            <a:endParaRPr/>
          </a:p>
        </p:txBody>
      </p:sp>
      <p:pic>
        <p:nvPicPr>
          <p:cNvPr id="1160" name="Google Shape;116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675" y="3352200"/>
            <a:ext cx="447344" cy="146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4"/>
          <p:cNvSpPr txBox="1"/>
          <p:nvPr/>
        </p:nvSpPr>
        <p:spPr>
          <a:xfrm>
            <a:off x="583050" y="3456000"/>
            <a:ext cx="8077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 is nearly six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tall. H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 travels to school by getting th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 bus for five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walking thirty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95"/>
          <p:cNvSpPr txBox="1"/>
          <p:nvPr>
            <p:ph idx="1" type="body"/>
          </p:nvPr>
        </p:nvSpPr>
        <p:spPr>
          <a:xfrm>
            <a:off x="324000" y="759300"/>
            <a:ext cx="8237700" cy="4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Use the information given to calculate the conversions.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	</a:t>
            </a:r>
            <a:endParaRPr/>
          </a:p>
        </p:txBody>
      </p:sp>
      <p:sp>
        <p:nvSpPr>
          <p:cNvPr id="1167" name="Google Shape;1167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1168" name="Google Shape;1168;p95"/>
          <p:cNvSpPr txBox="1"/>
          <p:nvPr/>
        </p:nvSpPr>
        <p:spPr>
          <a:xfrm>
            <a:off x="340925" y="1465275"/>
            <a:ext cx="5632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yards =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feet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feet =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yards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stone =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pounds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ounces =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pounds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yards =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inches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yards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1 foot =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inches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240 inches =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yards and </a:t>
            </a:r>
            <a:r>
              <a:rPr lang="en-GB" sz="20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feet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69" name="Google Shape;1169;p95"/>
          <p:cNvGraphicFramePr/>
          <p:nvPr/>
        </p:nvGraphicFramePr>
        <p:xfrm>
          <a:off x="60432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911250"/>
                <a:gridCol w="911250"/>
                <a:gridCol w="911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yards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feet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inches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70" name="Google Shape;1170;p95"/>
          <p:cNvSpPr txBox="1"/>
          <p:nvPr>
            <p:ph idx="4294967295" type="body"/>
          </p:nvPr>
        </p:nvSpPr>
        <p:spPr>
          <a:xfrm>
            <a:off x="6775750" y="13218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3</a:t>
            </a:r>
            <a:endParaRPr sz="1800"/>
          </a:p>
        </p:txBody>
      </p:sp>
      <p:sp>
        <p:nvSpPr>
          <p:cNvPr id="1171" name="Google Shape;1171;p95"/>
          <p:cNvSpPr txBox="1"/>
          <p:nvPr>
            <p:ph idx="4294967295" type="body"/>
          </p:nvPr>
        </p:nvSpPr>
        <p:spPr>
          <a:xfrm>
            <a:off x="7569275" y="132180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12   </a:t>
            </a:r>
            <a:endParaRPr sz="1800"/>
          </a:p>
        </p:txBody>
      </p:sp>
      <p:sp>
        <p:nvSpPr>
          <p:cNvPr id="1172" name="Google Shape;1172;p95"/>
          <p:cNvSpPr txBox="1"/>
          <p:nvPr>
            <p:ph idx="4294967295" type="body"/>
          </p:nvPr>
        </p:nvSpPr>
        <p:spPr>
          <a:xfrm>
            <a:off x="7721300" y="2571575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12</a:t>
            </a:r>
            <a:endParaRPr sz="1800"/>
          </a:p>
        </p:txBody>
      </p:sp>
      <p:sp>
        <p:nvSpPr>
          <p:cNvPr id="1173" name="Google Shape;1173;p95"/>
          <p:cNvSpPr txBox="1"/>
          <p:nvPr>
            <p:ph idx="4294967295" type="body"/>
          </p:nvPr>
        </p:nvSpPr>
        <p:spPr>
          <a:xfrm>
            <a:off x="6854900" y="2560575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3</a:t>
            </a:r>
            <a:endParaRPr sz="1800"/>
          </a:p>
        </p:txBody>
      </p:sp>
      <p:cxnSp>
        <p:nvCxnSpPr>
          <p:cNvPr id="1174" name="Google Shape;1174;p95"/>
          <p:cNvCxnSpPr/>
          <p:nvPr/>
        </p:nvCxnSpPr>
        <p:spPr>
          <a:xfrm>
            <a:off x="7597850" y="1579350"/>
            <a:ext cx="666900" cy="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175" name="Google Shape;1175;p95"/>
          <p:cNvGraphicFramePr/>
          <p:nvPr/>
        </p:nvGraphicFramePr>
        <p:xfrm>
          <a:off x="6043200" y="340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911250"/>
                <a:gridCol w="911250"/>
                <a:gridCol w="911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stone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pounds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ounces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76" name="Google Shape;1176;p95"/>
          <p:cNvSpPr txBox="1"/>
          <p:nvPr>
            <p:ph idx="4294967295" type="body"/>
          </p:nvPr>
        </p:nvSpPr>
        <p:spPr>
          <a:xfrm>
            <a:off x="6675000" y="307440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× 14</a:t>
            </a:r>
            <a:endParaRPr sz="1600"/>
          </a:p>
        </p:txBody>
      </p:sp>
      <p:sp>
        <p:nvSpPr>
          <p:cNvPr id="1177" name="Google Shape;1177;p95"/>
          <p:cNvSpPr txBox="1"/>
          <p:nvPr>
            <p:ph idx="4294967295" type="body"/>
          </p:nvPr>
        </p:nvSpPr>
        <p:spPr>
          <a:xfrm>
            <a:off x="7569275" y="30744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× 16</a:t>
            </a:r>
            <a:endParaRPr sz="1600"/>
          </a:p>
        </p:txBody>
      </p:sp>
      <p:sp>
        <p:nvSpPr>
          <p:cNvPr id="1178" name="Google Shape;1178;p95"/>
          <p:cNvSpPr txBox="1"/>
          <p:nvPr>
            <p:ph idx="4294967295" type="body"/>
          </p:nvPr>
        </p:nvSpPr>
        <p:spPr>
          <a:xfrm>
            <a:off x="7740350" y="42765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16</a:t>
            </a:r>
            <a:endParaRPr sz="1800"/>
          </a:p>
        </p:txBody>
      </p:sp>
      <p:sp>
        <p:nvSpPr>
          <p:cNvPr id="1179" name="Google Shape;1179;p95"/>
          <p:cNvSpPr txBox="1"/>
          <p:nvPr>
            <p:ph idx="4294967295" type="body"/>
          </p:nvPr>
        </p:nvSpPr>
        <p:spPr>
          <a:xfrm>
            <a:off x="6865800" y="42765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14</a:t>
            </a:r>
            <a:endParaRPr sz="1800"/>
          </a:p>
        </p:txBody>
      </p:sp>
      <p:cxnSp>
        <p:nvCxnSpPr>
          <p:cNvPr id="1180" name="Google Shape;1180;p95"/>
          <p:cNvCxnSpPr/>
          <p:nvPr/>
        </p:nvCxnSpPr>
        <p:spPr>
          <a:xfrm>
            <a:off x="6702500" y="1579350"/>
            <a:ext cx="55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1" name="Google Shape;1181;p95"/>
          <p:cNvCxnSpPr/>
          <p:nvPr/>
        </p:nvCxnSpPr>
        <p:spPr>
          <a:xfrm>
            <a:off x="7521650" y="2541375"/>
            <a:ext cx="55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2" name="Google Shape;1182;p95"/>
          <p:cNvCxnSpPr/>
          <p:nvPr/>
        </p:nvCxnSpPr>
        <p:spPr>
          <a:xfrm>
            <a:off x="6637200" y="2550900"/>
            <a:ext cx="55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3" name="Google Shape;1183;p95"/>
          <p:cNvCxnSpPr/>
          <p:nvPr/>
        </p:nvCxnSpPr>
        <p:spPr>
          <a:xfrm>
            <a:off x="6702500" y="3333750"/>
            <a:ext cx="55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4" name="Google Shape;1184;p95"/>
          <p:cNvCxnSpPr/>
          <p:nvPr/>
        </p:nvCxnSpPr>
        <p:spPr>
          <a:xfrm>
            <a:off x="7597850" y="3333750"/>
            <a:ext cx="55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5" name="Google Shape;1185;p95"/>
          <p:cNvCxnSpPr/>
          <p:nvPr/>
        </p:nvCxnSpPr>
        <p:spPr>
          <a:xfrm>
            <a:off x="7521650" y="4293975"/>
            <a:ext cx="55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6" name="Google Shape;1186;p95"/>
          <p:cNvCxnSpPr/>
          <p:nvPr/>
        </p:nvCxnSpPr>
        <p:spPr>
          <a:xfrm>
            <a:off x="6637200" y="4303500"/>
            <a:ext cx="55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6"/>
          <p:cNvSpPr txBox="1"/>
          <p:nvPr>
            <p:ph idx="1" type="body"/>
          </p:nvPr>
        </p:nvSpPr>
        <p:spPr>
          <a:xfrm>
            <a:off x="324000" y="759300"/>
            <a:ext cx="8237700" cy="18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Starting with the smallest, sort the</a:t>
            </a:r>
            <a:r>
              <a:rPr lang="en-GB"/>
              <a:t> </a:t>
            </a:r>
            <a:r>
              <a:rPr b="1" lang="en-GB"/>
              <a:t>imperial </a:t>
            </a:r>
            <a:r>
              <a:rPr lang="en-GB"/>
              <a:t>units in </a:t>
            </a:r>
            <a:r>
              <a:rPr lang="en-GB">
                <a:solidFill>
                  <a:schemeClr val="accent5"/>
                </a:solidFill>
              </a:rPr>
              <a:t>ascending</a:t>
            </a:r>
            <a:r>
              <a:rPr lang="en-GB"/>
              <a:t> </a:t>
            </a:r>
            <a:r>
              <a:rPr lang="en-GB"/>
              <a:t>order of size.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yards          miles          inches          feet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2" name="Google Shape;1192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1193" name="Google Shape;1193;p96"/>
          <p:cNvSpPr txBox="1"/>
          <p:nvPr/>
        </p:nvSpPr>
        <p:spPr>
          <a:xfrm>
            <a:off x="228600" y="2829000"/>
            <a:ext cx="8263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Fill in the missing words.</a:t>
            </a:r>
            <a:endParaRPr/>
          </a:p>
        </p:txBody>
      </p:sp>
      <p:pic>
        <p:nvPicPr>
          <p:cNvPr id="1194" name="Google Shape;119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275" y="3352200"/>
            <a:ext cx="447344" cy="1468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6"/>
          <p:cNvSpPr txBox="1"/>
          <p:nvPr/>
        </p:nvSpPr>
        <p:spPr>
          <a:xfrm>
            <a:off x="1354050" y="2071188"/>
            <a:ext cx="6435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inches,  feet,  yards,  miles</a:t>
            </a: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	</a:t>
            </a:r>
            <a:endParaRPr b="1"/>
          </a:p>
        </p:txBody>
      </p:sp>
      <p:sp>
        <p:nvSpPr>
          <p:cNvPr id="1196" name="Google Shape;1196;p96"/>
          <p:cNvSpPr txBox="1"/>
          <p:nvPr/>
        </p:nvSpPr>
        <p:spPr>
          <a:xfrm>
            <a:off x="811650" y="3438000"/>
            <a:ext cx="80772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Jacob is nearly six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feet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tall. He travels to school by getting the bus for five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miles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then walking thirty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yards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endParaRPr sz="1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</a:t>
            </a:r>
            <a:r>
              <a:rPr lang="en-GB"/>
              <a:t>Use the information given to calculate the conversions.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	</a:t>
            </a:r>
            <a:endParaRPr/>
          </a:p>
        </p:txBody>
      </p:sp>
      <p:sp>
        <p:nvSpPr>
          <p:cNvPr id="1202" name="Google Shape;1202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Converting between imperial units</a:t>
            </a:r>
            <a:endParaRPr/>
          </a:p>
        </p:txBody>
      </p:sp>
      <p:sp>
        <p:nvSpPr>
          <p:cNvPr id="1203" name="Google Shape;1203;p97"/>
          <p:cNvSpPr txBox="1"/>
          <p:nvPr/>
        </p:nvSpPr>
        <p:spPr>
          <a:xfrm>
            <a:off x="340925" y="1465275"/>
            <a:ext cx="5632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yards =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feet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feet =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yards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stone =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28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pounds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160 ounces =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pounds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yards =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inches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 yards and 1 foot =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inches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lphaLcParenR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240 inches = 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yards and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feet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04" name="Google Shape;1204;p97"/>
          <p:cNvGraphicFramePr/>
          <p:nvPr/>
        </p:nvGraphicFramePr>
        <p:xfrm>
          <a:off x="6043200" y="165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911250"/>
                <a:gridCol w="911250"/>
                <a:gridCol w="911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yards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feet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inches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05" name="Google Shape;1205;p97"/>
          <p:cNvSpPr txBox="1"/>
          <p:nvPr>
            <p:ph idx="4294967295" type="body"/>
          </p:nvPr>
        </p:nvSpPr>
        <p:spPr>
          <a:xfrm>
            <a:off x="6775750" y="13218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3</a:t>
            </a:r>
            <a:endParaRPr sz="1800"/>
          </a:p>
        </p:txBody>
      </p:sp>
      <p:sp>
        <p:nvSpPr>
          <p:cNvPr id="1206" name="Google Shape;1206;p97"/>
          <p:cNvSpPr txBox="1"/>
          <p:nvPr>
            <p:ph idx="4294967295" type="body"/>
          </p:nvPr>
        </p:nvSpPr>
        <p:spPr>
          <a:xfrm>
            <a:off x="7569275" y="132180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12   </a:t>
            </a:r>
            <a:endParaRPr sz="1800"/>
          </a:p>
        </p:txBody>
      </p:sp>
      <p:sp>
        <p:nvSpPr>
          <p:cNvPr id="1207" name="Google Shape;1207;p97"/>
          <p:cNvSpPr txBox="1"/>
          <p:nvPr>
            <p:ph idx="4294967295" type="body"/>
          </p:nvPr>
        </p:nvSpPr>
        <p:spPr>
          <a:xfrm>
            <a:off x="7721300" y="2571575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12</a:t>
            </a:r>
            <a:endParaRPr sz="1800"/>
          </a:p>
        </p:txBody>
      </p:sp>
      <p:sp>
        <p:nvSpPr>
          <p:cNvPr id="1208" name="Google Shape;1208;p97"/>
          <p:cNvSpPr txBox="1"/>
          <p:nvPr>
            <p:ph idx="4294967295" type="body"/>
          </p:nvPr>
        </p:nvSpPr>
        <p:spPr>
          <a:xfrm>
            <a:off x="6854900" y="2560575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3</a:t>
            </a:r>
            <a:endParaRPr sz="1800"/>
          </a:p>
        </p:txBody>
      </p:sp>
      <p:cxnSp>
        <p:nvCxnSpPr>
          <p:cNvPr id="1209" name="Google Shape;1209;p97"/>
          <p:cNvCxnSpPr/>
          <p:nvPr/>
        </p:nvCxnSpPr>
        <p:spPr>
          <a:xfrm>
            <a:off x="7597850" y="1579350"/>
            <a:ext cx="674400" cy="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210" name="Google Shape;1210;p97"/>
          <p:cNvGraphicFramePr/>
          <p:nvPr/>
        </p:nvGraphicFramePr>
        <p:xfrm>
          <a:off x="6043200" y="340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{9B7C89ED-1750-4A84-9EC8-FB378A7FD0FC}</a:tableStyleId>
              </a:tblPr>
              <a:tblGrid>
                <a:gridCol w="911250"/>
                <a:gridCol w="911250"/>
                <a:gridCol w="911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stone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pounds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ounces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11" name="Google Shape;1211;p97"/>
          <p:cNvSpPr txBox="1"/>
          <p:nvPr>
            <p:ph idx="4294967295" type="body"/>
          </p:nvPr>
        </p:nvSpPr>
        <p:spPr>
          <a:xfrm>
            <a:off x="6675000" y="307440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14</a:t>
            </a:r>
            <a:endParaRPr sz="1800"/>
          </a:p>
        </p:txBody>
      </p:sp>
      <p:sp>
        <p:nvSpPr>
          <p:cNvPr id="1212" name="Google Shape;1212;p97"/>
          <p:cNvSpPr txBox="1"/>
          <p:nvPr>
            <p:ph idx="4294967295" type="body"/>
          </p:nvPr>
        </p:nvSpPr>
        <p:spPr>
          <a:xfrm>
            <a:off x="7569275" y="3074400"/>
            <a:ext cx="4200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× 16</a:t>
            </a:r>
            <a:endParaRPr sz="1800"/>
          </a:p>
        </p:txBody>
      </p:sp>
      <p:sp>
        <p:nvSpPr>
          <p:cNvPr id="1213" name="Google Shape;1213;p97"/>
          <p:cNvSpPr txBox="1"/>
          <p:nvPr>
            <p:ph idx="4294967295" type="body"/>
          </p:nvPr>
        </p:nvSpPr>
        <p:spPr>
          <a:xfrm>
            <a:off x="7664150" y="42765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16</a:t>
            </a:r>
            <a:endParaRPr sz="1800"/>
          </a:p>
        </p:txBody>
      </p:sp>
      <p:sp>
        <p:nvSpPr>
          <p:cNvPr id="1214" name="Google Shape;1214;p97"/>
          <p:cNvSpPr txBox="1"/>
          <p:nvPr>
            <p:ph idx="4294967295" type="body"/>
          </p:nvPr>
        </p:nvSpPr>
        <p:spPr>
          <a:xfrm>
            <a:off x="6789600" y="4276550"/>
            <a:ext cx="5541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÷ 14</a:t>
            </a:r>
            <a:endParaRPr sz="1800"/>
          </a:p>
        </p:txBody>
      </p:sp>
      <p:cxnSp>
        <p:nvCxnSpPr>
          <p:cNvPr id="1215" name="Google Shape;1215;p97"/>
          <p:cNvCxnSpPr/>
          <p:nvPr/>
        </p:nvCxnSpPr>
        <p:spPr>
          <a:xfrm>
            <a:off x="6702500" y="1579350"/>
            <a:ext cx="55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6" name="Google Shape;1216;p97"/>
          <p:cNvCxnSpPr/>
          <p:nvPr/>
        </p:nvCxnSpPr>
        <p:spPr>
          <a:xfrm>
            <a:off x="7521650" y="2541375"/>
            <a:ext cx="55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17" name="Google Shape;1217;p97"/>
          <p:cNvCxnSpPr/>
          <p:nvPr/>
        </p:nvCxnSpPr>
        <p:spPr>
          <a:xfrm>
            <a:off x="6637200" y="2550900"/>
            <a:ext cx="55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18" name="Google Shape;1218;p97"/>
          <p:cNvCxnSpPr/>
          <p:nvPr/>
        </p:nvCxnSpPr>
        <p:spPr>
          <a:xfrm flipH="1" rot="10800000">
            <a:off x="6702500" y="3327150"/>
            <a:ext cx="677100" cy="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9" name="Google Shape;1219;p97"/>
          <p:cNvCxnSpPr/>
          <p:nvPr/>
        </p:nvCxnSpPr>
        <p:spPr>
          <a:xfrm flipH="1" rot="10800000">
            <a:off x="7597850" y="3327150"/>
            <a:ext cx="621000" cy="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0" name="Google Shape;1220;p97"/>
          <p:cNvCxnSpPr/>
          <p:nvPr/>
        </p:nvCxnSpPr>
        <p:spPr>
          <a:xfrm>
            <a:off x="7521650" y="4293975"/>
            <a:ext cx="55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21" name="Google Shape;1221;p97"/>
          <p:cNvCxnSpPr/>
          <p:nvPr/>
        </p:nvCxnSpPr>
        <p:spPr>
          <a:xfrm>
            <a:off x="6637200" y="4303500"/>
            <a:ext cx="55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98"/>
          <p:cNvSpPr txBox="1"/>
          <p:nvPr>
            <p:ph idx="1" type="body"/>
          </p:nvPr>
        </p:nvSpPr>
        <p:spPr>
          <a:xfrm>
            <a:off x="324000" y="1080000"/>
            <a:ext cx="8407200" cy="4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I</a:t>
            </a:r>
            <a:r>
              <a:rPr b="1" lang="en-GB"/>
              <a:t>mperial</a:t>
            </a:r>
            <a:r>
              <a:rPr lang="en-GB"/>
              <a:t> units come from an </a:t>
            </a:r>
            <a:r>
              <a:rPr lang="en-GB">
                <a:solidFill>
                  <a:schemeClr val="accent5"/>
                </a:solidFill>
              </a:rPr>
              <a:t>older</a:t>
            </a:r>
            <a:r>
              <a:rPr lang="en-GB"/>
              <a:t> </a:t>
            </a:r>
            <a:r>
              <a:rPr lang="en-GB"/>
              <a:t>system of measuring.</a:t>
            </a:r>
            <a:endParaRPr/>
          </a:p>
        </p:txBody>
      </p:sp>
      <p:sp>
        <p:nvSpPr>
          <p:cNvPr id="1227" name="Google Shape;1227;p9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in imperial units</a:t>
            </a:r>
            <a:endParaRPr/>
          </a:p>
        </p:txBody>
      </p:sp>
      <p:sp>
        <p:nvSpPr>
          <p:cNvPr id="1228" name="Google Shape;1228;p98"/>
          <p:cNvSpPr txBox="1"/>
          <p:nvPr>
            <p:ph idx="1" type="body"/>
          </p:nvPr>
        </p:nvSpPr>
        <p:spPr>
          <a:xfrm>
            <a:off x="324000" y="1620000"/>
            <a:ext cx="8496000" cy="27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</a:t>
            </a:r>
            <a:r>
              <a:rPr b="1" lang="en-GB"/>
              <a:t>mperial </a:t>
            </a:r>
            <a:r>
              <a:rPr lang="en-GB"/>
              <a:t>measures evolved over the course of history and were </a:t>
            </a:r>
            <a:r>
              <a:rPr lang="en-GB">
                <a:solidFill>
                  <a:schemeClr val="accent5"/>
                </a:solidFill>
              </a:rPr>
              <a:t>standardised</a:t>
            </a:r>
            <a:r>
              <a:rPr lang="en-GB"/>
              <a:t> during the British Empire.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People in the UK tend to use a </a:t>
            </a:r>
            <a:r>
              <a:rPr lang="en-GB">
                <a:solidFill>
                  <a:schemeClr val="accent5"/>
                </a:solidFill>
              </a:rPr>
              <a:t>combination</a:t>
            </a:r>
            <a:r>
              <a:rPr lang="en-GB"/>
              <a:t> of metric and </a:t>
            </a:r>
            <a:r>
              <a:rPr b="1" lang="en-GB"/>
              <a:t>imperial</a:t>
            </a:r>
            <a:r>
              <a:rPr lang="en-GB"/>
              <a:t> measures, depending on context.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Conversions</a:t>
            </a:r>
            <a:r>
              <a:rPr lang="en-GB"/>
              <a:t> between different </a:t>
            </a:r>
            <a:r>
              <a:rPr b="1" lang="en-GB"/>
              <a:t>imperial</a:t>
            </a:r>
            <a:r>
              <a:rPr lang="en-GB"/>
              <a:t> units are different to the metric system and use a greater range of numbers.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9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34" name="Google Shape;1234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