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1CA700-BC39-4935-98C2-17CD2B3D21C1}">
  <a:tblStyle styleId="{1A1CA700-BC39-4935-98C2-17CD2B3D21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Place value in imperial units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591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Understanding imperial units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998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Sort the units into the correct columns.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/>
          <p:nvPr/>
        </p:nvGraphicFramePr>
        <p:xfrm>
          <a:off x="650130" y="252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{1A1CA700-BC39-4935-98C2-17CD2B3D21C1}</a:tableStyleId>
              </a:tblPr>
              <a:tblGrid>
                <a:gridCol w="1565300"/>
                <a:gridCol w="1565300"/>
              </a:tblGrid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metric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imperial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6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4" name="Google Shape;164;p20"/>
          <p:cNvSpPr txBox="1"/>
          <p:nvPr/>
        </p:nvSpPr>
        <p:spPr>
          <a:xfrm>
            <a:off x="4129650" y="2517550"/>
            <a:ext cx="1119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millilitres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centimetres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608960" y="2517550"/>
            <a:ext cx="1371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inches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kilograms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feet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hands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kilowatts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metric tonnes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60985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imperial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 according to what they measure.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649420" y="6634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{1A1CA700-BC39-4935-98C2-17CD2B3D21C1}</a:tableStyleId>
              </a:tblPr>
              <a:tblGrid>
                <a:gridCol w="985150"/>
                <a:gridCol w="1101900"/>
                <a:gridCol w="1043525"/>
              </a:tblGrid>
              <a:tr h="47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capacity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>
            <a:off x="4149600" y="6636450"/>
            <a:ext cx="1371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stone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gallons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pounds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616374" y="6639350"/>
            <a:ext cx="1193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yards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ounces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miles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fluid ounces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480550" y="9957900"/>
            <a:ext cx="661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6" name="Google Shape;17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Place value in imperial units</a:t>
            </a:r>
            <a:endParaRPr/>
          </a:p>
        </p:txBody>
      </p:sp>
      <p:sp>
        <p:nvSpPr>
          <p:cNvPr id="177" name="Google Shape;17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91800" y="644853"/>
            <a:ext cx="666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Converting between imperial units</a:t>
            </a:r>
            <a:endParaRPr b="1" sz="1200">
              <a:solidFill>
                <a:srgbClr val="000000"/>
              </a:solidFill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76400" y="1445100"/>
            <a:ext cx="6624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Starting with the smallest, sort the units in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ascending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order of size.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yards          miles          inches         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57200" y="311145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missing words.</a:t>
            </a:r>
            <a:endParaRPr sz="1200"/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00" y="3514267"/>
            <a:ext cx="316675" cy="103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193575" y="3586050"/>
            <a:ext cx="588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is nearly six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tall. He travels to school by getting the bus for five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then walking thirty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5658445"/>
            <a:ext cx="66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the information given to calculate the conversions.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6400" y="6189675"/>
            <a:ext cx="5649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yards =           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feet =            yards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stone =            pounds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 ounces =            pounds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yards =           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yards and 1 foot =           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240 inches =            yards and            feet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1"/>
          <p:cNvGraphicFramePr/>
          <p:nvPr/>
        </p:nvGraphicFramePr>
        <p:xfrm>
          <a:off x="4759200" y="622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{1A1CA700-BC39-4935-98C2-17CD2B3D21C1}</a:tableStyleId>
              </a:tblPr>
              <a:tblGrid>
                <a:gridCol w="780450"/>
                <a:gridCol w="780450"/>
                <a:gridCol w="780450"/>
              </a:tblGrid>
              <a:tr h="2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</a:tr>
              <a:tr h="16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7" name="Google Shape;187;p21"/>
          <p:cNvSpPr txBox="1"/>
          <p:nvPr/>
        </p:nvSpPr>
        <p:spPr>
          <a:xfrm>
            <a:off x="5294433" y="5958828"/>
            <a:ext cx="4200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121475" y="5958828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273500" y="7002347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483300" y="6991347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1"/>
          <p:cNvCxnSpPr/>
          <p:nvPr/>
        </p:nvCxnSpPr>
        <p:spPr>
          <a:xfrm>
            <a:off x="6073850" y="615135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2" name="Google Shape;192;p21"/>
          <p:cNvGraphicFramePr/>
          <p:nvPr/>
        </p:nvGraphicFramePr>
        <p:xfrm>
          <a:off x="4759200" y="775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{1A1CA700-BC39-4935-98C2-17CD2B3D21C1}</a:tableStyleId>
              </a:tblPr>
              <a:tblGrid>
                <a:gridCol w="780450"/>
                <a:gridCol w="780450"/>
                <a:gridCol w="780450"/>
              </a:tblGrid>
              <a:tr h="18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pounds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ounces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</a:tr>
              <a:tr h="18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21"/>
          <p:cNvSpPr txBox="1"/>
          <p:nvPr/>
        </p:nvSpPr>
        <p:spPr>
          <a:xfrm>
            <a:off x="5303400" y="7462490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110303" y="7460483"/>
            <a:ext cx="4200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249867" y="8554922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485034" y="8554922"/>
            <a:ext cx="5541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>
            <a:off x="5254700" y="615135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1"/>
          <p:cNvCxnSpPr/>
          <p:nvPr/>
        </p:nvCxnSpPr>
        <p:spPr>
          <a:xfrm>
            <a:off x="6042340" y="698332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" name="Google Shape;199;p21"/>
          <p:cNvCxnSpPr/>
          <p:nvPr/>
        </p:nvCxnSpPr>
        <p:spPr>
          <a:xfrm>
            <a:off x="5200572" y="6981672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0" name="Google Shape;200;p21"/>
          <p:cNvCxnSpPr/>
          <p:nvPr/>
        </p:nvCxnSpPr>
        <p:spPr>
          <a:xfrm>
            <a:off x="5308555" y="7665978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1"/>
          <p:cNvCxnSpPr/>
          <p:nvPr/>
        </p:nvCxnSpPr>
        <p:spPr>
          <a:xfrm>
            <a:off x="6073850" y="7665978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1"/>
          <p:cNvCxnSpPr/>
          <p:nvPr/>
        </p:nvCxnSpPr>
        <p:spPr>
          <a:xfrm>
            <a:off x="6019995" y="8529665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3" name="Google Shape;203;p21"/>
          <p:cNvCxnSpPr/>
          <p:nvPr/>
        </p:nvCxnSpPr>
        <p:spPr>
          <a:xfrm>
            <a:off x="5254428" y="8539190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4" name="Google Shape;204;p21"/>
          <p:cNvSpPr txBox="1"/>
          <p:nvPr/>
        </p:nvSpPr>
        <p:spPr>
          <a:xfrm>
            <a:off x="1452228" y="4303245"/>
            <a:ext cx="46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yards		miles		inches		feet</a:t>
            </a:r>
            <a:endParaRPr sz="1200"/>
          </a:p>
        </p:txBody>
      </p:sp>
      <p:cxnSp>
        <p:nvCxnSpPr>
          <p:cNvPr id="205" name="Google Shape;205;p21"/>
          <p:cNvCxnSpPr/>
          <p:nvPr/>
        </p:nvCxnSpPr>
        <p:spPr>
          <a:xfrm>
            <a:off x="480550" y="9957900"/>
            <a:ext cx="661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