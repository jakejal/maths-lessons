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714A64-4DB4-400D-8A26-9AA491F0843D}">
  <a:tblStyle styleId="{EC714A64-4DB4-400D-8A26-9AA491F084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" name="Google Shape;11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6" name="Google Shape;136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3" name="Google Shape;143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" name="Google Shape;14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 rot="-5400000">
            <a:off x="5502263" y="5467588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4" name="Google Shape;1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 rot="-5400000">
            <a:off x="5502263" y="5467588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in imperial units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1591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Understanding imperial units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8000" y="19983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Sort the units into the correct columns.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0" name="Google Shape;170;p20"/>
          <p:cNvGraphicFramePr/>
          <p:nvPr/>
        </p:nvGraphicFramePr>
        <p:xfrm>
          <a:off x="650130" y="252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{EC714A64-4DB4-400D-8A26-9AA491F0843D}</a:tableStyleId>
              </a:tblPr>
              <a:tblGrid>
                <a:gridCol w="1565300"/>
                <a:gridCol w="1565300"/>
              </a:tblGrid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metric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imperial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metres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inches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kilograms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miles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millilitres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feet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centimetres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hands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kilowatts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acres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metric tonnes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tons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1" name="Google Shape;171;p20"/>
          <p:cNvSpPr txBox="1"/>
          <p:nvPr/>
        </p:nvSpPr>
        <p:spPr>
          <a:xfrm>
            <a:off x="468000" y="60985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Sort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imperial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units according to what they measure.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2" name="Google Shape;172;p20"/>
          <p:cNvGraphicFramePr/>
          <p:nvPr/>
        </p:nvGraphicFramePr>
        <p:xfrm>
          <a:off x="649420" y="6634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{EC714A64-4DB4-400D-8A26-9AA491F0843D}</a:tableStyleId>
              </a:tblPr>
              <a:tblGrid>
                <a:gridCol w="985150"/>
                <a:gridCol w="1101900"/>
                <a:gridCol w="1043525"/>
              </a:tblGrid>
              <a:tr h="47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capacity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49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inches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ounces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fluid ounces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49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yards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pounds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pints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49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feet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stone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gallons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49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miles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73" name="Google Shape;173;p20"/>
          <p:cNvCxnSpPr/>
          <p:nvPr/>
        </p:nvCxnSpPr>
        <p:spPr>
          <a:xfrm>
            <a:off x="480550" y="9957900"/>
            <a:ext cx="6614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in imperial units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391800" y="644853"/>
            <a:ext cx="666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Converting between imperial units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76400" y="1445100"/>
            <a:ext cx="66240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Starting with the smallest, sort the units in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ascending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order of size.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yards          miles          inches         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57200" y="311145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missing words.</a:t>
            </a:r>
            <a:endParaRPr sz="1200"/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600" y="3514267"/>
            <a:ext cx="316675" cy="103932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1193575" y="3586050"/>
            <a:ext cx="56490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is nearly six </a:t>
            </a:r>
            <a:r>
              <a:rPr lang="en-GB" sz="1300">
                <a:latin typeface="Kalam"/>
                <a:ea typeface="Kalam"/>
                <a:cs typeface="Kalam"/>
                <a:sym typeface="Kalam"/>
              </a:rPr>
              <a:t>feet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tall. He travels to school by getting the bus for five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miles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then walking thirty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yards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/>
          </a:p>
        </p:txBody>
      </p:sp>
      <p:sp>
        <p:nvSpPr>
          <p:cNvPr id="186" name="Google Shape;186;p21"/>
          <p:cNvSpPr txBox="1"/>
          <p:nvPr/>
        </p:nvSpPr>
        <p:spPr>
          <a:xfrm>
            <a:off x="493325" y="2071200"/>
            <a:ext cx="656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inches,      feet,       yards,      miles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	</a:t>
            </a:r>
            <a:endParaRPr b="1" sz="1200"/>
          </a:p>
        </p:txBody>
      </p:sp>
      <p:sp>
        <p:nvSpPr>
          <p:cNvPr id="187" name="Google Shape;187;p21"/>
          <p:cNvSpPr txBox="1"/>
          <p:nvPr/>
        </p:nvSpPr>
        <p:spPr>
          <a:xfrm>
            <a:off x="476400" y="5658445"/>
            <a:ext cx="66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the information given to calculate the conversions.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76400" y="6189675"/>
            <a:ext cx="5649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yards =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feet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feet =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yards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stone =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28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pounds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160 ounces =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pounds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yards =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72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inches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yards and 1 foot =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120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inches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240 inches =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yards and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feet</a:t>
            </a:r>
            <a:endParaRPr sz="4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9" name="Google Shape;189;p21"/>
          <p:cNvGraphicFramePr/>
          <p:nvPr/>
        </p:nvGraphicFramePr>
        <p:xfrm>
          <a:off x="4759200" y="622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{EC714A64-4DB4-400D-8A26-9AA491F0843D}</a:tableStyleId>
              </a:tblPr>
              <a:tblGrid>
                <a:gridCol w="780450"/>
                <a:gridCol w="780450"/>
                <a:gridCol w="780450"/>
              </a:tblGrid>
              <a:tr h="20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yards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feet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inches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16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0" name="Google Shape;190;p21"/>
          <p:cNvSpPr txBox="1"/>
          <p:nvPr/>
        </p:nvSpPr>
        <p:spPr>
          <a:xfrm>
            <a:off x="5294433" y="5958828"/>
            <a:ext cx="4200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6121475" y="5958828"/>
            <a:ext cx="5541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12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6273500" y="7002347"/>
            <a:ext cx="5541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483300" y="6991347"/>
            <a:ext cx="5541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1"/>
          <p:cNvCxnSpPr/>
          <p:nvPr/>
        </p:nvCxnSpPr>
        <p:spPr>
          <a:xfrm>
            <a:off x="6073850" y="6151350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95" name="Google Shape;195;p21"/>
          <p:cNvGraphicFramePr/>
          <p:nvPr/>
        </p:nvGraphicFramePr>
        <p:xfrm>
          <a:off x="4759200" y="77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{EC714A64-4DB4-400D-8A26-9AA491F0843D}</a:tableStyleId>
              </a:tblPr>
              <a:tblGrid>
                <a:gridCol w="780450"/>
                <a:gridCol w="780450"/>
                <a:gridCol w="780450"/>
              </a:tblGrid>
              <a:tr h="18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stone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pounds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ounces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18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6" name="Google Shape;196;p21"/>
          <p:cNvSpPr txBox="1"/>
          <p:nvPr/>
        </p:nvSpPr>
        <p:spPr>
          <a:xfrm>
            <a:off x="5303400" y="7462490"/>
            <a:ext cx="5541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6110303" y="7460483"/>
            <a:ext cx="4200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6249867" y="8554922"/>
            <a:ext cx="5541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485034" y="8554922"/>
            <a:ext cx="5541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1"/>
          <p:cNvCxnSpPr/>
          <p:nvPr/>
        </p:nvCxnSpPr>
        <p:spPr>
          <a:xfrm>
            <a:off x="5254700" y="6151350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1"/>
          <p:cNvCxnSpPr/>
          <p:nvPr/>
        </p:nvCxnSpPr>
        <p:spPr>
          <a:xfrm>
            <a:off x="6042340" y="6983320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2" name="Google Shape;202;p21"/>
          <p:cNvCxnSpPr/>
          <p:nvPr/>
        </p:nvCxnSpPr>
        <p:spPr>
          <a:xfrm>
            <a:off x="5200572" y="6981672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3" name="Google Shape;203;p21"/>
          <p:cNvCxnSpPr/>
          <p:nvPr/>
        </p:nvCxnSpPr>
        <p:spPr>
          <a:xfrm>
            <a:off x="5308555" y="7665978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1"/>
          <p:cNvCxnSpPr/>
          <p:nvPr/>
        </p:nvCxnSpPr>
        <p:spPr>
          <a:xfrm>
            <a:off x="6073850" y="7665978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1"/>
          <p:cNvCxnSpPr/>
          <p:nvPr/>
        </p:nvCxnSpPr>
        <p:spPr>
          <a:xfrm>
            <a:off x="6019995" y="8529665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6" name="Google Shape;206;p21"/>
          <p:cNvCxnSpPr/>
          <p:nvPr/>
        </p:nvCxnSpPr>
        <p:spPr>
          <a:xfrm>
            <a:off x="5254428" y="8539190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07" name="Google Shape;207;p21"/>
          <p:cNvSpPr txBox="1"/>
          <p:nvPr/>
        </p:nvSpPr>
        <p:spPr>
          <a:xfrm>
            <a:off x="1193575" y="4303250"/>
            <a:ext cx="56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ards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miles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inches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feet</a:t>
            </a:r>
            <a:endParaRPr sz="1200"/>
          </a:p>
        </p:txBody>
      </p:sp>
      <p:sp>
        <p:nvSpPr>
          <p:cNvPr id="208" name="Google Shape;208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209" name="Google Shape;209;p21"/>
          <p:cNvCxnSpPr/>
          <p:nvPr/>
        </p:nvCxnSpPr>
        <p:spPr>
          <a:xfrm>
            <a:off x="480550" y="9957900"/>
            <a:ext cx="6614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Worksheets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worksheets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