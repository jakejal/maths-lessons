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4" r:id="rId5"/>
    <p:sldMasterId id="21474837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24">
          <p15:clr>
            <a:srgbClr val="747775"/>
          </p15:clr>
        </p15:guide>
        <p15:guide id="2" orient="horz" pos="2473">
          <p15:clr>
            <a:srgbClr val="747775"/>
          </p15:clr>
        </p15:guide>
        <p15:guide id="3" pos="25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97598B-58F8-4E38-AE18-F89D581871FF}">
  <a:tblStyle styleId="{9397598B-58F8-4E38-AE18-F89D581871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24" orient="horz"/>
        <p:guide pos="2473" orient="horz"/>
        <p:guide pos="25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5" name="Google Shape;1545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27bdc8513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27bdc8513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7f8ba0d2ec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7f8ba0d2ec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g27bdc8513f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2" name="Google Shape;1572;g27bdc8513f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27bdc8513f3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27bdc8513f3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27bdc8513f3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27bdc8513f3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7bdc8513f3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7bdc8513f3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27bdc8513f3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0" name="Google Shape;1710;g27bdc8513f3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27d08de52a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7d08de52a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7bdc8513f3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7bdc8513f3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27bdc8513f3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27bdc8513f3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27bdc8513f3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27bdc8513f3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27bdc8513f3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27bdc8513f3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27bdc8513f3_0_9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27bdc8513f3_0_9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27bdc8513f3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27bdc8513f3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27bdc8513f3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27bdc8513f3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27bdc8513f3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27bdc8513f3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27bdc8513f3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27bdc8513f3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7bdc8513f3_0_10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7bdc8513f3_0_10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27bdc8513f3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27bdc8513f3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g27bdc8513f3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0" name="Google Shape;1930;g27bdc8513f3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g27bdc8513f3_0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4" name="Google Shape;1944;g27bdc8513f3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g27bdc8513f3_0_1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4" name="Google Shape;1964;g27bdc8513f3_0_1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g27bdc8513f3_0_1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5" name="Google Shape;1975;g27bdc8513f3_0_1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27c928d039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27c928d039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g27c928d039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8" name="Google Shape;2008;g27c928d039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g27c928d0396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" name="Google Shape;2038;g27c928d0396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27c928d0396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27c928d0396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27c928d0396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27c928d0396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g27c928d0396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0" name="Google Shape;2140;g27c928d0396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27c928d0396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27c928d0396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g27d63d75aa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3" name="Google Shape;2163;g27d63d75aa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27d07d1ea0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5" name="Google Shape;2175;g27d07d1ea0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g27d07d1ea06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" name="Google Shape;2193;g27d07d1ea06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27d07d1ea0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6" name="Google Shape;2206;g27d07d1ea0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g27d07d1ea06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3" name="Google Shape;2233;g27d07d1ea06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g27d07d1ea0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4" name="Google Shape;2254;g27d07d1ea0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9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g27d07d1ea06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1" name="Google Shape;2271;g27d07d1ea06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7" name="Google Shape;230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91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91.png"/><Relationship Id="rId4" Type="http://schemas.openxmlformats.org/officeDocument/2006/relationships/image" Target="../media/image28.png"/><Relationship Id="rId11" Type="http://schemas.openxmlformats.org/officeDocument/2006/relationships/image" Target="../media/image17.png"/><Relationship Id="rId10" Type="http://schemas.openxmlformats.org/officeDocument/2006/relationships/image" Target="../media/image34.png"/><Relationship Id="rId9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15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1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91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91.png"/><Relationship Id="rId4" Type="http://schemas.openxmlformats.org/officeDocument/2006/relationships/image" Target="../media/image28.png"/><Relationship Id="rId11" Type="http://schemas.openxmlformats.org/officeDocument/2006/relationships/image" Target="../media/image17.png"/><Relationship Id="rId10" Type="http://schemas.openxmlformats.org/officeDocument/2006/relationships/image" Target="../media/image34.png"/><Relationship Id="rId9" Type="http://schemas.openxmlformats.org/officeDocument/2006/relationships/image" Target="../media/image3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0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0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1653725" y="2054227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4059500" y="2031502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887387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459700"/>
            <a:ext cx="7452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280396"/>
            <a:ext cx="74526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403049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4227876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8163" y="1994868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2388" y="199486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1082888" y="2084965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3477113" y="2084965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 1">
  <p:cSld name="TITLE_AND_TWO_COLUMNS_1_1_9_1_3_1_1_1_2">
    <p:bg>
      <p:bgPr>
        <a:solidFill>
          <a:srgbClr val="E6F2F2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88" name="Google Shape;38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1" name="Google Shape;391;p3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2" name="Google Shape;392;p3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3" name="Google Shape;393;p3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99" name="Google Shape;399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7" name="Google Shape;4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1" name="Google Shape;41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2" name="Google Shape;41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13" name="Google Shape;41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4" name="Google Shape;41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" name="Google Shape;41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6" name="Google Shape;41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7" name="Google Shape;41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8" name="Google Shape;41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9" name="Google Shape;41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20" name="Google Shape;42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9" name="Google Shape;429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0" name="Google Shape;430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32" name="Google Shape;432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33" name="Google Shape;43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5" name="Google Shape;435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6" name="Google Shape;436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8" name="Google Shape;438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9" name="Google Shape;43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5" name="Google Shape;44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7" name="Google Shape;447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8" name="Google Shape;448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9" name="Google Shape;449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0" name="Google Shape;450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51" name="Google Shape;451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52" name="Google Shape;45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" name="Google Shape;453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4" name="Google Shape;454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5" name="Google Shape;455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7" name="Google Shape;457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8" name="Google Shape;45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9" name="Google Shape;45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4" name="Google Shape;4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7" name="Google Shape;467;p3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8" name="Google Shape;468;p3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3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0" name="Google Shape;470;p3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6" name="Google Shape;556;p4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7" name="Google Shape;557;p4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8" name="Google Shape;558;p4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9" name="Google Shape;559;p4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60" name="Google Shape;56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1" name="Google Shape;56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2" name="Google Shape;562;p4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63" name="Google Shape;56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5" name="Google Shape;565;p4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66" name="Google Shape;56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8" name="Google Shape;568;p4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9" name="Google Shape;56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0" name="Google Shape;57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5" name="Google Shape;57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8" name="Google Shape;57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4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3" name="Google Shape;583;p4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4" name="Google Shape;584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5" name="Google Shape;58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7" name="Google Shape;587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8" name="Google Shape;58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" name="Google Shape;58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0" name="Google Shape;590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1" name="Google Shape;59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2" name="Google Shape;59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7" name="Google Shape;59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9" name="Google Shape;599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0" name="Google Shape;600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3" name="Google Shape;603;p4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4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6" name="Google Shape;60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7" name="Google Shape;60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8" name="Google Shape;60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9" name="Google Shape;60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0" name="Google Shape;61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1" name="Google Shape;61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2" name="Google Shape;61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9" name="Google Shape;61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2" name="Google Shape;62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3" name="Google Shape;62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4" name="Google Shape;62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28" name="Google Shape;628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9" name="Google Shape;62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0" name="Google Shape;63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1" name="Google Shape;631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32" name="Google Shape;63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3" name="Google Shape;63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4" name="Google Shape;634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35" name="Google Shape;635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6" name="Google Shape;636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1" name="Google Shape;641;p46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6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3" name="Google Shape;643;p46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4" name="Google Shape;64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6" name="Google Shape;646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7" name="Google Shape;647;p4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4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4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50" name="Google Shape;650;p4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51" name="Google Shape;651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3" name="Google Shape;653;p4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54" name="Google Shape;654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6" name="Google Shape;656;p4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7" name="Google Shape;657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3" name="Google Shape;66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70" name="Google Shape;67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2" name="Google Shape;672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77" name="Google Shape;67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8" name="Google Shape;68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1" name="Google Shape;691;p51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3" name="Google Shape;69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2"/>
          <p:cNvSpPr/>
          <p:nvPr/>
        </p:nvSpPr>
        <p:spPr>
          <a:xfrm>
            <a:off x="0" y="332300"/>
            <a:ext cx="4572000" cy="48111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7" name="Google Shape;697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2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3" name="Google Shape;70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3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11" name="Google Shape;71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4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19" name="Google Shape;71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4" name="Google Shape;72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55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6" name="Google Shape;726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27" name="Google Shape;72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2" name="Google Shape;732;p56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34" name="Google Shape;73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" name="Google Shape;737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0" name="Google Shape;740;p57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1" name="Google Shape;741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2" name="Google Shape;742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43" name="Google Shape;74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58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0" name="Google Shape;750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1" name="Google Shape;75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3" name="Google Shape;753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5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59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8" name="Google Shape;758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9" name="Google Shape;75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0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2" name="Google Shape;762;p6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4" name="Google Shape;764;p6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5" name="Google Shape;765;p6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1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8" name="Google Shape;768;p6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0" name="Google Shape;770;p6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1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Google Shape;773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2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3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63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3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63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63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63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3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63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3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4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65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7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8" name="Google Shape;798;p67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9" name="Google Shape;79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8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09" name="Google Shape;809;p68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1" name="Google Shape;811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4" name="Google Shape;814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69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6" name="Google Shape;81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1" name="Google Shape;821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3" name="Google Shape;82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25" name="Google Shape;825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6" name="Google Shape;826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7" name="Google Shape;827;p70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8" name="Google Shape;828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30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2" name="Google Shape;832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34" name="Google Shape;83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36" name="Google Shape;836;p71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9" name="Google Shape;839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2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41" name="Google Shape;84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43" name="Google Shape;843;p72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4" name="Google Shape;844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45" name="Google Shape;845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72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47" name="Google Shape;847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" name="Google Shape;849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2" name="Google Shape;852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3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54" name="Google Shape;854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7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9" name="Google Shape;859;p7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61" name="Google Shape;86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63" name="Google Shape;863;p7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64" name="Google Shape;864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5" name="Google Shape;865;p74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66" name="Google Shape;866;p7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7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1" name="Google Shape;871;p7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5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73" name="Google Shape;873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7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Google Shape;876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6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7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7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7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3" name="Google Shape;883;p77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7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5" name="Google Shape;885;p77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86" name="Google Shape;886;p7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87" name="Google Shape;887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88" name="Google Shape;888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89" name="Google Shape;889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90" name="Google Shape;890;p77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78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7" name="Google Shape;897;p78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8" name="Google Shape;898;p78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9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4" name="Google Shape;904;p79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5" name="Google Shape;905;p79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8" name="Google Shape;908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80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0" name="Google Shape;910;p80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1" name="Google Shape;911;p80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2" name="Google Shape;912;p80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3" name="Google Shape;913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6" name="Google Shape;916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81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8" name="Google Shape;918;p81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9" name="Google Shape;919;p81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0" name="Google Shape;920;p81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1" name="Google Shape;921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8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4" name="Google Shape;924;p8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2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6" name="Google Shape;926;p82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7" name="Google Shape;927;p82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8" name="Google Shape;928;p82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9" name="Google Shape;929;p82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0" name="Google Shape;930;p8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3" name="Google Shape;933;p8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83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5" name="Google Shape;935;p83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6" name="Google Shape;936;p83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937" name="Google Shape;937;p83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938" name="Google Shape;938;p83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39" name="Google Shape;939;p8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84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84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84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5" name="Google Shape;945;p84"/>
          <p:cNvCxnSpPr>
            <a:endCxn id="946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7" name="Google Shape;947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4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9" name="Google Shape;949;p84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6" name="Google Shape;946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84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84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5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85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85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85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0" name="Google Shape;960;p85"/>
          <p:cNvCxnSpPr>
            <a:endCxn id="96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61" name="Google Shape;961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85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4" name="Google Shape;964;p85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65" name="Google Shape;965;p85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85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8" name="Google Shape;968;p85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5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" name="Google Shape;972;p86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86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8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86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8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86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86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0" name="Google Shape;980;p86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81" name="Google Shape;981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8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86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5" name="Google Shape;985;p86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6" name="Google Shape;986;p86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87" name="Google Shape;987;p86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88" name="Google Shape;988;p8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6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0" name="Google Shape;990;p86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6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6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Google Shape;994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87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97" name="Google Shape;99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98" name="Google Shape;998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04" name="Google Shape;1004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06" name="Google Shape;100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8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1" name="Google Shape;1011;p89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13" name="Google Shape;1013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018" name="Google Shape;1018;p9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20" name="Google Shape;102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91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3" name="Google Shape;1023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6" name="Google Shape;1026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7" name="Google Shape;1027;p9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8" name="Google Shape;1028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9" name="Google Shape;1029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1" name="Google Shape;1031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32" name="Google Shape;1032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3" name="Google Shape;1033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9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6" name="Google Shape;1036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0" name="Google Shape;104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1" name="Google Shape;1041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42" name="Google Shape;1042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3" name="Google Shape;1043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4" name="Google Shape;1044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45" name="Google Shape;1045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93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9" name="Google Shape;1049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93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93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3" name="Google Shape;105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54" name="Google Shape;1054;p93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55" name="Google Shape;1055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6" name="Google Shape;1056;p93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7" name="Google Shape;1057;p93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58" name="Google Shape;1058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9" name="Google Shape;1059;p93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9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2" name="Google Shape;1062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9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5" name="Google Shape;1065;p9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6" name="Google Shape;106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67" name="Google Shape;1067;p9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68" name="Google Shape;1068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9" name="Google Shape;1069;p9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0" name="Google Shape;1070;p9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71" name="Google Shape;1071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2" name="Google Shape;1072;p9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5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2" name="Google Shape;1082;p95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3" name="Google Shape;1083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84" name="Google Shape;1084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5" name="Google Shape;1085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7" name="Google Shape;1087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90" name="Google Shape;1090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91" name="Google Shape;1091;p9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2" name="Google Shape;1092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3" name="Google Shape;1093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4" name="Google Shape;1094;p9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5" name="Google Shape;1095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7" name="Google Shape;1097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3" name="Google Shape;1103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4" name="Google Shape;1104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7" name="Google Shape;1107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8" name="Google Shape;1108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9" name="Google Shape;1109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0" name="Google Shape;1110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1" name="Google Shape;111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2" name="Google Shape;1112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3" name="Google Shape;1113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4" name="Google Shape;1114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5" name="Google Shape;1115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0" name="Google Shape;1120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97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7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7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97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7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27" name="Google Shape;1127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0" name="Google Shape;1130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1" name="Google Shape;1131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2" name="Google Shape;1132;p97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33" name="Google Shape;113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4" name="Google Shape;113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5" name="Google Shape;1135;p97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36" name="Google Shape;1136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38" name="Google Shape;1138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97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97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3" name="Google Shape;1143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9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9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98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50" name="Google Shape;1150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3" name="Google Shape;1153;p9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54" name="Google Shape;1154;p9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5" name="Google Shape;1155;p9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56" name="Google Shape;115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7" name="Google Shape;115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8" name="Google Shape;1158;p9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59" name="Google Shape;115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0" name="Google Shape;116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61" name="Google Shape;1161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9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9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6" name="Google Shape;1166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9" name="Google Shape;1169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2" name="Google Shape;1172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3" name="Google Shape;1173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74" name="Google Shape;1174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75" name="Google Shape;1175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6" name="Google Shape;117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8" name="Google Shape;1178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9" name="Google Shape;117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0" name="Google Shape;118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1" name="Google Shape;1181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82" name="Google Shape;118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3" name="Google Shape;118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5" name="Google Shape;1185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8" name="Google Shape;118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1" name="Google Shape;1191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2" name="Google Shape;1192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93" name="Google Shape;1193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94" name="Google Shape;1194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95" name="Google Shape;119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7" name="Google Shape;1197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8" name="Google Shape;119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9" name="Google Shape;119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0" name="Google Shape;1200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01" name="Google Shape;1201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2" name="Google Shape;120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4" name="Google Shape;1204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7" name="Google Shape;120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0" name="Google Shape;1210;p10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1" name="Google Shape;1211;p10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12" name="Google Shape;1212;p10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13" name="Google Shape;1213;p101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14" name="Google Shape;1214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5" name="Google Shape;1215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6" name="Google Shape;1216;p101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17" name="Google Shape;1217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8" name="Google Shape;1218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101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20" name="Google Shape;1220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1" name="Google Shape;122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3" name="Google Shape;1223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10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6" name="Google Shape;1226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9" name="Google Shape;1229;p10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10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1" name="Google Shape;1231;p10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2" name="Google Shape;1232;p10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233" name="Google Shape;1233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4" name="Google Shape;1234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5" name="Google Shape;1235;p10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236" name="Google Shape;1236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8" name="Google Shape;1238;p10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239" name="Google Shape;1239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5" name="Google Shape;1245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8" name="Google Shape;1248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1" name="Google Shape;1251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2" name="Google Shape;1252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3" name="Google Shape;125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4" name="Google Shape;125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5" name="Google Shape;1255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6" name="Google Shape;1256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7" name="Google Shape;125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8" name="Google Shape;1258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9" name="Google Shape;1259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0" name="Google Shape;1260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1" name="Google Shape;1261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2" name="Google Shape;1262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5" name="Google Shape;1265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8" name="Google Shape;1268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1" name="Google Shape;1271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4" name="Google Shape;1274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5" name="Google Shape;1275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6" name="Google Shape;127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7" name="Google Shape;127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8" name="Google Shape;1278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9" name="Google Shape;127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0" name="Google Shape;128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1" name="Google Shape;1281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2" name="Google Shape;128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3" name="Google Shape;128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5" name="Google Shape;1285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6" name="Google Shape;128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0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1" name="Google Shape;1291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4" name="Google Shape;1294;p10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95" name="Google Shape;1295;p10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96" name="Google Shape;1296;p10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97" name="Google Shape;1297;p10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98" name="Google Shape;1298;p105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99" name="Google Shape;1299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0" name="Google Shape;1300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105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02" name="Google Shape;130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3" name="Google Shape;1303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4" name="Google Shape;1304;p105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05" name="Google Shape;130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7" name="Google Shape;1307;p105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08" name="Google Shape;130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9" name="Google Shape;130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1" name="Google Shape;1311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2" name="Google Shape;1312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10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4" name="Google Shape;1314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7" name="Google Shape;1317;p10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18" name="Google Shape;1318;p10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19" name="Google Shape;1319;p10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20" name="Google Shape;1320;p10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21" name="Google Shape;1321;p10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7" name="Google Shape;1327;p10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328" name="Google Shape;1328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9" name="Google Shape;1329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0" name="Google Shape;1330;p10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331" name="Google Shape;1331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4" name="Google Shape;1334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7" name="Google Shape;1337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0" name="Google Shape;1340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1" name="Google Shape;1341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2" name="Google Shape;1342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43" name="Google Shape;1343;p107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107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107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6" name="Google Shape;1346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7" name="Google Shape;1347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8" name="Google Shape;1348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9" name="Google Shape;1349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2" name="Google Shape;1352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3" name="Google Shape;1353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4" name="Google Shape;1354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6" name="Google Shape;1356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9" name="Google Shape;1359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3" name="Google Shape;1363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4" name="Google Shape;1364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5" name="Google Shape;1365;p108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108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108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8" name="Google Shape;1368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9" name="Google Shape;1369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1" name="Google Shape;1371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72" name="Google Shape;1372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4" name="Google Shape;1374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75" name="Google Shape;1375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6" name="Google Shape;1376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8" name="Google Shape;1378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10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81" name="Google Shape;1381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2" name="Google Shape;1382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0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4" name="Google Shape;1384;p109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85" name="Google Shape;1385;p109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86" name="Google Shape;1386;p109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87" name="Google Shape;1387;p109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09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09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90" name="Google Shape;1390;p109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91" name="Google Shape;1391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2" name="Google Shape;1392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3" name="Google Shape;1393;p109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94" name="Google Shape;1394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5" name="Google Shape;1395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6" name="Google Shape;1396;p109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97" name="Google Shape;1397;p10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8" name="Google Shape;1398;p10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0" name="Google Shape;1400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11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3" name="Google Shape;1403;p110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0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110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6" name="Google Shape;140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8" name="Google Shape;1408;p11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9" name="Google Shape;1409;p11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10" name="Google Shape;1410;p11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411" name="Google Shape;1411;p11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12" name="Google Shape;1412;p11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413" name="Google Shape;1413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4" name="Google Shape;1414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5" name="Google Shape;1415;p11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416" name="Google Shape;1416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7" name="Google Shape;1417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18" name="Google Shape;1418;p11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419" name="Google Shape;1419;p1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0" name="Google Shape;1420;p11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Google Shape;1422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25" name="Google Shape;1425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9" name="Google Shape;1429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32" name="Google Shape;1432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6" name="Google Shape;1436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39" name="Google Shape;143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11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" name="Google Shape;1443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446" name="Google Shape;1446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8" name="Google Shape;1448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15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55" name="Google Shape;1455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8" name="Google Shape;1458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16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64" name="Google Shape;146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9" name="Google Shape;1469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117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72" name="Google Shape;1472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" name="Google Shape;1474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7" name="Google Shape;1477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18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80" name="Google Shape;148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2" name="Google Shape;1482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5" name="Google Shape;1485;p119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87" name="Google Shape;1487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0" name="Google Shape;1490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12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3" name="Google Shape;1493;p120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5" name="Google Shape;1495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6" name="Google Shape;149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8" name="Google Shape;1498;p1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0" name="Google Shape;1500;p1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1" name="Google Shape;1501;p121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12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3" name="Google Shape;1503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4" name="Google Shape;1504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6" name="Google Shape;1506;p1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12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1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9" name="Google Shape;1509;p122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2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11" name="Google Shape;1511;p12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12" name="Google Shape;1512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23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5" name="Google Shape;1515;p12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12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7" name="Google Shape;1517;p123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12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24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1" name="Google Shape;1521;p1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124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23" name="Google Shape;1523;p124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124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25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26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126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126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26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26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26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26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26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126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27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28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theme" Target="../theme/theme1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3.xml"/><Relationship Id="rId42" Type="http://schemas.openxmlformats.org/officeDocument/2006/relationships/slideLayout" Target="../slideLayouts/slideLayout105.xml"/><Relationship Id="rId41" Type="http://schemas.openxmlformats.org/officeDocument/2006/relationships/slideLayout" Target="../slideLayouts/slideLayout104.xml"/><Relationship Id="rId44" Type="http://schemas.openxmlformats.org/officeDocument/2006/relationships/slideLayout" Target="../slideLayouts/slideLayout107.xml"/><Relationship Id="rId43" Type="http://schemas.openxmlformats.org/officeDocument/2006/relationships/slideLayout" Target="../slideLayouts/slideLayout106.xml"/><Relationship Id="rId46" Type="http://schemas.openxmlformats.org/officeDocument/2006/relationships/slideLayout" Target="../slideLayouts/slideLayout109.xml"/><Relationship Id="rId45" Type="http://schemas.openxmlformats.org/officeDocument/2006/relationships/slideLayout" Target="../slideLayouts/slideLayout108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48" Type="http://schemas.openxmlformats.org/officeDocument/2006/relationships/slideLayout" Target="../slideLayouts/slideLayout111.xml"/><Relationship Id="rId47" Type="http://schemas.openxmlformats.org/officeDocument/2006/relationships/slideLayout" Target="../slideLayouts/slideLayout110.xml"/><Relationship Id="rId49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0.xml"/><Relationship Id="rId8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94.xml"/><Relationship Id="rId30" Type="http://schemas.openxmlformats.org/officeDocument/2006/relationships/slideLayout" Target="../slideLayouts/slideLayout93.xml"/><Relationship Id="rId33" Type="http://schemas.openxmlformats.org/officeDocument/2006/relationships/slideLayout" Target="../slideLayouts/slideLayout96.xml"/><Relationship Id="rId32" Type="http://schemas.openxmlformats.org/officeDocument/2006/relationships/slideLayout" Target="../slideLayouts/slideLayout95.xml"/><Relationship Id="rId35" Type="http://schemas.openxmlformats.org/officeDocument/2006/relationships/slideLayout" Target="../slideLayouts/slideLayout98.xml"/><Relationship Id="rId34" Type="http://schemas.openxmlformats.org/officeDocument/2006/relationships/slideLayout" Target="../slideLayouts/slideLayout97.xml"/><Relationship Id="rId37" Type="http://schemas.openxmlformats.org/officeDocument/2006/relationships/slideLayout" Target="../slideLayouts/slideLayout100.xml"/><Relationship Id="rId36" Type="http://schemas.openxmlformats.org/officeDocument/2006/relationships/slideLayout" Target="../slideLayouts/slideLayout99.xml"/><Relationship Id="rId39" Type="http://schemas.openxmlformats.org/officeDocument/2006/relationships/slideLayout" Target="../slideLayouts/slideLayout102.xml"/><Relationship Id="rId38" Type="http://schemas.openxmlformats.org/officeDocument/2006/relationships/slideLayout" Target="../slideLayouts/slideLayout101.xml"/><Relationship Id="rId62" Type="http://schemas.openxmlformats.org/officeDocument/2006/relationships/slideLayout" Target="../slideLayouts/slideLayout125.xml"/><Relationship Id="rId61" Type="http://schemas.openxmlformats.org/officeDocument/2006/relationships/slideLayout" Target="../slideLayouts/slideLayout124.xml"/><Relationship Id="rId20" Type="http://schemas.openxmlformats.org/officeDocument/2006/relationships/slideLayout" Target="../slideLayouts/slideLayout83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6.xml"/><Relationship Id="rId22" Type="http://schemas.openxmlformats.org/officeDocument/2006/relationships/slideLayout" Target="../slideLayouts/slideLayout85.xml"/><Relationship Id="rId21" Type="http://schemas.openxmlformats.org/officeDocument/2006/relationships/slideLayout" Target="../slideLayouts/slideLayout84.xml"/><Relationship Id="rId24" Type="http://schemas.openxmlformats.org/officeDocument/2006/relationships/slideLayout" Target="../slideLayouts/slideLayout87.xml"/><Relationship Id="rId23" Type="http://schemas.openxmlformats.org/officeDocument/2006/relationships/slideLayout" Target="../slideLayouts/slideLayout86.xml"/><Relationship Id="rId60" Type="http://schemas.openxmlformats.org/officeDocument/2006/relationships/slideLayout" Target="../slideLayouts/slideLayout123.xml"/><Relationship Id="rId26" Type="http://schemas.openxmlformats.org/officeDocument/2006/relationships/slideLayout" Target="../slideLayouts/slideLayout89.xml"/><Relationship Id="rId25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92.xml"/><Relationship Id="rId51" Type="http://schemas.openxmlformats.org/officeDocument/2006/relationships/slideLayout" Target="../slideLayouts/slideLayout114.xml"/><Relationship Id="rId50" Type="http://schemas.openxmlformats.org/officeDocument/2006/relationships/slideLayout" Target="../slideLayouts/slideLayout113.xml"/><Relationship Id="rId53" Type="http://schemas.openxmlformats.org/officeDocument/2006/relationships/slideLayout" Target="../slideLayouts/slideLayout116.xml"/><Relationship Id="rId52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74.xml"/><Relationship Id="rId5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73.xml"/><Relationship Id="rId54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76.xml"/><Relationship Id="rId5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75.xml"/><Relationship Id="rId56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78.xml"/><Relationship Id="rId59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77.xml"/><Relationship Id="rId58" Type="http://schemas.openxmlformats.org/officeDocument/2006/relationships/slideLayout" Target="../slideLayouts/slideLayout121.xml"/><Relationship Id="rId17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92" name="Google Shape;792;p66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93" name="Google Shape;793;p6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  <p:sldLayoutId id="2147483740" r:id="rId30"/>
    <p:sldLayoutId id="2147483741" r:id="rId31"/>
    <p:sldLayoutId id="2147483742" r:id="rId32"/>
    <p:sldLayoutId id="2147483743" r:id="rId33"/>
    <p:sldLayoutId id="2147483744" r:id="rId34"/>
    <p:sldLayoutId id="2147483745" r:id="rId35"/>
    <p:sldLayoutId id="2147483746" r:id="rId36"/>
    <p:sldLayoutId id="2147483747" r:id="rId37"/>
    <p:sldLayoutId id="2147483748" r:id="rId38"/>
    <p:sldLayoutId id="2147483749" r:id="rId39"/>
    <p:sldLayoutId id="2147483750" r:id="rId40"/>
    <p:sldLayoutId id="2147483751" r:id="rId41"/>
    <p:sldLayoutId id="2147483752" r:id="rId42"/>
    <p:sldLayoutId id="2147483753" r:id="rId43"/>
    <p:sldLayoutId id="2147483754" r:id="rId44"/>
    <p:sldLayoutId id="2147483755" r:id="rId45"/>
    <p:sldLayoutId id="2147483756" r:id="rId46"/>
    <p:sldLayoutId id="2147483757" r:id="rId47"/>
    <p:sldLayoutId id="2147483758" r:id="rId48"/>
    <p:sldLayoutId id="2147483759" r:id="rId49"/>
    <p:sldLayoutId id="2147483760" r:id="rId50"/>
    <p:sldLayoutId id="2147483761" r:id="rId51"/>
    <p:sldLayoutId id="2147483762" r:id="rId52"/>
    <p:sldLayoutId id="2147483763" r:id="rId53"/>
    <p:sldLayoutId id="2147483764" r:id="rId54"/>
    <p:sldLayoutId id="2147483765" r:id="rId55"/>
    <p:sldLayoutId id="2147483766" r:id="rId56"/>
    <p:sldLayoutId id="2147483767" r:id="rId57"/>
    <p:sldLayoutId id="2147483768" r:id="rId58"/>
    <p:sldLayoutId id="2147483769" r:id="rId59"/>
    <p:sldLayoutId id="2147483770" r:id="rId60"/>
    <p:sldLayoutId id="2147483771" r:id="rId61"/>
    <p:sldLayoutId id="2147483772" r:id="rId62"/>
    <p:sldLayoutId id="2147483773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3.png"/><Relationship Id="rId4" Type="http://schemas.openxmlformats.org/officeDocument/2006/relationships/image" Target="../media/image9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5.png"/><Relationship Id="rId4" Type="http://schemas.openxmlformats.org/officeDocument/2006/relationships/image" Target="../media/image104.png"/><Relationship Id="rId9" Type="http://schemas.openxmlformats.org/officeDocument/2006/relationships/image" Target="../media/image102.png"/><Relationship Id="rId5" Type="http://schemas.openxmlformats.org/officeDocument/2006/relationships/image" Target="../media/image99.png"/><Relationship Id="rId6" Type="http://schemas.openxmlformats.org/officeDocument/2006/relationships/image" Target="../media/image97.png"/><Relationship Id="rId7" Type="http://schemas.openxmlformats.org/officeDocument/2006/relationships/image" Target="../media/image100.png"/><Relationship Id="rId8" Type="http://schemas.openxmlformats.org/officeDocument/2006/relationships/image" Target="../media/image103.png"/><Relationship Id="rId11" Type="http://schemas.openxmlformats.org/officeDocument/2006/relationships/image" Target="../media/image101.png"/><Relationship Id="rId10" Type="http://schemas.openxmlformats.org/officeDocument/2006/relationships/image" Target="../media/image96.png"/><Relationship Id="rId13" Type="http://schemas.openxmlformats.org/officeDocument/2006/relationships/image" Target="../media/image105.png"/><Relationship Id="rId12" Type="http://schemas.openxmlformats.org/officeDocument/2006/relationships/image" Target="../media/image98.png"/><Relationship Id="rId15" Type="http://schemas.openxmlformats.org/officeDocument/2006/relationships/image" Target="../media/image107.png"/><Relationship Id="rId14" Type="http://schemas.openxmlformats.org/officeDocument/2006/relationships/image" Target="../media/image106.png"/><Relationship Id="rId16" Type="http://schemas.openxmlformats.org/officeDocument/2006/relationships/image" Target="../media/image1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99.png"/><Relationship Id="rId7" Type="http://schemas.openxmlformats.org/officeDocument/2006/relationships/image" Target="../media/image97.png"/><Relationship Id="rId8" Type="http://schemas.openxmlformats.org/officeDocument/2006/relationships/image" Target="../media/image100.png"/><Relationship Id="rId11" Type="http://schemas.openxmlformats.org/officeDocument/2006/relationships/image" Target="../media/image96.png"/><Relationship Id="rId10" Type="http://schemas.openxmlformats.org/officeDocument/2006/relationships/image" Target="../media/image102.png"/><Relationship Id="rId12" Type="http://schemas.openxmlformats.org/officeDocument/2006/relationships/image" Target="../media/image9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8.png"/><Relationship Id="rId4" Type="http://schemas.openxmlformats.org/officeDocument/2006/relationships/image" Target="../media/image43.png"/><Relationship Id="rId9" Type="http://schemas.openxmlformats.org/officeDocument/2006/relationships/image" Target="../media/image97.png"/><Relationship Id="rId5" Type="http://schemas.openxmlformats.org/officeDocument/2006/relationships/image" Target="../media/image110.png"/><Relationship Id="rId6" Type="http://schemas.openxmlformats.org/officeDocument/2006/relationships/image" Target="../media/image95.png"/><Relationship Id="rId7" Type="http://schemas.openxmlformats.org/officeDocument/2006/relationships/image" Target="../media/image104.png"/><Relationship Id="rId8" Type="http://schemas.openxmlformats.org/officeDocument/2006/relationships/image" Target="../media/image99.png"/><Relationship Id="rId11" Type="http://schemas.openxmlformats.org/officeDocument/2006/relationships/image" Target="../media/image103.png"/><Relationship Id="rId10" Type="http://schemas.openxmlformats.org/officeDocument/2006/relationships/image" Target="../media/image100.png"/><Relationship Id="rId13" Type="http://schemas.openxmlformats.org/officeDocument/2006/relationships/image" Target="../media/image96.png"/><Relationship Id="rId12" Type="http://schemas.openxmlformats.org/officeDocument/2006/relationships/image" Target="../media/image102.png"/><Relationship Id="rId15" Type="http://schemas.openxmlformats.org/officeDocument/2006/relationships/image" Target="../media/image98.png"/><Relationship Id="rId14" Type="http://schemas.openxmlformats.org/officeDocument/2006/relationships/image" Target="../media/image101.png"/><Relationship Id="rId16" Type="http://schemas.openxmlformats.org/officeDocument/2006/relationships/image" Target="../media/image1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3.png"/><Relationship Id="rId4" Type="http://schemas.openxmlformats.org/officeDocument/2006/relationships/image" Target="../media/image1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8.png"/><Relationship Id="rId4" Type="http://schemas.openxmlformats.org/officeDocument/2006/relationships/image" Target="../media/image43.png"/><Relationship Id="rId5" Type="http://schemas.openxmlformats.org/officeDocument/2006/relationships/image" Target="../media/image110.png"/><Relationship Id="rId6" Type="http://schemas.openxmlformats.org/officeDocument/2006/relationships/image" Target="../media/image1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5.png"/><Relationship Id="rId4" Type="http://schemas.openxmlformats.org/officeDocument/2006/relationships/image" Target="../media/image119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3.png"/><Relationship Id="rId4" Type="http://schemas.openxmlformats.org/officeDocument/2006/relationships/image" Target="../media/image124.png"/><Relationship Id="rId5" Type="http://schemas.openxmlformats.org/officeDocument/2006/relationships/image" Target="../media/image1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0.png"/><Relationship Id="rId4" Type="http://schemas.openxmlformats.org/officeDocument/2006/relationships/image" Target="../media/image148.png"/><Relationship Id="rId5" Type="http://schemas.openxmlformats.org/officeDocument/2006/relationships/image" Target="../media/image1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5.png"/><Relationship Id="rId4" Type="http://schemas.openxmlformats.org/officeDocument/2006/relationships/image" Target="../media/image1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3.jpg"/><Relationship Id="rId4" Type="http://schemas.openxmlformats.org/officeDocument/2006/relationships/image" Target="../media/image126.png"/><Relationship Id="rId5" Type="http://schemas.openxmlformats.org/officeDocument/2006/relationships/image" Target="../media/image128.png"/><Relationship Id="rId6" Type="http://schemas.openxmlformats.org/officeDocument/2006/relationships/image" Target="../media/image127.png"/><Relationship Id="rId7" Type="http://schemas.openxmlformats.org/officeDocument/2006/relationships/image" Target="../media/image1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9.png"/><Relationship Id="rId4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2.png"/><Relationship Id="rId4" Type="http://schemas.openxmlformats.org/officeDocument/2006/relationships/image" Target="../media/image126.png"/><Relationship Id="rId5" Type="http://schemas.openxmlformats.org/officeDocument/2006/relationships/image" Target="../media/image128.png"/><Relationship Id="rId6" Type="http://schemas.openxmlformats.org/officeDocument/2006/relationships/image" Target="../media/image127.png"/><Relationship Id="rId7" Type="http://schemas.openxmlformats.org/officeDocument/2006/relationships/image" Target="../media/image1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0.png"/><Relationship Id="rId4" Type="http://schemas.openxmlformats.org/officeDocument/2006/relationships/image" Target="../media/image138.png"/><Relationship Id="rId5" Type="http://schemas.openxmlformats.org/officeDocument/2006/relationships/image" Target="../media/image1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4.png"/><Relationship Id="rId4" Type="http://schemas.openxmlformats.org/officeDocument/2006/relationships/image" Target="../media/image1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0.png"/><Relationship Id="rId4" Type="http://schemas.openxmlformats.org/officeDocument/2006/relationships/image" Target="../media/image13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6.jpg"/><Relationship Id="rId4" Type="http://schemas.openxmlformats.org/officeDocument/2006/relationships/image" Target="../media/image1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4.jpg"/><Relationship Id="rId4" Type="http://schemas.openxmlformats.org/officeDocument/2006/relationships/image" Target="../media/image1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1.png"/><Relationship Id="rId4" Type="http://schemas.openxmlformats.org/officeDocument/2006/relationships/image" Target="../media/image1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4.jpg"/><Relationship Id="rId4" Type="http://schemas.openxmlformats.org/officeDocument/2006/relationships/image" Target="../media/image1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p12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metric units</a:t>
            </a:r>
            <a:endParaRPr/>
          </a:p>
        </p:txBody>
      </p:sp>
      <p:sp>
        <p:nvSpPr>
          <p:cNvPr id="1548" name="Google Shape;1548;p12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30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13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</a:t>
            </a:r>
            <a:r>
              <a:rPr lang="en-GB"/>
              <a:t> can convert statements about measure.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32"/>
          <p:cNvSpPr txBox="1"/>
          <p:nvPr>
            <p:ph idx="1" type="subTitle"/>
          </p:nvPr>
        </p:nvSpPr>
        <p:spPr>
          <a:xfrm>
            <a:off x="324000" y="1651155"/>
            <a:ext cx="84960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prefix </a:t>
            </a:r>
            <a:r>
              <a:rPr lang="en-GB"/>
              <a:t>is a group of letters attached to the front of a root (word) to make a new word, for example tricycle.</a:t>
            </a:r>
            <a:endParaRPr/>
          </a:p>
        </p:txBody>
      </p:sp>
      <p:sp>
        <p:nvSpPr>
          <p:cNvPr id="1564" name="Google Shape;1564;p132"/>
          <p:cNvSpPr txBox="1"/>
          <p:nvPr>
            <p:ph idx="2" type="subTitle"/>
          </p:nvPr>
        </p:nvSpPr>
        <p:spPr>
          <a:xfrm>
            <a:off x="324000" y="2579163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Centi</a:t>
            </a:r>
            <a:r>
              <a:rPr b="1" lang="en-GB"/>
              <a:t> </a:t>
            </a:r>
            <a:r>
              <a:rPr lang="en-GB"/>
              <a:t>placed before a unit means           </a:t>
            </a:r>
            <a:endParaRPr/>
          </a:p>
        </p:txBody>
      </p:sp>
      <p:sp>
        <p:nvSpPr>
          <p:cNvPr id="1565" name="Google Shape;1565;p132"/>
          <p:cNvSpPr txBox="1"/>
          <p:nvPr>
            <p:ph idx="3" type="subTitle"/>
          </p:nvPr>
        </p:nvSpPr>
        <p:spPr>
          <a:xfrm>
            <a:off x="324000" y="34309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Milli</a:t>
            </a:r>
            <a:r>
              <a:rPr lang="en-GB"/>
              <a:t> placed before a unit means             </a:t>
            </a:r>
            <a:endParaRPr/>
          </a:p>
        </p:txBody>
      </p:sp>
      <p:sp>
        <p:nvSpPr>
          <p:cNvPr id="1566" name="Google Shape;1566;p132"/>
          <p:cNvSpPr txBox="1"/>
          <p:nvPr>
            <p:ph idx="4" type="subTitle"/>
          </p:nvPr>
        </p:nvSpPr>
        <p:spPr>
          <a:xfrm>
            <a:off x="324000" y="42066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Kilo</a:t>
            </a:r>
            <a:r>
              <a:rPr b="1" lang="en-GB"/>
              <a:t> </a:t>
            </a:r>
            <a:r>
              <a:rPr lang="en-GB"/>
              <a:t>placed before a unit means 1000 times.</a:t>
            </a:r>
            <a:endParaRPr/>
          </a:p>
        </p:txBody>
      </p:sp>
      <p:sp>
        <p:nvSpPr>
          <p:cNvPr id="1567" name="Google Shape;1567;p132"/>
          <p:cNvSpPr txBox="1"/>
          <p:nvPr>
            <p:ph idx="5" type="subTitle"/>
          </p:nvPr>
        </p:nvSpPr>
        <p:spPr>
          <a:xfrm>
            <a:off x="324000" y="723125"/>
            <a:ext cx="7047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Metric</a:t>
            </a:r>
            <a:r>
              <a:rPr lang="en-GB"/>
              <a:t> units </a:t>
            </a:r>
            <a:r>
              <a:rPr lang="en-GB">
                <a:solidFill>
                  <a:schemeClr val="dk1"/>
                </a:solidFill>
              </a:rPr>
              <a:t>are based around the standard units of metre, gram and litre.</a:t>
            </a:r>
            <a:r>
              <a:rPr lang="en-GB"/>
              <a:t>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568" name="Google Shape;1568;p132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944" y="2418499"/>
            <a:ext cx="497225" cy="6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569" name="Google Shape;1569;p132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6344" y="3278411"/>
            <a:ext cx="650201" cy="6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133"/>
          <p:cNvSpPr txBox="1"/>
          <p:nvPr>
            <p:ph idx="3" type="title"/>
          </p:nvPr>
        </p:nvSpPr>
        <p:spPr>
          <a:xfrm>
            <a:off x="1224000" y="3758275"/>
            <a:ext cx="7101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Check if conversions of real examples are sensible</a:t>
            </a:r>
            <a:endParaRPr sz="1700"/>
          </a:p>
        </p:txBody>
      </p:sp>
      <p:sp>
        <p:nvSpPr>
          <p:cNvPr id="1575" name="Google Shape;1575;p13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1576" name="Google Shape;1576;p13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1577" name="Google Shape;1577;p133"/>
          <p:cNvSpPr txBox="1"/>
          <p:nvPr>
            <p:ph idx="4" type="title"/>
          </p:nvPr>
        </p:nvSpPr>
        <p:spPr>
          <a:xfrm>
            <a:off x="324000" y="657600"/>
            <a:ext cx="65595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metric units</a:t>
            </a:r>
            <a:endParaRPr/>
          </a:p>
        </p:txBody>
      </p:sp>
      <p:pic>
        <p:nvPicPr>
          <p:cNvPr id="1578" name="Google Shape;157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50" y="174831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metric measures using place value</a:t>
            </a:r>
            <a:endParaRPr/>
          </a:p>
        </p:txBody>
      </p:sp>
      <p:graphicFrame>
        <p:nvGraphicFramePr>
          <p:cNvPr id="1584" name="Google Shape;1584;p134"/>
          <p:cNvGraphicFramePr/>
          <p:nvPr/>
        </p:nvGraphicFramePr>
        <p:xfrm>
          <a:off x="576113" y="22313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5" name="Google Shape;1585;p134"/>
          <p:cNvSpPr txBox="1"/>
          <p:nvPr>
            <p:ph idx="1" type="body"/>
          </p:nvPr>
        </p:nvSpPr>
        <p:spPr>
          <a:xfrm>
            <a:off x="324000" y="759300"/>
            <a:ext cx="4140300" cy="10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would you use this place value chart to convert 12 m into cm?</a:t>
            </a:r>
            <a:endParaRPr/>
          </a:p>
        </p:txBody>
      </p:sp>
      <p:sp>
        <p:nvSpPr>
          <p:cNvPr id="1586" name="Google Shape;1586;p134"/>
          <p:cNvSpPr/>
          <p:nvPr/>
        </p:nvSpPr>
        <p:spPr>
          <a:xfrm>
            <a:off x="5761500" y="3258575"/>
            <a:ext cx="541200" cy="25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34"/>
          <p:cNvSpPr txBox="1"/>
          <p:nvPr>
            <p:ph idx="1" type="body"/>
          </p:nvPr>
        </p:nvSpPr>
        <p:spPr>
          <a:xfrm>
            <a:off x="4944925" y="3674527"/>
            <a:ext cx="707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8" name="Google Shape;1588;p134"/>
          <p:cNvSpPr txBox="1"/>
          <p:nvPr>
            <p:ph idx="1" type="body"/>
          </p:nvPr>
        </p:nvSpPr>
        <p:spPr>
          <a:xfrm>
            <a:off x="5671400" y="3674527"/>
            <a:ext cx="707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9" name="Google Shape;1589;p134"/>
          <p:cNvSpPr txBox="1"/>
          <p:nvPr>
            <p:ph idx="1" type="body"/>
          </p:nvPr>
        </p:nvSpPr>
        <p:spPr>
          <a:xfrm>
            <a:off x="4233240" y="1142147"/>
            <a:ext cx="1859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 1 2 0 0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90" name="Google Shape;1590;p134"/>
          <p:cNvCxnSpPr/>
          <p:nvPr/>
        </p:nvCxnSpPr>
        <p:spPr>
          <a:xfrm rot="10800000">
            <a:off x="953950" y="4176180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1" name="Google Shape;1591;p134"/>
          <p:cNvCxnSpPr/>
          <p:nvPr/>
        </p:nvCxnSpPr>
        <p:spPr>
          <a:xfrm>
            <a:off x="5085338" y="4176180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2" name="Google Shape;1592;p134"/>
          <p:cNvSpPr txBox="1"/>
          <p:nvPr/>
        </p:nvSpPr>
        <p:spPr>
          <a:xfrm>
            <a:off x="953950" y="4252280"/>
            <a:ext cx="310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longer distances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134"/>
          <p:cNvSpPr txBox="1"/>
          <p:nvPr/>
        </p:nvSpPr>
        <p:spPr>
          <a:xfrm>
            <a:off x="5085350" y="4252280"/>
            <a:ext cx="310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shorter distances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594" name="Google Shape;1594;p134" title="10 raised to the powe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4120" y="2870656"/>
            <a:ext cx="202780" cy="163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595" name="Google Shape;1595;p134" title="10 squa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4874" y="2804163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596" name="Google Shape;1596;p134" title="10 cub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8349" y="2804163"/>
            <a:ext cx="300899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597" name="Google Shape;1597;p134" title="10 to the fourth power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8752" y="2804155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5&quot;&gt;&lt;msup&gt;&lt;mn&gt;10&lt;/mn&gt;&lt;mn&gt;5&lt;/mn&gt;&lt;/msup&gt;&lt;/math&gt;" id="1598" name="Google Shape;1598;p134" title="10 to the fifth power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5675" y="2804163"/>
            <a:ext cx="307440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599" name="Google Shape;1599;p134" title="the fraction with numerator 1 and denominator 10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90587" y="2732551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600" name="Google Shape;1600;p134" title="the fraction with numerator 1 and denominator 10 cube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18521" y="2732551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601" name="Google Shape;1601;p134" title="the fraction with numerator 1 and denominator 10 to the fourth power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346442" y="2734464"/>
            <a:ext cx="263983" cy="378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5}&quot;&gt;&lt;mfrac&gt;&lt;mn&gt;1&lt;/mn&gt;&lt;msup&gt;&lt;mn&gt;10&lt;/mn&gt;&lt;mn&gt;5&lt;/mn&gt;&lt;/msup&gt;&lt;/mfrac&gt;&lt;/math&gt;" id="1602" name="Google Shape;1602;p134" title="the fraction with numerator 1 and denominator 10 to the fifth power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074375" y="2732099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603" name="Google Shape;1603;p134" title="one tent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98813" y="2721305"/>
            <a:ext cx="198622" cy="366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604" name="Google Shape;1604;p134" title="1 over 1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80432" y="2280321"/>
            <a:ext cx="284302" cy="362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605" name="Google Shape;1605;p134" title="one tent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98813" y="2278380"/>
            <a:ext cx="198622" cy="36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134"/>
          <p:cNvSpPr/>
          <p:nvPr/>
        </p:nvSpPr>
        <p:spPr>
          <a:xfrm>
            <a:off x="4252425" y="2373825"/>
            <a:ext cx="634800" cy="175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34"/>
          <p:cNvSpPr/>
          <p:nvPr/>
        </p:nvSpPr>
        <p:spPr>
          <a:xfrm>
            <a:off x="4252425" y="2848312"/>
            <a:ext cx="634800" cy="175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34"/>
          <p:cNvSpPr/>
          <p:nvPr/>
        </p:nvSpPr>
        <p:spPr>
          <a:xfrm>
            <a:off x="4252425" y="3298625"/>
            <a:ext cx="634800" cy="175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34"/>
          <p:cNvSpPr txBox="1"/>
          <p:nvPr>
            <p:ph idx="1" type="body"/>
          </p:nvPr>
        </p:nvSpPr>
        <p:spPr>
          <a:xfrm>
            <a:off x="4218450" y="3674527"/>
            <a:ext cx="707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0" name="Google Shape;1610;p134"/>
          <p:cNvSpPr txBox="1"/>
          <p:nvPr>
            <p:ph idx="1" type="body"/>
          </p:nvPr>
        </p:nvSpPr>
        <p:spPr>
          <a:xfrm>
            <a:off x="3491963" y="3674527"/>
            <a:ext cx="707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11" name="Google Shape;1611;p134"/>
          <p:cNvCxnSpPr/>
          <p:nvPr/>
        </p:nvCxnSpPr>
        <p:spPr>
          <a:xfrm flipH="1" rot="10800000">
            <a:off x="3372330" y="1469674"/>
            <a:ext cx="205200" cy="24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2" name="Google Shape;1612;p134"/>
          <p:cNvCxnSpPr/>
          <p:nvPr/>
        </p:nvCxnSpPr>
        <p:spPr>
          <a:xfrm rot="10800000">
            <a:off x="3921386" y="1469674"/>
            <a:ext cx="206700" cy="24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3" name="Google Shape;1613;p134"/>
          <p:cNvSpPr txBox="1"/>
          <p:nvPr/>
        </p:nvSpPr>
        <p:spPr>
          <a:xfrm>
            <a:off x="2302730" y="1716874"/>
            <a:ext cx="13413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ones digit</a:t>
            </a:r>
            <a:endParaRPr sz="1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4" name="Google Shape;1614;p134"/>
          <p:cNvSpPr txBox="1"/>
          <p:nvPr/>
        </p:nvSpPr>
        <p:spPr>
          <a:xfrm>
            <a:off x="3939336" y="1716874"/>
            <a:ext cx="6348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34"/>
          <p:cNvSpPr txBox="1"/>
          <p:nvPr>
            <p:ph idx="1" type="body"/>
          </p:nvPr>
        </p:nvSpPr>
        <p:spPr>
          <a:xfrm>
            <a:off x="6238573" y="3609969"/>
            <a:ext cx="300300" cy="31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.</a:t>
            </a:r>
            <a:endParaRPr sz="3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616" name="Google Shape;1616;p134" title="1 over 100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558425" y="2272049"/>
            <a:ext cx="384174" cy="37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\ 000}&quot;&gt;&lt;mfrac&gt;&lt;mn&gt;1&lt;/mn&gt;&lt;mrow&gt;&lt;mn&gt;100&lt;/mn&gt;&lt;mtext&gt;&lt;/mtext&gt;&lt;mn&gt;000&lt;/mn&gt;&lt;/mrow&gt;&lt;/mfrac&gt;&lt;/math&gt;" id="1617" name="Google Shape;1617;p134" title="the fraction with numerator 1 and denominator 100 00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207725" y="2266288"/>
            <a:ext cx="541325" cy="390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8" name="Google Shape;1618;p13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88961" y="2265950"/>
            <a:ext cx="634800" cy="390967"/>
          </a:xfrm>
          <a:prstGeom prst="rect">
            <a:avLst/>
          </a:prstGeom>
          <a:noFill/>
          <a:ln>
            <a:noFill/>
          </a:ln>
        </p:spPr>
      </p:pic>
      <p:sp>
        <p:nvSpPr>
          <p:cNvPr id="1619" name="Google Shape;1619;p134"/>
          <p:cNvSpPr/>
          <p:nvPr/>
        </p:nvSpPr>
        <p:spPr>
          <a:xfrm>
            <a:off x="915750" y="1530275"/>
            <a:ext cx="419700" cy="362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4" name="Google Shape;1624;p135"/>
          <p:cNvGraphicFramePr/>
          <p:nvPr/>
        </p:nvGraphicFramePr>
        <p:xfrm>
          <a:off x="232538" y="3032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743175"/>
                <a:gridCol w="743175"/>
                <a:gridCol w="743175"/>
                <a:gridCol w="743175"/>
                <a:gridCol w="743175"/>
                <a:gridCol w="729650"/>
                <a:gridCol w="756700"/>
                <a:gridCol w="743175"/>
                <a:gridCol w="743175"/>
                <a:gridCol w="743175"/>
                <a:gridCol w="74317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gram</a:t>
                      </a: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3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grams</a:t>
                      </a:r>
                      <a:endParaRPr sz="13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5" name="Google Shape;1625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1626" name="Google Shape;1626;p135"/>
          <p:cNvSpPr txBox="1"/>
          <p:nvPr>
            <p:ph idx="1" type="body"/>
          </p:nvPr>
        </p:nvSpPr>
        <p:spPr>
          <a:xfrm>
            <a:off x="324000" y="626334"/>
            <a:ext cx="4140300" cy="10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would you use this place value chart to convert 7.5 kg into grams?</a:t>
            </a:r>
            <a:endParaRPr/>
          </a:p>
        </p:txBody>
      </p:sp>
      <p:sp>
        <p:nvSpPr>
          <p:cNvPr id="1627" name="Google Shape;1627;p135"/>
          <p:cNvSpPr txBox="1"/>
          <p:nvPr>
            <p:ph idx="1" type="body"/>
          </p:nvPr>
        </p:nvSpPr>
        <p:spPr>
          <a:xfrm>
            <a:off x="3232625" y="4010769"/>
            <a:ext cx="707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8" name="Google Shape;1628;p135"/>
          <p:cNvSpPr txBox="1"/>
          <p:nvPr>
            <p:ph idx="1" type="body"/>
          </p:nvPr>
        </p:nvSpPr>
        <p:spPr>
          <a:xfrm>
            <a:off x="3959100" y="4010769"/>
            <a:ext cx="707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9" name="Google Shape;1629;p135"/>
          <p:cNvSpPr txBox="1"/>
          <p:nvPr>
            <p:ph idx="1" type="body"/>
          </p:nvPr>
        </p:nvSpPr>
        <p:spPr>
          <a:xfrm>
            <a:off x="4280103" y="1009184"/>
            <a:ext cx="1682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 7 5 0 0 g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0" name="Google Shape;1630;p135"/>
          <p:cNvSpPr/>
          <p:nvPr/>
        </p:nvSpPr>
        <p:spPr>
          <a:xfrm>
            <a:off x="885225" y="1419359"/>
            <a:ext cx="923400" cy="31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135"/>
          <p:cNvSpPr txBox="1"/>
          <p:nvPr>
            <p:ph idx="1" type="body"/>
          </p:nvPr>
        </p:nvSpPr>
        <p:spPr>
          <a:xfrm>
            <a:off x="1786524" y="4007191"/>
            <a:ext cx="707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2" name="Google Shape;1632;p135"/>
          <p:cNvSpPr txBox="1"/>
          <p:nvPr>
            <p:ph idx="1" type="body"/>
          </p:nvPr>
        </p:nvSpPr>
        <p:spPr>
          <a:xfrm>
            <a:off x="2509574" y="4007194"/>
            <a:ext cx="7071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33" name="Google Shape;1633;p135"/>
          <p:cNvCxnSpPr/>
          <p:nvPr/>
        </p:nvCxnSpPr>
        <p:spPr>
          <a:xfrm flipH="1" rot="10800000">
            <a:off x="3212873" y="1336708"/>
            <a:ext cx="205200" cy="24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135"/>
          <p:cNvCxnSpPr/>
          <p:nvPr/>
        </p:nvCxnSpPr>
        <p:spPr>
          <a:xfrm rot="10800000">
            <a:off x="3975354" y="1336708"/>
            <a:ext cx="206700" cy="247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35" name="Google Shape;1635;p135"/>
          <p:cNvGrpSpPr/>
          <p:nvPr/>
        </p:nvGrpSpPr>
        <p:grpSpPr>
          <a:xfrm>
            <a:off x="698100" y="4442722"/>
            <a:ext cx="7237300" cy="431100"/>
            <a:chOff x="953950" y="4096089"/>
            <a:chExt cx="7237300" cy="431100"/>
          </a:xfrm>
        </p:grpSpPr>
        <p:sp>
          <p:nvSpPr>
            <p:cNvPr id="1636" name="Google Shape;1636;p135"/>
            <p:cNvSpPr txBox="1"/>
            <p:nvPr/>
          </p:nvSpPr>
          <p:spPr>
            <a:xfrm>
              <a:off x="953950" y="4096089"/>
              <a:ext cx="310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escribes greater mass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37" name="Google Shape;1637;p135"/>
            <p:cNvSpPr txBox="1"/>
            <p:nvPr/>
          </p:nvSpPr>
          <p:spPr>
            <a:xfrm>
              <a:off x="5085350" y="4096089"/>
              <a:ext cx="310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d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escribes smaller mass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38" name="Google Shape;1638;p135"/>
            <p:cNvCxnSpPr/>
            <p:nvPr/>
          </p:nvCxnSpPr>
          <p:spPr>
            <a:xfrm rot="10800000">
              <a:off x="953950" y="4172389"/>
              <a:ext cx="31059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9" name="Google Shape;1639;p135"/>
            <p:cNvCxnSpPr/>
            <p:nvPr/>
          </p:nvCxnSpPr>
          <p:spPr>
            <a:xfrm>
              <a:off x="5085338" y="4172389"/>
              <a:ext cx="3105900" cy="0"/>
            </a:xfrm>
            <a:prstGeom prst="straightConnector1">
              <a:avLst/>
            </a:prstGeom>
            <a:noFill/>
            <a:ln cap="flat" cmpd="sng" w="2857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40" name="Google Shape;1640;p135"/>
          <p:cNvGrpSpPr/>
          <p:nvPr/>
        </p:nvGrpSpPr>
        <p:grpSpPr>
          <a:xfrm>
            <a:off x="438586" y="3064884"/>
            <a:ext cx="7752829" cy="393829"/>
            <a:chOff x="785675" y="2718196"/>
            <a:chExt cx="7552683" cy="393829"/>
          </a:xfrm>
        </p:grpSpPr>
        <p:pic>
          <p:nvPicPr>
            <p:cNvPr descr="&lt;math xmlns=&quot;http://www.w3.org/1998/Math/MathML&quot; display=&quot;block&quot; data-is-equatio=&quot;1&quot; data-latex=&quot;\frac{1}{10^5}&quot;&gt;&lt;mfrac&gt;&lt;mn&gt;1&lt;/mn&gt;&lt;msup&gt;&lt;mn&gt;10&lt;/mn&gt;&lt;mn&gt;5&lt;/mn&gt;&lt;/msup&gt;&lt;/mfrac&gt;&lt;/math&gt;" id="1641" name="Google Shape;1641;p135" title="the fraction with numerator 1 and denominator 10 to the fifth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4375" y="2728989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642" name="Google Shape;1642;p135" title="10 raised to the power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744120" y="2867547"/>
              <a:ext cx="202780" cy="1635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1643" name="Google Shape;1643;p135" title="10 squar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954874" y="2801054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1644" name="Google Shape;1644;p135" title="10 cubed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238349" y="2801054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1645" name="Google Shape;1645;p135" title="10 to the four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508752" y="2801046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1646" name="Google Shape;1646;p135" title="10 to the fifth power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85675" y="2801054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647" name="Google Shape;1647;p135" title="the fraction with numerator 1 and denominator 10 squar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890587" y="2729442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648" name="Google Shape;1648;p135" title="the fraction with numerator 1 and denominator 10 cubed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618521" y="2729442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649" name="Google Shape;1649;p135" title="the fraction with numerator 1 and denominator 10 to the fourth power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7346442" y="2731355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650" name="Google Shape;1650;p135" title="one tenth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198813" y="2718196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1" name="Google Shape;1651;p135"/>
            <p:cNvSpPr/>
            <p:nvPr/>
          </p:nvSpPr>
          <p:spPr>
            <a:xfrm>
              <a:off x="4215304" y="2827920"/>
              <a:ext cx="681900" cy="208800"/>
            </a:xfrm>
            <a:prstGeom prst="rect">
              <a:avLst/>
            </a:prstGeom>
            <a:noFill/>
            <a:ln cap="flat" cmpd="sng" w="9525">
              <a:solidFill>
                <a:srgbClr val="595959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2" name="Google Shape;1652;p135"/>
          <p:cNvSpPr txBox="1"/>
          <p:nvPr/>
        </p:nvSpPr>
        <p:spPr>
          <a:xfrm>
            <a:off x="2542223" y="1583908"/>
            <a:ext cx="13413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ones digit</a:t>
            </a:r>
            <a:endParaRPr sz="1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3" name="Google Shape;1653;p135"/>
          <p:cNvSpPr txBox="1"/>
          <p:nvPr/>
        </p:nvSpPr>
        <p:spPr>
          <a:xfrm>
            <a:off x="3976429" y="1583908"/>
            <a:ext cx="6348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sz="1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4" name="Google Shape;1654;p135"/>
          <p:cNvSpPr txBox="1"/>
          <p:nvPr>
            <p:ph idx="1" type="body"/>
          </p:nvPr>
        </p:nvSpPr>
        <p:spPr>
          <a:xfrm>
            <a:off x="4529200" y="3940617"/>
            <a:ext cx="300300" cy="31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.</a:t>
            </a:r>
            <a:endParaRPr sz="3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5" name="Google Shape;1655;p135"/>
          <p:cNvSpPr/>
          <p:nvPr/>
        </p:nvSpPr>
        <p:spPr>
          <a:xfrm>
            <a:off x="3959100" y="3553658"/>
            <a:ext cx="699900" cy="362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135"/>
          <p:cNvSpPr txBox="1"/>
          <p:nvPr>
            <p:ph idx="1" type="body"/>
          </p:nvPr>
        </p:nvSpPr>
        <p:spPr>
          <a:xfrm>
            <a:off x="830200" y="2318827"/>
            <a:ext cx="6735300" cy="400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kilogram means 1000 grams.</a:t>
            </a:r>
            <a:endParaRPr sz="1600"/>
          </a:p>
        </p:txBody>
      </p:sp>
      <p:sp>
        <p:nvSpPr>
          <p:cNvPr id="1657" name="Google Shape;1657;p135"/>
          <p:cNvSpPr txBox="1"/>
          <p:nvPr>
            <p:ph idx="1" type="body"/>
          </p:nvPr>
        </p:nvSpPr>
        <p:spPr>
          <a:xfrm>
            <a:off x="324000" y="1902140"/>
            <a:ext cx="38388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Keyword check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58" name="Google Shape;1658;p135"/>
          <p:cNvSpPr txBox="1"/>
          <p:nvPr>
            <p:ph idx="1" type="body"/>
          </p:nvPr>
        </p:nvSpPr>
        <p:spPr>
          <a:xfrm>
            <a:off x="830188" y="2629927"/>
            <a:ext cx="6735300" cy="400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7.5 kg means 7.5 lots of 1000 g </a:t>
            </a:r>
            <a:endParaRPr sz="1600"/>
          </a:p>
        </p:txBody>
      </p:sp>
      <p:sp>
        <p:nvSpPr>
          <p:cNvPr id="1659" name="Google Shape;1659;p135"/>
          <p:cNvSpPr txBox="1"/>
          <p:nvPr>
            <p:ph idx="1" type="body"/>
          </p:nvPr>
        </p:nvSpPr>
        <p:spPr>
          <a:xfrm>
            <a:off x="3856828" y="2623534"/>
            <a:ext cx="1591800" cy="400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=  7500 g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4" name="Google Shape;1664;p136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2454102" y="810000"/>
            <a:ext cx="2561674" cy="142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136"/>
          <p:cNvSpPr txBox="1"/>
          <p:nvPr>
            <p:ph idx="1" type="body"/>
          </p:nvPr>
        </p:nvSpPr>
        <p:spPr>
          <a:xfrm>
            <a:off x="324000" y="969050"/>
            <a:ext cx="1763400" cy="11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Jun’s sentence.</a:t>
            </a:r>
            <a:endParaRPr/>
          </a:p>
        </p:txBody>
      </p:sp>
      <p:sp>
        <p:nvSpPr>
          <p:cNvPr id="1666" name="Google Shape;1666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1667" name="Google Shape;1667;p136"/>
          <p:cNvSpPr txBox="1"/>
          <p:nvPr>
            <p:ph idx="1" type="body"/>
          </p:nvPr>
        </p:nvSpPr>
        <p:spPr>
          <a:xfrm>
            <a:off x="2635874" y="914375"/>
            <a:ext cx="2379900" cy="1077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If I convert 0.47 litres into millilitres, I               get </a:t>
            </a:r>
            <a:r>
              <a:rPr lang="en-GB" sz="1700" u="sng"/>
              <a:t>             </a:t>
            </a:r>
            <a:r>
              <a:rPr lang="en-GB" sz="1700" u="sng">
                <a:solidFill>
                  <a:srgbClr val="F3EEFB"/>
                </a:solidFill>
              </a:rPr>
              <a:t>.</a:t>
            </a:r>
            <a:endParaRPr sz="1700">
              <a:solidFill>
                <a:srgbClr val="F3EE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8" name="Google Shape;1668;p136"/>
          <p:cNvGrpSpPr/>
          <p:nvPr/>
        </p:nvGrpSpPr>
        <p:grpSpPr>
          <a:xfrm>
            <a:off x="5273842" y="1142975"/>
            <a:ext cx="457200" cy="457200"/>
            <a:chOff x="1020916" y="1442088"/>
            <a:chExt cx="457200" cy="457200"/>
          </a:xfrm>
        </p:grpSpPr>
        <p:pic>
          <p:nvPicPr>
            <p:cNvPr id="1669" name="Google Shape;1669;p1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0" name="Google Shape;1670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1" name="Google Shape;1671;p136"/>
          <p:cNvGrpSpPr/>
          <p:nvPr/>
        </p:nvGrpSpPr>
        <p:grpSpPr>
          <a:xfrm>
            <a:off x="7194041" y="1142975"/>
            <a:ext cx="457200" cy="457200"/>
            <a:chOff x="1020916" y="1442088"/>
            <a:chExt cx="457200" cy="457200"/>
          </a:xfrm>
        </p:grpSpPr>
        <p:pic>
          <p:nvPicPr>
            <p:cNvPr id="1672" name="Google Shape;1672;p1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3" name="Google Shape;1673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4" name="Google Shape;1674;p136"/>
          <p:cNvGrpSpPr/>
          <p:nvPr/>
        </p:nvGrpSpPr>
        <p:grpSpPr>
          <a:xfrm>
            <a:off x="5273842" y="2133563"/>
            <a:ext cx="457200" cy="457200"/>
            <a:chOff x="1020916" y="1442088"/>
            <a:chExt cx="457200" cy="457200"/>
          </a:xfrm>
        </p:grpSpPr>
        <p:pic>
          <p:nvPicPr>
            <p:cNvPr id="1675" name="Google Shape;1675;p1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6" name="Google Shape;1676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7" name="Google Shape;1677;p136"/>
          <p:cNvGrpSpPr/>
          <p:nvPr/>
        </p:nvGrpSpPr>
        <p:grpSpPr>
          <a:xfrm>
            <a:off x="7222591" y="2133563"/>
            <a:ext cx="457200" cy="457200"/>
            <a:chOff x="1020916" y="1442088"/>
            <a:chExt cx="457200" cy="457200"/>
          </a:xfrm>
        </p:grpSpPr>
        <p:pic>
          <p:nvPicPr>
            <p:cNvPr id="1678" name="Google Shape;1678;p1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9" name="Google Shape;1679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80" name="Google Shape;1680;p136"/>
          <p:cNvSpPr txBox="1"/>
          <p:nvPr>
            <p:ph idx="1" type="body"/>
          </p:nvPr>
        </p:nvSpPr>
        <p:spPr>
          <a:xfrm>
            <a:off x="5780924" y="1142975"/>
            <a:ext cx="1206600" cy="4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0.470 ml</a:t>
            </a:r>
            <a:endParaRPr/>
          </a:p>
        </p:txBody>
      </p:sp>
      <p:sp>
        <p:nvSpPr>
          <p:cNvPr id="1681" name="Google Shape;1681;p136"/>
          <p:cNvSpPr txBox="1"/>
          <p:nvPr>
            <p:ph idx="1" type="body"/>
          </p:nvPr>
        </p:nvSpPr>
        <p:spPr>
          <a:xfrm>
            <a:off x="5780924" y="2133574"/>
            <a:ext cx="1206600" cy="4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047.0 ml</a:t>
            </a:r>
            <a:endParaRPr/>
          </a:p>
        </p:txBody>
      </p:sp>
      <p:sp>
        <p:nvSpPr>
          <p:cNvPr id="1682" name="Google Shape;1682;p136"/>
          <p:cNvSpPr txBox="1"/>
          <p:nvPr>
            <p:ph idx="1" type="body"/>
          </p:nvPr>
        </p:nvSpPr>
        <p:spPr>
          <a:xfrm>
            <a:off x="7694050" y="1142975"/>
            <a:ext cx="1206600" cy="4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0470 ml</a:t>
            </a:r>
            <a:endParaRPr/>
          </a:p>
        </p:txBody>
      </p:sp>
      <p:sp>
        <p:nvSpPr>
          <p:cNvPr id="1683" name="Google Shape;1683;p136"/>
          <p:cNvSpPr txBox="1"/>
          <p:nvPr>
            <p:ph idx="1" type="body"/>
          </p:nvPr>
        </p:nvSpPr>
        <p:spPr>
          <a:xfrm>
            <a:off x="7694050" y="2133574"/>
            <a:ext cx="1206600" cy="4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470 ml</a:t>
            </a:r>
            <a:endParaRPr/>
          </a:p>
        </p:txBody>
      </p:sp>
      <p:pic>
        <p:nvPicPr>
          <p:cNvPr id="1684" name="Google Shape;1684;p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5971" y="2422868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5" name="Google Shape;1685;p136"/>
          <p:cNvGraphicFramePr/>
          <p:nvPr/>
        </p:nvGraphicFramePr>
        <p:xfrm>
          <a:off x="576113" y="289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686" name="Google Shape;1686;p136" title="10 raised to the power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4120" y="3043918"/>
            <a:ext cx="202780" cy="163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687" name="Google Shape;1687;p136" title="10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4874" y="3011208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688" name="Google Shape;1688;p136" title="10 cub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38349" y="3011208"/>
            <a:ext cx="300899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689" name="Google Shape;1689;p136" title="10 to the fourth powe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08752" y="3011200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5&quot;&gt;&lt;msup&gt;&lt;mn&gt;10&lt;/mn&gt;&lt;mn&gt;5&lt;/mn&gt;&lt;/msup&gt;&lt;/math&gt;" id="1690" name="Google Shape;1690;p136" title="10 to the fifth power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5675" y="3011208"/>
            <a:ext cx="307440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691" name="Google Shape;1691;p136" title="the fraction with numerator 1 and denominator 10 squared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90587" y="2939596"/>
            <a:ext cx="263983" cy="382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692" name="Google Shape;1692;p136" title="the fraction with numerator 1 and denominator 10 cube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618521" y="2939596"/>
            <a:ext cx="263983" cy="382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693" name="Google Shape;1693;p136" title="the fraction with numerator 1 and denominator 10 to the fourth power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346442" y="2941509"/>
            <a:ext cx="263983" cy="378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5}&quot;&gt;&lt;mfrac&gt;&lt;mn&gt;1&lt;/mn&gt;&lt;msup&gt;&lt;mn&gt;10&lt;/mn&gt;&lt;mn&gt;5&lt;/mn&gt;&lt;/msup&gt;&lt;/mfrac&gt;&lt;/math&gt;" id="1694" name="Google Shape;1694;p136" title="the fraction with numerator 1 and denominator 10 to the fifth power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074375" y="2939144"/>
            <a:ext cx="263983" cy="3825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695" name="Google Shape;1695;p136" title="one tenth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198813" y="2928350"/>
            <a:ext cx="198622" cy="366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6" name="Google Shape;1696;p136"/>
          <p:cNvCxnSpPr/>
          <p:nvPr/>
        </p:nvCxnSpPr>
        <p:spPr>
          <a:xfrm rot="10800000">
            <a:off x="953350" y="4382543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7" name="Google Shape;1697;p136"/>
          <p:cNvCxnSpPr/>
          <p:nvPr/>
        </p:nvCxnSpPr>
        <p:spPr>
          <a:xfrm>
            <a:off x="5084738" y="4382543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8" name="Google Shape;1698;p136"/>
          <p:cNvSpPr txBox="1"/>
          <p:nvPr/>
        </p:nvSpPr>
        <p:spPr>
          <a:xfrm>
            <a:off x="953350" y="4458643"/>
            <a:ext cx="3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larger capacities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136"/>
          <p:cNvSpPr txBox="1"/>
          <p:nvPr/>
        </p:nvSpPr>
        <p:spPr>
          <a:xfrm>
            <a:off x="5084750" y="4458643"/>
            <a:ext cx="3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capacities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136"/>
          <p:cNvSpPr/>
          <p:nvPr/>
        </p:nvSpPr>
        <p:spPr>
          <a:xfrm>
            <a:off x="4306725" y="3038065"/>
            <a:ext cx="530700" cy="175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136"/>
          <p:cNvSpPr/>
          <p:nvPr/>
        </p:nvSpPr>
        <p:spPr>
          <a:xfrm>
            <a:off x="4306725" y="3500478"/>
            <a:ext cx="530700" cy="175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136"/>
          <p:cNvSpPr txBox="1"/>
          <p:nvPr>
            <p:ph idx="1" type="body"/>
          </p:nvPr>
        </p:nvSpPr>
        <p:spPr>
          <a:xfrm>
            <a:off x="4943476" y="3830791"/>
            <a:ext cx="715800" cy="40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3" name="Google Shape;1703;p136"/>
          <p:cNvSpPr txBox="1"/>
          <p:nvPr>
            <p:ph idx="1" type="body"/>
          </p:nvPr>
        </p:nvSpPr>
        <p:spPr>
          <a:xfrm>
            <a:off x="4211569" y="3827216"/>
            <a:ext cx="715800" cy="40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4" name="Google Shape;1704;p136"/>
          <p:cNvSpPr txBox="1"/>
          <p:nvPr>
            <p:ph idx="1" type="body"/>
          </p:nvPr>
        </p:nvSpPr>
        <p:spPr>
          <a:xfrm>
            <a:off x="5668889" y="3830791"/>
            <a:ext cx="715800" cy="40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5" name="Google Shape;1705;p136"/>
          <p:cNvSpPr txBox="1"/>
          <p:nvPr>
            <p:ph idx="1" type="body"/>
          </p:nvPr>
        </p:nvSpPr>
        <p:spPr>
          <a:xfrm>
            <a:off x="6760292" y="3776548"/>
            <a:ext cx="715800" cy="30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.</a:t>
            </a:r>
            <a:endParaRPr sz="3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6" name="Google Shape;1706;p136"/>
          <p:cNvSpPr txBox="1"/>
          <p:nvPr>
            <p:ph idx="1" type="body"/>
          </p:nvPr>
        </p:nvSpPr>
        <p:spPr>
          <a:xfrm>
            <a:off x="6392606" y="3827216"/>
            <a:ext cx="715800" cy="40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07" name="Google Shape;1707;p136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980278" y="1826075"/>
            <a:ext cx="655592" cy="8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2" name="Google Shape;1712;p137"/>
          <p:cNvGraphicFramePr/>
          <p:nvPr/>
        </p:nvGraphicFramePr>
        <p:xfrm>
          <a:off x="576113" y="265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3" name="Google Shape;1713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1714" name="Google Shape;1714;p137"/>
          <p:cNvSpPr txBox="1"/>
          <p:nvPr>
            <p:ph idx="1" type="body"/>
          </p:nvPr>
        </p:nvSpPr>
        <p:spPr>
          <a:xfrm>
            <a:off x="324000" y="759300"/>
            <a:ext cx="4140300" cy="10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would you use this place value chart to convert 6050 ml into litres?</a:t>
            </a:r>
            <a:endParaRPr/>
          </a:p>
        </p:txBody>
      </p:sp>
      <p:sp>
        <p:nvSpPr>
          <p:cNvPr id="1715" name="Google Shape;1715;p137"/>
          <p:cNvSpPr txBox="1"/>
          <p:nvPr>
            <p:ph idx="1" type="body"/>
          </p:nvPr>
        </p:nvSpPr>
        <p:spPr>
          <a:xfrm>
            <a:off x="6396024" y="3115725"/>
            <a:ext cx="7155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6" name="Google Shape;1716;p137"/>
          <p:cNvSpPr txBox="1"/>
          <p:nvPr>
            <p:ph idx="1" type="body"/>
          </p:nvPr>
        </p:nvSpPr>
        <p:spPr>
          <a:xfrm>
            <a:off x="5667999" y="3115725"/>
            <a:ext cx="7281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7" name="Google Shape;1717;p137"/>
          <p:cNvSpPr txBox="1"/>
          <p:nvPr>
            <p:ph idx="1" type="body"/>
          </p:nvPr>
        </p:nvSpPr>
        <p:spPr>
          <a:xfrm>
            <a:off x="4941474" y="3115725"/>
            <a:ext cx="7281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8" name="Google Shape;1718;p137"/>
          <p:cNvSpPr txBox="1"/>
          <p:nvPr>
            <p:ph idx="1" type="body"/>
          </p:nvPr>
        </p:nvSpPr>
        <p:spPr>
          <a:xfrm>
            <a:off x="4215874" y="3115725"/>
            <a:ext cx="7281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9" name="Google Shape;1719;p137"/>
          <p:cNvSpPr txBox="1"/>
          <p:nvPr>
            <p:ph idx="1" type="body"/>
          </p:nvPr>
        </p:nvSpPr>
        <p:spPr>
          <a:xfrm>
            <a:off x="4786024" y="3115725"/>
            <a:ext cx="300300" cy="31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.</a:t>
            </a:r>
            <a:endParaRPr sz="3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0" name="Google Shape;1720;p137"/>
          <p:cNvSpPr txBox="1"/>
          <p:nvPr>
            <p:ph idx="1" type="body"/>
          </p:nvPr>
        </p:nvSpPr>
        <p:spPr>
          <a:xfrm>
            <a:off x="4548455" y="1142150"/>
            <a:ext cx="22740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 6 . 0 5 litres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21" name="Google Shape;1721;p137"/>
          <p:cNvCxnSpPr/>
          <p:nvPr/>
        </p:nvCxnSpPr>
        <p:spPr>
          <a:xfrm rot="10800000">
            <a:off x="953350" y="3687293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2" name="Google Shape;1722;p137"/>
          <p:cNvCxnSpPr/>
          <p:nvPr/>
        </p:nvCxnSpPr>
        <p:spPr>
          <a:xfrm>
            <a:off x="5084738" y="3687293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3" name="Google Shape;1723;p137"/>
          <p:cNvSpPr txBox="1"/>
          <p:nvPr/>
        </p:nvSpPr>
        <p:spPr>
          <a:xfrm>
            <a:off x="953350" y="3763393"/>
            <a:ext cx="3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larger capacities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137"/>
          <p:cNvSpPr txBox="1"/>
          <p:nvPr/>
        </p:nvSpPr>
        <p:spPr>
          <a:xfrm>
            <a:off x="5084750" y="3763393"/>
            <a:ext cx="3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capacities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137"/>
          <p:cNvSpPr/>
          <p:nvPr/>
        </p:nvSpPr>
        <p:spPr>
          <a:xfrm>
            <a:off x="4306725" y="2800015"/>
            <a:ext cx="530700" cy="175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6" name="Google Shape;1726;p137"/>
          <p:cNvSpPr/>
          <p:nvPr/>
        </p:nvSpPr>
        <p:spPr>
          <a:xfrm>
            <a:off x="885225" y="1552325"/>
            <a:ext cx="715500" cy="31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137"/>
          <p:cNvSpPr/>
          <p:nvPr/>
        </p:nvSpPr>
        <p:spPr>
          <a:xfrm>
            <a:off x="4225350" y="2728850"/>
            <a:ext cx="693900" cy="308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138"/>
          <p:cNvSpPr txBox="1"/>
          <p:nvPr>
            <p:ph idx="1" type="body"/>
          </p:nvPr>
        </p:nvSpPr>
        <p:spPr>
          <a:xfrm>
            <a:off x="830200" y="2874125"/>
            <a:ext cx="67353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millilitre means          of a litre.</a:t>
            </a:r>
            <a:endParaRPr>
              <a:highlight>
                <a:srgbClr val="FFFFFF"/>
              </a:highlight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733" name="Google Shape;1733;p138" title="1 over 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6438" y="2765130"/>
            <a:ext cx="532822" cy="52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050}{1000}&quot;&gt;&lt;mfrac&gt;&lt;mn&gt;6050&lt;/mn&gt;&lt;mn&gt;1000&lt;/mn&gt;&lt;/mfrac&gt;&lt;/math&gt;" id="1734" name="Google Shape;1734;p138" title="6050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9130" y="3648377"/>
            <a:ext cx="527456" cy="521741"/>
          </a:xfrm>
          <a:prstGeom prst="rect">
            <a:avLst/>
          </a:prstGeom>
          <a:noFill/>
          <a:ln>
            <a:noFill/>
          </a:ln>
        </p:spPr>
      </p:pic>
      <p:sp>
        <p:nvSpPr>
          <p:cNvPr id="1735" name="Google Shape;1735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1736" name="Google Shape;1736;p138"/>
          <p:cNvSpPr txBox="1"/>
          <p:nvPr>
            <p:ph idx="1" type="body"/>
          </p:nvPr>
        </p:nvSpPr>
        <p:spPr>
          <a:xfrm>
            <a:off x="324000" y="759300"/>
            <a:ext cx="4140300" cy="10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would you use this place value chart to convert 6050 ml into litres?</a:t>
            </a:r>
            <a:endParaRPr/>
          </a:p>
        </p:txBody>
      </p:sp>
      <p:sp>
        <p:nvSpPr>
          <p:cNvPr id="1737" name="Google Shape;1737;p138"/>
          <p:cNvSpPr txBox="1"/>
          <p:nvPr>
            <p:ph idx="1" type="body"/>
          </p:nvPr>
        </p:nvSpPr>
        <p:spPr>
          <a:xfrm>
            <a:off x="324000" y="2457437"/>
            <a:ext cx="38388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Keyword check</a:t>
            </a:r>
            <a:endParaRPr/>
          </a:p>
        </p:txBody>
      </p:sp>
      <p:sp>
        <p:nvSpPr>
          <p:cNvPr id="1738" name="Google Shape;1738;p138"/>
          <p:cNvSpPr txBox="1"/>
          <p:nvPr>
            <p:ph idx="1" type="body"/>
          </p:nvPr>
        </p:nvSpPr>
        <p:spPr>
          <a:xfrm>
            <a:off x="830200" y="3751150"/>
            <a:ext cx="42966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6050 ml means          of a litre </a:t>
            </a:r>
            <a:endParaRPr/>
          </a:p>
        </p:txBody>
      </p:sp>
      <p:sp>
        <p:nvSpPr>
          <p:cNvPr id="1739" name="Google Shape;1739;p138"/>
          <p:cNvSpPr txBox="1"/>
          <p:nvPr>
            <p:ph idx="1" type="body"/>
          </p:nvPr>
        </p:nvSpPr>
        <p:spPr>
          <a:xfrm>
            <a:off x="5017942" y="3751150"/>
            <a:ext cx="16779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6.05 litres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40" name="Google Shape;1740;p138"/>
          <p:cNvSpPr txBox="1"/>
          <p:nvPr>
            <p:ph idx="1" type="body"/>
          </p:nvPr>
        </p:nvSpPr>
        <p:spPr>
          <a:xfrm>
            <a:off x="4548455" y="1142150"/>
            <a:ext cx="22740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 6 . 0 5 litres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5" name="Google Shape;1745;p139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2236627" y="810000"/>
            <a:ext cx="2848123" cy="13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139"/>
          <p:cNvSpPr txBox="1"/>
          <p:nvPr>
            <p:ph idx="1" type="body"/>
          </p:nvPr>
        </p:nvSpPr>
        <p:spPr>
          <a:xfrm>
            <a:off x="324000" y="969050"/>
            <a:ext cx="1763400" cy="11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 Jacob’s sentence.</a:t>
            </a:r>
            <a:endParaRPr/>
          </a:p>
        </p:txBody>
      </p:sp>
      <p:sp>
        <p:nvSpPr>
          <p:cNvPr id="1747" name="Google Shape;1747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1748" name="Google Shape;1748;p139"/>
          <p:cNvSpPr txBox="1"/>
          <p:nvPr>
            <p:ph idx="1" type="body"/>
          </p:nvPr>
        </p:nvSpPr>
        <p:spPr>
          <a:xfrm>
            <a:off x="2450650" y="914375"/>
            <a:ext cx="2522400" cy="1077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 have a bottle of water that says 660 ml.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This is the same as</a:t>
            </a:r>
            <a:r>
              <a:rPr lang="en-GB" sz="1700"/>
              <a:t> </a:t>
            </a:r>
            <a:r>
              <a:rPr lang="en-GB" sz="1700" u="sng"/>
              <a:t>       </a:t>
            </a:r>
            <a:r>
              <a:rPr lang="en-GB" sz="1700" u="sng">
                <a:solidFill>
                  <a:srgbClr val="F3EEFB"/>
                </a:solidFill>
              </a:rPr>
              <a:t>.</a:t>
            </a:r>
            <a:endParaRPr sz="1700">
              <a:solidFill>
                <a:srgbClr val="F3EEFB"/>
              </a:solidFill>
            </a:endParaRPr>
          </a:p>
        </p:txBody>
      </p:sp>
      <p:grpSp>
        <p:nvGrpSpPr>
          <p:cNvPr id="1749" name="Google Shape;1749;p139"/>
          <p:cNvGrpSpPr/>
          <p:nvPr/>
        </p:nvGrpSpPr>
        <p:grpSpPr>
          <a:xfrm>
            <a:off x="5426242" y="1142975"/>
            <a:ext cx="457200" cy="457200"/>
            <a:chOff x="1020916" y="1442088"/>
            <a:chExt cx="457200" cy="457200"/>
          </a:xfrm>
        </p:grpSpPr>
        <p:pic>
          <p:nvPicPr>
            <p:cNvPr id="1750" name="Google Shape;1750;p1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1" name="Google Shape;1751;p1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2" name="Google Shape;1752;p139"/>
          <p:cNvGrpSpPr/>
          <p:nvPr/>
        </p:nvGrpSpPr>
        <p:grpSpPr>
          <a:xfrm>
            <a:off x="7041641" y="1142975"/>
            <a:ext cx="457200" cy="457200"/>
            <a:chOff x="1020916" y="1442088"/>
            <a:chExt cx="457200" cy="457200"/>
          </a:xfrm>
        </p:grpSpPr>
        <p:pic>
          <p:nvPicPr>
            <p:cNvPr id="1753" name="Google Shape;1753;p1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4" name="Google Shape;1754;p1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5" name="Google Shape;1755;p139"/>
          <p:cNvGrpSpPr/>
          <p:nvPr/>
        </p:nvGrpSpPr>
        <p:grpSpPr>
          <a:xfrm>
            <a:off x="5426242" y="2133563"/>
            <a:ext cx="457200" cy="457200"/>
            <a:chOff x="1020916" y="1442088"/>
            <a:chExt cx="457200" cy="457200"/>
          </a:xfrm>
        </p:grpSpPr>
        <p:pic>
          <p:nvPicPr>
            <p:cNvPr id="1756" name="Google Shape;1756;p1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7" name="Google Shape;1757;p1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58" name="Google Shape;1758;p139"/>
          <p:cNvGrpSpPr/>
          <p:nvPr/>
        </p:nvGrpSpPr>
        <p:grpSpPr>
          <a:xfrm>
            <a:off x="7070191" y="2133563"/>
            <a:ext cx="457200" cy="457200"/>
            <a:chOff x="1020916" y="1442088"/>
            <a:chExt cx="457200" cy="457200"/>
          </a:xfrm>
        </p:grpSpPr>
        <p:pic>
          <p:nvPicPr>
            <p:cNvPr id="1759" name="Google Shape;1759;p1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0" name="Google Shape;1760;p1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1" name="Google Shape;1761;p139"/>
          <p:cNvSpPr txBox="1"/>
          <p:nvPr>
            <p:ph idx="1" type="body"/>
          </p:nvPr>
        </p:nvSpPr>
        <p:spPr>
          <a:xfrm>
            <a:off x="5919083" y="1142975"/>
            <a:ext cx="1055400" cy="4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0.66 m</a:t>
            </a:r>
            <a:endParaRPr sz="1900"/>
          </a:p>
        </p:txBody>
      </p:sp>
      <p:sp>
        <p:nvSpPr>
          <p:cNvPr id="1762" name="Google Shape;1762;p139"/>
          <p:cNvSpPr txBox="1"/>
          <p:nvPr>
            <p:ph idx="1" type="body"/>
          </p:nvPr>
        </p:nvSpPr>
        <p:spPr>
          <a:xfrm>
            <a:off x="5919083" y="2133571"/>
            <a:ext cx="1055400" cy="4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6.6 litres</a:t>
            </a:r>
            <a:endParaRPr sz="1900"/>
          </a:p>
        </p:txBody>
      </p:sp>
      <p:sp>
        <p:nvSpPr>
          <p:cNvPr id="1763" name="Google Shape;1763;p139"/>
          <p:cNvSpPr txBox="1"/>
          <p:nvPr>
            <p:ph idx="1" type="body"/>
          </p:nvPr>
        </p:nvSpPr>
        <p:spPr>
          <a:xfrm>
            <a:off x="7541650" y="1142975"/>
            <a:ext cx="1194000" cy="4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0.66 litres</a:t>
            </a:r>
            <a:endParaRPr sz="1900"/>
          </a:p>
        </p:txBody>
      </p:sp>
      <p:sp>
        <p:nvSpPr>
          <p:cNvPr id="1764" name="Google Shape;1764;p139"/>
          <p:cNvSpPr txBox="1"/>
          <p:nvPr>
            <p:ph idx="1" type="body"/>
          </p:nvPr>
        </p:nvSpPr>
        <p:spPr>
          <a:xfrm>
            <a:off x="7541650" y="2133575"/>
            <a:ext cx="1297500" cy="4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0.660 litres</a:t>
            </a:r>
            <a:endParaRPr sz="1900"/>
          </a:p>
        </p:txBody>
      </p:sp>
      <p:pic>
        <p:nvPicPr>
          <p:cNvPr id="1765" name="Google Shape;1765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0646" y="1473218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6" name="Google Shape;1766;p139"/>
          <p:cNvGraphicFramePr/>
          <p:nvPr/>
        </p:nvGraphicFramePr>
        <p:xfrm>
          <a:off x="576113" y="2895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  <a:gridCol w="7265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rgbClr val="845AD9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0" marR="0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7" name="Google Shape;1767;p139"/>
          <p:cNvSpPr/>
          <p:nvPr/>
        </p:nvSpPr>
        <p:spPr>
          <a:xfrm>
            <a:off x="4306725" y="3038053"/>
            <a:ext cx="530700" cy="175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39"/>
          <p:cNvSpPr txBox="1"/>
          <p:nvPr>
            <p:ph idx="1" type="body"/>
          </p:nvPr>
        </p:nvSpPr>
        <p:spPr>
          <a:xfrm>
            <a:off x="6388324" y="3353775"/>
            <a:ext cx="7281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9" name="Google Shape;1769;p139"/>
          <p:cNvSpPr txBox="1"/>
          <p:nvPr>
            <p:ph idx="1" type="body"/>
          </p:nvPr>
        </p:nvSpPr>
        <p:spPr>
          <a:xfrm>
            <a:off x="5654674" y="3353775"/>
            <a:ext cx="7281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0" name="Google Shape;1770;p139"/>
          <p:cNvSpPr txBox="1"/>
          <p:nvPr>
            <p:ph idx="1" type="body"/>
          </p:nvPr>
        </p:nvSpPr>
        <p:spPr>
          <a:xfrm>
            <a:off x="4935274" y="3353775"/>
            <a:ext cx="7281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771" name="Google Shape;1771;p139"/>
          <p:cNvCxnSpPr/>
          <p:nvPr/>
        </p:nvCxnSpPr>
        <p:spPr>
          <a:xfrm rot="10800000">
            <a:off x="953350" y="39253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2" name="Google Shape;1772;p139"/>
          <p:cNvCxnSpPr/>
          <p:nvPr/>
        </p:nvCxnSpPr>
        <p:spPr>
          <a:xfrm>
            <a:off x="5084738" y="3925318"/>
            <a:ext cx="3105900" cy="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3" name="Google Shape;1773;p139"/>
          <p:cNvSpPr txBox="1"/>
          <p:nvPr/>
        </p:nvSpPr>
        <p:spPr>
          <a:xfrm>
            <a:off x="953350" y="4001418"/>
            <a:ext cx="3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larger capacities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39"/>
          <p:cNvSpPr txBox="1"/>
          <p:nvPr/>
        </p:nvSpPr>
        <p:spPr>
          <a:xfrm>
            <a:off x="5084750" y="4001418"/>
            <a:ext cx="310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escribes smaller capacities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39"/>
          <p:cNvSpPr txBox="1"/>
          <p:nvPr>
            <p:ph idx="1" type="body"/>
          </p:nvPr>
        </p:nvSpPr>
        <p:spPr>
          <a:xfrm>
            <a:off x="4207949" y="3353775"/>
            <a:ext cx="728100" cy="4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6" name="Google Shape;1776;p139"/>
          <p:cNvSpPr txBox="1"/>
          <p:nvPr>
            <p:ph idx="1" type="body"/>
          </p:nvPr>
        </p:nvSpPr>
        <p:spPr>
          <a:xfrm>
            <a:off x="4572000" y="3330994"/>
            <a:ext cx="728100" cy="33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.</a:t>
            </a:r>
            <a:endParaRPr sz="3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77" name="Google Shape;1777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0150" y="1821956"/>
            <a:ext cx="726500" cy="894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4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1783" name="Google Shape;1783;p140"/>
          <p:cNvSpPr txBox="1"/>
          <p:nvPr>
            <p:ph idx="1" type="body"/>
          </p:nvPr>
        </p:nvSpPr>
        <p:spPr>
          <a:xfrm>
            <a:off x="324000" y="3135275"/>
            <a:ext cx="3857700" cy="12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Convert 425 ml into litres.</a:t>
            </a:r>
            <a:endParaRPr/>
          </a:p>
        </p:txBody>
      </p:sp>
      <p:graphicFrame>
        <p:nvGraphicFramePr>
          <p:cNvPr id="1784" name="Google Shape;1784;p140"/>
          <p:cNvGraphicFramePr/>
          <p:nvPr/>
        </p:nvGraphicFramePr>
        <p:xfrm>
          <a:off x="2565550" y="3637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5" name="Google Shape;1785;p140"/>
          <p:cNvSpPr/>
          <p:nvPr/>
        </p:nvSpPr>
        <p:spPr>
          <a:xfrm>
            <a:off x="5427363" y="3716532"/>
            <a:ext cx="530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140"/>
          <p:cNvSpPr txBox="1"/>
          <p:nvPr>
            <p:ph idx="1" type="body"/>
          </p:nvPr>
        </p:nvSpPr>
        <p:spPr>
          <a:xfrm>
            <a:off x="324000" y="759300"/>
            <a:ext cx="30456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r>
              <a:rPr lang="en-GB"/>
              <a:t>) Convert 7 km into: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centimetres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millimetres </a:t>
            </a:r>
            <a:endParaRPr/>
          </a:p>
        </p:txBody>
      </p:sp>
      <p:graphicFrame>
        <p:nvGraphicFramePr>
          <p:cNvPr id="1787" name="Google Shape;1787;p140"/>
          <p:cNvGraphicFramePr/>
          <p:nvPr/>
        </p:nvGraphicFramePr>
        <p:xfrm>
          <a:off x="2962229" y="148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98075"/>
                <a:gridCol w="598075"/>
                <a:gridCol w="598075"/>
                <a:gridCol w="559900"/>
                <a:gridCol w="657800"/>
                <a:gridCol w="576525"/>
                <a:gridCol w="598075"/>
                <a:gridCol w="598075"/>
                <a:gridCol w="5980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8" name="Google Shape;1788;p140"/>
          <p:cNvSpPr/>
          <p:nvPr/>
        </p:nvSpPr>
        <p:spPr>
          <a:xfrm>
            <a:off x="5334474" y="1571225"/>
            <a:ext cx="623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14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1794" name="Google Shape;1794;p141"/>
          <p:cNvSpPr txBox="1"/>
          <p:nvPr>
            <p:ph idx="1" type="body"/>
          </p:nvPr>
        </p:nvSpPr>
        <p:spPr>
          <a:xfrm>
            <a:off x="548555" y="2078517"/>
            <a:ext cx="14292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163 g</a:t>
            </a:r>
            <a:endParaRPr sz="1500"/>
          </a:p>
        </p:txBody>
      </p:sp>
      <p:graphicFrame>
        <p:nvGraphicFramePr>
          <p:cNvPr id="1795" name="Google Shape;1795;p141"/>
          <p:cNvGraphicFramePr/>
          <p:nvPr/>
        </p:nvGraphicFramePr>
        <p:xfrm>
          <a:off x="2565663" y="35941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6" name="Google Shape;1796;p141"/>
          <p:cNvSpPr txBox="1"/>
          <p:nvPr>
            <p:ph idx="1" type="body"/>
          </p:nvPr>
        </p:nvSpPr>
        <p:spPr>
          <a:xfrm>
            <a:off x="548555" y="4001317"/>
            <a:ext cx="14292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1.15 litres</a:t>
            </a:r>
            <a:endParaRPr sz="1500"/>
          </a:p>
        </p:txBody>
      </p:sp>
      <p:sp>
        <p:nvSpPr>
          <p:cNvPr id="1797" name="Google Shape;1797;p141"/>
          <p:cNvSpPr txBox="1"/>
          <p:nvPr>
            <p:ph idx="1" type="body"/>
          </p:nvPr>
        </p:nvSpPr>
        <p:spPr>
          <a:xfrm>
            <a:off x="2565925" y="3240000"/>
            <a:ext cx="62544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</a:t>
            </a:r>
            <a:r>
              <a:rPr lang="en-GB"/>
              <a:t>What is the capacity of this teapot in ml?</a:t>
            </a:r>
            <a:endParaRPr sz="1500"/>
          </a:p>
        </p:txBody>
      </p:sp>
      <p:pic>
        <p:nvPicPr>
          <p:cNvPr id="1798" name="Google Shape;1798;p141"/>
          <p:cNvPicPr preferRelativeResize="0"/>
          <p:nvPr/>
        </p:nvPicPr>
        <p:blipFill rotWithShape="1">
          <a:blip r:embed="rId3">
            <a:alphaModFix/>
          </a:blip>
          <a:srcRect b="0" l="0" r="73500" t="47881"/>
          <a:stretch/>
        </p:blipFill>
        <p:spPr>
          <a:xfrm>
            <a:off x="989650" y="1256091"/>
            <a:ext cx="547000" cy="88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9" name="Google Shape;1799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813" y="3101824"/>
            <a:ext cx="1244672" cy="82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0" name="Google Shape;1800;p141"/>
          <p:cNvGraphicFramePr/>
          <p:nvPr/>
        </p:nvGraphicFramePr>
        <p:xfrm>
          <a:off x="2313763" y="14541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91475"/>
                <a:gridCol w="591475"/>
                <a:gridCol w="591475"/>
                <a:gridCol w="591475"/>
                <a:gridCol w="591475"/>
                <a:gridCol w="591475"/>
                <a:gridCol w="591475"/>
                <a:gridCol w="591475"/>
                <a:gridCol w="591475"/>
                <a:gridCol w="591475"/>
                <a:gridCol w="5914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1" name="Google Shape;1801;p141"/>
          <p:cNvSpPr txBox="1"/>
          <p:nvPr>
            <p:ph idx="1" type="body"/>
          </p:nvPr>
        </p:nvSpPr>
        <p:spPr>
          <a:xfrm>
            <a:off x="2565925" y="1064100"/>
            <a:ext cx="62544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What is the mass of this pear in kilograms?</a:t>
            </a:r>
            <a:endParaRPr sz="1500"/>
          </a:p>
        </p:txBody>
      </p:sp>
      <p:sp>
        <p:nvSpPr>
          <p:cNvPr id="1802" name="Google Shape;1802;p141"/>
          <p:cNvSpPr/>
          <p:nvPr/>
        </p:nvSpPr>
        <p:spPr>
          <a:xfrm>
            <a:off x="5315325" y="1539953"/>
            <a:ext cx="503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141"/>
          <p:cNvSpPr/>
          <p:nvPr/>
        </p:nvSpPr>
        <p:spPr>
          <a:xfrm>
            <a:off x="5441288" y="3675600"/>
            <a:ext cx="503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4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graphicFrame>
        <p:nvGraphicFramePr>
          <p:cNvPr id="1809" name="Google Shape;1809;p142"/>
          <p:cNvGraphicFramePr/>
          <p:nvPr/>
        </p:nvGraphicFramePr>
        <p:xfrm>
          <a:off x="2565550" y="3637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0" name="Google Shape;1810;p142"/>
          <p:cNvSpPr/>
          <p:nvPr/>
        </p:nvSpPr>
        <p:spPr>
          <a:xfrm>
            <a:off x="5427363" y="3716532"/>
            <a:ext cx="530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142"/>
          <p:cNvSpPr txBox="1"/>
          <p:nvPr>
            <p:ph idx="1" type="body"/>
          </p:nvPr>
        </p:nvSpPr>
        <p:spPr>
          <a:xfrm>
            <a:off x="324000" y="3135275"/>
            <a:ext cx="4178400" cy="12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Convert 425 ml into litres.</a:t>
            </a:r>
            <a:endParaRPr/>
          </a:p>
        </p:txBody>
      </p:sp>
      <p:sp>
        <p:nvSpPr>
          <p:cNvPr id="1812" name="Google Shape;1812;p142"/>
          <p:cNvSpPr txBox="1"/>
          <p:nvPr>
            <p:ph idx="1" type="body"/>
          </p:nvPr>
        </p:nvSpPr>
        <p:spPr>
          <a:xfrm>
            <a:off x="324000" y="759300"/>
            <a:ext cx="30456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Convert 7 km into: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centimetres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millimetres </a:t>
            </a:r>
            <a:endParaRPr/>
          </a:p>
        </p:txBody>
      </p:sp>
      <p:sp>
        <p:nvSpPr>
          <p:cNvPr id="1813" name="Google Shape;1813;p142"/>
          <p:cNvSpPr txBox="1"/>
          <p:nvPr/>
        </p:nvSpPr>
        <p:spPr>
          <a:xfrm>
            <a:off x="4192713" y="22155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7 000 m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814" name="Google Shape;1814;p142"/>
          <p:cNvGraphicFramePr/>
          <p:nvPr/>
        </p:nvGraphicFramePr>
        <p:xfrm>
          <a:off x="2962229" y="148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98075"/>
                <a:gridCol w="598075"/>
                <a:gridCol w="598075"/>
                <a:gridCol w="559900"/>
                <a:gridCol w="657800"/>
                <a:gridCol w="576525"/>
                <a:gridCol w="598075"/>
                <a:gridCol w="598075"/>
                <a:gridCol w="5980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5" name="Google Shape;1815;p142"/>
          <p:cNvSpPr/>
          <p:nvPr/>
        </p:nvSpPr>
        <p:spPr>
          <a:xfrm>
            <a:off x="5334474" y="1571225"/>
            <a:ext cx="623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p14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graphicFrame>
        <p:nvGraphicFramePr>
          <p:cNvPr id="1821" name="Google Shape;1821;p143"/>
          <p:cNvGraphicFramePr/>
          <p:nvPr/>
        </p:nvGraphicFramePr>
        <p:xfrm>
          <a:off x="2565550" y="3637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2" name="Google Shape;1822;p143"/>
          <p:cNvSpPr/>
          <p:nvPr/>
        </p:nvSpPr>
        <p:spPr>
          <a:xfrm>
            <a:off x="5427363" y="3716532"/>
            <a:ext cx="530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143"/>
          <p:cNvSpPr txBox="1"/>
          <p:nvPr>
            <p:ph idx="1" type="body"/>
          </p:nvPr>
        </p:nvSpPr>
        <p:spPr>
          <a:xfrm>
            <a:off x="324000" y="759300"/>
            <a:ext cx="30456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Convert 7 km into: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centimetres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millimetres </a:t>
            </a:r>
            <a:endParaRPr/>
          </a:p>
        </p:txBody>
      </p:sp>
      <p:sp>
        <p:nvSpPr>
          <p:cNvPr id="1824" name="Google Shape;1824;p143"/>
          <p:cNvSpPr txBox="1"/>
          <p:nvPr>
            <p:ph idx="1" type="body"/>
          </p:nvPr>
        </p:nvSpPr>
        <p:spPr>
          <a:xfrm>
            <a:off x="324000" y="3135275"/>
            <a:ext cx="4178400" cy="12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Convert 425 ml into litres.</a:t>
            </a:r>
            <a:endParaRPr/>
          </a:p>
        </p:txBody>
      </p:sp>
      <p:sp>
        <p:nvSpPr>
          <p:cNvPr id="1825" name="Google Shape;1825;p143"/>
          <p:cNvSpPr txBox="1"/>
          <p:nvPr/>
        </p:nvSpPr>
        <p:spPr>
          <a:xfrm>
            <a:off x="4192713" y="22155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700 000 cm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826" name="Google Shape;1826;p143"/>
          <p:cNvGraphicFramePr/>
          <p:nvPr/>
        </p:nvGraphicFramePr>
        <p:xfrm>
          <a:off x="2962229" y="148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98075"/>
                <a:gridCol w="598075"/>
                <a:gridCol w="598075"/>
                <a:gridCol w="559900"/>
                <a:gridCol w="657800"/>
                <a:gridCol w="576525"/>
                <a:gridCol w="598075"/>
                <a:gridCol w="598075"/>
                <a:gridCol w="5980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7" name="Google Shape;1827;p143"/>
          <p:cNvSpPr/>
          <p:nvPr/>
        </p:nvSpPr>
        <p:spPr>
          <a:xfrm>
            <a:off x="5334474" y="1571225"/>
            <a:ext cx="623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graphicFrame>
        <p:nvGraphicFramePr>
          <p:cNvPr id="1833" name="Google Shape;1833;p144"/>
          <p:cNvGraphicFramePr/>
          <p:nvPr/>
        </p:nvGraphicFramePr>
        <p:xfrm>
          <a:off x="2565550" y="3637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34" name="Google Shape;1834;p144"/>
          <p:cNvSpPr/>
          <p:nvPr/>
        </p:nvSpPr>
        <p:spPr>
          <a:xfrm>
            <a:off x="5427363" y="3716532"/>
            <a:ext cx="530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144"/>
          <p:cNvSpPr txBox="1"/>
          <p:nvPr>
            <p:ph idx="1" type="body"/>
          </p:nvPr>
        </p:nvSpPr>
        <p:spPr>
          <a:xfrm>
            <a:off x="324000" y="759300"/>
            <a:ext cx="30456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Convert 7 km into: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centimetres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millimetres </a:t>
            </a:r>
            <a:endParaRPr/>
          </a:p>
        </p:txBody>
      </p:sp>
      <p:sp>
        <p:nvSpPr>
          <p:cNvPr id="1836" name="Google Shape;1836;p144"/>
          <p:cNvSpPr txBox="1"/>
          <p:nvPr>
            <p:ph idx="1" type="body"/>
          </p:nvPr>
        </p:nvSpPr>
        <p:spPr>
          <a:xfrm>
            <a:off x="324000" y="3135275"/>
            <a:ext cx="4178400" cy="12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Convert 425 ml into litres.</a:t>
            </a:r>
            <a:endParaRPr/>
          </a:p>
        </p:txBody>
      </p:sp>
      <p:sp>
        <p:nvSpPr>
          <p:cNvPr id="1837" name="Google Shape;1837;p144"/>
          <p:cNvSpPr/>
          <p:nvPr/>
        </p:nvSpPr>
        <p:spPr>
          <a:xfrm>
            <a:off x="5334474" y="1571225"/>
            <a:ext cx="623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44"/>
          <p:cNvSpPr txBox="1"/>
          <p:nvPr/>
        </p:nvSpPr>
        <p:spPr>
          <a:xfrm>
            <a:off x="4192713" y="22155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7 000 000 mm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839" name="Google Shape;1839;p144"/>
          <p:cNvGraphicFramePr/>
          <p:nvPr/>
        </p:nvGraphicFramePr>
        <p:xfrm>
          <a:off x="2962229" y="148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98075"/>
                <a:gridCol w="598075"/>
                <a:gridCol w="598075"/>
                <a:gridCol w="559900"/>
                <a:gridCol w="657800"/>
                <a:gridCol w="576525"/>
                <a:gridCol w="598075"/>
                <a:gridCol w="598075"/>
                <a:gridCol w="5980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0" name="Google Shape;1840;p144"/>
          <p:cNvSpPr/>
          <p:nvPr/>
        </p:nvSpPr>
        <p:spPr>
          <a:xfrm>
            <a:off x="5334474" y="1571225"/>
            <a:ext cx="623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graphicFrame>
        <p:nvGraphicFramePr>
          <p:cNvPr id="1846" name="Google Shape;1846;p145"/>
          <p:cNvGraphicFramePr/>
          <p:nvPr/>
        </p:nvGraphicFramePr>
        <p:xfrm>
          <a:off x="2565550" y="36376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7" name="Google Shape;1847;p145"/>
          <p:cNvSpPr/>
          <p:nvPr/>
        </p:nvSpPr>
        <p:spPr>
          <a:xfrm>
            <a:off x="5427363" y="3716532"/>
            <a:ext cx="530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145"/>
          <p:cNvSpPr txBox="1"/>
          <p:nvPr/>
        </p:nvSpPr>
        <p:spPr>
          <a:xfrm>
            <a:off x="5800729" y="3763258"/>
            <a:ext cx="355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849" name="Google Shape;1849;p145"/>
          <p:cNvSpPr txBox="1"/>
          <p:nvPr/>
        </p:nvSpPr>
        <p:spPr>
          <a:xfrm>
            <a:off x="4192713" y="4327124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0.425 litres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50" name="Google Shape;1850;p145"/>
          <p:cNvSpPr txBox="1"/>
          <p:nvPr>
            <p:ph idx="1" type="body"/>
          </p:nvPr>
        </p:nvSpPr>
        <p:spPr>
          <a:xfrm>
            <a:off x="324000" y="759300"/>
            <a:ext cx="3045600" cy="19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Convert 7 km into: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centimetres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 millimetres </a:t>
            </a:r>
            <a:endParaRPr/>
          </a:p>
        </p:txBody>
      </p:sp>
      <p:sp>
        <p:nvSpPr>
          <p:cNvPr id="1851" name="Google Shape;1851;p145"/>
          <p:cNvSpPr txBox="1"/>
          <p:nvPr>
            <p:ph idx="1" type="body"/>
          </p:nvPr>
        </p:nvSpPr>
        <p:spPr>
          <a:xfrm>
            <a:off x="324000" y="3135275"/>
            <a:ext cx="4178400" cy="12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Convert 425 ml into litres.</a:t>
            </a:r>
            <a:endParaRPr/>
          </a:p>
        </p:txBody>
      </p:sp>
      <p:sp>
        <p:nvSpPr>
          <p:cNvPr id="1852" name="Google Shape;1852;p145"/>
          <p:cNvSpPr txBox="1"/>
          <p:nvPr/>
        </p:nvSpPr>
        <p:spPr>
          <a:xfrm>
            <a:off x="4192713" y="22155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7 000 000 mm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853" name="Google Shape;1853;p145"/>
          <p:cNvGraphicFramePr/>
          <p:nvPr/>
        </p:nvGraphicFramePr>
        <p:xfrm>
          <a:off x="2962229" y="148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98075"/>
                <a:gridCol w="598075"/>
                <a:gridCol w="598075"/>
                <a:gridCol w="559900"/>
                <a:gridCol w="657800"/>
                <a:gridCol w="576525"/>
                <a:gridCol w="598075"/>
                <a:gridCol w="598075"/>
                <a:gridCol w="5980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4" name="Google Shape;1854;p145"/>
          <p:cNvSpPr/>
          <p:nvPr/>
        </p:nvSpPr>
        <p:spPr>
          <a:xfrm>
            <a:off x="5334474" y="1571225"/>
            <a:ext cx="6237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 metric measures using place value</a:t>
            </a:r>
            <a:endParaRPr/>
          </a:p>
        </p:txBody>
      </p:sp>
      <p:graphicFrame>
        <p:nvGraphicFramePr>
          <p:cNvPr id="1860" name="Google Shape;1860;p146"/>
          <p:cNvGraphicFramePr/>
          <p:nvPr/>
        </p:nvGraphicFramePr>
        <p:xfrm>
          <a:off x="2462538" y="14541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85925"/>
                <a:gridCol w="585925"/>
                <a:gridCol w="585925"/>
                <a:gridCol w="585925"/>
                <a:gridCol w="585925"/>
                <a:gridCol w="585925"/>
                <a:gridCol w="585925"/>
                <a:gridCol w="585925"/>
                <a:gridCol w="585925"/>
                <a:gridCol w="585925"/>
                <a:gridCol w="58592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grams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1" name="Google Shape;1861;p146"/>
          <p:cNvSpPr txBox="1"/>
          <p:nvPr>
            <p:ph idx="1" type="body"/>
          </p:nvPr>
        </p:nvSpPr>
        <p:spPr>
          <a:xfrm>
            <a:off x="548555" y="2078517"/>
            <a:ext cx="14292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163 g</a:t>
            </a:r>
            <a:endParaRPr sz="1500"/>
          </a:p>
        </p:txBody>
      </p:sp>
      <p:graphicFrame>
        <p:nvGraphicFramePr>
          <p:cNvPr id="1862" name="Google Shape;1862;p146"/>
          <p:cNvGraphicFramePr/>
          <p:nvPr/>
        </p:nvGraphicFramePr>
        <p:xfrm>
          <a:off x="2565663" y="35941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{9397598B-58F8-4E38-AE18-F89D581871FF}</a:tableStyleId>
              </a:tblPr>
              <a:tblGrid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  <a:gridCol w="5685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3" name="Google Shape;1863;p146"/>
          <p:cNvSpPr txBox="1"/>
          <p:nvPr>
            <p:ph idx="1" type="body"/>
          </p:nvPr>
        </p:nvSpPr>
        <p:spPr>
          <a:xfrm>
            <a:off x="2565925" y="3240000"/>
            <a:ext cx="62544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</a:t>
            </a:r>
            <a:r>
              <a:rPr lang="en-GB"/>
              <a:t>What is the capacity of this teapot in ml?</a:t>
            </a:r>
            <a:endParaRPr sz="1500"/>
          </a:p>
        </p:txBody>
      </p:sp>
      <p:sp>
        <p:nvSpPr>
          <p:cNvPr id="1864" name="Google Shape;1864;p146"/>
          <p:cNvSpPr txBox="1"/>
          <p:nvPr>
            <p:ph idx="1" type="body"/>
          </p:nvPr>
        </p:nvSpPr>
        <p:spPr>
          <a:xfrm>
            <a:off x="548555" y="4001317"/>
            <a:ext cx="14292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1.15 litres</a:t>
            </a:r>
            <a:endParaRPr sz="1500"/>
          </a:p>
        </p:txBody>
      </p:sp>
      <p:sp>
        <p:nvSpPr>
          <p:cNvPr id="1865" name="Google Shape;1865;p146"/>
          <p:cNvSpPr txBox="1"/>
          <p:nvPr>
            <p:ph idx="1" type="body"/>
          </p:nvPr>
        </p:nvSpPr>
        <p:spPr>
          <a:xfrm>
            <a:off x="2565925" y="1064100"/>
            <a:ext cx="62544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lang="en-GB"/>
              <a:t>What is the mass of this pear in kilograms?</a:t>
            </a:r>
            <a:endParaRPr sz="1500"/>
          </a:p>
        </p:txBody>
      </p:sp>
      <p:sp>
        <p:nvSpPr>
          <p:cNvPr id="1866" name="Google Shape;1866;p146"/>
          <p:cNvSpPr txBox="1"/>
          <p:nvPr/>
        </p:nvSpPr>
        <p:spPr>
          <a:xfrm>
            <a:off x="4192850" y="22155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0.163 kg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867" name="Google Shape;1867;p146"/>
          <p:cNvSpPr txBox="1"/>
          <p:nvPr/>
        </p:nvSpPr>
        <p:spPr>
          <a:xfrm>
            <a:off x="4046302" y="1576291"/>
            <a:ext cx="3555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868" name="Google Shape;1868;p146"/>
          <p:cNvSpPr txBox="1"/>
          <p:nvPr/>
        </p:nvSpPr>
        <p:spPr>
          <a:xfrm>
            <a:off x="4192850" y="43200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1150 ml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869" name="Google Shape;1869;p146"/>
          <p:cNvPicPr preferRelativeResize="0"/>
          <p:nvPr/>
        </p:nvPicPr>
        <p:blipFill rotWithShape="1">
          <a:blip r:embed="rId3">
            <a:alphaModFix/>
          </a:blip>
          <a:srcRect b="0" l="0" r="73500" t="47881"/>
          <a:stretch/>
        </p:blipFill>
        <p:spPr>
          <a:xfrm>
            <a:off x="989650" y="1256091"/>
            <a:ext cx="547000" cy="88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0" name="Google Shape;1870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813" y="3101824"/>
            <a:ext cx="1244672" cy="82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47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1876" name="Google Shape;1876;p147"/>
          <p:cNvSpPr txBox="1"/>
          <p:nvPr>
            <p:ph idx="3" type="title"/>
          </p:nvPr>
        </p:nvSpPr>
        <p:spPr>
          <a:xfrm>
            <a:off x="1224000" y="3758275"/>
            <a:ext cx="7101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Check if conversions of real examples are sensible</a:t>
            </a:r>
            <a:endParaRPr sz="1700"/>
          </a:p>
        </p:txBody>
      </p:sp>
      <p:sp>
        <p:nvSpPr>
          <p:cNvPr id="1877" name="Google Shape;1877;p147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1878" name="Google Shape;1878;p147"/>
          <p:cNvSpPr txBox="1"/>
          <p:nvPr>
            <p:ph idx="4" type="title"/>
          </p:nvPr>
        </p:nvSpPr>
        <p:spPr>
          <a:xfrm>
            <a:off x="324000" y="657600"/>
            <a:ext cx="65595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metric units</a:t>
            </a:r>
            <a:endParaRPr/>
          </a:p>
        </p:txBody>
      </p:sp>
      <p:pic>
        <p:nvPicPr>
          <p:cNvPr id="1879" name="Google Shape;1879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50" y="27706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pic>
        <p:nvPicPr>
          <p:cNvPr id="1885" name="Google Shape;1885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125" y="662588"/>
            <a:ext cx="1956949" cy="101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6" name="Google Shape;1886;p148"/>
          <p:cNvSpPr txBox="1"/>
          <p:nvPr/>
        </p:nvSpPr>
        <p:spPr>
          <a:xfrm flipH="1">
            <a:off x="1446275" y="680891"/>
            <a:ext cx="17328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walked 1.2 km to school today!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7" name="Google Shape;1887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744575" y="657822"/>
            <a:ext cx="1956949" cy="101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148"/>
          <p:cNvSpPr txBox="1"/>
          <p:nvPr/>
        </p:nvSpPr>
        <p:spPr>
          <a:xfrm>
            <a:off x="4856574" y="676125"/>
            <a:ext cx="17328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walked 850 m to school today!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148"/>
          <p:cNvSpPr txBox="1"/>
          <p:nvPr>
            <p:ph idx="1" type="body"/>
          </p:nvPr>
        </p:nvSpPr>
        <p:spPr>
          <a:xfrm>
            <a:off x="183372" y="1530748"/>
            <a:ext cx="11223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Lucas</a:t>
            </a:r>
            <a:endParaRPr sz="1800"/>
          </a:p>
        </p:txBody>
      </p:sp>
      <p:sp>
        <p:nvSpPr>
          <p:cNvPr id="1890" name="Google Shape;1890;p148"/>
          <p:cNvSpPr txBox="1"/>
          <p:nvPr>
            <p:ph idx="1" type="body"/>
          </p:nvPr>
        </p:nvSpPr>
        <p:spPr>
          <a:xfrm>
            <a:off x="6675275" y="1567629"/>
            <a:ext cx="11223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Sofia</a:t>
            </a:r>
            <a:endParaRPr sz="1800"/>
          </a:p>
        </p:txBody>
      </p:sp>
      <p:pic>
        <p:nvPicPr>
          <p:cNvPr id="1891" name="Google Shape;1891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070" y="681879"/>
            <a:ext cx="730910" cy="82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2" name="Google Shape;1892;p1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892350" y="703459"/>
            <a:ext cx="730900" cy="814468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148"/>
          <p:cNvSpPr txBox="1"/>
          <p:nvPr>
            <p:ph idx="1" type="body"/>
          </p:nvPr>
        </p:nvSpPr>
        <p:spPr>
          <a:xfrm>
            <a:off x="324000" y="1850616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Who walked a further distance to school today?</a:t>
            </a:r>
            <a:endParaRPr/>
          </a:p>
        </p:txBody>
      </p:sp>
      <p:cxnSp>
        <p:nvCxnSpPr>
          <p:cNvPr id="1894" name="Google Shape;1894;p148"/>
          <p:cNvCxnSpPr>
            <a:stCxn id="1895" idx="2"/>
            <a:endCxn id="1896" idx="0"/>
          </p:cNvCxnSpPr>
          <p:nvPr/>
        </p:nvCxnSpPr>
        <p:spPr>
          <a:xfrm>
            <a:off x="4572101" y="2641619"/>
            <a:ext cx="0" cy="19356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5" name="Google Shape;1895;p148"/>
          <p:cNvSpPr txBox="1"/>
          <p:nvPr>
            <p:ph idx="1" type="body"/>
          </p:nvPr>
        </p:nvSpPr>
        <p:spPr>
          <a:xfrm>
            <a:off x="2663951" y="2269319"/>
            <a:ext cx="38163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Kilometre means 1000 m.</a:t>
            </a:r>
            <a:endParaRPr sz="1800"/>
          </a:p>
        </p:txBody>
      </p:sp>
      <p:sp>
        <p:nvSpPr>
          <p:cNvPr id="1897" name="Google Shape;1897;p148"/>
          <p:cNvSpPr txBox="1"/>
          <p:nvPr>
            <p:ph idx="1" type="body"/>
          </p:nvPr>
        </p:nvSpPr>
        <p:spPr>
          <a:xfrm>
            <a:off x="476401" y="2648933"/>
            <a:ext cx="38163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Convert km into m.</a:t>
            </a:r>
            <a:endParaRPr sz="1800"/>
          </a:p>
        </p:txBody>
      </p:sp>
      <p:sp>
        <p:nvSpPr>
          <p:cNvPr id="1898" name="Google Shape;1898;p148"/>
          <p:cNvSpPr txBox="1"/>
          <p:nvPr>
            <p:ph idx="1" type="body"/>
          </p:nvPr>
        </p:nvSpPr>
        <p:spPr>
          <a:xfrm>
            <a:off x="705001" y="3162744"/>
            <a:ext cx="33459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1.2 km means 1.2 lots of 1000 m.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9" name="Google Shape;1899;p148"/>
          <p:cNvSpPr txBox="1"/>
          <p:nvPr>
            <p:ph idx="1" type="body"/>
          </p:nvPr>
        </p:nvSpPr>
        <p:spPr>
          <a:xfrm>
            <a:off x="705000" y="3724405"/>
            <a:ext cx="3615000" cy="2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Lucas travelled 1200 m and               Sofia travelled 850 m.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0" name="Google Shape;1900;p148"/>
          <p:cNvSpPr txBox="1"/>
          <p:nvPr>
            <p:ph idx="1" type="body"/>
          </p:nvPr>
        </p:nvSpPr>
        <p:spPr>
          <a:xfrm>
            <a:off x="4724501" y="2648933"/>
            <a:ext cx="38163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Convert m into km.</a:t>
            </a:r>
            <a:endParaRPr sz="1800"/>
          </a:p>
        </p:txBody>
      </p:sp>
      <p:sp>
        <p:nvSpPr>
          <p:cNvPr id="1896" name="Google Shape;1896;p148"/>
          <p:cNvSpPr txBox="1"/>
          <p:nvPr>
            <p:ph idx="1" type="body"/>
          </p:nvPr>
        </p:nvSpPr>
        <p:spPr>
          <a:xfrm>
            <a:off x="2510250" y="4577069"/>
            <a:ext cx="4123500" cy="2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Lucas travelled further than Sofia.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1" name="Google Shape;1901;p148"/>
          <p:cNvSpPr txBox="1"/>
          <p:nvPr>
            <p:ph idx="1" type="body"/>
          </p:nvPr>
        </p:nvSpPr>
        <p:spPr>
          <a:xfrm>
            <a:off x="4953101" y="3162744"/>
            <a:ext cx="31584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850 m means     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of a km.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2" name="Google Shape;1902;p148"/>
          <p:cNvSpPr txBox="1"/>
          <p:nvPr>
            <p:ph idx="1" type="body"/>
          </p:nvPr>
        </p:nvSpPr>
        <p:spPr>
          <a:xfrm>
            <a:off x="4953100" y="3724404"/>
            <a:ext cx="3412500" cy="2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Sofia travelled 0.85 km                and Lucas travelled 1.2 km.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50}{1000}&quot;&gt;&lt;mfrac&gt;&lt;mn&gt;850&lt;/mn&gt;&lt;mn&gt;1000&lt;/mn&gt;&lt;/mfrac&gt;&lt;/math&gt;" id="1903" name="Google Shape;1903;p148" title="850 over 10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97894" y="3076746"/>
            <a:ext cx="433000" cy="4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4" name="Google Shape;1904;p148"/>
          <p:cNvSpPr/>
          <p:nvPr/>
        </p:nvSpPr>
        <p:spPr>
          <a:xfrm>
            <a:off x="2320425" y="809575"/>
            <a:ext cx="715500" cy="28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148"/>
          <p:cNvSpPr/>
          <p:nvPr/>
        </p:nvSpPr>
        <p:spPr>
          <a:xfrm>
            <a:off x="5729125" y="809575"/>
            <a:ext cx="715500" cy="28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149"/>
          <p:cNvSpPr txBox="1"/>
          <p:nvPr>
            <p:ph idx="1" type="body"/>
          </p:nvPr>
        </p:nvSpPr>
        <p:spPr>
          <a:xfrm>
            <a:off x="4029324" y="4006000"/>
            <a:ext cx="4467900" cy="2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kettle has a bigger capacity than four cups, so it can fill them all.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1" name="Google Shape;1911;p149"/>
          <p:cNvSpPr txBox="1"/>
          <p:nvPr>
            <p:ph idx="1" type="body"/>
          </p:nvPr>
        </p:nvSpPr>
        <p:spPr>
          <a:xfrm>
            <a:off x="898249" y="3549924"/>
            <a:ext cx="2222700" cy="2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 × 400ml = 1600 ml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2" name="Google Shape;1912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1913" name="Google Shape;1913;p149"/>
          <p:cNvSpPr txBox="1"/>
          <p:nvPr>
            <p:ph idx="1" type="body"/>
          </p:nvPr>
        </p:nvSpPr>
        <p:spPr>
          <a:xfrm>
            <a:off x="4029325" y="759300"/>
            <a:ext cx="41235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the kettle fully                      fill all four of the cups?</a:t>
            </a:r>
            <a:endParaRPr/>
          </a:p>
        </p:txBody>
      </p:sp>
      <p:sp>
        <p:nvSpPr>
          <p:cNvPr id="1914" name="Google Shape;1914;p149"/>
          <p:cNvSpPr txBox="1"/>
          <p:nvPr/>
        </p:nvSpPr>
        <p:spPr>
          <a:xfrm>
            <a:off x="1770343" y="920594"/>
            <a:ext cx="17328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This kettle has a capacity of of  1.85 litres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149"/>
          <p:cNvSpPr txBox="1"/>
          <p:nvPr>
            <p:ph idx="1" type="body"/>
          </p:nvPr>
        </p:nvSpPr>
        <p:spPr>
          <a:xfrm>
            <a:off x="4029324" y="3626425"/>
            <a:ext cx="4467900" cy="28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kettle has a capacity of 1850 ml.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6" name="Google Shape;1916;p149"/>
          <p:cNvSpPr txBox="1"/>
          <p:nvPr/>
        </p:nvSpPr>
        <p:spPr>
          <a:xfrm>
            <a:off x="570618" y="2572250"/>
            <a:ext cx="14412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Each cup has a capacity of 400 ml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149"/>
          <p:cNvSpPr txBox="1"/>
          <p:nvPr>
            <p:ph idx="1" type="body"/>
          </p:nvPr>
        </p:nvSpPr>
        <p:spPr>
          <a:xfrm>
            <a:off x="4746100" y="1826829"/>
            <a:ext cx="35106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r>
              <a:rPr lang="en-GB" sz="1800"/>
              <a:t>l means           litre.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918" name="Google Shape;1918;p149" title="1 over 1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562" y="1665766"/>
            <a:ext cx="558050" cy="5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149"/>
          <p:cNvSpPr txBox="1"/>
          <p:nvPr>
            <p:ph idx="1" type="body"/>
          </p:nvPr>
        </p:nvSpPr>
        <p:spPr>
          <a:xfrm>
            <a:off x="4746100" y="2992104"/>
            <a:ext cx="35106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1000 lots of 1.85 is 1850 ml.</a:t>
            </a:r>
            <a:endParaRPr sz="1800"/>
          </a:p>
        </p:txBody>
      </p:sp>
      <p:pic>
        <p:nvPicPr>
          <p:cNvPr id="1920" name="Google Shape;1920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905" y="863419"/>
            <a:ext cx="1126579" cy="93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18" y="2613522"/>
            <a:ext cx="558049" cy="390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4449" y="2415122"/>
            <a:ext cx="558049" cy="390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3" name="Google Shape;1923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18" y="3017634"/>
            <a:ext cx="558049" cy="390743"/>
          </a:xfrm>
          <a:prstGeom prst="rect">
            <a:avLst/>
          </a:prstGeom>
          <a:noFill/>
          <a:ln>
            <a:noFill/>
          </a:ln>
        </p:spPr>
      </p:pic>
      <p:sp>
        <p:nvSpPr>
          <p:cNvPr id="1924" name="Google Shape;1924;p149"/>
          <p:cNvSpPr txBox="1"/>
          <p:nvPr>
            <p:ph idx="1" type="body"/>
          </p:nvPr>
        </p:nvSpPr>
        <p:spPr>
          <a:xfrm>
            <a:off x="4746100" y="2288866"/>
            <a:ext cx="3510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Converting</a:t>
            </a:r>
            <a:r>
              <a:rPr lang="en-GB" sz="1800"/>
              <a:t> 1.85 litres into ml will avoid decimals.</a:t>
            </a:r>
            <a:endParaRPr sz="1800"/>
          </a:p>
        </p:txBody>
      </p:sp>
      <p:pic>
        <p:nvPicPr>
          <p:cNvPr id="1925" name="Google Shape;1925;p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4449" y="2819234"/>
            <a:ext cx="558049" cy="390743"/>
          </a:xfrm>
          <a:prstGeom prst="rect">
            <a:avLst/>
          </a:prstGeom>
          <a:noFill/>
          <a:ln>
            <a:noFill/>
          </a:ln>
        </p:spPr>
      </p:pic>
      <p:sp>
        <p:nvSpPr>
          <p:cNvPr id="1926" name="Google Shape;1926;p149"/>
          <p:cNvSpPr/>
          <p:nvPr/>
        </p:nvSpPr>
        <p:spPr>
          <a:xfrm>
            <a:off x="1684800" y="1454525"/>
            <a:ext cx="1069200" cy="31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149"/>
          <p:cNvSpPr/>
          <p:nvPr/>
        </p:nvSpPr>
        <p:spPr>
          <a:xfrm>
            <a:off x="529900" y="3098050"/>
            <a:ext cx="781500" cy="31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150"/>
          <p:cNvSpPr txBox="1"/>
          <p:nvPr>
            <p:ph type="title"/>
          </p:nvPr>
        </p:nvSpPr>
        <p:spPr>
          <a:xfrm>
            <a:off x="324000" y="748775"/>
            <a:ext cx="5450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bottle contains the most liquid?</a:t>
            </a:r>
            <a:endParaRPr/>
          </a:p>
        </p:txBody>
      </p:sp>
      <p:sp>
        <p:nvSpPr>
          <p:cNvPr id="1933" name="Google Shape;1933;p1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1934" name="Google Shape;1934;p150"/>
          <p:cNvSpPr txBox="1"/>
          <p:nvPr>
            <p:ph idx="1" type="subTitle"/>
          </p:nvPr>
        </p:nvSpPr>
        <p:spPr>
          <a:xfrm>
            <a:off x="1034425" y="1837775"/>
            <a:ext cx="3285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bottle of milk</a:t>
            </a:r>
            <a:endParaRPr/>
          </a:p>
        </p:txBody>
      </p:sp>
      <p:sp>
        <p:nvSpPr>
          <p:cNvPr id="1935" name="Google Shape;1935;p150"/>
          <p:cNvSpPr txBox="1"/>
          <p:nvPr>
            <p:ph idx="3" type="subTitle"/>
          </p:nvPr>
        </p:nvSpPr>
        <p:spPr>
          <a:xfrm>
            <a:off x="1034425" y="2794251"/>
            <a:ext cx="3285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both are equal</a:t>
            </a:r>
            <a:endParaRPr/>
          </a:p>
        </p:txBody>
      </p:sp>
      <p:sp>
        <p:nvSpPr>
          <p:cNvPr id="1936" name="Google Shape;1936;p150"/>
          <p:cNvSpPr txBox="1"/>
          <p:nvPr>
            <p:ph idx="4" type="subTitle"/>
          </p:nvPr>
        </p:nvSpPr>
        <p:spPr>
          <a:xfrm>
            <a:off x="1034425" y="3766974"/>
            <a:ext cx="3267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bottle of orange juice</a:t>
            </a:r>
            <a:endParaRPr/>
          </a:p>
        </p:txBody>
      </p:sp>
      <p:sp>
        <p:nvSpPr>
          <p:cNvPr id="1937" name="Google Shape;1937;p150"/>
          <p:cNvSpPr txBox="1"/>
          <p:nvPr>
            <p:ph type="title"/>
          </p:nvPr>
        </p:nvSpPr>
        <p:spPr>
          <a:xfrm>
            <a:off x="3732550" y="2471025"/>
            <a:ext cx="2771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bottle of milk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820 ml</a:t>
            </a:r>
            <a:endParaRPr sz="1600"/>
          </a:p>
        </p:txBody>
      </p:sp>
      <p:sp>
        <p:nvSpPr>
          <p:cNvPr id="1938" name="Google Shape;1938;p150"/>
          <p:cNvSpPr txBox="1"/>
          <p:nvPr>
            <p:ph type="title"/>
          </p:nvPr>
        </p:nvSpPr>
        <p:spPr>
          <a:xfrm>
            <a:off x="6152567" y="2472167"/>
            <a:ext cx="2771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b</a:t>
            </a:r>
            <a:r>
              <a:rPr lang="en-GB" sz="1600"/>
              <a:t>ottle of orange juice</a:t>
            </a:r>
            <a:endParaRPr sz="1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0.82 litres</a:t>
            </a:r>
            <a:endParaRPr sz="1600"/>
          </a:p>
        </p:txBody>
      </p:sp>
      <p:pic>
        <p:nvPicPr>
          <p:cNvPr id="1939" name="Google Shape;1939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4683" y="2779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0" name="Google Shape;1940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2300" y="1189699"/>
            <a:ext cx="1342751" cy="134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1" name="Google Shape;1941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7050" y="1189699"/>
            <a:ext cx="1342751" cy="13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" name="Google Shape;1946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818" y="720000"/>
            <a:ext cx="2728124" cy="17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7" name="Google Shape;1947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1948" name="Google Shape;1948;p151"/>
          <p:cNvSpPr txBox="1"/>
          <p:nvPr/>
        </p:nvSpPr>
        <p:spPr>
          <a:xfrm flipH="1">
            <a:off x="1339025" y="755151"/>
            <a:ext cx="25008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Think of three different distances that are longer than 20 m.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They all need to have different units!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9" name="Google Shape;1949;p151"/>
          <p:cNvSpPr txBox="1"/>
          <p:nvPr>
            <p:ph idx="1" type="body"/>
          </p:nvPr>
        </p:nvSpPr>
        <p:spPr>
          <a:xfrm>
            <a:off x="4388350" y="759300"/>
            <a:ext cx="4173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other units of distance are there?</a:t>
            </a:r>
            <a:endParaRPr sz="2000"/>
          </a:p>
        </p:txBody>
      </p:sp>
      <p:sp>
        <p:nvSpPr>
          <p:cNvPr id="1950" name="Google Shape;1950;p151"/>
          <p:cNvSpPr txBox="1"/>
          <p:nvPr>
            <p:ph idx="1" type="body"/>
          </p:nvPr>
        </p:nvSpPr>
        <p:spPr>
          <a:xfrm>
            <a:off x="373938" y="3130041"/>
            <a:ext cx="11223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Laura</a:t>
            </a:r>
            <a:endParaRPr sz="1800"/>
          </a:p>
        </p:txBody>
      </p:sp>
      <p:sp>
        <p:nvSpPr>
          <p:cNvPr id="1951" name="Google Shape;1951;p151"/>
          <p:cNvSpPr txBox="1"/>
          <p:nvPr>
            <p:ph idx="1" type="body"/>
          </p:nvPr>
        </p:nvSpPr>
        <p:spPr>
          <a:xfrm>
            <a:off x="4572000" y="1518600"/>
            <a:ext cx="15831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kilometre</a:t>
            </a:r>
            <a:endParaRPr sz="2000"/>
          </a:p>
        </p:txBody>
      </p:sp>
      <p:sp>
        <p:nvSpPr>
          <p:cNvPr id="1952" name="Google Shape;1952;p151"/>
          <p:cNvSpPr txBox="1"/>
          <p:nvPr>
            <p:ph idx="1" type="body"/>
          </p:nvPr>
        </p:nvSpPr>
        <p:spPr>
          <a:xfrm>
            <a:off x="4572000" y="1890900"/>
            <a:ext cx="15831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centimetre</a:t>
            </a:r>
            <a:endParaRPr sz="2000"/>
          </a:p>
        </p:txBody>
      </p:sp>
      <p:sp>
        <p:nvSpPr>
          <p:cNvPr id="1953" name="Google Shape;1953;p151"/>
          <p:cNvSpPr txBox="1"/>
          <p:nvPr>
            <p:ph idx="1" type="body"/>
          </p:nvPr>
        </p:nvSpPr>
        <p:spPr>
          <a:xfrm>
            <a:off x="4572000" y="2263200"/>
            <a:ext cx="15831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millimetre</a:t>
            </a:r>
            <a:endParaRPr sz="2000"/>
          </a:p>
        </p:txBody>
      </p:sp>
      <p:sp>
        <p:nvSpPr>
          <p:cNvPr id="1954" name="Google Shape;1954;p151"/>
          <p:cNvSpPr txBox="1"/>
          <p:nvPr>
            <p:ph idx="1" type="body"/>
          </p:nvPr>
        </p:nvSpPr>
        <p:spPr>
          <a:xfrm>
            <a:off x="6322950" y="1518600"/>
            <a:ext cx="22725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20 m = 0.02 km</a:t>
            </a:r>
            <a:endParaRPr sz="2000"/>
          </a:p>
        </p:txBody>
      </p:sp>
      <p:sp>
        <p:nvSpPr>
          <p:cNvPr id="1955" name="Google Shape;1955;p151"/>
          <p:cNvSpPr txBox="1"/>
          <p:nvPr>
            <p:ph idx="1" type="body"/>
          </p:nvPr>
        </p:nvSpPr>
        <p:spPr>
          <a:xfrm>
            <a:off x="6322950" y="1890900"/>
            <a:ext cx="22725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20 m = 2000 cm</a:t>
            </a:r>
            <a:endParaRPr sz="2000"/>
          </a:p>
        </p:txBody>
      </p:sp>
      <p:sp>
        <p:nvSpPr>
          <p:cNvPr id="1956" name="Google Shape;1956;p151"/>
          <p:cNvSpPr txBox="1"/>
          <p:nvPr>
            <p:ph idx="1" type="body"/>
          </p:nvPr>
        </p:nvSpPr>
        <p:spPr>
          <a:xfrm>
            <a:off x="6322950" y="2263200"/>
            <a:ext cx="22725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20 m = 20 000 mm</a:t>
            </a:r>
            <a:endParaRPr sz="2000"/>
          </a:p>
        </p:txBody>
      </p:sp>
      <p:sp>
        <p:nvSpPr>
          <p:cNvPr id="1957" name="Google Shape;1957;p151"/>
          <p:cNvSpPr txBox="1"/>
          <p:nvPr>
            <p:ph idx="1" type="body"/>
          </p:nvPr>
        </p:nvSpPr>
        <p:spPr>
          <a:xfrm>
            <a:off x="5214750" y="3264611"/>
            <a:ext cx="33807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Example answers …</a:t>
            </a:r>
            <a:endParaRPr sz="2000"/>
          </a:p>
        </p:txBody>
      </p:sp>
      <p:sp>
        <p:nvSpPr>
          <p:cNvPr id="1958" name="Google Shape;1958;p151"/>
          <p:cNvSpPr txBox="1"/>
          <p:nvPr>
            <p:ph idx="1" type="body"/>
          </p:nvPr>
        </p:nvSpPr>
        <p:spPr>
          <a:xfrm>
            <a:off x="5620800" y="3636911"/>
            <a:ext cx="19905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0.03 km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9" name="Google Shape;1959;p151"/>
          <p:cNvSpPr txBox="1"/>
          <p:nvPr>
            <p:ph idx="1" type="body"/>
          </p:nvPr>
        </p:nvSpPr>
        <p:spPr>
          <a:xfrm>
            <a:off x="5620800" y="4009211"/>
            <a:ext cx="19905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2500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0" name="Google Shape;1960;p151"/>
          <p:cNvSpPr txBox="1"/>
          <p:nvPr>
            <p:ph idx="1" type="body"/>
          </p:nvPr>
        </p:nvSpPr>
        <p:spPr>
          <a:xfrm>
            <a:off x="5620800" y="4381511"/>
            <a:ext cx="19905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20 001 mm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61" name="Google Shape;1961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149" y="2188704"/>
            <a:ext cx="807874" cy="1062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152"/>
          <p:cNvSpPr txBox="1"/>
          <p:nvPr>
            <p:ph idx="1" type="subTitle"/>
          </p:nvPr>
        </p:nvSpPr>
        <p:spPr>
          <a:xfrm>
            <a:off x="1034425" y="1685375"/>
            <a:ext cx="168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</a:t>
            </a:r>
            <a:r>
              <a:rPr lang="en-GB"/>
              <a:t>.</a:t>
            </a:r>
            <a:r>
              <a:rPr lang="en-GB"/>
              <a:t>5 ml</a:t>
            </a:r>
            <a:endParaRPr/>
          </a:p>
        </p:txBody>
      </p:sp>
      <p:sp>
        <p:nvSpPr>
          <p:cNvPr id="1967" name="Google Shape;1967;p1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1968" name="Google Shape;1968;p152"/>
          <p:cNvSpPr txBox="1"/>
          <p:nvPr>
            <p:ph idx="3" type="subTitle"/>
          </p:nvPr>
        </p:nvSpPr>
        <p:spPr>
          <a:xfrm>
            <a:off x="1034425" y="2489443"/>
            <a:ext cx="1682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105 ml</a:t>
            </a:r>
            <a:endParaRPr/>
          </a:p>
        </p:txBody>
      </p:sp>
      <p:sp>
        <p:nvSpPr>
          <p:cNvPr id="1969" name="Google Shape;1969;p152"/>
          <p:cNvSpPr txBox="1"/>
          <p:nvPr>
            <p:ph idx="4" type="subTitle"/>
          </p:nvPr>
        </p:nvSpPr>
        <p:spPr>
          <a:xfrm>
            <a:off x="1034425" y="3309757"/>
            <a:ext cx="167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1005 ml</a:t>
            </a:r>
            <a:endParaRPr/>
          </a:p>
        </p:txBody>
      </p:sp>
      <p:sp>
        <p:nvSpPr>
          <p:cNvPr id="1970" name="Google Shape;1970;p152"/>
          <p:cNvSpPr txBox="1"/>
          <p:nvPr>
            <p:ph type="title"/>
          </p:nvPr>
        </p:nvSpPr>
        <p:spPr>
          <a:xfrm>
            <a:off x="320400" y="835200"/>
            <a:ext cx="8499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all</a:t>
            </a:r>
            <a:r>
              <a:rPr lang="en-GB"/>
              <a:t> of the capacities that are bigger than 1.04 litres.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71" name="Google Shape;1971;p152"/>
          <p:cNvSpPr txBox="1"/>
          <p:nvPr>
            <p:ph idx="5" type="subTitle"/>
          </p:nvPr>
        </p:nvSpPr>
        <p:spPr>
          <a:xfrm>
            <a:off x="1034425" y="4113825"/>
            <a:ext cx="1682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1050 ml</a:t>
            </a:r>
            <a:endParaRPr/>
          </a:p>
        </p:txBody>
      </p:sp>
      <p:pic>
        <p:nvPicPr>
          <p:cNvPr id="1972" name="Google Shape;1972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727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153"/>
          <p:cNvSpPr txBox="1"/>
          <p:nvPr>
            <p:ph idx="1" type="body"/>
          </p:nvPr>
        </p:nvSpPr>
        <p:spPr>
          <a:xfrm>
            <a:off x="324000" y="759300"/>
            <a:ext cx="4120200" cy="7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Which of these cats is the longest?</a:t>
            </a:r>
            <a:endParaRPr/>
          </a:p>
        </p:txBody>
      </p:sp>
      <p:sp>
        <p:nvSpPr>
          <p:cNvPr id="1978" name="Google Shape;1978;p1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1979" name="Google Shape;1979;p153"/>
          <p:cNvSpPr txBox="1"/>
          <p:nvPr>
            <p:ph idx="1" type="body"/>
          </p:nvPr>
        </p:nvSpPr>
        <p:spPr>
          <a:xfrm>
            <a:off x="4800600" y="759300"/>
            <a:ext cx="4019400" cy="3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Which of these dogs has a greater mass?</a:t>
            </a:r>
            <a:endParaRPr/>
          </a:p>
        </p:txBody>
      </p:sp>
      <p:pic>
        <p:nvPicPr>
          <p:cNvPr id="1980" name="Google Shape;1980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1052" y="2351463"/>
            <a:ext cx="1428937" cy="1142171"/>
          </a:xfrm>
          <a:prstGeom prst="rect">
            <a:avLst/>
          </a:prstGeom>
          <a:noFill/>
          <a:ln>
            <a:noFill/>
          </a:ln>
        </p:spPr>
      </p:pic>
      <p:sp>
        <p:nvSpPr>
          <p:cNvPr id="1981" name="Google Shape;1981;p153"/>
          <p:cNvSpPr txBox="1"/>
          <p:nvPr>
            <p:ph idx="4294967295" type="title"/>
          </p:nvPr>
        </p:nvSpPr>
        <p:spPr>
          <a:xfrm>
            <a:off x="5163150" y="3379750"/>
            <a:ext cx="1212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6500 g</a:t>
            </a:r>
            <a:endParaRPr b="0" sz="1800"/>
          </a:p>
        </p:txBody>
      </p:sp>
      <p:sp>
        <p:nvSpPr>
          <p:cNvPr id="1982" name="Google Shape;1982;p153"/>
          <p:cNvSpPr txBox="1"/>
          <p:nvPr>
            <p:ph idx="4294967295" type="title"/>
          </p:nvPr>
        </p:nvSpPr>
        <p:spPr>
          <a:xfrm>
            <a:off x="7697225" y="3379752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7</a:t>
            </a:r>
            <a:r>
              <a:rPr b="0" lang="en-GB" sz="1800"/>
              <a:t> kg</a:t>
            </a:r>
            <a:endParaRPr b="0" sz="1800"/>
          </a:p>
        </p:txBody>
      </p:sp>
      <p:sp>
        <p:nvSpPr>
          <p:cNvPr id="1983" name="Google Shape;1983;p153"/>
          <p:cNvSpPr txBox="1"/>
          <p:nvPr>
            <p:ph idx="4294967295" type="title"/>
          </p:nvPr>
        </p:nvSpPr>
        <p:spPr>
          <a:xfrm>
            <a:off x="423263" y="3376202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107 cm</a:t>
            </a:r>
            <a:endParaRPr b="0" sz="1800"/>
          </a:p>
        </p:txBody>
      </p:sp>
      <p:sp>
        <p:nvSpPr>
          <p:cNvPr id="1984" name="Google Shape;1984;p153"/>
          <p:cNvSpPr txBox="1"/>
          <p:nvPr>
            <p:ph idx="4294967295" type="title"/>
          </p:nvPr>
        </p:nvSpPr>
        <p:spPr>
          <a:xfrm>
            <a:off x="1733725" y="3376200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1009 mm</a:t>
            </a:r>
            <a:endParaRPr b="0" sz="1800"/>
          </a:p>
        </p:txBody>
      </p:sp>
      <p:sp>
        <p:nvSpPr>
          <p:cNvPr id="1985" name="Google Shape;1985;p153"/>
          <p:cNvSpPr txBox="1"/>
          <p:nvPr>
            <p:ph idx="4294967295" type="title"/>
          </p:nvPr>
        </p:nvSpPr>
        <p:spPr>
          <a:xfrm>
            <a:off x="3041563" y="3376200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/>
              <a:t>1.06 m</a:t>
            </a:r>
            <a:endParaRPr b="0" sz="1800"/>
          </a:p>
        </p:txBody>
      </p:sp>
      <p:cxnSp>
        <p:nvCxnSpPr>
          <p:cNvPr id="1986" name="Google Shape;1986;p153"/>
          <p:cNvCxnSpPr/>
          <p:nvPr/>
        </p:nvCxnSpPr>
        <p:spPr>
          <a:xfrm rot="10800000">
            <a:off x="4572000" y="597600"/>
            <a:ext cx="0" cy="4164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87" name="Google Shape;1987;p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4737" y="2170137"/>
            <a:ext cx="994476" cy="103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8" name="Google Shape;1988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4263" y="2078574"/>
            <a:ext cx="1292699" cy="121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9" name="Google Shape;1989;p1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775" y="2249344"/>
            <a:ext cx="1428950" cy="990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0" name="Google Shape;1990;p1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8399" y="2253850"/>
            <a:ext cx="1217863" cy="103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5" name="Google Shape;1995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2251" y="2375931"/>
            <a:ext cx="1386674" cy="2338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6" name="Google Shape;1996;p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96" y="1863375"/>
            <a:ext cx="1719183" cy="2899124"/>
          </a:xfrm>
          <a:prstGeom prst="rect">
            <a:avLst/>
          </a:prstGeom>
          <a:noFill/>
          <a:ln>
            <a:noFill/>
          </a:ln>
        </p:spPr>
      </p:pic>
      <p:sp>
        <p:nvSpPr>
          <p:cNvPr id="1997" name="Google Shape;1997;p1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1998" name="Google Shape;1998;p154"/>
          <p:cNvSpPr txBox="1"/>
          <p:nvPr>
            <p:ph idx="4294967295" type="title"/>
          </p:nvPr>
        </p:nvSpPr>
        <p:spPr>
          <a:xfrm>
            <a:off x="552500" y="3258443"/>
            <a:ext cx="1011000" cy="4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1.3</a:t>
            </a:r>
            <a:endParaRPr b="0"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litres</a:t>
            </a:r>
            <a:endParaRPr b="0" sz="2000"/>
          </a:p>
        </p:txBody>
      </p:sp>
      <p:sp>
        <p:nvSpPr>
          <p:cNvPr id="1999" name="Google Shape;1999;p154"/>
          <p:cNvSpPr txBox="1"/>
          <p:nvPr>
            <p:ph idx="4294967295" type="title"/>
          </p:nvPr>
        </p:nvSpPr>
        <p:spPr>
          <a:xfrm>
            <a:off x="3213949" y="3877573"/>
            <a:ext cx="725100" cy="29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m</a:t>
            </a:r>
            <a:r>
              <a:rPr b="0" lang="en-GB" sz="2000"/>
              <a:t>l </a:t>
            </a:r>
            <a:endParaRPr b="0" sz="2000"/>
          </a:p>
        </p:txBody>
      </p:sp>
      <p:sp>
        <p:nvSpPr>
          <p:cNvPr id="2000" name="Google Shape;2000;p154"/>
          <p:cNvSpPr/>
          <p:nvPr/>
        </p:nvSpPr>
        <p:spPr>
          <a:xfrm>
            <a:off x="3327250" y="3576700"/>
            <a:ext cx="498600" cy="29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154"/>
          <p:cNvSpPr txBox="1"/>
          <p:nvPr>
            <p:ph idx="4294967295" type="title"/>
          </p:nvPr>
        </p:nvSpPr>
        <p:spPr>
          <a:xfrm>
            <a:off x="5774400" y="2190050"/>
            <a:ext cx="2192100" cy="4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2300 kg</a:t>
            </a:r>
            <a:endParaRPr b="0" sz="2000"/>
          </a:p>
        </p:txBody>
      </p:sp>
      <p:sp>
        <p:nvSpPr>
          <p:cNvPr id="2002" name="Google Shape;2002;p154"/>
          <p:cNvSpPr txBox="1"/>
          <p:nvPr>
            <p:ph idx="1" type="body"/>
          </p:nvPr>
        </p:nvSpPr>
        <p:spPr>
          <a:xfrm>
            <a:off x="4824007" y="2667600"/>
            <a:ext cx="39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A different car has a greater mass than this car.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down a possible mass for this other car in grams.</a:t>
            </a:r>
            <a:endParaRPr sz="1800"/>
          </a:p>
        </p:txBody>
      </p:sp>
      <p:cxnSp>
        <p:nvCxnSpPr>
          <p:cNvPr id="2003" name="Google Shape;2003;p154"/>
          <p:cNvCxnSpPr/>
          <p:nvPr/>
        </p:nvCxnSpPr>
        <p:spPr>
          <a:xfrm rot="10800000">
            <a:off x="4572000" y="597600"/>
            <a:ext cx="0" cy="4164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4" name="Google Shape;2004;p154"/>
          <p:cNvSpPr txBox="1"/>
          <p:nvPr>
            <p:ph idx="1" type="body"/>
          </p:nvPr>
        </p:nvSpPr>
        <p:spPr>
          <a:xfrm>
            <a:off x="1837888" y="1040725"/>
            <a:ext cx="2527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The 1.3 litre bottle has a larger capacity. What number could go onto the smaller bottle?</a:t>
            </a:r>
            <a:endParaRPr sz="1800"/>
          </a:p>
        </p:txBody>
      </p:sp>
      <p:pic>
        <p:nvPicPr>
          <p:cNvPr id="2005" name="Google Shape;2005;p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4400" y="1076625"/>
            <a:ext cx="2194344" cy="116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155"/>
          <p:cNvSpPr txBox="1"/>
          <p:nvPr>
            <p:ph idx="1" type="body"/>
          </p:nvPr>
        </p:nvSpPr>
        <p:spPr>
          <a:xfrm>
            <a:off x="316461" y="759300"/>
            <a:ext cx="8552400" cy="3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5) Place these distances in order of size, smallest first.</a:t>
            </a:r>
            <a:endParaRPr sz="2000"/>
          </a:p>
        </p:txBody>
      </p:sp>
      <p:sp>
        <p:nvSpPr>
          <p:cNvPr id="2011" name="Google Shape;2011;p1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grpSp>
        <p:nvGrpSpPr>
          <p:cNvPr id="2012" name="Google Shape;2012;p155"/>
          <p:cNvGrpSpPr/>
          <p:nvPr/>
        </p:nvGrpSpPr>
        <p:grpSpPr>
          <a:xfrm>
            <a:off x="726275" y="1358725"/>
            <a:ext cx="457200" cy="457200"/>
            <a:chOff x="1020916" y="1442088"/>
            <a:chExt cx="457200" cy="457200"/>
          </a:xfrm>
        </p:grpSpPr>
        <p:pic>
          <p:nvPicPr>
            <p:cNvPr id="2013" name="Google Shape;2013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4" name="Google Shape;2014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5" name="Google Shape;2015;p155"/>
          <p:cNvGrpSpPr/>
          <p:nvPr/>
        </p:nvGrpSpPr>
        <p:grpSpPr>
          <a:xfrm>
            <a:off x="2173125" y="1358725"/>
            <a:ext cx="457200" cy="457200"/>
            <a:chOff x="1020916" y="1442088"/>
            <a:chExt cx="457200" cy="457200"/>
          </a:xfrm>
        </p:grpSpPr>
        <p:pic>
          <p:nvPicPr>
            <p:cNvPr id="2016" name="Google Shape;2016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7" name="Google Shape;2017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18" name="Google Shape;2018;p155"/>
          <p:cNvGrpSpPr/>
          <p:nvPr/>
        </p:nvGrpSpPr>
        <p:grpSpPr>
          <a:xfrm>
            <a:off x="3619975" y="1358725"/>
            <a:ext cx="457200" cy="457200"/>
            <a:chOff x="1020916" y="1442088"/>
            <a:chExt cx="457200" cy="457200"/>
          </a:xfrm>
        </p:grpSpPr>
        <p:pic>
          <p:nvPicPr>
            <p:cNvPr id="2019" name="Google Shape;2019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0" name="Google Shape;2020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1" name="Google Shape;2021;p155"/>
          <p:cNvGrpSpPr/>
          <p:nvPr/>
        </p:nvGrpSpPr>
        <p:grpSpPr>
          <a:xfrm>
            <a:off x="5066825" y="1358725"/>
            <a:ext cx="457200" cy="457200"/>
            <a:chOff x="1020916" y="1442088"/>
            <a:chExt cx="457200" cy="457200"/>
          </a:xfrm>
        </p:grpSpPr>
        <p:pic>
          <p:nvPicPr>
            <p:cNvPr id="2022" name="Google Shape;2022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3" name="Google Shape;2023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4" name="Google Shape;2024;p155"/>
          <p:cNvGrpSpPr/>
          <p:nvPr/>
        </p:nvGrpSpPr>
        <p:grpSpPr>
          <a:xfrm>
            <a:off x="6513675" y="1358725"/>
            <a:ext cx="457200" cy="457200"/>
            <a:chOff x="1020916" y="1442088"/>
            <a:chExt cx="457200" cy="457200"/>
          </a:xfrm>
        </p:grpSpPr>
        <p:pic>
          <p:nvPicPr>
            <p:cNvPr id="2025" name="Google Shape;2025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6" name="Google Shape;2026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27" name="Google Shape;2027;p155"/>
          <p:cNvGrpSpPr/>
          <p:nvPr/>
        </p:nvGrpSpPr>
        <p:grpSpPr>
          <a:xfrm>
            <a:off x="7960525" y="1358725"/>
            <a:ext cx="457200" cy="457200"/>
            <a:chOff x="1020916" y="1442088"/>
            <a:chExt cx="457200" cy="457200"/>
          </a:xfrm>
        </p:grpSpPr>
        <p:pic>
          <p:nvPicPr>
            <p:cNvPr id="2028" name="Google Shape;2028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9" name="Google Shape;2029;p1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0" name="Google Shape;2030;p155"/>
          <p:cNvSpPr txBox="1"/>
          <p:nvPr>
            <p:ph idx="4294967295" type="title"/>
          </p:nvPr>
        </p:nvSpPr>
        <p:spPr>
          <a:xfrm>
            <a:off x="4726613" y="1957225"/>
            <a:ext cx="1137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75 mm</a:t>
            </a:r>
            <a:endParaRPr b="0" sz="2000"/>
          </a:p>
        </p:txBody>
      </p:sp>
      <p:sp>
        <p:nvSpPr>
          <p:cNvPr id="2031" name="Google Shape;2031;p155"/>
          <p:cNvSpPr txBox="1"/>
          <p:nvPr>
            <p:ph idx="4294967295" type="title"/>
          </p:nvPr>
        </p:nvSpPr>
        <p:spPr>
          <a:xfrm>
            <a:off x="546563" y="1957227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1.8 km</a:t>
            </a:r>
            <a:endParaRPr b="0" sz="2000"/>
          </a:p>
        </p:txBody>
      </p:sp>
      <p:sp>
        <p:nvSpPr>
          <p:cNvPr id="2032" name="Google Shape;2032;p155"/>
          <p:cNvSpPr txBox="1"/>
          <p:nvPr>
            <p:ph idx="4294967295" type="title"/>
          </p:nvPr>
        </p:nvSpPr>
        <p:spPr>
          <a:xfrm>
            <a:off x="1832975" y="1957225"/>
            <a:ext cx="1137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7500 cm</a:t>
            </a:r>
            <a:endParaRPr b="0" sz="2000"/>
          </a:p>
        </p:txBody>
      </p:sp>
      <p:sp>
        <p:nvSpPr>
          <p:cNvPr id="2033" name="Google Shape;2033;p155"/>
          <p:cNvSpPr txBox="1"/>
          <p:nvPr>
            <p:ph idx="4294967295" type="title"/>
          </p:nvPr>
        </p:nvSpPr>
        <p:spPr>
          <a:xfrm>
            <a:off x="6333963" y="1957227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75 m</a:t>
            </a:r>
            <a:endParaRPr b="0" sz="2000"/>
          </a:p>
        </p:txBody>
      </p:sp>
      <p:sp>
        <p:nvSpPr>
          <p:cNvPr id="2034" name="Google Shape;2034;p155"/>
          <p:cNvSpPr txBox="1"/>
          <p:nvPr>
            <p:ph idx="4294967295" type="title"/>
          </p:nvPr>
        </p:nvSpPr>
        <p:spPr>
          <a:xfrm>
            <a:off x="3440263" y="1957227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180 m</a:t>
            </a:r>
            <a:endParaRPr b="0" sz="2000"/>
          </a:p>
        </p:txBody>
      </p:sp>
      <p:sp>
        <p:nvSpPr>
          <p:cNvPr id="2035" name="Google Shape;2035;p155"/>
          <p:cNvSpPr txBox="1"/>
          <p:nvPr>
            <p:ph idx="4294967295" type="title"/>
          </p:nvPr>
        </p:nvSpPr>
        <p:spPr>
          <a:xfrm>
            <a:off x="7780813" y="1957227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1.8 cm</a:t>
            </a:r>
            <a:endParaRPr b="0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9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" name="Google Shape;2040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1041" y="1796475"/>
            <a:ext cx="1428949" cy="1142648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2042" name="Google Shape;2042;p156"/>
          <p:cNvSpPr txBox="1"/>
          <p:nvPr>
            <p:ph idx="4294967295" type="title"/>
          </p:nvPr>
        </p:nvSpPr>
        <p:spPr>
          <a:xfrm>
            <a:off x="5251300" y="2846350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6</a:t>
            </a:r>
            <a:r>
              <a:rPr b="0" lang="en-GB" sz="1600"/>
              <a:t>500 g</a:t>
            </a:r>
            <a:endParaRPr b="0" sz="1600"/>
          </a:p>
        </p:txBody>
      </p:sp>
      <p:sp>
        <p:nvSpPr>
          <p:cNvPr id="2043" name="Google Shape;2043;p156"/>
          <p:cNvSpPr txBox="1"/>
          <p:nvPr>
            <p:ph idx="4294967295" type="title"/>
          </p:nvPr>
        </p:nvSpPr>
        <p:spPr>
          <a:xfrm>
            <a:off x="7697225" y="2846352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7</a:t>
            </a:r>
            <a:r>
              <a:rPr b="0" lang="en-GB" sz="1600"/>
              <a:t> kg</a:t>
            </a:r>
            <a:endParaRPr b="0" sz="1600"/>
          </a:p>
        </p:txBody>
      </p:sp>
      <p:sp>
        <p:nvSpPr>
          <p:cNvPr id="2044" name="Google Shape;2044;p156"/>
          <p:cNvSpPr txBox="1"/>
          <p:nvPr>
            <p:ph idx="4294967295" type="title"/>
          </p:nvPr>
        </p:nvSpPr>
        <p:spPr>
          <a:xfrm>
            <a:off x="423263" y="3376202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107 cm</a:t>
            </a:r>
            <a:endParaRPr b="0" sz="1600"/>
          </a:p>
        </p:txBody>
      </p:sp>
      <p:sp>
        <p:nvSpPr>
          <p:cNvPr id="2045" name="Google Shape;2045;p156"/>
          <p:cNvSpPr txBox="1"/>
          <p:nvPr>
            <p:ph idx="4294967295" type="title"/>
          </p:nvPr>
        </p:nvSpPr>
        <p:spPr>
          <a:xfrm>
            <a:off x="1733725" y="3376200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1009 mm</a:t>
            </a:r>
            <a:endParaRPr b="0" sz="1600"/>
          </a:p>
        </p:txBody>
      </p:sp>
      <p:sp>
        <p:nvSpPr>
          <p:cNvPr id="2046" name="Google Shape;2046;p156"/>
          <p:cNvSpPr txBox="1"/>
          <p:nvPr>
            <p:ph idx="4294967295" type="title"/>
          </p:nvPr>
        </p:nvSpPr>
        <p:spPr>
          <a:xfrm>
            <a:off x="3041563" y="3376200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600"/>
              <a:t>1.06 m</a:t>
            </a:r>
            <a:endParaRPr b="0" sz="1600"/>
          </a:p>
        </p:txBody>
      </p:sp>
      <p:sp>
        <p:nvSpPr>
          <p:cNvPr id="2047" name="Google Shape;2047;p156"/>
          <p:cNvSpPr txBox="1"/>
          <p:nvPr>
            <p:ph idx="4294967295" type="title"/>
          </p:nvPr>
        </p:nvSpPr>
        <p:spPr>
          <a:xfrm>
            <a:off x="1733725" y="3756725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1009 mm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8" name="Google Shape;2048;p156"/>
          <p:cNvSpPr txBox="1"/>
          <p:nvPr>
            <p:ph idx="4294967295" type="title"/>
          </p:nvPr>
        </p:nvSpPr>
        <p:spPr>
          <a:xfrm>
            <a:off x="313313" y="3756725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1070 mm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9" name="Google Shape;2049;p156"/>
          <p:cNvSpPr txBox="1"/>
          <p:nvPr>
            <p:ph idx="4294967295" type="title"/>
          </p:nvPr>
        </p:nvSpPr>
        <p:spPr>
          <a:xfrm>
            <a:off x="3041550" y="3756725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1060 mm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0" name="Google Shape;2050;p156"/>
          <p:cNvSpPr txBox="1"/>
          <p:nvPr>
            <p:ph idx="4294967295" type="title"/>
          </p:nvPr>
        </p:nvSpPr>
        <p:spPr>
          <a:xfrm>
            <a:off x="308131" y="1621100"/>
            <a:ext cx="1329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This cat is the longest.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1" name="Google Shape;2051;p156"/>
          <p:cNvSpPr txBox="1"/>
          <p:nvPr>
            <p:ph idx="4294967295" type="title"/>
          </p:nvPr>
        </p:nvSpPr>
        <p:spPr>
          <a:xfrm>
            <a:off x="5229075" y="3183550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6500 g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2" name="Google Shape;2052;p156"/>
          <p:cNvSpPr txBox="1"/>
          <p:nvPr>
            <p:ph idx="4294967295" type="title"/>
          </p:nvPr>
        </p:nvSpPr>
        <p:spPr>
          <a:xfrm>
            <a:off x="7587275" y="3183550"/>
            <a:ext cx="103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7000 g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3" name="Google Shape;2053;p156"/>
          <p:cNvSpPr txBox="1"/>
          <p:nvPr>
            <p:ph idx="4294967295" type="title"/>
          </p:nvPr>
        </p:nvSpPr>
        <p:spPr>
          <a:xfrm>
            <a:off x="7459200" y="3611400"/>
            <a:ext cx="1292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This dog has the greater mass.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4" name="Google Shape;2054;p156"/>
          <p:cNvSpPr txBox="1"/>
          <p:nvPr>
            <p:ph idx="1" type="body"/>
          </p:nvPr>
        </p:nvSpPr>
        <p:spPr>
          <a:xfrm>
            <a:off x="4800600" y="759300"/>
            <a:ext cx="4120200" cy="3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Which of these dogs has a greater mass?</a:t>
            </a:r>
            <a:endParaRPr/>
          </a:p>
        </p:txBody>
      </p:sp>
      <p:sp>
        <p:nvSpPr>
          <p:cNvPr id="2055" name="Google Shape;2055;p156"/>
          <p:cNvSpPr txBox="1"/>
          <p:nvPr>
            <p:ph idx="1" type="body"/>
          </p:nvPr>
        </p:nvSpPr>
        <p:spPr>
          <a:xfrm>
            <a:off x="324000" y="759300"/>
            <a:ext cx="4120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Which of these cats is the longest?</a:t>
            </a:r>
            <a:endParaRPr/>
          </a:p>
        </p:txBody>
      </p:sp>
      <p:cxnSp>
        <p:nvCxnSpPr>
          <p:cNvPr id="2056" name="Google Shape;2056;p156"/>
          <p:cNvCxnSpPr/>
          <p:nvPr/>
        </p:nvCxnSpPr>
        <p:spPr>
          <a:xfrm rot="10800000">
            <a:off x="4572000" y="597600"/>
            <a:ext cx="0" cy="4164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57" name="Google Shape;2057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4737" y="2170137"/>
            <a:ext cx="994476" cy="103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8" name="Google Shape;2058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4263" y="2078574"/>
            <a:ext cx="1292699" cy="121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9" name="Google Shape;2059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775" y="2249344"/>
            <a:ext cx="1428950" cy="990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0" name="Google Shape;2060;p1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8399" y="1720450"/>
            <a:ext cx="1217863" cy="1036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5" name="Google Shape;2065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1076625"/>
            <a:ext cx="2194344" cy="116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6" name="Google Shape;2066;p1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pic>
        <p:nvPicPr>
          <p:cNvPr id="2067" name="Google Shape;2067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408438"/>
            <a:ext cx="1468100" cy="293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8" name="Google Shape;2068;p157"/>
          <p:cNvSpPr txBox="1"/>
          <p:nvPr>
            <p:ph idx="4294967295" type="title"/>
          </p:nvPr>
        </p:nvSpPr>
        <p:spPr>
          <a:xfrm>
            <a:off x="552500" y="3258443"/>
            <a:ext cx="1011000" cy="4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1.3</a:t>
            </a:r>
            <a:endParaRPr b="0"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litres</a:t>
            </a:r>
            <a:endParaRPr b="0" sz="2000"/>
          </a:p>
        </p:txBody>
      </p:sp>
      <p:pic>
        <p:nvPicPr>
          <p:cNvPr id="2069" name="Google Shape;2069;p1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6492" y="2464800"/>
            <a:ext cx="939937" cy="187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0" name="Google Shape;2070;p157"/>
          <p:cNvSpPr txBox="1"/>
          <p:nvPr>
            <p:ph idx="4294967295" type="title"/>
          </p:nvPr>
        </p:nvSpPr>
        <p:spPr>
          <a:xfrm>
            <a:off x="3213949" y="3877573"/>
            <a:ext cx="725100" cy="29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ml </a:t>
            </a:r>
            <a:endParaRPr b="0" sz="2000"/>
          </a:p>
        </p:txBody>
      </p:sp>
      <p:sp>
        <p:nvSpPr>
          <p:cNvPr id="2071" name="Google Shape;2071;p157"/>
          <p:cNvSpPr txBox="1"/>
          <p:nvPr>
            <p:ph idx="4294967295" type="title"/>
          </p:nvPr>
        </p:nvSpPr>
        <p:spPr>
          <a:xfrm>
            <a:off x="5774400" y="2190050"/>
            <a:ext cx="2192100" cy="4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2300 kg</a:t>
            </a:r>
            <a:endParaRPr b="0" sz="2000"/>
          </a:p>
        </p:txBody>
      </p:sp>
      <p:sp>
        <p:nvSpPr>
          <p:cNvPr id="2072" name="Google Shape;2072;p157"/>
          <p:cNvSpPr txBox="1"/>
          <p:nvPr>
            <p:ph idx="4294967295" type="title"/>
          </p:nvPr>
        </p:nvSpPr>
        <p:spPr>
          <a:xfrm>
            <a:off x="5774400" y="4176975"/>
            <a:ext cx="2527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Any number greater than 2 300 000 g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3" name="Google Shape;2073;p157"/>
          <p:cNvSpPr txBox="1"/>
          <p:nvPr>
            <p:ph idx="4294967295" type="title"/>
          </p:nvPr>
        </p:nvSpPr>
        <p:spPr>
          <a:xfrm>
            <a:off x="1945975" y="3071400"/>
            <a:ext cx="131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Any number less than 1300 ml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4" name="Google Shape;2074;p157"/>
          <p:cNvSpPr/>
          <p:nvPr/>
        </p:nvSpPr>
        <p:spPr>
          <a:xfrm>
            <a:off x="3327250" y="3576700"/>
            <a:ext cx="498600" cy="29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5" name="Google Shape;2075;p157"/>
          <p:cNvCxnSpPr/>
          <p:nvPr/>
        </p:nvCxnSpPr>
        <p:spPr>
          <a:xfrm rot="10800000">
            <a:off x="4572000" y="597600"/>
            <a:ext cx="0" cy="4164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6" name="Google Shape;2076;p157"/>
          <p:cNvSpPr txBox="1"/>
          <p:nvPr>
            <p:ph idx="1" type="body"/>
          </p:nvPr>
        </p:nvSpPr>
        <p:spPr>
          <a:xfrm>
            <a:off x="1837888" y="1040725"/>
            <a:ext cx="2527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The 1.3 litre bottle has a larger capacity. What number could go onto the smaller bottle?</a:t>
            </a:r>
            <a:endParaRPr sz="1800"/>
          </a:p>
        </p:txBody>
      </p:sp>
      <p:sp>
        <p:nvSpPr>
          <p:cNvPr id="2077" name="Google Shape;2077;p157"/>
          <p:cNvSpPr txBox="1"/>
          <p:nvPr>
            <p:ph idx="1" type="body"/>
          </p:nvPr>
        </p:nvSpPr>
        <p:spPr>
          <a:xfrm>
            <a:off x="4824007" y="2667600"/>
            <a:ext cx="39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A different car has a greater mass than this car.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down a possible mass for this other car in grams.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5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grpSp>
        <p:nvGrpSpPr>
          <p:cNvPr id="2083" name="Google Shape;2083;p158"/>
          <p:cNvGrpSpPr/>
          <p:nvPr/>
        </p:nvGrpSpPr>
        <p:grpSpPr>
          <a:xfrm>
            <a:off x="726275" y="1358725"/>
            <a:ext cx="457200" cy="457200"/>
            <a:chOff x="1020916" y="1442088"/>
            <a:chExt cx="457200" cy="457200"/>
          </a:xfrm>
        </p:grpSpPr>
        <p:pic>
          <p:nvPicPr>
            <p:cNvPr id="2084" name="Google Shape;2084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5" name="Google Shape;2085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6" name="Google Shape;2086;p158"/>
          <p:cNvGrpSpPr/>
          <p:nvPr/>
        </p:nvGrpSpPr>
        <p:grpSpPr>
          <a:xfrm>
            <a:off x="2173125" y="1358725"/>
            <a:ext cx="457200" cy="457200"/>
            <a:chOff x="1020916" y="1442088"/>
            <a:chExt cx="457200" cy="457200"/>
          </a:xfrm>
        </p:grpSpPr>
        <p:pic>
          <p:nvPicPr>
            <p:cNvPr id="2087" name="Google Shape;2087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8" name="Google Shape;2088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9" name="Google Shape;2089;p158"/>
          <p:cNvGrpSpPr/>
          <p:nvPr/>
        </p:nvGrpSpPr>
        <p:grpSpPr>
          <a:xfrm>
            <a:off x="3619975" y="1358725"/>
            <a:ext cx="457200" cy="457200"/>
            <a:chOff x="1020916" y="1442088"/>
            <a:chExt cx="457200" cy="457200"/>
          </a:xfrm>
        </p:grpSpPr>
        <p:pic>
          <p:nvPicPr>
            <p:cNvPr id="2090" name="Google Shape;2090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1" name="Google Shape;2091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2" name="Google Shape;2092;p158"/>
          <p:cNvGrpSpPr/>
          <p:nvPr/>
        </p:nvGrpSpPr>
        <p:grpSpPr>
          <a:xfrm>
            <a:off x="5066825" y="1358725"/>
            <a:ext cx="457200" cy="457200"/>
            <a:chOff x="1020916" y="1442088"/>
            <a:chExt cx="457200" cy="457200"/>
          </a:xfrm>
        </p:grpSpPr>
        <p:pic>
          <p:nvPicPr>
            <p:cNvPr id="2093" name="Google Shape;2093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4" name="Google Shape;2094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5" name="Google Shape;2095;p158"/>
          <p:cNvGrpSpPr/>
          <p:nvPr/>
        </p:nvGrpSpPr>
        <p:grpSpPr>
          <a:xfrm>
            <a:off x="6513675" y="1358725"/>
            <a:ext cx="457200" cy="457200"/>
            <a:chOff x="1020916" y="1442088"/>
            <a:chExt cx="457200" cy="457200"/>
          </a:xfrm>
        </p:grpSpPr>
        <p:pic>
          <p:nvPicPr>
            <p:cNvPr id="2096" name="Google Shape;2096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7" name="Google Shape;2097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98" name="Google Shape;2098;p158"/>
          <p:cNvGrpSpPr/>
          <p:nvPr/>
        </p:nvGrpSpPr>
        <p:grpSpPr>
          <a:xfrm>
            <a:off x="7960525" y="1358725"/>
            <a:ext cx="457200" cy="457200"/>
            <a:chOff x="1020916" y="1442088"/>
            <a:chExt cx="457200" cy="457200"/>
          </a:xfrm>
        </p:grpSpPr>
        <p:pic>
          <p:nvPicPr>
            <p:cNvPr id="2099" name="Google Shape;2099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0" name="Google Shape;2100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01" name="Google Shape;2101;p158"/>
          <p:cNvSpPr txBox="1"/>
          <p:nvPr>
            <p:ph idx="4294967295" type="title"/>
          </p:nvPr>
        </p:nvSpPr>
        <p:spPr>
          <a:xfrm>
            <a:off x="488400" y="2403150"/>
            <a:ext cx="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1800 m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2" name="Google Shape;2102;p158"/>
          <p:cNvSpPr txBox="1"/>
          <p:nvPr>
            <p:ph idx="4294967295" type="title"/>
          </p:nvPr>
        </p:nvSpPr>
        <p:spPr>
          <a:xfrm>
            <a:off x="1935225" y="2403150"/>
            <a:ext cx="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75 </a:t>
            </a: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m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3" name="Google Shape;2103;p158"/>
          <p:cNvSpPr txBox="1"/>
          <p:nvPr>
            <p:ph idx="4294967295" type="title"/>
          </p:nvPr>
        </p:nvSpPr>
        <p:spPr>
          <a:xfrm>
            <a:off x="3382050" y="2403150"/>
            <a:ext cx="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180 m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4" name="Google Shape;2104;p158"/>
          <p:cNvSpPr txBox="1"/>
          <p:nvPr>
            <p:ph idx="4294967295" type="title"/>
          </p:nvPr>
        </p:nvSpPr>
        <p:spPr>
          <a:xfrm>
            <a:off x="4828875" y="2403150"/>
            <a:ext cx="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0.075 m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5" name="Google Shape;2105;p158"/>
          <p:cNvSpPr txBox="1"/>
          <p:nvPr>
            <p:ph idx="4294967295" type="title"/>
          </p:nvPr>
        </p:nvSpPr>
        <p:spPr>
          <a:xfrm>
            <a:off x="6275700" y="2403150"/>
            <a:ext cx="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75 m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6" name="Google Shape;2106;p158"/>
          <p:cNvSpPr txBox="1"/>
          <p:nvPr>
            <p:ph idx="4294967295" type="title"/>
          </p:nvPr>
        </p:nvSpPr>
        <p:spPr>
          <a:xfrm>
            <a:off x="7722525" y="2403150"/>
            <a:ext cx="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0.018 m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07" name="Google Shape;2107;p158"/>
          <p:cNvCxnSpPr>
            <a:stCxn id="2108" idx="3"/>
            <a:endCxn id="2109" idx="1"/>
          </p:cNvCxnSpPr>
          <p:nvPr/>
        </p:nvCxnSpPr>
        <p:spPr>
          <a:xfrm>
            <a:off x="1158888" y="3691038"/>
            <a:ext cx="1038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0" name="Google Shape;2110;p158"/>
          <p:cNvCxnSpPr/>
          <p:nvPr/>
        </p:nvCxnSpPr>
        <p:spPr>
          <a:xfrm>
            <a:off x="2605688" y="3691038"/>
            <a:ext cx="10389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1" name="Google Shape;2111;p158"/>
          <p:cNvCxnSpPr/>
          <p:nvPr/>
        </p:nvCxnSpPr>
        <p:spPr>
          <a:xfrm>
            <a:off x="4052513" y="3691038"/>
            <a:ext cx="10389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2" name="Google Shape;2112;p158"/>
          <p:cNvCxnSpPr/>
          <p:nvPr/>
        </p:nvCxnSpPr>
        <p:spPr>
          <a:xfrm>
            <a:off x="5499338" y="3691038"/>
            <a:ext cx="10389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113" name="Google Shape;2113;p158"/>
          <p:cNvGrpSpPr/>
          <p:nvPr/>
        </p:nvGrpSpPr>
        <p:grpSpPr>
          <a:xfrm>
            <a:off x="726275" y="3468125"/>
            <a:ext cx="457200" cy="457200"/>
            <a:chOff x="1020916" y="1442088"/>
            <a:chExt cx="457200" cy="457200"/>
          </a:xfrm>
        </p:grpSpPr>
        <p:pic>
          <p:nvPicPr>
            <p:cNvPr id="2114" name="Google Shape;2114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8" name="Google Shape;2108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5" name="Google Shape;2115;p158"/>
          <p:cNvGrpSpPr/>
          <p:nvPr/>
        </p:nvGrpSpPr>
        <p:grpSpPr>
          <a:xfrm>
            <a:off x="2173125" y="3468125"/>
            <a:ext cx="457200" cy="457200"/>
            <a:chOff x="1020916" y="1442088"/>
            <a:chExt cx="457200" cy="457200"/>
          </a:xfrm>
        </p:grpSpPr>
        <p:pic>
          <p:nvPicPr>
            <p:cNvPr id="2116" name="Google Shape;2116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9" name="Google Shape;2109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7" name="Google Shape;2117;p158"/>
          <p:cNvGrpSpPr/>
          <p:nvPr/>
        </p:nvGrpSpPr>
        <p:grpSpPr>
          <a:xfrm>
            <a:off x="3619975" y="3468125"/>
            <a:ext cx="457200" cy="457200"/>
            <a:chOff x="1020916" y="1442088"/>
            <a:chExt cx="457200" cy="457200"/>
          </a:xfrm>
        </p:grpSpPr>
        <p:pic>
          <p:nvPicPr>
            <p:cNvPr id="2118" name="Google Shape;2118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9" name="Google Shape;2119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0" name="Google Shape;2120;p158"/>
          <p:cNvGrpSpPr/>
          <p:nvPr/>
        </p:nvGrpSpPr>
        <p:grpSpPr>
          <a:xfrm>
            <a:off x="3619975" y="3925325"/>
            <a:ext cx="457200" cy="457200"/>
            <a:chOff x="1020916" y="1442088"/>
            <a:chExt cx="457200" cy="457200"/>
          </a:xfrm>
        </p:grpSpPr>
        <p:pic>
          <p:nvPicPr>
            <p:cNvPr id="2121" name="Google Shape;2121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2" name="Google Shape;2122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3" name="Google Shape;2123;p158"/>
          <p:cNvGrpSpPr/>
          <p:nvPr/>
        </p:nvGrpSpPr>
        <p:grpSpPr>
          <a:xfrm>
            <a:off x="5066825" y="3468125"/>
            <a:ext cx="457200" cy="457200"/>
            <a:chOff x="1020916" y="1442088"/>
            <a:chExt cx="457200" cy="457200"/>
          </a:xfrm>
        </p:grpSpPr>
        <p:pic>
          <p:nvPicPr>
            <p:cNvPr id="2124" name="Google Shape;2124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5" name="Google Shape;2125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6" name="Google Shape;2126;p158"/>
          <p:cNvGrpSpPr/>
          <p:nvPr/>
        </p:nvGrpSpPr>
        <p:grpSpPr>
          <a:xfrm>
            <a:off x="6513675" y="3468125"/>
            <a:ext cx="457200" cy="457200"/>
            <a:chOff x="1020916" y="1442088"/>
            <a:chExt cx="457200" cy="457200"/>
          </a:xfrm>
        </p:grpSpPr>
        <p:pic>
          <p:nvPicPr>
            <p:cNvPr id="2127" name="Google Shape;2127;p1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8" name="Google Shape;2128;p15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9" name="Google Shape;2129;p158"/>
          <p:cNvSpPr txBox="1"/>
          <p:nvPr>
            <p:ph idx="4294967295" type="title"/>
          </p:nvPr>
        </p:nvSpPr>
        <p:spPr>
          <a:xfrm>
            <a:off x="488400" y="3925325"/>
            <a:ext cx="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shortest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0" name="Google Shape;2130;p158"/>
          <p:cNvSpPr txBox="1"/>
          <p:nvPr>
            <p:ph idx="4294967295" type="title"/>
          </p:nvPr>
        </p:nvSpPr>
        <p:spPr>
          <a:xfrm>
            <a:off x="6272924" y="3925325"/>
            <a:ext cx="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800">
                <a:latin typeface="Kalam"/>
                <a:ea typeface="Kalam"/>
                <a:cs typeface="Kalam"/>
                <a:sym typeface="Kalam"/>
              </a:rPr>
              <a:t>longest</a:t>
            </a:r>
            <a:endParaRPr b="0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1" name="Google Shape;2131;p158"/>
          <p:cNvSpPr txBox="1"/>
          <p:nvPr>
            <p:ph idx="4294967295" type="title"/>
          </p:nvPr>
        </p:nvSpPr>
        <p:spPr>
          <a:xfrm>
            <a:off x="4726613" y="1957225"/>
            <a:ext cx="1137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75 mm</a:t>
            </a:r>
            <a:endParaRPr b="0" sz="2000"/>
          </a:p>
        </p:txBody>
      </p:sp>
      <p:sp>
        <p:nvSpPr>
          <p:cNvPr id="2132" name="Google Shape;2132;p158"/>
          <p:cNvSpPr txBox="1"/>
          <p:nvPr>
            <p:ph idx="4294967295" type="title"/>
          </p:nvPr>
        </p:nvSpPr>
        <p:spPr>
          <a:xfrm>
            <a:off x="546563" y="1957227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1.8 km</a:t>
            </a:r>
            <a:endParaRPr b="0" sz="2000"/>
          </a:p>
        </p:txBody>
      </p:sp>
      <p:sp>
        <p:nvSpPr>
          <p:cNvPr id="2133" name="Google Shape;2133;p158"/>
          <p:cNvSpPr txBox="1"/>
          <p:nvPr>
            <p:ph idx="4294967295" type="title"/>
          </p:nvPr>
        </p:nvSpPr>
        <p:spPr>
          <a:xfrm>
            <a:off x="1832975" y="1957225"/>
            <a:ext cx="1137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7500 cm</a:t>
            </a:r>
            <a:endParaRPr b="0" sz="2000"/>
          </a:p>
        </p:txBody>
      </p:sp>
      <p:sp>
        <p:nvSpPr>
          <p:cNvPr id="2134" name="Google Shape;2134;p158"/>
          <p:cNvSpPr txBox="1"/>
          <p:nvPr>
            <p:ph idx="4294967295" type="title"/>
          </p:nvPr>
        </p:nvSpPr>
        <p:spPr>
          <a:xfrm>
            <a:off x="6333963" y="1957227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75 m</a:t>
            </a:r>
            <a:endParaRPr b="0" sz="2000"/>
          </a:p>
        </p:txBody>
      </p:sp>
      <p:sp>
        <p:nvSpPr>
          <p:cNvPr id="2135" name="Google Shape;2135;p158"/>
          <p:cNvSpPr txBox="1"/>
          <p:nvPr>
            <p:ph idx="4294967295" type="title"/>
          </p:nvPr>
        </p:nvSpPr>
        <p:spPr>
          <a:xfrm>
            <a:off x="3440263" y="1957227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180 m</a:t>
            </a:r>
            <a:endParaRPr b="0" sz="2000"/>
          </a:p>
        </p:txBody>
      </p:sp>
      <p:sp>
        <p:nvSpPr>
          <p:cNvPr id="2136" name="Google Shape;2136;p158"/>
          <p:cNvSpPr txBox="1"/>
          <p:nvPr>
            <p:ph idx="4294967295" type="title"/>
          </p:nvPr>
        </p:nvSpPr>
        <p:spPr>
          <a:xfrm>
            <a:off x="7780813" y="1957227"/>
            <a:ext cx="816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1.8 cm</a:t>
            </a:r>
            <a:endParaRPr b="0" sz="2000"/>
          </a:p>
        </p:txBody>
      </p:sp>
      <p:sp>
        <p:nvSpPr>
          <p:cNvPr id="2137" name="Google Shape;2137;p158"/>
          <p:cNvSpPr txBox="1"/>
          <p:nvPr>
            <p:ph idx="1" type="body"/>
          </p:nvPr>
        </p:nvSpPr>
        <p:spPr>
          <a:xfrm>
            <a:off x="316461" y="759300"/>
            <a:ext cx="8552400" cy="3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5) Place these distances in order of size, smallest first.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159"/>
          <p:cNvSpPr txBox="1"/>
          <p:nvPr>
            <p:ph idx="3" type="title"/>
          </p:nvPr>
        </p:nvSpPr>
        <p:spPr>
          <a:xfrm>
            <a:off x="1224000" y="3758275"/>
            <a:ext cx="71019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Check if conversions of real examples are sensible</a:t>
            </a:r>
            <a:endParaRPr sz="1700"/>
          </a:p>
        </p:txBody>
      </p:sp>
      <p:sp>
        <p:nvSpPr>
          <p:cNvPr id="2143" name="Google Shape;2143;p159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conversion to compare different measures</a:t>
            </a:r>
            <a:endParaRPr/>
          </a:p>
        </p:txBody>
      </p:sp>
      <p:sp>
        <p:nvSpPr>
          <p:cNvPr id="2144" name="Google Shape;2144;p159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metric measures using place value</a:t>
            </a:r>
            <a:endParaRPr/>
          </a:p>
        </p:txBody>
      </p:sp>
      <p:sp>
        <p:nvSpPr>
          <p:cNvPr id="2145" name="Google Shape;2145;p159"/>
          <p:cNvSpPr txBox="1"/>
          <p:nvPr>
            <p:ph idx="4" type="title"/>
          </p:nvPr>
        </p:nvSpPr>
        <p:spPr>
          <a:xfrm>
            <a:off x="324000" y="657600"/>
            <a:ext cx="65595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metric units</a:t>
            </a:r>
            <a:endParaRPr/>
          </a:p>
        </p:txBody>
      </p:sp>
      <p:pic>
        <p:nvPicPr>
          <p:cNvPr id="2146" name="Google Shape;2146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81" y="370427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" name="Google Shape;2151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025" y="810000"/>
            <a:ext cx="2249574" cy="1482881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 if conversions of real examples are sensible</a:t>
            </a:r>
            <a:endParaRPr/>
          </a:p>
        </p:txBody>
      </p:sp>
      <p:sp>
        <p:nvSpPr>
          <p:cNvPr id="2153" name="Google Shape;2153;p160"/>
          <p:cNvSpPr txBox="1"/>
          <p:nvPr/>
        </p:nvSpPr>
        <p:spPr>
          <a:xfrm flipH="1">
            <a:off x="1192178" y="852800"/>
            <a:ext cx="20991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My mum drove 16 km to work today.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 think that’s 160 m!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4" name="Google Shape;2154;p160"/>
          <p:cNvSpPr txBox="1"/>
          <p:nvPr>
            <p:ph idx="1" type="body"/>
          </p:nvPr>
        </p:nvSpPr>
        <p:spPr>
          <a:xfrm>
            <a:off x="3953025" y="1064100"/>
            <a:ext cx="46086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Jun’s statement correct?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you explain why?</a:t>
            </a:r>
            <a:endParaRPr/>
          </a:p>
        </p:txBody>
      </p:sp>
      <p:pic>
        <p:nvPicPr>
          <p:cNvPr id="2155" name="Google Shape;2155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12" y="1526487"/>
            <a:ext cx="727174" cy="9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6" name="Google Shape;2156;p160"/>
          <p:cNvSpPr txBox="1"/>
          <p:nvPr>
            <p:ph idx="1" type="body"/>
          </p:nvPr>
        </p:nvSpPr>
        <p:spPr>
          <a:xfrm>
            <a:off x="126425" y="2385591"/>
            <a:ext cx="11223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Jun</a:t>
            </a:r>
            <a:endParaRPr sz="1800"/>
          </a:p>
        </p:txBody>
      </p:sp>
      <p:sp>
        <p:nvSpPr>
          <p:cNvPr id="2157" name="Google Shape;2157;p160"/>
          <p:cNvSpPr txBox="1"/>
          <p:nvPr>
            <p:ph idx="1" type="body"/>
          </p:nvPr>
        </p:nvSpPr>
        <p:spPr>
          <a:xfrm>
            <a:off x="4471950" y="1974500"/>
            <a:ext cx="40896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 km = 16 000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8" name="Google Shape;2158;p160"/>
          <p:cNvSpPr txBox="1"/>
          <p:nvPr>
            <p:ph idx="1" type="body"/>
          </p:nvPr>
        </p:nvSpPr>
        <p:spPr>
          <a:xfrm>
            <a:off x="3953025" y="3251964"/>
            <a:ext cx="4608600" cy="4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should Jun have known that 160 m wasn’t a sensible answer?</a:t>
            </a:r>
            <a:endParaRPr/>
          </a:p>
        </p:txBody>
      </p:sp>
      <p:sp>
        <p:nvSpPr>
          <p:cNvPr id="2159" name="Google Shape;2159;p160"/>
          <p:cNvSpPr txBox="1"/>
          <p:nvPr>
            <p:ph idx="1" type="body"/>
          </p:nvPr>
        </p:nvSpPr>
        <p:spPr>
          <a:xfrm>
            <a:off x="4471950" y="4166189"/>
            <a:ext cx="36555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160 m is too short a distance to drive to work!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0" name="Google Shape;2160;p160"/>
          <p:cNvSpPr txBox="1"/>
          <p:nvPr>
            <p:ph idx="1" type="body"/>
          </p:nvPr>
        </p:nvSpPr>
        <p:spPr>
          <a:xfrm>
            <a:off x="4471950" y="2335525"/>
            <a:ext cx="3811200" cy="3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Jun is not correct. 16 km is equal to 16 000 m, not 160 m.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161"/>
          <p:cNvSpPr txBox="1"/>
          <p:nvPr>
            <p:ph type="title"/>
          </p:nvPr>
        </p:nvSpPr>
        <p:spPr>
          <a:xfrm>
            <a:off x="324000" y="647625"/>
            <a:ext cx="4750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This small aircraft is 13 m long.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This is the same as 13 000 </a:t>
            </a:r>
            <a:r>
              <a:rPr lang="en-GB" sz="2100" u="sng"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en-GB" sz="2100" u="sng">
                <a:solidFill>
                  <a:srgbClr val="EBEDF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100" u="sng">
              <a:solidFill>
                <a:srgbClr val="EBEDF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161"/>
          <p:cNvSpPr txBox="1"/>
          <p:nvPr>
            <p:ph idx="1" type="subTitle"/>
          </p:nvPr>
        </p:nvSpPr>
        <p:spPr>
          <a:xfrm>
            <a:off x="1034425" y="1685375"/>
            <a:ext cx="3537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km</a:t>
            </a:r>
            <a:endParaRPr/>
          </a:p>
        </p:txBody>
      </p:sp>
      <p:sp>
        <p:nvSpPr>
          <p:cNvPr id="2167" name="Google Shape;2167;p16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 if conversions of real examples are sensible</a:t>
            </a:r>
            <a:endParaRPr/>
          </a:p>
        </p:txBody>
      </p:sp>
      <p:sp>
        <p:nvSpPr>
          <p:cNvPr id="2168" name="Google Shape;2168;p161"/>
          <p:cNvSpPr txBox="1"/>
          <p:nvPr>
            <p:ph idx="3" type="subTitle"/>
          </p:nvPr>
        </p:nvSpPr>
        <p:spPr>
          <a:xfrm>
            <a:off x="1034425" y="2489443"/>
            <a:ext cx="3537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cm</a:t>
            </a:r>
            <a:endParaRPr/>
          </a:p>
        </p:txBody>
      </p:sp>
      <p:sp>
        <p:nvSpPr>
          <p:cNvPr id="2169" name="Google Shape;2169;p161"/>
          <p:cNvSpPr txBox="1"/>
          <p:nvPr>
            <p:ph idx="4" type="subTitle"/>
          </p:nvPr>
        </p:nvSpPr>
        <p:spPr>
          <a:xfrm>
            <a:off x="1034425" y="3309758"/>
            <a:ext cx="3517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mm</a:t>
            </a:r>
            <a:endParaRPr/>
          </a:p>
        </p:txBody>
      </p:sp>
      <p:sp>
        <p:nvSpPr>
          <p:cNvPr id="2170" name="Google Shape;2170;p161"/>
          <p:cNvSpPr txBox="1"/>
          <p:nvPr>
            <p:ph idx="5" type="subTitle"/>
          </p:nvPr>
        </p:nvSpPr>
        <p:spPr>
          <a:xfrm>
            <a:off x="1034425" y="4113827"/>
            <a:ext cx="3537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none are correct</a:t>
            </a:r>
            <a:endParaRPr/>
          </a:p>
        </p:txBody>
      </p:sp>
      <p:pic>
        <p:nvPicPr>
          <p:cNvPr id="2171" name="Google Shape;2171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640" y="3262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2" name="Google Shape;2172;p161"/>
          <p:cNvPicPr preferRelativeResize="0"/>
          <p:nvPr/>
        </p:nvPicPr>
        <p:blipFill rotWithShape="1">
          <a:blip r:embed="rId4">
            <a:alphaModFix/>
          </a:blip>
          <a:srcRect b="24601" l="5173" r="5164" t="24601"/>
          <a:stretch/>
        </p:blipFill>
        <p:spPr>
          <a:xfrm>
            <a:off x="5006100" y="676850"/>
            <a:ext cx="2091024" cy="8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7" name="Google Shape;2177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1675" y="2707556"/>
            <a:ext cx="2051850" cy="1549874"/>
          </a:xfrm>
          <a:prstGeom prst="rect">
            <a:avLst/>
          </a:prstGeom>
          <a:noFill/>
          <a:ln>
            <a:noFill/>
          </a:ln>
        </p:spPr>
      </p:pic>
      <p:sp>
        <p:nvSpPr>
          <p:cNvPr id="2178" name="Google Shape;2178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 if conversions of real examples are sensible</a:t>
            </a:r>
            <a:endParaRPr sz="1800"/>
          </a:p>
        </p:txBody>
      </p:sp>
      <p:sp>
        <p:nvSpPr>
          <p:cNvPr id="2179" name="Google Shape;2179;p162"/>
          <p:cNvSpPr txBox="1"/>
          <p:nvPr>
            <p:ph idx="1" type="body"/>
          </p:nvPr>
        </p:nvSpPr>
        <p:spPr>
          <a:xfrm>
            <a:off x="324000" y="759300"/>
            <a:ext cx="3445800" cy="7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The mass of the bike below is 14 570 g.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values below also represents this bike?</a:t>
            </a:r>
            <a:endParaRPr sz="1800"/>
          </a:p>
        </p:txBody>
      </p:sp>
      <p:cxnSp>
        <p:nvCxnSpPr>
          <p:cNvPr id="2180" name="Google Shape;2180;p162"/>
          <p:cNvCxnSpPr/>
          <p:nvPr/>
        </p:nvCxnSpPr>
        <p:spPr>
          <a:xfrm>
            <a:off x="4572000" y="572350"/>
            <a:ext cx="0" cy="42429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1" name="Google Shape;2181;p162"/>
          <p:cNvSpPr txBox="1"/>
          <p:nvPr>
            <p:ph idx="1" type="body"/>
          </p:nvPr>
        </p:nvSpPr>
        <p:spPr>
          <a:xfrm>
            <a:off x="329413" y="243508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1.</a:t>
            </a:r>
            <a:r>
              <a:rPr lang="en-GB" sz="1800"/>
              <a:t>457 kg</a:t>
            </a:r>
            <a:endParaRPr sz="1800"/>
          </a:p>
        </p:txBody>
      </p:sp>
      <p:sp>
        <p:nvSpPr>
          <p:cNvPr id="2182" name="Google Shape;2182;p162"/>
          <p:cNvSpPr txBox="1"/>
          <p:nvPr>
            <p:ph idx="1" type="body"/>
          </p:nvPr>
        </p:nvSpPr>
        <p:spPr>
          <a:xfrm>
            <a:off x="329413" y="328373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14.57 kg</a:t>
            </a:r>
            <a:endParaRPr sz="1800"/>
          </a:p>
        </p:txBody>
      </p:sp>
      <p:sp>
        <p:nvSpPr>
          <p:cNvPr id="2183" name="Google Shape;2183;p162"/>
          <p:cNvSpPr txBox="1"/>
          <p:nvPr>
            <p:ph idx="1" type="body"/>
          </p:nvPr>
        </p:nvSpPr>
        <p:spPr>
          <a:xfrm>
            <a:off x="329413" y="417613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145.7 kg</a:t>
            </a:r>
            <a:endParaRPr sz="1800"/>
          </a:p>
        </p:txBody>
      </p:sp>
      <p:sp>
        <p:nvSpPr>
          <p:cNvPr id="2184" name="Google Shape;2184;p162"/>
          <p:cNvSpPr txBox="1"/>
          <p:nvPr>
            <p:ph idx="1" type="body"/>
          </p:nvPr>
        </p:nvSpPr>
        <p:spPr>
          <a:xfrm>
            <a:off x="5055000" y="2845963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18 200 cl</a:t>
            </a:r>
            <a:endParaRPr sz="1800"/>
          </a:p>
        </p:txBody>
      </p:sp>
      <p:sp>
        <p:nvSpPr>
          <p:cNvPr id="2185" name="Google Shape;2185;p162"/>
          <p:cNvSpPr txBox="1"/>
          <p:nvPr>
            <p:ph idx="1" type="body"/>
          </p:nvPr>
        </p:nvSpPr>
        <p:spPr>
          <a:xfrm>
            <a:off x="4824000" y="759300"/>
            <a:ext cx="3996000" cy="13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capacity of this bathtub when full is 182 000 ml.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values below also represents the bathtub?</a:t>
            </a:r>
            <a:endParaRPr sz="1800"/>
          </a:p>
        </p:txBody>
      </p:sp>
      <p:sp>
        <p:nvSpPr>
          <p:cNvPr id="2186" name="Google Shape;2186;p162"/>
          <p:cNvSpPr txBox="1"/>
          <p:nvPr>
            <p:ph idx="1" type="body"/>
          </p:nvPr>
        </p:nvSpPr>
        <p:spPr>
          <a:xfrm>
            <a:off x="5055000" y="238063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18 200 litres</a:t>
            </a:r>
            <a:endParaRPr sz="1800"/>
          </a:p>
        </p:txBody>
      </p:sp>
      <p:sp>
        <p:nvSpPr>
          <p:cNvPr id="2187" name="Google Shape;2187;p162"/>
          <p:cNvSpPr txBox="1"/>
          <p:nvPr>
            <p:ph idx="1" type="body"/>
          </p:nvPr>
        </p:nvSpPr>
        <p:spPr>
          <a:xfrm>
            <a:off x="5055000" y="331128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182 litres</a:t>
            </a:r>
            <a:endParaRPr sz="1800"/>
          </a:p>
        </p:txBody>
      </p:sp>
      <p:sp>
        <p:nvSpPr>
          <p:cNvPr id="2188" name="Google Shape;2188;p162"/>
          <p:cNvSpPr txBox="1"/>
          <p:nvPr>
            <p:ph idx="1" type="body"/>
          </p:nvPr>
        </p:nvSpPr>
        <p:spPr>
          <a:xfrm>
            <a:off x="5055000" y="3776613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182 cl</a:t>
            </a:r>
            <a:endParaRPr sz="1800"/>
          </a:p>
        </p:txBody>
      </p:sp>
      <p:sp>
        <p:nvSpPr>
          <p:cNvPr id="2189" name="Google Shape;2189;p162"/>
          <p:cNvSpPr txBox="1"/>
          <p:nvPr>
            <p:ph idx="1" type="body"/>
          </p:nvPr>
        </p:nvSpPr>
        <p:spPr>
          <a:xfrm>
            <a:off x="5055000" y="424193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18.2 litres</a:t>
            </a:r>
            <a:endParaRPr sz="1800"/>
          </a:p>
        </p:txBody>
      </p:sp>
      <p:pic>
        <p:nvPicPr>
          <p:cNvPr id="2190" name="Google Shape;2190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8150" y="2571750"/>
            <a:ext cx="2051851" cy="1538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163"/>
          <p:cNvSpPr txBox="1"/>
          <p:nvPr>
            <p:ph idx="1" type="body"/>
          </p:nvPr>
        </p:nvSpPr>
        <p:spPr>
          <a:xfrm>
            <a:off x="324000" y="970888"/>
            <a:ext cx="4361700" cy="7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This ship is 0.29 km long and has a mass of 113 000 000 kg.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Fill in the blanks below with the correct numbers and metric units.</a:t>
            </a:r>
            <a:endParaRPr sz="1800"/>
          </a:p>
        </p:txBody>
      </p:sp>
      <p:sp>
        <p:nvSpPr>
          <p:cNvPr id="2196" name="Google Shape;2196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 if conversions of real examples are sensible</a:t>
            </a:r>
            <a:endParaRPr/>
          </a:p>
        </p:txBody>
      </p:sp>
      <p:pic>
        <p:nvPicPr>
          <p:cNvPr id="2197" name="Google Shape;2197;p163"/>
          <p:cNvPicPr preferRelativeResize="0"/>
          <p:nvPr/>
        </p:nvPicPr>
        <p:blipFill rotWithShape="1">
          <a:blip r:embed="rId3">
            <a:alphaModFix/>
          </a:blip>
          <a:srcRect b="16498" l="0" r="0" t="16491"/>
          <a:stretch/>
        </p:blipFill>
        <p:spPr>
          <a:xfrm>
            <a:off x="4824000" y="705875"/>
            <a:ext cx="3014024" cy="15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8" name="Google Shape;2198;p163"/>
          <p:cNvSpPr txBox="1"/>
          <p:nvPr>
            <p:ph idx="1" type="body"/>
          </p:nvPr>
        </p:nvSpPr>
        <p:spPr>
          <a:xfrm>
            <a:off x="999700" y="2884500"/>
            <a:ext cx="915600" cy="33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290</a:t>
            </a:r>
            <a:endParaRPr sz="1800"/>
          </a:p>
        </p:txBody>
      </p:sp>
      <p:sp>
        <p:nvSpPr>
          <p:cNvPr id="2199" name="Google Shape;2199;p163"/>
          <p:cNvSpPr txBox="1"/>
          <p:nvPr>
            <p:ph idx="1" type="body"/>
          </p:nvPr>
        </p:nvSpPr>
        <p:spPr>
          <a:xfrm>
            <a:off x="999700" y="3543900"/>
            <a:ext cx="915600" cy="33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29 000</a:t>
            </a:r>
            <a:endParaRPr sz="1800"/>
          </a:p>
        </p:txBody>
      </p:sp>
      <p:sp>
        <p:nvSpPr>
          <p:cNvPr id="2200" name="Google Shape;2200;p163"/>
          <p:cNvSpPr/>
          <p:nvPr/>
        </p:nvSpPr>
        <p:spPr>
          <a:xfrm>
            <a:off x="1548925" y="2866200"/>
            <a:ext cx="732600" cy="3738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163"/>
          <p:cNvSpPr/>
          <p:nvPr/>
        </p:nvSpPr>
        <p:spPr>
          <a:xfrm>
            <a:off x="1884550" y="3525600"/>
            <a:ext cx="732600" cy="3738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163"/>
          <p:cNvSpPr/>
          <p:nvPr/>
        </p:nvSpPr>
        <p:spPr>
          <a:xfrm>
            <a:off x="999700" y="4185000"/>
            <a:ext cx="2422500" cy="3738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163"/>
          <p:cNvSpPr txBox="1"/>
          <p:nvPr>
            <p:ph idx="1" type="body"/>
          </p:nvPr>
        </p:nvSpPr>
        <p:spPr>
          <a:xfrm>
            <a:off x="3520424" y="4203300"/>
            <a:ext cx="974400" cy="33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g</a:t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7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8" name="Google Shape;2208;p164"/>
          <p:cNvCxnSpPr>
            <a:stCxn id="2209" idx="3"/>
          </p:cNvCxnSpPr>
          <p:nvPr/>
        </p:nvCxnSpPr>
        <p:spPr>
          <a:xfrm rot="10800000">
            <a:off x="6635989" y="3587336"/>
            <a:ext cx="630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0" name="Google Shape;2210;p164"/>
          <p:cNvCxnSpPr>
            <a:stCxn id="2211" idx="3"/>
          </p:cNvCxnSpPr>
          <p:nvPr/>
        </p:nvCxnSpPr>
        <p:spPr>
          <a:xfrm>
            <a:off x="1910500" y="3587336"/>
            <a:ext cx="630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2" name="Google Shape;2212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 if conversions of real examples are sensible</a:t>
            </a:r>
            <a:endParaRPr/>
          </a:p>
        </p:txBody>
      </p:sp>
      <p:sp>
        <p:nvSpPr>
          <p:cNvPr id="2213" name="Google Shape;2213;p164"/>
          <p:cNvSpPr txBox="1"/>
          <p:nvPr>
            <p:ph idx="1" type="body"/>
          </p:nvPr>
        </p:nvSpPr>
        <p:spPr>
          <a:xfrm>
            <a:off x="324000" y="759300"/>
            <a:ext cx="6956400" cy="6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</a:t>
            </a:r>
            <a:r>
              <a:rPr lang="en-GB" sz="1800"/>
              <a:t>) </a:t>
            </a:r>
            <a:r>
              <a:rPr lang="en-GB" sz="1800"/>
              <a:t>Write down all the possible units of measure that could go in the blanks to make the descriptions underneath correct.</a:t>
            </a:r>
            <a:endParaRPr sz="1800"/>
          </a:p>
        </p:txBody>
      </p:sp>
      <p:sp>
        <p:nvSpPr>
          <p:cNvPr id="2214" name="Google Shape;2214;p164"/>
          <p:cNvSpPr txBox="1"/>
          <p:nvPr>
            <p:ph idx="1" type="body"/>
          </p:nvPr>
        </p:nvSpPr>
        <p:spPr>
          <a:xfrm>
            <a:off x="324000" y="759300"/>
            <a:ext cx="6956400" cy="6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Write down all the possible units of measure that could go in the blanks to make the descriptions underneath correct.</a:t>
            </a:r>
            <a:endParaRPr sz="1800"/>
          </a:p>
        </p:txBody>
      </p:sp>
      <p:sp>
        <p:nvSpPr>
          <p:cNvPr id="2215" name="Google Shape;2215;p164"/>
          <p:cNvSpPr/>
          <p:nvPr/>
        </p:nvSpPr>
        <p:spPr>
          <a:xfrm>
            <a:off x="359535" y="3262625"/>
            <a:ext cx="1554000" cy="64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164"/>
          <p:cNvSpPr txBox="1"/>
          <p:nvPr>
            <p:ph idx="1" type="body"/>
          </p:nvPr>
        </p:nvSpPr>
        <p:spPr>
          <a:xfrm>
            <a:off x="356500" y="3910200"/>
            <a:ext cx="1554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Shorter</a:t>
            </a:r>
            <a:endParaRPr sz="1800"/>
          </a:p>
        </p:txBody>
      </p:sp>
      <p:sp>
        <p:nvSpPr>
          <p:cNvPr id="2217" name="Google Shape;2217;p164"/>
          <p:cNvSpPr/>
          <p:nvPr/>
        </p:nvSpPr>
        <p:spPr>
          <a:xfrm>
            <a:off x="2543439" y="3262625"/>
            <a:ext cx="1554000" cy="64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164"/>
          <p:cNvSpPr txBox="1"/>
          <p:nvPr>
            <p:ph idx="1" type="body"/>
          </p:nvPr>
        </p:nvSpPr>
        <p:spPr>
          <a:xfrm>
            <a:off x="2540404" y="3910200"/>
            <a:ext cx="1554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Longer</a:t>
            </a:r>
            <a:endParaRPr sz="1800"/>
          </a:p>
        </p:txBody>
      </p:sp>
      <p:sp>
        <p:nvSpPr>
          <p:cNvPr id="2211" name="Google Shape;2211;p164"/>
          <p:cNvSpPr txBox="1"/>
          <p:nvPr>
            <p:ph idx="1" type="body"/>
          </p:nvPr>
        </p:nvSpPr>
        <p:spPr>
          <a:xfrm>
            <a:off x="356500" y="3373136"/>
            <a:ext cx="1554000" cy="4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24 400 cm</a:t>
            </a:r>
            <a:endParaRPr sz="1800"/>
          </a:p>
        </p:txBody>
      </p:sp>
      <p:sp>
        <p:nvSpPr>
          <p:cNvPr id="2219" name="Google Shape;2219;p164"/>
          <p:cNvSpPr/>
          <p:nvPr/>
        </p:nvSpPr>
        <p:spPr>
          <a:xfrm>
            <a:off x="3258612" y="3388775"/>
            <a:ext cx="776100" cy="3969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164"/>
          <p:cNvSpPr/>
          <p:nvPr/>
        </p:nvSpPr>
        <p:spPr>
          <a:xfrm flipH="1">
            <a:off x="7262954" y="3262625"/>
            <a:ext cx="1554000" cy="64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164"/>
          <p:cNvSpPr txBox="1"/>
          <p:nvPr>
            <p:ph idx="1" type="body"/>
          </p:nvPr>
        </p:nvSpPr>
        <p:spPr>
          <a:xfrm flipH="1">
            <a:off x="7265989" y="3910200"/>
            <a:ext cx="1554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Taller</a:t>
            </a:r>
            <a:endParaRPr sz="1800"/>
          </a:p>
        </p:txBody>
      </p:sp>
      <p:sp>
        <p:nvSpPr>
          <p:cNvPr id="2222" name="Google Shape;2222;p164"/>
          <p:cNvSpPr/>
          <p:nvPr/>
        </p:nvSpPr>
        <p:spPr>
          <a:xfrm flipH="1">
            <a:off x="5079050" y="3262625"/>
            <a:ext cx="1554000" cy="64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164"/>
          <p:cNvSpPr txBox="1"/>
          <p:nvPr>
            <p:ph idx="1" type="body"/>
          </p:nvPr>
        </p:nvSpPr>
        <p:spPr>
          <a:xfrm flipH="1">
            <a:off x="5082085" y="3910200"/>
            <a:ext cx="1554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Shorter</a:t>
            </a:r>
            <a:endParaRPr sz="1800"/>
          </a:p>
        </p:txBody>
      </p:sp>
      <p:sp>
        <p:nvSpPr>
          <p:cNvPr id="2209" name="Google Shape;2209;p164"/>
          <p:cNvSpPr txBox="1"/>
          <p:nvPr>
            <p:ph idx="1" type="body"/>
          </p:nvPr>
        </p:nvSpPr>
        <p:spPr>
          <a:xfrm flipH="1">
            <a:off x="7265989" y="3373136"/>
            <a:ext cx="1554000" cy="4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0.0017 km</a:t>
            </a:r>
            <a:endParaRPr sz="1800"/>
          </a:p>
        </p:txBody>
      </p:sp>
      <p:sp>
        <p:nvSpPr>
          <p:cNvPr id="2224" name="Google Shape;2224;p164"/>
          <p:cNvSpPr txBox="1"/>
          <p:nvPr>
            <p:ph idx="1" type="body"/>
          </p:nvPr>
        </p:nvSpPr>
        <p:spPr>
          <a:xfrm flipH="1">
            <a:off x="5192122" y="3373125"/>
            <a:ext cx="1328400" cy="4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16.5</a:t>
            </a:r>
            <a:endParaRPr sz="1800"/>
          </a:p>
        </p:txBody>
      </p:sp>
      <p:sp>
        <p:nvSpPr>
          <p:cNvPr id="2225" name="Google Shape;2225;p164"/>
          <p:cNvSpPr/>
          <p:nvPr/>
        </p:nvSpPr>
        <p:spPr>
          <a:xfrm flipH="1">
            <a:off x="5790314" y="3388775"/>
            <a:ext cx="776100" cy="3969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6" name="Google Shape;2226;p164"/>
          <p:cNvSpPr txBox="1"/>
          <p:nvPr>
            <p:ph idx="1" type="body"/>
          </p:nvPr>
        </p:nvSpPr>
        <p:spPr>
          <a:xfrm>
            <a:off x="2815950" y="3373125"/>
            <a:ext cx="1168500" cy="4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225  </a:t>
            </a:r>
            <a:endParaRPr sz="1800"/>
          </a:p>
        </p:txBody>
      </p:sp>
      <p:sp>
        <p:nvSpPr>
          <p:cNvPr id="2227" name="Google Shape;2227;p164"/>
          <p:cNvSpPr txBox="1"/>
          <p:nvPr>
            <p:ph idx="1" type="body"/>
          </p:nvPr>
        </p:nvSpPr>
        <p:spPr>
          <a:xfrm>
            <a:off x="6998200" y="2930850"/>
            <a:ext cx="20835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</a:t>
            </a:r>
            <a:r>
              <a:rPr lang="en-GB" sz="1600"/>
              <a:t>he height of Izzy</a:t>
            </a:r>
            <a:endParaRPr sz="1600"/>
          </a:p>
        </p:txBody>
      </p:sp>
      <p:sp>
        <p:nvSpPr>
          <p:cNvPr id="2228" name="Google Shape;2228;p164"/>
          <p:cNvSpPr txBox="1"/>
          <p:nvPr>
            <p:ph idx="1" type="body"/>
          </p:nvPr>
        </p:nvSpPr>
        <p:spPr>
          <a:xfrm>
            <a:off x="324000" y="2623800"/>
            <a:ext cx="15894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l</a:t>
            </a:r>
            <a:r>
              <a:rPr lang="en-GB" sz="1600"/>
              <a:t>ength of Tower Bridge, London</a:t>
            </a:r>
            <a:endParaRPr sz="1600"/>
          </a:p>
        </p:txBody>
      </p:sp>
      <p:pic>
        <p:nvPicPr>
          <p:cNvPr id="2229" name="Google Shape;2229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25" y="1505250"/>
            <a:ext cx="1553963" cy="10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0" name="Google Shape;2230;p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3754" y="1303675"/>
            <a:ext cx="472400" cy="1588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65"/>
          <p:cNvSpPr txBox="1"/>
          <p:nvPr>
            <p:ph idx="1" type="body"/>
          </p:nvPr>
        </p:nvSpPr>
        <p:spPr>
          <a:xfrm>
            <a:off x="329413" y="328373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14.57 kg</a:t>
            </a:r>
            <a:endParaRPr sz="1800"/>
          </a:p>
        </p:txBody>
      </p:sp>
      <p:sp>
        <p:nvSpPr>
          <p:cNvPr id="2236" name="Google Shape;2236;p165"/>
          <p:cNvSpPr/>
          <p:nvPr/>
        </p:nvSpPr>
        <p:spPr>
          <a:xfrm>
            <a:off x="583975" y="3320494"/>
            <a:ext cx="929700" cy="33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165"/>
          <p:cNvSpPr txBox="1"/>
          <p:nvPr>
            <p:ph idx="1" type="body"/>
          </p:nvPr>
        </p:nvSpPr>
        <p:spPr>
          <a:xfrm>
            <a:off x="5055000" y="2845963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18 200 cl</a:t>
            </a:r>
            <a:endParaRPr sz="1800"/>
          </a:p>
        </p:txBody>
      </p:sp>
      <p:sp>
        <p:nvSpPr>
          <p:cNvPr id="2238" name="Google Shape;2238;p165"/>
          <p:cNvSpPr txBox="1"/>
          <p:nvPr>
            <p:ph idx="1" type="body"/>
          </p:nvPr>
        </p:nvSpPr>
        <p:spPr>
          <a:xfrm>
            <a:off x="4824000" y="759300"/>
            <a:ext cx="3996000" cy="7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The capacity of this bathtub when full is 182 000 ml.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Which of the values below also represents the bathtub?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39" name="Google Shape;2239;p165"/>
          <p:cNvSpPr txBox="1"/>
          <p:nvPr>
            <p:ph idx="1" type="body"/>
          </p:nvPr>
        </p:nvSpPr>
        <p:spPr>
          <a:xfrm>
            <a:off x="324000" y="759300"/>
            <a:ext cx="3445800" cy="7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The mass of the bike below is 14 570 g.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values below also represents this bike?</a:t>
            </a:r>
            <a:endParaRPr sz="1800"/>
          </a:p>
        </p:txBody>
      </p:sp>
      <p:cxnSp>
        <p:nvCxnSpPr>
          <p:cNvPr id="2240" name="Google Shape;2240;p165"/>
          <p:cNvCxnSpPr/>
          <p:nvPr/>
        </p:nvCxnSpPr>
        <p:spPr>
          <a:xfrm>
            <a:off x="4572000" y="572350"/>
            <a:ext cx="0" cy="424290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1" name="Google Shape;2241;p165"/>
          <p:cNvSpPr txBox="1"/>
          <p:nvPr>
            <p:ph idx="1" type="body"/>
          </p:nvPr>
        </p:nvSpPr>
        <p:spPr>
          <a:xfrm>
            <a:off x="329413" y="243508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1.457 kg</a:t>
            </a:r>
            <a:endParaRPr sz="1800"/>
          </a:p>
        </p:txBody>
      </p:sp>
      <p:sp>
        <p:nvSpPr>
          <p:cNvPr id="2242" name="Google Shape;2242;p165"/>
          <p:cNvSpPr txBox="1"/>
          <p:nvPr>
            <p:ph idx="1" type="body"/>
          </p:nvPr>
        </p:nvSpPr>
        <p:spPr>
          <a:xfrm>
            <a:off x="5055000" y="238063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18 200 litres</a:t>
            </a:r>
            <a:endParaRPr sz="1800"/>
          </a:p>
        </p:txBody>
      </p:sp>
      <p:sp>
        <p:nvSpPr>
          <p:cNvPr id="2243" name="Google Shape;2243;p165"/>
          <p:cNvSpPr txBox="1"/>
          <p:nvPr>
            <p:ph idx="1" type="body"/>
          </p:nvPr>
        </p:nvSpPr>
        <p:spPr>
          <a:xfrm>
            <a:off x="329413" y="417613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145.7 kg</a:t>
            </a:r>
            <a:endParaRPr sz="1800"/>
          </a:p>
        </p:txBody>
      </p:sp>
      <p:sp>
        <p:nvSpPr>
          <p:cNvPr id="2244" name="Google Shape;2244;p165"/>
          <p:cNvSpPr txBox="1"/>
          <p:nvPr>
            <p:ph idx="1" type="body"/>
          </p:nvPr>
        </p:nvSpPr>
        <p:spPr>
          <a:xfrm>
            <a:off x="5055000" y="331128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182 litres</a:t>
            </a:r>
            <a:endParaRPr sz="1800"/>
          </a:p>
        </p:txBody>
      </p:sp>
      <p:sp>
        <p:nvSpPr>
          <p:cNvPr id="2245" name="Google Shape;2245;p165"/>
          <p:cNvSpPr txBox="1"/>
          <p:nvPr>
            <p:ph idx="1" type="body"/>
          </p:nvPr>
        </p:nvSpPr>
        <p:spPr>
          <a:xfrm>
            <a:off x="5055000" y="3776613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182 cl</a:t>
            </a:r>
            <a:endParaRPr sz="1800"/>
          </a:p>
        </p:txBody>
      </p:sp>
      <p:sp>
        <p:nvSpPr>
          <p:cNvPr id="2246" name="Google Shape;2246;p165"/>
          <p:cNvSpPr txBox="1"/>
          <p:nvPr>
            <p:ph idx="1" type="body"/>
          </p:nvPr>
        </p:nvSpPr>
        <p:spPr>
          <a:xfrm>
            <a:off x="5055000" y="4241938"/>
            <a:ext cx="14388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18.2 litres</a:t>
            </a:r>
            <a:endParaRPr sz="1800"/>
          </a:p>
        </p:txBody>
      </p:sp>
      <p:pic>
        <p:nvPicPr>
          <p:cNvPr id="2247" name="Google Shape;2247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650" y="2707775"/>
            <a:ext cx="2051850" cy="1548686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 if conversions of real examples are sensible</a:t>
            </a:r>
            <a:endParaRPr sz="1800"/>
          </a:p>
        </p:txBody>
      </p:sp>
      <p:pic>
        <p:nvPicPr>
          <p:cNvPr id="2249" name="Google Shape;2249;p1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8150" y="2571750"/>
            <a:ext cx="2051851" cy="1538235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165"/>
          <p:cNvSpPr/>
          <p:nvPr/>
        </p:nvSpPr>
        <p:spPr>
          <a:xfrm>
            <a:off x="4979475" y="2845950"/>
            <a:ext cx="1096500" cy="38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165"/>
          <p:cNvSpPr/>
          <p:nvPr/>
        </p:nvSpPr>
        <p:spPr>
          <a:xfrm>
            <a:off x="4979475" y="3311300"/>
            <a:ext cx="1122000" cy="38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 if conversions of real examples are sensible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57" name="Google Shape;2257;p166"/>
          <p:cNvSpPr txBox="1"/>
          <p:nvPr>
            <p:ph idx="1" type="body"/>
          </p:nvPr>
        </p:nvSpPr>
        <p:spPr>
          <a:xfrm>
            <a:off x="324000" y="970888"/>
            <a:ext cx="4361700" cy="7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This ship is 0.29 km long and has a mass of 113 000 000 kg.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Fill in the blanks below with the correct numbers and metric units.</a:t>
            </a:r>
            <a:endParaRPr sz="1800"/>
          </a:p>
        </p:txBody>
      </p:sp>
      <p:pic>
        <p:nvPicPr>
          <p:cNvPr id="2258" name="Google Shape;2258;p166"/>
          <p:cNvPicPr preferRelativeResize="0"/>
          <p:nvPr/>
        </p:nvPicPr>
        <p:blipFill rotWithShape="1">
          <a:blip r:embed="rId3">
            <a:alphaModFix/>
          </a:blip>
          <a:srcRect b="16498" l="0" r="0" t="16491"/>
          <a:stretch/>
        </p:blipFill>
        <p:spPr>
          <a:xfrm>
            <a:off x="4824000" y="705875"/>
            <a:ext cx="3014024" cy="151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166"/>
          <p:cNvSpPr txBox="1"/>
          <p:nvPr>
            <p:ph idx="1" type="body"/>
          </p:nvPr>
        </p:nvSpPr>
        <p:spPr>
          <a:xfrm>
            <a:off x="999700" y="2884500"/>
            <a:ext cx="915600" cy="33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290</a:t>
            </a:r>
            <a:endParaRPr sz="1800"/>
          </a:p>
        </p:txBody>
      </p:sp>
      <p:sp>
        <p:nvSpPr>
          <p:cNvPr id="2260" name="Google Shape;2260;p166"/>
          <p:cNvSpPr txBox="1"/>
          <p:nvPr>
            <p:ph idx="1" type="body"/>
          </p:nvPr>
        </p:nvSpPr>
        <p:spPr>
          <a:xfrm>
            <a:off x="999700" y="3543900"/>
            <a:ext cx="915600" cy="33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29 000</a:t>
            </a:r>
            <a:endParaRPr sz="1800"/>
          </a:p>
        </p:txBody>
      </p:sp>
      <p:sp>
        <p:nvSpPr>
          <p:cNvPr id="2261" name="Google Shape;2261;p166"/>
          <p:cNvSpPr/>
          <p:nvPr/>
        </p:nvSpPr>
        <p:spPr>
          <a:xfrm>
            <a:off x="1548925" y="2866200"/>
            <a:ext cx="732600" cy="3738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166"/>
          <p:cNvSpPr/>
          <p:nvPr/>
        </p:nvSpPr>
        <p:spPr>
          <a:xfrm>
            <a:off x="1884550" y="3525600"/>
            <a:ext cx="732600" cy="3738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166"/>
          <p:cNvSpPr/>
          <p:nvPr/>
        </p:nvSpPr>
        <p:spPr>
          <a:xfrm>
            <a:off x="999700" y="4185000"/>
            <a:ext cx="2422500" cy="3738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166"/>
          <p:cNvSpPr txBox="1"/>
          <p:nvPr>
            <p:ph idx="1" type="body"/>
          </p:nvPr>
        </p:nvSpPr>
        <p:spPr>
          <a:xfrm>
            <a:off x="3520424" y="4203300"/>
            <a:ext cx="974400" cy="33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g</a:t>
            </a:r>
            <a:endParaRPr sz="1800"/>
          </a:p>
        </p:txBody>
      </p:sp>
      <p:sp>
        <p:nvSpPr>
          <p:cNvPr id="2265" name="Google Shape;2265;p166"/>
          <p:cNvSpPr txBox="1"/>
          <p:nvPr>
            <p:ph idx="1" type="body"/>
          </p:nvPr>
        </p:nvSpPr>
        <p:spPr>
          <a:xfrm>
            <a:off x="1570019" y="2862000"/>
            <a:ext cx="7326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6" name="Google Shape;2266;p166"/>
          <p:cNvSpPr txBox="1"/>
          <p:nvPr>
            <p:ph idx="1" type="body"/>
          </p:nvPr>
        </p:nvSpPr>
        <p:spPr>
          <a:xfrm>
            <a:off x="1884544" y="3521400"/>
            <a:ext cx="7326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7" name="Google Shape;2267;p166"/>
          <p:cNvSpPr txBox="1"/>
          <p:nvPr>
            <p:ph idx="1" type="body"/>
          </p:nvPr>
        </p:nvSpPr>
        <p:spPr>
          <a:xfrm>
            <a:off x="999714" y="4180800"/>
            <a:ext cx="24225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113 000 000 000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8" name="Google Shape;2268;p166"/>
          <p:cNvSpPr txBox="1"/>
          <p:nvPr>
            <p:ph idx="1" type="body"/>
          </p:nvPr>
        </p:nvSpPr>
        <p:spPr>
          <a:xfrm>
            <a:off x="3922523" y="4180800"/>
            <a:ext cx="2091000" cy="382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(that is 9 zeros)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2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p16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 if conversions of real examples are sensible</a:t>
            </a:r>
            <a:endParaRPr/>
          </a:p>
        </p:txBody>
      </p:sp>
      <p:sp>
        <p:nvSpPr>
          <p:cNvPr id="2274" name="Google Shape;2274;p167"/>
          <p:cNvSpPr/>
          <p:nvPr/>
        </p:nvSpPr>
        <p:spPr>
          <a:xfrm>
            <a:off x="359535" y="3262625"/>
            <a:ext cx="1554000" cy="64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167"/>
          <p:cNvSpPr txBox="1"/>
          <p:nvPr>
            <p:ph idx="1" type="body"/>
          </p:nvPr>
        </p:nvSpPr>
        <p:spPr>
          <a:xfrm>
            <a:off x="356500" y="3910200"/>
            <a:ext cx="1554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Shorter</a:t>
            </a:r>
            <a:endParaRPr sz="1800"/>
          </a:p>
        </p:txBody>
      </p:sp>
      <p:sp>
        <p:nvSpPr>
          <p:cNvPr id="2276" name="Google Shape;2276;p167"/>
          <p:cNvSpPr/>
          <p:nvPr/>
        </p:nvSpPr>
        <p:spPr>
          <a:xfrm>
            <a:off x="2543439" y="3262625"/>
            <a:ext cx="1554000" cy="64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7" name="Google Shape;2277;p167"/>
          <p:cNvSpPr txBox="1"/>
          <p:nvPr>
            <p:ph idx="1" type="body"/>
          </p:nvPr>
        </p:nvSpPr>
        <p:spPr>
          <a:xfrm>
            <a:off x="2540404" y="3910200"/>
            <a:ext cx="1554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Longer</a:t>
            </a:r>
            <a:endParaRPr sz="1800"/>
          </a:p>
        </p:txBody>
      </p:sp>
      <p:sp>
        <p:nvSpPr>
          <p:cNvPr id="2278" name="Google Shape;2278;p167"/>
          <p:cNvSpPr txBox="1"/>
          <p:nvPr>
            <p:ph idx="1" type="body"/>
          </p:nvPr>
        </p:nvSpPr>
        <p:spPr>
          <a:xfrm>
            <a:off x="356500" y="3373136"/>
            <a:ext cx="1554000" cy="4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24 4</a:t>
            </a:r>
            <a:r>
              <a:rPr lang="en-GB" sz="1800"/>
              <a:t>00 cm</a:t>
            </a:r>
            <a:endParaRPr sz="1800"/>
          </a:p>
        </p:txBody>
      </p:sp>
      <p:cxnSp>
        <p:nvCxnSpPr>
          <p:cNvPr id="2279" name="Google Shape;2279;p167"/>
          <p:cNvCxnSpPr>
            <a:stCxn id="2278" idx="3"/>
          </p:cNvCxnSpPr>
          <p:nvPr/>
        </p:nvCxnSpPr>
        <p:spPr>
          <a:xfrm>
            <a:off x="1910500" y="3587336"/>
            <a:ext cx="630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0" name="Google Shape;2280;p167"/>
          <p:cNvSpPr txBox="1"/>
          <p:nvPr>
            <p:ph idx="1" type="body"/>
          </p:nvPr>
        </p:nvSpPr>
        <p:spPr>
          <a:xfrm>
            <a:off x="324000" y="759300"/>
            <a:ext cx="6956400" cy="6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</a:t>
            </a:r>
            <a:r>
              <a:rPr lang="en-GB" sz="1800"/>
              <a:t>) Write down all the possible units of measure that could go in the blanks to make the descriptions underneath correct.</a:t>
            </a:r>
            <a:endParaRPr sz="1800"/>
          </a:p>
        </p:txBody>
      </p:sp>
      <p:sp>
        <p:nvSpPr>
          <p:cNvPr id="2281" name="Google Shape;2281;p167"/>
          <p:cNvSpPr/>
          <p:nvPr/>
        </p:nvSpPr>
        <p:spPr>
          <a:xfrm>
            <a:off x="3258612" y="3388775"/>
            <a:ext cx="776100" cy="3969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167"/>
          <p:cNvSpPr/>
          <p:nvPr/>
        </p:nvSpPr>
        <p:spPr>
          <a:xfrm flipH="1">
            <a:off x="7262954" y="3262625"/>
            <a:ext cx="1554000" cy="64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3" name="Google Shape;2283;p167"/>
          <p:cNvSpPr txBox="1"/>
          <p:nvPr>
            <p:ph idx="1" type="body"/>
          </p:nvPr>
        </p:nvSpPr>
        <p:spPr>
          <a:xfrm flipH="1">
            <a:off x="7265989" y="3910200"/>
            <a:ext cx="1554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Taller</a:t>
            </a:r>
            <a:endParaRPr sz="1800"/>
          </a:p>
        </p:txBody>
      </p:sp>
      <p:sp>
        <p:nvSpPr>
          <p:cNvPr id="2284" name="Google Shape;2284;p167"/>
          <p:cNvSpPr/>
          <p:nvPr/>
        </p:nvSpPr>
        <p:spPr>
          <a:xfrm flipH="1">
            <a:off x="5079050" y="3262625"/>
            <a:ext cx="1554000" cy="649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5" name="Google Shape;2285;p167"/>
          <p:cNvSpPr txBox="1"/>
          <p:nvPr>
            <p:ph idx="1" type="body"/>
          </p:nvPr>
        </p:nvSpPr>
        <p:spPr>
          <a:xfrm flipH="1">
            <a:off x="5082085" y="3910200"/>
            <a:ext cx="15540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Shorter</a:t>
            </a:r>
            <a:endParaRPr sz="1800"/>
          </a:p>
        </p:txBody>
      </p:sp>
      <p:sp>
        <p:nvSpPr>
          <p:cNvPr id="2286" name="Google Shape;2286;p167"/>
          <p:cNvSpPr txBox="1"/>
          <p:nvPr>
            <p:ph idx="1" type="body"/>
          </p:nvPr>
        </p:nvSpPr>
        <p:spPr>
          <a:xfrm flipH="1">
            <a:off x="7265989" y="3373136"/>
            <a:ext cx="1554000" cy="4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0.0017 km</a:t>
            </a:r>
            <a:endParaRPr sz="1800"/>
          </a:p>
        </p:txBody>
      </p:sp>
      <p:cxnSp>
        <p:nvCxnSpPr>
          <p:cNvPr id="2287" name="Google Shape;2287;p167"/>
          <p:cNvCxnSpPr>
            <a:stCxn id="2286" idx="3"/>
          </p:cNvCxnSpPr>
          <p:nvPr/>
        </p:nvCxnSpPr>
        <p:spPr>
          <a:xfrm rot="10800000">
            <a:off x="6635989" y="3587336"/>
            <a:ext cx="630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8" name="Google Shape;2288;p167"/>
          <p:cNvSpPr txBox="1"/>
          <p:nvPr>
            <p:ph idx="1" type="body"/>
          </p:nvPr>
        </p:nvSpPr>
        <p:spPr>
          <a:xfrm flipH="1">
            <a:off x="5192122" y="3373125"/>
            <a:ext cx="1328400" cy="4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16.5</a:t>
            </a:r>
            <a:endParaRPr sz="1800"/>
          </a:p>
        </p:txBody>
      </p:sp>
      <p:sp>
        <p:nvSpPr>
          <p:cNvPr id="2289" name="Google Shape;2289;p167"/>
          <p:cNvSpPr/>
          <p:nvPr/>
        </p:nvSpPr>
        <p:spPr>
          <a:xfrm flipH="1">
            <a:off x="5790314" y="3388775"/>
            <a:ext cx="776100" cy="3969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167"/>
          <p:cNvSpPr txBox="1"/>
          <p:nvPr>
            <p:ph idx="1" type="body"/>
          </p:nvPr>
        </p:nvSpPr>
        <p:spPr>
          <a:xfrm>
            <a:off x="2815950" y="3373125"/>
            <a:ext cx="1168500" cy="4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225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2291" name="Google Shape;2291;p167"/>
          <p:cNvSpPr txBox="1"/>
          <p:nvPr>
            <p:ph idx="1" type="body"/>
          </p:nvPr>
        </p:nvSpPr>
        <p:spPr>
          <a:xfrm>
            <a:off x="6922000" y="2930850"/>
            <a:ext cx="20835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the height of Izzy</a:t>
            </a:r>
            <a:endParaRPr sz="1600"/>
          </a:p>
        </p:txBody>
      </p:sp>
      <p:sp>
        <p:nvSpPr>
          <p:cNvPr id="2292" name="Google Shape;2292;p167"/>
          <p:cNvSpPr txBox="1"/>
          <p:nvPr>
            <p:ph idx="1" type="body"/>
          </p:nvPr>
        </p:nvSpPr>
        <p:spPr>
          <a:xfrm>
            <a:off x="324000" y="2623800"/>
            <a:ext cx="15894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length of Tower Bridge, London</a:t>
            </a:r>
            <a:endParaRPr sz="1600"/>
          </a:p>
        </p:txBody>
      </p:sp>
      <p:sp>
        <p:nvSpPr>
          <p:cNvPr id="2293" name="Google Shape;2293;p167"/>
          <p:cNvSpPr txBox="1"/>
          <p:nvPr>
            <p:ph idx="1" type="body"/>
          </p:nvPr>
        </p:nvSpPr>
        <p:spPr>
          <a:xfrm>
            <a:off x="3258600" y="3420425"/>
            <a:ext cx="776100" cy="33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km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4" name="Google Shape;2294;p167"/>
          <p:cNvSpPr txBox="1"/>
          <p:nvPr>
            <p:ph idx="1" type="body"/>
          </p:nvPr>
        </p:nvSpPr>
        <p:spPr>
          <a:xfrm>
            <a:off x="730650" y="4130150"/>
            <a:ext cx="776100" cy="33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244 m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5" name="Google Shape;2295;p167"/>
          <p:cNvSpPr txBox="1"/>
          <p:nvPr>
            <p:ph idx="1" type="body"/>
          </p:nvPr>
        </p:nvSpPr>
        <p:spPr>
          <a:xfrm>
            <a:off x="7266100" y="4137925"/>
            <a:ext cx="1554000" cy="33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1.7 m = 170 cm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6" name="Google Shape;2296;p167"/>
          <p:cNvSpPr txBox="1"/>
          <p:nvPr>
            <p:ph idx="1" type="body"/>
          </p:nvPr>
        </p:nvSpPr>
        <p:spPr>
          <a:xfrm>
            <a:off x="5790325" y="3412894"/>
            <a:ext cx="776100" cy="33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m</a:t>
            </a:r>
            <a:endParaRPr sz="16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Kalam"/>
                <a:ea typeface="Kalam"/>
                <a:cs typeface="Kalam"/>
                <a:sym typeface="Kalam"/>
              </a:rPr>
              <a:t>mm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97" name="Google Shape;2297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25" y="1505250"/>
            <a:ext cx="1553963" cy="103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8" name="Google Shape;2298;p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3754" y="1303675"/>
            <a:ext cx="472400" cy="1588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1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</a:t>
            </a:r>
            <a:r>
              <a:rPr lang="en-GB" sz="2000"/>
              <a:t>lace value charts and unit prefixes can be used to help convert between different metric units.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When comparing two or more measures, it can be helpful to convert to the same unit before making a comparison.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scale of a conversion can be checked by seeing if it makes sense in a real-world context.</a:t>
            </a:r>
            <a:endParaRPr sz="2000"/>
          </a:p>
        </p:txBody>
      </p:sp>
      <p:sp>
        <p:nvSpPr>
          <p:cNvPr id="2304" name="Google Shape;2304;p168"/>
          <p:cNvSpPr txBox="1"/>
          <p:nvPr>
            <p:ph type="title"/>
          </p:nvPr>
        </p:nvSpPr>
        <p:spPr>
          <a:xfrm>
            <a:off x="1684800" y="157525"/>
            <a:ext cx="6154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metric units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16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310" name="Google Shape;2310;p1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