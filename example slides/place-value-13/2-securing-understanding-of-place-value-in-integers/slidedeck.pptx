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747775"/>
          </p15:clr>
        </p15:guide>
        <p15:guide id="2" orient="horz" pos="1984">
          <p15:clr>
            <a:srgbClr val="747775"/>
          </p15:clr>
        </p15:guide>
        <p15:guide id="3" orient="horz" pos="2494">
          <p15:clr>
            <a:srgbClr val="747775"/>
          </p15:clr>
        </p15:guide>
        <p15:guide id="4" orient="horz" pos="2438">
          <p15:clr>
            <a:srgbClr val="747775"/>
          </p15:clr>
        </p15:guide>
        <p15:guide id="5" pos="436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C4FF8C-8265-42C8-9D18-C3D103282B1C}">
  <a:tblStyle styleId="{C4C4FF8C-8265-42C8-9D18-C3D103282B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1984" orient="horz"/>
        <p:guide pos="2494" orient="horz"/>
        <p:guide pos="2438" orient="horz"/>
        <p:guide pos="43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e7afd1f6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7afd1f6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7c53926e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7c53926e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7c53926eb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7c53926eb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7c53926eb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7c53926eb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7c53926eb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7c53926eb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7c53926eb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7c53926eb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7c53926eb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7c53926eb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7c53926eb6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7c53926eb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7d24b4dd8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7d24b4dd8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7d24b4dd8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7d24b4dd8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7d24b4dd8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7d24b4dd8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7c53926eb6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7c53926eb6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7d24b4dd8e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7d24b4dd8e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7d24b4dd8e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7d24b4dd8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7d24b4dd8e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7d24b4dd8e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7d24b4dd8e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7d24b4dd8e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7c53926eb6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7c53926eb6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7c53926eb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7c53926eb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7c53926eb6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7c53926eb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7c9d0b39b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7c9d0b39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7c9d0b39b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7c9d0b39b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7d24b4dd8e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7d24b4dd8e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27c9d0b39b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27c9d0b39b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7d24b4dd8e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7d24b4dd8e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7d24b4dd8e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7d24b4dd8e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7d24b4dd8e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7d24b4dd8e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7d24b4dd8e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7d24b4dd8e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7d24b4dd8e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7d24b4dd8e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7d24b4dd8e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7d24b4dd8e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7d24b4dd8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7d24b4dd8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7d24b4dd8e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7d24b4dd8e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7d24b4dd8e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7d24b4dd8e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e7afd1f642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e7afd1f642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7d24b4dd8e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7d24b4dd8e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7d24b4dd8e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7d24b4dd8e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7d24b4dd8e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7d24b4dd8e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7d24b4dd8e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27d24b4dd8e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7d24b4dd8e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7d24b4dd8e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7d24b4dd8e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7d24b4dd8e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2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2.png"/><Relationship Id="rId4" Type="http://schemas.openxmlformats.org/officeDocument/2006/relationships/image" Target="../media/image33.png"/><Relationship Id="rId11" Type="http://schemas.openxmlformats.org/officeDocument/2006/relationships/image" Target="../media/image14.png"/><Relationship Id="rId10" Type="http://schemas.openxmlformats.org/officeDocument/2006/relationships/image" Target="../media/image38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4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1" name="Google Shape;561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6" name="Google Shape;586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7" name="Google Shape;5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9" name="Google Shape;589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0" name="Google Shape;5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6" name="Google Shape;606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8" name="Google Shape;608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9" name="Google Shape;60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27" name="Google Shape;627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8" name="Google Shape;62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1" name="Google Shape;63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4" name="Google Shape;63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0" name="Google Shape;6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7" name="Google Shape;6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9" name="Google Shape;7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integers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highlight>
                  <a:srgbClr val="FFFFFF"/>
                </a:highlight>
              </a:rPr>
              <a:t>I can state the value of any digit in a given integer.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0" y="1075800"/>
            <a:ext cx="8496000" cy="8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digit</a:t>
            </a:r>
            <a:r>
              <a:rPr b="1" lang="en-GB"/>
              <a:t> </a:t>
            </a:r>
            <a:r>
              <a:rPr lang="en-GB"/>
              <a:t>is one of the symbols of a number system. In our number system we use the digits 0, 1, 2, 3, 4, 5, 6, 7, 8 and 9.</a:t>
            </a:r>
            <a:endParaRPr/>
          </a:p>
        </p:txBody>
      </p:sp>
      <p:sp>
        <p:nvSpPr>
          <p:cNvPr id="779" name="Google Shape;779;p67"/>
          <p:cNvSpPr txBox="1"/>
          <p:nvPr>
            <p:ph idx="2" type="subTitle"/>
          </p:nvPr>
        </p:nvSpPr>
        <p:spPr>
          <a:xfrm>
            <a:off x="324000" y="2238725"/>
            <a:ext cx="8496000" cy="10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lang="en-GB"/>
              <a:t>integer</a:t>
            </a:r>
            <a:r>
              <a:rPr b="1" lang="en-GB"/>
              <a:t> </a:t>
            </a:r>
            <a:r>
              <a:rPr lang="en-GB"/>
              <a:t>is any positive or negative whole number or zero. E.g. -2, 0, 153 are all examples of integers.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 </a:t>
            </a:r>
            <a:endParaRPr/>
          </a:p>
        </p:txBody>
      </p:sp>
      <p:sp>
        <p:nvSpPr>
          <p:cNvPr id="785" name="Google Shape;785;p68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sums of their digits’ </a:t>
            </a:r>
            <a:r>
              <a:rPr lang="en-GB"/>
              <a:t>place values</a:t>
            </a:r>
            <a:endParaRPr/>
          </a:p>
        </p:txBody>
      </p:sp>
      <p:sp>
        <p:nvSpPr>
          <p:cNvPr id="786" name="Google Shape;786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integers</a:t>
            </a:r>
            <a:endParaRPr/>
          </a:p>
        </p:txBody>
      </p:sp>
      <p:pic>
        <p:nvPicPr>
          <p:cNvPr id="787" name="Google Shape;7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13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8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digits in integers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</p:txBody>
      </p:sp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324000" y="759300"/>
            <a:ext cx="8496000" cy="9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and Jacob</a:t>
            </a:r>
            <a:r>
              <a:rPr lang="en-GB" sz="2000"/>
              <a:t> are competing to form the integer with the biggest value.</a:t>
            </a:r>
            <a:endParaRPr sz="2000"/>
          </a:p>
        </p:txBody>
      </p:sp>
      <p:sp>
        <p:nvSpPr>
          <p:cNvPr id="795" name="Google Shape;795;p69"/>
          <p:cNvSpPr txBox="1"/>
          <p:nvPr/>
        </p:nvSpPr>
        <p:spPr>
          <a:xfrm>
            <a:off x="254550" y="1437000"/>
            <a:ext cx="6569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They each draw 3 cards from a deck of digit cards.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 txBox="1"/>
          <p:nvPr/>
        </p:nvSpPr>
        <p:spPr>
          <a:xfrm>
            <a:off x="254550" y="4377600"/>
            <a:ext cx="7885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Is Jacob’s statement correct?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7" name="Google Shape;797;p69"/>
          <p:cNvGrpSpPr/>
          <p:nvPr/>
        </p:nvGrpSpPr>
        <p:grpSpPr>
          <a:xfrm>
            <a:off x="3680775" y="2050488"/>
            <a:ext cx="484800" cy="2101200"/>
            <a:chOff x="3680775" y="2050488"/>
            <a:chExt cx="484800" cy="2101200"/>
          </a:xfrm>
        </p:grpSpPr>
        <p:sp>
          <p:nvSpPr>
            <p:cNvPr id="798" name="Google Shape;798;p69"/>
            <p:cNvSpPr/>
            <p:nvPr/>
          </p:nvSpPr>
          <p:spPr>
            <a:xfrm>
              <a:off x="3680775" y="2050488"/>
              <a:ext cx="484800" cy="60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9" name="Google Shape;799;p69"/>
            <p:cNvSpPr/>
            <p:nvPr/>
          </p:nvSpPr>
          <p:spPr>
            <a:xfrm>
              <a:off x="3680775" y="3549288"/>
              <a:ext cx="484800" cy="60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0" name="Google Shape;800;p69"/>
            <p:cNvSpPr/>
            <p:nvPr/>
          </p:nvSpPr>
          <p:spPr>
            <a:xfrm>
              <a:off x="3680775" y="2799888"/>
              <a:ext cx="484800" cy="60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01" name="Google Shape;80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400" y="2160000"/>
            <a:ext cx="2549399" cy="161669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5486400" y="2228850"/>
            <a:ext cx="2450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already won because I have the card with the biggest digit.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3" name="Google Shape;803;p69"/>
          <p:cNvGrpSpPr/>
          <p:nvPr/>
        </p:nvGrpSpPr>
        <p:grpSpPr>
          <a:xfrm>
            <a:off x="431075" y="2050500"/>
            <a:ext cx="484800" cy="2101200"/>
            <a:chOff x="431075" y="2050500"/>
            <a:chExt cx="484800" cy="2101200"/>
          </a:xfrm>
        </p:grpSpPr>
        <p:sp>
          <p:nvSpPr>
            <p:cNvPr id="804" name="Google Shape;804;p69"/>
            <p:cNvSpPr/>
            <p:nvPr/>
          </p:nvSpPr>
          <p:spPr>
            <a:xfrm>
              <a:off x="431075" y="2050500"/>
              <a:ext cx="484800" cy="60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69"/>
            <p:cNvSpPr/>
            <p:nvPr/>
          </p:nvSpPr>
          <p:spPr>
            <a:xfrm>
              <a:off x="431075" y="3549300"/>
              <a:ext cx="484800" cy="60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6" name="Google Shape;806;p69"/>
            <p:cNvSpPr/>
            <p:nvPr/>
          </p:nvSpPr>
          <p:spPr>
            <a:xfrm>
              <a:off x="431075" y="2799900"/>
              <a:ext cx="484800" cy="60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69"/>
          <p:cNvGrpSpPr/>
          <p:nvPr/>
        </p:nvGrpSpPr>
        <p:grpSpPr>
          <a:xfrm>
            <a:off x="791500" y="2700006"/>
            <a:ext cx="4694903" cy="1738942"/>
            <a:chOff x="805300" y="2874006"/>
            <a:chExt cx="4694903" cy="1738942"/>
          </a:xfrm>
        </p:grpSpPr>
        <p:grpSp>
          <p:nvGrpSpPr>
            <p:cNvPr id="808" name="Google Shape;808;p69"/>
            <p:cNvGrpSpPr/>
            <p:nvPr/>
          </p:nvGrpSpPr>
          <p:grpSpPr>
            <a:xfrm>
              <a:off x="1561350" y="2874006"/>
              <a:ext cx="3731113" cy="1177024"/>
              <a:chOff x="1561350" y="2874006"/>
              <a:chExt cx="3731113" cy="1177024"/>
            </a:xfrm>
          </p:grpSpPr>
          <p:pic>
            <p:nvPicPr>
              <p:cNvPr id="809" name="Google Shape;809;p6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565288" y="3014643"/>
                <a:ext cx="727175" cy="89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0" name="Google Shape;810;p6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1350" y="2874006"/>
                <a:ext cx="623346" cy="11770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11" name="Google Shape;811;p69"/>
            <p:cNvSpPr txBox="1"/>
            <p:nvPr/>
          </p:nvSpPr>
          <p:spPr>
            <a:xfrm>
              <a:off x="805300" y="4027048"/>
              <a:ext cx="13794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2" name="Google Shape;812;p69"/>
            <p:cNvSpPr txBox="1"/>
            <p:nvPr/>
          </p:nvSpPr>
          <p:spPr>
            <a:xfrm>
              <a:off x="3843003" y="4027048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place value</a:t>
            </a:r>
            <a:endParaRPr/>
          </a:p>
        </p:txBody>
      </p:sp>
      <p:sp>
        <p:nvSpPr>
          <p:cNvPr id="818" name="Google Shape;818;p70"/>
          <p:cNvSpPr txBox="1"/>
          <p:nvPr/>
        </p:nvSpPr>
        <p:spPr>
          <a:xfrm>
            <a:off x="299100" y="2266950"/>
            <a:ext cx="88347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both players have three digits, putting the largest digit in the hundreds column is needed to give the largest overall value.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 txBox="1"/>
          <p:nvPr/>
        </p:nvSpPr>
        <p:spPr>
          <a:xfrm>
            <a:off x="299100" y="3145950"/>
            <a:ext cx="796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Jacob uses the 7 in his hundreds column he will always win with this set of numbers.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 txBox="1"/>
          <p:nvPr/>
        </p:nvSpPr>
        <p:spPr>
          <a:xfrm>
            <a:off x="324000" y="4408500"/>
            <a:ext cx="3992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653 compared to 172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21" name="Google Shape;82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788" y="885081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725" y="1025725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/>
          <p:nvPr/>
        </p:nvSpPr>
        <p:spPr>
          <a:xfrm>
            <a:off x="2418712" y="747594"/>
            <a:ext cx="484800" cy="60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542287" y="1588794"/>
            <a:ext cx="484800" cy="60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2991837" y="1156381"/>
            <a:ext cx="484800" cy="60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5810287" y="747594"/>
            <a:ext cx="484800" cy="60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0"/>
          <p:cNvSpPr/>
          <p:nvPr/>
        </p:nvSpPr>
        <p:spPr>
          <a:xfrm>
            <a:off x="7017412" y="1588794"/>
            <a:ext cx="484800" cy="60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0"/>
          <p:cNvSpPr/>
          <p:nvPr/>
        </p:nvSpPr>
        <p:spPr>
          <a:xfrm>
            <a:off x="6388062" y="1156381"/>
            <a:ext cx="484800" cy="60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 txBox="1"/>
          <p:nvPr/>
        </p:nvSpPr>
        <p:spPr>
          <a:xfrm>
            <a:off x="299100" y="4018100"/>
            <a:ext cx="8670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Any example where Jacob doesn’t do this will allow Aisha to win.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digits in an integer contribute to its overall value. </a:t>
            </a:r>
            <a:endParaRPr/>
          </a:p>
        </p:txBody>
      </p:sp>
      <p:sp>
        <p:nvSpPr>
          <p:cNvPr id="835" name="Google Shape;83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place value</a:t>
            </a:r>
            <a:endParaRPr/>
          </a:p>
        </p:txBody>
      </p:sp>
      <p:sp>
        <p:nvSpPr>
          <p:cNvPr id="836" name="Google Shape;836;p71"/>
          <p:cNvSpPr txBox="1"/>
          <p:nvPr>
            <p:ph idx="2" type="subTitle"/>
          </p:nvPr>
        </p:nvSpPr>
        <p:spPr>
          <a:xfrm>
            <a:off x="324000" y="1021200"/>
            <a:ext cx="8496000" cy="85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As long as the largest digit is in the highest place value, the integer will have the highest value possible.</a:t>
            </a:r>
            <a:endParaRPr/>
          </a:p>
        </p:txBody>
      </p:sp>
      <p:sp>
        <p:nvSpPr>
          <p:cNvPr id="837" name="Google Shape;837;p7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digit in the highest place value column is the only digit to affect its value.</a:t>
            </a:r>
            <a:endParaRPr/>
          </a:p>
        </p:txBody>
      </p:sp>
      <p:pic>
        <p:nvPicPr>
          <p:cNvPr id="838" name="Google Shape;83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4258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1458" y="18762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4" name="Google Shape;844;p72"/>
          <p:cNvGraphicFramePr/>
          <p:nvPr/>
        </p:nvGraphicFramePr>
        <p:xfrm>
          <a:off x="378750" y="1591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</a:tblGrid>
              <a:tr h="159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HBn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TBn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5" name="Google Shape;845;p72"/>
          <p:cNvGraphicFramePr/>
          <p:nvPr/>
        </p:nvGraphicFramePr>
        <p:xfrm>
          <a:off x="2436150" y="1591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</a:tblGrid>
              <a:tr h="159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6" name="Google Shape;846;p72"/>
          <p:cNvGraphicFramePr/>
          <p:nvPr/>
        </p:nvGraphicFramePr>
        <p:xfrm>
          <a:off x="4493550" y="1591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</a:tblGrid>
              <a:tr h="159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7" name="Google Shape;84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place value</a:t>
            </a:r>
            <a:endParaRPr/>
          </a:p>
        </p:txBody>
      </p:sp>
      <p:sp>
        <p:nvSpPr>
          <p:cNvPr id="848" name="Google Shape;848;p72"/>
          <p:cNvSpPr txBox="1"/>
          <p:nvPr>
            <p:ph idx="1" type="body"/>
          </p:nvPr>
        </p:nvSpPr>
        <p:spPr>
          <a:xfrm>
            <a:off x="324000" y="759300"/>
            <a:ext cx="82377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write larger integers we can increase the columns in our place value chart.</a:t>
            </a:r>
            <a:endParaRPr sz="2000"/>
          </a:p>
        </p:txBody>
      </p:sp>
      <p:graphicFrame>
        <p:nvGraphicFramePr>
          <p:cNvPr id="849" name="Google Shape;849;p72"/>
          <p:cNvGraphicFramePr/>
          <p:nvPr/>
        </p:nvGraphicFramePr>
        <p:xfrm>
          <a:off x="6550950" y="1591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</a:tblGrid>
              <a:tr h="159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0" name="Google Shape;850;p72"/>
          <p:cNvSpPr txBox="1"/>
          <p:nvPr/>
        </p:nvSpPr>
        <p:spPr>
          <a:xfrm rot="-5400000">
            <a:off x="7785482" y="2494918"/>
            <a:ext cx="9528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 rot="-5400000">
            <a:off x="7147012" y="2646268"/>
            <a:ext cx="760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2"/>
          <p:cNvSpPr txBox="1"/>
          <p:nvPr/>
        </p:nvSpPr>
        <p:spPr>
          <a:xfrm rot="-5400000">
            <a:off x="6181550" y="2381218"/>
            <a:ext cx="1290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2"/>
          <p:cNvSpPr txBox="1"/>
          <p:nvPr/>
        </p:nvSpPr>
        <p:spPr>
          <a:xfrm rot="-5400000">
            <a:off x="5397550" y="2255368"/>
            <a:ext cx="15423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 rot="-5400000">
            <a:off x="4616625" y="2310118"/>
            <a:ext cx="1432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 Thousands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 rot="-5400000">
            <a:off x="3740275" y="2104318"/>
            <a:ext cx="1844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 Thousands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2"/>
          <p:cNvSpPr txBox="1"/>
          <p:nvPr/>
        </p:nvSpPr>
        <p:spPr>
          <a:xfrm rot="-5400000">
            <a:off x="3626225" y="2508418"/>
            <a:ext cx="10362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Million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2"/>
          <p:cNvSpPr txBox="1"/>
          <p:nvPr/>
        </p:nvSpPr>
        <p:spPr>
          <a:xfrm rot="-5400000">
            <a:off x="2801063" y="2408518"/>
            <a:ext cx="1124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 Million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2"/>
          <p:cNvSpPr txBox="1"/>
          <p:nvPr/>
        </p:nvSpPr>
        <p:spPr>
          <a:xfrm rot="-5400000">
            <a:off x="1804538" y="2177818"/>
            <a:ext cx="1697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 Million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2"/>
          <p:cNvSpPr txBox="1"/>
          <p:nvPr/>
        </p:nvSpPr>
        <p:spPr>
          <a:xfrm rot="-5400000">
            <a:off x="1552750" y="2523118"/>
            <a:ext cx="1006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Billion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2"/>
          <p:cNvSpPr txBox="1"/>
          <p:nvPr/>
        </p:nvSpPr>
        <p:spPr>
          <a:xfrm rot="-5400000">
            <a:off x="827900" y="2567218"/>
            <a:ext cx="918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 Billion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2"/>
          <p:cNvSpPr txBox="1"/>
          <p:nvPr/>
        </p:nvSpPr>
        <p:spPr>
          <a:xfrm rot="-5400000">
            <a:off x="-231150" y="2229268"/>
            <a:ext cx="1594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 Billion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2"/>
          <p:cNvSpPr/>
          <p:nvPr/>
        </p:nvSpPr>
        <p:spPr>
          <a:xfrm>
            <a:off x="4555979" y="1740125"/>
            <a:ext cx="1923000" cy="1940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2"/>
          <p:cNvSpPr/>
          <p:nvPr/>
        </p:nvSpPr>
        <p:spPr>
          <a:xfrm>
            <a:off x="2506302" y="1740125"/>
            <a:ext cx="1923000" cy="1940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2"/>
          <p:cNvSpPr/>
          <p:nvPr/>
        </p:nvSpPr>
        <p:spPr>
          <a:xfrm>
            <a:off x="448902" y="1740125"/>
            <a:ext cx="1923000" cy="1940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2"/>
          <p:cNvSpPr/>
          <p:nvPr/>
        </p:nvSpPr>
        <p:spPr>
          <a:xfrm>
            <a:off x="6610323" y="1740125"/>
            <a:ext cx="1923000" cy="1940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place value</a:t>
            </a:r>
            <a:endParaRPr/>
          </a:p>
        </p:txBody>
      </p:sp>
      <p:graphicFrame>
        <p:nvGraphicFramePr>
          <p:cNvPr id="871" name="Google Shape;871;p73"/>
          <p:cNvGraphicFramePr/>
          <p:nvPr/>
        </p:nvGraphicFramePr>
        <p:xfrm>
          <a:off x="466950" y="842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</a:tblGrid>
              <a:tr h="58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HBn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TBn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2" name="Google Shape;872;p73"/>
          <p:cNvSpPr txBox="1"/>
          <p:nvPr/>
        </p:nvSpPr>
        <p:spPr>
          <a:xfrm>
            <a:off x="240725" y="3075688"/>
            <a:ext cx="7671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●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integer has the value of 4000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3"/>
          <p:cNvSpPr txBox="1"/>
          <p:nvPr/>
        </p:nvSpPr>
        <p:spPr>
          <a:xfrm>
            <a:off x="240725" y="3583838"/>
            <a:ext cx="7671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●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For integers with five or more digits, we use spaces to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separate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thousands; e.g. 21 000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 txBox="1"/>
          <p:nvPr/>
        </p:nvSpPr>
        <p:spPr>
          <a:xfrm>
            <a:off x="240725" y="4344688"/>
            <a:ext cx="7671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●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rule continues every three digits; e.g. 5 320 000 000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3"/>
          <p:cNvSpPr/>
          <p:nvPr/>
        </p:nvSpPr>
        <p:spPr>
          <a:xfrm>
            <a:off x="4661619" y="945650"/>
            <a:ext cx="1872000" cy="37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76" name="Google Shape;876;p73"/>
          <p:cNvSpPr/>
          <p:nvPr/>
        </p:nvSpPr>
        <p:spPr>
          <a:xfrm>
            <a:off x="554542" y="945650"/>
            <a:ext cx="1872000" cy="37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877" name="Google Shape;877;p73"/>
          <p:cNvGraphicFramePr/>
          <p:nvPr/>
        </p:nvGraphicFramePr>
        <p:xfrm>
          <a:off x="466950" y="1420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</a:tblGrid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8" name="Google Shape;878;p73"/>
          <p:cNvGraphicFramePr/>
          <p:nvPr/>
        </p:nvGraphicFramePr>
        <p:xfrm>
          <a:off x="466950" y="1932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</a:tblGrid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9" name="Google Shape;879;p73"/>
          <p:cNvGraphicFramePr/>
          <p:nvPr/>
        </p:nvGraphicFramePr>
        <p:xfrm>
          <a:off x="466950" y="2444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  <a:gridCol w="684175"/>
              </a:tblGrid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0" name="Google Shape;880;p73"/>
          <p:cNvSpPr/>
          <p:nvPr/>
        </p:nvSpPr>
        <p:spPr>
          <a:xfrm>
            <a:off x="6719013" y="945650"/>
            <a:ext cx="1872000" cy="37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81" name="Google Shape;881;p73"/>
          <p:cNvSpPr/>
          <p:nvPr/>
        </p:nvSpPr>
        <p:spPr>
          <a:xfrm>
            <a:off x="2592644" y="945650"/>
            <a:ext cx="1872000" cy="37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place value</a:t>
            </a:r>
            <a:endParaRPr/>
          </a:p>
        </p:txBody>
      </p:sp>
      <p:sp>
        <p:nvSpPr>
          <p:cNvPr id="887" name="Google Shape;887;p7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integers is written with correct spacing?</a:t>
            </a:r>
            <a:endParaRPr/>
          </a:p>
        </p:txBody>
      </p:sp>
      <p:sp>
        <p:nvSpPr>
          <p:cNvPr id="888" name="Google Shape;888;p7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2 500</a:t>
            </a:r>
            <a:endParaRPr/>
          </a:p>
        </p:txBody>
      </p:sp>
      <p:sp>
        <p:nvSpPr>
          <p:cNvPr id="889" name="Google Shape;889;p7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123 100</a:t>
            </a:r>
            <a:endParaRPr/>
          </a:p>
        </p:txBody>
      </p:sp>
      <p:sp>
        <p:nvSpPr>
          <p:cNvPr id="890" name="Google Shape;890;p7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1 00 00 00</a:t>
            </a:r>
            <a:endParaRPr/>
          </a:p>
        </p:txBody>
      </p:sp>
      <p:sp>
        <p:nvSpPr>
          <p:cNvPr id="891" name="Google Shape;891;p7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243 012 5</a:t>
            </a:r>
            <a:endParaRPr/>
          </a:p>
        </p:txBody>
      </p:sp>
      <p:pic>
        <p:nvPicPr>
          <p:cNvPr id="892" name="Google Shape;89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983" y="2395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4"/>
          <p:cNvSpPr txBox="1"/>
          <p:nvPr/>
        </p:nvSpPr>
        <p:spPr>
          <a:xfrm>
            <a:off x="3171875" y="1630825"/>
            <a:ext cx="4349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4 digit integers there is no space.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4" name="Google Shape;894;p74"/>
          <p:cNvSpPr txBox="1"/>
          <p:nvPr/>
        </p:nvSpPr>
        <p:spPr>
          <a:xfrm>
            <a:off x="3171875" y="2395750"/>
            <a:ext cx="5590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integers with five or more digits we use spaces to separate the thousands.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5"/>
          <p:cNvSpPr txBox="1"/>
          <p:nvPr>
            <p:ph idx="4294967295" type="body"/>
          </p:nvPr>
        </p:nvSpPr>
        <p:spPr>
          <a:xfrm>
            <a:off x="324000" y="810000"/>
            <a:ext cx="8424900" cy="8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Below are two separate sets of digit cards. For each set, use the digit cards to create: </a:t>
            </a:r>
            <a:endParaRPr sz="2000"/>
          </a:p>
        </p:txBody>
      </p:sp>
      <p:sp>
        <p:nvSpPr>
          <p:cNvPr id="900" name="Google Shape;900;p75"/>
          <p:cNvSpPr/>
          <p:nvPr/>
        </p:nvSpPr>
        <p:spPr>
          <a:xfrm>
            <a:off x="932992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5"/>
          <p:cNvSpPr/>
          <p:nvPr/>
        </p:nvSpPr>
        <p:spPr>
          <a:xfrm>
            <a:off x="371075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5"/>
          <p:cNvSpPr/>
          <p:nvPr/>
        </p:nvSpPr>
        <p:spPr>
          <a:xfrm>
            <a:off x="1494934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5"/>
          <p:cNvSpPr/>
          <p:nvPr/>
        </p:nvSpPr>
        <p:spPr>
          <a:xfrm>
            <a:off x="2056851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5"/>
          <p:cNvSpPr/>
          <p:nvPr/>
        </p:nvSpPr>
        <p:spPr>
          <a:xfrm>
            <a:off x="2618781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5"/>
          <p:cNvSpPr/>
          <p:nvPr/>
        </p:nvSpPr>
        <p:spPr>
          <a:xfrm>
            <a:off x="3180710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5"/>
          <p:cNvSpPr/>
          <p:nvPr/>
        </p:nvSpPr>
        <p:spPr>
          <a:xfrm>
            <a:off x="5505049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5"/>
          <p:cNvSpPr/>
          <p:nvPr/>
        </p:nvSpPr>
        <p:spPr>
          <a:xfrm>
            <a:off x="4943140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5"/>
          <p:cNvSpPr/>
          <p:nvPr/>
        </p:nvSpPr>
        <p:spPr>
          <a:xfrm>
            <a:off x="6066959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5"/>
          <p:cNvSpPr/>
          <p:nvPr/>
        </p:nvSpPr>
        <p:spPr>
          <a:xfrm>
            <a:off x="6628869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5"/>
          <p:cNvSpPr/>
          <p:nvPr/>
        </p:nvSpPr>
        <p:spPr>
          <a:xfrm>
            <a:off x="7190778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5"/>
          <p:cNvSpPr/>
          <p:nvPr/>
        </p:nvSpPr>
        <p:spPr>
          <a:xfrm>
            <a:off x="7752688" y="1691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5"/>
          <p:cNvSpPr txBox="1"/>
          <p:nvPr/>
        </p:nvSpPr>
        <p:spPr>
          <a:xfrm>
            <a:off x="275400" y="2423100"/>
            <a:ext cx="85221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largest integer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the smallest integer using all cards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the integer closest to 600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the integer closest to 1000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6"/>
          <p:cNvSpPr txBox="1"/>
          <p:nvPr>
            <p:ph idx="4294967295" type="body"/>
          </p:nvPr>
        </p:nvSpPr>
        <p:spPr>
          <a:xfrm>
            <a:off x="359550" y="921350"/>
            <a:ext cx="8424900" cy="879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Another digit card is added to each set at random: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19" name="Google Shape;919;p76"/>
          <p:cNvSpPr/>
          <p:nvPr/>
        </p:nvSpPr>
        <p:spPr>
          <a:xfrm>
            <a:off x="968542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6"/>
          <p:cNvSpPr/>
          <p:nvPr/>
        </p:nvSpPr>
        <p:spPr>
          <a:xfrm>
            <a:off x="406625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6"/>
          <p:cNvSpPr/>
          <p:nvPr/>
        </p:nvSpPr>
        <p:spPr>
          <a:xfrm>
            <a:off x="1530484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6"/>
          <p:cNvSpPr/>
          <p:nvPr/>
        </p:nvSpPr>
        <p:spPr>
          <a:xfrm>
            <a:off x="2092401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6"/>
          <p:cNvSpPr/>
          <p:nvPr/>
        </p:nvSpPr>
        <p:spPr>
          <a:xfrm>
            <a:off x="2654331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6"/>
          <p:cNvSpPr/>
          <p:nvPr/>
        </p:nvSpPr>
        <p:spPr>
          <a:xfrm>
            <a:off x="3216260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6"/>
          <p:cNvSpPr/>
          <p:nvPr/>
        </p:nvSpPr>
        <p:spPr>
          <a:xfrm>
            <a:off x="5540599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6"/>
          <p:cNvSpPr/>
          <p:nvPr/>
        </p:nvSpPr>
        <p:spPr>
          <a:xfrm>
            <a:off x="4978690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6"/>
          <p:cNvSpPr/>
          <p:nvPr/>
        </p:nvSpPr>
        <p:spPr>
          <a:xfrm>
            <a:off x="6102509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6"/>
          <p:cNvSpPr/>
          <p:nvPr/>
        </p:nvSpPr>
        <p:spPr>
          <a:xfrm>
            <a:off x="6664419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6"/>
          <p:cNvSpPr/>
          <p:nvPr/>
        </p:nvSpPr>
        <p:spPr>
          <a:xfrm>
            <a:off x="7226328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6"/>
          <p:cNvSpPr/>
          <p:nvPr/>
        </p:nvSpPr>
        <p:spPr>
          <a:xfrm>
            <a:off x="7788238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6"/>
          <p:cNvSpPr txBox="1"/>
          <p:nvPr/>
        </p:nvSpPr>
        <p:spPr>
          <a:xfrm>
            <a:off x="310950" y="2519000"/>
            <a:ext cx="8522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5) Is there a scenario where the second set of digits could make a larger integer than the first? Why?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76"/>
          <p:cNvSpPr/>
          <p:nvPr/>
        </p:nvSpPr>
        <p:spPr>
          <a:xfrm>
            <a:off x="3778173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6"/>
          <p:cNvSpPr/>
          <p:nvPr/>
        </p:nvSpPr>
        <p:spPr>
          <a:xfrm>
            <a:off x="8350148" y="1610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77"/>
          <p:cNvSpPr txBox="1"/>
          <p:nvPr/>
        </p:nvSpPr>
        <p:spPr>
          <a:xfrm>
            <a:off x="324000" y="717100"/>
            <a:ext cx="8496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6) Jun and Lucas are trying to make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smallest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values possible using all of their digits cards.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Identify and correct any mistakes in their statements below.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7"/>
          <p:cNvSpPr/>
          <p:nvPr/>
        </p:nvSpPr>
        <p:spPr>
          <a:xfrm>
            <a:off x="933092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7"/>
          <p:cNvSpPr/>
          <p:nvPr/>
        </p:nvSpPr>
        <p:spPr>
          <a:xfrm>
            <a:off x="1495034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7"/>
          <p:cNvSpPr/>
          <p:nvPr/>
        </p:nvSpPr>
        <p:spPr>
          <a:xfrm>
            <a:off x="2056951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7"/>
          <p:cNvSpPr/>
          <p:nvPr/>
        </p:nvSpPr>
        <p:spPr>
          <a:xfrm>
            <a:off x="2618881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7"/>
          <p:cNvSpPr/>
          <p:nvPr/>
        </p:nvSpPr>
        <p:spPr>
          <a:xfrm>
            <a:off x="3180810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7"/>
          <p:cNvSpPr/>
          <p:nvPr/>
        </p:nvSpPr>
        <p:spPr>
          <a:xfrm>
            <a:off x="5505149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7"/>
          <p:cNvSpPr/>
          <p:nvPr/>
        </p:nvSpPr>
        <p:spPr>
          <a:xfrm>
            <a:off x="4943240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7"/>
          <p:cNvSpPr/>
          <p:nvPr/>
        </p:nvSpPr>
        <p:spPr>
          <a:xfrm>
            <a:off x="6067059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7"/>
          <p:cNvSpPr/>
          <p:nvPr/>
        </p:nvSpPr>
        <p:spPr>
          <a:xfrm>
            <a:off x="6628969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7"/>
          <p:cNvSpPr/>
          <p:nvPr/>
        </p:nvSpPr>
        <p:spPr>
          <a:xfrm>
            <a:off x="7190878" y="20029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7"/>
          <p:cNvSpPr txBox="1"/>
          <p:nvPr/>
        </p:nvSpPr>
        <p:spPr>
          <a:xfrm>
            <a:off x="323900" y="2866350"/>
            <a:ext cx="81015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Jun: “The smallest number I can make is 23357”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Lucas: “The smallest number I can make is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8089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Jun: “If I swap my 2 for one of Lucas’ 0 cards I can then make the smallest number.”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7"/>
          <p:cNvSpPr txBox="1"/>
          <p:nvPr/>
        </p:nvSpPr>
        <p:spPr>
          <a:xfrm>
            <a:off x="4475200" y="243286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7"/>
          <p:cNvSpPr txBox="1"/>
          <p:nvPr/>
        </p:nvSpPr>
        <p:spPr>
          <a:xfrm>
            <a:off x="420438" y="243286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78"/>
          <p:cNvSpPr txBox="1"/>
          <p:nvPr>
            <p:ph idx="4294967295" type="body"/>
          </p:nvPr>
        </p:nvSpPr>
        <p:spPr>
          <a:xfrm>
            <a:off x="324000" y="716700"/>
            <a:ext cx="8424900" cy="8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Below are two separate sets of digit cards.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each set, use the digit cards to create: </a:t>
            </a:r>
            <a:endParaRPr sz="1800"/>
          </a:p>
        </p:txBody>
      </p:sp>
      <p:sp>
        <p:nvSpPr>
          <p:cNvPr id="960" name="Google Shape;960;p78"/>
          <p:cNvSpPr/>
          <p:nvPr/>
        </p:nvSpPr>
        <p:spPr>
          <a:xfrm>
            <a:off x="932992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8"/>
          <p:cNvSpPr/>
          <p:nvPr/>
        </p:nvSpPr>
        <p:spPr>
          <a:xfrm>
            <a:off x="371075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8"/>
          <p:cNvSpPr/>
          <p:nvPr/>
        </p:nvSpPr>
        <p:spPr>
          <a:xfrm>
            <a:off x="1494934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8"/>
          <p:cNvSpPr/>
          <p:nvPr/>
        </p:nvSpPr>
        <p:spPr>
          <a:xfrm>
            <a:off x="2056851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8"/>
          <p:cNvSpPr/>
          <p:nvPr/>
        </p:nvSpPr>
        <p:spPr>
          <a:xfrm>
            <a:off x="2618781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8"/>
          <p:cNvSpPr/>
          <p:nvPr/>
        </p:nvSpPr>
        <p:spPr>
          <a:xfrm>
            <a:off x="3180710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8"/>
          <p:cNvSpPr/>
          <p:nvPr/>
        </p:nvSpPr>
        <p:spPr>
          <a:xfrm>
            <a:off x="5505049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8"/>
          <p:cNvSpPr/>
          <p:nvPr/>
        </p:nvSpPr>
        <p:spPr>
          <a:xfrm>
            <a:off x="4943140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8"/>
          <p:cNvSpPr/>
          <p:nvPr/>
        </p:nvSpPr>
        <p:spPr>
          <a:xfrm>
            <a:off x="6066959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8"/>
          <p:cNvSpPr/>
          <p:nvPr/>
        </p:nvSpPr>
        <p:spPr>
          <a:xfrm>
            <a:off x="6628869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8"/>
          <p:cNvSpPr/>
          <p:nvPr/>
        </p:nvSpPr>
        <p:spPr>
          <a:xfrm>
            <a:off x="7190778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8"/>
          <p:cNvSpPr/>
          <p:nvPr/>
        </p:nvSpPr>
        <p:spPr>
          <a:xfrm>
            <a:off x="7752688" y="16605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8"/>
          <p:cNvSpPr txBox="1"/>
          <p:nvPr/>
        </p:nvSpPr>
        <p:spPr>
          <a:xfrm>
            <a:off x="275400" y="2430900"/>
            <a:ext cx="8522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largest integer                        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987 665    653 210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smallest integer using all cards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566 789    12 356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the integer closest to 600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598         601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integer closest to 1000            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987         1023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8"/>
          <p:cNvSpPr txBox="1"/>
          <p:nvPr/>
        </p:nvSpPr>
        <p:spPr>
          <a:xfrm>
            <a:off x="7372800" y="2874650"/>
            <a:ext cx="14472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 is at the front but is not written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79"/>
          <p:cNvSpPr txBox="1"/>
          <p:nvPr>
            <p:ph idx="4294967295" type="body"/>
          </p:nvPr>
        </p:nvSpPr>
        <p:spPr>
          <a:xfrm>
            <a:off x="320325" y="741000"/>
            <a:ext cx="8424900" cy="879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Another digit card is added to each set at random: </a:t>
            </a:r>
            <a:endParaRPr sz="2000"/>
          </a:p>
        </p:txBody>
      </p:sp>
      <p:sp>
        <p:nvSpPr>
          <p:cNvPr id="980" name="Google Shape;980;p79"/>
          <p:cNvSpPr/>
          <p:nvPr/>
        </p:nvSpPr>
        <p:spPr>
          <a:xfrm>
            <a:off x="882242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9"/>
          <p:cNvSpPr/>
          <p:nvPr/>
        </p:nvSpPr>
        <p:spPr>
          <a:xfrm>
            <a:off x="320325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9"/>
          <p:cNvSpPr/>
          <p:nvPr/>
        </p:nvSpPr>
        <p:spPr>
          <a:xfrm>
            <a:off x="1444184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9"/>
          <p:cNvSpPr/>
          <p:nvPr/>
        </p:nvSpPr>
        <p:spPr>
          <a:xfrm>
            <a:off x="2006101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9"/>
          <p:cNvSpPr/>
          <p:nvPr/>
        </p:nvSpPr>
        <p:spPr>
          <a:xfrm>
            <a:off x="2568031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9"/>
          <p:cNvSpPr/>
          <p:nvPr/>
        </p:nvSpPr>
        <p:spPr>
          <a:xfrm>
            <a:off x="3129960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9"/>
          <p:cNvSpPr/>
          <p:nvPr/>
        </p:nvSpPr>
        <p:spPr>
          <a:xfrm>
            <a:off x="5454299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9"/>
          <p:cNvSpPr/>
          <p:nvPr/>
        </p:nvSpPr>
        <p:spPr>
          <a:xfrm>
            <a:off x="4892390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9"/>
          <p:cNvSpPr/>
          <p:nvPr/>
        </p:nvSpPr>
        <p:spPr>
          <a:xfrm>
            <a:off x="6016209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9"/>
          <p:cNvSpPr/>
          <p:nvPr/>
        </p:nvSpPr>
        <p:spPr>
          <a:xfrm>
            <a:off x="6578119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9"/>
          <p:cNvSpPr/>
          <p:nvPr/>
        </p:nvSpPr>
        <p:spPr>
          <a:xfrm>
            <a:off x="7140028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9"/>
          <p:cNvSpPr/>
          <p:nvPr/>
        </p:nvSpPr>
        <p:spPr>
          <a:xfrm>
            <a:off x="7701938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9"/>
          <p:cNvSpPr txBox="1"/>
          <p:nvPr/>
        </p:nvSpPr>
        <p:spPr>
          <a:xfrm>
            <a:off x="226800" y="2001075"/>
            <a:ext cx="8424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Is there a scenario where the second set of digits could make a larger integer than the first? Why?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No.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first set already has the digits 9 and 8 which are larger than all digits in set 2. Even if set 2 received a 9 the largest possible value would only be 9 653 210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9"/>
          <p:cNvSpPr/>
          <p:nvPr/>
        </p:nvSpPr>
        <p:spPr>
          <a:xfrm>
            <a:off x="3691873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9"/>
          <p:cNvSpPr/>
          <p:nvPr/>
        </p:nvSpPr>
        <p:spPr>
          <a:xfrm>
            <a:off x="8263848" y="139027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0"/>
          <p:cNvSpPr txBox="1"/>
          <p:nvPr/>
        </p:nvSpPr>
        <p:spPr>
          <a:xfrm>
            <a:off x="323900" y="662400"/>
            <a:ext cx="8496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and Lucas are trying to make the smallest values possible using all of their digit cards.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Identify and correct any mistakes in their statements below.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0"/>
          <p:cNvSpPr/>
          <p:nvPr/>
        </p:nvSpPr>
        <p:spPr>
          <a:xfrm>
            <a:off x="908242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0"/>
          <p:cNvSpPr/>
          <p:nvPr/>
        </p:nvSpPr>
        <p:spPr>
          <a:xfrm>
            <a:off x="1470184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0"/>
          <p:cNvSpPr/>
          <p:nvPr/>
        </p:nvSpPr>
        <p:spPr>
          <a:xfrm>
            <a:off x="2032101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0"/>
          <p:cNvSpPr/>
          <p:nvPr/>
        </p:nvSpPr>
        <p:spPr>
          <a:xfrm>
            <a:off x="2594031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0"/>
          <p:cNvSpPr/>
          <p:nvPr/>
        </p:nvSpPr>
        <p:spPr>
          <a:xfrm>
            <a:off x="3155960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0"/>
          <p:cNvSpPr/>
          <p:nvPr/>
        </p:nvSpPr>
        <p:spPr>
          <a:xfrm>
            <a:off x="5480299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0"/>
          <p:cNvSpPr/>
          <p:nvPr/>
        </p:nvSpPr>
        <p:spPr>
          <a:xfrm>
            <a:off x="4918390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0"/>
          <p:cNvSpPr/>
          <p:nvPr/>
        </p:nvSpPr>
        <p:spPr>
          <a:xfrm>
            <a:off x="6042209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0"/>
          <p:cNvSpPr/>
          <p:nvPr/>
        </p:nvSpPr>
        <p:spPr>
          <a:xfrm>
            <a:off x="6604119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0"/>
          <p:cNvSpPr/>
          <p:nvPr/>
        </p:nvSpPr>
        <p:spPr>
          <a:xfrm>
            <a:off x="7166028" y="21600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0"/>
          <p:cNvSpPr txBox="1"/>
          <p:nvPr/>
        </p:nvSpPr>
        <p:spPr>
          <a:xfrm>
            <a:off x="323900" y="3221700"/>
            <a:ext cx="84960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Jun: “The smallest number I can make is 23357”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0"/>
          <p:cNvSpPr txBox="1"/>
          <p:nvPr/>
        </p:nvSpPr>
        <p:spPr>
          <a:xfrm>
            <a:off x="4450350" y="258993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0"/>
          <p:cNvSpPr txBox="1"/>
          <p:nvPr/>
        </p:nvSpPr>
        <p:spPr>
          <a:xfrm>
            <a:off x="395588" y="2589935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0"/>
          <p:cNvSpPr txBox="1"/>
          <p:nvPr/>
        </p:nvSpPr>
        <p:spPr>
          <a:xfrm>
            <a:off x="323900" y="3908250"/>
            <a:ext cx="84960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should be written with a space. It should be written as 23 357.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81"/>
          <p:cNvSpPr txBox="1"/>
          <p:nvPr/>
        </p:nvSpPr>
        <p:spPr>
          <a:xfrm>
            <a:off x="324000" y="662400"/>
            <a:ext cx="8496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6) J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 and Lucas are trying to make the smallest values possible using all of their digit cards.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Identify and correct any mistakes in their statements below.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1"/>
          <p:cNvSpPr/>
          <p:nvPr/>
        </p:nvSpPr>
        <p:spPr>
          <a:xfrm>
            <a:off x="856792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1"/>
          <p:cNvSpPr/>
          <p:nvPr/>
        </p:nvSpPr>
        <p:spPr>
          <a:xfrm>
            <a:off x="1418734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1"/>
          <p:cNvSpPr/>
          <p:nvPr/>
        </p:nvSpPr>
        <p:spPr>
          <a:xfrm>
            <a:off x="1980651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1"/>
          <p:cNvSpPr/>
          <p:nvPr/>
        </p:nvSpPr>
        <p:spPr>
          <a:xfrm>
            <a:off x="2542581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1"/>
          <p:cNvSpPr/>
          <p:nvPr/>
        </p:nvSpPr>
        <p:spPr>
          <a:xfrm>
            <a:off x="3104510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1"/>
          <p:cNvSpPr/>
          <p:nvPr/>
        </p:nvSpPr>
        <p:spPr>
          <a:xfrm>
            <a:off x="5428849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1"/>
          <p:cNvSpPr/>
          <p:nvPr/>
        </p:nvSpPr>
        <p:spPr>
          <a:xfrm>
            <a:off x="4866940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1"/>
          <p:cNvSpPr/>
          <p:nvPr/>
        </p:nvSpPr>
        <p:spPr>
          <a:xfrm>
            <a:off x="5990759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1"/>
          <p:cNvSpPr/>
          <p:nvPr/>
        </p:nvSpPr>
        <p:spPr>
          <a:xfrm>
            <a:off x="6552669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1"/>
          <p:cNvSpPr/>
          <p:nvPr/>
        </p:nvSpPr>
        <p:spPr>
          <a:xfrm>
            <a:off x="7114578" y="2263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1"/>
          <p:cNvSpPr txBox="1"/>
          <p:nvPr/>
        </p:nvSpPr>
        <p:spPr>
          <a:xfrm>
            <a:off x="323900" y="3375525"/>
            <a:ext cx="8496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Lucas: “The smallest number I can make is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089”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1"/>
          <p:cNvSpPr txBox="1"/>
          <p:nvPr/>
        </p:nvSpPr>
        <p:spPr>
          <a:xfrm>
            <a:off x="324000" y="3991425"/>
            <a:ext cx="8496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number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89 can be made using two leading zeros. (00 889)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3" name="Google Shape;1033;p81"/>
          <p:cNvSpPr txBox="1"/>
          <p:nvPr/>
        </p:nvSpPr>
        <p:spPr>
          <a:xfrm>
            <a:off x="4398900" y="269373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1"/>
          <p:cNvSpPr txBox="1"/>
          <p:nvPr/>
        </p:nvSpPr>
        <p:spPr>
          <a:xfrm>
            <a:off x="344138" y="2693735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82"/>
          <p:cNvSpPr txBox="1"/>
          <p:nvPr/>
        </p:nvSpPr>
        <p:spPr>
          <a:xfrm>
            <a:off x="323900" y="662975"/>
            <a:ext cx="8496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and Lucas are trying to make the smallest values possible using all of their digit cards.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Identify and correct any mistakes in their statements below.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2"/>
          <p:cNvSpPr/>
          <p:nvPr/>
        </p:nvSpPr>
        <p:spPr>
          <a:xfrm>
            <a:off x="932992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2"/>
          <p:cNvSpPr/>
          <p:nvPr/>
        </p:nvSpPr>
        <p:spPr>
          <a:xfrm>
            <a:off x="1494934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2"/>
          <p:cNvSpPr/>
          <p:nvPr/>
        </p:nvSpPr>
        <p:spPr>
          <a:xfrm>
            <a:off x="2056851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2"/>
          <p:cNvSpPr/>
          <p:nvPr/>
        </p:nvSpPr>
        <p:spPr>
          <a:xfrm>
            <a:off x="2618781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2"/>
          <p:cNvSpPr/>
          <p:nvPr/>
        </p:nvSpPr>
        <p:spPr>
          <a:xfrm>
            <a:off x="3180710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2"/>
          <p:cNvSpPr/>
          <p:nvPr/>
        </p:nvSpPr>
        <p:spPr>
          <a:xfrm>
            <a:off x="5505049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2"/>
          <p:cNvSpPr/>
          <p:nvPr/>
        </p:nvSpPr>
        <p:spPr>
          <a:xfrm>
            <a:off x="4943140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2"/>
          <p:cNvSpPr/>
          <p:nvPr/>
        </p:nvSpPr>
        <p:spPr>
          <a:xfrm>
            <a:off x="6066959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2"/>
          <p:cNvSpPr/>
          <p:nvPr/>
        </p:nvSpPr>
        <p:spPr>
          <a:xfrm>
            <a:off x="6628869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2"/>
          <p:cNvSpPr/>
          <p:nvPr/>
        </p:nvSpPr>
        <p:spPr>
          <a:xfrm>
            <a:off x="7190778" y="1987625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2"/>
          <p:cNvSpPr txBox="1"/>
          <p:nvPr/>
        </p:nvSpPr>
        <p:spPr>
          <a:xfrm>
            <a:off x="323900" y="3108750"/>
            <a:ext cx="84960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Jun: “If I swap my 2 for one of Lucas’ 0 cards I can then make the smallest number.”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2"/>
          <p:cNvSpPr txBox="1"/>
          <p:nvPr/>
        </p:nvSpPr>
        <p:spPr>
          <a:xfrm>
            <a:off x="323900" y="4015800"/>
            <a:ext cx="8399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false because Lucas will now have the digit 2 so can make 2889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whereas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smallest number Jun can make is 3357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3" name="Google Shape;1053;p82"/>
          <p:cNvSpPr txBox="1"/>
          <p:nvPr/>
        </p:nvSpPr>
        <p:spPr>
          <a:xfrm>
            <a:off x="4475100" y="241756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2"/>
          <p:cNvSpPr txBox="1"/>
          <p:nvPr/>
        </p:nvSpPr>
        <p:spPr>
          <a:xfrm>
            <a:off x="420338" y="241756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place value </a:t>
            </a:r>
            <a:endParaRPr/>
          </a:p>
        </p:txBody>
      </p:sp>
      <p:sp>
        <p:nvSpPr>
          <p:cNvPr id="1060" name="Google Shape;1060;p8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sums of their digits’ place values</a:t>
            </a:r>
            <a:endParaRPr/>
          </a:p>
        </p:txBody>
      </p:sp>
      <p:sp>
        <p:nvSpPr>
          <p:cNvPr id="1061" name="Google Shape;1061;p8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integers</a:t>
            </a:r>
            <a:endParaRPr/>
          </a:p>
        </p:txBody>
      </p:sp>
      <p:pic>
        <p:nvPicPr>
          <p:cNvPr id="1062" name="Google Shape;106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50" y="279205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digits in integers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4"/>
          <p:cNvSpPr txBox="1"/>
          <p:nvPr>
            <p:ph idx="1" type="body"/>
          </p:nvPr>
        </p:nvSpPr>
        <p:spPr>
          <a:xfrm>
            <a:off x="390225" y="789875"/>
            <a:ext cx="82377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</a:t>
            </a:r>
            <a:r>
              <a:rPr lang="en-GB"/>
              <a:t>integer</a:t>
            </a:r>
            <a:r>
              <a:rPr b="1" lang="en-GB"/>
              <a:t> </a:t>
            </a:r>
            <a:r>
              <a:rPr lang="en-GB"/>
              <a:t>can be written as a sum of the place value of its digits.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sums of their digits’ place values</a:t>
            </a:r>
            <a:endParaRPr sz="2400"/>
          </a:p>
        </p:txBody>
      </p:sp>
      <p:sp>
        <p:nvSpPr>
          <p:cNvPr id="1070" name="Google Shape;1070;p84"/>
          <p:cNvSpPr txBox="1"/>
          <p:nvPr/>
        </p:nvSpPr>
        <p:spPr>
          <a:xfrm>
            <a:off x="340725" y="1754129"/>
            <a:ext cx="882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 526 can be written as 500 + 20 + 6 </a:t>
            </a:r>
            <a:endParaRPr sz="1600"/>
          </a:p>
        </p:txBody>
      </p:sp>
      <p:sp>
        <p:nvSpPr>
          <p:cNvPr id="1071" name="Google Shape;1071;p84"/>
          <p:cNvSpPr txBox="1"/>
          <p:nvPr/>
        </p:nvSpPr>
        <p:spPr>
          <a:xfrm>
            <a:off x="340725" y="2697983"/>
            <a:ext cx="833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works for integers of any size. </a:t>
            </a:r>
            <a:endParaRPr sz="1600"/>
          </a:p>
        </p:txBody>
      </p:sp>
      <p:sp>
        <p:nvSpPr>
          <p:cNvPr id="1072" name="Google Shape;1072;p84"/>
          <p:cNvSpPr txBox="1"/>
          <p:nvPr/>
        </p:nvSpPr>
        <p:spPr>
          <a:xfrm>
            <a:off x="340725" y="3451325"/>
            <a:ext cx="84792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 23 283 can be written as 20 000 + 3000 + 200 + 80 + 3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5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Putting this into a place value chart: </a:t>
            </a:r>
            <a:endParaRPr sz="2000"/>
          </a:p>
        </p:txBody>
      </p:sp>
      <p:sp>
        <p:nvSpPr>
          <p:cNvPr id="1078" name="Google Shape;107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sums of their digits’ place values</a:t>
            </a:r>
            <a:endParaRPr/>
          </a:p>
        </p:txBody>
      </p:sp>
      <p:graphicFrame>
        <p:nvGraphicFramePr>
          <p:cNvPr id="1079" name="Google Shape;1079;p85"/>
          <p:cNvGraphicFramePr/>
          <p:nvPr/>
        </p:nvGraphicFramePr>
        <p:xfrm>
          <a:off x="4606975" y="1225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  <a:gridCol w="684175"/>
                <a:gridCol w="684175"/>
                <a:gridCol w="684175"/>
              </a:tblGrid>
              <a:tr h="72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0" name="Google Shape;1080;p85"/>
          <p:cNvSpPr txBox="1"/>
          <p:nvPr/>
        </p:nvSpPr>
        <p:spPr>
          <a:xfrm>
            <a:off x="324000" y="1970500"/>
            <a:ext cx="142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20 000 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5"/>
          <p:cNvSpPr txBox="1"/>
          <p:nvPr/>
        </p:nvSpPr>
        <p:spPr>
          <a:xfrm>
            <a:off x="1489650" y="1970508"/>
            <a:ext cx="1004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3000 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5"/>
          <p:cNvSpPr txBox="1"/>
          <p:nvPr/>
        </p:nvSpPr>
        <p:spPr>
          <a:xfrm>
            <a:off x="2428500" y="1970508"/>
            <a:ext cx="88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 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5"/>
          <p:cNvSpPr txBox="1"/>
          <p:nvPr/>
        </p:nvSpPr>
        <p:spPr>
          <a:xfrm>
            <a:off x="3248550" y="1970508"/>
            <a:ext cx="72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 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5"/>
          <p:cNvSpPr txBox="1"/>
          <p:nvPr/>
        </p:nvSpPr>
        <p:spPr>
          <a:xfrm>
            <a:off x="3903000" y="1970508"/>
            <a:ext cx="34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5" name="Google Shape;1085;p85"/>
          <p:cNvGraphicFramePr/>
          <p:nvPr/>
        </p:nvGraphicFramePr>
        <p:xfrm>
          <a:off x="4606975" y="1225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84175"/>
                <a:gridCol w="684175"/>
                <a:gridCol w="684175"/>
                <a:gridCol w="684175"/>
                <a:gridCol w="684175"/>
                <a:gridCol w="684175"/>
              </a:tblGrid>
              <a:tr h="72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6" name="Google Shape;1086;p85"/>
          <p:cNvSpPr/>
          <p:nvPr/>
        </p:nvSpPr>
        <p:spPr>
          <a:xfrm>
            <a:off x="5467225" y="2037475"/>
            <a:ext cx="3094500" cy="320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85"/>
          <p:cNvSpPr/>
          <p:nvPr/>
        </p:nvSpPr>
        <p:spPr>
          <a:xfrm>
            <a:off x="6106675" y="2539650"/>
            <a:ext cx="2454900" cy="320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85"/>
          <p:cNvSpPr/>
          <p:nvPr/>
        </p:nvSpPr>
        <p:spPr>
          <a:xfrm>
            <a:off x="6760050" y="3077800"/>
            <a:ext cx="1801500" cy="320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85"/>
          <p:cNvSpPr/>
          <p:nvPr/>
        </p:nvSpPr>
        <p:spPr>
          <a:xfrm>
            <a:off x="7459200" y="3558800"/>
            <a:ext cx="1102200" cy="320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85"/>
          <p:cNvSpPr/>
          <p:nvPr/>
        </p:nvSpPr>
        <p:spPr>
          <a:xfrm>
            <a:off x="8150175" y="4118125"/>
            <a:ext cx="411300" cy="320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6"/>
          <p:cNvSpPr txBox="1"/>
          <p:nvPr>
            <p:ph idx="1" type="body"/>
          </p:nvPr>
        </p:nvSpPr>
        <p:spPr>
          <a:xfrm>
            <a:off x="324000" y="759300"/>
            <a:ext cx="82377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can we write the number below as a sum?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96" name="Google Shape;109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sums of their digits’ place values</a:t>
            </a:r>
            <a:endParaRPr/>
          </a:p>
        </p:txBody>
      </p:sp>
      <p:graphicFrame>
        <p:nvGraphicFramePr>
          <p:cNvPr id="1097" name="Google Shape;1097;p86"/>
          <p:cNvGraphicFramePr/>
          <p:nvPr/>
        </p:nvGraphicFramePr>
        <p:xfrm>
          <a:off x="1287225" y="1279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701250"/>
                <a:gridCol w="701250"/>
                <a:gridCol w="701250"/>
                <a:gridCol w="701250"/>
                <a:gridCol w="701250"/>
                <a:gridCol w="701250"/>
                <a:gridCol w="701250"/>
                <a:gridCol w="701250"/>
                <a:gridCol w="701250"/>
              </a:tblGrid>
              <a:tr h="72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8" name="Google Shape;1098;p86"/>
          <p:cNvSpPr txBox="1"/>
          <p:nvPr/>
        </p:nvSpPr>
        <p:spPr>
          <a:xfrm>
            <a:off x="324000" y="2792350"/>
            <a:ext cx="4573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5 000 000 + 80 000 + 3000 + 50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6"/>
          <p:cNvSpPr txBox="1"/>
          <p:nvPr/>
        </p:nvSpPr>
        <p:spPr>
          <a:xfrm>
            <a:off x="324000" y="3473250"/>
            <a:ext cx="8341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Notice, where we have a digit of zero it is more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efficient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not to include this in our sum.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6"/>
          <p:cNvSpPr txBox="1"/>
          <p:nvPr/>
        </p:nvSpPr>
        <p:spPr>
          <a:xfrm>
            <a:off x="3545625" y="2086975"/>
            <a:ext cx="414300" cy="374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6"/>
          <p:cNvSpPr txBox="1"/>
          <p:nvPr/>
        </p:nvSpPr>
        <p:spPr>
          <a:xfrm>
            <a:off x="5631400" y="2086975"/>
            <a:ext cx="414300" cy="374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6"/>
          <p:cNvSpPr txBox="1"/>
          <p:nvPr/>
        </p:nvSpPr>
        <p:spPr>
          <a:xfrm>
            <a:off x="7045875" y="2086975"/>
            <a:ext cx="414300" cy="374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7"/>
          <p:cNvSpPr txBox="1"/>
          <p:nvPr>
            <p:ph idx="1" type="body"/>
          </p:nvPr>
        </p:nvSpPr>
        <p:spPr>
          <a:xfrm>
            <a:off x="324000" y="759300"/>
            <a:ext cx="82377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also write this sum considering the value of each digit as a multiple of 1, 10, 100, 1000…</a:t>
            </a:r>
            <a:endParaRPr sz="2000"/>
          </a:p>
        </p:txBody>
      </p:sp>
      <p:sp>
        <p:nvSpPr>
          <p:cNvPr id="1108" name="Google Shape;110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sums of their digits’ place values</a:t>
            </a:r>
            <a:endParaRPr/>
          </a:p>
        </p:txBody>
      </p:sp>
      <p:sp>
        <p:nvSpPr>
          <p:cNvPr id="1109" name="Google Shape;1109;p87"/>
          <p:cNvSpPr txBox="1"/>
          <p:nvPr/>
        </p:nvSpPr>
        <p:spPr>
          <a:xfrm>
            <a:off x="324000" y="279235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value 5 000 000 can be thought of as 5 lots of 1 000 000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7"/>
          <p:cNvSpPr txBox="1"/>
          <p:nvPr/>
        </p:nvSpPr>
        <p:spPr>
          <a:xfrm>
            <a:off x="324000" y="332085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is the same as 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1 000 000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7"/>
          <p:cNvSpPr txBox="1"/>
          <p:nvPr/>
        </p:nvSpPr>
        <p:spPr>
          <a:xfrm>
            <a:off x="324000" y="383420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 this integer could also be written as: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7"/>
          <p:cNvSpPr txBox="1"/>
          <p:nvPr/>
        </p:nvSpPr>
        <p:spPr>
          <a:xfrm>
            <a:off x="324000" y="4325650"/>
            <a:ext cx="1853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1 000 000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13" name="Google Shape;1113;p87"/>
          <p:cNvGraphicFramePr/>
          <p:nvPr/>
        </p:nvGraphicFramePr>
        <p:xfrm>
          <a:off x="1373063" y="154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{C4C4FF8C-8265-42C8-9D18-C3D103282B1C}</a:tableStyleId>
              </a:tblPr>
              <a:tblGrid>
                <a:gridCol w="697525"/>
                <a:gridCol w="697525"/>
                <a:gridCol w="697525"/>
                <a:gridCol w="697525"/>
                <a:gridCol w="697525"/>
                <a:gridCol w="697525"/>
                <a:gridCol w="697525"/>
                <a:gridCol w="697525"/>
                <a:gridCol w="697525"/>
              </a:tblGrid>
              <a:tr h="72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4" name="Google Shape;1114;p87"/>
          <p:cNvSpPr txBox="1"/>
          <p:nvPr/>
        </p:nvSpPr>
        <p:spPr>
          <a:xfrm>
            <a:off x="2920550" y="2325300"/>
            <a:ext cx="414300" cy="374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7"/>
          <p:cNvSpPr txBox="1"/>
          <p:nvPr/>
        </p:nvSpPr>
        <p:spPr>
          <a:xfrm>
            <a:off x="2088000" y="4325650"/>
            <a:ext cx="172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+ 8 × 10 000 </a:t>
            </a:r>
            <a:endParaRPr/>
          </a:p>
        </p:txBody>
      </p:sp>
      <p:sp>
        <p:nvSpPr>
          <p:cNvPr id="1116" name="Google Shape;1116;p87"/>
          <p:cNvSpPr txBox="1"/>
          <p:nvPr/>
        </p:nvSpPr>
        <p:spPr>
          <a:xfrm>
            <a:off x="4317225" y="2325300"/>
            <a:ext cx="414300" cy="374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7"/>
          <p:cNvSpPr txBox="1"/>
          <p:nvPr/>
        </p:nvSpPr>
        <p:spPr>
          <a:xfrm>
            <a:off x="3720600" y="4325650"/>
            <a:ext cx="148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+ 3 × 1000 </a:t>
            </a:r>
            <a:endParaRPr/>
          </a:p>
        </p:txBody>
      </p:sp>
      <p:sp>
        <p:nvSpPr>
          <p:cNvPr id="1118" name="Google Shape;1118;p87"/>
          <p:cNvSpPr txBox="1"/>
          <p:nvPr/>
        </p:nvSpPr>
        <p:spPr>
          <a:xfrm>
            <a:off x="4983975" y="2325300"/>
            <a:ext cx="414300" cy="374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7"/>
          <p:cNvSpPr txBox="1"/>
          <p:nvPr/>
        </p:nvSpPr>
        <p:spPr>
          <a:xfrm>
            <a:off x="5114100" y="4325650"/>
            <a:ext cx="112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+ 5 × 10 </a:t>
            </a:r>
            <a:endParaRPr/>
          </a:p>
        </p:txBody>
      </p:sp>
      <p:sp>
        <p:nvSpPr>
          <p:cNvPr id="1120" name="Google Shape;1120;p87"/>
          <p:cNvSpPr txBox="1"/>
          <p:nvPr/>
        </p:nvSpPr>
        <p:spPr>
          <a:xfrm>
            <a:off x="6393975" y="2325300"/>
            <a:ext cx="414300" cy="374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sums of their digits’ place values</a:t>
            </a:r>
            <a:endParaRPr/>
          </a:p>
        </p:txBody>
      </p:sp>
      <p:sp>
        <p:nvSpPr>
          <p:cNvPr id="1126" name="Google Shape;1126;p8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× 1000 + 2 × 1 + 0 × 10 + 7 × 100</a:t>
            </a:r>
            <a:endParaRPr/>
          </a:p>
        </p:txBody>
      </p:sp>
      <p:sp>
        <p:nvSpPr>
          <p:cNvPr id="1127" name="Google Shape;1127;p8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of these show a correct way of writing 1702?</a:t>
            </a:r>
            <a:endParaRPr/>
          </a:p>
        </p:txBody>
      </p:sp>
      <p:sp>
        <p:nvSpPr>
          <p:cNvPr id="1128" name="Google Shape;1128;p8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 × 100 + 1 × 10 + 1 × 1000 + 2 × 1</a:t>
            </a:r>
            <a:endParaRPr/>
          </a:p>
        </p:txBody>
      </p:sp>
      <p:sp>
        <p:nvSpPr>
          <p:cNvPr id="1129" name="Google Shape;1129;p8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× 1 + 7 × 1000 + 1 ×  100</a:t>
            </a:r>
            <a:endParaRPr/>
          </a:p>
        </p:txBody>
      </p:sp>
      <p:sp>
        <p:nvSpPr>
          <p:cNvPr id="1130" name="Google Shape;1130;p8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× 1 + 1 × 1000 + 7 × 100</a:t>
            </a:r>
            <a:endParaRPr/>
          </a:p>
        </p:txBody>
      </p:sp>
      <p:pic>
        <p:nvPicPr>
          <p:cNvPr id="1131" name="Google Shape;113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8" y="40230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88"/>
          <p:cNvSpPr txBox="1"/>
          <p:nvPr/>
        </p:nvSpPr>
        <p:spPr>
          <a:xfrm>
            <a:off x="5913750" y="1501763"/>
            <a:ext cx="3090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Although equivalent to d,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where there is a digit of zero it is more efficient not to include this in the sum.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33" name="Google Shape;113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108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89"/>
          <p:cNvSpPr txBox="1"/>
          <p:nvPr>
            <p:ph idx="1" type="body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Fill in</a:t>
            </a:r>
            <a:r>
              <a:rPr lang="en-GB" sz="2000"/>
              <a:t> the blanks: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1) 2372 = 2000</a:t>
            </a:r>
            <a:r>
              <a:rPr lang="en-GB" sz="2000"/>
              <a:t> +</a:t>
            </a:r>
            <a:r>
              <a:rPr lang="en-GB" sz="2000" u="sng"/>
              <a:t>             </a:t>
            </a:r>
            <a:r>
              <a:rPr lang="en-GB" sz="2000"/>
              <a:t>+ 70 + 2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2) 36 220 =</a:t>
            </a:r>
            <a:r>
              <a:rPr lang="en-GB" sz="2000" u="sng"/>
              <a:t>             </a:t>
            </a:r>
            <a:r>
              <a:rPr lang="en-GB" sz="2000"/>
              <a:t>+ 60</a:t>
            </a:r>
            <a:r>
              <a:rPr lang="en-GB" sz="2000"/>
              <a:t>00 + 200 + 20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3) </a:t>
            </a:r>
            <a:r>
              <a:rPr lang="en-GB" sz="2000"/>
              <a:t>8</a:t>
            </a:r>
            <a:r>
              <a:rPr lang="en-GB" sz="2000" u="sng"/>
              <a:t>    </a:t>
            </a:r>
            <a:r>
              <a:rPr lang="en-GB" sz="2000"/>
              <a:t>8 = 800 +</a:t>
            </a:r>
            <a:r>
              <a:rPr lang="en-GB" sz="2000" u="sng"/>
              <a:t>             </a:t>
            </a:r>
            <a:r>
              <a:rPr lang="en-GB" sz="2000"/>
              <a:t>+ 8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/>
              <a:t>       </a:t>
            </a:r>
            <a:r>
              <a:rPr lang="en-GB" sz="2000" u="sng"/>
              <a:t>   </a:t>
            </a:r>
            <a:r>
              <a:rPr lang="en-GB" sz="1800" u="sng"/>
              <a:t>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9" name="Google Shape;1139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sums of their digits’ place values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89"/>
          <p:cNvSpPr txBox="1"/>
          <p:nvPr/>
        </p:nvSpPr>
        <p:spPr>
          <a:xfrm>
            <a:off x="1238400" y="1816050"/>
            <a:ext cx="54165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 ×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+ 3 × 100 + 7 × 10 + 2 × 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9"/>
          <p:cNvSpPr txBox="1"/>
          <p:nvPr/>
        </p:nvSpPr>
        <p:spPr>
          <a:xfrm>
            <a:off x="1480200" y="31876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 ×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+ 6 × 1000 + 2 × 100 +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9"/>
          <p:cNvSpPr txBox="1"/>
          <p:nvPr/>
        </p:nvSpPr>
        <p:spPr>
          <a:xfrm>
            <a:off x="1278000" y="4406850"/>
            <a:ext cx="54165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100 + 5 × 10 + 8 ×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0"/>
          <p:cNvSpPr txBox="1"/>
          <p:nvPr>
            <p:ph idx="1" type="body"/>
          </p:nvPr>
        </p:nvSpPr>
        <p:spPr>
          <a:xfrm>
            <a:off x="324000" y="759300"/>
            <a:ext cx="8839200" cy="39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Fill in the blanks: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4) </a:t>
            </a:r>
            <a:r>
              <a:rPr lang="en-GB" sz="2000"/>
              <a:t>5 003 009 = 9 + 5 000 000 +</a:t>
            </a:r>
            <a:r>
              <a:rPr lang="en-GB" sz="2000" u="sng"/>
              <a:t>             </a:t>
            </a:r>
            <a:r>
              <a:rPr lang="en-GB" sz="2000" u="sng">
                <a:solidFill>
                  <a:schemeClr val="lt1"/>
                </a:solidFill>
              </a:rPr>
              <a:t>.</a:t>
            </a:r>
            <a:endParaRPr sz="2000" u="sng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     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5) 1</a:t>
            </a:r>
            <a:r>
              <a:rPr lang="en-GB" sz="2000"/>
              <a:t>7  </a:t>
            </a:r>
            <a:r>
              <a:rPr lang="en-GB" sz="2000" u="sng"/>
              <a:t>    </a:t>
            </a:r>
            <a:r>
              <a:rPr lang="en-GB" sz="2000"/>
              <a:t>06 = 7000 + 6 + 10 000 +</a:t>
            </a:r>
            <a:r>
              <a:rPr lang="en-GB" sz="2000" u="sng"/>
              <a:t>             </a:t>
            </a:r>
            <a:r>
              <a:rPr lang="en-GB" sz="2000" u="sng">
                <a:solidFill>
                  <a:schemeClr val="lt1"/>
                </a:solidFill>
              </a:rPr>
              <a:t>.</a:t>
            </a:r>
            <a:r>
              <a:rPr lang="en-GB" sz="2000" u="sng"/>
              <a:t> </a:t>
            </a:r>
            <a:r>
              <a:rPr lang="en-GB" sz="2000"/>
              <a:t>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  </a:t>
            </a:r>
            <a:r>
              <a:rPr lang="en-GB" sz="2000"/>
              <a:t>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6) </a:t>
            </a:r>
            <a:r>
              <a:rPr lang="en-GB" sz="2000"/>
              <a:t>300  </a:t>
            </a:r>
            <a:r>
              <a:rPr lang="en-GB" sz="2000" u="sng"/>
              <a:t>    </a:t>
            </a:r>
            <a:r>
              <a:rPr lang="en-GB" sz="2000"/>
              <a:t>80 =</a:t>
            </a:r>
            <a:r>
              <a:rPr lang="en-GB" sz="2000" u="sng"/>
              <a:t>             </a:t>
            </a:r>
            <a:r>
              <a:rPr lang="en-GB" sz="2000"/>
              <a:t>+ 200 + 300 000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            </a:t>
            </a:r>
            <a:endParaRPr sz="2000"/>
          </a:p>
        </p:txBody>
      </p:sp>
      <p:sp>
        <p:nvSpPr>
          <p:cNvPr id="1148" name="Google Shape;1148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sums of their digits’ place values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90"/>
          <p:cNvSpPr txBox="1"/>
          <p:nvPr/>
        </p:nvSpPr>
        <p:spPr>
          <a:xfrm>
            <a:off x="1432800" y="17398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 + 3 ×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+ 5 × 1 000 000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0"/>
          <p:cNvSpPr txBox="1"/>
          <p:nvPr/>
        </p:nvSpPr>
        <p:spPr>
          <a:xfrm>
            <a:off x="1708800" y="30352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1000 + 6 × 1  + 6 × 100 + 1 × 10 000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90"/>
          <p:cNvSpPr txBox="1"/>
          <p:nvPr/>
        </p:nvSpPr>
        <p:spPr>
          <a:xfrm>
            <a:off x="1872000" y="44068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×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100 + 3 × 100 000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1"/>
          <p:cNvSpPr txBox="1"/>
          <p:nvPr>
            <p:ph idx="1" type="body"/>
          </p:nvPr>
        </p:nvSpPr>
        <p:spPr>
          <a:xfrm>
            <a:off x="324000" y="751050"/>
            <a:ext cx="8496000" cy="40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Fill in the blanks: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2372 = 2000 +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300 </a:t>
            </a:r>
            <a:r>
              <a:rPr lang="en-GB" sz="2000"/>
              <a:t>+ 70 + 2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2) </a:t>
            </a:r>
            <a:r>
              <a:rPr lang="en-GB" sz="2000"/>
              <a:t>36 220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30 000</a:t>
            </a:r>
            <a:r>
              <a:rPr lang="en-GB" sz="2000"/>
              <a:t> + 6000 + 200 + 20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3) </a:t>
            </a:r>
            <a:r>
              <a:rPr lang="en-GB" sz="2000"/>
              <a:t>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/>
              <a:t>8 = 800 +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 sz="2000"/>
              <a:t> + 8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7" name="Google Shape;1157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sums of their digits’ place values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1"/>
          <p:cNvSpPr txBox="1"/>
          <p:nvPr/>
        </p:nvSpPr>
        <p:spPr>
          <a:xfrm>
            <a:off x="1234800" y="17398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 ×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+ 3 × 100 + 7 × 10 + 2 × 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1"/>
          <p:cNvSpPr txBox="1"/>
          <p:nvPr/>
        </p:nvSpPr>
        <p:spPr>
          <a:xfrm>
            <a:off x="1483200" y="30352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 ×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10 000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+ 6 × 1000 + 2 × 100 +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1"/>
          <p:cNvSpPr txBox="1"/>
          <p:nvPr/>
        </p:nvSpPr>
        <p:spPr>
          <a:xfrm>
            <a:off x="1128000" y="43306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100 + 5 × 10 + 8 ×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2"/>
          <p:cNvSpPr txBox="1"/>
          <p:nvPr>
            <p:ph idx="1" type="body"/>
          </p:nvPr>
        </p:nvSpPr>
        <p:spPr>
          <a:xfrm>
            <a:off x="324000" y="759300"/>
            <a:ext cx="8839200" cy="39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Fill in the blanks: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4) </a:t>
            </a:r>
            <a:r>
              <a:rPr lang="en-GB" sz="2000"/>
              <a:t>5 003 009 = 9 + 5 000 000 +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3000</a:t>
            </a:r>
            <a:r>
              <a:rPr lang="en-GB" sz="2000"/>
              <a:t>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     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5) 1</a:t>
            </a:r>
            <a:r>
              <a:rPr lang="en-GB" sz="2000"/>
              <a:t>7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/>
              <a:t>06 = 7000 + 6 + 10 000 +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600</a:t>
            </a:r>
            <a:r>
              <a:rPr lang="en-GB" sz="2000"/>
              <a:t>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6) </a:t>
            </a:r>
            <a:r>
              <a:rPr lang="en-GB" sz="2000"/>
              <a:t>300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/>
              <a:t>80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80 </a:t>
            </a:r>
            <a:r>
              <a:rPr lang="en-GB" sz="2000"/>
              <a:t>+ 200 + 300 000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          </a:t>
            </a:r>
            <a:endParaRPr sz="2000"/>
          </a:p>
        </p:txBody>
      </p:sp>
      <p:sp>
        <p:nvSpPr>
          <p:cNvPr id="1166" name="Google Shape;1166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sums of their digits’ place values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2"/>
          <p:cNvSpPr txBox="1"/>
          <p:nvPr/>
        </p:nvSpPr>
        <p:spPr>
          <a:xfrm>
            <a:off x="1897200" y="17398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 + 3 ×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1000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+ 5 × 1 000 000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92"/>
          <p:cNvSpPr txBox="1"/>
          <p:nvPr/>
        </p:nvSpPr>
        <p:spPr>
          <a:xfrm>
            <a:off x="1486800" y="30352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1000 + 6 × 1  + 6 × 100 + 1 × 10 000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2"/>
          <p:cNvSpPr txBox="1"/>
          <p:nvPr/>
        </p:nvSpPr>
        <p:spPr>
          <a:xfrm>
            <a:off x="1677600" y="4330650"/>
            <a:ext cx="6606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×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100 + 3 × 100 000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9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place value </a:t>
            </a:r>
            <a:endParaRPr/>
          </a:p>
        </p:txBody>
      </p:sp>
      <p:sp>
        <p:nvSpPr>
          <p:cNvPr id="1175" name="Google Shape;1175;p9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sums of their digits’ place values</a:t>
            </a:r>
            <a:endParaRPr/>
          </a:p>
        </p:txBody>
      </p:sp>
      <p:sp>
        <p:nvSpPr>
          <p:cNvPr id="1176" name="Google Shape;1176;p9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177" name="Google Shape;1177;p9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integers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8" name="Google Shape;117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875" y="371955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94"/>
          <p:cNvSpPr/>
          <p:nvPr/>
        </p:nvSpPr>
        <p:spPr>
          <a:xfrm>
            <a:off x="2903400" y="1736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3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94"/>
          <p:cNvSpPr/>
          <p:nvPr/>
        </p:nvSpPr>
        <p:spPr>
          <a:xfrm>
            <a:off x="5219525" y="1736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186" name="Google Shape;1186;p94"/>
          <p:cNvSpPr txBox="1"/>
          <p:nvPr>
            <p:ph idx="1" type="body"/>
          </p:nvPr>
        </p:nvSpPr>
        <p:spPr>
          <a:xfrm>
            <a:off x="324000" y="74445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many cases, moving the digits of an integer into another place value column alters the value of the integer. </a:t>
            </a:r>
            <a:endParaRPr sz="2000"/>
          </a:p>
        </p:txBody>
      </p:sp>
      <p:sp>
        <p:nvSpPr>
          <p:cNvPr id="1187" name="Google Shape;1187;p94"/>
          <p:cNvSpPr/>
          <p:nvPr/>
        </p:nvSpPr>
        <p:spPr>
          <a:xfrm>
            <a:off x="2903413" y="1736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4"/>
          <p:cNvSpPr/>
          <p:nvPr/>
        </p:nvSpPr>
        <p:spPr>
          <a:xfrm>
            <a:off x="4061481" y="1736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94"/>
          <p:cNvSpPr/>
          <p:nvPr/>
        </p:nvSpPr>
        <p:spPr>
          <a:xfrm>
            <a:off x="5219550" y="1736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3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94"/>
          <p:cNvSpPr txBox="1"/>
          <p:nvPr>
            <p:ph idx="1" type="body"/>
          </p:nvPr>
        </p:nvSpPr>
        <p:spPr>
          <a:xfrm>
            <a:off x="324000" y="303060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have increased the value of the integer by moving the largest digit into the hundreds place.</a:t>
            </a:r>
            <a:endParaRPr sz="2000"/>
          </a:p>
        </p:txBody>
      </p:sp>
      <p:sp>
        <p:nvSpPr>
          <p:cNvPr id="1191" name="Google Shape;1191;p94"/>
          <p:cNvSpPr txBox="1"/>
          <p:nvPr>
            <p:ph idx="1" type="body"/>
          </p:nvPr>
        </p:nvSpPr>
        <p:spPr>
          <a:xfrm>
            <a:off x="324000" y="393265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many different integers can you make from these three digits?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197" name="Google Shape;1197;p95"/>
          <p:cNvSpPr txBox="1"/>
          <p:nvPr>
            <p:ph idx="1" type="body"/>
          </p:nvPr>
        </p:nvSpPr>
        <p:spPr>
          <a:xfrm>
            <a:off x="376950" y="203535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With three unique digits we can make six different integers: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8" name="Google Shape;1198;p95"/>
          <p:cNvSpPr txBox="1"/>
          <p:nvPr>
            <p:ph idx="1" type="body"/>
          </p:nvPr>
        </p:nvSpPr>
        <p:spPr>
          <a:xfrm>
            <a:off x="2633213" y="2571750"/>
            <a:ext cx="8604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123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132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9" name="Google Shape;1199;p95"/>
          <p:cNvSpPr txBox="1"/>
          <p:nvPr>
            <p:ph idx="1" type="body"/>
          </p:nvPr>
        </p:nvSpPr>
        <p:spPr>
          <a:xfrm>
            <a:off x="4234163" y="2571750"/>
            <a:ext cx="8604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213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231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95"/>
          <p:cNvSpPr txBox="1"/>
          <p:nvPr>
            <p:ph idx="1" type="body"/>
          </p:nvPr>
        </p:nvSpPr>
        <p:spPr>
          <a:xfrm>
            <a:off x="5650388" y="2571750"/>
            <a:ext cx="8604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312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321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95"/>
          <p:cNvSpPr txBox="1"/>
          <p:nvPr>
            <p:ph idx="1" type="body"/>
          </p:nvPr>
        </p:nvSpPr>
        <p:spPr>
          <a:xfrm>
            <a:off x="376950" y="384835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think of a 3-digit integer that will not change its value when its digits are rearranged?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02" name="Google Shape;1202;p95"/>
          <p:cNvSpPr/>
          <p:nvPr/>
        </p:nvSpPr>
        <p:spPr>
          <a:xfrm>
            <a:off x="2907525" y="78802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95"/>
          <p:cNvSpPr/>
          <p:nvPr/>
        </p:nvSpPr>
        <p:spPr>
          <a:xfrm>
            <a:off x="4065594" y="78802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5"/>
          <p:cNvSpPr/>
          <p:nvPr/>
        </p:nvSpPr>
        <p:spPr>
          <a:xfrm>
            <a:off x="5223663" y="78802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3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6"/>
          <p:cNvSpPr/>
          <p:nvPr/>
        </p:nvSpPr>
        <p:spPr>
          <a:xfrm>
            <a:off x="3049175" y="1577550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96"/>
          <p:cNvSpPr/>
          <p:nvPr/>
        </p:nvSpPr>
        <p:spPr>
          <a:xfrm>
            <a:off x="5194875" y="1577550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212" name="Google Shape;1212;p96"/>
          <p:cNvSpPr txBox="1"/>
          <p:nvPr>
            <p:ph idx="1" type="body"/>
          </p:nvPr>
        </p:nvSpPr>
        <p:spPr>
          <a:xfrm>
            <a:off x="304225" y="809612"/>
            <a:ext cx="84960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two or more digits are the same, we can swap the digits and keep the value the same.</a:t>
            </a:r>
            <a:endParaRPr sz="2000"/>
          </a:p>
        </p:txBody>
      </p:sp>
      <p:sp>
        <p:nvSpPr>
          <p:cNvPr id="1213" name="Google Shape;1213;p96"/>
          <p:cNvSpPr/>
          <p:nvPr/>
        </p:nvSpPr>
        <p:spPr>
          <a:xfrm>
            <a:off x="3049175" y="1577550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6"/>
          <p:cNvSpPr/>
          <p:nvPr/>
        </p:nvSpPr>
        <p:spPr>
          <a:xfrm>
            <a:off x="4122025" y="1551787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96"/>
          <p:cNvSpPr/>
          <p:nvPr/>
        </p:nvSpPr>
        <p:spPr>
          <a:xfrm>
            <a:off x="5194875" y="1577550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96"/>
          <p:cNvSpPr txBox="1"/>
          <p:nvPr>
            <p:ph idx="1" type="body"/>
          </p:nvPr>
        </p:nvSpPr>
        <p:spPr>
          <a:xfrm>
            <a:off x="304225" y="3723087"/>
            <a:ext cx="8237700" cy="5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many unique 3-digit numbers can we make this time?</a:t>
            </a:r>
            <a:endParaRPr sz="2000"/>
          </a:p>
        </p:txBody>
      </p:sp>
      <p:sp>
        <p:nvSpPr>
          <p:cNvPr id="1217" name="Google Shape;1217;p96"/>
          <p:cNvSpPr txBox="1"/>
          <p:nvPr>
            <p:ph idx="1" type="body"/>
          </p:nvPr>
        </p:nvSpPr>
        <p:spPr>
          <a:xfrm>
            <a:off x="304225" y="4201612"/>
            <a:ext cx="8496000" cy="5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422      242      224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 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96"/>
          <p:cNvSpPr txBox="1"/>
          <p:nvPr>
            <p:ph idx="1" type="body"/>
          </p:nvPr>
        </p:nvSpPr>
        <p:spPr>
          <a:xfrm>
            <a:off x="324000" y="1551787"/>
            <a:ext cx="4095600" cy="5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example:</a:t>
            </a:r>
            <a:endParaRPr sz="2000"/>
          </a:p>
        </p:txBody>
      </p:sp>
      <p:sp>
        <p:nvSpPr>
          <p:cNvPr id="1219" name="Google Shape;1219;p96"/>
          <p:cNvSpPr txBox="1"/>
          <p:nvPr>
            <p:ph idx="1" type="body"/>
          </p:nvPr>
        </p:nvSpPr>
        <p:spPr>
          <a:xfrm>
            <a:off x="304225" y="2861862"/>
            <a:ext cx="8496000" cy="5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have swapped the hundreds digit with the ones digit but the value of the integer remains the same.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225" name="Google Shape;1225;p97"/>
          <p:cNvSpPr txBox="1"/>
          <p:nvPr>
            <p:ph idx="1" type="body"/>
          </p:nvPr>
        </p:nvSpPr>
        <p:spPr>
          <a:xfrm>
            <a:off x="373500" y="88620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place a leading zero at the front of an integer to keep the value of the integer the same.</a:t>
            </a:r>
            <a:endParaRPr/>
          </a:p>
        </p:txBody>
      </p:sp>
      <p:sp>
        <p:nvSpPr>
          <p:cNvPr id="1226" name="Google Shape;1226;p97"/>
          <p:cNvSpPr/>
          <p:nvPr/>
        </p:nvSpPr>
        <p:spPr>
          <a:xfrm>
            <a:off x="3062358" y="18128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7"/>
          <p:cNvSpPr/>
          <p:nvPr/>
        </p:nvSpPr>
        <p:spPr>
          <a:xfrm>
            <a:off x="4148392" y="18128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7"/>
          <p:cNvSpPr/>
          <p:nvPr/>
        </p:nvSpPr>
        <p:spPr>
          <a:xfrm>
            <a:off x="5234425" y="18128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7"/>
          <p:cNvSpPr/>
          <p:nvPr/>
        </p:nvSpPr>
        <p:spPr>
          <a:xfrm>
            <a:off x="1976325" y="18128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7"/>
          <p:cNvSpPr txBox="1"/>
          <p:nvPr>
            <p:ph idx="1" type="body"/>
          </p:nvPr>
        </p:nvSpPr>
        <p:spPr>
          <a:xfrm>
            <a:off x="324000" y="324905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improve efficiency we do not include leading zeros when writing integers.</a:t>
            </a:r>
            <a:endParaRPr/>
          </a:p>
        </p:txBody>
      </p:sp>
      <p:sp>
        <p:nvSpPr>
          <p:cNvPr id="1231" name="Google Shape;1231;p97"/>
          <p:cNvSpPr txBox="1"/>
          <p:nvPr>
            <p:ph idx="1" type="body"/>
          </p:nvPr>
        </p:nvSpPr>
        <p:spPr>
          <a:xfrm>
            <a:off x="324000" y="416125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above would be written as 242.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237" name="Google Shape;1237;p98"/>
          <p:cNvSpPr/>
          <p:nvPr/>
        </p:nvSpPr>
        <p:spPr>
          <a:xfrm>
            <a:off x="3062158" y="21938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8"/>
          <p:cNvSpPr/>
          <p:nvPr/>
        </p:nvSpPr>
        <p:spPr>
          <a:xfrm>
            <a:off x="4141800" y="21938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8"/>
          <p:cNvSpPr/>
          <p:nvPr/>
        </p:nvSpPr>
        <p:spPr>
          <a:xfrm>
            <a:off x="1975725" y="21938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98"/>
          <p:cNvSpPr/>
          <p:nvPr/>
        </p:nvSpPr>
        <p:spPr>
          <a:xfrm>
            <a:off x="5221442" y="21938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8"/>
          <p:cNvSpPr txBox="1"/>
          <p:nvPr>
            <p:ph idx="1" type="body"/>
          </p:nvPr>
        </p:nvSpPr>
        <p:spPr>
          <a:xfrm>
            <a:off x="376950" y="377700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above would be written as 2240.</a:t>
            </a:r>
            <a:endParaRPr/>
          </a:p>
        </p:txBody>
      </p:sp>
      <p:sp>
        <p:nvSpPr>
          <p:cNvPr id="1242" name="Google Shape;1242;p98"/>
          <p:cNvSpPr txBox="1"/>
          <p:nvPr>
            <p:ph idx="1" type="body"/>
          </p:nvPr>
        </p:nvSpPr>
        <p:spPr>
          <a:xfrm>
            <a:off x="376950" y="867288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Zero placed within, or at the end of, an integer does change the value of the </a:t>
            </a:r>
            <a:r>
              <a:rPr lang="en-GB"/>
              <a:t>integer</a:t>
            </a:r>
            <a:r>
              <a:rPr lang="en-GB"/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99"/>
          <p:cNvSpPr/>
          <p:nvPr/>
        </p:nvSpPr>
        <p:spPr>
          <a:xfrm>
            <a:off x="4140071" y="2117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249" name="Google Shape;1249;p99"/>
          <p:cNvSpPr/>
          <p:nvPr/>
        </p:nvSpPr>
        <p:spPr>
          <a:xfrm>
            <a:off x="3062158" y="2117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9"/>
          <p:cNvSpPr/>
          <p:nvPr/>
        </p:nvSpPr>
        <p:spPr>
          <a:xfrm>
            <a:off x="4141800" y="2117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9"/>
          <p:cNvSpPr/>
          <p:nvPr/>
        </p:nvSpPr>
        <p:spPr>
          <a:xfrm>
            <a:off x="1975725" y="2117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99"/>
          <p:cNvSpPr txBox="1"/>
          <p:nvPr>
            <p:ph idx="1" type="body"/>
          </p:nvPr>
        </p:nvSpPr>
        <p:spPr>
          <a:xfrm>
            <a:off x="376950" y="3853200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above would be written as 2204.</a:t>
            </a:r>
            <a:endParaRPr/>
          </a:p>
        </p:txBody>
      </p:sp>
      <p:sp>
        <p:nvSpPr>
          <p:cNvPr id="1253" name="Google Shape;1253;p99"/>
          <p:cNvSpPr txBox="1"/>
          <p:nvPr>
            <p:ph idx="1" type="body"/>
          </p:nvPr>
        </p:nvSpPr>
        <p:spPr>
          <a:xfrm>
            <a:off x="376950" y="879663"/>
            <a:ext cx="8237700" cy="10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Zero placed within, or at the end of, an integer does change the value of the integer. </a:t>
            </a:r>
            <a:endParaRPr/>
          </a:p>
        </p:txBody>
      </p:sp>
      <p:sp>
        <p:nvSpPr>
          <p:cNvPr id="1254" name="Google Shape;1254;p99"/>
          <p:cNvSpPr/>
          <p:nvPr/>
        </p:nvSpPr>
        <p:spPr>
          <a:xfrm>
            <a:off x="5221450" y="2117675"/>
            <a:ext cx="860400" cy="10728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260" name="Google Shape;1260;p100"/>
          <p:cNvSpPr txBox="1"/>
          <p:nvPr>
            <p:ph idx="1" type="subTitle"/>
          </p:nvPr>
        </p:nvSpPr>
        <p:spPr>
          <a:xfrm>
            <a:off x="324000" y="1080000"/>
            <a:ext cx="84960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Rearranging the digits in an integer always changes the value of the integer.</a:t>
            </a:r>
            <a:endParaRPr/>
          </a:p>
        </p:txBody>
      </p:sp>
      <p:sp>
        <p:nvSpPr>
          <p:cNvPr id="1261" name="Google Shape;1261;p10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When two or more digits are the same, we can swap the digits and keep the value the same.</a:t>
            </a:r>
            <a:endParaRPr sz="2000"/>
          </a:p>
        </p:txBody>
      </p:sp>
      <p:sp>
        <p:nvSpPr>
          <p:cNvPr id="1262" name="Google Shape;1262;p10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Moving a digit to a different place value will change the value of the digit therefore the value of the integer overall.</a:t>
            </a:r>
            <a:endParaRPr sz="2000"/>
          </a:p>
        </p:txBody>
      </p:sp>
      <p:pic>
        <p:nvPicPr>
          <p:cNvPr id="1263" name="Google Shape;126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883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408" y="324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01"/>
          <p:cNvSpPr txBox="1"/>
          <p:nvPr>
            <p:ph idx="1" type="body"/>
          </p:nvPr>
        </p:nvSpPr>
        <p:spPr>
          <a:xfrm>
            <a:off x="324000" y="759300"/>
            <a:ext cx="8496000" cy="39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Write down all the unique 3-digit integers you can make with the digits below.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lang="en-GB" sz="1800"/>
              <a:t>Choose three digits which can make exactly three unique 3-digit integers.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r>
              <a:rPr lang="en-GB" sz="1800"/>
              <a:t>Choose three digits which can make exactly one unique 3-digit integer.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271" name="Google Shape;1271;p101"/>
          <p:cNvSpPr/>
          <p:nvPr/>
        </p:nvSpPr>
        <p:spPr>
          <a:xfrm>
            <a:off x="4344738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1"/>
          <p:cNvSpPr/>
          <p:nvPr/>
        </p:nvSpPr>
        <p:spPr>
          <a:xfrm>
            <a:off x="3782820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101"/>
          <p:cNvSpPr/>
          <p:nvPr/>
        </p:nvSpPr>
        <p:spPr>
          <a:xfrm>
            <a:off x="4906680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101"/>
          <p:cNvSpPr/>
          <p:nvPr/>
        </p:nvSpPr>
        <p:spPr>
          <a:xfrm>
            <a:off x="4344738" y="40329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5" name="Google Shape;1275;p101"/>
          <p:cNvSpPr/>
          <p:nvPr/>
        </p:nvSpPr>
        <p:spPr>
          <a:xfrm>
            <a:off x="3782820" y="40329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6" name="Google Shape;1276;p101"/>
          <p:cNvSpPr/>
          <p:nvPr/>
        </p:nvSpPr>
        <p:spPr>
          <a:xfrm>
            <a:off x="4906680" y="40329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7" name="Google Shape;1277;p101"/>
          <p:cNvSpPr/>
          <p:nvPr/>
        </p:nvSpPr>
        <p:spPr>
          <a:xfrm>
            <a:off x="4344738" y="2692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8" name="Google Shape;1278;p101"/>
          <p:cNvSpPr/>
          <p:nvPr/>
        </p:nvSpPr>
        <p:spPr>
          <a:xfrm>
            <a:off x="3782820" y="2692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9" name="Google Shape;1279;p101"/>
          <p:cNvSpPr/>
          <p:nvPr/>
        </p:nvSpPr>
        <p:spPr>
          <a:xfrm>
            <a:off x="4906680" y="26928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02"/>
          <p:cNvSpPr txBox="1"/>
          <p:nvPr>
            <p:ph idx="1" type="body"/>
          </p:nvPr>
        </p:nvSpPr>
        <p:spPr>
          <a:xfrm>
            <a:off x="324000" y="759300"/>
            <a:ext cx="8237700" cy="41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Write all the unique 4-digit integers which can be made with the digits below.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5) </a:t>
            </a:r>
            <a:r>
              <a:rPr lang="en-GB" sz="1800"/>
              <a:t>Aisha arranges the digits above to make the largest integer possible. She then takes a zero digit card. Where can she place the zero card so that: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her new integer is the largest 5-digit integer possible?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her new integer is as close to 61 000 as possible?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her new integer is as close to 66 000 as possible?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286" name="Google Shape;1286;p102"/>
          <p:cNvSpPr/>
          <p:nvPr/>
        </p:nvSpPr>
        <p:spPr>
          <a:xfrm>
            <a:off x="4021467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102"/>
          <p:cNvSpPr/>
          <p:nvPr/>
        </p:nvSpPr>
        <p:spPr>
          <a:xfrm>
            <a:off x="3459550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2"/>
          <p:cNvSpPr/>
          <p:nvPr/>
        </p:nvSpPr>
        <p:spPr>
          <a:xfrm>
            <a:off x="4583409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02"/>
          <p:cNvSpPr/>
          <p:nvPr/>
        </p:nvSpPr>
        <p:spPr>
          <a:xfrm>
            <a:off x="5145334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0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Write down all the unique 3-digit integers you can make with the digits below.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lang="en-GB" sz="1800"/>
              <a:t>Choose three digits which can make exactly three unique 3-digit integers.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r>
              <a:rPr lang="en-GB" sz="1800"/>
              <a:t>Choose three digits which can make exactly one</a:t>
            </a:r>
            <a:r>
              <a:rPr b="1" lang="en-GB" sz="1800"/>
              <a:t> </a:t>
            </a:r>
            <a:r>
              <a:rPr lang="en-GB" sz="1800"/>
              <a:t>unique 3-digit integer.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296" name="Google Shape;1296;p103"/>
          <p:cNvSpPr/>
          <p:nvPr/>
        </p:nvSpPr>
        <p:spPr>
          <a:xfrm>
            <a:off x="2878467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03"/>
          <p:cNvSpPr/>
          <p:nvPr/>
        </p:nvSpPr>
        <p:spPr>
          <a:xfrm>
            <a:off x="2316550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3"/>
          <p:cNvSpPr/>
          <p:nvPr/>
        </p:nvSpPr>
        <p:spPr>
          <a:xfrm>
            <a:off x="3440409" y="12765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3"/>
          <p:cNvSpPr txBox="1"/>
          <p:nvPr/>
        </p:nvSpPr>
        <p:spPr>
          <a:xfrm>
            <a:off x="4137125" y="1281800"/>
            <a:ext cx="47592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129, 192, 219, 291, 912, 921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0" name="Google Shape;1300;p103"/>
          <p:cNvSpPr txBox="1"/>
          <p:nvPr/>
        </p:nvSpPr>
        <p:spPr>
          <a:xfrm>
            <a:off x="324000" y="2616525"/>
            <a:ext cx="8496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Any three non-zero digits where two digits are the same. E.g. 121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1" name="Google Shape;1301;p103"/>
          <p:cNvSpPr txBox="1"/>
          <p:nvPr/>
        </p:nvSpPr>
        <p:spPr>
          <a:xfrm>
            <a:off x="324000" y="3880350"/>
            <a:ext cx="8496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Any three non-zero digits where all three digits are the same. E.g. 222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04"/>
          <p:cNvSpPr txBox="1"/>
          <p:nvPr>
            <p:ph idx="1" type="body"/>
          </p:nvPr>
        </p:nvSpPr>
        <p:spPr>
          <a:xfrm>
            <a:off x="324000" y="759300"/>
            <a:ext cx="82377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lang="en-GB" sz="1800"/>
              <a:t>Write all the unique 4-digit integers which can be made with the digits below.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308" name="Google Shape;1308;p104"/>
          <p:cNvSpPr/>
          <p:nvPr/>
        </p:nvSpPr>
        <p:spPr>
          <a:xfrm>
            <a:off x="4063775" y="15051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104"/>
          <p:cNvSpPr/>
          <p:nvPr/>
        </p:nvSpPr>
        <p:spPr>
          <a:xfrm>
            <a:off x="3501858" y="15051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4"/>
          <p:cNvSpPr/>
          <p:nvPr/>
        </p:nvSpPr>
        <p:spPr>
          <a:xfrm>
            <a:off x="4625717" y="15051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/>
          <p:nvPr/>
        </p:nvSpPr>
        <p:spPr>
          <a:xfrm>
            <a:off x="5187642" y="1505100"/>
            <a:ext cx="454500" cy="53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04"/>
          <p:cNvSpPr txBox="1"/>
          <p:nvPr/>
        </p:nvSpPr>
        <p:spPr>
          <a:xfrm>
            <a:off x="3002400" y="2273700"/>
            <a:ext cx="31392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5666, 6566, 6656, 6665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3" name="Google Shape;1313;p104"/>
          <p:cNvSpPr txBox="1"/>
          <p:nvPr/>
        </p:nvSpPr>
        <p:spPr>
          <a:xfrm>
            <a:off x="324000" y="3240000"/>
            <a:ext cx="82377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only unique digit is 5. There are four place value columns the 5 could go in so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there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are four unique integers.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05"/>
          <p:cNvSpPr txBox="1"/>
          <p:nvPr>
            <p:ph idx="1" type="body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5) </a:t>
            </a:r>
            <a:r>
              <a:rPr lang="en-GB" sz="1800"/>
              <a:t>Aisha arranges the digits above to make the largest integer possible. She then takes a zero digit card. Where can she place the zero card so that: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her new integer is the largest 5-digit integer possible?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her new integer is as close to 61 000 as possible?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her new integer is as close to 66 000 as possible?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digits in integers </a:t>
            </a:r>
            <a:endParaRPr/>
          </a:p>
        </p:txBody>
      </p:sp>
      <p:sp>
        <p:nvSpPr>
          <p:cNvPr id="1320" name="Google Shape;1320;p105"/>
          <p:cNvSpPr txBox="1"/>
          <p:nvPr/>
        </p:nvSpPr>
        <p:spPr>
          <a:xfrm>
            <a:off x="6825950" y="2021825"/>
            <a:ext cx="15993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66 650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1" name="Google Shape;1321;p105"/>
          <p:cNvSpPr txBox="1"/>
          <p:nvPr/>
        </p:nvSpPr>
        <p:spPr>
          <a:xfrm>
            <a:off x="6825950" y="2778500"/>
            <a:ext cx="15993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60 665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2" name="Google Shape;1322;p105"/>
          <p:cNvSpPr txBox="1"/>
          <p:nvPr/>
        </p:nvSpPr>
        <p:spPr>
          <a:xfrm>
            <a:off x="324000" y="4079350"/>
            <a:ext cx="8496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If we were able to move the other digits around then 66 056 is closer.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105"/>
          <p:cNvSpPr txBox="1"/>
          <p:nvPr/>
        </p:nvSpPr>
        <p:spPr>
          <a:xfrm>
            <a:off x="6825950" y="3503150"/>
            <a:ext cx="15669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66 065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06"/>
          <p:cNvSpPr txBox="1"/>
          <p:nvPr>
            <p:ph idx="1" type="body"/>
          </p:nvPr>
        </p:nvSpPr>
        <p:spPr>
          <a:xfrm>
            <a:off x="324000" y="829800"/>
            <a:ext cx="8248500" cy="40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Knowing the place value of its digits helps us understand the value of an integer.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Integers with five digits or more are written with spaces </a:t>
            </a:r>
            <a:r>
              <a:rPr lang="en-GB" sz="2000"/>
              <a:t>separating</a:t>
            </a:r>
            <a:r>
              <a:rPr lang="en-GB" sz="2000"/>
              <a:t> the thousands.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Any</a:t>
            </a:r>
            <a:r>
              <a:rPr lang="en-GB" sz="2000"/>
              <a:t> integer can be written as the sum of the place value of its digits.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Rearranging</a:t>
            </a:r>
            <a:r>
              <a:rPr lang="en-GB" sz="2000"/>
              <a:t> the digits in an integer can alter its value, however where two or more digits are the same the value may remain the same.</a:t>
            </a:r>
            <a:endParaRPr sz="2000"/>
          </a:p>
        </p:txBody>
      </p:sp>
      <p:sp>
        <p:nvSpPr>
          <p:cNvPr id="1329" name="Google Shape;1329;p106"/>
          <p:cNvSpPr txBox="1"/>
          <p:nvPr>
            <p:ph type="title"/>
          </p:nvPr>
        </p:nvSpPr>
        <p:spPr>
          <a:xfrm>
            <a:off x="1684800" y="95700"/>
            <a:ext cx="688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Securing understanding of place value in integers</a:t>
            </a:r>
            <a:endParaRPr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35" name="Google Shape;1335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