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206">
          <p15:clr>
            <a:srgbClr val="747775"/>
          </p15:clr>
        </p15:guide>
        <p15:guide id="2" pos="4901">
          <p15:clr>
            <a:srgbClr val="747775"/>
          </p15:clr>
        </p15:guide>
        <p15:guide id="3" orient="horz" pos="2948">
          <p15:clr>
            <a:srgbClr val="747775"/>
          </p15:clr>
        </p15:guide>
        <p15:guide id="4" pos="4940">
          <p15:clr>
            <a:srgbClr val="747775"/>
          </p15:clr>
        </p15:guide>
        <p15:guide id="5" orient="horz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686CD2-07DA-4142-ACB4-88F98F3E0F5E}">
  <a:tblStyle styleId="{FF686CD2-07DA-4142-ACB4-88F98F3E0F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06"/>
        <p:guide pos="4901"/>
        <p:guide pos="2948" orient="horz"/>
        <p:guide pos="4940"/>
        <p:guide pos="1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cb7f3ac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cb7f3ac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7f1888524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7f1888524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7cb7f3acae_1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7cb7f3acae_1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7cb7f3acae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7cb7f3acae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7dd6751064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7dd6751064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7dd675106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7dd675106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7dd6751064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7dd6751064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7d62f65e7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7d62f65e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7d62f65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7d62f65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7cb7f3acae_1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7cb7f3acae_1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7d62f65e7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7d62f65e7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7cb7f3acae_1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7cb7f3acae_1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7d62f65e7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7d62f65e7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7d62f65e7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7d62f65e7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7d62f65e7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7d62f65e7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7d62f65e7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7d62f65e7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7d62f65e7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7d62f65e7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7dd6751064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7dd6751064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7d62f65e7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7d62f65e7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7dd675106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7dd675106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7f188852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7f188852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7d62f65e73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7d62f65e73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7d62f65e7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7d62f65e7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7d7ebe194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7d7ebe194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7d7ebe194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7d7ebe194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7d7ebe194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7d7ebe194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7df2ba707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7df2ba707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7d7ebe1946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7d7ebe1946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7d7ebe194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7d7ebe194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7dd675106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7dd675106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7dd675106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7dd675106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7dd675106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7dd675106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7dd6751064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7dd675106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7dd675106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7dd675106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7dd675106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7dd675106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73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3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3.png"/><Relationship Id="rId4" Type="http://schemas.openxmlformats.org/officeDocument/2006/relationships/image" Target="../media/image31.png"/><Relationship Id="rId11" Type="http://schemas.openxmlformats.org/officeDocument/2006/relationships/image" Target="../media/image11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6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6.png"/><Relationship Id="rId8" Type="http://schemas.openxmlformats.org/officeDocument/2006/relationships/image" Target="../media/image6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5" Type="http://schemas.openxmlformats.org/officeDocument/2006/relationships/image" Target="../media/image74.png"/><Relationship Id="rId6" Type="http://schemas.openxmlformats.org/officeDocument/2006/relationships/image" Target="../media/image6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9.png"/><Relationship Id="rId4" Type="http://schemas.openxmlformats.org/officeDocument/2006/relationships/image" Target="../media/image61.png"/><Relationship Id="rId5" Type="http://schemas.openxmlformats.org/officeDocument/2006/relationships/image" Target="../media/image76.png"/><Relationship Id="rId6" Type="http://schemas.openxmlformats.org/officeDocument/2006/relationships/image" Target="../media/image7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column headings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express place value column headings using both exponential and fractional representations.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957000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a number is multiplied by itself multiple times, it can be written more simply in </a:t>
            </a:r>
            <a:r>
              <a:rPr b="1" lang="en-GB"/>
              <a:t>exponential </a:t>
            </a:r>
            <a:r>
              <a:rPr b="1" lang="en-GB"/>
              <a:t>form</a:t>
            </a:r>
            <a:r>
              <a:rPr lang="en-GB"/>
              <a:t>.</a:t>
            </a:r>
            <a:endParaRPr baseline="30000"/>
          </a:p>
        </p:txBody>
      </p:sp>
      <p:sp>
        <p:nvSpPr>
          <p:cNvPr id="779" name="Google Shape;779;p67"/>
          <p:cNvSpPr txBox="1"/>
          <p:nvPr>
            <p:ph idx="3" type="subTitle"/>
          </p:nvPr>
        </p:nvSpPr>
        <p:spPr>
          <a:xfrm>
            <a:off x="324000" y="2842350"/>
            <a:ext cx="8496000" cy="7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number is in </a:t>
            </a:r>
            <a:r>
              <a:rPr b="1" lang="en-GB"/>
              <a:t>fractional form</a:t>
            </a:r>
            <a:r>
              <a:rPr lang="en-GB"/>
              <a:t> when it is displayed as one integer divided by another integer. </a:t>
            </a:r>
            <a:endParaRPr/>
          </a:p>
        </p:txBody>
      </p:sp>
      <p:sp>
        <p:nvSpPr>
          <p:cNvPr id="780" name="Google Shape;780;p67"/>
          <p:cNvSpPr txBox="1"/>
          <p:nvPr>
            <p:ph idx="1" type="subTitle"/>
          </p:nvPr>
        </p:nvSpPr>
        <p:spPr>
          <a:xfrm>
            <a:off x="3448200" y="1984250"/>
            <a:ext cx="690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</a:t>
            </a:r>
            <a:r>
              <a:rPr lang="en-GB" sz="2400"/>
              <a:t>.g. </a:t>
            </a:r>
            <a:endParaRPr baseline="30000" sz="2400"/>
          </a:p>
        </p:txBody>
      </p:sp>
      <p:sp>
        <p:nvSpPr>
          <p:cNvPr id="781" name="Google Shape;781;p67"/>
          <p:cNvSpPr txBox="1"/>
          <p:nvPr>
            <p:ph idx="1" type="subTitle"/>
          </p:nvPr>
        </p:nvSpPr>
        <p:spPr>
          <a:xfrm>
            <a:off x="3448200" y="3736850"/>
            <a:ext cx="2558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e.g.</a:t>
            </a:r>
            <a:endParaRPr baseline="30000" sz="2400"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782" name="Google Shape;782;p67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200" y="3763800"/>
            <a:ext cx="211954" cy="68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^3&quot;&gt;&lt;mo&gt;=&lt;/mo&gt;&lt;mtext&gt;&lt;/mtext&gt;&lt;msup&gt;&lt;mn&gt;2&lt;/mn&gt;&lt;mn&gt;3&lt;/mn&gt;&lt;/msup&gt;&lt;/math&gt;" id="783" name="Google Shape;783;p67" title="equals 2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200" y="1938050"/>
            <a:ext cx="702456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2&quot;&gt;&lt;mn&gt;2&lt;/mn&gt;&lt;mo&gt;×&lt;/mo&gt;&lt;mn&gt;2&lt;/mn&gt;&lt;mo&gt;×&lt;/mo&gt;&lt;mn&gt;2&lt;/mn&gt;&lt;/math&gt;" id="784" name="Google Shape;784;p67" title="2 times 2 time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4800" y="2020800"/>
            <a:ext cx="11906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790" name="Google Shape;790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791" name="Google Shape;791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column headings</a:t>
            </a:r>
            <a:endParaRPr/>
          </a:p>
        </p:txBody>
      </p:sp>
      <p:pic>
        <p:nvPicPr>
          <p:cNvPr id="792" name="Google Shape;79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13" y="2053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these numbers</a:t>
            </a:r>
            <a:r>
              <a:rPr lang="en-GB">
                <a:solidFill>
                  <a:srgbClr val="000000"/>
                </a:solidFill>
              </a:rPr>
              <a:t> </a:t>
            </a:r>
            <a:r>
              <a:rPr lang="en-GB">
                <a:solidFill>
                  <a:srgbClr val="000000"/>
                </a:solidFill>
              </a:rPr>
              <a:t>have in common?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799" name="Google Shape;799;p69"/>
          <p:cNvSpPr txBox="1"/>
          <p:nvPr>
            <p:ph idx="4294967295" type="subTitle"/>
          </p:nvPr>
        </p:nvSpPr>
        <p:spPr>
          <a:xfrm>
            <a:off x="1415425" y="1609175"/>
            <a:ext cx="522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10 000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100 000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1 000 000</a:t>
            </a:r>
            <a:endParaRPr sz="2400"/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600600" y="1902300"/>
            <a:ext cx="4127100" cy="88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They are all </a:t>
            </a:r>
            <a:r>
              <a:rPr lang="en-GB" sz="26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powers </a:t>
            </a:r>
            <a:r>
              <a:rPr lang="en-GB" sz="2600">
                <a:latin typeface="Kalam"/>
                <a:ea typeface="Kalam"/>
                <a:cs typeface="Kalam"/>
                <a:sym typeface="Kalam"/>
              </a:rPr>
              <a:t>of ten.</a:t>
            </a:r>
            <a:endParaRPr sz="2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69"/>
          <p:cNvSpPr txBox="1"/>
          <p:nvPr>
            <p:ph idx="4294967295" type="subTitle"/>
          </p:nvPr>
        </p:nvSpPr>
        <p:spPr>
          <a:xfrm>
            <a:off x="3625225" y="2556725"/>
            <a:ext cx="32106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× 10</a:t>
            </a:r>
            <a:endParaRPr sz="2400"/>
          </a:p>
        </p:txBody>
      </p:sp>
      <p:sp>
        <p:nvSpPr>
          <p:cNvPr id="802" name="Google Shape;802;p69"/>
          <p:cNvSpPr txBox="1"/>
          <p:nvPr>
            <p:ph idx="4294967295" type="subTitle"/>
          </p:nvPr>
        </p:nvSpPr>
        <p:spPr>
          <a:xfrm>
            <a:off x="3625225" y="3034213"/>
            <a:ext cx="32106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× 10 × 10</a:t>
            </a:r>
            <a:endParaRPr sz="2400"/>
          </a:p>
        </p:txBody>
      </p:sp>
      <p:sp>
        <p:nvSpPr>
          <p:cNvPr id="803" name="Google Shape;803;p69"/>
          <p:cNvSpPr txBox="1"/>
          <p:nvPr>
            <p:ph idx="4294967295" type="subTitle"/>
          </p:nvPr>
        </p:nvSpPr>
        <p:spPr>
          <a:xfrm>
            <a:off x="3625225" y="3511700"/>
            <a:ext cx="32106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× 10 × 10 × 10</a:t>
            </a:r>
            <a:endParaRPr sz="2400"/>
          </a:p>
        </p:txBody>
      </p:sp>
      <p:sp>
        <p:nvSpPr>
          <p:cNvPr id="804" name="Google Shape;804;p69"/>
          <p:cNvSpPr txBox="1"/>
          <p:nvPr>
            <p:ph idx="4294967295" type="subTitle"/>
          </p:nvPr>
        </p:nvSpPr>
        <p:spPr>
          <a:xfrm>
            <a:off x="3625225" y="3989188"/>
            <a:ext cx="37512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× 10 × 10 × 10 × 10</a:t>
            </a:r>
            <a:endParaRPr sz="2400"/>
          </a:p>
        </p:txBody>
      </p:sp>
      <p:sp>
        <p:nvSpPr>
          <p:cNvPr id="805" name="Google Shape;805;p69"/>
          <p:cNvSpPr txBox="1"/>
          <p:nvPr>
            <p:ph idx="4294967295" type="subTitle"/>
          </p:nvPr>
        </p:nvSpPr>
        <p:spPr>
          <a:xfrm>
            <a:off x="3625225" y="4466675"/>
            <a:ext cx="41271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× 10 × 10 × 10 × 10 × 10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11" name="Google Shape;811;p70"/>
          <p:cNvSpPr txBox="1"/>
          <p:nvPr>
            <p:ph idx="4294967295" type="subTitle"/>
          </p:nvPr>
        </p:nvSpPr>
        <p:spPr>
          <a:xfrm>
            <a:off x="324000" y="810000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a number is multiplied by itself multiple times, it can be written more simply in </a:t>
            </a:r>
            <a:r>
              <a:rPr b="1" lang="en-GB"/>
              <a:t>exponential form</a:t>
            </a:r>
            <a:r>
              <a:rPr lang="en-GB"/>
              <a:t>.</a:t>
            </a:r>
            <a:endParaRPr baseline="30000"/>
          </a:p>
        </p:txBody>
      </p:sp>
      <p:sp>
        <p:nvSpPr>
          <p:cNvPr id="812" name="Google Shape;812;p70"/>
          <p:cNvSpPr txBox="1"/>
          <p:nvPr>
            <p:ph idx="4294967295" type="subTitle"/>
          </p:nvPr>
        </p:nvSpPr>
        <p:spPr>
          <a:xfrm>
            <a:off x="3448200" y="1800600"/>
            <a:ext cx="690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e.g. </a:t>
            </a:r>
            <a:endParaRPr baseline="30000" sz="2400"/>
          </a:p>
        </p:txBody>
      </p:sp>
      <p:pic>
        <p:nvPicPr>
          <p:cNvPr descr="&lt;math xmlns=&quot;http://www.w3.org/1998/Math/MathML&quot; display=&quot;block&quot; data-is-equatio=&quot;1&quot; data-latex=&quot;=\ 2^3&quot;&gt;&lt;mo&gt;=&lt;/mo&gt;&lt;mtext&gt;&lt;/mtext&gt;&lt;msup&gt;&lt;mn&gt;2&lt;/mn&gt;&lt;mn&gt;3&lt;/mn&gt;&lt;/msup&gt;&lt;/math&gt;" id="813" name="Google Shape;813;p70" title="equals 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200" y="1754400"/>
            <a:ext cx="702456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2&quot;&gt;&lt;mn&gt;2&lt;/mn&gt;&lt;mo&gt;×&lt;/mo&gt;&lt;mn&gt;2&lt;/mn&gt;&lt;mo&gt;×&lt;/mo&gt;&lt;mn&gt;2&lt;/mn&gt;&lt;/math&gt;" id="814" name="Google Shape;814;p70" title="2 times 2 time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837150"/>
            <a:ext cx="11906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" name="Google Shape;819;p71"/>
          <p:cNvGraphicFramePr/>
          <p:nvPr/>
        </p:nvGraphicFramePr>
        <p:xfrm>
          <a:off x="324000" y="81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672175"/>
                <a:gridCol w="3923400"/>
                <a:gridCol w="1539625"/>
              </a:tblGrid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Expanded form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b="1"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0" name="Google Shape;82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6353850" y="2379218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2</a:t>
            </a:r>
            <a:endParaRPr baseline="30000" sz="2400"/>
          </a:p>
        </p:txBody>
      </p:sp>
      <p:sp>
        <p:nvSpPr>
          <p:cNvPr id="822" name="Google Shape;822;p71"/>
          <p:cNvSpPr txBox="1"/>
          <p:nvPr>
            <p:ph idx="4294967295" type="subTitle"/>
          </p:nvPr>
        </p:nvSpPr>
        <p:spPr>
          <a:xfrm>
            <a:off x="6353852" y="2803383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3</a:t>
            </a:r>
            <a:endParaRPr baseline="30000" sz="2400"/>
          </a:p>
        </p:txBody>
      </p:sp>
      <p:sp>
        <p:nvSpPr>
          <p:cNvPr id="823" name="Google Shape;823;p71"/>
          <p:cNvSpPr txBox="1"/>
          <p:nvPr>
            <p:ph idx="4294967295" type="subTitle"/>
          </p:nvPr>
        </p:nvSpPr>
        <p:spPr>
          <a:xfrm>
            <a:off x="6353852" y="3227549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4</a:t>
            </a:r>
            <a:endParaRPr baseline="30000" sz="2400"/>
          </a:p>
        </p:txBody>
      </p:sp>
      <p:sp>
        <p:nvSpPr>
          <p:cNvPr id="824" name="Google Shape;824;p71"/>
          <p:cNvSpPr txBox="1"/>
          <p:nvPr>
            <p:ph idx="4294967295" type="subTitle"/>
          </p:nvPr>
        </p:nvSpPr>
        <p:spPr>
          <a:xfrm>
            <a:off x="6353852" y="3651714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5</a:t>
            </a:r>
            <a:endParaRPr baseline="30000" sz="2400"/>
          </a:p>
        </p:txBody>
      </p:sp>
      <p:sp>
        <p:nvSpPr>
          <p:cNvPr id="825" name="Google Shape;825;p71"/>
          <p:cNvSpPr txBox="1"/>
          <p:nvPr>
            <p:ph idx="4294967295" type="subTitle"/>
          </p:nvPr>
        </p:nvSpPr>
        <p:spPr>
          <a:xfrm>
            <a:off x="6353852" y="4075879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6</a:t>
            </a:r>
            <a:endParaRPr baseline="30000" sz="2400"/>
          </a:p>
        </p:txBody>
      </p:sp>
      <p:sp>
        <p:nvSpPr>
          <p:cNvPr id="826" name="Google Shape;826;p71"/>
          <p:cNvSpPr txBox="1"/>
          <p:nvPr>
            <p:ph idx="4294967295" type="subTitle"/>
          </p:nvPr>
        </p:nvSpPr>
        <p:spPr>
          <a:xfrm>
            <a:off x="7587625" y="1465350"/>
            <a:ext cx="13647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goes in these positions?</a:t>
            </a:r>
            <a:endParaRPr baseline="30000" sz="1800"/>
          </a:p>
        </p:txBody>
      </p:sp>
      <p:sp>
        <p:nvSpPr>
          <p:cNvPr id="827" name="Google Shape;827;p71"/>
          <p:cNvSpPr/>
          <p:nvPr/>
        </p:nvSpPr>
        <p:spPr>
          <a:xfrm>
            <a:off x="6205800" y="1948298"/>
            <a:ext cx="7383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1"/>
          <p:cNvSpPr/>
          <p:nvPr/>
        </p:nvSpPr>
        <p:spPr>
          <a:xfrm>
            <a:off x="6205800" y="1519508"/>
            <a:ext cx="7383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71"/>
          <p:cNvSpPr txBox="1"/>
          <p:nvPr>
            <p:ph idx="4294967295" type="subTitle"/>
          </p:nvPr>
        </p:nvSpPr>
        <p:spPr>
          <a:xfrm>
            <a:off x="6353852" y="1955053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1</a:t>
            </a:r>
            <a:endParaRPr baseline="30000" sz="2400"/>
          </a:p>
        </p:txBody>
      </p:sp>
      <p:sp>
        <p:nvSpPr>
          <p:cNvPr id="830" name="Google Shape;830;p71"/>
          <p:cNvSpPr txBox="1"/>
          <p:nvPr>
            <p:ph idx="4294967295" type="subTitle"/>
          </p:nvPr>
        </p:nvSpPr>
        <p:spPr>
          <a:xfrm>
            <a:off x="6353852" y="1530888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0</a:t>
            </a:r>
            <a:endParaRPr baseline="30000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5" name="Google Shape;835;p72"/>
          <p:cNvGraphicFramePr/>
          <p:nvPr/>
        </p:nvGraphicFramePr>
        <p:xfrm>
          <a:off x="324000" y="81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587700"/>
                <a:gridCol w="4345100"/>
                <a:gridCol w="1523650"/>
              </a:tblGrid>
              <a:tr h="67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Expanded form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b="1"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6" name="Google Shape;83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37" name="Google Shape;837;p72"/>
          <p:cNvSpPr txBox="1"/>
          <p:nvPr>
            <p:ph idx="4294967295" type="subTitle"/>
          </p:nvPr>
        </p:nvSpPr>
        <p:spPr>
          <a:xfrm>
            <a:off x="7842800" y="1550550"/>
            <a:ext cx="12810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we write here</a:t>
            </a:r>
            <a:r>
              <a:rPr lang="en-GB" sz="1800"/>
              <a:t>?</a:t>
            </a:r>
            <a:endParaRPr baseline="30000" sz="1800"/>
          </a:p>
        </p:txBody>
      </p:sp>
      <p:sp>
        <p:nvSpPr>
          <p:cNvPr id="838" name="Google Shape;838;p72"/>
          <p:cNvSpPr/>
          <p:nvPr/>
        </p:nvSpPr>
        <p:spPr>
          <a:xfrm>
            <a:off x="1800616" y="1956026"/>
            <a:ext cx="12810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2"/>
          <p:cNvSpPr/>
          <p:nvPr/>
        </p:nvSpPr>
        <p:spPr>
          <a:xfrm>
            <a:off x="1800616" y="1527231"/>
            <a:ext cx="12810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72"/>
          <p:cNvSpPr txBox="1"/>
          <p:nvPr>
            <p:ph idx="1" type="body"/>
          </p:nvPr>
        </p:nvSpPr>
        <p:spPr>
          <a:xfrm>
            <a:off x="6800425" y="2441250"/>
            <a:ext cx="6348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2</a:t>
            </a:r>
            <a:endParaRPr baseline="30000" sz="2400"/>
          </a:p>
        </p:txBody>
      </p:sp>
      <p:sp>
        <p:nvSpPr>
          <p:cNvPr id="841" name="Google Shape;841;p72"/>
          <p:cNvSpPr txBox="1"/>
          <p:nvPr>
            <p:ph idx="4294967295" type="subTitle"/>
          </p:nvPr>
        </p:nvSpPr>
        <p:spPr>
          <a:xfrm>
            <a:off x="6800425" y="2897070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3</a:t>
            </a:r>
            <a:endParaRPr baseline="30000" sz="2400"/>
          </a:p>
        </p:txBody>
      </p:sp>
      <p:sp>
        <p:nvSpPr>
          <p:cNvPr id="842" name="Google Shape;842;p72"/>
          <p:cNvSpPr txBox="1"/>
          <p:nvPr>
            <p:ph idx="4294967295" type="subTitle"/>
          </p:nvPr>
        </p:nvSpPr>
        <p:spPr>
          <a:xfrm>
            <a:off x="6800425" y="3323439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4</a:t>
            </a:r>
            <a:endParaRPr baseline="30000" sz="2400"/>
          </a:p>
        </p:txBody>
      </p:sp>
      <p:sp>
        <p:nvSpPr>
          <p:cNvPr id="843" name="Google Shape;843;p72"/>
          <p:cNvSpPr txBox="1"/>
          <p:nvPr>
            <p:ph idx="4294967295" type="subTitle"/>
          </p:nvPr>
        </p:nvSpPr>
        <p:spPr>
          <a:xfrm>
            <a:off x="6800425" y="3798270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5</a:t>
            </a:r>
            <a:endParaRPr baseline="30000" sz="2400"/>
          </a:p>
        </p:txBody>
      </p:sp>
      <p:sp>
        <p:nvSpPr>
          <p:cNvPr id="844" name="Google Shape;844;p72"/>
          <p:cNvSpPr txBox="1"/>
          <p:nvPr>
            <p:ph idx="4294967295" type="subTitle"/>
          </p:nvPr>
        </p:nvSpPr>
        <p:spPr>
          <a:xfrm>
            <a:off x="6800425" y="4254702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6</a:t>
            </a:r>
            <a:endParaRPr baseline="30000" sz="2400"/>
          </a:p>
        </p:txBody>
      </p:sp>
      <p:sp>
        <p:nvSpPr>
          <p:cNvPr id="845" name="Google Shape;845;p72"/>
          <p:cNvSpPr txBox="1"/>
          <p:nvPr>
            <p:ph idx="4294967295" type="subTitle"/>
          </p:nvPr>
        </p:nvSpPr>
        <p:spPr>
          <a:xfrm>
            <a:off x="6800425" y="1985432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1</a:t>
            </a:r>
            <a:endParaRPr baseline="30000" sz="2400"/>
          </a:p>
        </p:txBody>
      </p:sp>
      <p:sp>
        <p:nvSpPr>
          <p:cNvPr id="846" name="Google Shape;846;p72"/>
          <p:cNvSpPr txBox="1"/>
          <p:nvPr>
            <p:ph idx="4294967295" type="subTitle"/>
          </p:nvPr>
        </p:nvSpPr>
        <p:spPr>
          <a:xfrm>
            <a:off x="6800425" y="1539438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0</a:t>
            </a:r>
            <a:endParaRPr baseline="30000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1" name="Google Shape;851;p73"/>
          <p:cNvGraphicFramePr/>
          <p:nvPr/>
        </p:nvGraphicFramePr>
        <p:xfrm>
          <a:off x="324000" y="81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587700"/>
                <a:gridCol w="4351550"/>
                <a:gridCol w="1517200"/>
              </a:tblGrid>
              <a:tr h="70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Expanded form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b="1"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73"/>
          <p:cNvSpPr txBox="1"/>
          <p:nvPr/>
        </p:nvSpPr>
        <p:spPr>
          <a:xfrm>
            <a:off x="1882950" y="1889750"/>
            <a:ext cx="41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× 10</a:t>
            </a:r>
            <a:endParaRPr sz="2400"/>
          </a:p>
        </p:txBody>
      </p:sp>
      <p:sp>
        <p:nvSpPr>
          <p:cNvPr id="853" name="Google Shape;853;p73"/>
          <p:cNvSpPr/>
          <p:nvPr/>
        </p:nvSpPr>
        <p:spPr>
          <a:xfrm>
            <a:off x="1816050" y="1966291"/>
            <a:ext cx="12810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55" name="Google Shape;855;p73"/>
          <p:cNvSpPr txBox="1"/>
          <p:nvPr>
            <p:ph idx="1" type="body"/>
          </p:nvPr>
        </p:nvSpPr>
        <p:spPr>
          <a:xfrm>
            <a:off x="6800425" y="2441250"/>
            <a:ext cx="6348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2</a:t>
            </a:r>
            <a:endParaRPr baseline="30000" sz="2400"/>
          </a:p>
        </p:txBody>
      </p:sp>
      <p:sp>
        <p:nvSpPr>
          <p:cNvPr id="856" name="Google Shape;856;p73"/>
          <p:cNvSpPr txBox="1"/>
          <p:nvPr>
            <p:ph idx="4294967295" type="subTitle"/>
          </p:nvPr>
        </p:nvSpPr>
        <p:spPr>
          <a:xfrm>
            <a:off x="6800425" y="2897070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3</a:t>
            </a:r>
            <a:endParaRPr baseline="30000" sz="2400"/>
          </a:p>
        </p:txBody>
      </p:sp>
      <p:sp>
        <p:nvSpPr>
          <p:cNvPr id="857" name="Google Shape;857;p73"/>
          <p:cNvSpPr txBox="1"/>
          <p:nvPr>
            <p:ph idx="4294967295" type="subTitle"/>
          </p:nvPr>
        </p:nvSpPr>
        <p:spPr>
          <a:xfrm>
            <a:off x="6800425" y="3323439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4</a:t>
            </a:r>
            <a:endParaRPr baseline="30000" sz="2400"/>
          </a:p>
        </p:txBody>
      </p:sp>
      <p:sp>
        <p:nvSpPr>
          <p:cNvPr id="858" name="Google Shape;858;p73"/>
          <p:cNvSpPr txBox="1"/>
          <p:nvPr>
            <p:ph idx="4294967295" type="subTitle"/>
          </p:nvPr>
        </p:nvSpPr>
        <p:spPr>
          <a:xfrm>
            <a:off x="6800425" y="3798270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5</a:t>
            </a:r>
            <a:endParaRPr baseline="30000" sz="2400"/>
          </a:p>
        </p:txBody>
      </p:sp>
      <p:sp>
        <p:nvSpPr>
          <p:cNvPr id="859" name="Google Shape;859;p73"/>
          <p:cNvSpPr txBox="1"/>
          <p:nvPr>
            <p:ph idx="4294967295" type="subTitle"/>
          </p:nvPr>
        </p:nvSpPr>
        <p:spPr>
          <a:xfrm>
            <a:off x="6800425" y="4254702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6</a:t>
            </a:r>
            <a:endParaRPr baseline="30000" sz="2400"/>
          </a:p>
        </p:txBody>
      </p:sp>
      <p:sp>
        <p:nvSpPr>
          <p:cNvPr id="860" name="Google Shape;860;p73"/>
          <p:cNvSpPr txBox="1"/>
          <p:nvPr>
            <p:ph idx="4294967295" type="subTitle"/>
          </p:nvPr>
        </p:nvSpPr>
        <p:spPr>
          <a:xfrm>
            <a:off x="7842800" y="1539450"/>
            <a:ext cx="11394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we write here?</a:t>
            </a:r>
            <a:endParaRPr baseline="30000" sz="1800"/>
          </a:p>
        </p:txBody>
      </p:sp>
      <p:sp>
        <p:nvSpPr>
          <p:cNvPr id="861" name="Google Shape;861;p73"/>
          <p:cNvSpPr txBox="1"/>
          <p:nvPr>
            <p:ph idx="4294967295" type="subTitle"/>
          </p:nvPr>
        </p:nvSpPr>
        <p:spPr>
          <a:xfrm>
            <a:off x="6800425" y="1985432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1</a:t>
            </a:r>
            <a:endParaRPr baseline="30000" sz="2400"/>
          </a:p>
        </p:txBody>
      </p:sp>
      <p:sp>
        <p:nvSpPr>
          <p:cNvPr id="862" name="Google Shape;862;p73"/>
          <p:cNvSpPr txBox="1"/>
          <p:nvPr>
            <p:ph idx="4294967295" type="subTitle"/>
          </p:nvPr>
        </p:nvSpPr>
        <p:spPr>
          <a:xfrm>
            <a:off x="6800425" y="1539438"/>
            <a:ext cx="505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r>
              <a:rPr baseline="30000" lang="en-GB" sz="2400"/>
              <a:t>0</a:t>
            </a:r>
            <a:endParaRPr baseline="30000" sz="2400"/>
          </a:p>
        </p:txBody>
      </p:sp>
      <p:sp>
        <p:nvSpPr>
          <p:cNvPr id="863" name="Google Shape;863;p73"/>
          <p:cNvSpPr txBox="1"/>
          <p:nvPr/>
        </p:nvSpPr>
        <p:spPr>
          <a:xfrm>
            <a:off x="1882950" y="2361347"/>
            <a:ext cx="41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× 10 × 10</a:t>
            </a:r>
            <a:endParaRPr sz="2400"/>
          </a:p>
        </p:txBody>
      </p:sp>
      <p:sp>
        <p:nvSpPr>
          <p:cNvPr id="864" name="Google Shape;864;p73"/>
          <p:cNvSpPr txBox="1"/>
          <p:nvPr/>
        </p:nvSpPr>
        <p:spPr>
          <a:xfrm>
            <a:off x="1882950" y="2799419"/>
            <a:ext cx="41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× 10 × 10 × 10</a:t>
            </a:r>
            <a:endParaRPr sz="2400"/>
          </a:p>
        </p:txBody>
      </p:sp>
      <p:sp>
        <p:nvSpPr>
          <p:cNvPr id="865" name="Google Shape;865;p73"/>
          <p:cNvSpPr txBox="1"/>
          <p:nvPr/>
        </p:nvSpPr>
        <p:spPr>
          <a:xfrm>
            <a:off x="1882950" y="3246342"/>
            <a:ext cx="41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× 10 × 10 × 10 × 10</a:t>
            </a:r>
            <a:endParaRPr sz="2400"/>
          </a:p>
        </p:txBody>
      </p:sp>
      <p:sp>
        <p:nvSpPr>
          <p:cNvPr id="866" name="Google Shape;866;p73"/>
          <p:cNvSpPr txBox="1"/>
          <p:nvPr/>
        </p:nvSpPr>
        <p:spPr>
          <a:xfrm>
            <a:off x="1882950" y="3709108"/>
            <a:ext cx="41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× 10 × 10 × 10 × 10 × 10</a:t>
            </a:r>
            <a:endParaRPr sz="2400"/>
          </a:p>
        </p:txBody>
      </p:sp>
      <p:sp>
        <p:nvSpPr>
          <p:cNvPr id="867" name="Google Shape;867;p73"/>
          <p:cNvSpPr txBox="1"/>
          <p:nvPr/>
        </p:nvSpPr>
        <p:spPr>
          <a:xfrm>
            <a:off x="1882950" y="4190349"/>
            <a:ext cx="438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10 × 10 × 10 × 10 × 10 × 10</a:t>
            </a:r>
            <a:endParaRPr sz="2400"/>
          </a:p>
        </p:txBody>
      </p:sp>
      <p:sp>
        <p:nvSpPr>
          <p:cNvPr id="868" name="Google Shape;868;p73"/>
          <p:cNvSpPr txBox="1"/>
          <p:nvPr/>
        </p:nvSpPr>
        <p:spPr>
          <a:xfrm>
            <a:off x="1911700" y="1476343"/>
            <a:ext cx="360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400"/>
          </a:p>
        </p:txBody>
      </p:sp>
      <p:sp>
        <p:nvSpPr>
          <p:cNvPr id="869" name="Google Shape;869;p73"/>
          <p:cNvSpPr/>
          <p:nvPr/>
        </p:nvSpPr>
        <p:spPr>
          <a:xfrm>
            <a:off x="1816050" y="1533965"/>
            <a:ext cx="1281000" cy="420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</a:t>
            </a:r>
            <a:r>
              <a:rPr b="1" lang="en-GB"/>
              <a:t>xponential</a:t>
            </a:r>
            <a:r>
              <a:rPr lang="en-GB"/>
              <a:t> </a:t>
            </a:r>
            <a:r>
              <a:rPr b="1" lang="en-GB"/>
              <a:t>form</a:t>
            </a:r>
            <a:r>
              <a:rPr lang="en-GB"/>
              <a:t> is a way of writing repeated </a:t>
            </a:r>
            <a:r>
              <a:rPr lang="en-GB" u="sng"/>
              <a:t>          </a:t>
            </a:r>
            <a:r>
              <a:rPr lang="en-GB"/>
              <a:t> </a:t>
            </a:r>
            <a:r>
              <a:rPr lang="en-GB"/>
              <a:t>?</a:t>
            </a:r>
            <a:endParaRPr/>
          </a:p>
        </p:txBody>
      </p:sp>
      <p:sp>
        <p:nvSpPr>
          <p:cNvPr id="875" name="Google Shape;875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76" name="Google Shape;876;p7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addition of the same value</a:t>
            </a:r>
            <a:endParaRPr baseline="30000" sz="2600"/>
          </a:p>
        </p:txBody>
      </p:sp>
      <p:sp>
        <p:nvSpPr>
          <p:cNvPr id="877" name="Google Shape;877;p7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s</a:t>
            </a:r>
            <a:r>
              <a:rPr lang="en-GB" sz="2600"/>
              <a:t>ubtraction of the same value</a:t>
            </a:r>
            <a:endParaRPr sz="2600"/>
          </a:p>
        </p:txBody>
      </p:sp>
      <p:sp>
        <p:nvSpPr>
          <p:cNvPr id="878" name="Google Shape;878;p7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m</a:t>
            </a:r>
            <a:r>
              <a:rPr lang="en-GB" sz="2600"/>
              <a:t>ultiplication of the same value</a:t>
            </a:r>
            <a:endParaRPr sz="2600"/>
          </a:p>
        </p:txBody>
      </p:sp>
      <p:sp>
        <p:nvSpPr>
          <p:cNvPr id="879" name="Google Shape;879;p7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d</a:t>
            </a:r>
            <a:r>
              <a:rPr lang="en-GB" sz="2600"/>
              <a:t>ivision of the same value</a:t>
            </a:r>
            <a:endParaRPr sz="2600"/>
          </a:p>
        </p:txBody>
      </p:sp>
      <p:pic>
        <p:nvPicPr>
          <p:cNvPr id="880" name="Google Shape;8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983" y="3300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value of 1000 in </a:t>
            </a:r>
            <a:r>
              <a:rPr b="1" lang="en-GB"/>
              <a:t>exponential</a:t>
            </a:r>
            <a:r>
              <a:rPr lang="en-GB"/>
              <a:t> </a:t>
            </a:r>
            <a:r>
              <a:rPr b="1" lang="en-GB"/>
              <a:t>form</a:t>
            </a:r>
            <a:r>
              <a:rPr lang="en-GB"/>
              <a:t>?</a:t>
            </a:r>
            <a:endParaRPr/>
          </a:p>
        </p:txBody>
      </p:sp>
      <p:sp>
        <p:nvSpPr>
          <p:cNvPr id="886" name="Google Shape;886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87" name="Google Shape;887;p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10</a:t>
            </a:r>
            <a:r>
              <a:rPr baseline="30000" lang="en-GB" sz="2800"/>
              <a:t>4</a:t>
            </a:r>
            <a:endParaRPr baseline="30000" sz="2800"/>
          </a:p>
        </p:txBody>
      </p:sp>
      <p:sp>
        <p:nvSpPr>
          <p:cNvPr id="888" name="Google Shape;888;p7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10</a:t>
            </a:r>
            <a:r>
              <a:rPr baseline="30000" lang="en-GB" sz="2800"/>
              <a:t>3</a:t>
            </a:r>
            <a:endParaRPr baseline="30000" sz="2800"/>
          </a:p>
        </p:txBody>
      </p:sp>
      <p:sp>
        <p:nvSpPr>
          <p:cNvPr id="889" name="Google Shape;889;p7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10 x 3</a:t>
            </a:r>
            <a:endParaRPr sz="2800"/>
          </a:p>
        </p:txBody>
      </p:sp>
      <p:sp>
        <p:nvSpPr>
          <p:cNvPr id="890" name="Google Shape;890;p7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10 x 10 x 10</a:t>
            </a:r>
            <a:endParaRPr sz="2800"/>
          </a:p>
        </p:txBody>
      </p:sp>
      <p:pic>
        <p:nvPicPr>
          <p:cNvPr id="891" name="Google Shape;89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983" y="2526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6" name="Google Shape;896;p76"/>
          <p:cNvGraphicFramePr/>
          <p:nvPr/>
        </p:nvGraphicFramePr>
        <p:xfrm>
          <a:off x="323988" y="18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213725"/>
                <a:gridCol w="1213725"/>
                <a:gridCol w="1213725"/>
                <a:gridCol w="1213725"/>
                <a:gridCol w="1213725"/>
                <a:gridCol w="1213725"/>
                <a:gridCol w="1213725"/>
              </a:tblGrid>
              <a:tr h="42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97" name="Google Shape;89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898" name="Google Shape;898;p76"/>
          <p:cNvSpPr txBox="1"/>
          <p:nvPr/>
        </p:nvSpPr>
        <p:spPr>
          <a:xfrm>
            <a:off x="5488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6"/>
          <p:cNvSpPr txBox="1"/>
          <p:nvPr/>
        </p:nvSpPr>
        <p:spPr>
          <a:xfrm>
            <a:off x="17426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6"/>
          <p:cNvSpPr txBox="1"/>
          <p:nvPr/>
        </p:nvSpPr>
        <p:spPr>
          <a:xfrm>
            <a:off x="29364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6"/>
          <p:cNvSpPr txBox="1"/>
          <p:nvPr/>
        </p:nvSpPr>
        <p:spPr>
          <a:xfrm>
            <a:off x="4126875" y="3218175"/>
            <a:ext cx="91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6"/>
          <p:cNvSpPr txBox="1"/>
          <p:nvPr/>
        </p:nvSpPr>
        <p:spPr>
          <a:xfrm>
            <a:off x="54002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6"/>
          <p:cNvSpPr txBox="1"/>
          <p:nvPr/>
        </p:nvSpPr>
        <p:spPr>
          <a:xfrm>
            <a:off x="77878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6"/>
          <p:cNvSpPr txBox="1"/>
          <p:nvPr/>
        </p:nvSpPr>
        <p:spPr>
          <a:xfrm>
            <a:off x="65940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6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express the place value headings in </a:t>
            </a:r>
            <a:r>
              <a:rPr b="1" lang="en-GB"/>
              <a:t>exponential form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0" name="Google Shape;910;p77"/>
          <p:cNvGraphicFramePr/>
          <p:nvPr/>
        </p:nvGraphicFramePr>
        <p:xfrm>
          <a:off x="323988" y="18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213725"/>
                <a:gridCol w="1213725"/>
                <a:gridCol w="1213725"/>
                <a:gridCol w="1213725"/>
                <a:gridCol w="1213725"/>
                <a:gridCol w="1213725"/>
                <a:gridCol w="1213725"/>
              </a:tblGrid>
              <a:tr h="42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911" name="Google Shape;911;p77"/>
          <p:cNvSpPr txBox="1"/>
          <p:nvPr/>
        </p:nvSpPr>
        <p:spPr>
          <a:xfrm>
            <a:off x="5488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7"/>
          <p:cNvSpPr txBox="1"/>
          <p:nvPr/>
        </p:nvSpPr>
        <p:spPr>
          <a:xfrm>
            <a:off x="29364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baseline="30000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7"/>
          <p:cNvSpPr txBox="1"/>
          <p:nvPr/>
        </p:nvSpPr>
        <p:spPr>
          <a:xfrm>
            <a:off x="77878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baseline="30000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7"/>
          <p:cNvSpPr txBox="1"/>
          <p:nvPr/>
        </p:nvSpPr>
        <p:spPr>
          <a:xfrm>
            <a:off x="65940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baseline="30000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77"/>
          <p:cNvSpPr txBox="1"/>
          <p:nvPr/>
        </p:nvSpPr>
        <p:spPr>
          <a:xfrm>
            <a:off x="547125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baseline="30000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7"/>
          <p:cNvSpPr txBox="1"/>
          <p:nvPr/>
        </p:nvSpPr>
        <p:spPr>
          <a:xfrm>
            <a:off x="2933063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7"/>
          <p:cNvSpPr txBox="1"/>
          <p:nvPr/>
        </p:nvSpPr>
        <p:spPr>
          <a:xfrm>
            <a:off x="6592325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7"/>
          <p:cNvSpPr txBox="1"/>
          <p:nvPr/>
        </p:nvSpPr>
        <p:spPr>
          <a:xfrm>
            <a:off x="7786125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7"/>
          <p:cNvSpPr txBox="1"/>
          <p:nvPr>
            <p:ph idx="1" type="body"/>
          </p:nvPr>
        </p:nvSpPr>
        <p:spPr>
          <a:xfrm>
            <a:off x="324000" y="759300"/>
            <a:ext cx="8237700" cy="4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missing from this place value chart?</a:t>
            </a:r>
            <a:endParaRPr/>
          </a:p>
        </p:txBody>
      </p:sp>
      <p:sp>
        <p:nvSpPr>
          <p:cNvPr id="920" name="Google Shape;92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921" name="Google Shape;921;p77"/>
          <p:cNvSpPr txBox="1"/>
          <p:nvPr/>
        </p:nvSpPr>
        <p:spPr>
          <a:xfrm>
            <a:off x="17426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7"/>
          <p:cNvSpPr txBox="1"/>
          <p:nvPr/>
        </p:nvSpPr>
        <p:spPr>
          <a:xfrm>
            <a:off x="4126875" y="3218175"/>
            <a:ext cx="91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7"/>
          <p:cNvSpPr txBox="1"/>
          <p:nvPr/>
        </p:nvSpPr>
        <p:spPr>
          <a:xfrm>
            <a:off x="5400200" y="32181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929" name="Google Shape;929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value of each digit in this number?</a:t>
            </a:r>
            <a:endParaRPr/>
          </a:p>
        </p:txBody>
      </p:sp>
      <p:sp>
        <p:nvSpPr>
          <p:cNvPr id="930" name="Google Shape;930;p78"/>
          <p:cNvSpPr txBox="1"/>
          <p:nvPr>
            <p:ph idx="1" type="body"/>
          </p:nvPr>
        </p:nvSpPr>
        <p:spPr>
          <a:xfrm>
            <a:off x="3440100" y="1292700"/>
            <a:ext cx="21141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6400"/>
              <a:t>8352</a:t>
            </a:r>
            <a:endParaRPr sz="6400"/>
          </a:p>
        </p:txBody>
      </p:sp>
      <p:cxnSp>
        <p:nvCxnSpPr>
          <p:cNvPr id="931" name="Google Shape;931;p78"/>
          <p:cNvCxnSpPr/>
          <p:nvPr/>
        </p:nvCxnSpPr>
        <p:spPr>
          <a:xfrm flipH="1">
            <a:off x="1975325" y="2162300"/>
            <a:ext cx="1384200" cy="48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8"/>
          <p:cNvCxnSpPr/>
          <p:nvPr/>
        </p:nvCxnSpPr>
        <p:spPr>
          <a:xfrm flipH="1">
            <a:off x="3689375" y="2150100"/>
            <a:ext cx="152700" cy="50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78"/>
          <p:cNvCxnSpPr/>
          <p:nvPr/>
        </p:nvCxnSpPr>
        <p:spPr>
          <a:xfrm>
            <a:off x="4587275" y="2168425"/>
            <a:ext cx="516300" cy="45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78"/>
          <p:cNvCxnSpPr/>
          <p:nvPr/>
        </p:nvCxnSpPr>
        <p:spPr>
          <a:xfrm>
            <a:off x="5301925" y="2156200"/>
            <a:ext cx="1032600" cy="4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78"/>
          <p:cNvSpPr txBox="1"/>
          <p:nvPr>
            <p:ph idx="1" type="body"/>
          </p:nvPr>
        </p:nvSpPr>
        <p:spPr>
          <a:xfrm>
            <a:off x="773100" y="27405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8000</a:t>
            </a:r>
            <a:endParaRPr sz="2400"/>
          </a:p>
        </p:txBody>
      </p:sp>
      <p:sp>
        <p:nvSpPr>
          <p:cNvPr id="936" name="Google Shape;936;p78"/>
          <p:cNvSpPr txBox="1"/>
          <p:nvPr>
            <p:ph idx="1" type="body"/>
          </p:nvPr>
        </p:nvSpPr>
        <p:spPr>
          <a:xfrm>
            <a:off x="3059100" y="27405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300</a:t>
            </a:r>
            <a:endParaRPr sz="2400"/>
          </a:p>
        </p:txBody>
      </p:sp>
      <p:sp>
        <p:nvSpPr>
          <p:cNvPr id="937" name="Google Shape;937;p78"/>
          <p:cNvSpPr txBox="1"/>
          <p:nvPr>
            <p:ph idx="1" type="body"/>
          </p:nvPr>
        </p:nvSpPr>
        <p:spPr>
          <a:xfrm>
            <a:off x="5116500" y="27405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50</a:t>
            </a:r>
            <a:endParaRPr sz="2400"/>
          </a:p>
        </p:txBody>
      </p:sp>
      <p:sp>
        <p:nvSpPr>
          <p:cNvPr id="938" name="Google Shape;938;p78"/>
          <p:cNvSpPr txBox="1"/>
          <p:nvPr>
            <p:ph idx="1" type="body"/>
          </p:nvPr>
        </p:nvSpPr>
        <p:spPr>
          <a:xfrm>
            <a:off x="6792900" y="27405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2</a:t>
            </a:r>
            <a:endParaRPr sz="2400"/>
          </a:p>
        </p:txBody>
      </p:sp>
      <p:sp>
        <p:nvSpPr>
          <p:cNvPr id="939" name="Google Shape;939;p78"/>
          <p:cNvSpPr txBox="1"/>
          <p:nvPr>
            <p:ph idx="1" type="body"/>
          </p:nvPr>
        </p:nvSpPr>
        <p:spPr>
          <a:xfrm>
            <a:off x="773100" y="3273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8 </a:t>
            </a:r>
            <a:r>
              <a:rPr lang="en-GB" sz="2400"/>
              <a:t>×</a:t>
            </a:r>
            <a:r>
              <a:rPr lang="en-GB" sz="2400"/>
              <a:t> 1000</a:t>
            </a:r>
            <a:endParaRPr sz="2400"/>
          </a:p>
        </p:txBody>
      </p:sp>
      <p:sp>
        <p:nvSpPr>
          <p:cNvPr id="940" name="Google Shape;940;p78"/>
          <p:cNvSpPr txBox="1"/>
          <p:nvPr>
            <p:ph idx="1" type="body"/>
          </p:nvPr>
        </p:nvSpPr>
        <p:spPr>
          <a:xfrm>
            <a:off x="3059100" y="3273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 × 100</a:t>
            </a:r>
            <a:endParaRPr sz="2400"/>
          </a:p>
        </p:txBody>
      </p:sp>
      <p:sp>
        <p:nvSpPr>
          <p:cNvPr id="941" name="Google Shape;941;p78"/>
          <p:cNvSpPr txBox="1"/>
          <p:nvPr>
            <p:ph idx="1" type="body"/>
          </p:nvPr>
        </p:nvSpPr>
        <p:spPr>
          <a:xfrm>
            <a:off x="5116500" y="3273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5 × 10</a:t>
            </a:r>
            <a:endParaRPr sz="2400"/>
          </a:p>
        </p:txBody>
      </p:sp>
      <p:sp>
        <p:nvSpPr>
          <p:cNvPr id="942" name="Google Shape;942;p78"/>
          <p:cNvSpPr txBox="1"/>
          <p:nvPr>
            <p:ph idx="1" type="body"/>
          </p:nvPr>
        </p:nvSpPr>
        <p:spPr>
          <a:xfrm>
            <a:off x="6792900" y="3273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2 × 1</a:t>
            </a:r>
            <a:endParaRPr sz="2400"/>
          </a:p>
        </p:txBody>
      </p:sp>
      <p:sp>
        <p:nvSpPr>
          <p:cNvPr id="943" name="Google Shape;943;p78"/>
          <p:cNvSpPr txBox="1"/>
          <p:nvPr>
            <p:ph idx="1" type="body"/>
          </p:nvPr>
        </p:nvSpPr>
        <p:spPr>
          <a:xfrm>
            <a:off x="773100" y="43407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eight thousands</a:t>
            </a:r>
            <a:endParaRPr sz="1800"/>
          </a:p>
        </p:txBody>
      </p:sp>
      <p:sp>
        <p:nvSpPr>
          <p:cNvPr id="944" name="Google Shape;944;p78"/>
          <p:cNvSpPr txBox="1"/>
          <p:nvPr>
            <p:ph idx="1" type="body"/>
          </p:nvPr>
        </p:nvSpPr>
        <p:spPr>
          <a:xfrm>
            <a:off x="3059100" y="43407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three hundreds</a:t>
            </a:r>
            <a:endParaRPr sz="1800"/>
          </a:p>
        </p:txBody>
      </p:sp>
      <p:sp>
        <p:nvSpPr>
          <p:cNvPr id="945" name="Google Shape;945;p78"/>
          <p:cNvSpPr txBox="1"/>
          <p:nvPr>
            <p:ph idx="1" type="body"/>
          </p:nvPr>
        </p:nvSpPr>
        <p:spPr>
          <a:xfrm>
            <a:off x="5116500" y="43407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five tens</a:t>
            </a:r>
            <a:endParaRPr sz="1800"/>
          </a:p>
        </p:txBody>
      </p:sp>
      <p:sp>
        <p:nvSpPr>
          <p:cNvPr id="946" name="Google Shape;946;p78"/>
          <p:cNvSpPr txBox="1"/>
          <p:nvPr>
            <p:ph idx="1" type="body"/>
          </p:nvPr>
        </p:nvSpPr>
        <p:spPr>
          <a:xfrm>
            <a:off x="6792900" y="43407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ones</a:t>
            </a:r>
            <a:endParaRPr sz="1800"/>
          </a:p>
        </p:txBody>
      </p:sp>
      <p:sp>
        <p:nvSpPr>
          <p:cNvPr id="947" name="Google Shape;947;p78"/>
          <p:cNvSpPr txBox="1"/>
          <p:nvPr>
            <p:ph idx="1" type="body"/>
          </p:nvPr>
        </p:nvSpPr>
        <p:spPr>
          <a:xfrm>
            <a:off x="773100" y="38073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8 × 10</a:t>
            </a:r>
            <a:r>
              <a:rPr baseline="30000" lang="en-GB" sz="2400"/>
              <a:t>3</a:t>
            </a:r>
            <a:endParaRPr baseline="30000" sz="2400"/>
          </a:p>
        </p:txBody>
      </p:sp>
      <p:sp>
        <p:nvSpPr>
          <p:cNvPr id="948" name="Google Shape;948;p78"/>
          <p:cNvSpPr txBox="1"/>
          <p:nvPr>
            <p:ph idx="1" type="body"/>
          </p:nvPr>
        </p:nvSpPr>
        <p:spPr>
          <a:xfrm>
            <a:off x="3059100" y="38073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</a:t>
            </a:r>
            <a:r>
              <a:rPr lang="en-GB" sz="2400"/>
              <a:t> × 10</a:t>
            </a:r>
            <a:r>
              <a:rPr baseline="30000" lang="en-GB" sz="2400"/>
              <a:t>2</a:t>
            </a:r>
            <a:endParaRPr baseline="30000" sz="2400"/>
          </a:p>
        </p:txBody>
      </p:sp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5116500" y="38073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5</a:t>
            </a:r>
            <a:r>
              <a:rPr lang="en-GB" sz="2400"/>
              <a:t> × 10</a:t>
            </a:r>
            <a:r>
              <a:rPr baseline="30000" lang="en-GB" sz="2400"/>
              <a:t>1</a:t>
            </a:r>
            <a:endParaRPr baseline="30000" sz="2400"/>
          </a:p>
        </p:txBody>
      </p:sp>
      <p:sp>
        <p:nvSpPr>
          <p:cNvPr id="950" name="Google Shape;950;p78"/>
          <p:cNvSpPr txBox="1"/>
          <p:nvPr>
            <p:ph idx="1" type="body"/>
          </p:nvPr>
        </p:nvSpPr>
        <p:spPr>
          <a:xfrm>
            <a:off x="6792900" y="38073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2</a:t>
            </a:r>
            <a:r>
              <a:rPr lang="en-GB" sz="2400"/>
              <a:t> × 10</a:t>
            </a:r>
            <a:r>
              <a:rPr baseline="30000" lang="en-GB" sz="2400"/>
              <a:t>0</a:t>
            </a:r>
            <a:endParaRPr baseline="30000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missing from the composition of this number?</a:t>
            </a:r>
            <a:endParaRPr/>
          </a:p>
        </p:txBody>
      </p:sp>
      <p:sp>
        <p:nvSpPr>
          <p:cNvPr id="956" name="Google Shape;95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957" name="Google Shape;957;p79"/>
          <p:cNvSpPr txBox="1"/>
          <p:nvPr>
            <p:ph idx="1" type="body"/>
          </p:nvPr>
        </p:nvSpPr>
        <p:spPr>
          <a:xfrm>
            <a:off x="3211500" y="1368900"/>
            <a:ext cx="21141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6400"/>
              <a:t>4935</a:t>
            </a:r>
            <a:endParaRPr sz="6400"/>
          </a:p>
        </p:txBody>
      </p:sp>
      <p:cxnSp>
        <p:nvCxnSpPr>
          <p:cNvPr id="958" name="Google Shape;958;p79"/>
          <p:cNvCxnSpPr/>
          <p:nvPr/>
        </p:nvCxnSpPr>
        <p:spPr>
          <a:xfrm flipH="1">
            <a:off x="1746800" y="2308475"/>
            <a:ext cx="1503900" cy="41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79"/>
          <p:cNvCxnSpPr/>
          <p:nvPr/>
        </p:nvCxnSpPr>
        <p:spPr>
          <a:xfrm flipH="1">
            <a:off x="3460425" y="2412750"/>
            <a:ext cx="277800" cy="31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79"/>
          <p:cNvCxnSpPr/>
          <p:nvPr/>
        </p:nvCxnSpPr>
        <p:spPr>
          <a:xfrm>
            <a:off x="4483425" y="2370000"/>
            <a:ext cx="391500" cy="33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79"/>
          <p:cNvCxnSpPr/>
          <p:nvPr/>
        </p:nvCxnSpPr>
        <p:spPr>
          <a:xfrm>
            <a:off x="5035175" y="2308475"/>
            <a:ext cx="1070700" cy="40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79"/>
          <p:cNvSpPr txBox="1"/>
          <p:nvPr>
            <p:ph idx="1" type="body"/>
          </p:nvPr>
        </p:nvSpPr>
        <p:spPr>
          <a:xfrm>
            <a:off x="544500" y="28167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4000</a:t>
            </a:r>
            <a:endParaRPr sz="2400"/>
          </a:p>
        </p:txBody>
      </p:sp>
      <p:sp>
        <p:nvSpPr>
          <p:cNvPr id="963" name="Google Shape;963;p79"/>
          <p:cNvSpPr txBox="1"/>
          <p:nvPr>
            <p:ph idx="1" type="body"/>
          </p:nvPr>
        </p:nvSpPr>
        <p:spPr>
          <a:xfrm>
            <a:off x="2830500" y="28167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9</a:t>
            </a:r>
            <a:r>
              <a:rPr lang="en-GB" sz="2600"/>
              <a:t>00</a:t>
            </a:r>
            <a:endParaRPr sz="2600"/>
          </a:p>
        </p:txBody>
      </p:sp>
      <p:sp>
        <p:nvSpPr>
          <p:cNvPr id="964" name="Google Shape;964;p79"/>
          <p:cNvSpPr txBox="1"/>
          <p:nvPr>
            <p:ph idx="1" type="body"/>
          </p:nvPr>
        </p:nvSpPr>
        <p:spPr>
          <a:xfrm>
            <a:off x="4887900" y="28167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30</a:t>
            </a:r>
            <a:endParaRPr sz="2400"/>
          </a:p>
        </p:txBody>
      </p:sp>
      <p:sp>
        <p:nvSpPr>
          <p:cNvPr id="965" name="Google Shape;965;p79"/>
          <p:cNvSpPr txBox="1"/>
          <p:nvPr>
            <p:ph idx="1" type="body"/>
          </p:nvPr>
        </p:nvSpPr>
        <p:spPr>
          <a:xfrm>
            <a:off x="6564300" y="28167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5</a:t>
            </a:r>
            <a:endParaRPr sz="2400"/>
          </a:p>
        </p:txBody>
      </p:sp>
      <p:sp>
        <p:nvSpPr>
          <p:cNvPr id="966" name="Google Shape;966;p79"/>
          <p:cNvSpPr txBox="1"/>
          <p:nvPr>
            <p:ph idx="1" type="body"/>
          </p:nvPr>
        </p:nvSpPr>
        <p:spPr>
          <a:xfrm>
            <a:off x="544500" y="3350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4 × 1000</a:t>
            </a:r>
            <a:endParaRPr sz="2600"/>
          </a:p>
        </p:txBody>
      </p:sp>
      <p:sp>
        <p:nvSpPr>
          <p:cNvPr id="967" name="Google Shape;967;p79"/>
          <p:cNvSpPr txBox="1"/>
          <p:nvPr>
            <p:ph idx="1" type="body"/>
          </p:nvPr>
        </p:nvSpPr>
        <p:spPr>
          <a:xfrm>
            <a:off x="2830500" y="3350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9</a:t>
            </a:r>
            <a:r>
              <a:rPr lang="en-GB" sz="2600"/>
              <a:t> × 100</a:t>
            </a:r>
            <a:endParaRPr sz="2600"/>
          </a:p>
        </p:txBody>
      </p:sp>
      <p:sp>
        <p:nvSpPr>
          <p:cNvPr id="968" name="Google Shape;968;p79"/>
          <p:cNvSpPr txBox="1"/>
          <p:nvPr>
            <p:ph idx="1" type="body"/>
          </p:nvPr>
        </p:nvSpPr>
        <p:spPr>
          <a:xfrm>
            <a:off x="4887900" y="3350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3 × 10</a:t>
            </a:r>
            <a:endParaRPr sz="2600"/>
          </a:p>
        </p:txBody>
      </p:sp>
      <p:sp>
        <p:nvSpPr>
          <p:cNvPr id="969" name="Google Shape;969;p79"/>
          <p:cNvSpPr txBox="1"/>
          <p:nvPr>
            <p:ph idx="1" type="body"/>
          </p:nvPr>
        </p:nvSpPr>
        <p:spPr>
          <a:xfrm>
            <a:off x="6564300" y="3350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5 × 1</a:t>
            </a:r>
            <a:endParaRPr sz="2600"/>
          </a:p>
        </p:txBody>
      </p:sp>
      <p:sp>
        <p:nvSpPr>
          <p:cNvPr id="970" name="Google Shape;970;p79"/>
          <p:cNvSpPr txBox="1"/>
          <p:nvPr>
            <p:ph idx="1" type="body"/>
          </p:nvPr>
        </p:nvSpPr>
        <p:spPr>
          <a:xfrm>
            <a:off x="544500" y="4416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four thousands</a:t>
            </a:r>
            <a:endParaRPr sz="1800"/>
          </a:p>
        </p:txBody>
      </p:sp>
      <p:sp>
        <p:nvSpPr>
          <p:cNvPr id="971" name="Google Shape;971;p79"/>
          <p:cNvSpPr txBox="1"/>
          <p:nvPr>
            <p:ph idx="1" type="body"/>
          </p:nvPr>
        </p:nvSpPr>
        <p:spPr>
          <a:xfrm>
            <a:off x="2830500" y="4416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nine </a:t>
            </a:r>
            <a:r>
              <a:rPr lang="en-GB" sz="1800"/>
              <a:t>hundreds</a:t>
            </a:r>
            <a:endParaRPr sz="1800"/>
          </a:p>
        </p:txBody>
      </p:sp>
      <p:sp>
        <p:nvSpPr>
          <p:cNvPr id="972" name="Google Shape;972;p79"/>
          <p:cNvSpPr txBox="1"/>
          <p:nvPr>
            <p:ph idx="1" type="body"/>
          </p:nvPr>
        </p:nvSpPr>
        <p:spPr>
          <a:xfrm>
            <a:off x="4887900" y="4416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three tens</a:t>
            </a:r>
            <a:endParaRPr sz="1800"/>
          </a:p>
        </p:txBody>
      </p:sp>
      <p:sp>
        <p:nvSpPr>
          <p:cNvPr id="973" name="Google Shape;973;p79"/>
          <p:cNvSpPr txBox="1"/>
          <p:nvPr>
            <p:ph idx="1" type="body"/>
          </p:nvPr>
        </p:nvSpPr>
        <p:spPr>
          <a:xfrm>
            <a:off x="6564300" y="4416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five ones</a:t>
            </a:r>
            <a:endParaRPr sz="1800"/>
          </a:p>
        </p:txBody>
      </p:sp>
      <p:sp>
        <p:nvSpPr>
          <p:cNvPr id="974" name="Google Shape;974;p79"/>
          <p:cNvSpPr txBox="1"/>
          <p:nvPr>
            <p:ph idx="1" type="body"/>
          </p:nvPr>
        </p:nvSpPr>
        <p:spPr>
          <a:xfrm>
            <a:off x="544500" y="3883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4 × 10</a:t>
            </a:r>
            <a:r>
              <a:rPr baseline="30000" lang="en-GB" sz="26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79"/>
          <p:cNvSpPr txBox="1"/>
          <p:nvPr>
            <p:ph idx="1" type="body"/>
          </p:nvPr>
        </p:nvSpPr>
        <p:spPr>
          <a:xfrm>
            <a:off x="2830500" y="3883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9 </a:t>
            </a:r>
            <a:r>
              <a:rPr lang="en-GB" sz="2600"/>
              <a:t>×</a:t>
            </a:r>
            <a:r>
              <a:rPr lang="en-GB" sz="2400"/>
              <a:t> 10</a:t>
            </a:r>
            <a:r>
              <a:rPr baseline="30000" lang="en-GB" sz="2400"/>
              <a:t>2</a:t>
            </a:r>
            <a:endParaRPr baseline="30000" sz="2400"/>
          </a:p>
        </p:txBody>
      </p:sp>
      <p:sp>
        <p:nvSpPr>
          <p:cNvPr id="976" name="Google Shape;976;p79"/>
          <p:cNvSpPr txBox="1"/>
          <p:nvPr>
            <p:ph idx="1" type="body"/>
          </p:nvPr>
        </p:nvSpPr>
        <p:spPr>
          <a:xfrm>
            <a:off x="4887900" y="3883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3 × 10</a:t>
            </a:r>
            <a:r>
              <a:rPr baseline="30000" lang="en-GB" sz="2600">
                <a:latin typeface="Kalam"/>
                <a:ea typeface="Kalam"/>
                <a:cs typeface="Kalam"/>
                <a:sym typeface="Kalam"/>
              </a:rPr>
              <a:t>1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79"/>
          <p:cNvSpPr txBox="1"/>
          <p:nvPr>
            <p:ph idx="1" type="body"/>
          </p:nvPr>
        </p:nvSpPr>
        <p:spPr>
          <a:xfrm>
            <a:off x="6564300" y="3883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5 × 10</a:t>
            </a:r>
            <a:r>
              <a:rPr baseline="30000" lang="en-GB" sz="2600">
                <a:latin typeface="Kalam"/>
                <a:ea typeface="Kalam"/>
                <a:cs typeface="Kalam"/>
                <a:sym typeface="Kalam"/>
              </a:rPr>
              <a:t>0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8" name="Google Shape;978;p79"/>
          <p:cNvCxnSpPr/>
          <p:nvPr/>
        </p:nvCxnSpPr>
        <p:spPr>
          <a:xfrm>
            <a:off x="548800" y="4284975"/>
            <a:ext cx="125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79"/>
          <p:cNvCxnSpPr/>
          <p:nvPr/>
        </p:nvCxnSpPr>
        <p:spPr>
          <a:xfrm>
            <a:off x="4739800" y="4284975"/>
            <a:ext cx="125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9"/>
          <p:cNvCxnSpPr/>
          <p:nvPr/>
        </p:nvCxnSpPr>
        <p:spPr>
          <a:xfrm>
            <a:off x="6492400" y="4284975"/>
            <a:ext cx="125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0"/>
          <p:cNvSpPr txBox="1"/>
          <p:nvPr>
            <p:ph idx="1" type="body"/>
          </p:nvPr>
        </p:nvSpPr>
        <p:spPr>
          <a:xfrm>
            <a:off x="324000" y="759300"/>
            <a:ext cx="8237700" cy="11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this number?</a:t>
            </a:r>
            <a:endParaRPr/>
          </a:p>
        </p:txBody>
      </p:sp>
      <p:sp>
        <p:nvSpPr>
          <p:cNvPr id="986" name="Google Shape;98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987" name="Google Shape;987;p80"/>
          <p:cNvSpPr txBox="1"/>
          <p:nvPr>
            <p:ph idx="1" type="body"/>
          </p:nvPr>
        </p:nvSpPr>
        <p:spPr>
          <a:xfrm>
            <a:off x="3209550" y="2054700"/>
            <a:ext cx="21141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800">
                <a:latin typeface="Kalam"/>
                <a:ea typeface="Kalam"/>
                <a:cs typeface="Kalam"/>
                <a:sym typeface="Kalam"/>
              </a:rPr>
              <a:t>8276</a:t>
            </a:r>
            <a:endParaRPr sz="4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80"/>
          <p:cNvSpPr txBox="1"/>
          <p:nvPr>
            <p:ph idx="1" type="body"/>
          </p:nvPr>
        </p:nvSpPr>
        <p:spPr>
          <a:xfrm>
            <a:off x="696900" y="1368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8</a:t>
            </a:r>
            <a:r>
              <a:rPr lang="en-GB" sz="2800"/>
              <a:t> × 10</a:t>
            </a:r>
            <a:r>
              <a:rPr baseline="30000" lang="en-GB" sz="2800"/>
              <a:t>3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989" name="Google Shape;989;p80"/>
          <p:cNvSpPr txBox="1"/>
          <p:nvPr>
            <p:ph idx="1" type="body"/>
          </p:nvPr>
        </p:nvSpPr>
        <p:spPr>
          <a:xfrm>
            <a:off x="2830500" y="1368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2</a:t>
            </a:r>
            <a:r>
              <a:rPr lang="en-GB" sz="2800"/>
              <a:t> × 10</a:t>
            </a:r>
            <a:r>
              <a:rPr baseline="30000" lang="en-GB" sz="2800"/>
              <a:t>2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990" name="Google Shape;990;p80"/>
          <p:cNvSpPr txBox="1"/>
          <p:nvPr>
            <p:ph idx="1" type="body"/>
          </p:nvPr>
        </p:nvSpPr>
        <p:spPr>
          <a:xfrm>
            <a:off x="4735500" y="1368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7</a:t>
            </a:r>
            <a:r>
              <a:rPr lang="en-GB" sz="2800"/>
              <a:t> × 10</a:t>
            </a:r>
            <a:r>
              <a:rPr baseline="30000" lang="en-GB" sz="2800"/>
              <a:t>1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991" name="Google Shape;991;p80"/>
          <p:cNvSpPr txBox="1"/>
          <p:nvPr>
            <p:ph idx="1" type="body"/>
          </p:nvPr>
        </p:nvSpPr>
        <p:spPr>
          <a:xfrm>
            <a:off x="6564300" y="13689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6</a:t>
            </a:r>
            <a:r>
              <a:rPr lang="en-GB" sz="2800"/>
              <a:t> × 10</a:t>
            </a:r>
            <a:r>
              <a:rPr baseline="30000" lang="en-GB" sz="2800"/>
              <a:t>0</a:t>
            </a:r>
            <a:endParaRPr baseline="30000" sz="2800"/>
          </a:p>
        </p:txBody>
      </p:sp>
      <p:graphicFrame>
        <p:nvGraphicFramePr>
          <p:cNvPr id="992" name="Google Shape;992;p80"/>
          <p:cNvGraphicFramePr/>
          <p:nvPr/>
        </p:nvGraphicFramePr>
        <p:xfrm>
          <a:off x="1059950" y="30111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96625"/>
                <a:gridCol w="1096625"/>
                <a:gridCol w="1096625"/>
                <a:gridCol w="1096625"/>
                <a:gridCol w="1096625"/>
                <a:gridCol w="1096625"/>
              </a:tblGrid>
              <a:tr h="46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3" name="Google Shape;993;p80"/>
          <p:cNvSpPr txBox="1"/>
          <p:nvPr>
            <p:ph idx="1" type="body"/>
          </p:nvPr>
        </p:nvSpPr>
        <p:spPr>
          <a:xfrm>
            <a:off x="3253200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4" name="Google Shape;994;p80"/>
          <p:cNvSpPr txBox="1"/>
          <p:nvPr/>
        </p:nvSpPr>
        <p:spPr>
          <a:xfrm>
            <a:off x="11330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22506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33682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0"/>
          <p:cNvSpPr txBox="1"/>
          <p:nvPr/>
        </p:nvSpPr>
        <p:spPr>
          <a:xfrm>
            <a:off x="44858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>
            <a:off x="67210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0"/>
          <p:cNvSpPr txBox="1"/>
          <p:nvPr/>
        </p:nvSpPr>
        <p:spPr>
          <a:xfrm>
            <a:off x="56034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0"/>
          <p:cNvSpPr txBox="1"/>
          <p:nvPr>
            <p:ph idx="1" type="body"/>
          </p:nvPr>
        </p:nvSpPr>
        <p:spPr>
          <a:xfrm>
            <a:off x="4350000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>
            <p:ph idx="1" type="body"/>
          </p:nvPr>
        </p:nvSpPr>
        <p:spPr>
          <a:xfrm>
            <a:off x="5446450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0"/>
          <p:cNvSpPr txBox="1"/>
          <p:nvPr>
            <p:ph idx="1" type="body"/>
          </p:nvPr>
        </p:nvSpPr>
        <p:spPr>
          <a:xfrm>
            <a:off x="6543075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1"/>
          <p:cNvSpPr txBox="1"/>
          <p:nvPr>
            <p:ph idx="1" type="body"/>
          </p:nvPr>
        </p:nvSpPr>
        <p:spPr>
          <a:xfrm>
            <a:off x="324000" y="759300"/>
            <a:ext cx="82377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this number?</a:t>
            </a:r>
            <a:endParaRPr/>
          </a:p>
        </p:txBody>
      </p:sp>
      <p:sp>
        <p:nvSpPr>
          <p:cNvPr id="1008" name="Google Shape;100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1009" name="Google Shape;1009;p81"/>
          <p:cNvSpPr txBox="1"/>
          <p:nvPr>
            <p:ph idx="1" type="body"/>
          </p:nvPr>
        </p:nvSpPr>
        <p:spPr>
          <a:xfrm>
            <a:off x="925500" y="1445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8 </a:t>
            </a:r>
            <a:r>
              <a:rPr lang="en-GB" sz="2800"/>
              <a:t>×</a:t>
            </a:r>
            <a:r>
              <a:rPr lang="en-GB" sz="2800"/>
              <a:t> 10</a:t>
            </a:r>
            <a:r>
              <a:rPr baseline="30000" lang="en-GB" sz="2800"/>
              <a:t>5</a:t>
            </a:r>
            <a:endParaRPr baseline="30000" sz="2800"/>
          </a:p>
        </p:txBody>
      </p:sp>
      <p:sp>
        <p:nvSpPr>
          <p:cNvPr id="1010" name="Google Shape;1010;p81"/>
          <p:cNvSpPr txBox="1"/>
          <p:nvPr>
            <p:ph idx="1" type="body"/>
          </p:nvPr>
        </p:nvSpPr>
        <p:spPr>
          <a:xfrm>
            <a:off x="2830500" y="1445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2 × 10</a:t>
            </a:r>
            <a:r>
              <a:rPr baseline="30000" lang="en-GB" sz="2800"/>
              <a:t>4</a:t>
            </a:r>
            <a:endParaRPr baseline="30000" sz="2800"/>
          </a:p>
        </p:txBody>
      </p:sp>
      <p:sp>
        <p:nvSpPr>
          <p:cNvPr id="1011" name="Google Shape;1011;p81"/>
          <p:cNvSpPr txBox="1"/>
          <p:nvPr>
            <p:ph idx="1" type="body"/>
          </p:nvPr>
        </p:nvSpPr>
        <p:spPr>
          <a:xfrm>
            <a:off x="4735500" y="1445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7 × 10</a:t>
            </a:r>
            <a:r>
              <a:rPr baseline="30000" lang="en-GB" sz="2800"/>
              <a:t>3</a:t>
            </a:r>
            <a:endParaRPr baseline="30000" sz="2800"/>
          </a:p>
        </p:txBody>
      </p:sp>
      <p:sp>
        <p:nvSpPr>
          <p:cNvPr id="1012" name="Google Shape;1012;p81"/>
          <p:cNvSpPr txBox="1"/>
          <p:nvPr>
            <p:ph idx="1" type="body"/>
          </p:nvPr>
        </p:nvSpPr>
        <p:spPr>
          <a:xfrm>
            <a:off x="6564300" y="14451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6 × 10</a:t>
            </a:r>
            <a:r>
              <a:rPr baseline="30000" lang="en-GB" sz="2800"/>
              <a:t>0</a:t>
            </a:r>
            <a:endParaRPr baseline="30000" sz="2800"/>
          </a:p>
        </p:txBody>
      </p:sp>
      <p:sp>
        <p:nvSpPr>
          <p:cNvPr id="1013" name="Google Shape;1013;p81"/>
          <p:cNvSpPr txBox="1"/>
          <p:nvPr>
            <p:ph idx="1" type="body"/>
          </p:nvPr>
        </p:nvSpPr>
        <p:spPr>
          <a:xfrm>
            <a:off x="2297100" y="1445100"/>
            <a:ext cx="4359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+</a:t>
            </a:r>
            <a:endParaRPr baseline="30000" sz="2800"/>
          </a:p>
        </p:txBody>
      </p:sp>
      <p:sp>
        <p:nvSpPr>
          <p:cNvPr id="1014" name="Google Shape;1014;p81"/>
          <p:cNvSpPr txBox="1"/>
          <p:nvPr>
            <p:ph idx="1" type="body"/>
          </p:nvPr>
        </p:nvSpPr>
        <p:spPr>
          <a:xfrm>
            <a:off x="4202100" y="1445100"/>
            <a:ext cx="4359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+</a:t>
            </a:r>
            <a:endParaRPr baseline="30000" sz="2800"/>
          </a:p>
        </p:txBody>
      </p:sp>
      <p:sp>
        <p:nvSpPr>
          <p:cNvPr id="1015" name="Google Shape;1015;p81"/>
          <p:cNvSpPr txBox="1"/>
          <p:nvPr>
            <p:ph idx="1" type="body"/>
          </p:nvPr>
        </p:nvSpPr>
        <p:spPr>
          <a:xfrm>
            <a:off x="6107100" y="1445100"/>
            <a:ext cx="4359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+</a:t>
            </a:r>
            <a:endParaRPr baseline="30000" sz="2800"/>
          </a:p>
        </p:txBody>
      </p:sp>
      <p:sp>
        <p:nvSpPr>
          <p:cNvPr id="1016" name="Google Shape;1016;p81"/>
          <p:cNvSpPr txBox="1"/>
          <p:nvPr/>
        </p:nvSpPr>
        <p:spPr>
          <a:xfrm>
            <a:off x="2519700" y="1991100"/>
            <a:ext cx="410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827 006</a:t>
            </a:r>
            <a:endParaRPr sz="4000"/>
          </a:p>
        </p:txBody>
      </p:sp>
      <p:graphicFrame>
        <p:nvGraphicFramePr>
          <p:cNvPr id="1017" name="Google Shape;1017;p81"/>
          <p:cNvGraphicFramePr/>
          <p:nvPr/>
        </p:nvGraphicFramePr>
        <p:xfrm>
          <a:off x="1059950" y="30111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96625"/>
                <a:gridCol w="1096625"/>
                <a:gridCol w="1096625"/>
                <a:gridCol w="1096625"/>
                <a:gridCol w="1096625"/>
                <a:gridCol w="1096625"/>
              </a:tblGrid>
              <a:tr h="46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8" name="Google Shape;1018;p81"/>
          <p:cNvSpPr txBox="1"/>
          <p:nvPr>
            <p:ph idx="1" type="body"/>
          </p:nvPr>
        </p:nvSpPr>
        <p:spPr>
          <a:xfrm>
            <a:off x="1058573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11330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22506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 txBox="1"/>
          <p:nvPr/>
        </p:nvSpPr>
        <p:spPr>
          <a:xfrm>
            <a:off x="33682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 txBox="1"/>
          <p:nvPr/>
        </p:nvSpPr>
        <p:spPr>
          <a:xfrm>
            <a:off x="44858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 txBox="1"/>
          <p:nvPr/>
        </p:nvSpPr>
        <p:spPr>
          <a:xfrm>
            <a:off x="67210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 txBox="1"/>
          <p:nvPr/>
        </p:nvSpPr>
        <p:spPr>
          <a:xfrm>
            <a:off x="5603400" y="3446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 txBox="1"/>
          <p:nvPr>
            <p:ph idx="1" type="body"/>
          </p:nvPr>
        </p:nvSpPr>
        <p:spPr>
          <a:xfrm>
            <a:off x="2155373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1"/>
          <p:cNvSpPr txBox="1"/>
          <p:nvPr>
            <p:ph idx="1" type="body"/>
          </p:nvPr>
        </p:nvSpPr>
        <p:spPr>
          <a:xfrm>
            <a:off x="3251823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81"/>
          <p:cNvSpPr txBox="1"/>
          <p:nvPr>
            <p:ph idx="1" type="body"/>
          </p:nvPr>
        </p:nvSpPr>
        <p:spPr>
          <a:xfrm>
            <a:off x="6543075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8" name="Google Shape;1028;p81"/>
          <p:cNvSpPr txBox="1"/>
          <p:nvPr>
            <p:ph idx="1" type="body"/>
          </p:nvPr>
        </p:nvSpPr>
        <p:spPr>
          <a:xfrm>
            <a:off x="4349223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81"/>
          <p:cNvSpPr txBox="1"/>
          <p:nvPr>
            <p:ph idx="1" type="body"/>
          </p:nvPr>
        </p:nvSpPr>
        <p:spPr>
          <a:xfrm>
            <a:off x="5445073" y="3990375"/>
            <a:ext cx="10968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2"/>
          <p:cNvSpPr txBox="1"/>
          <p:nvPr>
            <p:ph idx="1" type="body"/>
          </p:nvPr>
        </p:nvSpPr>
        <p:spPr>
          <a:xfrm>
            <a:off x="324000" y="2002775"/>
            <a:ext cx="8237700" cy="9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writes this.</a:t>
            </a:r>
            <a:endParaRPr/>
          </a:p>
        </p:txBody>
      </p:sp>
      <p:sp>
        <p:nvSpPr>
          <p:cNvPr id="1035" name="Google Shape;103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1036" name="Google Shape;1036;p82"/>
          <p:cNvSpPr txBox="1"/>
          <p:nvPr>
            <p:ph idx="1" type="body"/>
          </p:nvPr>
        </p:nvSpPr>
        <p:spPr>
          <a:xfrm>
            <a:off x="2497475" y="2871750"/>
            <a:ext cx="1056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/>
              <a:t>8276</a:t>
            </a:r>
            <a:endParaRPr sz="3000"/>
          </a:p>
        </p:txBody>
      </p:sp>
      <p:sp>
        <p:nvSpPr>
          <p:cNvPr id="1037" name="Google Shape;1037;p82"/>
          <p:cNvSpPr txBox="1"/>
          <p:nvPr>
            <p:ph idx="1" type="body"/>
          </p:nvPr>
        </p:nvSpPr>
        <p:spPr>
          <a:xfrm>
            <a:off x="773100" y="12927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8 × 10</a:t>
            </a:r>
            <a:r>
              <a:rPr baseline="30000" lang="en-GB" sz="2800"/>
              <a:t>6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1038" name="Google Shape;1038;p82"/>
          <p:cNvSpPr txBox="1"/>
          <p:nvPr>
            <p:ph idx="1" type="body"/>
          </p:nvPr>
        </p:nvSpPr>
        <p:spPr>
          <a:xfrm>
            <a:off x="2678100" y="12927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2 × 10</a:t>
            </a:r>
            <a:r>
              <a:rPr baseline="30000" lang="en-GB" sz="2800"/>
              <a:t>5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1039" name="Google Shape;1039;p82"/>
          <p:cNvSpPr txBox="1"/>
          <p:nvPr>
            <p:ph idx="1" type="body"/>
          </p:nvPr>
        </p:nvSpPr>
        <p:spPr>
          <a:xfrm>
            <a:off x="4506900" y="12927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7 × 10</a:t>
            </a:r>
            <a:r>
              <a:rPr baseline="30000" lang="en-GB" sz="2800"/>
              <a:t>4</a:t>
            </a:r>
            <a:r>
              <a:rPr lang="en-GB" sz="2800"/>
              <a:t>  +</a:t>
            </a:r>
            <a:endParaRPr baseline="30000" sz="2800"/>
          </a:p>
        </p:txBody>
      </p:sp>
      <p:sp>
        <p:nvSpPr>
          <p:cNvPr id="1040" name="Google Shape;1040;p82"/>
          <p:cNvSpPr txBox="1"/>
          <p:nvPr>
            <p:ph idx="1" type="body"/>
          </p:nvPr>
        </p:nvSpPr>
        <p:spPr>
          <a:xfrm>
            <a:off x="6335700" y="12927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6 × 10</a:t>
            </a:r>
            <a:r>
              <a:rPr baseline="30000" lang="en-GB" sz="2800"/>
              <a:t>3</a:t>
            </a:r>
            <a:endParaRPr baseline="30000" sz="2800"/>
          </a:p>
        </p:txBody>
      </p:sp>
      <p:sp>
        <p:nvSpPr>
          <p:cNvPr id="1041" name="Google Shape;1041;p82"/>
          <p:cNvSpPr txBox="1"/>
          <p:nvPr>
            <p:ph idx="1" type="body"/>
          </p:nvPr>
        </p:nvSpPr>
        <p:spPr>
          <a:xfrm>
            <a:off x="4430700" y="2895000"/>
            <a:ext cx="2358900" cy="4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8 276 000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42" name="Google Shape;104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4153" y="2464775"/>
            <a:ext cx="1056375" cy="12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82"/>
          <p:cNvSpPr txBox="1"/>
          <p:nvPr>
            <p:ph idx="1" type="body"/>
          </p:nvPr>
        </p:nvSpPr>
        <p:spPr>
          <a:xfrm>
            <a:off x="324000" y="3883500"/>
            <a:ext cx="5881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has Alex done wrong?</a:t>
            </a:r>
            <a:endParaRPr/>
          </a:p>
        </p:txBody>
      </p:sp>
      <p:sp>
        <p:nvSpPr>
          <p:cNvPr id="1044" name="Google Shape;1044;p82"/>
          <p:cNvSpPr txBox="1"/>
          <p:nvPr>
            <p:ph idx="1" type="body"/>
          </p:nvPr>
        </p:nvSpPr>
        <p:spPr>
          <a:xfrm>
            <a:off x="324000" y="807000"/>
            <a:ext cx="5881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this number?</a:t>
            </a:r>
            <a:endParaRPr/>
          </a:p>
        </p:txBody>
      </p:sp>
      <p:sp>
        <p:nvSpPr>
          <p:cNvPr id="1045" name="Google Shape;1045;p82"/>
          <p:cNvSpPr txBox="1"/>
          <p:nvPr>
            <p:ph idx="1" type="body"/>
          </p:nvPr>
        </p:nvSpPr>
        <p:spPr>
          <a:xfrm>
            <a:off x="4430700" y="3502500"/>
            <a:ext cx="4054800" cy="9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just written the digits 8, 2, 7 and 6 in order. He hasn’t considered the place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" name="Google Shape;1050;p83"/>
          <p:cNvGraphicFramePr/>
          <p:nvPr/>
        </p:nvGraphicFramePr>
        <p:xfrm>
          <a:off x="3480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223700"/>
                <a:gridCol w="19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1" name="Google Shape;1051;p83"/>
          <p:cNvSpPr txBox="1"/>
          <p:nvPr>
            <p:ph idx="1" type="body"/>
          </p:nvPr>
        </p:nvSpPr>
        <p:spPr>
          <a:xfrm>
            <a:off x="324000" y="759300"/>
            <a:ext cx="82377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blanks.</a:t>
            </a:r>
            <a:endParaRPr/>
          </a:p>
        </p:txBody>
      </p:sp>
      <p:sp>
        <p:nvSpPr>
          <p:cNvPr id="1052" name="Google Shape;1052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1053" name="Google Shape;1053;p83"/>
          <p:cNvSpPr txBox="1"/>
          <p:nvPr>
            <p:ph idx="4294967295" type="subTitle"/>
          </p:nvPr>
        </p:nvSpPr>
        <p:spPr>
          <a:xfrm>
            <a:off x="2253625" y="2558267"/>
            <a:ext cx="5469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10</a:t>
            </a:r>
            <a:r>
              <a:rPr baseline="30000" lang="en-GB" sz="2000"/>
              <a:t>2</a:t>
            </a:r>
            <a:endParaRPr baseline="30000" sz="2000"/>
          </a:p>
        </p:txBody>
      </p:sp>
      <p:cxnSp>
        <p:nvCxnSpPr>
          <p:cNvPr id="1054" name="Google Shape;1054;p83"/>
          <p:cNvCxnSpPr/>
          <p:nvPr/>
        </p:nvCxnSpPr>
        <p:spPr>
          <a:xfrm>
            <a:off x="1992300" y="19947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83"/>
          <p:cNvCxnSpPr/>
          <p:nvPr/>
        </p:nvCxnSpPr>
        <p:spPr>
          <a:xfrm>
            <a:off x="1992300" y="24519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83"/>
          <p:cNvCxnSpPr/>
          <p:nvPr/>
        </p:nvCxnSpPr>
        <p:spPr>
          <a:xfrm>
            <a:off x="1992300" y="32901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83"/>
          <p:cNvCxnSpPr/>
          <p:nvPr/>
        </p:nvCxnSpPr>
        <p:spPr>
          <a:xfrm>
            <a:off x="1992300" y="37219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83"/>
          <p:cNvCxnSpPr/>
          <p:nvPr/>
        </p:nvCxnSpPr>
        <p:spPr>
          <a:xfrm>
            <a:off x="1992300" y="41537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83"/>
          <p:cNvCxnSpPr/>
          <p:nvPr/>
        </p:nvCxnSpPr>
        <p:spPr>
          <a:xfrm>
            <a:off x="1992300" y="45855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1065" name="Google Shape;106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Fill in the blanks.</a:t>
            </a:r>
            <a:endParaRPr/>
          </a:p>
        </p:txBody>
      </p:sp>
      <p:sp>
        <p:nvSpPr>
          <p:cNvPr id="1066" name="Google Shape;1066;p84"/>
          <p:cNvSpPr txBox="1"/>
          <p:nvPr>
            <p:ph idx="4294967295" type="body"/>
          </p:nvPr>
        </p:nvSpPr>
        <p:spPr>
          <a:xfrm>
            <a:off x="1674800" y="1054500"/>
            <a:ext cx="1684800" cy="4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600"/>
              <a:t>372 500</a:t>
            </a:r>
            <a:endParaRPr sz="3600"/>
          </a:p>
        </p:txBody>
      </p:sp>
      <p:cxnSp>
        <p:nvCxnSpPr>
          <p:cNvPr id="1067" name="Google Shape;1067;p84"/>
          <p:cNvCxnSpPr/>
          <p:nvPr/>
        </p:nvCxnSpPr>
        <p:spPr>
          <a:xfrm flipH="1">
            <a:off x="1095975" y="1621700"/>
            <a:ext cx="567900" cy="44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8" name="Google Shape;1068;p84"/>
          <p:cNvSpPr txBox="1"/>
          <p:nvPr>
            <p:ph idx="4294967295" type="body"/>
          </p:nvPr>
        </p:nvSpPr>
        <p:spPr>
          <a:xfrm>
            <a:off x="2525700" y="2130900"/>
            <a:ext cx="1009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</a:t>
            </a:r>
            <a:r>
              <a:rPr lang="en-GB"/>
              <a:t>×</a:t>
            </a:r>
            <a:r>
              <a:rPr lang="en-GB"/>
              <a:t> 10</a:t>
            </a:r>
            <a:r>
              <a:rPr baseline="30000" lang="en-GB"/>
              <a:t>3</a:t>
            </a:r>
            <a:endParaRPr baseline="30000"/>
          </a:p>
        </p:txBody>
      </p:sp>
      <p:cxnSp>
        <p:nvCxnSpPr>
          <p:cNvPr id="1069" name="Google Shape;1069;p84"/>
          <p:cNvCxnSpPr/>
          <p:nvPr/>
        </p:nvCxnSpPr>
        <p:spPr>
          <a:xfrm flipH="1">
            <a:off x="1831500" y="1621800"/>
            <a:ext cx="137100" cy="43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84"/>
          <p:cNvCxnSpPr/>
          <p:nvPr/>
        </p:nvCxnSpPr>
        <p:spPr>
          <a:xfrm>
            <a:off x="2288550" y="1621800"/>
            <a:ext cx="393900" cy="43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84"/>
          <p:cNvCxnSpPr/>
          <p:nvPr/>
        </p:nvCxnSpPr>
        <p:spPr>
          <a:xfrm>
            <a:off x="2669550" y="1621800"/>
            <a:ext cx="1009800" cy="4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84"/>
          <p:cNvSpPr txBox="1"/>
          <p:nvPr>
            <p:ph idx="1" type="body"/>
          </p:nvPr>
        </p:nvSpPr>
        <p:spPr>
          <a:xfrm>
            <a:off x="324000" y="2816700"/>
            <a:ext cx="3401400" cy="4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Write these numbers.</a:t>
            </a:r>
            <a:endParaRPr/>
          </a:p>
        </p:txBody>
      </p:sp>
      <p:sp>
        <p:nvSpPr>
          <p:cNvPr id="1073" name="Google Shape;1073;p84"/>
          <p:cNvSpPr txBox="1"/>
          <p:nvPr>
            <p:ph idx="4294967295" type="body"/>
          </p:nvPr>
        </p:nvSpPr>
        <p:spPr>
          <a:xfrm>
            <a:off x="671675" y="3273900"/>
            <a:ext cx="4360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 × 10</a:t>
            </a:r>
            <a:r>
              <a:rPr baseline="30000" lang="en-GB" sz="2000"/>
              <a:t>3</a:t>
            </a:r>
            <a:r>
              <a:rPr lang="en-GB" sz="2000"/>
              <a:t> + 5 × 10</a:t>
            </a:r>
            <a:r>
              <a:rPr baseline="30000" lang="en-GB" sz="2000"/>
              <a:t>2</a:t>
            </a:r>
            <a:r>
              <a:rPr lang="en-GB" sz="2000"/>
              <a:t> + 8 × 10</a:t>
            </a:r>
            <a:r>
              <a:rPr baseline="30000" lang="en-GB" sz="2000"/>
              <a:t>1</a:t>
            </a:r>
            <a:r>
              <a:rPr lang="en-GB" sz="2000"/>
              <a:t> + 4 × 10</a:t>
            </a:r>
            <a:r>
              <a:rPr baseline="30000" lang="en-GB" sz="2000"/>
              <a:t>0</a:t>
            </a:r>
            <a:endParaRPr baseline="30000" sz="2000"/>
          </a:p>
        </p:txBody>
      </p:sp>
      <p:sp>
        <p:nvSpPr>
          <p:cNvPr id="1074" name="Google Shape;1074;p84"/>
          <p:cNvSpPr txBox="1"/>
          <p:nvPr>
            <p:ph idx="4294967295" type="body"/>
          </p:nvPr>
        </p:nvSpPr>
        <p:spPr>
          <a:xfrm>
            <a:off x="643325" y="3780000"/>
            <a:ext cx="3243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× 10</a:t>
            </a:r>
            <a:r>
              <a:rPr baseline="30000" lang="en-GB" sz="2000"/>
              <a:t>6</a:t>
            </a:r>
            <a:r>
              <a:rPr lang="en-GB" sz="2000"/>
              <a:t> + 8 × 10</a:t>
            </a:r>
            <a:r>
              <a:rPr baseline="30000" lang="en-GB" sz="2000"/>
              <a:t>5</a:t>
            </a:r>
            <a:r>
              <a:rPr lang="en-GB" sz="2000"/>
              <a:t> + 3 × 10</a:t>
            </a:r>
            <a:r>
              <a:rPr baseline="30000" lang="en-GB" sz="2000"/>
              <a:t>4</a:t>
            </a:r>
            <a:endParaRPr baseline="30000" sz="2000"/>
          </a:p>
        </p:txBody>
      </p:sp>
      <p:sp>
        <p:nvSpPr>
          <p:cNvPr id="1075" name="Google Shape;1075;p84"/>
          <p:cNvSpPr txBox="1"/>
          <p:nvPr>
            <p:ph idx="4294967295" type="body"/>
          </p:nvPr>
        </p:nvSpPr>
        <p:spPr>
          <a:xfrm>
            <a:off x="671675" y="4324200"/>
            <a:ext cx="3186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× 10</a:t>
            </a:r>
            <a:r>
              <a:rPr baseline="30000" lang="en-GB" sz="2000"/>
              <a:t>6</a:t>
            </a:r>
            <a:r>
              <a:rPr lang="en-GB" sz="2000"/>
              <a:t> + 8 × 10</a:t>
            </a:r>
            <a:r>
              <a:rPr baseline="30000" lang="en-GB" sz="2000"/>
              <a:t>3</a:t>
            </a:r>
            <a:r>
              <a:rPr lang="en-GB" sz="2000"/>
              <a:t> + 3 × 10</a:t>
            </a:r>
            <a:r>
              <a:rPr baseline="30000" lang="en-GB" sz="2000"/>
              <a:t>0</a:t>
            </a:r>
            <a:endParaRPr baseline="30000" sz="2000"/>
          </a:p>
        </p:txBody>
      </p:sp>
      <p:cxnSp>
        <p:nvCxnSpPr>
          <p:cNvPr id="1076" name="Google Shape;1076;p84"/>
          <p:cNvCxnSpPr/>
          <p:nvPr/>
        </p:nvCxnSpPr>
        <p:spPr>
          <a:xfrm>
            <a:off x="1382700" y="24519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84"/>
          <p:cNvCxnSpPr/>
          <p:nvPr/>
        </p:nvCxnSpPr>
        <p:spPr>
          <a:xfrm>
            <a:off x="315900" y="24519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84"/>
          <p:cNvCxnSpPr/>
          <p:nvPr/>
        </p:nvCxnSpPr>
        <p:spPr>
          <a:xfrm>
            <a:off x="3668700" y="2451900"/>
            <a:ext cx="8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3" name="Google Shape;1083;p85"/>
          <p:cNvGraphicFramePr/>
          <p:nvPr/>
        </p:nvGraphicFramePr>
        <p:xfrm>
          <a:off x="3480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223700"/>
                <a:gridCol w="19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4" name="Google Shape;1084;p85"/>
          <p:cNvSpPr txBox="1"/>
          <p:nvPr>
            <p:ph idx="1" type="body"/>
          </p:nvPr>
        </p:nvSpPr>
        <p:spPr>
          <a:xfrm>
            <a:off x="324000" y="759300"/>
            <a:ext cx="82377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Fill in the blanks.</a:t>
            </a:r>
            <a:endParaRPr/>
          </a:p>
        </p:txBody>
      </p:sp>
      <p:sp>
        <p:nvSpPr>
          <p:cNvPr id="1085" name="Google Shape;1085;p85"/>
          <p:cNvSpPr txBox="1"/>
          <p:nvPr>
            <p:ph idx="4294967295" type="subTitle"/>
          </p:nvPr>
        </p:nvSpPr>
        <p:spPr>
          <a:xfrm>
            <a:off x="1571725" y="2593675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086" name="Google Shape;1086;p85"/>
          <p:cNvSpPr txBox="1"/>
          <p:nvPr>
            <p:ph idx="4294967295" type="subTitle"/>
          </p:nvPr>
        </p:nvSpPr>
        <p:spPr>
          <a:xfrm>
            <a:off x="1571725" y="3001400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85"/>
          <p:cNvSpPr txBox="1"/>
          <p:nvPr>
            <p:ph idx="4294967295" type="subTitle"/>
          </p:nvPr>
        </p:nvSpPr>
        <p:spPr>
          <a:xfrm>
            <a:off x="1570025" y="3434400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4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8" name="Google Shape;1088;p85"/>
          <p:cNvSpPr txBox="1"/>
          <p:nvPr>
            <p:ph idx="4294967295" type="subTitle"/>
          </p:nvPr>
        </p:nvSpPr>
        <p:spPr>
          <a:xfrm>
            <a:off x="1570025" y="3862375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5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9" name="Google Shape;1089;p85"/>
          <p:cNvSpPr txBox="1"/>
          <p:nvPr>
            <p:ph idx="4294967295" type="subTitle"/>
          </p:nvPr>
        </p:nvSpPr>
        <p:spPr>
          <a:xfrm>
            <a:off x="1570025" y="4285275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6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85"/>
          <p:cNvSpPr txBox="1"/>
          <p:nvPr>
            <p:ph idx="4294967295" type="subTitle"/>
          </p:nvPr>
        </p:nvSpPr>
        <p:spPr>
          <a:xfrm>
            <a:off x="1571700" y="1722075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0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85"/>
          <p:cNvSpPr txBox="1"/>
          <p:nvPr>
            <p:ph idx="4294967295" type="subTitle"/>
          </p:nvPr>
        </p:nvSpPr>
        <p:spPr>
          <a:xfrm>
            <a:off x="1571725" y="2141950"/>
            <a:ext cx="1963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latin typeface="Kalam"/>
                <a:ea typeface="Kalam"/>
                <a:cs typeface="Kalam"/>
                <a:sym typeface="Kalam"/>
              </a:rPr>
              <a:t>1</a:t>
            </a:r>
            <a:endParaRPr baseline="30000"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Fill in the blanks.</a:t>
            </a:r>
            <a:endParaRPr/>
          </a:p>
        </p:txBody>
      </p:sp>
      <p:sp>
        <p:nvSpPr>
          <p:cNvPr id="1098" name="Google Shape;1098;p86"/>
          <p:cNvSpPr txBox="1"/>
          <p:nvPr>
            <p:ph idx="4294967295" type="body"/>
          </p:nvPr>
        </p:nvSpPr>
        <p:spPr>
          <a:xfrm>
            <a:off x="1827200" y="1130700"/>
            <a:ext cx="1684800" cy="4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600"/>
              <a:t>372 500</a:t>
            </a:r>
            <a:endParaRPr sz="3600"/>
          </a:p>
        </p:txBody>
      </p:sp>
      <p:cxnSp>
        <p:nvCxnSpPr>
          <p:cNvPr id="1099" name="Google Shape;1099;p86"/>
          <p:cNvCxnSpPr/>
          <p:nvPr/>
        </p:nvCxnSpPr>
        <p:spPr>
          <a:xfrm flipH="1">
            <a:off x="1324575" y="1697900"/>
            <a:ext cx="567900" cy="44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86"/>
          <p:cNvSpPr txBox="1"/>
          <p:nvPr>
            <p:ph idx="4294967295" type="body"/>
          </p:nvPr>
        </p:nvSpPr>
        <p:spPr>
          <a:xfrm>
            <a:off x="468300" y="2207100"/>
            <a:ext cx="909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5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1" name="Google Shape;1101;p86"/>
          <p:cNvSpPr txBox="1"/>
          <p:nvPr>
            <p:ph idx="4294967295" type="body"/>
          </p:nvPr>
        </p:nvSpPr>
        <p:spPr>
          <a:xfrm>
            <a:off x="1618376" y="2207100"/>
            <a:ext cx="909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4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86"/>
          <p:cNvSpPr txBox="1"/>
          <p:nvPr>
            <p:ph idx="4294967295" type="body"/>
          </p:nvPr>
        </p:nvSpPr>
        <p:spPr>
          <a:xfrm>
            <a:off x="2754300" y="2207100"/>
            <a:ext cx="844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 </a:t>
            </a:r>
            <a:r>
              <a:rPr lang="en-GB" sz="2000"/>
              <a:t>×</a:t>
            </a:r>
            <a:r>
              <a:rPr lang="en-GB" sz="1800"/>
              <a:t> 10</a:t>
            </a:r>
            <a:r>
              <a:rPr baseline="30000" lang="en-GB" sz="1800"/>
              <a:t>3</a:t>
            </a:r>
            <a:endParaRPr baseline="30000" sz="1800"/>
          </a:p>
        </p:txBody>
      </p:sp>
      <p:sp>
        <p:nvSpPr>
          <p:cNvPr id="1103" name="Google Shape;1103;p86"/>
          <p:cNvSpPr txBox="1"/>
          <p:nvPr>
            <p:ph idx="4294967295" type="body"/>
          </p:nvPr>
        </p:nvSpPr>
        <p:spPr>
          <a:xfrm>
            <a:off x="3918529" y="2207100"/>
            <a:ext cx="909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04" name="Google Shape;1104;p86"/>
          <p:cNvCxnSpPr/>
          <p:nvPr/>
        </p:nvCxnSpPr>
        <p:spPr>
          <a:xfrm flipH="1">
            <a:off x="2059950" y="1740850"/>
            <a:ext cx="132900" cy="39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6"/>
          <p:cNvCxnSpPr/>
          <p:nvPr/>
        </p:nvCxnSpPr>
        <p:spPr>
          <a:xfrm>
            <a:off x="2553225" y="1722525"/>
            <a:ext cx="357600" cy="41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86"/>
          <p:cNvCxnSpPr/>
          <p:nvPr/>
        </p:nvCxnSpPr>
        <p:spPr>
          <a:xfrm>
            <a:off x="2898150" y="1698000"/>
            <a:ext cx="1009800" cy="4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86"/>
          <p:cNvSpPr txBox="1"/>
          <p:nvPr>
            <p:ph idx="1" type="body"/>
          </p:nvPr>
        </p:nvSpPr>
        <p:spPr>
          <a:xfrm>
            <a:off x="324000" y="2816700"/>
            <a:ext cx="3401400" cy="4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Write these numbers.</a:t>
            </a:r>
            <a:endParaRPr/>
          </a:p>
        </p:txBody>
      </p:sp>
      <p:sp>
        <p:nvSpPr>
          <p:cNvPr id="1108" name="Google Shape;1108;p86"/>
          <p:cNvSpPr txBox="1"/>
          <p:nvPr>
            <p:ph idx="4294967295" type="body"/>
          </p:nvPr>
        </p:nvSpPr>
        <p:spPr>
          <a:xfrm>
            <a:off x="671675" y="3273900"/>
            <a:ext cx="4360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 </a:t>
            </a:r>
            <a:r>
              <a:rPr lang="en-GB" sz="2000"/>
              <a:t>×</a:t>
            </a:r>
            <a:r>
              <a:rPr lang="en-GB" sz="2000"/>
              <a:t> 10</a:t>
            </a:r>
            <a:r>
              <a:rPr baseline="30000" lang="en-GB" sz="2000"/>
              <a:t>3</a:t>
            </a:r>
            <a:r>
              <a:rPr lang="en-GB" sz="2000"/>
              <a:t> + 5 × 10</a:t>
            </a:r>
            <a:r>
              <a:rPr baseline="30000" lang="en-GB" sz="2000"/>
              <a:t>2</a:t>
            </a:r>
            <a:r>
              <a:rPr lang="en-GB" sz="2000"/>
              <a:t> + 8 × 10</a:t>
            </a:r>
            <a:r>
              <a:rPr baseline="30000" lang="en-GB" sz="2000"/>
              <a:t>1</a:t>
            </a:r>
            <a:r>
              <a:rPr lang="en-GB" sz="2000"/>
              <a:t> + 4 × 10</a:t>
            </a:r>
            <a:r>
              <a:rPr baseline="30000" lang="en-GB" sz="2000"/>
              <a:t>0</a:t>
            </a:r>
            <a:endParaRPr baseline="30000" sz="2000"/>
          </a:p>
        </p:txBody>
      </p:sp>
      <p:sp>
        <p:nvSpPr>
          <p:cNvPr id="1109" name="Google Shape;1109;p86"/>
          <p:cNvSpPr txBox="1"/>
          <p:nvPr>
            <p:ph idx="4294967295" type="body"/>
          </p:nvPr>
        </p:nvSpPr>
        <p:spPr>
          <a:xfrm>
            <a:off x="671675" y="3883500"/>
            <a:ext cx="3243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× 10</a:t>
            </a:r>
            <a:r>
              <a:rPr baseline="30000" lang="en-GB" sz="2000"/>
              <a:t>6</a:t>
            </a:r>
            <a:r>
              <a:rPr lang="en-GB" sz="2000"/>
              <a:t> + 8 × 10</a:t>
            </a:r>
            <a:r>
              <a:rPr baseline="30000" lang="en-GB" sz="2000"/>
              <a:t>5</a:t>
            </a:r>
            <a:r>
              <a:rPr lang="en-GB" sz="2000"/>
              <a:t> + 3 × 10</a:t>
            </a:r>
            <a:r>
              <a:rPr baseline="30000" lang="en-GB" sz="2000"/>
              <a:t>4</a:t>
            </a:r>
            <a:endParaRPr baseline="30000" sz="2000"/>
          </a:p>
        </p:txBody>
      </p:sp>
      <p:sp>
        <p:nvSpPr>
          <p:cNvPr id="1110" name="Google Shape;1110;p86"/>
          <p:cNvSpPr txBox="1"/>
          <p:nvPr>
            <p:ph idx="4294967295" type="body"/>
          </p:nvPr>
        </p:nvSpPr>
        <p:spPr>
          <a:xfrm>
            <a:off x="671675" y="4493100"/>
            <a:ext cx="3186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× 10</a:t>
            </a:r>
            <a:r>
              <a:rPr baseline="30000" lang="en-GB" sz="2000"/>
              <a:t>6</a:t>
            </a:r>
            <a:r>
              <a:rPr lang="en-GB" sz="2000"/>
              <a:t> + 8 × 10</a:t>
            </a:r>
            <a:r>
              <a:rPr baseline="30000" lang="en-GB" sz="2000"/>
              <a:t>3</a:t>
            </a:r>
            <a:r>
              <a:rPr lang="en-GB" sz="2000"/>
              <a:t> + 3 × 10</a:t>
            </a:r>
            <a:r>
              <a:rPr baseline="30000" lang="en-GB" sz="2000"/>
              <a:t>0</a:t>
            </a:r>
            <a:endParaRPr baseline="30000" sz="2000"/>
          </a:p>
        </p:txBody>
      </p:sp>
      <p:sp>
        <p:nvSpPr>
          <p:cNvPr id="1111" name="Google Shape;1111;p86"/>
          <p:cNvSpPr txBox="1"/>
          <p:nvPr>
            <p:ph idx="4294967295" type="body"/>
          </p:nvPr>
        </p:nvSpPr>
        <p:spPr>
          <a:xfrm>
            <a:off x="5034304" y="3273900"/>
            <a:ext cx="909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2584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6"/>
          <p:cNvSpPr txBox="1"/>
          <p:nvPr>
            <p:ph idx="4294967295" type="body"/>
          </p:nvPr>
        </p:nvSpPr>
        <p:spPr>
          <a:xfrm>
            <a:off x="4292411" y="3883500"/>
            <a:ext cx="1891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4 830 000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6"/>
          <p:cNvSpPr txBox="1"/>
          <p:nvPr>
            <p:ph idx="4294967295" type="body"/>
          </p:nvPr>
        </p:nvSpPr>
        <p:spPr>
          <a:xfrm>
            <a:off x="4292400" y="4493100"/>
            <a:ext cx="1891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4 008 003</a:t>
            </a:r>
            <a:endParaRPr baseline="30000"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exponential form</a:t>
            </a:r>
            <a:endParaRPr/>
          </a:p>
        </p:txBody>
      </p:sp>
      <p:sp>
        <p:nvSpPr>
          <p:cNvPr id="1120" name="Google Shape;1120;p87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121" name="Google Shape;1121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column headings</a:t>
            </a:r>
            <a:endParaRPr/>
          </a:p>
        </p:txBody>
      </p:sp>
      <p:pic>
        <p:nvPicPr>
          <p:cNvPr id="1122" name="Google Shape;112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13" y="29905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8"/>
          <p:cNvSpPr txBox="1"/>
          <p:nvPr>
            <p:ph idx="1" type="body"/>
          </p:nvPr>
        </p:nvSpPr>
        <p:spPr>
          <a:xfrm>
            <a:off x="324000" y="759300"/>
            <a:ext cx="82377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Follow this pattern.</a:t>
            </a:r>
            <a:endParaRPr/>
          </a:p>
        </p:txBody>
      </p:sp>
      <p:sp>
        <p:nvSpPr>
          <p:cNvPr id="1128" name="Google Shape;112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 sz="2200"/>
          </a:p>
        </p:txBody>
      </p:sp>
      <p:sp>
        <p:nvSpPr>
          <p:cNvPr id="1129" name="Google Shape;1129;p88"/>
          <p:cNvSpPr txBox="1"/>
          <p:nvPr>
            <p:ph idx="4294967295" type="subTitle"/>
          </p:nvPr>
        </p:nvSpPr>
        <p:spPr>
          <a:xfrm>
            <a:off x="2177425" y="2455955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</a:t>
            </a:r>
            <a:endParaRPr baseline="30000" sz="2400"/>
          </a:p>
        </p:txBody>
      </p:sp>
      <p:sp>
        <p:nvSpPr>
          <p:cNvPr id="1130" name="Google Shape;1130;p88"/>
          <p:cNvSpPr txBox="1"/>
          <p:nvPr>
            <p:ph idx="4294967295" type="subTitle"/>
          </p:nvPr>
        </p:nvSpPr>
        <p:spPr>
          <a:xfrm>
            <a:off x="2177425" y="2938352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1000</a:t>
            </a:r>
            <a:endParaRPr baseline="30000" sz="2400"/>
          </a:p>
        </p:txBody>
      </p:sp>
      <p:sp>
        <p:nvSpPr>
          <p:cNvPr id="1131" name="Google Shape;1131;p88"/>
          <p:cNvSpPr txBox="1"/>
          <p:nvPr>
            <p:ph idx="4294967295" type="subTitle"/>
          </p:nvPr>
        </p:nvSpPr>
        <p:spPr>
          <a:xfrm>
            <a:off x="2177425" y="3420748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10 000</a:t>
            </a:r>
            <a:endParaRPr baseline="30000" sz="2400"/>
          </a:p>
        </p:txBody>
      </p:sp>
      <p:sp>
        <p:nvSpPr>
          <p:cNvPr id="1132" name="Google Shape;1132;p88"/>
          <p:cNvSpPr txBox="1"/>
          <p:nvPr>
            <p:ph idx="4294967295" type="subTitle"/>
          </p:nvPr>
        </p:nvSpPr>
        <p:spPr>
          <a:xfrm>
            <a:off x="2177425" y="14653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</a:t>
            </a:r>
            <a:endParaRPr baseline="30000" sz="2400"/>
          </a:p>
        </p:txBody>
      </p:sp>
      <p:sp>
        <p:nvSpPr>
          <p:cNvPr id="1133" name="Google Shape;1133;p88"/>
          <p:cNvSpPr txBox="1"/>
          <p:nvPr>
            <p:ph idx="4294967295" type="subTitle"/>
          </p:nvPr>
        </p:nvSpPr>
        <p:spPr>
          <a:xfrm>
            <a:off x="2177425" y="1922546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endParaRPr baseline="30000" sz="2400"/>
          </a:p>
        </p:txBody>
      </p:sp>
      <p:sp>
        <p:nvSpPr>
          <p:cNvPr id="1134" name="Google Shape;1134;p88"/>
          <p:cNvSpPr txBox="1"/>
          <p:nvPr>
            <p:ph idx="4294967295" type="subTitle"/>
          </p:nvPr>
        </p:nvSpPr>
        <p:spPr>
          <a:xfrm>
            <a:off x="2177425" y="3954148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100 000</a:t>
            </a:r>
            <a:endParaRPr baseline="30000" sz="2400"/>
          </a:p>
        </p:txBody>
      </p:sp>
      <p:sp>
        <p:nvSpPr>
          <p:cNvPr id="1135" name="Google Shape;1135;p88"/>
          <p:cNvSpPr txBox="1"/>
          <p:nvPr>
            <p:ph idx="4294967295" type="subTitle"/>
          </p:nvPr>
        </p:nvSpPr>
        <p:spPr>
          <a:xfrm>
            <a:off x="1322700" y="1727575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10</a:t>
            </a:r>
            <a:endParaRPr baseline="30000" sz="1800"/>
          </a:p>
        </p:txBody>
      </p:sp>
      <p:sp>
        <p:nvSpPr>
          <p:cNvPr id="1136" name="Google Shape;1136;p88"/>
          <p:cNvSpPr txBox="1"/>
          <p:nvPr>
            <p:ph idx="4294967295" type="subTitle"/>
          </p:nvPr>
        </p:nvSpPr>
        <p:spPr>
          <a:xfrm>
            <a:off x="1322700" y="2260975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</a:t>
            </a:r>
            <a:r>
              <a:rPr lang="en-GB" sz="1800"/>
              <a:t>10</a:t>
            </a:r>
            <a:endParaRPr baseline="30000" sz="1800"/>
          </a:p>
        </p:txBody>
      </p:sp>
      <p:sp>
        <p:nvSpPr>
          <p:cNvPr id="1137" name="Google Shape;1137;p88"/>
          <p:cNvSpPr txBox="1"/>
          <p:nvPr>
            <p:ph idx="4294967295" type="subTitle"/>
          </p:nvPr>
        </p:nvSpPr>
        <p:spPr>
          <a:xfrm>
            <a:off x="1322700" y="2756444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</a:t>
            </a:r>
            <a:r>
              <a:rPr lang="en-GB" sz="1800"/>
              <a:t>10</a:t>
            </a:r>
            <a:endParaRPr baseline="30000" sz="1800"/>
          </a:p>
        </p:txBody>
      </p:sp>
      <p:sp>
        <p:nvSpPr>
          <p:cNvPr id="1138" name="Google Shape;1138;p88"/>
          <p:cNvSpPr txBox="1"/>
          <p:nvPr>
            <p:ph idx="4294967295" type="subTitle"/>
          </p:nvPr>
        </p:nvSpPr>
        <p:spPr>
          <a:xfrm>
            <a:off x="1322700" y="3251575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</a:t>
            </a:r>
            <a:r>
              <a:rPr lang="en-GB" sz="1800"/>
              <a:t>10</a:t>
            </a:r>
            <a:endParaRPr baseline="30000" sz="1800"/>
          </a:p>
        </p:txBody>
      </p:sp>
      <p:sp>
        <p:nvSpPr>
          <p:cNvPr id="1139" name="Google Shape;1139;p88"/>
          <p:cNvSpPr txBox="1"/>
          <p:nvPr>
            <p:ph idx="4294967295" type="subTitle"/>
          </p:nvPr>
        </p:nvSpPr>
        <p:spPr>
          <a:xfrm>
            <a:off x="1322700" y="3731534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</a:t>
            </a:r>
            <a:r>
              <a:rPr lang="en-GB" sz="1800"/>
              <a:t>10</a:t>
            </a:r>
            <a:endParaRPr baseline="30000" sz="1800"/>
          </a:p>
        </p:txBody>
      </p:sp>
      <p:sp>
        <p:nvSpPr>
          <p:cNvPr id="1140" name="Google Shape;1140;p88"/>
          <p:cNvSpPr txBox="1"/>
          <p:nvPr>
            <p:ph idx="4294967295" type="subTitle"/>
          </p:nvPr>
        </p:nvSpPr>
        <p:spPr>
          <a:xfrm>
            <a:off x="3816750" y="2709750"/>
            <a:ext cx="39636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What is happening?</a:t>
            </a:r>
            <a:endParaRPr baseline="30000" sz="2400"/>
          </a:p>
        </p:txBody>
      </p:sp>
      <p:pic>
        <p:nvPicPr>
          <p:cNvPr id="1141" name="Google Shape;1141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1757537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2259725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2754250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3735790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3247007"/>
            <a:ext cx="538624" cy="31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89"/>
          <p:cNvSpPr txBox="1"/>
          <p:nvPr>
            <p:ph idx="1" type="body"/>
          </p:nvPr>
        </p:nvSpPr>
        <p:spPr>
          <a:xfrm>
            <a:off x="324000" y="759300"/>
            <a:ext cx="82377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Follow this pattern.</a:t>
            </a:r>
            <a:endParaRPr/>
          </a:p>
        </p:txBody>
      </p:sp>
      <p:sp>
        <p:nvSpPr>
          <p:cNvPr id="1151" name="Google Shape;115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152" name="Google Shape;1152;p89"/>
          <p:cNvSpPr txBox="1"/>
          <p:nvPr>
            <p:ph idx="4294967295" type="subTitle"/>
          </p:nvPr>
        </p:nvSpPr>
        <p:spPr>
          <a:xfrm>
            <a:off x="2177425" y="23965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endParaRPr baseline="30000" sz="2400"/>
          </a:p>
        </p:txBody>
      </p:sp>
      <p:sp>
        <p:nvSpPr>
          <p:cNvPr id="1153" name="Google Shape;1153;p89"/>
          <p:cNvSpPr txBox="1"/>
          <p:nvPr>
            <p:ph idx="4294967295" type="subTitle"/>
          </p:nvPr>
        </p:nvSpPr>
        <p:spPr>
          <a:xfrm>
            <a:off x="2177425" y="28621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</a:t>
            </a:r>
            <a:endParaRPr baseline="30000" sz="2400"/>
          </a:p>
        </p:txBody>
      </p:sp>
      <p:sp>
        <p:nvSpPr>
          <p:cNvPr id="1154" name="Google Shape;1154;p89"/>
          <p:cNvSpPr txBox="1"/>
          <p:nvPr>
            <p:ph idx="4294967295" type="subTitle"/>
          </p:nvPr>
        </p:nvSpPr>
        <p:spPr>
          <a:xfrm>
            <a:off x="2177425" y="33277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0.1</a:t>
            </a:r>
            <a:endParaRPr baseline="30000" sz="2400"/>
          </a:p>
        </p:txBody>
      </p:sp>
      <p:sp>
        <p:nvSpPr>
          <p:cNvPr id="1155" name="Google Shape;1155;p89"/>
          <p:cNvSpPr txBox="1"/>
          <p:nvPr>
            <p:ph idx="4294967295" type="subTitle"/>
          </p:nvPr>
        </p:nvSpPr>
        <p:spPr>
          <a:xfrm>
            <a:off x="2177425" y="14653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1000</a:t>
            </a:r>
            <a:endParaRPr baseline="30000" sz="2400"/>
          </a:p>
        </p:txBody>
      </p:sp>
      <p:sp>
        <p:nvSpPr>
          <p:cNvPr id="1156" name="Google Shape;1156;p89"/>
          <p:cNvSpPr txBox="1"/>
          <p:nvPr>
            <p:ph idx="4294967295" type="subTitle"/>
          </p:nvPr>
        </p:nvSpPr>
        <p:spPr>
          <a:xfrm>
            <a:off x="2177425" y="19309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</a:t>
            </a:r>
            <a:endParaRPr baseline="30000" sz="2400"/>
          </a:p>
        </p:txBody>
      </p:sp>
      <p:sp>
        <p:nvSpPr>
          <p:cNvPr id="1157" name="Google Shape;1157;p89"/>
          <p:cNvSpPr txBox="1"/>
          <p:nvPr>
            <p:ph idx="4294967295" type="subTitle"/>
          </p:nvPr>
        </p:nvSpPr>
        <p:spPr>
          <a:xfrm>
            <a:off x="2177425" y="3793348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0.01</a:t>
            </a:r>
            <a:endParaRPr baseline="30000" sz="2400"/>
          </a:p>
        </p:txBody>
      </p:sp>
      <p:sp>
        <p:nvSpPr>
          <p:cNvPr id="1158" name="Google Shape;1158;p89"/>
          <p:cNvSpPr txBox="1"/>
          <p:nvPr>
            <p:ph idx="4294967295" type="subTitle"/>
          </p:nvPr>
        </p:nvSpPr>
        <p:spPr>
          <a:xfrm>
            <a:off x="1322700" y="1689306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</a:t>
            </a:r>
            <a:r>
              <a:rPr lang="en-GB" sz="1800"/>
              <a:t> 10</a:t>
            </a:r>
            <a:endParaRPr baseline="30000" sz="1800"/>
          </a:p>
        </p:txBody>
      </p:sp>
      <p:sp>
        <p:nvSpPr>
          <p:cNvPr id="1159" name="Google Shape;1159;p89"/>
          <p:cNvSpPr txBox="1"/>
          <p:nvPr>
            <p:ph idx="4294967295" type="subTitle"/>
          </p:nvPr>
        </p:nvSpPr>
        <p:spPr>
          <a:xfrm>
            <a:off x="2177425" y="4258948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0.001</a:t>
            </a:r>
            <a:endParaRPr baseline="30000" sz="2400"/>
          </a:p>
        </p:txBody>
      </p:sp>
      <p:sp>
        <p:nvSpPr>
          <p:cNvPr id="1160" name="Google Shape;1160;p89"/>
          <p:cNvSpPr txBox="1"/>
          <p:nvPr>
            <p:ph idx="4294967295" type="subTitle"/>
          </p:nvPr>
        </p:nvSpPr>
        <p:spPr>
          <a:xfrm>
            <a:off x="3816750" y="2557350"/>
            <a:ext cx="39636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What is happening now?</a:t>
            </a:r>
            <a:endParaRPr baseline="30000" sz="2400"/>
          </a:p>
        </p:txBody>
      </p:sp>
      <p:sp>
        <p:nvSpPr>
          <p:cNvPr id="1161" name="Google Shape;1161;p89"/>
          <p:cNvSpPr txBox="1"/>
          <p:nvPr>
            <p:ph idx="4294967295" type="subTitle"/>
          </p:nvPr>
        </p:nvSpPr>
        <p:spPr>
          <a:xfrm>
            <a:off x="1322700" y="2207534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10</a:t>
            </a:r>
            <a:endParaRPr baseline="30000" sz="1800"/>
          </a:p>
        </p:txBody>
      </p:sp>
      <p:sp>
        <p:nvSpPr>
          <p:cNvPr id="1162" name="Google Shape;1162;p89"/>
          <p:cNvSpPr txBox="1"/>
          <p:nvPr>
            <p:ph idx="4294967295" type="subTitle"/>
          </p:nvPr>
        </p:nvSpPr>
        <p:spPr>
          <a:xfrm>
            <a:off x="1322700" y="2679906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10</a:t>
            </a:r>
            <a:endParaRPr baseline="30000" sz="1800"/>
          </a:p>
        </p:txBody>
      </p:sp>
      <p:sp>
        <p:nvSpPr>
          <p:cNvPr id="1163" name="Google Shape;1163;p89"/>
          <p:cNvSpPr txBox="1"/>
          <p:nvPr>
            <p:ph idx="4294967295" type="subTitle"/>
          </p:nvPr>
        </p:nvSpPr>
        <p:spPr>
          <a:xfrm>
            <a:off x="1322700" y="3190548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10</a:t>
            </a:r>
            <a:endParaRPr baseline="30000" sz="1800"/>
          </a:p>
        </p:txBody>
      </p:sp>
      <p:sp>
        <p:nvSpPr>
          <p:cNvPr id="1164" name="Google Shape;1164;p89"/>
          <p:cNvSpPr txBox="1"/>
          <p:nvPr>
            <p:ph idx="4294967295" type="subTitle"/>
          </p:nvPr>
        </p:nvSpPr>
        <p:spPr>
          <a:xfrm>
            <a:off x="3816750" y="3319350"/>
            <a:ext cx="3282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What is next?</a:t>
            </a:r>
            <a:endParaRPr baseline="30000" sz="2400"/>
          </a:p>
        </p:txBody>
      </p:sp>
      <p:sp>
        <p:nvSpPr>
          <p:cNvPr id="1165" name="Google Shape;1165;p89"/>
          <p:cNvSpPr txBox="1"/>
          <p:nvPr>
            <p:ph idx="4294967295" type="subTitle"/>
          </p:nvPr>
        </p:nvSpPr>
        <p:spPr>
          <a:xfrm>
            <a:off x="1322700" y="3670506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10</a:t>
            </a:r>
            <a:endParaRPr baseline="30000" sz="1800"/>
          </a:p>
        </p:txBody>
      </p:sp>
      <p:sp>
        <p:nvSpPr>
          <p:cNvPr id="1166" name="Google Shape;1166;p89"/>
          <p:cNvSpPr txBox="1"/>
          <p:nvPr>
            <p:ph idx="4294967295" type="subTitle"/>
          </p:nvPr>
        </p:nvSpPr>
        <p:spPr>
          <a:xfrm>
            <a:off x="1322700" y="4158052"/>
            <a:ext cx="514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10</a:t>
            </a:r>
            <a:endParaRPr baseline="30000" sz="1800"/>
          </a:p>
        </p:txBody>
      </p:sp>
      <p:pic>
        <p:nvPicPr>
          <p:cNvPr id="1167" name="Google Shape;1167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1712020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2214207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2708732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3690272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3201490"/>
            <a:ext cx="538624" cy="3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1731487" y="4166013"/>
            <a:ext cx="538624" cy="31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0"/>
          <p:cNvSpPr/>
          <p:nvPr/>
        </p:nvSpPr>
        <p:spPr>
          <a:xfrm>
            <a:off x="2721975" y="1321050"/>
            <a:ext cx="766500" cy="1793700"/>
          </a:xfrm>
          <a:prstGeom prst="bracePair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0"/>
          <p:cNvSpPr/>
          <p:nvPr/>
        </p:nvSpPr>
        <p:spPr>
          <a:xfrm>
            <a:off x="2644225" y="1253403"/>
            <a:ext cx="346500" cy="192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0"/>
          <p:cNvSpPr txBox="1"/>
          <p:nvPr>
            <p:ph idx="4294967295" type="subTitle"/>
          </p:nvPr>
        </p:nvSpPr>
        <p:spPr>
          <a:xfrm>
            <a:off x="2177425" y="31753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0.1</a:t>
            </a:r>
            <a:endParaRPr baseline="30000" sz="2400"/>
          </a:p>
        </p:txBody>
      </p:sp>
      <p:sp>
        <p:nvSpPr>
          <p:cNvPr id="1180" name="Google Shape;1180;p90"/>
          <p:cNvSpPr txBox="1"/>
          <p:nvPr>
            <p:ph idx="4294967295" type="subTitle"/>
          </p:nvPr>
        </p:nvSpPr>
        <p:spPr>
          <a:xfrm>
            <a:off x="2177425" y="13129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1000</a:t>
            </a:r>
            <a:endParaRPr baseline="30000" sz="2400"/>
          </a:p>
        </p:txBody>
      </p:sp>
      <p:sp>
        <p:nvSpPr>
          <p:cNvPr id="1181" name="Google Shape;1181;p90"/>
          <p:cNvSpPr/>
          <p:nvPr/>
        </p:nvSpPr>
        <p:spPr>
          <a:xfrm>
            <a:off x="2721975" y="3179927"/>
            <a:ext cx="766500" cy="1396200"/>
          </a:xfrm>
          <a:prstGeom prst="bracePair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0"/>
          <p:cNvSpPr/>
          <p:nvPr/>
        </p:nvSpPr>
        <p:spPr>
          <a:xfrm>
            <a:off x="2644225" y="3114814"/>
            <a:ext cx="346500" cy="150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0"/>
          <p:cNvSpPr txBox="1"/>
          <p:nvPr>
            <p:ph idx="1" type="body"/>
          </p:nvPr>
        </p:nvSpPr>
        <p:spPr>
          <a:xfrm>
            <a:off x="3624450" y="2022773"/>
            <a:ext cx="1284300" cy="4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integers</a:t>
            </a:r>
            <a:endParaRPr/>
          </a:p>
        </p:txBody>
      </p:sp>
      <p:sp>
        <p:nvSpPr>
          <p:cNvPr id="1184" name="Google Shape;118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185" name="Google Shape;1185;p90"/>
          <p:cNvSpPr txBox="1"/>
          <p:nvPr>
            <p:ph idx="4294967295" type="subTitle"/>
          </p:nvPr>
        </p:nvSpPr>
        <p:spPr>
          <a:xfrm>
            <a:off x="2177425" y="22441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endParaRPr baseline="30000" sz="2400"/>
          </a:p>
        </p:txBody>
      </p:sp>
      <p:sp>
        <p:nvSpPr>
          <p:cNvPr id="1186" name="Google Shape;1186;p90"/>
          <p:cNvSpPr txBox="1"/>
          <p:nvPr>
            <p:ph idx="4294967295" type="subTitle"/>
          </p:nvPr>
        </p:nvSpPr>
        <p:spPr>
          <a:xfrm>
            <a:off x="2177425" y="27097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</a:t>
            </a:r>
            <a:endParaRPr baseline="30000" sz="2400"/>
          </a:p>
        </p:txBody>
      </p:sp>
      <p:sp>
        <p:nvSpPr>
          <p:cNvPr id="1187" name="Google Shape;1187;p90"/>
          <p:cNvSpPr txBox="1"/>
          <p:nvPr>
            <p:ph idx="4294967295" type="subTitle"/>
          </p:nvPr>
        </p:nvSpPr>
        <p:spPr>
          <a:xfrm>
            <a:off x="2177425" y="17785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</a:t>
            </a:r>
            <a:endParaRPr baseline="30000" sz="2400"/>
          </a:p>
        </p:txBody>
      </p:sp>
      <p:sp>
        <p:nvSpPr>
          <p:cNvPr id="1188" name="Google Shape;1188;p90"/>
          <p:cNvSpPr txBox="1"/>
          <p:nvPr>
            <p:ph idx="4294967295" type="subTitle"/>
          </p:nvPr>
        </p:nvSpPr>
        <p:spPr>
          <a:xfrm>
            <a:off x="2177425" y="3675523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0.01</a:t>
            </a:r>
            <a:endParaRPr baseline="30000" sz="2400"/>
          </a:p>
        </p:txBody>
      </p:sp>
      <p:sp>
        <p:nvSpPr>
          <p:cNvPr id="1189" name="Google Shape;1189;p90"/>
          <p:cNvSpPr txBox="1"/>
          <p:nvPr>
            <p:ph idx="4294967295" type="subTitle"/>
          </p:nvPr>
        </p:nvSpPr>
        <p:spPr>
          <a:xfrm>
            <a:off x="2177425" y="417571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0.001</a:t>
            </a:r>
            <a:endParaRPr baseline="30000" sz="2400"/>
          </a:p>
        </p:txBody>
      </p:sp>
      <p:sp>
        <p:nvSpPr>
          <p:cNvPr id="1190" name="Google Shape;1190;p90"/>
          <p:cNvSpPr txBox="1"/>
          <p:nvPr>
            <p:ph idx="1" type="body"/>
          </p:nvPr>
        </p:nvSpPr>
        <p:spPr>
          <a:xfrm>
            <a:off x="3619275" y="3693169"/>
            <a:ext cx="2544600" cy="7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non-</a:t>
            </a:r>
            <a:r>
              <a:rPr lang="en-GB"/>
              <a:t>integers</a:t>
            </a:r>
            <a:endParaRPr/>
          </a:p>
        </p:txBody>
      </p:sp>
      <p:sp>
        <p:nvSpPr>
          <p:cNvPr id="1191" name="Google Shape;1191;p90"/>
          <p:cNvSpPr txBox="1"/>
          <p:nvPr>
            <p:ph idx="4294967295" type="subTitle"/>
          </p:nvPr>
        </p:nvSpPr>
        <p:spPr>
          <a:xfrm>
            <a:off x="805825" y="22441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</a:t>
            </a:r>
            <a:endParaRPr baseline="30000" sz="2400"/>
          </a:p>
        </p:txBody>
      </p:sp>
      <p:sp>
        <p:nvSpPr>
          <p:cNvPr id="1192" name="Google Shape;1192;p90"/>
          <p:cNvSpPr txBox="1"/>
          <p:nvPr>
            <p:ph idx="4294967295" type="subTitle"/>
          </p:nvPr>
        </p:nvSpPr>
        <p:spPr>
          <a:xfrm>
            <a:off x="805825" y="1312950"/>
            <a:ext cx="1005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1000</a:t>
            </a:r>
            <a:endParaRPr baseline="30000" sz="2400"/>
          </a:p>
        </p:txBody>
      </p:sp>
      <p:sp>
        <p:nvSpPr>
          <p:cNvPr id="1193" name="Google Shape;1193;p90"/>
          <p:cNvSpPr txBox="1"/>
          <p:nvPr>
            <p:ph idx="4294967295" type="subTitle"/>
          </p:nvPr>
        </p:nvSpPr>
        <p:spPr>
          <a:xfrm>
            <a:off x="805825" y="1778550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100</a:t>
            </a:r>
            <a:endParaRPr baseline="30000" sz="24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94" name="Google Shape;1194;p90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25" y="3144450"/>
            <a:ext cx="289040" cy="421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195" name="Google Shape;1195;p90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13" y="4222277"/>
            <a:ext cx="544075" cy="421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196" name="Google Shape;1196;p90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488" y="3685605"/>
            <a:ext cx="413724" cy="417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0"/>
          <p:cNvSpPr txBox="1"/>
          <p:nvPr>
            <p:ph idx="4294967295" type="subTitle"/>
          </p:nvPr>
        </p:nvSpPr>
        <p:spPr>
          <a:xfrm>
            <a:off x="805825" y="2709749"/>
            <a:ext cx="1209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</a:t>
            </a:r>
            <a:endParaRPr baseline="30000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0.01 and         have different values.</a:t>
            </a:r>
            <a:endParaRPr/>
          </a:p>
        </p:txBody>
      </p:sp>
      <p:sp>
        <p:nvSpPr>
          <p:cNvPr id="1203" name="Google Shape;120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204" name="Google Shape;1204;p91"/>
          <p:cNvSpPr txBox="1"/>
          <p:nvPr>
            <p:ph idx="2" type="subTitle"/>
          </p:nvPr>
        </p:nvSpPr>
        <p:spPr>
          <a:xfrm>
            <a:off x="845700" y="32083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 is a decimal, one is a fraction.</a:t>
            </a:r>
            <a:endParaRPr/>
          </a:p>
        </p:txBody>
      </p:sp>
      <p:sp>
        <p:nvSpPr>
          <p:cNvPr id="1205" name="Google Shape;1205;p91"/>
          <p:cNvSpPr txBox="1"/>
          <p:nvPr>
            <p:ph idx="3" type="subTitle"/>
          </p:nvPr>
        </p:nvSpPr>
        <p:spPr>
          <a:xfrm>
            <a:off x="895050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both have the value “one one hundredth of one”.</a:t>
            </a:r>
            <a:endParaRPr/>
          </a:p>
        </p:txBody>
      </p:sp>
      <p:sp>
        <p:nvSpPr>
          <p:cNvPr id="1206" name="Google Shape;1206;p91"/>
          <p:cNvSpPr txBox="1"/>
          <p:nvPr/>
        </p:nvSpPr>
        <p:spPr>
          <a:xfrm>
            <a:off x="1539400" y="1084575"/>
            <a:ext cx="57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_1_</a:t>
            </a:r>
            <a:endParaRPr sz="20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7" name="Google Shape;120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2783" y="41391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2"/>
          <p:cNvSpPr txBox="1"/>
          <p:nvPr>
            <p:ph idx="1" type="body"/>
          </p:nvPr>
        </p:nvSpPr>
        <p:spPr>
          <a:xfrm>
            <a:off x="299450" y="3867588"/>
            <a:ext cx="8237700" cy="9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number is in </a:t>
            </a:r>
            <a:r>
              <a:rPr b="1" lang="en-GB" sz="2000">
                <a:solidFill>
                  <a:srgbClr val="000000"/>
                </a:solidFill>
              </a:rPr>
              <a:t>fractional form</a:t>
            </a:r>
            <a:r>
              <a:rPr lang="en-GB" sz="2000">
                <a:solidFill>
                  <a:srgbClr val="000000"/>
                </a:solidFill>
              </a:rPr>
              <a:t> when it is displayed as one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integer divided by another integer.</a:t>
            </a:r>
            <a:endParaRPr/>
          </a:p>
        </p:txBody>
      </p:sp>
      <p:sp>
        <p:nvSpPr>
          <p:cNvPr id="1214" name="Google Shape;121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graphicFrame>
        <p:nvGraphicFramePr>
          <p:cNvPr id="1215" name="Google Shape;1215;p92"/>
          <p:cNvGraphicFramePr/>
          <p:nvPr/>
        </p:nvGraphicFramePr>
        <p:xfrm>
          <a:off x="291850" y="743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32400"/>
                <a:gridCol w="1032400"/>
                <a:gridCol w="1032400"/>
                <a:gridCol w="1032400"/>
                <a:gridCol w="1032400"/>
                <a:gridCol w="1032400"/>
                <a:gridCol w="838250"/>
              </a:tblGrid>
              <a:tr h="15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6" name="Google Shape;1216;p92"/>
          <p:cNvSpPr txBox="1"/>
          <p:nvPr/>
        </p:nvSpPr>
        <p:spPr>
          <a:xfrm rot="-5400000">
            <a:off x="3442675" y="1601738"/>
            <a:ext cx="95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2"/>
          <p:cNvSpPr txBox="1"/>
          <p:nvPr/>
        </p:nvSpPr>
        <p:spPr>
          <a:xfrm rot="-5400000">
            <a:off x="2462850" y="1753088"/>
            <a:ext cx="760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 txBox="1"/>
          <p:nvPr/>
        </p:nvSpPr>
        <p:spPr>
          <a:xfrm rot="-5400000">
            <a:off x="1146250" y="1488038"/>
            <a:ext cx="1290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2"/>
          <p:cNvSpPr txBox="1"/>
          <p:nvPr/>
        </p:nvSpPr>
        <p:spPr>
          <a:xfrm rot="-5400000">
            <a:off x="-94950" y="1336088"/>
            <a:ext cx="1542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2"/>
          <p:cNvSpPr txBox="1"/>
          <p:nvPr/>
        </p:nvSpPr>
        <p:spPr>
          <a:xfrm>
            <a:off x="2447700" y="2287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2"/>
          <p:cNvSpPr txBox="1"/>
          <p:nvPr/>
        </p:nvSpPr>
        <p:spPr>
          <a:xfrm>
            <a:off x="3514500" y="2287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2"/>
          <p:cNvSpPr txBox="1"/>
          <p:nvPr/>
        </p:nvSpPr>
        <p:spPr>
          <a:xfrm>
            <a:off x="1439600" y="2287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2"/>
          <p:cNvSpPr txBox="1"/>
          <p:nvPr/>
        </p:nvSpPr>
        <p:spPr>
          <a:xfrm>
            <a:off x="314100" y="2287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2"/>
          <p:cNvSpPr/>
          <p:nvPr/>
        </p:nvSpPr>
        <p:spPr>
          <a:xfrm>
            <a:off x="4292289" y="3481243"/>
            <a:ext cx="252000" cy="257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5" name="Google Shape;1225;p92"/>
          <p:cNvSpPr txBox="1"/>
          <p:nvPr/>
        </p:nvSpPr>
        <p:spPr>
          <a:xfrm>
            <a:off x="2447700" y="28209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2"/>
          <p:cNvSpPr txBox="1"/>
          <p:nvPr/>
        </p:nvSpPr>
        <p:spPr>
          <a:xfrm>
            <a:off x="3514500" y="28209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2"/>
          <p:cNvSpPr txBox="1"/>
          <p:nvPr/>
        </p:nvSpPr>
        <p:spPr>
          <a:xfrm>
            <a:off x="314100" y="28209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2"/>
          <p:cNvSpPr txBox="1"/>
          <p:nvPr/>
        </p:nvSpPr>
        <p:spPr>
          <a:xfrm>
            <a:off x="1439600" y="28209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2"/>
          <p:cNvSpPr txBox="1"/>
          <p:nvPr/>
        </p:nvSpPr>
        <p:spPr>
          <a:xfrm rot="-5400000">
            <a:off x="4302000" y="1611038"/>
            <a:ext cx="1044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Tenths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2"/>
          <p:cNvSpPr txBox="1"/>
          <p:nvPr/>
        </p:nvSpPr>
        <p:spPr>
          <a:xfrm rot="-5400000">
            <a:off x="5079550" y="1306538"/>
            <a:ext cx="1653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Hundredths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2"/>
          <p:cNvSpPr txBox="1"/>
          <p:nvPr/>
        </p:nvSpPr>
        <p:spPr>
          <a:xfrm rot="-5400000">
            <a:off x="6013650" y="1272488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2"/>
          <p:cNvSpPr txBox="1"/>
          <p:nvPr/>
        </p:nvSpPr>
        <p:spPr>
          <a:xfrm>
            <a:off x="4421450" y="2287588"/>
            <a:ext cx="103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2"/>
          <p:cNvSpPr txBox="1"/>
          <p:nvPr/>
        </p:nvSpPr>
        <p:spPr>
          <a:xfrm>
            <a:off x="5453850" y="2287588"/>
            <a:ext cx="103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2"/>
          <p:cNvSpPr txBox="1"/>
          <p:nvPr/>
        </p:nvSpPr>
        <p:spPr>
          <a:xfrm>
            <a:off x="6486300" y="2287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35" name="Google Shape;1235;p92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537" y="2815488"/>
            <a:ext cx="319113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236" name="Google Shape;1236;p92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600" y="2815488"/>
            <a:ext cx="600684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237" name="Google Shape;1237;p92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1491" y="2815488"/>
            <a:ext cx="456770" cy="506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missing headings in this place value chart.</a:t>
            </a:r>
            <a:endParaRPr/>
          </a:p>
        </p:txBody>
      </p:sp>
      <p:sp>
        <p:nvSpPr>
          <p:cNvPr id="1243" name="Google Shape;124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graphicFrame>
        <p:nvGraphicFramePr>
          <p:cNvPr id="1244" name="Google Shape;1244;p93"/>
          <p:cNvGraphicFramePr/>
          <p:nvPr/>
        </p:nvGraphicFramePr>
        <p:xfrm>
          <a:off x="602750" y="1673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32400"/>
                <a:gridCol w="1032400"/>
                <a:gridCol w="1032400"/>
                <a:gridCol w="1032400"/>
                <a:gridCol w="1032400"/>
                <a:gridCol w="1032400"/>
                <a:gridCol w="856800"/>
              </a:tblGrid>
              <a:tr h="139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5" name="Google Shape;1245;p93"/>
          <p:cNvSpPr txBox="1"/>
          <p:nvPr/>
        </p:nvSpPr>
        <p:spPr>
          <a:xfrm rot="-5400000">
            <a:off x="1696175" y="2379925"/>
            <a:ext cx="95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3"/>
          <p:cNvSpPr txBox="1"/>
          <p:nvPr/>
        </p:nvSpPr>
        <p:spPr>
          <a:xfrm rot="-5400000">
            <a:off x="716350" y="2531275"/>
            <a:ext cx="760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3"/>
          <p:cNvSpPr txBox="1"/>
          <p:nvPr/>
        </p:nvSpPr>
        <p:spPr>
          <a:xfrm>
            <a:off x="7012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3"/>
          <p:cNvSpPr txBox="1"/>
          <p:nvPr/>
        </p:nvSpPr>
        <p:spPr>
          <a:xfrm>
            <a:off x="17680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3"/>
          <p:cNvSpPr txBox="1"/>
          <p:nvPr/>
        </p:nvSpPr>
        <p:spPr>
          <a:xfrm>
            <a:off x="701200" y="3522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3"/>
          <p:cNvSpPr txBox="1"/>
          <p:nvPr/>
        </p:nvSpPr>
        <p:spPr>
          <a:xfrm>
            <a:off x="1768000" y="3522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3"/>
          <p:cNvSpPr txBox="1"/>
          <p:nvPr/>
        </p:nvSpPr>
        <p:spPr>
          <a:xfrm rot="-5400000">
            <a:off x="2555500" y="2389225"/>
            <a:ext cx="1044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3"/>
          <p:cNvSpPr txBox="1"/>
          <p:nvPr/>
        </p:nvSpPr>
        <p:spPr>
          <a:xfrm rot="-5400000">
            <a:off x="4267150" y="2050675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93"/>
          <p:cNvSpPr txBox="1"/>
          <p:nvPr/>
        </p:nvSpPr>
        <p:spPr>
          <a:xfrm>
            <a:off x="27586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3"/>
          <p:cNvSpPr txBox="1"/>
          <p:nvPr/>
        </p:nvSpPr>
        <p:spPr>
          <a:xfrm>
            <a:off x="37492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5" name="Google Shape;1255;p93"/>
          <p:cNvCxnSpPr/>
          <p:nvPr/>
        </p:nvCxnSpPr>
        <p:spPr>
          <a:xfrm>
            <a:off x="3825400" y="3903975"/>
            <a:ext cx="79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93"/>
          <p:cNvCxnSpPr/>
          <p:nvPr/>
        </p:nvCxnSpPr>
        <p:spPr>
          <a:xfrm rot="10800000">
            <a:off x="6451250" y="2153600"/>
            <a:ext cx="4800" cy="76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93"/>
          <p:cNvSpPr txBox="1"/>
          <p:nvPr/>
        </p:nvSpPr>
        <p:spPr>
          <a:xfrm>
            <a:off x="58828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3"/>
          <p:cNvSpPr txBox="1"/>
          <p:nvPr/>
        </p:nvSpPr>
        <p:spPr>
          <a:xfrm rot="-5400000">
            <a:off x="6248350" y="2050675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 of thousandths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3"/>
          <p:cNvSpPr txBox="1"/>
          <p:nvPr/>
        </p:nvSpPr>
        <p:spPr>
          <a:xfrm>
            <a:off x="67972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3"/>
          <p:cNvSpPr/>
          <p:nvPr/>
        </p:nvSpPr>
        <p:spPr>
          <a:xfrm>
            <a:off x="2567400" y="4125600"/>
            <a:ext cx="191100" cy="199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61" name="Google Shape;1261;p93"/>
          <p:cNvCxnSpPr/>
          <p:nvPr/>
        </p:nvCxnSpPr>
        <p:spPr>
          <a:xfrm rot="10800000">
            <a:off x="4393850" y="2153600"/>
            <a:ext cx="4800" cy="76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93"/>
          <p:cNvCxnSpPr/>
          <p:nvPr/>
        </p:nvCxnSpPr>
        <p:spPr>
          <a:xfrm>
            <a:off x="4846413" y="3370575"/>
            <a:ext cx="79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93"/>
          <p:cNvCxnSpPr/>
          <p:nvPr/>
        </p:nvCxnSpPr>
        <p:spPr>
          <a:xfrm flipH="1" rot="10800000">
            <a:off x="6909075" y="3903950"/>
            <a:ext cx="702600" cy="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64" name="Google Shape;1264;p93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1300" y="3537875"/>
            <a:ext cx="289501" cy="4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265" name="Google Shape;1265;p93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708" y="3537875"/>
            <a:ext cx="544942" cy="4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266" name="Google Shape;1266;p93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6176" y="3537875"/>
            <a:ext cx="414383" cy="432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267" name="Google Shape;1267;p93" title="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1350" y="3532883"/>
            <a:ext cx="719014" cy="416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\ 000}&quot;&gt;&lt;mfrac&gt;&lt;mn&gt;1&lt;/mn&gt;&lt;mrow&gt;&lt;mn&gt;100&lt;/mn&gt;&lt;mtext&gt;&lt;/mtext&gt;&lt;mn&gt;000&lt;/mn&gt;&lt;/mrow&gt;&lt;/mfrac&gt;&lt;/math&gt;" id="1268" name="Google Shape;1268;p93" title="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44999" y="3528657"/>
            <a:ext cx="799500" cy="4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93"/>
          <p:cNvSpPr txBox="1"/>
          <p:nvPr/>
        </p:nvSpPr>
        <p:spPr>
          <a:xfrm rot="-5400000">
            <a:off x="3434050" y="2200975"/>
            <a:ext cx="14211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Hundredths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0" name="Google Shape;1270;p93"/>
          <p:cNvSpPr txBox="1"/>
          <p:nvPr/>
        </p:nvSpPr>
        <p:spPr>
          <a:xfrm>
            <a:off x="4739800" y="3065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1" name="Google Shape;1271;p93"/>
          <p:cNvSpPr txBox="1"/>
          <p:nvPr/>
        </p:nvSpPr>
        <p:spPr>
          <a:xfrm rot="-5400000">
            <a:off x="5257750" y="2050675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Tens of thousandths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93"/>
          <p:cNvSpPr/>
          <p:nvPr/>
        </p:nvSpPr>
        <p:spPr>
          <a:xfrm>
            <a:off x="3699950" y="3519825"/>
            <a:ext cx="1032300" cy="482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93"/>
          <p:cNvSpPr/>
          <p:nvPr/>
        </p:nvSpPr>
        <p:spPr>
          <a:xfrm>
            <a:off x="6794504" y="3519825"/>
            <a:ext cx="838200" cy="482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93"/>
          <p:cNvSpPr/>
          <p:nvPr/>
        </p:nvSpPr>
        <p:spPr>
          <a:xfrm>
            <a:off x="3699950" y="1691025"/>
            <a:ext cx="1032300" cy="1374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93"/>
          <p:cNvSpPr/>
          <p:nvPr/>
        </p:nvSpPr>
        <p:spPr>
          <a:xfrm>
            <a:off x="4718950" y="3053325"/>
            <a:ext cx="1032300" cy="482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93"/>
          <p:cNvSpPr/>
          <p:nvPr/>
        </p:nvSpPr>
        <p:spPr>
          <a:xfrm>
            <a:off x="5757350" y="1691025"/>
            <a:ext cx="1032300" cy="1374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graphicFrame>
        <p:nvGraphicFramePr>
          <p:cNvPr id="1282" name="Google Shape;1282;p94"/>
          <p:cNvGraphicFramePr/>
          <p:nvPr/>
        </p:nvGraphicFramePr>
        <p:xfrm>
          <a:off x="297950" y="911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32400"/>
                <a:gridCol w="1032400"/>
                <a:gridCol w="1032400"/>
                <a:gridCol w="1032400"/>
                <a:gridCol w="1032400"/>
                <a:gridCol w="1032400"/>
                <a:gridCol w="856800"/>
              </a:tblGrid>
              <a:tr h="139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3" name="Google Shape;1283;p94"/>
          <p:cNvSpPr txBox="1"/>
          <p:nvPr/>
        </p:nvSpPr>
        <p:spPr>
          <a:xfrm rot="-5400000">
            <a:off x="3448775" y="1617925"/>
            <a:ext cx="95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4"/>
          <p:cNvSpPr txBox="1"/>
          <p:nvPr/>
        </p:nvSpPr>
        <p:spPr>
          <a:xfrm rot="-5400000">
            <a:off x="2468950" y="1769275"/>
            <a:ext cx="760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4"/>
          <p:cNvSpPr txBox="1"/>
          <p:nvPr/>
        </p:nvSpPr>
        <p:spPr>
          <a:xfrm rot="-5400000">
            <a:off x="1152350" y="1504225"/>
            <a:ext cx="1290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4"/>
          <p:cNvSpPr txBox="1"/>
          <p:nvPr/>
        </p:nvSpPr>
        <p:spPr>
          <a:xfrm rot="-5400000">
            <a:off x="-88850" y="1352275"/>
            <a:ext cx="1542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4"/>
          <p:cNvSpPr txBox="1"/>
          <p:nvPr/>
        </p:nvSpPr>
        <p:spPr>
          <a:xfrm>
            <a:off x="24538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4"/>
          <p:cNvSpPr txBox="1"/>
          <p:nvPr/>
        </p:nvSpPr>
        <p:spPr>
          <a:xfrm>
            <a:off x="35206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4"/>
          <p:cNvSpPr txBox="1"/>
          <p:nvPr/>
        </p:nvSpPr>
        <p:spPr>
          <a:xfrm>
            <a:off x="14457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4"/>
          <p:cNvSpPr txBox="1"/>
          <p:nvPr/>
        </p:nvSpPr>
        <p:spPr>
          <a:xfrm>
            <a:off x="3202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4"/>
          <p:cNvSpPr/>
          <p:nvPr/>
        </p:nvSpPr>
        <p:spPr>
          <a:xfrm>
            <a:off x="4331230" y="3363600"/>
            <a:ext cx="191100" cy="199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2" name="Google Shape;1292;p94"/>
          <p:cNvSpPr txBox="1"/>
          <p:nvPr/>
        </p:nvSpPr>
        <p:spPr>
          <a:xfrm>
            <a:off x="24538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4"/>
          <p:cNvSpPr txBox="1"/>
          <p:nvPr/>
        </p:nvSpPr>
        <p:spPr>
          <a:xfrm>
            <a:off x="35206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4"/>
          <p:cNvSpPr txBox="1"/>
          <p:nvPr/>
        </p:nvSpPr>
        <p:spPr>
          <a:xfrm>
            <a:off x="3202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4"/>
          <p:cNvSpPr txBox="1"/>
          <p:nvPr/>
        </p:nvSpPr>
        <p:spPr>
          <a:xfrm>
            <a:off x="14457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4"/>
          <p:cNvSpPr txBox="1"/>
          <p:nvPr/>
        </p:nvSpPr>
        <p:spPr>
          <a:xfrm rot="-5400000">
            <a:off x="4308100" y="1627225"/>
            <a:ext cx="1044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4"/>
          <p:cNvSpPr txBox="1"/>
          <p:nvPr/>
        </p:nvSpPr>
        <p:spPr>
          <a:xfrm rot="-5400000">
            <a:off x="5085650" y="1322725"/>
            <a:ext cx="1653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4"/>
          <p:cNvSpPr txBox="1"/>
          <p:nvPr/>
        </p:nvSpPr>
        <p:spPr>
          <a:xfrm rot="-5400000">
            <a:off x="6019750" y="1288675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4"/>
          <p:cNvSpPr txBox="1"/>
          <p:nvPr/>
        </p:nvSpPr>
        <p:spPr>
          <a:xfrm>
            <a:off x="64924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4"/>
          <p:cNvSpPr txBox="1"/>
          <p:nvPr>
            <p:ph idx="1" type="body"/>
          </p:nvPr>
        </p:nvSpPr>
        <p:spPr>
          <a:xfrm>
            <a:off x="1330350" y="3251325"/>
            <a:ext cx="102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8</a:t>
            </a:r>
            <a:endParaRPr sz="2800"/>
          </a:p>
        </p:txBody>
      </p:sp>
      <p:sp>
        <p:nvSpPr>
          <p:cNvPr id="1301" name="Google Shape;1301;p94"/>
          <p:cNvSpPr txBox="1"/>
          <p:nvPr>
            <p:ph idx="1" type="body"/>
          </p:nvPr>
        </p:nvSpPr>
        <p:spPr>
          <a:xfrm>
            <a:off x="2366400" y="3251475"/>
            <a:ext cx="102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</a:t>
            </a:r>
            <a:endParaRPr sz="2800"/>
          </a:p>
        </p:txBody>
      </p:sp>
      <p:sp>
        <p:nvSpPr>
          <p:cNvPr id="1302" name="Google Shape;1302;p94"/>
          <p:cNvSpPr txBox="1"/>
          <p:nvPr>
            <p:ph idx="1" type="body"/>
          </p:nvPr>
        </p:nvSpPr>
        <p:spPr>
          <a:xfrm>
            <a:off x="3395100" y="3251475"/>
            <a:ext cx="102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</a:t>
            </a:r>
            <a:endParaRPr sz="2800"/>
          </a:p>
        </p:txBody>
      </p:sp>
      <p:sp>
        <p:nvSpPr>
          <p:cNvPr id="1303" name="Google Shape;1303;p94"/>
          <p:cNvSpPr txBox="1"/>
          <p:nvPr>
            <p:ph idx="1" type="body"/>
          </p:nvPr>
        </p:nvSpPr>
        <p:spPr>
          <a:xfrm>
            <a:off x="1382700" y="3741675"/>
            <a:ext cx="36699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Eight hundreds</a:t>
            </a:r>
            <a:endParaRPr/>
          </a:p>
        </p:txBody>
      </p:sp>
      <p:sp>
        <p:nvSpPr>
          <p:cNvPr id="1304" name="Google Shape;1304;p94"/>
          <p:cNvSpPr txBox="1"/>
          <p:nvPr>
            <p:ph idx="1" type="body"/>
          </p:nvPr>
        </p:nvSpPr>
        <p:spPr>
          <a:xfrm>
            <a:off x="1382700" y="4198875"/>
            <a:ext cx="36699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 × 100 = 8 x 10</a:t>
            </a:r>
            <a:r>
              <a:rPr baseline="30000" lang="en-GB"/>
              <a:t>2</a:t>
            </a:r>
            <a:endParaRPr baseline="30000"/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305" name="Google Shape;1305;p94" title="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308" y="2775875"/>
            <a:ext cx="544942" cy="4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94"/>
          <p:cNvSpPr txBox="1"/>
          <p:nvPr/>
        </p:nvSpPr>
        <p:spPr>
          <a:xfrm>
            <a:off x="5459800" y="2303775"/>
            <a:ext cx="103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4"/>
          <p:cNvSpPr txBox="1"/>
          <p:nvPr/>
        </p:nvSpPr>
        <p:spPr>
          <a:xfrm>
            <a:off x="4427500" y="2303775"/>
            <a:ext cx="103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08" name="Google Shape;1308;p94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546" y="2775875"/>
            <a:ext cx="289501" cy="4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309" name="Google Shape;1309;p94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1513" y="2775875"/>
            <a:ext cx="414383" cy="432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graphicFrame>
        <p:nvGraphicFramePr>
          <p:cNvPr id="1315" name="Google Shape;1315;p95"/>
          <p:cNvGraphicFramePr/>
          <p:nvPr/>
        </p:nvGraphicFramePr>
        <p:xfrm>
          <a:off x="297950" y="911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{FF686CD2-07DA-4142-ACB4-88F98F3E0F5E}</a:tableStyleId>
              </a:tblPr>
              <a:tblGrid>
                <a:gridCol w="1032400"/>
                <a:gridCol w="1032400"/>
                <a:gridCol w="1032400"/>
                <a:gridCol w="1032400"/>
                <a:gridCol w="1032400"/>
                <a:gridCol w="1032400"/>
                <a:gridCol w="856800"/>
              </a:tblGrid>
              <a:tr h="139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6" name="Google Shape;1316;p95"/>
          <p:cNvSpPr txBox="1"/>
          <p:nvPr/>
        </p:nvSpPr>
        <p:spPr>
          <a:xfrm rot="-5400000">
            <a:off x="3448775" y="1617925"/>
            <a:ext cx="95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5"/>
          <p:cNvSpPr txBox="1"/>
          <p:nvPr/>
        </p:nvSpPr>
        <p:spPr>
          <a:xfrm rot="-5400000">
            <a:off x="2468950" y="1769275"/>
            <a:ext cx="760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5"/>
          <p:cNvSpPr txBox="1"/>
          <p:nvPr/>
        </p:nvSpPr>
        <p:spPr>
          <a:xfrm rot="-5400000">
            <a:off x="1152350" y="1504225"/>
            <a:ext cx="1290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5"/>
          <p:cNvSpPr txBox="1"/>
          <p:nvPr/>
        </p:nvSpPr>
        <p:spPr>
          <a:xfrm rot="-5400000">
            <a:off x="-88850" y="1352275"/>
            <a:ext cx="1542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5"/>
          <p:cNvSpPr txBox="1"/>
          <p:nvPr/>
        </p:nvSpPr>
        <p:spPr>
          <a:xfrm>
            <a:off x="24538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5"/>
          <p:cNvSpPr txBox="1"/>
          <p:nvPr/>
        </p:nvSpPr>
        <p:spPr>
          <a:xfrm>
            <a:off x="35206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5"/>
          <p:cNvSpPr txBox="1"/>
          <p:nvPr/>
        </p:nvSpPr>
        <p:spPr>
          <a:xfrm>
            <a:off x="14457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5"/>
          <p:cNvSpPr txBox="1"/>
          <p:nvPr/>
        </p:nvSpPr>
        <p:spPr>
          <a:xfrm>
            <a:off x="3202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5"/>
          <p:cNvSpPr/>
          <p:nvPr/>
        </p:nvSpPr>
        <p:spPr>
          <a:xfrm>
            <a:off x="4331230" y="3363600"/>
            <a:ext cx="191100" cy="199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5" name="Google Shape;1325;p95"/>
          <p:cNvSpPr txBox="1"/>
          <p:nvPr/>
        </p:nvSpPr>
        <p:spPr>
          <a:xfrm>
            <a:off x="24538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5"/>
          <p:cNvSpPr txBox="1"/>
          <p:nvPr/>
        </p:nvSpPr>
        <p:spPr>
          <a:xfrm>
            <a:off x="35206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5"/>
          <p:cNvSpPr txBox="1"/>
          <p:nvPr/>
        </p:nvSpPr>
        <p:spPr>
          <a:xfrm>
            <a:off x="3202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5"/>
          <p:cNvSpPr txBox="1"/>
          <p:nvPr/>
        </p:nvSpPr>
        <p:spPr>
          <a:xfrm>
            <a:off x="1445700" y="27609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5"/>
          <p:cNvSpPr txBox="1"/>
          <p:nvPr/>
        </p:nvSpPr>
        <p:spPr>
          <a:xfrm rot="-5400000">
            <a:off x="4308100" y="1627225"/>
            <a:ext cx="1044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5"/>
          <p:cNvSpPr txBox="1"/>
          <p:nvPr/>
        </p:nvSpPr>
        <p:spPr>
          <a:xfrm rot="-5400000">
            <a:off x="5085650" y="1322725"/>
            <a:ext cx="1653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5"/>
          <p:cNvSpPr txBox="1"/>
          <p:nvPr/>
        </p:nvSpPr>
        <p:spPr>
          <a:xfrm rot="-5400000">
            <a:off x="6019750" y="1288675"/>
            <a:ext cx="1669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5"/>
          <p:cNvSpPr txBox="1"/>
          <p:nvPr/>
        </p:nvSpPr>
        <p:spPr>
          <a:xfrm>
            <a:off x="4427500" y="2303775"/>
            <a:ext cx="103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5"/>
          <p:cNvSpPr txBox="1"/>
          <p:nvPr/>
        </p:nvSpPr>
        <p:spPr>
          <a:xfrm>
            <a:off x="5459800" y="2303775"/>
            <a:ext cx="103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5"/>
          <p:cNvSpPr txBox="1"/>
          <p:nvPr/>
        </p:nvSpPr>
        <p:spPr>
          <a:xfrm>
            <a:off x="6492400" y="2303775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5"/>
          <p:cNvSpPr txBox="1"/>
          <p:nvPr>
            <p:ph idx="1" type="body"/>
          </p:nvPr>
        </p:nvSpPr>
        <p:spPr>
          <a:xfrm>
            <a:off x="5459950" y="3246250"/>
            <a:ext cx="1032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8</a:t>
            </a:r>
            <a:endParaRPr sz="2800"/>
          </a:p>
        </p:txBody>
      </p:sp>
      <p:sp>
        <p:nvSpPr>
          <p:cNvPr id="1336" name="Google Shape;1336;p95"/>
          <p:cNvSpPr txBox="1"/>
          <p:nvPr>
            <p:ph idx="1" type="body"/>
          </p:nvPr>
        </p:nvSpPr>
        <p:spPr>
          <a:xfrm>
            <a:off x="3395400" y="3246375"/>
            <a:ext cx="10323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</a:t>
            </a:r>
            <a:endParaRPr sz="2800"/>
          </a:p>
        </p:txBody>
      </p:sp>
      <p:sp>
        <p:nvSpPr>
          <p:cNvPr id="1337" name="Google Shape;1337;p95"/>
          <p:cNvSpPr txBox="1"/>
          <p:nvPr>
            <p:ph idx="1" type="body"/>
          </p:nvPr>
        </p:nvSpPr>
        <p:spPr>
          <a:xfrm>
            <a:off x="4427700" y="3246250"/>
            <a:ext cx="10323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</a:t>
            </a:r>
            <a:endParaRPr sz="2800"/>
          </a:p>
        </p:txBody>
      </p:sp>
      <p:sp>
        <p:nvSpPr>
          <p:cNvPr id="1338" name="Google Shape;1338;p95"/>
          <p:cNvSpPr txBox="1"/>
          <p:nvPr>
            <p:ph idx="1" type="body"/>
          </p:nvPr>
        </p:nvSpPr>
        <p:spPr>
          <a:xfrm>
            <a:off x="4125900" y="3741675"/>
            <a:ext cx="36699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Eight hundredths</a:t>
            </a:r>
            <a:endParaRPr/>
          </a:p>
        </p:txBody>
      </p:sp>
      <p:sp>
        <p:nvSpPr>
          <p:cNvPr id="1339" name="Google Shape;1339;p95"/>
          <p:cNvSpPr txBox="1"/>
          <p:nvPr>
            <p:ph idx="1" type="body"/>
          </p:nvPr>
        </p:nvSpPr>
        <p:spPr>
          <a:xfrm>
            <a:off x="4125900" y="4198875"/>
            <a:ext cx="36699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 × </a:t>
            </a:r>
            <a:endParaRPr/>
          </a:p>
        </p:txBody>
      </p:sp>
      <p:sp>
        <p:nvSpPr>
          <p:cNvPr id="1340" name="Google Shape;1340;p95"/>
          <p:cNvSpPr txBox="1"/>
          <p:nvPr>
            <p:ph idx="1" type="body"/>
          </p:nvPr>
        </p:nvSpPr>
        <p:spPr>
          <a:xfrm>
            <a:off x="5345100" y="4198875"/>
            <a:ext cx="3747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</a:t>
            </a:r>
            <a:r>
              <a:rPr lang="en-GB"/>
              <a:t> </a:t>
            </a:r>
            <a:endParaRPr/>
          </a:p>
        </p:txBody>
      </p:sp>
      <p:sp>
        <p:nvSpPr>
          <p:cNvPr id="1341" name="Google Shape;1341;p95"/>
          <p:cNvSpPr txBox="1"/>
          <p:nvPr>
            <p:ph idx="1" type="body"/>
          </p:nvPr>
        </p:nvSpPr>
        <p:spPr>
          <a:xfrm>
            <a:off x="6259500" y="4198875"/>
            <a:ext cx="996000" cy="4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0.08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42" name="Google Shape;1342;p95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546" y="2775875"/>
            <a:ext cx="289501" cy="4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343" name="Google Shape;1343;p95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308" y="2775875"/>
            <a:ext cx="544942" cy="4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344" name="Google Shape;1344;p95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1513" y="2775875"/>
            <a:ext cx="414383" cy="432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345" name="Google Shape;1345;p95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5825" y="4143024"/>
            <a:ext cx="414375" cy="459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0}&quot;&gt;&lt;mfrac&gt;&lt;mn&gt;8&lt;/mn&gt;&lt;mn&gt;100&lt;/mn&gt;&lt;/mfrac&gt;&lt;/math&gt;" id="1346" name="Google Shape;1346;p95" title="8 ove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87969" y="4137512"/>
            <a:ext cx="374700" cy="477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352" name="Google Shape;1352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value of each digit in this number?</a:t>
            </a:r>
            <a:endParaRPr/>
          </a:p>
        </p:txBody>
      </p:sp>
      <p:sp>
        <p:nvSpPr>
          <p:cNvPr id="1353" name="Google Shape;1353;p96"/>
          <p:cNvSpPr txBox="1"/>
          <p:nvPr>
            <p:ph idx="1" type="body"/>
          </p:nvPr>
        </p:nvSpPr>
        <p:spPr>
          <a:xfrm>
            <a:off x="3135300" y="1216500"/>
            <a:ext cx="21141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900"/>
              <a:t>0.</a:t>
            </a:r>
            <a:r>
              <a:rPr lang="en-GB" sz="4900"/>
              <a:t>352</a:t>
            </a:r>
            <a:endParaRPr sz="4900"/>
          </a:p>
        </p:txBody>
      </p:sp>
      <p:cxnSp>
        <p:nvCxnSpPr>
          <p:cNvPr id="1354" name="Google Shape;1354;p96"/>
          <p:cNvCxnSpPr/>
          <p:nvPr/>
        </p:nvCxnSpPr>
        <p:spPr>
          <a:xfrm flipH="1">
            <a:off x="2098388" y="1904825"/>
            <a:ext cx="1534500" cy="40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96"/>
          <p:cNvCxnSpPr/>
          <p:nvPr/>
        </p:nvCxnSpPr>
        <p:spPr>
          <a:xfrm flipH="1">
            <a:off x="4138923" y="1904825"/>
            <a:ext cx="2700" cy="41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96"/>
          <p:cNvCxnSpPr/>
          <p:nvPr/>
        </p:nvCxnSpPr>
        <p:spPr>
          <a:xfrm>
            <a:off x="4722225" y="1904825"/>
            <a:ext cx="1155000" cy="43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96"/>
          <p:cNvSpPr txBox="1"/>
          <p:nvPr>
            <p:ph idx="1" type="body"/>
          </p:nvPr>
        </p:nvSpPr>
        <p:spPr>
          <a:xfrm>
            <a:off x="1077900" y="22833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0.3</a:t>
            </a:r>
            <a:endParaRPr sz="2800"/>
          </a:p>
        </p:txBody>
      </p:sp>
      <p:sp>
        <p:nvSpPr>
          <p:cNvPr id="1358" name="Google Shape;1358;p96"/>
          <p:cNvSpPr txBox="1"/>
          <p:nvPr>
            <p:ph idx="1" type="body"/>
          </p:nvPr>
        </p:nvSpPr>
        <p:spPr>
          <a:xfrm>
            <a:off x="3592500" y="22833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0.05</a:t>
            </a:r>
            <a:endParaRPr sz="2800"/>
          </a:p>
        </p:txBody>
      </p:sp>
      <p:sp>
        <p:nvSpPr>
          <p:cNvPr id="1359" name="Google Shape;1359;p96"/>
          <p:cNvSpPr txBox="1"/>
          <p:nvPr>
            <p:ph idx="1" type="body"/>
          </p:nvPr>
        </p:nvSpPr>
        <p:spPr>
          <a:xfrm>
            <a:off x="5954700" y="2283300"/>
            <a:ext cx="9795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0.002</a:t>
            </a:r>
            <a:endParaRPr sz="2800"/>
          </a:p>
        </p:txBody>
      </p:sp>
      <p:sp>
        <p:nvSpPr>
          <p:cNvPr id="1360" name="Google Shape;1360;p96"/>
          <p:cNvSpPr txBox="1"/>
          <p:nvPr>
            <p:ph idx="1" type="body"/>
          </p:nvPr>
        </p:nvSpPr>
        <p:spPr>
          <a:xfrm>
            <a:off x="1077900" y="3502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3 ×</a:t>
            </a:r>
            <a:endParaRPr sz="2800"/>
          </a:p>
        </p:txBody>
      </p:sp>
      <p:sp>
        <p:nvSpPr>
          <p:cNvPr id="1361" name="Google Shape;1361;p96"/>
          <p:cNvSpPr txBox="1"/>
          <p:nvPr>
            <p:ph idx="1" type="body"/>
          </p:nvPr>
        </p:nvSpPr>
        <p:spPr>
          <a:xfrm>
            <a:off x="3592500" y="3502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5 ×</a:t>
            </a:r>
            <a:endParaRPr sz="2800"/>
          </a:p>
        </p:txBody>
      </p:sp>
      <p:sp>
        <p:nvSpPr>
          <p:cNvPr id="1362" name="Google Shape;1362;p96"/>
          <p:cNvSpPr txBox="1"/>
          <p:nvPr>
            <p:ph idx="1" type="body"/>
          </p:nvPr>
        </p:nvSpPr>
        <p:spPr>
          <a:xfrm>
            <a:off x="5954700" y="3502500"/>
            <a:ext cx="15798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2 ×</a:t>
            </a:r>
            <a:endParaRPr sz="2800"/>
          </a:p>
        </p:txBody>
      </p:sp>
      <p:sp>
        <p:nvSpPr>
          <p:cNvPr id="1363" name="Google Shape;1363;p96"/>
          <p:cNvSpPr txBox="1"/>
          <p:nvPr>
            <p:ph idx="1" type="body"/>
          </p:nvPr>
        </p:nvSpPr>
        <p:spPr>
          <a:xfrm>
            <a:off x="1077900" y="2892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three tenths</a:t>
            </a:r>
            <a:endParaRPr sz="1800"/>
          </a:p>
        </p:txBody>
      </p:sp>
      <p:sp>
        <p:nvSpPr>
          <p:cNvPr id="1364" name="Google Shape;1364;p96"/>
          <p:cNvSpPr txBox="1"/>
          <p:nvPr>
            <p:ph idx="1" type="body"/>
          </p:nvPr>
        </p:nvSpPr>
        <p:spPr>
          <a:xfrm>
            <a:off x="3592500" y="2892900"/>
            <a:ext cx="18093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five hundredths</a:t>
            </a:r>
            <a:endParaRPr sz="1800"/>
          </a:p>
        </p:txBody>
      </p:sp>
      <p:sp>
        <p:nvSpPr>
          <p:cNvPr id="1365" name="Google Shape;1365;p96"/>
          <p:cNvSpPr txBox="1"/>
          <p:nvPr>
            <p:ph idx="1" type="body"/>
          </p:nvPr>
        </p:nvSpPr>
        <p:spPr>
          <a:xfrm>
            <a:off x="5954700" y="2892900"/>
            <a:ext cx="21141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thousandths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66" name="Google Shape;1366;p96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025" y="3457213"/>
            <a:ext cx="319113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367" name="Google Shape;1367;p96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825" y="3457213"/>
            <a:ext cx="600684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368" name="Google Shape;1368;p96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8625" y="3457213"/>
            <a:ext cx="456770" cy="506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369" name="Google Shape;1369;p96" title="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7900" y="4158290"/>
            <a:ext cx="284166" cy="535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0}&quot;&gt;&lt;mfrac&gt;&lt;mn&gt;5&lt;/mn&gt;&lt;mn&gt;100&lt;/mn&gt;&lt;/mfrac&gt;&lt;/math&gt;" id="1370" name="Google Shape;1370;p96" title="5 over 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2500" y="4158290"/>
            <a:ext cx="395603" cy="518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00}&quot;&gt;&lt;mfrac&gt;&lt;mn&gt;2&lt;/mn&gt;&lt;mn&gt;1000&lt;/mn&gt;&lt;/mfrac&gt;&lt;/math&gt;" id="1371" name="Google Shape;1371;p96" title="2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4700" y="4158290"/>
            <a:ext cx="534900" cy="53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the value of the digits 6 and 3 in this number in </a:t>
            </a:r>
            <a:r>
              <a:rPr b="1" lang="en-GB"/>
              <a:t>fractional</a:t>
            </a:r>
            <a:r>
              <a:rPr lang="en-GB"/>
              <a:t> form</a:t>
            </a:r>
            <a:r>
              <a:rPr lang="en-GB"/>
              <a:t>.</a:t>
            </a:r>
            <a:endParaRPr/>
          </a:p>
        </p:txBody>
      </p:sp>
      <p:sp>
        <p:nvSpPr>
          <p:cNvPr id="1377" name="Google Shape;137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378" name="Google Shape;1378;p97"/>
          <p:cNvSpPr txBox="1"/>
          <p:nvPr>
            <p:ph idx="1" type="body"/>
          </p:nvPr>
        </p:nvSpPr>
        <p:spPr>
          <a:xfrm>
            <a:off x="2678100" y="1597500"/>
            <a:ext cx="27825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6400"/>
              <a:t>0.4603</a:t>
            </a:r>
            <a:endParaRPr sz="6400"/>
          </a:p>
        </p:txBody>
      </p:sp>
      <p:cxnSp>
        <p:nvCxnSpPr>
          <p:cNvPr id="1379" name="Google Shape;1379;p97"/>
          <p:cNvCxnSpPr/>
          <p:nvPr/>
        </p:nvCxnSpPr>
        <p:spPr>
          <a:xfrm flipH="1">
            <a:off x="2100800" y="2613275"/>
            <a:ext cx="12129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97"/>
          <p:cNvCxnSpPr/>
          <p:nvPr/>
        </p:nvCxnSpPr>
        <p:spPr>
          <a:xfrm>
            <a:off x="4045375" y="2613275"/>
            <a:ext cx="87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97"/>
          <p:cNvCxnSpPr/>
          <p:nvPr/>
        </p:nvCxnSpPr>
        <p:spPr>
          <a:xfrm>
            <a:off x="5263775" y="2613275"/>
            <a:ext cx="1070700" cy="40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10}&quot;&gt;&lt;mfrac&gt;&lt;mn&gt;4&lt;/mn&gt;&lt;mn&gt;10&lt;/mn&gt;&lt;/mfrac&gt;&lt;/math&gt;" id="1382" name="Google Shape;1382;p97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709" y="3136475"/>
            <a:ext cx="386094" cy="71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00}&quot;&gt;&lt;mfrac&gt;&lt;mn&gt;6&lt;/mn&gt;&lt;mn&gt;100&lt;/mn&gt;&lt;/mfrac&gt;&lt;/math&gt;" id="1383" name="Google Shape;1383;p97" title="6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1403" y="3136475"/>
            <a:ext cx="552645" cy="71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\ 000}&quot;&gt;&lt;mfrac&gt;&lt;mn&gt;3&lt;/mn&gt;&lt;mrow&gt;&lt;mn&gt;10&lt;/mn&gt;&lt;mtext&gt;&lt;/mtext&gt;&lt;mn&gt;000&lt;/mn&gt;&lt;/mrow&gt;&lt;/mfrac&gt;&lt;/math&gt;" id="1384" name="Google Shape;1384;p97" title="the fraction with numerator 3 and denominator 1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100" y="3136475"/>
            <a:ext cx="987093" cy="7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390" name="Google Shape;1390;p98"/>
          <p:cNvSpPr txBox="1"/>
          <p:nvPr>
            <p:ph idx="4294967295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Write the value of each non-zero digit in </a:t>
            </a:r>
            <a:r>
              <a:rPr b="1" lang="en-GB"/>
              <a:t>fractional</a:t>
            </a:r>
            <a:r>
              <a:rPr lang="en-GB"/>
              <a:t> form.</a:t>
            </a:r>
            <a:endParaRPr/>
          </a:p>
        </p:txBody>
      </p:sp>
      <p:sp>
        <p:nvSpPr>
          <p:cNvPr id="1391" name="Google Shape;1391;p98"/>
          <p:cNvSpPr txBox="1"/>
          <p:nvPr>
            <p:ph idx="4294967295" type="body"/>
          </p:nvPr>
        </p:nvSpPr>
        <p:spPr>
          <a:xfrm>
            <a:off x="3765075" y="1292700"/>
            <a:ext cx="2139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600"/>
              <a:t>0.01204</a:t>
            </a:r>
            <a:endParaRPr sz="3600"/>
          </a:p>
        </p:txBody>
      </p:sp>
      <p:cxnSp>
        <p:nvCxnSpPr>
          <p:cNvPr id="1392" name="Google Shape;1392;p98"/>
          <p:cNvCxnSpPr/>
          <p:nvPr/>
        </p:nvCxnSpPr>
        <p:spPr>
          <a:xfrm flipH="1">
            <a:off x="3167600" y="1851275"/>
            <a:ext cx="12129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98"/>
          <p:cNvCxnSpPr/>
          <p:nvPr/>
        </p:nvCxnSpPr>
        <p:spPr>
          <a:xfrm>
            <a:off x="4807375" y="1851275"/>
            <a:ext cx="87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98"/>
          <p:cNvCxnSpPr/>
          <p:nvPr/>
        </p:nvCxnSpPr>
        <p:spPr>
          <a:xfrm>
            <a:off x="5492375" y="1851275"/>
            <a:ext cx="1070700" cy="40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5" name="Google Shape;1395;p98"/>
          <p:cNvSpPr txBox="1"/>
          <p:nvPr>
            <p:ph idx="4294967295" type="body"/>
          </p:nvPr>
        </p:nvSpPr>
        <p:spPr>
          <a:xfrm>
            <a:off x="324000" y="3118000"/>
            <a:ext cx="5686500" cy="5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Write this number in decimal form.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+\ \frac{4}{10}+\frac{1}{100}+\frac{7}{1000}+\frac{7}{100\ 000}&quot;&gt;&lt;mn&gt;4&lt;/mn&gt;&lt;mtext&gt;&lt;/mtext&gt;&lt;mo&gt;+&lt;/mo&gt;&lt;mtext&gt;&lt;/mtext&gt;&lt;mfrac&gt;&lt;mn&gt;4&lt;/mn&gt;&lt;mn&gt;10&lt;/mn&gt;&lt;/mfrac&gt;&lt;mo&gt;+&lt;/mo&gt;&lt;mfrac&gt;&lt;mn&gt;1&lt;/mn&gt;&lt;mn&gt;100&lt;/mn&gt;&lt;/mfrac&gt;&lt;mo&gt;+&lt;/mo&gt;&lt;mfrac&gt;&lt;mn&gt;7&lt;/mn&gt;&lt;mn&gt;1000&lt;/mn&gt;&lt;/mfrac&gt;&lt;mo&gt;+&lt;/mo&gt;&lt;mfrac&gt;&lt;mn&gt;7&lt;/mn&gt;&lt;mrow&gt;&lt;mn&gt;100&lt;/mn&gt;&lt;mtext&gt;&lt;/mtext&gt;&lt;mn&gt;000&lt;/mn&gt;&lt;/mrow&gt;&lt;/mfrac&gt;&lt;/math&gt;" id="1396" name="Google Shape;1396;p98" title="4 plus four tenths plus 1 over 100 plus 7 over 1000 plus the fraction with numerator 7 and denominator 100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575" y="3639875"/>
            <a:ext cx="6043339" cy="8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99"/>
          <p:cNvSpPr txBox="1"/>
          <p:nvPr>
            <p:ph idx="1" type="body"/>
          </p:nvPr>
        </p:nvSpPr>
        <p:spPr>
          <a:xfrm>
            <a:off x="324000" y="759300"/>
            <a:ext cx="8520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endParaRPr/>
          </a:p>
        </p:txBody>
      </p:sp>
      <p:sp>
        <p:nvSpPr>
          <p:cNvPr id="1402" name="Google Shape;1402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403" name="Google Shape;1403;p99"/>
          <p:cNvSpPr txBox="1"/>
          <p:nvPr/>
        </p:nvSpPr>
        <p:spPr>
          <a:xfrm>
            <a:off x="323988" y="3180700"/>
            <a:ext cx="84960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Justify, by referring to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why Jun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wrong.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9"/>
          <p:cNvSpPr txBox="1"/>
          <p:nvPr>
            <p:ph idx="1" type="body"/>
          </p:nvPr>
        </p:nvSpPr>
        <p:spPr>
          <a:xfrm>
            <a:off x="2457600" y="906250"/>
            <a:ext cx="4067100" cy="13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300 is bigger than 30. There are more zeros. That’s why 0.03 is bigger than 0.3</a:t>
            </a:r>
            <a:endParaRPr/>
          </a:p>
        </p:txBody>
      </p:sp>
      <p:pic>
        <p:nvPicPr>
          <p:cNvPr id="1405" name="Google Shape;14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567" y="1392167"/>
            <a:ext cx="1190576" cy="14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9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2044841" y="800250"/>
            <a:ext cx="4450028" cy="169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412" name="Google Shape;1412;p100"/>
          <p:cNvSpPr txBox="1"/>
          <p:nvPr>
            <p:ph idx="4294967295" type="body"/>
          </p:nvPr>
        </p:nvSpPr>
        <p:spPr>
          <a:xfrm>
            <a:off x="324000" y="759300"/>
            <a:ext cx="83451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value of each non-zero digit in </a:t>
            </a:r>
            <a:r>
              <a:rPr b="1" lang="en-GB"/>
              <a:t>fractional</a:t>
            </a:r>
            <a:r>
              <a:rPr lang="en-GB"/>
              <a:t> form.</a:t>
            </a:r>
            <a:endParaRPr/>
          </a:p>
        </p:txBody>
      </p:sp>
      <p:sp>
        <p:nvSpPr>
          <p:cNvPr id="1413" name="Google Shape;1413;p100"/>
          <p:cNvSpPr txBox="1"/>
          <p:nvPr>
            <p:ph idx="4294967295" type="body"/>
          </p:nvPr>
        </p:nvSpPr>
        <p:spPr>
          <a:xfrm>
            <a:off x="324000" y="2973300"/>
            <a:ext cx="5686500" cy="5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this number in decimal form.</a:t>
            </a:r>
            <a:endParaRPr/>
          </a:p>
        </p:txBody>
      </p:sp>
      <p:sp>
        <p:nvSpPr>
          <p:cNvPr id="1414" name="Google Shape;1414;p100"/>
          <p:cNvSpPr txBox="1"/>
          <p:nvPr/>
        </p:nvSpPr>
        <p:spPr>
          <a:xfrm>
            <a:off x="5650850" y="3986275"/>
            <a:ext cx="2017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4.41707</a:t>
            </a:r>
            <a:endParaRPr sz="3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415" name="Google Shape;1415;p100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632" y="2229624"/>
            <a:ext cx="439518" cy="511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00}&quot;&gt;&lt;mfrac&gt;&lt;mn&gt;2&lt;/mn&gt;&lt;mn&gt;1000&lt;/mn&gt;&lt;/mfrac&gt;&lt;/math&gt;" id="1416" name="Google Shape;1416;p100" title="2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0454" y="2319502"/>
            <a:ext cx="498372" cy="508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00\ 000}&quot;&gt;&lt;mfrac&gt;&lt;mn&gt;4&lt;/mn&gt;&lt;mrow&gt;&lt;mn&gt;100&lt;/mn&gt;&lt;mtext&gt;&lt;/mtext&gt;&lt;mn&gt;000&lt;/mn&gt;&lt;/mrow&gt;&lt;/mfrac&gt;&lt;/math&gt;" id="1417" name="Google Shape;1417;p100" title="the fraction with numerator 4 and denominator 10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5214" y="2264391"/>
            <a:ext cx="742598" cy="47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+\ \frac{4}{10}+\frac{1}{100}+\frac{7}{1000}+\frac{7}{100\ 000}&quot;&gt;&lt;mn&gt;4&lt;/mn&gt;&lt;mtext&gt;&lt;/mtext&gt;&lt;mo&gt;+&lt;/mo&gt;&lt;mtext&gt;&lt;/mtext&gt;&lt;mfrac&gt;&lt;mn&gt;4&lt;/mn&gt;&lt;mn&gt;10&lt;/mn&gt;&lt;/mfrac&gt;&lt;mo&gt;+&lt;/mo&gt;&lt;mfrac&gt;&lt;mn&gt;1&lt;/mn&gt;&lt;mn&gt;100&lt;/mn&gt;&lt;/mfrac&gt;&lt;mo&gt;+&lt;/mo&gt;&lt;mfrac&gt;&lt;mn&gt;7&lt;/mn&gt;&lt;mn&gt;1000&lt;/mn&gt;&lt;/mfrac&gt;&lt;mo&gt;+&lt;/mo&gt;&lt;mfrac&gt;&lt;mn&gt;7&lt;/mn&gt;&lt;mrow&gt;&lt;mn&gt;100&lt;/mn&gt;&lt;mtext&gt;&lt;/mtext&gt;&lt;mn&gt;000&lt;/mn&gt;&lt;/mrow&gt;&lt;/mfrac&gt;&lt;/math&gt;" id="1418" name="Google Shape;1418;p100" title="4 plus four tenths plus 1 over 100 plus 7 over 1000 plus the fraction with numerator 7 and denominator 10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613" y="3506700"/>
            <a:ext cx="4593176" cy="65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00"/>
          <p:cNvSpPr txBox="1"/>
          <p:nvPr>
            <p:ph idx="4294967295" type="body"/>
          </p:nvPr>
        </p:nvSpPr>
        <p:spPr>
          <a:xfrm>
            <a:off x="3765075" y="1292700"/>
            <a:ext cx="2139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600"/>
              <a:t>0.01204</a:t>
            </a:r>
            <a:endParaRPr sz="3600"/>
          </a:p>
        </p:txBody>
      </p:sp>
      <p:cxnSp>
        <p:nvCxnSpPr>
          <p:cNvPr id="1420" name="Google Shape;1420;p100"/>
          <p:cNvCxnSpPr/>
          <p:nvPr/>
        </p:nvCxnSpPr>
        <p:spPr>
          <a:xfrm flipH="1">
            <a:off x="3167600" y="1851275"/>
            <a:ext cx="12129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100"/>
          <p:cNvCxnSpPr/>
          <p:nvPr/>
        </p:nvCxnSpPr>
        <p:spPr>
          <a:xfrm>
            <a:off x="4807375" y="1851275"/>
            <a:ext cx="8700" cy="39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100"/>
          <p:cNvCxnSpPr/>
          <p:nvPr/>
        </p:nvCxnSpPr>
        <p:spPr>
          <a:xfrm>
            <a:off x="5492375" y="1851275"/>
            <a:ext cx="1070700" cy="40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0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854823" y="696350"/>
            <a:ext cx="4690202" cy="18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headings expressed in fractional form</a:t>
            </a:r>
            <a:endParaRPr/>
          </a:p>
        </p:txBody>
      </p:sp>
      <p:sp>
        <p:nvSpPr>
          <p:cNvPr id="1429" name="Google Shape;1429;p101"/>
          <p:cNvSpPr txBox="1"/>
          <p:nvPr/>
        </p:nvSpPr>
        <p:spPr>
          <a:xfrm>
            <a:off x="324000" y="3035338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Your explanation might have included 0.3 &gt; 0.03 because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0" name="Google Shape;1430;p101"/>
          <p:cNvSpPr txBox="1"/>
          <p:nvPr/>
        </p:nvSpPr>
        <p:spPr>
          <a:xfrm>
            <a:off x="697787" y="3592366"/>
            <a:ext cx="35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1" name="Google Shape;1431;p101"/>
          <p:cNvSpPr txBox="1"/>
          <p:nvPr/>
        </p:nvSpPr>
        <p:spPr>
          <a:xfrm>
            <a:off x="324000" y="4205875"/>
            <a:ext cx="6010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Tenths are bigger than hundredths.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432" name="Google Shape;1432;p101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12" y="3629716"/>
            <a:ext cx="306012" cy="6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0}&quot;&gt;&lt;mfrac&gt;&lt;mn&gt;3&lt;/mn&gt;&lt;mn&gt;100&lt;/mn&gt;&lt;/mfrac&gt;&lt;/math&gt;" id="1433" name="Google Shape;1433;p101" title="3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819" y="3629716"/>
            <a:ext cx="438018" cy="59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01"/>
          <p:cNvSpPr txBox="1"/>
          <p:nvPr/>
        </p:nvSpPr>
        <p:spPr>
          <a:xfrm>
            <a:off x="324000" y="2643825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Justify, by referring to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why Jun is wrong.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01"/>
          <p:cNvSpPr txBox="1"/>
          <p:nvPr>
            <p:ph idx="1" type="body"/>
          </p:nvPr>
        </p:nvSpPr>
        <p:spPr>
          <a:xfrm>
            <a:off x="2545200" y="696350"/>
            <a:ext cx="37116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300 is bigger than 30. There are more zeros. That’s why 0.03 is bigger than 0.3</a:t>
            </a:r>
            <a:endParaRPr/>
          </a:p>
        </p:txBody>
      </p:sp>
      <p:pic>
        <p:nvPicPr>
          <p:cNvPr id="1436" name="Google Shape;1436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242" y="1082042"/>
            <a:ext cx="1190576" cy="148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101"/>
          <p:cNvSpPr txBox="1"/>
          <p:nvPr>
            <p:ph idx="1" type="body"/>
          </p:nvPr>
        </p:nvSpPr>
        <p:spPr>
          <a:xfrm>
            <a:off x="324000" y="759300"/>
            <a:ext cx="8520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2"/>
          <p:cNvSpPr txBox="1"/>
          <p:nvPr>
            <p:ph idx="1" type="body"/>
          </p:nvPr>
        </p:nvSpPr>
        <p:spPr>
          <a:xfrm>
            <a:off x="324000" y="928438"/>
            <a:ext cx="84960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headings like thousands, hundreds, tens, ones can be written in </a:t>
            </a:r>
            <a:r>
              <a:rPr b="1" lang="en-GB"/>
              <a:t>exponential form</a:t>
            </a:r>
            <a:r>
              <a:rPr lang="en-GB"/>
              <a:t>.</a:t>
            </a:r>
            <a:endParaRPr/>
          </a:p>
        </p:txBody>
      </p:sp>
      <p:sp>
        <p:nvSpPr>
          <p:cNvPr id="1443" name="Google Shape;1443;p102"/>
          <p:cNvSpPr txBox="1"/>
          <p:nvPr>
            <p:ph type="title"/>
          </p:nvPr>
        </p:nvSpPr>
        <p:spPr>
          <a:xfrm>
            <a:off x="1848850" y="13337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</a:t>
            </a:r>
            <a:r>
              <a:rPr lang="en-GB"/>
              <a:t>fractional column headings</a:t>
            </a:r>
            <a:endParaRPr/>
          </a:p>
        </p:txBody>
      </p:sp>
      <p:sp>
        <p:nvSpPr>
          <p:cNvPr id="1444" name="Google Shape;1444;p102"/>
          <p:cNvSpPr txBox="1"/>
          <p:nvPr>
            <p:ph idx="1" type="body"/>
          </p:nvPr>
        </p:nvSpPr>
        <p:spPr>
          <a:xfrm>
            <a:off x="315913" y="2466100"/>
            <a:ext cx="84960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Non-integer p</a:t>
            </a:r>
            <a:r>
              <a:rPr lang="en-GB"/>
              <a:t>lace value headings like tenths,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hundredths and thousandths can be written in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fractional form</a:t>
            </a:r>
            <a:r>
              <a:rPr lang="en-GB"/>
              <a:t>.</a:t>
            </a:r>
            <a:endParaRPr/>
          </a:p>
        </p:txBody>
      </p:sp>
      <p:sp>
        <p:nvSpPr>
          <p:cNvPr id="1445" name="Google Shape;1445;p102"/>
          <p:cNvSpPr txBox="1"/>
          <p:nvPr>
            <p:ph idx="1" type="body"/>
          </p:nvPr>
        </p:nvSpPr>
        <p:spPr>
          <a:xfrm>
            <a:off x="3100200" y="1848375"/>
            <a:ext cx="2943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.g. </a:t>
            </a:r>
            <a:r>
              <a:rPr lang="en-GB" sz="2400"/>
              <a:t>10</a:t>
            </a:r>
            <a:r>
              <a:rPr baseline="30000" lang="en-GB" sz="2400"/>
              <a:t>3</a:t>
            </a:r>
            <a:r>
              <a:rPr lang="en-GB" sz="2400"/>
              <a:t>, 10</a:t>
            </a:r>
            <a:r>
              <a:rPr baseline="30000" lang="en-GB" sz="2400"/>
              <a:t>2</a:t>
            </a:r>
            <a:r>
              <a:rPr lang="en-GB" sz="2400"/>
              <a:t>, 10</a:t>
            </a:r>
            <a:r>
              <a:rPr baseline="30000" lang="en-GB" sz="2400"/>
              <a:t>1</a:t>
            </a:r>
            <a:r>
              <a:rPr lang="en-GB" sz="2400"/>
              <a:t>, 10</a:t>
            </a:r>
            <a:r>
              <a:rPr baseline="30000" lang="en-GB" sz="2400"/>
              <a:t>0</a:t>
            </a:r>
            <a:r>
              <a:rPr lang="en-GB" sz="2400"/>
              <a:t> 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446" name="Google Shape;1446;p102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500" y="3957988"/>
            <a:ext cx="319113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447" name="Google Shape;1447;p102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6700" y="3957988"/>
            <a:ext cx="600684" cy="51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448" name="Google Shape;1448;p102" title="1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8500" y="3957988"/>
            <a:ext cx="456770" cy="50638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02"/>
          <p:cNvSpPr txBox="1"/>
          <p:nvPr>
            <p:ph idx="1" type="body"/>
          </p:nvPr>
        </p:nvSpPr>
        <p:spPr>
          <a:xfrm>
            <a:off x="3092125" y="3978075"/>
            <a:ext cx="2943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.g.       </a:t>
            </a:r>
            <a:r>
              <a:rPr lang="en-GB" sz="2400"/>
              <a:t>,          , </a:t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55" name="Google Shape;1455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