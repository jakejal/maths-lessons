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E44577C-63BB-4AA1-B55B-03D1603FE59C}">
  <a:tblStyle styleId="{7E44577C-63BB-4AA1-B55B-03D1603FE59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 rot="-5400000">
            <a:off x="-3503100" y="5177175"/>
            <a:ext cx="808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" name="Google Shape;14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 rot="-5400000">
            <a:off x="-3503100" y="5177175"/>
            <a:ext cx="808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4011413" y="73257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105813" y="85976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 rot="-5400000">
            <a:off x="5502263" y="55612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3" name="Google Shape;153;p18"/>
          <p:cNvSpPr txBox="1"/>
          <p:nvPr>
            <p:ph idx="1" type="subTitle"/>
          </p:nvPr>
        </p:nvSpPr>
        <p:spPr>
          <a:xfrm rot="-5400000">
            <a:off x="5502263" y="55612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4011413" y="73257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105813" y="85976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502263" y="55612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502263" y="55612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10" Type="http://schemas.openxmlformats.org/officeDocument/2006/relationships/image" Target="../media/image12.png"/><Relationship Id="rId9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/>
        </p:nvSpPr>
        <p:spPr>
          <a:xfrm>
            <a:off x="1611300" y="6779100"/>
            <a:ext cx="909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× 10</a:t>
            </a:r>
            <a:r>
              <a:rPr baseline="30000"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baseline="30000"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2761376" y="6779100"/>
            <a:ext cx="909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 × 10</a:t>
            </a:r>
            <a:r>
              <a:rPr baseline="30000"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baseline="30000"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5061529" y="6779100"/>
            <a:ext cx="909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 × 10</a:t>
            </a:r>
            <a:r>
              <a:rPr baseline="30000"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" name="Google Shape;174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5" name="Google Shape;175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Exponential and fractional column headings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474650" y="1506575"/>
            <a:ext cx="5651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Place value headings expressed in exponential form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blanks in the table: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7" name="Google Shape;177;p20"/>
          <p:cNvGraphicFramePr/>
          <p:nvPr/>
        </p:nvGraphicFramePr>
        <p:xfrm>
          <a:off x="2329200" y="222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{7E44577C-63BB-4AA1-B55B-03D1603FE59C}</a:tableStyleId>
              </a:tblPr>
              <a:tblGrid>
                <a:gridCol w="1020050"/>
                <a:gridCol w="1824825"/>
              </a:tblGrid>
              <a:tr h="36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Exponential form</a:t>
                      </a:r>
                      <a:endParaRPr b="1">
                        <a:solidFill>
                          <a:srgbClr val="000000"/>
                        </a:solidFill>
                      </a:endParaRPr>
                    </a:p>
                  </a:txBody>
                  <a:tcPr marT="54000" marB="54000" marR="91425" marL="91425">
                    <a:lnL cap="flat" cmpd="sng" w="952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>
                    <a:lnT cap="flat" cmpd="sng" w="952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54000" marB="54000" marR="91425" marL="91425">
                    <a:lnT cap="flat" cmpd="sng" w="9525">
                      <a:solidFill>
                        <a:srgbClr val="037B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6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/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54000" marB="54000" marR="91425" marL="91425"/>
                </a:tc>
              </a:tr>
              <a:tr h="36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/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54000" marB="54000" marR="91425" marL="91425"/>
                </a:tc>
              </a:tr>
              <a:tr h="36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/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54000" marB="54000" marR="91425" marL="91425"/>
                </a:tc>
              </a:tr>
              <a:tr h="36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10 000</a:t>
                      </a:r>
                      <a:endParaRPr/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54000" marB="54000" marR="91425" marL="91425"/>
                </a:tc>
              </a:tr>
              <a:tr h="36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100 000</a:t>
                      </a:r>
                      <a:endParaRPr/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54000" marB="54000" marR="91425" marL="91425"/>
                </a:tc>
              </a:tr>
              <a:tr h="36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1 000 000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54000" marB="54000" marR="91425" marL="91425"/>
                </a:tc>
              </a:tr>
            </a:tbl>
          </a:graphicData>
        </a:graphic>
      </p:graphicFrame>
      <p:sp>
        <p:nvSpPr>
          <p:cNvPr id="178" name="Google Shape;178;p20"/>
          <p:cNvSpPr txBox="1"/>
          <p:nvPr/>
        </p:nvSpPr>
        <p:spPr>
          <a:xfrm>
            <a:off x="4082425" y="3390050"/>
            <a:ext cx="5469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74650" y="5407500"/>
            <a:ext cx="196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blanks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3179750" y="5778900"/>
            <a:ext cx="1684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372 500</a:t>
            </a:r>
            <a:endParaRPr sz="2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" name="Google Shape;181;p20"/>
          <p:cNvCxnSpPr/>
          <p:nvPr/>
        </p:nvCxnSpPr>
        <p:spPr>
          <a:xfrm flipH="1">
            <a:off x="2600925" y="6193700"/>
            <a:ext cx="567900" cy="442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" name="Google Shape;182;p20"/>
          <p:cNvSpPr txBox="1"/>
          <p:nvPr/>
        </p:nvSpPr>
        <p:spPr>
          <a:xfrm>
            <a:off x="3954450" y="6779100"/>
            <a:ext cx="844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× 10</a:t>
            </a:r>
            <a:r>
              <a:rPr baseline="30000"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" name="Google Shape;183;p20"/>
          <p:cNvCxnSpPr/>
          <p:nvPr/>
        </p:nvCxnSpPr>
        <p:spPr>
          <a:xfrm flipH="1">
            <a:off x="3279300" y="6193800"/>
            <a:ext cx="137100" cy="438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20"/>
          <p:cNvCxnSpPr/>
          <p:nvPr/>
        </p:nvCxnSpPr>
        <p:spPr>
          <a:xfrm>
            <a:off x="3717300" y="6193800"/>
            <a:ext cx="351900" cy="429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20"/>
          <p:cNvCxnSpPr/>
          <p:nvPr/>
        </p:nvCxnSpPr>
        <p:spPr>
          <a:xfrm>
            <a:off x="4022100" y="6193800"/>
            <a:ext cx="932700" cy="43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20"/>
          <p:cNvSpPr txBox="1"/>
          <p:nvPr/>
        </p:nvSpPr>
        <p:spPr>
          <a:xfrm>
            <a:off x="474650" y="7464900"/>
            <a:ext cx="34014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Write these numbers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900275" y="7845900"/>
            <a:ext cx="4360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× 10</a:t>
            </a:r>
            <a:r>
              <a:rPr baseline="30000"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+ 5 × 10</a:t>
            </a:r>
            <a:r>
              <a:rPr baseline="30000"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+ 8 × 10</a:t>
            </a:r>
            <a:r>
              <a:rPr baseline="30000"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+ 4 × 10</a:t>
            </a:r>
            <a:r>
              <a:rPr baseline="30000"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aseline="30000"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900275" y="8531700"/>
            <a:ext cx="324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× 10</a:t>
            </a:r>
            <a:r>
              <a:rPr baseline="30000"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+ 8 × 10</a:t>
            </a:r>
            <a:r>
              <a:rPr baseline="30000"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+ 3 × 10</a:t>
            </a:r>
            <a:r>
              <a:rPr baseline="30000"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aseline="30000"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900275" y="9217500"/>
            <a:ext cx="3186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× 10</a:t>
            </a:r>
            <a:r>
              <a:rPr baseline="30000"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+ 8 × 10</a:t>
            </a:r>
            <a:r>
              <a:rPr baseline="30000"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+ 3 × 10</a:t>
            </a:r>
            <a:r>
              <a:rPr baseline="30000"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aseline="30000"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" name="Google Shape;190;p20"/>
          <p:cNvCxnSpPr/>
          <p:nvPr/>
        </p:nvCxnSpPr>
        <p:spPr>
          <a:xfrm flipH="1" rot="10800000">
            <a:off x="497200" y="9852575"/>
            <a:ext cx="6600900" cy="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" name="Google Shape;191;p20"/>
          <p:cNvSpPr txBox="1"/>
          <p:nvPr/>
        </p:nvSpPr>
        <p:spPr>
          <a:xfrm>
            <a:off x="3248125" y="3706250"/>
            <a:ext cx="1963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baseline="30000" lang="en-GB" sz="24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3246425" y="4082100"/>
            <a:ext cx="1963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baseline="30000" lang="en-GB" sz="24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baseline="30000"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3246425" y="4443400"/>
            <a:ext cx="1963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baseline="30000" lang="en-GB" sz="24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baseline="30000"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3246425" y="4828200"/>
            <a:ext cx="1963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baseline="30000" lang="en-GB" sz="24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 baseline="30000"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3248100" y="2598375"/>
            <a:ext cx="1963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baseline="30000" lang="en-GB" sz="24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endParaRPr baseline="30000"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3248125" y="2970625"/>
            <a:ext cx="1963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baseline="30000" lang="en-GB" sz="24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baseline="30000"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5434354" y="7826850"/>
            <a:ext cx="909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2584</a:t>
            </a:r>
            <a:endParaRPr baseline="30000" sz="2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4692461" y="8493600"/>
            <a:ext cx="1891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4 830 000</a:t>
            </a:r>
            <a:endParaRPr baseline="30000" sz="2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692450" y="9179400"/>
            <a:ext cx="1891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4 008 003</a:t>
            </a:r>
            <a:endParaRPr baseline="30000" sz="2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5" name="Google Shape;205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Exponential and fractional column headings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Industry.</a:t>
            </a:r>
            <a:endParaRPr/>
          </a:p>
        </p:txBody>
      </p:sp>
      <p:pic>
        <p:nvPicPr>
          <p:cNvPr id="208" name="Google Shape;208;p2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282851" y="5143650"/>
            <a:ext cx="2367124" cy="141907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462600" y="709800"/>
            <a:ext cx="6634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Place value headings expressed in fractional form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the value of each non-zero digit in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fractional form</a:t>
            </a:r>
            <a:endParaRPr b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3155475" y="1521300"/>
            <a:ext cx="14661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0.01204</a:t>
            </a:r>
            <a:endParaRPr sz="2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1" name="Google Shape;211;p21"/>
          <p:cNvCxnSpPr/>
          <p:nvPr/>
        </p:nvCxnSpPr>
        <p:spPr>
          <a:xfrm flipH="1">
            <a:off x="2405600" y="1927475"/>
            <a:ext cx="1212900" cy="393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21"/>
          <p:cNvCxnSpPr/>
          <p:nvPr/>
        </p:nvCxnSpPr>
        <p:spPr>
          <a:xfrm>
            <a:off x="3892975" y="1927475"/>
            <a:ext cx="8700" cy="393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1"/>
          <p:cNvCxnSpPr/>
          <p:nvPr/>
        </p:nvCxnSpPr>
        <p:spPr>
          <a:xfrm>
            <a:off x="4425575" y="1927475"/>
            <a:ext cx="1070700" cy="40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21"/>
          <p:cNvSpPr txBox="1"/>
          <p:nvPr/>
        </p:nvSpPr>
        <p:spPr>
          <a:xfrm>
            <a:off x="466875" y="3426300"/>
            <a:ext cx="345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Write this number in decimal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4\ +\ \frac{4}{10}+\frac{1}{100}+\frac{7}{1000}+\frac{7}{100\ 000}&quot;&gt;&lt;mn&gt;4&lt;/mn&gt;&lt;mtext&gt;&lt;/mtext&gt;&lt;mo&gt;+&lt;/mo&gt;&lt;mtext&gt;&lt;/mtext&gt;&lt;mfrac&gt;&lt;mn&gt;4&lt;/mn&gt;&lt;mn&gt;10&lt;/mn&gt;&lt;/mfrac&gt;&lt;mo&gt;+&lt;/mo&gt;&lt;mfrac&gt;&lt;mn&gt;1&lt;/mn&gt;&lt;mn&gt;100&lt;/mn&gt;&lt;/mfrac&gt;&lt;mo&gt;+&lt;/mo&gt;&lt;mfrac&gt;&lt;mn&gt;7&lt;/mn&gt;&lt;mn&gt;1000&lt;/mn&gt;&lt;/mfrac&gt;&lt;mo&gt;+&lt;/mo&gt;&lt;mfrac&gt;&lt;mn&gt;7&lt;/mn&gt;&lt;mrow&gt;&lt;mn&gt;100&lt;/mn&gt;&lt;mtext&gt;&lt;/mtext&gt;&lt;mn&gt;000&lt;/mn&gt;&lt;/mrow&gt;&lt;/mfrac&gt;&lt;/math&gt;" id="215" name="Google Shape;215;p21" title="4 plus four tenths plus 1 over 100 plus 7 over 1000 plus the fraction with numerator 7 and denominator 100 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325" y="3927600"/>
            <a:ext cx="3997276" cy="5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466875" y="5102700"/>
            <a:ext cx="2685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466875" y="7752700"/>
            <a:ext cx="53358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Justify, by referring to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fractional form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why Jun is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Write one or two sentences.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1571775" y="5240125"/>
            <a:ext cx="2078100" cy="10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300 is bigger than 30. There are more zeros. That’s why 0.03 is bigger than 0.3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9" name="Google Shape;21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798" y="6450985"/>
            <a:ext cx="923149" cy="115438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5225575" y="3923025"/>
            <a:ext cx="14661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4.41707</a:t>
            </a:r>
            <a:endParaRPr sz="3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221" name="Google Shape;221;p21" title="1 over 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36350" y="2378125"/>
            <a:ext cx="536458" cy="5581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000}&quot;&gt;&lt;mfrac&gt;&lt;mn&gt;2&lt;/mn&gt;&lt;mn&gt;1000&lt;/mn&gt;&lt;/mfrac&gt;&lt;/math&gt;" id="222" name="Google Shape;222;p21" title="2 over 1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99887" y="2393043"/>
            <a:ext cx="608293" cy="554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00\ 000}&quot;&gt;&lt;mfrac&gt;&lt;mn&gt;4&lt;/mn&gt;&lt;mrow&gt;&lt;mn&gt;100&lt;/mn&gt;&lt;mtext&gt;&lt;/mtext&gt;&lt;mn&gt;000&lt;/mn&gt;&lt;/mrow&gt;&lt;/mfrac&gt;&lt;/math&gt;" id="223" name="Google Shape;223;p21" title="the fraction with numerator 4 and denominator 100 0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24864" y="2416044"/>
            <a:ext cx="906386" cy="52172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552600" y="8428300"/>
            <a:ext cx="45954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Your explanation might have included 0.3 &gt; 0.03 because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5270113" y="8473373"/>
            <a:ext cx="3189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&gt;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552600" y="9014150"/>
            <a:ext cx="44691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Tenths are bigger than hundredths.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227" name="Google Shape;227;p21" title="three ten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02400" y="8505143"/>
            <a:ext cx="228445" cy="4269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0}&quot;&gt;&lt;mfrac&gt;&lt;mn&gt;3&lt;/mn&gt;&lt;mn&gt;100&lt;/mn&gt;&lt;/mfrac&gt;&lt;/math&gt;" id="228" name="Google Shape;228;p21" title="3 over 10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08961" y="8505143"/>
            <a:ext cx="326989" cy="422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