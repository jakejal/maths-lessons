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77EE09-489A-4F63-8040-628C12EE0C41}">
  <a:tblStyle styleId="{E277EE09-489A-4F63-8040-628C12EE0C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-4028250" y="5702575"/>
            <a:ext cx="9131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add lesson title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8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502263" y="5467588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4011413" y="7232113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105813" y="8503963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metric units</a:t>
            </a:r>
            <a:endParaRPr/>
          </a:p>
        </p:txBody>
      </p:sp>
      <p:sp>
        <p:nvSpPr>
          <p:cNvPr id="160" name="Google Shape;160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468000" y="14308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Different types of unit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2" name="Google Shape;162;p20"/>
          <p:cNvSpPr txBox="1"/>
          <p:nvPr/>
        </p:nvSpPr>
        <p:spPr>
          <a:xfrm>
            <a:off x="468000" y="2120700"/>
            <a:ext cx="6624000" cy="22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Sort the given units into the relevant categories.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/>
          <p:nvPr/>
        </p:nvSpPr>
        <p:spPr>
          <a:xfrm>
            <a:off x="680736" y="2642591"/>
            <a:ext cx="1982100" cy="1735800"/>
          </a:xfrm>
          <a:prstGeom prst="rect">
            <a:avLst/>
          </a:prstGeom>
          <a:noFill/>
          <a:ln cap="flat" cmpd="sng" w="2857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4" name="Google Shape;164;p20"/>
          <p:cNvSpPr txBox="1"/>
          <p:nvPr/>
        </p:nvSpPr>
        <p:spPr>
          <a:xfrm>
            <a:off x="1397763" y="2642591"/>
            <a:ext cx="83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2845013" y="2642591"/>
            <a:ext cx="1982100" cy="1735800"/>
          </a:xfrm>
          <a:prstGeom prst="rect">
            <a:avLst/>
          </a:prstGeom>
          <a:noFill/>
          <a:ln cap="flat" cmpd="sng" w="2857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20"/>
          <p:cNvSpPr txBox="1"/>
          <p:nvPr/>
        </p:nvSpPr>
        <p:spPr>
          <a:xfrm>
            <a:off x="3562040" y="2642591"/>
            <a:ext cx="8319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Mass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956862" y="2642591"/>
            <a:ext cx="1982100" cy="1735800"/>
          </a:xfrm>
          <a:prstGeom prst="rect">
            <a:avLst/>
          </a:prstGeom>
          <a:noFill/>
          <a:ln cap="flat" cmpd="sng" w="28575">
            <a:solidFill>
              <a:srgbClr val="8787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8" name="Google Shape;168;p20"/>
          <p:cNvSpPr txBox="1"/>
          <p:nvPr/>
        </p:nvSpPr>
        <p:spPr>
          <a:xfrm>
            <a:off x="5646651" y="2642591"/>
            <a:ext cx="1011600" cy="2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Capacity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471100" y="5359225"/>
            <a:ext cx="662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rabicParenR" startAt="2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For each of the following, write down a sensible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metric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unit.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1100" y="5879800"/>
            <a:ext cx="6624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Distance between Poole and London is 179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height of a 3 year old child is 98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capacity of a kettle is 1.7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length of a classroom is 6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mass of an apple is 86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Lexend"/>
              <a:buAutoNum type="alphaLcParenR"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 capacity of a teaspoon is 5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</a:t>
            </a:r>
            <a:r>
              <a:rPr lang="en-GB" sz="1200" u="sng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471100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5826471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1809942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479362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818203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3148784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487625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1140515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157059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495887" y="4659450"/>
            <a:ext cx="582300" cy="3702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20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1" name="Google Shape;181;p20"/>
          <p:cNvCxnSpPr/>
          <p:nvPr/>
        </p:nvCxnSpPr>
        <p:spPr>
          <a:xfrm>
            <a:off x="468000" y="9905650"/>
            <a:ext cx="660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 txBox="1"/>
          <p:nvPr/>
        </p:nvSpPr>
        <p:spPr>
          <a:xfrm>
            <a:off x="466825" y="1276175"/>
            <a:ext cx="66252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appropriate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prefixes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in the blank boxes.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1"/>
          <p:cNvGraphicFramePr/>
          <p:nvPr/>
        </p:nvGraphicFramePr>
        <p:xfrm>
          <a:off x="1003825" y="166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{E277EE09-489A-4F63-8040-628C12EE0C41}</a:tableStyleId>
              </a:tblPr>
              <a:tblGrid>
                <a:gridCol w="793025"/>
                <a:gridCol w="793025"/>
                <a:gridCol w="793025"/>
                <a:gridCol w="793025"/>
                <a:gridCol w="793025"/>
                <a:gridCol w="793025"/>
                <a:gridCol w="793025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1000</a:t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100</a:t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</a:t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unit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54000" marL="54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10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unit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</a:rPr>
                        <a:t>unit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CCCCCC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9" name="Google Shape;189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place value in metric units</a:t>
            </a:r>
            <a:endParaRPr/>
          </a:p>
        </p:txBody>
      </p:sp>
      <p:sp>
        <p:nvSpPr>
          <p:cNvPr id="190" name="Google Shape;190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^2&quot;&gt;&lt;msup&gt;&lt;mn&gt;10&lt;/mn&gt;&lt;mn&gt;2&lt;/mn&gt;&lt;/msup&gt;&lt;/math&gt;" id="192" name="Google Shape;192;p21" title="10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05023" y="2246948"/>
            <a:ext cx="313981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0^3&quot;&gt;&lt;msup&gt;&lt;mn&gt;10&lt;/mn&gt;&lt;mn&gt;3&lt;/mn&gt;&lt;/msup&gt;&lt;/math&gt;" id="193" name="Google Shape;193;p21" title="10 cub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7899" y="2234721"/>
            <a:ext cx="300899" cy="2289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94" name="Google Shape;194;p21" title="the fraction with numerator 1 and denominator 10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9223" y="2157896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95" name="Google Shape;195;p21" title="the fraction with numerator 1 and denominator 10 cube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7682" y="2157896"/>
            <a:ext cx="263983" cy="382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96" name="Google Shape;196;p21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8767" y="2161221"/>
            <a:ext cx="198622" cy="3660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0}&quot;&gt;&lt;mfrac&gt;&lt;mn&gt;1&lt;/mn&gt;&lt;mn&gt;100&lt;/mn&gt;&lt;/mfrac&gt;&lt;/math&gt;" id="197" name="Google Shape;197;p21" title="1 over 10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31437" y="1705665"/>
            <a:ext cx="284302" cy="362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,000}&quot;&gt;&lt;mfrac&gt;&lt;mn&gt;1&lt;/mn&gt;&lt;mrow&gt;&lt;mn&gt;1&lt;/mn&gt;&lt;mo&gt;,&lt;/mo&gt;&lt;mn&gt;000&lt;/mn&gt;&lt;/mrow&gt;&lt;/mfrac&gt;&lt;/math&gt;" id="198" name="Google Shape;198;p21" title="the fraction with numerator 1 and denominator 1 comma 00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13784" y="1692040"/>
            <a:ext cx="451768" cy="389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10}&quot;&gt;&lt;mfrac&gt;&lt;mn&gt;1&lt;/mn&gt;&lt;mn&gt;10&lt;/mn&gt;&lt;/mfrac&gt;&lt;/math&gt;" id="199" name="Google Shape;199;p21" title="one tenth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81249" y="1703725"/>
            <a:ext cx="198622" cy="366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468000" y="821250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Prefixes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7998" y="3501400"/>
            <a:ext cx="6624000" cy="18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Order the units from smallest to largest.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litre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metre,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metre, metre,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centi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milli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gram,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kilo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gram, gram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76400" y="6550500"/>
            <a:ext cx="66252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following statements.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If in the future a new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metric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unit is defined and named an ‘acorn’.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would be 100 times smaller than an ‘acorn’.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 </a:t>
            </a:r>
            <a:r>
              <a:rPr lang="en-GB" sz="1200" u="sng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                    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would be 1000 times larger than an ‘acorn’.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3" name="Google Shape;203;p21"/>
          <p:cNvCxnSpPr/>
          <p:nvPr/>
        </p:nvCxnSpPr>
        <p:spPr>
          <a:xfrm>
            <a:off x="468000" y="9956900"/>
            <a:ext cx="66072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