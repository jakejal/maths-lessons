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BFB776-7A7D-4321-A9FA-AF506593C89A}">
  <a:tblStyle styleId="{CFBFB776-7A7D-4321-A9FA-AF506593C8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understanding of place value in metric units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308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Different types of unit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2120700"/>
            <a:ext cx="6624000" cy="22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Sort the given units into the relevant categories.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68000" y="2642591"/>
            <a:ext cx="1982100" cy="1735800"/>
          </a:xfrm>
          <a:prstGeom prst="rect">
            <a:avLst/>
          </a:prstGeom>
          <a:noFill/>
          <a:ln cap="flat" cmpd="sng" w="2857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20"/>
          <p:cNvSpPr txBox="1"/>
          <p:nvPr/>
        </p:nvSpPr>
        <p:spPr>
          <a:xfrm>
            <a:off x="1169163" y="2642591"/>
            <a:ext cx="83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632277" y="2642591"/>
            <a:ext cx="1982100" cy="1735800"/>
          </a:xfrm>
          <a:prstGeom prst="rect">
            <a:avLst/>
          </a:prstGeom>
          <a:noFill/>
          <a:ln cap="flat" cmpd="sng" w="2857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3409640" y="2642591"/>
            <a:ext cx="83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744125" y="2642591"/>
            <a:ext cx="1982100" cy="1735800"/>
          </a:xfrm>
          <a:prstGeom prst="rect">
            <a:avLst/>
          </a:prstGeom>
          <a:noFill/>
          <a:ln cap="flat" cmpd="sng" w="2857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5418051" y="2642591"/>
            <a:ext cx="10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Capacity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30008" y="3009790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596255" y="3054698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016765" y="3501218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995402" y="3009790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721025" y="3799702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778416" y="3009790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812713" y="3009790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331605" y="3446326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960566" y="3009790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423695" y="3446326"/>
            <a:ext cx="477600" cy="2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471100" y="5359225"/>
            <a:ext cx="6624000" cy="2295550"/>
            <a:chOff x="471100" y="4749625"/>
            <a:chExt cx="6624000" cy="2295550"/>
          </a:xfrm>
        </p:grpSpPr>
        <p:sp>
          <p:nvSpPr>
            <p:cNvPr id="192" name="Google Shape;192;p20"/>
            <p:cNvSpPr txBox="1"/>
            <p:nvPr/>
          </p:nvSpPr>
          <p:spPr>
            <a:xfrm>
              <a:off x="471100" y="4749625"/>
              <a:ext cx="662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SzPts val="1200"/>
                <a:buFont typeface="Lexend"/>
                <a:buAutoNum type="arabicParenR" startAt="2"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For each of the following, write down a sensible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metric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unit.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677258" y="5290475"/>
              <a:ext cx="5964600" cy="17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Lexend"/>
                <a:buAutoNum type="alphaLcParenR"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Distance between Poole and London is 179     </a:t>
              </a:r>
              <a:r>
                <a:rPr b="1" lang="en-GB" sz="1200">
                  <a:latin typeface="Kalam"/>
                  <a:ea typeface="Kalam"/>
                  <a:cs typeface="Kalam"/>
                  <a:sym typeface="Kalam"/>
                </a:rPr>
                <a:t>kilo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metres (km)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Lexend"/>
                <a:buAutoNum type="alphaLcParenR"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height of a 3 year old child is 98     </a:t>
              </a:r>
              <a:r>
                <a:rPr b="1" lang="en-GB" sz="1200">
                  <a:latin typeface="Kalam"/>
                  <a:ea typeface="Kalam"/>
                  <a:cs typeface="Kalam"/>
                  <a:sym typeface="Kalam"/>
                </a:rPr>
                <a:t>centi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metres (cm)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Lexend"/>
                <a:buAutoNum type="alphaLcParenR"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capacity of a kettle is 1.7    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litres (l)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Lexend"/>
                <a:buAutoNum type="alphaLcParenR"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length of a classroom is 6   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metres (m)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Lexend"/>
                <a:buAutoNum type="alphaLcParenR"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mass of an apple is 86     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grams (g)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Lexend"/>
                <a:buAutoNum type="alphaLcParenR"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The capacity of a teaspoon is 5     </a:t>
              </a:r>
              <a:r>
                <a:rPr b="1" lang="en-GB" sz="1200">
                  <a:latin typeface="Kalam"/>
                  <a:ea typeface="Kalam"/>
                  <a:cs typeface="Kalam"/>
                  <a:sym typeface="Kalam"/>
                </a:rPr>
                <a:t>milli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litres (ml)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194" name="Google Shape;194;p20"/>
          <p:cNvCxnSpPr/>
          <p:nvPr/>
        </p:nvCxnSpPr>
        <p:spPr>
          <a:xfrm>
            <a:off x="468000" y="9889775"/>
            <a:ext cx="660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metric units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66825" y="1276175"/>
            <a:ext cx="66252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appropriate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prefixes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blank boxes.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1"/>
          <p:cNvGraphicFramePr/>
          <p:nvPr/>
        </p:nvGraphicFramePr>
        <p:xfrm>
          <a:off x="1003825" y="166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{CFBFB776-7A7D-4321-A9FA-AF506593C89A}</a:tableStyleId>
              </a:tblPr>
              <a:tblGrid>
                <a:gridCol w="793025"/>
                <a:gridCol w="793025"/>
                <a:gridCol w="793025"/>
                <a:gridCol w="793025"/>
                <a:gridCol w="793025"/>
                <a:gridCol w="793025"/>
                <a:gridCol w="7930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1000</a:t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100</a:t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</a:t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37B7D"/>
                          </a:solidFill>
                        </a:rPr>
                        <a:t>unit</a:t>
                      </a:r>
                      <a:endParaRPr sz="1800">
                        <a:solidFill>
                          <a:srgbClr val="037B7D"/>
                        </a:solidFill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37B7D"/>
                          </a:solidFill>
                        </a:rPr>
                        <a:t>unit</a:t>
                      </a:r>
                      <a:endParaRPr sz="1800">
                        <a:solidFill>
                          <a:srgbClr val="037B7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kilo</a:t>
                      </a:r>
                      <a:endParaRPr b="1"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37B7D"/>
                          </a:solidFill>
                        </a:rPr>
                        <a:t>unit</a:t>
                      </a:r>
                      <a:endParaRPr sz="1800">
                        <a:solidFill>
                          <a:srgbClr val="037B7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centi</a:t>
                      </a:r>
                      <a:endParaRPr b="1"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milli</a:t>
                      </a:r>
                      <a:endParaRPr b="1"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205" name="Google Shape;205;p21" title="10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023" y="2246948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206" name="Google Shape;206;p21" title="10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899" y="2234721"/>
            <a:ext cx="300899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207" name="Google Shape;207;p21" title="the fraction with numerator 1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9223" y="2157896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208" name="Google Shape;208;p21" title="the fraction with numerator 1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7682" y="2157896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209" name="Google Shape;209;p21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8767" y="2161221"/>
            <a:ext cx="198622" cy="366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210" name="Google Shape;210;p21" title="1 over 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31437" y="1705665"/>
            <a:ext cx="284302" cy="362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,000}&quot;&gt;&lt;mfrac&gt;&lt;mn&gt;1&lt;/mn&gt;&lt;mrow&gt;&lt;mn&gt;1&lt;/mn&gt;&lt;mo&gt;,&lt;/mo&gt;&lt;mn&gt;000&lt;/mn&gt;&lt;/mrow&gt;&lt;/mfrac&gt;&lt;/math&gt;" id="211" name="Google Shape;211;p21" title="the fraction with numerator 1 and denominator 1 comma 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13784" y="1692040"/>
            <a:ext cx="451768" cy="38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212" name="Google Shape;212;p21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1249" y="1703725"/>
            <a:ext cx="198622" cy="3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468000" y="8212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Prefixes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615650" y="3586700"/>
            <a:ext cx="64701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Order the units from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metre, metre,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gram,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gram, gram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2538472" y="4113800"/>
            <a:ext cx="33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milli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litre,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centi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litre, litre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538472" y="4904400"/>
            <a:ext cx="396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milli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metre,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centi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metre, metre,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kilo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metre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2568988" y="5695000"/>
            <a:ext cx="35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milli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gram, gram,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kilo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gram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21900" y="6508400"/>
            <a:ext cx="64701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following statements.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in the future a new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metric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unit is defined and named an ‘acorn’.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centi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acorn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be 100 times smaller than an ‘acorn’.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kilo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acorn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would be 1000 times larger than an ‘acorn’.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>
            <a:off x="468000" y="9909325"/>
            <a:ext cx="660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