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D7B9E4-C26D-437D-A76B-87B41ADE19A6}">
  <a:tblStyle styleId="{E3D7B9E4-C26D-437D-A76B-87B41ADE19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7c116600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7c116600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7c5420b5f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7c5420b5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7bfae8936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7bfae8936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7bfae8936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27bfae8936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7bfae8936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7bfae8936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7bfae8936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7bfae8936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7bfae8936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7bfae8936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7bfae8936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7bfae8936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7bfae8936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7bfae8936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7bfae8936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7bfae8936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7bfae8936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7bfae8936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7bfae8936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7bfae8936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7bfae8936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7bfae8936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27bfae89369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7bfae8936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27c5420b5f2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7c5420b5f2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7bfae89369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7bfae89369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7bfae89369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7bfae89369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7bfae89369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7bfae89369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7c5420b5f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7c5420b5f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7c5420b5f2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7c5420b5f2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7de2604c6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7de2604c6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27de2604c6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27de2604c6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7de2604c63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7de2604c63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1e7dd74e664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1e7dd74e664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7de2604c63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7de2604c63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7c5420b5f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7c5420b5f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7c5420b5f2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7c5420b5f2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7de2604c63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27de2604c63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27de2604c63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27de2604c63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7c5420b5f2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7c5420b5f2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7c5420b5f2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27c5420b5f2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7c5420b5f2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7c5420b5f2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7c5420b5f2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7c5420b5f2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7c5420b5f2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7c5420b5f2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7c5420b5f2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7c5420b5f2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7c5420b5f2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7c5420b5f2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27c5420b5f2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27c5420b5f2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3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3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3.png"/><Relationship Id="rId4" Type="http://schemas.openxmlformats.org/officeDocument/2006/relationships/image" Target="../media/image30.png"/><Relationship Id="rId11" Type="http://schemas.openxmlformats.org/officeDocument/2006/relationships/image" Target="../media/image23.png"/><Relationship Id="rId10" Type="http://schemas.openxmlformats.org/officeDocument/2006/relationships/image" Target="../media/image36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42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42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42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61" name="Google Shape;561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7" name="Google Shape;567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8" name="Google Shape;56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4" name="Google Shape;5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4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4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6" name="Google Shape;586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7" name="Google Shape;587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9" name="Google Shape;589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0" name="Google Shape;59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6" name="Google Shape;5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8" name="Google Shape;598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9" name="Google Shape;599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4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4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4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5" name="Google Shape;605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06" name="Google Shape;606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8" name="Google Shape;608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9" name="Google Shape;609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1" name="Google Shape;611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8" name="Google Shape;618;p4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1" name="Google Shape;6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4" name="Google Shape;624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27" name="Google Shape;627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28" name="Google Shape;62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31" name="Google Shape;631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3" name="Google Shape;633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34" name="Google Shape;63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0" name="Google Shape;6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7" name="Google Shape;6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8" name="Google Shape;718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9" name="Google Shape;71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4" name="Google Shape;724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0" name="Google Shape;730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2" name="Google Shape;732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6" name="Google Shape;736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8" name="Google Shape;738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jpg"/><Relationship Id="rId4" Type="http://schemas.openxmlformats.org/officeDocument/2006/relationships/image" Target="../media/image57.jpg"/><Relationship Id="rId5" Type="http://schemas.openxmlformats.org/officeDocument/2006/relationships/image" Target="../media/image4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3.png"/><Relationship Id="rId4" Type="http://schemas.openxmlformats.org/officeDocument/2006/relationships/image" Target="../media/image59.png"/><Relationship Id="rId9" Type="http://schemas.openxmlformats.org/officeDocument/2006/relationships/image" Target="../media/image46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Relationship Id="rId8" Type="http://schemas.openxmlformats.org/officeDocument/2006/relationships/image" Target="../media/image6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Relationship Id="rId4" Type="http://schemas.openxmlformats.org/officeDocument/2006/relationships/image" Target="../media/image61.png"/><Relationship Id="rId5" Type="http://schemas.openxmlformats.org/officeDocument/2006/relationships/image" Target="../media/image4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Relationship Id="rId4" Type="http://schemas.openxmlformats.org/officeDocument/2006/relationships/image" Target="../media/image6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0.png"/><Relationship Id="rId4" Type="http://schemas.openxmlformats.org/officeDocument/2006/relationships/image" Target="../media/image53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3.png"/><Relationship Id="rId8" Type="http://schemas.openxmlformats.org/officeDocument/2006/relationships/image" Target="../media/image6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3.png"/><Relationship Id="rId4" Type="http://schemas.openxmlformats.org/officeDocument/2006/relationships/image" Target="../media/image59.png"/><Relationship Id="rId9" Type="http://schemas.openxmlformats.org/officeDocument/2006/relationships/image" Target="../media/image71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Relationship Id="rId8" Type="http://schemas.openxmlformats.org/officeDocument/2006/relationships/image" Target="../media/image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3.png"/><Relationship Id="rId4" Type="http://schemas.openxmlformats.org/officeDocument/2006/relationships/image" Target="../media/image59.png"/><Relationship Id="rId9" Type="http://schemas.openxmlformats.org/officeDocument/2006/relationships/image" Target="../media/image71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Relationship Id="rId8" Type="http://schemas.openxmlformats.org/officeDocument/2006/relationships/image" Target="../media/image6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place value in metric units</a:t>
            </a:r>
            <a:endParaRPr/>
          </a:p>
        </p:txBody>
      </p:sp>
      <p:sp>
        <p:nvSpPr>
          <p:cNvPr id="763" name="Google Shape;763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 txBox="1"/>
          <p:nvPr>
            <p:ph idx="1" type="subTitle"/>
          </p:nvPr>
        </p:nvSpPr>
        <p:spPr>
          <a:xfrm>
            <a:off x="585575" y="1463950"/>
            <a:ext cx="78927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highlight>
                  <a:srgbClr val="FFFFFF"/>
                </a:highlight>
              </a:rPr>
              <a:t>I can interpret place value in the context of measure (metric).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324000" y="1651155"/>
            <a:ext cx="84960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prefix</a:t>
            </a:r>
            <a:r>
              <a:rPr lang="en-GB"/>
              <a:t> is a group of letters attached to the front of a root (word) to make a </a:t>
            </a:r>
            <a:r>
              <a:rPr lang="en-GB"/>
              <a:t>new</a:t>
            </a:r>
            <a:r>
              <a:rPr lang="en-GB"/>
              <a:t> word, for example </a:t>
            </a:r>
            <a:r>
              <a:rPr lang="en-GB">
                <a:solidFill>
                  <a:srgbClr val="719F70"/>
                </a:solidFill>
              </a:rPr>
              <a:t>tri</a:t>
            </a:r>
            <a:r>
              <a:rPr lang="en-GB"/>
              <a:t>cycle.</a:t>
            </a:r>
            <a:endParaRPr/>
          </a:p>
        </p:txBody>
      </p:sp>
      <p:sp>
        <p:nvSpPr>
          <p:cNvPr id="779" name="Google Shape;779;p67"/>
          <p:cNvSpPr txBox="1"/>
          <p:nvPr>
            <p:ph idx="2" type="subTitle"/>
          </p:nvPr>
        </p:nvSpPr>
        <p:spPr>
          <a:xfrm>
            <a:off x="324000" y="2579163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Centi </a:t>
            </a:r>
            <a:r>
              <a:rPr lang="en-GB"/>
              <a:t>placed before a unit means         .   </a:t>
            </a:r>
            <a:endParaRPr/>
          </a:p>
        </p:txBody>
      </p:sp>
      <p:sp>
        <p:nvSpPr>
          <p:cNvPr id="780" name="Google Shape;780;p67"/>
          <p:cNvSpPr txBox="1"/>
          <p:nvPr>
            <p:ph idx="3" type="subTitle"/>
          </p:nvPr>
        </p:nvSpPr>
        <p:spPr>
          <a:xfrm>
            <a:off x="324000" y="343098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M</a:t>
            </a:r>
            <a:r>
              <a:rPr b="1" lang="en-GB"/>
              <a:t>illi</a:t>
            </a:r>
            <a:r>
              <a:rPr lang="en-GB"/>
              <a:t> placed before a unit means            . </a:t>
            </a:r>
            <a:endParaRPr/>
          </a:p>
        </p:txBody>
      </p:sp>
      <p:sp>
        <p:nvSpPr>
          <p:cNvPr id="781" name="Google Shape;781;p67"/>
          <p:cNvSpPr txBox="1"/>
          <p:nvPr>
            <p:ph idx="4" type="subTitle"/>
          </p:nvPr>
        </p:nvSpPr>
        <p:spPr>
          <a:xfrm>
            <a:off x="324000" y="42066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Kilo </a:t>
            </a:r>
            <a:r>
              <a:rPr lang="en-GB"/>
              <a:t>placed before a unit means 1000 times.</a:t>
            </a:r>
            <a:endParaRPr/>
          </a:p>
        </p:txBody>
      </p:sp>
      <p:sp>
        <p:nvSpPr>
          <p:cNvPr id="782" name="Google Shape;782;p67"/>
          <p:cNvSpPr txBox="1"/>
          <p:nvPr>
            <p:ph idx="5" type="subTitle"/>
          </p:nvPr>
        </p:nvSpPr>
        <p:spPr>
          <a:xfrm>
            <a:off x="324000" y="7231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Metric</a:t>
            </a:r>
            <a:r>
              <a:rPr lang="en-GB"/>
              <a:t> units </a:t>
            </a:r>
            <a:r>
              <a:rPr lang="en-GB">
                <a:solidFill>
                  <a:schemeClr val="dk1"/>
                </a:solidFill>
              </a:rPr>
              <a:t>are based around the standard units of metre, gram and litre.</a:t>
            </a:r>
            <a:r>
              <a:rPr lang="en-GB"/>
              <a:t>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783" name="Google Shape;783;p67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5100" y="2418499"/>
            <a:ext cx="497225" cy="6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784" name="Google Shape;784;p67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8325" y="3270849"/>
            <a:ext cx="650201" cy="6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790" name="Google Shape;790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791" name="Google Shape;791;p68"/>
          <p:cNvSpPr txBox="1"/>
          <p:nvPr>
            <p:ph idx="3" type="title"/>
          </p:nvPr>
        </p:nvSpPr>
        <p:spPr>
          <a:xfrm>
            <a:off x="415950" y="634469"/>
            <a:ext cx="6795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place value in metric units</a:t>
            </a:r>
            <a:endParaRPr/>
          </a:p>
        </p:txBody>
      </p:sp>
      <p:pic>
        <p:nvPicPr>
          <p:cNvPr id="792" name="Google Shape;79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0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798" name="Google Shape;798;p69"/>
          <p:cNvSpPr txBox="1"/>
          <p:nvPr/>
        </p:nvSpPr>
        <p:spPr>
          <a:xfrm>
            <a:off x="5296125" y="3207500"/>
            <a:ext cx="252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units might we use for each of these?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765900"/>
            <a:ext cx="2734800" cy="18224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0" name="Google Shape;800;p69"/>
          <p:cNvCxnSpPr/>
          <p:nvPr/>
        </p:nvCxnSpPr>
        <p:spPr>
          <a:xfrm>
            <a:off x="3174400" y="1060750"/>
            <a:ext cx="7500" cy="15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801" name="Google Shape;801;p69"/>
          <p:cNvSpPr txBox="1"/>
          <p:nvPr/>
        </p:nvSpPr>
        <p:spPr>
          <a:xfrm>
            <a:off x="3316700" y="1060750"/>
            <a:ext cx="13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height of the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2" name="Google Shape;80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2801025"/>
            <a:ext cx="2734800" cy="1822479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/>
        </p:nvSpPr>
        <p:spPr>
          <a:xfrm>
            <a:off x="3202100" y="3342813"/>
            <a:ext cx="13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mass of the egg.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4" name="Google Shape;80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0025" y="810000"/>
            <a:ext cx="2734800" cy="1822488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9"/>
          <p:cNvSpPr txBox="1"/>
          <p:nvPr/>
        </p:nvSpPr>
        <p:spPr>
          <a:xfrm>
            <a:off x="7754100" y="973500"/>
            <a:ext cx="1389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capacity of the vase.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</a:t>
            </a:r>
            <a:r>
              <a:rPr lang="en-GB"/>
              <a:t>nits</a:t>
            </a:r>
            <a:r>
              <a:rPr lang="en-GB"/>
              <a:t> give an understanding of what is being measured and its size.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They can be grouped as </a:t>
            </a:r>
            <a:r>
              <a:rPr lang="en-GB"/>
              <a:t>length, mass or capacity.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/>
              <a:t>Metric</a:t>
            </a:r>
            <a:r>
              <a:rPr lang="en-GB"/>
              <a:t> units are based around the metre, gram and litre.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817" name="Google Shape;817;p71"/>
          <p:cNvSpPr txBox="1"/>
          <p:nvPr/>
        </p:nvSpPr>
        <p:spPr>
          <a:xfrm>
            <a:off x="541775" y="87990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1"/>
          <p:cNvSpPr txBox="1"/>
          <p:nvPr/>
        </p:nvSpPr>
        <p:spPr>
          <a:xfrm>
            <a:off x="1259200" y="1984600"/>
            <a:ext cx="184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metre,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1"/>
          <p:cNvSpPr txBox="1"/>
          <p:nvPr/>
        </p:nvSpPr>
        <p:spPr>
          <a:xfrm>
            <a:off x="1259200" y="3136454"/>
            <a:ext cx="24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illi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metre, mm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/>
        </p:nvSpPr>
        <p:spPr>
          <a:xfrm>
            <a:off x="1259200" y="2560532"/>
            <a:ext cx="217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enti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metre,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1"/>
          <p:cNvSpPr txBox="1"/>
          <p:nvPr/>
        </p:nvSpPr>
        <p:spPr>
          <a:xfrm>
            <a:off x="1259200" y="1386925"/>
            <a:ext cx="21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kilo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etre, km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3150" y="897200"/>
            <a:ext cx="3609424" cy="181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0350" y="2707550"/>
            <a:ext cx="2953900" cy="1495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829" name="Google Shape;829;p72"/>
          <p:cNvSpPr txBox="1"/>
          <p:nvPr/>
        </p:nvSpPr>
        <p:spPr>
          <a:xfrm>
            <a:off x="534150" y="87990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Mass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/>
        </p:nvSpPr>
        <p:spPr>
          <a:xfrm>
            <a:off x="1266825" y="1959900"/>
            <a:ext cx="181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/>
        </p:nvSpPr>
        <p:spPr>
          <a:xfrm>
            <a:off x="1266825" y="2571750"/>
            <a:ext cx="214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illi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gram, mg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 txBox="1"/>
          <p:nvPr/>
        </p:nvSpPr>
        <p:spPr>
          <a:xfrm>
            <a:off x="1266825" y="1419900"/>
            <a:ext cx="19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kilo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gram, kg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3" name="Google Shape;833;p72"/>
          <p:cNvPicPr preferRelativeResize="0"/>
          <p:nvPr/>
        </p:nvPicPr>
        <p:blipFill rotWithShape="1">
          <a:blip r:embed="rId3">
            <a:alphaModFix/>
          </a:blip>
          <a:srcRect b="0" l="8105" r="0" t="36740"/>
          <a:stretch/>
        </p:blipFill>
        <p:spPr>
          <a:xfrm>
            <a:off x="4263050" y="2000775"/>
            <a:ext cx="3997376" cy="14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839" name="Google Shape;839;p73"/>
          <p:cNvSpPr txBox="1"/>
          <p:nvPr/>
        </p:nvSpPr>
        <p:spPr>
          <a:xfrm>
            <a:off x="534150" y="87990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Capacity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3"/>
          <p:cNvSpPr txBox="1"/>
          <p:nvPr/>
        </p:nvSpPr>
        <p:spPr>
          <a:xfrm>
            <a:off x="1279976" y="1419900"/>
            <a:ext cx="171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litres, l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3"/>
          <p:cNvSpPr txBox="1"/>
          <p:nvPr/>
        </p:nvSpPr>
        <p:spPr>
          <a:xfrm>
            <a:off x="1228725" y="2612700"/>
            <a:ext cx="181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milli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litres, ml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3"/>
          <p:cNvSpPr txBox="1"/>
          <p:nvPr/>
        </p:nvSpPr>
        <p:spPr>
          <a:xfrm>
            <a:off x="1228725" y="2016300"/>
            <a:ext cx="202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cent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litres, cl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3" name="Google Shape;84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2023" y="1011325"/>
            <a:ext cx="1738802" cy="1809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 rotWithShape="1">
          <a:blip r:embed="rId4">
            <a:alphaModFix/>
          </a:blip>
          <a:srcRect b="15853" l="59091" r="0" t="0"/>
          <a:stretch/>
        </p:blipFill>
        <p:spPr>
          <a:xfrm>
            <a:off x="4363950" y="1960225"/>
            <a:ext cx="1817099" cy="1819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centi</a:t>
            </a:r>
            <a:r>
              <a:rPr lang="en-GB"/>
              <a:t>metre is a unit of </a:t>
            </a:r>
            <a:r>
              <a:rPr lang="en-GB" u="sng"/>
              <a:t>                     </a:t>
            </a:r>
            <a:r>
              <a:rPr lang="en-GB"/>
              <a:t> .</a:t>
            </a:r>
            <a:endParaRPr/>
          </a:p>
        </p:txBody>
      </p:sp>
      <p:sp>
        <p:nvSpPr>
          <p:cNvPr id="850" name="Google Shape;850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851" name="Google Shape;851;p7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length</a:t>
            </a:r>
            <a:endParaRPr/>
          </a:p>
        </p:txBody>
      </p:sp>
      <p:sp>
        <p:nvSpPr>
          <p:cNvPr id="852" name="Google Shape;852;p74"/>
          <p:cNvSpPr txBox="1"/>
          <p:nvPr>
            <p:ph idx="3" type="subTitle"/>
          </p:nvPr>
        </p:nvSpPr>
        <p:spPr>
          <a:xfrm>
            <a:off x="1070700" y="2801859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capacity</a:t>
            </a:r>
            <a:endParaRPr/>
          </a:p>
        </p:txBody>
      </p:sp>
      <p:sp>
        <p:nvSpPr>
          <p:cNvPr id="853" name="Google Shape;853;p7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mass</a:t>
            </a:r>
            <a:endParaRPr/>
          </a:p>
        </p:txBody>
      </p:sp>
      <p:pic>
        <p:nvPicPr>
          <p:cNvPr id="854" name="Google Shape;85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108" y="180676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kilo</a:t>
            </a:r>
            <a:r>
              <a:rPr lang="en-GB"/>
              <a:t>gram is a unit of </a:t>
            </a:r>
            <a:r>
              <a:rPr lang="en-GB" u="sng"/>
              <a:t>                     </a:t>
            </a:r>
            <a:r>
              <a:rPr lang="en-GB"/>
              <a:t> </a:t>
            </a:r>
            <a:r>
              <a:rPr lang="en-GB"/>
              <a:t>.</a:t>
            </a:r>
            <a:endParaRPr/>
          </a:p>
        </p:txBody>
      </p:sp>
      <p:sp>
        <p:nvSpPr>
          <p:cNvPr id="860" name="Google Shape;860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861" name="Google Shape;861;p7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</a:t>
            </a:r>
            <a:r>
              <a:rPr lang="en-GB"/>
              <a:t>ength</a:t>
            </a:r>
            <a:endParaRPr/>
          </a:p>
        </p:txBody>
      </p:sp>
      <p:sp>
        <p:nvSpPr>
          <p:cNvPr id="862" name="Google Shape;862;p7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apacity</a:t>
            </a:r>
            <a:endParaRPr/>
          </a:p>
        </p:txBody>
      </p:sp>
      <p:sp>
        <p:nvSpPr>
          <p:cNvPr id="863" name="Google Shape;863;p7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</a:t>
            </a:r>
            <a:r>
              <a:rPr lang="en-GB"/>
              <a:t>ass</a:t>
            </a:r>
            <a:endParaRPr/>
          </a:p>
        </p:txBody>
      </p:sp>
      <p:pic>
        <p:nvPicPr>
          <p:cNvPr id="864" name="Google Shape;86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658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type of unit for the distance between two towns would be a unit of </a:t>
            </a:r>
            <a:r>
              <a:rPr lang="en-GB"/>
              <a:t>length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sensible </a:t>
            </a:r>
            <a:r>
              <a:rPr b="1" lang="en-GB"/>
              <a:t>metric</a:t>
            </a:r>
            <a:r>
              <a:rPr lang="en-GB"/>
              <a:t> unit of length would be </a:t>
            </a:r>
            <a:r>
              <a:rPr b="1" lang="en-GB"/>
              <a:t>kilo</a:t>
            </a:r>
            <a:r>
              <a:rPr lang="en-GB"/>
              <a:t>metres</a:t>
            </a:r>
            <a:r>
              <a:rPr lang="en-GB"/>
              <a:t> (km).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the direct distance between Edinburgh and Cambridge is 470 </a:t>
            </a:r>
            <a:r>
              <a:rPr b="1" lang="en-GB"/>
              <a:t>kilo</a:t>
            </a:r>
            <a:r>
              <a:rPr lang="en-GB"/>
              <a:t>metres.</a:t>
            </a:r>
            <a:endParaRPr/>
          </a:p>
        </p:txBody>
      </p:sp>
      <p:sp>
        <p:nvSpPr>
          <p:cNvPr id="870" name="Google Shape;87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type of unit for the amount of liquid a cup can hold would be a unit of </a:t>
            </a:r>
            <a:r>
              <a:rPr lang="en-GB"/>
              <a:t>capacity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sensible </a:t>
            </a:r>
            <a:r>
              <a:rPr b="1" lang="en-GB"/>
              <a:t>metric</a:t>
            </a:r>
            <a:r>
              <a:rPr lang="en-GB"/>
              <a:t> unit of capacity would be </a:t>
            </a:r>
            <a:r>
              <a:rPr b="1" lang="en-GB"/>
              <a:t>milli</a:t>
            </a:r>
            <a:r>
              <a:rPr lang="en-GB"/>
              <a:t>litres</a:t>
            </a:r>
            <a:r>
              <a:rPr b="1" lang="en-GB"/>
              <a:t> </a:t>
            </a:r>
            <a:r>
              <a:rPr lang="en-GB"/>
              <a:t>(ml)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a cup holds approximately 250 </a:t>
            </a:r>
            <a:r>
              <a:rPr b="1" lang="en-GB"/>
              <a:t>milli</a:t>
            </a:r>
            <a:r>
              <a:rPr lang="en-GB"/>
              <a:t>l</a:t>
            </a:r>
            <a:r>
              <a:rPr lang="en-GB"/>
              <a:t>itres.</a:t>
            </a:r>
            <a:endParaRPr/>
          </a:p>
        </p:txBody>
      </p:sp>
      <p:sp>
        <p:nvSpPr>
          <p:cNvPr id="876" name="Google Shape;87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78"/>
          <p:cNvSpPr txBox="1"/>
          <p:nvPr>
            <p:ph idx="1" type="body"/>
          </p:nvPr>
        </p:nvSpPr>
        <p:spPr>
          <a:xfrm>
            <a:off x="40795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Sort the given units into the relevant </a:t>
            </a:r>
            <a:r>
              <a:rPr lang="en-GB"/>
              <a:t>categories.</a:t>
            </a:r>
            <a:endParaRPr/>
          </a:p>
        </p:txBody>
      </p:sp>
      <p:sp>
        <p:nvSpPr>
          <p:cNvPr id="882" name="Google Shape;882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883" name="Google Shape;883;p78"/>
          <p:cNvSpPr/>
          <p:nvPr/>
        </p:nvSpPr>
        <p:spPr>
          <a:xfrm>
            <a:off x="518925" y="1472850"/>
            <a:ext cx="2464800" cy="237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78"/>
          <p:cNvSpPr txBox="1"/>
          <p:nvPr>
            <p:ph idx="1" type="body"/>
          </p:nvPr>
        </p:nvSpPr>
        <p:spPr>
          <a:xfrm>
            <a:off x="1201375" y="1472850"/>
            <a:ext cx="1034700" cy="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Length</a:t>
            </a:r>
            <a:endParaRPr/>
          </a:p>
        </p:txBody>
      </p:sp>
      <p:sp>
        <p:nvSpPr>
          <p:cNvPr id="885" name="Google Shape;885;p78"/>
          <p:cNvSpPr/>
          <p:nvPr/>
        </p:nvSpPr>
        <p:spPr>
          <a:xfrm>
            <a:off x="3210450" y="1472850"/>
            <a:ext cx="2464800" cy="237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78"/>
          <p:cNvSpPr txBox="1"/>
          <p:nvPr>
            <p:ph idx="1" type="body"/>
          </p:nvPr>
        </p:nvSpPr>
        <p:spPr>
          <a:xfrm>
            <a:off x="4045300" y="1472850"/>
            <a:ext cx="1034700" cy="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Mass</a:t>
            </a:r>
            <a:endParaRPr/>
          </a:p>
        </p:txBody>
      </p:sp>
      <p:sp>
        <p:nvSpPr>
          <p:cNvPr id="887" name="Google Shape;887;p78"/>
          <p:cNvSpPr/>
          <p:nvPr/>
        </p:nvSpPr>
        <p:spPr>
          <a:xfrm>
            <a:off x="5836775" y="1472850"/>
            <a:ext cx="2464800" cy="237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78"/>
          <p:cNvSpPr txBox="1"/>
          <p:nvPr>
            <p:ph idx="1" type="body"/>
          </p:nvPr>
        </p:nvSpPr>
        <p:spPr>
          <a:xfrm>
            <a:off x="6372025" y="1472850"/>
            <a:ext cx="1258200" cy="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Capacity</a:t>
            </a:r>
            <a:endParaRPr/>
          </a:p>
        </p:txBody>
      </p:sp>
      <p:sp>
        <p:nvSpPr>
          <p:cNvPr id="889" name="Google Shape;889;p78"/>
          <p:cNvSpPr txBox="1"/>
          <p:nvPr>
            <p:ph idx="1" type="body"/>
          </p:nvPr>
        </p:nvSpPr>
        <p:spPr>
          <a:xfrm>
            <a:off x="1094325" y="413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cm</a:t>
            </a:r>
            <a:endParaRPr/>
          </a:p>
        </p:txBody>
      </p:sp>
      <p:sp>
        <p:nvSpPr>
          <p:cNvPr id="890" name="Google Shape;890;p78"/>
          <p:cNvSpPr txBox="1"/>
          <p:nvPr>
            <p:ph idx="1" type="body"/>
          </p:nvPr>
        </p:nvSpPr>
        <p:spPr>
          <a:xfrm>
            <a:off x="6556239" y="413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</a:t>
            </a:r>
            <a:r>
              <a:rPr lang="en-GB"/>
              <a:t>m</a:t>
            </a:r>
            <a:endParaRPr/>
          </a:p>
        </p:txBody>
      </p:sp>
      <p:sp>
        <p:nvSpPr>
          <p:cNvPr id="891" name="Google Shape;891;p78"/>
          <p:cNvSpPr txBox="1"/>
          <p:nvPr>
            <p:ph idx="1" type="body"/>
          </p:nvPr>
        </p:nvSpPr>
        <p:spPr>
          <a:xfrm>
            <a:off x="2459802" y="413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</a:t>
            </a:r>
            <a:endParaRPr/>
          </a:p>
        </p:txBody>
      </p:sp>
      <p:sp>
        <p:nvSpPr>
          <p:cNvPr id="892" name="Google Shape;892;p78"/>
          <p:cNvSpPr txBox="1"/>
          <p:nvPr>
            <p:ph idx="1" type="body"/>
          </p:nvPr>
        </p:nvSpPr>
        <p:spPr>
          <a:xfrm>
            <a:off x="3142541" y="413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ml</a:t>
            </a:r>
            <a:endParaRPr/>
          </a:p>
        </p:txBody>
      </p:sp>
      <p:sp>
        <p:nvSpPr>
          <p:cNvPr id="893" name="Google Shape;893;p78"/>
          <p:cNvSpPr txBox="1"/>
          <p:nvPr>
            <p:ph idx="1" type="body"/>
          </p:nvPr>
        </p:nvSpPr>
        <p:spPr>
          <a:xfrm>
            <a:off x="4508017" y="413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mm</a:t>
            </a:r>
            <a:endParaRPr/>
          </a:p>
        </p:txBody>
      </p:sp>
      <p:sp>
        <p:nvSpPr>
          <p:cNvPr id="894" name="Google Shape;894;p78"/>
          <p:cNvSpPr txBox="1"/>
          <p:nvPr>
            <p:ph idx="1" type="body"/>
          </p:nvPr>
        </p:nvSpPr>
        <p:spPr>
          <a:xfrm>
            <a:off x="3825280" y="413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mg</a:t>
            </a:r>
            <a:endParaRPr/>
          </a:p>
        </p:txBody>
      </p:sp>
      <p:sp>
        <p:nvSpPr>
          <p:cNvPr id="895" name="Google Shape;895;p78"/>
          <p:cNvSpPr txBox="1"/>
          <p:nvPr>
            <p:ph idx="1" type="body"/>
          </p:nvPr>
        </p:nvSpPr>
        <p:spPr>
          <a:xfrm>
            <a:off x="5190756" y="413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896" name="Google Shape;896;p78"/>
          <p:cNvSpPr txBox="1"/>
          <p:nvPr>
            <p:ph idx="1" type="body"/>
          </p:nvPr>
        </p:nvSpPr>
        <p:spPr>
          <a:xfrm>
            <a:off x="1777057" y="413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</a:t>
            </a:r>
            <a:r>
              <a:rPr lang="en-GB"/>
              <a:t>g</a:t>
            </a:r>
            <a:endParaRPr/>
          </a:p>
        </p:txBody>
      </p:sp>
      <p:sp>
        <p:nvSpPr>
          <p:cNvPr id="897" name="Google Shape;897;p78"/>
          <p:cNvSpPr txBox="1"/>
          <p:nvPr>
            <p:ph idx="1" type="body"/>
          </p:nvPr>
        </p:nvSpPr>
        <p:spPr>
          <a:xfrm>
            <a:off x="5873508" y="413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cl</a:t>
            </a:r>
            <a:endParaRPr/>
          </a:p>
        </p:txBody>
      </p:sp>
      <p:sp>
        <p:nvSpPr>
          <p:cNvPr id="898" name="Google Shape;898;p78"/>
          <p:cNvSpPr txBox="1"/>
          <p:nvPr>
            <p:ph idx="1" type="body"/>
          </p:nvPr>
        </p:nvSpPr>
        <p:spPr>
          <a:xfrm>
            <a:off x="7238972" y="413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904" name="Google Shape;904;p79"/>
          <p:cNvSpPr txBox="1"/>
          <p:nvPr/>
        </p:nvSpPr>
        <p:spPr>
          <a:xfrm>
            <a:off x="288000" y="864000"/>
            <a:ext cx="843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rabicParenR" startAt="2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For each of the following, write down a sensible </a:t>
            </a:r>
            <a:r>
              <a:rPr b="1" lang="en-GB" sz="2100">
                <a:latin typeface="Lexend"/>
                <a:ea typeface="Lexend"/>
                <a:cs typeface="Lexend"/>
                <a:sym typeface="Lexend"/>
              </a:rPr>
              <a:t>metric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unit.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9"/>
          <p:cNvSpPr txBox="1"/>
          <p:nvPr/>
        </p:nvSpPr>
        <p:spPr>
          <a:xfrm>
            <a:off x="549425" y="1480475"/>
            <a:ext cx="76770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distance between Poole and London is 179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r>
              <a:rPr lang="en-GB" sz="2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height of a 3 year old child is 98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r>
              <a:rPr lang="en-GB" sz="2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capacity of a kettle is 1.7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r>
              <a:rPr lang="en-GB" sz="2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a classroom is 6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r>
              <a:rPr lang="en-GB" sz="2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mass of an apple is 86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r>
              <a:rPr lang="en-GB" sz="2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capacity of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teaspoon is 5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r>
              <a:rPr lang="en-GB" sz="2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80"/>
          <p:cNvSpPr txBox="1"/>
          <p:nvPr>
            <p:ph idx="1" type="body"/>
          </p:nvPr>
        </p:nvSpPr>
        <p:spPr>
          <a:xfrm>
            <a:off x="4068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Sort the given units into the relevant categories.</a:t>
            </a:r>
            <a:endParaRPr/>
          </a:p>
        </p:txBody>
      </p:sp>
      <p:sp>
        <p:nvSpPr>
          <p:cNvPr id="911" name="Google Shape;911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912" name="Google Shape;912;p80"/>
          <p:cNvSpPr/>
          <p:nvPr/>
        </p:nvSpPr>
        <p:spPr>
          <a:xfrm>
            <a:off x="518925" y="1472850"/>
            <a:ext cx="2464800" cy="237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80"/>
          <p:cNvSpPr txBox="1"/>
          <p:nvPr>
            <p:ph idx="1" type="body"/>
          </p:nvPr>
        </p:nvSpPr>
        <p:spPr>
          <a:xfrm>
            <a:off x="1201375" y="1472850"/>
            <a:ext cx="1034700" cy="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Length</a:t>
            </a:r>
            <a:endParaRPr/>
          </a:p>
        </p:txBody>
      </p:sp>
      <p:sp>
        <p:nvSpPr>
          <p:cNvPr id="914" name="Google Shape;914;p80"/>
          <p:cNvSpPr/>
          <p:nvPr/>
        </p:nvSpPr>
        <p:spPr>
          <a:xfrm>
            <a:off x="3210450" y="1472850"/>
            <a:ext cx="2464800" cy="237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80"/>
          <p:cNvSpPr txBox="1"/>
          <p:nvPr>
            <p:ph idx="1" type="body"/>
          </p:nvPr>
        </p:nvSpPr>
        <p:spPr>
          <a:xfrm>
            <a:off x="4046400" y="1472850"/>
            <a:ext cx="1034700" cy="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Mass</a:t>
            </a:r>
            <a:endParaRPr/>
          </a:p>
        </p:txBody>
      </p:sp>
      <p:sp>
        <p:nvSpPr>
          <p:cNvPr id="916" name="Google Shape;916;p80"/>
          <p:cNvSpPr/>
          <p:nvPr/>
        </p:nvSpPr>
        <p:spPr>
          <a:xfrm>
            <a:off x="5836775" y="1472850"/>
            <a:ext cx="2464800" cy="237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80"/>
          <p:cNvSpPr txBox="1"/>
          <p:nvPr>
            <p:ph idx="1" type="body"/>
          </p:nvPr>
        </p:nvSpPr>
        <p:spPr>
          <a:xfrm>
            <a:off x="6372000" y="1472850"/>
            <a:ext cx="1258200" cy="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Capacity</a:t>
            </a:r>
            <a:endParaRPr/>
          </a:p>
        </p:txBody>
      </p:sp>
      <p:sp>
        <p:nvSpPr>
          <p:cNvPr id="918" name="Google Shape;918;p80"/>
          <p:cNvSpPr txBox="1"/>
          <p:nvPr>
            <p:ph idx="1" type="body"/>
          </p:nvPr>
        </p:nvSpPr>
        <p:spPr>
          <a:xfrm>
            <a:off x="720400" y="197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cm</a:t>
            </a:r>
            <a:endParaRPr/>
          </a:p>
        </p:txBody>
      </p:sp>
      <p:sp>
        <p:nvSpPr>
          <p:cNvPr id="919" name="Google Shape;919;p80"/>
          <p:cNvSpPr txBox="1"/>
          <p:nvPr>
            <p:ph idx="1" type="body"/>
          </p:nvPr>
        </p:nvSpPr>
        <p:spPr>
          <a:xfrm>
            <a:off x="1922039" y="20363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km</a:t>
            </a:r>
            <a:endParaRPr/>
          </a:p>
        </p:txBody>
      </p:sp>
      <p:sp>
        <p:nvSpPr>
          <p:cNvPr id="920" name="Google Shape;920;p80"/>
          <p:cNvSpPr txBox="1"/>
          <p:nvPr>
            <p:ph idx="1" type="body"/>
          </p:nvPr>
        </p:nvSpPr>
        <p:spPr>
          <a:xfrm>
            <a:off x="1201377" y="26468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</a:t>
            </a:r>
            <a:endParaRPr/>
          </a:p>
        </p:txBody>
      </p:sp>
      <p:sp>
        <p:nvSpPr>
          <p:cNvPr id="921" name="Google Shape;921;p80"/>
          <p:cNvSpPr txBox="1"/>
          <p:nvPr>
            <p:ph idx="1" type="body"/>
          </p:nvPr>
        </p:nvSpPr>
        <p:spPr>
          <a:xfrm>
            <a:off x="6149266" y="197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ml</a:t>
            </a:r>
            <a:endParaRPr/>
          </a:p>
        </p:txBody>
      </p:sp>
      <p:sp>
        <p:nvSpPr>
          <p:cNvPr id="922" name="Google Shape;922;p80"/>
          <p:cNvSpPr txBox="1"/>
          <p:nvPr>
            <p:ph idx="1" type="body"/>
          </p:nvPr>
        </p:nvSpPr>
        <p:spPr>
          <a:xfrm>
            <a:off x="2077204" y="305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mm</a:t>
            </a:r>
            <a:endParaRPr/>
          </a:p>
        </p:txBody>
      </p:sp>
      <p:sp>
        <p:nvSpPr>
          <p:cNvPr id="923" name="Google Shape;923;p80"/>
          <p:cNvSpPr txBox="1"/>
          <p:nvPr>
            <p:ph idx="1" type="body"/>
          </p:nvPr>
        </p:nvSpPr>
        <p:spPr>
          <a:xfrm>
            <a:off x="4635805" y="197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mg</a:t>
            </a:r>
            <a:endParaRPr/>
          </a:p>
        </p:txBody>
      </p:sp>
      <p:sp>
        <p:nvSpPr>
          <p:cNvPr id="924" name="Google Shape;924;p80"/>
          <p:cNvSpPr txBox="1"/>
          <p:nvPr>
            <p:ph idx="1" type="body"/>
          </p:nvPr>
        </p:nvSpPr>
        <p:spPr>
          <a:xfrm>
            <a:off x="3434844" y="197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925" name="Google Shape;925;p80"/>
          <p:cNvSpPr txBox="1"/>
          <p:nvPr>
            <p:ph idx="1" type="body"/>
          </p:nvPr>
        </p:nvSpPr>
        <p:spPr>
          <a:xfrm>
            <a:off x="4080145" y="257175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kg</a:t>
            </a:r>
            <a:endParaRPr/>
          </a:p>
        </p:txBody>
      </p:sp>
      <p:sp>
        <p:nvSpPr>
          <p:cNvPr id="926" name="Google Shape;926;p80"/>
          <p:cNvSpPr txBox="1"/>
          <p:nvPr>
            <p:ph idx="1" type="body"/>
          </p:nvPr>
        </p:nvSpPr>
        <p:spPr>
          <a:xfrm>
            <a:off x="7349558" y="197490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cl</a:t>
            </a:r>
            <a:endParaRPr/>
          </a:p>
        </p:txBody>
      </p:sp>
      <p:sp>
        <p:nvSpPr>
          <p:cNvPr id="927" name="Google Shape;927;p80"/>
          <p:cNvSpPr txBox="1"/>
          <p:nvPr>
            <p:ph idx="1" type="body"/>
          </p:nvPr>
        </p:nvSpPr>
        <p:spPr>
          <a:xfrm>
            <a:off x="6681897" y="2571750"/>
            <a:ext cx="594000" cy="37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933" name="Google Shape;933;p81"/>
          <p:cNvSpPr txBox="1"/>
          <p:nvPr/>
        </p:nvSpPr>
        <p:spPr>
          <a:xfrm>
            <a:off x="286975" y="863425"/>
            <a:ext cx="843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rabicParenR" startAt="2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For each of the following, write down a sensible </a:t>
            </a:r>
            <a:r>
              <a:rPr b="1" lang="en-GB" sz="2100">
                <a:latin typeface="Lexend"/>
                <a:ea typeface="Lexend"/>
                <a:cs typeface="Lexend"/>
                <a:sym typeface="Lexend"/>
              </a:rPr>
              <a:t>metric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unit.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81"/>
          <p:cNvSpPr txBox="1"/>
          <p:nvPr/>
        </p:nvSpPr>
        <p:spPr>
          <a:xfrm>
            <a:off x="549425" y="1480475"/>
            <a:ext cx="79758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istance between Poole and London is 179    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kilo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metres (km)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height of a 3 year old child is 98    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centi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metres (cm)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capacity of a kettle is 1.7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litres (l)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a classroom is 6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metres (m)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mass of an apple is 86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grams (g)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capacity of a teaspoon is 5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milli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litres (ml)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8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metric units</a:t>
            </a:r>
            <a:endParaRPr/>
          </a:p>
        </p:txBody>
      </p:sp>
      <p:sp>
        <p:nvSpPr>
          <p:cNvPr id="940" name="Google Shape;940;p82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pic>
        <p:nvPicPr>
          <p:cNvPr id="941" name="Google Shape;94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06" y="2990863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 txBox="1"/>
          <p:nvPr>
            <p:ph idx="3" type="title"/>
          </p:nvPr>
        </p:nvSpPr>
        <p:spPr>
          <a:xfrm>
            <a:off x="415950" y="634469"/>
            <a:ext cx="6795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place value in metric units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metric</a:t>
            </a:r>
            <a:r>
              <a:rPr lang="en-GB"/>
              <a:t> units are </a:t>
            </a:r>
            <a:r>
              <a:rPr lang="en-GB"/>
              <a:t>based around the standard units of metre (length), litre (capacity) and gram (mass).</a:t>
            </a:r>
            <a:endParaRPr/>
          </a:p>
        </p:txBody>
      </p:sp>
      <p:sp>
        <p:nvSpPr>
          <p:cNvPr id="948" name="Google Shape;94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949" name="Google Shape;949;p83"/>
          <p:cNvSpPr txBox="1"/>
          <p:nvPr/>
        </p:nvSpPr>
        <p:spPr>
          <a:xfrm>
            <a:off x="1684800" y="2069550"/>
            <a:ext cx="533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enti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 means               of a metre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83"/>
          <p:cNvSpPr txBox="1"/>
          <p:nvPr/>
        </p:nvSpPr>
        <p:spPr>
          <a:xfrm>
            <a:off x="1684800" y="3081000"/>
            <a:ext cx="533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milli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 means               of a metre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83"/>
          <p:cNvSpPr txBox="1"/>
          <p:nvPr/>
        </p:nvSpPr>
        <p:spPr>
          <a:xfrm>
            <a:off x="1684800" y="3925800"/>
            <a:ext cx="533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kilo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 means 1000 metres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952" name="Google Shape;952;p83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4588" y="1914138"/>
            <a:ext cx="557788" cy="711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953" name="Google Shape;953;p83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2579" y="2956337"/>
            <a:ext cx="729415" cy="711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graphicFrame>
        <p:nvGraphicFramePr>
          <p:cNvPr id="959" name="Google Shape;959;p84"/>
          <p:cNvGraphicFramePr/>
          <p:nvPr/>
        </p:nvGraphicFramePr>
        <p:xfrm>
          <a:off x="1187038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938575"/>
                <a:gridCol w="938575"/>
                <a:gridCol w="915675"/>
                <a:gridCol w="992000"/>
                <a:gridCol w="908050"/>
                <a:gridCol w="938575"/>
                <a:gridCol w="9385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hecto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deca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60" name="Google Shape;960;p84"/>
          <p:cNvCxnSpPr/>
          <p:nvPr/>
        </p:nvCxnSpPr>
        <p:spPr>
          <a:xfrm rot="10800000">
            <a:off x="953950" y="2611600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1" name="Google Shape;961;p84"/>
          <p:cNvCxnSpPr/>
          <p:nvPr/>
        </p:nvCxnSpPr>
        <p:spPr>
          <a:xfrm>
            <a:off x="4932938" y="2611600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2" name="Google Shape;962;p84"/>
          <p:cNvSpPr txBox="1"/>
          <p:nvPr/>
        </p:nvSpPr>
        <p:spPr>
          <a:xfrm>
            <a:off x="953950" y="2687700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greater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84"/>
          <p:cNvSpPr txBox="1"/>
          <p:nvPr/>
        </p:nvSpPr>
        <p:spPr>
          <a:xfrm>
            <a:off x="4932950" y="2687700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maller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964" name="Google Shape;964;p84" title="10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699" y="1620583"/>
            <a:ext cx="313981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965" name="Google Shape;965;p84" title="10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99" y="1620583"/>
            <a:ext cx="300895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966" name="Google Shape;966;p84" title="the fraction with numerator 1 and denominator 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3462" y="1548971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967" name="Google Shape;967;p84" title="the fraction with numerator 1 and denominator 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5071" y="1548971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68" name="Google Shape;968;p84" title="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05638" y="1552013"/>
            <a:ext cx="198622" cy="366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969" name="Google Shape;969;p84" title="1 over 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3307" y="1098303"/>
            <a:ext cx="284302" cy="362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70" name="Google Shape;970;p84" title="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05638" y="1094800"/>
            <a:ext cx="198622" cy="36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72031" y="1079306"/>
            <a:ext cx="410558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6" name="Google Shape;976;p85"/>
          <p:cNvGraphicFramePr/>
          <p:nvPr/>
        </p:nvGraphicFramePr>
        <p:xfrm>
          <a:off x="1294988" y="103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874475"/>
                <a:gridCol w="874475"/>
                <a:gridCol w="821050"/>
                <a:gridCol w="959000"/>
                <a:gridCol w="843375"/>
                <a:gridCol w="874475"/>
                <a:gridCol w="8744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7" name="Google Shape;977;p85"/>
          <p:cNvSpPr/>
          <p:nvPr/>
        </p:nvSpPr>
        <p:spPr>
          <a:xfrm>
            <a:off x="5733839" y="1103007"/>
            <a:ext cx="738900" cy="3357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979" name="Google Shape;979;p85"/>
          <p:cNvSpPr txBox="1"/>
          <p:nvPr/>
        </p:nvSpPr>
        <p:spPr>
          <a:xfrm>
            <a:off x="5084750" y="26025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5"/>
          <p:cNvSpPr txBox="1"/>
          <p:nvPr/>
        </p:nvSpPr>
        <p:spPr>
          <a:xfrm>
            <a:off x="953350" y="25797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1" name="Google Shape;981;p85"/>
          <p:cNvCxnSpPr/>
          <p:nvPr/>
        </p:nvCxnSpPr>
        <p:spPr>
          <a:xfrm rot="10800000">
            <a:off x="953350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2" name="Google Shape;982;p85"/>
          <p:cNvCxnSpPr/>
          <p:nvPr/>
        </p:nvCxnSpPr>
        <p:spPr>
          <a:xfrm>
            <a:off x="5084738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3" name="Google Shape;983;p85"/>
          <p:cNvSpPr/>
          <p:nvPr/>
        </p:nvSpPr>
        <p:spPr>
          <a:xfrm>
            <a:off x="6502828" y="1695059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85"/>
          <p:cNvSpPr txBox="1"/>
          <p:nvPr/>
        </p:nvSpPr>
        <p:spPr>
          <a:xfrm>
            <a:off x="896503" y="3432043"/>
            <a:ext cx="55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6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centi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86"/>
          <p:cNvSpPr txBox="1"/>
          <p:nvPr/>
        </p:nvSpPr>
        <p:spPr>
          <a:xfrm>
            <a:off x="2673050" y="3425700"/>
            <a:ext cx="585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6 hundredths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86"/>
          <p:cNvSpPr txBox="1"/>
          <p:nvPr/>
        </p:nvSpPr>
        <p:spPr>
          <a:xfrm>
            <a:off x="5675603" y="3421025"/>
            <a:ext cx="320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            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91" name="Google Shape;991;p86"/>
          <p:cNvGraphicFramePr/>
          <p:nvPr/>
        </p:nvGraphicFramePr>
        <p:xfrm>
          <a:off x="1294988" y="103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874475"/>
                <a:gridCol w="874475"/>
                <a:gridCol w="821050"/>
                <a:gridCol w="959000"/>
                <a:gridCol w="843375"/>
                <a:gridCol w="874475"/>
                <a:gridCol w="8744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2" name="Google Shape;992;p86"/>
          <p:cNvSpPr/>
          <p:nvPr/>
        </p:nvSpPr>
        <p:spPr>
          <a:xfrm>
            <a:off x="3945268" y="1112700"/>
            <a:ext cx="810300" cy="3357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994" name="Google Shape;994;p86"/>
          <p:cNvSpPr txBox="1"/>
          <p:nvPr/>
        </p:nvSpPr>
        <p:spPr>
          <a:xfrm>
            <a:off x="5084750" y="26025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6"/>
          <p:cNvSpPr txBox="1"/>
          <p:nvPr/>
        </p:nvSpPr>
        <p:spPr>
          <a:xfrm>
            <a:off x="953350" y="25797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6" name="Google Shape;996;p86"/>
          <p:cNvCxnSpPr/>
          <p:nvPr/>
        </p:nvCxnSpPr>
        <p:spPr>
          <a:xfrm rot="10800000">
            <a:off x="953350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7" name="Google Shape;997;p86"/>
          <p:cNvCxnSpPr/>
          <p:nvPr/>
        </p:nvCxnSpPr>
        <p:spPr>
          <a:xfrm>
            <a:off x="5084738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8" name="Google Shape;998;p86"/>
          <p:cNvSpPr/>
          <p:nvPr/>
        </p:nvSpPr>
        <p:spPr>
          <a:xfrm>
            <a:off x="6497787" y="1695058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86"/>
          <p:cNvSpPr txBox="1"/>
          <p:nvPr/>
        </p:nvSpPr>
        <p:spPr>
          <a:xfrm>
            <a:off x="896503" y="3432043"/>
            <a:ext cx="55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6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centi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6"/>
          <p:cNvSpPr/>
          <p:nvPr/>
        </p:nvSpPr>
        <p:spPr>
          <a:xfrm>
            <a:off x="4783690" y="2159310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6\times\frac{1}{100}&quot;&gt;&lt;mn&gt;6&lt;/mn&gt;&lt;mo&gt;×&lt;/mo&gt;&lt;mfrac&gt;&lt;mn&gt;1&lt;/mn&gt;&lt;mn&gt;100&lt;/mn&gt;&lt;/mfrac&gt;&lt;/math&gt;" id="1001" name="Google Shape;1001;p86" title="6 times 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8600" y="3421025"/>
            <a:ext cx="736349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6"/>
          <p:cNvSpPr txBox="1"/>
          <p:nvPr/>
        </p:nvSpPr>
        <p:spPr>
          <a:xfrm>
            <a:off x="2673054" y="4191550"/>
            <a:ext cx="22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       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}{100}&quot;&gt;&lt;mfrac&gt;&lt;mn&gt;6&lt;/mn&gt;&lt;mn&gt;100&lt;/mn&gt;&lt;/mfrac&gt;&lt;/math&gt;" id="1003" name="Google Shape;1003;p86" title="6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3950" y="4191553"/>
            <a:ext cx="361159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1009" name="Google Shape;1009;p87"/>
          <p:cNvSpPr txBox="1"/>
          <p:nvPr/>
        </p:nvSpPr>
        <p:spPr>
          <a:xfrm>
            <a:off x="5084750" y="26025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7"/>
          <p:cNvSpPr txBox="1"/>
          <p:nvPr/>
        </p:nvSpPr>
        <p:spPr>
          <a:xfrm>
            <a:off x="953350" y="25797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1" name="Google Shape;1011;p87"/>
          <p:cNvCxnSpPr/>
          <p:nvPr/>
        </p:nvCxnSpPr>
        <p:spPr>
          <a:xfrm rot="10800000">
            <a:off x="953350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2" name="Google Shape;1012;p87"/>
          <p:cNvCxnSpPr/>
          <p:nvPr/>
        </p:nvCxnSpPr>
        <p:spPr>
          <a:xfrm>
            <a:off x="5084738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3" name="Google Shape;1013;p87"/>
          <p:cNvSpPr txBox="1"/>
          <p:nvPr/>
        </p:nvSpPr>
        <p:spPr>
          <a:xfrm>
            <a:off x="896503" y="3432043"/>
            <a:ext cx="55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6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centi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87"/>
          <p:cNvSpPr txBox="1"/>
          <p:nvPr/>
        </p:nvSpPr>
        <p:spPr>
          <a:xfrm>
            <a:off x="2673050" y="3425700"/>
            <a:ext cx="585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6 hundredths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87"/>
          <p:cNvSpPr txBox="1"/>
          <p:nvPr/>
        </p:nvSpPr>
        <p:spPr>
          <a:xfrm>
            <a:off x="4714527" y="4191550"/>
            <a:ext cx="170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0.06 metres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7"/>
          <p:cNvSpPr txBox="1"/>
          <p:nvPr/>
        </p:nvSpPr>
        <p:spPr>
          <a:xfrm>
            <a:off x="5675603" y="3421025"/>
            <a:ext cx="25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            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7"/>
          <p:cNvSpPr txBox="1"/>
          <p:nvPr/>
        </p:nvSpPr>
        <p:spPr>
          <a:xfrm>
            <a:off x="2673054" y="4191550"/>
            <a:ext cx="22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       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6\times\frac{1}{100}&quot;&gt;&lt;mn&gt;6&lt;/mn&gt;&lt;mo&gt;×&lt;/mo&gt;&lt;mfrac&gt;&lt;mn&gt;1&lt;/mn&gt;&lt;mn&gt;100&lt;/mn&gt;&lt;/mfrac&gt;&lt;/math&gt;" id="1018" name="Google Shape;1018;p87" title="6 times 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8600" y="3421025"/>
            <a:ext cx="736349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00}&quot;&gt;&lt;mfrac&gt;&lt;mn&gt;6&lt;/mn&gt;&lt;mn&gt;100&lt;/mn&gt;&lt;/mfrac&gt;&lt;/math&gt;" id="1019" name="Google Shape;1019;p87" title="6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3950" y="4191553"/>
            <a:ext cx="361159" cy="461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0" name="Google Shape;1020;p87"/>
          <p:cNvGraphicFramePr/>
          <p:nvPr/>
        </p:nvGraphicFramePr>
        <p:xfrm>
          <a:off x="1294988" y="103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874475"/>
                <a:gridCol w="874475"/>
                <a:gridCol w="821050"/>
                <a:gridCol w="959000"/>
                <a:gridCol w="843375"/>
                <a:gridCol w="874475"/>
                <a:gridCol w="8744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1" name="Google Shape;1021;p87"/>
          <p:cNvSpPr/>
          <p:nvPr/>
        </p:nvSpPr>
        <p:spPr>
          <a:xfrm>
            <a:off x="3945268" y="1112700"/>
            <a:ext cx="810300" cy="3357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7"/>
          <p:cNvSpPr/>
          <p:nvPr/>
        </p:nvSpPr>
        <p:spPr>
          <a:xfrm>
            <a:off x="4783690" y="2159310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87"/>
          <p:cNvSpPr/>
          <p:nvPr/>
        </p:nvSpPr>
        <p:spPr>
          <a:xfrm>
            <a:off x="6497787" y="1695058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" name="Google Shape;1028;p88"/>
          <p:cNvGraphicFramePr/>
          <p:nvPr/>
        </p:nvGraphicFramePr>
        <p:xfrm>
          <a:off x="1294988" y="103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874475"/>
                <a:gridCol w="874475"/>
                <a:gridCol w="821050"/>
                <a:gridCol w="959000"/>
                <a:gridCol w="843375"/>
                <a:gridCol w="874475"/>
                <a:gridCol w="8744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9" name="Google Shape;1029;p88"/>
          <p:cNvSpPr/>
          <p:nvPr/>
        </p:nvSpPr>
        <p:spPr>
          <a:xfrm>
            <a:off x="6610195" y="1103007"/>
            <a:ext cx="738900" cy="3357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1031" name="Google Shape;1031;p88"/>
          <p:cNvSpPr txBox="1"/>
          <p:nvPr/>
        </p:nvSpPr>
        <p:spPr>
          <a:xfrm>
            <a:off x="5084750" y="26025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8"/>
          <p:cNvSpPr txBox="1"/>
          <p:nvPr/>
        </p:nvSpPr>
        <p:spPr>
          <a:xfrm>
            <a:off x="953350" y="25797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3" name="Google Shape;1033;p88"/>
          <p:cNvCxnSpPr/>
          <p:nvPr/>
        </p:nvCxnSpPr>
        <p:spPr>
          <a:xfrm rot="10800000">
            <a:off x="953350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4" name="Google Shape;1034;p88"/>
          <p:cNvCxnSpPr/>
          <p:nvPr/>
        </p:nvCxnSpPr>
        <p:spPr>
          <a:xfrm>
            <a:off x="5084738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5" name="Google Shape;1035;p88"/>
          <p:cNvSpPr txBox="1"/>
          <p:nvPr/>
        </p:nvSpPr>
        <p:spPr>
          <a:xfrm>
            <a:off x="896503" y="3432043"/>
            <a:ext cx="55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8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mill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8"/>
          <p:cNvSpPr/>
          <p:nvPr/>
        </p:nvSpPr>
        <p:spPr>
          <a:xfrm>
            <a:off x="7372414" y="1695058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1042" name="Google Shape;1042;p89"/>
          <p:cNvSpPr txBox="1"/>
          <p:nvPr/>
        </p:nvSpPr>
        <p:spPr>
          <a:xfrm>
            <a:off x="5084750" y="26025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9"/>
          <p:cNvSpPr txBox="1"/>
          <p:nvPr/>
        </p:nvSpPr>
        <p:spPr>
          <a:xfrm>
            <a:off x="953350" y="25797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4" name="Google Shape;1044;p89"/>
          <p:cNvCxnSpPr/>
          <p:nvPr/>
        </p:nvCxnSpPr>
        <p:spPr>
          <a:xfrm rot="10800000">
            <a:off x="953350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5" name="Google Shape;1045;p89"/>
          <p:cNvCxnSpPr/>
          <p:nvPr/>
        </p:nvCxnSpPr>
        <p:spPr>
          <a:xfrm>
            <a:off x="5084738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6" name="Google Shape;1046;p89"/>
          <p:cNvSpPr txBox="1"/>
          <p:nvPr/>
        </p:nvSpPr>
        <p:spPr>
          <a:xfrm>
            <a:off x="896503" y="3432043"/>
            <a:ext cx="55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8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milli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9"/>
          <p:cNvSpPr txBox="1"/>
          <p:nvPr/>
        </p:nvSpPr>
        <p:spPr>
          <a:xfrm>
            <a:off x="2673050" y="3425700"/>
            <a:ext cx="585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8 thousandths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9"/>
          <p:cNvSpPr txBox="1"/>
          <p:nvPr/>
        </p:nvSpPr>
        <p:spPr>
          <a:xfrm>
            <a:off x="5751803" y="3421025"/>
            <a:ext cx="288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              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9"/>
          <p:cNvSpPr txBox="1"/>
          <p:nvPr/>
        </p:nvSpPr>
        <p:spPr>
          <a:xfrm>
            <a:off x="2673049" y="4191550"/>
            <a:ext cx="26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        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8\times\frac{1}{1000}&quot;&gt;&lt;mn&gt;8&lt;/mn&gt;&lt;mo&gt;×&lt;/mo&gt;&lt;mfrac&gt;&lt;mn&gt;1&lt;/mn&gt;&lt;mn&gt;1000&lt;/mn&gt;&lt;/mfrac&gt;&lt;/math&gt;" id="1050" name="Google Shape;1050;p89" title="8 times 1 over 1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3350" y="3411071"/>
            <a:ext cx="921499" cy="5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000}&quot;&gt;&lt;mfrac&gt;&lt;mn&gt;8&lt;/mn&gt;&lt;mn&gt;1000&lt;/mn&gt;&lt;/mfrac&gt;&lt;/math&gt;" id="1051" name="Google Shape;1051;p89" title="8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5348" y="4173071"/>
            <a:ext cx="518077" cy="505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52" name="Google Shape;1052;p89"/>
          <p:cNvGraphicFramePr/>
          <p:nvPr/>
        </p:nvGraphicFramePr>
        <p:xfrm>
          <a:off x="1294988" y="103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874475"/>
                <a:gridCol w="874475"/>
                <a:gridCol w="821050"/>
                <a:gridCol w="959000"/>
                <a:gridCol w="843375"/>
                <a:gridCol w="874475"/>
                <a:gridCol w="8744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3" name="Google Shape;1053;p89"/>
          <p:cNvSpPr/>
          <p:nvPr/>
        </p:nvSpPr>
        <p:spPr>
          <a:xfrm>
            <a:off x="3914862" y="1112700"/>
            <a:ext cx="853200" cy="3357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9"/>
          <p:cNvSpPr/>
          <p:nvPr/>
        </p:nvSpPr>
        <p:spPr>
          <a:xfrm>
            <a:off x="7374144" y="1814738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9"/>
          <p:cNvSpPr/>
          <p:nvPr/>
        </p:nvSpPr>
        <p:spPr>
          <a:xfrm>
            <a:off x="4783231" y="2195738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0" name="Google Shape;1060;p90"/>
          <p:cNvGraphicFramePr/>
          <p:nvPr/>
        </p:nvGraphicFramePr>
        <p:xfrm>
          <a:off x="1294988" y="103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874475"/>
                <a:gridCol w="874475"/>
                <a:gridCol w="821050"/>
                <a:gridCol w="959000"/>
                <a:gridCol w="843375"/>
                <a:gridCol w="874475"/>
                <a:gridCol w="8744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1" name="Google Shape;1061;p90"/>
          <p:cNvSpPr/>
          <p:nvPr/>
        </p:nvSpPr>
        <p:spPr>
          <a:xfrm>
            <a:off x="3914862" y="1112700"/>
            <a:ext cx="853200" cy="3357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1063" name="Google Shape;1063;p90"/>
          <p:cNvSpPr txBox="1"/>
          <p:nvPr/>
        </p:nvSpPr>
        <p:spPr>
          <a:xfrm>
            <a:off x="5084750" y="26025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90"/>
          <p:cNvSpPr txBox="1"/>
          <p:nvPr/>
        </p:nvSpPr>
        <p:spPr>
          <a:xfrm>
            <a:off x="953350" y="25797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5" name="Google Shape;1065;p90"/>
          <p:cNvCxnSpPr/>
          <p:nvPr/>
        </p:nvCxnSpPr>
        <p:spPr>
          <a:xfrm rot="10800000">
            <a:off x="953350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6" name="Google Shape;1066;p90"/>
          <p:cNvCxnSpPr/>
          <p:nvPr/>
        </p:nvCxnSpPr>
        <p:spPr>
          <a:xfrm>
            <a:off x="5084738" y="25264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7" name="Google Shape;1067;p90"/>
          <p:cNvSpPr/>
          <p:nvPr/>
        </p:nvSpPr>
        <p:spPr>
          <a:xfrm>
            <a:off x="7374144" y="1814738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90"/>
          <p:cNvSpPr txBox="1"/>
          <p:nvPr/>
        </p:nvSpPr>
        <p:spPr>
          <a:xfrm>
            <a:off x="896503" y="3432043"/>
            <a:ext cx="55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8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milli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metres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90"/>
          <p:cNvSpPr txBox="1"/>
          <p:nvPr/>
        </p:nvSpPr>
        <p:spPr>
          <a:xfrm>
            <a:off x="2673050" y="3425700"/>
            <a:ext cx="585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8 thousandths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0"/>
          <p:cNvSpPr/>
          <p:nvPr/>
        </p:nvSpPr>
        <p:spPr>
          <a:xfrm>
            <a:off x="4783231" y="2195738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90"/>
          <p:cNvSpPr txBox="1"/>
          <p:nvPr/>
        </p:nvSpPr>
        <p:spPr>
          <a:xfrm>
            <a:off x="5751803" y="3421025"/>
            <a:ext cx="277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              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0"/>
          <p:cNvSpPr txBox="1"/>
          <p:nvPr/>
        </p:nvSpPr>
        <p:spPr>
          <a:xfrm>
            <a:off x="2673049" y="4191550"/>
            <a:ext cx="26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         of a metre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0"/>
          <p:cNvSpPr txBox="1"/>
          <p:nvPr/>
        </p:nvSpPr>
        <p:spPr>
          <a:xfrm>
            <a:off x="4790725" y="4191550"/>
            <a:ext cx="203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0.008 metres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8\times\frac{1}{1000}&quot;&gt;&lt;mn&gt;8&lt;/mn&gt;&lt;mo&gt;×&lt;/mo&gt;&lt;mfrac&gt;&lt;mn&gt;1&lt;/mn&gt;&lt;mn&gt;1000&lt;/mn&gt;&lt;/mfrac&gt;&lt;/math&gt;" id="1074" name="Google Shape;1074;p90" title="8 times 1 over 1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3350" y="3411071"/>
            <a:ext cx="921499" cy="5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000}&quot;&gt;&lt;mfrac&gt;&lt;mn&gt;8&lt;/mn&gt;&lt;mn&gt;1000&lt;/mn&gt;&lt;/mfrac&gt;&lt;/math&gt;" id="1075" name="Google Shape;1075;p90" title="8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5348" y="4173071"/>
            <a:ext cx="518077" cy="5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9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</a:t>
            </a:r>
            <a:r>
              <a:rPr b="1" lang="en-GB"/>
              <a:t>milli</a:t>
            </a:r>
            <a:r>
              <a:rPr lang="en-GB"/>
              <a:t>metre is larger than 1 </a:t>
            </a:r>
            <a:r>
              <a:rPr b="1" lang="en-GB"/>
              <a:t>centi</a:t>
            </a:r>
            <a:r>
              <a:rPr lang="en-GB"/>
              <a:t>metre.</a:t>
            </a:r>
            <a:endParaRPr/>
          </a:p>
        </p:txBody>
      </p:sp>
      <p:sp>
        <p:nvSpPr>
          <p:cNvPr id="1081" name="Google Shape;108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1082" name="Google Shape;1082;p91"/>
          <p:cNvSpPr txBox="1"/>
          <p:nvPr>
            <p:ph idx="2" type="subTitle"/>
          </p:nvPr>
        </p:nvSpPr>
        <p:spPr>
          <a:xfrm>
            <a:off x="980575" y="3127438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         of a metre is less than         of a metre.</a:t>
            </a:r>
            <a:endParaRPr/>
          </a:p>
        </p:txBody>
      </p:sp>
      <p:sp>
        <p:nvSpPr>
          <p:cNvPr id="1083" name="Google Shape;1083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1000 is greater than 100.</a:t>
            </a:r>
            <a:endParaRPr/>
          </a:p>
        </p:txBody>
      </p:sp>
      <p:pic>
        <p:nvPicPr>
          <p:cNvPr id="1084" name="Google Shape;108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7033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0058" y="3098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086" name="Google Shape;1086;p91" title="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4909" y="3029023"/>
            <a:ext cx="437775" cy="5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5522" y="3029022"/>
            <a:ext cx="572159" cy="5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graphicFrame>
        <p:nvGraphicFramePr>
          <p:cNvPr id="1093" name="Google Shape;1093;p92"/>
          <p:cNvGraphicFramePr/>
          <p:nvPr/>
        </p:nvGraphicFramePr>
        <p:xfrm>
          <a:off x="1402513" y="150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888100"/>
                <a:gridCol w="888100"/>
                <a:gridCol w="888100"/>
                <a:gridCol w="888100"/>
                <a:gridCol w="888100"/>
                <a:gridCol w="888100"/>
                <a:gridCol w="88810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grams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4" name="Google Shape;1094;p92"/>
          <p:cNvSpPr txBox="1"/>
          <p:nvPr/>
        </p:nvSpPr>
        <p:spPr>
          <a:xfrm>
            <a:off x="5085350" y="30680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953950" y="30452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mass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6" name="Google Shape;1096;p92"/>
          <p:cNvCxnSpPr/>
          <p:nvPr/>
        </p:nvCxnSpPr>
        <p:spPr>
          <a:xfrm rot="10800000">
            <a:off x="953950" y="29919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7" name="Google Shape;1097;p92"/>
          <p:cNvCxnSpPr/>
          <p:nvPr/>
        </p:nvCxnSpPr>
        <p:spPr>
          <a:xfrm>
            <a:off x="5085338" y="29919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8" name="Google Shape;1098;p92"/>
          <p:cNvSpPr txBox="1"/>
          <p:nvPr/>
        </p:nvSpPr>
        <p:spPr>
          <a:xfrm>
            <a:off x="1619213" y="3780000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kilo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grams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2"/>
          <p:cNvSpPr/>
          <p:nvPr/>
        </p:nvSpPr>
        <p:spPr>
          <a:xfrm>
            <a:off x="2250338" y="2154738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92"/>
          <p:cNvSpPr/>
          <p:nvPr/>
        </p:nvSpPr>
        <p:spPr>
          <a:xfrm>
            <a:off x="1482997" y="1563274"/>
            <a:ext cx="686700" cy="3357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5" name="Google Shape;1105;p93"/>
          <p:cNvGraphicFramePr/>
          <p:nvPr/>
        </p:nvGraphicFramePr>
        <p:xfrm>
          <a:off x="1402513" y="150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888100"/>
                <a:gridCol w="888100"/>
                <a:gridCol w="888100"/>
                <a:gridCol w="888100"/>
                <a:gridCol w="888100"/>
                <a:gridCol w="888100"/>
                <a:gridCol w="88810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grams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6" name="Google Shape;110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1107" name="Google Shape;1107;p93"/>
          <p:cNvSpPr txBox="1"/>
          <p:nvPr/>
        </p:nvSpPr>
        <p:spPr>
          <a:xfrm>
            <a:off x="5085350" y="30680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3"/>
          <p:cNvSpPr txBox="1"/>
          <p:nvPr/>
        </p:nvSpPr>
        <p:spPr>
          <a:xfrm>
            <a:off x="953950" y="30452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mass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9" name="Google Shape;1109;p93"/>
          <p:cNvCxnSpPr/>
          <p:nvPr/>
        </p:nvCxnSpPr>
        <p:spPr>
          <a:xfrm rot="10800000">
            <a:off x="953950" y="29919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0" name="Google Shape;1110;p93"/>
          <p:cNvSpPr/>
          <p:nvPr/>
        </p:nvSpPr>
        <p:spPr>
          <a:xfrm>
            <a:off x="4129126" y="1573813"/>
            <a:ext cx="763500" cy="3357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1" name="Google Shape;1111;p93"/>
          <p:cNvCxnSpPr/>
          <p:nvPr/>
        </p:nvCxnSpPr>
        <p:spPr>
          <a:xfrm>
            <a:off x="5085338" y="29919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2" name="Google Shape;1112;p93"/>
          <p:cNvSpPr txBox="1"/>
          <p:nvPr/>
        </p:nvSpPr>
        <p:spPr>
          <a:xfrm>
            <a:off x="1619213" y="3780000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kilo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grams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3"/>
          <p:cNvSpPr/>
          <p:nvPr/>
        </p:nvSpPr>
        <p:spPr>
          <a:xfrm>
            <a:off x="4913909" y="2620871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93"/>
          <p:cNvSpPr txBox="1"/>
          <p:nvPr/>
        </p:nvSpPr>
        <p:spPr>
          <a:xfrm>
            <a:off x="3071400" y="3771000"/>
            <a:ext cx="258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1000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grams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93"/>
          <p:cNvSpPr/>
          <p:nvPr/>
        </p:nvSpPr>
        <p:spPr>
          <a:xfrm>
            <a:off x="2250338" y="2154738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1121" name="Google Shape;1121;p94"/>
          <p:cNvSpPr txBox="1"/>
          <p:nvPr/>
        </p:nvSpPr>
        <p:spPr>
          <a:xfrm>
            <a:off x="5085350" y="30680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94"/>
          <p:cNvSpPr txBox="1"/>
          <p:nvPr/>
        </p:nvSpPr>
        <p:spPr>
          <a:xfrm>
            <a:off x="953950" y="30452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mass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3" name="Google Shape;1123;p94"/>
          <p:cNvCxnSpPr/>
          <p:nvPr/>
        </p:nvCxnSpPr>
        <p:spPr>
          <a:xfrm rot="10800000">
            <a:off x="953950" y="29919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4" name="Google Shape;1124;p94"/>
          <p:cNvCxnSpPr/>
          <p:nvPr/>
        </p:nvCxnSpPr>
        <p:spPr>
          <a:xfrm>
            <a:off x="5085338" y="29919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5" name="Google Shape;1125;p94"/>
          <p:cNvSpPr txBox="1"/>
          <p:nvPr/>
        </p:nvSpPr>
        <p:spPr>
          <a:xfrm>
            <a:off x="1619213" y="3780000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kilo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grams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94"/>
          <p:cNvSpPr txBox="1"/>
          <p:nvPr/>
        </p:nvSpPr>
        <p:spPr>
          <a:xfrm>
            <a:off x="4980171" y="3771000"/>
            <a:ext cx="258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3000 grams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94"/>
          <p:cNvSpPr txBox="1"/>
          <p:nvPr/>
        </p:nvSpPr>
        <p:spPr>
          <a:xfrm>
            <a:off x="3071400" y="3771000"/>
            <a:ext cx="258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1000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grams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28" name="Google Shape;1128;p94"/>
          <p:cNvGraphicFramePr/>
          <p:nvPr/>
        </p:nvGraphicFramePr>
        <p:xfrm>
          <a:off x="1402513" y="150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888100"/>
                <a:gridCol w="888100"/>
                <a:gridCol w="888100"/>
                <a:gridCol w="888100"/>
                <a:gridCol w="888100"/>
                <a:gridCol w="888100"/>
                <a:gridCol w="88810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grams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b="1"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9" name="Google Shape;1129;p94"/>
          <p:cNvSpPr/>
          <p:nvPr/>
        </p:nvSpPr>
        <p:spPr>
          <a:xfrm>
            <a:off x="4913909" y="2620871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94"/>
          <p:cNvSpPr/>
          <p:nvPr/>
        </p:nvSpPr>
        <p:spPr>
          <a:xfrm>
            <a:off x="4129126" y="1572050"/>
            <a:ext cx="763500" cy="3357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4"/>
          <p:cNvSpPr/>
          <p:nvPr/>
        </p:nvSpPr>
        <p:spPr>
          <a:xfrm>
            <a:off x="2250338" y="2154738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95"/>
          <p:cNvSpPr txBox="1"/>
          <p:nvPr>
            <p:ph type="title"/>
          </p:nvPr>
        </p:nvSpPr>
        <p:spPr>
          <a:xfrm>
            <a:off x="1116525" y="8924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of a litre would be equivalent to</a:t>
            </a:r>
            <a:endParaRPr/>
          </a:p>
        </p:txBody>
      </p:sp>
      <p:sp>
        <p:nvSpPr>
          <p:cNvPr id="1137" name="Google Shape;1137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sp>
        <p:nvSpPr>
          <p:cNvPr id="1138" name="Google Shape;1138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 </a:t>
            </a:r>
            <a:r>
              <a:rPr b="1" lang="en-GB"/>
              <a:t>centi</a:t>
            </a:r>
            <a:r>
              <a:rPr lang="en-GB"/>
              <a:t>l</a:t>
            </a:r>
            <a:r>
              <a:rPr lang="en-GB"/>
              <a:t>itres</a:t>
            </a:r>
            <a:endParaRPr/>
          </a:p>
        </p:txBody>
      </p:sp>
      <p:sp>
        <p:nvSpPr>
          <p:cNvPr id="1139" name="Google Shape;1139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 </a:t>
            </a:r>
            <a:r>
              <a:rPr b="1" lang="en-GB"/>
              <a:t>milli</a:t>
            </a:r>
            <a:r>
              <a:rPr lang="en-GB"/>
              <a:t>litres</a:t>
            </a:r>
            <a:endParaRPr/>
          </a:p>
        </p:txBody>
      </p:sp>
      <p:sp>
        <p:nvSpPr>
          <p:cNvPr id="1140" name="Google Shape;1140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 </a:t>
            </a:r>
            <a:r>
              <a:rPr b="1" lang="en-GB"/>
              <a:t>centi</a:t>
            </a:r>
            <a:r>
              <a:rPr lang="en-GB"/>
              <a:t>metres</a:t>
            </a:r>
            <a:endParaRPr/>
          </a:p>
        </p:txBody>
      </p:sp>
      <p:pic>
        <p:nvPicPr>
          <p:cNvPr id="1141" name="Google Shape;114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08" y="18067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00}&quot;&gt;&lt;mfrac&gt;&lt;mn&gt;6&lt;/mn&gt;&lt;mn&gt;100&lt;/mn&gt;&lt;/mfrac&gt;&lt;/math&gt;" id="1142" name="Google Shape;1142;p95" title="6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25" y="724488"/>
            <a:ext cx="556190" cy="71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Prefixes</a:t>
            </a:r>
            <a:endParaRPr/>
          </a:p>
        </p:txBody>
      </p:sp>
      <p:graphicFrame>
        <p:nvGraphicFramePr>
          <p:cNvPr id="1148" name="Google Shape;1148;p96"/>
          <p:cNvGraphicFramePr/>
          <p:nvPr/>
        </p:nvGraphicFramePr>
        <p:xfrm>
          <a:off x="2084963" y="92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726525"/>
                <a:gridCol w="726525"/>
                <a:gridCol w="726525"/>
                <a:gridCol w="933575"/>
                <a:gridCol w="576275"/>
                <a:gridCol w="585775"/>
                <a:gridCol w="5433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grams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9" name="Google Shape;1149;p96"/>
          <p:cNvSpPr/>
          <p:nvPr/>
        </p:nvSpPr>
        <p:spPr>
          <a:xfrm>
            <a:off x="5159669" y="1580458"/>
            <a:ext cx="84000" cy="8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150" name="Google Shape;1150;p96" title="10 raised to the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170" y="1073318"/>
            <a:ext cx="202780" cy="163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151" name="Google Shape;1151;p96" title="10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5924" y="1040608"/>
            <a:ext cx="313981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152" name="Google Shape;1152;p96" title="10 cub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9399" y="1040608"/>
            <a:ext cx="300899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153" name="Google Shape;1153;p96" title="the fraction with numerator 1 and denominator 10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1637" y="968996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154" name="Google Shape;1154;p96" title="the fraction with numerator 1 and denominator 10 cub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27171" y="968996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155" name="Google Shape;1155;p96" title="one ten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12263" y="957750"/>
            <a:ext cx="198622" cy="36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96"/>
          <p:cNvSpPr txBox="1"/>
          <p:nvPr/>
        </p:nvSpPr>
        <p:spPr>
          <a:xfrm>
            <a:off x="5145813" y="199794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Describes smaller mass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96"/>
          <p:cNvSpPr txBox="1"/>
          <p:nvPr/>
        </p:nvSpPr>
        <p:spPr>
          <a:xfrm>
            <a:off x="1014413" y="199794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Describes greater mass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8" name="Google Shape;1158;p96"/>
          <p:cNvCxnSpPr/>
          <p:nvPr/>
        </p:nvCxnSpPr>
        <p:spPr>
          <a:xfrm rot="10800000">
            <a:off x="1014425" y="1997943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9" name="Google Shape;1159;p96"/>
          <p:cNvCxnSpPr/>
          <p:nvPr/>
        </p:nvCxnSpPr>
        <p:spPr>
          <a:xfrm>
            <a:off x="5243675" y="207446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0" name="Google Shape;1160;p96"/>
          <p:cNvSpPr txBox="1"/>
          <p:nvPr/>
        </p:nvSpPr>
        <p:spPr>
          <a:xfrm>
            <a:off x="846725" y="3072275"/>
            <a:ext cx="647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decimal 0.003 grams is equivalent to 3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6"/>
          <p:cNvSpPr txBox="1"/>
          <p:nvPr/>
        </p:nvSpPr>
        <p:spPr>
          <a:xfrm>
            <a:off x="846612" y="3044968"/>
            <a:ext cx="647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decimal 0.003 grams is equivalent to 3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milli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grams.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62" name="Google Shape;1162;p96"/>
          <p:cNvCxnSpPr/>
          <p:nvPr/>
        </p:nvCxnSpPr>
        <p:spPr>
          <a:xfrm>
            <a:off x="5711825" y="3389681"/>
            <a:ext cx="1610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Prefixes </a:t>
            </a:r>
            <a:endParaRPr/>
          </a:p>
        </p:txBody>
      </p:sp>
      <p:graphicFrame>
        <p:nvGraphicFramePr>
          <p:cNvPr id="1168" name="Google Shape;1168;p97"/>
          <p:cNvGraphicFramePr/>
          <p:nvPr/>
        </p:nvGraphicFramePr>
        <p:xfrm>
          <a:off x="1647088" y="1564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793025"/>
                <a:gridCol w="793025"/>
                <a:gridCol w="793025"/>
                <a:gridCol w="793025"/>
                <a:gridCol w="793025"/>
                <a:gridCol w="793025"/>
                <a:gridCol w="7930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169" name="Google Shape;1169;p97" title="10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211" y="2136996"/>
            <a:ext cx="313981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170" name="Google Shape;1170;p97" title="10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1024" y="2156496"/>
            <a:ext cx="300899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171" name="Google Shape;1171;p97" title="the fraction with numerator 1 and denominator 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8212" y="2079671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172" name="Google Shape;1172;p97" title="the fraction with numerator 1 and denominator 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6671" y="2079671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173" name="Google Shape;1173;p97" title="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7756" y="2082996"/>
            <a:ext cx="198622" cy="366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174" name="Google Shape;1174;p97" title="1 over 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80426" y="1627440"/>
            <a:ext cx="284302" cy="362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,000}&quot;&gt;&lt;mfrac&gt;&lt;mn&gt;1&lt;/mn&gt;&lt;mrow&gt;&lt;mn&gt;1&lt;/mn&gt;&lt;mo&gt;,&lt;/mo&gt;&lt;mn&gt;000&lt;/mn&gt;&lt;/mrow&gt;&lt;/mfrac&gt;&lt;/math&gt;" id="1175" name="Google Shape;1175;p97" title="the fraction with numerator 1 and denominator 1 comma 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62772" y="1613815"/>
            <a:ext cx="451768" cy="389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176" name="Google Shape;1176;p97" title="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0237" y="1625500"/>
            <a:ext cx="198622" cy="36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7"/>
          <p:cNvSpPr txBox="1"/>
          <p:nvPr>
            <p:ph idx="1" type="body"/>
          </p:nvPr>
        </p:nvSpPr>
        <p:spPr>
          <a:xfrm>
            <a:off x="324000" y="759300"/>
            <a:ext cx="8237700" cy="4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appropriate </a:t>
            </a:r>
            <a:r>
              <a:rPr b="1" lang="en-GB"/>
              <a:t>prefixes</a:t>
            </a:r>
            <a:r>
              <a:rPr lang="en-GB"/>
              <a:t> in the blank boxes.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98"/>
          <p:cNvSpPr txBox="1"/>
          <p:nvPr>
            <p:ph idx="1" type="body"/>
          </p:nvPr>
        </p:nvSpPr>
        <p:spPr>
          <a:xfrm>
            <a:off x="406500" y="893150"/>
            <a:ext cx="8237700" cy="18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Order the units from smallest to largest.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l</a:t>
            </a:r>
            <a:r>
              <a:rPr lang="en-GB"/>
              <a:t>itre, </a:t>
            </a:r>
            <a:r>
              <a:rPr b="1" lang="en-GB"/>
              <a:t>milli</a:t>
            </a:r>
            <a:r>
              <a:rPr lang="en-GB"/>
              <a:t>litre, </a:t>
            </a:r>
            <a:r>
              <a:rPr b="1" lang="en-GB"/>
              <a:t>centi</a:t>
            </a:r>
            <a:r>
              <a:rPr lang="en-GB"/>
              <a:t>litre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</a:t>
            </a:r>
            <a:r>
              <a:rPr b="1" lang="en-GB"/>
              <a:t>kilo</a:t>
            </a:r>
            <a:r>
              <a:rPr lang="en-GB"/>
              <a:t>metre, </a:t>
            </a:r>
            <a:r>
              <a:rPr b="1" lang="en-GB"/>
              <a:t>milli</a:t>
            </a:r>
            <a:r>
              <a:rPr lang="en-GB"/>
              <a:t>metre, metre, </a:t>
            </a:r>
            <a:r>
              <a:rPr b="1" lang="en-GB"/>
              <a:t>centi</a:t>
            </a:r>
            <a:r>
              <a:rPr lang="en-GB"/>
              <a:t>metre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</a:t>
            </a:r>
            <a:r>
              <a:rPr b="1" lang="en-GB"/>
              <a:t>milli</a:t>
            </a:r>
            <a:r>
              <a:rPr lang="en-GB"/>
              <a:t>gram, </a:t>
            </a:r>
            <a:r>
              <a:rPr b="1" lang="en-GB"/>
              <a:t>kilo</a:t>
            </a:r>
            <a:r>
              <a:rPr lang="en-GB"/>
              <a:t>gram, gram</a:t>
            </a:r>
            <a:endParaRPr/>
          </a:p>
        </p:txBody>
      </p:sp>
      <p:sp>
        <p:nvSpPr>
          <p:cNvPr id="1183" name="Google Shape;1183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Prefixes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99"/>
          <p:cNvSpPr txBox="1"/>
          <p:nvPr>
            <p:ph idx="1" type="body"/>
          </p:nvPr>
        </p:nvSpPr>
        <p:spPr>
          <a:xfrm>
            <a:off x="4002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Complete the following statements.</a:t>
            </a:r>
            <a:br>
              <a:rPr lang="en-GB"/>
            </a:br>
            <a:br>
              <a:rPr lang="en-GB"/>
            </a:br>
            <a:r>
              <a:rPr lang="en-GB"/>
              <a:t>If in the future a new </a:t>
            </a:r>
            <a:r>
              <a:rPr b="1" lang="en-GB"/>
              <a:t>metric </a:t>
            </a:r>
            <a:r>
              <a:rPr lang="en-GB"/>
              <a:t>unit is defined and named an ‘acorn’.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A </a:t>
            </a:r>
            <a:r>
              <a:rPr lang="en-GB" u="sng"/>
              <a:t>                     </a:t>
            </a:r>
            <a:r>
              <a:rPr lang="en-GB" u="sng">
                <a:solidFill>
                  <a:schemeClr val="lt1"/>
                </a:solidFill>
              </a:rPr>
              <a:t> </a:t>
            </a:r>
            <a:r>
              <a:rPr lang="en-GB"/>
              <a:t>would be 100 times smaller than an ‘acorn’.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A </a:t>
            </a:r>
            <a:r>
              <a:rPr lang="en-GB" u="sng"/>
              <a:t>                      </a:t>
            </a:r>
            <a:r>
              <a:rPr lang="en-GB"/>
              <a:t>would be 1000 times larger than an ‘acorn’.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Prefixes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4" name="Google Shape;1194;p100"/>
          <p:cNvGraphicFramePr/>
          <p:nvPr/>
        </p:nvGraphicFramePr>
        <p:xfrm>
          <a:off x="1647088" y="1564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{E3D7B9E4-C26D-437D-A76B-87B41ADE19A6}</a:tableStyleId>
              </a:tblPr>
              <a:tblGrid>
                <a:gridCol w="793025"/>
                <a:gridCol w="793025"/>
                <a:gridCol w="793025"/>
                <a:gridCol w="793025"/>
                <a:gridCol w="793025"/>
                <a:gridCol w="793025"/>
                <a:gridCol w="7930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b="1"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5" name="Google Shape;1195;p100"/>
          <p:cNvSpPr txBox="1"/>
          <p:nvPr>
            <p:ph idx="1" type="body"/>
          </p:nvPr>
        </p:nvSpPr>
        <p:spPr>
          <a:xfrm>
            <a:off x="324000" y="759300"/>
            <a:ext cx="8237700" cy="4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appropriate </a:t>
            </a:r>
            <a:r>
              <a:rPr b="1" lang="en-GB"/>
              <a:t>prefixes</a:t>
            </a:r>
            <a:r>
              <a:rPr lang="en-GB"/>
              <a:t> in the blank boxes.</a:t>
            </a:r>
            <a:endParaRPr/>
          </a:p>
        </p:txBody>
      </p:sp>
      <p:sp>
        <p:nvSpPr>
          <p:cNvPr id="1196" name="Google Shape;1196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Prefixes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197" name="Google Shape;1197;p100" title="10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211" y="2119079"/>
            <a:ext cx="313981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198" name="Google Shape;1198;p100" title="10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1024" y="2138579"/>
            <a:ext cx="300899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199" name="Google Shape;1199;p100" title="the fraction with numerator 1 and denominator 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8212" y="2061755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200" name="Google Shape;1200;p100" title="the fraction with numerator 1 and denominator 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6671" y="2061755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201" name="Google Shape;1201;p100" title="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7756" y="2065079"/>
            <a:ext cx="198622" cy="366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202" name="Google Shape;1202;p100" title="1 over 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80426" y="1609524"/>
            <a:ext cx="284302" cy="362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,000}&quot;&gt;&lt;mfrac&gt;&lt;mn&gt;1&lt;/mn&gt;&lt;mrow&gt;&lt;mn&gt;1&lt;/mn&gt;&lt;mo&gt;,&lt;/mo&gt;&lt;mn&gt;000&lt;/mn&gt;&lt;/mrow&gt;&lt;/mfrac&gt;&lt;/math&gt;" id="1203" name="Google Shape;1203;p100" title="the fraction with numerator 1 and denominator 1 comma 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62772" y="1595899"/>
            <a:ext cx="451768" cy="389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204" name="Google Shape;1204;p100" title="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0237" y="1607583"/>
            <a:ext cx="198622" cy="36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Order the units from smallest to largest.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litre, </a:t>
            </a:r>
            <a:r>
              <a:rPr b="1" lang="en-GB"/>
              <a:t>milli</a:t>
            </a:r>
            <a:r>
              <a:rPr lang="en-GB"/>
              <a:t>litre, </a:t>
            </a:r>
            <a:r>
              <a:rPr b="1" lang="en-GB"/>
              <a:t>centi</a:t>
            </a:r>
            <a:r>
              <a:rPr lang="en-GB"/>
              <a:t>litre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</a:t>
            </a:r>
            <a:r>
              <a:rPr b="1" lang="en-GB"/>
              <a:t>k</a:t>
            </a:r>
            <a:r>
              <a:rPr b="1" lang="en-GB"/>
              <a:t>ilo</a:t>
            </a:r>
            <a:r>
              <a:rPr lang="en-GB"/>
              <a:t>metre, </a:t>
            </a:r>
            <a:r>
              <a:rPr b="1" lang="en-GB"/>
              <a:t>milli</a:t>
            </a:r>
            <a:r>
              <a:rPr lang="en-GB"/>
              <a:t>metre, metre, </a:t>
            </a:r>
            <a:r>
              <a:rPr b="1" lang="en-GB"/>
              <a:t>centi</a:t>
            </a:r>
            <a:r>
              <a:rPr lang="en-GB"/>
              <a:t>metre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</a:t>
            </a:r>
            <a:r>
              <a:rPr b="1" lang="en-GB"/>
              <a:t>m</a:t>
            </a:r>
            <a:r>
              <a:rPr b="1" lang="en-GB"/>
              <a:t>illi</a:t>
            </a:r>
            <a:r>
              <a:rPr lang="en-GB"/>
              <a:t>gram, </a:t>
            </a:r>
            <a:r>
              <a:rPr b="1" lang="en-GB"/>
              <a:t>kilo</a:t>
            </a:r>
            <a:r>
              <a:rPr lang="en-GB"/>
              <a:t>gram, gram</a:t>
            </a:r>
            <a:endParaRPr/>
          </a:p>
        </p:txBody>
      </p:sp>
      <p:sp>
        <p:nvSpPr>
          <p:cNvPr id="1210" name="Google Shape;1210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Prefixes </a:t>
            </a:r>
            <a:endParaRPr/>
          </a:p>
        </p:txBody>
      </p:sp>
      <p:sp>
        <p:nvSpPr>
          <p:cNvPr id="1211" name="Google Shape;1211;p101"/>
          <p:cNvSpPr txBox="1"/>
          <p:nvPr/>
        </p:nvSpPr>
        <p:spPr>
          <a:xfrm>
            <a:off x="2906675" y="1667400"/>
            <a:ext cx="418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milli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litre,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centi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litre, litre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2" name="Google Shape;1212;p101"/>
          <p:cNvSpPr txBox="1"/>
          <p:nvPr/>
        </p:nvSpPr>
        <p:spPr>
          <a:xfrm>
            <a:off x="2906675" y="2915200"/>
            <a:ext cx="493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milli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metre,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centi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metre, metre,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kilo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metre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3" name="Google Shape;1213;p101"/>
          <p:cNvSpPr txBox="1"/>
          <p:nvPr/>
        </p:nvSpPr>
        <p:spPr>
          <a:xfrm>
            <a:off x="2944625" y="4163000"/>
            <a:ext cx="444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milli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gram, gram,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kilo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gram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02"/>
          <p:cNvSpPr txBox="1"/>
          <p:nvPr>
            <p:ph idx="1" type="body"/>
          </p:nvPr>
        </p:nvSpPr>
        <p:spPr>
          <a:xfrm>
            <a:off x="324000" y="759300"/>
            <a:ext cx="8665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Complete the following statements.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in the future a new </a:t>
            </a:r>
            <a:r>
              <a:rPr b="1" lang="en-GB"/>
              <a:t>metric </a:t>
            </a:r>
            <a:r>
              <a:rPr lang="en-GB"/>
              <a:t>unit is defined and named an ‘acorn’.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A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centi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acorn </a:t>
            </a:r>
            <a:r>
              <a:rPr lang="en-GB"/>
              <a:t>would be 100 times smaller than an ‘acorn’.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A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kilo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acorn</a:t>
            </a:r>
            <a:r>
              <a:rPr lang="en-GB"/>
              <a:t> would be 1000 times larger than an ‘acorn’.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Prefixes 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03"/>
          <p:cNvSpPr txBox="1"/>
          <p:nvPr>
            <p:ph idx="1" type="body"/>
          </p:nvPr>
        </p:nvSpPr>
        <p:spPr>
          <a:xfrm>
            <a:off x="324000" y="900500"/>
            <a:ext cx="8113800" cy="39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Depending on the context, a sensible unit can be deduced.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prefix</a:t>
            </a:r>
            <a:r>
              <a:rPr lang="en-GB"/>
              <a:t> informs the size compared to the three standard </a:t>
            </a:r>
            <a:r>
              <a:rPr b="1" lang="en-GB"/>
              <a:t>metric</a:t>
            </a:r>
            <a:r>
              <a:rPr lang="en-GB"/>
              <a:t> units.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standard </a:t>
            </a:r>
            <a:r>
              <a:rPr b="1" lang="en-GB"/>
              <a:t>metric</a:t>
            </a:r>
            <a:r>
              <a:rPr lang="en-GB"/>
              <a:t> units are metre, litre and gram.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103"/>
          <p:cNvSpPr txBox="1"/>
          <p:nvPr>
            <p:ph type="title"/>
          </p:nvPr>
        </p:nvSpPr>
        <p:spPr>
          <a:xfrm>
            <a:off x="1684800" y="157525"/>
            <a:ext cx="6595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place value in metric units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31" name="Google Shape;1231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