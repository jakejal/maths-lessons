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628">
          <p15:clr>
            <a:srgbClr val="747775"/>
          </p15:clr>
        </p15:guide>
        <p15:guide id="2" orient="horz" pos="2611">
          <p15:clr>
            <a:srgbClr val="747775"/>
          </p15:clr>
        </p15:guide>
        <p15:guide id="3" orient="horz" pos="2041">
          <p15:clr>
            <a:srgbClr val="747775"/>
          </p15:clr>
        </p15:guide>
        <p15:guide id="4" orient="horz" pos="1102">
          <p15:clr>
            <a:srgbClr val="747775"/>
          </p15:clr>
        </p15:guide>
        <p15:guide id="5" pos="255">
          <p15:clr>
            <a:srgbClr val="747775"/>
          </p15:clr>
        </p15:guide>
        <p15:guide id="6" orient="horz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3E70D4-8365-4615-819D-16F9B7CA162A}">
  <a:tblStyle styleId="{3D3E70D4-8365-4615-819D-16F9B7CA16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628" orient="horz"/>
        <p:guide pos="2611" orient="horz"/>
        <p:guide pos="2041" orient="horz"/>
        <p:guide pos="1102" orient="horz"/>
        <p:guide pos="255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7c4faa7d5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7c4faa7d5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7c4faa7d5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7c4faa7d5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7c4faa7d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7c4faa7d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7c4faa7d5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7c4faa7d5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7c4faa7d5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7c4faa7d5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7c4faa7d5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7c4faa7d5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7c4faa7d5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7c4faa7d5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7d336fe84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7d336fe84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7c60e426b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7c60e426b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7c4faa7d5f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7c4faa7d5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7c60e426b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7c60e426b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7c60e426b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7c60e426b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7d42f80d4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27d42f80d4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453ecda66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453ecda66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27d6a375c4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27d6a375c4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7d6a375c4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7d6a375c4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7d42f80d46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27d42f80d46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7cc0fc59a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7cc0fc59a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7cb0de76e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7cb0de76e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7d96acad6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7d96acad6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7c60e426b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7c60e426b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7def9ba84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7def9ba84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27cc0fc59a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27cc0fc59a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27cc0fc59a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27cc0fc59a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7cc0fc59a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7cc0fc59a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7d6a375c4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7d6a375c4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1e7aff9bf7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1e7aff9bf7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63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3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3.png"/><Relationship Id="rId4" Type="http://schemas.openxmlformats.org/officeDocument/2006/relationships/image" Target="../media/image29.png"/><Relationship Id="rId11" Type="http://schemas.openxmlformats.org/officeDocument/2006/relationships/image" Target="../media/image23.png"/><Relationship Id="rId10" Type="http://schemas.openxmlformats.org/officeDocument/2006/relationships/image" Target="../media/image37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42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42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42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61" name="Google Shape;561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7" name="Google Shape;567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8" name="Google Shape;568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9" name="Google Shape;569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4" name="Google Shape;5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4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1" name="Google Shape;581;p4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4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3" name="Google Shape;583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6" name="Google Shape;586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7" name="Google Shape;587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9" name="Google Shape;589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0" name="Google Shape;590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6" name="Google Shape;5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8" name="Google Shape;598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9" name="Google Shape;599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0" name="Google Shape;600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4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4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4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5" name="Google Shape;605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06" name="Google Shape;606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8" name="Google Shape;608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9" name="Google Shape;609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" name="Google Shape;610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1" name="Google Shape;611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8" name="Google Shape;618;p4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4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4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1" name="Google Shape;62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4" name="Google Shape;624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6" name="Google Shape;626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27" name="Google Shape;627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28" name="Google Shape;628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31" name="Google Shape;631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3" name="Google Shape;633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34" name="Google Shape;63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0" name="Google Shape;6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7" name="Google Shape;64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136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8" name="Google Shape;718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9" name="Google Shape;71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4" name="Google Shape;724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6" name="Google Shape;726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0" name="Google Shape;730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2" name="Google Shape;732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6" name="Google Shape;736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8" name="Google Shape;738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5" name="Google Shape;745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1" name="Google Shape;751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5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Relationship Id="rId4" Type="http://schemas.openxmlformats.org/officeDocument/2006/relationships/image" Target="../media/image45.png"/><Relationship Id="rId5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53.png"/><Relationship Id="rId6" Type="http://schemas.openxmlformats.org/officeDocument/2006/relationships/image" Target="../media/image51.png"/><Relationship Id="rId7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5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6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ordering and comparing numbers</a:t>
            </a:r>
            <a:endParaRPr/>
          </a:p>
        </p:txBody>
      </p:sp>
      <p:sp>
        <p:nvSpPr>
          <p:cNvPr id="763" name="Google Shape;763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5"/>
          <p:cNvSpPr txBox="1"/>
          <p:nvPr/>
        </p:nvSpPr>
        <p:spPr>
          <a:xfrm>
            <a:off x="5590850" y="725950"/>
            <a:ext cx="239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</a:t>
            </a:r>
            <a:r>
              <a:rPr lang="en-GB"/>
              <a:t> </a:t>
            </a:r>
            <a:r>
              <a:rPr lang="en-GB"/>
              <a:t>confidently order and compare a variety of numbers and measures.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324000" y="993650"/>
            <a:ext cx="8496000" cy="87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</a:t>
            </a:r>
            <a:r>
              <a:rPr b="1" lang="en-GB"/>
              <a:t> </a:t>
            </a:r>
            <a:r>
              <a:rPr b="1" lang="en-GB"/>
              <a:t>inequality</a:t>
            </a:r>
            <a:r>
              <a:rPr lang="en-GB"/>
              <a:t> is used to show that one number or measurement is not equal to another.</a:t>
            </a:r>
            <a:endParaRPr/>
          </a:p>
        </p:txBody>
      </p:sp>
      <p:sp>
        <p:nvSpPr>
          <p:cNvPr id="779" name="Google Shape;779;p67"/>
          <p:cNvSpPr txBox="1"/>
          <p:nvPr>
            <p:ph idx="2" type="subTitle"/>
          </p:nvPr>
        </p:nvSpPr>
        <p:spPr>
          <a:xfrm>
            <a:off x="324000" y="2619725"/>
            <a:ext cx="8496000" cy="87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inequality</a:t>
            </a:r>
            <a:r>
              <a:rPr lang="en-GB"/>
              <a:t> symbols are &lt; which means ‘less than’ </a:t>
            </a:r>
            <a:br>
              <a:rPr lang="en-GB"/>
            </a:br>
            <a:r>
              <a:rPr lang="en-GB"/>
              <a:t>                                         and &gt; which means ‘greater than’.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sp>
        <p:nvSpPr>
          <p:cNvPr id="785" name="Google Shape;785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measures </a:t>
            </a:r>
            <a:endParaRPr/>
          </a:p>
        </p:txBody>
      </p:sp>
      <p:sp>
        <p:nvSpPr>
          <p:cNvPr id="786" name="Google Shape;786;p68"/>
          <p:cNvSpPr txBox="1"/>
          <p:nvPr>
            <p:ph idx="3" type="title"/>
          </p:nvPr>
        </p:nvSpPr>
        <p:spPr>
          <a:xfrm>
            <a:off x="324000" y="657600"/>
            <a:ext cx="79740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</a:t>
            </a:r>
            <a:r>
              <a:rPr lang="en-GB"/>
              <a:t>understanding of ordering and comparing numbers</a:t>
            </a:r>
            <a:r>
              <a:rPr lang="en-GB" sz="1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7" name="Google Shape;78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994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9"/>
          <p:cNvSpPr txBox="1"/>
          <p:nvPr>
            <p:ph idx="1" type="body"/>
          </p:nvPr>
        </p:nvSpPr>
        <p:spPr>
          <a:xfrm>
            <a:off x="400200" y="759300"/>
            <a:ext cx="8237700" cy="36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 drank more water? How can you tell?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grpSp>
        <p:nvGrpSpPr>
          <p:cNvPr id="794" name="Google Shape;794;p69"/>
          <p:cNvGrpSpPr/>
          <p:nvPr/>
        </p:nvGrpSpPr>
        <p:grpSpPr>
          <a:xfrm>
            <a:off x="4854600" y="1512387"/>
            <a:ext cx="3458541" cy="1784421"/>
            <a:chOff x="4854600" y="1512387"/>
            <a:chExt cx="3458541" cy="1784421"/>
          </a:xfrm>
        </p:grpSpPr>
        <p:pic>
          <p:nvPicPr>
            <p:cNvPr id="795" name="Google Shape;795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861337" y="1512387"/>
              <a:ext cx="2674800" cy="1295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9"/>
            <p:cNvSpPr txBox="1"/>
            <p:nvPr/>
          </p:nvSpPr>
          <p:spPr>
            <a:xfrm>
              <a:off x="4854600" y="1578150"/>
              <a:ext cx="2804400" cy="9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drank more than you! I drank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1705 millilitres of water.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797" name="Google Shape;797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36134" y="2400713"/>
              <a:ext cx="777007" cy="8960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8" name="Google Shape;798;p69"/>
          <p:cNvSpPr txBox="1"/>
          <p:nvPr/>
        </p:nvSpPr>
        <p:spPr>
          <a:xfrm>
            <a:off x="324000" y="3780000"/>
            <a:ext cx="8496000" cy="9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you compare measures, it can be useful to have the same units.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9" name="Google Shape;799;p69"/>
          <p:cNvGrpSpPr/>
          <p:nvPr/>
        </p:nvGrpSpPr>
        <p:grpSpPr>
          <a:xfrm>
            <a:off x="863877" y="1335075"/>
            <a:ext cx="3298160" cy="2094843"/>
            <a:chOff x="863877" y="1335075"/>
            <a:chExt cx="3298160" cy="2094843"/>
          </a:xfrm>
        </p:grpSpPr>
        <p:pic>
          <p:nvPicPr>
            <p:cNvPr id="800" name="Google Shape;800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87237" y="1335075"/>
              <a:ext cx="2674800" cy="1295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1" name="Google Shape;801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63877" y="2267589"/>
              <a:ext cx="623350" cy="11623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2" name="Google Shape;802;p69"/>
            <p:cNvSpPr txBox="1"/>
            <p:nvPr/>
          </p:nvSpPr>
          <p:spPr>
            <a:xfrm>
              <a:off x="1710425" y="1512375"/>
              <a:ext cx="2228400" cy="7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drank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1.75 litres of water today.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3" name="Google Shape;803;p69"/>
          <p:cNvSpPr txBox="1"/>
          <p:nvPr/>
        </p:nvSpPr>
        <p:spPr>
          <a:xfrm>
            <a:off x="995100" y="30093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69"/>
          <p:cNvSpPr txBox="1"/>
          <p:nvPr/>
        </p:nvSpPr>
        <p:spPr>
          <a:xfrm>
            <a:off x="6760850" y="3138000"/>
            <a:ext cx="11583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Compare 1.75 litres and 1705 millilitres.</a:t>
            </a:r>
            <a:endParaRPr/>
          </a:p>
        </p:txBody>
      </p:sp>
      <p:sp>
        <p:nvSpPr>
          <p:cNvPr id="810" name="Google Shape;810;p7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sp>
        <p:nvSpPr>
          <p:cNvPr id="811" name="Google Shape;811;p7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1.75 is less than 1705, so 1705 ml is more.</a:t>
            </a:r>
            <a:endParaRPr/>
          </a:p>
        </p:txBody>
      </p:sp>
      <p:sp>
        <p:nvSpPr>
          <p:cNvPr id="812" name="Google Shape;812;p70"/>
          <p:cNvSpPr txBox="1"/>
          <p:nvPr>
            <p:ph idx="3" type="subTitle"/>
          </p:nvPr>
        </p:nvSpPr>
        <p:spPr>
          <a:xfrm>
            <a:off x="1034425" y="2794250"/>
            <a:ext cx="7174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convert 1.75 litres into millilitres to compare them. </a:t>
            </a:r>
            <a:endParaRPr/>
          </a:p>
        </p:txBody>
      </p:sp>
      <p:sp>
        <p:nvSpPr>
          <p:cNvPr id="813" name="Google Shape;813;p7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Litres are bigger than millilitres, so 1.75 litres is more.</a:t>
            </a:r>
            <a:endParaRPr/>
          </a:p>
        </p:txBody>
      </p:sp>
      <p:pic>
        <p:nvPicPr>
          <p:cNvPr id="814" name="Google Shape;81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683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>
            <p:ph type="title"/>
          </p:nvPr>
        </p:nvSpPr>
        <p:spPr>
          <a:xfrm>
            <a:off x="324000" y="1191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the correct statement.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71"/>
          <p:cNvSpPr txBox="1"/>
          <p:nvPr>
            <p:ph idx="1" type="body"/>
          </p:nvPr>
        </p:nvSpPr>
        <p:spPr>
          <a:xfrm>
            <a:off x="324000" y="759300"/>
            <a:ext cx="8237700" cy="9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use a place value chart to convert units.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graphicFrame>
        <p:nvGraphicFramePr>
          <p:cNvPr id="822" name="Google Shape;822;p71"/>
          <p:cNvGraphicFramePr/>
          <p:nvPr/>
        </p:nvGraphicFramePr>
        <p:xfrm>
          <a:off x="769788" y="1232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{3D3E70D4-8365-4615-819D-16F9B7CA162A}</a:tableStyleId>
              </a:tblPr>
              <a:tblGrid>
                <a:gridCol w="726525"/>
                <a:gridCol w="726525"/>
                <a:gridCol w="726525"/>
                <a:gridCol w="7265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3" name="Google Shape;823;p71"/>
          <p:cNvSpPr/>
          <p:nvPr/>
        </p:nvSpPr>
        <p:spPr>
          <a:xfrm>
            <a:off x="859675" y="1318650"/>
            <a:ext cx="563100" cy="3015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4" name="Google Shape;824;p71"/>
          <p:cNvGrpSpPr/>
          <p:nvPr/>
        </p:nvGrpSpPr>
        <p:grpSpPr>
          <a:xfrm>
            <a:off x="981046" y="1714800"/>
            <a:ext cx="5062754" cy="455100"/>
            <a:chOff x="981046" y="1714800"/>
            <a:chExt cx="5062754" cy="455100"/>
          </a:xfrm>
        </p:grpSpPr>
        <p:pic>
          <p:nvPicPr>
            <p:cNvPr id="825" name="Google Shape;825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7421" y="1868612"/>
              <a:ext cx="108138" cy="10722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26" name="Google Shape;826;p71"/>
            <p:cNvCxnSpPr/>
            <p:nvPr/>
          </p:nvCxnSpPr>
          <p:spPr>
            <a:xfrm>
              <a:off x="2699125" y="1962825"/>
              <a:ext cx="1908900" cy="7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7" name="Google Shape;827;p71"/>
            <p:cNvSpPr txBox="1"/>
            <p:nvPr/>
          </p:nvSpPr>
          <p:spPr>
            <a:xfrm>
              <a:off x="4572000" y="1714800"/>
              <a:ext cx="14718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1.75 litres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8" name="Google Shape;828;p71"/>
            <p:cNvSpPr txBox="1"/>
            <p:nvPr/>
          </p:nvSpPr>
          <p:spPr>
            <a:xfrm>
              <a:off x="981046" y="1717333"/>
              <a:ext cx="22875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1          7         5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9" name="Google Shape;829;p71"/>
          <p:cNvGrpSpPr/>
          <p:nvPr/>
        </p:nvGrpSpPr>
        <p:grpSpPr>
          <a:xfrm>
            <a:off x="965948" y="2132775"/>
            <a:ext cx="7854052" cy="455100"/>
            <a:chOff x="965948" y="2132775"/>
            <a:chExt cx="7854052" cy="455100"/>
          </a:xfrm>
        </p:grpSpPr>
        <p:pic>
          <p:nvPicPr>
            <p:cNvPr id="830" name="Google Shape;830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68775" y="2335087"/>
              <a:ext cx="108138" cy="107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71"/>
            <p:cNvSpPr txBox="1"/>
            <p:nvPr/>
          </p:nvSpPr>
          <p:spPr>
            <a:xfrm>
              <a:off x="4572000" y="2132775"/>
              <a:ext cx="42480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17.5 decilitres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32" name="Google Shape;832;p71"/>
            <p:cNvCxnSpPr/>
            <p:nvPr/>
          </p:nvCxnSpPr>
          <p:spPr>
            <a:xfrm>
              <a:off x="2705231" y="2382150"/>
              <a:ext cx="1908900" cy="7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3" name="Google Shape;833;p71"/>
            <p:cNvSpPr txBox="1"/>
            <p:nvPr/>
          </p:nvSpPr>
          <p:spPr>
            <a:xfrm>
              <a:off x="965948" y="2144421"/>
              <a:ext cx="22875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1          7         5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4" name="Google Shape;834;p71"/>
          <p:cNvGrpSpPr/>
          <p:nvPr/>
        </p:nvGrpSpPr>
        <p:grpSpPr>
          <a:xfrm>
            <a:off x="965956" y="2601588"/>
            <a:ext cx="7962644" cy="506100"/>
            <a:chOff x="965956" y="2601588"/>
            <a:chExt cx="7962644" cy="506100"/>
          </a:xfrm>
        </p:grpSpPr>
        <p:sp>
          <p:nvSpPr>
            <p:cNvPr id="835" name="Google Shape;835;p71"/>
            <p:cNvSpPr txBox="1"/>
            <p:nvPr/>
          </p:nvSpPr>
          <p:spPr>
            <a:xfrm>
              <a:off x="4572000" y="2601588"/>
              <a:ext cx="43566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175 centilitres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36" name="Google Shape;836;p71"/>
            <p:cNvCxnSpPr/>
            <p:nvPr/>
          </p:nvCxnSpPr>
          <p:spPr>
            <a:xfrm>
              <a:off x="2719802" y="2828581"/>
              <a:ext cx="1908900" cy="7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7" name="Google Shape;837;p71"/>
            <p:cNvSpPr txBox="1"/>
            <p:nvPr/>
          </p:nvSpPr>
          <p:spPr>
            <a:xfrm>
              <a:off x="965956" y="2607498"/>
              <a:ext cx="22875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1          7         5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8" name="Google Shape;838;p71"/>
          <p:cNvGrpSpPr/>
          <p:nvPr/>
        </p:nvGrpSpPr>
        <p:grpSpPr>
          <a:xfrm>
            <a:off x="971456" y="3065050"/>
            <a:ext cx="7172044" cy="455100"/>
            <a:chOff x="971456" y="3065050"/>
            <a:chExt cx="7172044" cy="455100"/>
          </a:xfrm>
        </p:grpSpPr>
        <p:sp>
          <p:nvSpPr>
            <p:cNvPr id="839" name="Google Shape;839;p71"/>
            <p:cNvSpPr txBox="1"/>
            <p:nvPr/>
          </p:nvSpPr>
          <p:spPr>
            <a:xfrm>
              <a:off x="4572000" y="3065050"/>
              <a:ext cx="35715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1750 millilitres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40" name="Google Shape;840;p71"/>
            <p:cNvCxnSpPr>
              <a:endCxn id="839" idx="1"/>
            </p:cNvCxnSpPr>
            <p:nvPr/>
          </p:nvCxnSpPr>
          <p:spPr>
            <a:xfrm>
              <a:off x="3413700" y="3271300"/>
              <a:ext cx="1158300" cy="21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1" name="Google Shape;841;p71"/>
            <p:cNvSpPr txBox="1"/>
            <p:nvPr/>
          </p:nvSpPr>
          <p:spPr>
            <a:xfrm>
              <a:off x="971456" y="3074100"/>
              <a:ext cx="25983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1          7         5        0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2" name="Google Shape;842;p71"/>
          <p:cNvSpPr txBox="1"/>
          <p:nvPr/>
        </p:nvSpPr>
        <p:spPr>
          <a:xfrm>
            <a:off x="335125" y="4145400"/>
            <a:ext cx="3672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1.75 litres = 1750 millilitres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3" name="Google Shape;843;p71"/>
          <p:cNvGrpSpPr/>
          <p:nvPr/>
        </p:nvGrpSpPr>
        <p:grpSpPr>
          <a:xfrm>
            <a:off x="4495301" y="3472148"/>
            <a:ext cx="3714250" cy="1295224"/>
            <a:chOff x="4692575" y="3472162"/>
            <a:chExt cx="3516616" cy="1295224"/>
          </a:xfrm>
        </p:grpSpPr>
        <p:pic>
          <p:nvPicPr>
            <p:cNvPr id="844" name="Google Shape;844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692587" y="3472162"/>
              <a:ext cx="2674800" cy="1295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45" name="Google Shape;845;p71"/>
            <p:cNvGrpSpPr/>
            <p:nvPr/>
          </p:nvGrpSpPr>
          <p:grpSpPr>
            <a:xfrm>
              <a:off x="4692575" y="3494225"/>
              <a:ext cx="3516616" cy="1181859"/>
              <a:chOff x="4692575" y="3494225"/>
              <a:chExt cx="3516616" cy="1181859"/>
            </a:xfrm>
          </p:grpSpPr>
          <p:pic>
            <p:nvPicPr>
              <p:cNvPr id="846" name="Google Shape;846;p7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432184" y="3779988"/>
                <a:ext cx="777007" cy="89609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7" name="Google Shape;847;p71"/>
              <p:cNvSpPr txBox="1"/>
              <p:nvPr/>
            </p:nvSpPr>
            <p:spPr>
              <a:xfrm>
                <a:off x="4692575" y="3494225"/>
                <a:ext cx="2804400" cy="9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was wrong, I drank 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1705 millilitres of water which is 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less than Aisha.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848" name="Google Shape;848;p71"/>
          <p:cNvSpPr txBox="1"/>
          <p:nvPr/>
        </p:nvSpPr>
        <p:spPr>
          <a:xfrm>
            <a:off x="7948350" y="3895050"/>
            <a:ext cx="11583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2"/>
          <p:cNvSpPr txBox="1"/>
          <p:nvPr>
            <p:ph idx="1" type="body"/>
          </p:nvPr>
        </p:nvSpPr>
        <p:spPr>
          <a:xfrm>
            <a:off x="324000" y="759300"/>
            <a:ext cx="8237700" cy="9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symbols &lt; and &gt; are </a:t>
            </a:r>
            <a:r>
              <a:rPr b="1" lang="en-GB"/>
              <a:t>inequality</a:t>
            </a:r>
            <a:r>
              <a:rPr lang="en-GB"/>
              <a:t> symbols.</a:t>
            </a:r>
            <a:br>
              <a:rPr lang="en-GB"/>
            </a:br>
            <a:r>
              <a:rPr lang="en-GB"/>
              <a:t>An </a:t>
            </a:r>
            <a:r>
              <a:rPr b="1" lang="en-GB"/>
              <a:t>inequality </a:t>
            </a:r>
            <a:r>
              <a:rPr lang="en-GB"/>
              <a:t>shows that two quantities are not equal.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                      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 &amp;lt;&quot;&gt;&lt;mo&gt;&amp;lt;&lt;/mo&gt;&lt;/math&gt;" id="855" name="Google Shape;855;p72" title="is less than"/>
          <p:cNvPicPr preferRelativeResize="0"/>
          <p:nvPr/>
        </p:nvPicPr>
        <p:blipFill rotWithShape="1">
          <a:blip r:embed="rId3">
            <a:alphaModFix/>
          </a:blip>
          <a:srcRect b="-25489" l="-258139" r="258139" t="25490"/>
          <a:stretch/>
        </p:blipFill>
        <p:spPr>
          <a:xfrm>
            <a:off x="4627525" y="3203563"/>
            <a:ext cx="152400" cy="142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6" name="Google Shape;856;p72"/>
          <p:cNvGrpSpPr/>
          <p:nvPr/>
        </p:nvGrpSpPr>
        <p:grpSpPr>
          <a:xfrm>
            <a:off x="939750" y="3346451"/>
            <a:ext cx="7269350" cy="1295224"/>
            <a:chOff x="939750" y="3346451"/>
            <a:chExt cx="7269350" cy="1295224"/>
          </a:xfrm>
        </p:grpSpPr>
        <p:sp>
          <p:nvSpPr>
            <p:cNvPr id="857" name="Google Shape;857;p72"/>
            <p:cNvSpPr txBox="1"/>
            <p:nvPr/>
          </p:nvSpPr>
          <p:spPr>
            <a:xfrm>
              <a:off x="939750" y="3497250"/>
              <a:ext cx="4859700" cy="10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1750 ml &gt; 1705 ml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  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58" name="Google Shape;858;p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3934125" y="3346451"/>
              <a:ext cx="3981900" cy="1295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9" name="Google Shape;859;p72"/>
            <p:cNvSpPr txBox="1"/>
            <p:nvPr/>
          </p:nvSpPr>
          <p:spPr>
            <a:xfrm>
              <a:off x="3992900" y="3667500"/>
              <a:ext cx="42162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1750 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millilitres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is </a:t>
              </a:r>
              <a:b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</a:br>
              <a:r>
                <a:rPr lang="en-GB" sz="22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greater than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1705 millilitres.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0" name="Google Shape;860;p72"/>
            <p:cNvSpPr/>
            <p:nvPr/>
          </p:nvSpPr>
          <p:spPr>
            <a:xfrm>
              <a:off x="2083750" y="3605875"/>
              <a:ext cx="269700" cy="2967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72"/>
            <p:cNvSpPr/>
            <p:nvPr/>
          </p:nvSpPr>
          <p:spPr>
            <a:xfrm>
              <a:off x="4079875" y="4121958"/>
              <a:ext cx="1751100" cy="3378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2" name="Google Shape;862;p72"/>
          <p:cNvGrpSpPr/>
          <p:nvPr/>
        </p:nvGrpSpPr>
        <p:grpSpPr>
          <a:xfrm>
            <a:off x="939750" y="1701375"/>
            <a:ext cx="7621952" cy="2201191"/>
            <a:chOff x="939750" y="1620000"/>
            <a:chExt cx="7621952" cy="2201191"/>
          </a:xfrm>
        </p:grpSpPr>
        <p:sp>
          <p:nvSpPr>
            <p:cNvPr id="863" name="Google Shape;863;p72"/>
            <p:cNvSpPr txBox="1"/>
            <p:nvPr/>
          </p:nvSpPr>
          <p:spPr>
            <a:xfrm>
              <a:off x="939750" y="1620000"/>
              <a:ext cx="4859700" cy="10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1705 ml &lt; 1750 ml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  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64" name="Google Shape;864;p72"/>
            <p:cNvGrpSpPr/>
            <p:nvPr/>
          </p:nvGrpSpPr>
          <p:grpSpPr>
            <a:xfrm>
              <a:off x="3955976" y="1620000"/>
              <a:ext cx="4605726" cy="2201191"/>
              <a:chOff x="6638122" y="2792527"/>
              <a:chExt cx="3792594" cy="2201191"/>
            </a:xfrm>
          </p:grpSpPr>
          <p:pic>
            <p:nvPicPr>
              <p:cNvPr id="865" name="Google Shape;865;p7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807367" y="3831389"/>
                <a:ext cx="623350" cy="1162329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66" name="Google Shape;866;p72"/>
              <p:cNvGrpSpPr/>
              <p:nvPr/>
            </p:nvGrpSpPr>
            <p:grpSpPr>
              <a:xfrm>
                <a:off x="6638122" y="2792527"/>
                <a:ext cx="3402139" cy="1295224"/>
                <a:chOff x="6638122" y="2792527"/>
                <a:chExt cx="3402139" cy="1295224"/>
              </a:xfrm>
            </p:grpSpPr>
            <p:pic>
              <p:nvPicPr>
                <p:cNvPr id="867" name="Google Shape;867;p72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 flipH="1">
                  <a:off x="6638122" y="2792527"/>
                  <a:ext cx="3333395" cy="129522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68" name="Google Shape;868;p72"/>
                <p:cNvSpPr txBox="1"/>
                <p:nvPr/>
              </p:nvSpPr>
              <p:spPr>
                <a:xfrm>
                  <a:off x="6779262" y="2947452"/>
                  <a:ext cx="3261000" cy="86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2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1705 millilitres is </a:t>
                  </a:r>
                  <a:r>
                    <a:rPr lang="en-GB" sz="2200">
                      <a:solidFill>
                        <a:schemeClr val="accent4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less than</a:t>
                  </a:r>
                  <a:r>
                    <a:rPr lang="en-GB" sz="22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 </a:t>
                  </a:r>
                  <a:br>
                    <a:rPr lang="en-GB" sz="22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</a:br>
                  <a:r>
                    <a:rPr lang="en-GB" sz="22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1750 millilitres.</a:t>
                  </a:r>
                  <a:endParaRPr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>
                      <a:latin typeface="Lexend"/>
                      <a:ea typeface="Lexend"/>
                      <a:cs typeface="Lexend"/>
                      <a:sym typeface="Lexend"/>
                    </a:rPr>
                    <a:t> </a:t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sp>
          <p:nvSpPr>
            <p:cNvPr id="869" name="Google Shape;869;p72"/>
            <p:cNvSpPr/>
            <p:nvPr/>
          </p:nvSpPr>
          <p:spPr>
            <a:xfrm>
              <a:off x="2088650" y="1751267"/>
              <a:ext cx="269700" cy="2967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72"/>
            <p:cNvSpPr/>
            <p:nvPr/>
          </p:nvSpPr>
          <p:spPr>
            <a:xfrm>
              <a:off x="6465475" y="1893850"/>
              <a:ext cx="1288200" cy="2967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1" name="Google Shape;871;p72"/>
          <p:cNvSpPr txBox="1"/>
          <p:nvPr/>
        </p:nvSpPr>
        <p:spPr>
          <a:xfrm>
            <a:off x="7901675" y="3879000"/>
            <a:ext cx="979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the correct statement.</a:t>
            </a:r>
            <a:endParaRPr/>
          </a:p>
        </p:txBody>
      </p:sp>
      <p:sp>
        <p:nvSpPr>
          <p:cNvPr id="877" name="Google Shape;877;p7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sp>
        <p:nvSpPr>
          <p:cNvPr id="878" name="Google Shape;878;p7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1.75 l &lt; 1705 ml</a:t>
            </a:r>
            <a:endParaRPr/>
          </a:p>
        </p:txBody>
      </p:sp>
      <p:sp>
        <p:nvSpPr>
          <p:cNvPr id="879" name="Google Shape;879;p7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1705 ml &lt; 1.75 l</a:t>
            </a:r>
            <a:endParaRPr/>
          </a:p>
        </p:txBody>
      </p:sp>
      <p:sp>
        <p:nvSpPr>
          <p:cNvPr id="880" name="Google Shape;880;p7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1705 ml </a:t>
            </a:r>
            <a:r>
              <a:rPr lang="en-GB" sz="2400"/>
              <a:t>=</a:t>
            </a:r>
            <a:r>
              <a:rPr lang="en-GB"/>
              <a:t> 1.75 l</a:t>
            </a:r>
            <a:endParaRPr/>
          </a:p>
        </p:txBody>
      </p:sp>
      <p:pic>
        <p:nvPicPr>
          <p:cNvPr id="881" name="Google Shape;88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183" y="2700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3"/>
          <p:cNvSpPr txBox="1"/>
          <p:nvPr/>
        </p:nvSpPr>
        <p:spPr>
          <a:xfrm>
            <a:off x="3999700" y="2700000"/>
            <a:ext cx="33660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1.75 litres = 1750 millilitres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1705 ml is less than 1750 ml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4"/>
          <p:cNvSpPr txBox="1"/>
          <p:nvPr>
            <p:ph idx="1" type="subTitle"/>
          </p:nvPr>
        </p:nvSpPr>
        <p:spPr>
          <a:xfrm>
            <a:off x="980575" y="3108688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number with more digits after the decimal point is greatest. </a:t>
            </a:r>
            <a:endParaRPr/>
          </a:p>
        </p:txBody>
      </p:sp>
      <p:sp>
        <p:nvSpPr>
          <p:cNvPr id="888" name="Google Shape;888;p7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4.334 kg &gt; 4.34 kg</a:t>
            </a:r>
            <a:endParaRPr/>
          </a:p>
        </p:txBody>
      </p:sp>
      <p:sp>
        <p:nvSpPr>
          <p:cNvPr id="889" name="Google Shape;889;p74"/>
          <p:cNvSpPr txBox="1"/>
          <p:nvPr>
            <p:ph idx="3" type="subTitle"/>
          </p:nvPr>
        </p:nvSpPr>
        <p:spPr>
          <a:xfrm>
            <a:off x="951425" y="398937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first digit that is different is in the hundredths place. This is less in </a:t>
            </a:r>
            <a:r>
              <a:rPr lang="en-GB"/>
              <a:t>4.3</a:t>
            </a:r>
            <a:r>
              <a:rPr lang="en-GB">
                <a:solidFill>
                  <a:schemeClr val="accent4"/>
                </a:solidFill>
              </a:rPr>
              <a:t>3</a:t>
            </a:r>
            <a:r>
              <a:rPr lang="en-GB"/>
              <a:t>4 kg than </a:t>
            </a:r>
            <a:r>
              <a:rPr lang="en-GB"/>
              <a:t>4.3</a:t>
            </a:r>
            <a:r>
              <a:rPr lang="en-GB">
                <a:solidFill>
                  <a:schemeClr val="accent4"/>
                </a:solidFill>
              </a:rPr>
              <a:t>4</a:t>
            </a:r>
            <a:r>
              <a:rPr lang="en-GB"/>
              <a:t> kg</a:t>
            </a:r>
            <a:endParaRPr/>
          </a:p>
        </p:txBody>
      </p:sp>
      <p:sp>
        <p:nvSpPr>
          <p:cNvPr id="890" name="Google Shape;89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pic>
        <p:nvPicPr>
          <p:cNvPr id="891" name="Google Shape;89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6083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4"/>
          <p:cNvSpPr/>
          <p:nvPr/>
        </p:nvSpPr>
        <p:spPr>
          <a:xfrm>
            <a:off x="4016600" y="4459925"/>
            <a:ext cx="147000" cy="27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3" name="Google Shape;89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0333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74"/>
          <p:cNvSpPr/>
          <p:nvPr/>
        </p:nvSpPr>
        <p:spPr>
          <a:xfrm>
            <a:off x="5914000" y="4459925"/>
            <a:ext cx="167700" cy="27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5"/>
          <p:cNvSpPr txBox="1"/>
          <p:nvPr>
            <p:ph idx="2" type="subTitle"/>
          </p:nvPr>
        </p:nvSpPr>
        <p:spPr>
          <a:xfrm>
            <a:off x="4824000" y="810000"/>
            <a:ext cx="3982200" cy="39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Use an </a:t>
            </a:r>
            <a:r>
              <a:rPr b="1" lang="en-GB"/>
              <a:t>inequality</a:t>
            </a:r>
            <a:r>
              <a:rPr lang="en-GB"/>
              <a:t> symbol to complete the statement.</a:t>
            </a:r>
            <a:br>
              <a:rPr lang="en-GB"/>
            </a:br>
            <a:r>
              <a:rPr lang="en-GB"/>
              <a:t>                  20 cm        0.22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75"/>
          <p:cNvSpPr txBox="1"/>
          <p:nvPr/>
        </p:nvSpPr>
        <p:spPr>
          <a:xfrm>
            <a:off x="4571100" y="3030200"/>
            <a:ext cx="44880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cm =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of a metre = 0.01 m</a:t>
            </a:r>
            <a:b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 cm =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of a metre = 0.2 m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0.2 m &lt; 0.22 m, so 20 cm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 0.22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1" name="Google Shape;901;p75"/>
          <p:cNvSpPr txBox="1"/>
          <p:nvPr>
            <p:ph idx="1" type="subTitle"/>
          </p:nvPr>
        </p:nvSpPr>
        <p:spPr>
          <a:xfrm>
            <a:off x="337825" y="810000"/>
            <a:ext cx="3982200" cy="23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an </a:t>
            </a:r>
            <a:r>
              <a:rPr b="1" lang="en-GB"/>
              <a:t>inequality</a:t>
            </a:r>
            <a:r>
              <a:rPr b="1" lang="en-GB"/>
              <a:t> </a:t>
            </a:r>
            <a:r>
              <a:rPr lang="en-GB"/>
              <a:t>symbol to complete the statement.</a:t>
            </a:r>
            <a:br>
              <a:rPr lang="en-GB"/>
            </a:br>
            <a:r>
              <a:rPr lang="en-GB"/>
              <a:t>              </a:t>
            </a:r>
            <a:r>
              <a:rPr lang="en-GB"/>
              <a:t>166 cm        1.6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7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graphicFrame>
        <p:nvGraphicFramePr>
          <p:cNvPr id="903" name="Google Shape;903;p75"/>
          <p:cNvGraphicFramePr/>
          <p:nvPr/>
        </p:nvGraphicFramePr>
        <p:xfrm>
          <a:off x="579788" y="195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{3D3E70D4-8365-4615-819D-16F9B7CA162A}</a:tableStyleId>
              </a:tblPr>
              <a:tblGrid>
                <a:gridCol w="866175"/>
                <a:gridCol w="866175"/>
                <a:gridCol w="866175"/>
                <a:gridCol w="8661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deca</a:t>
                      </a:r>
                      <a:endParaRPr sz="16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</a:t>
                      </a:r>
                      <a:endParaRPr sz="16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4" name="Google Shape;904;p75"/>
          <p:cNvSpPr/>
          <p:nvPr/>
        </p:nvSpPr>
        <p:spPr>
          <a:xfrm>
            <a:off x="2069900" y="144000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75"/>
          <p:cNvSpPr/>
          <p:nvPr/>
        </p:nvSpPr>
        <p:spPr>
          <a:xfrm>
            <a:off x="6715242" y="1440000"/>
            <a:ext cx="360000" cy="3543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06" name="Google Shape;906;p75"/>
          <p:cNvGraphicFramePr/>
          <p:nvPr/>
        </p:nvGraphicFramePr>
        <p:xfrm>
          <a:off x="5036063" y="195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{3D3E70D4-8365-4615-819D-16F9B7CA162A}</a:tableStyleId>
              </a:tblPr>
              <a:tblGrid>
                <a:gridCol w="861750"/>
                <a:gridCol w="861750"/>
                <a:gridCol w="861750"/>
                <a:gridCol w="8617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deca</a:t>
                      </a:r>
                      <a:endParaRPr sz="16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</a:t>
                      </a:r>
                      <a:endParaRPr sz="16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7" name="Google Shape;907;p75"/>
          <p:cNvSpPr/>
          <p:nvPr/>
        </p:nvSpPr>
        <p:spPr>
          <a:xfrm>
            <a:off x="1524900" y="2082475"/>
            <a:ext cx="708900" cy="2442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&amp;gt;&quot;&gt;&lt;mo&gt;&amp;gt;&lt;/mo&gt;&lt;/math&gt;" id="908" name="Google Shape;908;p75" title="is greater tha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9200" cy="18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&amp;gt;&quot;&gt;&lt;mo&gt;&amp;gt;&lt;/mo&gt;&lt;/math&gt;" id="909" name="Google Shape;909;p75" title="is greater tha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3086"/>
            <a:ext cx="19200" cy="18286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75"/>
          <p:cNvSpPr/>
          <p:nvPr/>
        </p:nvSpPr>
        <p:spPr>
          <a:xfrm>
            <a:off x="3369600" y="2044438"/>
            <a:ext cx="530700" cy="2442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1" name="Google Shape;91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3600" y="2609149"/>
            <a:ext cx="85203" cy="8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4000" y="2610000"/>
            <a:ext cx="90115" cy="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5"/>
          <p:cNvSpPr txBox="1"/>
          <p:nvPr/>
        </p:nvSpPr>
        <p:spPr>
          <a:xfrm>
            <a:off x="321475" y="4377600"/>
            <a:ext cx="3982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1.66 m &gt; 1.6 m, 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 166 cm  &gt;  1.6 m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4" name="Google Shape;914;p75"/>
          <p:cNvGrpSpPr/>
          <p:nvPr/>
        </p:nvGrpSpPr>
        <p:grpSpPr>
          <a:xfrm>
            <a:off x="347238" y="3719575"/>
            <a:ext cx="4167300" cy="539700"/>
            <a:chOff x="151963" y="4097325"/>
            <a:chExt cx="4167300" cy="539700"/>
          </a:xfrm>
        </p:grpSpPr>
        <p:sp>
          <p:nvSpPr>
            <p:cNvPr id="915" name="Google Shape;915;p75"/>
            <p:cNvSpPr txBox="1"/>
            <p:nvPr/>
          </p:nvSpPr>
          <p:spPr>
            <a:xfrm>
              <a:off x="151963" y="4151913"/>
              <a:ext cx="41673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166 cm =       of a metre = 1.66 m</a:t>
              </a:r>
              <a:b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</a:b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  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6" name="Google Shape;916;p75"/>
            <p:cNvSpPr/>
            <p:nvPr/>
          </p:nvSpPr>
          <p:spPr>
            <a:xfrm>
              <a:off x="1237474" y="4097325"/>
              <a:ext cx="391200" cy="539700"/>
            </a:xfrm>
            <a:prstGeom prst="rect">
              <a:avLst/>
            </a:prstGeom>
            <a:noFill/>
            <a:ln cap="flat" cmpd="sng" w="9525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75"/>
            <p:cNvSpPr/>
            <p:nvPr/>
          </p:nvSpPr>
          <p:spPr>
            <a:xfrm>
              <a:off x="242275" y="4260725"/>
              <a:ext cx="563700" cy="240300"/>
            </a:xfrm>
            <a:prstGeom prst="rect">
              <a:avLst/>
            </a:prstGeom>
            <a:noFill/>
            <a:ln cap="flat" cmpd="sng" w="9525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\frac{166}{100}&quot;&gt;&lt;mfrac&gt;&lt;mn&gt;166&lt;/mn&gt;&lt;mn&gt;100&lt;/mn&gt;&lt;/mfrac&gt;&lt;/math&gt;" id="918" name="Google Shape;918;p75" title="166 over 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61375" y="4164000"/>
              <a:ext cx="328200" cy="4177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9" name="Google Shape;919;p75"/>
          <p:cNvSpPr/>
          <p:nvPr/>
        </p:nvSpPr>
        <p:spPr>
          <a:xfrm>
            <a:off x="3133375" y="4442815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5"/>
          <p:cNvSpPr/>
          <p:nvPr/>
        </p:nvSpPr>
        <p:spPr>
          <a:xfrm>
            <a:off x="7629577" y="4092327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75"/>
          <p:cNvSpPr/>
          <p:nvPr/>
        </p:nvSpPr>
        <p:spPr>
          <a:xfrm>
            <a:off x="5930151" y="2050775"/>
            <a:ext cx="785100" cy="2622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2" name="Google Shape;922;p75"/>
          <p:cNvGrpSpPr/>
          <p:nvPr/>
        </p:nvGrpSpPr>
        <p:grpSpPr>
          <a:xfrm>
            <a:off x="542004" y="3093075"/>
            <a:ext cx="3896400" cy="508200"/>
            <a:chOff x="316012" y="3067888"/>
            <a:chExt cx="3896400" cy="508200"/>
          </a:xfrm>
        </p:grpSpPr>
        <p:sp>
          <p:nvSpPr>
            <p:cNvPr id="923" name="Google Shape;923;p75"/>
            <p:cNvSpPr txBox="1"/>
            <p:nvPr/>
          </p:nvSpPr>
          <p:spPr>
            <a:xfrm>
              <a:off x="316012" y="3101975"/>
              <a:ext cx="38964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1 cm = </a:t>
              </a:r>
              <a:r>
                <a:rPr lang="en-GB" sz="18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     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of a metre = 0.01 m</a:t>
              </a:r>
              <a:b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</a:b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4" name="Google Shape;924;p75"/>
            <p:cNvSpPr/>
            <p:nvPr/>
          </p:nvSpPr>
          <p:spPr>
            <a:xfrm>
              <a:off x="468733" y="3222188"/>
              <a:ext cx="308400" cy="244200"/>
            </a:xfrm>
            <a:prstGeom prst="rect">
              <a:avLst/>
            </a:prstGeom>
            <a:noFill/>
            <a:ln cap="flat" cmpd="sng" w="9525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75"/>
            <p:cNvSpPr/>
            <p:nvPr/>
          </p:nvSpPr>
          <p:spPr>
            <a:xfrm>
              <a:off x="1212283" y="3067888"/>
              <a:ext cx="367800" cy="508200"/>
            </a:xfrm>
            <a:prstGeom prst="rect">
              <a:avLst/>
            </a:prstGeom>
            <a:noFill/>
            <a:ln cap="flat" cmpd="sng" w="9525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\frac{1}{100}&quot;&gt;&lt;mfrac&gt;&lt;mn&gt;1&lt;/mn&gt;&lt;mn&gt;100&lt;/mn&gt;&lt;/mfrac&gt;&lt;/math&gt;" id="926" name="Google Shape;926;p75" title="1 over 1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36938" y="3133553"/>
              <a:ext cx="300375" cy="3768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927" name="Google Shape;927;p75" title="1 over 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9280" y="3077815"/>
            <a:ext cx="300375" cy="376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100}&quot;&gt;&lt;mfrac&gt;&lt;mn&gt;20&lt;/mn&gt;&lt;mn&gt;100&lt;/mn&gt;&lt;/mfrac&gt;&lt;/math&gt;" id="928" name="Google Shape;928;p75" title="20 over 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00325" y="3621787"/>
            <a:ext cx="311563" cy="396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6"/>
          <p:cNvSpPr txBox="1"/>
          <p:nvPr/>
        </p:nvSpPr>
        <p:spPr>
          <a:xfrm>
            <a:off x="324000" y="1673123"/>
            <a:ext cx="37083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1.23 m          12.3 cm                 b) 0.456 kg      465 g</a:t>
            </a:r>
            <a:b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570 mm       7.5 cm               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6"/>
          <p:cNvSpPr txBox="1"/>
          <p:nvPr>
            <p:ph idx="1" type="body"/>
          </p:nvPr>
        </p:nvSpPr>
        <p:spPr>
          <a:xfrm>
            <a:off x="324000" y="759300"/>
            <a:ext cx="8237700" cy="9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Write the correct symbol (&lt;, &gt; or =) to complete each statement.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sp>
        <p:nvSpPr>
          <p:cNvPr id="936" name="Google Shape;936;p76"/>
          <p:cNvSpPr txBox="1"/>
          <p:nvPr>
            <p:ph idx="1" type="body"/>
          </p:nvPr>
        </p:nvSpPr>
        <p:spPr>
          <a:xfrm>
            <a:off x="411450" y="3343500"/>
            <a:ext cx="8237700" cy="4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can use </a:t>
            </a:r>
            <a:r>
              <a:rPr lang="en-GB" sz="1800"/>
              <a:t>this place value chart to help you with conversions.</a:t>
            </a:r>
            <a:endParaRPr sz="1800"/>
          </a:p>
        </p:txBody>
      </p:sp>
      <p:graphicFrame>
        <p:nvGraphicFramePr>
          <p:cNvPr id="937" name="Google Shape;937;p76"/>
          <p:cNvGraphicFramePr/>
          <p:nvPr/>
        </p:nvGraphicFramePr>
        <p:xfrm>
          <a:off x="443500" y="367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{3D3E70D4-8365-4615-819D-16F9B7CA162A}</a:tableStyleId>
              </a:tblPr>
              <a:tblGrid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hecto</a:t>
                      </a:r>
                      <a:endParaRPr sz="16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deca</a:t>
                      </a:r>
                      <a:endParaRPr sz="16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</a:t>
                      </a:r>
                      <a:endParaRPr sz="16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38" name="Google Shape;938;p76"/>
          <p:cNvGrpSpPr/>
          <p:nvPr/>
        </p:nvGrpSpPr>
        <p:grpSpPr>
          <a:xfrm>
            <a:off x="1918523" y="1769495"/>
            <a:ext cx="366681" cy="1188066"/>
            <a:chOff x="1918523" y="1799975"/>
            <a:chExt cx="366681" cy="1188066"/>
          </a:xfrm>
        </p:grpSpPr>
        <p:sp>
          <p:nvSpPr>
            <p:cNvPr id="939" name="Google Shape;939;p76"/>
            <p:cNvSpPr/>
            <p:nvPr/>
          </p:nvSpPr>
          <p:spPr>
            <a:xfrm>
              <a:off x="1918523" y="1799975"/>
              <a:ext cx="360000" cy="36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/>
            </a:p>
          </p:txBody>
        </p:sp>
        <p:sp>
          <p:nvSpPr>
            <p:cNvPr id="940" name="Google Shape;940;p76"/>
            <p:cNvSpPr/>
            <p:nvPr/>
          </p:nvSpPr>
          <p:spPr>
            <a:xfrm>
              <a:off x="1924621" y="2208085"/>
              <a:ext cx="360000" cy="36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76"/>
            <p:cNvSpPr/>
            <p:nvPr/>
          </p:nvSpPr>
          <p:spPr>
            <a:xfrm>
              <a:off x="1925204" y="2628041"/>
              <a:ext cx="360000" cy="36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2" name="Google Shape;942;p76"/>
          <p:cNvSpPr txBox="1"/>
          <p:nvPr/>
        </p:nvSpPr>
        <p:spPr>
          <a:xfrm>
            <a:off x="4476300" y="1673150"/>
            <a:ext cx="37083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985 000 m       958 km                 e) 30 000 ml         30 l</a:t>
            </a:r>
            <a:b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989 cl               9980 ml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3" name="Google Shape;943;p76"/>
          <p:cNvGrpSpPr/>
          <p:nvPr/>
        </p:nvGrpSpPr>
        <p:grpSpPr>
          <a:xfrm>
            <a:off x="6376598" y="1775005"/>
            <a:ext cx="366681" cy="1188066"/>
            <a:chOff x="1918523" y="1777115"/>
            <a:chExt cx="366681" cy="1188066"/>
          </a:xfrm>
        </p:grpSpPr>
        <p:sp>
          <p:nvSpPr>
            <p:cNvPr id="944" name="Google Shape;944;p76"/>
            <p:cNvSpPr/>
            <p:nvPr/>
          </p:nvSpPr>
          <p:spPr>
            <a:xfrm>
              <a:off x="1918523" y="1777115"/>
              <a:ext cx="360000" cy="36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76"/>
            <p:cNvSpPr/>
            <p:nvPr/>
          </p:nvSpPr>
          <p:spPr>
            <a:xfrm>
              <a:off x="1924621" y="2192845"/>
              <a:ext cx="360000" cy="36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76"/>
            <p:cNvSpPr/>
            <p:nvPr/>
          </p:nvSpPr>
          <p:spPr>
            <a:xfrm>
              <a:off x="1925204" y="2605181"/>
              <a:ext cx="360000" cy="36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77"/>
          <p:cNvSpPr txBox="1"/>
          <p:nvPr/>
        </p:nvSpPr>
        <p:spPr>
          <a:xfrm>
            <a:off x="263700" y="1757200"/>
            <a:ext cx="40563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.29 m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cm         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3.48 kg  …… 34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 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13 400 cm …… 0.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5 km             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7"/>
          <p:cNvSpPr txBox="1"/>
          <p:nvPr/>
        </p:nvSpPr>
        <p:spPr>
          <a:xfrm>
            <a:off x="4680500" y="1757200"/>
            <a:ext cx="37083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0.098 m …..  99 mm                 e) 20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ml  …..  0.2 litres</a:t>
            </a:r>
            <a:b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78 mg …..  0.0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g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Write a digit on each solid line and a</a:t>
            </a:r>
            <a:r>
              <a:rPr lang="en-GB"/>
              <a:t> symbol (&lt;, &gt; or </a:t>
            </a:r>
            <a:r>
              <a:rPr lang="en-GB"/>
              <a:t>=</a:t>
            </a:r>
            <a:r>
              <a:rPr lang="en-GB"/>
              <a:t>) on each dotted line to complete each statement.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sp>
        <p:nvSpPr>
          <p:cNvPr id="955" name="Google Shape;955;p77"/>
          <p:cNvSpPr txBox="1"/>
          <p:nvPr>
            <p:ph idx="1" type="body"/>
          </p:nvPr>
        </p:nvSpPr>
        <p:spPr>
          <a:xfrm>
            <a:off x="416088" y="3216775"/>
            <a:ext cx="8237700" cy="177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You can use this place value chart to help you with conversions.</a:t>
            </a:r>
            <a:endParaRPr/>
          </a:p>
        </p:txBody>
      </p:sp>
      <p:graphicFrame>
        <p:nvGraphicFramePr>
          <p:cNvPr id="956" name="Google Shape;956;p77"/>
          <p:cNvGraphicFramePr/>
          <p:nvPr/>
        </p:nvGraphicFramePr>
        <p:xfrm>
          <a:off x="969475" y="386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{3D3E70D4-8365-4615-819D-16F9B7CA162A}</a:tableStyleId>
              </a:tblPr>
              <a:tblGrid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hecto</a:t>
                      </a:r>
                      <a:endParaRPr sz="16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deca</a:t>
                      </a:r>
                      <a:endParaRPr sz="16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</a:t>
                      </a:r>
                      <a:endParaRPr sz="16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78"/>
          <p:cNvSpPr txBox="1"/>
          <p:nvPr>
            <p:ph idx="1" type="body"/>
          </p:nvPr>
        </p:nvSpPr>
        <p:spPr>
          <a:xfrm>
            <a:off x="401525" y="715050"/>
            <a:ext cx="8237700" cy="402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) You have six cards: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Complete this statement in as many ways as possible. </a:t>
            </a:r>
            <a:br>
              <a:rPr lang="en-GB"/>
            </a:br>
            <a:endParaRPr sz="1000"/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     </a:t>
            </a:r>
            <a:r>
              <a:rPr lang="en-GB" sz="3000"/>
              <a:t> 0.879 kg                         g</a:t>
            </a:r>
            <a:endParaRPr sz="30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78"/>
          <p:cNvSpPr/>
          <p:nvPr/>
        </p:nvSpPr>
        <p:spPr>
          <a:xfrm>
            <a:off x="3796345" y="1657320"/>
            <a:ext cx="482700" cy="58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8"/>
          <p:cNvSpPr/>
          <p:nvPr/>
        </p:nvSpPr>
        <p:spPr>
          <a:xfrm>
            <a:off x="2849170" y="1669020"/>
            <a:ext cx="482700" cy="58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8"/>
          <p:cNvSpPr/>
          <p:nvPr/>
        </p:nvSpPr>
        <p:spPr>
          <a:xfrm>
            <a:off x="1885395" y="1666733"/>
            <a:ext cx="482700" cy="58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sp>
        <p:nvSpPr>
          <p:cNvPr id="966" name="Google Shape;966;p78"/>
          <p:cNvSpPr/>
          <p:nvPr/>
        </p:nvSpPr>
        <p:spPr>
          <a:xfrm>
            <a:off x="4743555" y="1680720"/>
            <a:ext cx="559500" cy="559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&lt;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8"/>
          <p:cNvSpPr/>
          <p:nvPr/>
        </p:nvSpPr>
        <p:spPr>
          <a:xfrm>
            <a:off x="5656255" y="1669020"/>
            <a:ext cx="559500" cy="559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&gt;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8"/>
          <p:cNvSpPr/>
          <p:nvPr/>
        </p:nvSpPr>
        <p:spPr>
          <a:xfrm>
            <a:off x="6622001" y="1669020"/>
            <a:ext cx="559500" cy="559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8"/>
          <p:cNvSpPr/>
          <p:nvPr/>
        </p:nvSpPr>
        <p:spPr>
          <a:xfrm>
            <a:off x="3830313" y="3357475"/>
            <a:ext cx="559500" cy="559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78"/>
          <p:cNvSpPr/>
          <p:nvPr/>
        </p:nvSpPr>
        <p:spPr>
          <a:xfrm>
            <a:off x="4528975" y="3345763"/>
            <a:ext cx="482700" cy="58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78"/>
          <p:cNvSpPr/>
          <p:nvPr/>
        </p:nvSpPr>
        <p:spPr>
          <a:xfrm>
            <a:off x="5159237" y="3345763"/>
            <a:ext cx="482700" cy="58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78"/>
          <p:cNvSpPr/>
          <p:nvPr/>
        </p:nvSpPr>
        <p:spPr>
          <a:xfrm>
            <a:off x="5774400" y="3345763"/>
            <a:ext cx="482700" cy="58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79"/>
          <p:cNvSpPr txBox="1"/>
          <p:nvPr/>
        </p:nvSpPr>
        <p:spPr>
          <a:xfrm>
            <a:off x="324000" y="1749323"/>
            <a:ext cx="37083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1.23 m   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12.3 cm                 b) 0.456 kg   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465 g</a:t>
            </a:r>
            <a:b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570 mm   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7.5 cm               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9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Write the correct symbol (&lt;, &gt; or =) to complete each statement.</a:t>
            </a:r>
            <a:endParaRPr/>
          </a:p>
        </p:txBody>
      </p:sp>
      <p:sp>
        <p:nvSpPr>
          <p:cNvPr id="979" name="Google Shape;979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sp>
        <p:nvSpPr>
          <p:cNvPr id="980" name="Google Shape;980;p79"/>
          <p:cNvSpPr txBox="1"/>
          <p:nvPr>
            <p:ph idx="1" type="body"/>
          </p:nvPr>
        </p:nvSpPr>
        <p:spPr>
          <a:xfrm>
            <a:off x="411450" y="3343500"/>
            <a:ext cx="8237700" cy="4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can use this place value chart to help you with conversions.</a:t>
            </a:r>
            <a:endParaRPr sz="1800"/>
          </a:p>
        </p:txBody>
      </p:sp>
      <p:graphicFrame>
        <p:nvGraphicFramePr>
          <p:cNvPr id="981" name="Google Shape;981;p79"/>
          <p:cNvGraphicFramePr/>
          <p:nvPr/>
        </p:nvGraphicFramePr>
        <p:xfrm>
          <a:off x="443500" y="367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{3D3E70D4-8365-4615-819D-16F9B7CA162A}</a:tableStyleId>
              </a:tblPr>
              <a:tblGrid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hecto</a:t>
                      </a:r>
                      <a:endParaRPr sz="16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deca</a:t>
                      </a:r>
                      <a:endParaRPr sz="16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</a:t>
                      </a:r>
                      <a:endParaRPr sz="16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82" name="Google Shape;982;p79"/>
          <p:cNvSpPr txBox="1"/>
          <p:nvPr/>
        </p:nvSpPr>
        <p:spPr>
          <a:xfrm>
            <a:off x="4476300" y="1749350"/>
            <a:ext cx="37083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985 000 m   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958 km                 e) 30 000 ml   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30 l</a:t>
            </a:r>
            <a:b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989 cl   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9980 ml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0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Write a digit on each solid line and a symbol (&lt;, &gt; or =) on each dotted line to complete each statement.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80"/>
          <p:cNvSpPr txBox="1"/>
          <p:nvPr/>
        </p:nvSpPr>
        <p:spPr>
          <a:xfrm>
            <a:off x="400200" y="1618800"/>
            <a:ext cx="4056300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29 m  = 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cm          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Possible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include: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/>
              <a:t>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3.48 kg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34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/>
              <a:t>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3.48 kg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34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3.48 kg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34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Possible answers include: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13 400 cm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0.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5 km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13 400 cm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0.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km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sp>
        <p:nvSpPr>
          <p:cNvPr id="990" name="Google Shape;990;p80"/>
          <p:cNvSpPr/>
          <p:nvPr/>
        </p:nvSpPr>
        <p:spPr>
          <a:xfrm>
            <a:off x="1756865" y="2503632"/>
            <a:ext cx="278700" cy="27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80"/>
          <p:cNvSpPr/>
          <p:nvPr/>
        </p:nvSpPr>
        <p:spPr>
          <a:xfrm>
            <a:off x="1756865" y="2862216"/>
            <a:ext cx="278700" cy="27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80"/>
          <p:cNvSpPr/>
          <p:nvPr/>
        </p:nvSpPr>
        <p:spPr>
          <a:xfrm>
            <a:off x="1885555" y="4014188"/>
            <a:ext cx="278700" cy="27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80"/>
          <p:cNvSpPr/>
          <p:nvPr/>
        </p:nvSpPr>
        <p:spPr>
          <a:xfrm>
            <a:off x="1885555" y="4441413"/>
            <a:ext cx="278700" cy="27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80"/>
          <p:cNvSpPr/>
          <p:nvPr/>
        </p:nvSpPr>
        <p:spPr>
          <a:xfrm>
            <a:off x="1756865" y="3220800"/>
            <a:ext cx="278700" cy="27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81"/>
          <p:cNvSpPr txBox="1"/>
          <p:nvPr/>
        </p:nvSpPr>
        <p:spPr>
          <a:xfrm>
            <a:off x="708350" y="1711527"/>
            <a:ext cx="40563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0.098 m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99 mm          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Possible answers include: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20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ml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0.2 litres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20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800"/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ml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0.2 litres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Possible answers include: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78 mg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0.0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g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78 mg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0.0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g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1"/>
          <p:cNvSpPr/>
          <p:nvPr/>
        </p:nvSpPr>
        <p:spPr>
          <a:xfrm>
            <a:off x="954958" y="2464071"/>
            <a:ext cx="250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1" name="Google Shape;1001;p81"/>
          <p:cNvSpPr/>
          <p:nvPr/>
        </p:nvSpPr>
        <p:spPr>
          <a:xfrm>
            <a:off x="1694954" y="2423104"/>
            <a:ext cx="323700" cy="323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2" name="Google Shape;1002;p81"/>
          <p:cNvSpPr/>
          <p:nvPr/>
        </p:nvSpPr>
        <p:spPr>
          <a:xfrm>
            <a:off x="1698533" y="2811990"/>
            <a:ext cx="323700" cy="323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3" name="Google Shape;1003;p81"/>
          <p:cNvSpPr/>
          <p:nvPr/>
        </p:nvSpPr>
        <p:spPr>
          <a:xfrm>
            <a:off x="1409669" y="3598502"/>
            <a:ext cx="323700" cy="323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4" name="Google Shape;1004;p81"/>
          <p:cNvSpPr/>
          <p:nvPr/>
        </p:nvSpPr>
        <p:spPr>
          <a:xfrm>
            <a:off x="1402388" y="3953619"/>
            <a:ext cx="323700" cy="323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5" name="Google Shape;1005;p81"/>
          <p:cNvSpPr/>
          <p:nvPr/>
        </p:nvSpPr>
        <p:spPr>
          <a:xfrm>
            <a:off x="954958" y="2848428"/>
            <a:ext cx="250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6" name="Google Shape;1006;p81"/>
          <p:cNvSpPr/>
          <p:nvPr/>
        </p:nvSpPr>
        <p:spPr>
          <a:xfrm>
            <a:off x="2221158" y="3990078"/>
            <a:ext cx="250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7" name="Google Shape;1007;p81"/>
          <p:cNvSpPr/>
          <p:nvPr/>
        </p:nvSpPr>
        <p:spPr>
          <a:xfrm>
            <a:off x="2221150" y="3626486"/>
            <a:ext cx="250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8" name="Google Shape;1008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sp>
        <p:nvSpPr>
          <p:cNvPr id="1009" name="Google Shape;1009;p81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Write a digit on each solid line and a symbol (&lt;, &gt; or =) on each dotted line to complete each statement.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82"/>
          <p:cNvSpPr txBox="1"/>
          <p:nvPr>
            <p:ph idx="1" type="body"/>
          </p:nvPr>
        </p:nvSpPr>
        <p:spPr>
          <a:xfrm>
            <a:off x="400200" y="759300"/>
            <a:ext cx="8440500" cy="35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</a:t>
            </a:r>
            <a:r>
              <a:rPr lang="en-GB"/>
              <a:t>You have six cards: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Complete this statement in as many ways as possible. 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0.879 kg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879 g     </a:t>
            </a:r>
            <a:r>
              <a:rPr lang="en-GB"/>
              <a:t>0.879 kg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&lt;  978</a:t>
            </a:r>
            <a:r>
              <a:rPr lang="en-GB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g     </a:t>
            </a:r>
            <a:r>
              <a:rPr lang="en-GB"/>
              <a:t>0.879 kg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 &gt;  789</a:t>
            </a:r>
            <a:r>
              <a:rPr lang="en-GB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g</a:t>
            </a:r>
            <a:br>
              <a:rPr lang="en-GB"/>
            </a:br>
            <a:r>
              <a:rPr lang="en-GB"/>
              <a:t>0.879 kg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 &lt;  897</a:t>
            </a:r>
            <a:r>
              <a:rPr lang="en-GB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g  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/>
              <a:t>0.879 kg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&lt;  987</a:t>
            </a:r>
            <a:r>
              <a:rPr lang="en-GB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g     </a:t>
            </a:r>
            <a:r>
              <a:rPr lang="en-GB"/>
              <a:t>0.879 kg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 &gt;  798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/>
          </a:p>
        </p:txBody>
      </p:sp>
      <p:sp>
        <p:nvSpPr>
          <p:cNvPr id="1015" name="Google Shape;1015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sp>
        <p:nvSpPr>
          <p:cNvPr id="1016" name="Google Shape;1016;p82"/>
          <p:cNvSpPr txBox="1"/>
          <p:nvPr>
            <p:ph idx="1" type="body"/>
          </p:nvPr>
        </p:nvSpPr>
        <p:spPr>
          <a:xfrm>
            <a:off x="1223850" y="1803150"/>
            <a:ext cx="6344700" cy="15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3000"/>
              <a:t>0.879 kg                         g</a:t>
            </a:r>
            <a:endParaRPr sz="30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82"/>
          <p:cNvSpPr/>
          <p:nvPr/>
        </p:nvSpPr>
        <p:spPr>
          <a:xfrm>
            <a:off x="5397320" y="782695"/>
            <a:ext cx="482700" cy="58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82"/>
          <p:cNvSpPr/>
          <p:nvPr/>
        </p:nvSpPr>
        <p:spPr>
          <a:xfrm>
            <a:off x="4450145" y="794395"/>
            <a:ext cx="482700" cy="58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82"/>
          <p:cNvSpPr/>
          <p:nvPr/>
        </p:nvSpPr>
        <p:spPr>
          <a:xfrm>
            <a:off x="3486370" y="792108"/>
            <a:ext cx="482700" cy="58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2"/>
          <p:cNvSpPr/>
          <p:nvPr/>
        </p:nvSpPr>
        <p:spPr>
          <a:xfrm>
            <a:off x="6344530" y="806095"/>
            <a:ext cx="559500" cy="559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&lt;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2"/>
          <p:cNvSpPr/>
          <p:nvPr/>
        </p:nvSpPr>
        <p:spPr>
          <a:xfrm>
            <a:off x="7257230" y="794395"/>
            <a:ext cx="559500" cy="559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&gt;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2"/>
          <p:cNvSpPr/>
          <p:nvPr/>
        </p:nvSpPr>
        <p:spPr>
          <a:xfrm>
            <a:off x="8222976" y="794395"/>
            <a:ext cx="559500" cy="559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2"/>
          <p:cNvSpPr/>
          <p:nvPr/>
        </p:nvSpPr>
        <p:spPr>
          <a:xfrm>
            <a:off x="4065713" y="2292000"/>
            <a:ext cx="559500" cy="559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82"/>
          <p:cNvSpPr/>
          <p:nvPr/>
        </p:nvSpPr>
        <p:spPr>
          <a:xfrm>
            <a:off x="4764375" y="2280288"/>
            <a:ext cx="482700" cy="58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82"/>
          <p:cNvSpPr/>
          <p:nvPr/>
        </p:nvSpPr>
        <p:spPr>
          <a:xfrm>
            <a:off x="5394637" y="2280288"/>
            <a:ext cx="482700" cy="58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82"/>
          <p:cNvSpPr/>
          <p:nvPr/>
        </p:nvSpPr>
        <p:spPr>
          <a:xfrm>
            <a:off x="6009800" y="2280288"/>
            <a:ext cx="482700" cy="58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3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measures</a:t>
            </a:r>
            <a:endParaRPr/>
          </a:p>
        </p:txBody>
      </p:sp>
      <p:sp>
        <p:nvSpPr>
          <p:cNvPr id="1032" name="Google Shape;1032;p83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measures </a:t>
            </a:r>
            <a:endParaRPr/>
          </a:p>
        </p:txBody>
      </p:sp>
      <p:sp>
        <p:nvSpPr>
          <p:cNvPr id="1033" name="Google Shape;1033;p83"/>
          <p:cNvSpPr txBox="1"/>
          <p:nvPr>
            <p:ph idx="3" type="title"/>
          </p:nvPr>
        </p:nvSpPr>
        <p:spPr>
          <a:xfrm>
            <a:off x="324000" y="657600"/>
            <a:ext cx="8301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ordering and comparing numbers</a:t>
            </a:r>
            <a:r>
              <a:rPr lang="en-GB" sz="1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4" name="Google Shape;103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100" y="298518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84"/>
          <p:cNvSpPr txBox="1"/>
          <p:nvPr>
            <p:ph idx="1" type="body"/>
          </p:nvPr>
        </p:nvSpPr>
        <p:spPr>
          <a:xfrm>
            <a:off x="324000" y="759300"/>
            <a:ext cx="55845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Who is right? Justify your answer.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40" name="Google Shape;1040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measures</a:t>
            </a:r>
            <a:endParaRPr/>
          </a:p>
        </p:txBody>
      </p:sp>
      <p:grpSp>
        <p:nvGrpSpPr>
          <p:cNvPr id="1041" name="Google Shape;1041;p84"/>
          <p:cNvGrpSpPr/>
          <p:nvPr/>
        </p:nvGrpSpPr>
        <p:grpSpPr>
          <a:xfrm flipH="1">
            <a:off x="628800" y="1750938"/>
            <a:ext cx="2312525" cy="1362151"/>
            <a:chOff x="1246825" y="1190875"/>
            <a:chExt cx="2312525" cy="1362151"/>
          </a:xfrm>
        </p:grpSpPr>
        <p:pic>
          <p:nvPicPr>
            <p:cNvPr id="1042" name="Google Shape;1042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1246825" y="1190875"/>
              <a:ext cx="2292599" cy="13621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3" name="Google Shape;1043;p84"/>
            <p:cNvSpPr txBox="1"/>
            <p:nvPr/>
          </p:nvSpPr>
          <p:spPr>
            <a:xfrm>
              <a:off x="1266750" y="1271000"/>
              <a:ext cx="2292600" cy="93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dog is huge! He is 120 cm from nose to tail.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4" name="Google Shape;1044;p84"/>
          <p:cNvGrpSpPr/>
          <p:nvPr/>
        </p:nvGrpSpPr>
        <p:grpSpPr>
          <a:xfrm>
            <a:off x="3384901" y="1750949"/>
            <a:ext cx="2292599" cy="1239676"/>
            <a:chOff x="3848273" y="1298690"/>
            <a:chExt cx="2292599" cy="1185952"/>
          </a:xfrm>
        </p:grpSpPr>
        <p:pic>
          <p:nvPicPr>
            <p:cNvPr id="1045" name="Google Shape;1045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3848273" y="1298690"/>
              <a:ext cx="2292599" cy="11859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6" name="Google Shape;1046;p84"/>
            <p:cNvSpPr txBox="1"/>
            <p:nvPr/>
          </p:nvSpPr>
          <p:spPr>
            <a:xfrm flipH="1">
              <a:off x="3853675" y="1310018"/>
              <a:ext cx="2085900" cy="10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dog is bigger than yours! He weighs 30 kg.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7" name="Google Shape;1047;p84"/>
          <p:cNvGrpSpPr/>
          <p:nvPr/>
        </p:nvGrpSpPr>
        <p:grpSpPr>
          <a:xfrm>
            <a:off x="6329650" y="1576566"/>
            <a:ext cx="2537500" cy="1663475"/>
            <a:chOff x="6016150" y="981138"/>
            <a:chExt cx="2537500" cy="1521100"/>
          </a:xfrm>
        </p:grpSpPr>
        <p:pic>
          <p:nvPicPr>
            <p:cNvPr id="1048" name="Google Shape;1048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016150" y="981138"/>
              <a:ext cx="2353401" cy="14303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84"/>
            <p:cNvSpPr txBox="1"/>
            <p:nvPr/>
          </p:nvSpPr>
          <p:spPr>
            <a:xfrm>
              <a:off x="6112250" y="1208338"/>
              <a:ext cx="2441400" cy="129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dog is the biggest. He drinks 850 ml of water every day!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0" name="Google Shape;1050;p84"/>
          <p:cNvSpPr txBox="1"/>
          <p:nvPr/>
        </p:nvSpPr>
        <p:spPr>
          <a:xfrm>
            <a:off x="371550" y="3846700"/>
            <a:ext cx="81234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4"/>
          <p:cNvSpPr txBox="1"/>
          <p:nvPr/>
        </p:nvSpPr>
        <p:spPr>
          <a:xfrm>
            <a:off x="324000" y="4021925"/>
            <a:ext cx="8312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is impossible to tell who is right. You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cannot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compare different types of measurement.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52" name="Google Shape;105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8200" y="292903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84"/>
          <p:cNvSpPr txBox="1"/>
          <p:nvPr/>
        </p:nvSpPr>
        <p:spPr>
          <a:xfrm>
            <a:off x="1007125" y="3515750"/>
            <a:ext cx="128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/>
          </a:p>
        </p:txBody>
      </p:sp>
      <p:pic>
        <p:nvPicPr>
          <p:cNvPr id="1054" name="Google Shape;1054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3800" y="776775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84"/>
          <p:cNvSpPr txBox="1"/>
          <p:nvPr/>
        </p:nvSpPr>
        <p:spPr>
          <a:xfrm>
            <a:off x="6396553" y="121782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6" name="Google Shape;1056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6040" y="292116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84"/>
          <p:cNvSpPr txBox="1"/>
          <p:nvPr/>
        </p:nvSpPr>
        <p:spPr>
          <a:xfrm>
            <a:off x="4120038" y="3392435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85"/>
          <p:cNvSpPr txBox="1"/>
          <p:nvPr>
            <p:ph idx="1" type="body"/>
          </p:nvPr>
        </p:nvSpPr>
        <p:spPr>
          <a:xfrm>
            <a:off x="324000" y="759300"/>
            <a:ext cx="8237700" cy="18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ordering measures: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lengths can only be compared to other lengths.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masses can only be compared to other masses.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capacities can only to be compared to other capacities.</a:t>
            </a:r>
            <a:endParaRPr/>
          </a:p>
        </p:txBody>
      </p:sp>
      <p:sp>
        <p:nvSpPr>
          <p:cNvPr id="1063" name="Google Shape;106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measures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8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</a:t>
            </a:r>
            <a:r>
              <a:rPr lang="en-GB"/>
              <a:t>elect the list which can be ordered.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8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measures</a:t>
            </a:r>
            <a:endParaRPr/>
          </a:p>
        </p:txBody>
      </p:sp>
      <p:sp>
        <p:nvSpPr>
          <p:cNvPr id="1070" name="Google Shape;1070;p8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1110 litres, 110 mg, 1100 cl, 1100 ml</a:t>
            </a:r>
            <a:endParaRPr/>
          </a:p>
        </p:txBody>
      </p:sp>
      <p:sp>
        <p:nvSpPr>
          <p:cNvPr id="1071" name="Google Shape;1071;p8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2.2 km, 220 m, 2200 cm, 22 000 mm</a:t>
            </a:r>
            <a:endParaRPr/>
          </a:p>
        </p:txBody>
      </p:sp>
      <p:sp>
        <p:nvSpPr>
          <p:cNvPr id="1072" name="Google Shape;1072;p8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3.3 kg, 3330 g, 3 330 000 ml, 0.3 kg</a:t>
            </a:r>
            <a:endParaRPr/>
          </a:p>
        </p:txBody>
      </p:sp>
      <p:sp>
        <p:nvSpPr>
          <p:cNvPr id="1073" name="Google Shape;1073;p8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4.44 kg, 4.44 km, 4.44 m, 4.44 litres</a:t>
            </a:r>
            <a:endParaRPr/>
          </a:p>
        </p:txBody>
      </p:sp>
      <p:pic>
        <p:nvPicPr>
          <p:cNvPr id="1074" name="Google Shape;107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1933" y="23957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86"/>
          <p:cNvSpPr txBox="1"/>
          <p:nvPr/>
        </p:nvSpPr>
        <p:spPr>
          <a:xfrm>
            <a:off x="6513150" y="2360475"/>
            <a:ext cx="2307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87"/>
          <p:cNvSpPr/>
          <p:nvPr/>
        </p:nvSpPr>
        <p:spPr>
          <a:xfrm>
            <a:off x="4804200" y="1215063"/>
            <a:ext cx="3324000" cy="743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87"/>
          <p:cNvSpPr txBox="1"/>
          <p:nvPr>
            <p:ph idx="1" type="body"/>
          </p:nvPr>
        </p:nvSpPr>
        <p:spPr>
          <a:xfrm>
            <a:off x="324000" y="759304"/>
            <a:ext cx="8237700" cy="1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can you order these journeys?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87"/>
          <p:cNvSpPr/>
          <p:nvPr/>
        </p:nvSpPr>
        <p:spPr>
          <a:xfrm>
            <a:off x="1309050" y="2034443"/>
            <a:ext cx="3324000" cy="743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87"/>
          <p:cNvSpPr/>
          <p:nvPr/>
        </p:nvSpPr>
        <p:spPr>
          <a:xfrm>
            <a:off x="1309050" y="1215063"/>
            <a:ext cx="3324000" cy="743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87"/>
          <p:cNvSpPr txBox="1"/>
          <p:nvPr/>
        </p:nvSpPr>
        <p:spPr>
          <a:xfrm>
            <a:off x="324010" y="3214007"/>
            <a:ext cx="78852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324 000 cm = 324 000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✖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metres = 3240 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measures</a:t>
            </a:r>
            <a:endParaRPr/>
          </a:p>
        </p:txBody>
      </p:sp>
      <p:sp>
        <p:nvSpPr>
          <p:cNvPr id="1086" name="Google Shape;1086;p87"/>
          <p:cNvSpPr txBox="1"/>
          <p:nvPr/>
        </p:nvSpPr>
        <p:spPr>
          <a:xfrm>
            <a:off x="1344399" y="1218350"/>
            <a:ext cx="2593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walked 423 m to school.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7"/>
          <p:cNvSpPr txBox="1"/>
          <p:nvPr/>
        </p:nvSpPr>
        <p:spPr>
          <a:xfrm>
            <a:off x="852400" y="3650000"/>
            <a:ext cx="211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8" name="Google Shape;1088;p87"/>
          <p:cNvGrpSpPr/>
          <p:nvPr/>
        </p:nvGrpSpPr>
        <p:grpSpPr>
          <a:xfrm>
            <a:off x="324000" y="2732205"/>
            <a:ext cx="7885200" cy="2214600"/>
            <a:chOff x="324000" y="2869358"/>
            <a:chExt cx="7885200" cy="2214600"/>
          </a:xfrm>
        </p:grpSpPr>
        <p:sp>
          <p:nvSpPr>
            <p:cNvPr id="1089" name="Google Shape;1089;p87"/>
            <p:cNvSpPr txBox="1"/>
            <p:nvPr/>
          </p:nvSpPr>
          <p:spPr>
            <a:xfrm>
              <a:off x="324000" y="2869358"/>
              <a:ext cx="7885200" cy="22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2.34 km = 2.34 </a:t>
              </a:r>
              <a:r>
                <a:rPr lang="en-GB" sz="17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1000 metres = 2340 m</a:t>
              </a:r>
              <a:endPara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0" name="Google Shape;1090;p87"/>
            <p:cNvSpPr/>
            <p:nvPr/>
          </p:nvSpPr>
          <p:spPr>
            <a:xfrm>
              <a:off x="2243900" y="2969915"/>
              <a:ext cx="929700" cy="313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87"/>
            <p:cNvSpPr/>
            <p:nvPr/>
          </p:nvSpPr>
          <p:spPr>
            <a:xfrm>
              <a:off x="988475" y="3019337"/>
              <a:ext cx="173700" cy="2580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2" name="Google Shape;1092;p87"/>
          <p:cNvGrpSpPr/>
          <p:nvPr/>
        </p:nvGrpSpPr>
        <p:grpSpPr>
          <a:xfrm>
            <a:off x="296441" y="3783143"/>
            <a:ext cx="7926600" cy="459000"/>
            <a:chOff x="48900" y="3132800"/>
            <a:chExt cx="7926600" cy="459000"/>
          </a:xfrm>
        </p:grpSpPr>
        <p:sp>
          <p:nvSpPr>
            <p:cNvPr id="1093" name="Google Shape;1093;p87"/>
            <p:cNvSpPr txBox="1"/>
            <p:nvPr/>
          </p:nvSpPr>
          <p:spPr>
            <a:xfrm>
              <a:off x="48900" y="3132800"/>
              <a:ext cx="7926600" cy="4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432 000 mm = 432 000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✖  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     met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res = 432 m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4" name="Google Shape;1094;p87"/>
            <p:cNvSpPr/>
            <p:nvPr/>
          </p:nvSpPr>
          <p:spPr>
            <a:xfrm>
              <a:off x="1274929" y="3272482"/>
              <a:ext cx="266700" cy="2769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5" name="Google Shape;1095;p87"/>
          <p:cNvSpPr/>
          <p:nvPr/>
        </p:nvSpPr>
        <p:spPr>
          <a:xfrm>
            <a:off x="4804200" y="2034443"/>
            <a:ext cx="3324000" cy="743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87"/>
          <p:cNvSpPr txBox="1"/>
          <p:nvPr/>
        </p:nvSpPr>
        <p:spPr>
          <a:xfrm>
            <a:off x="4804200" y="1187600"/>
            <a:ext cx="3081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walked 324 000 cm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school.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7"/>
          <p:cNvSpPr txBox="1"/>
          <p:nvPr/>
        </p:nvSpPr>
        <p:spPr>
          <a:xfrm>
            <a:off x="1314600" y="2072600"/>
            <a:ext cx="27453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walked   2.34 km to school.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times&quot;&gt;&lt;mo&gt;×&lt;/mo&gt;&lt;/math&gt;" id="1098" name="Google Shape;1098;p87" title="times"/>
          <p:cNvSpPr txBox="1"/>
          <p:nvPr/>
        </p:nvSpPr>
        <p:spPr>
          <a:xfrm>
            <a:off x="4804200" y="2024700"/>
            <a:ext cx="3464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walked 432 000 mm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school.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7"/>
          <p:cNvSpPr txBox="1"/>
          <p:nvPr/>
        </p:nvSpPr>
        <p:spPr>
          <a:xfrm>
            <a:off x="307714" y="4412263"/>
            <a:ext cx="78852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423 m &lt; 432 000 mm &lt; 2.34 km &lt; 324 000 cm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100" name="Google Shape;1100;p87" title="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3820" y="3207695"/>
            <a:ext cx="430386" cy="5483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1101" name="Google Shape;1101;p87"/>
          <p:cNvSpPr/>
          <p:nvPr/>
        </p:nvSpPr>
        <p:spPr>
          <a:xfrm>
            <a:off x="1528577" y="3368525"/>
            <a:ext cx="177600" cy="2241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102" name="Google Shape;1102;p87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3825" y="3820900"/>
            <a:ext cx="566174" cy="5483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lists is incorrect?</a:t>
            </a:r>
            <a:endParaRPr/>
          </a:p>
        </p:txBody>
      </p:sp>
      <p:sp>
        <p:nvSpPr>
          <p:cNvPr id="1108" name="Google Shape;1108;p8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measures</a:t>
            </a:r>
            <a:endParaRPr/>
          </a:p>
        </p:txBody>
      </p:sp>
      <p:sp>
        <p:nvSpPr>
          <p:cNvPr id="1109" name="Google Shape;1109;p8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2.2 mm &lt; 2.2 cm &lt; 2.2 m &lt; 2.2 km</a:t>
            </a:r>
            <a:endParaRPr/>
          </a:p>
        </p:txBody>
      </p:sp>
      <p:sp>
        <p:nvSpPr>
          <p:cNvPr id="1110" name="Google Shape;1110;p8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22 mm &lt; 0.2002 m &lt; 22 cm &lt; 0.202 km</a:t>
            </a:r>
            <a:endParaRPr/>
          </a:p>
        </p:txBody>
      </p:sp>
      <p:sp>
        <p:nvSpPr>
          <p:cNvPr id="1111" name="Google Shape;1111;p8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0.0022 km</a:t>
            </a:r>
            <a:r>
              <a:rPr lang="en-GB"/>
              <a:t> &lt; 202 cm &lt; 2.2 m &lt; 2002 mm</a:t>
            </a:r>
            <a:endParaRPr/>
          </a:p>
        </p:txBody>
      </p:sp>
      <p:pic>
        <p:nvPicPr>
          <p:cNvPr id="1112" name="Google Shape;1112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0683" y="36724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measures</a:t>
            </a:r>
            <a:endParaRPr/>
          </a:p>
        </p:txBody>
      </p:sp>
      <p:sp>
        <p:nvSpPr>
          <p:cNvPr id="1118" name="Google Shape;1118;p89"/>
          <p:cNvSpPr txBox="1"/>
          <p:nvPr>
            <p:ph idx="1" type="body"/>
          </p:nvPr>
        </p:nvSpPr>
        <p:spPr>
          <a:xfrm>
            <a:off x="4002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Starting with the smallest, sort the measures into ascending order.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99 cm, 99 mm, 99 km, 99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</a:t>
            </a:r>
            <a:r>
              <a:rPr lang="en-GB"/>
              <a:t>303 ml, 0.03 l, 30 cl, 0.33 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</a:t>
            </a:r>
            <a:r>
              <a:rPr lang="en-GB"/>
              <a:t>0.456 km, 465 m, 64.5 cm, 564 mm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 </a:t>
            </a:r>
            <a:r>
              <a:rPr lang="en-GB"/>
              <a:t>35 700 mg, 7.53 kg, 7503 g,  3.57 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e) 986 cm, 0.896 m, 0.00869 km, </a:t>
            </a:r>
            <a:r>
              <a:rPr lang="en-GB"/>
              <a:t>689 mm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90"/>
          <p:cNvSpPr txBox="1"/>
          <p:nvPr>
            <p:ph idx="1" type="body"/>
          </p:nvPr>
        </p:nvSpPr>
        <p:spPr>
          <a:xfrm>
            <a:off x="324000" y="740050"/>
            <a:ext cx="8447700" cy="17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Use these cards to complete each </a:t>
            </a:r>
            <a:r>
              <a:rPr b="1" lang="en-GB"/>
              <a:t>inequality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</a:t>
            </a:r>
            <a:r>
              <a:rPr lang="en-GB" sz="1500"/>
              <a:t> </a:t>
            </a:r>
            <a:r>
              <a:rPr lang="en-GB"/>
              <a:t>  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Use each card only once in each statement. Can you find more than one way to complete the </a:t>
            </a:r>
            <a:r>
              <a:rPr b="1" lang="en-GB"/>
              <a:t>inequalities</a:t>
            </a:r>
            <a:r>
              <a:rPr lang="en-GB"/>
              <a:t>?</a:t>
            </a:r>
            <a:br>
              <a:rPr lang="en-GB"/>
            </a:br>
            <a:br>
              <a:rPr lang="en-GB"/>
            </a:br>
            <a:r>
              <a:rPr lang="en-GB"/>
              <a:t>a)</a:t>
            </a:r>
            <a:br>
              <a:rPr lang="en-GB"/>
            </a:br>
            <a:br>
              <a:rPr lang="en-GB"/>
            </a:b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124" name="Google Shape;1124;p90"/>
          <p:cNvGrpSpPr/>
          <p:nvPr/>
        </p:nvGrpSpPr>
        <p:grpSpPr>
          <a:xfrm>
            <a:off x="1787441" y="1113150"/>
            <a:ext cx="5016175" cy="590177"/>
            <a:chOff x="1408600" y="1113150"/>
            <a:chExt cx="5016175" cy="590177"/>
          </a:xfrm>
        </p:grpSpPr>
        <p:sp>
          <p:nvSpPr>
            <p:cNvPr id="1125" name="Google Shape;1125;p90"/>
            <p:cNvSpPr/>
            <p:nvPr/>
          </p:nvSpPr>
          <p:spPr>
            <a:xfrm>
              <a:off x="1408600" y="1113150"/>
              <a:ext cx="482700" cy="582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6" name="Google Shape;1126;p90"/>
            <p:cNvSpPr/>
            <p:nvPr/>
          </p:nvSpPr>
          <p:spPr>
            <a:xfrm>
              <a:off x="2322227" y="1120427"/>
              <a:ext cx="482700" cy="582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7" name="Google Shape;1127;p90"/>
            <p:cNvSpPr/>
            <p:nvPr/>
          </p:nvSpPr>
          <p:spPr>
            <a:xfrm>
              <a:off x="3235838" y="1120425"/>
              <a:ext cx="482700" cy="582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8" name="Google Shape;1128;p90"/>
            <p:cNvSpPr/>
            <p:nvPr/>
          </p:nvSpPr>
          <p:spPr>
            <a:xfrm>
              <a:off x="4149475" y="1120425"/>
              <a:ext cx="482700" cy="582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90"/>
            <p:cNvSpPr/>
            <p:nvPr/>
          </p:nvSpPr>
          <p:spPr>
            <a:xfrm>
              <a:off x="5045775" y="1113150"/>
              <a:ext cx="482700" cy="582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0" name="Google Shape;1130;p90"/>
            <p:cNvSpPr/>
            <p:nvPr/>
          </p:nvSpPr>
          <p:spPr>
            <a:xfrm>
              <a:off x="5942075" y="1113150"/>
              <a:ext cx="482700" cy="582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1" name="Google Shape;1131;p90"/>
          <p:cNvSpPr txBox="1"/>
          <p:nvPr/>
        </p:nvSpPr>
        <p:spPr>
          <a:xfrm>
            <a:off x="636973" y="2824533"/>
            <a:ext cx="73290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     2 cm  &lt;  1                 mm   &lt;  0                          m                        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measures</a:t>
            </a:r>
            <a:endParaRPr/>
          </a:p>
        </p:txBody>
      </p:sp>
      <p:grpSp>
        <p:nvGrpSpPr>
          <p:cNvPr id="1133" name="Google Shape;1133;p90"/>
          <p:cNvGrpSpPr/>
          <p:nvPr/>
        </p:nvGrpSpPr>
        <p:grpSpPr>
          <a:xfrm>
            <a:off x="659423" y="2801413"/>
            <a:ext cx="6178358" cy="594137"/>
            <a:chOff x="1197950" y="2801413"/>
            <a:chExt cx="6178358" cy="594137"/>
          </a:xfrm>
        </p:grpSpPr>
        <p:sp>
          <p:nvSpPr>
            <p:cNvPr id="1134" name="Google Shape;1134;p90"/>
            <p:cNvSpPr/>
            <p:nvPr/>
          </p:nvSpPr>
          <p:spPr>
            <a:xfrm>
              <a:off x="1197950" y="2806654"/>
              <a:ext cx="482700" cy="582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90"/>
            <p:cNvSpPr/>
            <p:nvPr/>
          </p:nvSpPr>
          <p:spPr>
            <a:xfrm>
              <a:off x="3073100" y="2801413"/>
              <a:ext cx="482700" cy="582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90"/>
            <p:cNvSpPr/>
            <p:nvPr/>
          </p:nvSpPr>
          <p:spPr>
            <a:xfrm>
              <a:off x="3666775" y="2805365"/>
              <a:ext cx="482700" cy="582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90"/>
            <p:cNvSpPr/>
            <p:nvPr/>
          </p:nvSpPr>
          <p:spPr>
            <a:xfrm>
              <a:off x="5691525" y="2804763"/>
              <a:ext cx="482700" cy="582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90"/>
            <p:cNvSpPr/>
            <p:nvPr/>
          </p:nvSpPr>
          <p:spPr>
            <a:xfrm>
              <a:off x="6288925" y="2812650"/>
              <a:ext cx="482700" cy="582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90"/>
            <p:cNvSpPr/>
            <p:nvPr/>
          </p:nvSpPr>
          <p:spPr>
            <a:xfrm>
              <a:off x="6893608" y="2812048"/>
              <a:ext cx="482700" cy="582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0" name="Google Shape;1140;p90"/>
          <p:cNvGrpSpPr/>
          <p:nvPr/>
        </p:nvGrpSpPr>
        <p:grpSpPr>
          <a:xfrm>
            <a:off x="670160" y="3548785"/>
            <a:ext cx="8101603" cy="939605"/>
            <a:chOff x="633727" y="3730920"/>
            <a:chExt cx="8194198" cy="939605"/>
          </a:xfrm>
        </p:grpSpPr>
        <p:sp>
          <p:nvSpPr>
            <p:cNvPr id="1141" name="Google Shape;1141;p90"/>
            <p:cNvSpPr txBox="1"/>
            <p:nvPr/>
          </p:nvSpPr>
          <p:spPr>
            <a:xfrm>
              <a:off x="1167425" y="3821825"/>
              <a:ext cx="7660500" cy="8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     0         kg  &lt;  8         g  &lt;         00 000 mg &lt;  0.        kg                                               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42" name="Google Shape;1142;p90"/>
            <p:cNvGrpSpPr/>
            <p:nvPr/>
          </p:nvGrpSpPr>
          <p:grpSpPr>
            <a:xfrm>
              <a:off x="633727" y="3730920"/>
              <a:ext cx="7456573" cy="596512"/>
              <a:chOff x="633727" y="3730920"/>
              <a:chExt cx="7456573" cy="596512"/>
            </a:xfrm>
          </p:grpSpPr>
          <p:sp>
            <p:nvSpPr>
              <p:cNvPr id="1143" name="Google Shape;1143;p90"/>
              <p:cNvSpPr/>
              <p:nvPr/>
            </p:nvSpPr>
            <p:spPr>
              <a:xfrm>
                <a:off x="633727" y="3731525"/>
                <a:ext cx="482700" cy="5829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90"/>
              <p:cNvSpPr/>
              <p:nvPr/>
            </p:nvSpPr>
            <p:spPr>
              <a:xfrm>
                <a:off x="1201381" y="3733443"/>
                <a:ext cx="482700" cy="5829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90"/>
              <p:cNvSpPr/>
              <p:nvPr/>
            </p:nvSpPr>
            <p:spPr>
              <a:xfrm>
                <a:off x="1976990" y="3730920"/>
                <a:ext cx="482700" cy="5829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90"/>
              <p:cNvSpPr/>
              <p:nvPr/>
            </p:nvSpPr>
            <p:spPr>
              <a:xfrm>
                <a:off x="3666775" y="3744532"/>
                <a:ext cx="482700" cy="5829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90"/>
              <p:cNvSpPr/>
              <p:nvPr/>
            </p:nvSpPr>
            <p:spPr>
              <a:xfrm>
                <a:off x="7607600" y="3736318"/>
                <a:ext cx="482700" cy="5829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48" name="Google Shape;1148;p90"/>
          <p:cNvSpPr/>
          <p:nvPr/>
        </p:nvSpPr>
        <p:spPr>
          <a:xfrm>
            <a:off x="4933842" y="3561867"/>
            <a:ext cx="482700" cy="58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measures</a:t>
            </a:r>
            <a:endParaRPr/>
          </a:p>
        </p:txBody>
      </p:sp>
      <p:sp>
        <p:nvSpPr>
          <p:cNvPr id="1154" name="Google Shape;1154;p91"/>
          <p:cNvSpPr txBox="1"/>
          <p:nvPr>
            <p:ph idx="1" type="body"/>
          </p:nvPr>
        </p:nvSpPr>
        <p:spPr>
          <a:xfrm>
            <a:off x="400200" y="759300"/>
            <a:ext cx="8237700" cy="35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Starting with the smallest, sort the measures into ascending order.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99 mm, 99 cm, 99 m, 99 km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0.03 l, 30 cl, 303 ml, 0.33 l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564 mm, 64.5 cm, 0.456 km, 465 m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3.57 g,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35 700 mg, 7503 g, 7.53 kg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689 mm,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0.896 m, 0.00869 km,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986 cm 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92"/>
          <p:cNvSpPr txBox="1"/>
          <p:nvPr>
            <p:ph idx="1" type="body"/>
          </p:nvPr>
        </p:nvSpPr>
        <p:spPr>
          <a:xfrm>
            <a:off x="400200" y="759300"/>
            <a:ext cx="8237700" cy="37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Use these cards to complete each </a:t>
            </a:r>
            <a:r>
              <a:rPr b="1" lang="en-GB"/>
              <a:t>inequality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</a:t>
            </a:r>
            <a:r>
              <a:rPr lang="en-GB" sz="1500"/>
              <a:t> </a:t>
            </a:r>
            <a:r>
              <a:rPr lang="en-GB"/>
              <a:t>      </a:t>
            </a:r>
            <a:r>
              <a:rPr lang="en-GB" sz="1400"/>
              <a:t> 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Use each card only once in each statement. Can you find more than one way to complete the </a:t>
            </a:r>
            <a:r>
              <a:rPr b="1" lang="en-GB"/>
              <a:t>inequalities</a:t>
            </a:r>
            <a:r>
              <a:rPr lang="en-GB"/>
              <a:t>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Possible answers include: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   1.2 cm &lt; 180 mm &lt; 0.29 m or 1.2 cm &lt; 190 mm &lt; 0.82 m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There is only one possible answer.</a:t>
            </a:r>
            <a:br>
              <a:rPr lang="en-GB"/>
            </a:br>
            <a:r>
              <a:rPr lang="en-GB"/>
              <a:t>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0.08 kg &lt; 89 g &lt; 100 000 mg &lt; 0.2 kg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160" name="Google Shape;1160;p92"/>
          <p:cNvGrpSpPr/>
          <p:nvPr/>
        </p:nvGrpSpPr>
        <p:grpSpPr>
          <a:xfrm>
            <a:off x="1863641" y="1135006"/>
            <a:ext cx="5016175" cy="590177"/>
            <a:chOff x="1408600" y="1113150"/>
            <a:chExt cx="5016175" cy="590177"/>
          </a:xfrm>
        </p:grpSpPr>
        <p:sp>
          <p:nvSpPr>
            <p:cNvPr id="1161" name="Google Shape;1161;p92"/>
            <p:cNvSpPr/>
            <p:nvPr/>
          </p:nvSpPr>
          <p:spPr>
            <a:xfrm>
              <a:off x="1408600" y="1113150"/>
              <a:ext cx="482700" cy="58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2" name="Google Shape;1162;p92"/>
            <p:cNvSpPr/>
            <p:nvPr/>
          </p:nvSpPr>
          <p:spPr>
            <a:xfrm>
              <a:off x="2322227" y="1120427"/>
              <a:ext cx="482700" cy="58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92"/>
            <p:cNvSpPr/>
            <p:nvPr/>
          </p:nvSpPr>
          <p:spPr>
            <a:xfrm>
              <a:off x="3235838" y="1120425"/>
              <a:ext cx="482700" cy="58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92"/>
            <p:cNvSpPr/>
            <p:nvPr/>
          </p:nvSpPr>
          <p:spPr>
            <a:xfrm>
              <a:off x="4149475" y="1120425"/>
              <a:ext cx="482700" cy="58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92"/>
            <p:cNvSpPr/>
            <p:nvPr/>
          </p:nvSpPr>
          <p:spPr>
            <a:xfrm>
              <a:off x="5045775" y="1113150"/>
              <a:ext cx="482700" cy="58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6" name="Google Shape;1166;p92"/>
            <p:cNvSpPr/>
            <p:nvPr/>
          </p:nvSpPr>
          <p:spPr>
            <a:xfrm>
              <a:off x="5942075" y="1113150"/>
              <a:ext cx="482700" cy="58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7" name="Google Shape;1167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measures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9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use a</a:t>
            </a:r>
            <a:r>
              <a:rPr lang="en-GB"/>
              <a:t> place value chart to help you convert between measurements.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can use a</a:t>
            </a:r>
            <a:r>
              <a:rPr lang="en-GB"/>
              <a:t>n </a:t>
            </a:r>
            <a:r>
              <a:rPr b="1" lang="en-GB"/>
              <a:t>inequality </a:t>
            </a:r>
            <a:r>
              <a:rPr lang="en-GB"/>
              <a:t>symbol ( &lt; or &gt; ) to compare two measurements that are not equal.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can order a list of three or more measurements by writing them all using the same units.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93"/>
          <p:cNvSpPr txBox="1"/>
          <p:nvPr>
            <p:ph type="title"/>
          </p:nvPr>
        </p:nvSpPr>
        <p:spPr>
          <a:xfrm>
            <a:off x="1684800" y="157525"/>
            <a:ext cx="7135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ordering and comparing numbers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9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79" name="Google Shape;1179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