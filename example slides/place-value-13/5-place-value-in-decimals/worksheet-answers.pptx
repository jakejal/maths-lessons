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80B852-A96E-4155-9481-AFC86A2EC339}">
  <a:tblStyle styleId="{4080B852-A96E-4155-9481-AFC86A2EC33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3" name="Google Shape;153;p18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4011413" y="73257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105813" y="85976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502263" y="55612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502263" y="55612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11" Type="http://schemas.openxmlformats.org/officeDocument/2006/relationships/image" Target="../media/image9.png"/><Relationship Id="rId10" Type="http://schemas.openxmlformats.org/officeDocument/2006/relationships/image" Target="../media/image15.png"/><Relationship Id="rId9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value in decimals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90625" y="1320800"/>
            <a:ext cx="69162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Exponential and fractional forms for decimals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">
              <a:latin typeface="Lexend"/>
              <a:ea typeface="Lexend"/>
              <a:cs typeface="Lexend"/>
              <a:sym typeface="Lexend"/>
            </a:endParaRPr>
          </a:p>
          <a:p>
            <a:pPr indent="-185249" lvl="0" marL="269999" rtl="0" algn="l">
              <a:spcBef>
                <a:spcPts val="0"/>
              </a:spcBef>
              <a:spcAft>
                <a:spcPts val="0"/>
              </a:spcAft>
              <a:buSzPts val="1500"/>
              <a:buFont typeface="Lexend"/>
              <a:buAutoNum type="arabicParenR"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Fill in the gaps so that each column shows a different way of writing the same value.</a:t>
            </a:r>
            <a:endParaRPr sz="1500"/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498838" y="238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{4080B852-A96E-4155-9481-AFC86A2EC339}</a:tableStyleId>
              </a:tblPr>
              <a:tblGrid>
                <a:gridCol w="1365950"/>
                <a:gridCol w="1295675"/>
                <a:gridCol w="1295675"/>
                <a:gridCol w="1295675"/>
                <a:gridCol w="1295675"/>
              </a:tblGrid>
              <a:tr h="6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fractional form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decimal form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7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exponent form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 words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one tenth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one  hundredth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one thousandth</a:t>
                      </a:r>
                      <a:endParaRPr b="1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One ten thousandth</a:t>
                      </a:r>
                      <a:endParaRPr b="1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76" name="Google Shape;176;p20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3199" y="2450475"/>
            <a:ext cx="387000" cy="493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01&quot;&gt;&lt;mn&gt;0.01&lt;/mn&gt;&lt;/math&gt;" id="177" name="Google Shape;177;p20" title="0.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676" y="3304225"/>
            <a:ext cx="387000" cy="162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78" name="Google Shape;178;p20" title="the fraction with numerator 1 and denominator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0000" y="3766201"/>
            <a:ext cx="387005" cy="55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001\end{array}&quot;&gt;&lt;mtable columnalign=&quot;left&quot; columnspacing=&quot;1em&quot; rowspacing=&quot;4pt&quot;&gt;&lt;mtr&gt;&lt;mtd&gt;&lt;mn&gt;0.001&lt;/mn&gt;&lt;/mtd&gt;&lt;/mtr&gt;&lt;/mtable&gt;&lt;/math&gt;" id="179" name="Google Shape;179;p20" title="1 lines Line 1: 0.0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1212" y="3304226"/>
            <a:ext cx="491974" cy="16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000}&quot;&gt;&lt;mfrac&gt;&lt;mn&gt;1&lt;/mn&gt;&lt;mrow&gt;&lt;mn&gt;10&lt;/mn&gt;&lt;mtext&gt;&lt;/mtext&gt;&lt;mn&gt;000&lt;/mn&gt;&lt;/mrow&gt;&lt;/mfrac&gt;&lt;/math&gt;" id="180" name="Google Shape;180;p20" title="the fraction with numerator 1 and denominator 10 0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2975" y="2446375"/>
            <a:ext cx="695325" cy="50127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391800" y="5373938"/>
            <a:ext cx="6916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2) Write the following in decimal form: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2\times10^3\ +\ 3\times10^2+4+9\times\frac{1}{10}=&quot;&gt;&lt;mn&gt;2&lt;/mn&gt;&lt;mo&gt;×&lt;/mo&gt;&lt;msup&gt;&lt;mn&gt;10&lt;/mn&gt;&lt;mn&gt;3&lt;/mn&gt;&lt;/msup&gt;&lt;mtext&gt;&lt;/mtext&gt;&lt;mo&gt;+&lt;/mo&gt;&lt;mtext&gt;&lt;/mtext&gt;&lt;mn&gt;3&lt;/mn&gt;&lt;mo&gt;×&lt;/mo&gt;&lt;msup&gt;&lt;mn&gt;10&lt;/mn&gt;&lt;mn&gt;2&lt;/mn&gt;&lt;/msup&gt;&lt;mo&gt;+&lt;/mo&gt;&lt;mn&gt;4&lt;/mn&gt;&lt;mo&gt;+&lt;/mo&gt;&lt;mn&gt;9&lt;/mn&gt;&lt;mo&gt;×&lt;/mo&gt;&lt;mfrac&gt;&lt;mn&gt;1&lt;/mn&gt;&lt;mn&gt;10&lt;/mn&gt;&lt;/mfrac&gt;&lt;mo&gt;=&lt;/mo&gt;&lt;/math&gt;" id="182" name="Google Shape;182;p20" title="2 times 10 cubed plus 3 times 10 squared plus 4 plus 9 times one tenth equal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3750" y="5802625"/>
            <a:ext cx="3388055" cy="49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times10^3\ +4+0.7\ +\ 0.02=&quot;&gt;&lt;mn&gt;8&lt;/mn&gt;&lt;mo&gt;×&lt;/mo&gt;&lt;msup&gt;&lt;mn&gt;10&lt;/mn&gt;&lt;mn&gt;3&lt;/mn&gt;&lt;/msup&gt;&lt;mtext&gt;&lt;/mtext&gt;&lt;mo&gt;+&lt;/mo&gt;&lt;mn&gt;4&lt;/mn&gt;&lt;mo&gt;+&lt;/mo&gt;&lt;mn&gt;0.7&lt;/mn&gt;&lt;mtext&gt;&lt;/mtext&gt;&lt;mo&gt;+&lt;/mo&gt;&lt;mtext&gt;&lt;/mtext&gt;&lt;mn&gt;0.02&lt;/mn&gt;&lt;mo&gt;=&lt;/mo&gt;&lt;/math&gt;" id="183" name="Google Shape;183;p20" title="8 times 10 cubed positive 4 plus 0.7 plus 0.02 equal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3750" y="6903275"/>
            <a:ext cx="2783290" cy="22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10^3\ +\ 40+0.003\ +4\times\frac{1}{10}+6\times\frac{1}{10^3}=&quot;&gt;&lt;mn&gt;2&lt;/mn&gt;&lt;mo&gt;×&lt;/mo&gt;&lt;msup&gt;&lt;mn&gt;10&lt;/mn&gt;&lt;mn&gt;3&lt;/mn&gt;&lt;/msup&gt;&lt;mtext&gt;&lt;/mtext&gt;&lt;mo&gt;+&lt;/mo&gt;&lt;mtext&gt;&lt;/mtext&gt;&lt;mn&gt;40&lt;/mn&gt;&lt;mo&gt;+&lt;/mo&gt;&lt;mn&gt;0.003&lt;/mn&gt;&lt;mtext&gt;&lt;/mtext&gt;&lt;mo&gt;+&lt;/mo&gt;&lt;mn&gt;4&lt;/mn&gt;&lt;mo&gt;×&lt;/mo&gt;&lt;mfrac&gt;&lt;mn&gt;1&lt;/mn&gt;&lt;mn&gt;10&lt;/mn&gt;&lt;/mfrac&gt;&lt;mo&gt;+&lt;/mo&gt;&lt;mn&gt;6&lt;/mn&gt;&lt;mo&gt;×&lt;/mo&gt;&lt;mfrac&gt;&lt;mn&gt;1&lt;/mn&gt;&lt;msup&gt;&lt;mn&gt;10&lt;/mn&gt;&lt;mn&gt;3&lt;/mn&gt;&lt;/msup&gt;&lt;/mfrac&gt;&lt;mo&gt;=&lt;/mo&gt;&lt;/math&gt;" id="184" name="Google Shape;184;p20" title="2 times 10 cubed plus 40 plus 0.003 positive 4 times one tenth plus 6 times the fraction with numerator 1 and denominator 10 cubed equal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7388" y="8892200"/>
            <a:ext cx="4159225" cy="50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\times10^2\ +\ 6+0.8+7\times\frac{1}{10^3}=&quot;&gt;&lt;mn&gt;9&lt;/mn&gt;&lt;mo&gt;×&lt;/mo&gt;&lt;msup&gt;&lt;mn&gt;10&lt;/mn&gt;&lt;mn&gt;2&lt;/mn&gt;&lt;/msup&gt;&lt;mtext&gt;&lt;/mtext&gt;&lt;mo&gt;+&lt;/mo&gt;&lt;mtext&gt;&lt;/mtext&gt;&lt;mn&gt;6&lt;/mn&gt;&lt;mo&gt;+&lt;/mo&gt;&lt;mn&gt;0.8&lt;/mn&gt;&lt;mo&gt;+&lt;/mo&gt;&lt;mn&gt;7&lt;/mn&gt;&lt;mo&gt;×&lt;/mo&gt;&lt;mfrac&gt;&lt;mn&gt;1&lt;/mn&gt;&lt;msup&gt;&lt;mn&gt;10&lt;/mn&gt;&lt;mn&gt;3&lt;/mn&gt;&lt;/msup&gt;&lt;/mfrac&gt;&lt;mo&gt;=&lt;/mo&gt;&lt;/math&gt;" id="185" name="Google Shape;185;p20" title="9 times 10 squared plus 6 plus 0.8 plus 7 times the fraction with numerator 1 and denominator 10 cubed equal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3750" y="7804975"/>
            <a:ext cx="3127194" cy="5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412075" y="5855075"/>
            <a:ext cx="651300" cy="3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700"/>
          </a:p>
        </p:txBody>
      </p:sp>
      <p:sp>
        <p:nvSpPr>
          <p:cNvPr id="187" name="Google Shape;187;p20"/>
          <p:cNvSpPr txBox="1"/>
          <p:nvPr/>
        </p:nvSpPr>
        <p:spPr>
          <a:xfrm>
            <a:off x="2347150" y="2398175"/>
            <a:ext cx="58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1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2297225" y="2742238"/>
            <a:ext cx="3411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0"/>
          <p:cNvSpPr txBox="1"/>
          <p:nvPr/>
        </p:nvSpPr>
        <p:spPr>
          <a:xfrm>
            <a:off x="2297225" y="2663350"/>
            <a:ext cx="58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10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936500" y="2400475"/>
            <a:ext cx="58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1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>
            <a:off x="4886575" y="2744538"/>
            <a:ext cx="3411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/>
        </p:nvSpPr>
        <p:spPr>
          <a:xfrm>
            <a:off x="4810375" y="2665650"/>
            <a:ext cx="58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1000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297225" y="3210300"/>
            <a:ext cx="58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0.1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059654" y="3221625"/>
            <a:ext cx="7761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0.0001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2354138" y="3668075"/>
            <a:ext cx="58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1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2304213" y="4012138"/>
            <a:ext cx="3411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0"/>
          <p:cNvSpPr txBox="1"/>
          <p:nvPr/>
        </p:nvSpPr>
        <p:spPr>
          <a:xfrm>
            <a:off x="2304213" y="3933250"/>
            <a:ext cx="58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10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976513" y="3668075"/>
            <a:ext cx="58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1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4926588" y="4012138"/>
            <a:ext cx="3411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0"/>
          <p:cNvSpPr txBox="1"/>
          <p:nvPr/>
        </p:nvSpPr>
        <p:spPr>
          <a:xfrm>
            <a:off x="4926588" y="3933250"/>
            <a:ext cx="58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="1" baseline="30000" lang="en-GB" sz="1600">
                <a:latin typeface="Kalam"/>
                <a:ea typeface="Kalam"/>
                <a:cs typeface="Kalam"/>
                <a:sym typeface="Kalam"/>
              </a:rPr>
              <a:t>3</a:t>
            </a:r>
            <a:endParaRPr b="1" baseline="30000"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6271913" y="3668075"/>
            <a:ext cx="58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1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>
            <a:off x="6221988" y="4012138"/>
            <a:ext cx="341100" cy="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0"/>
          <p:cNvSpPr txBox="1"/>
          <p:nvPr/>
        </p:nvSpPr>
        <p:spPr>
          <a:xfrm>
            <a:off x="6221988" y="3933250"/>
            <a:ext cx="5820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="1" baseline="30000" lang="en-GB" sz="1600">
                <a:latin typeface="Kalam"/>
                <a:ea typeface="Kalam"/>
                <a:cs typeface="Kalam"/>
                <a:sym typeface="Kalam"/>
              </a:rPr>
              <a:t>4</a:t>
            </a:r>
            <a:endParaRPr b="1" baseline="30000"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740689" y="6182400"/>
            <a:ext cx="3342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Kalam"/>
                <a:ea typeface="Kalam"/>
                <a:cs typeface="Kalam"/>
                <a:sym typeface="Kalam"/>
              </a:rPr>
              <a:t> 2000   +  300     + 4 + 0.9</a:t>
            </a:r>
            <a:endParaRPr b="1" sz="1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4256003" y="5855974"/>
            <a:ext cx="127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Kalam"/>
                <a:ea typeface="Kalam"/>
                <a:cs typeface="Kalam"/>
                <a:sym typeface="Kalam"/>
              </a:rPr>
              <a:t>2304.9</a:t>
            </a:r>
            <a:endParaRPr b="1" sz="1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740689" y="7232100"/>
            <a:ext cx="3342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Kalam"/>
                <a:ea typeface="Kalam"/>
                <a:cs typeface="Kalam"/>
                <a:sym typeface="Kalam"/>
              </a:rPr>
              <a:t> 8</a:t>
            </a:r>
            <a:r>
              <a:rPr b="1" lang="en-GB" sz="1700">
                <a:latin typeface="Kalam"/>
                <a:ea typeface="Kalam"/>
                <a:cs typeface="Kalam"/>
                <a:sym typeface="Kalam"/>
              </a:rPr>
              <a:t>000   + 4 + 0.7  + 0.02</a:t>
            </a:r>
            <a:endParaRPr b="1" sz="1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700328" y="6830474"/>
            <a:ext cx="127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Kalam"/>
                <a:ea typeface="Kalam"/>
                <a:cs typeface="Kalam"/>
                <a:sym typeface="Kalam"/>
              </a:rPr>
              <a:t>8004.72</a:t>
            </a:r>
            <a:endParaRPr b="1" sz="1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966839" y="8372025"/>
            <a:ext cx="3342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b="1" lang="en-GB" sz="1700">
                <a:latin typeface="Kalam"/>
                <a:ea typeface="Kalam"/>
                <a:cs typeface="Kalam"/>
                <a:sym typeface="Kalam"/>
              </a:rPr>
              <a:t>00   +  6 + 0.8  + 0.007</a:t>
            </a:r>
            <a:endParaRPr b="1" sz="1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3966678" y="7861336"/>
            <a:ext cx="127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Kalam"/>
                <a:ea typeface="Kalam"/>
                <a:cs typeface="Kalam"/>
                <a:sym typeface="Kalam"/>
              </a:rPr>
              <a:t>906.807</a:t>
            </a:r>
            <a:endParaRPr b="1" sz="1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797400" y="9445275"/>
            <a:ext cx="4350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Kalam"/>
                <a:ea typeface="Kalam"/>
                <a:cs typeface="Kalam"/>
                <a:sym typeface="Kalam"/>
              </a:rPr>
              <a:t>2000   + 40 + 0.003 + 0.4 + 0.006   </a:t>
            </a:r>
            <a:endParaRPr b="1" sz="1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976528" y="8919649"/>
            <a:ext cx="127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latin typeface="Kalam"/>
                <a:ea typeface="Kalam"/>
                <a:cs typeface="Kalam"/>
                <a:sym typeface="Kalam"/>
              </a:rPr>
              <a:t>2040.409</a:t>
            </a:r>
            <a:endParaRPr b="1" sz="17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2" name="Google Shape;212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1457425" y="360000"/>
            <a:ext cx="1524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Place value in decimals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6825" y="720000"/>
            <a:ext cx="691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Different representations of decimals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-178899" lvl="0" marL="269999" rtl="0" algn="l">
              <a:spcBef>
                <a:spcPts val="0"/>
              </a:spcBef>
              <a:spcAft>
                <a:spcPts val="0"/>
              </a:spcAft>
              <a:buSzPts val="1400"/>
              <a:buFont typeface="Lexend"/>
              <a:buAutoNum type="arabicParenR"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Complete the charts to make the decimals.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1096425" y="3792175"/>
            <a:ext cx="978000" cy="2772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751.15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306225" y="3792175"/>
            <a:ext cx="978000" cy="2772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262.26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461975" y="3808675"/>
            <a:ext cx="955800" cy="2442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93.191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97520" y="4042525"/>
            <a:ext cx="44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Three students have different numbers.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/>
          </a:p>
        </p:txBody>
      </p:sp>
      <p:grpSp>
        <p:nvGrpSpPr>
          <p:cNvPr id="227" name="Google Shape;227;p21"/>
          <p:cNvGrpSpPr/>
          <p:nvPr/>
        </p:nvGrpSpPr>
        <p:grpSpPr>
          <a:xfrm>
            <a:off x="419200" y="4505119"/>
            <a:ext cx="6681226" cy="1809559"/>
            <a:chOff x="466825" y="4733719"/>
            <a:chExt cx="6681226" cy="1809559"/>
          </a:xfrm>
        </p:grpSpPr>
        <p:pic>
          <p:nvPicPr>
            <p:cNvPr id="228" name="Google Shape;22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6825" y="4733719"/>
              <a:ext cx="4139626" cy="18095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06450" y="4733726"/>
              <a:ext cx="2541601" cy="1061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0" name="Google Shape;230;p21"/>
          <p:cNvSpPr txBox="1"/>
          <p:nvPr/>
        </p:nvSpPr>
        <p:spPr>
          <a:xfrm>
            <a:off x="481713" y="6310250"/>
            <a:ext cx="65562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Insert all the digits 6, 5, 4 and 2 into Sofia’s place value chart to make: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 a) a decimal greater than Laura’s.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Kalam"/>
                <a:ea typeface="Kalam"/>
                <a:cs typeface="Kalam"/>
                <a:sym typeface="Kalam"/>
              </a:rPr>
              <a:t> Example answers-      654.2</a:t>
            </a:r>
            <a:r>
              <a:rPr b="1"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     256.4      645.2</a:t>
            </a:r>
            <a:endParaRPr b="1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b) a decimal less than Alex’s.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Example answers-      54.26      26.45      64.25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c) a decimal in between Alex’s number and Laura’s number.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Only two answers-      254.6 and 245.6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Try to find more than one answer for each.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/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825" y="1545425"/>
            <a:ext cx="6681226" cy="2136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233" name="Google Shape;233;p21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