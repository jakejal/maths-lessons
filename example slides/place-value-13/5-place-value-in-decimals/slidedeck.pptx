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2B2F66-25B9-4EB3-B246-9C9FB3B3DA99}">
  <a:tblStyle styleId="{A32B2F66-25B9-4EB3-B246-9C9FB3B3DA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F65CC0A-2585-4BDF-87DF-2A39559B222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ddaade4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ddaade4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7c510411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7c510411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7d47eccb7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7d47eccb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7dd9a7bc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7dd9a7bc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7d5a9295a5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7d5a9295a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7ddaade44b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7ddaade44b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7bf468c2f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7bf468c2f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7c51041146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7c51041146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7d47eccb7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7d47eccb7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7c5104114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7c5104114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7d694e8a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7d694e8a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7d96f82d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7d96f82d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7cc6bb4762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7cc6bb4762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7c5104114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7c5104114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7cc6bb47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7cc6bb47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7c5104114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7c5104114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7cc6bb4762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7cc6bb4762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7c51041146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7c51041146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7cc6bb4762_2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7cc6bb4762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7ddaade44b_4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7ddaade44b_4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7ddaade44b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7ddaade44b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7cc6bb4762_2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7cc6bb4762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7d47eccb73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7d47eccb73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7d47eccb73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7d47eccb73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7d47eccb73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7d47eccb73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7d47eccb73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7d47eccb73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7d47eccb73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7d47eccb73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7d47eccb73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7d47eccb73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113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13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13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35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3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66.png"/><Relationship Id="rId7" Type="http://schemas.openxmlformats.org/officeDocument/2006/relationships/image" Target="../media/image53.png"/><Relationship Id="rId8" Type="http://schemas.openxmlformats.org/officeDocument/2006/relationships/image" Target="../media/image52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2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67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62.png"/><Relationship Id="rId8" Type="http://schemas.openxmlformats.org/officeDocument/2006/relationships/image" Target="../media/image65.png"/><Relationship Id="rId11" Type="http://schemas.openxmlformats.org/officeDocument/2006/relationships/image" Target="../media/image49.png"/><Relationship Id="rId10" Type="http://schemas.openxmlformats.org/officeDocument/2006/relationships/image" Target="../media/image44.png"/><Relationship Id="rId13" Type="http://schemas.openxmlformats.org/officeDocument/2006/relationships/image" Target="../media/image66.png"/><Relationship Id="rId12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9" Type="http://schemas.openxmlformats.org/officeDocument/2006/relationships/image" Target="../media/image62.png"/><Relationship Id="rId5" Type="http://schemas.openxmlformats.org/officeDocument/2006/relationships/image" Target="../media/image48.png"/><Relationship Id="rId6" Type="http://schemas.openxmlformats.org/officeDocument/2006/relationships/image" Target="../media/image66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11" Type="http://schemas.openxmlformats.org/officeDocument/2006/relationships/image" Target="../media/image67.png"/><Relationship Id="rId10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9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44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Relationship Id="rId11" Type="http://schemas.openxmlformats.org/officeDocument/2006/relationships/image" Target="../media/image74.png"/><Relationship Id="rId10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70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7.png"/><Relationship Id="rId4" Type="http://schemas.openxmlformats.org/officeDocument/2006/relationships/image" Target="../media/image73.png"/><Relationship Id="rId9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78.png"/><Relationship Id="rId8" Type="http://schemas.openxmlformats.org/officeDocument/2006/relationships/image" Target="../media/image82.png"/><Relationship Id="rId11" Type="http://schemas.openxmlformats.org/officeDocument/2006/relationships/image" Target="../media/image86.png"/><Relationship Id="rId10" Type="http://schemas.openxmlformats.org/officeDocument/2006/relationships/image" Target="../media/image84.png"/><Relationship Id="rId13" Type="http://schemas.openxmlformats.org/officeDocument/2006/relationships/image" Target="../media/image88.png"/><Relationship Id="rId12" Type="http://schemas.openxmlformats.org/officeDocument/2006/relationships/image" Target="../media/image81.png"/><Relationship Id="rId15" Type="http://schemas.openxmlformats.org/officeDocument/2006/relationships/image" Target="../media/image87.png"/><Relationship Id="rId14" Type="http://schemas.openxmlformats.org/officeDocument/2006/relationships/image" Target="../media/image89.png"/><Relationship Id="rId16" Type="http://schemas.openxmlformats.org/officeDocument/2006/relationships/image" Target="../media/image8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3.png"/><Relationship Id="rId6" Type="http://schemas.openxmlformats.org/officeDocument/2006/relationships/image" Target="../media/image68.png"/><Relationship Id="rId7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6.png"/><Relationship Id="rId4" Type="http://schemas.openxmlformats.org/officeDocument/2006/relationships/image" Target="../media/image98.png"/><Relationship Id="rId5" Type="http://schemas.openxmlformats.org/officeDocument/2006/relationships/image" Target="../media/image95.png"/><Relationship Id="rId6" Type="http://schemas.openxmlformats.org/officeDocument/2006/relationships/image" Target="../media/image9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png"/><Relationship Id="rId4" Type="http://schemas.openxmlformats.org/officeDocument/2006/relationships/image" Target="../media/image68.png"/><Relationship Id="rId9" Type="http://schemas.openxmlformats.org/officeDocument/2006/relationships/image" Target="../media/image104.png"/><Relationship Id="rId5" Type="http://schemas.openxmlformats.org/officeDocument/2006/relationships/image" Target="../media/image62.png"/><Relationship Id="rId6" Type="http://schemas.openxmlformats.org/officeDocument/2006/relationships/image" Target="../media/image54.png"/><Relationship Id="rId7" Type="http://schemas.openxmlformats.org/officeDocument/2006/relationships/image" Target="../media/image102.png"/><Relationship Id="rId8" Type="http://schemas.openxmlformats.org/officeDocument/2006/relationships/image" Target="../media/image101.png"/><Relationship Id="rId11" Type="http://schemas.openxmlformats.org/officeDocument/2006/relationships/image" Target="../media/image94.png"/><Relationship Id="rId10" Type="http://schemas.openxmlformats.org/officeDocument/2006/relationships/image" Target="../media/image92.png"/><Relationship Id="rId13" Type="http://schemas.openxmlformats.org/officeDocument/2006/relationships/image" Target="../media/image105.png"/><Relationship Id="rId12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8.png"/><Relationship Id="rId4" Type="http://schemas.openxmlformats.org/officeDocument/2006/relationships/image" Target="../media/image108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8.png"/><Relationship Id="rId4" Type="http://schemas.openxmlformats.org/officeDocument/2006/relationships/image" Target="../media/image112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8.png"/><Relationship Id="rId4" Type="http://schemas.openxmlformats.org/officeDocument/2006/relationships/image" Target="../media/image112.png"/><Relationship Id="rId5" Type="http://schemas.openxmlformats.org/officeDocument/2006/relationships/image" Target="../media/image115.png"/><Relationship Id="rId6" Type="http://schemas.openxmlformats.org/officeDocument/2006/relationships/image" Target="../media/image1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8.png"/><Relationship Id="rId4" Type="http://schemas.openxmlformats.org/officeDocument/2006/relationships/image" Target="../media/image112.png"/><Relationship Id="rId5" Type="http://schemas.openxmlformats.org/officeDocument/2006/relationships/image" Target="../media/image115.png"/><Relationship Id="rId6" Type="http://schemas.openxmlformats.org/officeDocument/2006/relationships/image" Target="../media/image1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state place value in decimals, including recognising exponent and fractional representations of the column headings.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146050"/>
            <a:ext cx="84960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number is in </a:t>
            </a:r>
            <a:r>
              <a:rPr b="1" lang="en-GB"/>
              <a:t>decimal form</a:t>
            </a:r>
            <a:r>
              <a:rPr lang="en-GB"/>
              <a:t> when the decimal point is shown and there are digits to the right of the decimal point.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5124600" y="2192250"/>
            <a:ext cx="14286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0.23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332400" y="2192250"/>
            <a:ext cx="14286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12.475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2618400" y="2192250"/>
            <a:ext cx="14286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395.2905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6855575" y="2192250"/>
            <a:ext cx="19074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</a:t>
            </a:r>
            <a:r>
              <a:rPr lang="en-GB"/>
              <a:t>xample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forms for decimals</a:t>
            </a:r>
            <a:endParaRPr/>
          </a:p>
        </p:txBody>
      </p:sp>
      <p:sp>
        <p:nvSpPr>
          <p:cNvPr id="776" name="Google Shape;776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38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3" name="Google Shape;783;p69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for decimals</a:t>
            </a:r>
            <a:endParaRPr/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594750" y="836650"/>
            <a:ext cx="74505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decimal</a:t>
            </a:r>
            <a:r>
              <a:rPr lang="en-GB"/>
              <a:t> is a number that has parts that are not whole. The place value chart splits whole numbers into tenths, hundredths, thousandths, and so on. </a:t>
            </a:r>
            <a:endParaRPr/>
          </a:p>
        </p:txBody>
      </p:sp>
      <p:sp>
        <p:nvSpPr>
          <p:cNvPr id="786" name="Google Shape;786;p69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69"/>
          <p:cNvSpPr txBox="1"/>
          <p:nvPr/>
        </p:nvSpPr>
        <p:spPr>
          <a:xfrm>
            <a:off x="539938" y="3530550"/>
            <a:ext cx="74505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point is placed at the right of the ones column. Each column after the decimal point is a decimal place.</a:t>
            </a:r>
            <a:endParaRPr sz="2300"/>
          </a:p>
        </p:txBody>
      </p:sp>
      <p:grpSp>
        <p:nvGrpSpPr>
          <p:cNvPr id="788" name="Google Shape;788;p69"/>
          <p:cNvGrpSpPr/>
          <p:nvPr/>
        </p:nvGrpSpPr>
        <p:grpSpPr>
          <a:xfrm>
            <a:off x="878630" y="2263504"/>
            <a:ext cx="6773120" cy="438600"/>
            <a:chOff x="878630" y="2263504"/>
            <a:chExt cx="6773120" cy="438600"/>
          </a:xfrm>
        </p:grpSpPr>
        <p:grpSp>
          <p:nvGrpSpPr>
            <p:cNvPr id="789" name="Google Shape;789;p69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790" name="Google Shape;790;p69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791" name="Google Shape;791;p69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792" name="Google Shape;792;p69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793" name="Google Shape;793;p69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794" name="Google Shape;794;p69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795" name="Google Shape;795;p69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796" name="Google Shape;796;p69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797" name="Google Shape;797;p69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98" name="Google Shape;798;p69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9" name="Google Shape;799;p69"/>
          <p:cNvGrpSpPr/>
          <p:nvPr/>
        </p:nvGrpSpPr>
        <p:grpSpPr>
          <a:xfrm>
            <a:off x="2527291" y="2753887"/>
            <a:ext cx="4493700" cy="521209"/>
            <a:chOff x="2527291" y="2753887"/>
            <a:chExt cx="4493700" cy="521209"/>
          </a:xfrm>
        </p:grpSpPr>
        <p:sp>
          <p:nvSpPr>
            <p:cNvPr id="800" name="Google Shape;800;p69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01" name="Google Shape;801;p69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02" name="Google Shape;802;p69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03" name="Google Shape;803;p69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04" name="Google Shape;804;p69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05" name="Google Shape;805;p69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06" name="Google Shape;806;p69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7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07" name="Google Shape;807;p69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08" name="Google Shape;808;p69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3" name="Google Shape;813;p70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594750" y="836650"/>
            <a:ext cx="74505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decimal</a:t>
            </a:r>
            <a:r>
              <a:rPr lang="en-GB"/>
              <a:t> is a number that has parts that are not whole. The place value chart splits whole numbers into tenths, hundredths, thousandths, and so on. </a:t>
            </a:r>
            <a:endParaRPr/>
          </a:p>
        </p:txBody>
      </p:sp>
      <p:cxnSp>
        <p:nvCxnSpPr>
          <p:cNvPr id="815" name="Google Shape;815;p70"/>
          <p:cNvCxnSpPr/>
          <p:nvPr/>
        </p:nvCxnSpPr>
        <p:spPr>
          <a:xfrm flipH="1" rot="10800000">
            <a:off x="4535121" y="3312107"/>
            <a:ext cx="377100" cy="57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3192000" y="3918950"/>
            <a:ext cx="18756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shows the decimal has two tenths.</a:t>
            </a:r>
            <a:endParaRPr sz="1800"/>
          </a:p>
        </p:txBody>
      </p:sp>
      <p:cxnSp>
        <p:nvCxnSpPr>
          <p:cNvPr id="817" name="Google Shape;817;p70"/>
          <p:cNvCxnSpPr/>
          <p:nvPr/>
        </p:nvCxnSpPr>
        <p:spPr>
          <a:xfrm rot="10800000">
            <a:off x="5761075" y="3306850"/>
            <a:ext cx="280500" cy="57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5660771" y="3951600"/>
            <a:ext cx="21033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shows the decimal has five hundredths.</a:t>
            </a:r>
            <a:endParaRPr sz="1800"/>
          </a:p>
        </p:txBody>
      </p:sp>
      <p:grpSp>
        <p:nvGrpSpPr>
          <p:cNvPr id="819" name="Google Shape;819;p70"/>
          <p:cNvGrpSpPr/>
          <p:nvPr/>
        </p:nvGrpSpPr>
        <p:grpSpPr>
          <a:xfrm>
            <a:off x="2527291" y="2753887"/>
            <a:ext cx="3644925" cy="521209"/>
            <a:chOff x="2832091" y="2753887"/>
            <a:chExt cx="3644925" cy="521209"/>
          </a:xfrm>
        </p:grpSpPr>
        <p:sp>
          <p:nvSpPr>
            <p:cNvPr id="820" name="Google Shape;820;p70"/>
            <p:cNvSpPr/>
            <p:nvPr/>
          </p:nvSpPr>
          <p:spPr>
            <a:xfrm>
              <a:off x="4838278" y="2952685"/>
              <a:ext cx="163500" cy="163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1" name="Google Shape;821;p70"/>
            <p:cNvGrpSpPr/>
            <p:nvPr/>
          </p:nvGrpSpPr>
          <p:grpSpPr>
            <a:xfrm>
              <a:off x="28320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22" name="Google Shape;822;p70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23" name="Google Shape;823;p70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24" name="Google Shape;824;p70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25" name="Google Shape;825;p70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26" name="Google Shape;826;p70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7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27" name="Google Shape;827;p70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28" name="Google Shape;828;p70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29" name="Google Shape;829;p70"/>
          <p:cNvSpPr txBox="1"/>
          <p:nvPr/>
        </p:nvSpPr>
        <p:spPr>
          <a:xfrm>
            <a:off x="6421891" y="2759660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grpSp>
        <p:nvGrpSpPr>
          <p:cNvPr id="831" name="Google Shape;831;p70"/>
          <p:cNvGrpSpPr/>
          <p:nvPr/>
        </p:nvGrpSpPr>
        <p:grpSpPr>
          <a:xfrm>
            <a:off x="878630" y="2263504"/>
            <a:ext cx="6773120" cy="438600"/>
            <a:chOff x="878630" y="2263504"/>
            <a:chExt cx="6773120" cy="438600"/>
          </a:xfrm>
        </p:grpSpPr>
        <p:grpSp>
          <p:nvGrpSpPr>
            <p:cNvPr id="832" name="Google Shape;832;p70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833" name="Google Shape;833;p70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834" name="Google Shape;834;p70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835" name="Google Shape;835;p70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36" name="Google Shape;836;p70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37" name="Google Shape;837;p70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38" name="Google Shape;838;p70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839" name="Google Shape;839;p70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840" name="Google Shape;840;p70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41" name="Google Shape;841;p7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6" name="Google Shape;846;p71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594750" y="836650"/>
            <a:ext cx="74505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decimal</a:t>
            </a:r>
            <a:r>
              <a:rPr lang="en-GB"/>
              <a:t> is a number that has parts that are not whole. The place value chart splits whole numbers into tenths, hundredths, thousandths, and so on. </a:t>
            </a:r>
            <a:endParaRPr/>
          </a:p>
        </p:txBody>
      </p:sp>
      <p:cxnSp>
        <p:nvCxnSpPr>
          <p:cNvPr id="848" name="Google Shape;848;p71"/>
          <p:cNvCxnSpPr/>
          <p:nvPr/>
        </p:nvCxnSpPr>
        <p:spPr>
          <a:xfrm flipH="1" rot="10800000">
            <a:off x="5889141" y="3302515"/>
            <a:ext cx="667200" cy="594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5660775" y="3951600"/>
            <a:ext cx="2103300" cy="6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does this represent?</a:t>
            </a:r>
            <a:endParaRPr sz="1800"/>
          </a:p>
        </p:txBody>
      </p:sp>
      <p:sp>
        <p:nvSpPr>
          <p:cNvPr id="850" name="Google Shape;850;p71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71"/>
          <p:cNvGrpSpPr/>
          <p:nvPr/>
        </p:nvGrpSpPr>
        <p:grpSpPr>
          <a:xfrm>
            <a:off x="878630" y="2263504"/>
            <a:ext cx="6773120" cy="438600"/>
            <a:chOff x="1183430" y="2263504"/>
            <a:chExt cx="6773120" cy="438600"/>
          </a:xfrm>
        </p:grpSpPr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52" name="Google Shape;852;p71" title="10 square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85400" y="2294390"/>
              <a:ext cx="434700" cy="316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53" name="Google Shape;853;p71" title="10 cub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11875" y="2299451"/>
              <a:ext cx="434700" cy="330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54" name="Google Shape;854;p71" title="10 to the fourth power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83430" y="2296889"/>
              <a:ext cx="434700" cy="316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55" name="Google Shape;855;p71" title="10 raised to the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71875" y="2368228"/>
              <a:ext cx="300900" cy="242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56" name="Google Shape;856;p71" title="1 over 10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91953" y="2267810"/>
              <a:ext cx="427043" cy="4342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57" name="Google Shape;857;p71" title="the fraction with numerator 1 and denominator 10 00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404151" y="2275599"/>
              <a:ext cx="552399" cy="4155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58" name="Google Shape;858;p71" title="one tent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187800" y="2279863"/>
              <a:ext cx="216982" cy="4155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859" name="Google Shape;859;p71" title="1 over 10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937280" y="2263504"/>
              <a:ext cx="328714" cy="4355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0" name="Google Shape;860;p71"/>
          <p:cNvGrpSpPr/>
          <p:nvPr/>
        </p:nvGrpSpPr>
        <p:grpSpPr>
          <a:xfrm>
            <a:off x="2527291" y="2753887"/>
            <a:ext cx="3644925" cy="521209"/>
            <a:chOff x="2832091" y="2753887"/>
            <a:chExt cx="3644925" cy="521209"/>
          </a:xfrm>
        </p:grpSpPr>
        <p:sp>
          <p:nvSpPr>
            <p:cNvPr id="861" name="Google Shape;861;p71"/>
            <p:cNvSpPr/>
            <p:nvPr/>
          </p:nvSpPr>
          <p:spPr>
            <a:xfrm>
              <a:off x="4838278" y="2952685"/>
              <a:ext cx="163500" cy="163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2" name="Google Shape;862;p71"/>
            <p:cNvGrpSpPr/>
            <p:nvPr/>
          </p:nvGrpSpPr>
          <p:grpSpPr>
            <a:xfrm>
              <a:off x="28320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63" name="Google Shape;863;p71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64" name="Google Shape;864;p71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65" name="Google Shape;865;p71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66" name="Google Shape;866;p71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67" name="Google Shape;867;p71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7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68" name="Google Shape;868;p71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69" name="Google Shape;869;p71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70" name="Google Shape;870;p71"/>
          <p:cNvSpPr txBox="1"/>
          <p:nvPr/>
        </p:nvSpPr>
        <p:spPr>
          <a:xfrm>
            <a:off x="6421891" y="2759660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pic>
        <p:nvPicPr>
          <p:cNvPr id="872" name="Google Shape;872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45208" y="2292981"/>
            <a:ext cx="413050" cy="308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7" name="Google Shape;877;p72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594750" y="836650"/>
            <a:ext cx="74505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decimal</a:t>
            </a:r>
            <a:r>
              <a:rPr lang="en-GB"/>
              <a:t> is a number that has parts that are not whole. The place value chart splits whole numbers into tenths, hundredths, thousandths, and so on. </a:t>
            </a:r>
            <a:endParaRPr/>
          </a:p>
        </p:txBody>
      </p:sp>
      <p:cxnSp>
        <p:nvCxnSpPr>
          <p:cNvPr id="879" name="Google Shape;879;p72"/>
          <p:cNvCxnSpPr/>
          <p:nvPr/>
        </p:nvCxnSpPr>
        <p:spPr>
          <a:xfrm flipH="1" rot="10800000">
            <a:off x="5889141" y="3302515"/>
            <a:ext cx="667200" cy="594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72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1" name="Google Shape;881;p72"/>
          <p:cNvGrpSpPr/>
          <p:nvPr/>
        </p:nvGrpSpPr>
        <p:grpSpPr>
          <a:xfrm>
            <a:off x="878630" y="2263504"/>
            <a:ext cx="6773120" cy="438600"/>
            <a:chOff x="1183430" y="2263504"/>
            <a:chExt cx="6773120" cy="438600"/>
          </a:xfrm>
        </p:grpSpPr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82" name="Google Shape;882;p72" title="10 square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85400" y="2294390"/>
              <a:ext cx="434700" cy="316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83" name="Google Shape;883;p72" title="10 cub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11875" y="2299451"/>
              <a:ext cx="434700" cy="330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84" name="Google Shape;884;p72" title="10 to the fourth power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83430" y="2296889"/>
              <a:ext cx="434700" cy="316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85" name="Google Shape;885;p72" title="10 raised to the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71875" y="2368228"/>
              <a:ext cx="300900" cy="242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86" name="Google Shape;886;p72" title="1 over 10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91953" y="2267810"/>
              <a:ext cx="427043" cy="4342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87" name="Google Shape;887;p72" title="the fraction with numerator 1 and denominator 10 00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404151" y="2275599"/>
              <a:ext cx="552399" cy="4155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88" name="Google Shape;888;p72" title="one tent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187800" y="2279863"/>
              <a:ext cx="216982" cy="4155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889" name="Google Shape;889;p72" title="1 over 10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937280" y="2263504"/>
              <a:ext cx="328714" cy="4355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0" name="Google Shape;890;p72"/>
          <p:cNvGrpSpPr/>
          <p:nvPr/>
        </p:nvGrpSpPr>
        <p:grpSpPr>
          <a:xfrm>
            <a:off x="2527291" y="2753887"/>
            <a:ext cx="3644925" cy="521209"/>
            <a:chOff x="2832091" y="2753887"/>
            <a:chExt cx="3644925" cy="521209"/>
          </a:xfrm>
        </p:grpSpPr>
        <p:sp>
          <p:nvSpPr>
            <p:cNvPr id="891" name="Google Shape;891;p72"/>
            <p:cNvSpPr/>
            <p:nvPr/>
          </p:nvSpPr>
          <p:spPr>
            <a:xfrm>
              <a:off x="4838278" y="2952685"/>
              <a:ext cx="163500" cy="163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2" name="Google Shape;892;p72"/>
            <p:cNvGrpSpPr/>
            <p:nvPr/>
          </p:nvGrpSpPr>
          <p:grpSpPr>
            <a:xfrm>
              <a:off x="28320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93" name="Google Shape;893;p72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94" name="Google Shape;894;p72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95" name="Google Shape;895;p72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96" name="Google Shape;896;p72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97" name="Google Shape;897;p72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7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98" name="Google Shape;898;p72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24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99" name="Google Shape;899;p72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0" name="Google Shape;900;p72"/>
          <p:cNvSpPr txBox="1"/>
          <p:nvPr/>
        </p:nvSpPr>
        <p:spPr>
          <a:xfrm>
            <a:off x="6421891" y="2759660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sp>
        <p:nvSpPr>
          <p:cNvPr id="902" name="Google Shape;902;p72"/>
          <p:cNvSpPr txBox="1"/>
          <p:nvPr>
            <p:ph idx="1" type="body"/>
          </p:nvPr>
        </p:nvSpPr>
        <p:spPr>
          <a:xfrm>
            <a:off x="5548450" y="3971700"/>
            <a:ext cx="2103300" cy="6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shows the decimal has 8 thousandths.</a:t>
            </a:r>
            <a:endParaRPr sz="1800"/>
          </a:p>
        </p:txBody>
      </p:sp>
      <p:pic>
        <p:nvPicPr>
          <p:cNvPr id="903" name="Google Shape;903;p7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45208" y="2292981"/>
            <a:ext cx="413050" cy="308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552600" y="987900"/>
            <a:ext cx="82377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3"/>
          <p:cNvSpPr txBox="1"/>
          <p:nvPr>
            <p:ph idx="1" type="body"/>
          </p:nvPr>
        </p:nvSpPr>
        <p:spPr>
          <a:xfrm>
            <a:off x="5502800" y="2355975"/>
            <a:ext cx="3389100" cy="8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would this look in the place value </a:t>
            </a:r>
            <a:r>
              <a:rPr lang="en-GB"/>
              <a:t>chart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3"/>
          <p:cNvSpPr txBox="1"/>
          <p:nvPr>
            <p:ph idx="4294967295" type="title"/>
          </p:nvPr>
        </p:nvSpPr>
        <p:spPr>
          <a:xfrm>
            <a:off x="387275" y="768150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How would you pronounce this amount of money?</a:t>
            </a:r>
            <a:endParaRPr b="0"/>
          </a:p>
        </p:txBody>
      </p:sp>
      <p:sp>
        <p:nvSpPr>
          <p:cNvPr id="911" name="Google Shape;91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grpSp>
        <p:nvGrpSpPr>
          <p:cNvPr id="912" name="Google Shape;912;p73"/>
          <p:cNvGrpSpPr/>
          <p:nvPr/>
        </p:nvGrpSpPr>
        <p:grpSpPr>
          <a:xfrm>
            <a:off x="324003" y="1412401"/>
            <a:ext cx="1187533" cy="680743"/>
            <a:chOff x="5099900" y="3255665"/>
            <a:chExt cx="3112800" cy="1784385"/>
          </a:xfrm>
        </p:grpSpPr>
        <p:sp>
          <p:nvSpPr>
            <p:cNvPr id="913" name="Google Shape;913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14" name="Google Shape;914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15" name="Google Shape;91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7" name="Google Shape;91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19" name="Google Shape;919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20" name="Google Shape;920;p73"/>
          <p:cNvGrpSpPr/>
          <p:nvPr/>
        </p:nvGrpSpPr>
        <p:grpSpPr>
          <a:xfrm>
            <a:off x="324003" y="2151082"/>
            <a:ext cx="1187533" cy="680743"/>
            <a:chOff x="5099900" y="3255665"/>
            <a:chExt cx="3112800" cy="1784385"/>
          </a:xfrm>
        </p:grpSpPr>
        <p:sp>
          <p:nvSpPr>
            <p:cNvPr id="921" name="Google Shape;921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22" name="Google Shape;922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23" name="Google Shape;923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5" name="Google Shape;92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27" name="Google Shape;927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28" name="Google Shape;928;p73"/>
          <p:cNvGrpSpPr/>
          <p:nvPr/>
        </p:nvGrpSpPr>
        <p:grpSpPr>
          <a:xfrm>
            <a:off x="324003" y="2889755"/>
            <a:ext cx="1187533" cy="680743"/>
            <a:chOff x="5099900" y="3255665"/>
            <a:chExt cx="3112800" cy="1784385"/>
          </a:xfrm>
        </p:grpSpPr>
        <p:sp>
          <p:nvSpPr>
            <p:cNvPr id="929" name="Google Shape;929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30" name="Google Shape;930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31" name="Google Shape;93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2" name="Google Shape;93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4" name="Google Shape;934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35" name="Google Shape;935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36" name="Google Shape;936;p73"/>
          <p:cNvGrpSpPr/>
          <p:nvPr/>
        </p:nvGrpSpPr>
        <p:grpSpPr>
          <a:xfrm>
            <a:off x="1684803" y="1412401"/>
            <a:ext cx="1187533" cy="680743"/>
            <a:chOff x="5099900" y="3255665"/>
            <a:chExt cx="3112800" cy="1784385"/>
          </a:xfrm>
        </p:grpSpPr>
        <p:sp>
          <p:nvSpPr>
            <p:cNvPr id="937" name="Google Shape;937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38" name="Google Shape;938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39" name="Google Shape;9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0" name="Google Shape;9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1" name="Google Shape;9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43" name="Google Shape;943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44" name="Google Shape;944;p73"/>
          <p:cNvGrpSpPr/>
          <p:nvPr/>
        </p:nvGrpSpPr>
        <p:grpSpPr>
          <a:xfrm>
            <a:off x="1684803" y="2151082"/>
            <a:ext cx="1187533" cy="680743"/>
            <a:chOff x="5099900" y="3255665"/>
            <a:chExt cx="3112800" cy="1784385"/>
          </a:xfrm>
        </p:grpSpPr>
        <p:sp>
          <p:nvSpPr>
            <p:cNvPr id="945" name="Google Shape;945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46" name="Google Shape;946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47" name="Google Shape;947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8" name="Google Shape;94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9" name="Google Shape;949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51" name="Google Shape;951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52" name="Google Shape;952;p73"/>
          <p:cNvGrpSpPr/>
          <p:nvPr/>
        </p:nvGrpSpPr>
        <p:grpSpPr>
          <a:xfrm>
            <a:off x="1684803" y="2889755"/>
            <a:ext cx="1187533" cy="680743"/>
            <a:chOff x="5099900" y="3255665"/>
            <a:chExt cx="3112800" cy="1784385"/>
          </a:xfrm>
        </p:grpSpPr>
        <p:sp>
          <p:nvSpPr>
            <p:cNvPr id="953" name="Google Shape;953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54" name="Google Shape;954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55" name="Google Shape;95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6" name="Google Shape;95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59" name="Google Shape;959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60" name="Google Shape;960;p73"/>
          <p:cNvGrpSpPr/>
          <p:nvPr/>
        </p:nvGrpSpPr>
        <p:grpSpPr>
          <a:xfrm>
            <a:off x="3045603" y="1412401"/>
            <a:ext cx="1187533" cy="680743"/>
            <a:chOff x="5099900" y="3255665"/>
            <a:chExt cx="3112800" cy="1784385"/>
          </a:xfrm>
        </p:grpSpPr>
        <p:sp>
          <p:nvSpPr>
            <p:cNvPr id="961" name="Google Shape;961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62" name="Google Shape;962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63" name="Google Shape;963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4" name="Google Shape;964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5" name="Google Shape;96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67" name="Google Shape;967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68" name="Google Shape;968;p73"/>
          <p:cNvGrpSpPr/>
          <p:nvPr/>
        </p:nvGrpSpPr>
        <p:grpSpPr>
          <a:xfrm>
            <a:off x="3045603" y="2151082"/>
            <a:ext cx="1187533" cy="680743"/>
            <a:chOff x="5099900" y="3255665"/>
            <a:chExt cx="3112800" cy="1784385"/>
          </a:xfrm>
        </p:grpSpPr>
        <p:sp>
          <p:nvSpPr>
            <p:cNvPr id="969" name="Google Shape;969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70" name="Google Shape;970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71" name="Google Shape;97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75" name="Google Shape;975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76" name="Google Shape;976;p73"/>
          <p:cNvGrpSpPr/>
          <p:nvPr/>
        </p:nvGrpSpPr>
        <p:grpSpPr>
          <a:xfrm>
            <a:off x="3045603" y="2889755"/>
            <a:ext cx="1187533" cy="680743"/>
            <a:chOff x="5099900" y="3255665"/>
            <a:chExt cx="3112800" cy="1784385"/>
          </a:xfrm>
        </p:grpSpPr>
        <p:sp>
          <p:nvSpPr>
            <p:cNvPr id="977" name="Google Shape;977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78" name="Google Shape;978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DBD4EB"/>
                </a:gs>
                <a:gs pos="96000">
                  <a:srgbClr val="EFEFEF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79" name="Google Shape;97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0" name="Google Shape;98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1" name="Google Shape;98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741B47"/>
                  </a:solidFill>
                </a:rPr>
                <a:t>£</a:t>
              </a:r>
              <a:r>
                <a:rPr b="1" lang="en-GB" sz="1106">
                  <a:solidFill>
                    <a:srgbClr val="741B47"/>
                  </a:solidFill>
                </a:rPr>
                <a:t>20</a:t>
              </a:r>
              <a:endParaRPr b="1" sz="1106">
                <a:solidFill>
                  <a:srgbClr val="741B47"/>
                </a:solidFill>
              </a:endParaRPr>
            </a:p>
          </p:txBody>
        </p:sp>
        <p:sp>
          <p:nvSpPr>
            <p:cNvPr id="983" name="Google Shape;983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7A5989"/>
                  </a:solidFill>
                </a:rPr>
                <a:t>20</a:t>
              </a:r>
              <a:endParaRPr b="1" sz="1106">
                <a:solidFill>
                  <a:srgbClr val="7A5989"/>
                </a:solidFill>
              </a:endParaRPr>
            </a:p>
          </p:txBody>
        </p:sp>
      </p:grpSp>
      <p:grpSp>
        <p:nvGrpSpPr>
          <p:cNvPr id="984" name="Google Shape;984;p73"/>
          <p:cNvGrpSpPr/>
          <p:nvPr/>
        </p:nvGrpSpPr>
        <p:grpSpPr>
          <a:xfrm>
            <a:off x="323997" y="3628436"/>
            <a:ext cx="1187533" cy="680743"/>
            <a:chOff x="5099900" y="3255665"/>
            <a:chExt cx="3112800" cy="1784385"/>
          </a:xfrm>
        </p:grpSpPr>
        <p:sp>
          <p:nvSpPr>
            <p:cNvPr id="985" name="Google Shape;985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86" name="Google Shape;986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FCE5CD"/>
                </a:gs>
                <a:gs pos="100000">
                  <a:srgbClr val="F9CB9C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87" name="Google Shape;987;p73"/>
            <p:cNvPicPr preferRelativeResize="0"/>
            <p:nvPr/>
          </p:nvPicPr>
          <p:blipFill>
            <a:blip r:embed="rId6">
              <a:alphaModFix amt="69000"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9" name="Google Shape;989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B45F06"/>
                  </a:solidFill>
                </a:rPr>
                <a:t>£</a:t>
              </a:r>
              <a:r>
                <a:rPr b="1" lang="en-GB" sz="1106">
                  <a:solidFill>
                    <a:srgbClr val="B45F06"/>
                  </a:solidFill>
                </a:rPr>
                <a:t>10</a:t>
              </a:r>
              <a:endParaRPr b="1" sz="1106">
                <a:solidFill>
                  <a:srgbClr val="B45F06"/>
                </a:solidFill>
              </a:endParaRPr>
            </a:p>
          </p:txBody>
        </p:sp>
        <p:sp>
          <p:nvSpPr>
            <p:cNvPr id="991" name="Google Shape;991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E69138"/>
                  </a:solidFill>
                </a:rPr>
                <a:t>10</a:t>
              </a:r>
              <a:endParaRPr b="1" sz="1106">
                <a:solidFill>
                  <a:srgbClr val="E69138"/>
                </a:solidFill>
              </a:endParaRPr>
            </a:p>
          </p:txBody>
        </p:sp>
      </p:grpSp>
      <p:grpSp>
        <p:nvGrpSpPr>
          <p:cNvPr id="992" name="Google Shape;992;p73"/>
          <p:cNvGrpSpPr/>
          <p:nvPr/>
        </p:nvGrpSpPr>
        <p:grpSpPr>
          <a:xfrm>
            <a:off x="1684797" y="3628436"/>
            <a:ext cx="1187533" cy="680743"/>
            <a:chOff x="5099900" y="3255665"/>
            <a:chExt cx="3112800" cy="1784385"/>
          </a:xfrm>
        </p:grpSpPr>
        <p:sp>
          <p:nvSpPr>
            <p:cNvPr id="993" name="Google Shape;993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994" name="Google Shape;994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FCE5CD"/>
                </a:gs>
                <a:gs pos="100000">
                  <a:srgbClr val="F9CB9C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995" name="Google Shape;995;p73"/>
            <p:cNvPicPr preferRelativeResize="0"/>
            <p:nvPr/>
          </p:nvPicPr>
          <p:blipFill>
            <a:blip r:embed="rId6">
              <a:alphaModFix amt="69000"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6" name="Google Shape;99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7" name="Google Shape;99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B45F06"/>
                  </a:solidFill>
                </a:rPr>
                <a:t>£</a:t>
              </a:r>
              <a:r>
                <a:rPr b="1" lang="en-GB" sz="1106">
                  <a:solidFill>
                    <a:srgbClr val="B45F06"/>
                  </a:solidFill>
                </a:rPr>
                <a:t>10</a:t>
              </a:r>
              <a:endParaRPr b="1" sz="1106">
                <a:solidFill>
                  <a:srgbClr val="B45F06"/>
                </a:solidFill>
              </a:endParaRPr>
            </a:p>
          </p:txBody>
        </p:sp>
        <p:sp>
          <p:nvSpPr>
            <p:cNvPr id="999" name="Google Shape;999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E69138"/>
                  </a:solidFill>
                </a:rPr>
                <a:t>10</a:t>
              </a:r>
              <a:endParaRPr b="1" sz="1106">
                <a:solidFill>
                  <a:srgbClr val="E69138"/>
                </a:solidFill>
              </a:endParaRPr>
            </a:p>
          </p:txBody>
        </p:sp>
      </p:grpSp>
      <p:grpSp>
        <p:nvGrpSpPr>
          <p:cNvPr id="1000" name="Google Shape;1000;p73"/>
          <p:cNvGrpSpPr/>
          <p:nvPr/>
        </p:nvGrpSpPr>
        <p:grpSpPr>
          <a:xfrm>
            <a:off x="3045597" y="3628436"/>
            <a:ext cx="1187533" cy="680743"/>
            <a:chOff x="5099900" y="3255665"/>
            <a:chExt cx="3112800" cy="1784385"/>
          </a:xfrm>
        </p:grpSpPr>
        <p:sp>
          <p:nvSpPr>
            <p:cNvPr id="1001" name="Google Shape;1001;p73"/>
            <p:cNvSpPr/>
            <p:nvPr/>
          </p:nvSpPr>
          <p:spPr>
            <a:xfrm>
              <a:off x="5099900" y="3294050"/>
              <a:ext cx="3112800" cy="1746000"/>
            </a:xfrm>
            <a:prstGeom prst="rect">
              <a:avLst/>
            </a:prstGeom>
            <a:noFill/>
            <a:ln cap="flat" cmpd="sng" w="109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sp>
          <p:nvSpPr>
            <p:cNvPr id="1002" name="Google Shape;1002;p73"/>
            <p:cNvSpPr/>
            <p:nvPr/>
          </p:nvSpPr>
          <p:spPr>
            <a:xfrm rot="5400000">
              <a:off x="6273336" y="3154140"/>
              <a:ext cx="1425654" cy="1933524"/>
            </a:xfrm>
            <a:prstGeom prst="flowChartDocument">
              <a:avLst/>
            </a:prstGeom>
            <a:gradFill>
              <a:gsLst>
                <a:gs pos="0">
                  <a:srgbClr val="FCE5CD"/>
                </a:gs>
                <a:gs pos="100000">
                  <a:srgbClr val="F9CB9C"/>
                </a:gs>
                <a:gs pos="100000">
                  <a:srgbClr val="9080B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flat" cmpd="sng" w="109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875" lIns="34875" spcFirstLastPara="1" rIns="34875" wrap="square" tIns="34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4"/>
            </a:p>
          </p:txBody>
        </p:sp>
        <p:pic>
          <p:nvPicPr>
            <p:cNvPr id="1003" name="Google Shape;1003;p73"/>
            <p:cNvPicPr preferRelativeResize="0"/>
            <p:nvPr/>
          </p:nvPicPr>
          <p:blipFill>
            <a:blip r:embed="rId6">
              <a:alphaModFix amt="69000"/>
            </a:blip>
            <a:stretch>
              <a:fillRect/>
            </a:stretch>
          </p:blipFill>
          <p:spPr>
            <a:xfrm>
              <a:off x="7170094" y="3641531"/>
              <a:ext cx="663275" cy="10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4" name="Google Shape;1004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6704" y="3865143"/>
              <a:ext cx="798900" cy="718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20739" y="4526425"/>
              <a:ext cx="558506" cy="44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73"/>
            <p:cNvSpPr txBox="1"/>
            <p:nvPr/>
          </p:nvSpPr>
          <p:spPr>
            <a:xfrm>
              <a:off x="5129965" y="3255665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86">
                  <a:solidFill>
                    <a:srgbClr val="B45F06"/>
                  </a:solidFill>
                </a:rPr>
                <a:t>£</a:t>
              </a:r>
              <a:r>
                <a:rPr b="1" lang="en-GB" sz="1106">
                  <a:solidFill>
                    <a:srgbClr val="B45F06"/>
                  </a:solidFill>
                </a:rPr>
                <a:t>10</a:t>
              </a:r>
              <a:endParaRPr b="1" sz="1106">
                <a:solidFill>
                  <a:srgbClr val="B45F06"/>
                </a:solidFill>
              </a:endParaRPr>
            </a:p>
          </p:txBody>
        </p:sp>
        <p:sp>
          <p:nvSpPr>
            <p:cNvPr id="1007" name="Google Shape;1007;p73"/>
            <p:cNvSpPr txBox="1"/>
            <p:nvPr/>
          </p:nvSpPr>
          <p:spPr>
            <a:xfrm>
              <a:off x="7396690" y="3388909"/>
              <a:ext cx="7398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875" lIns="34875" spcFirstLastPara="1" rIns="34875" wrap="square" tIns="348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6">
                  <a:solidFill>
                    <a:srgbClr val="E69138"/>
                  </a:solidFill>
                </a:rPr>
                <a:t>10</a:t>
              </a:r>
              <a:endParaRPr b="1" sz="1106">
                <a:solidFill>
                  <a:srgbClr val="E69138"/>
                </a:solidFill>
              </a:endParaRPr>
            </a:p>
          </p:txBody>
        </p:sp>
      </p:grpSp>
      <p:pic>
        <p:nvPicPr>
          <p:cNvPr id="1008" name="Google Shape;100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6398" y="3706497"/>
            <a:ext cx="61208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1748" y="3706497"/>
            <a:ext cx="61208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7098" y="3706497"/>
            <a:ext cx="61208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3250" y="3706500"/>
            <a:ext cx="754524" cy="75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53221" y="3706500"/>
            <a:ext cx="705979" cy="70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7" name="Google Shape;1017;p74"/>
          <p:cNvGraphicFramePr/>
          <p:nvPr/>
        </p:nvGraphicFramePr>
        <p:xfrm>
          <a:off x="995035" y="2409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8" name="Google Shape;1018;p74"/>
          <p:cNvSpPr txBox="1"/>
          <p:nvPr/>
        </p:nvSpPr>
        <p:spPr>
          <a:xfrm>
            <a:off x="4280578" y="2959808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4"/>
          <p:cNvSpPr txBox="1"/>
          <p:nvPr/>
        </p:nvSpPr>
        <p:spPr>
          <a:xfrm>
            <a:off x="5032078" y="2963903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4"/>
          <p:cNvSpPr txBox="1"/>
          <p:nvPr>
            <p:ph idx="1" type="body"/>
          </p:nvPr>
        </p:nvSpPr>
        <p:spPr>
          <a:xfrm>
            <a:off x="324000" y="759300"/>
            <a:ext cx="82377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chart</a:t>
            </a:r>
            <a:endParaRPr/>
          </a:p>
        </p:txBody>
      </p:sp>
      <p:sp>
        <p:nvSpPr>
          <p:cNvPr id="1021" name="Google Shape;1021;p74"/>
          <p:cNvSpPr/>
          <p:nvPr/>
        </p:nvSpPr>
        <p:spPr>
          <a:xfrm>
            <a:off x="4838278" y="3133206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4"/>
          <p:cNvSpPr txBox="1"/>
          <p:nvPr/>
        </p:nvSpPr>
        <p:spPr>
          <a:xfrm>
            <a:off x="2777578" y="2954771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4"/>
          <p:cNvSpPr txBox="1"/>
          <p:nvPr/>
        </p:nvSpPr>
        <p:spPr>
          <a:xfrm>
            <a:off x="3557653" y="2954771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4"/>
          <p:cNvSpPr txBox="1"/>
          <p:nvPr/>
        </p:nvSpPr>
        <p:spPr>
          <a:xfrm>
            <a:off x="5783566" y="2963903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025" name="Google Shape;1025;p74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400" y="2506662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026" name="Google Shape;1026;p74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1875" y="2511722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027" name="Google Shape;1027;p74" title="10 to the fourth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3430" y="2509161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&quot;&gt;&lt;mn&gt;1&lt;/mn&gt;&lt;/math&gt;" id="1028" name="Google Shape;1028;p74" title="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4501" y="2583847"/>
            <a:ext cx="107829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29" name="Google Shape;1029;p74" title="10 raised to the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1875" y="2580499"/>
            <a:ext cx="300900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030" name="Google Shape;1030;p74" title="1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91953" y="2480082"/>
            <a:ext cx="427043" cy="434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031" name="Google Shape;1031;p74" title="the fraction with numerator 1 and denominator 10 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04151" y="2487871"/>
            <a:ext cx="552399" cy="415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32" name="Google Shape;1032;p74" title="one ten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87800" y="2492134"/>
            <a:ext cx="216982" cy="415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033" name="Google Shape;1033;p74" title="1 over 1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37280" y="2475775"/>
            <a:ext cx="328714" cy="435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4" name="Google Shape;1034;p74"/>
          <p:cNvCxnSpPr/>
          <p:nvPr/>
        </p:nvCxnSpPr>
        <p:spPr>
          <a:xfrm flipH="1" rot="10800000">
            <a:off x="4903734" y="3603432"/>
            <a:ext cx="377100" cy="57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74"/>
          <p:cNvSpPr txBox="1"/>
          <p:nvPr>
            <p:ph idx="1" type="body"/>
          </p:nvPr>
        </p:nvSpPr>
        <p:spPr>
          <a:xfrm>
            <a:off x="4078275" y="4188875"/>
            <a:ext cx="1875600" cy="5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 tenth</a:t>
            </a:r>
            <a:endParaRPr sz="1800"/>
          </a:p>
        </p:txBody>
      </p:sp>
      <p:cxnSp>
        <p:nvCxnSpPr>
          <p:cNvPr id="1036" name="Google Shape;1036;p74"/>
          <p:cNvCxnSpPr/>
          <p:nvPr/>
        </p:nvCxnSpPr>
        <p:spPr>
          <a:xfrm rot="10800000">
            <a:off x="6177684" y="3596145"/>
            <a:ext cx="404700" cy="52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74"/>
          <p:cNvSpPr txBox="1"/>
          <p:nvPr>
            <p:ph idx="1" type="body"/>
          </p:nvPr>
        </p:nvSpPr>
        <p:spPr>
          <a:xfrm>
            <a:off x="6379500" y="4125725"/>
            <a:ext cx="2440500" cy="5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</a:t>
            </a:r>
            <a:r>
              <a:rPr lang="en-GB" sz="1800"/>
              <a:t> hundredths</a:t>
            </a:r>
            <a:endParaRPr sz="1800"/>
          </a:p>
        </p:txBody>
      </p:sp>
      <p:sp>
        <p:nvSpPr>
          <p:cNvPr id="1038" name="Google Shape;103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cxnSp>
        <p:nvCxnSpPr>
          <p:cNvPr id="1039" name="Google Shape;1039;p74"/>
          <p:cNvCxnSpPr/>
          <p:nvPr/>
        </p:nvCxnSpPr>
        <p:spPr>
          <a:xfrm>
            <a:off x="4660900" y="1885950"/>
            <a:ext cx="567600" cy="47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0" name="Google Shape;1040;p74"/>
          <p:cNvSpPr txBox="1"/>
          <p:nvPr>
            <p:ph idx="1" type="body"/>
          </p:nvPr>
        </p:nvSpPr>
        <p:spPr>
          <a:xfrm>
            <a:off x="3110550" y="1517700"/>
            <a:ext cx="2440500" cy="5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 one pound is 10p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1" name="Google Shape;1041;p74" title="one ten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25600" y="1425334"/>
            <a:ext cx="216982" cy="41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4"/>
          <p:cNvSpPr txBox="1"/>
          <p:nvPr>
            <p:ph idx="1" type="body"/>
          </p:nvPr>
        </p:nvSpPr>
        <p:spPr>
          <a:xfrm>
            <a:off x="6463350" y="1517700"/>
            <a:ext cx="2440500" cy="5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 one pound is 2p</a:t>
            </a:r>
            <a:endParaRPr sz="1800"/>
          </a:p>
        </p:txBody>
      </p:sp>
      <p:cxnSp>
        <p:nvCxnSpPr>
          <p:cNvPr id="1043" name="Google Shape;1043;p74"/>
          <p:cNvCxnSpPr/>
          <p:nvPr/>
        </p:nvCxnSpPr>
        <p:spPr>
          <a:xfrm flipH="1">
            <a:off x="6113900" y="1826675"/>
            <a:ext cx="464700" cy="521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}{100}&quot;&gt;&lt;mfrac&gt;&lt;mn&gt;2&lt;/mn&gt;&lt;mn&gt;100&lt;/mn&gt;&lt;/mfrac&gt;&lt;/math&gt;" id="1044" name="Google Shape;1044;p74" title="2 over 1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46325" y="1423495"/>
            <a:ext cx="328725" cy="419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049" name="Google Shape;1049;p75" title="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953" y="2490967"/>
            <a:ext cx="427043" cy="434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050" name="Google Shape;1050;p75" title="the fraction with numerator 1 and denominator 10 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788" y="2508281"/>
            <a:ext cx="552399" cy="415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1" name="Google Shape;1051;p75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7800" y="2503020"/>
            <a:ext cx="216982" cy="415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052" name="Google Shape;1052;p75" title="1 ove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7280" y="2486661"/>
            <a:ext cx="328714" cy="4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75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charts can have different headings, but are equivalent.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054" name="Google Shape;1054;p75" title="the fraction with numerator 1 and denominator 10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4063" y="2454375"/>
            <a:ext cx="355133" cy="5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055" name="Google Shape;1055;p75" title="the fraction with numerator 1 and denominator 10 cub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19807" y="2454379"/>
            <a:ext cx="355125" cy="50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056" name="Google Shape;1056;p75" title="the fraction with numerator 1 and denominator 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15529" y="2452670"/>
            <a:ext cx="355125" cy="512182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5"/>
          <p:cNvSpPr/>
          <p:nvPr/>
        </p:nvSpPr>
        <p:spPr>
          <a:xfrm rot="5400000">
            <a:off x="6295975" y="600000"/>
            <a:ext cx="357600" cy="3096000"/>
          </a:xfrm>
          <a:prstGeom prst="leftBrace">
            <a:avLst>
              <a:gd fmla="val 50000" name="adj1"/>
              <a:gd fmla="val 4977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5"/>
          <p:cNvSpPr txBox="1"/>
          <p:nvPr>
            <p:ph idx="1" type="body"/>
          </p:nvPr>
        </p:nvSpPr>
        <p:spPr>
          <a:xfrm>
            <a:off x="5475304" y="1329579"/>
            <a:ext cx="2660400" cy="7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r>
              <a:rPr lang="en-GB" sz="1800"/>
              <a:t>xponents in the column heading</a:t>
            </a:r>
            <a:endParaRPr sz="1800"/>
          </a:p>
        </p:txBody>
      </p:sp>
      <p:sp>
        <p:nvSpPr>
          <p:cNvPr id="1059" name="Google Shape;105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060" name="Google Shape;1060;p75" title="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85400" y="2506662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061" name="Google Shape;1061;p75" title="10 cube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1875" y="2511722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062" name="Google Shape;1062;p75" title="10 to the fourth power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83430" y="2509161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&quot;&gt;&lt;mn&gt;1&lt;/mn&gt;&lt;/math&gt;" id="1063" name="Google Shape;1063;p75" title="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44501" y="2583847"/>
            <a:ext cx="107829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64" name="Google Shape;1064;p75" title="10 raised to the power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71875" y="2580499"/>
            <a:ext cx="300900" cy="242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5" name="Google Shape;1065;p75"/>
          <p:cNvGraphicFramePr/>
          <p:nvPr/>
        </p:nvGraphicFramePr>
        <p:xfrm>
          <a:off x="995035" y="2409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6" name="Google Shape;1066;p75"/>
          <p:cNvSpPr/>
          <p:nvPr/>
        </p:nvSpPr>
        <p:spPr>
          <a:xfrm>
            <a:off x="4838278" y="3133206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6"/>
          <p:cNvSpPr txBox="1"/>
          <p:nvPr>
            <p:ph idx="1" type="body"/>
          </p:nvPr>
        </p:nvSpPr>
        <p:spPr>
          <a:xfrm>
            <a:off x="324000" y="759300"/>
            <a:ext cx="8237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chart</a:t>
            </a:r>
            <a:endParaRPr/>
          </a:p>
        </p:txBody>
      </p:sp>
      <p:sp>
        <p:nvSpPr>
          <p:cNvPr id="1072" name="Google Shape;1072;p76"/>
          <p:cNvSpPr txBox="1"/>
          <p:nvPr>
            <p:ph idx="1" type="body"/>
          </p:nvPr>
        </p:nvSpPr>
        <p:spPr>
          <a:xfrm>
            <a:off x="1574050" y="1333404"/>
            <a:ext cx="26604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Exponents in the column heading</a:t>
            </a:r>
            <a:endParaRPr sz="1800"/>
          </a:p>
        </p:txBody>
      </p:sp>
      <p:sp>
        <p:nvSpPr>
          <p:cNvPr id="1073" name="Google Shape;1073;p76"/>
          <p:cNvSpPr txBox="1"/>
          <p:nvPr>
            <p:ph idx="1" type="body"/>
          </p:nvPr>
        </p:nvSpPr>
        <p:spPr>
          <a:xfrm>
            <a:off x="5475304" y="1329579"/>
            <a:ext cx="2660400" cy="7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r>
              <a:rPr lang="en-GB" sz="1800"/>
              <a:t>xponents in the column heading</a:t>
            </a:r>
            <a:endParaRPr sz="1800"/>
          </a:p>
        </p:txBody>
      </p:sp>
      <p:graphicFrame>
        <p:nvGraphicFramePr>
          <p:cNvPr id="1074" name="Google Shape;1074;p76"/>
          <p:cNvGraphicFramePr/>
          <p:nvPr/>
        </p:nvGraphicFramePr>
        <p:xfrm>
          <a:off x="995035" y="2409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075" name="Google Shape;1075;p76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400" y="2506662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076" name="Google Shape;1076;p76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1875" y="2511722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077" name="Google Shape;1077;p76" title="10 to the fourth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3430" y="2509161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&quot;&gt;&lt;mn&gt;1&lt;/mn&gt;&lt;/math&gt;" id="1078" name="Google Shape;1078;p76" title="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4501" y="2583847"/>
            <a:ext cx="107829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79" name="Google Shape;1079;p76" title="10 raised to the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1875" y="2580499"/>
            <a:ext cx="300900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80" name="Google Shape;1080;p76" title="one ten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04075" y="2450964"/>
            <a:ext cx="259960" cy="4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76"/>
          <p:cNvSpPr/>
          <p:nvPr/>
        </p:nvSpPr>
        <p:spPr>
          <a:xfrm>
            <a:off x="4838278" y="3133206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082" name="Google Shape;1082;p76" title="the fraction with numerator 1 and denominator 10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7713" y="2445500"/>
            <a:ext cx="355133" cy="5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083" name="Google Shape;1083;p76" title="the fraction with numerator 1 and denominator 10 cub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7207" y="2447579"/>
            <a:ext cx="355125" cy="50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084" name="Google Shape;1084;p76" title="the fraction with numerator 1 and denominator 10 to the fourth power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73004" y="2442457"/>
            <a:ext cx="355125" cy="5121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5" name="Google Shape;1085;p76"/>
          <p:cNvGrpSpPr/>
          <p:nvPr/>
        </p:nvGrpSpPr>
        <p:grpSpPr>
          <a:xfrm>
            <a:off x="995025" y="1970325"/>
            <a:ext cx="7027750" cy="357600"/>
            <a:chOff x="995025" y="1970325"/>
            <a:chExt cx="7027750" cy="357600"/>
          </a:xfrm>
        </p:grpSpPr>
        <p:sp>
          <p:nvSpPr>
            <p:cNvPr id="1086" name="Google Shape;1086;p76"/>
            <p:cNvSpPr/>
            <p:nvPr/>
          </p:nvSpPr>
          <p:spPr>
            <a:xfrm rot="5400000">
              <a:off x="6295975" y="601125"/>
              <a:ext cx="357600" cy="3096000"/>
            </a:xfrm>
            <a:prstGeom prst="leftBrace">
              <a:avLst>
                <a:gd fmla="val 50000" name="adj1"/>
                <a:gd fmla="val 49779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76"/>
            <p:cNvSpPr/>
            <p:nvPr/>
          </p:nvSpPr>
          <p:spPr>
            <a:xfrm rot="5400000">
              <a:off x="2364225" y="601125"/>
              <a:ext cx="357600" cy="3096000"/>
            </a:xfrm>
            <a:prstGeom prst="leftBrace">
              <a:avLst>
                <a:gd fmla="val 50000" name="adj1"/>
                <a:gd fmla="val 49779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8" name="Google Shape;108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3" name="Google Shape;1093;p77"/>
          <p:cNvGraphicFramePr/>
          <p:nvPr/>
        </p:nvGraphicFramePr>
        <p:xfrm>
          <a:off x="995035" y="2409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94" name="Google Shape;109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123" y="2603724"/>
            <a:ext cx="264702" cy="1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1\end{array}&quot;&gt;&lt;mtable columnalign=&quot;left&quot; columnspacing=&quot;1em&quot; rowspacing=&quot;4pt&quot;&gt;&lt;mtr&gt;&lt;mtd&gt;&lt;mn&gt;0.01&lt;/mn&gt;&lt;/mtd&gt;&lt;/mtr&gt;&lt;/mtable&gt;&lt;/math&gt;" id="1095" name="Google Shape;1095;p77" title="1 lines Line 1: 0.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725" y="2613724"/>
            <a:ext cx="377601" cy="1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01\end{array}&quot;&gt;&lt;mtable columnalign=&quot;left&quot; columnspacing=&quot;1em&quot; rowspacing=&quot;4pt&quot;&gt;&lt;mtr&gt;&lt;mtd&gt;&lt;mn&gt;0.001&lt;/mn&gt;&lt;/mtd&gt;&lt;/mtr&gt;&lt;/mtable&gt;&lt;/math&gt;" id="1096" name="Google Shape;1096;p77" title="1 lines Line 1: 0.0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3325" y="2603724"/>
            <a:ext cx="494399" cy="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77"/>
          <p:cNvSpPr/>
          <p:nvPr/>
        </p:nvSpPr>
        <p:spPr>
          <a:xfrm>
            <a:off x="4838278" y="3133206"/>
            <a:ext cx="163500" cy="16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098" name="Google Shape;1098;p77" title="10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5400" y="2506662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099" name="Google Shape;1099;p77" title="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1875" y="2511722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100" name="Google Shape;1100;p77" title="10 to the fourth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83430" y="2509161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&quot;&gt;&lt;mn&gt;1&lt;/mn&gt;&lt;/math&gt;" id="1101" name="Google Shape;1101;p77" title="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44501" y="2583847"/>
            <a:ext cx="107829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102" name="Google Shape;1102;p77" title="10 raised to the powe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1875" y="2580499"/>
            <a:ext cx="300900" cy="2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77"/>
          <p:cNvSpPr/>
          <p:nvPr/>
        </p:nvSpPr>
        <p:spPr>
          <a:xfrm rot="5400000">
            <a:off x="6295975" y="601125"/>
            <a:ext cx="357600" cy="3096000"/>
          </a:xfrm>
          <a:prstGeom prst="leftBrace">
            <a:avLst>
              <a:gd fmla="val 50000" name="adj1"/>
              <a:gd fmla="val 4977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7"/>
          <p:cNvSpPr txBox="1"/>
          <p:nvPr>
            <p:ph idx="1" type="body"/>
          </p:nvPr>
        </p:nvSpPr>
        <p:spPr>
          <a:xfrm>
            <a:off x="5322904" y="1329579"/>
            <a:ext cx="2660400" cy="7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Decimal equivalent in the </a:t>
            </a:r>
            <a:r>
              <a:rPr lang="en-GB" sz="1800"/>
              <a:t>column heading</a:t>
            </a:r>
            <a:endParaRPr sz="1800"/>
          </a:p>
        </p:txBody>
      </p:sp>
      <p:sp>
        <p:nvSpPr>
          <p:cNvPr id="1105" name="Google Shape;1105;p77"/>
          <p:cNvSpPr txBox="1"/>
          <p:nvPr>
            <p:ph idx="1" type="body"/>
          </p:nvPr>
        </p:nvSpPr>
        <p:spPr>
          <a:xfrm>
            <a:off x="324000" y="759300"/>
            <a:ext cx="6373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chart </a:t>
            </a:r>
            <a:endParaRPr/>
          </a:p>
        </p:txBody>
      </p:sp>
      <p:sp>
        <p:nvSpPr>
          <p:cNvPr id="1106" name="Google Shape;110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0001\end{array}&quot;&gt;&lt;mtable columnalign=&quot;left&quot; columnspacing=&quot;1em&quot; rowspacing=&quot;4pt&quot;&gt;&lt;mtr&gt;&lt;mtd&gt;&lt;mn&gt;0.0001&lt;/mn&gt;&lt;/mtd&gt;&lt;/mtr&gt;&lt;/mtable&gt;&lt;/math&gt;" id="1107" name="Google Shape;1107;p77" title="1 lines Line 1: 0.000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49123" y="2617749"/>
            <a:ext cx="611175" cy="1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100" y="2302500"/>
            <a:ext cx="4254900" cy="97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3" name="Google Shape;1113;p78"/>
          <p:cNvGrpSpPr/>
          <p:nvPr/>
        </p:nvGrpSpPr>
        <p:grpSpPr>
          <a:xfrm>
            <a:off x="4805988" y="2748683"/>
            <a:ext cx="3333550" cy="588000"/>
            <a:chOff x="4729788" y="2977283"/>
            <a:chExt cx="3333550" cy="588000"/>
          </a:xfrm>
        </p:grpSpPr>
        <p:sp>
          <p:nvSpPr>
            <p:cNvPr id="1114" name="Google Shape;1114;p78"/>
            <p:cNvSpPr txBox="1"/>
            <p:nvPr/>
          </p:nvSpPr>
          <p:spPr>
            <a:xfrm>
              <a:off x="5945563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5" name="Google Shape;1115;p78"/>
            <p:cNvSpPr txBox="1"/>
            <p:nvPr/>
          </p:nvSpPr>
          <p:spPr>
            <a:xfrm>
              <a:off x="6475788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6" name="Google Shape;1116;p78"/>
            <p:cNvSpPr txBox="1"/>
            <p:nvPr/>
          </p:nvSpPr>
          <p:spPr>
            <a:xfrm>
              <a:off x="7065413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7" name="Google Shape;1117;p78"/>
            <p:cNvSpPr txBox="1"/>
            <p:nvPr/>
          </p:nvSpPr>
          <p:spPr>
            <a:xfrm>
              <a:off x="7655038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8" name="Google Shape;1118;p78"/>
            <p:cNvSpPr txBox="1"/>
            <p:nvPr/>
          </p:nvSpPr>
          <p:spPr>
            <a:xfrm>
              <a:off x="4729788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9" name="Google Shape;1119;p78"/>
            <p:cNvSpPr txBox="1"/>
            <p:nvPr/>
          </p:nvSpPr>
          <p:spPr>
            <a:xfrm>
              <a:off x="5372313" y="2977283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id="1120" name="Google Shape;112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275" y="2260125"/>
            <a:ext cx="4342951" cy="10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78"/>
          <p:cNvSpPr txBox="1"/>
          <p:nvPr>
            <p:ph idx="4294967295" type="body"/>
          </p:nvPr>
        </p:nvSpPr>
        <p:spPr>
          <a:xfrm>
            <a:off x="324000" y="606900"/>
            <a:ext cx="4090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Give </a:t>
            </a:r>
            <a:r>
              <a:rPr lang="en-GB" sz="1800"/>
              <a:t>an example of a decimal with exactly four hundredths.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122" name="Google Shape;1122;p78"/>
          <p:cNvSpPr txBox="1"/>
          <p:nvPr>
            <p:ph idx="4294967295" type="body"/>
          </p:nvPr>
        </p:nvSpPr>
        <p:spPr>
          <a:xfrm>
            <a:off x="324000" y="1505700"/>
            <a:ext cx="4090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use the place value chart if it helps.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123" name="Google Shape;1123;p78"/>
          <p:cNvSpPr txBox="1"/>
          <p:nvPr>
            <p:ph idx="4294967295" type="body"/>
          </p:nvPr>
        </p:nvSpPr>
        <p:spPr>
          <a:xfrm>
            <a:off x="330900" y="3227100"/>
            <a:ext cx="4228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an infinite number of solutions.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Ensure there is a 4 in the hundredths column heading.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24" name="Google Shape;1124;p78"/>
          <p:cNvGrpSpPr/>
          <p:nvPr/>
        </p:nvGrpSpPr>
        <p:grpSpPr>
          <a:xfrm>
            <a:off x="1144100" y="2753400"/>
            <a:ext cx="3308400" cy="594350"/>
            <a:chOff x="953600" y="2982000"/>
            <a:chExt cx="3308400" cy="594350"/>
          </a:xfrm>
        </p:grpSpPr>
        <p:sp>
          <p:nvSpPr>
            <p:cNvPr id="1125" name="Google Shape;1125;p78"/>
            <p:cNvSpPr txBox="1"/>
            <p:nvPr/>
          </p:nvSpPr>
          <p:spPr>
            <a:xfrm>
              <a:off x="953600" y="298200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26" name="Google Shape;1126;p78"/>
            <p:cNvSpPr txBox="1"/>
            <p:nvPr/>
          </p:nvSpPr>
          <p:spPr>
            <a:xfrm>
              <a:off x="1594950" y="298200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27" name="Google Shape;1127;p78"/>
            <p:cNvSpPr txBox="1"/>
            <p:nvPr/>
          </p:nvSpPr>
          <p:spPr>
            <a:xfrm>
              <a:off x="2125175" y="298200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28" name="Google Shape;1128;p78"/>
            <p:cNvSpPr txBox="1"/>
            <p:nvPr/>
          </p:nvSpPr>
          <p:spPr>
            <a:xfrm>
              <a:off x="2714800" y="298200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29" name="Google Shape;1129;p78"/>
            <p:cNvSpPr txBox="1"/>
            <p:nvPr/>
          </p:nvSpPr>
          <p:spPr>
            <a:xfrm>
              <a:off x="3304425" y="298200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30" name="Google Shape;1130;p78"/>
            <p:cNvSpPr txBox="1"/>
            <p:nvPr/>
          </p:nvSpPr>
          <p:spPr>
            <a:xfrm>
              <a:off x="3853700" y="2988350"/>
              <a:ext cx="408300" cy="5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00"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3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131" name="Google Shape;1131;p78"/>
          <p:cNvSpPr txBox="1"/>
          <p:nvPr>
            <p:ph idx="4294967295" type="body"/>
          </p:nvPr>
        </p:nvSpPr>
        <p:spPr>
          <a:xfrm>
            <a:off x="4671600" y="581400"/>
            <a:ext cx="3391800" cy="13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Give </a:t>
            </a:r>
            <a:r>
              <a:rPr lang="en-GB" sz="1800"/>
              <a:t>an example of a decimal having        and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pic>
        <p:nvPicPr>
          <p:cNvPr id="1132" name="Google Shape;113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1773" y="908663"/>
            <a:ext cx="259950" cy="474197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78"/>
          <p:cNvSpPr txBox="1"/>
          <p:nvPr>
            <p:ph idx="4294967295" type="body"/>
          </p:nvPr>
        </p:nvSpPr>
        <p:spPr>
          <a:xfrm>
            <a:off x="4729800" y="1500808"/>
            <a:ext cx="4090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use the place value chart if it helps.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134" name="Google Shape;1134;p78"/>
          <p:cNvSpPr txBox="1"/>
          <p:nvPr>
            <p:ph idx="4294967295" type="body"/>
          </p:nvPr>
        </p:nvSpPr>
        <p:spPr>
          <a:xfrm>
            <a:off x="4681513" y="3256075"/>
            <a:ext cx="4228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an infinite number of solutions.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Ensure there is a 7 in the tenths column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 5 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column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times10^3&quot;&gt;&lt;mn&gt;5&lt;/mn&gt;&lt;mo&gt;×&lt;/mo&gt;&lt;msup&gt;&lt;mn&gt;10&lt;/mn&gt;&lt;mn&gt;3&lt;/mn&gt;&lt;/msup&gt;&lt;/math&gt;" id="1135" name="Google Shape;1135;p78" title="5 times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9197" y="946750"/>
            <a:ext cx="750548" cy="245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6" name="Google Shape;1136;p78"/>
          <p:cNvGrpSpPr/>
          <p:nvPr/>
        </p:nvGrpSpPr>
        <p:grpSpPr>
          <a:xfrm>
            <a:off x="4636943" y="2820878"/>
            <a:ext cx="2917475" cy="370155"/>
            <a:chOff x="4713143" y="3049478"/>
            <a:chExt cx="2917475" cy="370155"/>
          </a:xfrm>
        </p:grpSpPr>
        <p:sp>
          <p:nvSpPr>
            <p:cNvPr id="1137" name="Google Shape;1137;p78"/>
            <p:cNvSpPr/>
            <p:nvPr/>
          </p:nvSpPr>
          <p:spPr>
            <a:xfrm>
              <a:off x="7078017" y="3050933"/>
              <a:ext cx="552600" cy="368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8"/>
            <p:cNvSpPr/>
            <p:nvPr/>
          </p:nvSpPr>
          <p:spPr>
            <a:xfrm>
              <a:off x="4713143" y="3049478"/>
              <a:ext cx="552600" cy="368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9" name="Google Shape;1139;p78"/>
          <p:cNvSpPr txBox="1"/>
          <p:nvPr/>
        </p:nvSpPr>
        <p:spPr>
          <a:xfrm>
            <a:off x="5195355" y="2748683"/>
            <a:ext cx="4083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0" name="Google Shape;1140;p78"/>
          <p:cNvSpPr/>
          <p:nvPr/>
        </p:nvSpPr>
        <p:spPr>
          <a:xfrm>
            <a:off x="3303850" y="2827050"/>
            <a:ext cx="552600" cy="36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9"/>
          <p:cNvSpPr txBox="1"/>
          <p:nvPr>
            <p:ph idx="4294967295" type="subTitle"/>
          </p:nvPr>
        </p:nvSpPr>
        <p:spPr>
          <a:xfrm>
            <a:off x="705702" y="2404390"/>
            <a:ext cx="2209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Exactly         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10^3}&quot;&gt;&lt;mfrac&gt;&lt;mn&gt;5&lt;/mn&gt;&lt;msup&gt;&lt;mn&gt;10&lt;/mn&gt;&lt;mn&gt;3&lt;/mn&gt;&lt;/msup&gt;&lt;/mfrac&gt;&lt;/math&gt;" id="1147" name="Google Shape;1147;p79" title="the fraction with numerator 5 and denominator 10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952" y="2174935"/>
            <a:ext cx="450925" cy="647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751&quot;&gt;&lt;mn&gt;9.751&lt;/mn&gt;&lt;/math&gt;" id="1148" name="Google Shape;1148;p79" title="9.7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2402" y="2427935"/>
            <a:ext cx="7334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5505&quot;&gt;&lt;mn&gt;5.5505&lt;/mn&gt;&lt;/math&gt;" id="1149" name="Google Shape;1149;p79" title="5.55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5427" y="2450985"/>
            <a:ext cx="904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.1651&quot;&gt;&lt;mn&gt;12.1651&lt;/mn&gt;&lt;/math&gt;" id="1150" name="Google Shape;1150;p79" title="12.16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317" y="2450998"/>
            <a:ext cx="10287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79"/>
          <p:cNvSpPr txBox="1"/>
          <p:nvPr>
            <p:ph idx="4294967295" type="title"/>
          </p:nvPr>
        </p:nvSpPr>
        <p:spPr>
          <a:xfrm>
            <a:off x="223877" y="14587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a)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b)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c)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d)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152" name="Google Shape;1152;p79"/>
          <p:cNvSpPr txBox="1"/>
          <p:nvPr>
            <p:ph idx="4294967295"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Identify</a:t>
            </a:r>
            <a:r>
              <a:rPr lang="en-GB"/>
              <a:t> </a:t>
            </a:r>
            <a:r>
              <a:rPr b="0" lang="en-GB"/>
              <a:t>the decimals which have:</a:t>
            </a:r>
            <a:endParaRPr b="0"/>
          </a:p>
        </p:txBody>
      </p:sp>
      <p:sp>
        <p:nvSpPr>
          <p:cNvPr id="1153" name="Google Shape;1153;p79"/>
          <p:cNvSpPr txBox="1"/>
          <p:nvPr>
            <p:ph idx="4294967295" type="subTitle"/>
          </p:nvPr>
        </p:nvSpPr>
        <p:spPr>
          <a:xfrm>
            <a:off x="705702" y="1468737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Exactly 3 tenths 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154" name="Google Shape;1154;p79"/>
          <p:cNvSpPr txBox="1"/>
          <p:nvPr>
            <p:ph idx="4294967295" type="subTitle"/>
          </p:nvPr>
        </p:nvSpPr>
        <p:spPr>
          <a:xfrm>
            <a:off x="705702" y="3332359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Exactly         : </a:t>
            </a:r>
            <a:endParaRPr/>
          </a:p>
        </p:txBody>
      </p:sp>
      <p:sp>
        <p:nvSpPr>
          <p:cNvPr id="1155" name="Google Shape;1155;p79"/>
          <p:cNvSpPr txBox="1"/>
          <p:nvPr>
            <p:ph idx="4294967295" type="subTitle"/>
          </p:nvPr>
        </p:nvSpPr>
        <p:spPr>
          <a:xfrm>
            <a:off x="705702" y="4244086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Exactly zero hundredths: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10^2}&quot;&gt;&lt;mfrac&gt;&lt;mn&gt;7&lt;/mn&gt;&lt;msup&gt;&lt;mn&gt;10&lt;/mn&gt;&lt;mn&gt;2&lt;/mn&gt;&lt;/msup&gt;&lt;/mfrac&gt;&lt;/math&gt;" id="1156" name="Google Shape;1156;p79" title="the fraction with numerator 7 and denominator 10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3959" y="3195757"/>
            <a:ext cx="450921" cy="6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43&quot;&gt;&lt;mn&gt;2.43&lt;/mn&gt;&lt;/math&gt;" id="1157" name="Google Shape;1157;p79" title="2.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22389" y="1509109"/>
            <a:ext cx="571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9.033&quot;&gt;&lt;mn&gt;139.033&lt;/mn&gt;&lt;/math&gt;" id="1158" name="Google Shape;1158;p79" title="139.0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68452" y="1498147"/>
            <a:ext cx="1038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36&quot;&gt;&lt;mn&gt;0.36&lt;/mn&gt;&lt;/math&gt;" id="1159" name="Google Shape;1159;p79" title="0.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5427" y="1493384"/>
            <a:ext cx="571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4.2791&quot;&gt;&lt;mn&gt;34.2791&lt;/mn&gt;&lt;/math&gt;" id="1160" name="Google Shape;1160;p79" title="34.279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22402" y="3340765"/>
            <a:ext cx="10858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07&quot;&gt;&lt;mn&gt;0.707&lt;/mn&gt;&lt;/math&gt;" id="1161" name="Google Shape;1161;p79" title="0.70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45427" y="3347528"/>
            <a:ext cx="762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7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50327" y="334751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.12&quot;&gt;&lt;mn&gt;100.12&lt;/mn&gt;&lt;/math&gt;" id="1163" name="Google Shape;1163;p79" title="100.1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83502" y="4290707"/>
            <a:ext cx="885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2&quot;&gt;&lt;mn&gt;9.2&lt;/mn&gt;&lt;/math&gt;" id="1164" name="Google Shape;1164;p79" title="9.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50327" y="4295470"/>
            <a:ext cx="4095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.909&quot;&gt;&lt;mn&gt;6.909&lt;/mn&gt;&lt;/math&gt;" id="1165" name="Google Shape;1165;p79" title="6.90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37327" y="4290695"/>
            <a:ext cx="7429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79"/>
          <p:cNvSpPr/>
          <p:nvPr/>
        </p:nvSpPr>
        <p:spPr>
          <a:xfrm>
            <a:off x="4447761" y="1246688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79"/>
          <p:cNvSpPr/>
          <p:nvPr/>
        </p:nvSpPr>
        <p:spPr>
          <a:xfrm>
            <a:off x="3257986" y="3094088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79"/>
          <p:cNvSpPr/>
          <p:nvPr/>
        </p:nvSpPr>
        <p:spPr>
          <a:xfrm>
            <a:off x="6044336" y="2192325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79"/>
          <p:cNvSpPr/>
          <p:nvPr/>
        </p:nvSpPr>
        <p:spPr>
          <a:xfrm>
            <a:off x="7336901" y="3094088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79"/>
          <p:cNvSpPr/>
          <p:nvPr/>
        </p:nvSpPr>
        <p:spPr>
          <a:xfrm>
            <a:off x="5930151" y="4055963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79"/>
          <p:cNvSpPr/>
          <p:nvPr/>
        </p:nvSpPr>
        <p:spPr>
          <a:xfrm>
            <a:off x="7290676" y="4064823"/>
            <a:ext cx="1214700" cy="741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</a:t>
            </a:r>
            <a:r>
              <a:rPr lang="en-GB"/>
              <a:t>for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.751&quot;&gt;&lt;mn&gt;9.751&lt;/mn&gt;&lt;/math&gt;" id="1173" name="Google Shape;1173;p79" title="9.751"/>
          <p:cNvPicPr preferRelativeResize="0"/>
          <p:nvPr/>
        </p:nvPicPr>
        <p:blipFill rotWithShape="1">
          <a:blip r:embed="rId4">
            <a:alphaModFix/>
          </a:blip>
          <a:srcRect b="0" l="0" r="16812" t="0"/>
          <a:stretch/>
        </p:blipFill>
        <p:spPr>
          <a:xfrm>
            <a:off x="6065600" y="3342325"/>
            <a:ext cx="6101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Fill in</a:t>
            </a:r>
            <a:r>
              <a:rPr lang="en-GB" sz="1800"/>
              <a:t> the gaps so that each column shows a different way of writing the same value. </a:t>
            </a:r>
            <a:endParaRPr sz="1800"/>
          </a:p>
        </p:txBody>
      </p:sp>
      <p:graphicFrame>
        <p:nvGraphicFramePr>
          <p:cNvPr id="1179" name="Google Shape;1179;p80"/>
          <p:cNvGraphicFramePr/>
          <p:nvPr/>
        </p:nvGraphicFramePr>
        <p:xfrm>
          <a:off x="408088" y="146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1667450"/>
                <a:gridCol w="1667450"/>
                <a:gridCol w="1667450"/>
                <a:gridCol w="1667450"/>
                <a:gridCol w="1667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fractional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decimal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exponent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 tenth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 hundredth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180" name="Google Shape;1180;p80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214" y="1555200"/>
            <a:ext cx="435200" cy="554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181" name="Google Shape;1181;p80" title="the fraction with numerator 1 and denominator 10 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0476" y="1555199"/>
            <a:ext cx="769130" cy="55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01&quot;&gt;&lt;mn&gt;0.01&lt;/mn&gt;&lt;/math&gt;" id="1182" name="Google Shape;1182;p80" title="0.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9362" y="2458010"/>
            <a:ext cx="546912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01\end{array}&quot;&gt;&lt;mtable columnalign=&quot;left&quot; columnspacing=&quot;1em&quot; rowspacing=&quot;4pt&quot;&gt;&lt;mtr&gt;&lt;mtd&gt;&lt;mn&gt;0.001&lt;/mn&gt;&lt;/mtd&gt;&lt;/mtr&gt;&lt;/mtable&gt;&lt;/math&gt;" id="1183" name="Google Shape;1183;p80" title="1 lines Line 1: 0.0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920" y="2448474"/>
            <a:ext cx="695325" cy="229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184" name="Google Shape;1184;p80" title="the fraction with numerator 1 and denominator 10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0152" y="2969835"/>
            <a:ext cx="435209" cy="6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forms for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\times10^3\ +\ 3\times10^2+4+9\times\frac{1}{10}=&quot;&gt;&lt;mn&gt;2&lt;/mn&gt;&lt;mo&gt;×&lt;/mo&gt;&lt;msup&gt;&lt;mn&gt;10&lt;/mn&gt;&lt;mn&gt;3&lt;/mn&gt;&lt;/msup&gt;&lt;mtext&gt;&lt;/mtext&gt;&lt;mo&gt;+&lt;/mo&gt;&lt;mtext&gt;&lt;/mtext&gt;&lt;mn&gt;3&lt;/mn&gt;&lt;mo&gt;×&lt;/mo&gt;&lt;msup&gt;&lt;mn&gt;10&lt;/mn&gt;&lt;mn&gt;2&lt;/mn&gt;&lt;/msup&gt;&lt;mo&gt;+&lt;/mo&gt;&lt;mn&gt;4&lt;/mn&gt;&lt;mo&gt;+&lt;/mo&gt;&lt;mn&gt;9&lt;/mn&gt;&lt;mo&gt;×&lt;/mo&gt;&lt;mfrac&gt;&lt;mn&gt;1&lt;/mn&gt;&lt;mn&gt;10&lt;/mn&gt;&lt;/mfrac&gt;&lt;mo&gt;=&lt;/mo&gt;&lt;/math&gt;" id="1190" name="Google Shape;1190;p81" title="2 times 10 cubed plus 3 times 10 squared plus 4 plus 9 times one tenth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64" y="1132277"/>
            <a:ext cx="45815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times10^3\ +4+0.7\ +\ 0.02=&quot;&gt;&lt;mn&gt;8&lt;/mn&gt;&lt;mo&gt;×&lt;/mo&gt;&lt;msup&gt;&lt;mn&gt;10&lt;/mn&gt;&lt;mn&gt;3&lt;/mn&gt;&lt;/msup&gt;&lt;mtext&gt;&lt;/mtext&gt;&lt;mo&gt;+&lt;/mo&gt;&lt;mn&gt;4&lt;/mn&gt;&lt;mo&gt;+&lt;/mo&gt;&lt;mn&gt;0.7&lt;/mn&gt;&lt;mtext&gt;&lt;/mtext&gt;&lt;mo&gt;+&lt;/mo&gt;&lt;mtext&gt;&lt;/mtext&gt;&lt;mn&gt;0.02&lt;/mn&gt;&lt;mo&gt;=&lt;/mo&gt;&lt;/math&gt;" id="1191" name="Google Shape;1191;p81" title="8 times 10 cubed positive 4 plus 0.7 plus 0.02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001" y="2311824"/>
            <a:ext cx="3529775" cy="29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10^3\ +\ 40+0.003\ +4\times\frac{1}{10}+6\times\frac{1}{10^3}=&quot;&gt;&lt;mn&gt;2&lt;/mn&gt;&lt;mo&gt;×&lt;/mo&gt;&lt;msup&gt;&lt;mn&gt;10&lt;/mn&gt;&lt;mn&gt;3&lt;/mn&gt;&lt;/msup&gt;&lt;mtext&gt;&lt;/mtext&gt;&lt;mo&gt;+&lt;/mo&gt;&lt;mtext&gt;&lt;/mtext&gt;&lt;mn&gt;40&lt;/mn&gt;&lt;mo&gt;+&lt;/mo&gt;&lt;mn&gt;0.003&lt;/mn&gt;&lt;mtext&gt;&lt;/mtext&gt;&lt;mo&gt;+&lt;/mo&gt;&lt;mn&gt;4&lt;/mn&gt;&lt;mo&gt;×&lt;/mo&gt;&lt;mfrac&gt;&lt;mn&gt;1&lt;/mn&gt;&lt;mn&gt;10&lt;/mn&gt;&lt;/mfrac&gt;&lt;mo&gt;+&lt;/mo&gt;&lt;mn&gt;6&lt;/mn&gt;&lt;mo&gt;×&lt;/mo&gt;&lt;mfrac&gt;&lt;mn&gt;1&lt;/mn&gt;&lt;msup&gt;&lt;mn&gt;10&lt;/mn&gt;&lt;mn&gt;3&lt;/mn&gt;&lt;/msup&gt;&lt;/mfrac&gt;&lt;mo&gt;=&lt;/mo&gt;&lt;/math&gt;" id="1192" name="Google Shape;1192;p81" title="2 times 10 cubed plus 40 plus 0.003 positive 4 times one tenth plus 6 times the fraction with numerator 1 and denominator 10 cubed equal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077" y="4070805"/>
            <a:ext cx="58483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81"/>
          <p:cNvSpPr txBox="1"/>
          <p:nvPr>
            <p:ph idx="1" type="body"/>
          </p:nvPr>
        </p:nvSpPr>
        <p:spPr>
          <a:xfrm>
            <a:off x="400200" y="692025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Write</a:t>
            </a:r>
            <a:r>
              <a:rPr lang="en-GB"/>
              <a:t> the following in</a:t>
            </a:r>
            <a:r>
              <a:rPr b="1" lang="en-GB"/>
              <a:t> decimal form</a:t>
            </a:r>
            <a:r>
              <a:rPr lang="en-GB"/>
              <a:t>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\times10^2\ +\ 6+0.8+7\times\frac{1}{10^3}=&quot;&gt;&lt;mn&gt;9&lt;/mn&gt;&lt;mo&gt;×&lt;/mo&gt;&lt;msup&gt;&lt;mn&gt;10&lt;/mn&gt;&lt;mn&gt;2&lt;/mn&gt;&lt;/msup&gt;&lt;mtext&gt;&lt;/mtext&gt;&lt;mo&gt;+&lt;/mo&gt;&lt;mtext&gt;&lt;/mtext&gt;&lt;mn&gt;6&lt;/mn&gt;&lt;mo&gt;+&lt;/mo&gt;&lt;mn&gt;0.8&lt;/mn&gt;&lt;mo&gt;+&lt;/mo&gt;&lt;mn&gt;7&lt;/mn&gt;&lt;mo&gt;×&lt;/mo&gt;&lt;mfrac&gt;&lt;mn&gt;1&lt;/mn&gt;&lt;msup&gt;&lt;mn&gt;10&lt;/mn&gt;&lt;mn&gt;3&lt;/mn&gt;&lt;/msup&gt;&lt;/mfrac&gt;&lt;mo&gt;=&lt;/mo&gt;&lt;/math&gt;" id="1194" name="Google Shape;1194;p81" title="9 times 10 squared plus 6 plus 0.8 plus 7 times the fraction with numerator 1 and denominator 10 cubed equal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075" y="3203436"/>
            <a:ext cx="397535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1"/>
          <p:cNvSpPr txBox="1"/>
          <p:nvPr/>
        </p:nvSpPr>
        <p:spPr>
          <a:xfrm>
            <a:off x="261000" y="1172025"/>
            <a:ext cx="651300" cy="3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sp>
        <p:nvSpPr>
          <p:cNvPr id="1196" name="Google Shape;1196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forms for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1" name="Google Shape;1201;p82"/>
          <p:cNvGraphicFramePr/>
          <p:nvPr/>
        </p:nvGraphicFramePr>
        <p:xfrm>
          <a:off x="408088" y="146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1667450"/>
                <a:gridCol w="1667450"/>
                <a:gridCol w="1667450"/>
                <a:gridCol w="1667450"/>
                <a:gridCol w="1667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fractional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decimal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exponent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tenth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hundredth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ne thousandth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one ten thousandth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2" name="Google Shape;1202;p82"/>
          <p:cNvSpPr/>
          <p:nvPr/>
        </p:nvSpPr>
        <p:spPr>
          <a:xfrm>
            <a:off x="2115728" y="2979696"/>
            <a:ext cx="1577400" cy="6789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2"/>
          <p:cNvSpPr/>
          <p:nvPr/>
        </p:nvSpPr>
        <p:spPr>
          <a:xfrm>
            <a:off x="7120375" y="2966065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01&quot;&gt;&lt;mn&gt;0.01&lt;/mn&gt;&lt;/math&gt;" id="1204" name="Google Shape;1204;p82" title="0.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374" y="2447647"/>
            <a:ext cx="546912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01\end{array}&quot;&gt;&lt;mtable columnalign=&quot;left&quot; columnspacing=&quot;1em&quot; rowspacing=&quot;4pt&quot;&gt;&lt;mtr&gt;&lt;mtd&gt;&lt;mn&gt;0.001&lt;/mn&gt;&lt;/mtd&gt;&lt;/mtr&gt;&lt;/mtable&gt;&lt;/math&gt;" id="1205" name="Google Shape;1205;p82" title="1 lines Line 1: 0.0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1920" y="2448474"/>
            <a:ext cx="695325" cy="229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206" name="Google Shape;1206;p82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3010" y="3015546"/>
            <a:ext cx="381000" cy="545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07" name="Google Shape;1207;p82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6863" y="1555200"/>
            <a:ext cx="300836" cy="55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&quot;&gt;&lt;mn&gt;0.1&lt;/mn&gt;&lt;/math&gt;" id="1208" name="Google Shape;1208;p82" title="0.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96688" y="2444388"/>
            <a:ext cx="3810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09" name="Google Shape;1209;p82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2018" y="3039335"/>
            <a:ext cx="300825" cy="554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210" name="Google Shape;1210;p82" title="the fraction with numerator 1 and denominator 10 cub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3274" y="3002150"/>
            <a:ext cx="381000" cy="552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211" name="Google Shape;1211;p82" title="the fraction with numerator 1 and denominator 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85925" y="3019225"/>
            <a:ext cx="381000" cy="54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2"/>
          <p:cNvSpPr txBox="1"/>
          <p:nvPr>
            <p:ph idx="1" type="body"/>
          </p:nvPr>
        </p:nvSpPr>
        <p:spPr>
          <a:xfrm>
            <a:off x="408150" y="659050"/>
            <a:ext cx="7080600" cy="8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Fill in </a:t>
            </a:r>
            <a:r>
              <a:rPr lang="en-GB" sz="1800"/>
              <a:t>the gaps so that each column shows a different way of writing the same value.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213" name="Google Shape;1213;p82" title="1 over 1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35214" y="1555200"/>
            <a:ext cx="435200" cy="554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214" name="Google Shape;1214;p82" title="the fraction with numerator 1 and denominator 10 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90476" y="1555199"/>
            <a:ext cx="769130" cy="5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forms for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2"/>
          <p:cNvSpPr/>
          <p:nvPr/>
        </p:nvSpPr>
        <p:spPr>
          <a:xfrm>
            <a:off x="2119200" y="1483569"/>
            <a:ext cx="1577400" cy="6789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2"/>
          <p:cNvSpPr/>
          <p:nvPr/>
        </p:nvSpPr>
        <p:spPr>
          <a:xfrm>
            <a:off x="2114300" y="2246876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82"/>
          <p:cNvSpPr/>
          <p:nvPr/>
        </p:nvSpPr>
        <p:spPr>
          <a:xfrm>
            <a:off x="7112750" y="2231650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2"/>
          <p:cNvSpPr/>
          <p:nvPr/>
        </p:nvSpPr>
        <p:spPr>
          <a:xfrm>
            <a:off x="7124525" y="3704910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82"/>
          <p:cNvSpPr/>
          <p:nvPr/>
        </p:nvSpPr>
        <p:spPr>
          <a:xfrm>
            <a:off x="5438415" y="3704910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82"/>
          <p:cNvSpPr/>
          <p:nvPr/>
        </p:nvSpPr>
        <p:spPr>
          <a:xfrm>
            <a:off x="5438415" y="2965235"/>
            <a:ext cx="1577400" cy="64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0001\end{array}&quot;&gt;&lt;mtable columnalign=&quot;left&quot; columnspacing=&quot;1em&quot; rowspacing=&quot;4pt&quot;&gt;&lt;mtr&gt;&lt;mtd&gt;&lt;mn&gt;0.0001&lt;/mn&gt;&lt;/mtd&gt;&lt;/mtr&gt;&lt;/mtable&gt;&lt;/math&gt;" id="1222" name="Google Shape;1222;p82" title="1 lines Line 1: 0.000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56375" y="2460450"/>
            <a:ext cx="890161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223" name="Google Shape;1223;p82" title="1 over 1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47847" y="1505439"/>
            <a:ext cx="668193" cy="6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82"/>
          <p:cNvSpPr/>
          <p:nvPr/>
        </p:nvSpPr>
        <p:spPr>
          <a:xfrm>
            <a:off x="5418070" y="1482775"/>
            <a:ext cx="1629600" cy="6789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3"/>
          <p:cNvSpPr txBox="1"/>
          <p:nvPr/>
        </p:nvSpPr>
        <p:spPr>
          <a:xfrm>
            <a:off x="6710898" y="3827254"/>
            <a:ext cx="1409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2040.409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83"/>
          <p:cNvSpPr txBox="1"/>
          <p:nvPr/>
        </p:nvSpPr>
        <p:spPr>
          <a:xfrm>
            <a:off x="4910840" y="2988474"/>
            <a:ext cx="127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906.807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83"/>
          <p:cNvSpPr/>
          <p:nvPr/>
        </p:nvSpPr>
        <p:spPr>
          <a:xfrm>
            <a:off x="4910700" y="3013400"/>
            <a:ext cx="1276500" cy="48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3"/>
          <p:cNvSpPr txBox="1"/>
          <p:nvPr>
            <p:ph idx="1" type="body"/>
          </p:nvPr>
        </p:nvSpPr>
        <p:spPr>
          <a:xfrm>
            <a:off x="400200" y="643039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Write the following in</a:t>
            </a:r>
            <a:r>
              <a:rPr b="1" lang="en-GB"/>
              <a:t> decimal form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33" name="Google Shape;1233;p83"/>
          <p:cNvSpPr/>
          <p:nvPr/>
        </p:nvSpPr>
        <p:spPr>
          <a:xfrm>
            <a:off x="6710896" y="3932854"/>
            <a:ext cx="1409700" cy="48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3"/>
          <p:cNvSpPr txBox="1"/>
          <p:nvPr/>
        </p:nvSpPr>
        <p:spPr>
          <a:xfrm>
            <a:off x="261000" y="1062900"/>
            <a:ext cx="651300" cy="3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sp>
        <p:nvSpPr>
          <p:cNvPr id="1235" name="Google Shape;123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forms for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3"/>
          <p:cNvSpPr txBox="1"/>
          <p:nvPr/>
        </p:nvSpPr>
        <p:spPr>
          <a:xfrm>
            <a:off x="912300" y="1577700"/>
            <a:ext cx="772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2000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7" name="Google Shape;1237;p83"/>
          <p:cNvSpPr txBox="1"/>
          <p:nvPr/>
        </p:nvSpPr>
        <p:spPr>
          <a:xfrm>
            <a:off x="1750600" y="1577700"/>
            <a:ext cx="1504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300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83"/>
          <p:cNvSpPr txBox="1"/>
          <p:nvPr/>
        </p:nvSpPr>
        <p:spPr>
          <a:xfrm>
            <a:off x="3198400" y="1570425"/>
            <a:ext cx="899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9" name="Google Shape;1239;p83"/>
          <p:cNvSpPr txBox="1"/>
          <p:nvPr/>
        </p:nvSpPr>
        <p:spPr>
          <a:xfrm>
            <a:off x="4189000" y="1570425"/>
            <a:ext cx="11049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83"/>
          <p:cNvSpPr txBox="1"/>
          <p:nvPr/>
        </p:nvSpPr>
        <p:spPr>
          <a:xfrm>
            <a:off x="875038" y="2494575"/>
            <a:ext cx="772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000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1" name="Google Shape;1241;p83"/>
          <p:cNvSpPr txBox="1"/>
          <p:nvPr/>
        </p:nvSpPr>
        <p:spPr>
          <a:xfrm>
            <a:off x="1713345" y="2494575"/>
            <a:ext cx="899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2" name="Google Shape;1242;p83"/>
          <p:cNvSpPr txBox="1"/>
          <p:nvPr/>
        </p:nvSpPr>
        <p:spPr>
          <a:xfrm>
            <a:off x="2399153" y="2487300"/>
            <a:ext cx="11049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3" name="Google Shape;1243;p83"/>
          <p:cNvSpPr txBox="1"/>
          <p:nvPr/>
        </p:nvSpPr>
        <p:spPr>
          <a:xfrm>
            <a:off x="3161154" y="2487300"/>
            <a:ext cx="1504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83"/>
          <p:cNvSpPr txBox="1"/>
          <p:nvPr/>
        </p:nvSpPr>
        <p:spPr>
          <a:xfrm>
            <a:off x="775075" y="3494700"/>
            <a:ext cx="772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00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83"/>
          <p:cNvSpPr txBox="1"/>
          <p:nvPr/>
        </p:nvSpPr>
        <p:spPr>
          <a:xfrm>
            <a:off x="1613370" y="3494700"/>
            <a:ext cx="899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83"/>
          <p:cNvSpPr txBox="1"/>
          <p:nvPr/>
        </p:nvSpPr>
        <p:spPr>
          <a:xfrm>
            <a:off x="2222978" y="3487425"/>
            <a:ext cx="11049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83"/>
          <p:cNvSpPr txBox="1"/>
          <p:nvPr/>
        </p:nvSpPr>
        <p:spPr>
          <a:xfrm>
            <a:off x="3061182" y="3487425"/>
            <a:ext cx="16893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0.007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8" name="Google Shape;1248;p83"/>
          <p:cNvSpPr txBox="1"/>
          <p:nvPr/>
        </p:nvSpPr>
        <p:spPr>
          <a:xfrm>
            <a:off x="924700" y="4334261"/>
            <a:ext cx="899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200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0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9" name="Google Shape;1249;p83"/>
          <p:cNvSpPr txBox="1"/>
          <p:nvPr/>
        </p:nvSpPr>
        <p:spPr>
          <a:xfrm>
            <a:off x="1585401" y="4334261"/>
            <a:ext cx="11049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0" name="Google Shape;1250;p83"/>
          <p:cNvSpPr txBox="1"/>
          <p:nvPr/>
        </p:nvSpPr>
        <p:spPr>
          <a:xfrm>
            <a:off x="2388371" y="4332429"/>
            <a:ext cx="1409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0.003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83"/>
          <p:cNvSpPr txBox="1"/>
          <p:nvPr/>
        </p:nvSpPr>
        <p:spPr>
          <a:xfrm>
            <a:off x="3474078" y="4332429"/>
            <a:ext cx="16893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2" name="Google Shape;1252;p83"/>
          <p:cNvSpPr txBox="1"/>
          <p:nvPr/>
        </p:nvSpPr>
        <p:spPr>
          <a:xfrm>
            <a:off x="4493078" y="4348029"/>
            <a:ext cx="16893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+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0.006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times10^3\ +4+0.7\ +\ 0.02=&quot;&gt;&lt;mn&gt;8&lt;/mn&gt;&lt;mo&gt;×&lt;/mo&gt;&lt;msup&gt;&lt;mn&gt;10&lt;/mn&gt;&lt;mn&gt;3&lt;/mn&gt;&lt;/msup&gt;&lt;mtext&gt;&lt;/mtext&gt;&lt;mo&gt;+&lt;/mo&gt;&lt;mn&gt;4&lt;/mn&gt;&lt;mo&gt;+&lt;/mo&gt;&lt;mn&gt;0.7&lt;/mn&gt;&lt;mtext&gt;&lt;/mtext&gt;&lt;mo&gt;+&lt;/mo&gt;&lt;mtext&gt;&lt;/mtext&gt;&lt;mn&gt;0.02&lt;/mn&gt;&lt;mo&gt;=&lt;/mo&gt;&lt;/math&gt;" id="1253" name="Google Shape;1253;p83" title="8 times 10 cubed positive 4 plus 0.7 plus 0.02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001" y="2083224"/>
            <a:ext cx="3529775" cy="2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925" y="1565175"/>
            <a:ext cx="4352775" cy="4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3"/>
          <p:cNvSpPr/>
          <p:nvPr/>
        </p:nvSpPr>
        <p:spPr>
          <a:xfrm>
            <a:off x="5622000" y="1062900"/>
            <a:ext cx="1104900" cy="48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83"/>
          <p:cNvSpPr txBox="1"/>
          <p:nvPr/>
        </p:nvSpPr>
        <p:spPr>
          <a:xfrm>
            <a:off x="5655415" y="1036836"/>
            <a:ext cx="127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2304.9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10^3\ +\ 3\times10^2+4+9\times\frac{1}{10}=&quot;&gt;&lt;mn&gt;2&lt;/mn&gt;&lt;mo&gt;×&lt;/mo&gt;&lt;msup&gt;&lt;mn&gt;10&lt;/mn&gt;&lt;mn&gt;3&lt;/mn&gt;&lt;/msup&gt;&lt;mtext&gt;&lt;/mtext&gt;&lt;mo&gt;+&lt;/mo&gt;&lt;mtext&gt;&lt;/mtext&gt;&lt;mn&gt;3&lt;/mn&gt;&lt;mo&gt;×&lt;/mo&gt;&lt;msup&gt;&lt;mn&gt;10&lt;/mn&gt;&lt;mn&gt;2&lt;/mn&gt;&lt;/msup&gt;&lt;mo&gt;+&lt;/mo&gt;&lt;mn&gt;4&lt;/mn&gt;&lt;mo&gt;+&lt;/mo&gt;&lt;mn&gt;9&lt;/mn&gt;&lt;mo&gt;×&lt;/mo&gt;&lt;mfrac&gt;&lt;mn&gt;1&lt;/mn&gt;&lt;mn&gt;10&lt;/mn&gt;&lt;/mfrac&gt;&lt;mo&gt;=&lt;/mo&gt;&lt;/math&gt;" id="1257" name="Google Shape;1257;p83" title="2 times 10 cubed plus 3 times 10 squared plus 4 plus 9 times one tenth equal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064" y="979877"/>
            <a:ext cx="45815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000" y="2597688"/>
            <a:ext cx="341392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83"/>
          <p:cNvSpPr txBox="1"/>
          <p:nvPr/>
        </p:nvSpPr>
        <p:spPr>
          <a:xfrm>
            <a:off x="4509540" y="2003236"/>
            <a:ext cx="127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8004.72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83"/>
          <p:cNvSpPr/>
          <p:nvPr/>
        </p:nvSpPr>
        <p:spPr>
          <a:xfrm>
            <a:off x="4433200" y="2020675"/>
            <a:ext cx="1276500" cy="48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1" name="Google Shape;126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075" y="3618525"/>
            <a:ext cx="35297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53" y="4429511"/>
            <a:ext cx="525292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10^2\ +\ 6+0.8+7\times\frac{1}{10^3}=&quot;&gt;&lt;mn&gt;9&lt;/mn&gt;&lt;mo&gt;×&lt;/mo&gt;&lt;msup&gt;&lt;mn&gt;10&lt;/mn&gt;&lt;mn&gt;2&lt;/mn&gt;&lt;/msup&gt;&lt;mtext&gt;&lt;/mtext&gt;&lt;mo&gt;+&lt;/mo&gt;&lt;mtext&gt;&lt;/mtext&gt;&lt;mn&gt;6&lt;/mn&gt;&lt;mo&gt;+&lt;/mo&gt;&lt;mn&gt;0.8&lt;/mn&gt;&lt;mo&gt;+&lt;/mo&gt;&lt;mn&gt;7&lt;/mn&gt;&lt;mo&gt;×&lt;/mo&gt;&lt;mfrac&gt;&lt;mn&gt;1&lt;/mn&gt;&lt;msup&gt;&lt;mn&gt;10&lt;/mn&gt;&lt;mn&gt;3&lt;/mn&gt;&lt;/msup&gt;&lt;/mfrac&gt;&lt;mo&gt;=&lt;/mo&gt;&lt;/math&gt;" id="1263" name="Google Shape;1263;p83" title="9 times 10 squared plus 6 plus 0.8 plus 7 times the fraction with numerator 1 and denominator 10 cubed equal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075" y="2898636"/>
            <a:ext cx="397535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10^3\ +\ 40+0.003\ +4\times\frac{1}{10}+6\times\frac{1}{10^3}=&quot;&gt;&lt;mn&gt;2&lt;/mn&gt;&lt;mo&gt;×&lt;/mo&gt;&lt;msup&gt;&lt;mn&gt;10&lt;/mn&gt;&lt;mn&gt;3&lt;/mn&gt;&lt;/msup&gt;&lt;mtext&gt;&lt;/mtext&gt;&lt;mo&gt;+&lt;/mo&gt;&lt;mtext&gt;&lt;/mtext&gt;&lt;mn&gt;40&lt;/mn&gt;&lt;mo&gt;+&lt;/mo&gt;&lt;mn&gt;0.003&lt;/mn&gt;&lt;mtext&gt;&lt;/mtext&gt;&lt;mo&gt;+&lt;/mo&gt;&lt;mn&gt;4&lt;/mn&gt;&lt;mo&gt;×&lt;/mo&gt;&lt;mfrac&gt;&lt;mn&gt;1&lt;/mn&gt;&lt;mn&gt;10&lt;/mn&gt;&lt;/mfrac&gt;&lt;mo&gt;+&lt;/mo&gt;&lt;mn&gt;6&lt;/mn&gt;&lt;mo&gt;×&lt;/mo&gt;&lt;mfrac&gt;&lt;mn&gt;1&lt;/mn&gt;&lt;msup&gt;&lt;mn&gt;10&lt;/mn&gt;&lt;mn&gt;3&lt;/mn&gt;&lt;/msup&gt;&lt;/mfrac&gt;&lt;mo&gt;=&lt;/mo&gt;&lt;/math&gt;" id="1264" name="Google Shape;1264;p83" title="2 times 10 cubed plus 40 plus 0.003 positive 4 times one tenth plus 6 times the fraction with numerator 1 and denominator 10 cubed 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748" y="3771447"/>
            <a:ext cx="58483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8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and fractional forms</a:t>
            </a:r>
            <a:r>
              <a:rPr lang="en-GB"/>
              <a:t> for decimals</a:t>
            </a:r>
            <a:endParaRPr/>
          </a:p>
        </p:txBody>
      </p:sp>
      <p:sp>
        <p:nvSpPr>
          <p:cNvPr id="1270" name="Google Shape;1270;p84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  <p:pic>
        <p:nvPicPr>
          <p:cNvPr id="1271" name="Google Shape;127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38" y="29865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85"/>
          <p:cNvSpPr txBox="1"/>
          <p:nvPr>
            <p:ph idx="1" type="body"/>
          </p:nvPr>
        </p:nvSpPr>
        <p:spPr>
          <a:xfrm>
            <a:off x="324000" y="759300"/>
            <a:ext cx="71352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</a:t>
            </a:r>
            <a:r>
              <a:rPr b="1" lang="en-GB"/>
              <a:t>decimals</a:t>
            </a:r>
            <a:r>
              <a:rPr lang="en-GB"/>
              <a:t> can be represented in different ways using different place </a:t>
            </a:r>
            <a:r>
              <a:rPr lang="en-GB"/>
              <a:t>value charts.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5"/>
          <p:cNvSpPr txBox="1"/>
          <p:nvPr>
            <p:ph idx="1" type="body"/>
          </p:nvPr>
        </p:nvSpPr>
        <p:spPr>
          <a:xfrm>
            <a:off x="324000" y="1919400"/>
            <a:ext cx="82377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important to understand how these place value charts work.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  <p:graphicFrame>
        <p:nvGraphicFramePr>
          <p:cNvPr id="1285" name="Google Shape;1285;p86"/>
          <p:cNvGraphicFramePr/>
          <p:nvPr/>
        </p:nvGraphicFramePr>
        <p:xfrm>
          <a:off x="323988" y="12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</a:tblGrid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6" name="Google Shape;1286;p86"/>
          <p:cNvGraphicFramePr/>
          <p:nvPr/>
        </p:nvGraphicFramePr>
        <p:xfrm>
          <a:off x="323988" y="1270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94450"/>
                <a:gridCol w="349550"/>
                <a:gridCol w="586725"/>
                <a:gridCol w="395875"/>
                <a:gridCol w="548125"/>
                <a:gridCol w="395875"/>
                <a:gridCol w="555875"/>
                <a:gridCol w="349525"/>
                <a:gridCol w="579025"/>
                <a:gridCol w="364975"/>
                <a:gridCol w="579025"/>
                <a:gridCol w="364975"/>
                <a:gridCol w="579025"/>
                <a:gridCol w="364975"/>
                <a:gridCol w="579025"/>
                <a:gridCol w="364975"/>
                <a:gridCol w="594475"/>
                <a:gridCol w="34952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7" name="Google Shape;1287;p86"/>
          <p:cNvSpPr txBox="1"/>
          <p:nvPr>
            <p:ph idx="4294967295" type="subTitle"/>
          </p:nvPr>
        </p:nvSpPr>
        <p:spPr>
          <a:xfrm>
            <a:off x="324000" y="770350"/>
            <a:ext cx="84960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</a:t>
            </a:r>
            <a:r>
              <a:rPr lang="en-GB"/>
              <a:t>Gattegno</a:t>
            </a:r>
            <a:r>
              <a:rPr lang="en-GB"/>
              <a:t> chart.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  <p:sp>
        <p:nvSpPr>
          <p:cNvPr id="1293" name="Google Shape;1293;p87"/>
          <p:cNvSpPr txBox="1"/>
          <p:nvPr>
            <p:ph idx="4294967295" type="subTitle"/>
          </p:nvPr>
        </p:nvSpPr>
        <p:spPr>
          <a:xfrm>
            <a:off x="324000" y="7703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</a:t>
            </a:r>
            <a:r>
              <a:rPr lang="en-GB" sz="2200"/>
              <a:t> identify the </a:t>
            </a:r>
            <a:r>
              <a:rPr b="1" lang="en-GB" sz="2200"/>
              <a:t>decimal</a:t>
            </a:r>
            <a:r>
              <a:rPr lang="en-GB" sz="2200"/>
              <a:t> </a:t>
            </a:r>
            <a:r>
              <a:rPr lang="en-GB" sz="2200"/>
              <a:t>represented here?</a:t>
            </a:r>
            <a:endParaRPr sz="2200"/>
          </a:p>
        </p:txBody>
      </p:sp>
      <p:sp>
        <p:nvSpPr>
          <p:cNvPr id="1294" name="Google Shape;1294;p87"/>
          <p:cNvSpPr txBox="1"/>
          <p:nvPr/>
        </p:nvSpPr>
        <p:spPr>
          <a:xfrm>
            <a:off x="4100000" y="4259186"/>
            <a:ext cx="949200" cy="421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643.62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95" name="Google Shape;1295;p87"/>
          <p:cNvGraphicFramePr/>
          <p:nvPr/>
        </p:nvGraphicFramePr>
        <p:xfrm>
          <a:off x="323988" y="12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  <a:gridCol w="944000"/>
              </a:tblGrid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6" name="Google Shape;1296;p87"/>
          <p:cNvGraphicFramePr/>
          <p:nvPr/>
        </p:nvGraphicFramePr>
        <p:xfrm>
          <a:off x="323988" y="1270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94450"/>
                <a:gridCol w="349550"/>
                <a:gridCol w="586725"/>
                <a:gridCol w="395875"/>
                <a:gridCol w="548125"/>
                <a:gridCol w="395875"/>
                <a:gridCol w="555875"/>
                <a:gridCol w="349525"/>
                <a:gridCol w="579025"/>
                <a:gridCol w="364975"/>
                <a:gridCol w="579025"/>
                <a:gridCol w="364975"/>
                <a:gridCol w="579025"/>
                <a:gridCol w="364975"/>
                <a:gridCol w="579025"/>
                <a:gridCol w="364975"/>
                <a:gridCol w="594475"/>
                <a:gridCol w="34952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.05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.06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.07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.08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7" name="Google Shape;1297;p87"/>
          <p:cNvSpPr/>
          <p:nvPr/>
        </p:nvSpPr>
        <p:spPr>
          <a:xfrm>
            <a:off x="5067296" y="1768925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7"/>
          <p:cNvSpPr/>
          <p:nvPr/>
        </p:nvSpPr>
        <p:spPr>
          <a:xfrm>
            <a:off x="3178268" y="2246550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87"/>
          <p:cNvSpPr/>
          <p:nvPr/>
        </p:nvSpPr>
        <p:spPr>
          <a:xfrm>
            <a:off x="2234264" y="2736557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87"/>
          <p:cNvSpPr/>
          <p:nvPr/>
        </p:nvSpPr>
        <p:spPr>
          <a:xfrm>
            <a:off x="5067293" y="3223057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7"/>
          <p:cNvSpPr/>
          <p:nvPr/>
        </p:nvSpPr>
        <p:spPr>
          <a:xfrm>
            <a:off x="1297857" y="3708307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88"/>
          <p:cNvPicPr preferRelativeResize="0"/>
          <p:nvPr/>
        </p:nvPicPr>
        <p:blipFill rotWithShape="1">
          <a:blip r:embed="rId3">
            <a:alphaModFix/>
          </a:blip>
          <a:srcRect b="0" l="0" r="14624" t="0"/>
          <a:stretch/>
        </p:blipFill>
        <p:spPr>
          <a:xfrm>
            <a:off x="4022088" y="1222354"/>
            <a:ext cx="4466225" cy="1165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7" name="Google Shape;1307;p88"/>
          <p:cNvGraphicFramePr/>
          <p:nvPr/>
        </p:nvGraphicFramePr>
        <p:xfrm>
          <a:off x="350441" y="13941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  <a:gridCol w="594475"/>
                <a:gridCol w="34952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8" name="Google Shape;1308;p88"/>
          <p:cNvSpPr txBox="1"/>
          <p:nvPr>
            <p:ph type="title"/>
          </p:nvPr>
        </p:nvSpPr>
        <p:spPr>
          <a:xfrm>
            <a:off x="405643" y="7751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</a:t>
            </a:r>
            <a:r>
              <a:rPr lang="en-GB"/>
              <a:t>has the largest decimal value? Explain.</a:t>
            </a:r>
            <a:endParaRPr/>
          </a:p>
        </p:txBody>
      </p:sp>
      <p:pic>
        <p:nvPicPr>
          <p:cNvPr id="1309" name="Google Shape;130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325" y="4012925"/>
            <a:ext cx="19022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7808" y="343702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88"/>
          <p:cNvGrpSpPr/>
          <p:nvPr/>
        </p:nvGrpSpPr>
        <p:grpSpPr>
          <a:xfrm>
            <a:off x="4978458" y="1784567"/>
            <a:ext cx="3509850" cy="511388"/>
            <a:chOff x="4763795" y="3524305"/>
            <a:chExt cx="3509850" cy="511388"/>
          </a:xfrm>
        </p:grpSpPr>
        <p:sp>
          <p:nvSpPr>
            <p:cNvPr id="1312" name="Google Shape;1312;p88"/>
            <p:cNvSpPr txBox="1"/>
            <p:nvPr/>
          </p:nvSpPr>
          <p:spPr>
            <a:xfrm>
              <a:off x="6123920" y="3524305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88"/>
            <p:cNvSpPr txBox="1"/>
            <p:nvPr/>
          </p:nvSpPr>
          <p:spPr>
            <a:xfrm>
              <a:off x="6942095" y="3525392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88"/>
            <p:cNvSpPr txBox="1"/>
            <p:nvPr/>
          </p:nvSpPr>
          <p:spPr>
            <a:xfrm>
              <a:off x="4763795" y="352538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8"/>
            <p:cNvSpPr txBox="1"/>
            <p:nvPr/>
          </p:nvSpPr>
          <p:spPr>
            <a:xfrm>
              <a:off x="5439095" y="352538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88"/>
            <p:cNvSpPr txBox="1"/>
            <p:nvPr/>
          </p:nvSpPr>
          <p:spPr>
            <a:xfrm>
              <a:off x="7674545" y="3525392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17" name="Google Shape;1317;p88"/>
          <p:cNvGraphicFramePr/>
          <p:nvPr/>
        </p:nvGraphicFramePr>
        <p:xfrm>
          <a:off x="427399" y="1367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44575"/>
                <a:gridCol w="944575"/>
                <a:gridCol w="944575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8" name="Google Shape;1318;p88"/>
          <p:cNvSpPr/>
          <p:nvPr/>
        </p:nvSpPr>
        <p:spPr>
          <a:xfrm>
            <a:off x="438107" y="1410179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8"/>
          <p:cNvSpPr/>
          <p:nvPr/>
        </p:nvSpPr>
        <p:spPr>
          <a:xfrm>
            <a:off x="2332868" y="1932779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8"/>
          <p:cNvSpPr/>
          <p:nvPr/>
        </p:nvSpPr>
        <p:spPr>
          <a:xfrm>
            <a:off x="1392002" y="2450045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88"/>
          <p:cNvSpPr/>
          <p:nvPr/>
        </p:nvSpPr>
        <p:spPr>
          <a:xfrm>
            <a:off x="444196" y="2956036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8"/>
          <p:cNvSpPr/>
          <p:nvPr/>
        </p:nvSpPr>
        <p:spPr>
          <a:xfrm>
            <a:off x="2332864" y="3452007"/>
            <a:ext cx="9045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3" name="Google Shape;1323;p88"/>
          <p:cNvGrpSpPr/>
          <p:nvPr/>
        </p:nvGrpSpPr>
        <p:grpSpPr>
          <a:xfrm>
            <a:off x="3497100" y="2327650"/>
            <a:ext cx="5439000" cy="2662375"/>
            <a:chOff x="3497100" y="2403850"/>
            <a:chExt cx="5439000" cy="2662375"/>
          </a:xfrm>
        </p:grpSpPr>
        <p:sp>
          <p:nvSpPr>
            <p:cNvPr id="1324" name="Google Shape;1324;p88"/>
            <p:cNvSpPr txBox="1"/>
            <p:nvPr/>
          </p:nvSpPr>
          <p:spPr>
            <a:xfrm>
              <a:off x="5013000" y="2803625"/>
              <a:ext cx="3923100" cy="22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The hundreds, tens and ones are the same for both decimals, but the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Gattegno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chart shows 2 tenths and 8 hundredths which is less than 8 tenths and 2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hundredths.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25" name="Google Shape;1325;p88"/>
            <p:cNvSpPr txBox="1"/>
            <p:nvPr/>
          </p:nvSpPr>
          <p:spPr>
            <a:xfrm>
              <a:off x="4932725" y="2403850"/>
              <a:ext cx="517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26" name="Google Shape;1326;p88"/>
            <p:cNvSpPr/>
            <p:nvPr/>
          </p:nvSpPr>
          <p:spPr>
            <a:xfrm>
              <a:off x="3497100" y="2612450"/>
              <a:ext cx="1266600" cy="2598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88"/>
            <p:cNvSpPr txBox="1"/>
            <p:nvPr/>
          </p:nvSpPr>
          <p:spPr>
            <a:xfrm>
              <a:off x="5687090" y="2419100"/>
              <a:ext cx="517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28" name="Google Shape;1328;p88"/>
            <p:cNvSpPr txBox="1"/>
            <p:nvPr/>
          </p:nvSpPr>
          <p:spPr>
            <a:xfrm>
              <a:off x="6395750" y="2419100"/>
              <a:ext cx="517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29" name="Google Shape;1329;p88"/>
            <p:cNvSpPr txBox="1"/>
            <p:nvPr/>
          </p:nvSpPr>
          <p:spPr>
            <a:xfrm>
              <a:off x="7157750" y="2419100"/>
              <a:ext cx="517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30" name="Google Shape;1330;p88"/>
            <p:cNvSpPr txBox="1"/>
            <p:nvPr/>
          </p:nvSpPr>
          <p:spPr>
            <a:xfrm>
              <a:off x="7843550" y="2419100"/>
              <a:ext cx="517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31" name="Google Shape;1331;p88"/>
            <p:cNvSpPr/>
            <p:nvPr/>
          </p:nvSpPr>
          <p:spPr>
            <a:xfrm>
              <a:off x="6957900" y="2666150"/>
              <a:ext cx="126900" cy="142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2" name="Google Shape;1332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Different representations of decimals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7" name="Google Shape;1337;p89"/>
          <p:cNvGraphicFramePr/>
          <p:nvPr/>
        </p:nvGraphicFramePr>
        <p:xfrm>
          <a:off x="5700479" y="1151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83275"/>
                <a:gridCol w="997475"/>
                <a:gridCol w="1019200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8" name="Google Shape;1338;p89"/>
          <p:cNvSpPr txBox="1"/>
          <p:nvPr>
            <p:ph idx="4294967295" type="title"/>
          </p:nvPr>
        </p:nvSpPr>
        <p:spPr>
          <a:xfrm>
            <a:off x="324000" y="662569"/>
            <a:ext cx="6759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1) </a:t>
            </a:r>
            <a:r>
              <a:rPr b="0" lang="en-GB"/>
              <a:t>Complete</a:t>
            </a:r>
            <a:r>
              <a:rPr lang="en-GB"/>
              <a:t> </a:t>
            </a:r>
            <a:r>
              <a:rPr b="0" lang="en-GB"/>
              <a:t>the charts to make the decimals.</a:t>
            </a:r>
            <a:endParaRPr b="0"/>
          </a:p>
        </p:txBody>
      </p:sp>
      <p:sp>
        <p:nvSpPr>
          <p:cNvPr id="1339" name="Google Shape;1339;p89"/>
          <p:cNvSpPr txBox="1"/>
          <p:nvPr>
            <p:ph idx="4294967295" type="title"/>
          </p:nvPr>
        </p:nvSpPr>
        <p:spPr>
          <a:xfrm>
            <a:off x="914838" y="3944569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751.15</a:t>
            </a:r>
            <a:endParaRPr b="0" sz="2500"/>
          </a:p>
        </p:txBody>
      </p:sp>
      <p:sp>
        <p:nvSpPr>
          <p:cNvPr id="1340" name="Google Shape;1340;p89"/>
          <p:cNvSpPr txBox="1"/>
          <p:nvPr>
            <p:ph idx="4294967295" type="title"/>
          </p:nvPr>
        </p:nvSpPr>
        <p:spPr>
          <a:xfrm>
            <a:off x="3877356" y="3944569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262.26</a:t>
            </a:r>
            <a:endParaRPr b="0" sz="2500"/>
          </a:p>
        </p:txBody>
      </p:sp>
      <p:sp>
        <p:nvSpPr>
          <p:cNvPr id="1341" name="Google Shape;1341;p89"/>
          <p:cNvSpPr txBox="1"/>
          <p:nvPr>
            <p:ph idx="4294967295" type="title"/>
          </p:nvPr>
        </p:nvSpPr>
        <p:spPr>
          <a:xfrm>
            <a:off x="6371613" y="3944569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93.191</a:t>
            </a:r>
            <a:endParaRPr b="0" sz="2500"/>
          </a:p>
        </p:txBody>
      </p:sp>
      <p:sp>
        <p:nvSpPr>
          <p:cNvPr id="1342" name="Google Shape;1342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Different representations of decimals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3" name="Google Shape;1343;p89"/>
          <p:cNvGraphicFramePr/>
          <p:nvPr/>
        </p:nvGraphicFramePr>
        <p:xfrm>
          <a:off x="3544227" y="1157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40925"/>
                <a:gridCol w="940925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4" name="Google Shape;1344;p89"/>
          <p:cNvGraphicFramePr/>
          <p:nvPr/>
        </p:nvGraphicFramePr>
        <p:xfrm>
          <a:off x="3474194" y="1217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5" name="Google Shape;1345;p89"/>
          <p:cNvGraphicFramePr/>
          <p:nvPr/>
        </p:nvGraphicFramePr>
        <p:xfrm>
          <a:off x="417859" y="11694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6025"/>
                <a:gridCol w="906025"/>
                <a:gridCol w="906025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6" name="Google Shape;1346;p89"/>
          <p:cNvGraphicFramePr/>
          <p:nvPr/>
        </p:nvGraphicFramePr>
        <p:xfrm>
          <a:off x="268798" y="1217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  <a:gridCol w="594475"/>
                <a:gridCol w="34952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" name="Google Shape;1351;p90"/>
          <p:cNvGraphicFramePr/>
          <p:nvPr/>
        </p:nvGraphicFramePr>
        <p:xfrm>
          <a:off x="3458988" y="636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4350"/>
                <a:gridCol w="904350"/>
              </a:tblGrid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90"/>
          <p:cNvSpPr txBox="1"/>
          <p:nvPr>
            <p:ph idx="4294967295" type="title"/>
          </p:nvPr>
        </p:nvSpPr>
        <p:spPr>
          <a:xfrm>
            <a:off x="362100" y="2895525"/>
            <a:ext cx="8820000" cy="18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2) Three students have different numbers. 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Insert all</a:t>
            </a:r>
            <a:r>
              <a:rPr lang="en-GB" sz="1800"/>
              <a:t> </a:t>
            </a:r>
            <a:r>
              <a:rPr b="0" lang="en-GB" sz="1800"/>
              <a:t>the digits 6, 5, 4 and 2 into Sofia’s place value chart to make: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a) a decimal </a:t>
            </a:r>
            <a:r>
              <a:rPr b="0" lang="en-GB" sz="1800"/>
              <a:t>greater than</a:t>
            </a:r>
            <a:r>
              <a:rPr b="0" lang="en-GB" sz="1800"/>
              <a:t> Laura’s.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b) </a:t>
            </a:r>
            <a:r>
              <a:rPr b="0" lang="en-GB" sz="1800"/>
              <a:t>a decimal</a:t>
            </a:r>
            <a:r>
              <a:rPr lang="en-GB" sz="1800"/>
              <a:t> </a:t>
            </a:r>
            <a:r>
              <a:rPr b="0" lang="en-GB" sz="1800"/>
              <a:t>less than</a:t>
            </a:r>
            <a:r>
              <a:rPr b="0" lang="en-GB" sz="1800"/>
              <a:t> Alex’s.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c) </a:t>
            </a:r>
            <a:r>
              <a:rPr b="0" lang="en-GB" sz="1800"/>
              <a:t>a decimal </a:t>
            </a:r>
            <a:r>
              <a:rPr b="0" lang="en-GB" sz="1800"/>
              <a:t>in between</a:t>
            </a:r>
            <a:r>
              <a:rPr b="0" lang="en-GB" sz="1800"/>
              <a:t> Alex’s number and Laura’s number.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Try to find more than one answer for each.</a:t>
            </a:r>
            <a:endParaRPr b="0" sz="1800"/>
          </a:p>
        </p:txBody>
      </p:sp>
      <p:sp>
        <p:nvSpPr>
          <p:cNvPr id="1353" name="Google Shape;1353;p90"/>
          <p:cNvSpPr txBox="1"/>
          <p:nvPr>
            <p:ph idx="4294967295" type="title"/>
          </p:nvPr>
        </p:nvSpPr>
        <p:spPr>
          <a:xfrm>
            <a:off x="200322" y="2572950"/>
            <a:ext cx="3056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900"/>
              <a:t>Alex</a:t>
            </a:r>
            <a:endParaRPr b="0" sz="1900"/>
          </a:p>
        </p:txBody>
      </p:sp>
      <p:sp>
        <p:nvSpPr>
          <p:cNvPr id="1354" name="Google Shape;1354;p90"/>
          <p:cNvSpPr txBox="1"/>
          <p:nvPr>
            <p:ph idx="4294967295" type="title"/>
          </p:nvPr>
        </p:nvSpPr>
        <p:spPr>
          <a:xfrm>
            <a:off x="3935202" y="2632825"/>
            <a:ext cx="9072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900"/>
              <a:t>Laura</a:t>
            </a:r>
            <a:endParaRPr b="0" sz="1900"/>
          </a:p>
        </p:txBody>
      </p:sp>
      <p:sp>
        <p:nvSpPr>
          <p:cNvPr id="1355" name="Google Shape;1355;p90"/>
          <p:cNvSpPr txBox="1"/>
          <p:nvPr>
            <p:ph idx="4294967295" type="title"/>
          </p:nvPr>
        </p:nvSpPr>
        <p:spPr>
          <a:xfrm>
            <a:off x="6868688" y="2055050"/>
            <a:ext cx="9072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900"/>
              <a:t>Sofia</a:t>
            </a:r>
            <a:endParaRPr b="0" sz="1900"/>
          </a:p>
        </p:txBody>
      </p:sp>
      <p:graphicFrame>
        <p:nvGraphicFramePr>
          <p:cNvPr id="1356" name="Google Shape;1356;p90"/>
          <p:cNvGraphicFramePr/>
          <p:nvPr/>
        </p:nvGraphicFramePr>
        <p:xfrm>
          <a:off x="3435972" y="644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7" name="Google Shape;1357;p90"/>
          <p:cNvSpPr/>
          <p:nvPr/>
        </p:nvSpPr>
        <p:spPr>
          <a:xfrm>
            <a:off x="3512166" y="671267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90"/>
          <p:cNvSpPr/>
          <p:nvPr/>
        </p:nvSpPr>
        <p:spPr>
          <a:xfrm>
            <a:off x="4409851" y="1171414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90"/>
          <p:cNvSpPr/>
          <p:nvPr/>
        </p:nvSpPr>
        <p:spPr>
          <a:xfrm>
            <a:off x="4409851" y="1685921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90"/>
          <p:cNvSpPr/>
          <p:nvPr/>
        </p:nvSpPr>
        <p:spPr>
          <a:xfrm>
            <a:off x="3513261" y="2170308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representations of decimals</a:t>
            </a:r>
            <a:endParaRPr/>
          </a:p>
        </p:txBody>
      </p:sp>
      <p:pic>
        <p:nvPicPr>
          <p:cNvPr id="1362" name="Google Shape;136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575" y="11267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625" y="1078150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950" y="87842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554" y="755000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029" y="925850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750" y="6360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625" y="1369263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625" y="1660375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625" y="1951500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9553" y="1021150"/>
            <a:ext cx="3056099" cy="96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6" name="Google Shape;1376;p91"/>
          <p:cNvGraphicFramePr/>
          <p:nvPr/>
        </p:nvGraphicFramePr>
        <p:xfrm>
          <a:off x="5700479" y="1151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83275"/>
                <a:gridCol w="997475"/>
                <a:gridCol w="1019200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7" name="Google Shape;1377;p91"/>
          <p:cNvGraphicFramePr/>
          <p:nvPr/>
        </p:nvGraphicFramePr>
        <p:xfrm>
          <a:off x="3544227" y="1157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40925"/>
                <a:gridCol w="940925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8" name="Google Shape;1378;p91"/>
          <p:cNvGraphicFramePr/>
          <p:nvPr/>
        </p:nvGraphicFramePr>
        <p:xfrm>
          <a:off x="3474194" y="1217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9" name="Google Shape;1379;p91"/>
          <p:cNvSpPr txBox="1"/>
          <p:nvPr>
            <p:ph idx="4294967295" type="title"/>
          </p:nvPr>
        </p:nvSpPr>
        <p:spPr>
          <a:xfrm>
            <a:off x="914838" y="3964453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751.15</a:t>
            </a:r>
            <a:endParaRPr b="0" sz="2500"/>
          </a:p>
        </p:txBody>
      </p:sp>
      <p:sp>
        <p:nvSpPr>
          <p:cNvPr id="1380" name="Google Shape;1380;p91"/>
          <p:cNvSpPr txBox="1"/>
          <p:nvPr>
            <p:ph idx="4294967295" type="title"/>
          </p:nvPr>
        </p:nvSpPr>
        <p:spPr>
          <a:xfrm>
            <a:off x="3767788" y="3996428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262.26</a:t>
            </a:r>
            <a:endParaRPr b="0" sz="2500"/>
          </a:p>
        </p:txBody>
      </p:sp>
      <p:sp>
        <p:nvSpPr>
          <p:cNvPr id="1381" name="Google Shape;1381;p91"/>
          <p:cNvSpPr txBox="1"/>
          <p:nvPr>
            <p:ph idx="4294967295" type="title"/>
          </p:nvPr>
        </p:nvSpPr>
        <p:spPr>
          <a:xfrm>
            <a:off x="6371613" y="4020769"/>
            <a:ext cx="1389300" cy="489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/>
              <a:t>93.191</a:t>
            </a:r>
            <a:endParaRPr b="0" sz="2500"/>
          </a:p>
        </p:txBody>
      </p:sp>
      <p:sp>
        <p:nvSpPr>
          <p:cNvPr id="1382" name="Google Shape;1382;p91"/>
          <p:cNvSpPr txBox="1"/>
          <p:nvPr>
            <p:ph idx="4294967295" type="title"/>
          </p:nvPr>
        </p:nvSpPr>
        <p:spPr>
          <a:xfrm>
            <a:off x="324000" y="662569"/>
            <a:ext cx="6759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1) </a:t>
            </a:r>
            <a:r>
              <a:rPr b="0" lang="en-GB"/>
              <a:t>Complete</a:t>
            </a:r>
            <a:r>
              <a:rPr lang="en-GB"/>
              <a:t> </a:t>
            </a:r>
            <a:r>
              <a:rPr b="0" lang="en-GB"/>
              <a:t>the charts to make the decimals.</a:t>
            </a:r>
            <a:endParaRPr b="0"/>
          </a:p>
        </p:txBody>
      </p:sp>
      <p:graphicFrame>
        <p:nvGraphicFramePr>
          <p:cNvPr id="1383" name="Google Shape;1383;p91"/>
          <p:cNvGraphicFramePr/>
          <p:nvPr/>
        </p:nvGraphicFramePr>
        <p:xfrm>
          <a:off x="417859" y="11694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6025"/>
                <a:gridCol w="906025"/>
                <a:gridCol w="906025"/>
              </a:tblGrid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4" name="Google Shape;1384;p91"/>
          <p:cNvGraphicFramePr/>
          <p:nvPr/>
        </p:nvGraphicFramePr>
        <p:xfrm>
          <a:off x="268798" y="1217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  <a:gridCol w="594475"/>
                <a:gridCol w="349525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5" name="Google Shape;1385;p91"/>
          <p:cNvSpPr/>
          <p:nvPr/>
        </p:nvSpPr>
        <p:spPr>
          <a:xfrm>
            <a:off x="2275339" y="1217475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91"/>
          <p:cNvSpPr/>
          <p:nvPr/>
        </p:nvSpPr>
        <p:spPr>
          <a:xfrm>
            <a:off x="1374150" y="1730925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91"/>
          <p:cNvSpPr/>
          <p:nvPr/>
        </p:nvSpPr>
        <p:spPr>
          <a:xfrm>
            <a:off x="471200" y="2251880"/>
            <a:ext cx="813000" cy="4143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91"/>
          <p:cNvSpPr/>
          <p:nvPr/>
        </p:nvSpPr>
        <p:spPr>
          <a:xfrm>
            <a:off x="3583945" y="1201150"/>
            <a:ext cx="8496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91"/>
          <p:cNvSpPr/>
          <p:nvPr/>
        </p:nvSpPr>
        <p:spPr>
          <a:xfrm>
            <a:off x="4526450" y="1722225"/>
            <a:ext cx="8496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90" name="Google Shape;1390;p91"/>
          <p:cNvGraphicFramePr/>
          <p:nvPr/>
        </p:nvGraphicFramePr>
        <p:xfrm>
          <a:off x="5730400" y="1225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443975"/>
                <a:gridCol w="509375"/>
                <a:gridCol w="399000"/>
                <a:gridCol w="678175"/>
                <a:gridCol w="381000"/>
                <a:gridCol w="558500"/>
              </a:tblGrid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.001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.003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.009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1" name="Google Shape;1391;p91"/>
          <p:cNvSpPr/>
          <p:nvPr/>
        </p:nvSpPr>
        <p:spPr>
          <a:xfrm>
            <a:off x="6739555" y="1715685"/>
            <a:ext cx="8859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91"/>
          <p:cNvSpPr/>
          <p:nvPr/>
        </p:nvSpPr>
        <p:spPr>
          <a:xfrm>
            <a:off x="7729220" y="1201150"/>
            <a:ext cx="9372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91"/>
          <p:cNvSpPr/>
          <p:nvPr/>
        </p:nvSpPr>
        <p:spPr>
          <a:xfrm>
            <a:off x="463580" y="2762420"/>
            <a:ext cx="813000" cy="4143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91"/>
          <p:cNvSpPr/>
          <p:nvPr/>
        </p:nvSpPr>
        <p:spPr>
          <a:xfrm>
            <a:off x="1374150" y="3262545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91"/>
          <p:cNvSpPr/>
          <p:nvPr/>
        </p:nvSpPr>
        <p:spPr>
          <a:xfrm>
            <a:off x="3583945" y="2248125"/>
            <a:ext cx="8496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91"/>
          <p:cNvSpPr/>
          <p:nvPr/>
        </p:nvSpPr>
        <p:spPr>
          <a:xfrm>
            <a:off x="4526450" y="3262550"/>
            <a:ext cx="8496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91"/>
          <p:cNvSpPr/>
          <p:nvPr/>
        </p:nvSpPr>
        <p:spPr>
          <a:xfrm>
            <a:off x="5758180" y="2235597"/>
            <a:ext cx="8859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91"/>
          <p:cNvSpPr/>
          <p:nvPr/>
        </p:nvSpPr>
        <p:spPr>
          <a:xfrm>
            <a:off x="7717146" y="2745104"/>
            <a:ext cx="9372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91"/>
          <p:cNvSpPr/>
          <p:nvPr/>
        </p:nvSpPr>
        <p:spPr>
          <a:xfrm>
            <a:off x="5758175" y="3262550"/>
            <a:ext cx="9078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91"/>
          <p:cNvSpPr/>
          <p:nvPr/>
        </p:nvSpPr>
        <p:spPr>
          <a:xfrm>
            <a:off x="3583945" y="2758671"/>
            <a:ext cx="8496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representations of decimals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642" y="3277189"/>
            <a:ext cx="3140776" cy="102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267" y="2242789"/>
            <a:ext cx="3140776" cy="102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267" y="1229339"/>
            <a:ext cx="3140776" cy="1023111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92"/>
          <p:cNvSpPr txBox="1"/>
          <p:nvPr>
            <p:ph idx="4294967295" type="title"/>
          </p:nvPr>
        </p:nvSpPr>
        <p:spPr>
          <a:xfrm>
            <a:off x="468000" y="810000"/>
            <a:ext cx="75162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a) </a:t>
            </a:r>
            <a:r>
              <a:rPr b="0" lang="en-GB" sz="1800"/>
              <a:t>a decimal greater than Laura’s.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410" name="Google Shape;1410;p92"/>
          <p:cNvSpPr txBox="1"/>
          <p:nvPr>
            <p:ph idx="4294967295" type="title"/>
          </p:nvPr>
        </p:nvSpPr>
        <p:spPr>
          <a:xfrm>
            <a:off x="937650" y="3628088"/>
            <a:ext cx="15702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Alex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234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1" name="Google Shape;1411;p92"/>
          <p:cNvSpPr txBox="1"/>
          <p:nvPr>
            <p:ph idx="4294967295" type="title"/>
          </p:nvPr>
        </p:nvSpPr>
        <p:spPr>
          <a:xfrm>
            <a:off x="3417600" y="3705500"/>
            <a:ext cx="18879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Laura</a:t>
            </a:r>
            <a:r>
              <a:rPr b="0" lang="en-GB" sz="2000"/>
              <a:t>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255.2</a:t>
            </a:r>
            <a:endParaRPr b="0" sz="2000"/>
          </a:p>
        </p:txBody>
      </p:sp>
      <p:sp>
        <p:nvSpPr>
          <p:cNvPr id="1412" name="Google Shape;1412;p92"/>
          <p:cNvSpPr txBox="1"/>
          <p:nvPr>
            <p:ph idx="4294967295" type="title"/>
          </p:nvPr>
        </p:nvSpPr>
        <p:spPr>
          <a:xfrm>
            <a:off x="5744251" y="17502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3" name="Google Shape;1413;p92"/>
          <p:cNvSpPr txBox="1"/>
          <p:nvPr>
            <p:ph idx="4294967295" type="title"/>
          </p:nvPr>
        </p:nvSpPr>
        <p:spPr>
          <a:xfrm>
            <a:off x="6889101" y="17502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4" name="Google Shape;1414;p92"/>
          <p:cNvSpPr txBox="1"/>
          <p:nvPr>
            <p:ph idx="4294967295" type="title"/>
          </p:nvPr>
        </p:nvSpPr>
        <p:spPr>
          <a:xfrm>
            <a:off x="7577051" y="17647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5" name="Google Shape;1415;p92"/>
          <p:cNvSpPr txBox="1"/>
          <p:nvPr>
            <p:ph idx="4294967295" type="title"/>
          </p:nvPr>
        </p:nvSpPr>
        <p:spPr>
          <a:xfrm>
            <a:off x="6316676" y="17502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6" name="Google Shape;1416;p92"/>
          <p:cNvSpPr txBox="1"/>
          <p:nvPr>
            <p:ph idx="4294967295" type="title"/>
          </p:nvPr>
        </p:nvSpPr>
        <p:spPr>
          <a:xfrm>
            <a:off x="6946863" y="2749733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7" name="Google Shape;1417;p92"/>
          <p:cNvSpPr txBox="1"/>
          <p:nvPr>
            <p:ph idx="4294967295" type="title"/>
          </p:nvPr>
        </p:nvSpPr>
        <p:spPr>
          <a:xfrm>
            <a:off x="7577051" y="2749733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8" name="Google Shape;1418;p92"/>
          <p:cNvSpPr txBox="1"/>
          <p:nvPr>
            <p:ph idx="4294967295" type="title"/>
          </p:nvPr>
        </p:nvSpPr>
        <p:spPr>
          <a:xfrm>
            <a:off x="5644063" y="2749733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9" name="Google Shape;1419;p92"/>
          <p:cNvSpPr txBox="1"/>
          <p:nvPr>
            <p:ph idx="4294967295" type="title"/>
          </p:nvPr>
        </p:nvSpPr>
        <p:spPr>
          <a:xfrm>
            <a:off x="6316676" y="2749733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0" name="Google Shape;1420;p92"/>
          <p:cNvSpPr txBox="1"/>
          <p:nvPr>
            <p:ph idx="4294967295" type="title"/>
          </p:nvPr>
        </p:nvSpPr>
        <p:spPr>
          <a:xfrm>
            <a:off x="5744251" y="3791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1" name="Google Shape;1421;p92"/>
          <p:cNvSpPr txBox="1"/>
          <p:nvPr>
            <p:ph idx="4294967295" type="title"/>
          </p:nvPr>
        </p:nvSpPr>
        <p:spPr>
          <a:xfrm>
            <a:off x="6309726" y="3791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2" name="Google Shape;1422;p92"/>
          <p:cNvSpPr txBox="1"/>
          <p:nvPr>
            <p:ph idx="4294967295" type="title"/>
          </p:nvPr>
        </p:nvSpPr>
        <p:spPr>
          <a:xfrm>
            <a:off x="7577051" y="38062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3" name="Google Shape;1423;p92"/>
          <p:cNvSpPr txBox="1"/>
          <p:nvPr>
            <p:ph idx="4294967295" type="title"/>
          </p:nvPr>
        </p:nvSpPr>
        <p:spPr>
          <a:xfrm>
            <a:off x="6943388" y="38062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4" name="Google Shape;1424;p92"/>
          <p:cNvSpPr txBox="1"/>
          <p:nvPr/>
        </p:nvSpPr>
        <p:spPr>
          <a:xfrm>
            <a:off x="5520650" y="733963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answers</a:t>
            </a:r>
            <a:endParaRPr sz="2000"/>
          </a:p>
        </p:txBody>
      </p:sp>
      <p:graphicFrame>
        <p:nvGraphicFramePr>
          <p:cNvPr id="1425" name="Google Shape;1425;p92"/>
          <p:cNvGraphicFramePr/>
          <p:nvPr/>
        </p:nvGraphicFramePr>
        <p:xfrm>
          <a:off x="3392811" y="13319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4350"/>
                <a:gridCol w="904350"/>
              </a:tblGrid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6" name="Google Shape;1426;p92"/>
          <p:cNvGraphicFramePr/>
          <p:nvPr/>
        </p:nvGraphicFramePr>
        <p:xfrm>
          <a:off x="3369795" y="1340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7" name="Google Shape;1427;p92"/>
          <p:cNvSpPr/>
          <p:nvPr/>
        </p:nvSpPr>
        <p:spPr>
          <a:xfrm>
            <a:off x="3445989" y="1367167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92"/>
          <p:cNvSpPr/>
          <p:nvPr/>
        </p:nvSpPr>
        <p:spPr>
          <a:xfrm>
            <a:off x="4343674" y="1867314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92"/>
          <p:cNvSpPr/>
          <p:nvPr/>
        </p:nvSpPr>
        <p:spPr>
          <a:xfrm>
            <a:off x="4343674" y="2381821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92"/>
          <p:cNvSpPr/>
          <p:nvPr/>
        </p:nvSpPr>
        <p:spPr>
          <a:xfrm>
            <a:off x="3447084" y="2866208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representations of decimals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32" name="Google Shape;143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8729" y="18125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1450" y="1763950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104" y="156422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708" y="144080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83" y="161165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904" y="13218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779" y="2055063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779" y="2346175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779" y="2637300"/>
            <a:ext cx="434625" cy="2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5" name="Google Shape;144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642" y="3277189"/>
            <a:ext cx="3140776" cy="102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267" y="2242789"/>
            <a:ext cx="3140776" cy="102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267" y="1229339"/>
            <a:ext cx="3140776" cy="1023111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93"/>
          <p:cNvSpPr txBox="1"/>
          <p:nvPr>
            <p:ph idx="4294967295" type="title"/>
          </p:nvPr>
        </p:nvSpPr>
        <p:spPr>
          <a:xfrm>
            <a:off x="468000" y="810000"/>
            <a:ext cx="3697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800"/>
              <a:t>b) a decimal less than Alex’s.</a:t>
            </a:r>
            <a:endParaRPr sz="2100"/>
          </a:p>
        </p:txBody>
      </p:sp>
      <p:sp>
        <p:nvSpPr>
          <p:cNvPr id="1449" name="Google Shape;1449;p93"/>
          <p:cNvSpPr txBox="1"/>
          <p:nvPr>
            <p:ph idx="4294967295" type="title"/>
          </p:nvPr>
        </p:nvSpPr>
        <p:spPr>
          <a:xfrm>
            <a:off x="8208000" y="1724962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93"/>
          <p:cNvSpPr txBox="1"/>
          <p:nvPr>
            <p:ph idx="4294967295" type="title"/>
          </p:nvPr>
        </p:nvSpPr>
        <p:spPr>
          <a:xfrm>
            <a:off x="6948000" y="1724962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93"/>
          <p:cNvSpPr txBox="1"/>
          <p:nvPr>
            <p:ph idx="4294967295" type="title"/>
          </p:nvPr>
        </p:nvSpPr>
        <p:spPr>
          <a:xfrm>
            <a:off x="7577051" y="17244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93"/>
          <p:cNvSpPr txBox="1"/>
          <p:nvPr>
            <p:ph idx="4294967295" type="title"/>
          </p:nvPr>
        </p:nvSpPr>
        <p:spPr>
          <a:xfrm>
            <a:off x="6316676" y="1724962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3" name="Google Shape;1453;p93"/>
          <p:cNvSpPr txBox="1"/>
          <p:nvPr>
            <p:ph idx="4294967295" type="title"/>
          </p:nvPr>
        </p:nvSpPr>
        <p:spPr>
          <a:xfrm>
            <a:off x="6946863" y="2783787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4" name="Google Shape;1454;p93"/>
          <p:cNvSpPr txBox="1"/>
          <p:nvPr>
            <p:ph idx="4294967295" type="title"/>
          </p:nvPr>
        </p:nvSpPr>
        <p:spPr>
          <a:xfrm>
            <a:off x="7577051" y="2783787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93"/>
          <p:cNvSpPr txBox="1"/>
          <p:nvPr>
            <p:ph idx="4294967295" type="title"/>
          </p:nvPr>
        </p:nvSpPr>
        <p:spPr>
          <a:xfrm>
            <a:off x="6331313" y="2783787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6" name="Google Shape;1456;p93"/>
          <p:cNvSpPr txBox="1"/>
          <p:nvPr>
            <p:ph idx="4294967295" type="title"/>
          </p:nvPr>
        </p:nvSpPr>
        <p:spPr>
          <a:xfrm>
            <a:off x="8208000" y="27828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7" name="Google Shape;1457;p93"/>
          <p:cNvSpPr txBox="1"/>
          <p:nvPr>
            <p:ph idx="4294967295" type="title"/>
          </p:nvPr>
        </p:nvSpPr>
        <p:spPr>
          <a:xfrm>
            <a:off x="6316676" y="37800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8" name="Google Shape;1458;p93"/>
          <p:cNvSpPr txBox="1"/>
          <p:nvPr>
            <p:ph idx="4294967295" type="title"/>
          </p:nvPr>
        </p:nvSpPr>
        <p:spPr>
          <a:xfrm>
            <a:off x="6948000" y="37800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9" name="Google Shape;1459;p93"/>
          <p:cNvSpPr txBox="1"/>
          <p:nvPr>
            <p:ph idx="4294967295" type="title"/>
          </p:nvPr>
        </p:nvSpPr>
        <p:spPr>
          <a:xfrm>
            <a:off x="7577051" y="3780912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0" name="Google Shape;1460;p93"/>
          <p:cNvSpPr txBox="1"/>
          <p:nvPr>
            <p:ph idx="4294967295" type="title"/>
          </p:nvPr>
        </p:nvSpPr>
        <p:spPr>
          <a:xfrm>
            <a:off x="8208000" y="37800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1" name="Google Shape;1461;p93"/>
          <p:cNvSpPr txBox="1"/>
          <p:nvPr>
            <p:ph idx="4294967295" type="title"/>
          </p:nvPr>
        </p:nvSpPr>
        <p:spPr>
          <a:xfrm>
            <a:off x="937650" y="3628088"/>
            <a:ext cx="15702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Alex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234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93"/>
          <p:cNvSpPr txBox="1"/>
          <p:nvPr>
            <p:ph idx="4294967295" type="title"/>
          </p:nvPr>
        </p:nvSpPr>
        <p:spPr>
          <a:xfrm>
            <a:off x="3417600" y="3705500"/>
            <a:ext cx="19017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Laura</a:t>
            </a:r>
            <a:r>
              <a:rPr b="0" lang="en-GB" sz="2000"/>
              <a:t>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255.2</a:t>
            </a:r>
            <a:endParaRPr b="0" sz="2000"/>
          </a:p>
        </p:txBody>
      </p:sp>
      <p:sp>
        <p:nvSpPr>
          <p:cNvPr id="1463" name="Google Shape;1463;p93"/>
          <p:cNvSpPr txBox="1"/>
          <p:nvPr/>
        </p:nvSpPr>
        <p:spPr>
          <a:xfrm>
            <a:off x="5444450" y="708683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answers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64" name="Google Shape;1464;p93"/>
          <p:cNvGraphicFramePr/>
          <p:nvPr/>
        </p:nvGraphicFramePr>
        <p:xfrm>
          <a:off x="3392811" y="13319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4350"/>
                <a:gridCol w="904350"/>
              </a:tblGrid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3369795" y="1340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6" name="Google Shape;1466;p93"/>
          <p:cNvSpPr/>
          <p:nvPr/>
        </p:nvSpPr>
        <p:spPr>
          <a:xfrm>
            <a:off x="3445989" y="1367167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93"/>
          <p:cNvSpPr/>
          <p:nvPr/>
        </p:nvSpPr>
        <p:spPr>
          <a:xfrm>
            <a:off x="4343674" y="1867314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93"/>
          <p:cNvSpPr/>
          <p:nvPr/>
        </p:nvSpPr>
        <p:spPr>
          <a:xfrm>
            <a:off x="4343674" y="2381821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93"/>
          <p:cNvSpPr/>
          <p:nvPr/>
        </p:nvSpPr>
        <p:spPr>
          <a:xfrm>
            <a:off x="3447084" y="2866208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representations of decimals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71" name="Google Shape;147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8729" y="18125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104" y="156422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708" y="144080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183" y="161165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904" y="13218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055063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346175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637300"/>
            <a:ext cx="434625" cy="2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642" y="2743789"/>
            <a:ext cx="3140776" cy="102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267" y="1709389"/>
            <a:ext cx="3140776" cy="1023111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94"/>
          <p:cNvSpPr txBox="1"/>
          <p:nvPr>
            <p:ph idx="4294967295" type="title"/>
          </p:nvPr>
        </p:nvSpPr>
        <p:spPr>
          <a:xfrm>
            <a:off x="468000" y="810000"/>
            <a:ext cx="7185900" cy="8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c) a decimal </a:t>
            </a:r>
            <a:r>
              <a:rPr b="0" lang="en-GB" sz="1800"/>
              <a:t>in between Alex’s number and Laura’s number.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486" name="Google Shape;1486;p94"/>
          <p:cNvSpPr txBox="1"/>
          <p:nvPr>
            <p:ph idx="4294967295" type="title"/>
          </p:nvPr>
        </p:nvSpPr>
        <p:spPr>
          <a:xfrm>
            <a:off x="7638051" y="2219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7" name="Google Shape;1487;p94"/>
          <p:cNvSpPr txBox="1"/>
          <p:nvPr>
            <p:ph idx="4294967295" type="title"/>
          </p:nvPr>
        </p:nvSpPr>
        <p:spPr>
          <a:xfrm>
            <a:off x="6960851" y="2219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8" name="Google Shape;1488;p94"/>
          <p:cNvSpPr txBox="1"/>
          <p:nvPr>
            <p:ph idx="4294967295" type="title"/>
          </p:nvPr>
        </p:nvSpPr>
        <p:spPr>
          <a:xfrm>
            <a:off x="5756501" y="2219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9" name="Google Shape;1489;p94"/>
          <p:cNvSpPr txBox="1"/>
          <p:nvPr>
            <p:ph idx="4294967295" type="title"/>
          </p:nvPr>
        </p:nvSpPr>
        <p:spPr>
          <a:xfrm>
            <a:off x="6388426" y="221970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0" name="Google Shape;1490;p94"/>
          <p:cNvSpPr txBox="1"/>
          <p:nvPr>
            <p:ph idx="4294967295" type="title"/>
          </p:nvPr>
        </p:nvSpPr>
        <p:spPr>
          <a:xfrm>
            <a:off x="937650" y="3628088"/>
            <a:ext cx="15702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Alex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234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1" name="Google Shape;1491;p94"/>
          <p:cNvSpPr txBox="1"/>
          <p:nvPr>
            <p:ph idx="4294967295" type="title"/>
          </p:nvPr>
        </p:nvSpPr>
        <p:spPr>
          <a:xfrm>
            <a:off x="3417600" y="3705500"/>
            <a:ext cx="18879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Laura</a:t>
            </a:r>
            <a:r>
              <a:rPr b="0" lang="en-GB" sz="2000"/>
              <a:t>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has 255.2</a:t>
            </a:r>
            <a:endParaRPr b="0" sz="2000"/>
          </a:p>
        </p:txBody>
      </p:sp>
      <p:sp>
        <p:nvSpPr>
          <p:cNvPr id="1492" name="Google Shape;1492;p94"/>
          <p:cNvSpPr txBox="1"/>
          <p:nvPr/>
        </p:nvSpPr>
        <p:spPr>
          <a:xfrm>
            <a:off x="5444450" y="119117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Only two answers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3" name="Google Shape;1493;p94"/>
          <p:cNvSpPr txBox="1"/>
          <p:nvPr>
            <p:ph idx="4294967295" type="title"/>
          </p:nvPr>
        </p:nvSpPr>
        <p:spPr>
          <a:xfrm>
            <a:off x="7666888" y="32360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4" name="Google Shape;1494;p94"/>
          <p:cNvSpPr txBox="1"/>
          <p:nvPr>
            <p:ph idx="4294967295" type="title"/>
          </p:nvPr>
        </p:nvSpPr>
        <p:spPr>
          <a:xfrm>
            <a:off x="6409188" y="32360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5" name="Google Shape;1495;p94"/>
          <p:cNvSpPr txBox="1"/>
          <p:nvPr>
            <p:ph idx="4294967295" type="title"/>
          </p:nvPr>
        </p:nvSpPr>
        <p:spPr>
          <a:xfrm>
            <a:off x="5785338" y="32360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6" name="Google Shape;1496;p94"/>
          <p:cNvSpPr txBox="1"/>
          <p:nvPr>
            <p:ph idx="4294967295" type="title"/>
          </p:nvPr>
        </p:nvSpPr>
        <p:spPr>
          <a:xfrm>
            <a:off x="6922313" y="3236050"/>
            <a:ext cx="2631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b="0" sz="25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97" name="Google Shape;1497;p94"/>
          <p:cNvGraphicFramePr/>
          <p:nvPr/>
        </p:nvGraphicFramePr>
        <p:xfrm>
          <a:off x="3392811" y="13319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{A32B2F66-25B9-4EB3-B246-9C9FB3B3DA99}</a:tableStyleId>
              </a:tblPr>
              <a:tblGrid>
                <a:gridCol w="904350"/>
                <a:gridCol w="904350"/>
              </a:tblGrid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8" name="Google Shape;1498;p94"/>
          <p:cNvGraphicFramePr/>
          <p:nvPr/>
        </p:nvGraphicFramePr>
        <p:xfrm>
          <a:off x="3369795" y="1340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{AF65CC0A-2585-4BDF-87DF-2A39559B2220}</a:tableStyleId>
              </a:tblPr>
              <a:tblGrid>
                <a:gridCol w="579025"/>
                <a:gridCol w="364975"/>
                <a:gridCol w="579025"/>
                <a:gridCol w="364975"/>
              </a:tblGrid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9" name="Google Shape;1499;p94"/>
          <p:cNvSpPr/>
          <p:nvPr/>
        </p:nvSpPr>
        <p:spPr>
          <a:xfrm>
            <a:off x="3445989" y="1367167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94"/>
          <p:cNvSpPr/>
          <p:nvPr/>
        </p:nvSpPr>
        <p:spPr>
          <a:xfrm>
            <a:off x="4343674" y="1867314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94"/>
          <p:cNvSpPr/>
          <p:nvPr/>
        </p:nvSpPr>
        <p:spPr>
          <a:xfrm>
            <a:off x="4343674" y="2381821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94"/>
          <p:cNvSpPr/>
          <p:nvPr/>
        </p:nvSpPr>
        <p:spPr>
          <a:xfrm>
            <a:off x="3447084" y="2866208"/>
            <a:ext cx="813000" cy="421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representations of decimals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504" name="Google Shape;150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8729" y="18125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104" y="156422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708" y="144080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183" y="1611650"/>
            <a:ext cx="1558420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904" y="132180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055063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0" name="Google Shape;1510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346175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779" y="2637300"/>
            <a:ext cx="434625" cy="2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95"/>
          <p:cNvSpPr txBox="1"/>
          <p:nvPr>
            <p:ph idx="1" type="body"/>
          </p:nvPr>
        </p:nvSpPr>
        <p:spPr>
          <a:xfrm>
            <a:off x="324000" y="1080000"/>
            <a:ext cx="8106900" cy="36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r>
              <a:rPr lang="en-GB"/>
              <a:t> </a:t>
            </a:r>
            <a:r>
              <a:rPr b="1" lang="en-GB"/>
              <a:t>decimal</a:t>
            </a:r>
            <a:r>
              <a:rPr lang="en-GB"/>
              <a:t> can be represented by using exponentials in the column headings of a place value chart.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D</a:t>
            </a:r>
            <a:r>
              <a:rPr b="1" lang="en-GB"/>
              <a:t>ecimals</a:t>
            </a:r>
            <a:r>
              <a:rPr lang="en-GB"/>
              <a:t> can be represented by using fractions in the column headings of a place value chart.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Place value charts have different column headings which can express a </a:t>
            </a:r>
            <a:r>
              <a:rPr b="1" lang="en-GB"/>
              <a:t>decimal </a:t>
            </a:r>
            <a:r>
              <a:rPr lang="en-GB"/>
              <a:t>in different ways.</a:t>
            </a:r>
            <a:endParaRPr/>
          </a:p>
        </p:txBody>
      </p:sp>
      <p:sp>
        <p:nvSpPr>
          <p:cNvPr id="1517" name="Google Shape;1517;p9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9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23" name="Google Shape;1523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