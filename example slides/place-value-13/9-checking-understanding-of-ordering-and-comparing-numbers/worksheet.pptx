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8B543B0-7D9A-4D13-AAE2-C4A41B951FFB}">
  <a:tblStyle styleId="{78B543B0-7D9A-4D13-AAE2-C4A41B951F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" name="Shape 180"/>
        <p:cNvGrpSpPr/>
        <p:nvPr/>
      </p:nvGrpSpPr>
      <p:grpSpPr>
        <a:xfrm>
          <a:off x="0" y="0"/>
          <a:ext cx="0" cy="0"/>
        </a:xfrm>
      </p:grpSpPr>
      <p:sp>
        <p:nvSpPr>
          <p:cNvPr id="181" name="Google Shape;18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>
            <p:ph type="subTitle" idx="1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4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Checking understanding of ordering and comparing numbers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775300"/>
            <a:ext cx="66240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set of numbers, which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has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great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er value?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statement using &lt;, &gt; or = to compare the values.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4732925"/>
            <a:ext cx="66468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your own comparison statements using the digits 0, 1, 4 and 9. Try to write a statement no one else has thought of.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56600" y="1324750"/>
            <a:ext cx="66468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b="1">
                <a:latin typeface="Lexend"/>
                <a:ea typeface="Lexend"/>
                <a:cs typeface="Lexend"/>
                <a:sym typeface="Lexend"/>
              </a:rPr>
              <a:t>Task A: Reviewing the use of &lt;, &gt; and =</a:t>
            </a:r>
            <a:endParaRPr sz="1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309075" y="2484900"/>
            <a:ext cx="2336100" cy="5694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                          fourteen   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latin typeface="Lexend"/>
                <a:ea typeface="Lexend"/>
                <a:cs typeface="Lexend"/>
                <a:sym typeface="Lexend"/>
              </a:rPr>
              <a:t>                         thousand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76400" y="2484900"/>
            <a:ext cx="1478400" cy="5694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9              9.00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309075" y="3181350"/>
            <a:ext cx="2336100" cy="5694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109 000              140 000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476400" y="3181350"/>
            <a:ext cx="1478400" cy="5694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1.09            1.4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309075" y="3877800"/>
            <a:ext cx="2336100" cy="5694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190 000           1.4 million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476400" y="3877800"/>
            <a:ext cx="1478400" cy="5694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0.04       0.019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953600" y="2484900"/>
            <a:ext cx="2135700" cy="5694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                              9.5 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latin typeface="Lexend"/>
                <a:ea typeface="Lexend"/>
                <a:cs typeface="Lexend"/>
                <a:sym typeface="Lexend"/>
              </a:rPr>
              <a:t>                          million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953600" y="3181350"/>
            <a:ext cx="2135700" cy="5694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0.4                    0.09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4953600" y="3877800"/>
            <a:ext cx="2135700" cy="5694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19.04             19.104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2338489" y="2484825"/>
            <a:ext cx="1112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1900        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953600" y="2484900"/>
            <a:ext cx="1351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9 350 647     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468000" y="9972000"/>
            <a:ext cx="6646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1469600" y="7374375"/>
          <a:ext cx="4015050" cy="731460"/>
        </p:xfrm>
        <a:graphic>
          <a:graphicData uri="http://schemas.openxmlformats.org/drawingml/2006/table">
            <a:tbl>
              <a:tblPr>
                <a:noFill/>
                <a:tableStyleId>{78B543B0-7D9A-4D13-AAE2-C4A41B951FFB}</a:tableStyleId>
              </a:tblPr>
              <a:tblGrid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</a:tblGrid>
              <a:tr h="28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456600" y="7100100"/>
            <a:ext cx="66468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this grid where needed to help align the numbers for easier comparison.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1469600" y="8109373"/>
          <a:ext cx="4015050" cy="731460"/>
        </p:xfrm>
        <a:graphic>
          <a:graphicData uri="http://schemas.openxmlformats.org/drawingml/2006/table">
            <a:tbl>
              <a:tblPr>
                <a:noFill/>
                <a:tableStyleId>{78B543B0-7D9A-4D13-AAE2-C4A41B951FFB}</a:tableStyleId>
              </a:tblPr>
              <a:tblGrid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</a:tblGrid>
              <a:tr h="28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9" name="Google Shape;179;p20"/>
          <p:cNvGraphicFramePr>
            <a:graphicFrameLocks noGrp="1"/>
          </p:cNvGraphicFramePr>
          <p:nvPr/>
        </p:nvGraphicFramePr>
        <p:xfrm>
          <a:off x="1469600" y="8844372"/>
          <a:ext cx="4015050" cy="731460"/>
        </p:xfrm>
        <a:graphic>
          <a:graphicData uri="http://schemas.openxmlformats.org/drawingml/2006/table">
            <a:tbl>
              <a:tblPr>
                <a:noFill/>
                <a:tableStyleId>{78B543B0-7D9A-4D13-AAE2-C4A41B951FFB}</a:tableStyleId>
              </a:tblPr>
              <a:tblGrid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  <a:gridCol w="308850"/>
              </a:tblGrid>
              <a:tr h="28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sp>
        <p:nvSpPr>
          <p:cNvPr id="184" name="Google Shape;18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5" name="Google Shape;18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ordering and comparing numbers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2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56600" y="1179900"/>
            <a:ext cx="6646800" cy="1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invites her friends out for her birthday. At the theme park you get half price entry if you are under 1.5 m tall.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mathematical statement to describe the situation: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Who will get half price entry?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685350" y="2165342"/>
            <a:ext cx="390300" cy="303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/>
          </a:p>
        </p:txBody>
      </p:sp>
      <p:sp>
        <p:nvSpPr>
          <p:cNvPr id="191" name="Google Shape;191;p21"/>
          <p:cNvSpPr/>
          <p:nvPr/>
        </p:nvSpPr>
        <p:spPr>
          <a:xfrm>
            <a:off x="456600" y="2125595"/>
            <a:ext cx="1121700" cy="38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height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2182700" y="2125595"/>
            <a:ext cx="910800" cy="38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1.5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2903" y="7925601"/>
            <a:ext cx="57442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2990" y="7994050"/>
            <a:ext cx="707421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2234051" y="8497925"/>
            <a:ext cx="814500" cy="74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Laura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latin typeface="Lexend"/>
                <a:ea typeface="Lexend"/>
                <a:cs typeface="Lexend"/>
                <a:sym typeface="Lexend"/>
              </a:rPr>
              <a:t>1.54 m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Age 12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" name="Google Shape;19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6930" y="8051874"/>
            <a:ext cx="442391" cy="183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4376100" y="8544375"/>
            <a:ext cx="858300" cy="846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Andeep1.49 m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Age 11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02923" y="8386401"/>
            <a:ext cx="1340864" cy="14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3157850" y="8851600"/>
            <a:ext cx="1088700" cy="808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Lucas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1.5 m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Age 11.25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6162900" y="8641900"/>
            <a:ext cx="939900" cy="808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Izzy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1.45 m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latin typeface="Lexend"/>
                <a:ea typeface="Lexend"/>
                <a:cs typeface="Lexend"/>
                <a:sym typeface="Lexend"/>
              </a:rPr>
              <a:t>Age 11.5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80507" y="8075534"/>
            <a:ext cx="503118" cy="178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1256000" y="8558675"/>
            <a:ext cx="1021500" cy="846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Sofia 1.44 m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latin typeface="Lexend"/>
                <a:ea typeface="Lexend"/>
                <a:cs typeface="Lexend"/>
                <a:sym typeface="Lexend"/>
              </a:rPr>
              <a:t>Age 11.75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66722" y="7924976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5189700" y="8384225"/>
            <a:ext cx="939900" cy="846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787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Alex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1.53 m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Age 11.5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" name="Google Shape;205;p21"/>
          <p:cNvCxnSpPr/>
          <p:nvPr/>
        </p:nvCxnSpPr>
        <p:spPr>
          <a:xfrm>
            <a:off x="468000" y="9972000"/>
            <a:ext cx="6646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" name="Google Shape;206;p21"/>
          <p:cNvSpPr txBox="1"/>
          <p:nvPr/>
        </p:nvSpPr>
        <p:spPr>
          <a:xfrm>
            <a:off x="468000" y="3293750"/>
            <a:ext cx="6646800" cy="17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wants to ride a big roller coaster. It says you have to be at least 1.45 m tall to ride it.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a mathematical statement to describe this.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Who can ride on the roller coaster?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1706495" y="4214555"/>
            <a:ext cx="390300" cy="30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77745" y="4174807"/>
            <a:ext cx="1121700" cy="383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2203845" y="4174813"/>
            <a:ext cx="939900" cy="38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1.45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15400" y="5495288"/>
            <a:ext cx="6600000" cy="15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After visiting the theme park Laura is going to the cinema to watch a film that has a rating of 12.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Write a mathematical statement to describe this.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 Is Laura’s choice of film a good one if she wants her friends to come along? Can you justify your answer?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56600" y="643800"/>
            <a:ext cx="66468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b="1"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sz="15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B: Comparing numbers using ≤ and ≥</a:t>
            </a:r>
            <a:endParaRPr sz="15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Checking understanding of ordering and comparing numbers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2023-11-02T14:16:58.278</cp:lastPrinted>
  <dcterms:created xsi:type="dcterms:W3CDTF">2023-11-02T14:16:58Z</dcterms:created>
  <dcterms:modified xsi:type="dcterms:W3CDTF">2023-11-02T14:17:50Z</dcterms:modified>
</cp:coreProperties>
</file>