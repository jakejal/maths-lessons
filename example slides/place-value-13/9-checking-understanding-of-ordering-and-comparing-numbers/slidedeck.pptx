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281AEB-F502-4362-BEB6-587FE50DF014}">
  <a:tblStyle styleId="{9F281AEB-F502-4362-BEB6-587FE50DF0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c0ffe65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c0ffe65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7f91b37e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7f91b37e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7c0ffe65f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7c0ffe65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7c55ea6772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7c55ea6772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7c55ea6772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7c55ea6772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7c55ea6772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7c55ea6772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7c55ea6772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7c55ea6772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7c55ea6772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7c55ea6772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7c55ea6772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7c55ea6772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e71a5ada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e71a5ada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e71a5adae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1e71a5adae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e71a5adae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1e71a5adae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e71a5adae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e71a5adae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e71a5adae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e71a5adae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7ec8df215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7ec8df215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7c55ea677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7c55ea677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7c55ea6772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7c55ea6772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7c55ea6772_0_1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7c55ea6772_0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7c55ea6772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7c55ea6772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7c55ea6772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7c55ea6772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27c55ea677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27c55ea677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7c55ea6772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7c55ea6772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43d637544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43d637544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7c0ffe65f8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7c0ffe65f8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7d6ba657a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7d6ba657a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7c55ea6772_0_1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7c55ea6772_0_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27c55ea6772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27c55ea6772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80248d0410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80248d041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7c55ea6772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7c55ea6772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80248d0410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80248d0410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7c55ea6772_0_1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7c55ea6772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805b8551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805b8551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805b85519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805b85519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280248d0410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280248d0410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805b855196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805b85519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805b85519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805b85519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76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76.png"/><Relationship Id="rId4" Type="http://schemas.openxmlformats.org/officeDocument/2006/relationships/image" Target="../media/image26.png"/><Relationship Id="rId9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3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76.png"/><Relationship Id="rId4" Type="http://schemas.openxmlformats.org/officeDocument/2006/relationships/image" Target="../media/image30.png"/><Relationship Id="rId11" Type="http://schemas.openxmlformats.org/officeDocument/2006/relationships/image" Target="../media/image15.png"/><Relationship Id="rId10" Type="http://schemas.openxmlformats.org/officeDocument/2006/relationships/image" Target="../media/image35.png"/><Relationship Id="rId9" Type="http://schemas.openxmlformats.org/officeDocument/2006/relationships/image" Target="../media/image32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42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42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42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61" name="Google Shape;561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7" name="Google Shape;567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8" name="Google Shape;56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4" name="Google Shape;5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4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4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6" name="Google Shape;586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7" name="Google Shape;587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9" name="Google Shape;589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0" name="Google Shape;59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6" name="Google Shape;5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8" name="Google Shape;598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9" name="Google Shape;599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4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4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4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5" name="Google Shape;605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06" name="Google Shape;606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8" name="Google Shape;608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9" name="Google Shape;609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1" name="Google Shape;611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8" name="Google Shape;618;p4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1" name="Google Shape;6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4" name="Google Shape;624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27" name="Google Shape;627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28" name="Google Shape;62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31" name="Google Shape;631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3" name="Google Shape;633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34" name="Google Shape;63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0" name="Google Shape;6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7" name="Google Shape;6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148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8" name="Google Shape;718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9" name="Google Shape;71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4" name="Google Shape;724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0" name="Google Shape;730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2" name="Google Shape;732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6" name="Google Shape;736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8" name="Google Shape;738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9" Type="http://schemas.openxmlformats.org/officeDocument/2006/relationships/image" Target="../media/image49.png"/><Relationship Id="rId5" Type="http://schemas.openxmlformats.org/officeDocument/2006/relationships/image" Target="../media/image57.png"/><Relationship Id="rId6" Type="http://schemas.openxmlformats.org/officeDocument/2006/relationships/image" Target="../media/image52.png"/><Relationship Id="rId7" Type="http://schemas.openxmlformats.org/officeDocument/2006/relationships/image" Target="../media/image51.png"/><Relationship Id="rId8" Type="http://schemas.openxmlformats.org/officeDocument/2006/relationships/image" Target="../media/image56.png"/><Relationship Id="rId11" Type="http://schemas.openxmlformats.org/officeDocument/2006/relationships/image" Target="../media/image50.png"/><Relationship Id="rId10" Type="http://schemas.openxmlformats.org/officeDocument/2006/relationships/image" Target="../media/image54.png"/><Relationship Id="rId13" Type="http://schemas.openxmlformats.org/officeDocument/2006/relationships/image" Target="../media/image55.png"/><Relationship Id="rId12" Type="http://schemas.openxmlformats.org/officeDocument/2006/relationships/image" Target="../media/image53.png"/><Relationship Id="rId15" Type="http://schemas.openxmlformats.org/officeDocument/2006/relationships/image" Target="../media/image58.png"/><Relationship Id="rId14" Type="http://schemas.openxmlformats.org/officeDocument/2006/relationships/image" Target="../media/image5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6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1.png"/><Relationship Id="rId4" Type="http://schemas.openxmlformats.org/officeDocument/2006/relationships/image" Target="../media/image6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2.png"/><Relationship Id="rId6" Type="http://schemas.openxmlformats.org/officeDocument/2006/relationships/image" Target="../media/image75.png"/><Relationship Id="rId7" Type="http://schemas.openxmlformats.org/officeDocument/2006/relationships/image" Target="../media/image70.png"/><Relationship Id="rId8" Type="http://schemas.openxmlformats.org/officeDocument/2006/relationships/image" Target="../media/image7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2.png"/><Relationship Id="rId6" Type="http://schemas.openxmlformats.org/officeDocument/2006/relationships/image" Target="../media/image75.png"/><Relationship Id="rId7" Type="http://schemas.openxmlformats.org/officeDocument/2006/relationships/image" Target="../media/image70.png"/><Relationship Id="rId8" Type="http://schemas.openxmlformats.org/officeDocument/2006/relationships/image" Target="../media/image7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2.png"/><Relationship Id="rId6" Type="http://schemas.openxmlformats.org/officeDocument/2006/relationships/image" Target="../media/image75.png"/><Relationship Id="rId7" Type="http://schemas.openxmlformats.org/officeDocument/2006/relationships/image" Target="../media/image70.png"/><Relationship Id="rId8" Type="http://schemas.openxmlformats.org/officeDocument/2006/relationships/image" Target="../media/image7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2.png"/><Relationship Id="rId6" Type="http://schemas.openxmlformats.org/officeDocument/2006/relationships/image" Target="../media/image75.png"/><Relationship Id="rId7" Type="http://schemas.openxmlformats.org/officeDocument/2006/relationships/image" Target="../media/image70.png"/><Relationship Id="rId8" Type="http://schemas.openxmlformats.org/officeDocument/2006/relationships/image" Target="../media/image7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2.png"/><Relationship Id="rId6" Type="http://schemas.openxmlformats.org/officeDocument/2006/relationships/image" Target="../media/image75.png"/><Relationship Id="rId7" Type="http://schemas.openxmlformats.org/officeDocument/2006/relationships/image" Target="../media/image70.png"/><Relationship Id="rId8" Type="http://schemas.openxmlformats.org/officeDocument/2006/relationships/image" Target="../media/image7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2.png"/><Relationship Id="rId6" Type="http://schemas.openxmlformats.org/officeDocument/2006/relationships/image" Target="../media/image75.png"/><Relationship Id="rId7" Type="http://schemas.openxmlformats.org/officeDocument/2006/relationships/image" Target="../media/image70.png"/><Relationship Id="rId8" Type="http://schemas.openxmlformats.org/officeDocument/2006/relationships/image" Target="../media/image7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ordering and comparing numbers</a:t>
            </a:r>
            <a:endParaRPr/>
          </a:p>
        </p:txBody>
      </p:sp>
      <p:sp>
        <p:nvSpPr>
          <p:cNvPr id="763" name="Google Shape;763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"/>
          <p:cNvSpPr txBox="1"/>
          <p:nvPr/>
        </p:nvSpPr>
        <p:spPr>
          <a:xfrm>
            <a:off x="5590850" y="725950"/>
            <a:ext cx="226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 txBox="1"/>
          <p:nvPr>
            <p:ph idx="1" type="subTitle"/>
          </p:nvPr>
        </p:nvSpPr>
        <p:spPr>
          <a:xfrm>
            <a:off x="585575" y="1463950"/>
            <a:ext cx="75888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order and compare numbers and measures using </a:t>
            </a:r>
            <a:r>
              <a:rPr lang="en-GB" sz="1800"/>
              <a:t>&lt; , &gt;, =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324000" y="1075800"/>
            <a:ext cx="8496000" cy="83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digit</a:t>
            </a:r>
            <a:r>
              <a:rPr b="1" lang="en-GB"/>
              <a:t> </a:t>
            </a:r>
            <a:r>
              <a:rPr lang="en-GB"/>
              <a:t>is one of the symbols of a number system. In our number system we use the digits 0, 1, 2, 3, 4, 5, 6, 7, 8 and 9.</a:t>
            </a:r>
            <a:endParaRPr/>
          </a:p>
        </p:txBody>
      </p:sp>
      <p:sp>
        <p:nvSpPr>
          <p:cNvPr id="779" name="Google Shape;779;p67"/>
          <p:cNvSpPr txBox="1"/>
          <p:nvPr>
            <p:ph idx="2" type="subTitle"/>
          </p:nvPr>
        </p:nvSpPr>
        <p:spPr>
          <a:xfrm>
            <a:off x="324000" y="2238725"/>
            <a:ext cx="8496000" cy="10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</a:t>
            </a:r>
            <a:r>
              <a:rPr lang="en-GB"/>
              <a:t>integer</a:t>
            </a:r>
            <a:r>
              <a:rPr b="1" lang="en-GB"/>
              <a:t> </a:t>
            </a:r>
            <a:r>
              <a:rPr lang="en-GB"/>
              <a:t>is any positive or negative whole number or zero. E.g. -2, 0, 153 are all examples of integers.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use of</a:t>
            </a:r>
            <a:r>
              <a:rPr lang="en-GB"/>
              <a:t> &lt; , &gt; </a:t>
            </a:r>
            <a:r>
              <a:rPr lang="en-GB"/>
              <a:t>and =   </a:t>
            </a:r>
            <a:endParaRPr/>
          </a:p>
        </p:txBody>
      </p:sp>
      <p:sp>
        <p:nvSpPr>
          <p:cNvPr id="785" name="Google Shape;785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numbers using ≤ and ≥   </a:t>
            </a:r>
            <a:endParaRPr/>
          </a:p>
        </p:txBody>
      </p:sp>
      <p:sp>
        <p:nvSpPr>
          <p:cNvPr id="786" name="Google Shape;786;p68"/>
          <p:cNvSpPr txBox="1"/>
          <p:nvPr>
            <p:ph idx="3" type="title"/>
          </p:nvPr>
        </p:nvSpPr>
        <p:spPr>
          <a:xfrm>
            <a:off x="324000" y="657600"/>
            <a:ext cx="7925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</a:t>
            </a:r>
            <a:r>
              <a:rPr lang="en-GB"/>
              <a:t> understanding of ordering and comparing numbers</a:t>
            </a:r>
            <a:r>
              <a:rPr lang="en-GB"/>
              <a:t>  </a:t>
            </a:r>
            <a:endParaRPr/>
          </a:p>
        </p:txBody>
      </p:sp>
      <p:pic>
        <p:nvPicPr>
          <p:cNvPr id="787" name="Google Shape;78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6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324000" y="987900"/>
            <a:ext cx="8237700" cy="9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symbol &lt; means “less than”.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value on the left is less than the value on the right.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</a:t>
            </a:r>
            <a:endParaRPr/>
          </a:p>
        </p:txBody>
      </p:sp>
      <p:sp>
        <p:nvSpPr>
          <p:cNvPr id="793" name="Google Shape;793;p69"/>
          <p:cNvSpPr/>
          <p:nvPr/>
        </p:nvSpPr>
        <p:spPr>
          <a:xfrm>
            <a:off x="4700900" y="1930600"/>
            <a:ext cx="2953200" cy="525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69"/>
          <p:cNvSpPr/>
          <p:nvPr/>
        </p:nvSpPr>
        <p:spPr>
          <a:xfrm>
            <a:off x="3149300" y="1930500"/>
            <a:ext cx="1551600" cy="525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69"/>
          <p:cNvSpPr/>
          <p:nvPr/>
        </p:nvSpPr>
        <p:spPr>
          <a:xfrm>
            <a:off x="847400" y="1930500"/>
            <a:ext cx="2301900" cy="525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69"/>
          <p:cNvSpPr/>
          <p:nvPr/>
        </p:nvSpPr>
        <p:spPr>
          <a:xfrm rot="1846516">
            <a:off x="2730264" y="2551287"/>
            <a:ext cx="672501" cy="35891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69"/>
          <p:cNvSpPr/>
          <p:nvPr/>
        </p:nvSpPr>
        <p:spPr>
          <a:xfrm rot="8716545">
            <a:off x="5213030" y="2551287"/>
            <a:ext cx="709938" cy="3589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69"/>
          <p:cNvSpPr/>
          <p:nvPr/>
        </p:nvSpPr>
        <p:spPr>
          <a:xfrm rot="5400000">
            <a:off x="4231800" y="2514198"/>
            <a:ext cx="4221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3067350" y="2960025"/>
            <a:ext cx="2953200" cy="52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200"/>
              <a:t>4.07 </a:t>
            </a:r>
            <a:r>
              <a:rPr lang="en-GB" sz="4200"/>
              <a:t>&lt; 4.7</a:t>
            </a:r>
            <a:endParaRPr sz="4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0"/>
          <p:cNvSpPr txBox="1"/>
          <p:nvPr>
            <p:ph idx="1" type="body"/>
          </p:nvPr>
        </p:nvSpPr>
        <p:spPr>
          <a:xfrm>
            <a:off x="3095400" y="2175125"/>
            <a:ext cx="2953200" cy="52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200"/>
              <a:t>4.07 &lt; 4.7</a:t>
            </a:r>
            <a:endParaRPr sz="4200"/>
          </a:p>
        </p:txBody>
      </p:sp>
      <p:sp>
        <p:nvSpPr>
          <p:cNvPr id="806" name="Google Shape;806;p70"/>
          <p:cNvSpPr txBox="1"/>
          <p:nvPr>
            <p:ph idx="1" type="body"/>
          </p:nvPr>
        </p:nvSpPr>
        <p:spPr>
          <a:xfrm>
            <a:off x="324000" y="987900"/>
            <a:ext cx="8237700" cy="9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symbol &lt; means “less than”.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</a:t>
            </a:r>
            <a:endParaRPr/>
          </a:p>
        </p:txBody>
      </p:sp>
      <p:sp>
        <p:nvSpPr>
          <p:cNvPr id="807" name="Google Shape;807;p70"/>
          <p:cNvSpPr/>
          <p:nvPr/>
        </p:nvSpPr>
        <p:spPr>
          <a:xfrm flipH="1" rot="10800000">
            <a:off x="2969500" y="2235616"/>
            <a:ext cx="1230300" cy="52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70"/>
          <p:cNvSpPr/>
          <p:nvPr/>
        </p:nvSpPr>
        <p:spPr>
          <a:xfrm flipH="1" rot="10800000">
            <a:off x="4229425" y="2234416"/>
            <a:ext cx="459600" cy="52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70"/>
          <p:cNvSpPr/>
          <p:nvPr/>
        </p:nvSpPr>
        <p:spPr>
          <a:xfrm flipH="1" rot="10800000">
            <a:off x="4733400" y="2234416"/>
            <a:ext cx="800400" cy="52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1"/>
          <p:cNvSpPr/>
          <p:nvPr/>
        </p:nvSpPr>
        <p:spPr>
          <a:xfrm>
            <a:off x="5187189" y="1997200"/>
            <a:ext cx="2983200" cy="383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71"/>
          <p:cNvSpPr/>
          <p:nvPr/>
        </p:nvSpPr>
        <p:spPr>
          <a:xfrm>
            <a:off x="3073200" y="1997200"/>
            <a:ext cx="2103000" cy="383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71"/>
          <p:cNvSpPr/>
          <p:nvPr/>
        </p:nvSpPr>
        <p:spPr>
          <a:xfrm>
            <a:off x="847728" y="1997075"/>
            <a:ext cx="2250000" cy="383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71"/>
          <p:cNvSpPr txBox="1"/>
          <p:nvPr>
            <p:ph idx="1" type="body"/>
          </p:nvPr>
        </p:nvSpPr>
        <p:spPr>
          <a:xfrm>
            <a:off x="324000" y="987900"/>
            <a:ext cx="7998600" cy="9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symbol &gt;</a:t>
            </a:r>
            <a:r>
              <a:rPr lang="en-GB"/>
              <a:t> means “greater than”.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value on the left is greater than the value on the right.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</a:t>
            </a:r>
            <a:endParaRPr/>
          </a:p>
        </p:txBody>
      </p:sp>
      <p:sp>
        <p:nvSpPr>
          <p:cNvPr id="819" name="Google Shape;819;p71"/>
          <p:cNvSpPr/>
          <p:nvPr/>
        </p:nvSpPr>
        <p:spPr>
          <a:xfrm rot="1846516">
            <a:off x="2550939" y="2451687"/>
            <a:ext cx="672501" cy="35891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71"/>
          <p:cNvSpPr/>
          <p:nvPr/>
        </p:nvSpPr>
        <p:spPr>
          <a:xfrm rot="8716545">
            <a:off x="5573830" y="2475087"/>
            <a:ext cx="709938" cy="3589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71"/>
          <p:cNvSpPr/>
          <p:nvPr/>
        </p:nvSpPr>
        <p:spPr>
          <a:xfrm rot="5400000">
            <a:off x="4079400" y="2437998"/>
            <a:ext cx="4221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  <p:sp>
        <p:nvSpPr>
          <p:cNvPr id="823" name="Google Shape;823;p71"/>
          <p:cNvSpPr txBox="1"/>
          <p:nvPr>
            <p:ph idx="1" type="body"/>
          </p:nvPr>
        </p:nvSpPr>
        <p:spPr>
          <a:xfrm>
            <a:off x="2991150" y="2807625"/>
            <a:ext cx="2953200" cy="6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200"/>
              <a:t>0.13</a:t>
            </a:r>
            <a:r>
              <a:rPr lang="en-GB" sz="4200"/>
              <a:t> &gt; 0.098</a:t>
            </a:r>
            <a:endParaRPr sz="4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2"/>
          <p:cNvSpPr txBox="1"/>
          <p:nvPr>
            <p:ph idx="1" type="body"/>
          </p:nvPr>
        </p:nvSpPr>
        <p:spPr>
          <a:xfrm>
            <a:off x="2991150" y="2473179"/>
            <a:ext cx="2953200" cy="6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200"/>
              <a:t>0.13 &gt; 0.098</a:t>
            </a:r>
            <a:endParaRPr sz="4200"/>
          </a:p>
        </p:txBody>
      </p:sp>
      <p:sp>
        <p:nvSpPr>
          <p:cNvPr id="829" name="Google Shape;829;p72"/>
          <p:cNvSpPr/>
          <p:nvPr/>
        </p:nvSpPr>
        <p:spPr>
          <a:xfrm flipH="1" rot="10800000">
            <a:off x="4497225" y="2550050"/>
            <a:ext cx="1510800" cy="489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72"/>
          <p:cNvSpPr/>
          <p:nvPr/>
        </p:nvSpPr>
        <p:spPr>
          <a:xfrm flipH="1" rot="10800000">
            <a:off x="4054101" y="2545847"/>
            <a:ext cx="423900" cy="489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72"/>
          <p:cNvSpPr/>
          <p:nvPr/>
        </p:nvSpPr>
        <p:spPr>
          <a:xfrm flipH="1" rot="10800000">
            <a:off x="2895375" y="2543150"/>
            <a:ext cx="1139400" cy="483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72"/>
          <p:cNvSpPr txBox="1"/>
          <p:nvPr>
            <p:ph idx="1" type="body"/>
          </p:nvPr>
        </p:nvSpPr>
        <p:spPr>
          <a:xfrm>
            <a:off x="324000" y="987900"/>
            <a:ext cx="7998600" cy="9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symbol &gt; means “greater than”.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</a:t>
            </a:r>
            <a:endParaRPr/>
          </a:p>
        </p:txBody>
      </p:sp>
      <p:sp>
        <p:nvSpPr>
          <p:cNvPr id="833" name="Google Shape;83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3"/>
          <p:cNvSpPr/>
          <p:nvPr/>
        </p:nvSpPr>
        <p:spPr>
          <a:xfrm>
            <a:off x="4629951" y="1993126"/>
            <a:ext cx="2975100" cy="380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73"/>
          <p:cNvSpPr/>
          <p:nvPr/>
        </p:nvSpPr>
        <p:spPr>
          <a:xfrm>
            <a:off x="3105600" y="1984975"/>
            <a:ext cx="1516200" cy="395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73"/>
          <p:cNvSpPr/>
          <p:nvPr/>
        </p:nvSpPr>
        <p:spPr>
          <a:xfrm>
            <a:off x="855900" y="1975975"/>
            <a:ext cx="2249700" cy="404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73"/>
          <p:cNvSpPr txBox="1"/>
          <p:nvPr>
            <p:ph idx="1" type="body"/>
          </p:nvPr>
        </p:nvSpPr>
        <p:spPr>
          <a:xfrm>
            <a:off x="324000" y="987900"/>
            <a:ext cx="8237700" cy="9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symbol = means “equal to”.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value on the left is equal to the value on the right.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</a:t>
            </a:r>
            <a:endParaRPr/>
          </a:p>
        </p:txBody>
      </p:sp>
      <p:sp>
        <p:nvSpPr>
          <p:cNvPr id="842" name="Google Shape;842;p73"/>
          <p:cNvSpPr/>
          <p:nvPr/>
        </p:nvSpPr>
        <p:spPr>
          <a:xfrm rot="5400000">
            <a:off x="2659000" y="244540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73"/>
          <p:cNvSpPr/>
          <p:nvPr/>
        </p:nvSpPr>
        <p:spPr>
          <a:xfrm rot="5402245">
            <a:off x="5225025" y="2435600"/>
            <a:ext cx="459300" cy="35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73"/>
          <p:cNvSpPr/>
          <p:nvPr/>
        </p:nvSpPr>
        <p:spPr>
          <a:xfrm rot="5400000">
            <a:off x="3902546" y="2437998"/>
            <a:ext cx="4221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73"/>
          <p:cNvSpPr txBox="1"/>
          <p:nvPr>
            <p:ph idx="1" type="body"/>
          </p:nvPr>
        </p:nvSpPr>
        <p:spPr>
          <a:xfrm>
            <a:off x="1633975" y="2854500"/>
            <a:ext cx="5508600" cy="9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two thousand = twenty hundreds </a:t>
            </a:r>
            <a:r>
              <a:rPr lang="en-GB"/>
              <a:t>                    </a:t>
            </a:r>
            <a:endParaRPr/>
          </a:p>
        </p:txBody>
      </p:sp>
      <p:sp>
        <p:nvSpPr>
          <p:cNvPr id="846" name="Google Shape;84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4"/>
          <p:cNvSpPr/>
          <p:nvPr/>
        </p:nvSpPr>
        <p:spPr>
          <a:xfrm>
            <a:off x="1565050" y="2702100"/>
            <a:ext cx="2361600" cy="402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74"/>
          <p:cNvSpPr/>
          <p:nvPr/>
        </p:nvSpPr>
        <p:spPr>
          <a:xfrm>
            <a:off x="3926725" y="2701950"/>
            <a:ext cx="346800" cy="402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74"/>
          <p:cNvSpPr/>
          <p:nvPr/>
        </p:nvSpPr>
        <p:spPr>
          <a:xfrm>
            <a:off x="4273500" y="2701950"/>
            <a:ext cx="2785500" cy="402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4"/>
          <p:cNvSpPr txBox="1"/>
          <p:nvPr>
            <p:ph idx="1" type="body"/>
          </p:nvPr>
        </p:nvSpPr>
        <p:spPr>
          <a:xfrm>
            <a:off x="1633975" y="2702100"/>
            <a:ext cx="5508600" cy="9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two thousand = twenty hundreds </a:t>
            </a:r>
            <a:r>
              <a:rPr lang="en-GB"/>
              <a:t>                    </a:t>
            </a:r>
            <a:endParaRPr/>
          </a:p>
        </p:txBody>
      </p:sp>
      <p:sp>
        <p:nvSpPr>
          <p:cNvPr id="855" name="Google Shape;855;p74"/>
          <p:cNvSpPr txBox="1"/>
          <p:nvPr>
            <p:ph idx="1" type="body"/>
          </p:nvPr>
        </p:nvSpPr>
        <p:spPr>
          <a:xfrm>
            <a:off x="324000" y="987900"/>
            <a:ext cx="8237700" cy="9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symbol = means </a:t>
            </a:r>
            <a:r>
              <a:rPr lang="en-GB"/>
              <a:t>“</a:t>
            </a:r>
            <a:r>
              <a:rPr lang="en-GB"/>
              <a:t>equal to</a:t>
            </a:r>
            <a:r>
              <a:rPr lang="en-GB"/>
              <a:t>”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</a:t>
            </a:r>
            <a:endParaRPr/>
          </a:p>
        </p:txBody>
      </p:sp>
      <p:sp>
        <p:nvSpPr>
          <p:cNvPr id="856" name="Google Shape;85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use of &lt; , &gt; and = 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5"/>
          <p:cNvSpPr/>
          <p:nvPr/>
        </p:nvSpPr>
        <p:spPr>
          <a:xfrm>
            <a:off x="15915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75"/>
          <p:cNvSpPr txBox="1"/>
          <p:nvPr/>
        </p:nvSpPr>
        <p:spPr>
          <a:xfrm>
            <a:off x="2235050" y="2280400"/>
            <a:ext cx="630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5"/>
          <p:cNvSpPr/>
          <p:nvPr/>
        </p:nvSpPr>
        <p:spPr>
          <a:xfrm>
            <a:off x="49853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75"/>
          <p:cNvSpPr txBox="1"/>
          <p:nvPr/>
        </p:nvSpPr>
        <p:spPr>
          <a:xfrm>
            <a:off x="5551778" y="2280400"/>
            <a:ext cx="10452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5"/>
          <p:cNvSpPr/>
          <p:nvPr/>
        </p:nvSpPr>
        <p:spPr>
          <a:xfrm>
            <a:off x="3671600" y="2170500"/>
            <a:ext cx="1200000" cy="12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75"/>
          <p:cNvSpPr txBox="1"/>
          <p:nvPr>
            <p:ph idx="1" type="body"/>
          </p:nvPr>
        </p:nvSpPr>
        <p:spPr>
          <a:xfrm>
            <a:off x="324000" y="7593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value on the left </a:t>
            </a:r>
            <a:r>
              <a:rPr lang="en-GB" u="sng"/>
              <a:t>                  </a:t>
            </a:r>
            <a:r>
              <a:rPr lang="en-GB" sz="1700"/>
              <a:t> </a:t>
            </a:r>
            <a:r>
              <a:rPr lang="en-GB"/>
              <a:t>the value on the right.</a:t>
            </a:r>
            <a:endParaRPr/>
          </a:p>
        </p:txBody>
      </p:sp>
      <p:sp>
        <p:nvSpPr>
          <p:cNvPr id="867" name="Google Shape;867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6"/>
          <p:cNvSpPr/>
          <p:nvPr/>
        </p:nvSpPr>
        <p:spPr>
          <a:xfrm>
            <a:off x="15915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76"/>
          <p:cNvSpPr txBox="1"/>
          <p:nvPr/>
        </p:nvSpPr>
        <p:spPr>
          <a:xfrm>
            <a:off x="2235050" y="2280400"/>
            <a:ext cx="630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6"/>
          <p:cNvSpPr/>
          <p:nvPr/>
        </p:nvSpPr>
        <p:spPr>
          <a:xfrm>
            <a:off x="49853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76"/>
          <p:cNvSpPr txBox="1"/>
          <p:nvPr/>
        </p:nvSpPr>
        <p:spPr>
          <a:xfrm>
            <a:off x="5551778" y="2280400"/>
            <a:ext cx="10452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6"/>
          <p:cNvSpPr/>
          <p:nvPr/>
        </p:nvSpPr>
        <p:spPr>
          <a:xfrm>
            <a:off x="3671600" y="2170500"/>
            <a:ext cx="1200000" cy="12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6"/>
          <p:cNvSpPr txBox="1"/>
          <p:nvPr/>
        </p:nvSpPr>
        <p:spPr>
          <a:xfrm>
            <a:off x="3986600" y="2200350"/>
            <a:ext cx="6303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</a:t>
            </a:r>
            <a:endParaRPr sz="5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6"/>
          <p:cNvSpPr txBox="1"/>
          <p:nvPr>
            <p:ph idx="1" type="body"/>
          </p:nvPr>
        </p:nvSpPr>
        <p:spPr>
          <a:xfrm>
            <a:off x="324000" y="7593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value on the left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is less than</a:t>
            </a:r>
            <a:r>
              <a:rPr lang="en-GB"/>
              <a:t> the value on the right.</a:t>
            </a:r>
            <a:endParaRPr/>
          </a:p>
        </p:txBody>
      </p:sp>
      <p:sp>
        <p:nvSpPr>
          <p:cNvPr id="879" name="Google Shape;879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7"/>
          <p:cNvSpPr/>
          <p:nvPr/>
        </p:nvSpPr>
        <p:spPr>
          <a:xfrm>
            <a:off x="15865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77"/>
          <p:cNvSpPr txBox="1"/>
          <p:nvPr/>
        </p:nvSpPr>
        <p:spPr>
          <a:xfrm>
            <a:off x="1596550" y="1862200"/>
            <a:ext cx="1956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tens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7"/>
          <p:cNvSpPr/>
          <p:nvPr/>
        </p:nvSpPr>
        <p:spPr>
          <a:xfrm>
            <a:off x="49803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77"/>
          <p:cNvSpPr txBox="1"/>
          <p:nvPr/>
        </p:nvSpPr>
        <p:spPr>
          <a:xfrm>
            <a:off x="4990350" y="2280400"/>
            <a:ext cx="1956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7"/>
          <p:cNvSpPr/>
          <p:nvPr/>
        </p:nvSpPr>
        <p:spPr>
          <a:xfrm>
            <a:off x="3666600" y="2170500"/>
            <a:ext cx="1200000" cy="12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  <p:sp>
        <p:nvSpPr>
          <p:cNvPr id="890" name="Google Shape;890;p77"/>
          <p:cNvSpPr txBox="1"/>
          <p:nvPr>
            <p:ph idx="1" type="body"/>
          </p:nvPr>
        </p:nvSpPr>
        <p:spPr>
          <a:xfrm>
            <a:off x="324000" y="7593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value on the left </a:t>
            </a:r>
            <a:r>
              <a:rPr lang="en-GB" u="sng">
                <a:latin typeface="Kalam"/>
                <a:ea typeface="Kalam"/>
                <a:cs typeface="Kalam"/>
                <a:sym typeface="Kalam"/>
              </a:rPr>
              <a:t>           </a:t>
            </a:r>
            <a:r>
              <a:rPr lang="en-GB"/>
              <a:t> the value on the right.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8"/>
          <p:cNvSpPr/>
          <p:nvPr/>
        </p:nvSpPr>
        <p:spPr>
          <a:xfrm>
            <a:off x="15865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8"/>
          <p:cNvSpPr txBox="1"/>
          <p:nvPr/>
        </p:nvSpPr>
        <p:spPr>
          <a:xfrm>
            <a:off x="1596550" y="1862200"/>
            <a:ext cx="1956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tens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8"/>
          <p:cNvSpPr/>
          <p:nvPr/>
        </p:nvSpPr>
        <p:spPr>
          <a:xfrm>
            <a:off x="49803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78"/>
          <p:cNvSpPr txBox="1"/>
          <p:nvPr/>
        </p:nvSpPr>
        <p:spPr>
          <a:xfrm>
            <a:off x="4990350" y="2280400"/>
            <a:ext cx="1956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8"/>
          <p:cNvSpPr/>
          <p:nvPr/>
        </p:nvSpPr>
        <p:spPr>
          <a:xfrm>
            <a:off x="3666600" y="2170500"/>
            <a:ext cx="1200000" cy="12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78"/>
          <p:cNvSpPr txBox="1"/>
          <p:nvPr/>
        </p:nvSpPr>
        <p:spPr>
          <a:xfrm>
            <a:off x="3981600" y="2200350"/>
            <a:ext cx="6303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5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  <p:sp>
        <p:nvSpPr>
          <p:cNvPr id="902" name="Google Shape;902;p78"/>
          <p:cNvSpPr txBox="1"/>
          <p:nvPr>
            <p:ph idx="1" type="body"/>
          </p:nvPr>
        </p:nvSpPr>
        <p:spPr>
          <a:xfrm>
            <a:off x="324000" y="7593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value on the left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is equal to</a:t>
            </a:r>
            <a:r>
              <a:rPr lang="en-GB"/>
              <a:t> the value on the right.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9"/>
          <p:cNvSpPr/>
          <p:nvPr/>
        </p:nvSpPr>
        <p:spPr>
          <a:xfrm>
            <a:off x="15865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79"/>
          <p:cNvSpPr txBox="1"/>
          <p:nvPr/>
        </p:nvSpPr>
        <p:spPr>
          <a:xfrm>
            <a:off x="1586550" y="2280400"/>
            <a:ext cx="1956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9"/>
          <p:cNvSpPr/>
          <p:nvPr/>
        </p:nvSpPr>
        <p:spPr>
          <a:xfrm>
            <a:off x="49803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79"/>
          <p:cNvSpPr txBox="1"/>
          <p:nvPr/>
        </p:nvSpPr>
        <p:spPr>
          <a:xfrm>
            <a:off x="4990350" y="2280400"/>
            <a:ext cx="1956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0.06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9"/>
          <p:cNvSpPr/>
          <p:nvPr/>
        </p:nvSpPr>
        <p:spPr>
          <a:xfrm>
            <a:off x="3666600" y="2170500"/>
            <a:ext cx="1200000" cy="12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79"/>
          <p:cNvSpPr txBox="1"/>
          <p:nvPr>
            <p:ph idx="1" type="body"/>
          </p:nvPr>
        </p:nvSpPr>
        <p:spPr>
          <a:xfrm>
            <a:off x="324000" y="7593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value on the left </a:t>
            </a:r>
            <a:r>
              <a:rPr lang="en-GB" u="sng">
                <a:latin typeface="Kalam"/>
                <a:ea typeface="Kalam"/>
                <a:cs typeface="Kalam"/>
                <a:sym typeface="Kalam"/>
              </a:rPr>
              <a:t>               </a:t>
            </a:r>
            <a:r>
              <a:rPr lang="en-GB" sz="15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/>
              <a:t> the value on the right.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use of &lt; , &gt; and = 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80"/>
          <p:cNvSpPr/>
          <p:nvPr/>
        </p:nvSpPr>
        <p:spPr>
          <a:xfrm>
            <a:off x="15865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80"/>
          <p:cNvSpPr txBox="1"/>
          <p:nvPr/>
        </p:nvSpPr>
        <p:spPr>
          <a:xfrm>
            <a:off x="1586550" y="2280400"/>
            <a:ext cx="1956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80"/>
          <p:cNvSpPr/>
          <p:nvPr/>
        </p:nvSpPr>
        <p:spPr>
          <a:xfrm>
            <a:off x="4980350" y="1804800"/>
            <a:ext cx="1956300" cy="197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80"/>
          <p:cNvSpPr txBox="1"/>
          <p:nvPr/>
        </p:nvSpPr>
        <p:spPr>
          <a:xfrm>
            <a:off x="4990350" y="2280400"/>
            <a:ext cx="1956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0.06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80"/>
          <p:cNvSpPr/>
          <p:nvPr/>
        </p:nvSpPr>
        <p:spPr>
          <a:xfrm>
            <a:off x="3666600" y="2170500"/>
            <a:ext cx="1200000" cy="12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80"/>
          <p:cNvSpPr txBox="1"/>
          <p:nvPr>
            <p:ph idx="1" type="body"/>
          </p:nvPr>
        </p:nvSpPr>
        <p:spPr>
          <a:xfrm>
            <a:off x="324000" y="7593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value on the left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is greater than</a:t>
            </a:r>
            <a:r>
              <a:rPr lang="en-GB"/>
              <a:t> the value on the right.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use of &lt; , &gt; and =  </a:t>
            </a:r>
            <a:endParaRPr/>
          </a:p>
        </p:txBody>
      </p:sp>
      <p:sp>
        <p:nvSpPr>
          <p:cNvPr id="925" name="Google Shape;925;p80"/>
          <p:cNvSpPr txBox="1"/>
          <p:nvPr/>
        </p:nvSpPr>
        <p:spPr>
          <a:xfrm rot="10800000">
            <a:off x="3910400" y="2352750"/>
            <a:ext cx="6303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5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</a:t>
            </a:r>
            <a:endParaRPr sz="5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81"/>
          <p:cNvSpPr/>
          <p:nvPr/>
        </p:nvSpPr>
        <p:spPr>
          <a:xfrm>
            <a:off x="463000" y="3109750"/>
            <a:ext cx="1371000" cy="138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81"/>
          <p:cNvSpPr/>
          <p:nvPr/>
        </p:nvSpPr>
        <p:spPr>
          <a:xfrm>
            <a:off x="463000" y="1626200"/>
            <a:ext cx="1371000" cy="138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81"/>
          <p:cNvSpPr txBox="1"/>
          <p:nvPr/>
        </p:nvSpPr>
        <p:spPr>
          <a:xfrm>
            <a:off x="463050" y="1728550"/>
            <a:ext cx="13710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0.4 million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1"/>
          <p:cNvSpPr txBox="1"/>
          <p:nvPr/>
        </p:nvSpPr>
        <p:spPr>
          <a:xfrm>
            <a:off x="463000" y="3413500"/>
            <a:ext cx="13710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40 000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  <p:sp>
        <p:nvSpPr>
          <p:cNvPr id="935" name="Google Shape;935;p81"/>
          <p:cNvSpPr txBox="1"/>
          <p:nvPr/>
        </p:nvSpPr>
        <p:spPr>
          <a:xfrm>
            <a:off x="427925" y="695850"/>
            <a:ext cx="8392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Compare these two numbers and write a statement showing which is greater.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2"/>
          <p:cNvSpPr/>
          <p:nvPr/>
        </p:nvSpPr>
        <p:spPr>
          <a:xfrm>
            <a:off x="463000" y="3109750"/>
            <a:ext cx="1371000" cy="138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82"/>
          <p:cNvSpPr/>
          <p:nvPr/>
        </p:nvSpPr>
        <p:spPr>
          <a:xfrm>
            <a:off x="463000" y="1626200"/>
            <a:ext cx="1371000" cy="138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82"/>
          <p:cNvSpPr txBox="1"/>
          <p:nvPr/>
        </p:nvSpPr>
        <p:spPr>
          <a:xfrm>
            <a:off x="463050" y="1728550"/>
            <a:ext cx="13710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0.4 million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82"/>
          <p:cNvSpPr txBox="1"/>
          <p:nvPr/>
        </p:nvSpPr>
        <p:spPr>
          <a:xfrm>
            <a:off x="463000" y="3413500"/>
            <a:ext cx="13710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40 000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44" name="Google Shape;944;p82"/>
          <p:cNvGraphicFramePr/>
          <p:nvPr/>
        </p:nvGraphicFramePr>
        <p:xfrm>
          <a:off x="2410200" y="165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{9F281AEB-F502-4362-BEB6-587FE50DF014}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45" name="Google Shape;945;p82"/>
          <p:cNvGrpSpPr/>
          <p:nvPr/>
        </p:nvGrpSpPr>
        <p:grpSpPr>
          <a:xfrm>
            <a:off x="2484575" y="165535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46" name="Google Shape;946;p82" title="10 raised to the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947" name="Google Shape;947;p82" title="10 squar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948" name="Google Shape;948;p82" title="10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949" name="Google Shape;949;p82" title="10 to the fourth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950" name="Google Shape;950;p82" title="10 to the fif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951" name="Google Shape;951;p82" title="the fraction with numerator 1 and denominator 10 squar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952" name="Google Shape;952;p82" title="the fraction with numerator 1 and denominator 10 cub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953" name="Google Shape;953;p82" title="the fraction with numerator 1 and denominator 10 to the four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54" name="Google Shape;954;p82" title="one tenth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55" name="Google Shape;955;p82" title="10 raised to the power"/>
            <p:cNvPicPr preferRelativeResize="0"/>
            <p:nvPr/>
          </p:nvPicPr>
          <p:blipFill rotWithShape="1">
            <a:blip r:embed="rId3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956" name="Google Shape;956;p82" title="10 to the sixth power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957" name="Google Shape;957;p82" title="10 to the seven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958" name="Google Shape;958;p82" title="10 to the eighth power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9" name="Google Shape;959;p8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60" name="Google Shape;960;p8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61" name="Google Shape;961;p82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62" name="Google Shape;962;p82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u="sng"/>
                <a:t>th</a:t>
              </a:r>
              <a:endParaRPr sz="800" u="sng"/>
            </a:p>
          </p:txBody>
        </p:sp>
      </p:grpSp>
      <p:sp>
        <p:nvSpPr>
          <p:cNvPr id="963" name="Google Shape;963;p82"/>
          <p:cNvSpPr/>
          <p:nvPr/>
        </p:nvSpPr>
        <p:spPr>
          <a:xfrm>
            <a:off x="3793738" y="2758540"/>
            <a:ext cx="89700" cy="8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82"/>
          <p:cNvSpPr txBox="1"/>
          <p:nvPr/>
        </p:nvSpPr>
        <p:spPr>
          <a:xfrm>
            <a:off x="3410225" y="2524119"/>
            <a:ext cx="3141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2"/>
          <p:cNvSpPr txBox="1"/>
          <p:nvPr/>
        </p:nvSpPr>
        <p:spPr>
          <a:xfrm>
            <a:off x="3922170" y="2524119"/>
            <a:ext cx="3141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6" name="Google Shape;966;p82"/>
          <p:cNvGrpSpPr/>
          <p:nvPr/>
        </p:nvGrpSpPr>
        <p:grpSpPr>
          <a:xfrm>
            <a:off x="4391900" y="2524119"/>
            <a:ext cx="2204438" cy="505800"/>
            <a:chOff x="4391900" y="2524119"/>
            <a:chExt cx="2204438" cy="505800"/>
          </a:xfrm>
        </p:grpSpPr>
        <p:sp>
          <p:nvSpPr>
            <p:cNvPr id="967" name="Google Shape;967;p82"/>
            <p:cNvSpPr txBox="1"/>
            <p:nvPr/>
          </p:nvSpPr>
          <p:spPr>
            <a:xfrm>
              <a:off x="4391900" y="2524119"/>
              <a:ext cx="314100" cy="5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8" name="Google Shape;968;p82"/>
            <p:cNvSpPr txBox="1"/>
            <p:nvPr/>
          </p:nvSpPr>
          <p:spPr>
            <a:xfrm>
              <a:off x="4859850" y="2524119"/>
              <a:ext cx="314100" cy="5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9" name="Google Shape;969;p82"/>
            <p:cNvSpPr txBox="1"/>
            <p:nvPr/>
          </p:nvSpPr>
          <p:spPr>
            <a:xfrm>
              <a:off x="5337063" y="2524119"/>
              <a:ext cx="314100" cy="5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0" name="Google Shape;970;p82"/>
            <p:cNvSpPr txBox="1"/>
            <p:nvPr/>
          </p:nvSpPr>
          <p:spPr>
            <a:xfrm>
              <a:off x="5827888" y="2524119"/>
              <a:ext cx="314100" cy="5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1" name="Google Shape;971;p82"/>
            <p:cNvSpPr txBox="1"/>
            <p:nvPr/>
          </p:nvSpPr>
          <p:spPr>
            <a:xfrm>
              <a:off x="6282238" y="2524119"/>
              <a:ext cx="314100" cy="5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2" name="Google Shape;972;p82"/>
          <p:cNvSpPr txBox="1"/>
          <p:nvPr/>
        </p:nvSpPr>
        <p:spPr>
          <a:xfrm>
            <a:off x="4414980" y="3016809"/>
            <a:ext cx="22725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4   0    0    0    0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3" name="Google Shape;973;p82"/>
          <p:cNvGrpSpPr/>
          <p:nvPr/>
        </p:nvGrpSpPr>
        <p:grpSpPr>
          <a:xfrm>
            <a:off x="3246275" y="3655750"/>
            <a:ext cx="3594625" cy="969900"/>
            <a:chOff x="2865275" y="3884350"/>
            <a:chExt cx="3594625" cy="969900"/>
          </a:xfrm>
        </p:grpSpPr>
        <p:sp>
          <p:nvSpPr>
            <p:cNvPr id="974" name="Google Shape;974;p82"/>
            <p:cNvSpPr txBox="1"/>
            <p:nvPr/>
          </p:nvSpPr>
          <p:spPr>
            <a:xfrm>
              <a:off x="2865275" y="3884350"/>
              <a:ext cx="1371000" cy="9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0.4 million</a:t>
              </a:r>
              <a:endParaRPr sz="28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75" name="Google Shape;975;p82"/>
            <p:cNvSpPr txBox="1"/>
            <p:nvPr/>
          </p:nvSpPr>
          <p:spPr>
            <a:xfrm>
              <a:off x="5088900" y="4116250"/>
              <a:ext cx="13710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800">
                  <a:latin typeface="Kalam"/>
                  <a:ea typeface="Kalam"/>
                  <a:cs typeface="Kalam"/>
                  <a:sym typeface="Kalam"/>
                </a:rPr>
                <a:t>40 000</a:t>
              </a:r>
              <a:endParaRPr sz="2800"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&amp;gt;&quot;&gt;&lt;mo&gt;&amp;gt;&lt;/mo&gt;&lt;/math&gt;" id="976" name="Google Shape;976;p82" title="is greater than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4414979" y="4189675"/>
              <a:ext cx="371225" cy="359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7" name="Google Shape;977;p82"/>
          <p:cNvSpPr txBox="1"/>
          <p:nvPr/>
        </p:nvSpPr>
        <p:spPr>
          <a:xfrm>
            <a:off x="427925" y="695850"/>
            <a:ext cx="8341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Compare these two numbers and write a statement showing which is greater.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use of &lt; , &gt; and = </a:t>
            </a:r>
            <a:r>
              <a:rPr lang="en-GB"/>
              <a:t> </a:t>
            </a:r>
            <a:endParaRPr/>
          </a:p>
        </p:txBody>
      </p:sp>
      <p:sp>
        <p:nvSpPr>
          <p:cNvPr id="979" name="Google Shape;979;p82"/>
          <p:cNvSpPr/>
          <p:nvPr/>
        </p:nvSpPr>
        <p:spPr>
          <a:xfrm>
            <a:off x="3880581" y="1690400"/>
            <a:ext cx="1339200" cy="8484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2"/>
          <p:cNvSpPr/>
          <p:nvPr/>
        </p:nvSpPr>
        <p:spPr>
          <a:xfrm>
            <a:off x="5308131" y="1690400"/>
            <a:ext cx="1339200" cy="8484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2"/>
          <p:cNvSpPr/>
          <p:nvPr/>
        </p:nvSpPr>
        <p:spPr>
          <a:xfrm>
            <a:off x="2451006" y="1690400"/>
            <a:ext cx="1339200" cy="8484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83"/>
          <p:cNvSpPr/>
          <p:nvPr/>
        </p:nvSpPr>
        <p:spPr>
          <a:xfrm>
            <a:off x="358658" y="3185950"/>
            <a:ext cx="1752300" cy="138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83"/>
          <p:cNvSpPr/>
          <p:nvPr/>
        </p:nvSpPr>
        <p:spPr>
          <a:xfrm>
            <a:off x="358658" y="1702400"/>
            <a:ext cx="1752300" cy="138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83"/>
          <p:cNvSpPr txBox="1"/>
          <p:nvPr/>
        </p:nvSpPr>
        <p:spPr>
          <a:xfrm>
            <a:off x="358658" y="2106200"/>
            <a:ext cx="17523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8.04781009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83"/>
          <p:cNvSpPr txBox="1"/>
          <p:nvPr/>
        </p:nvSpPr>
        <p:spPr>
          <a:xfrm>
            <a:off x="324000" y="3589750"/>
            <a:ext cx="17913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8.047809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  <p:sp>
        <p:nvSpPr>
          <p:cNvPr id="991" name="Google Shape;991;p83"/>
          <p:cNvSpPr txBox="1"/>
          <p:nvPr/>
        </p:nvSpPr>
        <p:spPr>
          <a:xfrm>
            <a:off x="427925" y="695850"/>
            <a:ext cx="84777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Compare these two numbers and write a statement showing which is greater.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4"/>
          <p:cNvSpPr/>
          <p:nvPr/>
        </p:nvSpPr>
        <p:spPr>
          <a:xfrm>
            <a:off x="358658" y="3185950"/>
            <a:ext cx="1752300" cy="138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84"/>
          <p:cNvSpPr/>
          <p:nvPr/>
        </p:nvSpPr>
        <p:spPr>
          <a:xfrm>
            <a:off x="358658" y="1702400"/>
            <a:ext cx="1752300" cy="138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84"/>
          <p:cNvSpPr txBox="1"/>
          <p:nvPr/>
        </p:nvSpPr>
        <p:spPr>
          <a:xfrm>
            <a:off x="358658" y="2106200"/>
            <a:ext cx="17523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8.04781009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99" name="Google Shape;999;p84"/>
          <p:cNvGraphicFramePr/>
          <p:nvPr/>
        </p:nvGraphicFramePr>
        <p:xfrm>
          <a:off x="2578200" y="193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{9F281AEB-F502-4362-BEB6-587FE50DF014}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0" name="Google Shape;1000;p84"/>
          <p:cNvSpPr txBox="1"/>
          <p:nvPr/>
        </p:nvSpPr>
        <p:spPr>
          <a:xfrm>
            <a:off x="324000" y="3589750"/>
            <a:ext cx="17913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8.047809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1" name="Google Shape;1001;p84"/>
          <p:cNvGrpSpPr/>
          <p:nvPr/>
        </p:nvGrpSpPr>
        <p:grpSpPr>
          <a:xfrm>
            <a:off x="3956597" y="2110833"/>
            <a:ext cx="96900" cy="569675"/>
            <a:chOff x="3651797" y="2263233"/>
            <a:chExt cx="96900" cy="569675"/>
          </a:xfrm>
        </p:grpSpPr>
        <p:sp>
          <p:nvSpPr>
            <p:cNvPr id="1002" name="Google Shape;1002;p84"/>
            <p:cNvSpPr/>
            <p:nvPr/>
          </p:nvSpPr>
          <p:spPr>
            <a:xfrm>
              <a:off x="3651797" y="2263233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84"/>
            <p:cNvSpPr/>
            <p:nvPr/>
          </p:nvSpPr>
          <p:spPr>
            <a:xfrm>
              <a:off x="3651797" y="2736008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4" name="Google Shape;1004;p84"/>
          <p:cNvSpPr txBox="1"/>
          <p:nvPr/>
        </p:nvSpPr>
        <p:spPr>
          <a:xfrm>
            <a:off x="3578800" y="1909150"/>
            <a:ext cx="42987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8     0   4    7    8    1    0    0    9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4"/>
          <p:cNvSpPr txBox="1"/>
          <p:nvPr/>
        </p:nvSpPr>
        <p:spPr>
          <a:xfrm>
            <a:off x="3578804" y="2368442"/>
            <a:ext cx="39534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8     0   4    7    8    0    9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4"/>
          <p:cNvSpPr txBox="1"/>
          <p:nvPr/>
        </p:nvSpPr>
        <p:spPr>
          <a:xfrm>
            <a:off x="3330577" y="3185950"/>
            <a:ext cx="39534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8.04781009 &gt; 8.047809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7" name="Google Shape;1007;p84"/>
          <p:cNvSpPr txBox="1"/>
          <p:nvPr/>
        </p:nvSpPr>
        <p:spPr>
          <a:xfrm>
            <a:off x="3311244" y="4091400"/>
            <a:ext cx="3471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8.047809 &lt; 8.04781009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8" name="Google Shape;100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  <p:sp>
        <p:nvSpPr>
          <p:cNvPr id="1009" name="Google Shape;1009;p84"/>
          <p:cNvSpPr txBox="1"/>
          <p:nvPr/>
        </p:nvSpPr>
        <p:spPr>
          <a:xfrm>
            <a:off x="427925" y="695850"/>
            <a:ext cx="84777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Compare these two numbers and write a statement showing which is greater.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4"/>
          <p:cNvSpPr/>
          <p:nvPr/>
        </p:nvSpPr>
        <p:spPr>
          <a:xfrm rot="5400000">
            <a:off x="3548900" y="152715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84"/>
          <p:cNvSpPr txBox="1"/>
          <p:nvPr/>
        </p:nvSpPr>
        <p:spPr>
          <a:xfrm>
            <a:off x="4495158" y="3624852"/>
            <a:ext cx="10233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or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2" name="Google Shape;1012;p84"/>
          <p:cNvSpPr/>
          <p:nvPr/>
        </p:nvSpPr>
        <p:spPr>
          <a:xfrm rot="5400000">
            <a:off x="4038300" y="152715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84"/>
          <p:cNvSpPr/>
          <p:nvPr/>
        </p:nvSpPr>
        <p:spPr>
          <a:xfrm rot="5400000">
            <a:off x="4485850" y="152715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84"/>
          <p:cNvSpPr/>
          <p:nvPr/>
        </p:nvSpPr>
        <p:spPr>
          <a:xfrm rot="5400000">
            <a:off x="4977275" y="152715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84"/>
          <p:cNvSpPr/>
          <p:nvPr/>
        </p:nvSpPr>
        <p:spPr>
          <a:xfrm rot="5400000">
            <a:off x="5422800" y="152715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84"/>
          <p:cNvSpPr/>
          <p:nvPr/>
        </p:nvSpPr>
        <p:spPr>
          <a:xfrm rot="5400000">
            <a:off x="5916250" y="152715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84"/>
          <p:cNvSpPr/>
          <p:nvPr/>
        </p:nvSpPr>
        <p:spPr>
          <a:xfrm>
            <a:off x="5949750" y="1983250"/>
            <a:ext cx="394800" cy="8250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5"/>
          <p:cNvSpPr txBox="1"/>
          <p:nvPr>
            <p:ph type="title"/>
          </p:nvPr>
        </p:nvSpPr>
        <p:spPr>
          <a:xfrm>
            <a:off x="324000" y="810000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of the following mathematical sentences are correct?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Change the symbol to correct the others.</a:t>
            </a:r>
            <a:endParaRPr sz="2000"/>
          </a:p>
        </p:txBody>
      </p:sp>
      <p:sp>
        <p:nvSpPr>
          <p:cNvPr id="1023" name="Google Shape;1023;p8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50.425 &lt; 50.453</a:t>
            </a:r>
            <a:endParaRPr sz="2000"/>
          </a:p>
        </p:txBody>
      </p:sp>
      <p:sp>
        <p:nvSpPr>
          <p:cNvPr id="1024" name="Google Shape;1024;p8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four point three two = 4.032</a:t>
            </a:r>
            <a:endParaRPr sz="2000"/>
          </a:p>
        </p:txBody>
      </p:sp>
      <p:sp>
        <p:nvSpPr>
          <p:cNvPr id="1025" name="Google Shape;1025;p8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43 hundreds = four thousand three hundred</a:t>
            </a:r>
            <a:endParaRPr sz="2000"/>
          </a:p>
        </p:txBody>
      </p:sp>
      <p:sp>
        <p:nvSpPr>
          <p:cNvPr id="1026" name="Google Shape;1026;p8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47 thousandths &lt; 4.7 hundredths</a:t>
            </a:r>
            <a:endParaRPr sz="2000"/>
          </a:p>
        </p:txBody>
      </p:sp>
      <p:sp>
        <p:nvSpPr>
          <p:cNvPr id="1027" name="Google Shape;1027;p8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 </a:t>
            </a:r>
            <a:endParaRPr/>
          </a:p>
        </p:txBody>
      </p:sp>
      <p:pic>
        <p:nvPicPr>
          <p:cNvPr id="1028" name="Google Shape;102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2183" y="15629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6008" y="31863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85"/>
          <p:cNvSpPr txBox="1"/>
          <p:nvPr/>
        </p:nvSpPr>
        <p:spPr>
          <a:xfrm>
            <a:off x="5048800" y="2435850"/>
            <a:ext cx="3120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four point three two &gt; 4.032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1" name="Google Shape;1031;p85"/>
          <p:cNvSpPr txBox="1"/>
          <p:nvPr/>
        </p:nvSpPr>
        <p:spPr>
          <a:xfrm>
            <a:off x="5471350" y="4065600"/>
            <a:ext cx="3460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47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thousandths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4.7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hundredths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86"/>
          <p:cNvSpPr txBox="1"/>
          <p:nvPr>
            <p:ph idx="1" type="body"/>
          </p:nvPr>
        </p:nvSpPr>
        <p:spPr>
          <a:xfrm>
            <a:off x="324000" y="759300"/>
            <a:ext cx="8237700" cy="9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each set of numbers, which is the bigger value?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Write a statement </a:t>
            </a:r>
            <a:r>
              <a:rPr lang="en-GB"/>
              <a:t>using</a:t>
            </a:r>
            <a:r>
              <a:rPr lang="en-GB"/>
              <a:t> &lt;, &gt; or = to compare the values.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86"/>
          <p:cNvSpPr txBox="1"/>
          <p:nvPr>
            <p:ph idx="2" type="subTitle"/>
          </p:nvPr>
        </p:nvSpPr>
        <p:spPr>
          <a:xfrm>
            <a:off x="1583550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the use of</a:t>
            </a:r>
            <a:r>
              <a:rPr lang="en-GB"/>
              <a:t> &lt; , &gt; and = </a:t>
            </a:r>
            <a:endParaRPr/>
          </a:p>
        </p:txBody>
      </p:sp>
      <p:sp>
        <p:nvSpPr>
          <p:cNvPr id="1038" name="Google Shape;1038;p86"/>
          <p:cNvSpPr/>
          <p:nvPr/>
        </p:nvSpPr>
        <p:spPr>
          <a:xfrm>
            <a:off x="2766275" y="1875300"/>
            <a:ext cx="29247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     fourteen  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    thousand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6"/>
          <p:cNvSpPr/>
          <p:nvPr/>
        </p:nvSpPr>
        <p:spPr>
          <a:xfrm>
            <a:off x="324000" y="1875300"/>
            <a:ext cx="17799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9.00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6"/>
          <p:cNvSpPr/>
          <p:nvPr/>
        </p:nvSpPr>
        <p:spPr>
          <a:xfrm>
            <a:off x="2766275" y="2571750"/>
            <a:ext cx="29247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109 000             140 000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6"/>
          <p:cNvSpPr/>
          <p:nvPr/>
        </p:nvSpPr>
        <p:spPr>
          <a:xfrm>
            <a:off x="324000" y="2571750"/>
            <a:ext cx="17799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1.09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1.4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6"/>
          <p:cNvSpPr/>
          <p:nvPr/>
        </p:nvSpPr>
        <p:spPr>
          <a:xfrm>
            <a:off x="2766275" y="3268200"/>
            <a:ext cx="29247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190 000           1.4 million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6"/>
          <p:cNvSpPr/>
          <p:nvPr/>
        </p:nvSpPr>
        <p:spPr>
          <a:xfrm>
            <a:off x="324000" y="3268200"/>
            <a:ext cx="17799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0.04       0.019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6"/>
          <p:cNvSpPr txBox="1"/>
          <p:nvPr>
            <p:ph idx="1" type="body"/>
          </p:nvPr>
        </p:nvSpPr>
        <p:spPr>
          <a:xfrm>
            <a:off x="324000" y="3923875"/>
            <a:ext cx="8237700" cy="9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your own comparison statements using the </a:t>
            </a:r>
            <a:r>
              <a:rPr lang="en-GB"/>
              <a:t>digits</a:t>
            </a:r>
            <a:r>
              <a:rPr b="1" lang="en-GB"/>
              <a:t> </a:t>
            </a:r>
            <a:r>
              <a:rPr lang="en-GB"/>
              <a:t>0, 1, 4 and 9. Try to write a statement no one else has thought of.</a:t>
            </a:r>
            <a:endParaRPr/>
          </a:p>
        </p:txBody>
      </p:sp>
      <p:sp>
        <p:nvSpPr>
          <p:cNvPr id="1045" name="Google Shape;1045;p86"/>
          <p:cNvSpPr/>
          <p:nvPr/>
        </p:nvSpPr>
        <p:spPr>
          <a:xfrm>
            <a:off x="6353350" y="1875300"/>
            <a:ext cx="23361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9.5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million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6"/>
          <p:cNvSpPr/>
          <p:nvPr/>
        </p:nvSpPr>
        <p:spPr>
          <a:xfrm>
            <a:off x="6353350" y="2571750"/>
            <a:ext cx="23361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0.09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6"/>
          <p:cNvSpPr/>
          <p:nvPr/>
        </p:nvSpPr>
        <p:spPr>
          <a:xfrm>
            <a:off x="6353350" y="3268200"/>
            <a:ext cx="23361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19.04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19.104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6"/>
          <p:cNvSpPr txBox="1"/>
          <p:nvPr/>
        </p:nvSpPr>
        <p:spPr>
          <a:xfrm>
            <a:off x="2803100" y="1875225"/>
            <a:ext cx="74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6"/>
          <p:cNvSpPr txBox="1"/>
          <p:nvPr/>
        </p:nvSpPr>
        <p:spPr>
          <a:xfrm>
            <a:off x="6353350" y="1875300"/>
            <a:ext cx="1335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9 350 647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7"/>
          <p:cNvSpPr txBox="1"/>
          <p:nvPr/>
        </p:nvSpPr>
        <p:spPr>
          <a:xfrm>
            <a:off x="277350" y="4037750"/>
            <a:ext cx="86883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0.0419 &lt; 0.1049   9104 thousand &gt; 9.09 million  10.4 hundredths = 0.104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5" name="Google Shape;1055;p87"/>
          <p:cNvSpPr txBox="1"/>
          <p:nvPr>
            <p:ph idx="1" type="body"/>
          </p:nvPr>
        </p:nvSpPr>
        <p:spPr>
          <a:xfrm>
            <a:off x="324000" y="3208200"/>
            <a:ext cx="8237700" cy="9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your own comparison statements using the </a:t>
            </a:r>
            <a:r>
              <a:rPr lang="en-GB"/>
              <a:t>digits</a:t>
            </a:r>
            <a:r>
              <a:rPr b="1" lang="en-GB"/>
              <a:t> </a:t>
            </a:r>
            <a:r>
              <a:rPr lang="en-GB"/>
              <a:t>0, 1, 4 and 9. Try to write a statement no one else has thought of.</a:t>
            </a:r>
            <a:endParaRPr/>
          </a:p>
        </p:txBody>
      </p:sp>
      <p:sp>
        <p:nvSpPr>
          <p:cNvPr id="1056" name="Google Shape;1056;p87"/>
          <p:cNvSpPr txBox="1"/>
          <p:nvPr>
            <p:ph idx="1" type="body"/>
          </p:nvPr>
        </p:nvSpPr>
        <p:spPr>
          <a:xfrm>
            <a:off x="324000" y="759300"/>
            <a:ext cx="8237700" cy="3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each set of numbers, which is the bigger value?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use of &lt; , &gt; and =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&amp;lt;&quot;&gt;&lt;mo&gt;&amp;lt;&lt;/mo&gt;&lt;/math&gt;" id="1058" name="Google Shape;1058;p87" title="is less tha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990000"/>
            <a:ext cx="7569" cy="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87"/>
          <p:cNvSpPr/>
          <p:nvPr/>
        </p:nvSpPr>
        <p:spPr>
          <a:xfrm>
            <a:off x="2766275" y="1189500"/>
            <a:ext cx="29247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     fourteen  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    thousand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7"/>
          <p:cNvSpPr/>
          <p:nvPr/>
        </p:nvSpPr>
        <p:spPr>
          <a:xfrm>
            <a:off x="324000" y="1189500"/>
            <a:ext cx="17799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     =      9.00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7"/>
          <p:cNvSpPr/>
          <p:nvPr/>
        </p:nvSpPr>
        <p:spPr>
          <a:xfrm>
            <a:off x="2766275" y="1885950"/>
            <a:ext cx="29247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109 000      &lt;      140 000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7"/>
          <p:cNvSpPr/>
          <p:nvPr/>
        </p:nvSpPr>
        <p:spPr>
          <a:xfrm>
            <a:off x="324000" y="1885950"/>
            <a:ext cx="17799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1.09     &lt;     1.4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7"/>
          <p:cNvSpPr/>
          <p:nvPr/>
        </p:nvSpPr>
        <p:spPr>
          <a:xfrm>
            <a:off x="2766275" y="2582400"/>
            <a:ext cx="29247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190 000    &lt;     1.4 million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7"/>
          <p:cNvSpPr/>
          <p:nvPr/>
        </p:nvSpPr>
        <p:spPr>
          <a:xfrm>
            <a:off x="324000" y="2582400"/>
            <a:ext cx="17799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0.04   &gt;  0.019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7"/>
          <p:cNvSpPr/>
          <p:nvPr/>
        </p:nvSpPr>
        <p:spPr>
          <a:xfrm>
            <a:off x="6353350" y="1189500"/>
            <a:ext cx="23361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   9.5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million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7"/>
          <p:cNvSpPr/>
          <p:nvPr/>
        </p:nvSpPr>
        <p:spPr>
          <a:xfrm>
            <a:off x="6353350" y="1885950"/>
            <a:ext cx="23361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          &gt;        0.09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7"/>
          <p:cNvSpPr/>
          <p:nvPr/>
        </p:nvSpPr>
        <p:spPr>
          <a:xfrm>
            <a:off x="6353350" y="2582400"/>
            <a:ext cx="2336100" cy="56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19.04      &lt;     19.104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7"/>
          <p:cNvSpPr txBox="1"/>
          <p:nvPr/>
        </p:nvSpPr>
        <p:spPr>
          <a:xfrm>
            <a:off x="2803100" y="1189425"/>
            <a:ext cx="1393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1900        &lt;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7"/>
          <p:cNvSpPr txBox="1"/>
          <p:nvPr/>
        </p:nvSpPr>
        <p:spPr>
          <a:xfrm>
            <a:off x="6353350" y="1189500"/>
            <a:ext cx="1478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9 350 647  &lt;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8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use of &lt; , &gt; and =   </a:t>
            </a:r>
            <a:endParaRPr/>
          </a:p>
        </p:txBody>
      </p:sp>
      <p:sp>
        <p:nvSpPr>
          <p:cNvPr id="1075" name="Google Shape;1075;p8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numbers using ≤ and ≥   </a:t>
            </a:r>
            <a:endParaRPr/>
          </a:p>
        </p:txBody>
      </p:sp>
      <p:sp>
        <p:nvSpPr>
          <p:cNvPr id="1076" name="Google Shape;1076;p88"/>
          <p:cNvSpPr txBox="1"/>
          <p:nvPr>
            <p:ph idx="3" type="title"/>
          </p:nvPr>
        </p:nvSpPr>
        <p:spPr>
          <a:xfrm>
            <a:off x="324000" y="657600"/>
            <a:ext cx="7925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ordering and comparing numbers  </a:t>
            </a:r>
            <a:endParaRPr/>
          </a:p>
        </p:txBody>
      </p:sp>
      <p:pic>
        <p:nvPicPr>
          <p:cNvPr id="1077" name="Google Shape;107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6" y="298804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numbers </a:t>
            </a:r>
            <a:r>
              <a:rPr lang="en-GB"/>
              <a:t>using ≤ and ≥</a:t>
            </a:r>
            <a:r>
              <a:rPr lang="en-GB"/>
              <a:t> </a:t>
            </a:r>
            <a:endParaRPr/>
          </a:p>
        </p:txBody>
      </p:sp>
      <p:grpSp>
        <p:nvGrpSpPr>
          <p:cNvPr id="1083" name="Google Shape;1083;p89"/>
          <p:cNvGrpSpPr/>
          <p:nvPr/>
        </p:nvGrpSpPr>
        <p:grpSpPr>
          <a:xfrm>
            <a:off x="6941625" y="904800"/>
            <a:ext cx="1789200" cy="3803700"/>
            <a:chOff x="6186175" y="904800"/>
            <a:chExt cx="1789200" cy="3803700"/>
          </a:xfrm>
        </p:grpSpPr>
        <p:sp>
          <p:nvSpPr>
            <p:cNvPr id="1084" name="Google Shape;1084;p89"/>
            <p:cNvSpPr/>
            <p:nvPr/>
          </p:nvSpPr>
          <p:spPr>
            <a:xfrm>
              <a:off x="6966150" y="904800"/>
              <a:ext cx="207000" cy="38037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89"/>
            <p:cNvSpPr/>
            <p:nvPr/>
          </p:nvSpPr>
          <p:spPr>
            <a:xfrm>
              <a:off x="6186175" y="1265400"/>
              <a:ext cx="1789200" cy="1789200"/>
            </a:xfrm>
            <a:prstGeom prst="ellipse">
              <a:avLst/>
            </a:prstGeom>
            <a:solidFill>
              <a:schemeClr val="lt1"/>
            </a:solidFill>
            <a:ln cap="flat" cmpd="sng" w="152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89"/>
            <p:cNvSpPr txBox="1"/>
            <p:nvPr/>
          </p:nvSpPr>
          <p:spPr>
            <a:xfrm>
              <a:off x="6447000" y="1539700"/>
              <a:ext cx="1305000" cy="95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7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7" name="Google Shape;1087;p89"/>
          <p:cNvSpPr txBox="1"/>
          <p:nvPr/>
        </p:nvSpPr>
        <p:spPr>
          <a:xfrm>
            <a:off x="324000" y="904800"/>
            <a:ext cx="56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9"/>
          <p:cNvSpPr txBox="1"/>
          <p:nvPr/>
        </p:nvSpPr>
        <p:spPr>
          <a:xfrm>
            <a:off x="407575" y="810000"/>
            <a:ext cx="39123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9"/>
          <p:cNvSpPr txBox="1"/>
          <p:nvPr/>
        </p:nvSpPr>
        <p:spPr>
          <a:xfrm>
            <a:off x="407575" y="721050"/>
            <a:ext cx="40839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does this sign mean?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0" name="Google Shape;1090;p89"/>
          <p:cNvGrpSpPr/>
          <p:nvPr/>
        </p:nvGrpSpPr>
        <p:grpSpPr>
          <a:xfrm>
            <a:off x="285607" y="2429700"/>
            <a:ext cx="3384941" cy="1982850"/>
            <a:chOff x="285607" y="2429700"/>
            <a:chExt cx="3384941" cy="1982850"/>
          </a:xfrm>
        </p:grpSpPr>
        <p:pic>
          <p:nvPicPr>
            <p:cNvPr id="1091" name="Google Shape;1091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5607" y="3395975"/>
              <a:ext cx="705943" cy="101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2" name="Google Shape;1092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67025" y="2478000"/>
              <a:ext cx="2603523" cy="1577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89"/>
            <p:cNvSpPr txBox="1"/>
            <p:nvPr/>
          </p:nvSpPr>
          <p:spPr>
            <a:xfrm>
              <a:off x="1067925" y="2429700"/>
              <a:ext cx="2465400" cy="14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The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speed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of the vehicles must be less than or equal to 30.</a:t>
              </a:r>
              <a:endParaRPr sz="1800"/>
            </a:p>
          </p:txBody>
        </p:sp>
      </p:grpSp>
      <p:grpSp>
        <p:nvGrpSpPr>
          <p:cNvPr id="1094" name="Google Shape;1094;p89"/>
          <p:cNvGrpSpPr/>
          <p:nvPr/>
        </p:nvGrpSpPr>
        <p:grpSpPr>
          <a:xfrm>
            <a:off x="3907127" y="2859000"/>
            <a:ext cx="3331634" cy="1809776"/>
            <a:chOff x="3830927" y="2859000"/>
            <a:chExt cx="3331634" cy="1809776"/>
          </a:xfrm>
        </p:grpSpPr>
        <p:grpSp>
          <p:nvGrpSpPr>
            <p:cNvPr id="1095" name="Google Shape;1095;p89"/>
            <p:cNvGrpSpPr/>
            <p:nvPr/>
          </p:nvGrpSpPr>
          <p:grpSpPr>
            <a:xfrm>
              <a:off x="3830927" y="2859000"/>
              <a:ext cx="3331634" cy="1809776"/>
              <a:chOff x="3830927" y="2859000"/>
              <a:chExt cx="3331634" cy="1809776"/>
            </a:xfrm>
          </p:grpSpPr>
          <p:pic>
            <p:nvPicPr>
              <p:cNvPr id="1096" name="Google Shape;1096;p8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flipH="1">
                <a:off x="3830927" y="2859000"/>
                <a:ext cx="2386123" cy="16297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7" name="Google Shape;1097;p8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319512" y="3630300"/>
                <a:ext cx="843048" cy="103847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98" name="Google Shape;1098;p89"/>
            <p:cNvSpPr txBox="1"/>
            <p:nvPr/>
          </p:nvSpPr>
          <p:spPr>
            <a:xfrm>
              <a:off x="4044600" y="3167225"/>
              <a:ext cx="2020500" cy="7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The maximum speed is 30.</a:t>
              </a:r>
              <a:endParaRPr sz="1800"/>
            </a:p>
          </p:txBody>
        </p:sp>
      </p:grpSp>
      <p:grpSp>
        <p:nvGrpSpPr>
          <p:cNvPr id="1099" name="Google Shape;1099;p89"/>
          <p:cNvGrpSpPr/>
          <p:nvPr/>
        </p:nvGrpSpPr>
        <p:grpSpPr>
          <a:xfrm>
            <a:off x="1495724" y="1200750"/>
            <a:ext cx="4392650" cy="1499238"/>
            <a:chOff x="1495724" y="1200750"/>
            <a:chExt cx="4392650" cy="1499238"/>
          </a:xfrm>
        </p:grpSpPr>
        <p:pic>
          <p:nvPicPr>
            <p:cNvPr id="1100" name="Google Shape;1100;p8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00025" y="1683424"/>
              <a:ext cx="788350" cy="10165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01" name="Google Shape;1101;p89"/>
            <p:cNvGrpSpPr/>
            <p:nvPr/>
          </p:nvGrpSpPr>
          <p:grpSpPr>
            <a:xfrm>
              <a:off x="1495724" y="1200750"/>
              <a:ext cx="3441701" cy="1363324"/>
              <a:chOff x="1533899" y="1399200"/>
              <a:chExt cx="3441701" cy="1363324"/>
            </a:xfrm>
          </p:grpSpPr>
          <p:pic>
            <p:nvPicPr>
              <p:cNvPr id="1102" name="Google Shape;1102;p8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flipH="1">
                <a:off x="1533899" y="1399200"/>
                <a:ext cx="3441701" cy="13633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3" name="Google Shape;1103;p89"/>
              <p:cNvSpPr txBox="1"/>
              <p:nvPr/>
            </p:nvSpPr>
            <p:spPr>
              <a:xfrm>
                <a:off x="1754750" y="1597106"/>
                <a:ext cx="3000000" cy="7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That the speed limit is 30 miles per hour.</a:t>
                </a:r>
                <a:endParaRPr sz="1800"/>
              </a:p>
            </p:txBody>
          </p:sp>
        </p:grpSp>
      </p:grpSp>
      <p:sp>
        <p:nvSpPr>
          <p:cNvPr id="1104" name="Google Shape;1104;p89"/>
          <p:cNvSpPr txBox="1"/>
          <p:nvPr/>
        </p:nvSpPr>
        <p:spPr>
          <a:xfrm>
            <a:off x="5595175" y="2356800"/>
            <a:ext cx="1173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9"/>
          <p:cNvSpPr txBox="1"/>
          <p:nvPr/>
        </p:nvSpPr>
        <p:spPr>
          <a:xfrm>
            <a:off x="145075" y="4320000"/>
            <a:ext cx="1173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9"/>
          <p:cNvSpPr txBox="1"/>
          <p:nvPr/>
        </p:nvSpPr>
        <p:spPr>
          <a:xfrm>
            <a:off x="6960000" y="4390500"/>
            <a:ext cx="1173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90"/>
          <p:cNvSpPr/>
          <p:nvPr/>
        </p:nvSpPr>
        <p:spPr>
          <a:xfrm>
            <a:off x="3246350" y="2312250"/>
            <a:ext cx="282300" cy="519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90"/>
          <p:cNvSpPr/>
          <p:nvPr/>
        </p:nvSpPr>
        <p:spPr>
          <a:xfrm>
            <a:off x="2185550" y="2312250"/>
            <a:ext cx="1060800" cy="519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90"/>
          <p:cNvSpPr/>
          <p:nvPr/>
        </p:nvSpPr>
        <p:spPr>
          <a:xfrm>
            <a:off x="3528650" y="2312250"/>
            <a:ext cx="1235700" cy="519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90"/>
          <p:cNvSpPr txBox="1"/>
          <p:nvPr/>
        </p:nvSpPr>
        <p:spPr>
          <a:xfrm>
            <a:off x="2309850" y="2286450"/>
            <a:ext cx="24135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speed ≤ 30 mph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numbers using </a:t>
            </a:r>
            <a:r>
              <a:rPr lang="en-GB"/>
              <a:t>≤ and ≥ </a:t>
            </a:r>
            <a:r>
              <a:rPr lang="en-GB"/>
              <a:t> </a:t>
            </a:r>
            <a:endParaRPr/>
          </a:p>
        </p:txBody>
      </p:sp>
      <p:sp>
        <p:nvSpPr>
          <p:cNvPr id="1116" name="Google Shape;1116;p90"/>
          <p:cNvSpPr txBox="1"/>
          <p:nvPr/>
        </p:nvSpPr>
        <p:spPr>
          <a:xfrm>
            <a:off x="324000" y="904800"/>
            <a:ext cx="56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0"/>
          <p:cNvSpPr txBox="1"/>
          <p:nvPr/>
        </p:nvSpPr>
        <p:spPr>
          <a:xfrm>
            <a:off x="407575" y="810000"/>
            <a:ext cx="52575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8" name="Google Shape;1118;p90"/>
          <p:cNvGrpSpPr/>
          <p:nvPr/>
        </p:nvGrpSpPr>
        <p:grpSpPr>
          <a:xfrm>
            <a:off x="6941625" y="904800"/>
            <a:ext cx="1789200" cy="3803700"/>
            <a:chOff x="6186175" y="904800"/>
            <a:chExt cx="1789200" cy="3803700"/>
          </a:xfrm>
        </p:grpSpPr>
        <p:sp>
          <p:nvSpPr>
            <p:cNvPr id="1119" name="Google Shape;1119;p90"/>
            <p:cNvSpPr/>
            <p:nvPr/>
          </p:nvSpPr>
          <p:spPr>
            <a:xfrm>
              <a:off x="6966150" y="904800"/>
              <a:ext cx="207000" cy="38037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90"/>
            <p:cNvSpPr/>
            <p:nvPr/>
          </p:nvSpPr>
          <p:spPr>
            <a:xfrm>
              <a:off x="6186175" y="1265400"/>
              <a:ext cx="1789200" cy="1789200"/>
            </a:xfrm>
            <a:prstGeom prst="ellipse">
              <a:avLst/>
            </a:prstGeom>
            <a:solidFill>
              <a:schemeClr val="lt1"/>
            </a:solidFill>
            <a:ln cap="flat" cmpd="sng" w="152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90"/>
            <p:cNvSpPr txBox="1"/>
            <p:nvPr/>
          </p:nvSpPr>
          <p:spPr>
            <a:xfrm>
              <a:off x="6447000" y="1539700"/>
              <a:ext cx="1305000" cy="95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7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2" name="Google Shape;1122;p90"/>
          <p:cNvSpPr txBox="1"/>
          <p:nvPr/>
        </p:nvSpPr>
        <p:spPr>
          <a:xfrm>
            <a:off x="407575" y="721050"/>
            <a:ext cx="40839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does this sign mean?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91"/>
          <p:cNvSpPr/>
          <p:nvPr/>
        </p:nvSpPr>
        <p:spPr>
          <a:xfrm>
            <a:off x="6428103" y="2560795"/>
            <a:ext cx="1027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32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91"/>
          <p:cNvSpPr/>
          <p:nvPr/>
        </p:nvSpPr>
        <p:spPr>
          <a:xfrm>
            <a:off x="442325" y="1932850"/>
            <a:ext cx="3156000" cy="1951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numbers using </a:t>
            </a:r>
            <a:r>
              <a:rPr lang="en-GB"/>
              <a:t>≤ and ≥ </a:t>
            </a:r>
            <a:endParaRPr/>
          </a:p>
        </p:txBody>
      </p:sp>
      <p:sp>
        <p:nvSpPr>
          <p:cNvPr id="1130" name="Google Shape;1130;p91"/>
          <p:cNvSpPr txBox="1"/>
          <p:nvPr/>
        </p:nvSpPr>
        <p:spPr>
          <a:xfrm>
            <a:off x="3566675" y="2504100"/>
            <a:ext cx="16848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 30 mph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1"/>
          <p:cNvSpPr/>
          <p:nvPr/>
        </p:nvSpPr>
        <p:spPr>
          <a:xfrm>
            <a:off x="5303025" y="3417350"/>
            <a:ext cx="1027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37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91"/>
          <p:cNvSpPr/>
          <p:nvPr/>
        </p:nvSpPr>
        <p:spPr>
          <a:xfrm>
            <a:off x="5303025" y="1704250"/>
            <a:ext cx="1027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30.001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91"/>
          <p:cNvSpPr/>
          <p:nvPr/>
        </p:nvSpPr>
        <p:spPr>
          <a:xfrm>
            <a:off x="6428098" y="1704250"/>
            <a:ext cx="1027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21.09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91"/>
          <p:cNvSpPr/>
          <p:nvPr/>
        </p:nvSpPr>
        <p:spPr>
          <a:xfrm>
            <a:off x="7553172" y="1704250"/>
            <a:ext cx="1027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29.999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91"/>
          <p:cNvSpPr/>
          <p:nvPr/>
        </p:nvSpPr>
        <p:spPr>
          <a:xfrm>
            <a:off x="5303025" y="2560795"/>
            <a:ext cx="1027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0.67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91"/>
          <p:cNvSpPr/>
          <p:nvPr/>
        </p:nvSpPr>
        <p:spPr>
          <a:xfrm>
            <a:off x="7553172" y="2560795"/>
            <a:ext cx="1027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91"/>
          <p:cNvSpPr txBox="1"/>
          <p:nvPr/>
        </p:nvSpPr>
        <p:spPr>
          <a:xfrm>
            <a:off x="139925" y="719000"/>
            <a:ext cx="70626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Which speeds from the right can go in the box?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91"/>
          <p:cNvSpPr txBox="1"/>
          <p:nvPr/>
        </p:nvSpPr>
        <p:spPr>
          <a:xfrm>
            <a:off x="617929" y="1533425"/>
            <a:ext cx="1027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speed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1"/>
          <p:cNvSpPr/>
          <p:nvPr/>
        </p:nvSpPr>
        <p:spPr>
          <a:xfrm>
            <a:off x="6428098" y="3417339"/>
            <a:ext cx="1027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97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91"/>
          <p:cNvSpPr/>
          <p:nvPr/>
        </p:nvSpPr>
        <p:spPr>
          <a:xfrm>
            <a:off x="7553172" y="3417339"/>
            <a:ext cx="1027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1.02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91"/>
          <p:cNvSpPr/>
          <p:nvPr/>
        </p:nvSpPr>
        <p:spPr>
          <a:xfrm>
            <a:off x="527925" y="2160000"/>
            <a:ext cx="9579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21.09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2" name="Google Shape;114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6364" y="1704251"/>
            <a:ext cx="273372" cy="2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91"/>
          <p:cNvSpPr/>
          <p:nvPr/>
        </p:nvSpPr>
        <p:spPr>
          <a:xfrm>
            <a:off x="1535743" y="2160000"/>
            <a:ext cx="9579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29.999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4" name="Google Shape;114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9881" y="3447301"/>
            <a:ext cx="273372" cy="2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3055" y="2578201"/>
            <a:ext cx="273372" cy="2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3055" y="3447301"/>
            <a:ext cx="273372" cy="2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91"/>
          <p:cNvSpPr/>
          <p:nvPr/>
        </p:nvSpPr>
        <p:spPr>
          <a:xfrm>
            <a:off x="2543561" y="2181600"/>
            <a:ext cx="9579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0.67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91"/>
          <p:cNvSpPr/>
          <p:nvPr/>
        </p:nvSpPr>
        <p:spPr>
          <a:xfrm>
            <a:off x="527925" y="3026024"/>
            <a:ext cx="9579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91"/>
          <p:cNvSpPr/>
          <p:nvPr/>
        </p:nvSpPr>
        <p:spPr>
          <a:xfrm>
            <a:off x="1535743" y="3026024"/>
            <a:ext cx="9579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1.02 mph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9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numbers </a:t>
            </a:r>
            <a:r>
              <a:rPr lang="en-GB"/>
              <a:t>could</a:t>
            </a:r>
            <a:r>
              <a:rPr lang="en-GB"/>
              <a:t> go in the box?</a:t>
            </a:r>
            <a:endParaRPr/>
          </a:p>
        </p:txBody>
      </p:sp>
      <p:sp>
        <p:nvSpPr>
          <p:cNvPr id="1155" name="Google Shape;1155;p9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27.9</a:t>
            </a:r>
            <a:endParaRPr/>
          </a:p>
        </p:txBody>
      </p:sp>
      <p:sp>
        <p:nvSpPr>
          <p:cNvPr id="1156" name="Google Shape;1156;p9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</a:t>
            </a:r>
            <a:endParaRPr/>
          </a:p>
        </p:txBody>
      </p:sp>
      <p:sp>
        <p:nvSpPr>
          <p:cNvPr id="1157" name="Google Shape;1157;p9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34</a:t>
            </a:r>
            <a:endParaRPr/>
          </a:p>
        </p:txBody>
      </p:sp>
      <p:grpSp>
        <p:nvGrpSpPr>
          <p:cNvPr id="1158" name="Google Shape;1158;p92"/>
          <p:cNvGrpSpPr/>
          <p:nvPr/>
        </p:nvGrpSpPr>
        <p:grpSpPr>
          <a:xfrm>
            <a:off x="3883173" y="1233731"/>
            <a:ext cx="1690678" cy="741554"/>
            <a:chOff x="3205275" y="1157525"/>
            <a:chExt cx="1835100" cy="804900"/>
          </a:xfrm>
        </p:grpSpPr>
        <p:sp>
          <p:nvSpPr>
            <p:cNvPr id="1159" name="Google Shape;1159;p92"/>
            <p:cNvSpPr/>
            <p:nvPr/>
          </p:nvSpPr>
          <p:spPr>
            <a:xfrm>
              <a:off x="3205275" y="1157525"/>
              <a:ext cx="842100" cy="804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92"/>
            <p:cNvSpPr txBox="1"/>
            <p:nvPr/>
          </p:nvSpPr>
          <p:spPr>
            <a:xfrm>
              <a:off x="4129275" y="1238375"/>
              <a:ext cx="911100" cy="57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≤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1" name="Google Shape;1161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numbers using </a:t>
            </a:r>
            <a:r>
              <a:rPr lang="en-GB"/>
              <a:t>≤ and ≥ </a:t>
            </a:r>
            <a:endParaRPr/>
          </a:p>
        </p:txBody>
      </p:sp>
      <p:pic>
        <p:nvPicPr>
          <p:cNvPr id="1162" name="Google Shape;116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758" y="18067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758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numbers using ≤ and ≥ </a:t>
            </a:r>
            <a:endParaRPr/>
          </a:p>
        </p:txBody>
      </p:sp>
      <p:sp>
        <p:nvSpPr>
          <p:cNvPr id="1169" name="Google Shape;1169;p93"/>
          <p:cNvSpPr txBox="1"/>
          <p:nvPr/>
        </p:nvSpPr>
        <p:spPr>
          <a:xfrm>
            <a:off x="139925" y="490400"/>
            <a:ext cx="70626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0" name="Google Shape;117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787" y="1331987"/>
            <a:ext cx="727174" cy="909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1" name="Google Shape;1171;p93"/>
          <p:cNvGrpSpPr/>
          <p:nvPr/>
        </p:nvGrpSpPr>
        <p:grpSpPr>
          <a:xfrm>
            <a:off x="1382555" y="504498"/>
            <a:ext cx="5406465" cy="1725472"/>
            <a:chOff x="619423" y="3442375"/>
            <a:chExt cx="1955251" cy="1316250"/>
          </a:xfrm>
        </p:grpSpPr>
        <p:pic>
          <p:nvPicPr>
            <p:cNvPr id="1172" name="Google Shape;1172;p93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619423" y="34423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93"/>
            <p:cNvSpPr txBox="1"/>
            <p:nvPr/>
          </p:nvSpPr>
          <p:spPr>
            <a:xfrm>
              <a:off x="893550" y="3697075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Why not just use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“speed &lt; 31” then we don’t need the new symbols?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4" name="Google Shape;1174;p93"/>
          <p:cNvGrpSpPr/>
          <p:nvPr/>
        </p:nvGrpSpPr>
        <p:grpSpPr>
          <a:xfrm>
            <a:off x="6941625" y="904800"/>
            <a:ext cx="1789200" cy="3803700"/>
            <a:chOff x="6186175" y="904800"/>
            <a:chExt cx="1789200" cy="3803700"/>
          </a:xfrm>
        </p:grpSpPr>
        <p:sp>
          <p:nvSpPr>
            <p:cNvPr id="1175" name="Google Shape;1175;p93"/>
            <p:cNvSpPr/>
            <p:nvPr/>
          </p:nvSpPr>
          <p:spPr>
            <a:xfrm>
              <a:off x="6966150" y="904800"/>
              <a:ext cx="207000" cy="38037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93"/>
            <p:cNvSpPr/>
            <p:nvPr/>
          </p:nvSpPr>
          <p:spPr>
            <a:xfrm>
              <a:off x="6186175" y="1265400"/>
              <a:ext cx="1789200" cy="1789200"/>
            </a:xfrm>
            <a:prstGeom prst="ellipse">
              <a:avLst/>
            </a:prstGeom>
            <a:solidFill>
              <a:schemeClr val="lt1"/>
            </a:solidFill>
            <a:ln cap="flat" cmpd="sng" w="152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93"/>
            <p:cNvSpPr txBox="1"/>
            <p:nvPr/>
          </p:nvSpPr>
          <p:spPr>
            <a:xfrm>
              <a:off x="6447000" y="1539700"/>
              <a:ext cx="1305000" cy="95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7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8" name="Google Shape;1178;p93"/>
          <p:cNvSpPr txBox="1"/>
          <p:nvPr/>
        </p:nvSpPr>
        <p:spPr>
          <a:xfrm>
            <a:off x="324000" y="2191075"/>
            <a:ext cx="67701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Can you find an example to help change Jun’s mind?</a:t>
            </a:r>
            <a:br>
              <a:rPr lang="en-GB" sz="2000"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argument could you use to persuade him?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93"/>
          <p:cNvSpPr txBox="1"/>
          <p:nvPr/>
        </p:nvSpPr>
        <p:spPr>
          <a:xfrm>
            <a:off x="324000" y="2883600"/>
            <a:ext cx="7526700" cy="1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Any number between 30 and 31 works as a counter example.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30.5, 30.403, 30.927, etc. would be above the speed limit but still less than 31.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Jun would be right if all the numbers had to be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integers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but that isn’t always true so these new symbols are really helpful!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94"/>
          <p:cNvSpPr txBox="1"/>
          <p:nvPr/>
        </p:nvSpPr>
        <p:spPr>
          <a:xfrm>
            <a:off x="324000" y="643350"/>
            <a:ext cx="75651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For each statement below write the number sentence using &lt; , &gt; , ≤ , ≥ or = . Which of the numbers fit the statement?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94"/>
          <p:cNvSpPr txBox="1"/>
          <p:nvPr/>
        </p:nvSpPr>
        <p:spPr>
          <a:xfrm>
            <a:off x="329924" y="2606938"/>
            <a:ext cx="85158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 hummingbird’s wings beat more than four thousand times a minute.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94"/>
          <p:cNvSpPr/>
          <p:nvPr/>
        </p:nvSpPr>
        <p:spPr>
          <a:xfrm>
            <a:off x="452886" y="3087597"/>
            <a:ext cx="21840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Wing beats per minute</a:t>
            </a:r>
            <a:endParaRPr/>
          </a:p>
        </p:txBody>
      </p:sp>
      <p:sp>
        <p:nvSpPr>
          <p:cNvPr id="1187" name="Google Shape;1187;p94"/>
          <p:cNvSpPr/>
          <p:nvPr/>
        </p:nvSpPr>
        <p:spPr>
          <a:xfrm>
            <a:off x="2746924" y="3197548"/>
            <a:ext cx="390300" cy="33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94"/>
          <p:cNvSpPr/>
          <p:nvPr/>
        </p:nvSpPr>
        <p:spPr>
          <a:xfrm>
            <a:off x="3283424" y="3087600"/>
            <a:ext cx="13017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Four thousand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94"/>
          <p:cNvSpPr txBox="1"/>
          <p:nvPr/>
        </p:nvSpPr>
        <p:spPr>
          <a:xfrm>
            <a:off x="356250" y="1383025"/>
            <a:ext cx="700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It takes me at least 12 minutes to walk to school.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94"/>
          <p:cNvSpPr/>
          <p:nvPr/>
        </p:nvSpPr>
        <p:spPr>
          <a:xfrm>
            <a:off x="2827936" y="4327601"/>
            <a:ext cx="390300" cy="33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94"/>
          <p:cNvSpPr/>
          <p:nvPr/>
        </p:nvSpPr>
        <p:spPr>
          <a:xfrm>
            <a:off x="3224623" y="2046625"/>
            <a:ext cx="13605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minutes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94"/>
          <p:cNvSpPr txBox="1"/>
          <p:nvPr/>
        </p:nvSpPr>
        <p:spPr>
          <a:xfrm>
            <a:off x="329924" y="3714900"/>
            <a:ext cx="79368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maximum capacity at Wembley stadium is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90 000.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94"/>
          <p:cNvSpPr/>
          <p:nvPr/>
        </p:nvSpPr>
        <p:spPr>
          <a:xfrm>
            <a:off x="2721211" y="2151144"/>
            <a:ext cx="390300" cy="33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94"/>
          <p:cNvSpPr/>
          <p:nvPr/>
        </p:nvSpPr>
        <p:spPr>
          <a:xfrm>
            <a:off x="450074" y="2011663"/>
            <a:ext cx="21840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Time to walk to school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94"/>
          <p:cNvSpPr/>
          <p:nvPr/>
        </p:nvSpPr>
        <p:spPr>
          <a:xfrm>
            <a:off x="450074" y="4190225"/>
            <a:ext cx="22710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Number of people in stadium</a:t>
            </a:r>
            <a:endParaRPr/>
          </a:p>
        </p:txBody>
      </p:sp>
      <p:sp>
        <p:nvSpPr>
          <p:cNvPr id="1196" name="Google Shape;1196;p94"/>
          <p:cNvSpPr/>
          <p:nvPr/>
        </p:nvSpPr>
        <p:spPr>
          <a:xfrm>
            <a:off x="3315974" y="4217650"/>
            <a:ext cx="12210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90 000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94"/>
          <p:cNvSpPr/>
          <p:nvPr/>
        </p:nvSpPr>
        <p:spPr>
          <a:xfrm>
            <a:off x="5238924" y="1969525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94"/>
          <p:cNvSpPr/>
          <p:nvPr/>
        </p:nvSpPr>
        <p:spPr>
          <a:xfrm>
            <a:off x="6377351" y="1969525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4"/>
          <p:cNvSpPr/>
          <p:nvPr/>
        </p:nvSpPr>
        <p:spPr>
          <a:xfrm>
            <a:off x="7515777" y="1969525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4"/>
          <p:cNvSpPr/>
          <p:nvPr/>
        </p:nvSpPr>
        <p:spPr>
          <a:xfrm>
            <a:off x="5238924" y="3106500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94"/>
          <p:cNvSpPr/>
          <p:nvPr/>
        </p:nvSpPr>
        <p:spPr>
          <a:xfrm>
            <a:off x="6377351" y="3106500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3099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94"/>
          <p:cNvSpPr/>
          <p:nvPr/>
        </p:nvSpPr>
        <p:spPr>
          <a:xfrm>
            <a:off x="7515777" y="3106500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94"/>
          <p:cNvSpPr/>
          <p:nvPr/>
        </p:nvSpPr>
        <p:spPr>
          <a:xfrm>
            <a:off x="5238924" y="4209125"/>
            <a:ext cx="9915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4"/>
          <p:cNvSpPr/>
          <p:nvPr/>
        </p:nvSpPr>
        <p:spPr>
          <a:xfrm>
            <a:off x="6274423" y="4209125"/>
            <a:ext cx="10083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90 000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94"/>
          <p:cNvSpPr/>
          <p:nvPr/>
        </p:nvSpPr>
        <p:spPr>
          <a:xfrm>
            <a:off x="7412873" y="4209125"/>
            <a:ext cx="10083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90 001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numbers using ≤ and ≥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95"/>
          <p:cNvSpPr txBox="1"/>
          <p:nvPr/>
        </p:nvSpPr>
        <p:spPr>
          <a:xfrm>
            <a:off x="324000" y="643350"/>
            <a:ext cx="75804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For each statement below write the number sentence using &lt; , &gt; , ≤ , ≥ or = . Which of the numbers fit the statement?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95"/>
          <p:cNvSpPr txBox="1"/>
          <p:nvPr/>
        </p:nvSpPr>
        <p:spPr>
          <a:xfrm>
            <a:off x="356250" y="2454538"/>
            <a:ext cx="85158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 hummingbird’s wings beat more than four thousand times a minute.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95"/>
          <p:cNvSpPr/>
          <p:nvPr/>
        </p:nvSpPr>
        <p:spPr>
          <a:xfrm>
            <a:off x="479212" y="2935197"/>
            <a:ext cx="21840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Wing beats per minute</a:t>
            </a:r>
            <a:endParaRPr/>
          </a:p>
        </p:txBody>
      </p:sp>
      <p:sp>
        <p:nvSpPr>
          <p:cNvPr id="1214" name="Google Shape;1214;p95"/>
          <p:cNvSpPr/>
          <p:nvPr/>
        </p:nvSpPr>
        <p:spPr>
          <a:xfrm>
            <a:off x="2773250" y="3045148"/>
            <a:ext cx="390300" cy="33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&gt;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5" name="Google Shape;1215;p95"/>
          <p:cNvSpPr/>
          <p:nvPr/>
        </p:nvSpPr>
        <p:spPr>
          <a:xfrm>
            <a:off x="3309750" y="2935200"/>
            <a:ext cx="13017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Four thousand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95"/>
          <p:cNvSpPr txBox="1"/>
          <p:nvPr/>
        </p:nvSpPr>
        <p:spPr>
          <a:xfrm>
            <a:off x="356250" y="1383025"/>
            <a:ext cx="700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It takes me at least 12 minutes to walk to school.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95"/>
          <p:cNvSpPr/>
          <p:nvPr/>
        </p:nvSpPr>
        <p:spPr>
          <a:xfrm>
            <a:off x="2854263" y="4175201"/>
            <a:ext cx="390300" cy="33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≤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8" name="Google Shape;1218;p95"/>
          <p:cNvSpPr/>
          <p:nvPr/>
        </p:nvSpPr>
        <p:spPr>
          <a:xfrm>
            <a:off x="3250949" y="1894225"/>
            <a:ext cx="13605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minutes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5"/>
          <p:cNvSpPr txBox="1"/>
          <p:nvPr/>
        </p:nvSpPr>
        <p:spPr>
          <a:xfrm>
            <a:off x="356250" y="3562500"/>
            <a:ext cx="79368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maximum capacity at Wembley stadium is 90 000.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95"/>
          <p:cNvSpPr/>
          <p:nvPr/>
        </p:nvSpPr>
        <p:spPr>
          <a:xfrm>
            <a:off x="2747537" y="1998744"/>
            <a:ext cx="390300" cy="33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≥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1" name="Google Shape;1221;p95"/>
          <p:cNvSpPr/>
          <p:nvPr/>
        </p:nvSpPr>
        <p:spPr>
          <a:xfrm>
            <a:off x="476400" y="1859263"/>
            <a:ext cx="21840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Time to walk to school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5"/>
          <p:cNvSpPr/>
          <p:nvPr/>
        </p:nvSpPr>
        <p:spPr>
          <a:xfrm>
            <a:off x="476400" y="4037825"/>
            <a:ext cx="22710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Number of people in stadium</a:t>
            </a:r>
            <a:endParaRPr/>
          </a:p>
        </p:txBody>
      </p:sp>
      <p:sp>
        <p:nvSpPr>
          <p:cNvPr id="1223" name="Google Shape;1223;p95"/>
          <p:cNvSpPr/>
          <p:nvPr/>
        </p:nvSpPr>
        <p:spPr>
          <a:xfrm>
            <a:off x="3342300" y="4065250"/>
            <a:ext cx="1221000" cy="55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90 000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5"/>
          <p:cNvSpPr/>
          <p:nvPr/>
        </p:nvSpPr>
        <p:spPr>
          <a:xfrm>
            <a:off x="5265251" y="1817125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95"/>
          <p:cNvSpPr/>
          <p:nvPr/>
        </p:nvSpPr>
        <p:spPr>
          <a:xfrm>
            <a:off x="6403677" y="1817125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95"/>
          <p:cNvSpPr/>
          <p:nvPr/>
        </p:nvSpPr>
        <p:spPr>
          <a:xfrm>
            <a:off x="7542103" y="1817125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5"/>
          <p:cNvSpPr/>
          <p:nvPr/>
        </p:nvSpPr>
        <p:spPr>
          <a:xfrm>
            <a:off x="5265251" y="2954100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5"/>
          <p:cNvSpPr/>
          <p:nvPr/>
        </p:nvSpPr>
        <p:spPr>
          <a:xfrm>
            <a:off x="6403677" y="2954100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3099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5"/>
          <p:cNvSpPr/>
          <p:nvPr/>
        </p:nvSpPr>
        <p:spPr>
          <a:xfrm>
            <a:off x="7542103" y="2954100"/>
            <a:ext cx="9054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5"/>
          <p:cNvSpPr/>
          <p:nvPr/>
        </p:nvSpPr>
        <p:spPr>
          <a:xfrm>
            <a:off x="5265250" y="4056725"/>
            <a:ext cx="9915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95"/>
          <p:cNvSpPr/>
          <p:nvPr/>
        </p:nvSpPr>
        <p:spPr>
          <a:xfrm>
            <a:off x="6300750" y="4056725"/>
            <a:ext cx="10083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90 000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95"/>
          <p:cNvSpPr/>
          <p:nvPr/>
        </p:nvSpPr>
        <p:spPr>
          <a:xfrm>
            <a:off x="7439200" y="4056725"/>
            <a:ext cx="1008300" cy="519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90 001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numbers using ≤ and ≥ </a:t>
            </a:r>
            <a:endParaRPr/>
          </a:p>
        </p:txBody>
      </p:sp>
      <p:pic>
        <p:nvPicPr>
          <p:cNvPr id="1234" name="Google Shape;123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7578" y="1997913"/>
            <a:ext cx="261475" cy="27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9253" y="2020800"/>
            <a:ext cx="261475" cy="27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6" name="Google Shape;123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203" y="3196675"/>
            <a:ext cx="261475" cy="27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7" name="Google Shape;123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7578" y="4299300"/>
            <a:ext cx="261475" cy="27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8" name="Google Shape;123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5278" y="4299300"/>
            <a:ext cx="261475" cy="2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96"/>
          <p:cNvSpPr txBox="1"/>
          <p:nvPr>
            <p:ph idx="1" type="body"/>
          </p:nvPr>
        </p:nvSpPr>
        <p:spPr>
          <a:xfrm>
            <a:off x="324000" y="673977"/>
            <a:ext cx="8200200" cy="19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 invites her friends out for her birthday. At the theme park, you get half price entry if you are under 1.5 m tall.</a:t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1) Complete the mathematical statement to describe the situation: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2)</a:t>
            </a:r>
            <a:r>
              <a:rPr lang="en-GB" sz="1800"/>
              <a:t> Who will get half price entry?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4" name="Google Shape;1244;p96"/>
          <p:cNvSpPr/>
          <p:nvPr/>
        </p:nvSpPr>
        <p:spPr>
          <a:xfrm>
            <a:off x="1552750" y="1855917"/>
            <a:ext cx="390300" cy="30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96"/>
          <p:cNvSpPr/>
          <p:nvPr/>
        </p:nvSpPr>
        <p:spPr>
          <a:xfrm>
            <a:off x="324000" y="1816170"/>
            <a:ext cx="1121700" cy="38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numbers using ≤ and ≥</a:t>
            </a:r>
            <a:endParaRPr/>
          </a:p>
        </p:txBody>
      </p:sp>
      <p:sp>
        <p:nvSpPr>
          <p:cNvPr id="1247" name="Google Shape;1247;p96"/>
          <p:cNvSpPr/>
          <p:nvPr/>
        </p:nvSpPr>
        <p:spPr>
          <a:xfrm>
            <a:off x="2050100" y="1816170"/>
            <a:ext cx="910800" cy="38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8" name="Google Shape;124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5403" y="2856101"/>
            <a:ext cx="57442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3615" y="2857275"/>
            <a:ext cx="707421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96"/>
          <p:cNvSpPr txBox="1"/>
          <p:nvPr/>
        </p:nvSpPr>
        <p:spPr>
          <a:xfrm>
            <a:off x="3664675" y="3361150"/>
            <a:ext cx="910800" cy="95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1.54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1" name="Google Shape;1251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7030" y="2982374"/>
            <a:ext cx="442391" cy="183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96"/>
          <p:cNvSpPr txBox="1"/>
          <p:nvPr/>
        </p:nvSpPr>
        <p:spPr>
          <a:xfrm>
            <a:off x="5863700" y="3474875"/>
            <a:ext cx="1021500" cy="84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 1.49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3" name="Google Shape;1253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3548" y="3249626"/>
            <a:ext cx="1340864" cy="147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96"/>
          <p:cNvSpPr txBox="1"/>
          <p:nvPr/>
        </p:nvSpPr>
        <p:spPr>
          <a:xfrm>
            <a:off x="4737275" y="3714825"/>
            <a:ext cx="9399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11.25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96"/>
          <p:cNvSpPr txBox="1"/>
          <p:nvPr/>
        </p:nvSpPr>
        <p:spPr>
          <a:xfrm>
            <a:off x="7855400" y="3572400"/>
            <a:ext cx="9399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1.45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6" name="Google Shape;1256;p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11132" y="2938759"/>
            <a:ext cx="503118" cy="17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p96"/>
          <p:cNvSpPr txBox="1"/>
          <p:nvPr/>
        </p:nvSpPr>
        <p:spPr>
          <a:xfrm>
            <a:off x="2686625" y="3421900"/>
            <a:ext cx="10215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 1.44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11.75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8" name="Google Shape;1258;p9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9222" y="2855476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96"/>
          <p:cNvSpPr txBox="1"/>
          <p:nvPr/>
        </p:nvSpPr>
        <p:spPr>
          <a:xfrm>
            <a:off x="6882200" y="3314725"/>
            <a:ext cx="9399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1.53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97"/>
          <p:cNvSpPr txBox="1"/>
          <p:nvPr>
            <p:ph idx="1" type="body"/>
          </p:nvPr>
        </p:nvSpPr>
        <p:spPr>
          <a:xfrm>
            <a:off x="324000" y="683100"/>
            <a:ext cx="8200200" cy="19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 invites her friends out for her birthday. </a:t>
            </a:r>
            <a:r>
              <a:rPr lang="en-GB" sz="1800"/>
              <a:t>Laura wants to ride a big roller coaster. It says you have to be at least 1.45 m tall to ride it.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</a:t>
            </a:r>
            <a:r>
              <a:rPr lang="en-GB" sz="1800"/>
              <a:t>Write a mathematical statement to describe this.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4) </a:t>
            </a:r>
            <a:r>
              <a:rPr lang="en-GB" sz="1800"/>
              <a:t>Who can ride on the roller coaster?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5" name="Google Shape;1265;p97"/>
          <p:cNvSpPr/>
          <p:nvPr/>
        </p:nvSpPr>
        <p:spPr>
          <a:xfrm>
            <a:off x="1552750" y="1852267"/>
            <a:ext cx="390300" cy="30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97"/>
          <p:cNvSpPr/>
          <p:nvPr/>
        </p:nvSpPr>
        <p:spPr>
          <a:xfrm>
            <a:off x="324000" y="1812520"/>
            <a:ext cx="1121700" cy="38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numbers using ≤ and ≥</a:t>
            </a:r>
            <a:endParaRPr/>
          </a:p>
        </p:txBody>
      </p:sp>
      <p:sp>
        <p:nvSpPr>
          <p:cNvPr id="1268" name="Google Shape;1268;p97"/>
          <p:cNvSpPr/>
          <p:nvPr/>
        </p:nvSpPr>
        <p:spPr>
          <a:xfrm>
            <a:off x="2050100" y="1812520"/>
            <a:ext cx="910800" cy="38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9" name="Google Shape;126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5403" y="2856101"/>
            <a:ext cx="57442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3615" y="2857275"/>
            <a:ext cx="707421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97"/>
          <p:cNvSpPr txBox="1"/>
          <p:nvPr/>
        </p:nvSpPr>
        <p:spPr>
          <a:xfrm>
            <a:off x="3664675" y="3361150"/>
            <a:ext cx="910800" cy="95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1.54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2" name="Google Shape;127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7030" y="2982374"/>
            <a:ext cx="442391" cy="183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97"/>
          <p:cNvSpPr txBox="1"/>
          <p:nvPr/>
        </p:nvSpPr>
        <p:spPr>
          <a:xfrm>
            <a:off x="5863700" y="3474875"/>
            <a:ext cx="1021500" cy="84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 1.49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4" name="Google Shape;1274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3548" y="3249626"/>
            <a:ext cx="1340864" cy="147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97"/>
          <p:cNvSpPr txBox="1"/>
          <p:nvPr/>
        </p:nvSpPr>
        <p:spPr>
          <a:xfrm>
            <a:off x="4737275" y="3714825"/>
            <a:ext cx="9399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11.25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97"/>
          <p:cNvSpPr txBox="1"/>
          <p:nvPr/>
        </p:nvSpPr>
        <p:spPr>
          <a:xfrm>
            <a:off x="7855400" y="3572400"/>
            <a:ext cx="9399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1.45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7" name="Google Shape;1277;p9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11132" y="2938759"/>
            <a:ext cx="503118" cy="17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97"/>
          <p:cNvSpPr txBox="1"/>
          <p:nvPr/>
        </p:nvSpPr>
        <p:spPr>
          <a:xfrm>
            <a:off x="2686625" y="3421900"/>
            <a:ext cx="10215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 1.44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11.75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9" name="Google Shape;1279;p9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9222" y="2855476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7"/>
          <p:cNvSpPr txBox="1"/>
          <p:nvPr/>
        </p:nvSpPr>
        <p:spPr>
          <a:xfrm>
            <a:off x="6882200" y="3314725"/>
            <a:ext cx="9399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1.53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98"/>
          <p:cNvSpPr txBox="1"/>
          <p:nvPr>
            <p:ph idx="1" type="body"/>
          </p:nvPr>
        </p:nvSpPr>
        <p:spPr>
          <a:xfrm>
            <a:off x="324000" y="683100"/>
            <a:ext cx="8200200" cy="19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 invites her friends out for her birthday. </a:t>
            </a:r>
            <a:r>
              <a:rPr lang="en-GB" sz="1800"/>
              <a:t>After visiting the theme park, Laura is going to the cinema to watch a film that has a rating of 12.  </a:t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5</a:t>
            </a:r>
            <a:r>
              <a:rPr lang="en-GB" sz="1800"/>
              <a:t>) Write a</a:t>
            </a:r>
            <a:r>
              <a:rPr lang="en-GB" sz="1800"/>
              <a:t> mathematical statement to describe this.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6) </a:t>
            </a:r>
            <a:r>
              <a:rPr lang="en-GB" sz="1800"/>
              <a:t>Is Laura’s choice of film a good one if she wants her friends to come along? Can you justify your answer?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6" name="Google Shape;1286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numbers using ≤ and ≥</a:t>
            </a:r>
            <a:endParaRPr/>
          </a:p>
        </p:txBody>
      </p:sp>
      <p:pic>
        <p:nvPicPr>
          <p:cNvPr id="1287" name="Google Shape;128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5403" y="2856101"/>
            <a:ext cx="57442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3615" y="2857275"/>
            <a:ext cx="707421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98"/>
          <p:cNvSpPr txBox="1"/>
          <p:nvPr/>
        </p:nvSpPr>
        <p:spPr>
          <a:xfrm>
            <a:off x="3664675" y="3361150"/>
            <a:ext cx="910800" cy="95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1.54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0" name="Google Shape;1290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7030" y="2982374"/>
            <a:ext cx="442391" cy="183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98"/>
          <p:cNvSpPr txBox="1"/>
          <p:nvPr/>
        </p:nvSpPr>
        <p:spPr>
          <a:xfrm>
            <a:off x="5863700" y="3474875"/>
            <a:ext cx="1021500" cy="84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 1.49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2" name="Google Shape;1292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3548" y="3249626"/>
            <a:ext cx="1340864" cy="147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98"/>
          <p:cNvSpPr txBox="1"/>
          <p:nvPr/>
        </p:nvSpPr>
        <p:spPr>
          <a:xfrm>
            <a:off x="4737275" y="3714825"/>
            <a:ext cx="9399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11.25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8"/>
          <p:cNvSpPr txBox="1"/>
          <p:nvPr/>
        </p:nvSpPr>
        <p:spPr>
          <a:xfrm>
            <a:off x="7855400" y="3572400"/>
            <a:ext cx="9399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1.45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5" name="Google Shape;1295;p9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11132" y="2938759"/>
            <a:ext cx="503118" cy="17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98"/>
          <p:cNvSpPr txBox="1"/>
          <p:nvPr/>
        </p:nvSpPr>
        <p:spPr>
          <a:xfrm>
            <a:off x="2686625" y="3421900"/>
            <a:ext cx="10215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 1.44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11.75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7" name="Google Shape;1297;p9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9222" y="2855476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98"/>
          <p:cNvSpPr txBox="1"/>
          <p:nvPr/>
        </p:nvSpPr>
        <p:spPr>
          <a:xfrm>
            <a:off x="6882200" y="3314725"/>
            <a:ext cx="939900" cy="11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1.53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numbers using ≤ and ≥</a:t>
            </a:r>
            <a:endParaRPr/>
          </a:p>
        </p:txBody>
      </p:sp>
      <p:sp>
        <p:nvSpPr>
          <p:cNvPr id="1304" name="Google Shape;1304;p99"/>
          <p:cNvSpPr txBox="1"/>
          <p:nvPr>
            <p:ph idx="1" type="body"/>
          </p:nvPr>
        </p:nvSpPr>
        <p:spPr>
          <a:xfrm>
            <a:off x="324000" y="673977"/>
            <a:ext cx="8200200" cy="19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 invites her friends out for her birthday. At the theme park, you get half price entry if you are under 1.5 m tall.</a:t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1) Complete the mathematical statement to describe the situation: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2) Who will get half price entry?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5" name="Google Shape;1305;p99"/>
          <p:cNvSpPr/>
          <p:nvPr/>
        </p:nvSpPr>
        <p:spPr>
          <a:xfrm>
            <a:off x="1552750" y="1855917"/>
            <a:ext cx="390300" cy="3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endParaRPr/>
          </a:p>
        </p:txBody>
      </p:sp>
      <p:sp>
        <p:nvSpPr>
          <p:cNvPr id="1306" name="Google Shape;1306;p99"/>
          <p:cNvSpPr/>
          <p:nvPr/>
        </p:nvSpPr>
        <p:spPr>
          <a:xfrm>
            <a:off x="324000" y="1816170"/>
            <a:ext cx="1121700" cy="383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99"/>
          <p:cNvSpPr/>
          <p:nvPr/>
        </p:nvSpPr>
        <p:spPr>
          <a:xfrm>
            <a:off x="2050100" y="1816170"/>
            <a:ext cx="910800" cy="383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99"/>
          <p:cNvSpPr txBox="1"/>
          <p:nvPr/>
        </p:nvSpPr>
        <p:spPr>
          <a:xfrm>
            <a:off x="324000" y="2579275"/>
            <a:ext cx="3000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Sofia, Andeep and Izzy will get half price entry.</a:t>
            </a:r>
            <a:endParaRPr sz="2000"/>
          </a:p>
        </p:txBody>
      </p:sp>
      <p:pic>
        <p:nvPicPr>
          <p:cNvPr id="1309" name="Google Shape;130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5403" y="2856101"/>
            <a:ext cx="57442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3615" y="2857275"/>
            <a:ext cx="707421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99"/>
          <p:cNvSpPr txBox="1"/>
          <p:nvPr/>
        </p:nvSpPr>
        <p:spPr>
          <a:xfrm>
            <a:off x="3664675" y="3361150"/>
            <a:ext cx="910800" cy="9528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1.54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2" name="Google Shape;1312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7030" y="2982374"/>
            <a:ext cx="442391" cy="183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99"/>
          <p:cNvSpPr txBox="1"/>
          <p:nvPr/>
        </p:nvSpPr>
        <p:spPr>
          <a:xfrm>
            <a:off x="5863700" y="3474875"/>
            <a:ext cx="1021500" cy="846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 1.49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4" name="Google Shape;1314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3548" y="3249626"/>
            <a:ext cx="1340864" cy="147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99"/>
          <p:cNvSpPr txBox="1"/>
          <p:nvPr/>
        </p:nvSpPr>
        <p:spPr>
          <a:xfrm>
            <a:off x="4737275" y="3714825"/>
            <a:ext cx="9399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11.25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99"/>
          <p:cNvSpPr txBox="1"/>
          <p:nvPr/>
        </p:nvSpPr>
        <p:spPr>
          <a:xfrm>
            <a:off x="7855400" y="3572400"/>
            <a:ext cx="9399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1.45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7" name="Google Shape;1317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11132" y="2938759"/>
            <a:ext cx="503118" cy="17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99"/>
          <p:cNvSpPr txBox="1"/>
          <p:nvPr/>
        </p:nvSpPr>
        <p:spPr>
          <a:xfrm>
            <a:off x="2686625" y="3421900"/>
            <a:ext cx="10215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 1.44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11.75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9" name="Google Shape;1319;p9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9222" y="2855476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99"/>
          <p:cNvSpPr txBox="1"/>
          <p:nvPr/>
        </p:nvSpPr>
        <p:spPr>
          <a:xfrm>
            <a:off x="6882200" y="3314725"/>
            <a:ext cx="9399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1.53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numbers using ≤ and ≥</a:t>
            </a:r>
            <a:endParaRPr/>
          </a:p>
        </p:txBody>
      </p:sp>
      <p:sp>
        <p:nvSpPr>
          <p:cNvPr id="1326" name="Google Shape;1326;p100"/>
          <p:cNvSpPr txBox="1"/>
          <p:nvPr>
            <p:ph idx="1" type="body"/>
          </p:nvPr>
        </p:nvSpPr>
        <p:spPr>
          <a:xfrm>
            <a:off x="324000" y="683100"/>
            <a:ext cx="8200200" cy="1981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 invites her friends out for her birthday. Laura wants to ride a big roller coaster. It says you have to be at least 1.45 m tall to ride it.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Write a mathematical statement to describe this.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4) Who can ride on the roller coaster?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7" name="Google Shape;1327;p100"/>
          <p:cNvSpPr/>
          <p:nvPr/>
        </p:nvSpPr>
        <p:spPr>
          <a:xfrm>
            <a:off x="1552750" y="1852267"/>
            <a:ext cx="390300" cy="3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≥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8" name="Google Shape;1328;p100"/>
          <p:cNvSpPr/>
          <p:nvPr/>
        </p:nvSpPr>
        <p:spPr>
          <a:xfrm>
            <a:off x="324000" y="1812520"/>
            <a:ext cx="1121700" cy="38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height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9" name="Google Shape;1329;p100"/>
          <p:cNvSpPr/>
          <p:nvPr/>
        </p:nvSpPr>
        <p:spPr>
          <a:xfrm>
            <a:off x="2050100" y="1812525"/>
            <a:ext cx="939900" cy="383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1.45</a:t>
            </a: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100"/>
          <p:cNvSpPr txBox="1"/>
          <p:nvPr/>
        </p:nvSpPr>
        <p:spPr>
          <a:xfrm>
            <a:off x="324000" y="2664600"/>
            <a:ext cx="2849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Laura, Lucas, Andeep, Alex and Izzy can ride the big roller coaster.</a:t>
            </a:r>
            <a:endParaRPr sz="2000"/>
          </a:p>
        </p:txBody>
      </p:sp>
      <p:pic>
        <p:nvPicPr>
          <p:cNvPr id="1331" name="Google Shape;133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5403" y="2856101"/>
            <a:ext cx="57442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6015" y="2857275"/>
            <a:ext cx="707421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0"/>
          <p:cNvSpPr txBox="1"/>
          <p:nvPr/>
        </p:nvSpPr>
        <p:spPr>
          <a:xfrm>
            <a:off x="3817075" y="3361150"/>
            <a:ext cx="910800" cy="9528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1.54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4" name="Google Shape;1334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7030" y="2982374"/>
            <a:ext cx="442391" cy="183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100"/>
          <p:cNvSpPr txBox="1"/>
          <p:nvPr/>
        </p:nvSpPr>
        <p:spPr>
          <a:xfrm>
            <a:off x="5863700" y="3474875"/>
            <a:ext cx="1021500" cy="846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 1.49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6" name="Google Shape;1336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5948" y="3249626"/>
            <a:ext cx="1340864" cy="147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100"/>
          <p:cNvSpPr txBox="1"/>
          <p:nvPr/>
        </p:nvSpPr>
        <p:spPr>
          <a:xfrm>
            <a:off x="4889675" y="3714825"/>
            <a:ext cx="9399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11.25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100"/>
          <p:cNvSpPr txBox="1"/>
          <p:nvPr/>
        </p:nvSpPr>
        <p:spPr>
          <a:xfrm>
            <a:off x="7855400" y="3572400"/>
            <a:ext cx="9399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1.45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9" name="Google Shape;1339;p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63532" y="2938759"/>
            <a:ext cx="503118" cy="17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100"/>
          <p:cNvSpPr txBox="1"/>
          <p:nvPr/>
        </p:nvSpPr>
        <p:spPr>
          <a:xfrm>
            <a:off x="2839025" y="3421900"/>
            <a:ext cx="10215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 1.44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11.75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1" name="Google Shape;1341;p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9222" y="2855476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100"/>
          <p:cNvSpPr txBox="1"/>
          <p:nvPr/>
        </p:nvSpPr>
        <p:spPr>
          <a:xfrm>
            <a:off x="6882200" y="3314725"/>
            <a:ext cx="9399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1.53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numbers using ≤ and ≥</a:t>
            </a:r>
            <a:endParaRPr/>
          </a:p>
        </p:txBody>
      </p:sp>
      <p:sp>
        <p:nvSpPr>
          <p:cNvPr id="1348" name="Google Shape;1348;p101"/>
          <p:cNvSpPr txBox="1"/>
          <p:nvPr>
            <p:ph idx="1" type="body"/>
          </p:nvPr>
        </p:nvSpPr>
        <p:spPr>
          <a:xfrm>
            <a:off x="324000" y="683100"/>
            <a:ext cx="8200200" cy="19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 invites her friends out for her birthday. After visiting the theme park, Laura is going to the cinema to watch a film that has a rating of 12.  </a:t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5) Write a mathematical statement to describe this.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age ≥ 12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6) Is Laura’s choice of film a good one if she wants her friends to come along? Can you justify your answer?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49" name="Google Shape;1349;p101"/>
          <p:cNvSpPr txBox="1"/>
          <p:nvPr/>
        </p:nvSpPr>
        <p:spPr>
          <a:xfrm>
            <a:off x="309750" y="2873100"/>
            <a:ext cx="3138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Laura is the only person who is old enough to watch the film so perhaps she should choose a different film if she wants to watch with her friends.</a:t>
            </a:r>
            <a:endParaRPr sz="2000"/>
          </a:p>
        </p:txBody>
      </p:sp>
      <p:pic>
        <p:nvPicPr>
          <p:cNvPr id="1350" name="Google Shape;135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4003" y="2856101"/>
            <a:ext cx="57442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5615" y="2857275"/>
            <a:ext cx="707421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01"/>
          <p:cNvSpPr txBox="1"/>
          <p:nvPr/>
        </p:nvSpPr>
        <p:spPr>
          <a:xfrm>
            <a:off x="4426675" y="3361150"/>
            <a:ext cx="910800" cy="9528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1.54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3" name="Google Shape;1353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0430" y="2982374"/>
            <a:ext cx="442391" cy="183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101"/>
          <p:cNvSpPr txBox="1"/>
          <p:nvPr/>
        </p:nvSpPr>
        <p:spPr>
          <a:xfrm>
            <a:off x="6244700" y="3474875"/>
            <a:ext cx="1021500" cy="846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 1.49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5" name="Google Shape;1355;p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6948" y="3249626"/>
            <a:ext cx="1340864" cy="147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01"/>
          <p:cNvSpPr txBox="1"/>
          <p:nvPr/>
        </p:nvSpPr>
        <p:spPr>
          <a:xfrm>
            <a:off x="5270675" y="3714825"/>
            <a:ext cx="9399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11.25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101"/>
          <p:cNvSpPr txBox="1"/>
          <p:nvPr/>
        </p:nvSpPr>
        <p:spPr>
          <a:xfrm>
            <a:off x="8084000" y="3572400"/>
            <a:ext cx="9399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1.45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8" name="Google Shape;1358;p1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3132" y="2938759"/>
            <a:ext cx="503118" cy="17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01"/>
          <p:cNvSpPr txBox="1"/>
          <p:nvPr/>
        </p:nvSpPr>
        <p:spPr>
          <a:xfrm>
            <a:off x="3448625" y="3421900"/>
            <a:ext cx="10215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 1.44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11.75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0" name="Google Shape;1360;p10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16422" y="2855476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101"/>
          <p:cNvSpPr txBox="1"/>
          <p:nvPr/>
        </p:nvSpPr>
        <p:spPr>
          <a:xfrm>
            <a:off x="7190000" y="3314725"/>
            <a:ext cx="860700" cy="1101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1.53 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Age 11.5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02"/>
          <p:cNvSpPr txBox="1"/>
          <p:nvPr>
            <p:ph idx="1" type="body"/>
          </p:nvPr>
        </p:nvSpPr>
        <p:spPr>
          <a:xfrm>
            <a:off x="324000" y="1080000"/>
            <a:ext cx="83373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symbol &lt; means less than.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00"/>
              <a:t> </a:t>
            </a:r>
            <a:br>
              <a:rPr lang="en-GB"/>
            </a:br>
            <a:r>
              <a:rPr lang="en-GB"/>
              <a:t>T</a:t>
            </a:r>
            <a:r>
              <a:rPr lang="en-GB"/>
              <a:t>he symbol &gt; means greater than.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00"/>
              <a:t> </a:t>
            </a:r>
            <a:br>
              <a:rPr lang="en-GB"/>
            </a:br>
            <a:r>
              <a:rPr lang="en-GB"/>
              <a:t>T</a:t>
            </a:r>
            <a:r>
              <a:rPr lang="en-GB"/>
              <a:t>he symbol ≤ means less than or equal to.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00"/>
              <a:t> </a:t>
            </a:r>
            <a:br>
              <a:rPr lang="en-GB"/>
            </a:br>
            <a:r>
              <a:rPr lang="en-GB"/>
              <a:t>T</a:t>
            </a:r>
            <a:r>
              <a:rPr lang="en-GB"/>
              <a:t>he symbol ≥ means greater than or equal to.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00"/>
              <a:t> </a:t>
            </a:r>
            <a:br>
              <a:rPr lang="en-GB"/>
            </a:br>
            <a:r>
              <a:rPr lang="en-GB"/>
              <a:t>P</a:t>
            </a:r>
            <a:r>
              <a:rPr lang="en-GB"/>
              <a:t>lace value is important to be able to compare numbers.</a:t>
            </a:r>
            <a:endParaRPr/>
          </a:p>
        </p:txBody>
      </p:sp>
      <p:sp>
        <p:nvSpPr>
          <p:cNvPr id="1367" name="Google Shape;1367;p102"/>
          <p:cNvSpPr txBox="1"/>
          <p:nvPr>
            <p:ph type="title"/>
          </p:nvPr>
        </p:nvSpPr>
        <p:spPr>
          <a:xfrm>
            <a:off x="1684800" y="157525"/>
            <a:ext cx="7094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ordering and comparing numbers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73" name="Google Shape;1373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