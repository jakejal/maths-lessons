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 rot="-5400000">
            <a:off x="-3503100" y="5177175"/>
            <a:ext cx="808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" name="Google Shape;14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 rot="-5400000">
            <a:off x="-3503100" y="5177175"/>
            <a:ext cx="808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4011413" y="73257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105813" y="85976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 rot="-5400000">
            <a:off x="5502263" y="55612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3" name="Google Shape;153;p18"/>
          <p:cNvSpPr txBox="1"/>
          <p:nvPr>
            <p:ph idx="1" type="subTitle"/>
          </p:nvPr>
        </p:nvSpPr>
        <p:spPr>
          <a:xfrm rot="-5400000">
            <a:off x="5502263" y="55612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4011413" y="73257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105813" y="85976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502263" y="55612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502263" y="55612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13.png"/><Relationship Id="rId7" Type="http://schemas.openxmlformats.org/officeDocument/2006/relationships/image" Target="../media/image11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46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Checking understanding of ordering and comparing numbers</a:t>
            </a:r>
            <a:endParaRPr sz="1600"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775300"/>
            <a:ext cx="66240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each set of numbers, which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has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great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er value?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statement using &lt;, &gt; or = to compare the values.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4732925"/>
            <a:ext cx="66468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your own comparison statements using the digits 0, 1, 4 and 9. Try to write a statement no one else has thought of.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5" name="Google Shape;175;p20"/>
          <p:cNvCxnSpPr/>
          <p:nvPr/>
        </p:nvCxnSpPr>
        <p:spPr>
          <a:xfrm>
            <a:off x="468000" y="9972000"/>
            <a:ext cx="664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" name="Google Shape;176;p20"/>
          <p:cNvSpPr txBox="1"/>
          <p:nvPr/>
        </p:nvSpPr>
        <p:spPr>
          <a:xfrm>
            <a:off x="456600" y="1324750"/>
            <a:ext cx="66468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latin typeface="Lexend"/>
                <a:ea typeface="Lexend"/>
                <a:cs typeface="Lexend"/>
                <a:sym typeface="Lexend"/>
              </a:rPr>
              <a:t>Task A: Reviewing the use of &lt;, &gt; and =</a:t>
            </a:r>
            <a:endParaRPr b="1" sz="1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2309075" y="2484900"/>
            <a:ext cx="2336100" cy="5694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                          fourteen   </a:t>
            </a:r>
            <a:br>
              <a:rPr lang="en-GB">
                <a:latin typeface="Lexend"/>
                <a:ea typeface="Lexend"/>
                <a:cs typeface="Lexend"/>
                <a:sym typeface="Lexend"/>
              </a:rPr>
            </a:br>
            <a:r>
              <a:rPr lang="en-GB">
                <a:latin typeface="Lexend"/>
                <a:ea typeface="Lexend"/>
                <a:cs typeface="Lexend"/>
                <a:sym typeface="Lexend"/>
              </a:rPr>
              <a:t>                         thousand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476400" y="2484900"/>
            <a:ext cx="1478400" cy="5694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9    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=    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9.00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2309075" y="3181350"/>
            <a:ext cx="2336100" cy="5694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109 000      &lt;      140 000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476400" y="3181350"/>
            <a:ext cx="1478400" cy="5694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1.09   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&lt;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  1.4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2309075" y="3877800"/>
            <a:ext cx="2336100" cy="5694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190 000    &lt;     1.4 million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476400" y="3877800"/>
            <a:ext cx="1478400" cy="5694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0.04   &gt;  0.019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4953600" y="2484900"/>
            <a:ext cx="2135700" cy="5694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                        9.5 </a:t>
            </a:r>
            <a:br>
              <a:rPr lang="en-GB">
                <a:latin typeface="Lexend"/>
                <a:ea typeface="Lexend"/>
                <a:cs typeface="Lexend"/>
                <a:sym typeface="Lexend"/>
              </a:rPr>
            </a:br>
            <a:r>
              <a:rPr lang="en-GB">
                <a:latin typeface="Lexend"/>
                <a:ea typeface="Lexend"/>
                <a:cs typeface="Lexend"/>
                <a:sym typeface="Lexend"/>
              </a:rPr>
              <a:t>                          million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4953600" y="3181350"/>
            <a:ext cx="2135700" cy="5694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0.4          &gt;        0.09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4953600" y="3877800"/>
            <a:ext cx="2135700" cy="5694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19.04      &lt;     19.104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2338489" y="2484825"/>
            <a:ext cx="1112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1900        &lt;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953600" y="2484900"/>
            <a:ext cx="1351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9 350 647     &lt;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515100" y="5274150"/>
            <a:ext cx="65742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E.g.  0.0419 &lt; 0.1049    9104 thousand &gt; 9.09 million    10.4 hundredths = 0.104  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4" name="Google Shape;194;p21"/>
          <p:cNvSpPr txBox="1"/>
          <p:nvPr>
            <p:ph idx="1" type="subTitle"/>
          </p:nvPr>
        </p:nvSpPr>
        <p:spPr>
          <a:xfrm>
            <a:off x="1463400" y="360000"/>
            <a:ext cx="4782600" cy="17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GB" sz="1140">
                <a:solidFill>
                  <a:schemeClr val="dk1"/>
                </a:solidFill>
              </a:rPr>
              <a:t>Checking understanding of ordering and comparing numbers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456600" y="643800"/>
            <a:ext cx="66468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 sz="15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B: </a:t>
            </a:r>
            <a:r>
              <a:rPr b="1" lang="en-GB" sz="15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Comparing numbers using ≤ and ≥</a:t>
            </a:r>
            <a:endParaRPr b="1" sz="15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456600" y="1179900"/>
            <a:ext cx="6646800" cy="14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 invites her friends out for her birthday. At the theme park you get half price entry if you are under 1.5 m tall.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Complete the mathematical statement to describe the situation: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Who will get half price entry?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1685350" y="2165342"/>
            <a:ext cx="390300" cy="303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endParaRPr sz="1200"/>
          </a:p>
        </p:txBody>
      </p:sp>
      <p:sp>
        <p:nvSpPr>
          <p:cNvPr id="200" name="Google Shape;200;p21"/>
          <p:cNvSpPr/>
          <p:nvPr/>
        </p:nvSpPr>
        <p:spPr>
          <a:xfrm>
            <a:off x="456600" y="2125595"/>
            <a:ext cx="1121700" cy="38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height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2182700" y="2125595"/>
            <a:ext cx="910800" cy="38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1.5 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2" name="Google Shape;20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2903" y="7925601"/>
            <a:ext cx="574426" cy="19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2990" y="7994050"/>
            <a:ext cx="707421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2234051" y="8497925"/>
            <a:ext cx="814500" cy="74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Laura</a:t>
            </a:r>
            <a:br>
              <a:rPr lang="en-GB">
                <a:latin typeface="Lexend"/>
                <a:ea typeface="Lexend"/>
                <a:cs typeface="Lexend"/>
                <a:sym typeface="Lexend"/>
              </a:rPr>
            </a:br>
            <a:r>
              <a:rPr lang="en-GB">
                <a:latin typeface="Lexend"/>
                <a:ea typeface="Lexend"/>
                <a:cs typeface="Lexend"/>
                <a:sym typeface="Lexend"/>
              </a:rPr>
              <a:t>1.54 m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Age 12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6930" y="8051874"/>
            <a:ext cx="442391" cy="183034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4376100" y="8544375"/>
            <a:ext cx="858300" cy="84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Andeep1.49 m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Age 11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7" name="Google Shape;207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02923" y="8386401"/>
            <a:ext cx="1340864" cy="147217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3157850" y="8851600"/>
            <a:ext cx="1088700" cy="808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Lucas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1.5 m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Age 11.25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6162900" y="8641900"/>
            <a:ext cx="939900" cy="808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Izzy 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1.45 m</a:t>
            </a:r>
            <a:br>
              <a:rPr lang="en-GB">
                <a:latin typeface="Lexend"/>
                <a:ea typeface="Lexend"/>
                <a:cs typeface="Lexend"/>
                <a:sym typeface="Lexend"/>
              </a:rPr>
            </a:br>
            <a:r>
              <a:rPr lang="en-GB">
                <a:latin typeface="Lexend"/>
                <a:ea typeface="Lexend"/>
                <a:cs typeface="Lexend"/>
                <a:sym typeface="Lexend"/>
              </a:rPr>
              <a:t>Age 11.5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0" name="Google Shape;210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80507" y="8075534"/>
            <a:ext cx="503118" cy="178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1256000" y="8558675"/>
            <a:ext cx="1021500" cy="84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Sofia 1.44 m</a:t>
            </a:r>
            <a:br>
              <a:rPr lang="en-GB">
                <a:latin typeface="Lexend"/>
                <a:ea typeface="Lexend"/>
                <a:cs typeface="Lexend"/>
                <a:sym typeface="Lexend"/>
              </a:rPr>
            </a:br>
            <a:r>
              <a:rPr lang="en-GB">
                <a:latin typeface="Lexend"/>
                <a:ea typeface="Lexend"/>
                <a:cs typeface="Lexend"/>
                <a:sym typeface="Lexend"/>
              </a:rPr>
              <a:t>Age 11.75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2" name="Google Shape;212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66722" y="7924976"/>
            <a:ext cx="568766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 txBox="1"/>
          <p:nvPr/>
        </p:nvSpPr>
        <p:spPr>
          <a:xfrm>
            <a:off x="5189700" y="8384225"/>
            <a:ext cx="939900" cy="84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Alex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1.53 m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Age 11.5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456600" y="3015461"/>
            <a:ext cx="664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Sofia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and Izzy will get half price entry.</a:t>
            </a:r>
            <a:endParaRPr sz="1200"/>
          </a:p>
        </p:txBody>
      </p:sp>
      <p:cxnSp>
        <p:nvCxnSpPr>
          <p:cNvPr id="215" name="Google Shape;215;p21"/>
          <p:cNvCxnSpPr/>
          <p:nvPr/>
        </p:nvCxnSpPr>
        <p:spPr>
          <a:xfrm>
            <a:off x="468000" y="9972000"/>
            <a:ext cx="664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21"/>
          <p:cNvSpPr txBox="1"/>
          <p:nvPr/>
        </p:nvSpPr>
        <p:spPr>
          <a:xfrm>
            <a:off x="468000" y="3369950"/>
            <a:ext cx="66468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 wants to ride a big roller coaster. It says you have to be at least 1.45 m tall to ride it. 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Write a mathematical statement to describe this.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Who can ride on the roller coaster?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1706495" y="4366955"/>
            <a:ext cx="390300" cy="303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≥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477745" y="4327207"/>
            <a:ext cx="1121700" cy="383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height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2203845" y="4327213"/>
            <a:ext cx="939900" cy="383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1.45 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492000" y="4989538"/>
            <a:ext cx="664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Laura, Lucas, Andeep, Alex and Izzy can ride the big roller coaster.</a:t>
            </a:r>
            <a:endParaRPr sz="1200"/>
          </a:p>
        </p:txBody>
      </p:sp>
      <p:sp>
        <p:nvSpPr>
          <p:cNvPr id="221" name="Google Shape;221;p21"/>
          <p:cNvSpPr txBox="1"/>
          <p:nvPr/>
        </p:nvSpPr>
        <p:spPr>
          <a:xfrm>
            <a:off x="515400" y="5495288"/>
            <a:ext cx="66000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After visiting the theme park Laura is going to the cinema to watch a film that has a rating of 12. 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Write a mathematical statement to describe this.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age ≥ 12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6) Is Laura’s choice of film a good one if she wants her friends to come along? Can you justify your answer?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491997" y="7144600"/>
            <a:ext cx="66468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Laura is the only person who is old enough to watch the film so perhaps she should choose a different film if she wants to watch with her friends.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